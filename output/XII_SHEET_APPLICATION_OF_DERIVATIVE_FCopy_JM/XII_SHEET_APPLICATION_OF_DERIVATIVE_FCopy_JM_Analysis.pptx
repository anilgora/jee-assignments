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39.xml" ContentType="application/vnd.openxmlformats-officedocument.presentationml.slide+xml"/>
  <Override PartName="/ppt/slides/slide34.xml" ContentType="application/vnd.openxmlformats-officedocument.presentationml.slide+xml"/>
  <Override PartName="/ppt/slides/slide340.xml" ContentType="application/vnd.openxmlformats-officedocument.presentationml.slide+xml"/>
  <Override PartName="/ppt/slides/slide341.xml" ContentType="application/vnd.openxmlformats-officedocument.presentationml.slide+xml"/>
  <Override PartName="/ppt/slides/slide342.xml" ContentType="application/vnd.openxmlformats-officedocument.presentationml.slide+xml"/>
  <Override PartName="/ppt/slides/slide343.xml" ContentType="application/vnd.openxmlformats-officedocument.presentationml.slide+xml"/>
  <Override PartName="/ppt/slides/slide344.xml" ContentType="application/vnd.openxmlformats-officedocument.presentationml.slide+xml"/>
  <Override PartName="/ppt/slides/slide345.xml" ContentType="application/vnd.openxmlformats-officedocument.presentationml.slide+xml"/>
  <Override PartName="/ppt/slides/slide346.xml" ContentType="application/vnd.openxmlformats-officedocument.presentationml.slide+xml"/>
  <Override PartName="/ppt/slides/slide347.xml" ContentType="application/vnd.openxmlformats-officedocument.presentationml.slide+xml"/>
  <Override PartName="/ppt/slides/slide348.xml" ContentType="application/vnd.openxmlformats-officedocument.presentationml.slide+xml"/>
  <Override PartName="/ppt/slides/slide349.xml" ContentType="application/vnd.openxmlformats-officedocument.presentationml.slide+xml"/>
  <Override PartName="/ppt/slides/slide35.xml" ContentType="application/vnd.openxmlformats-officedocument.presentationml.slide+xml"/>
  <Override PartName="/ppt/slides/slide350.xml" ContentType="application/vnd.openxmlformats-officedocument.presentationml.slide+xml"/>
  <Override PartName="/ppt/slides/slide351.xml" ContentType="application/vnd.openxmlformats-officedocument.presentationml.slide+xml"/>
  <Override PartName="/ppt/slides/slide352.xml" ContentType="application/vnd.openxmlformats-officedocument.presentationml.slide+xml"/>
  <Override PartName="/ppt/slides/slide353.xml" ContentType="application/vnd.openxmlformats-officedocument.presentationml.slide+xml"/>
  <Override PartName="/ppt/slides/slide354.xml" ContentType="application/vnd.openxmlformats-officedocument.presentationml.slide+xml"/>
  <Override PartName="/ppt/slides/slide355.xml" ContentType="application/vnd.openxmlformats-officedocument.presentationml.slide+xml"/>
  <Override PartName="/ppt/slides/slide356.xml" ContentType="application/vnd.openxmlformats-officedocument.presentationml.slide+xml"/>
  <Override PartName="/ppt/slides/slide357.xml" ContentType="application/vnd.openxmlformats-officedocument.presentationml.slide+xml"/>
  <Override PartName="/ppt/slides/slide358.xml" ContentType="application/vnd.openxmlformats-officedocument.presentationml.slide+xml"/>
  <Override PartName="/ppt/slides/slide359.xml" ContentType="application/vnd.openxmlformats-officedocument.presentationml.slide+xml"/>
  <Override PartName="/ppt/slides/slide36.xml" ContentType="application/vnd.openxmlformats-officedocument.presentationml.slide+xml"/>
  <Override PartName="/ppt/slides/slide360.xml" ContentType="application/vnd.openxmlformats-officedocument.presentationml.slide+xml"/>
  <Override PartName="/ppt/slides/slide361.xml" ContentType="application/vnd.openxmlformats-officedocument.presentationml.slide+xml"/>
  <Override PartName="/ppt/slides/slide362.xml" ContentType="application/vnd.openxmlformats-officedocument.presentationml.slide+xml"/>
  <Override PartName="/ppt/slides/slide363.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 id="404" r:id="rId156"/>
    <p:sldId id="405" r:id="rId157"/>
    <p:sldId id="406" r:id="rId158"/>
    <p:sldId id="407" r:id="rId159"/>
    <p:sldId id="408" r:id="rId160"/>
    <p:sldId id="409" r:id="rId161"/>
    <p:sldId id="410" r:id="rId162"/>
    <p:sldId id="411" r:id="rId163"/>
    <p:sldId id="412" r:id="rId164"/>
    <p:sldId id="413" r:id="rId165"/>
    <p:sldId id="414" r:id="rId166"/>
    <p:sldId id="415" r:id="rId167"/>
    <p:sldId id="416" r:id="rId168"/>
    <p:sldId id="417" r:id="rId169"/>
    <p:sldId id="418" r:id="rId170"/>
    <p:sldId id="419" r:id="rId171"/>
    <p:sldId id="420" r:id="rId172"/>
    <p:sldId id="421" r:id="rId173"/>
    <p:sldId id="422" r:id="rId174"/>
    <p:sldId id="423" r:id="rId175"/>
    <p:sldId id="424" r:id="rId176"/>
    <p:sldId id="425" r:id="rId177"/>
    <p:sldId id="426" r:id="rId178"/>
    <p:sldId id="427" r:id="rId179"/>
    <p:sldId id="428" r:id="rId180"/>
    <p:sldId id="429" r:id="rId181"/>
    <p:sldId id="430" r:id="rId182"/>
    <p:sldId id="431" r:id="rId183"/>
    <p:sldId id="432" r:id="rId184"/>
    <p:sldId id="433" r:id="rId185"/>
    <p:sldId id="434" r:id="rId186"/>
    <p:sldId id="435" r:id="rId187"/>
    <p:sldId id="436" r:id="rId188"/>
    <p:sldId id="437" r:id="rId189"/>
    <p:sldId id="438" r:id="rId190"/>
    <p:sldId id="439" r:id="rId191"/>
    <p:sldId id="440" r:id="rId192"/>
    <p:sldId id="441" r:id="rId193"/>
    <p:sldId id="442" r:id="rId194"/>
    <p:sldId id="443" r:id="rId195"/>
    <p:sldId id="444" r:id="rId196"/>
    <p:sldId id="445" r:id="rId197"/>
    <p:sldId id="446" r:id="rId198"/>
    <p:sldId id="447" r:id="rId199"/>
    <p:sldId id="448" r:id="rId200"/>
    <p:sldId id="449" r:id="rId201"/>
    <p:sldId id="450" r:id="rId202"/>
    <p:sldId id="451" r:id="rId203"/>
    <p:sldId id="452" r:id="rId204"/>
    <p:sldId id="453" r:id="rId205"/>
    <p:sldId id="454" r:id="rId206"/>
    <p:sldId id="455" r:id="rId207"/>
    <p:sldId id="456" r:id="rId208"/>
    <p:sldId id="457" r:id="rId209"/>
    <p:sldId id="458" r:id="rId210"/>
    <p:sldId id="459" r:id="rId211"/>
    <p:sldId id="460" r:id="rId212"/>
    <p:sldId id="461" r:id="rId213"/>
    <p:sldId id="462" r:id="rId214"/>
    <p:sldId id="463" r:id="rId215"/>
    <p:sldId id="464" r:id="rId216"/>
    <p:sldId id="465" r:id="rId217"/>
    <p:sldId id="466" r:id="rId218"/>
    <p:sldId id="467" r:id="rId219"/>
    <p:sldId id="468" r:id="rId220"/>
    <p:sldId id="469" r:id="rId221"/>
    <p:sldId id="470" r:id="rId222"/>
    <p:sldId id="471" r:id="rId223"/>
    <p:sldId id="472" r:id="rId224"/>
    <p:sldId id="473" r:id="rId225"/>
    <p:sldId id="474" r:id="rId226"/>
    <p:sldId id="475" r:id="rId227"/>
    <p:sldId id="476" r:id="rId228"/>
    <p:sldId id="477" r:id="rId229"/>
    <p:sldId id="478" r:id="rId230"/>
    <p:sldId id="479" r:id="rId231"/>
    <p:sldId id="480" r:id="rId232"/>
    <p:sldId id="481" r:id="rId233"/>
    <p:sldId id="482" r:id="rId234"/>
    <p:sldId id="483" r:id="rId235"/>
    <p:sldId id="484" r:id="rId236"/>
    <p:sldId id="485" r:id="rId237"/>
    <p:sldId id="486" r:id="rId238"/>
    <p:sldId id="487" r:id="rId239"/>
    <p:sldId id="488" r:id="rId240"/>
    <p:sldId id="489" r:id="rId241"/>
    <p:sldId id="490" r:id="rId242"/>
    <p:sldId id="491" r:id="rId243"/>
    <p:sldId id="492" r:id="rId244"/>
    <p:sldId id="493" r:id="rId245"/>
    <p:sldId id="494" r:id="rId246"/>
    <p:sldId id="495" r:id="rId247"/>
    <p:sldId id="496" r:id="rId248"/>
    <p:sldId id="497" r:id="rId249"/>
    <p:sldId id="498" r:id="rId250"/>
    <p:sldId id="499" r:id="rId251"/>
    <p:sldId id="500" r:id="rId252"/>
    <p:sldId id="501" r:id="rId253"/>
    <p:sldId id="502" r:id="rId254"/>
    <p:sldId id="503" r:id="rId255"/>
    <p:sldId id="504" r:id="rId256"/>
    <p:sldId id="505" r:id="rId257"/>
    <p:sldId id="506" r:id="rId258"/>
    <p:sldId id="507" r:id="rId259"/>
    <p:sldId id="508" r:id="rId260"/>
    <p:sldId id="509" r:id="rId261"/>
    <p:sldId id="510" r:id="rId262"/>
    <p:sldId id="511" r:id="rId263"/>
    <p:sldId id="512" r:id="rId264"/>
    <p:sldId id="513" r:id="rId265"/>
    <p:sldId id="514" r:id="rId266"/>
    <p:sldId id="515" r:id="rId267"/>
    <p:sldId id="516" r:id="rId268"/>
    <p:sldId id="517" r:id="rId269"/>
    <p:sldId id="518" r:id="rId270"/>
    <p:sldId id="519" r:id="rId271"/>
    <p:sldId id="520" r:id="rId272"/>
    <p:sldId id="521" r:id="rId273"/>
    <p:sldId id="522" r:id="rId274"/>
    <p:sldId id="523" r:id="rId275"/>
    <p:sldId id="524" r:id="rId276"/>
    <p:sldId id="525" r:id="rId277"/>
    <p:sldId id="526" r:id="rId278"/>
    <p:sldId id="527" r:id="rId279"/>
    <p:sldId id="528" r:id="rId280"/>
    <p:sldId id="529" r:id="rId281"/>
    <p:sldId id="530" r:id="rId282"/>
    <p:sldId id="531" r:id="rId283"/>
    <p:sldId id="532" r:id="rId284"/>
    <p:sldId id="533" r:id="rId285"/>
    <p:sldId id="534" r:id="rId286"/>
    <p:sldId id="535" r:id="rId287"/>
    <p:sldId id="536" r:id="rId288"/>
    <p:sldId id="537" r:id="rId289"/>
    <p:sldId id="538" r:id="rId290"/>
    <p:sldId id="539" r:id="rId291"/>
    <p:sldId id="540" r:id="rId292"/>
    <p:sldId id="541" r:id="rId293"/>
    <p:sldId id="542" r:id="rId294"/>
    <p:sldId id="543" r:id="rId295"/>
    <p:sldId id="544" r:id="rId296"/>
    <p:sldId id="545" r:id="rId297"/>
    <p:sldId id="546" r:id="rId298"/>
    <p:sldId id="547" r:id="rId299"/>
    <p:sldId id="548" r:id="rId300"/>
    <p:sldId id="549" r:id="rId301"/>
    <p:sldId id="550" r:id="rId302"/>
    <p:sldId id="551" r:id="rId303"/>
    <p:sldId id="552" r:id="rId304"/>
    <p:sldId id="553" r:id="rId305"/>
    <p:sldId id="554" r:id="rId306"/>
    <p:sldId id="555" r:id="rId307"/>
    <p:sldId id="556" r:id="rId308"/>
    <p:sldId id="557" r:id="rId309"/>
    <p:sldId id="558" r:id="rId310"/>
    <p:sldId id="559" r:id="rId311"/>
    <p:sldId id="560" r:id="rId312"/>
    <p:sldId id="561" r:id="rId313"/>
    <p:sldId id="562" r:id="rId314"/>
    <p:sldId id="563" r:id="rId315"/>
    <p:sldId id="564" r:id="rId316"/>
    <p:sldId id="565" r:id="rId317"/>
    <p:sldId id="566" r:id="rId318"/>
    <p:sldId id="567" r:id="rId319"/>
    <p:sldId id="568" r:id="rId320"/>
    <p:sldId id="569" r:id="rId321"/>
    <p:sldId id="570" r:id="rId322"/>
    <p:sldId id="571" r:id="rId323"/>
    <p:sldId id="572" r:id="rId324"/>
    <p:sldId id="573" r:id="rId325"/>
    <p:sldId id="574" r:id="rId326"/>
    <p:sldId id="575" r:id="rId327"/>
    <p:sldId id="576" r:id="rId328"/>
    <p:sldId id="577" r:id="rId329"/>
    <p:sldId id="578" r:id="rId330"/>
    <p:sldId id="579" r:id="rId331"/>
    <p:sldId id="580" r:id="rId332"/>
    <p:sldId id="581" r:id="rId333"/>
    <p:sldId id="582" r:id="rId334"/>
    <p:sldId id="583" r:id="rId335"/>
    <p:sldId id="584" r:id="rId336"/>
    <p:sldId id="585" r:id="rId337"/>
    <p:sldId id="586" r:id="rId338"/>
    <p:sldId id="587" r:id="rId339"/>
    <p:sldId id="588" r:id="rId340"/>
    <p:sldId id="589" r:id="rId341"/>
    <p:sldId id="590" r:id="rId342"/>
    <p:sldId id="591" r:id="rId343"/>
    <p:sldId id="592" r:id="rId344"/>
    <p:sldId id="593" r:id="rId345"/>
    <p:sldId id="594" r:id="rId346"/>
    <p:sldId id="595" r:id="rId347"/>
    <p:sldId id="596" r:id="rId348"/>
    <p:sldId id="597" r:id="rId349"/>
    <p:sldId id="598" r:id="rId350"/>
    <p:sldId id="599" r:id="rId351"/>
    <p:sldId id="600" r:id="rId352"/>
    <p:sldId id="601" r:id="rId353"/>
    <p:sldId id="602" r:id="rId354"/>
    <p:sldId id="603" r:id="rId355"/>
    <p:sldId id="604" r:id="rId356"/>
    <p:sldId id="605" r:id="rId357"/>
    <p:sldId id="606" r:id="rId358"/>
    <p:sldId id="607" r:id="rId359"/>
    <p:sldId id="608" r:id="rId360"/>
    <p:sldId id="609" r:id="rId361"/>
    <p:sldId id="610" r:id="rId362"/>
    <p:sldId id="611" r:id="rId363"/>
    <p:sldId id="612" r:id="rId364"/>
    <p:sldId id="613" r:id="rId365"/>
    <p:sldId id="614" r:id="rId366"/>
    <p:sldId id="615" r:id="rId367"/>
    <p:sldId id="616" r:id="rId368"/>
    <p:sldId id="617" r:id="rId369"/>
    <p:sldId id="618" r:id="rId37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 Id="rId146" Type="http://schemas.openxmlformats.org/officeDocument/2006/relationships/slide" Target="slides/slide139.xml"/><Relationship Id="rId147" Type="http://schemas.openxmlformats.org/officeDocument/2006/relationships/slide" Target="slides/slide140.xml"/><Relationship Id="rId148" Type="http://schemas.openxmlformats.org/officeDocument/2006/relationships/slide" Target="slides/slide141.xml"/><Relationship Id="rId149" Type="http://schemas.openxmlformats.org/officeDocument/2006/relationships/slide" Target="slides/slide142.xml"/><Relationship Id="rId150" Type="http://schemas.openxmlformats.org/officeDocument/2006/relationships/slide" Target="slides/slide143.xml"/><Relationship Id="rId151" Type="http://schemas.openxmlformats.org/officeDocument/2006/relationships/slide" Target="slides/slide144.xml"/><Relationship Id="rId152" Type="http://schemas.openxmlformats.org/officeDocument/2006/relationships/slide" Target="slides/slide145.xml"/><Relationship Id="rId153" Type="http://schemas.openxmlformats.org/officeDocument/2006/relationships/slide" Target="slides/slide146.xml"/><Relationship Id="rId154" Type="http://schemas.openxmlformats.org/officeDocument/2006/relationships/slide" Target="slides/slide147.xml"/><Relationship Id="rId155" Type="http://schemas.openxmlformats.org/officeDocument/2006/relationships/slide" Target="slides/slide148.xml"/><Relationship Id="rId156" Type="http://schemas.openxmlformats.org/officeDocument/2006/relationships/slide" Target="slides/slide149.xml"/><Relationship Id="rId157" Type="http://schemas.openxmlformats.org/officeDocument/2006/relationships/slide" Target="slides/slide150.xml"/><Relationship Id="rId158" Type="http://schemas.openxmlformats.org/officeDocument/2006/relationships/slide" Target="slides/slide151.xml"/><Relationship Id="rId159" Type="http://schemas.openxmlformats.org/officeDocument/2006/relationships/slide" Target="slides/slide152.xml"/><Relationship Id="rId160" Type="http://schemas.openxmlformats.org/officeDocument/2006/relationships/slide" Target="slides/slide153.xml"/><Relationship Id="rId161" Type="http://schemas.openxmlformats.org/officeDocument/2006/relationships/slide" Target="slides/slide154.xml"/><Relationship Id="rId162" Type="http://schemas.openxmlformats.org/officeDocument/2006/relationships/slide" Target="slides/slide155.xml"/><Relationship Id="rId163" Type="http://schemas.openxmlformats.org/officeDocument/2006/relationships/slide" Target="slides/slide156.xml"/><Relationship Id="rId164" Type="http://schemas.openxmlformats.org/officeDocument/2006/relationships/slide" Target="slides/slide157.xml"/><Relationship Id="rId165" Type="http://schemas.openxmlformats.org/officeDocument/2006/relationships/slide" Target="slides/slide158.xml"/><Relationship Id="rId166" Type="http://schemas.openxmlformats.org/officeDocument/2006/relationships/slide" Target="slides/slide159.xml"/><Relationship Id="rId167" Type="http://schemas.openxmlformats.org/officeDocument/2006/relationships/slide" Target="slides/slide160.xml"/><Relationship Id="rId168" Type="http://schemas.openxmlformats.org/officeDocument/2006/relationships/slide" Target="slides/slide161.xml"/><Relationship Id="rId169" Type="http://schemas.openxmlformats.org/officeDocument/2006/relationships/slide" Target="slides/slide162.xml"/><Relationship Id="rId170" Type="http://schemas.openxmlformats.org/officeDocument/2006/relationships/slide" Target="slides/slide163.xml"/><Relationship Id="rId171" Type="http://schemas.openxmlformats.org/officeDocument/2006/relationships/slide" Target="slides/slide164.xml"/><Relationship Id="rId172" Type="http://schemas.openxmlformats.org/officeDocument/2006/relationships/slide" Target="slides/slide165.xml"/><Relationship Id="rId173" Type="http://schemas.openxmlformats.org/officeDocument/2006/relationships/slide" Target="slides/slide166.xml"/><Relationship Id="rId174" Type="http://schemas.openxmlformats.org/officeDocument/2006/relationships/slide" Target="slides/slide167.xml"/><Relationship Id="rId175" Type="http://schemas.openxmlformats.org/officeDocument/2006/relationships/slide" Target="slides/slide168.xml"/><Relationship Id="rId176" Type="http://schemas.openxmlformats.org/officeDocument/2006/relationships/slide" Target="slides/slide169.xml"/><Relationship Id="rId177" Type="http://schemas.openxmlformats.org/officeDocument/2006/relationships/slide" Target="slides/slide170.xml"/><Relationship Id="rId178" Type="http://schemas.openxmlformats.org/officeDocument/2006/relationships/slide" Target="slides/slide171.xml"/><Relationship Id="rId179" Type="http://schemas.openxmlformats.org/officeDocument/2006/relationships/slide" Target="slides/slide172.xml"/><Relationship Id="rId180" Type="http://schemas.openxmlformats.org/officeDocument/2006/relationships/slide" Target="slides/slide173.xml"/><Relationship Id="rId181" Type="http://schemas.openxmlformats.org/officeDocument/2006/relationships/slide" Target="slides/slide174.xml"/><Relationship Id="rId182" Type="http://schemas.openxmlformats.org/officeDocument/2006/relationships/slide" Target="slides/slide175.xml"/><Relationship Id="rId183" Type="http://schemas.openxmlformats.org/officeDocument/2006/relationships/slide" Target="slides/slide176.xml"/><Relationship Id="rId184" Type="http://schemas.openxmlformats.org/officeDocument/2006/relationships/slide" Target="slides/slide177.xml"/><Relationship Id="rId185" Type="http://schemas.openxmlformats.org/officeDocument/2006/relationships/slide" Target="slides/slide178.xml"/><Relationship Id="rId186" Type="http://schemas.openxmlformats.org/officeDocument/2006/relationships/slide" Target="slides/slide179.xml"/><Relationship Id="rId187" Type="http://schemas.openxmlformats.org/officeDocument/2006/relationships/slide" Target="slides/slide180.xml"/><Relationship Id="rId188" Type="http://schemas.openxmlformats.org/officeDocument/2006/relationships/slide" Target="slides/slide181.xml"/><Relationship Id="rId189" Type="http://schemas.openxmlformats.org/officeDocument/2006/relationships/slide" Target="slides/slide182.xml"/><Relationship Id="rId190" Type="http://schemas.openxmlformats.org/officeDocument/2006/relationships/slide" Target="slides/slide183.xml"/><Relationship Id="rId191" Type="http://schemas.openxmlformats.org/officeDocument/2006/relationships/slide" Target="slides/slide184.xml"/><Relationship Id="rId192" Type="http://schemas.openxmlformats.org/officeDocument/2006/relationships/slide" Target="slides/slide185.xml"/><Relationship Id="rId193" Type="http://schemas.openxmlformats.org/officeDocument/2006/relationships/slide" Target="slides/slide186.xml"/><Relationship Id="rId194" Type="http://schemas.openxmlformats.org/officeDocument/2006/relationships/slide" Target="slides/slide187.xml"/><Relationship Id="rId195" Type="http://schemas.openxmlformats.org/officeDocument/2006/relationships/slide" Target="slides/slide188.xml"/><Relationship Id="rId196" Type="http://schemas.openxmlformats.org/officeDocument/2006/relationships/slide" Target="slides/slide189.xml"/><Relationship Id="rId197" Type="http://schemas.openxmlformats.org/officeDocument/2006/relationships/slide" Target="slides/slide190.xml"/><Relationship Id="rId198" Type="http://schemas.openxmlformats.org/officeDocument/2006/relationships/slide" Target="slides/slide191.xml"/><Relationship Id="rId199" Type="http://schemas.openxmlformats.org/officeDocument/2006/relationships/slide" Target="slides/slide192.xml"/><Relationship Id="rId200" Type="http://schemas.openxmlformats.org/officeDocument/2006/relationships/slide" Target="slides/slide193.xml"/><Relationship Id="rId201" Type="http://schemas.openxmlformats.org/officeDocument/2006/relationships/slide" Target="slides/slide194.xml"/><Relationship Id="rId202" Type="http://schemas.openxmlformats.org/officeDocument/2006/relationships/slide" Target="slides/slide195.xml"/><Relationship Id="rId203" Type="http://schemas.openxmlformats.org/officeDocument/2006/relationships/slide" Target="slides/slide196.xml"/><Relationship Id="rId204" Type="http://schemas.openxmlformats.org/officeDocument/2006/relationships/slide" Target="slides/slide197.xml"/><Relationship Id="rId205" Type="http://schemas.openxmlformats.org/officeDocument/2006/relationships/slide" Target="slides/slide198.xml"/><Relationship Id="rId206" Type="http://schemas.openxmlformats.org/officeDocument/2006/relationships/slide" Target="slides/slide199.xml"/><Relationship Id="rId207" Type="http://schemas.openxmlformats.org/officeDocument/2006/relationships/slide" Target="slides/slide200.xml"/><Relationship Id="rId208" Type="http://schemas.openxmlformats.org/officeDocument/2006/relationships/slide" Target="slides/slide201.xml"/><Relationship Id="rId209" Type="http://schemas.openxmlformats.org/officeDocument/2006/relationships/slide" Target="slides/slide202.xml"/><Relationship Id="rId210" Type="http://schemas.openxmlformats.org/officeDocument/2006/relationships/slide" Target="slides/slide203.xml"/><Relationship Id="rId211" Type="http://schemas.openxmlformats.org/officeDocument/2006/relationships/slide" Target="slides/slide204.xml"/><Relationship Id="rId212" Type="http://schemas.openxmlformats.org/officeDocument/2006/relationships/slide" Target="slides/slide205.xml"/><Relationship Id="rId213" Type="http://schemas.openxmlformats.org/officeDocument/2006/relationships/slide" Target="slides/slide206.xml"/><Relationship Id="rId214" Type="http://schemas.openxmlformats.org/officeDocument/2006/relationships/slide" Target="slides/slide207.xml"/><Relationship Id="rId215" Type="http://schemas.openxmlformats.org/officeDocument/2006/relationships/slide" Target="slides/slide208.xml"/><Relationship Id="rId216" Type="http://schemas.openxmlformats.org/officeDocument/2006/relationships/slide" Target="slides/slide209.xml"/><Relationship Id="rId217" Type="http://schemas.openxmlformats.org/officeDocument/2006/relationships/slide" Target="slides/slide210.xml"/><Relationship Id="rId218" Type="http://schemas.openxmlformats.org/officeDocument/2006/relationships/slide" Target="slides/slide211.xml"/><Relationship Id="rId219" Type="http://schemas.openxmlformats.org/officeDocument/2006/relationships/slide" Target="slides/slide212.xml"/><Relationship Id="rId220" Type="http://schemas.openxmlformats.org/officeDocument/2006/relationships/slide" Target="slides/slide213.xml"/><Relationship Id="rId221" Type="http://schemas.openxmlformats.org/officeDocument/2006/relationships/slide" Target="slides/slide214.xml"/><Relationship Id="rId222" Type="http://schemas.openxmlformats.org/officeDocument/2006/relationships/slide" Target="slides/slide215.xml"/><Relationship Id="rId223" Type="http://schemas.openxmlformats.org/officeDocument/2006/relationships/slide" Target="slides/slide216.xml"/><Relationship Id="rId224" Type="http://schemas.openxmlformats.org/officeDocument/2006/relationships/slide" Target="slides/slide217.xml"/><Relationship Id="rId225" Type="http://schemas.openxmlformats.org/officeDocument/2006/relationships/slide" Target="slides/slide218.xml"/><Relationship Id="rId226" Type="http://schemas.openxmlformats.org/officeDocument/2006/relationships/slide" Target="slides/slide219.xml"/><Relationship Id="rId227" Type="http://schemas.openxmlformats.org/officeDocument/2006/relationships/slide" Target="slides/slide220.xml"/><Relationship Id="rId228" Type="http://schemas.openxmlformats.org/officeDocument/2006/relationships/slide" Target="slides/slide221.xml"/><Relationship Id="rId229" Type="http://schemas.openxmlformats.org/officeDocument/2006/relationships/slide" Target="slides/slide222.xml"/><Relationship Id="rId230" Type="http://schemas.openxmlformats.org/officeDocument/2006/relationships/slide" Target="slides/slide223.xml"/><Relationship Id="rId231" Type="http://schemas.openxmlformats.org/officeDocument/2006/relationships/slide" Target="slides/slide224.xml"/><Relationship Id="rId232" Type="http://schemas.openxmlformats.org/officeDocument/2006/relationships/slide" Target="slides/slide225.xml"/><Relationship Id="rId233" Type="http://schemas.openxmlformats.org/officeDocument/2006/relationships/slide" Target="slides/slide226.xml"/><Relationship Id="rId234" Type="http://schemas.openxmlformats.org/officeDocument/2006/relationships/slide" Target="slides/slide227.xml"/><Relationship Id="rId235" Type="http://schemas.openxmlformats.org/officeDocument/2006/relationships/slide" Target="slides/slide228.xml"/><Relationship Id="rId236" Type="http://schemas.openxmlformats.org/officeDocument/2006/relationships/slide" Target="slides/slide229.xml"/><Relationship Id="rId237" Type="http://schemas.openxmlformats.org/officeDocument/2006/relationships/slide" Target="slides/slide230.xml"/><Relationship Id="rId238" Type="http://schemas.openxmlformats.org/officeDocument/2006/relationships/slide" Target="slides/slide231.xml"/><Relationship Id="rId239" Type="http://schemas.openxmlformats.org/officeDocument/2006/relationships/slide" Target="slides/slide232.xml"/><Relationship Id="rId240" Type="http://schemas.openxmlformats.org/officeDocument/2006/relationships/slide" Target="slides/slide233.xml"/><Relationship Id="rId241" Type="http://schemas.openxmlformats.org/officeDocument/2006/relationships/slide" Target="slides/slide234.xml"/><Relationship Id="rId242" Type="http://schemas.openxmlformats.org/officeDocument/2006/relationships/slide" Target="slides/slide235.xml"/><Relationship Id="rId243" Type="http://schemas.openxmlformats.org/officeDocument/2006/relationships/slide" Target="slides/slide236.xml"/><Relationship Id="rId244" Type="http://schemas.openxmlformats.org/officeDocument/2006/relationships/slide" Target="slides/slide237.xml"/><Relationship Id="rId245" Type="http://schemas.openxmlformats.org/officeDocument/2006/relationships/slide" Target="slides/slide238.xml"/><Relationship Id="rId246" Type="http://schemas.openxmlformats.org/officeDocument/2006/relationships/slide" Target="slides/slide239.xml"/><Relationship Id="rId247" Type="http://schemas.openxmlformats.org/officeDocument/2006/relationships/slide" Target="slides/slide240.xml"/><Relationship Id="rId248" Type="http://schemas.openxmlformats.org/officeDocument/2006/relationships/slide" Target="slides/slide241.xml"/><Relationship Id="rId249" Type="http://schemas.openxmlformats.org/officeDocument/2006/relationships/slide" Target="slides/slide242.xml"/><Relationship Id="rId250" Type="http://schemas.openxmlformats.org/officeDocument/2006/relationships/slide" Target="slides/slide243.xml"/><Relationship Id="rId251" Type="http://schemas.openxmlformats.org/officeDocument/2006/relationships/slide" Target="slides/slide244.xml"/><Relationship Id="rId252" Type="http://schemas.openxmlformats.org/officeDocument/2006/relationships/slide" Target="slides/slide245.xml"/><Relationship Id="rId253" Type="http://schemas.openxmlformats.org/officeDocument/2006/relationships/slide" Target="slides/slide246.xml"/><Relationship Id="rId254" Type="http://schemas.openxmlformats.org/officeDocument/2006/relationships/slide" Target="slides/slide247.xml"/><Relationship Id="rId255" Type="http://schemas.openxmlformats.org/officeDocument/2006/relationships/slide" Target="slides/slide248.xml"/><Relationship Id="rId256" Type="http://schemas.openxmlformats.org/officeDocument/2006/relationships/slide" Target="slides/slide249.xml"/><Relationship Id="rId257" Type="http://schemas.openxmlformats.org/officeDocument/2006/relationships/slide" Target="slides/slide250.xml"/><Relationship Id="rId258" Type="http://schemas.openxmlformats.org/officeDocument/2006/relationships/slide" Target="slides/slide251.xml"/><Relationship Id="rId259" Type="http://schemas.openxmlformats.org/officeDocument/2006/relationships/slide" Target="slides/slide252.xml"/><Relationship Id="rId260" Type="http://schemas.openxmlformats.org/officeDocument/2006/relationships/slide" Target="slides/slide253.xml"/><Relationship Id="rId261" Type="http://schemas.openxmlformats.org/officeDocument/2006/relationships/slide" Target="slides/slide254.xml"/><Relationship Id="rId262" Type="http://schemas.openxmlformats.org/officeDocument/2006/relationships/slide" Target="slides/slide255.xml"/><Relationship Id="rId263" Type="http://schemas.openxmlformats.org/officeDocument/2006/relationships/slide" Target="slides/slide256.xml"/><Relationship Id="rId264" Type="http://schemas.openxmlformats.org/officeDocument/2006/relationships/slide" Target="slides/slide257.xml"/><Relationship Id="rId265" Type="http://schemas.openxmlformats.org/officeDocument/2006/relationships/slide" Target="slides/slide258.xml"/><Relationship Id="rId266" Type="http://schemas.openxmlformats.org/officeDocument/2006/relationships/slide" Target="slides/slide259.xml"/><Relationship Id="rId267" Type="http://schemas.openxmlformats.org/officeDocument/2006/relationships/slide" Target="slides/slide260.xml"/><Relationship Id="rId268" Type="http://schemas.openxmlformats.org/officeDocument/2006/relationships/slide" Target="slides/slide261.xml"/><Relationship Id="rId269" Type="http://schemas.openxmlformats.org/officeDocument/2006/relationships/slide" Target="slides/slide262.xml"/><Relationship Id="rId270" Type="http://schemas.openxmlformats.org/officeDocument/2006/relationships/slide" Target="slides/slide263.xml"/><Relationship Id="rId271" Type="http://schemas.openxmlformats.org/officeDocument/2006/relationships/slide" Target="slides/slide264.xml"/><Relationship Id="rId272" Type="http://schemas.openxmlformats.org/officeDocument/2006/relationships/slide" Target="slides/slide265.xml"/><Relationship Id="rId273" Type="http://schemas.openxmlformats.org/officeDocument/2006/relationships/slide" Target="slides/slide266.xml"/><Relationship Id="rId274" Type="http://schemas.openxmlformats.org/officeDocument/2006/relationships/slide" Target="slides/slide267.xml"/><Relationship Id="rId275" Type="http://schemas.openxmlformats.org/officeDocument/2006/relationships/slide" Target="slides/slide268.xml"/><Relationship Id="rId276" Type="http://schemas.openxmlformats.org/officeDocument/2006/relationships/slide" Target="slides/slide269.xml"/><Relationship Id="rId277" Type="http://schemas.openxmlformats.org/officeDocument/2006/relationships/slide" Target="slides/slide270.xml"/><Relationship Id="rId278" Type="http://schemas.openxmlformats.org/officeDocument/2006/relationships/slide" Target="slides/slide271.xml"/><Relationship Id="rId279" Type="http://schemas.openxmlformats.org/officeDocument/2006/relationships/slide" Target="slides/slide272.xml"/><Relationship Id="rId280" Type="http://schemas.openxmlformats.org/officeDocument/2006/relationships/slide" Target="slides/slide273.xml"/><Relationship Id="rId281" Type="http://schemas.openxmlformats.org/officeDocument/2006/relationships/slide" Target="slides/slide274.xml"/><Relationship Id="rId282" Type="http://schemas.openxmlformats.org/officeDocument/2006/relationships/slide" Target="slides/slide275.xml"/><Relationship Id="rId283" Type="http://schemas.openxmlformats.org/officeDocument/2006/relationships/slide" Target="slides/slide276.xml"/><Relationship Id="rId284" Type="http://schemas.openxmlformats.org/officeDocument/2006/relationships/slide" Target="slides/slide277.xml"/><Relationship Id="rId285" Type="http://schemas.openxmlformats.org/officeDocument/2006/relationships/slide" Target="slides/slide278.xml"/><Relationship Id="rId286" Type="http://schemas.openxmlformats.org/officeDocument/2006/relationships/slide" Target="slides/slide279.xml"/><Relationship Id="rId287" Type="http://schemas.openxmlformats.org/officeDocument/2006/relationships/slide" Target="slides/slide280.xml"/><Relationship Id="rId288" Type="http://schemas.openxmlformats.org/officeDocument/2006/relationships/slide" Target="slides/slide281.xml"/><Relationship Id="rId289" Type="http://schemas.openxmlformats.org/officeDocument/2006/relationships/slide" Target="slides/slide282.xml"/><Relationship Id="rId290" Type="http://schemas.openxmlformats.org/officeDocument/2006/relationships/slide" Target="slides/slide283.xml"/><Relationship Id="rId291" Type="http://schemas.openxmlformats.org/officeDocument/2006/relationships/slide" Target="slides/slide284.xml"/><Relationship Id="rId292" Type="http://schemas.openxmlformats.org/officeDocument/2006/relationships/slide" Target="slides/slide285.xml"/><Relationship Id="rId293" Type="http://schemas.openxmlformats.org/officeDocument/2006/relationships/slide" Target="slides/slide286.xml"/><Relationship Id="rId294" Type="http://schemas.openxmlformats.org/officeDocument/2006/relationships/slide" Target="slides/slide287.xml"/><Relationship Id="rId295" Type="http://schemas.openxmlformats.org/officeDocument/2006/relationships/slide" Target="slides/slide288.xml"/><Relationship Id="rId296" Type="http://schemas.openxmlformats.org/officeDocument/2006/relationships/slide" Target="slides/slide289.xml"/><Relationship Id="rId297" Type="http://schemas.openxmlformats.org/officeDocument/2006/relationships/slide" Target="slides/slide290.xml"/><Relationship Id="rId298" Type="http://schemas.openxmlformats.org/officeDocument/2006/relationships/slide" Target="slides/slide291.xml"/><Relationship Id="rId299" Type="http://schemas.openxmlformats.org/officeDocument/2006/relationships/slide" Target="slides/slide292.xml"/><Relationship Id="rId300" Type="http://schemas.openxmlformats.org/officeDocument/2006/relationships/slide" Target="slides/slide293.xml"/><Relationship Id="rId301" Type="http://schemas.openxmlformats.org/officeDocument/2006/relationships/slide" Target="slides/slide294.xml"/><Relationship Id="rId302" Type="http://schemas.openxmlformats.org/officeDocument/2006/relationships/slide" Target="slides/slide295.xml"/><Relationship Id="rId303" Type="http://schemas.openxmlformats.org/officeDocument/2006/relationships/slide" Target="slides/slide296.xml"/><Relationship Id="rId304" Type="http://schemas.openxmlformats.org/officeDocument/2006/relationships/slide" Target="slides/slide297.xml"/><Relationship Id="rId305" Type="http://schemas.openxmlformats.org/officeDocument/2006/relationships/slide" Target="slides/slide298.xml"/><Relationship Id="rId306" Type="http://schemas.openxmlformats.org/officeDocument/2006/relationships/slide" Target="slides/slide299.xml"/><Relationship Id="rId307" Type="http://schemas.openxmlformats.org/officeDocument/2006/relationships/slide" Target="slides/slide300.xml"/><Relationship Id="rId308" Type="http://schemas.openxmlformats.org/officeDocument/2006/relationships/slide" Target="slides/slide301.xml"/><Relationship Id="rId309" Type="http://schemas.openxmlformats.org/officeDocument/2006/relationships/slide" Target="slides/slide302.xml"/><Relationship Id="rId310" Type="http://schemas.openxmlformats.org/officeDocument/2006/relationships/slide" Target="slides/slide303.xml"/><Relationship Id="rId311" Type="http://schemas.openxmlformats.org/officeDocument/2006/relationships/slide" Target="slides/slide304.xml"/><Relationship Id="rId312" Type="http://schemas.openxmlformats.org/officeDocument/2006/relationships/slide" Target="slides/slide305.xml"/><Relationship Id="rId313" Type="http://schemas.openxmlformats.org/officeDocument/2006/relationships/slide" Target="slides/slide306.xml"/><Relationship Id="rId314" Type="http://schemas.openxmlformats.org/officeDocument/2006/relationships/slide" Target="slides/slide307.xml"/><Relationship Id="rId315" Type="http://schemas.openxmlformats.org/officeDocument/2006/relationships/slide" Target="slides/slide308.xml"/><Relationship Id="rId316" Type="http://schemas.openxmlformats.org/officeDocument/2006/relationships/slide" Target="slides/slide309.xml"/><Relationship Id="rId317" Type="http://schemas.openxmlformats.org/officeDocument/2006/relationships/slide" Target="slides/slide310.xml"/><Relationship Id="rId318" Type="http://schemas.openxmlformats.org/officeDocument/2006/relationships/slide" Target="slides/slide311.xml"/><Relationship Id="rId319" Type="http://schemas.openxmlformats.org/officeDocument/2006/relationships/slide" Target="slides/slide312.xml"/><Relationship Id="rId320" Type="http://schemas.openxmlformats.org/officeDocument/2006/relationships/slide" Target="slides/slide313.xml"/><Relationship Id="rId321" Type="http://schemas.openxmlformats.org/officeDocument/2006/relationships/slide" Target="slides/slide314.xml"/><Relationship Id="rId322" Type="http://schemas.openxmlformats.org/officeDocument/2006/relationships/slide" Target="slides/slide315.xml"/><Relationship Id="rId323" Type="http://schemas.openxmlformats.org/officeDocument/2006/relationships/slide" Target="slides/slide316.xml"/><Relationship Id="rId324" Type="http://schemas.openxmlformats.org/officeDocument/2006/relationships/slide" Target="slides/slide317.xml"/><Relationship Id="rId325" Type="http://schemas.openxmlformats.org/officeDocument/2006/relationships/slide" Target="slides/slide318.xml"/><Relationship Id="rId326" Type="http://schemas.openxmlformats.org/officeDocument/2006/relationships/slide" Target="slides/slide319.xml"/><Relationship Id="rId327" Type="http://schemas.openxmlformats.org/officeDocument/2006/relationships/slide" Target="slides/slide320.xml"/><Relationship Id="rId328" Type="http://schemas.openxmlformats.org/officeDocument/2006/relationships/slide" Target="slides/slide321.xml"/><Relationship Id="rId329" Type="http://schemas.openxmlformats.org/officeDocument/2006/relationships/slide" Target="slides/slide322.xml"/><Relationship Id="rId330" Type="http://schemas.openxmlformats.org/officeDocument/2006/relationships/slide" Target="slides/slide323.xml"/><Relationship Id="rId331" Type="http://schemas.openxmlformats.org/officeDocument/2006/relationships/slide" Target="slides/slide324.xml"/><Relationship Id="rId332" Type="http://schemas.openxmlformats.org/officeDocument/2006/relationships/slide" Target="slides/slide325.xml"/><Relationship Id="rId333" Type="http://schemas.openxmlformats.org/officeDocument/2006/relationships/slide" Target="slides/slide326.xml"/><Relationship Id="rId334" Type="http://schemas.openxmlformats.org/officeDocument/2006/relationships/slide" Target="slides/slide327.xml"/><Relationship Id="rId335" Type="http://schemas.openxmlformats.org/officeDocument/2006/relationships/slide" Target="slides/slide328.xml"/><Relationship Id="rId336" Type="http://schemas.openxmlformats.org/officeDocument/2006/relationships/slide" Target="slides/slide329.xml"/><Relationship Id="rId337" Type="http://schemas.openxmlformats.org/officeDocument/2006/relationships/slide" Target="slides/slide330.xml"/><Relationship Id="rId338" Type="http://schemas.openxmlformats.org/officeDocument/2006/relationships/slide" Target="slides/slide331.xml"/><Relationship Id="rId339" Type="http://schemas.openxmlformats.org/officeDocument/2006/relationships/slide" Target="slides/slide332.xml"/><Relationship Id="rId340" Type="http://schemas.openxmlformats.org/officeDocument/2006/relationships/slide" Target="slides/slide333.xml"/><Relationship Id="rId341" Type="http://schemas.openxmlformats.org/officeDocument/2006/relationships/slide" Target="slides/slide334.xml"/><Relationship Id="rId342" Type="http://schemas.openxmlformats.org/officeDocument/2006/relationships/slide" Target="slides/slide335.xml"/><Relationship Id="rId343" Type="http://schemas.openxmlformats.org/officeDocument/2006/relationships/slide" Target="slides/slide336.xml"/><Relationship Id="rId344" Type="http://schemas.openxmlformats.org/officeDocument/2006/relationships/slide" Target="slides/slide337.xml"/><Relationship Id="rId345" Type="http://schemas.openxmlformats.org/officeDocument/2006/relationships/slide" Target="slides/slide338.xml"/><Relationship Id="rId346" Type="http://schemas.openxmlformats.org/officeDocument/2006/relationships/slide" Target="slides/slide339.xml"/><Relationship Id="rId347" Type="http://schemas.openxmlformats.org/officeDocument/2006/relationships/slide" Target="slides/slide340.xml"/><Relationship Id="rId348" Type="http://schemas.openxmlformats.org/officeDocument/2006/relationships/slide" Target="slides/slide341.xml"/><Relationship Id="rId349" Type="http://schemas.openxmlformats.org/officeDocument/2006/relationships/slide" Target="slides/slide342.xml"/><Relationship Id="rId350" Type="http://schemas.openxmlformats.org/officeDocument/2006/relationships/slide" Target="slides/slide343.xml"/><Relationship Id="rId351" Type="http://schemas.openxmlformats.org/officeDocument/2006/relationships/slide" Target="slides/slide344.xml"/><Relationship Id="rId352" Type="http://schemas.openxmlformats.org/officeDocument/2006/relationships/slide" Target="slides/slide345.xml"/><Relationship Id="rId353" Type="http://schemas.openxmlformats.org/officeDocument/2006/relationships/slide" Target="slides/slide346.xml"/><Relationship Id="rId354" Type="http://schemas.openxmlformats.org/officeDocument/2006/relationships/slide" Target="slides/slide347.xml"/><Relationship Id="rId355" Type="http://schemas.openxmlformats.org/officeDocument/2006/relationships/slide" Target="slides/slide348.xml"/><Relationship Id="rId356" Type="http://schemas.openxmlformats.org/officeDocument/2006/relationships/slide" Target="slides/slide349.xml"/><Relationship Id="rId357" Type="http://schemas.openxmlformats.org/officeDocument/2006/relationships/slide" Target="slides/slide350.xml"/><Relationship Id="rId358" Type="http://schemas.openxmlformats.org/officeDocument/2006/relationships/slide" Target="slides/slide351.xml"/><Relationship Id="rId359" Type="http://schemas.openxmlformats.org/officeDocument/2006/relationships/slide" Target="slides/slide352.xml"/><Relationship Id="rId360" Type="http://schemas.openxmlformats.org/officeDocument/2006/relationships/slide" Target="slides/slide353.xml"/><Relationship Id="rId361" Type="http://schemas.openxmlformats.org/officeDocument/2006/relationships/slide" Target="slides/slide354.xml"/><Relationship Id="rId362" Type="http://schemas.openxmlformats.org/officeDocument/2006/relationships/slide" Target="slides/slide355.xml"/><Relationship Id="rId363" Type="http://schemas.openxmlformats.org/officeDocument/2006/relationships/slide" Target="slides/slide356.xml"/><Relationship Id="rId364" Type="http://schemas.openxmlformats.org/officeDocument/2006/relationships/slide" Target="slides/slide357.xml"/><Relationship Id="rId365" Type="http://schemas.openxmlformats.org/officeDocument/2006/relationships/slide" Target="slides/slide358.xml"/><Relationship Id="rId366" Type="http://schemas.openxmlformats.org/officeDocument/2006/relationships/slide" Target="slides/slide359.xml"/><Relationship Id="rId367" Type="http://schemas.openxmlformats.org/officeDocument/2006/relationships/slide" Target="slides/slide360.xml"/><Relationship Id="rId368" Type="http://schemas.openxmlformats.org/officeDocument/2006/relationships/slide" Target="slides/slide361.xml"/><Relationship Id="rId369" Type="http://schemas.openxmlformats.org/officeDocument/2006/relationships/slide" Target="slides/slide362.xml"/><Relationship Id="rId370" Type="http://schemas.openxmlformats.org/officeDocument/2006/relationships/slide" Target="slides/slide36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Level</c:v>
                </c:pt>
              </c:strCache>
            </c:strRef>
          </c:tx>
          <c:dPt>
            <c:idx val="0"/>
            <c:spPr>
              <a:solidFill>
                <a:srgbClr val="FFD966"/>
              </a:solidFill>
              <a:ln w="9525">
                <a:solidFill>
                  <a:srgbClr val="111827"/>
                </a:solidFill>
              </a:ln>
            </c:spPr>
          </c:dPt>
          <c:dPt>
            <c:idx val="1"/>
            <c:spPr>
              <a:solidFill>
                <a:srgbClr val="FFD966"/>
              </a:solidFill>
              <a:ln w="9525">
                <a:solidFill>
                  <a:srgbClr val="111827"/>
                </a:solidFill>
              </a:ln>
            </c:spPr>
          </c:dPt>
          <c:dPt>
            <c:idx val="2"/>
            <c:spPr>
              <a:solidFill>
                <a:srgbClr val="FFD966"/>
              </a:solidFill>
              <a:ln w="9525">
                <a:solidFill>
                  <a:srgbClr val="111827"/>
                </a:solidFill>
              </a:ln>
            </c:spPr>
          </c:dPt>
          <c:dPt>
            <c:idx val="3"/>
            <c:spPr>
              <a:solidFill>
                <a:srgbClr val="FFD966"/>
              </a:solidFill>
              <a:ln w="9525">
                <a:solidFill>
                  <a:srgbClr val="111827"/>
                </a:solidFill>
              </a:ln>
            </c:spPr>
          </c:dPt>
          <c:dPt>
            <c:idx val="4"/>
            <c:spPr>
              <a:solidFill>
                <a:srgbClr val="B6D7A8"/>
              </a:solidFill>
              <a:ln w="9525">
                <a:solidFill>
                  <a:srgbClr val="111827"/>
                </a:solidFill>
              </a:ln>
            </c:spPr>
          </c:dPt>
          <c:dPt>
            <c:idx val="5"/>
            <c:spPr>
              <a:solidFill>
                <a:srgbClr val="FFD966"/>
              </a:solidFill>
              <a:ln w="9525">
                <a:solidFill>
                  <a:srgbClr val="111827"/>
                </a:solidFill>
              </a:ln>
            </c:spPr>
          </c:dPt>
          <c:dPt>
            <c:idx val="6"/>
            <c:spPr>
              <a:solidFill>
                <a:srgbClr val="F6B26B"/>
              </a:solidFill>
              <a:ln w="9525">
                <a:solidFill>
                  <a:srgbClr val="111827"/>
                </a:solidFill>
              </a:ln>
            </c:spPr>
          </c:dPt>
          <c:dPt>
            <c:idx val="7"/>
            <c:spPr>
              <a:solidFill>
                <a:srgbClr val="FFD966"/>
              </a:solidFill>
              <a:ln w="9525">
                <a:solidFill>
                  <a:srgbClr val="111827"/>
                </a:solidFill>
              </a:ln>
            </c:spPr>
          </c:dPt>
          <c:dPt>
            <c:idx val="8"/>
            <c:spPr>
              <a:solidFill>
                <a:srgbClr val="F6B26B"/>
              </a:solidFill>
              <a:ln w="9525">
                <a:solidFill>
                  <a:srgbClr val="111827"/>
                </a:solidFill>
              </a:ln>
            </c:spPr>
          </c:dPt>
          <c:dPt>
            <c:idx val="9"/>
            <c:spPr>
              <a:solidFill>
                <a:srgbClr val="FFD966"/>
              </a:solidFill>
              <a:ln w="9525">
                <a:solidFill>
                  <a:srgbClr val="111827"/>
                </a:solidFill>
              </a:ln>
            </c:spPr>
          </c:dPt>
          <c:dPt>
            <c:idx val="10"/>
            <c:spPr>
              <a:solidFill>
                <a:srgbClr val="FFD966"/>
              </a:solidFill>
              <a:ln w="9525">
                <a:solidFill>
                  <a:srgbClr val="111827"/>
                </a:solidFill>
              </a:ln>
            </c:spPr>
          </c:dPt>
          <c:dPt>
            <c:idx val="11"/>
            <c:spPr>
              <a:solidFill>
                <a:srgbClr val="B6D7A8"/>
              </a:solidFill>
              <a:ln w="9525">
                <a:solidFill>
                  <a:srgbClr val="111827"/>
                </a:solidFill>
              </a:ln>
            </c:spPr>
          </c:dPt>
          <c:dPt>
            <c:idx val="12"/>
            <c:spPr>
              <a:solidFill>
                <a:srgbClr val="F6B26B"/>
              </a:solidFill>
              <a:ln w="9525">
                <a:solidFill>
                  <a:srgbClr val="111827"/>
                </a:solidFill>
              </a:ln>
            </c:spPr>
          </c:dPt>
          <c:dPt>
            <c:idx val="13"/>
            <c:spPr>
              <a:solidFill>
                <a:srgbClr val="FFD966"/>
              </a:solidFill>
              <a:ln w="9525">
                <a:solidFill>
                  <a:srgbClr val="111827"/>
                </a:solidFill>
              </a:ln>
            </c:spPr>
          </c:dPt>
          <c:dPt>
            <c:idx val="14"/>
            <c:spPr>
              <a:solidFill>
                <a:srgbClr val="B6D7A8"/>
              </a:solidFill>
              <a:ln w="9525">
                <a:solidFill>
                  <a:srgbClr val="111827"/>
                </a:solidFill>
              </a:ln>
            </c:spPr>
          </c:dPt>
          <c:dPt>
            <c:idx val="15"/>
            <c:spPr>
              <a:solidFill>
                <a:srgbClr val="FFD966"/>
              </a:solidFill>
              <a:ln w="9525">
                <a:solidFill>
                  <a:srgbClr val="111827"/>
                </a:solidFill>
              </a:ln>
            </c:spPr>
          </c:dPt>
          <c:dPt>
            <c:idx val="16"/>
            <c:spPr>
              <a:solidFill>
                <a:srgbClr val="FFD966"/>
              </a:solidFill>
              <a:ln w="9525">
                <a:solidFill>
                  <a:srgbClr val="111827"/>
                </a:solidFill>
              </a:ln>
            </c:spPr>
          </c:dPt>
          <c:dPt>
            <c:idx val="17"/>
            <c:spPr>
              <a:solidFill>
                <a:srgbClr val="B6D7A8"/>
              </a:solidFill>
              <a:ln w="9525">
                <a:solidFill>
                  <a:srgbClr val="111827"/>
                </a:solidFill>
              </a:ln>
            </c:spPr>
          </c:dPt>
          <c:dPt>
            <c:idx val="18"/>
            <c:spPr>
              <a:solidFill>
                <a:srgbClr val="FFD966"/>
              </a:solidFill>
              <a:ln w="9525">
                <a:solidFill>
                  <a:srgbClr val="111827"/>
                </a:solidFill>
              </a:ln>
            </c:spPr>
          </c:dPt>
          <c:dPt>
            <c:idx val="19"/>
            <c:spPr>
              <a:solidFill>
                <a:srgbClr val="FFD966"/>
              </a:solidFill>
              <a:ln w="9525">
                <a:solidFill>
                  <a:srgbClr val="111827"/>
                </a:solidFill>
              </a:ln>
            </c:spPr>
          </c:dPt>
          <c:dPt>
            <c:idx val="20"/>
            <c:spPr>
              <a:solidFill>
                <a:srgbClr val="B6D7A8"/>
              </a:solidFill>
              <a:ln w="9525">
                <a:solidFill>
                  <a:srgbClr val="111827"/>
                </a:solidFill>
              </a:ln>
            </c:spPr>
          </c:dPt>
          <c:dPt>
            <c:idx val="21"/>
            <c:spPr>
              <a:solidFill>
                <a:srgbClr val="B6D7A8"/>
              </a:solidFill>
              <a:ln w="9525">
                <a:solidFill>
                  <a:srgbClr val="111827"/>
                </a:solidFill>
              </a:ln>
            </c:spPr>
          </c:dPt>
          <c:dPt>
            <c:idx val="22"/>
            <c:spPr>
              <a:solidFill>
                <a:srgbClr val="FFD966"/>
              </a:solidFill>
              <a:ln w="9525">
                <a:solidFill>
                  <a:srgbClr val="111827"/>
                </a:solidFill>
              </a:ln>
            </c:spPr>
          </c:dPt>
          <c:dPt>
            <c:idx val="23"/>
            <c:spPr>
              <a:solidFill>
                <a:srgbClr val="B6D7A8"/>
              </a:solidFill>
              <a:ln w="9525">
                <a:solidFill>
                  <a:srgbClr val="111827"/>
                </a:solidFill>
              </a:ln>
            </c:spPr>
          </c:dPt>
          <c:dPt>
            <c:idx val="24"/>
            <c:spPr>
              <a:solidFill>
                <a:srgbClr val="B6D7A8"/>
              </a:solidFill>
              <a:ln w="9525">
                <a:solidFill>
                  <a:srgbClr val="111827"/>
                </a:solidFill>
              </a:ln>
            </c:spPr>
          </c:dPt>
          <c:dPt>
            <c:idx val="25"/>
            <c:spPr>
              <a:solidFill>
                <a:srgbClr val="FFD966"/>
              </a:solidFill>
              <a:ln w="9525">
                <a:solidFill>
                  <a:srgbClr val="111827"/>
                </a:solidFill>
              </a:ln>
            </c:spPr>
          </c:dPt>
          <c:dPt>
            <c:idx val="26"/>
            <c:spPr>
              <a:solidFill>
                <a:srgbClr val="FFD966"/>
              </a:solidFill>
              <a:ln w="9525">
                <a:solidFill>
                  <a:srgbClr val="111827"/>
                </a:solidFill>
              </a:ln>
            </c:spPr>
          </c:dPt>
          <c:dPt>
            <c:idx val="27"/>
            <c:spPr>
              <a:solidFill>
                <a:srgbClr val="F6B26B"/>
              </a:solidFill>
              <a:ln w="9525">
                <a:solidFill>
                  <a:srgbClr val="111827"/>
                </a:solidFill>
              </a:ln>
            </c:spPr>
          </c:dPt>
          <c:dPt>
            <c:idx val="28"/>
            <c:spPr>
              <a:solidFill>
                <a:srgbClr val="B6D7A8"/>
              </a:solidFill>
              <a:ln w="9525">
                <a:solidFill>
                  <a:srgbClr val="111827"/>
                </a:solidFill>
              </a:ln>
            </c:spPr>
          </c:dPt>
          <c:dPt>
            <c:idx val="29"/>
            <c:spPr>
              <a:solidFill>
                <a:srgbClr val="B6D7A8"/>
              </a:solidFill>
              <a:ln w="9525">
                <a:solidFill>
                  <a:srgbClr val="111827"/>
                </a:solidFill>
              </a:ln>
            </c:spPr>
          </c:dPt>
          <c:dPt>
            <c:idx val="30"/>
            <c:spPr>
              <a:solidFill>
                <a:srgbClr val="FFD966"/>
              </a:solidFill>
              <a:ln w="9525">
                <a:solidFill>
                  <a:srgbClr val="111827"/>
                </a:solidFill>
              </a:ln>
            </c:spPr>
          </c:dPt>
          <c:dPt>
            <c:idx val="31"/>
            <c:spPr>
              <a:solidFill>
                <a:srgbClr val="FFD966"/>
              </a:solidFill>
              <a:ln w="9525">
                <a:solidFill>
                  <a:srgbClr val="111827"/>
                </a:solidFill>
              </a:ln>
            </c:spPr>
          </c:dPt>
          <c:dPt>
            <c:idx val="32"/>
            <c:spPr>
              <a:solidFill>
                <a:srgbClr val="B6D7A8"/>
              </a:solidFill>
              <a:ln w="9525">
                <a:solidFill>
                  <a:srgbClr val="111827"/>
                </a:solidFill>
              </a:ln>
            </c:spPr>
          </c:dPt>
          <c:dPt>
            <c:idx val="33"/>
            <c:spPr>
              <a:solidFill>
                <a:srgbClr val="B6D7A8"/>
              </a:solidFill>
              <a:ln w="9525">
                <a:solidFill>
                  <a:srgbClr val="111827"/>
                </a:solidFill>
              </a:ln>
            </c:spPr>
          </c:dPt>
          <c:dPt>
            <c:idx val="34"/>
            <c:spPr>
              <a:solidFill>
                <a:srgbClr val="F6B26B"/>
              </a:solidFill>
              <a:ln w="9525">
                <a:solidFill>
                  <a:srgbClr val="111827"/>
                </a:solidFill>
              </a:ln>
            </c:spPr>
          </c:dPt>
          <c:dPt>
            <c:idx val="35"/>
            <c:spPr>
              <a:solidFill>
                <a:srgbClr val="FFD966"/>
              </a:solidFill>
              <a:ln w="9525">
                <a:solidFill>
                  <a:srgbClr val="111827"/>
                </a:solidFill>
              </a:ln>
            </c:spPr>
          </c:dPt>
          <c:dPt>
            <c:idx val="36"/>
            <c:spPr>
              <a:solidFill>
                <a:srgbClr val="FFD966"/>
              </a:solidFill>
              <a:ln w="9525">
                <a:solidFill>
                  <a:srgbClr val="111827"/>
                </a:solidFill>
              </a:ln>
            </c:spPr>
          </c:dPt>
          <c:dPt>
            <c:idx val="37"/>
            <c:spPr>
              <a:solidFill>
                <a:srgbClr val="FFD966"/>
              </a:solidFill>
              <a:ln w="9525">
                <a:solidFill>
                  <a:srgbClr val="111827"/>
                </a:solidFill>
              </a:ln>
            </c:spPr>
          </c:dPt>
          <c:dPt>
            <c:idx val="38"/>
            <c:spPr>
              <a:solidFill>
                <a:srgbClr val="B6D7A8"/>
              </a:solidFill>
              <a:ln w="9525">
                <a:solidFill>
                  <a:srgbClr val="111827"/>
                </a:solidFill>
              </a:ln>
            </c:spPr>
          </c:dPt>
          <c:dPt>
            <c:idx val="39"/>
            <c:spPr>
              <a:solidFill>
                <a:srgbClr val="FFD966"/>
              </a:solidFill>
              <a:ln w="9525">
                <a:solidFill>
                  <a:srgbClr val="111827"/>
                </a:solidFill>
              </a:ln>
            </c:spPr>
          </c:dPt>
          <c:dPt>
            <c:idx val="40"/>
            <c:spPr>
              <a:solidFill>
                <a:srgbClr val="FFD966"/>
              </a:solidFill>
              <a:ln w="9525">
                <a:solidFill>
                  <a:srgbClr val="111827"/>
                </a:solidFill>
              </a:ln>
            </c:spPr>
          </c:dPt>
          <c:dPt>
            <c:idx val="41"/>
            <c:spPr>
              <a:solidFill>
                <a:srgbClr val="F6B26B"/>
              </a:solidFill>
              <a:ln w="9525">
                <a:solidFill>
                  <a:srgbClr val="111827"/>
                </a:solidFill>
              </a:ln>
            </c:spPr>
          </c:dPt>
          <c:dPt>
            <c:idx val="42"/>
            <c:spPr>
              <a:solidFill>
                <a:srgbClr val="F6B26B"/>
              </a:solidFill>
              <a:ln w="9525">
                <a:solidFill>
                  <a:srgbClr val="111827"/>
                </a:solidFill>
              </a:ln>
            </c:spPr>
          </c:dPt>
          <c:dPt>
            <c:idx val="43"/>
            <c:spPr>
              <a:solidFill>
                <a:srgbClr val="FFD966"/>
              </a:solidFill>
              <a:ln w="9525">
                <a:solidFill>
                  <a:srgbClr val="111827"/>
                </a:solidFill>
              </a:ln>
            </c:spPr>
          </c:dPt>
          <c:dPt>
            <c:idx val="44"/>
            <c:spPr>
              <a:solidFill>
                <a:srgbClr val="FFD966"/>
              </a:solidFill>
              <a:ln w="9525">
                <a:solidFill>
                  <a:srgbClr val="111827"/>
                </a:solidFill>
              </a:ln>
            </c:spPr>
          </c:dPt>
          <c:dPt>
            <c:idx val="45"/>
            <c:spPr>
              <a:solidFill>
                <a:srgbClr val="FFD966"/>
              </a:solidFill>
              <a:ln w="9525">
                <a:solidFill>
                  <a:srgbClr val="111827"/>
                </a:solidFill>
              </a:ln>
            </c:spPr>
          </c:dPt>
          <c:dPt>
            <c:idx val="46"/>
            <c:spPr>
              <a:solidFill>
                <a:srgbClr val="FFD966"/>
              </a:solidFill>
              <a:ln w="9525">
                <a:solidFill>
                  <a:srgbClr val="111827"/>
                </a:solidFill>
              </a:ln>
            </c:spPr>
          </c:dPt>
          <c:dPt>
            <c:idx val="47"/>
            <c:spPr>
              <a:solidFill>
                <a:srgbClr val="FFD966"/>
              </a:solidFill>
              <a:ln w="9525">
                <a:solidFill>
                  <a:srgbClr val="111827"/>
                </a:solidFill>
              </a:ln>
            </c:spPr>
          </c:dPt>
          <c:dPt>
            <c:idx val="48"/>
            <c:spPr>
              <a:solidFill>
                <a:srgbClr val="FFD966"/>
              </a:solidFill>
              <a:ln w="9525">
                <a:solidFill>
                  <a:srgbClr val="111827"/>
                </a:solidFill>
              </a:ln>
            </c:spPr>
          </c:dPt>
          <c:dPt>
            <c:idx val="49"/>
            <c:spPr>
              <a:solidFill>
                <a:srgbClr val="B6D7A8"/>
              </a:solidFill>
              <a:ln w="9525">
                <a:solidFill>
                  <a:srgbClr val="111827"/>
                </a:solidFill>
              </a:ln>
            </c:spPr>
          </c:dPt>
          <c:dPt>
            <c:idx val="50"/>
            <c:spPr>
              <a:solidFill>
                <a:srgbClr val="FFD966"/>
              </a:solidFill>
              <a:ln w="9525">
                <a:solidFill>
                  <a:srgbClr val="111827"/>
                </a:solidFill>
              </a:ln>
            </c:spPr>
          </c:dPt>
          <c:dPt>
            <c:idx val="51"/>
            <c:spPr>
              <a:solidFill>
                <a:srgbClr val="FFD966"/>
              </a:solidFill>
              <a:ln w="9525">
                <a:solidFill>
                  <a:srgbClr val="111827"/>
                </a:solidFill>
              </a:ln>
            </c:spPr>
          </c:dPt>
          <c:dPt>
            <c:idx val="52"/>
            <c:spPr>
              <a:solidFill>
                <a:srgbClr val="FFD966"/>
              </a:solidFill>
              <a:ln w="9525">
                <a:solidFill>
                  <a:srgbClr val="111827"/>
                </a:solidFill>
              </a:ln>
            </c:spPr>
          </c:dPt>
          <c:dPt>
            <c:idx val="53"/>
            <c:spPr>
              <a:solidFill>
                <a:srgbClr val="FFD966"/>
              </a:solidFill>
              <a:ln w="9525">
                <a:solidFill>
                  <a:srgbClr val="111827"/>
                </a:solidFill>
              </a:ln>
            </c:spPr>
          </c:dPt>
          <c:dPt>
            <c:idx val="54"/>
            <c:spPr>
              <a:solidFill>
                <a:srgbClr val="B6D7A8"/>
              </a:solidFill>
              <a:ln w="9525">
                <a:solidFill>
                  <a:srgbClr val="111827"/>
                </a:solidFill>
              </a:ln>
            </c:spPr>
          </c:dPt>
          <c:dPt>
            <c:idx val="55"/>
            <c:spPr>
              <a:solidFill>
                <a:srgbClr val="FFD966"/>
              </a:solidFill>
              <a:ln w="9525">
                <a:solidFill>
                  <a:srgbClr val="111827"/>
                </a:solidFill>
              </a:ln>
            </c:spPr>
          </c:dPt>
          <c:dPt>
            <c:idx val="56"/>
            <c:spPr>
              <a:solidFill>
                <a:srgbClr val="B6D7A8"/>
              </a:solidFill>
              <a:ln w="9525">
                <a:solidFill>
                  <a:srgbClr val="111827"/>
                </a:solidFill>
              </a:ln>
            </c:spPr>
          </c:dPt>
          <c:dPt>
            <c:idx val="57"/>
            <c:spPr>
              <a:solidFill>
                <a:srgbClr val="F6B26B"/>
              </a:solidFill>
              <a:ln w="9525">
                <a:solidFill>
                  <a:srgbClr val="111827"/>
                </a:solidFill>
              </a:ln>
            </c:spPr>
          </c:dPt>
          <c:dPt>
            <c:idx val="58"/>
            <c:spPr>
              <a:solidFill>
                <a:srgbClr val="FFD966"/>
              </a:solidFill>
              <a:ln w="9525">
                <a:solidFill>
                  <a:srgbClr val="111827"/>
                </a:solidFill>
              </a:ln>
            </c:spPr>
          </c:dPt>
          <c:cat>
            <c:strRef>
              <c:f>Sheet1!$A$2:$A$60</c:f>
              <c:strCache>
                <c:ptCount val="59"/>
                <c:pt idx="0">
                  <c:v>Q1</c:v>
                </c:pt>
                <c:pt idx="1">
                  <c:v>Q2</c:v>
                </c:pt>
                <c:pt idx="2">
                  <c:v>Q3</c:v>
                </c:pt>
                <c:pt idx="3">
                  <c:v>Q4</c:v>
                </c:pt>
                <c:pt idx="4">
                  <c:v>Q5</c:v>
                </c:pt>
                <c:pt idx="5">
                  <c:v>Q6</c:v>
                </c:pt>
                <c:pt idx="6">
                  <c:v>Q7</c:v>
                </c:pt>
                <c:pt idx="7">
                  <c:v>Q8</c:v>
                </c:pt>
                <c:pt idx="8">
                  <c:v>Q9</c:v>
                </c:pt>
                <c:pt idx="9">
                  <c:v>Q10</c:v>
                </c:pt>
                <c:pt idx="10">
                  <c:v>Q11</c:v>
                </c:pt>
                <c:pt idx="11">
                  <c:v>Q12</c:v>
                </c:pt>
                <c:pt idx="12">
                  <c:v>Q13</c:v>
                </c:pt>
                <c:pt idx="13">
                  <c:v>Q14</c:v>
                </c:pt>
                <c:pt idx="14">
                  <c:v>Q15</c:v>
                </c:pt>
                <c:pt idx="15">
                  <c:v>Q16</c:v>
                </c:pt>
                <c:pt idx="16">
                  <c:v>Q17</c:v>
                </c:pt>
                <c:pt idx="17">
                  <c:v>Q18</c:v>
                </c:pt>
                <c:pt idx="18">
                  <c:v>Q19</c:v>
                </c:pt>
                <c:pt idx="19">
                  <c:v>Q20</c:v>
                </c:pt>
                <c:pt idx="20">
                  <c:v>Q21</c:v>
                </c:pt>
                <c:pt idx="21">
                  <c:v>Q22</c:v>
                </c:pt>
                <c:pt idx="22">
                  <c:v>Q23</c:v>
                </c:pt>
                <c:pt idx="23">
                  <c:v>Q24</c:v>
                </c:pt>
                <c:pt idx="24">
                  <c:v>Q25</c:v>
                </c:pt>
                <c:pt idx="25">
                  <c:v>Q26</c:v>
                </c:pt>
                <c:pt idx="26">
                  <c:v>Q27</c:v>
                </c:pt>
                <c:pt idx="27">
                  <c:v>Q28</c:v>
                </c:pt>
                <c:pt idx="28">
                  <c:v>Q29</c:v>
                </c:pt>
                <c:pt idx="29">
                  <c:v>Q30</c:v>
                </c:pt>
                <c:pt idx="30">
                  <c:v>Q31</c:v>
                </c:pt>
                <c:pt idx="31">
                  <c:v>Q32</c:v>
                </c:pt>
                <c:pt idx="32">
                  <c:v>Q33</c:v>
                </c:pt>
                <c:pt idx="33">
                  <c:v>Q34</c:v>
                </c:pt>
                <c:pt idx="34">
                  <c:v>Q35</c:v>
                </c:pt>
                <c:pt idx="35">
                  <c:v>Q36</c:v>
                </c:pt>
                <c:pt idx="36">
                  <c:v>Q37</c:v>
                </c:pt>
                <c:pt idx="37">
                  <c:v>Q38</c:v>
                </c:pt>
                <c:pt idx="38">
                  <c:v>Q39</c:v>
                </c:pt>
                <c:pt idx="39">
                  <c:v>Q40</c:v>
                </c:pt>
                <c:pt idx="40">
                  <c:v>Q41</c:v>
                </c:pt>
                <c:pt idx="41">
                  <c:v>Q42</c:v>
                </c:pt>
                <c:pt idx="42">
                  <c:v>Q43</c:v>
                </c:pt>
                <c:pt idx="43">
                  <c:v>Q44</c:v>
                </c:pt>
                <c:pt idx="44">
                  <c:v>Q45</c:v>
                </c:pt>
                <c:pt idx="45">
                  <c:v>Q46</c:v>
                </c:pt>
                <c:pt idx="46">
                  <c:v>Q47</c:v>
                </c:pt>
                <c:pt idx="47">
                  <c:v>Q48</c:v>
                </c:pt>
                <c:pt idx="48">
                  <c:v>Q49</c:v>
                </c:pt>
                <c:pt idx="49">
                  <c:v>Q50</c:v>
                </c:pt>
                <c:pt idx="50">
                  <c:v>Q51</c:v>
                </c:pt>
                <c:pt idx="51">
                  <c:v>Q52</c:v>
                </c:pt>
                <c:pt idx="52">
                  <c:v>Q53</c:v>
                </c:pt>
                <c:pt idx="53">
                  <c:v>Q54</c:v>
                </c:pt>
                <c:pt idx="54">
                  <c:v>Q55</c:v>
                </c:pt>
                <c:pt idx="55">
                  <c:v>Q56</c:v>
                </c:pt>
                <c:pt idx="56">
                  <c:v>Q57</c:v>
                </c:pt>
                <c:pt idx="57">
                  <c:v>Q58</c:v>
                </c:pt>
                <c:pt idx="58">
                  <c:v>Q59</c:v>
                </c:pt>
              </c:strCache>
            </c:strRef>
          </c:cat>
          <c:val>
            <c:numRef>
              <c:f>Sheet1!$B$2:$B$60</c:f>
              <c:numCache>
                <c:formatCode>General</c:formatCode>
                <c:ptCount val="59"/>
                <c:pt idx="0">
                  <c:v>2.0</c:v>
                </c:pt>
                <c:pt idx="1">
                  <c:v>2.0</c:v>
                </c:pt>
                <c:pt idx="2">
                  <c:v>2.0</c:v>
                </c:pt>
                <c:pt idx="3">
                  <c:v>2.0</c:v>
                </c:pt>
                <c:pt idx="4">
                  <c:v>1.0</c:v>
                </c:pt>
                <c:pt idx="5">
                  <c:v>2.0</c:v>
                </c:pt>
                <c:pt idx="6">
                  <c:v>3.0</c:v>
                </c:pt>
                <c:pt idx="7">
                  <c:v>2.0</c:v>
                </c:pt>
                <c:pt idx="8">
                  <c:v>3.0</c:v>
                </c:pt>
                <c:pt idx="9">
                  <c:v>2.0</c:v>
                </c:pt>
                <c:pt idx="10">
                  <c:v>2.0</c:v>
                </c:pt>
                <c:pt idx="11">
                  <c:v>1.0</c:v>
                </c:pt>
                <c:pt idx="12">
                  <c:v>3.0</c:v>
                </c:pt>
                <c:pt idx="13">
                  <c:v>2.0</c:v>
                </c:pt>
                <c:pt idx="14">
                  <c:v>1.0</c:v>
                </c:pt>
                <c:pt idx="15">
                  <c:v>2.0</c:v>
                </c:pt>
                <c:pt idx="16">
                  <c:v>2.0</c:v>
                </c:pt>
                <c:pt idx="17">
                  <c:v>1.0</c:v>
                </c:pt>
                <c:pt idx="18">
                  <c:v>2.0</c:v>
                </c:pt>
                <c:pt idx="19">
                  <c:v>2.0</c:v>
                </c:pt>
                <c:pt idx="20">
                  <c:v>1.0</c:v>
                </c:pt>
                <c:pt idx="21">
                  <c:v>1.0</c:v>
                </c:pt>
                <c:pt idx="22">
                  <c:v>2.0</c:v>
                </c:pt>
                <c:pt idx="23">
                  <c:v>1.0</c:v>
                </c:pt>
                <c:pt idx="24">
                  <c:v>1.0</c:v>
                </c:pt>
                <c:pt idx="25">
                  <c:v>2.0</c:v>
                </c:pt>
                <c:pt idx="26">
                  <c:v>2.0</c:v>
                </c:pt>
                <c:pt idx="27">
                  <c:v>3.0</c:v>
                </c:pt>
                <c:pt idx="28">
                  <c:v>1.0</c:v>
                </c:pt>
                <c:pt idx="29">
                  <c:v>1.0</c:v>
                </c:pt>
                <c:pt idx="30">
                  <c:v>2.0</c:v>
                </c:pt>
                <c:pt idx="31">
                  <c:v>2.0</c:v>
                </c:pt>
                <c:pt idx="32">
                  <c:v>1.0</c:v>
                </c:pt>
                <c:pt idx="33">
                  <c:v>1.0</c:v>
                </c:pt>
                <c:pt idx="34">
                  <c:v>3.0</c:v>
                </c:pt>
                <c:pt idx="35">
                  <c:v>2.0</c:v>
                </c:pt>
                <c:pt idx="36">
                  <c:v>2.0</c:v>
                </c:pt>
                <c:pt idx="37">
                  <c:v>2.0</c:v>
                </c:pt>
                <c:pt idx="38">
                  <c:v>1.0</c:v>
                </c:pt>
                <c:pt idx="39">
                  <c:v>2.0</c:v>
                </c:pt>
                <c:pt idx="40">
                  <c:v>2.0</c:v>
                </c:pt>
                <c:pt idx="41">
                  <c:v>3.0</c:v>
                </c:pt>
                <c:pt idx="42">
                  <c:v>3.0</c:v>
                </c:pt>
                <c:pt idx="43">
                  <c:v>2.0</c:v>
                </c:pt>
                <c:pt idx="44">
                  <c:v>2.0</c:v>
                </c:pt>
                <c:pt idx="45">
                  <c:v>2.0</c:v>
                </c:pt>
                <c:pt idx="46">
                  <c:v>2.0</c:v>
                </c:pt>
                <c:pt idx="47">
                  <c:v>2.0</c:v>
                </c:pt>
                <c:pt idx="48">
                  <c:v>2.0</c:v>
                </c:pt>
                <c:pt idx="49">
                  <c:v>1.0</c:v>
                </c:pt>
                <c:pt idx="50">
                  <c:v>2.0</c:v>
                </c:pt>
                <c:pt idx="51">
                  <c:v>2.0</c:v>
                </c:pt>
                <c:pt idx="52">
                  <c:v>2.0</c:v>
                </c:pt>
                <c:pt idx="53">
                  <c:v>2.0</c:v>
                </c:pt>
                <c:pt idx="54">
                  <c:v>1.0</c:v>
                </c:pt>
                <c:pt idx="55">
                  <c:v>2.0</c:v>
                </c:pt>
                <c:pt idx="56">
                  <c:v>1.0</c:v>
                </c:pt>
                <c:pt idx="57">
                  <c:v>3.0</c:v>
                </c:pt>
                <c:pt idx="58">
                  <c:v>2.0</c:v>
                </c:pt>
              </c:numCache>
            </c:numRef>
          </c:val>
        </c:ser>
        <c:dLbls>
          <c:numFmt formatCode="0.0#" sourceLinked="0"/>
          <c:txPr>
            <a:bodyPr/>
            <a:lstStyle/>
            <a:p>
              <a:pPr>
                <a:defRPr sz="2000" b="1">
                  <a:solidFill>
                    <a:srgbClr val="111827"/>
                  </a:solidFill>
                  <a:latin typeface="Arial"/>
                </a:defRPr>
              </a:pPr>
            </a:p>
          </c:txPr>
          <c:dLblPos val="outEnd"/>
          <c:showLegendKey val="0"/>
          <c:showVal val="1"/>
          <c:showCatName val="0"/>
          <c:showSerName val="0"/>
          <c:showPercent val="0"/>
          <c:showBubbleSize val="0"/>
          <c:showLeaderLines val="1"/>
        </c:dLbls>
        <c:gapWidth val="40"/>
        <c:axId val="-2068027336"/>
        <c:axId val="-2113994440"/>
      </c:barChart>
      <c:catAx>
        <c:axId val="-2068027336"/>
        <c:scaling>
          <c:orientation val="minMax"/>
        </c:scaling>
        <c:delete val="0"/>
        <c:axPos val="b"/>
        <c:majorTickMark val="out"/>
        <c:minorTickMark val="none"/>
        <c:tickLblPos val="nextTo"/>
        <c:txPr>
          <a:bodyPr/>
          <a:lstStyle/>
          <a:p>
            <a:pPr>
              <a:defRPr sz="2000" b="1">
                <a:latin typeface="Arial"/>
              </a:defRPr>
            </a:pPr>
          </a:p>
        </c:txPr>
        <c:crossAx val="-2113994440"/>
        <c:crosses val="autoZero"/>
        <c:auto val="1"/>
        <c:lblAlgn val="ctr"/>
        <c:lblOffset val="100"/>
        <c:noMultiLvlLbl val="0"/>
      </c:catAx>
      <c:valAx>
        <c:axId val="-2113994440"/>
        <c:scaling>
          <c:max val="5.5"/>
          <c:min val="0.0"/>
        </c:scaling>
        <c:delete val="0"/>
        <c:axPos val="l"/>
        <c:majorGridlines>
          <c:spPr>
            <a:ln>
              <a:solidFill>
                <a:srgbClr val="D1D5DB"/>
              </a:solidFill>
            </a:ln>
          </c:spPr>
        </c:majorGridlines>
        <c:title>
          <c:tx>
            <c:rich>
              <a:bodyPr/>
              <a:lstStyle/>
              <a:p>
                <a:r>
                  <a:rPr sz="2000"/>
                  <a:t>Level</a:t>
                </a:r>
              </a:p>
            </c:rich>
          </c:tx>
          <c:layout/>
          <c:overlay val="0"/>
        </c:title>
        <c:majorTickMark val="out"/>
        <c:minorTickMark val="none"/>
        <c:tickLblPos val="nextTo"/>
        <c:txPr>
          <a:bodyPr/>
          <a:lstStyle/>
          <a:p>
            <a:pPr>
              <a:defRPr sz="2000">
                <a:latin typeface="Arial"/>
              </a:defRPr>
            </a:pPr>
          </a:p>
        </c:txPr>
        <c:crossAx val="-2068027336"/>
        <c:crosses val="autoZero"/>
        <c:majorUnit val="1.0"/>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4.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9.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4.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8.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2.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8.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3.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2.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3.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9.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6.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3.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9.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6.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2.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8.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4.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0.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5.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2.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8.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4.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5.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7.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7.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PDF's $f'$ omits the factor $\cos x$ (it writes $12\sin^3x+30\sin^2x+12\sin x$); the true derivative contains $\cos x$, which is positive on the domain, so the conclusion is unchanged. The PDF's sign chart also mislabels the end points; the correct sign pattern on the domain is: decreasing on $(-\pi/6,0)$, increasing on $(0,\pi/2)$.</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matrix printed in the PDF solution has $a_{23}=2x+1$, but the rule gives $a_{23}=-x$ since $|2-3|=1$; with the printed matrix the determinant is $-2x(x+1)(x+2)$, not the PDF's $4x^3-4x^2-4x$. The PDF's determinant and answer correspond to the correct matrix, so only the displayed matrix is fixed.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Typo only: the PDF writes $f(x)=ax^2+6x+15$ (the constant should be $-15$). This does not affect $f'$ or the result.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PDF's solution has garbled lines ('p^2(p-4q)+39(p-42)=0', 'p 3q = 0', and 'e^{3x}=1+4e^x' left unfinished with only a sketch). The factorisation $p^2-pq-12q^2=(p-4q)(p+3q)$ and the two cases are kept, the garbled intermediate lines are replaced by the correct factorisation, and the root count is justified algebraically in place of the sketch.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PDF's last line is garbled ('8/(3sqrt3) + 3/4' with a plus sign); the correct step is $\frac{8}{3\sqrt3}$ divided by $\frac{4}{3}$, i.e. multiplied by $\frac{3}{4}$, giving $\frac{2}{\sqrt3}$. The PDF also wrote $2x+2y\,dy/dx$ for $m_1$ in an unreduced form; the final answer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PDF working has typographical slips: $f'(x)$ is printed as $3x^{2}-12+8$ (should be $3x^{2}-12x+8$) and 'since $x_3&lt;x_3$' should read $x_3&lt;x_4$; the critical points are also labelled $(\alpha,\beta)$ without definition. Steps corrected; the answer (A) is unchanged.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PDF's cubic $4h^3-3h^2+3h-8=0$ has sign slips ($h=1$ does not satisfy it). The correct expansion of $(4h+1)(4-k)+6-h=0$ is $4h^3+3h^2-3h-4=0$, which has the root $h=1$. The answer 13 is unchanged.</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PDF lists a spurious line '$\lambda&lt;0$' between conditions (1) and (2), and prints '$36d x^2$' for '$36\lambda x^2$'. The correct conditions are $\lambda&gt;0$ and discriminant $\le0$, giving $\lambda\in(0,\frac13]$; the rest and the answer 72 are correct.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PDF writes $f(-1)=5\pi+5$; the correct value is $5\pi+9$ (the polynomial part gives $-3+2+10=9$). With the PDF's number $4a-b$ would be $15-\pi$, but the correct value is $11-\pi$ (answer B stands). The PDF also only asserts $f'&lt;0$; a justification is added.</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PDF says 'Minimum value of $f(\alpha)$ will be at $\alpha=\frac{2\pi}{3}$'; it is the maximum. The derivative step is added. Final answer unchanged.</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PDF has no usable solution for this question; the solution was written by Claude.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PDF concluded $g(t)\in(0.44,0.485)$ for $t\in(\frac14,\frac13)$. With these $t$-bounds $g$ actually ranges over $(0.445,0.553)$, which is not inside $(\frac14,\frac12)$; the PDF's upper value 0.485 is $g(0.3)$. Corrected by tightening the bracket of the root to $(0.3,\frac13)$. Final answer (C) is correct.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PDF's first derivative step was garbled (printed as $29y'=-y$ instead of $-9-2y'=0$) and the printed x-intercept/area steps were not shown; the final number 170 is correct. Steps written out.</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PDF's steps were correct except for typos (it wrote $\frac{dy}{x}$ instead of $\frac{dy}{dx}$ and left $x$ blank at $y=\frac5{18}$); the second vertical-tangent point was left incomplete. Steps rewritten in full; answer 2 is right.</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PDF's final line gave units as m^3/hr; the quantity is a surface-area rate so the correct unit is square metres per hour. Numerical value 5 is correct.</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PDF's working stops at $\tan^{-1}\frac\pi4-\frac{9\pi}{4(\pi^2+9)}+7$ and the key (A) does not follow: the constant would have to be 8, whereas $7+\tan^{-1}\frac\pi4\approx7.666$. Working completed and the discrepancy flagged; key (A) retained as the official answer.</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PDF wrote $\int_0^3(2-t)\,dt$; the integrand is $5-|t-3|=2+t$ on $[0,3]$ (the total 15 it states is right with $2+t$). Also, (C) fails additionally because $f'=8-x&lt;0$ for $x&gt;8$.</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PDF writes 'x = 6 is point of local min' - a slip for $x=0$. Also the PDF's $f(x)=81\cdot3^{(x^2-2)^3}$ and sign chart are fine. Corrected the typo and gave the sign of $f'$ reasoning explicitly.</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PDF writes $f(x)=[5x-7]+[x^2+2x]$ (floor instead of absolute value) and lists critical points including $\sqrt5-1\approx1.236$, which lies outside the interval; the working then uses $|5x-7|$ correctly. Rewritten with $|5x-7|$ and the floor constant at $4$ on $[\frac54,\frac75]$.</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3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3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3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3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3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3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a:lstStyle>
            <a:lvl1pPr>
              <a:defRPr sz="4000">
                <a:solidFill>
                  <a:srgbClr val="FFFFFF"/>
                </a:solidFill>
              </a:defRPr>
            </a:lvl1pPr>
          </a:lstStyle>
          <a:p>
            <a:pPr algn="ctr">
              <a:defRPr sz="4000">
                <a:solidFill>
                  <a:srgbClr val="FFFFFF"/>
                </a:solidFill>
              </a:defRPr>
            </a:pPr>
            <a:r>
              <a:rPr sz="4000" b="1">
                <a:solidFill>
                  <a:srgbClr val="FFFFFF"/>
                </a:solidFill>
                <a:latin typeface="Arial"/>
              </a:rPr>
              <a:t>Application of Derivatives (Exercise J-M) — Paper Analysis</a:t>
            </a:r>
            <a:endParaRPr sz="4000">
              <a:solidFill>
                <a:srgbClr val="FFFFFF"/>
              </a:solidFill>
            </a:endParaRPr>
          </a:p>
          <a:p>
            <a:pPr algn="ctr"/>
            <a:r>
              <a:rPr sz="2200">
                <a:solidFill>
                  <a:srgbClr val="FFFFFF"/>
                </a:solidFill>
                <a:latin typeface="Arial"/>
              </a:rPr>
              <a:t>XII Sheet · Application of Derivative · detailed solutions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1</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Mixed Types (JEE Main previous-year questions)</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Q01 – Q59</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No marks printed - JEE Main default assumed: 4 marks for every question (single correct and numerical)</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Question types are interleaved in the sheet; type and marks are shown on each question slide</a:t>
            </a:r>
            <a:endParaRPr sz="2800">
              <a:solidFill>
                <a:srgbClr val="FFFFFF"/>
              </a:solidFill>
            </a:endParaRP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4599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the point on the curve </a:t>
                </a:r>
                <a14:m>
                  <m:oMath xmlns:m="http://schemas.openxmlformats.org/officeDocument/2006/math">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𝑥</m:t>
                    </m:r>
                  </m:oMath>
                </a14:m>
                <a:r>
                  <a:rPr sz="2400" b="0">
                    <a:solidFill>
                      <a:srgbClr val="111827"/>
                    </a:solidFill>
                    <a:latin typeface="Arial"/>
                  </a:rPr>
                  <a:t>, nearest to the point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e>
                    </m:d>
                  </m:oMath>
                </a14:m>
                <a:r>
                  <a:rPr sz="2400" b="0">
                    <a:solidFill>
                      <a:srgbClr val="111827"/>
                    </a:solidFill>
                    <a:latin typeface="Arial"/>
                  </a:rPr>
                  <a:t> is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equal to ______.</a:t>
                </a:r>
                <a:endParaRPr sz="2400">
                  <a:solidFill>
                    <a:srgbClr val="111827"/>
                  </a:solidFill>
                </a:endParaRPr>
              </a:p>
            </p:txBody>
          </p:sp>
        </mc:Choice>
        <mc:Fallback>
          <p:sp>
            <p:nvSpPr>
              <p:cNvPr id="4" name="Rounded Rectangle 3"/>
              <p:cNvSpPr/>
              <p:nvPr/>
            </p:nvSpPr>
            <p:spPr>
              <a:xfrm>
                <a:off x="731520" y="1280160"/>
                <a:ext cx="10725912" cy="174599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the point on the curve </a:t>
                </a:r>
                <a:r>
                  <a:rPr lang="en-IN" sz="2400">
                    <a:solidFill>
                      <a:srgbClr val="111827"/>
                    </a:solidFill>
                    <a:latin typeface="Cambria Math" panose="02040503050406030204" pitchFamily="18" charset="0"/>
                  </a:rPr>
                  <a:t>$y^2=6x$</a:t>
                </a:r>
                <a:r>
                  <a:rPr sz="2400" b="0">
                    <a:solidFill>
                      <a:srgbClr val="111827"/>
                    </a:solidFill>
                    <a:latin typeface="Arial"/>
                  </a:rPr>
                  <a:t>, nearest to the point </a:t>
                </a:r>
                <a:r>
                  <a:rPr lang="en-IN" sz="2400">
                    <a:solidFill>
                      <a:srgbClr val="111827"/>
                    </a:solidFill>
                    <a:latin typeface="Cambria Math" panose="02040503050406030204" pitchFamily="18" charset="0"/>
                  </a:rPr>
                  <a:t>$\left(3,\frac{3}{2}\right)$</a:t>
                </a:r>
                <a:r>
                  <a:rPr sz="2400" b="0">
                    <a:solidFill>
                      <a:srgbClr val="111827"/>
                    </a:solidFill>
                    <a:latin typeface="Arial"/>
                  </a:rPr>
                  <a:t> is </a:t>
                </a:r>
                <a:r>
                  <a:rPr lang="en-IN" sz="2400">
                    <a:solidFill>
                      <a:srgbClr val="111827"/>
                    </a:solidFill>
                    <a:latin typeface="Cambria Math" panose="02040503050406030204" pitchFamily="18" charset="0"/>
                  </a:rPr>
                  <a:t>$(\alpha,\beta)$</a:t>
                </a:r>
                <a:r>
                  <a:rPr sz="2400" b="0">
                    <a:solidFill>
                      <a:srgbClr val="111827"/>
                    </a:solidFill>
                    <a:latin typeface="Arial"/>
                  </a:rPr>
                  <a:t>, then </a:t>
                </a:r>
                <a:r>
                  <a:rPr lang="en-IN" sz="2400">
                    <a:solidFill>
                      <a:srgbClr val="111827"/>
                    </a:solidFill>
                    <a:latin typeface="Cambria Math" panose="02040503050406030204" pitchFamily="18" charset="0"/>
                  </a:rPr>
                  <a:t>$2(\alpha+\beta)$</a:t>
                </a:r>
                <a:r>
                  <a:rPr sz="2400" b="0">
                    <a:solidFill>
                      <a:srgbClr val="111827"/>
                    </a:solidFill>
                    <a:latin typeface="Arial"/>
                  </a:rPr>
                  <a:t> is equal to ______.</a:t>
                </a:r>
                <a:endParaRPr sz="2400">
                  <a:solidFill>
                    <a:srgbClr val="111827"/>
                  </a:solidFill>
                </a:endParaRPr>
              </a:p>
            </p:txBody>
          </p:sp>
        </mc:Fallback>
      </mc:AlternateContent>
      <p:sp>
        <p:nvSpPr>
          <p:cNvPr id="5" name="Rectangle 4"/>
          <p:cNvSpPr/>
          <p:nvPr/>
        </p:nvSpPr>
        <p:spPr>
          <a:xfrm>
            <a:off x="731520" y="3254755"/>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Normal to a curve and shortest distance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nearest point on a curve is where the line joining it to the given point is normal to the curve.</a:t>
            </a:r>
            <a:endParaRPr sz="24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𝑦</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so the slope of the tangent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β</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nearest point has the join to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e>
                    </m:d>
                  </m:oMath>
                </a14:m>
                <a:r>
                  <a:rPr sz="2400" b="0">
                    <a:solidFill>
                      <a:srgbClr val="111827"/>
                    </a:solidFill>
                    <a:latin typeface="Arial"/>
                  </a:rPr>
                  <a:t> perpendicular to the tangent, so the slope of the join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num>
                      <m:den>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β</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Cross-multiplying: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β</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r>
                      <a:rPr lang="en-IN" sz="2400" i="1">
                        <a:solidFill>
                          <a:srgbClr val="111827"/>
                        </a:solidFill>
                        <a:latin typeface="Cambria Math" panose="02040503050406030204" pitchFamily="18" charset="0"/>
                      </a:rPr>
                      <m:t>α</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$y^2=6x \Rightarrow 2y\frac{dy}{dx}=6$</a:t>
                </a:r>
                <a:r>
                  <a:rPr sz="2400" b="0">
                    <a:solidFill>
                      <a:srgbClr val="111827"/>
                    </a:solidFill>
                    <a:latin typeface="Arial"/>
                  </a:rPr>
                  <a:t>, so the slope of the tangent at </a:t>
                </a:r>
                <a:r>
                  <a:rPr lang="en-IN" sz="2400">
                    <a:solidFill>
                      <a:srgbClr val="111827"/>
                    </a:solidFill>
                    <a:latin typeface="Cambria Math" panose="02040503050406030204" pitchFamily="18" charset="0"/>
                  </a:rPr>
                  <a:t>$(\alpha,\beta)$</a:t>
                </a:r>
                <a:r>
                  <a:rPr sz="2400" b="0">
                    <a:solidFill>
                      <a:srgbClr val="111827"/>
                    </a:solidFill>
                    <a:latin typeface="Arial"/>
                  </a:rPr>
                  <a:t> is </a:t>
                </a:r>
                <a:r>
                  <a:rPr lang="en-IN" sz="2400">
                    <a:solidFill>
                      <a:srgbClr val="111827"/>
                    </a:solidFill>
                    <a:latin typeface="Cambria Math" panose="02040503050406030204" pitchFamily="18" charset="0"/>
                  </a:rPr>
                  <a:t>$\frac{dy}{dx}=\frac{3}{\beta}$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nearest point has the join to </a:t>
                </a:r>
                <a:r>
                  <a:rPr lang="en-IN" sz="2400">
                    <a:solidFill>
                      <a:srgbClr val="111827"/>
                    </a:solidFill>
                    <a:latin typeface="Cambria Math" panose="02040503050406030204" pitchFamily="18" charset="0"/>
                  </a:rPr>
                  <a:t>$\left(3,\frac{3}{2}\right)$</a:t>
                </a:r>
                <a:r>
                  <a:rPr sz="2400" b="0">
                    <a:solidFill>
                      <a:srgbClr val="111827"/>
                    </a:solidFill>
                    <a:latin typeface="Arial"/>
                  </a:rPr>
                  <a:t> perpendicular to the tangent, so the slope of the join is </a:t>
                </a:r>
                <a:r>
                  <a:rPr lang="en-IN" sz="2400">
                    <a:solidFill>
                      <a:srgbClr val="111827"/>
                    </a:solidFill>
                    <a:latin typeface="Cambria Math" panose="02040503050406030204" pitchFamily="18" charset="0"/>
                  </a:rPr>
                  <a:t>$\frac{\beta-\frac{3}{2}}{\alpha-3}=-\frac{\beta}{3}$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Cross-multiplying: </a:t>
                </a:r>
                <a:r>
                  <a:rPr lang="en-IN" sz="2400">
                    <a:solidFill>
                      <a:srgbClr val="111827"/>
                    </a:solidFill>
                    <a:latin typeface="Cambria Math" panose="02040503050406030204" pitchFamily="18" charset="0"/>
                  </a:rPr>
                  <a:t>$3\beta-\frac{9}{2}=-\alpha\beta+3\beta$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$\alpha\beta=\frac{9}{2}$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Also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lies on the curve: </a:t>
                </a:r>
                <a14:m>
                  <m:oMath xmlns:m="http://schemas.openxmlformats.org/officeDocument/2006/math">
                    <m:sSup>
                      <m:e>
                        <m:r>
                          <a:rPr lang="en-IN" sz="2400" i="1">
                            <a:solidFill>
                              <a:srgbClr val="111827"/>
                            </a:solidFill>
                            <a:latin typeface="Cambria Math" panose="02040503050406030204" pitchFamily="18" charset="0"/>
                          </a:rPr>
                          <m:t>β</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α</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From </a:t>
                </a:r>
                <a14:m>
                  <m:oMath xmlns:m="http://schemas.openxmlformats.org/officeDocument/2006/math">
                    <m:r>
                      <a:rPr lang="en-IN" sz="2400" i="1">
                        <a:solidFill>
                          <a:srgbClr val="111827"/>
                        </a:solidFill>
                        <a:latin typeface="Cambria Math" panose="02040503050406030204" pitchFamily="18" charset="0"/>
                      </a:rPr>
                      <m:t>α</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α</m:t>
                        </m:r>
                      </m:den>
                    </m:f>
                  </m:oMath>
                </a14:m>
                <a:r>
                  <a:rPr sz="2400" b="0">
                    <a:solidFill>
                      <a:srgbClr val="111827"/>
                    </a:solidFill>
                    <a:latin typeface="Arial"/>
                  </a:rPr>
                  <a:t>. Substituting, </a:t>
                </a:r>
                <a14:m>
                  <m:oMath xmlns:m="http://schemas.openxmlformats.org/officeDocument/2006/math">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81</m:t>
                        </m:r>
                      </m:num>
                      <m:den>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27</m:t>
                        </m:r>
                      </m:num>
                      <m:den>
                        <m:r>
                          <a:rPr lang="en-IN" sz="2400" i="1">
                            <a:solidFill>
                              <a:srgbClr val="111827"/>
                            </a:solidFill>
                            <a:latin typeface="Cambria Math" panose="02040503050406030204" pitchFamily="18" charset="0"/>
                          </a:rPr>
                          <m:t>8</m:t>
                        </m:r>
                      </m:den>
                    </m:f>
                  </m:oMath>
                </a14:m>
                <a:r>
                  <a:rPr sz="2400" b="0">
                    <a:solidFill>
                      <a:srgbClr val="111827"/>
                    </a:solidFill>
                    <a:latin typeface="Arial"/>
                  </a:rPr>
                  <a:t>, giving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a:t>
                </a:r>
                <a14:m>
                  <m:oMath xmlns:m="http://schemas.openxmlformats.org/officeDocument/2006/math">
                    <m:sSup>
                      <m:e>
                        <m:r>
                          <a:rPr lang="en-IN" sz="2400" i="1">
                            <a:solidFill>
                              <a:srgbClr val="111827"/>
                            </a:solidFill>
                            <a:latin typeface="Cambria Math" panose="02040503050406030204" pitchFamily="18" charset="0"/>
                          </a:rPr>
                          <m:t>β</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since </a:t>
                </a:r>
                <a14:m>
                  <m:oMath xmlns:m="http://schemas.openxmlformats.org/officeDocument/2006/math">
                    <m:r>
                      <a:rPr lang="en-IN" sz="2400" i="1">
                        <a:solidFill>
                          <a:srgbClr val="111827"/>
                        </a:solidFill>
                        <a:latin typeface="Cambria Math" panose="02040503050406030204" pitchFamily="18" charset="0"/>
                      </a:rPr>
                      <m:t>α</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Also </a:t>
                </a:r>
                <a:r>
                  <a:rPr lang="en-IN" sz="2400">
                    <a:solidFill>
                      <a:srgbClr val="111827"/>
                    </a:solidFill>
                    <a:latin typeface="Cambria Math" panose="02040503050406030204" pitchFamily="18" charset="0"/>
                  </a:rPr>
                  <a:t>$(\alpha,\beta)$</a:t>
                </a:r>
                <a:r>
                  <a:rPr sz="2400" b="0">
                    <a:solidFill>
                      <a:srgbClr val="111827"/>
                    </a:solidFill>
                    <a:latin typeface="Arial"/>
                  </a:rPr>
                  <a:t> lies on the curve: </a:t>
                </a:r>
                <a:r>
                  <a:rPr lang="en-IN" sz="2400">
                    <a:solidFill>
                      <a:srgbClr val="111827"/>
                    </a:solidFill>
                    <a:latin typeface="Cambria Math" panose="02040503050406030204" pitchFamily="18" charset="0"/>
                  </a:rPr>
                  <a:t>$\beta^2=6\alpha$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From </a:t>
                </a:r>
                <a:r>
                  <a:rPr lang="en-IN" sz="2400">
                    <a:solidFill>
                      <a:srgbClr val="111827"/>
                    </a:solidFill>
                    <a:latin typeface="Cambria Math" panose="02040503050406030204" pitchFamily="18" charset="0"/>
                  </a:rPr>
                  <a:t>$\alpha\beta=\frac{9}{2}$</a:t>
                </a:r>
                <a:r>
                  <a:rPr sz="2400" b="0">
                    <a:solidFill>
                      <a:srgbClr val="111827"/>
                    </a:solidFill>
                    <a:latin typeface="Arial"/>
                  </a:rPr>
                  <a:t>: </a:t>
                </a:r>
                <a:r>
                  <a:rPr lang="en-IN" sz="2400">
                    <a:solidFill>
                      <a:srgbClr val="111827"/>
                    </a:solidFill>
                    <a:latin typeface="Cambria Math" panose="02040503050406030204" pitchFamily="18" charset="0"/>
                  </a:rPr>
                  <a:t>$\beta=\frac{9}{2\alpha}$</a:t>
                </a:r>
                <a:r>
                  <a:rPr sz="2400" b="0">
                    <a:solidFill>
                      <a:srgbClr val="111827"/>
                    </a:solidFill>
                    <a:latin typeface="Arial"/>
                  </a:rPr>
                  <a:t>. Substituting, </a:t>
                </a:r>
                <a:r>
                  <a:rPr lang="en-IN" sz="2400">
                    <a:solidFill>
                      <a:srgbClr val="111827"/>
                    </a:solidFill>
                    <a:latin typeface="Cambria Math" panose="02040503050406030204" pitchFamily="18" charset="0"/>
                  </a:rPr>
                  <a:t>$6\alpha=\frac{81}{4\alpha^2}$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$\alpha^3=\frac{27}{8}$</a:t>
                </a:r>
                <a:r>
                  <a:rPr sz="2400" b="0">
                    <a:solidFill>
                      <a:srgbClr val="111827"/>
                    </a:solidFill>
                    <a:latin typeface="Arial"/>
                  </a:rPr>
                  <a:t>, giving </a:t>
                </a:r>
                <a:r>
                  <a:rPr lang="en-IN" sz="2400">
                    <a:solidFill>
                      <a:srgbClr val="111827"/>
                    </a:solidFill>
                    <a:latin typeface="Cambria Math" panose="02040503050406030204" pitchFamily="18" charset="0"/>
                  </a:rPr>
                  <a:t>$\alpha=\frac{3}{2}$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a:t>
                </a:r>
                <a:r>
                  <a:rPr lang="en-IN" sz="2400">
                    <a:solidFill>
                      <a:srgbClr val="111827"/>
                    </a:solidFill>
                    <a:latin typeface="Cambria Math" panose="02040503050406030204" pitchFamily="18" charset="0"/>
                  </a:rPr>
                  <a:t>$\beta^2=9$</a:t>
                </a:r>
                <a:r>
                  <a:rPr sz="2400" b="0">
                    <a:solidFill>
                      <a:srgbClr val="111827"/>
                    </a:solidFill>
                    <a:latin typeface="Arial"/>
                  </a:rPr>
                  <a:t>, so </a:t>
                </a:r>
                <a:r>
                  <a:rPr lang="en-IN" sz="2400">
                    <a:solidFill>
                      <a:srgbClr val="111827"/>
                    </a:solidFill>
                    <a:latin typeface="Cambria Math" panose="02040503050406030204" pitchFamily="18" charset="0"/>
                  </a:rPr>
                  <a:t>$\beta=\pm3$</a:t>
                </a:r>
                <a:r>
                  <a:rPr sz="2400" b="0">
                    <a:solidFill>
                      <a:srgbClr val="111827"/>
                    </a:solidFill>
                    <a:latin typeface="Arial"/>
                  </a:rPr>
                  <a:t>; since </a:t>
                </a:r>
                <a:r>
                  <a:rPr lang="en-IN" sz="2400">
                    <a:solidFill>
                      <a:srgbClr val="111827"/>
                    </a:solidFill>
                    <a:latin typeface="Cambria Math" panose="02040503050406030204" pitchFamily="18" charset="0"/>
                  </a:rPr>
                  <a:t>$\alpha\beta=\frac{9}{2}&gt;0$</a:t>
                </a:r>
                <a:r>
                  <a:rPr sz="2400" b="0">
                    <a:solidFill>
                      <a:srgbClr val="111827"/>
                    </a:solidFill>
                    <a:latin typeface="Arial"/>
                  </a:rPr>
                  <a:t> and </a:t>
                </a:r>
                <a:r>
                  <a:rPr lang="en-IN" sz="2400">
                    <a:solidFill>
                      <a:srgbClr val="111827"/>
                    </a:solidFill>
                    <a:latin typeface="Cambria Math" panose="02040503050406030204" pitchFamily="18" charset="0"/>
                  </a:rPr>
                  <a:t>$\alpha&gt;0$</a:t>
                </a:r>
                <a:r>
                  <a:rPr sz="2400" b="0">
                    <a:solidFill>
                      <a:srgbClr val="111827"/>
                    </a:solidFill>
                    <a:latin typeface="Arial"/>
                  </a:rPr>
                  <a:t>, </a:t>
                </a:r>
                <a:r>
                  <a:rPr lang="en-IN" sz="2400">
                    <a:solidFill>
                      <a:srgbClr val="111827"/>
                    </a:solidFill>
                    <a:latin typeface="Cambria Math" panose="02040503050406030204" pitchFamily="18" charset="0"/>
                  </a:rPr>
                  <a:t>$\beta=3$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$2(\alpha+\beta)=2\left(\frac{3}{2}+3\right)=9$</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9</a:t>
            </a:r>
            <a:endParaRPr sz="2800">
              <a:solidFill>
                <a:srgbClr val="15803D"/>
              </a:solidFill>
            </a:endParaRP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Parametrise the point by its ordinate </a:t>
                </a:r>
                <a14:m>
                  <m:oMath xmlns:m="http://schemas.openxmlformats.org/officeDocument/2006/math">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𝑡</m:t>
                    </m:r>
                  </m:oMath>
                </a14:m>
                <a:r>
                  <a:rPr sz="2400" b="0">
                    <a:solidFill>
                      <a:srgbClr val="78350F"/>
                    </a:solidFill>
                    <a:latin typeface="Arial"/>
                  </a:rPr>
                  <a:t> and minimise the squared distance directly.</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Parametrise the point by its ordinate </a:t>
                </a:r>
                <a:r>
                  <a:rPr lang="en-IN" sz="2400">
                    <a:solidFill>
                      <a:srgbClr val="78350F"/>
                    </a:solidFill>
                    <a:latin typeface="Cambria Math" panose="02040503050406030204" pitchFamily="18" charset="0"/>
                  </a:rPr>
                  <a:t>$y=t$</a:t>
                </a:r>
                <a:r>
                  <a:rPr sz="2400" b="0">
                    <a:solidFill>
                      <a:srgbClr val="78350F"/>
                    </a:solidFill>
                    <a:latin typeface="Arial"/>
                  </a:rPr>
                  <a:t> and minimise the squared distance directly.</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Take the point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e>
                    </m:d>
                  </m:oMath>
                </a14:m>
                <a:r>
                  <a:rPr sz="2400" b="0">
                    <a:solidFill>
                      <a:srgbClr val="111827"/>
                    </a:solidFill>
                    <a:latin typeface="Arial"/>
                  </a:rPr>
                  <a:t> on the curve; its squared distance from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e>
                    </m:d>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e>
                        </m:d>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𝐷</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e>
                    </m:d>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𝑡</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3</m:t>
                            </m:r>
                          </m:sup>
                        </m:sSup>
                      </m:num>
                      <m:den>
                        <m:r>
                          <a:rPr lang="en-IN" sz="2400" i="1">
                            <a:solidFill>
                              <a:srgbClr val="111827"/>
                            </a:solidFill>
                            <a:latin typeface="Cambria Math" panose="02040503050406030204" pitchFamily="18" charset="0"/>
                          </a:rPr>
                          <m:t>9</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3</m:t>
                            </m:r>
                          </m:sup>
                        </m:sSup>
                      </m:num>
                      <m:den>
                        <m:r>
                          <a:rPr lang="en-IN" sz="2400" i="1">
                            <a:solidFill>
                              <a:srgbClr val="111827"/>
                            </a:solidFill>
                            <a:latin typeface="Cambria Math" panose="02040503050406030204" pitchFamily="18" charset="0"/>
                          </a:rPr>
                          <m:t>9</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Setting </a:t>
                </a:r>
                <a14:m>
                  <m:oMath xmlns:m="http://schemas.openxmlformats.org/officeDocument/2006/math">
                    <m:sSup>
                      <m:e>
                        <m:r>
                          <a:rPr lang="en-IN" sz="2400" i="1">
                            <a:solidFill>
                              <a:srgbClr val="111827"/>
                            </a:solidFill>
                            <a:latin typeface="Cambria Math" panose="02040503050406030204" pitchFamily="18" charset="0"/>
                          </a:rPr>
                          <m:t>𝐷</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gives </a:t>
                </a:r>
                <a14:m>
                  <m:oMath xmlns:m="http://schemas.openxmlformats.org/officeDocument/2006/math">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27</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(the only real root).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Take the point </a:t>
                </a:r>
                <a:r>
                  <a:rPr lang="en-IN" sz="2400">
                    <a:solidFill>
                      <a:srgbClr val="111827"/>
                    </a:solidFill>
                    <a:latin typeface="Cambria Math" panose="02040503050406030204" pitchFamily="18" charset="0"/>
                  </a:rPr>
                  <a:t>$\left(\frac{t^2}{6},t\right)$</a:t>
                </a:r>
                <a:r>
                  <a:rPr sz="2400" b="0">
                    <a:solidFill>
                      <a:srgbClr val="111827"/>
                    </a:solidFill>
                    <a:latin typeface="Arial"/>
                  </a:rPr>
                  <a:t> on the curve; its squared distance from </a:t>
                </a:r>
                <a:r>
                  <a:rPr lang="en-IN" sz="2400">
                    <a:solidFill>
                      <a:srgbClr val="111827"/>
                    </a:solidFill>
                    <a:latin typeface="Cambria Math" panose="02040503050406030204" pitchFamily="18" charset="0"/>
                  </a:rPr>
                  <a:t>$\left(3,\frac{3}{2}\right)$</a:t>
                </a:r>
                <a:r>
                  <a:rPr sz="2400" b="0">
                    <a:solidFill>
                      <a:srgbClr val="111827"/>
                    </a:solidFill>
                    <a:latin typeface="Arial"/>
                  </a:rPr>
                  <a:t> is </a:t>
                </a:r>
                <a:r>
                  <a:rPr lang="en-IN" sz="2400">
                    <a:solidFill>
                      <a:srgbClr val="111827"/>
                    </a:solidFill>
                    <a:latin typeface="Cambria Math" panose="02040503050406030204" pitchFamily="18" charset="0"/>
                  </a:rPr>
                  <a:t>$D(t)=\left(\frac{t^2}{6}-3\right)^2+\left(t-\frac{3}{2}\right)^2$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$D'(t)=2\left(\frac{t^2}{6}-3\right)\frac{t}{3}+2\left(t-\frac{3}{2}\right)=\frac{t^3}{9}-2t+2t-3=\frac{t^3}{9}-3$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Setting </a:t>
                </a:r>
                <a:r>
                  <a:rPr lang="en-IN" sz="2400">
                    <a:solidFill>
                      <a:srgbClr val="111827"/>
                    </a:solidFill>
                    <a:latin typeface="Cambria Math" panose="02040503050406030204" pitchFamily="18" charset="0"/>
                  </a:rPr>
                  <a:t>$D'(t)=0$</a:t>
                </a:r>
                <a:r>
                  <a:rPr sz="2400" b="0">
                    <a:solidFill>
                      <a:srgbClr val="111827"/>
                    </a:solidFill>
                    <a:latin typeface="Arial"/>
                  </a:rPr>
                  <a:t> gives </a:t>
                </a:r>
                <a:r>
                  <a:rPr lang="en-IN" sz="2400">
                    <a:solidFill>
                      <a:srgbClr val="111827"/>
                    </a:solidFill>
                    <a:latin typeface="Cambria Math" panose="02040503050406030204" pitchFamily="18" charset="0"/>
                  </a:rPr>
                  <a:t>$t^3=27$</a:t>
                </a:r>
                <a:r>
                  <a:rPr sz="2400" b="0">
                    <a:solidFill>
                      <a:srgbClr val="111827"/>
                    </a:solidFill>
                    <a:latin typeface="Arial"/>
                  </a:rPr>
                  <a:t>, so </a:t>
                </a:r>
                <a:r>
                  <a:rPr lang="en-IN" sz="2400">
                    <a:solidFill>
                      <a:srgbClr val="111827"/>
                    </a:solidFill>
                    <a:latin typeface="Cambria Math" panose="02040503050406030204" pitchFamily="18" charset="0"/>
                  </a:rPr>
                  <a:t>$t=3$</a:t>
                </a:r>
                <a:r>
                  <a:rPr sz="2400" b="0">
                    <a:solidFill>
                      <a:srgbClr val="111827"/>
                    </a:solidFill>
                    <a:latin typeface="Arial"/>
                  </a:rPr>
                  <a:t> (the only real root).</a:t>
                </a:r>
                <a:endParaRPr sz="2400">
                  <a:solidFill>
                    <a:srgbClr val="111827"/>
                  </a:solidFill>
                </a:endParaRPr>
              </a:p>
            </p:txBody>
          </p:sp>
        </mc:Fallback>
      </mc:AlternateContent>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𝐷</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3</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𝐷</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3</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𝐷</m:t>
                    </m:r>
                  </m:oMath>
                </a14:m>
                <a:r>
                  <a:rPr sz="2400" b="0">
                    <a:solidFill>
                      <a:srgbClr val="111827"/>
                    </a:solidFill>
                    <a:latin typeface="Arial"/>
                  </a:rPr>
                  <a:t> is minimum at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Thus </a:t>
                </a:r>
                <a14:m>
                  <m:oMath xmlns:m="http://schemas.openxmlformats.org/officeDocument/2006/math">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$D'(t)&lt;0$</a:t>
                </a:r>
                <a:r>
                  <a:rPr sz="2400" b="0">
                    <a:solidFill>
                      <a:srgbClr val="111827"/>
                    </a:solidFill>
                    <a:latin typeface="Arial"/>
                  </a:rPr>
                  <a:t> for </a:t>
                </a:r>
                <a:r>
                  <a:rPr lang="en-IN" sz="2400">
                    <a:solidFill>
                      <a:srgbClr val="111827"/>
                    </a:solidFill>
                    <a:latin typeface="Cambria Math" panose="02040503050406030204" pitchFamily="18" charset="0"/>
                  </a:rPr>
                  <a:t>$t&lt;3$</a:t>
                </a:r>
                <a:r>
                  <a:rPr sz="2400" b="0">
                    <a:solidFill>
                      <a:srgbClr val="111827"/>
                    </a:solidFill>
                    <a:latin typeface="Arial"/>
                  </a:rPr>
                  <a:t> and </a:t>
                </a:r>
                <a:r>
                  <a:rPr lang="en-IN" sz="2400">
                    <a:solidFill>
                      <a:srgbClr val="111827"/>
                    </a:solidFill>
                    <a:latin typeface="Cambria Math" panose="02040503050406030204" pitchFamily="18" charset="0"/>
                  </a:rPr>
                  <a:t>$D'(t)&gt;0$</a:t>
                </a:r>
                <a:r>
                  <a:rPr sz="2400" b="0">
                    <a:solidFill>
                      <a:srgbClr val="111827"/>
                    </a:solidFill>
                    <a:latin typeface="Arial"/>
                  </a:rPr>
                  <a:t> for </a:t>
                </a:r>
                <a:r>
                  <a:rPr lang="en-IN" sz="2400">
                    <a:solidFill>
                      <a:srgbClr val="111827"/>
                    </a:solidFill>
                    <a:latin typeface="Cambria Math" panose="02040503050406030204" pitchFamily="18" charset="0"/>
                  </a:rPr>
                  <a:t>$t&gt;3$</a:t>
                </a:r>
                <a:r>
                  <a:rPr sz="2400" b="0">
                    <a:solidFill>
                      <a:srgbClr val="111827"/>
                    </a:solidFill>
                    <a:latin typeface="Arial"/>
                  </a:rPr>
                  <a:t>, so </a:t>
                </a:r>
                <a:r>
                  <a:rPr lang="en-IN" sz="2400">
                    <a:solidFill>
                      <a:srgbClr val="111827"/>
                    </a:solidFill>
                    <a:latin typeface="Cambria Math" panose="02040503050406030204" pitchFamily="18" charset="0"/>
                  </a:rPr>
                  <a:t>$D$</a:t>
                </a:r>
                <a:r>
                  <a:rPr sz="2400" b="0">
                    <a:solidFill>
                      <a:srgbClr val="111827"/>
                    </a:solidFill>
                    <a:latin typeface="Arial"/>
                  </a:rPr>
                  <a:t> is minimum at </a:t>
                </a:r>
                <a:r>
                  <a:rPr lang="en-IN" sz="2400">
                    <a:solidFill>
                      <a:srgbClr val="111827"/>
                    </a:solidFill>
                    <a:latin typeface="Cambria Math" panose="02040503050406030204" pitchFamily="18" charset="0"/>
                  </a:rPr>
                  <a:t>$t=3$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Thus </a:t>
                </a:r>
                <a:r>
                  <a:rPr lang="en-IN" sz="2400">
                    <a:solidFill>
                      <a:srgbClr val="111827"/>
                    </a:solidFill>
                    <a:latin typeface="Cambria Math" panose="02040503050406030204" pitchFamily="18" charset="0"/>
                  </a:rPr>
                  <a:t>$\beta=3$</a:t>
                </a:r>
                <a:r>
                  <a:rPr sz="2400" b="0">
                    <a:solidFill>
                      <a:srgbClr val="111827"/>
                    </a:solidFill>
                    <a:latin typeface="Arial"/>
                  </a:rPr>
                  <a:t> and </a:t>
                </a:r>
                <a:r>
                  <a:rPr lang="en-IN" sz="2400">
                    <a:solidFill>
                      <a:srgbClr val="111827"/>
                    </a:solidFill>
                    <a:latin typeface="Cambria Math" panose="02040503050406030204" pitchFamily="18" charset="0"/>
                  </a:rPr>
                  <a:t>$\alpha=\frac{9}{6}=\frac{3}{2}$</a:t>
                </a:r>
                <a:r>
                  <a:rPr sz="2400" b="0">
                    <a:solidFill>
                      <a:srgbClr val="111827"/>
                    </a:solidFill>
                    <a:latin typeface="Arial"/>
                  </a:rPr>
                  <a:t>, and </a:t>
                </a:r>
                <a:r>
                  <a:rPr lang="en-IN" sz="2400">
                    <a:solidFill>
                      <a:srgbClr val="111827"/>
                    </a:solidFill>
                    <a:latin typeface="Cambria Math" panose="02040503050406030204" pitchFamily="18" charset="0"/>
                  </a:rPr>
                  <a:t>$2(\alpha+\beta)=9$</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9</a:t>
            </a:r>
            <a:endParaRPr sz="2800">
              <a:solidFill>
                <a:srgbClr val="15803D"/>
              </a:solidFill>
            </a:endParaRP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nearest (or farthest) point of a curve from an external point </a:t>
                </a: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 lies on a normal of the curve passing through </a:t>
                </a: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𝑥</m:t>
                    </m:r>
                  </m:oMath>
                </a14:m>
                <a:r>
                  <a:rPr sz="2400" b="0">
                    <a:solidFill>
                      <a:srgbClr val="111827"/>
                    </a:solidFill>
                    <a:latin typeface="Arial"/>
                  </a:rPr>
                  <a:t>, the normal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3</m:t>
                        </m:r>
                      </m:sup>
                    </m:sSup>
                  </m:oMath>
                </a14:m>
                <a:r>
                  <a:rPr sz="2400" b="0">
                    <a:solidFill>
                      <a:srgbClr val="111827"/>
                    </a:solidFill>
                    <a:latin typeface="Arial"/>
                  </a:rPr>
                  <a:t>; passing it through a point gives a cubic in </a:t>
                </a:r>
                <a14:m>
                  <m:oMath xmlns:m="http://schemas.openxmlformats.org/officeDocument/2006/math">
                    <m:r>
                      <a:rPr lang="en-IN" sz="2400" i="1">
                        <a:solidFill>
                          <a:srgbClr val="111827"/>
                        </a:solidFill>
                        <a:latin typeface="Cambria Math" panose="02040503050406030204" pitchFamily="18" charset="0"/>
                      </a:rPr>
                      <m:t>𝑡</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Distance minimisation: minimise </a:t>
                </a:r>
                <a14:m>
                  <m:oMath xmlns:m="http://schemas.openxmlformats.org/officeDocument/2006/math">
                    <m:sSup>
                      <m:e>
                        <m:r>
                          <a:rPr lang="en-IN" sz="2400" i="1">
                            <a:solidFill>
                              <a:srgbClr val="111827"/>
                            </a:solidFill>
                            <a:latin typeface="Cambria Math" panose="02040503050406030204" pitchFamily="18" charset="0"/>
                          </a:rPr>
                          <m:t>𝐷</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(no square root); critical points of </a:t>
                </a:r>
                <a14:m>
                  <m:oMath xmlns:m="http://schemas.openxmlformats.org/officeDocument/2006/math">
                    <m:sSup>
                      <m:e>
                        <m:r>
                          <a:rPr lang="en-IN" sz="2400" i="1">
                            <a:solidFill>
                              <a:srgbClr val="111827"/>
                            </a:solidFill>
                            <a:latin typeface="Cambria Math" panose="02040503050406030204" pitchFamily="18" charset="0"/>
                          </a:rPr>
                          <m:t>𝐷</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are exactly the feet of normals.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Here, the cubic </a:t>
                </a:r>
                <a14:m>
                  <m:oMath xmlns:m="http://schemas.openxmlformats.org/officeDocument/2006/math">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27</m:t>
                        </m:r>
                      </m:num>
                      <m:den>
                        <m:r>
                          <a:rPr lang="en-IN" sz="2400" i="1">
                            <a:solidFill>
                              <a:srgbClr val="111827"/>
                            </a:solidFill>
                            <a:latin typeface="Cambria Math" panose="02040503050406030204" pitchFamily="18" charset="0"/>
                          </a:rPr>
                          <m:t>8</m:t>
                        </m:r>
                      </m:den>
                    </m:f>
                  </m:oMath>
                </a14:m>
                <a:r>
                  <a:rPr sz="2400" b="0">
                    <a:solidFill>
                      <a:srgbClr val="111827"/>
                    </a:solidFill>
                    <a:latin typeface="Arial"/>
                  </a:rPr>
                  <a:t> has a single real root, so the nearest point is unique.</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nearest (or farthest) point of a curve from an external point </a:t>
                </a:r>
                <a:r>
                  <a:rPr lang="en-IN" sz="2400">
                    <a:solidFill>
                      <a:srgbClr val="111827"/>
                    </a:solidFill>
                    <a:latin typeface="Cambria Math" panose="02040503050406030204" pitchFamily="18" charset="0"/>
                  </a:rPr>
                  <a:t>$P$</a:t>
                </a:r>
                <a:r>
                  <a:rPr sz="2400" b="0">
                    <a:solidFill>
                      <a:srgbClr val="111827"/>
                    </a:solidFill>
                    <a:latin typeface="Arial"/>
                  </a:rPr>
                  <a:t> lies on a normal of the curve passing through </a:t>
                </a:r>
                <a:r>
                  <a:rPr lang="en-IN" sz="2400">
                    <a:solidFill>
                      <a:srgbClr val="111827"/>
                    </a:solidFill>
                    <a:latin typeface="Cambria Math" panose="02040503050406030204" pitchFamily="18" charset="0"/>
                  </a:rPr>
                  <a:t>$P$</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$y^2=4ax$</a:t>
                </a:r>
                <a:r>
                  <a:rPr sz="2400" b="0">
                    <a:solidFill>
                      <a:srgbClr val="111827"/>
                    </a:solidFill>
                    <a:latin typeface="Arial"/>
                  </a:rPr>
                  <a:t>, the normal at </a:t>
                </a:r>
                <a:r>
                  <a:rPr lang="en-IN" sz="2400">
                    <a:solidFill>
                      <a:srgbClr val="111827"/>
                    </a:solidFill>
                    <a:latin typeface="Cambria Math" panose="02040503050406030204" pitchFamily="18" charset="0"/>
                  </a:rPr>
                  <a:t>$(at^2,2at)$</a:t>
                </a:r>
                <a:r>
                  <a:rPr sz="2400" b="0">
                    <a:solidFill>
                      <a:srgbClr val="111827"/>
                    </a:solidFill>
                    <a:latin typeface="Arial"/>
                  </a:rPr>
                  <a:t> is </a:t>
                </a:r>
                <a:r>
                  <a:rPr lang="en-IN" sz="2400">
                    <a:solidFill>
                      <a:srgbClr val="111827"/>
                    </a:solidFill>
                    <a:latin typeface="Cambria Math" panose="02040503050406030204" pitchFamily="18" charset="0"/>
                  </a:rPr>
                  <a:t>$y=-tx+2at+at^3$</a:t>
                </a:r>
                <a:r>
                  <a:rPr sz="2400" b="0">
                    <a:solidFill>
                      <a:srgbClr val="111827"/>
                    </a:solidFill>
                    <a:latin typeface="Arial"/>
                  </a:rPr>
                  <a:t>; passing it through a point gives a cubic in </a:t>
                </a:r>
                <a:r>
                  <a:rPr lang="en-IN" sz="2400">
                    <a:solidFill>
                      <a:srgbClr val="111827"/>
                    </a:solidFill>
                    <a:latin typeface="Cambria Math" panose="02040503050406030204" pitchFamily="18" charset="0"/>
                  </a:rPr>
                  <a:t>$t$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Distance minimisation: minimise </a:t>
                </a:r>
                <a:r>
                  <a:rPr lang="en-IN" sz="2400">
                    <a:solidFill>
                      <a:srgbClr val="111827"/>
                    </a:solidFill>
                    <a:latin typeface="Cambria Math" panose="02040503050406030204" pitchFamily="18" charset="0"/>
                  </a:rPr>
                  <a:t>$D^2$</a:t>
                </a:r>
                <a:r>
                  <a:rPr sz="2400" b="0">
                    <a:solidFill>
                      <a:srgbClr val="111827"/>
                    </a:solidFill>
                    <a:latin typeface="Arial"/>
                  </a:rPr>
                  <a:t> (no square root); critical points of </a:t>
                </a:r>
                <a:r>
                  <a:rPr lang="en-IN" sz="2400">
                    <a:solidFill>
                      <a:srgbClr val="111827"/>
                    </a:solidFill>
                    <a:latin typeface="Cambria Math" panose="02040503050406030204" pitchFamily="18" charset="0"/>
                  </a:rPr>
                  <a:t>$D^2$</a:t>
                </a:r>
                <a:r>
                  <a:rPr sz="2400" b="0">
                    <a:solidFill>
                      <a:srgbClr val="111827"/>
                    </a:solidFill>
                    <a:latin typeface="Arial"/>
                  </a:rPr>
                  <a:t> are exactly the feet of normals.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Here, the cubic </a:t>
                </a:r>
                <a:r>
                  <a:rPr lang="en-IN" sz="2400">
                    <a:solidFill>
                      <a:srgbClr val="111827"/>
                    </a:solidFill>
                    <a:latin typeface="Cambria Math" panose="02040503050406030204" pitchFamily="18" charset="0"/>
                  </a:rPr>
                  <a:t>$\alpha^3=\frac{27}{8}$</a:t>
                </a:r>
                <a:r>
                  <a:rPr sz="2400" b="0">
                    <a:solidFill>
                      <a:srgbClr val="111827"/>
                    </a:solidFill>
                    <a:latin typeface="Arial"/>
                  </a:rPr>
                  <a:t> has a single real root, so the nearest point is unique.</a:t>
                </a:r>
                <a:endParaRPr sz="2400">
                  <a:solidFill>
                    <a:srgbClr val="111827"/>
                  </a:solidFill>
                </a:endParaRPr>
              </a:p>
            </p:txBody>
          </p:sp>
        </mc:Fallback>
      </mc:AlternateContent>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77266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R</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R</m:t>
                    </m:r>
                  </m:oMath>
                </a14:m>
                <a:r>
                  <a:rPr sz="2400" b="0">
                    <a:solidFill>
                      <a:srgbClr val="111827"/>
                    </a:solidFill>
                    <a:latin typeface="Arial"/>
                  </a:rPr>
                  <a:t> be defined as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left"/>
                                </m:mcPr>
                              </m:mc>
                              <m:mc>
                                <m:mcPr>
                                  <m:count m:val="1"/>
                                  <m:mcJc m:val="left"/>
                                </m:mcPr>
                              </m:mc>
                            </m:mcs>
                            <m:ctrlPr>
                              <a:rPr lang="en-IN" sz="2400" i="1">
                                <a:solidFill>
                                  <a:srgbClr val="111827"/>
                                </a:solidFill>
                                <a:latin typeface="Cambria Math" panose="02040503050406030204" pitchFamily="18" charset="0"/>
                              </a:rPr>
                            </m:ctrlPr>
                          </m:mPr>
                          <m:mr>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3</m:t>
                                  </m:r>
                                </m:den>
                              </m:f>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e>
                            <m:e>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e>
                          </m:mr>
                          <m:mr>
                            <m:e>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e>
                            <m:e>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e>
                          </m:mr>
                        </m:m>
                      </m:e>
                    </m:d>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is increasing function in the interval:</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e>
                    </m:d>
                  </m:oMath>
                </a14:m>
                <a:r>
                  <a:rPr sz="2400" b="0">
                    <a:solidFill>
                      <a:srgbClr val="111827"/>
                    </a:solidFill>
                    <a:latin typeface="Arial"/>
                  </a:rPr>
                  <a:t>   (B)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(C)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(D)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e>
                    </m:d>
                  </m:oMath>
                </a14:m>
                <a:endParaRPr sz="2400">
                  <a:solidFill>
                    <a:srgbClr val="111827"/>
                  </a:solidFill>
                </a:endParaRPr>
              </a:p>
            </p:txBody>
          </p:sp>
        </mc:Choice>
        <mc:Fallback>
          <p:sp>
            <p:nvSpPr>
              <p:cNvPr id="4" name="Rounded Rectangle 3"/>
              <p:cNvSpPr/>
              <p:nvPr/>
            </p:nvSpPr>
            <p:spPr>
              <a:xfrm>
                <a:off x="731520" y="1280160"/>
                <a:ext cx="10725912" cy="277266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$f:\mathbb{R}\to\mathbb{R}$</a:t>
                </a:r>
                <a:r>
                  <a:rPr sz="2400" b="0">
                    <a:solidFill>
                      <a:srgbClr val="111827"/>
                    </a:solidFill>
                    <a:latin typeface="Arial"/>
                  </a:rPr>
                  <a:t> be defined as </a:t>
                </a:r>
                <a:r>
                  <a:rPr lang="en-IN" sz="2400">
                    <a:solidFill>
                      <a:srgbClr val="111827"/>
                    </a:solidFill>
                    <a:latin typeface="Cambria Math" panose="02040503050406030204" pitchFamily="18" charset="0"/>
                  </a:rPr>
                  <a:t>$f(x)=\begin{cases}-\frac{4}{3}x^3+2x^2+3x, &amp; x&gt;0\\ 3xe^x, &amp; x\le0\end{cases}$</a:t>
                </a:r>
                <a:r>
                  <a:rPr sz="2400" b="0">
                    <a:solidFill>
                      <a:srgbClr val="111827"/>
                    </a:solidFill>
                    <a:latin typeface="Arial"/>
                  </a:rPr>
                  <a:t>. Then </a:t>
                </a:r>
                <a:r>
                  <a:rPr lang="en-IN" sz="2400">
                    <a:solidFill>
                      <a:srgbClr val="111827"/>
                    </a:solidFill>
                    <a:latin typeface="Cambria Math" panose="02040503050406030204" pitchFamily="18" charset="0"/>
                  </a:rPr>
                  <a:t>$f$</a:t>
                </a:r>
                <a:r>
                  <a:rPr sz="2400" b="0">
                    <a:solidFill>
                      <a:srgbClr val="111827"/>
                    </a:solidFill>
                    <a:latin typeface="Arial"/>
                  </a:rPr>
                  <a:t> is increasing function in the interval:</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$\left(-1,\frac{3}{2}\right)$</a:t>
                </a:r>
                <a:r>
                  <a:rPr sz="2400" b="0">
                    <a:solidFill>
                      <a:srgbClr val="111827"/>
                    </a:solidFill>
                    <a:latin typeface="Arial"/>
                  </a:rPr>
                  <a:t>   (B) </a:t>
                </a:r>
                <a:r>
                  <a:rPr lang="en-IN" sz="2400">
                    <a:solidFill>
                      <a:srgbClr val="111827"/>
                    </a:solidFill>
                    <a:latin typeface="Cambria Math" panose="02040503050406030204" pitchFamily="18" charset="0"/>
                  </a:rPr>
                  <a:t>$(0,2)$</a:t>
                </a:r>
                <a:r>
                  <a:rPr sz="2400" b="0">
                    <a:solidFill>
                      <a:srgbClr val="111827"/>
                    </a:solidFill>
                    <a:latin typeface="Arial"/>
                  </a:rPr>
                  <a:t>   (C) </a:t>
                </a:r>
                <a:r>
                  <a:rPr lang="en-IN" sz="2400">
                    <a:solidFill>
                      <a:srgbClr val="111827"/>
                    </a:solidFill>
                    <a:latin typeface="Cambria Math" panose="02040503050406030204" pitchFamily="18" charset="0"/>
                  </a:rPr>
                  <a:t>$(-3,-1)$</a:t>
                </a:r>
                <a:r>
                  <a:rPr sz="2400" b="0">
                    <a:solidFill>
                      <a:srgbClr val="111827"/>
                    </a:solidFill>
                    <a:latin typeface="Arial"/>
                  </a:rPr>
                  <a:t>   (D) </a:t>
                </a:r>
                <a:r>
                  <a:rPr lang="en-IN" sz="2400">
                    <a:solidFill>
                      <a:srgbClr val="111827"/>
                    </a:solidFill>
                    <a:latin typeface="Cambria Math" panose="02040503050406030204" pitchFamily="18" charset="0"/>
                  </a:rPr>
                  <a:t>$\left(-\frac{1}{2},2\right)$</a:t>
                </a:r>
                <a:endParaRPr sz="2400">
                  <a:solidFill>
                    <a:srgbClr val="111827"/>
                  </a:solidFill>
                </a:endParaRPr>
              </a:p>
            </p:txBody>
          </p:sp>
        </mc:Fallback>
      </mc:AlternateContent>
      <p:sp>
        <p:nvSpPr>
          <p:cNvPr id="5" name="Rectangle 4"/>
          <p:cNvSpPr/>
          <p:nvPr/>
        </p:nvSpPr>
        <p:spPr>
          <a:xfrm>
            <a:off x="731520" y="4281423"/>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Monotonicity of a piecewise function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For a piecewise function, solve </a:t>
                </a:r>
                <a14:m>
                  <m:oMath xmlns:m="http://schemas.openxmlformats.org/officeDocument/2006/math">
                    <m:sSup>
                      <m:e>
                        <m:r>
                          <a:rPr lang="en-IN" sz="2400" i="1">
                            <a:solidFill>
                              <a:srgbClr val="78350F"/>
                            </a:solidFill>
                            <a:latin typeface="Cambria Math" panose="02040503050406030204" pitchFamily="18" charset="0"/>
                          </a:rPr>
                          <m:t>𝑓</m:t>
                        </m:r>
                      </m:e>
                      <m:sup>
                        <m:r>
                          <m:rPr>
                            <m:sty m:val="p"/>
                          </m:rPr>
                          <a:rPr lang="en-IN" sz="2400">
                            <a:solidFill>
                              <a:srgbClr val="78350F"/>
                            </a:solidFill>
                            <a:latin typeface="Cambria Math" panose="02040503050406030204" pitchFamily="18" charset="0"/>
                          </a:rPr>
                          <m:t>′</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&gt;</m:t>
                    </m:r>
                    <m:r>
                      <a:rPr lang="en-IN" sz="2400" i="1">
                        <a:solidFill>
                          <a:srgbClr val="78350F"/>
                        </a:solidFill>
                        <a:latin typeface="Cambria Math" panose="02040503050406030204" pitchFamily="18" charset="0"/>
                      </a:rPr>
                      <m:t>0</m:t>
                    </m:r>
                  </m:oMath>
                </a14:m>
                <a:r>
                  <a:rPr sz="2400" b="0">
                    <a:solidFill>
                      <a:srgbClr val="78350F"/>
                    </a:solidFill>
                    <a:latin typeface="Arial"/>
                  </a:rPr>
                  <a:t> separately on each piece and then join the intervals.</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For a piecewise function, solve </a:t>
                </a:r>
                <a:r>
                  <a:rPr lang="en-IN" sz="2400">
                    <a:solidFill>
                      <a:srgbClr val="78350F"/>
                    </a:solidFill>
                    <a:latin typeface="Cambria Math" panose="02040503050406030204" pitchFamily="18" charset="0"/>
                  </a:rPr>
                  <a:t>$f'(x)&gt;0$</a:t>
                </a:r>
                <a:r>
                  <a:rPr sz="2400" b="0">
                    <a:solidFill>
                      <a:srgbClr val="78350F"/>
                    </a:solidFill>
                    <a:latin typeface="Arial"/>
                  </a:rPr>
                  <a:t> separately on each piece and then join the intervals.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to be increasing we need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On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Factorise: </a:t>
                </a:r>
                <a14:m>
                  <m:oMath xmlns:m="http://schemas.openxmlformats.org/officeDocument/2006/math">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$x&gt;0$</a:t>
                </a:r>
                <a:r>
                  <a:rPr sz="2400" b="0">
                    <a:solidFill>
                      <a:srgbClr val="111827"/>
                    </a:solidFill>
                    <a:latin typeface="Arial"/>
                  </a:rPr>
                  <a:t>: </a:t>
                </a:r>
                <a:r>
                  <a:rPr lang="en-IN" sz="2400">
                    <a:solidFill>
                      <a:srgbClr val="111827"/>
                    </a:solidFill>
                    <a:latin typeface="Cambria Math" panose="02040503050406030204" pitchFamily="18" charset="0"/>
                  </a:rPr>
                  <a:t>$f'(x)=-4x^2+4x+3$</a:t>
                </a:r>
                <a:r>
                  <a:rPr sz="2400" b="0">
                    <a:solidFill>
                      <a:srgbClr val="111827"/>
                    </a:solidFill>
                    <a:latin typeface="Arial"/>
                  </a:rPr>
                  <a:t>; for </a:t>
                </a:r>
                <a:r>
                  <a:rPr lang="en-IN" sz="2400">
                    <a:solidFill>
                      <a:srgbClr val="111827"/>
                    </a:solidFill>
                    <a:latin typeface="Cambria Math" panose="02040503050406030204" pitchFamily="18" charset="0"/>
                  </a:rPr>
                  <a:t>$x\le0$</a:t>
                </a:r>
                <a:r>
                  <a:rPr sz="2400" b="0">
                    <a:solidFill>
                      <a:srgbClr val="111827"/>
                    </a:solidFill>
                    <a:latin typeface="Arial"/>
                  </a:rPr>
                  <a:t>: </a:t>
                </a:r>
                <a:r>
                  <a:rPr lang="en-IN" sz="2400">
                    <a:solidFill>
                      <a:srgbClr val="111827"/>
                    </a:solidFill>
                    <a:latin typeface="Cambria Math" panose="02040503050406030204" pitchFamily="18" charset="0"/>
                  </a:rPr>
                  <a:t>$f'(x)=3e^x+3xe^x$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$f$</a:t>
                </a:r>
                <a:r>
                  <a:rPr sz="2400" b="0">
                    <a:solidFill>
                      <a:srgbClr val="111827"/>
                    </a:solidFill>
                    <a:latin typeface="Arial"/>
                  </a:rPr>
                  <a:t> to be increasing we need </a:t>
                </a:r>
                <a:r>
                  <a:rPr lang="en-IN" sz="2400">
                    <a:solidFill>
                      <a:srgbClr val="111827"/>
                    </a:solidFill>
                    <a:latin typeface="Cambria Math" panose="02040503050406030204" pitchFamily="18" charset="0"/>
                  </a:rPr>
                  <a:t>$f'(x)&gt;0$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On </a:t>
                </a:r>
                <a:r>
                  <a:rPr lang="en-IN" sz="2400">
                    <a:solidFill>
                      <a:srgbClr val="111827"/>
                    </a:solidFill>
                    <a:latin typeface="Cambria Math" panose="02040503050406030204" pitchFamily="18" charset="0"/>
                  </a:rPr>
                  <a:t>$x&gt;0$</a:t>
                </a:r>
                <a:r>
                  <a:rPr sz="2400" b="0">
                    <a:solidFill>
                      <a:srgbClr val="111827"/>
                    </a:solidFill>
                    <a:latin typeface="Arial"/>
                  </a:rPr>
                  <a:t>: </a:t>
                </a:r>
                <a:r>
                  <a:rPr lang="en-IN" sz="2400">
                    <a:solidFill>
                      <a:srgbClr val="111827"/>
                    </a:solidFill>
                    <a:latin typeface="Cambria Math" panose="02040503050406030204" pitchFamily="18" charset="0"/>
                  </a:rPr>
                  <a:t>$-4x^2+4x+3&gt;0 \Rightarrow 4x^2-4x-3&lt;0$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Factorise: </a:t>
                </a:r>
                <a:r>
                  <a:rPr lang="en-IN" sz="2400">
                    <a:solidFill>
                      <a:srgbClr val="111827"/>
                    </a:solidFill>
                    <a:latin typeface="Cambria Math" panose="02040503050406030204" pitchFamily="18" charset="0"/>
                  </a:rPr>
                  <a:t>$4x^2-6x+2x-3=2x(2x-3)+1(2x-3)=(2x+1)(2x-3)&lt;0$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e>
                    </m:d>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this gives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e>
                    </m:d>
                  </m:oMath>
                </a14:m>
                <a:r>
                  <a:rPr sz="2400" b="0">
                    <a:solidFill>
                      <a:srgbClr val="111827"/>
                    </a:solidFill>
                    <a:latin typeface="Arial"/>
                  </a:rPr>
                  <a:t> ....(1)</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On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&gt;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....(2)</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pieces join continuously at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from both sides), and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on both sides, so combining (1) and (2):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e>
                    </m:d>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$x\in\left(-\frac{1}{2},\frac{3}{2}\right)$</a:t>
                </a:r>
                <a:r>
                  <a:rPr sz="2400" b="0">
                    <a:solidFill>
                      <a:srgbClr val="111827"/>
                    </a:solidFill>
                    <a:latin typeface="Arial"/>
                  </a:rPr>
                  <a:t>; with </a:t>
                </a:r>
                <a:r>
                  <a:rPr lang="en-IN" sz="2400">
                    <a:solidFill>
                      <a:srgbClr val="111827"/>
                    </a:solidFill>
                    <a:latin typeface="Cambria Math" panose="02040503050406030204" pitchFamily="18" charset="0"/>
                  </a:rPr>
                  <a:t>$x&gt;0$</a:t>
                </a:r>
                <a:r>
                  <a:rPr sz="2400" b="0">
                    <a:solidFill>
                      <a:srgbClr val="111827"/>
                    </a:solidFill>
                    <a:latin typeface="Arial"/>
                  </a:rPr>
                  <a:t> this gives </a:t>
                </a:r>
                <a:r>
                  <a:rPr lang="en-IN" sz="2400">
                    <a:solidFill>
                      <a:srgbClr val="111827"/>
                    </a:solidFill>
                    <a:latin typeface="Cambria Math" panose="02040503050406030204" pitchFamily="18" charset="0"/>
                  </a:rPr>
                  <a:t>$x\in\left(0,\frac{3}{2}\right)$</a:t>
                </a:r>
                <a:r>
                  <a:rPr sz="2400" b="0">
                    <a:solidFill>
                      <a:srgbClr val="111827"/>
                    </a:solidFill>
                    <a:latin typeface="Arial"/>
                  </a:rPr>
                  <a:t> ....(1)</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On </a:t>
                </a:r>
                <a:r>
                  <a:rPr lang="en-IN" sz="2400">
                    <a:solidFill>
                      <a:srgbClr val="111827"/>
                    </a:solidFill>
                    <a:latin typeface="Cambria Math" panose="02040503050406030204" pitchFamily="18" charset="0"/>
                  </a:rPr>
                  <a:t>$x\le0$</a:t>
                </a:r>
                <a:r>
                  <a:rPr sz="2400" b="0">
                    <a:solidFill>
                      <a:srgbClr val="111827"/>
                    </a:solidFill>
                    <a:latin typeface="Arial"/>
                  </a:rPr>
                  <a:t>: </a:t>
                </a:r>
                <a:r>
                  <a:rPr lang="en-IN" sz="2400">
                    <a:solidFill>
                      <a:srgbClr val="111827"/>
                    </a:solidFill>
                    <a:latin typeface="Cambria Math" panose="02040503050406030204" pitchFamily="18" charset="0"/>
                  </a:rPr>
                  <a:t>$3e^x(1+x)&gt;0 \Rightarrow x+1&gt;0 \Rightarrow x&gt;-1$</a:t>
                </a:r>
                <a:r>
                  <a:rPr sz="2400" b="0">
                    <a:solidFill>
                      <a:srgbClr val="111827"/>
                    </a:solidFill>
                    <a:latin typeface="Arial"/>
                  </a:rPr>
                  <a:t>, so </a:t>
                </a:r>
                <a:r>
                  <a:rPr lang="en-IN" sz="2400">
                    <a:solidFill>
                      <a:srgbClr val="111827"/>
                    </a:solidFill>
                    <a:latin typeface="Cambria Math" panose="02040503050406030204" pitchFamily="18" charset="0"/>
                  </a:rPr>
                  <a:t>$x\in(-1,0]$</a:t>
                </a:r>
                <a:r>
                  <a:rPr sz="2400" b="0">
                    <a:solidFill>
                      <a:srgbClr val="111827"/>
                    </a:solidFill>
                    <a:latin typeface="Arial"/>
                  </a:rPr>
                  <a:t> ....(2)</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pieces join continuously at </a:t>
                </a:r>
                <a:r>
                  <a:rPr lang="en-IN" sz="2400">
                    <a:solidFill>
                      <a:srgbClr val="111827"/>
                    </a:solidFill>
                    <a:latin typeface="Cambria Math" panose="02040503050406030204" pitchFamily="18" charset="0"/>
                  </a:rPr>
                  <a:t>$0$</a:t>
                </a:r>
                <a:r>
                  <a:rPr sz="2400" b="0">
                    <a:solidFill>
                      <a:srgbClr val="111827"/>
                    </a:solidFill>
                    <a:latin typeface="Arial"/>
                  </a:rPr>
                  <a:t> (</a:t>
                </a:r>
                <a:r>
                  <a:rPr lang="en-IN" sz="2400">
                    <a:solidFill>
                      <a:srgbClr val="111827"/>
                    </a:solidFill>
                    <a:latin typeface="Cambria Math" panose="02040503050406030204" pitchFamily="18" charset="0"/>
                  </a:rPr>
                  <a:t>$f(0)=0$</a:t>
                </a:r>
                <a:r>
                  <a:rPr sz="2400" b="0">
                    <a:solidFill>
                      <a:srgbClr val="111827"/>
                    </a:solidFill>
                    <a:latin typeface="Arial"/>
                  </a:rPr>
                  <a:t> from both sides), and </a:t>
                </a:r>
                <a:r>
                  <a:rPr lang="en-IN" sz="2400">
                    <a:solidFill>
                      <a:srgbClr val="111827"/>
                    </a:solidFill>
                    <a:latin typeface="Cambria Math" panose="02040503050406030204" pitchFamily="18" charset="0"/>
                  </a:rPr>
                  <a:t>$f'&gt;0$</a:t>
                </a:r>
                <a:r>
                  <a:rPr sz="2400" b="0">
                    <a:solidFill>
                      <a:srgbClr val="111827"/>
                    </a:solidFill>
                    <a:latin typeface="Arial"/>
                  </a:rPr>
                  <a:t> on both sides, so combining (1) and (2): </a:t>
                </a:r>
                <a:r>
                  <a:rPr lang="en-IN" sz="2400">
                    <a:solidFill>
                      <a:srgbClr val="111827"/>
                    </a:solidFill>
                    <a:latin typeface="Cambria Math" panose="02040503050406030204" pitchFamily="18" charset="0"/>
                  </a:rPr>
                  <a:t>$x\in\left(-1,\frac{3}{2}\right)$</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a:t>
                </a:r>
                <a14:m>
                  <m:oMath xmlns:m="http://schemas.openxmlformats.org/officeDocument/2006/math">
                    <m:d>
                      <m:dPr>
                        <m:begChr m:val="("/>
                        <m:sepChr m:val=""/>
                        <m:endChr m:val=")"/>
                        <m:grow/>
                        <m:ctrlPr>
                          <a:rPr lang="en-IN" sz="2800" i="1">
                            <a:solidFill>
                              <a:srgbClr val="15803D"/>
                            </a:solidFill>
                            <a:latin typeface="Cambria Math" panose="02040503050406030204" pitchFamily="18" charset="0"/>
                          </a:rPr>
                        </m:ctrlPr>
                      </m:dPr>
                      <m:e>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1</m:t>
                        </m:r>
                        <m:r>
                          <m:rPr>
                            <m:sty m:val="p"/>
                          </m:rPr>
                          <a:rPr lang="en-IN" sz="2800">
                            <a:solidFill>
                              <a:srgbClr val="15803D"/>
                            </a:solidFill>
                            <a:latin typeface="Cambria Math" panose="02040503050406030204" pitchFamily="18" charset="0"/>
                          </a:rPr>
                          <m:t>,</m:t>
                        </m:r>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3</m:t>
                            </m:r>
                          </m:num>
                          <m:den>
                            <m:r>
                              <a:rPr lang="en-IN" sz="2800" i="1">
                                <a:solidFill>
                                  <a:srgbClr val="15803D"/>
                                </a:solidFill>
                                <a:latin typeface="Cambria Math" panose="02040503050406030204" pitchFamily="18" charset="0"/>
                              </a:rPr>
                              <m:t>2</m:t>
                            </m:r>
                          </m:den>
                        </m:f>
                      </m:e>
                    </m:d>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a:t>
                </a:r>
                <a:r>
                  <a:rPr lang="en-IN" sz="2800">
                    <a:solidFill>
                      <a:srgbClr val="15803D"/>
                    </a:solidFill>
                    <a:latin typeface="Cambria Math" panose="02040503050406030204" pitchFamily="18" charset="0"/>
                  </a:rPr>
                  <a:t>$\left(-1,\frac{3}{2}\right)$</a:t>
                </a:r>
                <a:endParaRPr sz="2800">
                  <a:solidFill>
                    <a:srgbClr val="15803D"/>
                  </a:solidFill>
                </a:endParaRPr>
              </a:p>
            </p:txBody>
          </p:sp>
        </mc:Fallback>
      </mc:AlternateContent>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Eliminate options by testing one point of each interval where </a:t>
                </a:r>
                <a14:m>
                  <m:oMath xmlns:m="http://schemas.openxmlformats.org/officeDocument/2006/math">
                    <m:sSup>
                      <m:e>
                        <m:r>
                          <a:rPr lang="en-IN" sz="2400" i="1">
                            <a:solidFill>
                              <a:srgbClr val="78350F"/>
                            </a:solidFill>
                            <a:latin typeface="Cambria Math" panose="02040503050406030204" pitchFamily="18" charset="0"/>
                          </a:rPr>
                          <m:t>𝑓</m:t>
                        </m:r>
                      </m:e>
                      <m:sup>
                        <m:r>
                          <m:rPr>
                            <m:sty m:val="p"/>
                          </m:rPr>
                          <a:rPr lang="en-IN" sz="2400">
                            <a:solidFill>
                              <a:srgbClr val="78350F"/>
                            </a:solidFill>
                            <a:latin typeface="Cambria Math" panose="02040503050406030204" pitchFamily="18" charset="0"/>
                          </a:rPr>
                          <m:t>′</m:t>
                        </m:r>
                      </m:sup>
                    </m:sSup>
                  </m:oMath>
                </a14:m>
                <a:r>
                  <a:rPr sz="2400" b="0">
                    <a:solidFill>
                      <a:srgbClr val="78350F"/>
                    </a:solidFill>
                    <a:latin typeface="Arial"/>
                  </a:rPr>
                  <a:t> has a definite sign.</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Eliminate options by testing one point of each interval where </a:t>
                </a:r>
                <a:r>
                  <a:rPr lang="en-IN" sz="2400">
                    <a:solidFill>
                      <a:srgbClr val="78350F"/>
                    </a:solidFill>
                    <a:latin typeface="Cambria Math" panose="02040503050406030204" pitchFamily="18" charset="0"/>
                  </a:rPr>
                  <a:t>$f'$</a:t>
                </a:r>
                <a:r>
                  <a:rPr sz="2400" b="0">
                    <a:solidFill>
                      <a:srgbClr val="78350F"/>
                    </a:solidFill>
                    <a:latin typeface="Arial"/>
                  </a:rPr>
                  <a:t> has a definite sign.</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is continuous at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(both pieces give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and its only zeros are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(from </a:t>
                </a:r>
                <a14:m>
                  <m:oMath xmlns:m="http://schemas.openxmlformats.org/officeDocument/2006/math">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(from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Option (B)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contains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12.96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2.76</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is not increasing; reject.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Option (C)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contains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reject.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a:t>
                </a:r>
                <a:r>
                  <a:rPr sz="2400" b="0">
                    <a:solidFill>
                      <a:srgbClr val="111827"/>
                    </a:solidFill>
                    <a:latin typeface="Arial"/>
                  </a:rPr>
                  <a:t> is continuous at </a:t>
                </a:r>
                <a:r>
                  <a:rPr lang="en-IN" sz="2400">
                    <a:solidFill>
                      <a:srgbClr val="111827"/>
                    </a:solidFill>
                    <a:latin typeface="Cambria Math" panose="02040503050406030204" pitchFamily="18" charset="0"/>
                  </a:rPr>
                  <a:t>$0$</a:t>
                </a:r>
                <a:r>
                  <a:rPr sz="2400" b="0">
                    <a:solidFill>
                      <a:srgbClr val="111827"/>
                    </a:solidFill>
                    <a:latin typeface="Arial"/>
                  </a:rPr>
                  <a:t> (both pieces give </a:t>
                </a:r>
                <a:r>
                  <a:rPr lang="en-IN" sz="2400">
                    <a:solidFill>
                      <a:srgbClr val="111827"/>
                    </a:solidFill>
                    <a:latin typeface="Cambria Math" panose="02040503050406030204" pitchFamily="18" charset="0"/>
                  </a:rPr>
                  <a:t>$3$</a:t>
                </a:r>
                <a:r>
                  <a:rPr sz="2400" b="0">
                    <a:solidFill>
                      <a:srgbClr val="111827"/>
                    </a:solidFill>
                    <a:latin typeface="Arial"/>
                  </a:rPr>
                  <a:t>) and its only zeros are </a:t>
                </a:r>
                <a:r>
                  <a:rPr lang="en-IN" sz="2400">
                    <a:solidFill>
                      <a:srgbClr val="111827"/>
                    </a:solidFill>
                    <a:latin typeface="Cambria Math" panose="02040503050406030204" pitchFamily="18" charset="0"/>
                  </a:rPr>
                  <a:t>$x=-1$</a:t>
                </a:r>
                <a:r>
                  <a:rPr sz="2400" b="0">
                    <a:solidFill>
                      <a:srgbClr val="111827"/>
                    </a:solidFill>
                    <a:latin typeface="Arial"/>
                  </a:rPr>
                  <a:t> (from </a:t>
                </a:r>
                <a:r>
                  <a:rPr lang="en-IN" sz="2400">
                    <a:solidFill>
                      <a:srgbClr val="111827"/>
                    </a:solidFill>
                    <a:latin typeface="Cambria Math" panose="02040503050406030204" pitchFamily="18" charset="0"/>
                  </a:rPr>
                  <a:t>$3e^x(1+x)$</a:t>
                </a:r>
                <a:r>
                  <a:rPr sz="2400" b="0">
                    <a:solidFill>
                      <a:srgbClr val="111827"/>
                    </a:solidFill>
                    <a:latin typeface="Arial"/>
                  </a:rPr>
                  <a:t>) and </a:t>
                </a:r>
                <a:r>
                  <a:rPr lang="en-IN" sz="2400">
                    <a:solidFill>
                      <a:srgbClr val="111827"/>
                    </a:solidFill>
                    <a:latin typeface="Cambria Math" panose="02040503050406030204" pitchFamily="18" charset="0"/>
                  </a:rPr>
                  <a:t>$x=\frac{3}{2}$</a:t>
                </a:r>
                <a:r>
                  <a:rPr sz="2400" b="0">
                    <a:solidFill>
                      <a:srgbClr val="111827"/>
                    </a:solidFill>
                    <a:latin typeface="Arial"/>
                  </a:rPr>
                  <a:t> (from </a:t>
                </a:r>
                <a:r>
                  <a:rPr lang="en-IN" sz="2400">
                    <a:solidFill>
                      <a:srgbClr val="111827"/>
                    </a:solidFill>
                    <a:latin typeface="Cambria Math" panose="02040503050406030204" pitchFamily="18" charset="0"/>
                  </a:rPr>
                  <a:t>$-4x^2+4x+3$</a:t>
                </a:r>
                <a:r>
                  <a:rPr sz="2400" b="0">
                    <a:solidFill>
                      <a:srgbClr val="111827"/>
                    </a:solidFill>
                    <a:latin typeface="Arial"/>
                  </a:rPr>
                  <a:t> with </a:t>
                </a:r>
                <a:r>
                  <a:rPr lang="en-IN" sz="2400">
                    <a:solidFill>
                      <a:srgbClr val="111827"/>
                    </a:solidFill>
                    <a:latin typeface="Cambria Math" panose="02040503050406030204" pitchFamily="18" charset="0"/>
                  </a:rPr>
                  <a:t>$x&gt;0$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Option (B) </a:t>
                </a:r>
                <a:r>
                  <a:rPr lang="en-IN" sz="2400">
                    <a:solidFill>
                      <a:srgbClr val="111827"/>
                    </a:solidFill>
                    <a:latin typeface="Cambria Math" panose="02040503050406030204" pitchFamily="18" charset="0"/>
                  </a:rPr>
                  <a:t>$(0,2)$</a:t>
                </a:r>
                <a:r>
                  <a:rPr sz="2400" b="0">
                    <a:solidFill>
                      <a:srgbClr val="111827"/>
                    </a:solidFill>
                    <a:latin typeface="Arial"/>
                  </a:rPr>
                  <a:t> contains </a:t>
                </a:r>
                <a:r>
                  <a:rPr lang="en-IN" sz="2400">
                    <a:solidFill>
                      <a:srgbClr val="111827"/>
                    </a:solidFill>
                    <a:latin typeface="Cambria Math" panose="02040503050406030204" pitchFamily="18" charset="0"/>
                  </a:rPr>
                  <a:t>$x=1.8$</a:t>
                </a:r>
                <a:r>
                  <a:rPr sz="2400" b="0">
                    <a:solidFill>
                      <a:srgbClr val="111827"/>
                    </a:solidFill>
                    <a:latin typeface="Arial"/>
                  </a:rPr>
                  <a:t>: </a:t>
                </a:r>
                <a:r>
                  <a:rPr lang="en-IN" sz="2400">
                    <a:solidFill>
                      <a:srgbClr val="111827"/>
                    </a:solidFill>
                    <a:latin typeface="Cambria Math" panose="02040503050406030204" pitchFamily="18" charset="0"/>
                  </a:rPr>
                  <a:t>$f'(1.8)=-12.96+7.2+3=-2.76&lt;0$</a:t>
                </a:r>
                <a:r>
                  <a:rPr sz="2400" b="0">
                    <a:solidFill>
                      <a:srgbClr val="111827"/>
                    </a:solidFill>
                    <a:latin typeface="Arial"/>
                  </a:rPr>
                  <a:t>, so </a:t>
                </a:r>
                <a:r>
                  <a:rPr lang="en-IN" sz="2400">
                    <a:solidFill>
                      <a:srgbClr val="111827"/>
                    </a:solidFill>
                    <a:latin typeface="Cambria Math" panose="02040503050406030204" pitchFamily="18" charset="0"/>
                  </a:rPr>
                  <a:t>$f$</a:t>
                </a:r>
                <a:r>
                  <a:rPr sz="2400" b="0">
                    <a:solidFill>
                      <a:srgbClr val="111827"/>
                    </a:solidFill>
                    <a:latin typeface="Arial"/>
                  </a:rPr>
                  <a:t> is not increasing; reject.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Option (C) </a:t>
                </a:r>
                <a:r>
                  <a:rPr lang="en-IN" sz="2400">
                    <a:solidFill>
                      <a:srgbClr val="111827"/>
                    </a:solidFill>
                    <a:latin typeface="Cambria Math" panose="02040503050406030204" pitchFamily="18" charset="0"/>
                  </a:rPr>
                  <a:t>$(-3,-1)$</a:t>
                </a:r>
                <a:r>
                  <a:rPr sz="2400" b="0">
                    <a:solidFill>
                      <a:srgbClr val="111827"/>
                    </a:solidFill>
                    <a:latin typeface="Arial"/>
                  </a:rPr>
                  <a:t> contains </a:t>
                </a:r>
                <a:r>
                  <a:rPr lang="en-IN" sz="2400">
                    <a:solidFill>
                      <a:srgbClr val="111827"/>
                    </a:solidFill>
                    <a:latin typeface="Cambria Math" panose="02040503050406030204" pitchFamily="18" charset="0"/>
                  </a:rPr>
                  <a:t>$x=-2$</a:t>
                </a:r>
                <a:r>
                  <a:rPr sz="2400" b="0">
                    <a:solidFill>
                      <a:srgbClr val="111827"/>
                    </a:solidFill>
                    <a:latin typeface="Arial"/>
                  </a:rPr>
                  <a:t>: </a:t>
                </a:r>
                <a:r>
                  <a:rPr lang="en-IN" sz="2400">
                    <a:solidFill>
                      <a:srgbClr val="111827"/>
                    </a:solidFill>
                    <a:latin typeface="Cambria Math" panose="02040503050406030204" pitchFamily="18" charset="0"/>
                  </a:rPr>
                  <a:t>$f'(-2)=3e^{-2}(-1)&lt;0$</a:t>
                </a:r>
                <a:r>
                  <a:rPr sz="2400" b="0">
                    <a:solidFill>
                      <a:srgbClr val="111827"/>
                    </a:solidFill>
                    <a:latin typeface="Arial"/>
                  </a:rPr>
                  <a:t>; reject.</a:t>
                </a:r>
                <a:endParaRPr sz="2400">
                  <a:solidFill>
                    <a:srgbClr val="111827"/>
                  </a:solidFill>
                </a:endParaRPr>
              </a:p>
            </p:txBody>
          </p:sp>
        </mc:Fallback>
      </mc:AlternateContent>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Option (D)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e>
                    </m:d>
                  </m:oMath>
                </a14:m>
                <a:r>
                  <a:rPr sz="2400" b="0">
                    <a:solidFill>
                      <a:srgbClr val="111827"/>
                    </a:solidFill>
                    <a:latin typeface="Arial"/>
                  </a:rPr>
                  <a:t> contains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-side points like </a:t>
                </a:r>
                <a14:m>
                  <m:oMath xmlns:m="http://schemas.openxmlformats.org/officeDocument/2006/math">
                    <m:r>
                      <a:rPr lang="en-IN" sz="2400" i="1">
                        <a:solidFill>
                          <a:srgbClr val="111827"/>
                        </a:solidFill>
                        <a:latin typeface="Cambria Math" panose="02040503050406030204" pitchFamily="18" charset="0"/>
                      </a:rPr>
                      <m:t>1.8</m:t>
                    </m:r>
                  </m:oMath>
                </a14:m>
                <a:r>
                  <a:rPr sz="2400" b="0">
                    <a:solidFill>
                      <a:srgbClr val="111827"/>
                    </a:solidFill>
                    <a:latin typeface="Arial"/>
                  </a:rPr>
                  <a:t> where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reject.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Option (A)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e>
                    </m:d>
                  </m:oMath>
                </a14:m>
                <a:r>
                  <a:rPr sz="2400" b="0">
                    <a:solidFill>
                      <a:srgbClr val="111827"/>
                    </a:solidFill>
                    <a:latin typeface="Arial"/>
                  </a:rPr>
                  <a:t> has no zero of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inside and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throughout;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is increasing there.</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Option (D) </a:t>
                </a:r>
                <a:r>
                  <a:rPr lang="en-IN" sz="2400">
                    <a:solidFill>
                      <a:srgbClr val="111827"/>
                    </a:solidFill>
                    <a:latin typeface="Cambria Math" panose="02040503050406030204" pitchFamily="18" charset="0"/>
                  </a:rPr>
                  <a:t>$\left(-\frac{1}{2},2\right)$</a:t>
                </a:r>
                <a:r>
                  <a:rPr sz="2400" b="0">
                    <a:solidFill>
                      <a:srgbClr val="111827"/>
                    </a:solidFill>
                    <a:latin typeface="Arial"/>
                  </a:rPr>
                  <a:t> contains </a:t>
                </a:r>
                <a:r>
                  <a:rPr lang="en-IN" sz="2400">
                    <a:solidFill>
                      <a:srgbClr val="111827"/>
                    </a:solidFill>
                    <a:latin typeface="Cambria Math" panose="02040503050406030204" pitchFamily="18" charset="0"/>
                  </a:rPr>
                  <a:t>$x=2$</a:t>
                </a:r>
                <a:r>
                  <a:rPr sz="2400" b="0">
                    <a:solidFill>
                      <a:srgbClr val="111827"/>
                    </a:solidFill>
                    <a:latin typeface="Arial"/>
                  </a:rPr>
                  <a:t>-side points like </a:t>
                </a:r>
                <a:r>
                  <a:rPr lang="en-IN" sz="2400">
                    <a:solidFill>
                      <a:srgbClr val="111827"/>
                    </a:solidFill>
                    <a:latin typeface="Cambria Math" panose="02040503050406030204" pitchFamily="18" charset="0"/>
                  </a:rPr>
                  <a:t>$1.8$</a:t>
                </a:r>
                <a:r>
                  <a:rPr sz="2400" b="0">
                    <a:solidFill>
                      <a:srgbClr val="111827"/>
                    </a:solidFill>
                    <a:latin typeface="Arial"/>
                  </a:rPr>
                  <a:t> where </a:t>
                </a:r>
                <a:r>
                  <a:rPr lang="en-IN" sz="2400">
                    <a:solidFill>
                      <a:srgbClr val="111827"/>
                    </a:solidFill>
                    <a:latin typeface="Cambria Math" panose="02040503050406030204" pitchFamily="18" charset="0"/>
                  </a:rPr>
                  <a:t>$f'&lt;0$</a:t>
                </a:r>
                <a:r>
                  <a:rPr sz="2400" b="0">
                    <a:solidFill>
                      <a:srgbClr val="111827"/>
                    </a:solidFill>
                    <a:latin typeface="Arial"/>
                  </a:rPr>
                  <a:t>; reject.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Option (A) </a:t>
                </a:r>
                <a:r>
                  <a:rPr lang="en-IN" sz="2400">
                    <a:solidFill>
                      <a:srgbClr val="111827"/>
                    </a:solidFill>
                    <a:latin typeface="Cambria Math" panose="02040503050406030204" pitchFamily="18" charset="0"/>
                  </a:rPr>
                  <a:t>$\left(-1,\frac{3}{2}\right)$</a:t>
                </a:r>
                <a:r>
                  <a:rPr sz="2400" b="0">
                    <a:solidFill>
                      <a:srgbClr val="111827"/>
                    </a:solidFill>
                    <a:latin typeface="Arial"/>
                  </a:rPr>
                  <a:t> has no zero of </a:t>
                </a:r>
                <a:r>
                  <a:rPr lang="en-IN" sz="2400">
                    <a:solidFill>
                      <a:srgbClr val="111827"/>
                    </a:solidFill>
                    <a:latin typeface="Cambria Math" panose="02040503050406030204" pitchFamily="18" charset="0"/>
                  </a:rPr>
                  <a:t>$f'$</a:t>
                </a:r>
                <a:r>
                  <a:rPr sz="2400" b="0">
                    <a:solidFill>
                      <a:srgbClr val="111827"/>
                    </a:solidFill>
                    <a:latin typeface="Arial"/>
                  </a:rPr>
                  <a:t> inside and </a:t>
                </a:r>
                <a:r>
                  <a:rPr lang="en-IN" sz="2400">
                    <a:solidFill>
                      <a:srgbClr val="111827"/>
                    </a:solidFill>
                    <a:latin typeface="Cambria Math" panose="02040503050406030204" pitchFamily="18" charset="0"/>
                  </a:rPr>
                  <a:t>$f'(0)=3&gt;0$</a:t>
                </a:r>
                <a:r>
                  <a:rPr sz="2400" b="0">
                    <a:solidFill>
                      <a:srgbClr val="111827"/>
                    </a:solidFill>
                    <a:latin typeface="Arial"/>
                  </a:rPr>
                  <a:t>, so </a:t>
                </a:r>
                <a:r>
                  <a:rPr lang="en-IN" sz="2400">
                    <a:solidFill>
                      <a:srgbClr val="111827"/>
                    </a:solidFill>
                    <a:latin typeface="Cambria Math" panose="02040503050406030204" pitchFamily="18" charset="0"/>
                  </a:rPr>
                  <a:t>$f'&gt;0$</a:t>
                </a:r>
                <a:r>
                  <a:rPr sz="2400" b="0">
                    <a:solidFill>
                      <a:srgbClr val="111827"/>
                    </a:solidFill>
                    <a:latin typeface="Arial"/>
                  </a:rPr>
                  <a:t> throughout; </a:t>
                </a:r>
                <a:r>
                  <a:rPr lang="en-IN" sz="2400">
                    <a:solidFill>
                      <a:srgbClr val="111827"/>
                    </a:solidFill>
                    <a:latin typeface="Cambria Math" panose="02040503050406030204" pitchFamily="18" charset="0"/>
                  </a:rPr>
                  <a:t>$f$</a:t>
                </a:r>
                <a:r>
                  <a:rPr sz="2400" b="0">
                    <a:solidFill>
                      <a:srgbClr val="111827"/>
                    </a:solidFill>
                    <a:latin typeface="Arial"/>
                  </a:rPr>
                  <a:t> is increasing there.</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a:t>
                </a:r>
                <a14:m>
                  <m:oMath xmlns:m="http://schemas.openxmlformats.org/officeDocument/2006/math">
                    <m:d>
                      <m:dPr>
                        <m:begChr m:val="("/>
                        <m:sepChr m:val=""/>
                        <m:endChr m:val=")"/>
                        <m:grow/>
                        <m:ctrlPr>
                          <a:rPr lang="en-IN" sz="2800" i="1">
                            <a:solidFill>
                              <a:srgbClr val="15803D"/>
                            </a:solidFill>
                            <a:latin typeface="Cambria Math" panose="02040503050406030204" pitchFamily="18" charset="0"/>
                          </a:rPr>
                        </m:ctrlPr>
                      </m:dPr>
                      <m:e>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1</m:t>
                        </m:r>
                        <m:r>
                          <m:rPr>
                            <m:sty m:val="p"/>
                          </m:rPr>
                          <a:rPr lang="en-IN" sz="2800">
                            <a:solidFill>
                              <a:srgbClr val="15803D"/>
                            </a:solidFill>
                            <a:latin typeface="Cambria Math" panose="02040503050406030204" pitchFamily="18" charset="0"/>
                          </a:rPr>
                          <m:t>,</m:t>
                        </m:r>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3</m:t>
                            </m:r>
                          </m:num>
                          <m:den>
                            <m:r>
                              <a:rPr lang="en-IN" sz="2800" i="1">
                                <a:solidFill>
                                  <a:srgbClr val="15803D"/>
                                </a:solidFill>
                                <a:latin typeface="Cambria Math" panose="02040503050406030204" pitchFamily="18" charset="0"/>
                              </a:rPr>
                              <m:t>2</m:t>
                            </m:r>
                          </m:den>
                        </m:f>
                      </m:e>
                    </m:d>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a:t>
                </a:r>
                <a:r>
                  <a:rPr lang="en-IN" sz="2800">
                    <a:solidFill>
                      <a:srgbClr val="15803D"/>
                    </a:solidFill>
                    <a:latin typeface="Cambria Math" panose="02040503050406030204" pitchFamily="18" charset="0"/>
                  </a:rPr>
                  <a:t>$\left(-1,\frac{3}{2}\right)$</a:t>
                </a:r>
                <a:endParaRPr sz="2800">
                  <a:solidFill>
                    <a:srgbClr val="15803D"/>
                  </a:solidFill>
                </a:endParaRPr>
              </a:p>
            </p:txBody>
          </p:sp>
        </mc:Fallback>
      </mc:AlternateContent>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function is increasing on an interval if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there (with zeros only at isolated points); strictness is not needed for monotonicity.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piecewise functions check continuity at the join, then solve the sign of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on each piece within that piece's domain only.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is continuous, its sign can change only at its zeros; test one point between consecutive zeros.</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𝑥</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oMath>
                </a14:m>
                <a:r>
                  <a:rPr sz="2400" b="0">
                    <a:solidFill>
                      <a:srgbClr val="111827"/>
                    </a:solidFill>
                    <a:latin typeface="Arial"/>
                  </a:rPr>
                  <a:t> is increasing exactly 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&gt;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function is increasing on an interval if </a:t>
                </a:r>
                <a:r>
                  <a:rPr lang="en-IN" sz="2400">
                    <a:solidFill>
                      <a:srgbClr val="111827"/>
                    </a:solidFill>
                    <a:latin typeface="Cambria Math" panose="02040503050406030204" pitchFamily="18" charset="0"/>
                  </a:rPr>
                  <a:t>$f'\ge0$</a:t>
                </a:r>
                <a:r>
                  <a:rPr sz="2400" b="0">
                    <a:solidFill>
                      <a:srgbClr val="111827"/>
                    </a:solidFill>
                    <a:latin typeface="Arial"/>
                  </a:rPr>
                  <a:t> there (with zeros only at isolated points); strictness is not needed for monotonicity.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piecewise functions check continuity at the join, then solve the sign of </a:t>
                </a:r>
                <a:r>
                  <a:rPr lang="en-IN" sz="2400">
                    <a:solidFill>
                      <a:srgbClr val="111827"/>
                    </a:solidFill>
                    <a:latin typeface="Cambria Math" panose="02040503050406030204" pitchFamily="18" charset="0"/>
                  </a:rPr>
                  <a:t>$f'$</a:t>
                </a:r>
                <a:r>
                  <a:rPr sz="2400" b="0">
                    <a:solidFill>
                      <a:srgbClr val="111827"/>
                    </a:solidFill>
                    <a:latin typeface="Arial"/>
                  </a:rPr>
                  <a:t> on each piece within that piece's domain only.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$f'$</a:t>
                </a:r>
                <a:r>
                  <a:rPr sz="2400" b="0">
                    <a:solidFill>
                      <a:srgbClr val="111827"/>
                    </a:solidFill>
                    <a:latin typeface="Arial"/>
                  </a:rPr>
                  <a:t> is continuous, its sign can change only at its zeros; test one point between consecutive zeros.</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$\frac{d}{dx}(xe^x)=(x+1)e^x$</a:t>
                </a:r>
                <a:r>
                  <a:rPr sz="2400" b="0">
                    <a:solidFill>
                      <a:srgbClr val="111827"/>
                    </a:solidFill>
                    <a:latin typeface="Arial"/>
                  </a:rPr>
                  <a:t>, so </a:t>
                </a:r>
                <a:r>
                  <a:rPr lang="en-IN" sz="2400">
                    <a:solidFill>
                      <a:srgbClr val="111827"/>
                    </a:solidFill>
                    <a:latin typeface="Cambria Math" panose="02040503050406030204" pitchFamily="18" charset="0"/>
                  </a:rPr>
                  <a:t>$xe^x$</a:t>
                </a:r>
                <a:r>
                  <a:rPr sz="2400" b="0">
                    <a:solidFill>
                      <a:srgbClr val="111827"/>
                    </a:solidFill>
                    <a:latin typeface="Arial"/>
                  </a:rPr>
                  <a:t> is increasing exactly for </a:t>
                </a:r>
                <a:r>
                  <a:rPr lang="en-IN" sz="2400">
                    <a:solidFill>
                      <a:srgbClr val="111827"/>
                    </a:solidFill>
                    <a:latin typeface="Cambria Math" panose="02040503050406030204" pitchFamily="18" charset="0"/>
                  </a:rPr>
                  <a:t>$x&gt;-1$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18261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m:rPr>
                            <m:sty m:val="p"/>
                          </m:rPr>
                          <a:rPr lang="en-IN" sz="2400">
                            <a:solidFill>
                              <a:srgbClr val="111827"/>
                            </a:solidFill>
                            <a:latin typeface="Cambria Math" panose="02040503050406030204" pitchFamily="18" charset="0"/>
                          </a:rPr>
                          <m:t>sin</m:t>
                        </m:r>
                      </m:e>
                      <m:sup>
                        <m:r>
                          <a:rPr lang="en-IN" sz="2400" i="1">
                            <a:solidFill>
                              <a:srgbClr val="111827"/>
                            </a:solidFill>
                            <a:latin typeface="Cambria Math" panose="02040503050406030204" pitchFamily="18" charset="0"/>
                          </a:rPr>
                          <m:t>4</m:t>
                        </m:r>
                      </m:sup>
                    </m:sSup>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sSup>
                      <m:e>
                        <m:r>
                          <m:rPr>
                            <m:sty m:val="p"/>
                          </m:rPr>
                          <a:rPr lang="en-IN" sz="2400">
                            <a:solidFill>
                              <a:srgbClr val="111827"/>
                            </a:solidFill>
                            <a:latin typeface="Cambria Math" panose="02040503050406030204" pitchFamily="18" charset="0"/>
                          </a:rPr>
                          <m:t>sin</m:t>
                        </m:r>
                      </m:e>
                      <m:sup>
                        <m:r>
                          <a:rPr lang="en-IN" sz="2400" i="1">
                            <a:solidFill>
                              <a:srgbClr val="111827"/>
                            </a:solidFill>
                            <a:latin typeface="Cambria Math" panose="02040503050406030204" pitchFamily="18" charset="0"/>
                          </a:rPr>
                          <m:t>3</m:t>
                        </m:r>
                      </m:sup>
                    </m:sSup>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sSup>
                      <m:e>
                        <m:r>
                          <m:rPr>
                            <m:sty m:val="p"/>
                          </m:rPr>
                          <a:rPr lang="en-IN" sz="2400">
                            <a:solidFill>
                              <a:srgbClr val="111827"/>
                            </a:solidFill>
                            <a:latin typeface="Cambria Math" panose="02040503050406030204" pitchFamily="18" charset="0"/>
                          </a:rPr>
                          <m:t>sin</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e>
                    </m:d>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decreasing in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e>
                    </m:d>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(B) decreasing in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e>
                    </m:d>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(C) increasing in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e>
                    </m:d>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(D) increasing in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e>
                    </m:d>
                  </m:oMath>
                </a14:m>
                <a:endParaRPr sz="2400">
                  <a:solidFill>
                    <a:srgbClr val="111827"/>
                  </a:solidFill>
                </a:endParaRPr>
              </a:p>
            </p:txBody>
          </p:sp>
        </mc:Choice>
        <mc:Fallback>
          <p:sp>
            <p:nvSpPr>
              <p:cNvPr id="4" name="Rounded Rectangle 3"/>
              <p:cNvSpPr/>
              <p:nvPr/>
            </p:nvSpPr>
            <p:spPr>
              <a:xfrm>
                <a:off x="731520" y="1280160"/>
                <a:ext cx="10725912" cy="318261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$f(x)=3\sin^4x+10\sin^3x+6\sin^2x-3$</a:t>
                </a:r>
                <a:r>
                  <a:rPr sz="2400" b="0">
                    <a:solidFill>
                      <a:srgbClr val="111827"/>
                    </a:solidFill>
                    <a:latin typeface="Arial"/>
                  </a:rPr>
                  <a:t>, </a:t>
                </a:r>
                <a:r>
                  <a:rPr lang="en-IN" sz="2400">
                    <a:solidFill>
                      <a:srgbClr val="111827"/>
                    </a:solidFill>
                    <a:latin typeface="Cambria Math" panose="02040503050406030204" pitchFamily="18" charset="0"/>
                  </a:rPr>
                  <a:t>$x\in\left[-\frac{\pi}{6},\frac{\pi}{2}\right]$</a:t>
                </a:r>
                <a:r>
                  <a:rPr sz="2400" b="0">
                    <a:solidFill>
                      <a:srgbClr val="111827"/>
                    </a:solidFill>
                    <a:latin typeface="Arial"/>
                  </a:rPr>
                  <a:t>. Then </a:t>
                </a:r>
                <a:r>
                  <a:rPr lang="en-IN" sz="2400">
                    <a:solidFill>
                      <a:srgbClr val="111827"/>
                    </a:solidFill>
                    <a:latin typeface="Cambria Math" panose="02040503050406030204" pitchFamily="18" charset="0"/>
                  </a:rPr>
                  <a:t>$f$</a:t>
                </a:r>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decreasing in </a:t>
                </a:r>
                <a:r>
                  <a:rPr lang="en-IN" sz="2400">
                    <a:solidFill>
                      <a:srgbClr val="111827"/>
                    </a:solidFill>
                    <a:latin typeface="Cambria Math" panose="02040503050406030204" pitchFamily="18" charset="0"/>
                  </a:rPr>
                  <a:t>$\left(0,\frac{\pi}{2}\right)$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decreasing in </a:t>
                </a:r>
                <a:r>
                  <a:rPr lang="en-IN" sz="2400">
                    <a:solidFill>
                      <a:srgbClr val="111827"/>
                    </a:solidFill>
                    <a:latin typeface="Cambria Math" panose="02040503050406030204" pitchFamily="18" charset="0"/>
                  </a:rPr>
                  <a:t>$\left(-\frac{\pi}{6},0\right)$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increasing in </a:t>
                </a:r>
                <a:r>
                  <a:rPr lang="en-IN" sz="2400">
                    <a:solidFill>
                      <a:srgbClr val="111827"/>
                    </a:solidFill>
                    <a:latin typeface="Cambria Math" panose="02040503050406030204" pitchFamily="18" charset="0"/>
                  </a:rPr>
                  <a:t>$\left(-\frac{\pi}{2},\frac{\pi}{2}\right)$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increasing in </a:t>
                </a:r>
                <a:r>
                  <a:rPr lang="en-IN" sz="2400">
                    <a:solidFill>
                      <a:srgbClr val="111827"/>
                    </a:solidFill>
                    <a:latin typeface="Cambria Math" panose="02040503050406030204" pitchFamily="18" charset="0"/>
                  </a:rPr>
                  <a:t>$\left(-\frac{\pi}{6},\frac{\pi}{2}\right)$</a:t>
                </a:r>
                <a:endParaRPr sz="2400">
                  <a:solidFill>
                    <a:srgbClr val="111827"/>
                  </a:solidFill>
                </a:endParaRPr>
              </a:p>
            </p:txBody>
          </p:sp>
        </mc:Fallback>
      </mc:AlternateContent>
      <p:sp>
        <p:nvSpPr>
          <p:cNvPr id="5" name="Rectangle 4"/>
          <p:cNvSpPr/>
          <p:nvPr/>
        </p:nvSpPr>
        <p:spPr>
          <a:xfrm>
            <a:off x="731520" y="4691379"/>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Monotonicity of a trigonometric function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Factorise </a:t>
                </a:r>
                <a14:m>
                  <m:oMath xmlns:m="http://schemas.openxmlformats.org/officeDocument/2006/math">
                    <m:sSup>
                      <m:e>
                        <m:r>
                          <a:rPr lang="en-IN" sz="2400" i="1">
                            <a:solidFill>
                              <a:srgbClr val="78350F"/>
                            </a:solidFill>
                            <a:latin typeface="Cambria Math" panose="02040503050406030204" pitchFamily="18" charset="0"/>
                          </a:rPr>
                          <m:t>𝑓</m:t>
                        </m:r>
                      </m:e>
                      <m:sup>
                        <m:r>
                          <m:rPr>
                            <m:sty m:val="p"/>
                          </m:rPr>
                          <a:rPr lang="en-IN" sz="2400">
                            <a:solidFill>
                              <a:srgbClr val="78350F"/>
                            </a:solidFill>
                            <a:latin typeface="Cambria Math" panose="02040503050406030204" pitchFamily="18" charset="0"/>
                          </a:rPr>
                          <m:t>′</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into linear factors in </a:t>
                </a:r>
                <a14:m>
                  <m:oMath xmlns:m="http://schemas.openxmlformats.org/officeDocument/2006/math">
                    <m:r>
                      <m:rPr>
                        <m:sty m:val="p"/>
                      </m:rPr>
                      <a:rPr lang="en-IN" sz="2400">
                        <a:solidFill>
                          <a:srgbClr val="78350F"/>
                        </a:solidFill>
                        <a:latin typeface="Cambria Math" panose="02040503050406030204" pitchFamily="18" charset="0"/>
                      </a:rPr>
                      <m:t>sin</m:t>
                    </m:r>
                    <m:r>
                      <a:rPr lang="en-IN" sz="2400" i="1">
                        <a:solidFill>
                          <a:srgbClr val="78350F"/>
                        </a:solidFill>
                        <a:latin typeface="Cambria Math" panose="02040503050406030204" pitchFamily="18" charset="0"/>
                      </a:rPr>
                      <m:t>𝑥</m:t>
                    </m:r>
                  </m:oMath>
                </a14:m>
                <a:r>
                  <a:rPr sz="2400" b="0">
                    <a:solidFill>
                      <a:srgbClr val="78350F"/>
                    </a:solidFill>
                    <a:latin typeface="Arial"/>
                  </a:rPr>
                  <a:t> and decide its sign from the factors on the given domain.</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Factorise </a:t>
                </a:r>
                <a:r>
                  <a:rPr lang="en-IN" sz="2400">
                    <a:solidFill>
                      <a:srgbClr val="78350F"/>
                    </a:solidFill>
                    <a:latin typeface="Cambria Math" panose="02040503050406030204" pitchFamily="18" charset="0"/>
                  </a:rPr>
                  <a:t>$f'(x)$</a:t>
                </a:r>
                <a:r>
                  <a:rPr sz="2400" b="0">
                    <a:solidFill>
                      <a:srgbClr val="78350F"/>
                    </a:solidFill>
                    <a:latin typeface="Arial"/>
                  </a:rPr>
                  <a:t> into linear factors in </a:t>
                </a:r>
                <a:r>
                  <a:rPr lang="en-IN" sz="2400">
                    <a:solidFill>
                      <a:srgbClr val="78350F"/>
                    </a:solidFill>
                    <a:latin typeface="Cambria Math" panose="02040503050406030204" pitchFamily="18" charset="0"/>
                  </a:rPr>
                  <a:t>$\sin x$</a:t>
                </a:r>
                <a:r>
                  <a:rPr sz="2400" b="0">
                    <a:solidFill>
                      <a:srgbClr val="78350F"/>
                    </a:solidFill>
                    <a:latin typeface="Arial"/>
                  </a:rPr>
                  <a:t> and decide its sign from the factors on the given domain.</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sSup>
                      <m:e>
                        <m:r>
                          <m:rPr>
                            <m:sty m:val="p"/>
                          </m:rPr>
                          <a:rPr lang="en-IN" sz="2400">
                            <a:solidFill>
                              <a:srgbClr val="111827"/>
                            </a:solidFill>
                            <a:latin typeface="Cambria Math" panose="02040503050406030204" pitchFamily="18" charset="0"/>
                          </a:rPr>
                          <m:t>sin</m:t>
                        </m:r>
                      </m:e>
                      <m:sup>
                        <m:r>
                          <a:rPr lang="en-IN" sz="2400" i="1">
                            <a:solidFill>
                              <a:srgbClr val="111827"/>
                            </a:solidFill>
                            <a:latin typeface="Cambria Math" panose="02040503050406030204" pitchFamily="18" charset="0"/>
                          </a:rPr>
                          <m:t>3</m:t>
                        </m:r>
                      </m:sup>
                    </m:sSup>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sSup>
                      <m:e>
                        <m:r>
                          <m:rPr>
                            <m:sty m:val="p"/>
                          </m:rPr>
                          <a:rPr lang="en-IN" sz="2400">
                            <a:solidFill>
                              <a:srgbClr val="111827"/>
                            </a:solidFill>
                            <a:latin typeface="Cambria Math" panose="02040503050406030204" pitchFamily="18" charset="0"/>
                          </a:rPr>
                          <m:t>sin</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oMath>
                </a14:m>
                <a:r>
                  <a:rPr sz="2400" b="0">
                    <a:solidFill>
                      <a:srgbClr val="111827"/>
                    </a:solidFill>
                    <a:latin typeface="Arial"/>
                  </a:rPr>
                  <a:t>; the PDF writes this as </a:t>
                </a:r>
                <a14:m>
                  <m:oMath xmlns:m="http://schemas.openxmlformats.org/officeDocument/2006/math">
                    <m:r>
                      <a:rPr lang="en-IN" sz="2400" i="1">
                        <a:solidFill>
                          <a:srgbClr val="111827"/>
                        </a:solidFill>
                        <a:latin typeface="Cambria Math" panose="02040503050406030204" pitchFamily="18" charset="0"/>
                      </a:rPr>
                      <m:t>12</m:t>
                    </m:r>
                    <m:sSup>
                      <m:e>
                        <m:r>
                          <m:rPr>
                            <m:sty m:val="p"/>
                          </m:rPr>
                          <a:rPr lang="en-IN" sz="2400">
                            <a:solidFill>
                              <a:srgbClr val="111827"/>
                            </a:solidFill>
                            <a:latin typeface="Cambria Math" panose="02040503050406030204" pitchFamily="18" charset="0"/>
                          </a:rPr>
                          <m:t>sin</m:t>
                        </m:r>
                      </m:e>
                      <m:sup>
                        <m:r>
                          <a:rPr lang="en-IN" sz="2400" i="1">
                            <a:solidFill>
                              <a:srgbClr val="111827"/>
                            </a:solidFill>
                            <a:latin typeface="Cambria Math" panose="02040503050406030204" pitchFamily="18" charset="0"/>
                          </a:rPr>
                          <m:t>3</m:t>
                        </m:r>
                      </m:sup>
                    </m:sSup>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sSup>
                      <m:e>
                        <m:r>
                          <m:rPr>
                            <m:sty m:val="p"/>
                          </m:rPr>
                          <a:rPr lang="en-IN" sz="2400">
                            <a:solidFill>
                              <a:srgbClr val="111827"/>
                            </a:solidFill>
                            <a:latin typeface="Cambria Math" panose="02040503050406030204" pitchFamily="18" charset="0"/>
                          </a:rPr>
                          <m:t>sin</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oMath>
                </a14:m>
                <a:r>
                  <a:rPr sz="2400" b="0">
                    <a:solidFill>
                      <a:srgbClr val="111827"/>
                    </a:solidFill>
                    <a:latin typeface="Arial"/>
                  </a:rPr>
                  <a:t> (the common factor </a:t>
                </a: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oMath>
                </a14:m>
                <a:r>
                  <a:rPr sz="2400" b="0">
                    <a:solidFill>
                      <a:srgbClr val="111827"/>
                    </a:solidFill>
                    <a:latin typeface="Arial"/>
                  </a:rPr>
                  <a:t> is dropped, but </a:t>
                </a: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on the domain so the sign is unaffected).</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sin</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sin</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On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e>
                    </m:d>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(except at the end) and </a:t>
                </a:r>
                <a14:m>
                  <m:oMath xmlns:m="http://schemas.openxmlformats.org/officeDocument/2006/math">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so the sign of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is that of </a:t>
                </a:r>
                <a14:m>
                  <m:oMath xmlns:m="http://schemas.openxmlformats.org/officeDocument/2006/math">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$f'(x)=12\sin^3x\cos x+30\sin^2x\cos x+12\sin x\cos x$</a:t>
                </a:r>
                <a:r>
                  <a:rPr sz="2400" b="0">
                    <a:solidFill>
                      <a:srgbClr val="111827"/>
                    </a:solidFill>
                    <a:latin typeface="Arial"/>
                  </a:rPr>
                  <a:t>; the PDF writes this as </a:t>
                </a:r>
                <a:r>
                  <a:rPr lang="en-IN" sz="2400">
                    <a:solidFill>
                      <a:srgbClr val="111827"/>
                    </a:solidFill>
                    <a:latin typeface="Cambria Math" panose="02040503050406030204" pitchFamily="18" charset="0"/>
                  </a:rPr>
                  <a:t>$12\sin^3x+30\sin^2x+12\sin x$</a:t>
                </a:r>
                <a:r>
                  <a:rPr sz="2400" b="0">
                    <a:solidFill>
                      <a:srgbClr val="111827"/>
                    </a:solidFill>
                    <a:latin typeface="Arial"/>
                  </a:rPr>
                  <a:t> (the common factor </a:t>
                </a:r>
                <a:r>
                  <a:rPr lang="en-IN" sz="2400">
                    <a:solidFill>
                      <a:srgbClr val="111827"/>
                    </a:solidFill>
                    <a:latin typeface="Cambria Math" panose="02040503050406030204" pitchFamily="18" charset="0"/>
                  </a:rPr>
                  <a:t>$\cos x$</a:t>
                </a:r>
                <a:r>
                  <a:rPr sz="2400" b="0">
                    <a:solidFill>
                      <a:srgbClr val="111827"/>
                    </a:solidFill>
                    <a:latin typeface="Arial"/>
                  </a:rPr>
                  <a:t> is dropped, but </a:t>
                </a:r>
                <a:r>
                  <a:rPr lang="en-IN" sz="2400">
                    <a:solidFill>
                      <a:srgbClr val="111827"/>
                    </a:solidFill>
                    <a:latin typeface="Cambria Math" panose="02040503050406030204" pitchFamily="18" charset="0"/>
                  </a:rPr>
                  <a:t>$\cos x&gt;0$</a:t>
                </a:r>
                <a:r>
                  <a:rPr sz="2400" b="0">
                    <a:solidFill>
                      <a:srgbClr val="111827"/>
                    </a:solidFill>
                    <a:latin typeface="Arial"/>
                  </a:rPr>
                  <a:t> on the domain so the sign is unaffected).</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$=6\sin x\cos x\,[2\sin^2x+5\sin x+2]$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$2\sin^2x+5\sin x+2=(2\sin x+1)(\sin x+2)$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$f'(x)=6\cos x\,\sin x\,(\sin x+2)(2\sin x+1)$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On </a:t>
                </a:r>
                <a:r>
                  <a:rPr lang="en-IN" sz="2400">
                    <a:solidFill>
                      <a:srgbClr val="111827"/>
                    </a:solidFill>
                    <a:latin typeface="Cambria Math" panose="02040503050406030204" pitchFamily="18" charset="0"/>
                  </a:rPr>
                  <a:t>$\left[-\frac{\pi}{6},\frac{\pi}{2}\right]$</a:t>
                </a:r>
                <a:r>
                  <a:rPr sz="2400" b="0">
                    <a:solidFill>
                      <a:srgbClr val="111827"/>
                    </a:solidFill>
                    <a:latin typeface="Arial"/>
                  </a:rPr>
                  <a:t>: </a:t>
                </a:r>
                <a:r>
                  <a:rPr lang="en-IN" sz="2400">
                    <a:solidFill>
                      <a:srgbClr val="111827"/>
                    </a:solidFill>
                    <a:latin typeface="Cambria Math" panose="02040503050406030204" pitchFamily="18" charset="0"/>
                  </a:rPr>
                  <a:t>$\cos x&gt;0$</a:t>
                </a:r>
                <a:r>
                  <a:rPr sz="2400" b="0">
                    <a:solidFill>
                      <a:srgbClr val="111827"/>
                    </a:solidFill>
                    <a:latin typeface="Arial"/>
                  </a:rPr>
                  <a:t> (except at the end) and </a:t>
                </a:r>
                <a:r>
                  <a:rPr lang="en-IN" sz="2400">
                    <a:solidFill>
                      <a:srgbClr val="111827"/>
                    </a:solidFill>
                    <a:latin typeface="Cambria Math" panose="02040503050406030204" pitchFamily="18" charset="0"/>
                  </a:rPr>
                  <a:t>$\sin x+2&gt;0$</a:t>
                </a:r>
                <a:r>
                  <a:rPr sz="2400" b="0">
                    <a:solidFill>
                      <a:srgbClr val="111827"/>
                    </a:solidFill>
                    <a:latin typeface="Arial"/>
                  </a:rPr>
                  <a:t>, so the sign of </a:t>
                </a:r>
                <a:r>
                  <a:rPr lang="en-IN" sz="2400">
                    <a:solidFill>
                      <a:srgbClr val="111827"/>
                    </a:solidFill>
                    <a:latin typeface="Cambria Math" panose="02040503050406030204" pitchFamily="18" charset="0"/>
                  </a:rPr>
                  <a:t>$f'$</a:t>
                </a:r>
                <a:r>
                  <a:rPr sz="2400" b="0">
                    <a:solidFill>
                      <a:srgbClr val="111827"/>
                    </a:solidFill>
                    <a:latin typeface="Arial"/>
                  </a:rPr>
                  <a:t> is that of </a:t>
                </a:r>
                <a:r>
                  <a:rPr lang="en-IN" sz="2400">
                    <a:solidFill>
                      <a:srgbClr val="111827"/>
                    </a:solidFill>
                    <a:latin typeface="Cambria Math" panose="02040503050406030204" pitchFamily="18" charset="0"/>
                  </a:rPr>
                  <a:t>$\sin x\,(2\sin x+1)$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Zeros: </a:t>
                </a:r>
                <a14:m>
                  <m:oMath xmlns:m="http://schemas.openxmlformats.org/officeDocument/2006/math">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6</m:t>
                        </m:r>
                      </m:den>
                    </m:f>
                  </m:oMath>
                </a14:m>
                <a:r>
                  <a:rPr sz="2400" b="0">
                    <a:solidFill>
                      <a:srgbClr val="111827"/>
                    </a:solidFill>
                    <a:latin typeface="Arial"/>
                  </a:rPr>
                  <a:t> (left end of the domain).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e>
                    </m:d>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is decreasing.</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e>
                    </m:d>
                  </m:oMath>
                </a14:m>
                <a:r>
                  <a:rPr sz="2400" b="0">
                    <a:solidFill>
                      <a:srgbClr val="111827"/>
                    </a:solidFill>
                    <a:latin typeface="Arial"/>
                  </a:rPr>
                  <a:t>: both factors are positive, so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is increasing.</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is decreasing in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e>
                    </m:d>
                  </m:oMath>
                </a14:m>
                <a:r>
                  <a:rPr sz="2400" b="0">
                    <a:solidFill>
                      <a:srgbClr val="111827"/>
                    </a:solidFill>
                    <a:latin typeface="Arial"/>
                  </a:rPr>
                  <a:t>: option (B).</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Zeros: </a:t>
                </a:r>
                <a:r>
                  <a:rPr lang="en-IN" sz="2400">
                    <a:solidFill>
                      <a:srgbClr val="111827"/>
                    </a:solidFill>
                    <a:latin typeface="Cambria Math" panose="02040503050406030204" pitchFamily="18" charset="0"/>
                  </a:rPr>
                  <a:t>$\sin x=0\Rightarrow x=0$</a:t>
                </a:r>
                <a:r>
                  <a:rPr sz="2400" b="0">
                    <a:solidFill>
                      <a:srgbClr val="111827"/>
                    </a:solidFill>
                    <a:latin typeface="Arial"/>
                  </a:rPr>
                  <a:t>; </a:t>
                </a:r>
                <a:r>
                  <a:rPr lang="en-IN" sz="2400">
                    <a:solidFill>
                      <a:srgbClr val="111827"/>
                    </a:solidFill>
                    <a:latin typeface="Cambria Math" panose="02040503050406030204" pitchFamily="18" charset="0"/>
                  </a:rPr>
                  <a:t>$\sin x=-\frac{1}{2}\Rightarrow x=-\frac{\pi}{6}$</a:t>
                </a:r>
                <a:r>
                  <a:rPr sz="2400" b="0">
                    <a:solidFill>
                      <a:srgbClr val="111827"/>
                    </a:solidFill>
                    <a:latin typeface="Arial"/>
                  </a:rPr>
                  <a:t> (left end of the domain).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$x\in\left(-\frac{\pi}{6},0\right)$</a:t>
                </a:r>
                <a:r>
                  <a:rPr sz="2400" b="0">
                    <a:solidFill>
                      <a:srgbClr val="111827"/>
                    </a:solidFill>
                    <a:latin typeface="Arial"/>
                  </a:rPr>
                  <a:t>: </a:t>
                </a:r>
                <a:r>
                  <a:rPr lang="en-IN" sz="2400">
                    <a:solidFill>
                      <a:srgbClr val="111827"/>
                    </a:solidFill>
                    <a:latin typeface="Cambria Math" panose="02040503050406030204" pitchFamily="18" charset="0"/>
                  </a:rPr>
                  <a:t>$\sin x&lt;0$</a:t>
                </a:r>
                <a:r>
                  <a:rPr sz="2400" b="0">
                    <a:solidFill>
                      <a:srgbClr val="111827"/>
                    </a:solidFill>
                    <a:latin typeface="Arial"/>
                  </a:rPr>
                  <a:t> and </a:t>
                </a:r>
                <a:r>
                  <a:rPr lang="en-IN" sz="2400">
                    <a:solidFill>
                      <a:srgbClr val="111827"/>
                    </a:solidFill>
                    <a:latin typeface="Cambria Math" panose="02040503050406030204" pitchFamily="18" charset="0"/>
                  </a:rPr>
                  <a:t>$2\sin x+1&gt;0$</a:t>
                </a:r>
                <a:r>
                  <a:rPr sz="2400" b="0">
                    <a:solidFill>
                      <a:srgbClr val="111827"/>
                    </a:solidFill>
                    <a:latin typeface="Arial"/>
                  </a:rPr>
                  <a:t>, so </a:t>
                </a:r>
                <a:r>
                  <a:rPr lang="en-IN" sz="2400">
                    <a:solidFill>
                      <a:srgbClr val="111827"/>
                    </a:solidFill>
                    <a:latin typeface="Cambria Math" panose="02040503050406030204" pitchFamily="18" charset="0"/>
                  </a:rPr>
                  <a:t>$f'&lt;0$</a:t>
                </a:r>
                <a:r>
                  <a:rPr sz="2400" b="0">
                    <a:solidFill>
                      <a:srgbClr val="111827"/>
                    </a:solidFill>
                    <a:latin typeface="Arial"/>
                  </a:rPr>
                  <a:t> and </a:t>
                </a:r>
                <a:r>
                  <a:rPr lang="en-IN" sz="2400">
                    <a:solidFill>
                      <a:srgbClr val="111827"/>
                    </a:solidFill>
                    <a:latin typeface="Cambria Math" panose="02040503050406030204" pitchFamily="18" charset="0"/>
                  </a:rPr>
                  <a:t>$f$</a:t>
                </a:r>
                <a:r>
                  <a:rPr sz="2400" b="0">
                    <a:solidFill>
                      <a:srgbClr val="111827"/>
                    </a:solidFill>
                    <a:latin typeface="Arial"/>
                  </a:rPr>
                  <a:t> is decreasing.</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$x\in\left(0,\frac{\pi}{2}\right)$</a:t>
                </a:r>
                <a:r>
                  <a:rPr sz="2400" b="0">
                    <a:solidFill>
                      <a:srgbClr val="111827"/>
                    </a:solidFill>
                    <a:latin typeface="Arial"/>
                  </a:rPr>
                  <a:t>: both factors are positive, so </a:t>
                </a:r>
                <a:r>
                  <a:rPr lang="en-IN" sz="2400">
                    <a:solidFill>
                      <a:srgbClr val="111827"/>
                    </a:solidFill>
                    <a:latin typeface="Cambria Math" panose="02040503050406030204" pitchFamily="18" charset="0"/>
                  </a:rPr>
                  <a:t>$f'&gt;0$</a:t>
                </a:r>
                <a:r>
                  <a:rPr sz="2400" b="0">
                    <a:solidFill>
                      <a:srgbClr val="111827"/>
                    </a:solidFill>
                    <a:latin typeface="Arial"/>
                  </a:rPr>
                  <a:t> and </a:t>
                </a:r>
                <a:r>
                  <a:rPr lang="en-IN" sz="2400">
                    <a:solidFill>
                      <a:srgbClr val="111827"/>
                    </a:solidFill>
                    <a:latin typeface="Cambria Math" panose="02040503050406030204" pitchFamily="18" charset="0"/>
                  </a:rPr>
                  <a:t>$f$</a:t>
                </a:r>
                <a:r>
                  <a:rPr sz="2400" b="0">
                    <a:solidFill>
                      <a:srgbClr val="111827"/>
                    </a:solidFill>
                    <a:latin typeface="Arial"/>
                  </a:rPr>
                  <a:t> is increasing.</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$f$</a:t>
                </a:r>
                <a:r>
                  <a:rPr sz="2400" b="0">
                    <a:solidFill>
                      <a:srgbClr val="111827"/>
                    </a:solidFill>
                    <a:latin typeface="Arial"/>
                  </a:rPr>
                  <a:t> is decreasing in </a:t>
                </a:r>
                <a:r>
                  <a:rPr lang="en-IN" sz="2400">
                    <a:solidFill>
                      <a:srgbClr val="111827"/>
                    </a:solidFill>
                    <a:latin typeface="Cambria Math" panose="02040503050406030204" pitchFamily="18" charset="0"/>
                  </a:rPr>
                  <a:t>$\left(-\frac{\pi}{6},0\right)$</a:t>
                </a:r>
                <a:r>
                  <a:rPr sz="2400" b="0">
                    <a:solidFill>
                      <a:srgbClr val="111827"/>
                    </a:solidFill>
                    <a:latin typeface="Arial"/>
                  </a:rPr>
                  <a:t>: option (B).</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decreasing in </a:t>
                </a:r>
                <a14:m>
                  <m:oMath xmlns:m="http://schemas.openxmlformats.org/officeDocument/2006/math">
                    <m:d>
                      <m:dPr>
                        <m:begChr m:val="("/>
                        <m:sepChr m:val=""/>
                        <m:endChr m:val=")"/>
                        <m:grow/>
                        <m:ctrlPr>
                          <a:rPr lang="en-IN" sz="2800" i="1">
                            <a:solidFill>
                              <a:srgbClr val="15803D"/>
                            </a:solidFill>
                            <a:latin typeface="Cambria Math" panose="02040503050406030204" pitchFamily="18" charset="0"/>
                          </a:rPr>
                        </m:ctrlPr>
                      </m:dPr>
                      <m:e>
                        <m:r>
                          <m:rPr>
                            <m:sty m:val="p"/>
                          </m:rPr>
                          <a:rPr lang="en-IN" sz="2800">
                            <a:solidFill>
                              <a:srgbClr val="15803D"/>
                            </a:solidFill>
                            <a:latin typeface="Cambria Math" panose="02040503050406030204" pitchFamily="18" charset="0"/>
                          </a:rPr>
                          <m:t>−</m:t>
                        </m:r>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π</m:t>
                            </m:r>
                          </m:num>
                          <m:den>
                            <m:r>
                              <a:rPr lang="en-IN" sz="2800" i="1">
                                <a:solidFill>
                                  <a:srgbClr val="15803D"/>
                                </a:solidFill>
                                <a:latin typeface="Cambria Math" panose="02040503050406030204" pitchFamily="18" charset="0"/>
                              </a:rPr>
                              <m:t>6</m:t>
                            </m:r>
                          </m:den>
                        </m:f>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0</m:t>
                        </m:r>
                      </m:e>
                    </m:d>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decreasing in </a:t>
                </a:r>
                <a:r>
                  <a:rPr lang="en-IN" sz="2800">
                    <a:solidFill>
                      <a:srgbClr val="15803D"/>
                    </a:solidFill>
                    <a:latin typeface="Cambria Math" panose="02040503050406030204" pitchFamily="18" charset="0"/>
                  </a:rPr>
                  <a:t>$\left(-\frac{\pi}{6},0\right)$</a:t>
                </a:r>
                <a:endParaRPr sz="2800">
                  <a:solidFill>
                    <a:srgbClr val="15803D"/>
                  </a:solidFill>
                </a:endParaRPr>
              </a:p>
            </p:txBody>
          </p:sp>
        </mc:Fallback>
      </mc:AlternateContent>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Substitute </a:t>
                </a:r>
                <a14:m>
                  <m:oMath xmlns:m="http://schemas.openxmlformats.org/officeDocument/2006/math">
                    <m:r>
                      <a:rPr lang="en-IN" sz="2400" i="1">
                        <a:solidFill>
                          <a:srgbClr val="78350F"/>
                        </a:solidFill>
                        <a:latin typeface="Cambria Math" panose="02040503050406030204" pitchFamily="18" charset="0"/>
                      </a:rPr>
                      <m:t>𝑡</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sin</m:t>
                    </m:r>
                    <m:r>
                      <a:rPr lang="en-IN" sz="2400" i="1">
                        <a:solidFill>
                          <a:srgbClr val="78350F"/>
                        </a:solidFill>
                        <a:latin typeface="Cambria Math" panose="02040503050406030204" pitchFamily="18" charset="0"/>
                      </a:rPr>
                      <m:t>𝑥</m:t>
                    </m:r>
                  </m:oMath>
                </a14:m>
                <a:r>
                  <a:rPr sz="2400" b="0">
                    <a:solidFill>
                      <a:srgbClr val="78350F"/>
                    </a:solidFill>
                    <a:latin typeface="Arial"/>
                  </a:rPr>
                  <a:t>; </a:t>
                </a:r>
                <a14:m>
                  <m:oMath xmlns:m="http://schemas.openxmlformats.org/officeDocument/2006/math">
                    <m:r>
                      <m:rPr>
                        <m:sty m:val="p"/>
                      </m:rPr>
                      <a:rPr lang="en-IN" sz="2400">
                        <a:solidFill>
                          <a:srgbClr val="78350F"/>
                        </a:solidFill>
                        <a:latin typeface="Cambria Math" panose="02040503050406030204" pitchFamily="18" charset="0"/>
                      </a:rPr>
                      <m:t>sin</m:t>
                    </m:r>
                  </m:oMath>
                </a14:m>
                <a:r>
                  <a:rPr sz="2400" b="0">
                    <a:solidFill>
                      <a:srgbClr val="78350F"/>
                    </a:solidFill>
                    <a:latin typeface="Arial"/>
                  </a:rPr>
                  <a:t> is increasing on the domain, so </a:t>
                </a:r>
                <a14:m>
                  <m:oMath xmlns:m="http://schemas.openxmlformats.org/officeDocument/2006/math">
                    <m:r>
                      <a:rPr lang="en-IN" sz="2400" i="1">
                        <a:solidFill>
                          <a:srgbClr val="78350F"/>
                        </a:solidFill>
                        <a:latin typeface="Cambria Math" panose="02040503050406030204" pitchFamily="18" charset="0"/>
                      </a:rPr>
                      <m:t>𝑓</m:t>
                    </m:r>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𝑔</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𝑡</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have the same monotonicity for </a:t>
                </a:r>
                <a14:m>
                  <m:oMath xmlns:m="http://schemas.openxmlformats.org/officeDocument/2006/math">
                    <m:r>
                      <a:rPr lang="en-IN" sz="2400" i="1">
                        <a:solidFill>
                          <a:srgbClr val="78350F"/>
                        </a:solidFill>
                        <a:latin typeface="Cambria Math" panose="02040503050406030204" pitchFamily="18" charset="0"/>
                      </a:rPr>
                      <m:t>𝑡</m:t>
                    </m:r>
                    <m:r>
                      <m:rPr>
                        <m:sty m:val="p"/>
                      </m:rPr>
                      <a:rPr lang="en-IN" sz="2400">
                        <a:solidFill>
                          <a:srgbClr val="78350F"/>
                        </a:solidFill>
                        <a:latin typeface="Cambria Math" panose="02040503050406030204" pitchFamily="18" charset="0"/>
                      </a:rPr>
                      <m:t>∈</m:t>
                    </m:r>
                    <m:d>
                      <m:dPr>
                        <m:begChr m:val="["/>
                        <m:sepChr m:val=""/>
                        <m:endChr m:val="]"/>
                        <m:grow/>
                        <m:ctrlPr>
                          <a:rPr lang="en-IN" sz="2400" i="1">
                            <a:solidFill>
                              <a:srgbClr val="78350F"/>
                            </a:solidFill>
                            <a:latin typeface="Cambria Math" panose="02040503050406030204" pitchFamily="18" charset="0"/>
                          </a:rPr>
                        </m:ctrlPr>
                      </m:dPr>
                      <m:e>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2</m:t>
                            </m:r>
                          </m:den>
                        </m:f>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e>
                    </m:d>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Substitute </a:t>
                </a:r>
                <a:r>
                  <a:rPr lang="en-IN" sz="2400">
                    <a:solidFill>
                      <a:srgbClr val="78350F"/>
                    </a:solidFill>
                    <a:latin typeface="Cambria Math" panose="02040503050406030204" pitchFamily="18" charset="0"/>
                  </a:rPr>
                  <a:t>$t=\sin x$</a:t>
                </a:r>
                <a:r>
                  <a:rPr sz="2400" b="0">
                    <a:solidFill>
                      <a:srgbClr val="78350F"/>
                    </a:solidFill>
                    <a:latin typeface="Arial"/>
                  </a:rPr>
                  <a:t>; </a:t>
                </a:r>
                <a:r>
                  <a:rPr lang="en-IN" sz="2400">
                    <a:solidFill>
                      <a:srgbClr val="78350F"/>
                    </a:solidFill>
                    <a:latin typeface="Cambria Math" panose="02040503050406030204" pitchFamily="18" charset="0"/>
                  </a:rPr>
                  <a:t>$\sin$</a:t>
                </a:r>
                <a:r>
                  <a:rPr sz="2400" b="0">
                    <a:solidFill>
                      <a:srgbClr val="78350F"/>
                    </a:solidFill>
                    <a:latin typeface="Arial"/>
                  </a:rPr>
                  <a:t> is increasing on the domain, so </a:t>
                </a:r>
                <a:r>
                  <a:rPr lang="en-IN" sz="2400">
                    <a:solidFill>
                      <a:srgbClr val="78350F"/>
                    </a:solidFill>
                    <a:latin typeface="Cambria Math" panose="02040503050406030204" pitchFamily="18" charset="0"/>
                  </a:rPr>
                  <a:t>$f$</a:t>
                </a:r>
                <a:r>
                  <a:rPr sz="2400" b="0">
                    <a:solidFill>
                      <a:srgbClr val="78350F"/>
                    </a:solidFill>
                    <a:latin typeface="Arial"/>
                  </a:rPr>
                  <a:t> and </a:t>
                </a:r>
                <a:r>
                  <a:rPr lang="en-IN" sz="2400">
                    <a:solidFill>
                      <a:srgbClr val="78350F"/>
                    </a:solidFill>
                    <a:latin typeface="Cambria Math" panose="02040503050406030204" pitchFamily="18" charset="0"/>
                  </a:rPr>
                  <a:t>$g(t)$</a:t>
                </a:r>
                <a:r>
                  <a:rPr sz="2400" b="0">
                    <a:solidFill>
                      <a:srgbClr val="78350F"/>
                    </a:solidFill>
                    <a:latin typeface="Arial"/>
                  </a:rPr>
                  <a:t> have the same monotonicity for </a:t>
                </a:r>
                <a:r>
                  <a:rPr lang="en-IN" sz="2400">
                    <a:solidFill>
                      <a:srgbClr val="78350F"/>
                    </a:solidFill>
                    <a:latin typeface="Cambria Math" panose="02040503050406030204" pitchFamily="18" charset="0"/>
                  </a:rPr>
                  <a:t>$t\in\left[-\frac{1}{2},1\right]$</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e>
                    </m:d>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oMath>
                </a14:m>
                <a:r>
                  <a:rPr sz="2400" b="0">
                    <a:solidFill>
                      <a:srgbClr val="111827"/>
                    </a:solidFill>
                    <a:latin typeface="Arial"/>
                  </a:rPr>
                  <a:t> increases from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to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increases/decreases exactly when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does.</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On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e>
                    </m:d>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decreases 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e>
                    </m:d>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$x\in\left[-\frac{\pi}{6},\frac{\pi}{2}\right]$</a:t>
                </a:r>
                <a:r>
                  <a:rPr sz="2400" b="0">
                    <a:solidFill>
                      <a:srgbClr val="111827"/>
                    </a:solidFill>
                    <a:latin typeface="Arial"/>
                  </a:rPr>
                  <a:t>, </a:t>
                </a:r>
                <a:r>
                  <a:rPr lang="en-IN" sz="2400">
                    <a:solidFill>
                      <a:srgbClr val="111827"/>
                    </a:solidFill>
                    <a:latin typeface="Cambria Math" panose="02040503050406030204" pitchFamily="18" charset="0"/>
                  </a:rPr>
                  <a:t>$t=\sin x$</a:t>
                </a:r>
                <a:r>
                  <a:rPr sz="2400" b="0">
                    <a:solidFill>
                      <a:srgbClr val="111827"/>
                    </a:solidFill>
                    <a:latin typeface="Arial"/>
                  </a:rPr>
                  <a:t> increases from </a:t>
                </a:r>
                <a:r>
                  <a:rPr lang="en-IN" sz="2400">
                    <a:solidFill>
                      <a:srgbClr val="111827"/>
                    </a:solidFill>
                    <a:latin typeface="Cambria Math" panose="02040503050406030204" pitchFamily="18" charset="0"/>
                  </a:rPr>
                  <a:t>$-\frac{1}{2}$</a:t>
                </a:r>
                <a:r>
                  <a:rPr sz="2400" b="0">
                    <a:solidFill>
                      <a:srgbClr val="111827"/>
                    </a:solidFill>
                    <a:latin typeface="Arial"/>
                  </a:rPr>
                  <a:t> to </a:t>
                </a:r>
                <a:r>
                  <a:rPr lang="en-IN" sz="2400">
                    <a:solidFill>
                      <a:srgbClr val="111827"/>
                    </a:solidFill>
                    <a:latin typeface="Cambria Math" panose="02040503050406030204" pitchFamily="18" charset="0"/>
                  </a:rPr>
                  <a:t>$1$</a:t>
                </a:r>
                <a:r>
                  <a:rPr sz="2400" b="0">
                    <a:solidFill>
                      <a:srgbClr val="111827"/>
                    </a:solidFill>
                    <a:latin typeface="Arial"/>
                  </a:rPr>
                  <a:t>, so </a:t>
                </a:r>
                <a:r>
                  <a:rPr lang="en-IN" sz="2400">
                    <a:solidFill>
                      <a:srgbClr val="111827"/>
                    </a:solidFill>
                    <a:latin typeface="Cambria Math" panose="02040503050406030204" pitchFamily="18" charset="0"/>
                  </a:rPr>
                  <a:t>$f$</a:t>
                </a:r>
                <a:r>
                  <a:rPr sz="2400" b="0">
                    <a:solidFill>
                      <a:srgbClr val="111827"/>
                    </a:solidFill>
                    <a:latin typeface="Arial"/>
                  </a:rPr>
                  <a:t> increases/decreases exactly when </a:t>
                </a:r>
                <a:r>
                  <a:rPr lang="en-IN" sz="2400">
                    <a:solidFill>
                      <a:srgbClr val="111827"/>
                    </a:solidFill>
                    <a:latin typeface="Cambria Math" panose="02040503050406030204" pitchFamily="18" charset="0"/>
                  </a:rPr>
                  <a:t>$g(t)=3t^4+10t^3+6t^2-3$</a:t>
                </a:r>
                <a:r>
                  <a:rPr sz="2400" b="0">
                    <a:solidFill>
                      <a:srgbClr val="111827"/>
                    </a:solidFill>
                    <a:latin typeface="Arial"/>
                  </a:rPr>
                  <a:t> does.</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$g'(t)=12t^3+30t^2+12t=6t(2t+1)(t+2)$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On </a:t>
                </a:r>
                <a:r>
                  <a:rPr lang="en-IN" sz="2400">
                    <a:solidFill>
                      <a:srgbClr val="111827"/>
                    </a:solidFill>
                    <a:latin typeface="Cambria Math" panose="02040503050406030204" pitchFamily="18" charset="0"/>
                  </a:rPr>
                  <a:t>$t\in\left(-\frac{1}{2},0\right)$</a:t>
                </a:r>
                <a:r>
                  <a:rPr sz="2400" b="0">
                    <a:solidFill>
                      <a:srgbClr val="111827"/>
                    </a:solidFill>
                    <a:latin typeface="Arial"/>
                  </a:rPr>
                  <a:t>: </a:t>
                </a:r>
                <a:r>
                  <a:rPr lang="en-IN" sz="2400">
                    <a:solidFill>
                      <a:srgbClr val="111827"/>
                    </a:solidFill>
                    <a:latin typeface="Cambria Math" panose="02040503050406030204" pitchFamily="18" charset="0"/>
                  </a:rPr>
                  <a:t>$t&lt;0$</a:t>
                </a:r>
                <a:r>
                  <a:rPr sz="2400" b="0">
                    <a:solidFill>
                      <a:srgbClr val="111827"/>
                    </a:solidFill>
                    <a:latin typeface="Arial"/>
                  </a:rPr>
                  <a:t>, </a:t>
                </a:r>
                <a:r>
                  <a:rPr lang="en-IN" sz="2400">
                    <a:solidFill>
                      <a:srgbClr val="111827"/>
                    </a:solidFill>
                    <a:latin typeface="Cambria Math" panose="02040503050406030204" pitchFamily="18" charset="0"/>
                  </a:rPr>
                  <a:t>$2t+1&gt;0$</a:t>
                </a:r>
                <a:r>
                  <a:rPr sz="2400" b="0">
                    <a:solidFill>
                      <a:srgbClr val="111827"/>
                    </a:solidFill>
                    <a:latin typeface="Arial"/>
                  </a:rPr>
                  <a:t>, </a:t>
                </a:r>
                <a:r>
                  <a:rPr lang="en-IN" sz="2400">
                    <a:solidFill>
                      <a:srgbClr val="111827"/>
                    </a:solidFill>
                    <a:latin typeface="Cambria Math" panose="02040503050406030204" pitchFamily="18" charset="0"/>
                  </a:rPr>
                  <a:t>$t+2&gt;0$</a:t>
                </a:r>
                <a:r>
                  <a:rPr sz="2400" b="0">
                    <a:solidFill>
                      <a:srgbClr val="111827"/>
                    </a:solidFill>
                    <a:latin typeface="Arial"/>
                  </a:rPr>
                  <a:t>, so </a:t>
                </a:r>
                <a:r>
                  <a:rPr lang="en-IN" sz="2400">
                    <a:solidFill>
                      <a:srgbClr val="111827"/>
                    </a:solidFill>
                    <a:latin typeface="Cambria Math" panose="02040503050406030204" pitchFamily="18" charset="0"/>
                  </a:rPr>
                  <a:t>$g'&lt;0$</a:t>
                </a:r>
                <a:r>
                  <a:rPr sz="2400" b="0">
                    <a:solidFill>
                      <a:srgbClr val="111827"/>
                    </a:solidFill>
                    <a:latin typeface="Arial"/>
                  </a:rPr>
                  <a:t>, i.e. </a:t>
                </a:r>
                <a:r>
                  <a:rPr lang="en-IN" sz="2400">
                    <a:solidFill>
                      <a:srgbClr val="111827"/>
                    </a:solidFill>
                    <a:latin typeface="Cambria Math" panose="02040503050406030204" pitchFamily="18" charset="0"/>
                  </a:rPr>
                  <a:t>$f$</a:t>
                </a:r>
                <a:r>
                  <a:rPr sz="2400" b="0">
                    <a:solidFill>
                      <a:srgbClr val="111827"/>
                    </a:solidFill>
                    <a:latin typeface="Arial"/>
                  </a:rPr>
                  <a:t> decreases for </a:t>
                </a:r>
                <a:r>
                  <a:rPr lang="en-IN" sz="2400">
                    <a:solidFill>
                      <a:srgbClr val="111827"/>
                    </a:solidFill>
                    <a:latin typeface="Cambria Math" panose="02040503050406030204" pitchFamily="18" charset="0"/>
                  </a:rPr>
                  <a:t>$x\in\left(-\frac{\pi}{6},0\right)$</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On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all three factors are positive, so </a:t>
                </a:r>
                <a14:m>
                  <m:oMath xmlns:m="http://schemas.openxmlformats.org/officeDocument/2006/math">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increases 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by values: </a:t>
                </a:r>
                <a14:m>
                  <m:oMath xmlns:m="http://schemas.openxmlformats.org/officeDocument/2006/math">
                    <m:r>
                      <a:rPr lang="en-IN" sz="2400" i="1">
                        <a:solidFill>
                          <a:srgbClr val="111827"/>
                        </a:solidFill>
                        <a:latin typeface="Cambria Math" panose="02040503050406030204" pitchFamily="18" charset="0"/>
                      </a:rPr>
                      <m:t>𝑔</m:t>
                    </m:r>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2.5625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oMath>
                </a14:m>
                <a:r>
                  <a:rPr sz="2400" b="0">
                    <a:solidFill>
                      <a:srgbClr val="111827"/>
                    </a:solidFill>
                    <a:latin typeface="Arial"/>
                  </a:rPr>
                  <a:t>, consistent with a dip then a rise; answer (B).</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On </a:t>
                </a:r>
                <a:r>
                  <a:rPr lang="en-IN" sz="2400">
                    <a:solidFill>
                      <a:srgbClr val="111827"/>
                    </a:solidFill>
                    <a:latin typeface="Cambria Math" panose="02040503050406030204" pitchFamily="18" charset="0"/>
                  </a:rPr>
                  <a:t>$t\in(0,1)$</a:t>
                </a:r>
                <a:r>
                  <a:rPr sz="2400" b="0">
                    <a:solidFill>
                      <a:srgbClr val="111827"/>
                    </a:solidFill>
                    <a:latin typeface="Arial"/>
                  </a:rPr>
                  <a:t> all three factors are positive, so </a:t>
                </a:r>
                <a:r>
                  <a:rPr lang="en-IN" sz="2400">
                    <a:solidFill>
                      <a:srgbClr val="111827"/>
                    </a:solidFill>
                    <a:latin typeface="Cambria Math" panose="02040503050406030204" pitchFamily="18" charset="0"/>
                  </a:rPr>
                  <a:t>$g'&gt;0$</a:t>
                </a:r>
                <a:r>
                  <a:rPr sz="2400" b="0">
                    <a:solidFill>
                      <a:srgbClr val="111827"/>
                    </a:solidFill>
                    <a:latin typeface="Arial"/>
                  </a:rPr>
                  <a:t> and </a:t>
                </a:r>
                <a:r>
                  <a:rPr lang="en-IN" sz="2400">
                    <a:solidFill>
                      <a:srgbClr val="111827"/>
                    </a:solidFill>
                    <a:latin typeface="Cambria Math" panose="02040503050406030204" pitchFamily="18" charset="0"/>
                  </a:rPr>
                  <a:t>$f$</a:t>
                </a:r>
                <a:r>
                  <a:rPr sz="2400" b="0">
                    <a:solidFill>
                      <a:srgbClr val="111827"/>
                    </a:solidFill>
                    <a:latin typeface="Arial"/>
                  </a:rPr>
                  <a:t> increases for </a:t>
                </a:r>
                <a:r>
                  <a:rPr lang="en-IN" sz="2400">
                    <a:solidFill>
                      <a:srgbClr val="111827"/>
                    </a:solidFill>
                    <a:latin typeface="Cambria Math" panose="02040503050406030204" pitchFamily="18" charset="0"/>
                  </a:rPr>
                  <a:t>$x\in\left(0,\frac{\pi}{2}\right)$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by values: </a:t>
                </a:r>
                <a:r>
                  <a:rPr lang="en-IN" sz="2400">
                    <a:solidFill>
                      <a:srgbClr val="111827"/>
                    </a:solidFill>
                    <a:latin typeface="Cambria Math" panose="02040503050406030204" pitchFamily="18" charset="0"/>
                  </a:rPr>
                  <a:t>$g\left(-\frac{1}{2}\right)=-2.5625$</a:t>
                </a:r>
                <a:r>
                  <a:rPr sz="2400" b="0">
                    <a:solidFill>
                      <a:srgbClr val="111827"/>
                    </a:solidFill>
                    <a:latin typeface="Arial"/>
                  </a:rPr>
                  <a:t>, </a:t>
                </a:r>
                <a:r>
                  <a:rPr lang="en-IN" sz="2400">
                    <a:solidFill>
                      <a:srgbClr val="111827"/>
                    </a:solidFill>
                    <a:latin typeface="Cambria Math" panose="02040503050406030204" pitchFamily="18" charset="0"/>
                  </a:rPr>
                  <a:t>$g(0)=-3$</a:t>
                </a:r>
                <a:r>
                  <a:rPr sz="2400" b="0">
                    <a:solidFill>
                      <a:srgbClr val="111827"/>
                    </a:solidFill>
                    <a:latin typeface="Arial"/>
                  </a:rPr>
                  <a:t>, </a:t>
                </a:r>
                <a:r>
                  <a:rPr lang="en-IN" sz="2400">
                    <a:solidFill>
                      <a:srgbClr val="111827"/>
                    </a:solidFill>
                    <a:latin typeface="Cambria Math" panose="02040503050406030204" pitchFamily="18" charset="0"/>
                  </a:rPr>
                  <a:t>$g(1)=16$</a:t>
                </a:r>
                <a:r>
                  <a:rPr sz="2400" b="0">
                    <a:solidFill>
                      <a:srgbClr val="111827"/>
                    </a:solidFill>
                    <a:latin typeface="Arial"/>
                  </a:rPr>
                  <a:t>, consistent with a dip then a rise; answer (B).</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decreasing in </a:t>
                </a:r>
                <a14:m>
                  <m:oMath xmlns:m="http://schemas.openxmlformats.org/officeDocument/2006/math">
                    <m:d>
                      <m:dPr>
                        <m:begChr m:val="("/>
                        <m:sepChr m:val=""/>
                        <m:endChr m:val=")"/>
                        <m:grow/>
                        <m:ctrlPr>
                          <a:rPr lang="en-IN" sz="2800" i="1">
                            <a:solidFill>
                              <a:srgbClr val="15803D"/>
                            </a:solidFill>
                            <a:latin typeface="Cambria Math" panose="02040503050406030204" pitchFamily="18" charset="0"/>
                          </a:rPr>
                        </m:ctrlPr>
                      </m:dPr>
                      <m:e>
                        <m:r>
                          <m:rPr>
                            <m:sty m:val="p"/>
                          </m:rPr>
                          <a:rPr lang="en-IN" sz="2800">
                            <a:solidFill>
                              <a:srgbClr val="15803D"/>
                            </a:solidFill>
                            <a:latin typeface="Cambria Math" panose="02040503050406030204" pitchFamily="18" charset="0"/>
                          </a:rPr>
                          <m:t>−</m:t>
                        </m:r>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π</m:t>
                            </m:r>
                          </m:num>
                          <m:den>
                            <m:r>
                              <a:rPr lang="en-IN" sz="2800" i="1">
                                <a:solidFill>
                                  <a:srgbClr val="15803D"/>
                                </a:solidFill>
                                <a:latin typeface="Cambria Math" panose="02040503050406030204" pitchFamily="18" charset="0"/>
                              </a:rPr>
                              <m:t>6</m:t>
                            </m:r>
                          </m:den>
                        </m:f>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0</m:t>
                        </m:r>
                      </m:e>
                    </m:d>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decreasing in </a:t>
                </a:r>
                <a:r>
                  <a:rPr lang="en-IN" sz="2800">
                    <a:solidFill>
                      <a:srgbClr val="15803D"/>
                    </a:solidFill>
                    <a:latin typeface="Cambria Math" panose="02040503050406030204" pitchFamily="18" charset="0"/>
                  </a:rPr>
                  <a:t>$\left(-\frac{\pi}{6},0\right)$</a:t>
                </a:r>
                <a:endParaRPr sz="2800">
                  <a:solidFill>
                    <a:srgbClr val="15803D"/>
                  </a:solidFill>
                </a:endParaRPr>
              </a:p>
            </p:txBody>
          </p:sp>
        </mc:Fallback>
      </mc:AlternateContent>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a:t>
                </a:r>
                <a14:m>
                  <m:oMath xmlns:m="http://schemas.openxmlformats.org/officeDocument/2006/math">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ϕ</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increasing on an interval, then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ϕ</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has the same monotonicity as </a:t>
                </a:r>
                <a14:m>
                  <m:oMath xmlns:m="http://schemas.openxmlformats.org/officeDocument/2006/math">
                    <m:r>
                      <a:rPr lang="en-IN" sz="2400" i="1">
                        <a:solidFill>
                          <a:srgbClr val="111827"/>
                        </a:solidFill>
                        <a:latin typeface="Cambria Math" panose="02040503050406030204" pitchFamily="18" charset="0"/>
                      </a:rPr>
                      <m:t>𝑔</m:t>
                    </m:r>
                  </m:oMath>
                </a14:m>
                <a:r>
                  <a:rPr sz="2400" b="0">
                    <a:solidFill>
                      <a:srgbClr val="111827"/>
                    </a:solidFill>
                    <a:latin typeface="Arial"/>
                  </a:rPr>
                  <a:t> in </a:t>
                </a:r>
                <a14:m>
                  <m:oMath xmlns:m="http://schemas.openxmlformats.org/officeDocument/2006/math">
                    <m:r>
                      <a:rPr lang="en-IN" sz="2400" i="1">
                        <a:solidFill>
                          <a:srgbClr val="111827"/>
                        </a:solidFill>
                        <a:latin typeface="Cambria Math" panose="02040503050406030204" pitchFamily="18" charset="0"/>
                      </a:rPr>
                      <m:t>𝑢</m:t>
                    </m:r>
                  </m:oMath>
                </a14:m>
                <a:r>
                  <a:rPr sz="2400" b="0">
                    <a:solidFill>
                      <a:srgbClr val="111827"/>
                    </a:solidFill>
                    <a:latin typeface="Arial"/>
                  </a:rPr>
                  <a:t>; if </a:t>
                </a:r>
                <a14:m>
                  <m:oMath xmlns:m="http://schemas.openxmlformats.org/officeDocument/2006/math">
                    <m:r>
                      <a:rPr lang="en-IN" sz="2400" i="1">
                        <a:solidFill>
                          <a:srgbClr val="111827"/>
                        </a:solidFill>
                        <a:latin typeface="Cambria Math" panose="02040503050406030204" pitchFamily="18" charset="0"/>
                      </a:rPr>
                      <m:t>ϕ</m:t>
                    </m:r>
                  </m:oMath>
                </a14:m>
                <a:r>
                  <a:rPr sz="2400" b="0">
                    <a:solidFill>
                      <a:srgbClr val="111827"/>
                    </a:solidFill>
                    <a:latin typeface="Arial"/>
                  </a:rPr>
                  <a:t> is decreasing the behaviour reverses.</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ℎ</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on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e>
                    </m:d>
                  </m:oMath>
                </a14:m>
                <a:r>
                  <a:rPr sz="2400" b="0">
                    <a:solidFill>
                      <a:srgbClr val="111827"/>
                    </a:solidFill>
                    <a:latin typeface="Arial"/>
                  </a:rPr>
                  <a:t>, so only </a:t>
                </a:r>
                <a14:m>
                  <m:oMath xmlns:m="http://schemas.openxmlformats.org/officeDocument/2006/math">
                    <m:sSup>
                      <m:e>
                        <m:r>
                          <a:rPr lang="en-IN" sz="2400" i="1">
                            <a:solidFill>
                              <a:srgbClr val="111827"/>
                            </a:solidFill>
                            <a:latin typeface="Cambria Math" panose="02040503050406030204" pitchFamily="18" charset="0"/>
                          </a:rPr>
                          <m:t>ℎ</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matters there.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Polynomials in </a:t>
                </a:r>
                <a14:m>
                  <m:oMath xmlns:m="http://schemas.openxmlformats.org/officeDocument/2006/math">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oMath>
                </a14:m>
                <a:r>
                  <a:rPr sz="2400" b="0">
                    <a:solidFill>
                      <a:srgbClr val="111827"/>
                    </a:solidFill>
                    <a:latin typeface="Arial"/>
                  </a:rPr>
                  <a:t> often factor: </a:t>
                </a:r>
                <a14:m>
                  <m:oMath xmlns:m="http://schemas.openxmlformats.org/officeDocument/2006/math">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check factors like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that never vanish for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Always intersect the sign-chart intervals with the stated domain.</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$u=\phi(x)$</a:t>
                </a:r>
                <a:r>
                  <a:rPr sz="2400" b="0">
                    <a:solidFill>
                      <a:srgbClr val="111827"/>
                    </a:solidFill>
                    <a:latin typeface="Arial"/>
                  </a:rPr>
                  <a:t> is increasing on an interval, then </a:t>
                </a:r>
                <a:r>
                  <a:rPr lang="en-IN" sz="2400">
                    <a:solidFill>
                      <a:srgbClr val="111827"/>
                    </a:solidFill>
                    <a:latin typeface="Cambria Math" panose="02040503050406030204" pitchFamily="18" charset="0"/>
                  </a:rPr>
                  <a:t>$f(x)=g(\phi(x))$</a:t>
                </a:r>
                <a:r>
                  <a:rPr sz="2400" b="0">
                    <a:solidFill>
                      <a:srgbClr val="111827"/>
                    </a:solidFill>
                    <a:latin typeface="Arial"/>
                  </a:rPr>
                  <a:t> has the same monotonicity as </a:t>
                </a:r>
                <a:r>
                  <a:rPr lang="en-IN" sz="2400">
                    <a:solidFill>
                      <a:srgbClr val="111827"/>
                    </a:solidFill>
                    <a:latin typeface="Cambria Math" panose="02040503050406030204" pitchFamily="18" charset="0"/>
                  </a:rPr>
                  <a:t>$g$</a:t>
                </a:r>
                <a:r>
                  <a:rPr sz="2400" b="0">
                    <a:solidFill>
                      <a:srgbClr val="111827"/>
                    </a:solidFill>
                    <a:latin typeface="Arial"/>
                  </a:rPr>
                  <a:t> in </a:t>
                </a:r>
                <a:r>
                  <a:rPr lang="en-IN" sz="2400">
                    <a:solidFill>
                      <a:srgbClr val="111827"/>
                    </a:solidFill>
                    <a:latin typeface="Cambria Math" panose="02040503050406030204" pitchFamily="18" charset="0"/>
                  </a:rPr>
                  <a:t>$u$</a:t>
                </a:r>
                <a:r>
                  <a:rPr sz="2400" b="0">
                    <a:solidFill>
                      <a:srgbClr val="111827"/>
                    </a:solidFill>
                    <a:latin typeface="Arial"/>
                  </a:rPr>
                  <a:t>; if </a:t>
                </a:r>
                <a:r>
                  <a:rPr lang="en-IN" sz="2400">
                    <a:solidFill>
                      <a:srgbClr val="111827"/>
                    </a:solidFill>
                    <a:latin typeface="Cambria Math" panose="02040503050406030204" pitchFamily="18" charset="0"/>
                  </a:rPr>
                  <a:t>$\phi$</a:t>
                </a:r>
                <a:r>
                  <a:rPr sz="2400" b="0">
                    <a:solidFill>
                      <a:srgbClr val="111827"/>
                    </a:solidFill>
                    <a:latin typeface="Arial"/>
                  </a:rPr>
                  <a:t> is decreasing the behaviour reverses.</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$\frac{d}{dx}h(\sin x)=h'(\sin x)\cos x$</a:t>
                </a:r>
                <a:r>
                  <a:rPr sz="2400" b="0">
                    <a:solidFill>
                      <a:srgbClr val="111827"/>
                    </a:solidFill>
                    <a:latin typeface="Arial"/>
                  </a:rPr>
                  <a:t>, and </a:t>
                </a:r>
                <a:r>
                  <a:rPr lang="en-IN" sz="2400">
                    <a:solidFill>
                      <a:srgbClr val="111827"/>
                    </a:solidFill>
                    <a:latin typeface="Cambria Math" panose="02040503050406030204" pitchFamily="18" charset="0"/>
                  </a:rPr>
                  <a:t>$\cos x&gt;0$</a:t>
                </a:r>
                <a:r>
                  <a:rPr sz="2400" b="0">
                    <a:solidFill>
                      <a:srgbClr val="111827"/>
                    </a:solidFill>
                    <a:latin typeface="Arial"/>
                  </a:rPr>
                  <a:t> on </a:t>
                </a:r>
                <a:r>
                  <a:rPr lang="en-IN" sz="2400">
                    <a:solidFill>
                      <a:srgbClr val="111827"/>
                    </a:solidFill>
                    <a:latin typeface="Cambria Math" panose="02040503050406030204" pitchFamily="18" charset="0"/>
                  </a:rPr>
                  <a:t>$\left(-\frac{\pi}{2},\frac{\pi}{2}\right)$</a:t>
                </a:r>
                <a:r>
                  <a:rPr sz="2400" b="0">
                    <a:solidFill>
                      <a:srgbClr val="111827"/>
                    </a:solidFill>
                    <a:latin typeface="Arial"/>
                  </a:rPr>
                  <a:t>, so only </a:t>
                </a:r>
                <a:r>
                  <a:rPr lang="en-IN" sz="2400">
                    <a:solidFill>
                      <a:srgbClr val="111827"/>
                    </a:solidFill>
                    <a:latin typeface="Cambria Math" panose="02040503050406030204" pitchFamily="18" charset="0"/>
                  </a:rPr>
                  <a:t>$h'(\sin x)$</a:t>
                </a:r>
                <a:r>
                  <a:rPr sz="2400" b="0">
                    <a:solidFill>
                      <a:srgbClr val="111827"/>
                    </a:solidFill>
                    <a:latin typeface="Arial"/>
                  </a:rPr>
                  <a:t> matters there.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Polynomials in </a:t>
                </a:r>
                <a:r>
                  <a:rPr lang="en-IN" sz="2400">
                    <a:solidFill>
                      <a:srgbClr val="111827"/>
                    </a:solidFill>
                    <a:latin typeface="Cambria Math" panose="02040503050406030204" pitchFamily="18" charset="0"/>
                  </a:rPr>
                  <a:t>$\sin x$</a:t>
                </a:r>
                <a:r>
                  <a:rPr sz="2400" b="0">
                    <a:solidFill>
                      <a:srgbClr val="111827"/>
                    </a:solidFill>
                    <a:latin typeface="Arial"/>
                  </a:rPr>
                  <a:t> often factor: </a:t>
                </a:r>
                <a:r>
                  <a:rPr lang="en-IN" sz="2400">
                    <a:solidFill>
                      <a:srgbClr val="111827"/>
                    </a:solidFill>
                    <a:latin typeface="Cambria Math" panose="02040503050406030204" pitchFamily="18" charset="0"/>
                  </a:rPr>
                  <a:t>$2t^2+5t+2=(2t+1)(t+2)$</a:t>
                </a:r>
                <a:r>
                  <a:rPr sz="2400" b="0">
                    <a:solidFill>
                      <a:srgbClr val="111827"/>
                    </a:solidFill>
                    <a:latin typeface="Arial"/>
                  </a:rPr>
                  <a:t>; check factors like </a:t>
                </a:r>
                <a:r>
                  <a:rPr lang="en-IN" sz="2400">
                    <a:solidFill>
                      <a:srgbClr val="111827"/>
                    </a:solidFill>
                    <a:latin typeface="Cambria Math" panose="02040503050406030204" pitchFamily="18" charset="0"/>
                  </a:rPr>
                  <a:t>$t+2$</a:t>
                </a:r>
                <a:r>
                  <a:rPr sz="2400" b="0">
                    <a:solidFill>
                      <a:srgbClr val="111827"/>
                    </a:solidFill>
                    <a:latin typeface="Arial"/>
                  </a:rPr>
                  <a:t> that never vanish for </a:t>
                </a:r>
                <a:r>
                  <a:rPr lang="en-IN" sz="2400">
                    <a:solidFill>
                      <a:srgbClr val="111827"/>
                    </a:solidFill>
                    <a:latin typeface="Cambria Math" panose="02040503050406030204" pitchFamily="18" charset="0"/>
                  </a:rPr>
                  <a:t>$|t|\le1$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Always intersect the sign-chart intervals with the stated domain.</a:t>
                </a:r>
                <a:endParaRPr sz="2400">
                  <a:solidFill>
                    <a:srgbClr val="111827"/>
                  </a:solidFill>
                </a:endParaRPr>
              </a:p>
            </p:txBody>
          </p:sp>
        </mc:Fallback>
      </mc:AlternateContent>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553207"/>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𝑖</m:t>
                        </m:r>
                        <m:r>
                          <a:rPr lang="en-IN" sz="2400" i="1">
                            <a:solidFill>
                              <a:srgbClr val="111827"/>
                            </a:solidFill>
                            <a:latin typeface="Cambria Math" panose="02040503050406030204" pitchFamily="18" charset="0"/>
                          </a:rPr>
                          <m:t>𝑗</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be a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matrix, where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𝑖</m:t>
                        </m:r>
                        <m:r>
                          <a:rPr lang="en-IN" sz="2400" i="1">
                            <a:solidFill>
                              <a:srgbClr val="111827"/>
                            </a:solidFill>
                            <a:latin typeface="Cambria Math" panose="02040503050406030204" pitchFamily="18" charset="0"/>
                          </a:rPr>
                          <m:t>𝑗</m:t>
                        </m:r>
                      </m:sub>
                    </m:sSub>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left"/>
                                </m:mcPr>
                              </m:mc>
                              <m:mc>
                                <m:mcPr>
                                  <m:count m:val="1"/>
                                  <m:mcJc m:val="left"/>
                                </m:mcPr>
                              </m:mc>
                            </m:mcs>
                            <m:ctrlPr>
                              <a:rPr lang="en-IN" sz="2400" i="1">
                                <a:solidFill>
                                  <a:srgbClr val="111827"/>
                                </a:solidFill>
                                <a:latin typeface="Cambria Math" panose="02040503050406030204" pitchFamily="18" charset="0"/>
                              </a:rPr>
                            </m:ctrlPr>
                          </m:mPr>
                          <m:mr>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e>
                            <m:e>
                              <m:r>
                                <m:rPr>
                                  <m:nor/>
                                </m:rPr>
                                <a:rPr lang="en-IN" sz="2400" i="1">
                                  <a:solidFill>
                                    <a:srgbClr val="111827"/>
                                  </a:solidFill>
                                  <a:latin typeface="Cambria Math" panose="02040503050406030204" pitchFamily="18" charset="0"/>
                                </a:rPr>
                                <m:t>𝑖𝑓 </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𝑗</m:t>
                              </m:r>
                            </m:e>
                          </m:mr>
                          <m:mr>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e>
                            <m:e>
                              <m:r>
                                <m:rPr>
                                  <m:nor/>
                                </m:rPr>
                                <a:rPr lang="en-IN" sz="2400" i="1">
                                  <a:solidFill>
                                    <a:srgbClr val="111827"/>
                                  </a:solidFill>
                                  <a:latin typeface="Cambria Math" panose="02040503050406030204" pitchFamily="18" charset="0"/>
                                </a:rPr>
                                <m:t>𝑖𝑓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mr>
                          <m:mr>
                            <m:e>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e>
                            <m:e>
                              <m:r>
                                <m:rPr>
                                  <m:nor/>
                                </m:rPr>
                                <a:rPr lang="en-IN" sz="2400" i="1">
                                  <a:solidFill>
                                    <a:srgbClr val="111827"/>
                                  </a:solidFill>
                                  <a:latin typeface="Cambria Math" panose="02040503050406030204" pitchFamily="18" charset="0"/>
                                </a:rPr>
                                <m:t>𝑜𝑡ℎ𝑒𝑟𝑤𝑖𝑠𝑒</m:t>
                              </m:r>
                            </m:e>
                          </m:mr>
                        </m:m>
                      </m:e>
                    </m:d>
                  </m:oMath>
                </a14:m>
                <a:r>
                  <a:rPr sz="2400" b="0">
                    <a:solidFill>
                      <a:srgbClr val="111827"/>
                    </a:solidFill>
                    <a:latin typeface="Arial"/>
                  </a:rPr>
                  <a:t>. Let a function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R</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R</m:t>
                    </m:r>
                  </m:oMath>
                </a14:m>
                <a:r>
                  <a:rPr sz="2400" b="0">
                    <a:solidFill>
                      <a:srgbClr val="111827"/>
                    </a:solidFill>
                    <a:latin typeface="Arial"/>
                  </a:rPr>
                  <a:t> be defined as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det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Then the sum of maximum and minimum values of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on </a:t>
                </a:r>
                <a14:m>
                  <m:oMath xmlns:m="http://schemas.openxmlformats.org/officeDocument/2006/math">
                    <m:r>
                      <m:rPr>
                        <m:scr m:val="double-struck"/>
                        <m:sty m:val="p"/>
                      </m:rPr>
                      <a:rPr lang="en-IN" sz="2400">
                        <a:solidFill>
                          <a:srgbClr val="111827"/>
                        </a:solidFill>
                        <a:latin typeface="Cambria Math" panose="02040503050406030204" pitchFamily="18" charset="0"/>
                      </a:rPr>
                      <m:t>R</m:t>
                    </m:r>
                  </m:oMath>
                </a14:m>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88</m:t>
                        </m:r>
                      </m:num>
                      <m:den>
                        <m:r>
                          <a:rPr lang="en-IN" sz="2400" i="1">
                            <a:solidFill>
                              <a:srgbClr val="111827"/>
                            </a:solidFill>
                            <a:latin typeface="Cambria Math" panose="02040503050406030204" pitchFamily="18" charset="0"/>
                          </a:rPr>
                          <m:t>27</m:t>
                        </m:r>
                      </m:den>
                    </m:f>
                  </m:oMath>
                </a14:m>
                <a:r>
                  <a:rPr sz="2400" b="0">
                    <a:solidFill>
                      <a:srgbClr val="111827"/>
                    </a:solidFill>
                    <a:latin typeface="Arial"/>
                  </a:rPr>
                  <a:t>   (B)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88</m:t>
                        </m:r>
                      </m:num>
                      <m:den>
                        <m:r>
                          <a:rPr lang="en-IN" sz="2400" i="1">
                            <a:solidFill>
                              <a:srgbClr val="111827"/>
                            </a:solidFill>
                            <a:latin typeface="Cambria Math" panose="02040503050406030204" pitchFamily="18" charset="0"/>
                          </a:rPr>
                          <m:t>27</m:t>
                        </m:r>
                      </m:den>
                    </m:f>
                  </m:oMath>
                </a14:m>
                <a:r>
                  <a:rPr sz="2400" b="0">
                    <a:solidFill>
                      <a:srgbClr val="111827"/>
                    </a:solidFill>
                    <a:latin typeface="Arial"/>
                  </a:rPr>
                  <a:t>   (C)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20</m:t>
                        </m:r>
                      </m:num>
                      <m:den>
                        <m:r>
                          <a:rPr lang="en-IN" sz="2400" i="1">
                            <a:solidFill>
                              <a:srgbClr val="111827"/>
                            </a:solidFill>
                            <a:latin typeface="Cambria Math" panose="02040503050406030204" pitchFamily="18" charset="0"/>
                          </a:rPr>
                          <m:t>27</m:t>
                        </m:r>
                      </m:den>
                    </m:f>
                  </m:oMath>
                </a14:m>
                <a:r>
                  <a:rPr sz="2400" b="0">
                    <a:solidFill>
                      <a:srgbClr val="111827"/>
                    </a:solidFill>
                    <a:latin typeface="Arial"/>
                  </a:rPr>
                  <a:t>   (D)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20</m:t>
                        </m:r>
                      </m:num>
                      <m:den>
                        <m:r>
                          <a:rPr lang="en-IN" sz="2400" i="1">
                            <a:solidFill>
                              <a:srgbClr val="111827"/>
                            </a:solidFill>
                            <a:latin typeface="Cambria Math" panose="02040503050406030204" pitchFamily="18" charset="0"/>
                          </a:rPr>
                          <m:t>27</m:t>
                        </m:r>
                      </m:den>
                    </m:f>
                  </m:oMath>
                </a14:m>
                <a:endParaRPr sz="2400">
                  <a:solidFill>
                    <a:srgbClr val="111827"/>
                  </a:solidFill>
                </a:endParaRPr>
              </a:p>
            </p:txBody>
          </p:sp>
        </mc:Choice>
        <mc:Fallback>
          <p:sp>
            <p:nvSpPr>
              <p:cNvPr id="4" name="Rounded Rectangle 3"/>
              <p:cNvSpPr/>
              <p:nvPr/>
            </p:nvSpPr>
            <p:spPr>
              <a:xfrm>
                <a:off x="731520" y="1280160"/>
                <a:ext cx="10725912" cy="2553207"/>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$A=[a_{ij}]$</a:t>
                </a:r>
                <a:r>
                  <a:rPr sz="2400" b="0">
                    <a:solidFill>
                      <a:srgbClr val="111827"/>
                    </a:solidFill>
                    <a:latin typeface="Arial"/>
                  </a:rPr>
                  <a:t> be a </a:t>
                </a:r>
                <a:r>
                  <a:rPr lang="en-IN" sz="2400">
                    <a:solidFill>
                      <a:srgbClr val="111827"/>
                    </a:solidFill>
                    <a:latin typeface="Cambria Math" panose="02040503050406030204" pitchFamily="18" charset="0"/>
                  </a:rPr>
                  <a:t>$3\times3$</a:t>
                </a:r>
                <a:r>
                  <a:rPr sz="2400" b="0">
                    <a:solidFill>
                      <a:srgbClr val="111827"/>
                    </a:solidFill>
                    <a:latin typeface="Arial"/>
                  </a:rPr>
                  <a:t> matrix, where </a:t>
                </a:r>
                <a:r>
                  <a:rPr lang="en-IN" sz="2400">
                    <a:solidFill>
                      <a:srgbClr val="111827"/>
                    </a:solidFill>
                    <a:latin typeface="Cambria Math" panose="02040503050406030204" pitchFamily="18" charset="0"/>
                  </a:rPr>
                  <a:t>$a_{ij}=\begin{cases}1, &amp; \text{if } i=j\\ -x, &amp; \text{if } |i-j|=1\\ 2x+1, &amp; \text{otherwise}\end{cases}$</a:t>
                </a:r>
                <a:r>
                  <a:rPr sz="2400" b="0">
                    <a:solidFill>
                      <a:srgbClr val="111827"/>
                    </a:solidFill>
                    <a:latin typeface="Arial"/>
                  </a:rPr>
                  <a:t>. Let a function </a:t>
                </a:r>
                <a:r>
                  <a:rPr lang="en-IN" sz="2400">
                    <a:solidFill>
                      <a:srgbClr val="111827"/>
                    </a:solidFill>
                    <a:latin typeface="Cambria Math" panose="02040503050406030204" pitchFamily="18" charset="0"/>
                  </a:rPr>
                  <a:t>$f:\mathbb{R}\to\mathbb{R}$</a:t>
                </a:r>
                <a:r>
                  <a:rPr sz="2400" b="0">
                    <a:solidFill>
                      <a:srgbClr val="111827"/>
                    </a:solidFill>
                    <a:latin typeface="Arial"/>
                  </a:rPr>
                  <a:t> be defined as </a:t>
                </a:r>
                <a:r>
                  <a:rPr lang="en-IN" sz="2400">
                    <a:solidFill>
                      <a:srgbClr val="111827"/>
                    </a:solidFill>
                    <a:latin typeface="Cambria Math" panose="02040503050406030204" pitchFamily="18" charset="0"/>
                  </a:rPr>
                  <a:t>$f(x)=\det(A)$</a:t>
                </a:r>
                <a:r>
                  <a:rPr sz="2400" b="0">
                    <a:solidFill>
                      <a:srgbClr val="111827"/>
                    </a:solidFill>
                    <a:latin typeface="Arial"/>
                  </a:rPr>
                  <a:t>. Then the sum of maximum and minimum values of </a:t>
                </a:r>
                <a:r>
                  <a:rPr lang="en-IN" sz="2400">
                    <a:solidFill>
                      <a:srgbClr val="111827"/>
                    </a:solidFill>
                    <a:latin typeface="Cambria Math" panose="02040503050406030204" pitchFamily="18" charset="0"/>
                  </a:rPr>
                  <a:t>$f$</a:t>
                </a:r>
                <a:r>
                  <a:rPr sz="2400" b="0">
                    <a:solidFill>
                      <a:srgbClr val="111827"/>
                    </a:solidFill>
                    <a:latin typeface="Arial"/>
                  </a:rPr>
                  <a:t> on </a:t>
                </a:r>
                <a:r>
                  <a:rPr lang="en-IN" sz="2400">
                    <a:solidFill>
                      <a:srgbClr val="111827"/>
                    </a:solidFill>
                    <a:latin typeface="Cambria Math" panose="02040503050406030204" pitchFamily="18" charset="0"/>
                  </a:rPr>
                  <a:t>$\mathbb{R}$</a:t>
                </a:r>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$\frac{88}{27}$</a:t>
                </a:r>
                <a:r>
                  <a:rPr sz="2400" b="0">
                    <a:solidFill>
                      <a:srgbClr val="111827"/>
                    </a:solidFill>
                    <a:latin typeface="Arial"/>
                  </a:rPr>
                  <a:t>   (B) </a:t>
                </a:r>
                <a:r>
                  <a:rPr lang="en-IN" sz="2400">
                    <a:solidFill>
                      <a:srgbClr val="111827"/>
                    </a:solidFill>
                    <a:latin typeface="Cambria Math" panose="02040503050406030204" pitchFamily="18" charset="0"/>
                  </a:rPr>
                  <a:t>$-\frac{88}{27}$</a:t>
                </a:r>
                <a:r>
                  <a:rPr sz="2400" b="0">
                    <a:solidFill>
                      <a:srgbClr val="111827"/>
                    </a:solidFill>
                    <a:latin typeface="Arial"/>
                  </a:rPr>
                  <a:t>   (C) </a:t>
                </a:r>
                <a:r>
                  <a:rPr lang="en-IN" sz="2400">
                    <a:solidFill>
                      <a:srgbClr val="111827"/>
                    </a:solidFill>
                    <a:latin typeface="Cambria Math" panose="02040503050406030204" pitchFamily="18" charset="0"/>
                  </a:rPr>
                  <a:t>$-\frac{20}{27}$</a:t>
                </a:r>
                <a:r>
                  <a:rPr sz="2400" b="0">
                    <a:solidFill>
                      <a:srgbClr val="111827"/>
                    </a:solidFill>
                    <a:latin typeface="Arial"/>
                  </a:rPr>
                  <a:t>   (D) </a:t>
                </a:r>
                <a:r>
                  <a:rPr lang="en-IN" sz="2400">
                    <a:solidFill>
                      <a:srgbClr val="111827"/>
                    </a:solidFill>
                    <a:latin typeface="Cambria Math" panose="02040503050406030204" pitchFamily="18" charset="0"/>
                  </a:rPr>
                  <a:t>$\frac{20}{27}$</a:t>
                </a:r>
                <a:endParaRPr sz="2400">
                  <a:solidFill>
                    <a:srgbClr val="111827"/>
                  </a:solidFill>
                </a:endParaRPr>
              </a:p>
            </p:txBody>
          </p:sp>
        </mc:Fallback>
      </mc:AlternateContent>
      <p:sp>
        <p:nvSpPr>
          <p:cNvPr id="5" name="Rectangle 4"/>
          <p:cNvSpPr/>
          <p:nvPr/>
        </p:nvSpPr>
        <p:spPr>
          <a:xfrm>
            <a:off x="731520" y="4061968"/>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Determinants and extrema of a cubic</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Build the matrix from the rule, expand the determinant to a cubic, and add its local maximum and local minimum values.</a:t>
            </a:r>
            <a:endParaRPr sz="24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By the rule: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23</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32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13</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31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diagonal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center"/>
                                </m:mcPr>
                              </m:mc>
                              <m:mc>
                                <m:mcPr>
                                  <m:count m:val="1"/>
                                  <m:mcJc m:val="center"/>
                                </m:mcPr>
                              </m:mc>
                              <m:mc>
                                <m:mcPr>
                                  <m:count m:val="1"/>
                                  <m:mcJc m:val="center"/>
                                </m:mcPr>
                              </m:mc>
                            </m:mcs>
                            <m:ctrlPr>
                              <a:rPr lang="en-IN" sz="2400" i="1">
                                <a:solidFill>
                                  <a:srgbClr val="111827"/>
                                </a:solidFill>
                                <a:latin typeface="Cambria Math" panose="02040503050406030204" pitchFamily="18" charset="0"/>
                              </a:rPr>
                            </m:ctrlPr>
                          </m:mPr>
                          <m:mr>
                            <m:e>
                              <m:r>
                                <a:rPr lang="en-IN" sz="2400" i="1">
                                  <a:solidFill>
                                    <a:srgbClr val="111827"/>
                                  </a:solidFill>
                                  <a:latin typeface="Cambria Math" panose="02040503050406030204" pitchFamily="18" charset="0"/>
                                </a:rPr>
                                <m:t>1</m:t>
                              </m:r>
                            </m:e>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e>
                            <m:e>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mr>
                          <m:mr>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e>
                            <m:e>
                              <m:r>
                                <a:rPr lang="en-IN" sz="2400" i="1">
                                  <a:solidFill>
                                    <a:srgbClr val="111827"/>
                                  </a:solidFill>
                                  <a:latin typeface="Cambria Math" panose="02040503050406030204" pitchFamily="18" charset="0"/>
                                </a:rPr>
                                <m:t>1</m:t>
                              </m:r>
                            </m:e>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e>
                          </m:mr>
                          <m:mr>
                            <m:e>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e>
                            <m:e>
                              <m:r>
                                <a:rPr lang="en-IN" sz="2400" i="1">
                                  <a:solidFill>
                                    <a:srgbClr val="111827"/>
                                  </a:solidFill>
                                  <a:latin typeface="Cambria Math" panose="02040503050406030204" pitchFamily="18" charset="0"/>
                                </a:rPr>
                                <m:t>1</m:t>
                              </m:r>
                            </m:e>
                          </m:mr>
                        </m:m>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Expanding: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det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𝑥</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Critical points: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changes sign from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to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(local max) and from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to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(local min).</a:t>
                </a:r>
                <a:endParaRPr sz="2400">
                  <a:solidFill>
                    <a:srgbClr val="111827"/>
                  </a:solidFill>
                </a:endParaRPr>
              </a:p>
            </p:txBody>
          </p:sp>
        </mc:Choice>
        <mc:Fallback>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By the rule: </a:t>
                </a:r>
                <a:r>
                  <a:rPr lang="en-IN" sz="2400">
                    <a:solidFill>
                      <a:srgbClr val="111827"/>
                    </a:solidFill>
                    <a:latin typeface="Cambria Math" panose="02040503050406030204" pitchFamily="18" charset="0"/>
                  </a:rPr>
                  <a:t>$a_{12}=a_{21}=a_{23}=a_{32}=-x$</a:t>
                </a:r>
                <a:r>
                  <a:rPr sz="2400" b="0">
                    <a:solidFill>
                      <a:srgbClr val="111827"/>
                    </a:solidFill>
                    <a:latin typeface="Arial"/>
                  </a:rPr>
                  <a:t>, </a:t>
                </a:r>
                <a:r>
                  <a:rPr lang="en-IN" sz="2400">
                    <a:solidFill>
                      <a:srgbClr val="111827"/>
                    </a:solidFill>
                    <a:latin typeface="Cambria Math" panose="02040503050406030204" pitchFamily="18" charset="0"/>
                  </a:rPr>
                  <a:t>$a_{13}=a_{31}=2x+1$</a:t>
                </a:r>
                <a:r>
                  <a:rPr sz="2400" b="0">
                    <a:solidFill>
                      <a:srgbClr val="111827"/>
                    </a:solidFill>
                    <a:latin typeface="Arial"/>
                  </a:rPr>
                  <a:t>, diagonal </a:t>
                </a:r>
                <a:r>
                  <a:rPr lang="en-IN" sz="2400">
                    <a:solidFill>
                      <a:srgbClr val="111827"/>
                    </a:solidFill>
                    <a:latin typeface="Cambria Math" panose="02040503050406030204" pitchFamily="18" charset="0"/>
                  </a:rPr>
                  <a:t>$=1$</a:t>
                </a:r>
                <a:r>
                  <a:rPr sz="2400" b="0">
                    <a:solidFill>
                      <a:srgbClr val="111827"/>
                    </a:solidFill>
                    <a:latin typeface="Arial"/>
                  </a:rPr>
                  <a:t>, so </a:t>
                </a:r>
                <a:r>
                  <a:rPr lang="en-IN" sz="2400">
                    <a:solidFill>
                      <a:srgbClr val="111827"/>
                    </a:solidFill>
                    <a:latin typeface="Cambria Math" panose="02040503050406030204" pitchFamily="18" charset="0"/>
                  </a:rPr>
                  <a:t>$A=\begin{pmatrix}1&amp;-x&amp;2x+1\\-x&amp;1&amp;-x\\2x+1&amp;-x&amp;1\end{pmatrix}$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Expanding: </a:t>
                </a:r>
                <a:r>
                  <a:rPr lang="en-IN" sz="2400">
                    <a:solidFill>
                      <a:srgbClr val="111827"/>
                    </a:solidFill>
                    <a:latin typeface="Cambria Math" panose="02040503050406030204" pitchFamily="18" charset="0"/>
                  </a:rPr>
                  <a:t>$f(x)=\det(A)=4x^3-4x^2-4x$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$f'(x)=12x^2-8x-4=4(3x^2-2x-1)=4(x-1)(3x+1)$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Critical points: </a:t>
                </a:r>
                <a:r>
                  <a:rPr lang="en-IN" sz="2400">
                    <a:solidFill>
                      <a:srgbClr val="111827"/>
                    </a:solidFill>
                    <a:latin typeface="Cambria Math" panose="02040503050406030204" pitchFamily="18" charset="0"/>
                  </a:rPr>
                  <a:t>$x=1$</a:t>
                </a:r>
                <a:r>
                  <a:rPr sz="2400" b="0">
                    <a:solidFill>
                      <a:srgbClr val="111827"/>
                    </a:solidFill>
                    <a:latin typeface="Arial"/>
                  </a:rPr>
                  <a:t> and </a:t>
                </a:r>
                <a:r>
                  <a:rPr lang="en-IN" sz="2400">
                    <a:solidFill>
                      <a:srgbClr val="111827"/>
                    </a:solidFill>
                    <a:latin typeface="Cambria Math" panose="02040503050406030204" pitchFamily="18" charset="0"/>
                  </a:rPr>
                  <a:t>$x=-\frac{1}{3}$</a:t>
                </a:r>
                <a:r>
                  <a:rPr sz="2400" b="0">
                    <a:solidFill>
                      <a:srgbClr val="111827"/>
                    </a:solidFill>
                    <a:latin typeface="Arial"/>
                  </a:rPr>
                  <a:t>; </a:t>
                </a:r>
                <a:r>
                  <a:rPr lang="en-IN" sz="2400">
                    <a:solidFill>
                      <a:srgbClr val="111827"/>
                    </a:solidFill>
                    <a:latin typeface="Cambria Math" panose="02040503050406030204" pitchFamily="18" charset="0"/>
                  </a:rPr>
                  <a:t>$f'$</a:t>
                </a:r>
                <a:r>
                  <a:rPr sz="2400" b="0">
                    <a:solidFill>
                      <a:srgbClr val="111827"/>
                    </a:solidFill>
                    <a:latin typeface="Arial"/>
                  </a:rPr>
                  <a:t> changes sign from </a:t>
                </a:r>
                <a:r>
                  <a:rPr lang="en-IN" sz="2400">
                    <a:solidFill>
                      <a:srgbClr val="111827"/>
                    </a:solidFill>
                    <a:latin typeface="Cambria Math" panose="02040503050406030204" pitchFamily="18" charset="0"/>
                  </a:rPr>
                  <a:t>$+$</a:t>
                </a:r>
                <a:r>
                  <a:rPr sz="2400" b="0">
                    <a:solidFill>
                      <a:srgbClr val="111827"/>
                    </a:solidFill>
                    <a:latin typeface="Arial"/>
                  </a:rPr>
                  <a:t> to </a:t>
                </a:r>
                <a:r>
                  <a:rPr lang="en-IN" sz="2400">
                    <a:solidFill>
                      <a:srgbClr val="111827"/>
                    </a:solidFill>
                    <a:latin typeface="Cambria Math" panose="02040503050406030204" pitchFamily="18" charset="0"/>
                  </a:rPr>
                  <a:t>$-$</a:t>
                </a:r>
                <a:r>
                  <a:rPr sz="2400" b="0">
                    <a:solidFill>
                      <a:srgbClr val="111827"/>
                    </a:solidFill>
                    <a:latin typeface="Arial"/>
                  </a:rPr>
                  <a:t> at </a:t>
                </a:r>
                <a:r>
                  <a:rPr lang="en-IN" sz="2400">
                    <a:solidFill>
                      <a:srgbClr val="111827"/>
                    </a:solidFill>
                    <a:latin typeface="Cambria Math" panose="02040503050406030204" pitchFamily="18" charset="0"/>
                  </a:rPr>
                  <a:t>$-\frac{1}{3}$</a:t>
                </a:r>
                <a:r>
                  <a:rPr sz="2400" b="0">
                    <a:solidFill>
                      <a:srgbClr val="111827"/>
                    </a:solidFill>
                    <a:latin typeface="Arial"/>
                  </a:rPr>
                  <a:t> (local max) and from </a:t>
                </a:r>
                <a:r>
                  <a:rPr lang="en-IN" sz="2400">
                    <a:solidFill>
                      <a:srgbClr val="111827"/>
                    </a:solidFill>
                    <a:latin typeface="Cambria Math" panose="02040503050406030204" pitchFamily="18" charset="0"/>
                  </a:rPr>
                  <a:t>$-$</a:t>
                </a:r>
                <a:r>
                  <a:rPr sz="2400" b="0">
                    <a:solidFill>
                      <a:srgbClr val="111827"/>
                    </a:solidFill>
                    <a:latin typeface="Arial"/>
                  </a:rPr>
                  <a:t> to </a:t>
                </a:r>
                <a:r>
                  <a:rPr lang="en-IN" sz="2400">
                    <a:solidFill>
                      <a:srgbClr val="111827"/>
                    </a:solidFill>
                    <a:latin typeface="Cambria Math" panose="02040503050406030204" pitchFamily="18" charset="0"/>
                  </a:rPr>
                  <a:t>$+$</a:t>
                </a:r>
                <a:r>
                  <a:rPr sz="2400" b="0">
                    <a:solidFill>
                      <a:srgbClr val="111827"/>
                    </a:solidFill>
                    <a:latin typeface="Arial"/>
                  </a:rPr>
                  <a:t> at </a:t>
                </a:r>
                <a:r>
                  <a:rPr lang="en-IN" sz="2400">
                    <a:solidFill>
                      <a:srgbClr val="111827"/>
                    </a:solidFill>
                    <a:latin typeface="Cambria Math" panose="02040503050406030204" pitchFamily="18" charset="0"/>
                  </a:rPr>
                  <a:t>$1$</a:t>
                </a:r>
                <a:r>
                  <a:rPr sz="2400" b="0">
                    <a:solidFill>
                      <a:srgbClr val="111827"/>
                    </a:solidFill>
                    <a:latin typeface="Arial"/>
                  </a:rPr>
                  <a:t> (local min).</a:t>
                </a:r>
                <a:endParaRPr sz="2400">
                  <a:solidFill>
                    <a:srgbClr val="111827"/>
                  </a:solidFill>
                </a:endParaRPr>
              </a:p>
            </p:txBody>
          </p:sp>
        </mc:Fallback>
      </mc:AlternateContent>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𝑓</m:t>
                    </m:r>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e>
                    </m: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27</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9</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27</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20</m:t>
                        </m:r>
                      </m:num>
                      <m:den>
                        <m:r>
                          <a:rPr lang="en-IN" sz="2400" i="1">
                            <a:solidFill>
                              <a:srgbClr val="111827"/>
                            </a:solidFill>
                            <a:latin typeface="Cambria Math" panose="02040503050406030204" pitchFamily="18" charset="0"/>
                          </a:rPr>
                          <m:t>27</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of the maximum and minimum (local) values: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20</m:t>
                        </m:r>
                      </m:num>
                      <m:den>
                        <m:r>
                          <a:rPr lang="en-IN" sz="2400" i="1">
                            <a:solidFill>
                              <a:srgbClr val="111827"/>
                            </a:solidFill>
                            <a:latin typeface="Cambria Math" panose="02040503050406030204" pitchFamily="18" charset="0"/>
                          </a:rPr>
                          <m:t>27</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88</m:t>
                        </m:r>
                      </m:num>
                      <m:den>
                        <m:r>
                          <a:rPr lang="en-IN" sz="2400" i="1">
                            <a:solidFill>
                              <a:srgbClr val="111827"/>
                            </a:solidFill>
                            <a:latin typeface="Cambria Math" panose="02040503050406030204" pitchFamily="18" charset="0"/>
                          </a:rPr>
                          <m:t>27</m:t>
                        </m:r>
                      </m:den>
                    </m:f>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$f(1)=4-4-4=-4$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$f\left(-\frac{1}{3}\right)=-\frac{4}{27}-\frac{4}{9}+\frac{4}{3}=4\cdot\frac{-1-3+9}{27}=\frac{20}{27}$</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of the maximum and minimum (local) values: </a:t>
                </a:r>
                <a:r>
                  <a:rPr lang="en-IN" sz="2400">
                    <a:solidFill>
                      <a:srgbClr val="111827"/>
                    </a:solidFill>
                    <a:latin typeface="Cambria Math" panose="02040503050406030204" pitchFamily="18" charset="0"/>
                  </a:rPr>
                  <a:t>$\frac{20}{27}-4=-\frac{88}{27}$</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14:m>
                  <m:oMath xmlns:m="http://schemas.openxmlformats.org/officeDocument/2006/math">
                    <m:r>
                      <m:rPr>
                        <m:sty m:val="p"/>
                      </m:rPr>
                      <a:rPr lang="en-IN" sz="2800">
                        <a:solidFill>
                          <a:srgbClr val="15803D"/>
                        </a:solidFill>
                        <a:latin typeface="Cambria Math" panose="02040503050406030204" pitchFamily="18" charset="0"/>
                      </a:rPr>
                      <m:t>−</m:t>
                    </m:r>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88</m:t>
                        </m:r>
                      </m:num>
                      <m:den>
                        <m:r>
                          <a:rPr lang="en-IN" sz="2800" i="1">
                            <a:solidFill>
                              <a:srgbClr val="15803D"/>
                            </a:solidFill>
                            <a:latin typeface="Cambria Math" panose="02040503050406030204" pitchFamily="18" charset="0"/>
                          </a:rPr>
                          <m:t>27</m:t>
                        </m:r>
                      </m:den>
                    </m:f>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r>
                  <a:rPr lang="en-IN" sz="2800">
                    <a:solidFill>
                      <a:srgbClr val="15803D"/>
                    </a:solidFill>
                    <a:latin typeface="Cambria Math" panose="02040503050406030204" pitchFamily="18" charset="0"/>
                  </a:rPr>
                  <a:t>$-\frac{88}{27}$</a:t>
                </a:r>
                <a:endParaRPr sz="2800">
                  <a:solidFill>
                    <a:srgbClr val="15803D"/>
                  </a:solidFill>
                </a:endParaRPr>
              </a:p>
            </p:txBody>
          </p:sp>
        </mc:Fallback>
      </mc:AlternateContent>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 1</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Add the two extreme values without finding them separately: reduce </a:t>
                </a:r>
                <a14:m>
                  <m:oMath xmlns:m="http://schemas.openxmlformats.org/officeDocument/2006/math">
                    <m:r>
                      <a:rPr lang="en-IN" sz="2400" i="1">
                        <a:solidFill>
                          <a:srgbClr val="78350F"/>
                        </a:solidFill>
                        <a:latin typeface="Cambria Math" panose="02040503050406030204" pitchFamily="18" charset="0"/>
                      </a:rPr>
                      <m:t>𝑓</m:t>
                    </m:r>
                  </m:oMath>
                </a14:m>
                <a:r>
                  <a:rPr sz="2400" b="0">
                    <a:solidFill>
                      <a:srgbClr val="78350F"/>
                    </a:solidFill>
                    <a:latin typeface="Arial"/>
                  </a:rPr>
                  <a:t> modulo </a:t>
                </a:r>
                <a14:m>
                  <m:oMath xmlns:m="http://schemas.openxmlformats.org/officeDocument/2006/math">
                    <m:sSup>
                      <m:e>
                        <m:r>
                          <a:rPr lang="en-IN" sz="2400" i="1">
                            <a:solidFill>
                              <a:srgbClr val="78350F"/>
                            </a:solidFill>
                            <a:latin typeface="Cambria Math" panose="02040503050406030204" pitchFamily="18" charset="0"/>
                          </a:rPr>
                          <m:t>𝑓</m:t>
                        </m:r>
                      </m:e>
                      <m:sup>
                        <m:r>
                          <m:rPr>
                            <m:sty m:val="p"/>
                          </m:rPr>
                          <a:rPr lang="en-IN" sz="2400">
                            <a:solidFill>
                              <a:srgbClr val="78350F"/>
                            </a:solidFill>
                            <a:latin typeface="Cambria Math" panose="02040503050406030204" pitchFamily="18" charset="0"/>
                          </a:rPr>
                          <m:t>′</m:t>
                        </m:r>
                      </m:sup>
                    </m:sSup>
                  </m:oMath>
                </a14:m>
                <a:r>
                  <a:rPr sz="2400" b="0">
                    <a:solidFill>
                      <a:srgbClr val="78350F"/>
                    </a:solidFill>
                    <a:latin typeface="Arial"/>
                  </a:rPr>
                  <a:t>, since </a:t>
                </a:r>
                <a14:m>
                  <m:oMath xmlns:m="http://schemas.openxmlformats.org/officeDocument/2006/math">
                    <m:r>
                      <a:rPr lang="en-IN" sz="2400" i="1">
                        <a:solidFill>
                          <a:srgbClr val="78350F"/>
                        </a:solidFill>
                        <a:latin typeface="Cambria Math" panose="02040503050406030204" pitchFamily="18" charset="0"/>
                      </a:rPr>
                      <m:t>𝑓</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𝑟</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equals the remainder at a root </a:t>
                </a:r>
                <a14:m>
                  <m:oMath xmlns:m="http://schemas.openxmlformats.org/officeDocument/2006/math">
                    <m:r>
                      <a:rPr lang="en-IN" sz="2400" i="1">
                        <a:solidFill>
                          <a:srgbClr val="78350F"/>
                        </a:solidFill>
                        <a:latin typeface="Cambria Math" panose="02040503050406030204" pitchFamily="18" charset="0"/>
                      </a:rPr>
                      <m:t>𝑟</m:t>
                    </m:r>
                  </m:oMath>
                </a14:m>
                <a:r>
                  <a:rPr sz="2400" b="0">
                    <a:solidFill>
                      <a:srgbClr val="78350F"/>
                    </a:solidFill>
                    <a:latin typeface="Arial"/>
                  </a:rPr>
                  <a:t> of </a:t>
                </a:r>
                <a14:m>
                  <m:oMath xmlns:m="http://schemas.openxmlformats.org/officeDocument/2006/math">
                    <m:sSup>
                      <m:e>
                        <m:r>
                          <a:rPr lang="en-IN" sz="2400" i="1">
                            <a:solidFill>
                              <a:srgbClr val="78350F"/>
                            </a:solidFill>
                            <a:latin typeface="Cambria Math" panose="02040503050406030204" pitchFamily="18" charset="0"/>
                          </a:rPr>
                          <m:t>𝑓</m:t>
                        </m:r>
                      </m:e>
                      <m:sup>
                        <m:r>
                          <m:rPr>
                            <m:sty m:val="p"/>
                          </m:rPr>
                          <a:rPr lang="en-IN" sz="2400">
                            <a:solidFill>
                              <a:srgbClr val="78350F"/>
                            </a:solidFill>
                            <a:latin typeface="Cambria Math" panose="02040503050406030204" pitchFamily="18" charset="0"/>
                          </a:rPr>
                          <m:t>′</m:t>
                        </m:r>
                      </m:sup>
                    </m:sSup>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Add the two extreme values without finding them separately: reduce </a:t>
                </a:r>
                <a:r>
                  <a:rPr lang="en-IN" sz="2400">
                    <a:solidFill>
                      <a:srgbClr val="78350F"/>
                    </a:solidFill>
                    <a:latin typeface="Cambria Math" panose="02040503050406030204" pitchFamily="18" charset="0"/>
                  </a:rPr>
                  <a:t>$f$</a:t>
                </a:r>
                <a:r>
                  <a:rPr sz="2400" b="0">
                    <a:solidFill>
                      <a:srgbClr val="78350F"/>
                    </a:solidFill>
                    <a:latin typeface="Arial"/>
                  </a:rPr>
                  <a:t> modulo </a:t>
                </a:r>
                <a:r>
                  <a:rPr lang="en-IN" sz="2400">
                    <a:solidFill>
                      <a:srgbClr val="78350F"/>
                    </a:solidFill>
                    <a:latin typeface="Cambria Math" panose="02040503050406030204" pitchFamily="18" charset="0"/>
                  </a:rPr>
                  <a:t>$f'$</a:t>
                </a:r>
                <a:r>
                  <a:rPr sz="2400" b="0">
                    <a:solidFill>
                      <a:srgbClr val="78350F"/>
                    </a:solidFill>
                    <a:latin typeface="Arial"/>
                  </a:rPr>
                  <a:t>, since </a:t>
                </a:r>
                <a:r>
                  <a:rPr lang="en-IN" sz="2400">
                    <a:solidFill>
                      <a:srgbClr val="78350F"/>
                    </a:solidFill>
                    <a:latin typeface="Cambria Math" panose="02040503050406030204" pitchFamily="18" charset="0"/>
                  </a:rPr>
                  <a:t>$f(r)$</a:t>
                </a:r>
                <a:r>
                  <a:rPr sz="2400" b="0">
                    <a:solidFill>
                      <a:srgbClr val="78350F"/>
                    </a:solidFill>
                    <a:latin typeface="Arial"/>
                  </a:rPr>
                  <a:t> equals the remainder at a root </a:t>
                </a:r>
                <a:r>
                  <a:rPr lang="en-IN" sz="2400">
                    <a:solidFill>
                      <a:srgbClr val="78350F"/>
                    </a:solidFill>
                    <a:latin typeface="Cambria Math" panose="02040503050406030204" pitchFamily="18" charset="0"/>
                  </a:rPr>
                  <a:t>$r$</a:t>
                </a:r>
                <a:r>
                  <a:rPr sz="2400" b="0">
                    <a:solidFill>
                      <a:srgbClr val="78350F"/>
                    </a:solidFill>
                    <a:latin typeface="Arial"/>
                  </a:rPr>
                  <a:t> of </a:t>
                </a:r>
                <a:r>
                  <a:rPr lang="en-IN" sz="2400">
                    <a:solidFill>
                      <a:srgbClr val="78350F"/>
                    </a:solidFill>
                    <a:latin typeface="Cambria Math" panose="02040503050406030204" pitchFamily="18" charset="0"/>
                  </a:rPr>
                  <a:t>$f'$</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Divide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𝑥</m:t>
                    </m:r>
                  </m:oMath>
                </a14:m>
                <a:r>
                  <a:rPr sz="2400" b="0">
                    <a:solidFill>
                      <a:srgbClr val="111827"/>
                    </a:solidFill>
                    <a:latin typeface="Arial"/>
                  </a:rPr>
                  <a:t> by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9</m:t>
                            </m:r>
                          </m:den>
                        </m:f>
                      </m:e>
                    </m:d>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32</m:t>
                            </m:r>
                          </m:num>
                          <m:den>
                            <m:r>
                              <a:rPr lang="en-IN" sz="2400" i="1">
                                <a:solidFill>
                                  <a:srgbClr val="111827"/>
                                </a:solidFill>
                                <a:latin typeface="Cambria Math" panose="02040503050406030204" pitchFamily="18" charset="0"/>
                              </a:rPr>
                              <m:t>9</m:t>
                            </m:r>
                          </m:den>
                        </m:f>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9</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At each root </a:t>
                </a:r>
                <a14:m>
                  <m:oMath xmlns:m="http://schemas.openxmlformats.org/officeDocument/2006/math">
                    <m:r>
                      <a:rPr lang="en-IN" sz="2400" i="1">
                        <a:solidFill>
                          <a:srgbClr val="111827"/>
                        </a:solidFill>
                        <a:latin typeface="Cambria Math" panose="02040503050406030204" pitchFamily="18" charset="0"/>
                      </a:rPr>
                      <m:t>𝑟</m:t>
                    </m:r>
                  </m:oMath>
                </a14:m>
                <a:r>
                  <a:rPr sz="2400" b="0">
                    <a:solidFill>
                      <a:srgbClr val="111827"/>
                    </a:solidFill>
                    <a:latin typeface="Arial"/>
                  </a:rPr>
                  <a:t> of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32</m:t>
                        </m:r>
                      </m:num>
                      <m:den>
                        <m:r>
                          <a:rPr lang="en-IN" sz="2400" i="1">
                            <a:solidFill>
                              <a:srgbClr val="111827"/>
                            </a:solidFill>
                            <a:latin typeface="Cambria Math" panose="02040503050406030204" pitchFamily="18" charset="0"/>
                          </a:rPr>
                          <m:t>9</m:t>
                        </m:r>
                      </m:den>
                    </m:f>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9</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roots of </a:t>
                </a:r>
                <a14:m>
                  <m:oMath xmlns:m="http://schemas.openxmlformats.org/officeDocument/2006/math">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have sum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Divide </a:t>
                </a:r>
                <a:r>
                  <a:rPr lang="en-IN" sz="2400">
                    <a:solidFill>
                      <a:srgbClr val="111827"/>
                    </a:solidFill>
                    <a:latin typeface="Cambria Math" panose="02040503050406030204" pitchFamily="18" charset="0"/>
                  </a:rPr>
                  <a:t>$f=4x^3-4x^2-4x$</a:t>
                </a:r>
                <a:r>
                  <a:rPr sz="2400" b="0">
                    <a:solidFill>
                      <a:srgbClr val="111827"/>
                    </a:solidFill>
                    <a:latin typeface="Arial"/>
                  </a:rPr>
                  <a:t> by </a:t>
                </a:r>
                <a:r>
                  <a:rPr lang="en-IN" sz="2400">
                    <a:solidFill>
                      <a:srgbClr val="111827"/>
                    </a:solidFill>
                    <a:latin typeface="Cambria Math" panose="02040503050406030204" pitchFamily="18" charset="0"/>
                  </a:rPr>
                  <a:t>$f'=12x^2-8x-4$</a:t>
                </a:r>
                <a:r>
                  <a:rPr sz="2400" b="0">
                    <a:solidFill>
                      <a:srgbClr val="111827"/>
                    </a:solidFill>
                    <a:latin typeface="Arial"/>
                  </a:rPr>
                  <a:t>: </a:t>
                </a:r>
                <a:r>
                  <a:rPr lang="en-IN" sz="2400">
                    <a:solidFill>
                      <a:srgbClr val="111827"/>
                    </a:solidFill>
                    <a:latin typeface="Cambria Math" panose="02040503050406030204" pitchFamily="18" charset="0"/>
                  </a:rPr>
                  <a:t>$f(x)=\left(\frac{x}{3}-\frac{1}{9}\right)f'(x)+\left(-\frac{32}{9}x-\frac{4}{9}\right)$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At each root </a:t>
                </a:r>
                <a:r>
                  <a:rPr lang="en-IN" sz="2400">
                    <a:solidFill>
                      <a:srgbClr val="111827"/>
                    </a:solidFill>
                    <a:latin typeface="Cambria Math" panose="02040503050406030204" pitchFamily="18" charset="0"/>
                  </a:rPr>
                  <a:t>$r$</a:t>
                </a:r>
                <a:r>
                  <a:rPr sz="2400" b="0">
                    <a:solidFill>
                      <a:srgbClr val="111827"/>
                    </a:solidFill>
                    <a:latin typeface="Arial"/>
                  </a:rPr>
                  <a:t> of </a:t>
                </a:r>
                <a:r>
                  <a:rPr lang="en-IN" sz="2400">
                    <a:solidFill>
                      <a:srgbClr val="111827"/>
                    </a:solidFill>
                    <a:latin typeface="Cambria Math" panose="02040503050406030204" pitchFamily="18" charset="0"/>
                  </a:rPr>
                  <a:t>$f'$</a:t>
                </a:r>
                <a:r>
                  <a:rPr sz="2400" b="0">
                    <a:solidFill>
                      <a:srgbClr val="111827"/>
                    </a:solidFill>
                    <a:latin typeface="Arial"/>
                  </a:rPr>
                  <a:t>, </a:t>
                </a:r>
                <a:r>
                  <a:rPr lang="en-IN" sz="2400">
                    <a:solidFill>
                      <a:srgbClr val="111827"/>
                    </a:solidFill>
                    <a:latin typeface="Cambria Math" panose="02040503050406030204" pitchFamily="18" charset="0"/>
                  </a:rPr>
                  <a:t>$f(r)=-\frac{32}{9}r-\frac{4}{9}$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roots of </a:t>
                </a:r>
                <a:r>
                  <a:rPr lang="en-IN" sz="2400">
                    <a:solidFill>
                      <a:srgbClr val="111827"/>
                    </a:solidFill>
                    <a:latin typeface="Cambria Math" panose="02040503050406030204" pitchFamily="18" charset="0"/>
                  </a:rPr>
                  <a:t>$3x^2-2x-1=0$</a:t>
                </a:r>
                <a:r>
                  <a:rPr sz="2400" b="0">
                    <a:solidFill>
                      <a:srgbClr val="111827"/>
                    </a:solidFill>
                    <a:latin typeface="Arial"/>
                  </a:rPr>
                  <a:t> have sum </a:t>
                </a:r>
                <a:r>
                  <a:rPr lang="en-IN" sz="2400">
                    <a:solidFill>
                      <a:srgbClr val="111827"/>
                    </a:solidFill>
                    <a:latin typeface="Cambria Math" panose="02040503050406030204" pitchFamily="18" charset="0"/>
                  </a:rPr>
                  <a:t>$\frac{2}{3}$</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 1</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Sum of the two extreme values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32</m:t>
                        </m:r>
                      </m:num>
                      <m:den>
                        <m:r>
                          <a:rPr lang="en-IN" sz="2400" i="1">
                            <a:solidFill>
                              <a:srgbClr val="111827"/>
                            </a:solidFill>
                            <a:latin typeface="Cambria Math" panose="02040503050406030204" pitchFamily="18" charset="0"/>
                          </a:rPr>
                          <m:t>9</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9</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64</m:t>
                        </m:r>
                      </m:num>
                      <m:den>
                        <m:r>
                          <a:rPr lang="en-IN" sz="2400" i="1">
                            <a:solidFill>
                              <a:srgbClr val="111827"/>
                            </a:solidFill>
                            <a:latin typeface="Cambria Math" panose="02040503050406030204" pitchFamily="18" charset="0"/>
                          </a:rPr>
                          <m:t>27</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24</m:t>
                        </m:r>
                      </m:num>
                      <m:den>
                        <m:r>
                          <a:rPr lang="en-IN" sz="2400" i="1">
                            <a:solidFill>
                              <a:srgbClr val="111827"/>
                            </a:solidFill>
                            <a:latin typeface="Cambria Math" panose="02040503050406030204" pitchFamily="18" charset="0"/>
                          </a:rPr>
                          <m:t>27</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88</m:t>
                        </m:r>
                      </m:num>
                      <m:den>
                        <m:r>
                          <a:rPr lang="en-IN" sz="2400" i="1">
                            <a:solidFill>
                              <a:srgbClr val="111827"/>
                            </a:solidFill>
                            <a:latin typeface="Cambria Math" panose="02040503050406030204" pitchFamily="18" charset="0"/>
                          </a:rPr>
                          <m:t>27</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𝑓</m:t>
                    </m:r>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32</m:t>
                        </m:r>
                      </m:num>
                      <m:den>
                        <m:r>
                          <a:rPr lang="en-IN" sz="2400" i="1">
                            <a:solidFill>
                              <a:srgbClr val="111827"/>
                            </a:solidFill>
                            <a:latin typeface="Cambria Math" panose="02040503050406030204" pitchFamily="18" charset="0"/>
                          </a:rPr>
                          <m:t>27</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m:t>
                        </m:r>
                      </m:num>
                      <m:den>
                        <m:r>
                          <a:rPr lang="en-IN" sz="2400" i="1">
                            <a:solidFill>
                              <a:srgbClr val="111827"/>
                            </a:solidFill>
                            <a:latin typeface="Cambria Math" panose="02040503050406030204" pitchFamily="18" charset="0"/>
                          </a:rPr>
                          <m:t>27</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20</m:t>
                        </m:r>
                      </m:num>
                      <m:den>
                        <m:r>
                          <a:rPr lang="en-IN" sz="2400" i="1">
                            <a:solidFill>
                              <a:srgbClr val="111827"/>
                            </a:solidFill>
                            <a:latin typeface="Cambria Math" panose="02040503050406030204" pitchFamily="18" charset="0"/>
                          </a:rPr>
                          <m:t>27</m:t>
                        </m:r>
                      </m:den>
                    </m:f>
                  </m:oMath>
                </a14:m>
                <a:r>
                  <a:rPr sz="2400" b="0">
                    <a:solidFill>
                      <a:srgbClr val="111827"/>
                    </a:solidFill>
                    <a:latin typeface="Arial"/>
                  </a:rPr>
                  <a:t> sum to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88</m:t>
                        </m:r>
                      </m:num>
                      <m:den>
                        <m:r>
                          <a:rPr lang="en-IN" sz="2400" i="1">
                            <a:solidFill>
                              <a:srgbClr val="111827"/>
                            </a:solidFill>
                            <a:latin typeface="Cambria Math" panose="02040503050406030204" pitchFamily="18" charset="0"/>
                          </a:rPr>
                          <m:t>27</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Sum of the two extreme values </a:t>
                </a:r>
                <a:r>
                  <a:rPr lang="en-IN" sz="2400">
                    <a:solidFill>
                      <a:srgbClr val="111827"/>
                    </a:solidFill>
                    <a:latin typeface="Cambria Math" panose="02040503050406030204" pitchFamily="18" charset="0"/>
                  </a:rPr>
                  <a:t>$=-\frac{32}{9}\cdot\frac{2}{3}-2\cdot\frac{4}{9}=-\frac{64}{27}-\frac{24}{27}=-\frac{88}{27}$</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r>
                  <a:rPr lang="en-IN" sz="2400">
                    <a:solidFill>
                      <a:srgbClr val="111827"/>
                    </a:solidFill>
                    <a:latin typeface="Cambria Math" panose="02040503050406030204" pitchFamily="18" charset="0"/>
                  </a:rPr>
                  <a:t>$f(1)=-4$</a:t>
                </a:r>
                <a:r>
                  <a:rPr sz="2400" b="0">
                    <a:solidFill>
                      <a:srgbClr val="111827"/>
                    </a:solidFill>
                    <a:latin typeface="Arial"/>
                  </a:rPr>
                  <a:t> and </a:t>
                </a:r>
                <a:r>
                  <a:rPr lang="en-IN" sz="2400">
                    <a:solidFill>
                      <a:srgbClr val="111827"/>
                    </a:solidFill>
                    <a:latin typeface="Cambria Math" panose="02040503050406030204" pitchFamily="18" charset="0"/>
                  </a:rPr>
                  <a:t>$f\left(-\frac{1}{3}\right)=\frac{32}{27}-\frac{12}{27}=\frac{20}{27}$</a:t>
                </a:r>
                <a:r>
                  <a:rPr sz="2400" b="0">
                    <a:solidFill>
                      <a:srgbClr val="111827"/>
                    </a:solidFill>
                    <a:latin typeface="Arial"/>
                  </a:rPr>
                  <a:t> sum to </a:t>
                </a:r>
                <a:r>
                  <a:rPr lang="en-IN" sz="2400">
                    <a:solidFill>
                      <a:srgbClr val="111827"/>
                    </a:solidFill>
                    <a:latin typeface="Cambria Math" panose="02040503050406030204" pitchFamily="18" charset="0"/>
                  </a:rPr>
                  <a:t>$-\frac{88}{27}$</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a:t>
                </a:r>
                <a14:m>
                  <m:oMath xmlns:m="http://schemas.openxmlformats.org/officeDocument/2006/math">
                    <m:r>
                      <m:rPr>
                        <m:sty m:val="p"/>
                      </m:rPr>
                      <a:rPr lang="en-IN" sz="2800">
                        <a:solidFill>
                          <a:srgbClr val="15803D"/>
                        </a:solidFill>
                        <a:latin typeface="Cambria Math" panose="02040503050406030204" pitchFamily="18" charset="0"/>
                      </a:rPr>
                      <m:t>−</m:t>
                    </m:r>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88</m:t>
                        </m:r>
                      </m:num>
                      <m:den>
                        <m:r>
                          <a:rPr lang="en-IN" sz="2800" i="1">
                            <a:solidFill>
                              <a:srgbClr val="15803D"/>
                            </a:solidFill>
                            <a:latin typeface="Cambria Math" panose="02040503050406030204" pitchFamily="18" charset="0"/>
                          </a:rPr>
                          <m:t>27</m:t>
                        </m:r>
                      </m:den>
                    </m:f>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a:t>
                </a:r>
                <a:r>
                  <a:rPr lang="en-IN" sz="2800">
                    <a:solidFill>
                      <a:srgbClr val="15803D"/>
                    </a:solidFill>
                    <a:latin typeface="Cambria Math" panose="02040503050406030204" pitchFamily="18" charset="0"/>
                  </a:rPr>
                  <a:t>$-\frac{88}{27}$</a:t>
                </a:r>
                <a:endParaRPr sz="2800">
                  <a:solidFill>
                    <a:srgbClr val="15803D"/>
                  </a:solidFill>
                </a:endParaRPr>
              </a:p>
            </p:txBody>
          </p:sp>
        </mc:Fallback>
      </mc:AlternateContent>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 2</a:t>
            </a:r>
            <a:endParaRPr sz="2200">
              <a:solidFill>
                <a:srgbClr val="78350F"/>
              </a:solidFill>
            </a:endParaRPr>
          </a:p>
        </p:txBody>
      </p:sp>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Simplify the determinant first by row and column operations instead of expanding directly.</a:t>
            </a:r>
            <a:endParaRPr sz="2400">
              <a:solidFill>
                <a:srgbClr val="78350F"/>
              </a:solidFill>
            </a:endParaRPr>
          </a:p>
        </p:txBody>
      </p:sp>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3</m:t>
                        </m:r>
                      </m:sub>
                    </m:sSub>
                  </m:oMath>
                </a14:m>
                <a:r>
                  <a:rPr sz="2400" b="0">
                    <a:solidFill>
                      <a:srgbClr val="111827"/>
                    </a:solidFill>
                    <a:latin typeface="Arial"/>
                  </a:rPr>
                  <a:t> gives the first row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det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center"/>
                                </m:mcPr>
                              </m:mc>
                              <m:mc>
                                <m:mcPr>
                                  <m:count m:val="1"/>
                                  <m:mcJc m:val="center"/>
                                </m:mcPr>
                              </m:mc>
                              <m:mc>
                                <m:mcPr>
                                  <m:count m:val="1"/>
                                  <m:mcJc m:val="center"/>
                                </m:mcPr>
                              </m:mc>
                            </m:mcs>
                            <m:ctrlPr>
                              <a:rPr lang="en-IN" sz="2400" i="1">
                                <a:solidFill>
                                  <a:srgbClr val="111827"/>
                                </a:solidFill>
                                <a:latin typeface="Cambria Math" panose="02040503050406030204" pitchFamily="18" charset="0"/>
                              </a:rPr>
                            </m:ctrlPr>
                          </m:mPr>
                          <m:mr>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e>
                              <m:r>
                                <a:rPr lang="en-IN" sz="2400" i="1">
                                  <a:solidFill>
                                    <a:srgbClr val="111827"/>
                                  </a:solidFill>
                                  <a:latin typeface="Cambria Math" panose="02040503050406030204" pitchFamily="18" charset="0"/>
                                </a:rPr>
                                <m:t>0</m:t>
                              </m:r>
                            </m:e>
                            <m:e>
                              <m:r>
                                <a:rPr lang="en-IN" sz="2400" i="1">
                                  <a:solidFill>
                                    <a:srgbClr val="111827"/>
                                  </a:solidFill>
                                  <a:latin typeface="Cambria Math" panose="02040503050406030204" pitchFamily="18" charset="0"/>
                                </a:rPr>
                                <m:t>1</m:t>
                              </m:r>
                            </m:e>
                          </m:mr>
                          <m:mr>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e>
                            <m:e>
                              <m:r>
                                <a:rPr lang="en-IN" sz="2400" i="1">
                                  <a:solidFill>
                                    <a:srgbClr val="111827"/>
                                  </a:solidFill>
                                  <a:latin typeface="Cambria Math" panose="02040503050406030204" pitchFamily="18" charset="0"/>
                                </a:rPr>
                                <m:t>1</m:t>
                              </m:r>
                            </m:e>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e>
                          </m:mr>
                          <m:mr>
                            <m:e>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e>
                            <m:e>
                              <m:r>
                                <a:rPr lang="en-IN" sz="2400" i="1">
                                  <a:solidFill>
                                    <a:srgbClr val="111827"/>
                                  </a:solidFill>
                                  <a:latin typeface="Cambria Math" panose="02040503050406030204" pitchFamily="18" charset="0"/>
                                </a:rPr>
                                <m:t>1</m:t>
                              </m:r>
                            </m:e>
                          </m:mr>
                        </m:m>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Apply </a:t>
                </a:r>
                <a14:m>
                  <m:oMath xmlns:m="http://schemas.openxmlformats.org/officeDocument/2006/math">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3</m:t>
                        </m:r>
                      </m:sub>
                    </m:sSub>
                  </m:oMath>
                </a14:m>
                <a:r>
                  <a:rPr sz="2400" b="0">
                    <a:solidFill>
                      <a:srgbClr val="111827"/>
                    </a:solidFill>
                    <a:latin typeface="Arial"/>
                  </a:rPr>
                  <a:t>: the first row becomes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second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third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$R_1\to R_1-R_3$</a:t>
                </a:r>
                <a:r>
                  <a:rPr sz="2400" b="0">
                    <a:solidFill>
                      <a:srgbClr val="111827"/>
                    </a:solidFill>
                    <a:latin typeface="Arial"/>
                  </a:rPr>
                  <a:t> gives the first row </a:t>
                </a:r>
                <a:r>
                  <a:rPr lang="en-IN" sz="2400">
                    <a:solidFill>
                      <a:srgbClr val="111827"/>
                    </a:solidFill>
                    <a:latin typeface="Cambria Math" panose="02040503050406030204" pitchFamily="18" charset="0"/>
                  </a:rPr>
                  <a:t>$(-2x,\ 0,\ 2x)=2x(-1,0,1)$</a:t>
                </a:r>
                <a:r>
                  <a:rPr sz="2400" b="0">
                    <a:solidFill>
                      <a:srgbClr val="111827"/>
                    </a:solidFill>
                    <a:latin typeface="Arial"/>
                  </a:rPr>
                  <a:t>, so </a:t>
                </a:r>
                <a:r>
                  <a:rPr lang="en-IN" sz="2400">
                    <a:solidFill>
                      <a:srgbClr val="111827"/>
                    </a:solidFill>
                    <a:latin typeface="Cambria Math" panose="02040503050406030204" pitchFamily="18" charset="0"/>
                  </a:rPr>
                  <a:t>$\det A=2x\begin{vmatrix}-1&amp;0&amp;1\\-x&amp;1&amp;-x\\2x+1&amp;-x&amp;1\end{vmatrix}$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Apply </a:t>
                </a:r>
                <a:r>
                  <a:rPr lang="en-IN" sz="2400">
                    <a:solidFill>
                      <a:srgbClr val="111827"/>
                    </a:solidFill>
                    <a:latin typeface="Cambria Math" panose="02040503050406030204" pitchFamily="18" charset="0"/>
                  </a:rPr>
                  <a:t>$C_1\to C_1+C_3$</a:t>
                </a:r>
                <a:r>
                  <a:rPr sz="2400" b="0">
                    <a:solidFill>
                      <a:srgbClr val="111827"/>
                    </a:solidFill>
                    <a:latin typeface="Arial"/>
                  </a:rPr>
                  <a:t>: the first row becomes </a:t>
                </a:r>
                <a:r>
                  <a:rPr lang="en-IN" sz="2400">
                    <a:solidFill>
                      <a:srgbClr val="111827"/>
                    </a:solidFill>
                    <a:latin typeface="Cambria Math" panose="02040503050406030204" pitchFamily="18" charset="0"/>
                  </a:rPr>
                  <a:t>$(0,0,1)$</a:t>
                </a:r>
                <a:r>
                  <a:rPr sz="2400" b="0">
                    <a:solidFill>
                      <a:srgbClr val="111827"/>
                    </a:solidFill>
                    <a:latin typeface="Arial"/>
                  </a:rPr>
                  <a:t>, the second </a:t>
                </a:r>
                <a:r>
                  <a:rPr lang="en-IN" sz="2400">
                    <a:solidFill>
                      <a:srgbClr val="111827"/>
                    </a:solidFill>
                    <a:latin typeface="Cambria Math" panose="02040503050406030204" pitchFamily="18" charset="0"/>
                  </a:rPr>
                  <a:t>$(-2x,1,-x)$</a:t>
                </a:r>
                <a:r>
                  <a:rPr sz="2400" b="0">
                    <a:solidFill>
                      <a:srgbClr val="111827"/>
                    </a:solidFill>
                    <a:latin typeface="Arial"/>
                  </a:rPr>
                  <a:t>, the third </a:t>
                </a:r>
                <a:r>
                  <a:rPr lang="en-IN" sz="2400">
                    <a:solidFill>
                      <a:srgbClr val="111827"/>
                    </a:solidFill>
                    <a:latin typeface="Cambria Math" panose="02040503050406030204" pitchFamily="18" charset="0"/>
                  </a:rPr>
                  <a:t>$(2x+2,-x,1)$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 2</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Expand along the first row: the determinant of the inner matrix is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center"/>
                                </m:mcPr>
                              </m:mc>
                              <m:mc>
                                <m:mcPr>
                                  <m:count m:val="1"/>
                                  <m:mcJc m:val="center"/>
                                </m:mcPr>
                              </m:mc>
                            </m:mcs>
                            <m:ctrlPr>
                              <a:rPr lang="en-IN" sz="2400" i="1">
                                <a:solidFill>
                                  <a:srgbClr val="111827"/>
                                </a:solidFill>
                                <a:latin typeface="Cambria Math" panose="02040503050406030204" pitchFamily="18" charset="0"/>
                              </a:rPr>
                            </m:ctrlPr>
                          </m:mPr>
                          <m:mr>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e>
                            <m:e>
                              <m:r>
                                <a:rPr lang="en-IN" sz="2400" i="1">
                                  <a:solidFill>
                                    <a:srgbClr val="111827"/>
                                  </a:solidFill>
                                  <a:latin typeface="Cambria Math" panose="02040503050406030204" pitchFamily="18" charset="0"/>
                                </a:rPr>
                                <m:t>1</m:t>
                              </m:r>
                            </m:e>
                          </m:mr>
                          <m:mr>
                            <m:e>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e>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e>
                          </m:mr>
                        </m:m>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𝑥</m:t>
                    </m:r>
                  </m:oMath>
                </a14:m>
                <a:r>
                  <a:rPr sz="2400" b="0">
                    <a:solidFill>
                      <a:srgbClr val="111827"/>
                    </a:solidFill>
                    <a:latin typeface="Arial"/>
                  </a:rPr>
                  <a:t>, the same cubic; then proceed with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as before to get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88</m:t>
                        </m:r>
                      </m:num>
                      <m:den>
                        <m:r>
                          <a:rPr lang="en-IN" sz="2400" i="1">
                            <a:solidFill>
                              <a:srgbClr val="111827"/>
                            </a:solidFill>
                            <a:latin typeface="Cambria Math" panose="02040503050406030204" pitchFamily="18" charset="0"/>
                          </a:rPr>
                          <m:t>27</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Expand along the first row: the determinant of the inner matrix is </a:t>
                </a:r>
                <a:r>
                  <a:rPr lang="en-IN" sz="2400">
                    <a:solidFill>
                      <a:srgbClr val="111827"/>
                    </a:solidFill>
                    <a:latin typeface="Cambria Math" panose="02040503050406030204" pitchFamily="18" charset="0"/>
                  </a:rPr>
                  <a:t>$\begin{vmatrix}-2x&amp;1\\2x+2&amp;-x\end{vmatrix}=2x^2-(2x+2)=2x^2-2x-2$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$f(x)=2x(2x^2-2x-2)=4x^3-4x^2-4x$</a:t>
                </a:r>
                <a:r>
                  <a:rPr sz="2400" b="0">
                    <a:solidFill>
                      <a:srgbClr val="111827"/>
                    </a:solidFill>
                    <a:latin typeface="Arial"/>
                  </a:rPr>
                  <a:t>, the same cubic; then proceed with </a:t>
                </a:r>
                <a:r>
                  <a:rPr lang="en-IN" sz="2400">
                    <a:solidFill>
                      <a:srgbClr val="111827"/>
                    </a:solidFill>
                    <a:latin typeface="Cambria Math" panose="02040503050406030204" pitchFamily="18" charset="0"/>
                  </a:rPr>
                  <a:t>$f'=0$</a:t>
                </a:r>
                <a:r>
                  <a:rPr sz="2400" b="0">
                    <a:solidFill>
                      <a:srgbClr val="111827"/>
                    </a:solidFill>
                    <a:latin typeface="Arial"/>
                  </a:rPr>
                  <a:t> as before to get </a:t>
                </a:r>
                <a:r>
                  <a:rPr lang="en-IN" sz="2400">
                    <a:solidFill>
                      <a:srgbClr val="111827"/>
                    </a:solidFill>
                    <a:latin typeface="Cambria Math" panose="02040503050406030204" pitchFamily="18" charset="0"/>
                  </a:rPr>
                  <a:t>$-\frac{88}{27}$</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a:t>
                </a:r>
                <a14:m>
                  <m:oMath xmlns:m="http://schemas.openxmlformats.org/officeDocument/2006/math">
                    <m:r>
                      <m:rPr>
                        <m:sty m:val="p"/>
                      </m:rPr>
                      <a:rPr lang="en-IN" sz="2800">
                        <a:solidFill>
                          <a:srgbClr val="15803D"/>
                        </a:solidFill>
                        <a:latin typeface="Cambria Math" panose="02040503050406030204" pitchFamily="18" charset="0"/>
                      </a:rPr>
                      <m:t>−</m:t>
                    </m:r>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88</m:t>
                        </m:r>
                      </m:num>
                      <m:den>
                        <m:r>
                          <a:rPr lang="en-IN" sz="2800" i="1">
                            <a:solidFill>
                              <a:srgbClr val="15803D"/>
                            </a:solidFill>
                            <a:latin typeface="Cambria Math" panose="02040503050406030204" pitchFamily="18" charset="0"/>
                          </a:rPr>
                          <m:t>27</m:t>
                        </m:r>
                      </m:den>
                    </m:f>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a:t>
                </a:r>
                <a:r>
                  <a:rPr lang="en-IN" sz="2800">
                    <a:solidFill>
                      <a:srgbClr val="15803D"/>
                    </a:solidFill>
                    <a:latin typeface="Cambria Math" panose="02040503050406030204" pitchFamily="18" charset="0"/>
                  </a:rPr>
                  <a:t>$-\frac{88}{27}$</a:t>
                </a:r>
                <a:endParaRPr sz="2800">
                  <a:solidFill>
                    <a:srgbClr val="15803D"/>
                  </a:solidFill>
                </a:endParaRPr>
              </a:p>
            </p:txBody>
          </p:sp>
        </mc:Fallback>
      </mc:AlternateContent>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 cubic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with two critical points </a:t>
                </a:r>
                <a14:m>
                  <m:oMath xmlns:m="http://schemas.openxmlformats.org/officeDocument/2006/math">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(roots of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can be found by reducing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modulo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and using Vieta on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local maximum and local minimum values of a cubic are not global extrema; the 'maximum and minimum on </a:t>
                </a:r>
                <a14:m>
                  <m:oMath xmlns:m="http://schemas.openxmlformats.org/officeDocument/2006/math">
                    <m:r>
                      <m:rPr>
                        <m:scr m:val="double-struck"/>
                        <m:sty m:val="p"/>
                      </m:rPr>
                      <a:rPr lang="en-IN" sz="2400">
                        <a:solidFill>
                          <a:srgbClr val="111827"/>
                        </a:solidFill>
                        <a:latin typeface="Cambria Math" panose="02040503050406030204" pitchFamily="18" charset="0"/>
                      </a:rPr>
                      <m:t>R</m:t>
                    </m:r>
                  </m:oMath>
                </a14:m>
                <a:r>
                  <a:rPr sz="2400" b="0">
                    <a:solidFill>
                      <a:srgbClr val="111827"/>
                    </a:solidFill>
                    <a:latin typeface="Arial"/>
                  </a:rPr>
                  <a:t>' in this question means these local values (a cubic is unbounded).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symmetric-pattern determinant often simplifies with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3</m:t>
                        </m:r>
                      </m:sub>
                    </m:sSub>
                  </m:oMath>
                </a14:m>
                <a:r>
                  <a:rPr sz="2400" b="0">
                    <a:solidFill>
                      <a:srgbClr val="111827"/>
                    </a:solidFill>
                    <a:latin typeface="Arial"/>
                  </a:rPr>
                  <a:t> or </a:t>
                </a:r>
                <a14:m>
                  <m:oMath xmlns:m="http://schemas.openxmlformats.org/officeDocument/2006/math">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3</m:t>
                        </m:r>
                      </m:sub>
                    </m:sSub>
                  </m:oMath>
                </a14:m>
                <a:r>
                  <a:rPr sz="2400" b="0">
                    <a:solidFill>
                      <a:srgbClr val="111827"/>
                    </a:solidFill>
                    <a:latin typeface="Arial"/>
                  </a:rPr>
                  <a:t> to create zeros.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cubic </a:t>
                </a:r>
                <a14:m>
                  <m:oMath xmlns:m="http://schemas.openxmlformats.org/officeDocument/2006/math">
                    <m:r>
                      <a:rPr lang="en-IN" sz="2400" i="1">
                        <a:solidFill>
                          <a:srgbClr val="111827"/>
                        </a:solidFill>
                        <a:latin typeface="Cambria Math" panose="02040503050406030204" pitchFamily="18" charset="0"/>
                      </a:rPr>
                      <m:t>𝑎</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has its local max at the smaller root of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and local min at the larger root.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 cubic </a:t>
                </a:r>
                <a:r>
                  <a:rPr lang="en-IN" sz="2400">
                    <a:solidFill>
                      <a:srgbClr val="111827"/>
                    </a:solidFill>
                    <a:latin typeface="Cambria Math" panose="02040503050406030204" pitchFamily="18" charset="0"/>
                  </a:rPr>
                  <a:t>$f$</a:t>
                </a:r>
                <a:r>
                  <a:rPr sz="2400" b="0">
                    <a:solidFill>
                      <a:srgbClr val="111827"/>
                    </a:solidFill>
                    <a:latin typeface="Arial"/>
                  </a:rPr>
                  <a:t> with two critical points </a:t>
                </a:r>
                <a:r>
                  <a:rPr lang="en-IN" sz="2400">
                    <a:solidFill>
                      <a:srgbClr val="111827"/>
                    </a:solidFill>
                    <a:latin typeface="Cambria Math" panose="02040503050406030204" pitchFamily="18" charset="0"/>
                  </a:rPr>
                  <a:t>$r_1,r_2$</a:t>
                </a:r>
                <a:r>
                  <a:rPr sz="2400" b="0">
                    <a:solidFill>
                      <a:srgbClr val="111827"/>
                    </a:solidFill>
                    <a:latin typeface="Arial"/>
                  </a:rPr>
                  <a:t> (roots of </a:t>
                </a:r>
                <a:r>
                  <a:rPr lang="en-IN" sz="2400">
                    <a:solidFill>
                      <a:srgbClr val="111827"/>
                    </a:solidFill>
                    <a:latin typeface="Cambria Math" panose="02040503050406030204" pitchFamily="18" charset="0"/>
                  </a:rPr>
                  <a:t>$f'$</a:t>
                </a:r>
                <a:r>
                  <a:rPr sz="2400" b="0">
                    <a:solidFill>
                      <a:srgbClr val="111827"/>
                    </a:solidFill>
                    <a:latin typeface="Arial"/>
                  </a:rPr>
                  <a:t>), </a:t>
                </a:r>
                <a:r>
                  <a:rPr lang="en-IN" sz="2400">
                    <a:solidFill>
                      <a:srgbClr val="111827"/>
                    </a:solidFill>
                    <a:latin typeface="Cambria Math" panose="02040503050406030204" pitchFamily="18" charset="0"/>
                  </a:rPr>
                  <a:t>$f(r_1)+f(r_2)$</a:t>
                </a:r>
                <a:r>
                  <a:rPr sz="2400" b="0">
                    <a:solidFill>
                      <a:srgbClr val="111827"/>
                    </a:solidFill>
                    <a:latin typeface="Arial"/>
                  </a:rPr>
                  <a:t> can be found by reducing </a:t>
                </a:r>
                <a:r>
                  <a:rPr lang="en-IN" sz="2400">
                    <a:solidFill>
                      <a:srgbClr val="111827"/>
                    </a:solidFill>
                    <a:latin typeface="Cambria Math" panose="02040503050406030204" pitchFamily="18" charset="0"/>
                  </a:rPr>
                  <a:t>$f$</a:t>
                </a:r>
                <a:r>
                  <a:rPr sz="2400" b="0">
                    <a:solidFill>
                      <a:srgbClr val="111827"/>
                    </a:solidFill>
                    <a:latin typeface="Arial"/>
                  </a:rPr>
                  <a:t> modulo </a:t>
                </a:r>
                <a:r>
                  <a:rPr lang="en-IN" sz="2400">
                    <a:solidFill>
                      <a:srgbClr val="111827"/>
                    </a:solidFill>
                    <a:latin typeface="Cambria Math" panose="02040503050406030204" pitchFamily="18" charset="0"/>
                  </a:rPr>
                  <a:t>$f'$</a:t>
                </a:r>
                <a:r>
                  <a:rPr sz="2400" b="0">
                    <a:solidFill>
                      <a:srgbClr val="111827"/>
                    </a:solidFill>
                    <a:latin typeface="Arial"/>
                  </a:rPr>
                  <a:t> and using Vieta on </a:t>
                </a:r>
                <a:r>
                  <a:rPr lang="en-IN" sz="2400">
                    <a:solidFill>
                      <a:srgbClr val="111827"/>
                    </a:solidFill>
                    <a:latin typeface="Cambria Math" panose="02040503050406030204" pitchFamily="18" charset="0"/>
                  </a:rPr>
                  <a:t>$f'$</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local maximum and local minimum values of a cubic are not global extrema; the 'maximum and minimum on </a:t>
                </a:r>
                <a:r>
                  <a:rPr lang="en-IN" sz="2400">
                    <a:solidFill>
                      <a:srgbClr val="111827"/>
                    </a:solidFill>
                    <a:latin typeface="Cambria Math" panose="02040503050406030204" pitchFamily="18" charset="0"/>
                  </a:rPr>
                  <a:t>$\mathbb{R}$</a:t>
                </a:r>
                <a:r>
                  <a:rPr sz="2400" b="0">
                    <a:solidFill>
                      <a:srgbClr val="111827"/>
                    </a:solidFill>
                    <a:latin typeface="Arial"/>
                  </a:rPr>
                  <a:t>' in this question means these local values (a cubic is unbounded).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symmetric-pattern determinant often simplifies with </a:t>
                </a:r>
                <a:r>
                  <a:rPr lang="en-IN" sz="2400">
                    <a:solidFill>
                      <a:srgbClr val="111827"/>
                    </a:solidFill>
                    <a:latin typeface="Cambria Math" panose="02040503050406030204" pitchFamily="18" charset="0"/>
                  </a:rPr>
                  <a:t>$R_1-R_3$</a:t>
                </a:r>
                <a:r>
                  <a:rPr sz="2400" b="0">
                    <a:solidFill>
                      <a:srgbClr val="111827"/>
                    </a:solidFill>
                    <a:latin typeface="Arial"/>
                  </a:rPr>
                  <a:t> or </a:t>
                </a:r>
                <a:r>
                  <a:rPr lang="en-IN" sz="2400">
                    <a:solidFill>
                      <a:srgbClr val="111827"/>
                    </a:solidFill>
                    <a:latin typeface="Cambria Math" panose="02040503050406030204" pitchFamily="18" charset="0"/>
                  </a:rPr>
                  <a:t>$C_1+C_3$</a:t>
                </a:r>
                <a:r>
                  <a:rPr sz="2400" b="0">
                    <a:solidFill>
                      <a:srgbClr val="111827"/>
                    </a:solidFill>
                    <a:latin typeface="Arial"/>
                  </a:rPr>
                  <a:t> to create zeros.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cubic </a:t>
                </a:r>
                <a:r>
                  <a:rPr lang="en-IN" sz="2400">
                    <a:solidFill>
                      <a:srgbClr val="111827"/>
                    </a:solidFill>
                    <a:latin typeface="Cambria Math" panose="02040503050406030204" pitchFamily="18" charset="0"/>
                  </a:rPr>
                  <a:t>$ax^3+bx^2+cx+d$</a:t>
                </a:r>
                <a:r>
                  <a:rPr sz="2400" b="0">
                    <a:solidFill>
                      <a:srgbClr val="111827"/>
                    </a:solidFill>
                    <a:latin typeface="Arial"/>
                  </a:rPr>
                  <a:t> with </a:t>
                </a:r>
                <a:r>
                  <a:rPr lang="en-IN" sz="2400">
                    <a:solidFill>
                      <a:srgbClr val="111827"/>
                    </a:solidFill>
                    <a:latin typeface="Cambria Math" panose="02040503050406030204" pitchFamily="18" charset="0"/>
                  </a:rPr>
                  <a:t>$a&gt;0$</a:t>
                </a:r>
                <a:r>
                  <a:rPr sz="2400" b="0">
                    <a:solidFill>
                      <a:srgbClr val="111827"/>
                    </a:solidFill>
                    <a:latin typeface="Arial"/>
                  </a:rPr>
                  <a:t> has its local max at the smaller root of </a:t>
                </a:r>
                <a:r>
                  <a:rPr lang="en-IN" sz="2400">
                    <a:solidFill>
                      <a:srgbClr val="111827"/>
                    </a:solidFill>
                    <a:latin typeface="Cambria Math" panose="02040503050406030204" pitchFamily="18" charset="0"/>
                  </a:rPr>
                  <a:t>$f'$</a:t>
                </a:r>
                <a:r>
                  <a:rPr sz="2400" b="0">
                    <a:solidFill>
                      <a:srgbClr val="111827"/>
                    </a:solidFill>
                    <a:latin typeface="Arial"/>
                  </a:rPr>
                  <a:t> and local min at the larger root.</a:t>
                </a:r>
                <a:endParaRPr sz="2400">
                  <a:solidFill>
                    <a:srgbClr val="111827"/>
                  </a:solidFill>
                </a:endParaRPr>
              </a:p>
            </p:txBody>
          </p:sp>
        </mc:Fallback>
      </mc:AlternateContent>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40360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be a real number such that the function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R</m:t>
                    </m:r>
                  </m:oMath>
                </a14:m>
                <a:r>
                  <a:rPr sz="2400" b="0">
                    <a:solidFill>
                      <a:srgbClr val="111827"/>
                    </a:solidFill>
                    <a:latin typeface="Arial"/>
                  </a:rPr>
                  <a:t>, is increasing in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4</m:t>
                            </m:r>
                          </m:den>
                        </m:f>
                      </m:e>
                    </m:d>
                  </m:oMath>
                </a14:m>
                <a:r>
                  <a:rPr sz="2400" b="0">
                    <a:solidFill>
                      <a:srgbClr val="111827"/>
                    </a:solidFill>
                    <a:latin typeface="Arial"/>
                  </a:rPr>
                  <a:t> and decreasing in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e>
                    </m:d>
                  </m:oMath>
                </a14:m>
                <a:r>
                  <a:rPr sz="2400" b="0">
                    <a:solidFill>
                      <a:srgbClr val="111827"/>
                    </a:solidFill>
                    <a:latin typeface="Arial"/>
                  </a:rPr>
                  <a:t>. Then the function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R</m:t>
                    </m:r>
                  </m:oMath>
                </a14:m>
                <a:r>
                  <a:rPr sz="2400" b="0">
                    <a:solidFill>
                      <a:srgbClr val="111827"/>
                    </a:solidFill>
                    <a:latin typeface="Arial"/>
                  </a:rPr>
                  <a:t>, has a:</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local minimum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4</m:t>
                        </m:r>
                      </m:den>
                    </m:f>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(B) local maximum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4</m:t>
                        </m:r>
                      </m:den>
                    </m:f>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(C) local maximum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4</m:t>
                        </m:r>
                      </m:den>
                    </m:f>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(D) local minimum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4</m:t>
                        </m:r>
                      </m:den>
                    </m:f>
                  </m:oMath>
                </a14:m>
                <a:endParaRPr sz="2400">
                  <a:solidFill>
                    <a:srgbClr val="111827"/>
                  </a:solidFill>
                </a:endParaRPr>
              </a:p>
            </p:txBody>
          </p:sp>
        </mc:Choice>
        <mc:Fallback>
          <p:sp>
            <p:nvSpPr>
              <p:cNvPr id="4" name="Rounded Rectangle 3"/>
              <p:cNvSpPr/>
              <p:nvPr/>
            </p:nvSpPr>
            <p:spPr>
              <a:xfrm>
                <a:off x="731520" y="1280160"/>
                <a:ext cx="10725912" cy="40360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$a$</a:t>
                </a:r>
                <a:r>
                  <a:rPr sz="2400" b="0">
                    <a:solidFill>
                      <a:srgbClr val="111827"/>
                    </a:solidFill>
                    <a:latin typeface="Arial"/>
                  </a:rPr>
                  <a:t> be a real number such that the function </a:t>
                </a:r>
                <a:r>
                  <a:rPr lang="en-IN" sz="2400">
                    <a:solidFill>
                      <a:srgbClr val="111827"/>
                    </a:solidFill>
                    <a:latin typeface="Cambria Math" panose="02040503050406030204" pitchFamily="18" charset="0"/>
                  </a:rPr>
                  <a:t>$f(x)=ax^2+6x-15$</a:t>
                </a:r>
                <a:r>
                  <a:rPr sz="2400" b="0">
                    <a:solidFill>
                      <a:srgbClr val="111827"/>
                    </a:solidFill>
                    <a:latin typeface="Arial"/>
                  </a:rPr>
                  <a:t>, </a:t>
                </a:r>
                <a:r>
                  <a:rPr lang="en-IN" sz="2400">
                    <a:solidFill>
                      <a:srgbClr val="111827"/>
                    </a:solidFill>
                    <a:latin typeface="Cambria Math" panose="02040503050406030204" pitchFamily="18" charset="0"/>
                  </a:rPr>
                  <a:t>$x\in\mathbb{R}$</a:t>
                </a:r>
                <a:r>
                  <a:rPr sz="2400" b="0">
                    <a:solidFill>
                      <a:srgbClr val="111827"/>
                    </a:solidFill>
                    <a:latin typeface="Arial"/>
                  </a:rPr>
                  <a:t>, is increasing in </a:t>
                </a:r>
                <a:r>
                  <a:rPr lang="en-IN" sz="2400">
                    <a:solidFill>
                      <a:srgbClr val="111827"/>
                    </a:solidFill>
                    <a:latin typeface="Cambria Math" panose="02040503050406030204" pitchFamily="18" charset="0"/>
                  </a:rPr>
                  <a:t>$\left(-\infty,\frac{3}{4}\right)$</a:t>
                </a:r>
                <a:r>
                  <a:rPr sz="2400" b="0">
                    <a:solidFill>
                      <a:srgbClr val="111827"/>
                    </a:solidFill>
                    <a:latin typeface="Arial"/>
                  </a:rPr>
                  <a:t> and decreasing in </a:t>
                </a:r>
                <a:r>
                  <a:rPr lang="en-IN" sz="2400">
                    <a:solidFill>
                      <a:srgbClr val="111827"/>
                    </a:solidFill>
                    <a:latin typeface="Cambria Math" panose="02040503050406030204" pitchFamily="18" charset="0"/>
                  </a:rPr>
                  <a:t>$\left(\frac{3}{4},\infty\right)$</a:t>
                </a:r>
                <a:r>
                  <a:rPr sz="2400" b="0">
                    <a:solidFill>
                      <a:srgbClr val="111827"/>
                    </a:solidFill>
                    <a:latin typeface="Arial"/>
                  </a:rPr>
                  <a:t>. Then the function </a:t>
                </a:r>
                <a:r>
                  <a:rPr lang="en-IN" sz="2400">
                    <a:solidFill>
                      <a:srgbClr val="111827"/>
                    </a:solidFill>
                    <a:latin typeface="Cambria Math" panose="02040503050406030204" pitchFamily="18" charset="0"/>
                  </a:rPr>
                  <a:t>$g(x)=ax^2-6x+15$</a:t>
                </a:r>
                <a:r>
                  <a:rPr sz="2400" b="0">
                    <a:solidFill>
                      <a:srgbClr val="111827"/>
                    </a:solidFill>
                    <a:latin typeface="Arial"/>
                  </a:rPr>
                  <a:t>, </a:t>
                </a:r>
                <a:r>
                  <a:rPr lang="en-IN" sz="2400">
                    <a:solidFill>
                      <a:srgbClr val="111827"/>
                    </a:solidFill>
                    <a:latin typeface="Cambria Math" panose="02040503050406030204" pitchFamily="18" charset="0"/>
                  </a:rPr>
                  <a:t>$x\in\mathbb{R}$</a:t>
                </a:r>
                <a:r>
                  <a:rPr sz="2400" b="0">
                    <a:solidFill>
                      <a:srgbClr val="111827"/>
                    </a:solidFill>
                    <a:latin typeface="Arial"/>
                  </a:rPr>
                  <a:t>, has a:</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local minimum at </a:t>
                </a:r>
                <a:r>
                  <a:rPr lang="en-IN" sz="2400">
                    <a:solidFill>
                      <a:srgbClr val="111827"/>
                    </a:solidFill>
                    <a:latin typeface="Cambria Math" panose="02040503050406030204" pitchFamily="18" charset="0"/>
                  </a:rPr>
                  <a:t>$x=-\frac{3}{4}$</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local maximum at </a:t>
                </a:r>
                <a:r>
                  <a:rPr lang="en-IN" sz="2400">
                    <a:solidFill>
                      <a:srgbClr val="111827"/>
                    </a:solidFill>
                    <a:latin typeface="Cambria Math" panose="02040503050406030204" pitchFamily="18" charset="0"/>
                  </a:rPr>
                  <a:t>$x=\frac{3}{4}$</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local maximum at </a:t>
                </a:r>
                <a:r>
                  <a:rPr lang="en-IN" sz="2400">
                    <a:solidFill>
                      <a:srgbClr val="111827"/>
                    </a:solidFill>
                    <a:latin typeface="Cambria Math" panose="02040503050406030204" pitchFamily="18" charset="0"/>
                  </a:rPr>
                  <a:t>$x=-\frac{3}{4}$</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local minimum at </a:t>
                </a:r>
                <a:r>
                  <a:rPr lang="en-IN" sz="2400">
                    <a:solidFill>
                      <a:srgbClr val="111827"/>
                    </a:solidFill>
                    <a:latin typeface="Cambria Math" panose="02040503050406030204" pitchFamily="18" charset="0"/>
                  </a:rPr>
                  <a:t>$x=\frac{3}{4}$</a:t>
                </a:r>
                <a:endParaRPr sz="2400">
                  <a:solidFill>
                    <a:srgbClr val="111827"/>
                  </a:solidFill>
                </a:endParaRPr>
              </a:p>
            </p:txBody>
          </p:sp>
        </mc:Fallback>
      </mc:AlternateContent>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ectangle 3"/>
          <p:cNvSpPr/>
          <p:nvPr/>
        </p:nvSpPr>
        <p:spPr>
          <a:xfrm>
            <a:off x="731520" y="1280160"/>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Maxima and minima of a quadratic</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3066288"/>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A smooth function changing from increasing to decreasing at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3</m:t>
                        </m:r>
                      </m:num>
                      <m:den>
                        <m:r>
                          <a:rPr lang="en-IN" sz="2400" i="1">
                            <a:solidFill>
                              <a:srgbClr val="78350F"/>
                            </a:solidFill>
                            <a:latin typeface="Cambria Math" panose="02040503050406030204" pitchFamily="18" charset="0"/>
                          </a:rPr>
                          <m:t>4</m:t>
                        </m:r>
                      </m:den>
                    </m:f>
                  </m:oMath>
                </a14:m>
                <a:r>
                  <a:rPr sz="2400" b="0">
                    <a:solidFill>
                      <a:srgbClr val="78350F"/>
                    </a:solidFill>
                    <a:latin typeface="Arial"/>
                  </a:rPr>
                  <a:t> has </a:t>
                </a:r>
                <a14:m>
                  <m:oMath xmlns:m="http://schemas.openxmlformats.org/officeDocument/2006/math">
                    <m:sSup>
                      <m:e>
                        <m:r>
                          <a:rPr lang="en-IN" sz="2400" i="1">
                            <a:solidFill>
                              <a:srgbClr val="78350F"/>
                            </a:solidFill>
                            <a:latin typeface="Cambria Math" panose="02040503050406030204" pitchFamily="18" charset="0"/>
                          </a:rPr>
                          <m:t>𝑓</m:t>
                        </m:r>
                      </m:e>
                      <m:sup>
                        <m:r>
                          <m:rPr>
                            <m:sty m:val="p"/>
                          </m:rPr>
                          <a:rPr lang="en-IN" sz="2400">
                            <a:solidFill>
                              <a:srgbClr val="78350F"/>
                            </a:solidFill>
                            <a:latin typeface="Cambria Math" panose="02040503050406030204" pitchFamily="18" charset="0"/>
                          </a:rPr>
                          <m:t>′</m:t>
                        </m:r>
                      </m:sup>
                    </m:sSup>
                    <m:d>
                      <m:dPr>
                        <m:begChr m:val="("/>
                        <m:sepChr m:val=""/>
                        <m:endChr m:val=")"/>
                        <m:grow/>
                        <m:ctrlPr>
                          <a:rPr lang="en-IN" sz="2400" i="1">
                            <a:solidFill>
                              <a:srgbClr val="78350F"/>
                            </a:solidFill>
                            <a:latin typeface="Cambria Math" panose="02040503050406030204" pitchFamily="18" charset="0"/>
                          </a:rPr>
                        </m:ctrlPr>
                      </m:dPr>
                      <m:e>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3</m:t>
                            </m:r>
                          </m:num>
                          <m:den>
                            <m:r>
                              <a:rPr lang="en-IN" sz="2400" i="1">
                                <a:solidFill>
                                  <a:srgbClr val="78350F"/>
                                </a:solidFill>
                                <a:latin typeface="Cambria Math" panose="02040503050406030204" pitchFamily="18" charset="0"/>
                              </a:rPr>
                              <m:t>4</m:t>
                            </m:r>
                          </m:den>
                        </m:f>
                      </m:e>
                    </m:d>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3066288"/>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A smooth function changing from increasing to decreasing at </a:t>
                </a:r>
                <a:r>
                  <a:rPr lang="en-IN" sz="2400">
                    <a:solidFill>
                      <a:srgbClr val="78350F"/>
                    </a:solidFill>
                    <a:latin typeface="Cambria Math" panose="02040503050406030204" pitchFamily="18" charset="0"/>
                  </a:rPr>
                  <a:t>$x=\frac{3}{4}$</a:t>
                </a:r>
                <a:r>
                  <a:rPr sz="2400" b="0">
                    <a:solidFill>
                      <a:srgbClr val="78350F"/>
                    </a:solidFill>
                    <a:latin typeface="Arial"/>
                  </a:rPr>
                  <a:t> has </a:t>
                </a:r>
                <a:r>
                  <a:rPr lang="en-IN" sz="2400">
                    <a:solidFill>
                      <a:srgbClr val="78350F"/>
                    </a:solidFill>
                    <a:latin typeface="Cambria Math" panose="02040503050406030204" pitchFamily="18" charset="0"/>
                  </a:rPr>
                  <a:t>$f'\left(\frac{3}{4}\right)=0$</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4532376"/>
                <a:ext cx="10725912" cy="214274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 changes from increasing to decreasing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4</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4532376"/>
                <a:ext cx="10725912" cy="214274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$f(x)=ax^2+6x-15$</a:t>
                </a:r>
                <a:r>
                  <a:rPr sz="2400" b="0">
                    <a:solidFill>
                      <a:srgbClr val="111827"/>
                    </a:solidFill>
                    <a:latin typeface="Arial"/>
                  </a:rPr>
                  <a:t> changes from increasing to decreasing at </a:t>
                </a:r>
                <a:r>
                  <a:rPr lang="en-IN" sz="2400">
                    <a:solidFill>
                      <a:srgbClr val="111827"/>
                    </a:solidFill>
                    <a:latin typeface="Cambria Math" panose="02040503050406030204" pitchFamily="18" charset="0"/>
                  </a:rPr>
                  <a:t>$x=\frac{3}{4}$</a:t>
                </a:r>
                <a:r>
                  <a:rPr sz="2400" b="0">
                    <a:solidFill>
                      <a:srgbClr val="111827"/>
                    </a:solidFill>
                    <a:latin typeface="Arial"/>
                  </a:rPr>
                  <a:t>, so </a:t>
                </a:r>
                <a:r>
                  <a:rPr lang="en-IN" sz="2400">
                    <a:solidFill>
                      <a:srgbClr val="111827"/>
                    </a:solidFill>
                    <a:latin typeface="Cambria Math" panose="02040503050406030204" pitchFamily="18" charset="0"/>
                  </a:rPr>
                  <a:t>$f'\left(\frac{3}{4}\right)=0$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$f'(x)=2ax+6$</a:t>
                </a:r>
                <a:r>
                  <a:rPr sz="2400" b="0">
                    <a:solidFill>
                      <a:srgbClr val="111827"/>
                    </a:solidFill>
                    <a:latin typeface="Arial"/>
                  </a:rPr>
                  <a:t>, so </a:t>
                </a:r>
                <a:r>
                  <a:rPr lang="en-IN" sz="2400">
                    <a:solidFill>
                      <a:srgbClr val="111827"/>
                    </a:solidFill>
                    <a:latin typeface="Cambria Math" panose="02040503050406030204" pitchFamily="18" charset="0"/>
                  </a:rPr>
                  <a:t>$2a\cdot\frac{3}{4}+6=0\Rightarrow a=-4$</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Then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which vanishes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Sign of </a:t>
                </a:r>
                <a14:m>
                  <m:oMath xmlns:m="http://schemas.openxmlformats.org/officeDocument/2006/math">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positive 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&lt;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and negative 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&gt;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𝑔</m:t>
                    </m:r>
                  </m:oMath>
                </a14:m>
                <a:r>
                  <a:rPr sz="2400" b="0">
                    <a:solidFill>
                      <a:srgbClr val="111827"/>
                    </a:solidFill>
                    <a:latin typeface="Arial"/>
                  </a:rPr>
                  <a:t> increases then decreases: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is a point of local maximum (option C).</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Then </a:t>
                </a:r>
                <a:r>
                  <a:rPr lang="en-IN" sz="2400">
                    <a:solidFill>
                      <a:srgbClr val="111827"/>
                    </a:solidFill>
                    <a:latin typeface="Cambria Math" panose="02040503050406030204" pitchFamily="18" charset="0"/>
                  </a:rPr>
                  <a:t>$g(x)=-4x^2-6x+15$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$g'(x)=-8x-6$</a:t>
                </a:r>
                <a:r>
                  <a:rPr sz="2400" b="0">
                    <a:solidFill>
                      <a:srgbClr val="111827"/>
                    </a:solidFill>
                    <a:latin typeface="Arial"/>
                  </a:rPr>
                  <a:t>, which vanishes at </a:t>
                </a:r>
                <a:r>
                  <a:rPr lang="en-IN" sz="2400">
                    <a:solidFill>
                      <a:srgbClr val="111827"/>
                    </a:solidFill>
                    <a:latin typeface="Cambria Math" panose="02040503050406030204" pitchFamily="18" charset="0"/>
                  </a:rPr>
                  <a:t>$x=-\frac{3}{4}$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Sign of </a:t>
                </a:r>
                <a:r>
                  <a:rPr lang="en-IN" sz="2400">
                    <a:solidFill>
                      <a:srgbClr val="111827"/>
                    </a:solidFill>
                    <a:latin typeface="Cambria Math" panose="02040503050406030204" pitchFamily="18" charset="0"/>
                  </a:rPr>
                  <a:t>$g'$</a:t>
                </a:r>
                <a:r>
                  <a:rPr sz="2400" b="0">
                    <a:solidFill>
                      <a:srgbClr val="111827"/>
                    </a:solidFill>
                    <a:latin typeface="Arial"/>
                  </a:rPr>
                  <a:t>: positive for </a:t>
                </a:r>
                <a:r>
                  <a:rPr lang="en-IN" sz="2400">
                    <a:solidFill>
                      <a:srgbClr val="111827"/>
                    </a:solidFill>
                    <a:latin typeface="Cambria Math" panose="02040503050406030204" pitchFamily="18" charset="0"/>
                  </a:rPr>
                  <a:t>$x&lt;-\frac{3}{4}$</a:t>
                </a:r>
                <a:r>
                  <a:rPr sz="2400" b="0">
                    <a:solidFill>
                      <a:srgbClr val="111827"/>
                    </a:solidFill>
                    <a:latin typeface="Arial"/>
                  </a:rPr>
                  <a:t> and negative for </a:t>
                </a:r>
                <a:r>
                  <a:rPr lang="en-IN" sz="2400">
                    <a:solidFill>
                      <a:srgbClr val="111827"/>
                    </a:solidFill>
                    <a:latin typeface="Cambria Math" panose="02040503050406030204" pitchFamily="18" charset="0"/>
                  </a:rPr>
                  <a:t>$x&gt;-\frac{3}{4}$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$g$</a:t>
                </a:r>
                <a:r>
                  <a:rPr sz="2400" b="0">
                    <a:solidFill>
                      <a:srgbClr val="111827"/>
                    </a:solidFill>
                    <a:latin typeface="Arial"/>
                  </a:rPr>
                  <a:t> increases then decreases: </a:t>
                </a:r>
                <a:r>
                  <a:rPr lang="en-IN" sz="2400">
                    <a:solidFill>
                      <a:srgbClr val="111827"/>
                    </a:solidFill>
                    <a:latin typeface="Cambria Math" panose="02040503050406030204" pitchFamily="18" charset="0"/>
                  </a:rPr>
                  <a:t>$x=-\frac{3}{4}$</a:t>
                </a:r>
                <a:r>
                  <a:rPr sz="2400" b="0">
                    <a:solidFill>
                      <a:srgbClr val="111827"/>
                    </a:solidFill>
                    <a:latin typeface="Arial"/>
                  </a:rPr>
                  <a:t> is a point of local maximum (option C).</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local maximum at </a:t>
                </a:r>
                <a14:m>
                  <m:oMath xmlns:m="http://schemas.openxmlformats.org/officeDocument/2006/math">
                    <m:r>
                      <a:rPr lang="en-IN" sz="2800" i="1">
                        <a:solidFill>
                          <a:srgbClr val="15803D"/>
                        </a:solidFill>
                        <a:latin typeface="Cambria Math" panose="02040503050406030204" pitchFamily="18" charset="0"/>
                      </a:rPr>
                      <m:t>𝑥</m:t>
                    </m:r>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3</m:t>
                        </m:r>
                      </m:num>
                      <m:den>
                        <m:r>
                          <a:rPr lang="en-IN" sz="2800" i="1">
                            <a:solidFill>
                              <a:srgbClr val="15803D"/>
                            </a:solidFill>
                            <a:latin typeface="Cambria Math" panose="02040503050406030204" pitchFamily="18" charset="0"/>
                          </a:rPr>
                          <m:t>4</m:t>
                        </m:r>
                      </m:den>
                    </m:f>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local maximum at </a:t>
                </a:r>
                <a:r>
                  <a:rPr lang="en-IN" sz="2800">
                    <a:solidFill>
                      <a:srgbClr val="15803D"/>
                    </a:solidFill>
                    <a:latin typeface="Cambria Math" panose="02040503050406030204" pitchFamily="18" charset="0"/>
                  </a:rPr>
                  <a:t>$x=-\frac{3}{4}$</a:t>
                </a:r>
                <a:endParaRPr sz="2800">
                  <a:solidFill>
                    <a:srgbClr val="15803D"/>
                  </a:solidFill>
                </a:endParaRPr>
              </a:p>
            </p:txBody>
          </p:sp>
        </mc:Fallback>
      </mc:AlternateContent>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Note </a:t>
                </a:r>
                <a14:m>
                  <m:oMath xmlns:m="http://schemas.openxmlformats.org/officeDocument/2006/math">
                    <m:r>
                      <a:rPr lang="en-IN" sz="2400" i="1">
                        <a:solidFill>
                          <a:srgbClr val="78350F"/>
                        </a:solidFill>
                        <a:latin typeface="Cambria Math" panose="02040503050406030204" pitchFamily="18" charset="0"/>
                      </a:rPr>
                      <m:t>𝑔</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𝑓</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30</m:t>
                    </m:r>
                  </m:oMath>
                </a14:m>
                <a:r>
                  <a:rPr sz="2400" b="0">
                    <a:solidFill>
                      <a:srgbClr val="78350F"/>
                    </a:solidFill>
                    <a:latin typeface="Arial"/>
                  </a:rPr>
                  <a:t>, so the graph of </a:t>
                </a:r>
                <a14:m>
                  <m:oMath xmlns:m="http://schemas.openxmlformats.org/officeDocument/2006/math">
                    <m:r>
                      <a:rPr lang="en-IN" sz="2400" i="1">
                        <a:solidFill>
                          <a:srgbClr val="78350F"/>
                        </a:solidFill>
                        <a:latin typeface="Cambria Math" panose="02040503050406030204" pitchFamily="18" charset="0"/>
                      </a:rPr>
                      <m:t>𝑔</m:t>
                    </m:r>
                  </m:oMath>
                </a14:m>
                <a:r>
                  <a:rPr sz="2400" b="0">
                    <a:solidFill>
                      <a:srgbClr val="78350F"/>
                    </a:solidFill>
                    <a:latin typeface="Arial"/>
                  </a:rPr>
                  <a:t> is the mirror image of </a:t>
                </a:r>
                <a14:m>
                  <m:oMath xmlns:m="http://schemas.openxmlformats.org/officeDocument/2006/math">
                    <m:r>
                      <a:rPr lang="en-IN" sz="2400" i="1">
                        <a:solidFill>
                          <a:srgbClr val="78350F"/>
                        </a:solidFill>
                        <a:latin typeface="Cambria Math" panose="02040503050406030204" pitchFamily="18" charset="0"/>
                      </a:rPr>
                      <m:t>𝑓</m:t>
                    </m:r>
                  </m:oMath>
                </a14:m>
                <a:r>
                  <a:rPr sz="2400" b="0">
                    <a:solidFill>
                      <a:srgbClr val="78350F"/>
                    </a:solidFill>
                    <a:latin typeface="Arial"/>
                  </a:rPr>
                  <a:t> in the </a:t>
                </a:r>
                <a14:m>
                  <m:oMath xmlns:m="http://schemas.openxmlformats.org/officeDocument/2006/math">
                    <m:r>
                      <a:rPr lang="en-IN" sz="2400" i="1">
                        <a:solidFill>
                          <a:srgbClr val="78350F"/>
                        </a:solidFill>
                        <a:latin typeface="Cambria Math" panose="02040503050406030204" pitchFamily="18" charset="0"/>
                      </a:rPr>
                      <m:t>𝑦</m:t>
                    </m:r>
                  </m:oMath>
                </a14:m>
                <a:r>
                  <a:rPr sz="2400" b="0">
                    <a:solidFill>
                      <a:srgbClr val="78350F"/>
                    </a:solidFill>
                    <a:latin typeface="Arial"/>
                  </a:rPr>
                  <a:t>-axis, raised by </a:t>
                </a:r>
                <a14:m>
                  <m:oMath xmlns:m="http://schemas.openxmlformats.org/officeDocument/2006/math">
                    <m:r>
                      <a:rPr lang="en-IN" sz="2400" i="1">
                        <a:solidFill>
                          <a:srgbClr val="78350F"/>
                        </a:solidFill>
                        <a:latin typeface="Cambria Math" panose="02040503050406030204" pitchFamily="18" charset="0"/>
                      </a:rPr>
                      <m:t>30</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Note </a:t>
                </a:r>
                <a:r>
                  <a:rPr lang="en-IN" sz="2400">
                    <a:solidFill>
                      <a:srgbClr val="78350F"/>
                    </a:solidFill>
                    <a:latin typeface="Cambria Math" panose="02040503050406030204" pitchFamily="18" charset="0"/>
                  </a:rPr>
                  <a:t>$g(x)=f(-x)+30$</a:t>
                </a:r>
                <a:r>
                  <a:rPr sz="2400" b="0">
                    <a:solidFill>
                      <a:srgbClr val="78350F"/>
                    </a:solidFill>
                    <a:latin typeface="Arial"/>
                  </a:rPr>
                  <a:t>, so the graph of </a:t>
                </a:r>
                <a:r>
                  <a:rPr lang="en-IN" sz="2400">
                    <a:solidFill>
                      <a:srgbClr val="78350F"/>
                    </a:solidFill>
                    <a:latin typeface="Cambria Math" panose="02040503050406030204" pitchFamily="18" charset="0"/>
                  </a:rPr>
                  <a:t>$g$</a:t>
                </a:r>
                <a:r>
                  <a:rPr sz="2400" b="0">
                    <a:solidFill>
                      <a:srgbClr val="78350F"/>
                    </a:solidFill>
                    <a:latin typeface="Arial"/>
                  </a:rPr>
                  <a:t> is the mirror image of </a:t>
                </a:r>
                <a:r>
                  <a:rPr lang="en-IN" sz="2400">
                    <a:solidFill>
                      <a:srgbClr val="78350F"/>
                    </a:solidFill>
                    <a:latin typeface="Cambria Math" panose="02040503050406030204" pitchFamily="18" charset="0"/>
                  </a:rPr>
                  <a:t>$f$</a:t>
                </a:r>
                <a:r>
                  <a:rPr sz="2400" b="0">
                    <a:solidFill>
                      <a:srgbClr val="78350F"/>
                    </a:solidFill>
                    <a:latin typeface="Arial"/>
                  </a:rPr>
                  <a:t> in the </a:t>
                </a:r>
                <a:r>
                  <a:rPr lang="en-IN" sz="2400">
                    <a:solidFill>
                      <a:srgbClr val="78350F"/>
                    </a:solidFill>
                    <a:latin typeface="Cambria Math" panose="02040503050406030204" pitchFamily="18" charset="0"/>
                  </a:rPr>
                  <a:t>$y$</a:t>
                </a:r>
                <a:r>
                  <a:rPr sz="2400" b="0">
                    <a:solidFill>
                      <a:srgbClr val="78350F"/>
                    </a:solidFill>
                    <a:latin typeface="Arial"/>
                  </a:rPr>
                  <a:t>-axis, raised by </a:t>
                </a:r>
                <a:r>
                  <a:rPr lang="en-IN" sz="2400">
                    <a:solidFill>
                      <a:srgbClr val="78350F"/>
                    </a:solidFill>
                    <a:latin typeface="Cambria Math" panose="02040503050406030204" pitchFamily="18" charset="0"/>
                  </a:rPr>
                  <a:t>$30$</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 hence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has its turning point (a maximum, increasing then decreasing)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$f(-x)=ax^2-6x-15$</a:t>
                </a:r>
                <a:r>
                  <a:rPr sz="2400" b="0">
                    <a:solidFill>
                      <a:srgbClr val="111827"/>
                    </a:solidFill>
                    <a:latin typeface="Arial"/>
                  </a:rPr>
                  <a:t>, hence </a:t>
                </a:r>
                <a:r>
                  <a:rPr lang="en-IN" sz="2400">
                    <a:solidFill>
                      <a:srgbClr val="111827"/>
                    </a:solidFill>
                    <a:latin typeface="Cambria Math" panose="02040503050406030204" pitchFamily="18" charset="0"/>
                  </a:rPr>
                  <a:t>$g(x)=ax^2-6x+15=f(-x)+30$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a:t>
                </a:r>
                <a:r>
                  <a:rPr sz="2400" b="0">
                    <a:solidFill>
                      <a:srgbClr val="111827"/>
                    </a:solidFill>
                    <a:latin typeface="Arial"/>
                  </a:rPr>
                  <a:t> has its turning point (a maximum, increasing then decreasing) at </a:t>
                </a:r>
                <a:r>
                  <a:rPr lang="en-IN" sz="2400">
                    <a:solidFill>
                      <a:srgbClr val="111827"/>
                    </a:solidFill>
                    <a:latin typeface="Cambria Math" panose="02040503050406030204" pitchFamily="18" charset="0"/>
                  </a:rPr>
                  <a:t>$x=\frac{3}{4}$</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Reflection in the </a:t>
                </a:r>
                <a14:m>
                  <m:oMath xmlns:m="http://schemas.openxmlformats.org/officeDocument/2006/math">
                    <m:r>
                      <a:rPr lang="en-IN" sz="2400" i="1">
                        <a:solidFill>
                          <a:srgbClr val="111827"/>
                        </a:solidFill>
                        <a:latin typeface="Cambria Math" panose="02040503050406030204" pitchFamily="18" charset="0"/>
                      </a:rPr>
                      <m:t>𝑦</m:t>
                    </m:r>
                  </m:oMath>
                </a14:m>
                <a:r>
                  <a:rPr sz="2400" b="0">
                    <a:solidFill>
                      <a:srgbClr val="111827"/>
                    </a:solidFill>
                    <a:latin typeface="Arial"/>
                  </a:rPr>
                  <a:t>-axis moves this maximum to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and adding the constant </a:t>
                </a:r>
                <a14:m>
                  <m:oMath xmlns:m="http://schemas.openxmlformats.org/officeDocument/2006/math">
                    <m:r>
                      <a:rPr lang="en-IN" sz="2400" i="1">
                        <a:solidFill>
                          <a:srgbClr val="111827"/>
                        </a:solidFill>
                        <a:latin typeface="Cambria Math" panose="02040503050406030204" pitchFamily="18" charset="0"/>
                      </a:rPr>
                      <m:t>30</m:t>
                    </m:r>
                  </m:oMath>
                </a14:m>
                <a:r>
                  <a:rPr sz="2400" b="0">
                    <a:solidFill>
                      <a:srgbClr val="111827"/>
                    </a:solidFill>
                    <a:latin typeface="Arial"/>
                  </a:rPr>
                  <a:t> does not change the nature of the point.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𝑔</m:t>
                    </m:r>
                  </m:oMath>
                </a14:m>
                <a:r>
                  <a:rPr sz="2400" b="0">
                    <a:solidFill>
                      <a:srgbClr val="111827"/>
                    </a:solidFill>
                    <a:latin typeface="Arial"/>
                  </a:rPr>
                  <a:t> has a local maximum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(option C); no need to compute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at all.</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Reflection in the </a:t>
                </a:r>
                <a:r>
                  <a:rPr lang="en-IN" sz="2400">
                    <a:solidFill>
                      <a:srgbClr val="111827"/>
                    </a:solidFill>
                    <a:latin typeface="Cambria Math" panose="02040503050406030204" pitchFamily="18" charset="0"/>
                  </a:rPr>
                  <a:t>$y$</a:t>
                </a:r>
                <a:r>
                  <a:rPr sz="2400" b="0">
                    <a:solidFill>
                      <a:srgbClr val="111827"/>
                    </a:solidFill>
                    <a:latin typeface="Arial"/>
                  </a:rPr>
                  <a:t>-axis moves this maximum to </a:t>
                </a:r>
                <a:r>
                  <a:rPr lang="en-IN" sz="2400">
                    <a:solidFill>
                      <a:srgbClr val="111827"/>
                    </a:solidFill>
                    <a:latin typeface="Cambria Math" panose="02040503050406030204" pitchFamily="18" charset="0"/>
                  </a:rPr>
                  <a:t>$x=-\frac{3}{4}$</a:t>
                </a:r>
                <a:r>
                  <a:rPr sz="2400" b="0">
                    <a:solidFill>
                      <a:srgbClr val="111827"/>
                    </a:solidFill>
                    <a:latin typeface="Arial"/>
                  </a:rPr>
                  <a:t>, and adding the constant </a:t>
                </a:r>
                <a:r>
                  <a:rPr lang="en-IN" sz="2400">
                    <a:solidFill>
                      <a:srgbClr val="111827"/>
                    </a:solidFill>
                    <a:latin typeface="Cambria Math" panose="02040503050406030204" pitchFamily="18" charset="0"/>
                  </a:rPr>
                  <a:t>$30$</a:t>
                </a:r>
                <a:r>
                  <a:rPr sz="2400" b="0">
                    <a:solidFill>
                      <a:srgbClr val="111827"/>
                    </a:solidFill>
                    <a:latin typeface="Arial"/>
                  </a:rPr>
                  <a:t> does not change the nature of the point.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$g$</a:t>
                </a:r>
                <a:r>
                  <a:rPr sz="2400" b="0">
                    <a:solidFill>
                      <a:srgbClr val="111827"/>
                    </a:solidFill>
                    <a:latin typeface="Arial"/>
                  </a:rPr>
                  <a:t> has a local maximum at </a:t>
                </a:r>
                <a:r>
                  <a:rPr lang="en-IN" sz="2400">
                    <a:solidFill>
                      <a:srgbClr val="111827"/>
                    </a:solidFill>
                    <a:latin typeface="Cambria Math" panose="02040503050406030204" pitchFamily="18" charset="0"/>
                  </a:rPr>
                  <a:t>$x=-\frac{3}{4}$</a:t>
                </a:r>
                <a:r>
                  <a:rPr sz="2400" b="0">
                    <a:solidFill>
                      <a:srgbClr val="111827"/>
                    </a:solidFill>
                    <a:latin typeface="Arial"/>
                  </a:rPr>
                  <a:t> (option C); no need to compute </a:t>
                </a:r>
                <a:r>
                  <a:rPr lang="en-IN" sz="2400">
                    <a:solidFill>
                      <a:srgbClr val="111827"/>
                    </a:solidFill>
                    <a:latin typeface="Cambria Math" panose="02040503050406030204" pitchFamily="18" charset="0"/>
                  </a:rPr>
                  <a:t>$a$</a:t>
                </a:r>
                <a:r>
                  <a:rPr sz="2400" b="0">
                    <a:solidFill>
                      <a:srgbClr val="111827"/>
                    </a:solidFill>
                    <a:latin typeface="Arial"/>
                  </a:rPr>
                  <a:t> at all.</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local maximum at </a:t>
                </a:r>
                <a14:m>
                  <m:oMath xmlns:m="http://schemas.openxmlformats.org/officeDocument/2006/math">
                    <m:r>
                      <a:rPr lang="en-IN" sz="2800" i="1">
                        <a:solidFill>
                          <a:srgbClr val="15803D"/>
                        </a:solidFill>
                        <a:latin typeface="Cambria Math" panose="02040503050406030204" pitchFamily="18" charset="0"/>
                      </a:rPr>
                      <m:t>𝑥</m:t>
                    </m:r>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3</m:t>
                        </m:r>
                      </m:num>
                      <m:den>
                        <m:r>
                          <a:rPr lang="en-IN" sz="2800" i="1">
                            <a:solidFill>
                              <a:srgbClr val="15803D"/>
                            </a:solidFill>
                            <a:latin typeface="Cambria Math" panose="02040503050406030204" pitchFamily="18" charset="0"/>
                          </a:rPr>
                          <m:t>4</m:t>
                        </m:r>
                      </m:den>
                    </m:f>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local maximum at </a:t>
                </a:r>
                <a:r>
                  <a:rPr lang="en-IN" sz="2800">
                    <a:solidFill>
                      <a:srgbClr val="15803D"/>
                    </a:solidFill>
                    <a:latin typeface="Cambria Math" panose="02040503050406030204" pitchFamily="18" charset="0"/>
                  </a:rPr>
                  <a:t>$x=-\frac{3}{4}$</a:t>
                </a:r>
                <a:endParaRPr sz="2800">
                  <a:solidFill>
                    <a:srgbClr val="15803D"/>
                  </a:solidFill>
                </a:endParaRPr>
              </a:p>
            </p:txBody>
          </p:sp>
        </mc:Fallback>
      </mc:AlternateContent>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 quadratic </a:t>
                </a:r>
                <a14:m>
                  <m:oMath xmlns:m="http://schemas.openxmlformats.org/officeDocument/2006/math">
                    <m:r>
                      <a:rPr lang="en-IN" sz="2400" i="1">
                        <a:solidFill>
                          <a:srgbClr val="111827"/>
                        </a:solidFill>
                        <a:latin typeface="Cambria Math" panose="02040503050406030204" pitchFamily="18" charset="0"/>
                      </a:rPr>
                      <m:t>𝑎</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the vertex is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𝑏</m:t>
                        </m:r>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den>
                    </m:f>
                  </m:oMath>
                </a14:m>
                <a:r>
                  <a:rPr sz="2400" b="0">
                    <a:solidFill>
                      <a:srgbClr val="111827"/>
                    </a:solidFill>
                    <a:latin typeface="Arial"/>
                  </a:rPr>
                  <a:t> and it is a maximum iff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Graph of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the mirror image of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in the </a:t>
                </a:r>
                <a14:m>
                  <m:oMath xmlns:m="http://schemas.openxmlformats.org/officeDocument/2006/math">
                    <m:r>
                      <a:rPr lang="en-IN" sz="2400" i="1">
                        <a:solidFill>
                          <a:srgbClr val="111827"/>
                        </a:solidFill>
                        <a:latin typeface="Cambria Math" panose="02040503050406030204" pitchFamily="18" charset="0"/>
                      </a:rPr>
                      <m:t>𝑦</m:t>
                    </m:r>
                  </m:oMath>
                </a14:m>
                <a:r>
                  <a:rPr sz="2400" b="0">
                    <a:solidFill>
                      <a:srgbClr val="111827"/>
                    </a:solidFill>
                    <a:latin typeface="Arial"/>
                  </a:rPr>
                  <a:t>-axis; local maxima stay maxima and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-coordinates change sign.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sign change of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from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to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gives a local maximum; for a differentiable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must vanish at that point.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 quadratic </a:t>
                </a:r>
                <a:r>
                  <a:rPr lang="en-IN" sz="2400">
                    <a:solidFill>
                      <a:srgbClr val="111827"/>
                    </a:solidFill>
                    <a:latin typeface="Cambria Math" panose="02040503050406030204" pitchFamily="18" charset="0"/>
                  </a:rPr>
                  <a:t>$ax^2+bx+c$</a:t>
                </a:r>
                <a:r>
                  <a:rPr sz="2400" b="0">
                    <a:solidFill>
                      <a:srgbClr val="111827"/>
                    </a:solidFill>
                    <a:latin typeface="Arial"/>
                  </a:rPr>
                  <a:t>, the vertex is at </a:t>
                </a:r>
                <a:r>
                  <a:rPr lang="en-IN" sz="2400">
                    <a:solidFill>
                      <a:srgbClr val="111827"/>
                    </a:solidFill>
                    <a:latin typeface="Cambria Math" panose="02040503050406030204" pitchFamily="18" charset="0"/>
                  </a:rPr>
                  <a:t>$x=-\frac{b}{2a}$</a:t>
                </a:r>
                <a:r>
                  <a:rPr sz="2400" b="0">
                    <a:solidFill>
                      <a:srgbClr val="111827"/>
                    </a:solidFill>
                    <a:latin typeface="Arial"/>
                  </a:rPr>
                  <a:t> and it is a maximum iff </a:t>
                </a:r>
                <a:r>
                  <a:rPr lang="en-IN" sz="2400">
                    <a:solidFill>
                      <a:srgbClr val="111827"/>
                    </a:solidFill>
                    <a:latin typeface="Cambria Math" panose="02040503050406030204" pitchFamily="18" charset="0"/>
                  </a:rPr>
                  <a:t>$a&lt;0$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Graph of </a:t>
                </a:r>
                <a:r>
                  <a:rPr lang="en-IN" sz="2400">
                    <a:solidFill>
                      <a:srgbClr val="111827"/>
                    </a:solidFill>
                    <a:latin typeface="Cambria Math" panose="02040503050406030204" pitchFamily="18" charset="0"/>
                  </a:rPr>
                  <a:t>$f(-x)$</a:t>
                </a:r>
                <a:r>
                  <a:rPr sz="2400" b="0">
                    <a:solidFill>
                      <a:srgbClr val="111827"/>
                    </a:solidFill>
                    <a:latin typeface="Arial"/>
                  </a:rPr>
                  <a:t> is the mirror image of </a:t>
                </a:r>
                <a:r>
                  <a:rPr lang="en-IN" sz="2400">
                    <a:solidFill>
                      <a:srgbClr val="111827"/>
                    </a:solidFill>
                    <a:latin typeface="Cambria Math" panose="02040503050406030204" pitchFamily="18" charset="0"/>
                  </a:rPr>
                  <a:t>$f(x)$</a:t>
                </a:r>
                <a:r>
                  <a:rPr sz="2400" b="0">
                    <a:solidFill>
                      <a:srgbClr val="111827"/>
                    </a:solidFill>
                    <a:latin typeface="Arial"/>
                  </a:rPr>
                  <a:t> in the </a:t>
                </a:r>
                <a:r>
                  <a:rPr lang="en-IN" sz="2400">
                    <a:solidFill>
                      <a:srgbClr val="111827"/>
                    </a:solidFill>
                    <a:latin typeface="Cambria Math" panose="02040503050406030204" pitchFamily="18" charset="0"/>
                  </a:rPr>
                  <a:t>$y$</a:t>
                </a:r>
                <a:r>
                  <a:rPr sz="2400" b="0">
                    <a:solidFill>
                      <a:srgbClr val="111827"/>
                    </a:solidFill>
                    <a:latin typeface="Arial"/>
                  </a:rPr>
                  <a:t>-axis; local maxima stay maxima and </a:t>
                </a:r>
                <a:r>
                  <a:rPr lang="en-IN" sz="2400">
                    <a:solidFill>
                      <a:srgbClr val="111827"/>
                    </a:solidFill>
                    <a:latin typeface="Cambria Math" panose="02040503050406030204" pitchFamily="18" charset="0"/>
                  </a:rPr>
                  <a:t>$x$</a:t>
                </a:r>
                <a:r>
                  <a:rPr sz="2400" b="0">
                    <a:solidFill>
                      <a:srgbClr val="111827"/>
                    </a:solidFill>
                    <a:latin typeface="Arial"/>
                  </a:rPr>
                  <a:t>-coordinates change sign.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sign change of </a:t>
                </a:r>
                <a:r>
                  <a:rPr lang="en-IN" sz="2400">
                    <a:solidFill>
                      <a:srgbClr val="111827"/>
                    </a:solidFill>
                    <a:latin typeface="Cambria Math" panose="02040503050406030204" pitchFamily="18" charset="0"/>
                  </a:rPr>
                  <a:t>$f'$</a:t>
                </a:r>
                <a:r>
                  <a:rPr sz="2400" b="0">
                    <a:solidFill>
                      <a:srgbClr val="111827"/>
                    </a:solidFill>
                    <a:latin typeface="Arial"/>
                  </a:rPr>
                  <a:t> from </a:t>
                </a:r>
                <a:r>
                  <a:rPr lang="en-IN" sz="2400">
                    <a:solidFill>
                      <a:srgbClr val="111827"/>
                    </a:solidFill>
                    <a:latin typeface="Cambria Math" panose="02040503050406030204" pitchFamily="18" charset="0"/>
                  </a:rPr>
                  <a:t>$+$</a:t>
                </a:r>
                <a:r>
                  <a:rPr sz="2400" b="0">
                    <a:solidFill>
                      <a:srgbClr val="111827"/>
                    </a:solidFill>
                    <a:latin typeface="Arial"/>
                  </a:rPr>
                  <a:t> to </a:t>
                </a:r>
                <a:r>
                  <a:rPr lang="en-IN" sz="2400">
                    <a:solidFill>
                      <a:srgbClr val="111827"/>
                    </a:solidFill>
                    <a:latin typeface="Cambria Math" panose="02040503050406030204" pitchFamily="18" charset="0"/>
                  </a:rPr>
                  <a:t>$-$</a:t>
                </a:r>
                <a:r>
                  <a:rPr sz="2400" b="0">
                    <a:solidFill>
                      <a:srgbClr val="111827"/>
                    </a:solidFill>
                    <a:latin typeface="Arial"/>
                  </a:rPr>
                  <a:t> gives a local maximum; for a differentiable </a:t>
                </a:r>
                <a:r>
                  <a:rPr lang="en-IN" sz="2400">
                    <a:solidFill>
                      <a:srgbClr val="111827"/>
                    </a:solidFill>
                    <a:latin typeface="Cambria Math" panose="02040503050406030204" pitchFamily="18" charset="0"/>
                  </a:rPr>
                  <a:t>$f$</a:t>
                </a:r>
                <a:r>
                  <a:rPr sz="2400" b="0">
                    <a:solidFill>
                      <a:srgbClr val="111827"/>
                    </a:solidFill>
                    <a:latin typeface="Arial"/>
                  </a:rPr>
                  <a:t>, </a:t>
                </a:r>
                <a:r>
                  <a:rPr lang="en-IN" sz="2400">
                    <a:solidFill>
                      <a:srgbClr val="111827"/>
                    </a:solidFill>
                    <a:latin typeface="Cambria Math" panose="02040503050406030204" pitchFamily="18" charset="0"/>
                  </a:rPr>
                  <a:t>$f'$</a:t>
                </a:r>
                <a:r>
                  <a:rPr sz="2400" b="0">
                    <a:solidFill>
                      <a:srgbClr val="111827"/>
                    </a:solidFill>
                    <a:latin typeface="Arial"/>
                  </a:rPr>
                  <a:t> must vanish at that point.</a:t>
                </a:r>
                <a:endParaRPr sz="2400">
                  <a:solidFill>
                    <a:srgbClr val="111827"/>
                  </a:solidFill>
                </a:endParaRPr>
              </a:p>
            </p:txBody>
          </p:sp>
        </mc:Fallback>
      </mc:AlternateContent>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18135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sum of all the local minimum values of the twice differentiable function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R</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R</m:t>
                    </m:r>
                  </m:oMath>
                </a14:m>
                <a:r>
                  <a:rPr sz="2400" b="0">
                    <a:solidFill>
                      <a:srgbClr val="111827"/>
                    </a:solidFill>
                    <a:latin typeface="Arial"/>
                  </a:rPr>
                  <a:t> defined by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den>
                    </m:f>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27</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22</m:t>
                    </m:r>
                  </m:oMath>
                </a14:m>
                <a:endParaRPr sz="2400">
                  <a:solidFill>
                    <a:srgbClr val="111827"/>
                  </a:solidFill>
                </a:endParaRPr>
              </a:p>
            </p:txBody>
          </p:sp>
        </mc:Choice>
        <mc:Fallback>
          <p:sp>
            <p:nvSpPr>
              <p:cNvPr id="4" name="Rounded Rectangle 3"/>
              <p:cNvSpPr/>
              <p:nvPr/>
            </p:nvSpPr>
            <p:spPr>
              <a:xfrm>
                <a:off x="731520" y="1280160"/>
                <a:ext cx="10725912" cy="218135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sum of all the local minimum values of the twice differentiable function </a:t>
                </a:r>
                <a:r>
                  <a:rPr lang="en-IN" sz="2400">
                    <a:solidFill>
                      <a:srgbClr val="111827"/>
                    </a:solidFill>
                    <a:latin typeface="Cambria Math" panose="02040503050406030204" pitchFamily="18" charset="0"/>
                  </a:rPr>
                  <a:t>$f:\mathbb{R}\to\mathbb{R}$</a:t>
                </a:r>
                <a:r>
                  <a:rPr sz="2400" b="0">
                    <a:solidFill>
                      <a:srgbClr val="111827"/>
                    </a:solidFill>
                    <a:latin typeface="Arial"/>
                  </a:rPr>
                  <a:t> defined by </a:t>
                </a:r>
                <a:r>
                  <a:rPr lang="en-IN" sz="2400">
                    <a:solidFill>
                      <a:srgbClr val="111827"/>
                    </a:solidFill>
                    <a:latin typeface="Cambria Math" panose="02040503050406030204" pitchFamily="18" charset="0"/>
                  </a:rPr>
                  <a:t>$f(x)=x^3-3x^2-\frac{3f''(2)}{2}x+f''(1)$</a:t>
                </a:r>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$-27$</a:t>
                </a:r>
                <a:r>
                  <a:rPr sz="2400" b="0">
                    <a:solidFill>
                      <a:srgbClr val="111827"/>
                    </a:solidFill>
                    <a:latin typeface="Arial"/>
                  </a:rPr>
                  <a:t>   (B) </a:t>
                </a:r>
                <a:r>
                  <a:rPr lang="en-IN" sz="2400">
                    <a:solidFill>
                      <a:srgbClr val="111827"/>
                    </a:solidFill>
                    <a:latin typeface="Cambria Math" panose="02040503050406030204" pitchFamily="18" charset="0"/>
                  </a:rPr>
                  <a:t>$0$</a:t>
                </a:r>
                <a:r>
                  <a:rPr sz="2400" b="0">
                    <a:solidFill>
                      <a:srgbClr val="111827"/>
                    </a:solidFill>
                    <a:latin typeface="Arial"/>
                  </a:rPr>
                  <a:t>   (C) </a:t>
                </a:r>
                <a:r>
                  <a:rPr lang="en-IN" sz="2400">
                    <a:solidFill>
                      <a:srgbClr val="111827"/>
                    </a:solidFill>
                    <a:latin typeface="Cambria Math" panose="02040503050406030204" pitchFamily="18" charset="0"/>
                  </a:rPr>
                  <a:t>$5$</a:t>
                </a:r>
                <a:r>
                  <a:rPr sz="2400" b="0">
                    <a:solidFill>
                      <a:srgbClr val="111827"/>
                    </a:solidFill>
                    <a:latin typeface="Arial"/>
                  </a:rPr>
                  <a:t>   (D) </a:t>
                </a:r>
                <a:r>
                  <a:rPr lang="en-IN" sz="2400">
                    <a:solidFill>
                      <a:srgbClr val="111827"/>
                    </a:solidFill>
                    <a:latin typeface="Cambria Math" panose="02040503050406030204" pitchFamily="18" charset="0"/>
                  </a:rPr>
                  <a:t>$-22$</a:t>
                </a:r>
                <a:endParaRPr sz="2400">
                  <a:solidFill>
                    <a:srgbClr val="111827"/>
                  </a:solidFill>
                </a:endParaRPr>
              </a:p>
            </p:txBody>
          </p:sp>
        </mc:Fallback>
      </mc:AlternateContent>
      <p:sp>
        <p:nvSpPr>
          <p:cNvPr id="5" name="Rectangle 4"/>
          <p:cNvSpPr/>
          <p:nvPr/>
        </p:nvSpPr>
        <p:spPr>
          <a:xfrm>
            <a:off x="731520" y="3690111"/>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Local extrema of a cubic</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Differentiate twice and plug in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oMath>
                </a14:m>
                <a:r>
                  <a:rPr sz="2400" b="0">
                    <a:solidFill>
                      <a:srgbClr val="78350F"/>
                    </a:solidFill>
                    <a:latin typeface="Arial"/>
                  </a:rPr>
                  <a:t> to turn the unknown constants </a:t>
                </a:r>
                <a14:m>
                  <m:oMath xmlns:m="http://schemas.openxmlformats.org/officeDocument/2006/math">
                    <m:sSup>
                      <m:e>
                        <m:r>
                          <a:rPr lang="en-IN" sz="2400" i="1">
                            <a:solidFill>
                              <a:srgbClr val="78350F"/>
                            </a:solidFill>
                            <a:latin typeface="Cambria Math" panose="02040503050406030204" pitchFamily="18" charset="0"/>
                          </a:rPr>
                          <m:t>𝑓</m:t>
                        </m:r>
                      </m:e>
                      <m:sup>
                        <m:r>
                          <m:rPr>
                            <m:sty m:val="p"/>
                          </m:rPr>
                          <a:rPr lang="en-IN" sz="2400">
                            <a:solidFill>
                              <a:srgbClr val="78350F"/>
                            </a:solidFill>
                            <a:latin typeface="Cambria Math" panose="02040503050406030204" pitchFamily="18" charset="0"/>
                          </a:rPr>
                          <m:t>″</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𝑓</m:t>
                        </m:r>
                      </m:e>
                      <m:sup>
                        <m:r>
                          <m:rPr>
                            <m:sty m:val="p"/>
                          </m:rPr>
                          <a:rPr lang="en-IN" sz="2400">
                            <a:solidFill>
                              <a:srgbClr val="78350F"/>
                            </a:solidFill>
                            <a:latin typeface="Cambria Math" panose="02040503050406030204" pitchFamily="18" charset="0"/>
                          </a:rPr>
                          <m:t>″</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into numbers.</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Differentiate twice and plug in </a:t>
                </a:r>
                <a:r>
                  <a:rPr lang="en-IN" sz="2400">
                    <a:solidFill>
                      <a:srgbClr val="78350F"/>
                    </a:solidFill>
                    <a:latin typeface="Cambria Math" panose="02040503050406030204" pitchFamily="18" charset="0"/>
                  </a:rPr>
                  <a:t>$x=1,2$</a:t>
                </a:r>
                <a:r>
                  <a:rPr sz="2400" b="0">
                    <a:solidFill>
                      <a:srgbClr val="78350F"/>
                    </a:solidFill>
                    <a:latin typeface="Arial"/>
                  </a:rPr>
                  <a:t> to turn the unknown constants </a:t>
                </a:r>
                <a:r>
                  <a:rPr lang="en-IN" sz="2400">
                    <a:solidFill>
                      <a:srgbClr val="78350F"/>
                    </a:solidFill>
                    <a:latin typeface="Cambria Math" panose="02040503050406030204" pitchFamily="18" charset="0"/>
                  </a:rPr>
                  <a:t>$f''(1),f''(2)$</a:t>
                </a:r>
                <a:r>
                  <a:rPr sz="2400" b="0">
                    <a:solidFill>
                      <a:srgbClr val="78350F"/>
                    </a:solidFill>
                    <a:latin typeface="Arial"/>
                  </a:rPr>
                  <a:t> into numbers.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where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are constants.</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Substitute back: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𝑥</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$f(x)=x^3-3x^2-\frac{3}{2}f''(2)\,x+f''(1)$</a:t>
                </a:r>
                <a:r>
                  <a:rPr sz="2400" b="0">
                    <a:solidFill>
                      <a:srgbClr val="111827"/>
                    </a:solidFill>
                    <a:latin typeface="Arial"/>
                  </a:rPr>
                  <a:t>, where </a:t>
                </a:r>
                <a:r>
                  <a:rPr lang="en-IN" sz="2400">
                    <a:solidFill>
                      <a:srgbClr val="111827"/>
                    </a:solidFill>
                    <a:latin typeface="Cambria Math" panose="02040503050406030204" pitchFamily="18" charset="0"/>
                  </a:rPr>
                  <a:t>$f''(2)$</a:t>
                </a:r>
                <a:r>
                  <a:rPr sz="2400" b="0">
                    <a:solidFill>
                      <a:srgbClr val="111827"/>
                    </a:solidFill>
                    <a:latin typeface="Arial"/>
                  </a:rPr>
                  <a:t> and </a:t>
                </a:r>
                <a:r>
                  <a:rPr lang="en-IN" sz="2400">
                    <a:solidFill>
                      <a:srgbClr val="111827"/>
                    </a:solidFill>
                    <a:latin typeface="Cambria Math" panose="02040503050406030204" pitchFamily="18" charset="0"/>
                  </a:rPr>
                  <a:t>$f''(1)$</a:t>
                </a:r>
                <a:r>
                  <a:rPr sz="2400" b="0">
                    <a:solidFill>
                      <a:srgbClr val="111827"/>
                    </a:solidFill>
                    <a:latin typeface="Arial"/>
                  </a:rPr>
                  <a:t> are constants.</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$f'(x)=3x^2-6x-\frac{3}{2}f''(2)$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$f''(x)=6x-6$</a:t>
                </a:r>
                <a:r>
                  <a:rPr sz="2400" b="0">
                    <a:solidFill>
                      <a:srgbClr val="111827"/>
                    </a:solidFill>
                    <a:latin typeface="Arial"/>
                  </a:rPr>
                  <a:t>, so </a:t>
                </a:r>
                <a:r>
                  <a:rPr lang="en-IN" sz="2400">
                    <a:solidFill>
                      <a:srgbClr val="111827"/>
                    </a:solidFill>
                    <a:latin typeface="Cambria Math" panose="02040503050406030204" pitchFamily="18" charset="0"/>
                  </a:rPr>
                  <a:t>$f''(1)=0$</a:t>
                </a:r>
                <a:r>
                  <a:rPr sz="2400" b="0">
                    <a:solidFill>
                      <a:srgbClr val="111827"/>
                    </a:solidFill>
                    <a:latin typeface="Arial"/>
                  </a:rPr>
                  <a:t> and </a:t>
                </a:r>
                <a:r>
                  <a:rPr lang="en-IN" sz="2400">
                    <a:solidFill>
                      <a:srgbClr val="111827"/>
                    </a:solidFill>
                    <a:latin typeface="Cambria Math" panose="02040503050406030204" pitchFamily="18" charset="0"/>
                  </a:rPr>
                  <a:t>$f''(2)=6$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Substitute back: </a:t>
                </a:r>
                <a:r>
                  <a:rPr lang="en-IN" sz="2400">
                    <a:solidFill>
                      <a:srgbClr val="111827"/>
                    </a:solidFill>
                    <a:latin typeface="Cambria Math" panose="02040503050406030204" pitchFamily="18" charset="0"/>
                  </a:rPr>
                  <a:t>$f(x)=x^3-3x^2-9x$</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(local maximum),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(local minimum); the PDF's sketch shows max then min.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Only local minimum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27</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27</m:t>
                    </m:r>
                  </m:oMath>
                </a14:m>
                <a:r>
                  <a:rPr sz="2400" b="0">
                    <a:solidFill>
                      <a:srgbClr val="111827"/>
                    </a:solidFill>
                    <a:latin typeface="Arial"/>
                  </a:rPr>
                  <a:t> (option A).</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$f'(x)=3x^2-6x-9=3(x-3)(x+1)=0\Rightarrow x=-1,\ 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$f''(x)=6x-6$</a:t>
                </a:r>
                <a:r>
                  <a:rPr sz="2400" b="0">
                    <a:solidFill>
                      <a:srgbClr val="111827"/>
                    </a:solidFill>
                    <a:latin typeface="Arial"/>
                  </a:rPr>
                  <a:t>: </a:t>
                </a:r>
                <a:r>
                  <a:rPr lang="en-IN" sz="2400">
                    <a:solidFill>
                      <a:srgbClr val="111827"/>
                    </a:solidFill>
                    <a:latin typeface="Cambria Math" panose="02040503050406030204" pitchFamily="18" charset="0"/>
                  </a:rPr>
                  <a:t>$f''(-1)=-12&lt;0$</a:t>
                </a:r>
                <a:r>
                  <a:rPr sz="2400" b="0">
                    <a:solidFill>
                      <a:srgbClr val="111827"/>
                    </a:solidFill>
                    <a:latin typeface="Arial"/>
                  </a:rPr>
                  <a:t> (local maximum), </a:t>
                </a:r>
                <a:r>
                  <a:rPr lang="en-IN" sz="2400">
                    <a:solidFill>
                      <a:srgbClr val="111827"/>
                    </a:solidFill>
                    <a:latin typeface="Cambria Math" panose="02040503050406030204" pitchFamily="18" charset="0"/>
                  </a:rPr>
                  <a:t>$f''(3)=12&gt;0$</a:t>
                </a:r>
                <a:r>
                  <a:rPr sz="2400" b="0">
                    <a:solidFill>
                      <a:srgbClr val="111827"/>
                    </a:solidFill>
                    <a:latin typeface="Arial"/>
                  </a:rPr>
                  <a:t> (local minimum); the PDF's sketch shows max then min.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Only local minimum at </a:t>
                </a:r>
                <a:r>
                  <a:rPr lang="en-IN" sz="2400">
                    <a:solidFill>
                      <a:srgbClr val="111827"/>
                    </a:solidFill>
                    <a:latin typeface="Cambria Math" panose="02040503050406030204" pitchFamily="18" charset="0"/>
                  </a:rPr>
                  <a:t>$x=3$</a:t>
                </a:r>
                <a:r>
                  <a:rPr sz="2400" b="0">
                    <a:solidFill>
                      <a:srgbClr val="111827"/>
                    </a:solidFill>
                    <a:latin typeface="Arial"/>
                  </a:rPr>
                  <a:t>: </a:t>
                </a:r>
                <a:r>
                  <a:rPr lang="en-IN" sz="2400">
                    <a:solidFill>
                      <a:srgbClr val="111827"/>
                    </a:solidFill>
                    <a:latin typeface="Cambria Math" panose="02040503050406030204" pitchFamily="18" charset="0"/>
                  </a:rPr>
                  <a:t>$f(3)=27-27-27=-27$</a:t>
                </a:r>
                <a:r>
                  <a:rPr sz="2400" b="0">
                    <a:solidFill>
                      <a:srgbClr val="111827"/>
                    </a:solidFill>
                    <a:latin typeface="Arial"/>
                  </a:rPr>
                  <a:t> (option A).</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a:t>
                </a:r>
                <a14:m>
                  <m:oMath xmlns:m="http://schemas.openxmlformats.org/officeDocument/2006/math">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27</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a:t>
                </a:r>
                <a:r>
                  <a:rPr lang="en-IN" sz="2800">
                    <a:solidFill>
                      <a:srgbClr val="15803D"/>
                    </a:solidFill>
                    <a:latin typeface="Cambria Math" panose="02040503050406030204" pitchFamily="18" charset="0"/>
                  </a:rPr>
                  <a:t>$-27$</a:t>
                </a:r>
                <a:endParaRPr sz="2800">
                  <a:solidFill>
                    <a:srgbClr val="15803D"/>
                  </a:solidFill>
                </a:endParaRPr>
              </a:p>
            </p:txBody>
          </p:sp>
        </mc:Fallback>
      </mc:AlternateContent>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Shift the origin to the inflection point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to get a depressed cubic </a:t>
                </a:r>
                <a14:m>
                  <m:oMath xmlns:m="http://schemas.openxmlformats.org/officeDocument/2006/math">
                    <m:sSup>
                      <m:e>
                        <m:r>
                          <a:rPr lang="en-IN" sz="2400" i="1">
                            <a:solidFill>
                              <a:srgbClr val="78350F"/>
                            </a:solidFill>
                            <a:latin typeface="Cambria Math" panose="02040503050406030204" pitchFamily="18" charset="0"/>
                          </a:rPr>
                          <m:t>𝑡</m:t>
                        </m:r>
                      </m:e>
                      <m:sup>
                        <m:r>
                          <a:rPr lang="en-IN" sz="2400" i="1">
                            <a:solidFill>
                              <a:srgbClr val="78350F"/>
                            </a:solidFill>
                            <a:latin typeface="Cambria Math" panose="02040503050406030204" pitchFamily="18" charset="0"/>
                          </a:rPr>
                          <m:t>3</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12</m:t>
                    </m:r>
                    <m:r>
                      <a:rPr lang="en-IN" sz="2400" i="1">
                        <a:solidFill>
                          <a:srgbClr val="78350F"/>
                        </a:solidFill>
                        <a:latin typeface="Cambria Math" panose="02040503050406030204" pitchFamily="18" charset="0"/>
                      </a:rPr>
                      <m:t>𝑡</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11</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Shift the origin to the inflection point </a:t>
                </a:r>
                <a:r>
                  <a:rPr lang="en-IN" sz="2400">
                    <a:solidFill>
                      <a:srgbClr val="78350F"/>
                    </a:solidFill>
                    <a:latin typeface="Cambria Math" panose="02040503050406030204" pitchFamily="18" charset="0"/>
                  </a:rPr>
                  <a:t>$x=1$</a:t>
                </a:r>
                <a:r>
                  <a:rPr sz="2400" b="0">
                    <a:solidFill>
                      <a:srgbClr val="78350F"/>
                    </a:solidFill>
                    <a:latin typeface="Arial"/>
                  </a:rPr>
                  <a:t> to get a depressed cubic </a:t>
                </a:r>
                <a:r>
                  <a:rPr lang="en-IN" sz="2400">
                    <a:solidFill>
                      <a:srgbClr val="78350F"/>
                    </a:solidFill>
                    <a:latin typeface="Cambria Math" panose="02040503050406030204" pitchFamily="18" charset="0"/>
                  </a:rPr>
                  <a:t>$t^3-12t-11$</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With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the inflection point is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put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in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𝑥</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With </a:t>
                </a:r>
                <a:r>
                  <a:rPr lang="en-IN" sz="2400">
                    <a:solidFill>
                      <a:srgbClr val="111827"/>
                    </a:solidFill>
                    <a:latin typeface="Cambria Math" panose="02040503050406030204" pitchFamily="18" charset="0"/>
                  </a:rPr>
                  <a:t>$f''(x)=6x-6$</a:t>
                </a:r>
                <a:r>
                  <a:rPr sz="2400" b="0">
                    <a:solidFill>
                      <a:srgbClr val="111827"/>
                    </a:solidFill>
                    <a:latin typeface="Arial"/>
                  </a:rPr>
                  <a:t> the inflection point is </a:t>
                </a:r>
                <a:r>
                  <a:rPr lang="en-IN" sz="2400">
                    <a:solidFill>
                      <a:srgbClr val="111827"/>
                    </a:solidFill>
                    <a:latin typeface="Cambria Math" panose="02040503050406030204" pitchFamily="18" charset="0"/>
                  </a:rPr>
                  <a:t>$x=1$</a:t>
                </a:r>
                <a:r>
                  <a:rPr sz="2400" b="0">
                    <a:solidFill>
                      <a:srgbClr val="111827"/>
                    </a:solidFill>
                    <a:latin typeface="Arial"/>
                  </a:rPr>
                  <a:t>; put </a:t>
                </a:r>
                <a:r>
                  <a:rPr lang="en-IN" sz="2400">
                    <a:solidFill>
                      <a:srgbClr val="111827"/>
                    </a:solidFill>
                    <a:latin typeface="Cambria Math" panose="02040503050406030204" pitchFamily="18" charset="0"/>
                  </a:rPr>
                  <a:t>$x=t+1$</a:t>
                </a:r>
                <a:r>
                  <a:rPr sz="2400" b="0">
                    <a:solidFill>
                      <a:srgbClr val="111827"/>
                    </a:solidFill>
                    <a:latin typeface="Arial"/>
                  </a:rPr>
                  <a:t> in </a:t>
                </a:r>
                <a:r>
                  <a:rPr lang="en-IN" sz="2400">
                    <a:solidFill>
                      <a:srgbClr val="111827"/>
                    </a:solidFill>
                    <a:latin typeface="Cambria Math" panose="02040503050406030204" pitchFamily="18" charset="0"/>
                  </a:rPr>
                  <a:t>$f(x)=x^3-3x^2-9x$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$f=(t+1)^3-3(t+1)^2-9(t+1)=t^3-12t-11$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𝑓</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the cubic has positive leading coefficient, so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is a local maximum and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 local minimum.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Local minimum value: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27</m:t>
                    </m:r>
                  </m:oMath>
                </a14:m>
                <a:r>
                  <a:rPr sz="2400" b="0">
                    <a:solidFill>
                      <a:srgbClr val="111827"/>
                    </a:solidFill>
                    <a:latin typeface="Arial"/>
                  </a:rPr>
                  <a:t> (at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answer (A).</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$\frac{df}{dt}=3t^2-12=0\Rightarrow t=\pm2$</a:t>
                </a:r>
                <a:r>
                  <a:rPr sz="2400" b="0">
                    <a:solidFill>
                      <a:srgbClr val="111827"/>
                    </a:solidFill>
                    <a:latin typeface="Arial"/>
                  </a:rPr>
                  <a:t>; the cubic has positive leading coefficient, so </a:t>
                </a:r>
                <a:r>
                  <a:rPr lang="en-IN" sz="2400">
                    <a:solidFill>
                      <a:srgbClr val="111827"/>
                    </a:solidFill>
                    <a:latin typeface="Cambria Math" panose="02040503050406030204" pitchFamily="18" charset="0"/>
                  </a:rPr>
                  <a:t>$t=-2$</a:t>
                </a:r>
                <a:r>
                  <a:rPr sz="2400" b="0">
                    <a:solidFill>
                      <a:srgbClr val="111827"/>
                    </a:solidFill>
                    <a:latin typeface="Arial"/>
                  </a:rPr>
                  <a:t> is a local maximum and </a:t>
                </a:r>
                <a:r>
                  <a:rPr lang="en-IN" sz="2400">
                    <a:solidFill>
                      <a:srgbClr val="111827"/>
                    </a:solidFill>
                    <a:latin typeface="Cambria Math" panose="02040503050406030204" pitchFamily="18" charset="0"/>
                  </a:rPr>
                  <a:t>$t=2$</a:t>
                </a:r>
                <a:r>
                  <a:rPr sz="2400" b="0">
                    <a:solidFill>
                      <a:srgbClr val="111827"/>
                    </a:solidFill>
                    <a:latin typeface="Arial"/>
                  </a:rPr>
                  <a:t> a local minimum.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Local minimum value: </a:t>
                </a:r>
                <a:r>
                  <a:rPr lang="en-IN" sz="2400">
                    <a:solidFill>
                      <a:srgbClr val="111827"/>
                    </a:solidFill>
                    <a:latin typeface="Cambria Math" panose="02040503050406030204" pitchFamily="18" charset="0"/>
                  </a:rPr>
                  <a:t>$f=8-24-11=-27$</a:t>
                </a:r>
                <a:r>
                  <a:rPr sz="2400" b="0">
                    <a:solidFill>
                      <a:srgbClr val="111827"/>
                    </a:solidFill>
                    <a:latin typeface="Arial"/>
                  </a:rPr>
                  <a:t> (at </a:t>
                </a:r>
                <a:r>
                  <a:rPr lang="en-IN" sz="2400">
                    <a:solidFill>
                      <a:srgbClr val="111827"/>
                    </a:solidFill>
                    <a:latin typeface="Cambria Math" panose="02040503050406030204" pitchFamily="18" charset="0"/>
                  </a:rPr>
                  <a:t>$t=2$</a:t>
                </a:r>
                <a:r>
                  <a:rPr sz="2400" b="0">
                    <a:solidFill>
                      <a:srgbClr val="111827"/>
                    </a:solidFill>
                    <a:latin typeface="Arial"/>
                  </a:rPr>
                  <a:t>, i.e. </a:t>
                </a:r>
                <a:r>
                  <a:rPr lang="en-IN" sz="2400">
                    <a:solidFill>
                      <a:srgbClr val="111827"/>
                    </a:solidFill>
                    <a:latin typeface="Cambria Math" panose="02040503050406030204" pitchFamily="18" charset="0"/>
                  </a:rPr>
                  <a:t>$x=3$</a:t>
                </a:r>
                <a:r>
                  <a:rPr sz="2400" b="0">
                    <a:solidFill>
                      <a:srgbClr val="111827"/>
                    </a:solidFill>
                    <a:latin typeface="Arial"/>
                  </a:rPr>
                  <a:t>); answer (A).</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a:t>
                </a:r>
                <a14:m>
                  <m:oMath xmlns:m="http://schemas.openxmlformats.org/officeDocument/2006/math">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27</m:t>
                    </m:r>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a:t>
                </a:r>
                <a:r>
                  <a:rPr lang="en-IN" sz="2800">
                    <a:solidFill>
                      <a:srgbClr val="15803D"/>
                    </a:solidFill>
                    <a:latin typeface="Cambria Math" panose="02040503050406030204" pitchFamily="18" charset="0"/>
                  </a:rPr>
                  <a:t>$-27$</a:t>
                </a:r>
                <a:endParaRPr sz="2800">
                  <a:solidFill>
                    <a:srgbClr val="15803D"/>
                  </a:solidFill>
                </a:endParaRPr>
              </a:p>
            </p:txBody>
          </p:sp>
        </mc:Fallback>
      </mc:AlternateContent>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in a formula are just constants: differentiate the expression first, then evaluate at the given points.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cubic is symmetric about its inflection point; shifting there removes the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term.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the extremes are at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e>
                    </m:rad>
                  </m:oMath>
                </a14:m>
                <a:r>
                  <a:rPr sz="2400" b="0">
                    <a:solidFill>
                      <a:srgbClr val="111827"/>
                    </a:solidFill>
                    <a:latin typeface="Arial"/>
                  </a:rPr>
                  <a:t> with values </a:t>
                </a:r>
                <a14:m>
                  <m:oMath xmlns:m="http://schemas.openxmlformats.org/officeDocument/2006/math">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𝑝</m:t>
                        </m:r>
                      </m:num>
                      <m:den>
                        <m:r>
                          <a:rPr lang="en-IN" sz="2400" i="1">
                            <a:solidFill>
                              <a:srgbClr val="111827"/>
                            </a:solidFill>
                            <a:latin typeface="Cambria Math" panose="02040503050406030204" pitchFamily="18" charset="0"/>
                          </a:rPr>
                          <m:t>3</m:t>
                        </m:r>
                      </m:den>
                    </m:f>
                    <m:rad>
                      <m:radPr>
                        <m:degHide m:val="on"/>
                        <m:ctrlPr>
                          <a:rPr lang="en-IN" sz="2400" i="1">
                            <a:solidFill>
                              <a:srgbClr val="111827"/>
                            </a:solidFill>
                            <a:latin typeface="Cambria Math" panose="02040503050406030204" pitchFamily="18" charset="0"/>
                          </a:rPr>
                        </m:ctrlPr>
                      </m:radPr>
                      <m:deg/>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𝑝</m:t>
                            </m:r>
                          </m:num>
                          <m:den>
                            <m:r>
                              <a:rPr lang="en-IN" sz="2400" i="1">
                                <a:solidFill>
                                  <a:srgbClr val="111827"/>
                                </a:solidFill>
                                <a:latin typeface="Cambria Math" panose="02040503050406030204" pitchFamily="18" charset="0"/>
                              </a:rPr>
                              <m:t>3</m:t>
                            </m:r>
                          </m:den>
                        </m:f>
                      </m:e>
                    </m:rad>
                  </m:oMath>
                </a14:m>
                <a:r>
                  <a:rPr sz="2400" b="0">
                    <a:solidFill>
                      <a:srgbClr val="111827"/>
                    </a:solidFill>
                    <a:latin typeface="Arial"/>
                  </a:rPr>
                  <a:t> (local max at </a:t>
                </a:r>
                <a14:m>
                  <m:oMath xmlns:m="http://schemas.openxmlformats.org/officeDocument/2006/math">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e>
                    </m:rad>
                  </m:oMath>
                </a14:m>
                <a:r>
                  <a:rPr sz="2400" b="0">
                    <a:solidFill>
                      <a:srgbClr val="111827"/>
                    </a:solidFill>
                    <a:latin typeface="Arial"/>
                  </a:rPr>
                  <a:t>). Here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oMath>
                </a14:m>
                <a:r>
                  <a:rPr sz="2400" b="0">
                    <a:solidFill>
                      <a:srgbClr val="111827"/>
                    </a:solidFill>
                    <a:latin typeface="Arial"/>
                  </a:rPr>
                  <a:t>: values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$f''(a)$</a:t>
                </a:r>
                <a:r>
                  <a:rPr sz="2400" b="0">
                    <a:solidFill>
                      <a:srgbClr val="111827"/>
                    </a:solidFill>
                    <a:latin typeface="Arial"/>
                  </a:rPr>
                  <a:t>, </a:t>
                </a:r>
                <a:r>
                  <a:rPr lang="en-IN" sz="2400">
                    <a:solidFill>
                      <a:srgbClr val="111827"/>
                    </a:solidFill>
                    <a:latin typeface="Cambria Math" panose="02040503050406030204" pitchFamily="18" charset="0"/>
                  </a:rPr>
                  <a:t>$f''(b)$</a:t>
                </a:r>
                <a:r>
                  <a:rPr sz="2400" b="0">
                    <a:solidFill>
                      <a:srgbClr val="111827"/>
                    </a:solidFill>
                    <a:latin typeface="Arial"/>
                  </a:rPr>
                  <a:t> in a formula are just constants: differentiate the expression first, then evaluate at the given points.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cubic is symmetric about its inflection point; shifting there removes the </a:t>
                </a:r>
                <a:r>
                  <a:rPr lang="en-IN" sz="2400">
                    <a:solidFill>
                      <a:srgbClr val="111827"/>
                    </a:solidFill>
                    <a:latin typeface="Cambria Math" panose="02040503050406030204" pitchFamily="18" charset="0"/>
                  </a:rPr>
                  <a:t>$x^2$</a:t>
                </a:r>
                <a:r>
                  <a:rPr sz="2400" b="0">
                    <a:solidFill>
                      <a:srgbClr val="111827"/>
                    </a:solidFill>
                    <a:latin typeface="Arial"/>
                  </a:rPr>
                  <a:t> term.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$f=t^3-pt+q$</a:t>
                </a:r>
                <a:r>
                  <a:rPr sz="2400" b="0">
                    <a:solidFill>
                      <a:srgbClr val="111827"/>
                    </a:solidFill>
                    <a:latin typeface="Arial"/>
                  </a:rPr>
                  <a:t> (</a:t>
                </a:r>
                <a:r>
                  <a:rPr lang="en-IN" sz="2400">
                    <a:solidFill>
                      <a:srgbClr val="111827"/>
                    </a:solidFill>
                    <a:latin typeface="Cambria Math" panose="02040503050406030204" pitchFamily="18" charset="0"/>
                  </a:rPr>
                  <a:t>$p&gt;0$</a:t>
                </a:r>
                <a:r>
                  <a:rPr sz="2400" b="0">
                    <a:solidFill>
                      <a:srgbClr val="111827"/>
                    </a:solidFill>
                    <a:latin typeface="Arial"/>
                  </a:rPr>
                  <a:t>) the extremes are at </a:t>
                </a:r>
                <a:r>
                  <a:rPr lang="en-IN" sz="2400">
                    <a:solidFill>
                      <a:srgbClr val="111827"/>
                    </a:solidFill>
                    <a:latin typeface="Cambria Math" panose="02040503050406030204" pitchFamily="18" charset="0"/>
                  </a:rPr>
                  <a:t>$t=\pm\sqrt{p/3}$</a:t>
                </a:r>
                <a:r>
                  <a:rPr sz="2400" b="0">
                    <a:solidFill>
                      <a:srgbClr val="111827"/>
                    </a:solidFill>
                    <a:latin typeface="Arial"/>
                  </a:rPr>
                  <a:t> with values </a:t>
                </a:r>
                <a:r>
                  <a:rPr lang="en-IN" sz="2400">
                    <a:solidFill>
                      <a:srgbClr val="111827"/>
                    </a:solidFill>
                    <a:latin typeface="Cambria Math" panose="02040503050406030204" pitchFamily="18" charset="0"/>
                  </a:rPr>
                  <a:t>$q\mp\frac{2p}{3}\sqrt{\frac{p}{3}}$</a:t>
                </a:r>
                <a:r>
                  <a:rPr sz="2400" b="0">
                    <a:solidFill>
                      <a:srgbClr val="111827"/>
                    </a:solidFill>
                    <a:latin typeface="Arial"/>
                  </a:rPr>
                  <a:t> (local max at </a:t>
                </a:r>
                <a:r>
                  <a:rPr lang="en-IN" sz="2400">
                    <a:solidFill>
                      <a:srgbClr val="111827"/>
                    </a:solidFill>
                    <a:latin typeface="Cambria Math" panose="02040503050406030204" pitchFamily="18" charset="0"/>
                  </a:rPr>
                  <a:t>$-\sqrt{p/3}$</a:t>
                </a:r>
                <a:r>
                  <a:rPr sz="2400" b="0">
                    <a:solidFill>
                      <a:srgbClr val="111827"/>
                    </a:solidFill>
                    <a:latin typeface="Arial"/>
                  </a:rPr>
                  <a:t>). Here </a:t>
                </a:r>
                <a:r>
                  <a:rPr lang="en-IN" sz="2400">
                    <a:solidFill>
                      <a:srgbClr val="111827"/>
                    </a:solidFill>
                    <a:latin typeface="Cambria Math" panose="02040503050406030204" pitchFamily="18" charset="0"/>
                  </a:rPr>
                  <a:t>$p=12$</a:t>
                </a:r>
                <a:r>
                  <a:rPr sz="2400" b="0">
                    <a:solidFill>
                      <a:srgbClr val="111827"/>
                    </a:solidFill>
                    <a:latin typeface="Arial"/>
                  </a:rPr>
                  <a:t>: values </a:t>
                </a:r>
                <a:r>
                  <a:rPr lang="en-IN" sz="2400">
                    <a:solidFill>
                      <a:srgbClr val="111827"/>
                    </a:solidFill>
                    <a:latin typeface="Cambria Math" panose="02040503050406030204" pitchFamily="18" charset="0"/>
                  </a:rPr>
                  <a:t>$-11\pm16$</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number of real roots of the equation </a:t>
                </a:r>
                <a14:m>
                  <m:oMath xmlns:m="http://schemas.openxmlformats.org/officeDocument/2006/math">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2</m:t>
                    </m:r>
                  </m:oMath>
                </a14:m>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number of real roots of the equation </a:t>
                </a:r>
                <a:r>
                  <a:rPr lang="en-IN" sz="2400">
                    <a:solidFill>
                      <a:srgbClr val="111827"/>
                    </a:solidFill>
                    <a:latin typeface="Cambria Math" panose="02040503050406030204" pitchFamily="18" charset="0"/>
                  </a:rPr>
                  <a:t>$e^{6x}-e^{4x}-2e^{3x}-12e^{2x}+e^x+1=0$</a:t>
                </a:r>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$4$</a:t>
                </a:r>
                <a:r>
                  <a:rPr sz="2400" b="0">
                    <a:solidFill>
                      <a:srgbClr val="111827"/>
                    </a:solidFill>
                    <a:latin typeface="Arial"/>
                  </a:rPr>
                  <a:t>   (B) </a:t>
                </a:r>
                <a:r>
                  <a:rPr lang="en-IN" sz="2400">
                    <a:solidFill>
                      <a:srgbClr val="111827"/>
                    </a:solidFill>
                    <a:latin typeface="Cambria Math" panose="02040503050406030204" pitchFamily="18" charset="0"/>
                  </a:rPr>
                  <a:t>$6$</a:t>
                </a:r>
                <a:r>
                  <a:rPr sz="2400" b="0">
                    <a:solidFill>
                      <a:srgbClr val="111827"/>
                    </a:solidFill>
                    <a:latin typeface="Arial"/>
                  </a:rPr>
                  <a:t>   (C) </a:t>
                </a:r>
                <a:r>
                  <a:rPr lang="en-IN" sz="2400">
                    <a:solidFill>
                      <a:srgbClr val="111827"/>
                    </a:solidFill>
                    <a:latin typeface="Cambria Math" panose="02040503050406030204" pitchFamily="18" charset="0"/>
                  </a:rPr>
                  <a:t>$1$</a:t>
                </a:r>
                <a:r>
                  <a:rPr sz="2400" b="0">
                    <a:solidFill>
                      <a:srgbClr val="111827"/>
                    </a:solidFill>
                    <a:latin typeface="Arial"/>
                  </a:rPr>
                  <a:t>   (D) </a:t>
                </a:r>
                <a:r>
                  <a:rPr lang="en-IN" sz="2400">
                    <a:solidFill>
                      <a:srgbClr val="111827"/>
                    </a:solidFill>
                    <a:latin typeface="Cambria Math" panose="02040503050406030204" pitchFamily="18" charset="0"/>
                  </a:rPr>
                  <a:t>$2$</a:t>
                </a:r>
                <a:endParaRPr sz="2400">
                  <a:solidFill>
                    <a:srgbClr val="111827"/>
                  </a:solidFill>
                </a:endParaRPr>
              </a:p>
            </p:txBody>
          </p:sp>
        </mc:Fallback>
      </mc:AlternateContent>
      <p:sp>
        <p:nvSpPr>
          <p:cNvPr id="5" name="Rectangle 4"/>
          <p:cNvSpPr/>
          <p:nvPr/>
        </p:nvSpPr>
        <p:spPr>
          <a:xfrm>
            <a:off x="731520" y="3246120"/>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Number of real roots of an equation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Writing the equation as </a:t>
                </a:r>
                <a14:m>
                  <m:oMath xmlns:m="http://schemas.openxmlformats.org/officeDocument/2006/math">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𝑒</m:t>
                        </m:r>
                      </m:e>
                      <m:sup>
                        <m:r>
                          <a:rPr lang="en-IN" sz="2400" i="1">
                            <a:solidFill>
                              <a:srgbClr val="78350F"/>
                            </a:solidFill>
                            <a:latin typeface="Cambria Math" panose="02040503050406030204" pitchFamily="18" charset="0"/>
                          </a:rPr>
                          <m:t>3</m:t>
                        </m:r>
                        <m:r>
                          <a:rPr lang="en-IN" sz="2400" i="1">
                            <a:solidFill>
                              <a:srgbClr val="78350F"/>
                            </a:solidFill>
                            <a:latin typeface="Cambria Math" panose="02040503050406030204" pitchFamily="18" charset="0"/>
                          </a:rPr>
                          <m:t>𝑥</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𝑒</m:t>
                        </m:r>
                      </m:e>
                      <m:sup>
                        <m:r>
                          <a:rPr lang="en-IN" sz="2400" i="1">
                            <a:solidFill>
                              <a:srgbClr val="78350F"/>
                            </a:solidFill>
                            <a:latin typeface="Cambria Math" panose="02040503050406030204" pitchFamily="18" charset="0"/>
                          </a:rPr>
                          <m:t>𝑥</m:t>
                        </m:r>
                      </m:sup>
                    </m:sSup>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𝑒</m:t>
                        </m:r>
                      </m:e>
                      <m:sup>
                        <m:r>
                          <a:rPr lang="en-IN" sz="2400" i="1">
                            <a:solidFill>
                              <a:srgbClr val="78350F"/>
                            </a:solidFill>
                            <a:latin typeface="Cambria Math" panose="02040503050406030204" pitchFamily="18" charset="0"/>
                          </a:rPr>
                          <m:t>3</m:t>
                        </m:r>
                        <m:r>
                          <a:rPr lang="en-IN" sz="2400" i="1">
                            <a:solidFill>
                              <a:srgbClr val="78350F"/>
                            </a:solidFill>
                            <a:latin typeface="Cambria Math" panose="02040503050406030204" pitchFamily="18" charset="0"/>
                          </a:rPr>
                          <m:t>𝑥</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12</m:t>
                    </m:r>
                    <m:sSup>
                      <m:e>
                        <m:r>
                          <a:rPr lang="en-IN" sz="2400" i="1">
                            <a:solidFill>
                              <a:srgbClr val="78350F"/>
                            </a:solidFill>
                            <a:latin typeface="Cambria Math" panose="02040503050406030204" pitchFamily="18" charset="0"/>
                          </a:rPr>
                          <m:t>𝑒</m:t>
                        </m:r>
                      </m:e>
                      <m:sup>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𝑥</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oMath>
                </a14:m>
                <a:r>
                  <a:rPr sz="2400" b="0">
                    <a:solidFill>
                      <a:srgbClr val="78350F"/>
                    </a:solidFill>
                    <a:latin typeface="Arial"/>
                  </a:rPr>
                  <a:t> makes it a quadratic in </a:t>
                </a:r>
                <a14:m>
                  <m:oMath xmlns:m="http://schemas.openxmlformats.org/officeDocument/2006/math">
                    <m:r>
                      <a:rPr lang="en-IN" sz="2400" i="1">
                        <a:solidFill>
                          <a:srgbClr val="78350F"/>
                        </a:solidFill>
                        <a:latin typeface="Cambria Math" panose="02040503050406030204" pitchFamily="18" charset="0"/>
                      </a:rPr>
                      <m:t>𝑝</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𝑒</m:t>
                        </m:r>
                      </m:e>
                      <m:sup>
                        <m:r>
                          <a:rPr lang="en-IN" sz="2400" i="1">
                            <a:solidFill>
                              <a:srgbClr val="78350F"/>
                            </a:solidFill>
                            <a:latin typeface="Cambria Math" panose="02040503050406030204" pitchFamily="18" charset="0"/>
                          </a:rPr>
                          <m:t>3</m:t>
                        </m:r>
                        <m:r>
                          <a:rPr lang="en-IN" sz="2400" i="1">
                            <a:solidFill>
                              <a:srgbClr val="78350F"/>
                            </a:solidFill>
                            <a:latin typeface="Cambria Math" panose="02040503050406030204" pitchFamily="18" charset="0"/>
                          </a:rPr>
                          <m:t>𝑥</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over </a:t>
                </a:r>
                <a14:m>
                  <m:oMath xmlns:m="http://schemas.openxmlformats.org/officeDocument/2006/math">
                    <m:r>
                      <a:rPr lang="en-IN" sz="2400" i="1">
                        <a:solidFill>
                          <a:srgbClr val="78350F"/>
                        </a:solidFill>
                        <a:latin typeface="Cambria Math" panose="02040503050406030204" pitchFamily="18" charset="0"/>
                      </a:rPr>
                      <m:t>𝑞</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𝑒</m:t>
                        </m:r>
                      </m:e>
                      <m:sup>
                        <m:r>
                          <a:rPr lang="en-IN" sz="2400" i="1">
                            <a:solidFill>
                              <a:srgbClr val="78350F"/>
                            </a:solidFill>
                            <a:latin typeface="Cambria Math" panose="02040503050406030204" pitchFamily="18" charset="0"/>
                          </a:rPr>
                          <m:t>𝑥</m:t>
                        </m:r>
                      </m:sup>
                    </m:sSup>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Writing the equation as </a:t>
                </a:r>
                <a:r>
                  <a:rPr lang="en-IN" sz="2400">
                    <a:solidFill>
                      <a:srgbClr val="78350F"/>
                    </a:solidFill>
                    <a:latin typeface="Cambria Math" panose="02040503050406030204" pitchFamily="18" charset="0"/>
                  </a:rPr>
                  <a:t>$(e^{3x}-1)^2-e^x(e^{3x}-1)-12e^{2x}=0$</a:t>
                </a:r>
                <a:r>
                  <a:rPr sz="2400" b="0">
                    <a:solidFill>
                      <a:srgbClr val="78350F"/>
                    </a:solidFill>
                    <a:latin typeface="Arial"/>
                  </a:rPr>
                  <a:t> makes it a quadratic in </a:t>
                </a:r>
                <a:r>
                  <a:rPr lang="en-IN" sz="2400">
                    <a:solidFill>
                      <a:srgbClr val="78350F"/>
                    </a:solidFill>
                    <a:latin typeface="Cambria Math" panose="02040503050406030204" pitchFamily="18" charset="0"/>
                  </a:rPr>
                  <a:t>$p=e^{3x}-1$</a:t>
                </a:r>
                <a:r>
                  <a:rPr sz="2400" b="0">
                    <a:solidFill>
                      <a:srgbClr val="78350F"/>
                    </a:solidFill>
                    <a:latin typeface="Arial"/>
                  </a:rPr>
                  <a:t> over </a:t>
                </a:r>
                <a:r>
                  <a:rPr lang="en-IN" sz="2400">
                    <a:solidFill>
                      <a:srgbClr val="78350F"/>
                    </a:solidFill>
                    <a:latin typeface="Cambria Math" panose="02040503050406030204" pitchFamily="18" charset="0"/>
                  </a:rPr>
                  <a:t>$q=e^x$</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Put </a:t>
                </a:r>
                <a14:m>
                  <m:oMath xmlns:m="http://schemas.openxmlformats.org/officeDocument/2006/math">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The equation is </a:t>
                </a:r>
                <a14:m>
                  <m:oMath xmlns:m="http://schemas.openxmlformats.org/officeDocument/2006/math">
                    <m:sSup>
                      <m:e>
                        <m:r>
                          <a:rPr lang="en-IN" sz="2400" i="1">
                            <a:solidFill>
                              <a:srgbClr val="111827"/>
                            </a:solidFill>
                            <a:latin typeface="Cambria Math" panose="02040503050406030204" pitchFamily="18" charset="0"/>
                          </a:rPr>
                          <m:t>𝑞</m:t>
                        </m:r>
                      </m:e>
                      <m:sup>
                        <m:r>
                          <a:rPr lang="en-IN" sz="2400" i="1">
                            <a:solidFill>
                              <a:srgbClr val="111827"/>
                            </a:solidFill>
                            <a:latin typeface="Cambria Math" panose="02040503050406030204" pitchFamily="18" charset="0"/>
                          </a:rPr>
                          <m:t>6</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𝑞</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𝑞</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sSup>
                      <m:e>
                        <m:r>
                          <a:rPr lang="en-IN" sz="2400" i="1">
                            <a:solidFill>
                              <a:srgbClr val="111827"/>
                            </a:solidFill>
                            <a:latin typeface="Cambria Math" panose="02040503050406030204" pitchFamily="18" charset="0"/>
                          </a:rPr>
                          <m:t>𝑞</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Group: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𝑞</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𝑞</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sSup>
                      <m:e>
                        <m:r>
                          <a:rPr lang="en-IN" sz="2400" i="1">
                            <a:solidFill>
                              <a:srgbClr val="111827"/>
                            </a:solidFill>
                            <a:latin typeface="Cambria Math" panose="02040503050406030204" pitchFamily="18" charset="0"/>
                          </a:rPr>
                          <m:t>𝑞</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since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𝑞</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𝑞</m:t>
                        </m:r>
                      </m:e>
                      <m:sup>
                        <m:r>
                          <a:rPr lang="en-IN" sz="2400" i="1">
                            <a:solidFill>
                              <a:srgbClr val="111827"/>
                            </a:solidFill>
                            <a:latin typeface="Cambria Math" panose="02040503050406030204" pitchFamily="18" charset="0"/>
                          </a:rPr>
                          <m:t>6</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𝑞</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𝑞</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𝑞</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𝑞</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𝑝</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sSup>
                      <m:e>
                        <m:r>
                          <a:rPr lang="en-IN" sz="2400" i="1">
                            <a:solidFill>
                              <a:srgbClr val="111827"/>
                            </a:solidFill>
                            <a:latin typeface="Cambria Math" panose="02040503050406030204" pitchFamily="18" charset="0"/>
                          </a:rPr>
                          <m:t>𝑞</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Factorise: </a:t>
                </a:r>
                <a14:m>
                  <m:oMath xmlns:m="http://schemas.openxmlformats.org/officeDocument/2006/math">
                    <m:sSup>
                      <m:e>
                        <m:r>
                          <a:rPr lang="en-IN" sz="2400" i="1">
                            <a:solidFill>
                              <a:srgbClr val="111827"/>
                            </a:solidFill>
                            <a:latin typeface="Cambria Math" panose="02040503050406030204" pitchFamily="18" charset="0"/>
                          </a:rPr>
                          <m:t>𝑝</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sSup>
                      <m:e>
                        <m:r>
                          <a:rPr lang="en-IN" sz="2400" i="1">
                            <a:solidFill>
                              <a:srgbClr val="111827"/>
                            </a:solidFill>
                            <a:latin typeface="Cambria Math" panose="02040503050406030204" pitchFamily="18" charset="0"/>
                          </a:rPr>
                          <m:t>𝑞</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 1: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i.e. </a:t>
                </a:r>
                <a14:m>
                  <m:oMath xmlns:m="http://schemas.openxmlformats.org/officeDocument/2006/math">
                    <m:sSup>
                      <m:e>
                        <m:r>
                          <a:rPr lang="en-IN" sz="2400" i="1">
                            <a:solidFill>
                              <a:srgbClr val="111827"/>
                            </a:solidFill>
                            <a:latin typeface="Cambria Math" panose="02040503050406030204" pitchFamily="18" charset="0"/>
                          </a:rPr>
                          <m:t>𝑞</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The left side is increasing for </a:t>
                </a:r>
                <a14:m>
                  <m:oMath xmlns:m="http://schemas.openxmlformats.org/officeDocument/2006/math">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equals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t>
                </a:r>
                <a14:m>
                  <m:oMath xmlns:m="http://schemas.openxmlformats.org/officeDocument/2006/math">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at </a:t>
                </a:r>
                <a14:m>
                  <m:oMath xmlns:m="http://schemas.openxmlformats.org/officeDocument/2006/math">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there is exactly one root </a:t>
                </a:r>
                <a14:m>
                  <m:oMath xmlns:m="http://schemas.openxmlformats.org/officeDocument/2006/math">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Put </a:t>
                </a:r>
                <a:r>
                  <a:rPr lang="en-IN" sz="2400">
                    <a:solidFill>
                      <a:srgbClr val="111827"/>
                    </a:solidFill>
                    <a:latin typeface="Cambria Math" panose="02040503050406030204" pitchFamily="18" charset="0"/>
                  </a:rPr>
                  <a:t>$q=e^x&gt;0$</a:t>
                </a:r>
                <a:r>
                  <a:rPr sz="2400" b="0">
                    <a:solidFill>
                      <a:srgbClr val="111827"/>
                    </a:solidFill>
                    <a:latin typeface="Arial"/>
                  </a:rPr>
                  <a:t>. The equation is </a:t>
                </a:r>
                <a:r>
                  <a:rPr lang="en-IN" sz="2400">
                    <a:solidFill>
                      <a:srgbClr val="111827"/>
                    </a:solidFill>
                    <a:latin typeface="Cambria Math" panose="02040503050406030204" pitchFamily="18" charset="0"/>
                  </a:rPr>
                  <a:t>$q^6-q^4-2q^3-12q^2+q+1=0$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Group: </a:t>
                </a:r>
                <a:r>
                  <a:rPr lang="en-IN" sz="2400">
                    <a:solidFill>
                      <a:srgbClr val="111827"/>
                    </a:solidFill>
                    <a:latin typeface="Cambria Math" panose="02040503050406030204" pitchFamily="18" charset="0"/>
                  </a:rPr>
                  <a:t>$(q^3-1)^2-q(q^3-1)-12q^2=0$</a:t>
                </a:r>
                <a:r>
                  <a:rPr sz="2400" b="0">
                    <a:solidFill>
                      <a:srgbClr val="111827"/>
                    </a:solidFill>
                    <a:latin typeface="Arial"/>
                  </a:rPr>
                  <a:t>, since </a:t>
                </a:r>
                <a:r>
                  <a:rPr lang="en-IN" sz="2400">
                    <a:solidFill>
                      <a:srgbClr val="111827"/>
                    </a:solidFill>
                    <a:latin typeface="Cambria Math" panose="02040503050406030204" pitchFamily="18" charset="0"/>
                  </a:rPr>
                  <a:t>$(q^3-1)^2=q^6-2q^3+1$</a:t>
                </a:r>
                <a:r>
                  <a:rPr sz="2400" b="0">
                    <a:solidFill>
                      <a:srgbClr val="111827"/>
                    </a:solidFill>
                    <a:latin typeface="Arial"/>
                  </a:rPr>
                  <a:t> and </a:t>
                </a:r>
                <a:r>
                  <a:rPr lang="en-IN" sz="2400">
                    <a:solidFill>
                      <a:srgbClr val="111827"/>
                    </a:solidFill>
                    <a:latin typeface="Cambria Math" panose="02040503050406030204" pitchFamily="18" charset="0"/>
                  </a:rPr>
                  <a:t>$q(q^3-1)=q^4-q$</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$p=q^3-1$</a:t>
                </a:r>
                <a:r>
                  <a:rPr sz="2400" b="0">
                    <a:solidFill>
                      <a:srgbClr val="111827"/>
                    </a:solidFill>
                    <a:latin typeface="Arial"/>
                  </a:rPr>
                  <a:t>: </a:t>
                </a:r>
                <a:r>
                  <a:rPr lang="en-IN" sz="2400">
                    <a:solidFill>
                      <a:srgbClr val="111827"/>
                    </a:solidFill>
                    <a:latin typeface="Cambria Math" panose="02040503050406030204" pitchFamily="18" charset="0"/>
                  </a:rPr>
                  <a:t>$p^2-pq-12q^2=0$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Factorise: </a:t>
                </a:r>
                <a:r>
                  <a:rPr lang="en-IN" sz="2400">
                    <a:solidFill>
                      <a:srgbClr val="111827"/>
                    </a:solidFill>
                    <a:latin typeface="Cambria Math" panose="02040503050406030204" pitchFamily="18" charset="0"/>
                  </a:rPr>
                  <a:t>$p^2-pq-12q^2=(p-4q)(p+3q)=0$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 1: </a:t>
                </a:r>
                <a:r>
                  <a:rPr lang="en-IN" sz="2400">
                    <a:solidFill>
                      <a:srgbClr val="111827"/>
                    </a:solidFill>
                    <a:latin typeface="Cambria Math" panose="02040503050406030204" pitchFamily="18" charset="0"/>
                  </a:rPr>
                  <a:t>$p+3q=0$</a:t>
                </a:r>
                <a:r>
                  <a:rPr sz="2400" b="0">
                    <a:solidFill>
                      <a:srgbClr val="111827"/>
                    </a:solidFill>
                    <a:latin typeface="Arial"/>
                  </a:rPr>
                  <a:t>, i.e. </a:t>
                </a:r>
                <a:r>
                  <a:rPr lang="en-IN" sz="2400">
                    <a:solidFill>
                      <a:srgbClr val="111827"/>
                    </a:solidFill>
                    <a:latin typeface="Cambria Math" panose="02040503050406030204" pitchFamily="18" charset="0"/>
                  </a:rPr>
                  <a:t>$q^3+3q-1=0$</a:t>
                </a:r>
                <a:r>
                  <a:rPr sz="2400" b="0">
                    <a:solidFill>
                      <a:srgbClr val="111827"/>
                    </a:solidFill>
                    <a:latin typeface="Arial"/>
                  </a:rPr>
                  <a:t>. The left side is increasing for </a:t>
                </a:r>
                <a:r>
                  <a:rPr lang="en-IN" sz="2400">
                    <a:solidFill>
                      <a:srgbClr val="111827"/>
                    </a:solidFill>
                    <a:latin typeface="Cambria Math" panose="02040503050406030204" pitchFamily="18" charset="0"/>
                  </a:rPr>
                  <a:t>$q&gt;0$</a:t>
                </a:r>
                <a:r>
                  <a:rPr sz="2400" b="0">
                    <a:solidFill>
                      <a:srgbClr val="111827"/>
                    </a:solidFill>
                    <a:latin typeface="Arial"/>
                  </a:rPr>
                  <a:t>, equals </a:t>
                </a:r>
                <a:r>
                  <a:rPr lang="en-IN" sz="2400">
                    <a:solidFill>
                      <a:srgbClr val="111827"/>
                    </a:solidFill>
                    <a:latin typeface="Cambria Math" panose="02040503050406030204" pitchFamily="18" charset="0"/>
                  </a:rPr>
                  <a:t>$-1$</a:t>
                </a:r>
                <a:r>
                  <a:rPr sz="2400" b="0">
                    <a:solidFill>
                      <a:srgbClr val="111827"/>
                    </a:solidFill>
                    <a:latin typeface="Arial"/>
                  </a:rPr>
                  <a:t> at </a:t>
                </a:r>
                <a:r>
                  <a:rPr lang="en-IN" sz="2400">
                    <a:solidFill>
                      <a:srgbClr val="111827"/>
                    </a:solidFill>
                    <a:latin typeface="Cambria Math" panose="02040503050406030204" pitchFamily="18" charset="0"/>
                  </a:rPr>
                  <a:t>$q=0$</a:t>
                </a:r>
                <a:r>
                  <a:rPr sz="2400" b="0">
                    <a:solidFill>
                      <a:srgbClr val="111827"/>
                    </a:solidFill>
                    <a:latin typeface="Arial"/>
                  </a:rPr>
                  <a:t> and </a:t>
                </a:r>
                <a:r>
                  <a:rPr lang="en-IN" sz="2400">
                    <a:solidFill>
                      <a:srgbClr val="111827"/>
                    </a:solidFill>
                    <a:latin typeface="Cambria Math" panose="02040503050406030204" pitchFamily="18" charset="0"/>
                  </a:rPr>
                  <a:t>$3$</a:t>
                </a:r>
                <a:r>
                  <a:rPr sz="2400" b="0">
                    <a:solidFill>
                      <a:srgbClr val="111827"/>
                    </a:solidFill>
                    <a:latin typeface="Arial"/>
                  </a:rPr>
                  <a:t> at </a:t>
                </a:r>
                <a:r>
                  <a:rPr lang="en-IN" sz="2400">
                    <a:solidFill>
                      <a:srgbClr val="111827"/>
                    </a:solidFill>
                    <a:latin typeface="Cambria Math" panose="02040503050406030204" pitchFamily="18" charset="0"/>
                  </a:rPr>
                  <a:t>$q=1$</a:t>
                </a:r>
                <a:r>
                  <a:rPr sz="2400" b="0">
                    <a:solidFill>
                      <a:srgbClr val="111827"/>
                    </a:solidFill>
                    <a:latin typeface="Arial"/>
                  </a:rPr>
                  <a:t>, so there is exactly one root </a:t>
                </a:r>
                <a:r>
                  <a:rPr lang="en-IN" sz="2400">
                    <a:solidFill>
                      <a:srgbClr val="111827"/>
                    </a:solidFill>
                    <a:latin typeface="Cambria Math" panose="02040503050406030204" pitchFamily="18" charset="0"/>
                  </a:rPr>
                  <a:t>$q\in(0,1)$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Case 2: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𝑞</m:t>
                    </m:r>
                  </m:oMath>
                </a14:m>
                <a:r>
                  <a:rPr sz="2400" b="0">
                    <a:solidFill>
                      <a:srgbClr val="111827"/>
                    </a:solidFill>
                    <a:latin typeface="Arial"/>
                  </a:rPr>
                  <a:t>, i.e. </a:t>
                </a:r>
                <a14:m>
                  <m:oMath xmlns:m="http://schemas.openxmlformats.org/officeDocument/2006/math">
                    <m:sSup>
                      <m:e>
                        <m:r>
                          <a:rPr lang="en-IN" sz="2400" i="1">
                            <a:solidFill>
                              <a:srgbClr val="111827"/>
                            </a:solidFill>
                            <a:latin typeface="Cambria Math" panose="02040503050406030204" pitchFamily="18" charset="0"/>
                          </a:rPr>
                          <m:t>𝑞</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Let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𝑞</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𝑘</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𝑞</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is negative on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e>
                    </m:d>
                  </m:oMath>
                </a14:m>
                <a:r>
                  <a:rPr sz="2400" b="0">
                    <a:solidFill>
                      <a:srgbClr val="111827"/>
                    </a:solidFill>
                    <a:latin typeface="Arial"/>
                  </a:rPr>
                  <a:t> and positive after, and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stays negative up to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oMath>
                </a14:m>
                <a:r>
                  <a:rPr sz="2400" b="0">
                    <a:solidFill>
                      <a:srgbClr val="111827"/>
                    </a:solidFill>
                    <a:latin typeface="Arial"/>
                  </a:rPr>
                  <a:t> and then rises through zero once: exactly one root </a:t>
                </a:r>
                <a14:m>
                  <m:oMath xmlns:m="http://schemas.openxmlformats.org/officeDocument/2006/math">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&gt;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oMath>
                </a14:m>
                <a:r>
                  <a:rPr sz="2400" b="0">
                    <a:solidFill>
                      <a:srgbClr val="111827"/>
                    </a:solidFill>
                    <a:latin typeface="Arial"/>
                  </a:rPr>
                  <a:t> (about </a:t>
                </a:r>
                <a14:m>
                  <m:oMath xmlns:m="http://schemas.openxmlformats.org/officeDocument/2006/math">
                    <m:r>
                      <a:rPr lang="en-IN" sz="2400" i="1">
                        <a:solidFill>
                          <a:srgbClr val="111827"/>
                        </a:solidFill>
                        <a:latin typeface="Cambria Math" panose="02040503050406030204" pitchFamily="18" charset="0"/>
                      </a:rPr>
                      <m:t>2.11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roots of the two cubics are different (one below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one above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giving two positive values of </a:t>
                </a:r>
                <a14:m>
                  <m:oMath xmlns:m="http://schemas.openxmlformats.org/officeDocument/2006/math">
                    <m:r>
                      <a:rPr lang="en-IN" sz="2400" i="1">
                        <a:solidFill>
                          <a:srgbClr val="111827"/>
                        </a:solidFill>
                        <a:latin typeface="Cambria Math" panose="02040503050406030204" pitchFamily="18" charset="0"/>
                      </a:rPr>
                      <m:t>𝑞</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Each positive </a:t>
                </a:r>
                <a14:m>
                  <m:oMath xmlns:m="http://schemas.openxmlformats.org/officeDocument/2006/math">
                    <m:r>
                      <a:rPr lang="en-IN" sz="2400" i="1">
                        <a:solidFill>
                          <a:srgbClr val="111827"/>
                        </a:solidFill>
                        <a:latin typeface="Cambria Math" panose="02040503050406030204" pitchFamily="18" charset="0"/>
                      </a:rPr>
                      <m:t>𝑞</m:t>
                    </m:r>
                  </m:oMath>
                </a14:m>
                <a:r>
                  <a:rPr sz="2400" b="0">
                    <a:solidFill>
                      <a:srgbClr val="111827"/>
                    </a:solidFill>
                    <a:latin typeface="Arial"/>
                  </a:rPr>
                  <a:t> gives exactly one real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𝑞</m:t>
                    </m:r>
                  </m:oMath>
                </a14:m>
                <a:r>
                  <a:rPr sz="2400" b="0">
                    <a:solidFill>
                      <a:srgbClr val="111827"/>
                    </a:solidFill>
                    <a:latin typeface="Arial"/>
                  </a:rPr>
                  <a:t>; hence the number of real roots is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(option D).</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Case 2: </a:t>
                </a:r>
                <a:r>
                  <a:rPr lang="en-IN" sz="2400">
                    <a:solidFill>
                      <a:srgbClr val="111827"/>
                    </a:solidFill>
                    <a:latin typeface="Cambria Math" panose="02040503050406030204" pitchFamily="18" charset="0"/>
                  </a:rPr>
                  <a:t>$p=4q$</a:t>
                </a:r>
                <a:r>
                  <a:rPr sz="2400" b="0">
                    <a:solidFill>
                      <a:srgbClr val="111827"/>
                    </a:solidFill>
                    <a:latin typeface="Arial"/>
                  </a:rPr>
                  <a:t>, i.e. </a:t>
                </a:r>
                <a:r>
                  <a:rPr lang="en-IN" sz="2400">
                    <a:solidFill>
                      <a:srgbClr val="111827"/>
                    </a:solidFill>
                    <a:latin typeface="Cambria Math" panose="02040503050406030204" pitchFamily="18" charset="0"/>
                  </a:rPr>
                  <a:t>$q^3-4q-1=0$</a:t>
                </a:r>
                <a:r>
                  <a:rPr sz="2400" b="0">
                    <a:solidFill>
                      <a:srgbClr val="111827"/>
                    </a:solidFill>
                    <a:latin typeface="Arial"/>
                  </a:rPr>
                  <a:t>. Let </a:t>
                </a:r>
                <a:r>
                  <a:rPr lang="en-IN" sz="2400">
                    <a:solidFill>
                      <a:srgbClr val="111827"/>
                    </a:solidFill>
                    <a:latin typeface="Cambria Math" panose="02040503050406030204" pitchFamily="18" charset="0"/>
                  </a:rPr>
                  <a:t>$k(q)=q^3-4q-1$</a:t>
                </a:r>
                <a:r>
                  <a:rPr sz="2400" b="0">
                    <a:solidFill>
                      <a:srgbClr val="111827"/>
                    </a:solidFill>
                    <a:latin typeface="Arial"/>
                  </a:rPr>
                  <a:t>: </a:t>
                </a:r>
                <a:r>
                  <a:rPr lang="en-IN" sz="2400">
                    <a:solidFill>
                      <a:srgbClr val="111827"/>
                    </a:solidFill>
                    <a:latin typeface="Cambria Math" panose="02040503050406030204" pitchFamily="18" charset="0"/>
                  </a:rPr>
                  <a:t>$k(0)=-1$</a:t>
                </a:r>
                <a:r>
                  <a:rPr sz="2400" b="0">
                    <a:solidFill>
                      <a:srgbClr val="111827"/>
                    </a:solidFill>
                    <a:latin typeface="Arial"/>
                  </a:rPr>
                  <a:t>, </a:t>
                </a:r>
                <a:r>
                  <a:rPr lang="en-IN" sz="2400">
                    <a:solidFill>
                      <a:srgbClr val="111827"/>
                    </a:solidFill>
                    <a:latin typeface="Cambria Math" panose="02040503050406030204" pitchFamily="18" charset="0"/>
                  </a:rPr>
                  <a:t>$k'(q)=3q^2-4$</a:t>
                </a:r>
                <a:r>
                  <a:rPr sz="2400" b="0">
                    <a:solidFill>
                      <a:srgbClr val="111827"/>
                    </a:solidFill>
                    <a:latin typeface="Arial"/>
                  </a:rPr>
                  <a:t> is negative on </a:t>
                </a:r>
                <a:r>
                  <a:rPr lang="en-IN" sz="2400">
                    <a:solidFill>
                      <a:srgbClr val="111827"/>
                    </a:solidFill>
                    <a:latin typeface="Cambria Math" panose="02040503050406030204" pitchFamily="18" charset="0"/>
                  </a:rPr>
                  <a:t>$\left(0,\frac{2}{\sqrt3}\right)$</a:t>
                </a:r>
                <a:r>
                  <a:rPr sz="2400" b="0">
                    <a:solidFill>
                      <a:srgbClr val="111827"/>
                    </a:solidFill>
                    <a:latin typeface="Arial"/>
                  </a:rPr>
                  <a:t> and positive after, and </a:t>
                </a:r>
                <a:r>
                  <a:rPr lang="en-IN" sz="2400">
                    <a:solidFill>
                      <a:srgbClr val="111827"/>
                    </a:solidFill>
                    <a:latin typeface="Cambria Math" panose="02040503050406030204" pitchFamily="18" charset="0"/>
                  </a:rPr>
                  <a:t>$k(3)=14&gt;0$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$k$</a:t>
                </a:r>
                <a:r>
                  <a:rPr sz="2400" b="0">
                    <a:solidFill>
                      <a:srgbClr val="111827"/>
                    </a:solidFill>
                    <a:latin typeface="Arial"/>
                  </a:rPr>
                  <a:t> stays negative up to </a:t>
                </a:r>
                <a:r>
                  <a:rPr lang="en-IN" sz="2400">
                    <a:solidFill>
                      <a:srgbClr val="111827"/>
                    </a:solidFill>
                    <a:latin typeface="Cambria Math" panose="02040503050406030204" pitchFamily="18" charset="0"/>
                  </a:rPr>
                  <a:t>$\frac{2}{\sqrt3}$</a:t>
                </a:r>
                <a:r>
                  <a:rPr sz="2400" b="0">
                    <a:solidFill>
                      <a:srgbClr val="111827"/>
                    </a:solidFill>
                    <a:latin typeface="Arial"/>
                  </a:rPr>
                  <a:t> and then rises through zero once: exactly one root </a:t>
                </a:r>
                <a:r>
                  <a:rPr lang="en-IN" sz="2400">
                    <a:solidFill>
                      <a:srgbClr val="111827"/>
                    </a:solidFill>
                    <a:latin typeface="Cambria Math" panose="02040503050406030204" pitchFamily="18" charset="0"/>
                  </a:rPr>
                  <a:t>$q&gt;\frac{2}{\sqrt3}$</a:t>
                </a:r>
                <a:r>
                  <a:rPr sz="2400" b="0">
                    <a:solidFill>
                      <a:srgbClr val="111827"/>
                    </a:solidFill>
                    <a:latin typeface="Arial"/>
                  </a:rPr>
                  <a:t> (about </a:t>
                </a:r>
                <a:r>
                  <a:rPr lang="en-IN" sz="2400">
                    <a:solidFill>
                      <a:srgbClr val="111827"/>
                    </a:solidFill>
                    <a:latin typeface="Cambria Math" panose="02040503050406030204" pitchFamily="18" charset="0"/>
                  </a:rPr>
                  <a:t>$2.11$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roots of the two cubics are different (one below </a:t>
                </a:r>
                <a:r>
                  <a:rPr lang="en-IN" sz="2400">
                    <a:solidFill>
                      <a:srgbClr val="111827"/>
                    </a:solidFill>
                    <a:latin typeface="Cambria Math" panose="02040503050406030204" pitchFamily="18" charset="0"/>
                  </a:rPr>
                  <a:t>$1$</a:t>
                </a:r>
                <a:r>
                  <a:rPr sz="2400" b="0">
                    <a:solidFill>
                      <a:srgbClr val="111827"/>
                    </a:solidFill>
                    <a:latin typeface="Arial"/>
                  </a:rPr>
                  <a:t>, one above </a:t>
                </a:r>
                <a:r>
                  <a:rPr lang="en-IN" sz="2400">
                    <a:solidFill>
                      <a:srgbClr val="111827"/>
                    </a:solidFill>
                    <a:latin typeface="Cambria Math" panose="02040503050406030204" pitchFamily="18" charset="0"/>
                  </a:rPr>
                  <a:t>$2$</a:t>
                </a:r>
                <a:r>
                  <a:rPr sz="2400" b="0">
                    <a:solidFill>
                      <a:srgbClr val="111827"/>
                    </a:solidFill>
                    <a:latin typeface="Arial"/>
                  </a:rPr>
                  <a:t>), giving two positive values of </a:t>
                </a:r>
                <a:r>
                  <a:rPr lang="en-IN" sz="2400">
                    <a:solidFill>
                      <a:srgbClr val="111827"/>
                    </a:solidFill>
                    <a:latin typeface="Cambria Math" panose="02040503050406030204" pitchFamily="18" charset="0"/>
                  </a:rPr>
                  <a:t>$q$</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Each positive </a:t>
                </a:r>
                <a:r>
                  <a:rPr lang="en-IN" sz="2400">
                    <a:solidFill>
                      <a:srgbClr val="111827"/>
                    </a:solidFill>
                    <a:latin typeface="Cambria Math" panose="02040503050406030204" pitchFamily="18" charset="0"/>
                  </a:rPr>
                  <a:t>$q$</a:t>
                </a:r>
                <a:r>
                  <a:rPr sz="2400" b="0">
                    <a:solidFill>
                      <a:srgbClr val="111827"/>
                    </a:solidFill>
                    <a:latin typeface="Arial"/>
                  </a:rPr>
                  <a:t> gives exactly one real </a:t>
                </a:r>
                <a:r>
                  <a:rPr lang="en-IN" sz="2400">
                    <a:solidFill>
                      <a:srgbClr val="111827"/>
                    </a:solidFill>
                    <a:latin typeface="Cambria Math" panose="02040503050406030204" pitchFamily="18" charset="0"/>
                  </a:rPr>
                  <a:t>$x=\ln q$</a:t>
                </a:r>
                <a:r>
                  <a:rPr sz="2400" b="0">
                    <a:solidFill>
                      <a:srgbClr val="111827"/>
                    </a:solidFill>
                    <a:latin typeface="Arial"/>
                  </a:rPr>
                  <a:t>; hence the number of real roots is </a:t>
                </a:r>
                <a:r>
                  <a:rPr lang="en-IN" sz="2400">
                    <a:solidFill>
                      <a:srgbClr val="111827"/>
                    </a:solidFill>
                    <a:latin typeface="Cambria Math" panose="02040503050406030204" pitchFamily="18" charset="0"/>
                  </a:rPr>
                  <a:t>$2$</a:t>
                </a:r>
                <a:r>
                  <a:rPr sz="2400" b="0">
                    <a:solidFill>
                      <a:srgbClr val="111827"/>
                    </a:solidFill>
                    <a:latin typeface="Arial"/>
                  </a:rPr>
                  <a:t> (option D).</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a:t>
                </a:r>
                <a14:m>
                  <m:oMath xmlns:m="http://schemas.openxmlformats.org/officeDocument/2006/math">
                    <m:r>
                      <a:rPr lang="en-IN" sz="2800" i="1">
                        <a:solidFill>
                          <a:srgbClr val="15803D"/>
                        </a:solidFill>
                        <a:latin typeface="Cambria Math" panose="02040503050406030204" pitchFamily="18" charset="0"/>
                      </a:rPr>
                      <m:t>2</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a:t>
                </a:r>
                <a:r>
                  <a:rPr lang="en-IN" sz="2800">
                    <a:solidFill>
                      <a:srgbClr val="15803D"/>
                    </a:solidFill>
                    <a:latin typeface="Cambria Math" panose="02040503050406030204" pitchFamily="18" charset="0"/>
                  </a:rPr>
                  <a:t>$2$</a:t>
                </a:r>
                <a:endParaRPr sz="2800">
                  <a:solidFill>
                    <a:srgbClr val="15803D"/>
                  </a:solidFill>
                </a:endParaRPr>
              </a:p>
            </p:txBody>
          </p:sp>
        </mc:Fallback>
      </mc:AlternateContent>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Apply Descartes' rule of signs to the degree-6 polynomial in </a:t>
                </a:r>
                <a14:m>
                  <m:oMath xmlns:m="http://schemas.openxmlformats.org/officeDocument/2006/math">
                    <m:r>
                      <a:rPr lang="en-IN" sz="2400" i="1">
                        <a:solidFill>
                          <a:srgbClr val="78350F"/>
                        </a:solidFill>
                        <a:latin typeface="Cambria Math" panose="02040503050406030204" pitchFamily="18" charset="0"/>
                      </a:rPr>
                      <m:t>𝑞</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𝑒</m:t>
                        </m:r>
                      </m:e>
                      <m:sup>
                        <m:r>
                          <a:rPr lang="en-IN" sz="2400" i="1">
                            <a:solidFill>
                              <a:srgbClr val="78350F"/>
                            </a:solidFill>
                            <a:latin typeface="Cambria Math" panose="02040503050406030204" pitchFamily="18" charset="0"/>
                          </a:rPr>
                          <m:t>𝑥</m:t>
                        </m:r>
                      </m:sup>
                    </m:sSup>
                    <m:r>
                      <m:rPr>
                        <m:sty m:val="p"/>
                      </m:rPr>
                      <a:rPr lang="en-IN" sz="2400">
                        <a:solidFill>
                          <a:srgbClr val="78350F"/>
                        </a:solidFill>
                        <a:latin typeface="Cambria Math" panose="02040503050406030204" pitchFamily="18" charset="0"/>
                      </a:rPr>
                      <m:t>&gt;</m:t>
                    </m:r>
                    <m:r>
                      <a:rPr lang="en-IN" sz="2400" i="1">
                        <a:solidFill>
                          <a:srgbClr val="78350F"/>
                        </a:solidFill>
                        <a:latin typeface="Cambria Math" panose="02040503050406030204" pitchFamily="18" charset="0"/>
                      </a:rPr>
                      <m:t>0</m:t>
                    </m:r>
                  </m:oMath>
                </a14:m>
                <a:r>
                  <a:rPr sz="2400" b="0">
                    <a:solidFill>
                      <a:srgbClr val="78350F"/>
                    </a:solidFill>
                    <a:latin typeface="Arial"/>
                  </a:rPr>
                  <a:t>, then confirm with sign values.</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Apply Descartes' rule of signs to the degree-6 polynomial in </a:t>
                </a:r>
                <a:r>
                  <a:rPr lang="en-IN" sz="2400">
                    <a:solidFill>
                      <a:srgbClr val="78350F"/>
                    </a:solidFill>
                    <a:latin typeface="Cambria Math" panose="02040503050406030204" pitchFamily="18" charset="0"/>
                  </a:rPr>
                  <a:t>$q=e^x&gt;0$</a:t>
                </a:r>
                <a:r>
                  <a:rPr sz="2400" b="0">
                    <a:solidFill>
                      <a:srgbClr val="78350F"/>
                    </a:solidFill>
                    <a:latin typeface="Arial"/>
                  </a:rPr>
                  <a:t>, then confirm with sign values.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With </a:t>
                </a:r>
                <a14:m>
                  <m:oMath xmlns:m="http://schemas.openxmlformats.org/officeDocument/2006/math">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let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𝑞</m:t>
                        </m:r>
                      </m:e>
                      <m:sup>
                        <m:r>
                          <a:rPr lang="en-IN" sz="2400" i="1">
                            <a:solidFill>
                              <a:srgbClr val="111827"/>
                            </a:solidFill>
                            <a:latin typeface="Cambria Math" panose="02040503050406030204" pitchFamily="18" charset="0"/>
                          </a:rPr>
                          <m:t>6</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𝑞</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𝑞</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sSup>
                      <m:e>
                        <m:r>
                          <a:rPr lang="en-IN" sz="2400" i="1">
                            <a:solidFill>
                              <a:srgbClr val="111827"/>
                            </a:solidFill>
                            <a:latin typeface="Cambria Math" panose="02040503050406030204" pitchFamily="18" charset="0"/>
                          </a:rPr>
                          <m:t>𝑞</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signs of the coefficients are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only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sign changes, so </a:t>
                </a: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 has at most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positive roots (Descartes).</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so there is a root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With </a:t>
                </a:r>
                <a:r>
                  <a:rPr lang="en-IN" sz="2400">
                    <a:solidFill>
                      <a:srgbClr val="111827"/>
                    </a:solidFill>
                    <a:latin typeface="Cambria Math" panose="02040503050406030204" pitchFamily="18" charset="0"/>
                  </a:rPr>
                  <a:t>$q=e^x&gt;0$</a:t>
                </a:r>
                <a:r>
                  <a:rPr sz="2400" b="0">
                    <a:solidFill>
                      <a:srgbClr val="111827"/>
                    </a:solidFill>
                    <a:latin typeface="Arial"/>
                  </a:rPr>
                  <a:t>, let </a:t>
                </a:r>
                <a:r>
                  <a:rPr lang="en-IN" sz="2400">
                    <a:solidFill>
                      <a:srgbClr val="111827"/>
                    </a:solidFill>
                    <a:latin typeface="Cambria Math" panose="02040503050406030204" pitchFamily="18" charset="0"/>
                  </a:rPr>
                  <a:t>$P(q)=q^6-q^4-2q^3-12q^2+q+1$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signs of the coefficients are </a:t>
                </a:r>
                <a:r>
                  <a:rPr lang="en-IN" sz="2400">
                    <a:solidFill>
                      <a:srgbClr val="111827"/>
                    </a:solidFill>
                    <a:latin typeface="Cambria Math" panose="02040503050406030204" pitchFamily="18" charset="0"/>
                  </a:rPr>
                  <a:t>$+,-,-,-,+,+$</a:t>
                </a:r>
                <a:r>
                  <a:rPr sz="2400" b="0">
                    <a:solidFill>
                      <a:srgbClr val="111827"/>
                    </a:solidFill>
                    <a:latin typeface="Arial"/>
                  </a:rPr>
                  <a:t>: only </a:t>
                </a:r>
                <a:r>
                  <a:rPr lang="en-IN" sz="2400">
                    <a:solidFill>
                      <a:srgbClr val="111827"/>
                    </a:solidFill>
                    <a:latin typeface="Cambria Math" panose="02040503050406030204" pitchFamily="18" charset="0"/>
                  </a:rPr>
                  <a:t>$2$</a:t>
                </a:r>
                <a:r>
                  <a:rPr sz="2400" b="0">
                    <a:solidFill>
                      <a:srgbClr val="111827"/>
                    </a:solidFill>
                    <a:latin typeface="Arial"/>
                  </a:rPr>
                  <a:t> sign changes, so </a:t>
                </a:r>
                <a:r>
                  <a:rPr lang="en-IN" sz="2400">
                    <a:solidFill>
                      <a:srgbClr val="111827"/>
                    </a:solidFill>
                    <a:latin typeface="Cambria Math" panose="02040503050406030204" pitchFamily="18" charset="0"/>
                  </a:rPr>
                  <a:t>$P$</a:t>
                </a:r>
                <a:r>
                  <a:rPr sz="2400" b="0">
                    <a:solidFill>
                      <a:srgbClr val="111827"/>
                    </a:solidFill>
                    <a:latin typeface="Arial"/>
                  </a:rPr>
                  <a:t> has at most </a:t>
                </a:r>
                <a:r>
                  <a:rPr lang="en-IN" sz="2400">
                    <a:solidFill>
                      <a:srgbClr val="111827"/>
                    </a:solidFill>
                    <a:latin typeface="Cambria Math" panose="02040503050406030204" pitchFamily="18" charset="0"/>
                  </a:rPr>
                  <a:t>$2$</a:t>
                </a:r>
                <a:r>
                  <a:rPr sz="2400" b="0">
                    <a:solidFill>
                      <a:srgbClr val="111827"/>
                    </a:solidFill>
                    <a:latin typeface="Arial"/>
                  </a:rPr>
                  <a:t> positive roots (Descartes).</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$P(0)=1&gt;0$</a:t>
                </a:r>
                <a:r>
                  <a:rPr sz="2400" b="0">
                    <a:solidFill>
                      <a:srgbClr val="111827"/>
                    </a:solidFill>
                    <a:latin typeface="Arial"/>
                  </a:rPr>
                  <a:t> and </a:t>
                </a:r>
                <a:r>
                  <a:rPr lang="en-IN" sz="2400">
                    <a:solidFill>
                      <a:srgbClr val="111827"/>
                    </a:solidFill>
                    <a:latin typeface="Cambria Math" panose="02040503050406030204" pitchFamily="18" charset="0"/>
                  </a:rPr>
                  <a:t>$P(1)=1-1-2-12+1+1=-12&lt;0$</a:t>
                </a:r>
                <a:r>
                  <a:rPr sz="2400" b="0">
                    <a:solidFill>
                      <a:srgbClr val="111827"/>
                    </a:solidFill>
                    <a:latin typeface="Arial"/>
                  </a:rPr>
                  <a:t>, so there is a root in </a:t>
                </a:r>
                <a:r>
                  <a:rPr lang="en-IN" sz="2400">
                    <a:solidFill>
                      <a:srgbClr val="111827"/>
                    </a:solidFill>
                    <a:latin typeface="Cambria Math" panose="02040503050406030204" pitchFamily="18" charset="0"/>
                  </a:rPr>
                  <a:t>$(0,1)$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as </a:t>
                </a:r>
                <a14:m>
                  <m:oMath xmlns:m="http://schemas.openxmlformats.org/officeDocument/2006/math">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so there is another root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Exactly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positive roots in </a:t>
                </a:r>
                <a14:m>
                  <m:oMath xmlns:m="http://schemas.openxmlformats.org/officeDocument/2006/math">
                    <m:r>
                      <a:rPr lang="en-IN" sz="2400" i="1">
                        <a:solidFill>
                          <a:srgbClr val="111827"/>
                        </a:solidFill>
                        <a:latin typeface="Cambria Math" panose="02040503050406030204" pitchFamily="18" charset="0"/>
                      </a:rPr>
                      <m:t>𝑞</m:t>
                    </m:r>
                  </m:oMath>
                </a14:m>
                <a:r>
                  <a:rPr sz="2400" b="0">
                    <a:solidFill>
                      <a:srgbClr val="111827"/>
                    </a:solidFill>
                    <a:latin typeface="Arial"/>
                  </a:rPr>
                  <a:t>, each giving one real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𝑞</m:t>
                    </m:r>
                  </m:oMath>
                </a14:m>
                <a:r>
                  <a:rPr sz="2400" b="0">
                    <a:solidFill>
                      <a:srgbClr val="111827"/>
                    </a:solidFill>
                    <a:latin typeface="Arial"/>
                  </a:rPr>
                  <a:t>: the equation has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real roots (option D).</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$P(q)\to+\infty$</a:t>
                </a:r>
                <a:r>
                  <a:rPr sz="2400" b="0">
                    <a:solidFill>
                      <a:srgbClr val="111827"/>
                    </a:solidFill>
                    <a:latin typeface="Arial"/>
                  </a:rPr>
                  <a:t> as </a:t>
                </a:r>
                <a:r>
                  <a:rPr lang="en-IN" sz="2400">
                    <a:solidFill>
                      <a:srgbClr val="111827"/>
                    </a:solidFill>
                    <a:latin typeface="Cambria Math" panose="02040503050406030204" pitchFamily="18" charset="0"/>
                  </a:rPr>
                  <a:t>$q\to\infty$</a:t>
                </a:r>
                <a:r>
                  <a:rPr sz="2400" b="0">
                    <a:solidFill>
                      <a:srgbClr val="111827"/>
                    </a:solidFill>
                    <a:latin typeface="Arial"/>
                  </a:rPr>
                  <a:t> and </a:t>
                </a:r>
                <a:r>
                  <a:rPr lang="en-IN" sz="2400">
                    <a:solidFill>
                      <a:srgbClr val="111827"/>
                    </a:solidFill>
                    <a:latin typeface="Cambria Math" panose="02040503050406030204" pitchFamily="18" charset="0"/>
                  </a:rPr>
                  <a:t>$P(1)&lt;0$</a:t>
                </a:r>
                <a:r>
                  <a:rPr sz="2400" b="0">
                    <a:solidFill>
                      <a:srgbClr val="111827"/>
                    </a:solidFill>
                    <a:latin typeface="Arial"/>
                  </a:rPr>
                  <a:t>, so there is another root in </a:t>
                </a:r>
                <a:r>
                  <a:rPr lang="en-IN" sz="2400">
                    <a:solidFill>
                      <a:srgbClr val="111827"/>
                    </a:solidFill>
                    <a:latin typeface="Cambria Math" panose="02040503050406030204" pitchFamily="18" charset="0"/>
                  </a:rPr>
                  <a:t>$(1,\infty)$</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Exactly </a:t>
                </a:r>
                <a:r>
                  <a:rPr lang="en-IN" sz="2400">
                    <a:solidFill>
                      <a:srgbClr val="111827"/>
                    </a:solidFill>
                    <a:latin typeface="Cambria Math" panose="02040503050406030204" pitchFamily="18" charset="0"/>
                  </a:rPr>
                  <a:t>$2$</a:t>
                </a:r>
                <a:r>
                  <a:rPr sz="2400" b="0">
                    <a:solidFill>
                      <a:srgbClr val="111827"/>
                    </a:solidFill>
                    <a:latin typeface="Arial"/>
                  </a:rPr>
                  <a:t> positive roots in </a:t>
                </a:r>
                <a:r>
                  <a:rPr lang="en-IN" sz="2400">
                    <a:solidFill>
                      <a:srgbClr val="111827"/>
                    </a:solidFill>
                    <a:latin typeface="Cambria Math" panose="02040503050406030204" pitchFamily="18" charset="0"/>
                  </a:rPr>
                  <a:t>$q$</a:t>
                </a:r>
                <a:r>
                  <a:rPr sz="2400" b="0">
                    <a:solidFill>
                      <a:srgbClr val="111827"/>
                    </a:solidFill>
                    <a:latin typeface="Arial"/>
                  </a:rPr>
                  <a:t>, each giving one real </a:t>
                </a:r>
                <a:r>
                  <a:rPr lang="en-IN" sz="2400">
                    <a:solidFill>
                      <a:srgbClr val="111827"/>
                    </a:solidFill>
                    <a:latin typeface="Cambria Math" panose="02040503050406030204" pitchFamily="18" charset="0"/>
                  </a:rPr>
                  <a:t>$x=\ln q$</a:t>
                </a:r>
                <a:r>
                  <a:rPr sz="2400" b="0">
                    <a:solidFill>
                      <a:srgbClr val="111827"/>
                    </a:solidFill>
                    <a:latin typeface="Arial"/>
                  </a:rPr>
                  <a:t>: the equation has </a:t>
                </a:r>
                <a:r>
                  <a:rPr lang="en-IN" sz="2400">
                    <a:solidFill>
                      <a:srgbClr val="111827"/>
                    </a:solidFill>
                    <a:latin typeface="Cambria Math" panose="02040503050406030204" pitchFamily="18" charset="0"/>
                  </a:rPr>
                  <a:t>$2$</a:t>
                </a:r>
                <a:r>
                  <a:rPr sz="2400" b="0">
                    <a:solidFill>
                      <a:srgbClr val="111827"/>
                    </a:solidFill>
                    <a:latin typeface="Arial"/>
                  </a:rPr>
                  <a:t> real roots (option D).</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a:t>
                </a:r>
                <a14:m>
                  <m:oMath xmlns:m="http://schemas.openxmlformats.org/officeDocument/2006/math">
                    <m:r>
                      <a:rPr lang="en-IN" sz="2800" i="1">
                        <a:solidFill>
                          <a:srgbClr val="15803D"/>
                        </a:solidFill>
                        <a:latin typeface="Cambria Math" panose="02040503050406030204" pitchFamily="18" charset="0"/>
                      </a:rPr>
                      <m:t>2</m:t>
                    </m:r>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a:t>
                </a:r>
                <a:r>
                  <a:rPr lang="en-IN" sz="2800">
                    <a:solidFill>
                      <a:srgbClr val="15803D"/>
                    </a:solidFill>
                    <a:latin typeface="Cambria Math" panose="02040503050406030204" pitchFamily="18" charset="0"/>
                  </a:rPr>
                  <a:t>$2$</a:t>
                </a:r>
                <a:endParaRPr sz="2800">
                  <a:solidFill>
                    <a:srgbClr val="15803D"/>
                  </a:solidFill>
                </a:endParaRPr>
              </a:p>
            </p:txBody>
          </p:sp>
        </mc:Fallback>
      </mc:AlternateContent>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Descartes' rule: the number of positive roots is the number of sign changes in the coefficients, or less by an even number.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Equations in </a:t>
                </a:r>
                <a14:m>
                  <m:oMath xmlns:m="http://schemas.openxmlformats.org/officeDocument/2006/math">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oMath>
                </a14:m>
                <a:r>
                  <a:rPr sz="2400" b="0">
                    <a:solidFill>
                      <a:srgbClr val="111827"/>
                    </a:solidFill>
                    <a:latin typeface="Arial"/>
                  </a:rPr>
                  <a:t> with several exponents are polynomials in </a:t>
                </a:r>
                <a14:m>
                  <m:oMath xmlns:m="http://schemas.openxmlformats.org/officeDocument/2006/math">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each positive root gives exactly one real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Look for a hidden square: </a:t>
                </a:r>
                <a14:m>
                  <m:oMath xmlns:m="http://schemas.openxmlformats.org/officeDocument/2006/math">
                    <m:sSup>
                      <m:e>
                        <m:r>
                          <a:rPr lang="en-IN" sz="2400" i="1">
                            <a:solidFill>
                              <a:srgbClr val="111827"/>
                            </a:solidFill>
                            <a:latin typeface="Cambria Math" panose="02040503050406030204" pitchFamily="18" charset="0"/>
                          </a:rPr>
                          <m:t>𝑞</m:t>
                        </m:r>
                      </m:e>
                      <m:sup>
                        <m:r>
                          <a:rPr lang="en-IN" sz="2400" i="1">
                            <a:solidFill>
                              <a:srgbClr val="111827"/>
                            </a:solidFill>
                            <a:latin typeface="Cambria Math" panose="02040503050406030204" pitchFamily="18" charset="0"/>
                          </a:rPr>
                          <m:t>6</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𝑞</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𝑞</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leaving a homogeneous quadratic form </a:t>
                </a:r>
                <a14:m>
                  <m:oMath xmlns:m="http://schemas.openxmlformats.org/officeDocument/2006/math">
                    <m:sSup>
                      <m:e>
                        <m:r>
                          <a:rPr lang="en-IN" sz="2400" i="1">
                            <a:solidFill>
                              <a:srgbClr val="111827"/>
                            </a:solidFill>
                            <a:latin typeface="Cambria Math" panose="02040503050406030204" pitchFamily="18" charset="0"/>
                          </a:rPr>
                          <m:t>𝑝</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sSup>
                      <m:e>
                        <m:r>
                          <a:rPr lang="en-IN" sz="2400" i="1">
                            <a:solidFill>
                              <a:srgbClr val="111827"/>
                            </a:solidFill>
                            <a:latin typeface="Cambria Math" panose="02040503050406030204" pitchFamily="18" charset="0"/>
                          </a:rPr>
                          <m:t>𝑞</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that factors.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sSup>
                      <m:e>
                        <m:r>
                          <a:rPr lang="en-IN" sz="2400" i="1">
                            <a:solidFill>
                              <a:srgbClr val="111827"/>
                            </a:solidFill>
                            <a:latin typeface="Cambria Math" panose="02040503050406030204" pitchFamily="18" charset="0"/>
                          </a:rPr>
                          <m:t>𝑞</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the function is strictly increasing, so it has exactly one real root.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Descartes' rule: the number of positive roots is the number of sign changes in the coefficients, or less by an even number.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Equations in </a:t>
                </a:r>
                <a:r>
                  <a:rPr lang="en-IN" sz="2400">
                    <a:solidFill>
                      <a:srgbClr val="111827"/>
                    </a:solidFill>
                    <a:latin typeface="Cambria Math" panose="02040503050406030204" pitchFamily="18" charset="0"/>
                  </a:rPr>
                  <a:t>$e^x$</a:t>
                </a:r>
                <a:r>
                  <a:rPr sz="2400" b="0">
                    <a:solidFill>
                      <a:srgbClr val="111827"/>
                    </a:solidFill>
                    <a:latin typeface="Arial"/>
                  </a:rPr>
                  <a:t> with several exponents are polynomials in </a:t>
                </a:r>
                <a:r>
                  <a:rPr lang="en-IN" sz="2400">
                    <a:solidFill>
                      <a:srgbClr val="111827"/>
                    </a:solidFill>
                    <a:latin typeface="Cambria Math" panose="02040503050406030204" pitchFamily="18" charset="0"/>
                  </a:rPr>
                  <a:t>$q=e^x$</a:t>
                </a:r>
                <a:r>
                  <a:rPr sz="2400" b="0">
                    <a:solidFill>
                      <a:srgbClr val="111827"/>
                    </a:solidFill>
                    <a:latin typeface="Arial"/>
                  </a:rPr>
                  <a:t> with </a:t>
                </a:r>
                <a:r>
                  <a:rPr lang="en-IN" sz="2400">
                    <a:solidFill>
                      <a:srgbClr val="111827"/>
                    </a:solidFill>
                    <a:latin typeface="Cambria Math" panose="02040503050406030204" pitchFamily="18" charset="0"/>
                  </a:rPr>
                  <a:t>$q&gt;0$</a:t>
                </a:r>
                <a:r>
                  <a:rPr sz="2400" b="0">
                    <a:solidFill>
                      <a:srgbClr val="111827"/>
                    </a:solidFill>
                    <a:latin typeface="Arial"/>
                  </a:rPr>
                  <a:t>; each positive root gives exactly one real </a:t>
                </a:r>
                <a:r>
                  <a:rPr lang="en-IN" sz="2400">
                    <a:solidFill>
                      <a:srgbClr val="111827"/>
                    </a:solidFill>
                    <a:latin typeface="Cambria Math" panose="02040503050406030204" pitchFamily="18" charset="0"/>
                  </a:rPr>
                  <a:t>$x$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Look for a hidden square: </a:t>
                </a:r>
                <a:r>
                  <a:rPr lang="en-IN" sz="2400">
                    <a:solidFill>
                      <a:srgbClr val="111827"/>
                    </a:solidFill>
                    <a:latin typeface="Cambria Math" panose="02040503050406030204" pitchFamily="18" charset="0"/>
                  </a:rPr>
                  <a:t>$q^6-2q^3+1=(q^3-1)^2$</a:t>
                </a:r>
                <a:r>
                  <a:rPr sz="2400" b="0">
                    <a:solidFill>
                      <a:srgbClr val="111827"/>
                    </a:solidFill>
                    <a:latin typeface="Arial"/>
                  </a:rPr>
                  <a:t>, leaving a homogeneous quadratic form </a:t>
                </a:r>
                <a:r>
                  <a:rPr lang="en-IN" sz="2400">
                    <a:solidFill>
                      <a:srgbClr val="111827"/>
                    </a:solidFill>
                    <a:latin typeface="Cambria Math" panose="02040503050406030204" pitchFamily="18" charset="0"/>
                  </a:rPr>
                  <a:t>$p^2-pq-12q^2$</a:t>
                </a:r>
                <a:r>
                  <a:rPr sz="2400" b="0">
                    <a:solidFill>
                      <a:srgbClr val="111827"/>
                    </a:solidFill>
                    <a:latin typeface="Arial"/>
                  </a:rPr>
                  <a:t> that factors.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$q^3+aq+b$</a:t>
                </a:r>
                <a:r>
                  <a:rPr sz="2400" b="0">
                    <a:solidFill>
                      <a:srgbClr val="111827"/>
                    </a:solidFill>
                    <a:latin typeface="Arial"/>
                  </a:rPr>
                  <a:t> with </a:t>
                </a:r>
                <a:r>
                  <a:rPr lang="en-IN" sz="2400">
                    <a:solidFill>
                      <a:srgbClr val="111827"/>
                    </a:solidFill>
                    <a:latin typeface="Cambria Math" panose="02040503050406030204" pitchFamily="18" charset="0"/>
                  </a:rPr>
                  <a:t>$a&gt;0$</a:t>
                </a:r>
                <a:r>
                  <a:rPr sz="2400" b="0">
                    <a:solidFill>
                      <a:srgbClr val="111827"/>
                    </a:solidFill>
                    <a:latin typeface="Arial"/>
                  </a:rPr>
                  <a:t> the function is strictly increasing, so it has exactly one real root.</a:t>
                </a:r>
                <a:endParaRPr sz="2400">
                  <a:solidFill>
                    <a:srgbClr val="111827"/>
                  </a:solidFill>
                </a:endParaRPr>
              </a:p>
            </p:txBody>
          </p:sp>
        </mc:Fallback>
      </mc:AlternateContent>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0081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a rectangle is inscribed in an equilateral triangle of side length </a:t>
                </a:r>
                <a14:m>
                  <m:oMath xmlns:m="http://schemas.openxmlformats.org/officeDocument/2006/math">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oMath>
                </a14:m>
                <a:r>
                  <a:rPr sz="2400" b="0">
                    <a:solidFill>
                      <a:srgbClr val="111827"/>
                    </a:solidFill>
                    <a:latin typeface="Arial"/>
                  </a:rPr>
                  <a:t> as shown in the figure (one side of the rectangle on the base), then the square of the largest area of such a rectangle is ______.</a:t>
                </a:r>
                <a:endParaRPr sz="2400">
                  <a:solidFill>
                    <a:srgbClr val="111827"/>
                  </a:solidFill>
                </a:endParaRPr>
              </a:p>
            </p:txBody>
          </p:sp>
        </mc:Choice>
        <mc:Fallback>
          <p:sp>
            <p:nvSpPr>
              <p:cNvPr id="4" name="Rounded Rectangle 3"/>
              <p:cNvSpPr/>
              <p:nvPr/>
            </p:nvSpPr>
            <p:spPr>
              <a:xfrm>
                <a:off x="731520" y="1280160"/>
                <a:ext cx="10725912" cy="20081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a rectangle is inscribed in an equilateral triangle of side length </a:t>
                </a:r>
                <a:r>
                  <a:rPr lang="en-IN" sz="2400">
                    <a:solidFill>
                      <a:srgbClr val="111827"/>
                    </a:solidFill>
                    <a:latin typeface="Cambria Math" panose="02040503050406030204" pitchFamily="18" charset="0"/>
                  </a:rPr>
                  <a:t>$2\sqrt2$</a:t>
                </a:r>
                <a:r>
                  <a:rPr sz="2400" b="0">
                    <a:solidFill>
                      <a:srgbClr val="111827"/>
                    </a:solidFill>
                    <a:latin typeface="Arial"/>
                  </a:rPr>
                  <a:t> as shown in the figure (one side of the rectangle on the base), then the square of the largest area of such a rectangle is ______.</a:t>
                </a:r>
                <a:endParaRPr sz="2400">
                  <a:solidFill>
                    <a:srgbClr val="111827"/>
                  </a:solidFill>
                </a:endParaRPr>
              </a:p>
            </p:txBody>
          </p:sp>
        </mc:Fallback>
      </mc:AlternateContent>
      <p:sp>
        <p:nvSpPr>
          <p:cNvPr id="5" name="Rectangle 4"/>
          <p:cNvSpPr/>
          <p:nvPr/>
        </p:nvSpPr>
        <p:spPr>
          <a:xfrm>
            <a:off x="731520" y="3516884"/>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Maxima and minima: area of an inscribed rectangle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Express the height of the rectangle in terms of its base </a:t>
                </a:r>
                <a14:m>
                  <m:oMath xmlns:m="http://schemas.openxmlformats.org/officeDocument/2006/math">
                    <m:r>
                      <a:rPr lang="en-IN" sz="2400" i="1">
                        <a:solidFill>
                          <a:srgbClr val="78350F"/>
                        </a:solidFill>
                        <a:latin typeface="Cambria Math" panose="02040503050406030204" pitchFamily="18" charset="0"/>
                      </a:rPr>
                      <m:t>𝑙</m:t>
                    </m:r>
                  </m:oMath>
                </a14:m>
                <a:r>
                  <a:rPr sz="2400" b="0">
                    <a:solidFill>
                      <a:srgbClr val="78350F"/>
                    </a:solidFill>
                    <a:latin typeface="Arial"/>
                  </a:rPr>
                  <a:t> using the </a:t>
                </a:r>
                <a14:m>
                  <m:oMath xmlns:m="http://schemas.openxmlformats.org/officeDocument/2006/math">
                    <m:sSup>
                      <m:e>
                        <m:r>
                          <a:rPr lang="en-IN" sz="2400" i="1">
                            <a:solidFill>
                              <a:srgbClr val="78350F"/>
                            </a:solidFill>
                            <a:latin typeface="Cambria Math" panose="02040503050406030204" pitchFamily="18" charset="0"/>
                          </a:rPr>
                          <m:t>60</m:t>
                        </m:r>
                      </m:e>
                      <m:sup>
                        <m:r>
                          <m:rPr>
                            <m:sty m:val="p"/>
                          </m:rPr>
                          <a:rPr lang="en-IN" sz="2400">
                            <a:solidFill>
                              <a:srgbClr val="78350F"/>
                            </a:solidFill>
                            <a:latin typeface="Cambria Math" panose="02040503050406030204" pitchFamily="18" charset="0"/>
                          </a:rPr>
                          <m:t>∘</m:t>
                        </m:r>
                      </m:sup>
                    </m:sSup>
                  </m:oMath>
                </a14:m>
                <a:r>
                  <a:rPr sz="2400" b="0">
                    <a:solidFill>
                      <a:srgbClr val="78350F"/>
                    </a:solidFill>
                    <a:latin typeface="Arial"/>
                  </a:rPr>
                  <a:t> angle of the triangle.</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Express the height of the rectangle in terms of its base </a:t>
                </a:r>
                <a:r>
                  <a:rPr lang="en-IN" sz="2400">
                    <a:solidFill>
                      <a:srgbClr val="78350F"/>
                    </a:solidFill>
                    <a:latin typeface="Cambria Math" panose="02040503050406030204" pitchFamily="18" charset="0"/>
                  </a:rPr>
                  <a:t>$l$</a:t>
                </a:r>
                <a:r>
                  <a:rPr sz="2400" b="0">
                    <a:solidFill>
                      <a:srgbClr val="78350F"/>
                    </a:solidFill>
                    <a:latin typeface="Arial"/>
                  </a:rPr>
                  <a:t> using the </a:t>
                </a:r>
                <a:r>
                  <a:rPr lang="en-IN" sz="2400">
                    <a:solidFill>
                      <a:srgbClr val="78350F"/>
                    </a:solidFill>
                    <a:latin typeface="Cambria Math" panose="02040503050406030204" pitchFamily="18" charset="0"/>
                  </a:rPr>
                  <a:t>$60^\circ$</a:t>
                </a:r>
                <a:r>
                  <a:rPr sz="2400" b="0">
                    <a:solidFill>
                      <a:srgbClr val="78350F"/>
                    </a:solidFill>
                    <a:latin typeface="Arial"/>
                  </a:rPr>
                  <a:t> angle of the triangle.</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the triangle be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oMath>
                </a14:m>
                <a:r>
                  <a:rPr sz="2400" b="0">
                    <a:solidFill>
                      <a:srgbClr val="111827"/>
                    </a:solidFill>
                    <a:latin typeface="Arial"/>
                  </a:rPr>
                  <a:t> the base, and let the rectangle have base </a:t>
                </a:r>
                <a14:m>
                  <m:oMath xmlns:m="http://schemas.openxmlformats.org/officeDocument/2006/math">
                    <m:r>
                      <a:rPr lang="en-IN" sz="2400" i="1">
                        <a:solidFill>
                          <a:srgbClr val="111827"/>
                        </a:solidFill>
                        <a:latin typeface="Cambria Math" panose="02040503050406030204" pitchFamily="18" charset="0"/>
                      </a:rPr>
                      <m:t>𝑙</m:t>
                    </m:r>
                  </m:oMath>
                </a14:m>
                <a:r>
                  <a:rPr sz="2400" b="0">
                    <a:solidFill>
                      <a:srgbClr val="111827"/>
                    </a:solidFill>
                    <a:latin typeface="Arial"/>
                  </a:rPr>
                  <a:t> on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and height </a:t>
                </a:r>
                <a14:m>
                  <m:oMath xmlns:m="http://schemas.openxmlformats.org/officeDocument/2006/math">
                    <m:r>
                      <a:rPr lang="en-IN" sz="2400" i="1">
                        <a:solidFill>
                          <a:srgbClr val="111827"/>
                        </a:solidFill>
                        <a:latin typeface="Cambria Math" panose="02040503050406030204" pitchFamily="18" charset="0"/>
                      </a:rPr>
                      <m:t>𝑏</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horizontal gap from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to the rectangle's left side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𝑙</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the right triangle </a:t>
                </a:r>
                <a14:m>
                  <m:oMath xmlns:m="http://schemas.openxmlformats.org/officeDocument/2006/math">
                    <m:r>
                      <a:rPr lang="en-IN" sz="2400" i="1">
                        <a:solidFill>
                          <a:srgbClr val="111827"/>
                        </a:solidFill>
                        <a:latin typeface="Cambria Math" panose="02040503050406030204" pitchFamily="18" charset="0"/>
                      </a:rPr>
                      <m:t>𝐷</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𝐹</m:t>
                    </m:r>
                  </m:oMath>
                </a14:m>
                <a:r>
                  <a:rPr sz="2400" b="0">
                    <a:solidFill>
                      <a:srgbClr val="111827"/>
                    </a:solidFill>
                    <a:latin typeface="Arial"/>
                  </a:rPr>
                  <a:t> with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60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tan</m:t>
                    </m:r>
                    <m:sSup>
                      <m:e>
                        <m:r>
                          <a:rPr lang="en-IN" sz="2400" i="1">
                            <a:solidFill>
                              <a:srgbClr val="111827"/>
                            </a:solidFill>
                            <a:latin typeface="Cambria Math" panose="02040503050406030204" pitchFamily="18" charset="0"/>
                          </a:rPr>
                          <m:t>60</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𝑏</m:t>
                        </m:r>
                      </m:num>
                      <m:den>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𝑙</m:t>
                            </m:r>
                          </m:num>
                          <m:den>
                            <m:r>
                              <a:rPr lang="en-IN" sz="2400" i="1">
                                <a:solidFill>
                                  <a:srgbClr val="111827"/>
                                </a:solidFill>
                                <a:latin typeface="Cambria Math" panose="02040503050406030204" pitchFamily="18" charset="0"/>
                              </a:rPr>
                              <m:t>2</m:t>
                            </m:r>
                          </m:den>
                        </m:f>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𝑏</m:t>
                        </m:r>
                      </m:num>
                      <m:den>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𝑙</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𝑙</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the triangle be </a:t>
                </a:r>
                <a:r>
                  <a:rPr lang="en-IN" sz="2400">
                    <a:solidFill>
                      <a:srgbClr val="111827"/>
                    </a:solidFill>
                    <a:latin typeface="Cambria Math" panose="02040503050406030204" pitchFamily="18" charset="0"/>
                  </a:rPr>
                  <a:t>$ABC$</a:t>
                </a:r>
                <a:r>
                  <a:rPr sz="2400" b="0">
                    <a:solidFill>
                      <a:srgbClr val="111827"/>
                    </a:solidFill>
                    <a:latin typeface="Arial"/>
                  </a:rPr>
                  <a:t> with </a:t>
                </a:r>
                <a:r>
                  <a:rPr lang="en-IN" sz="2400">
                    <a:solidFill>
                      <a:srgbClr val="111827"/>
                    </a:solidFill>
                    <a:latin typeface="Cambria Math" panose="02040503050406030204" pitchFamily="18" charset="0"/>
                  </a:rPr>
                  <a:t>$BC=2\sqrt2$</a:t>
                </a:r>
                <a:r>
                  <a:rPr sz="2400" b="0">
                    <a:solidFill>
                      <a:srgbClr val="111827"/>
                    </a:solidFill>
                    <a:latin typeface="Arial"/>
                  </a:rPr>
                  <a:t> the base, and let the rectangle have base </a:t>
                </a:r>
                <a:r>
                  <a:rPr lang="en-IN" sz="2400">
                    <a:solidFill>
                      <a:srgbClr val="111827"/>
                    </a:solidFill>
                    <a:latin typeface="Cambria Math" panose="02040503050406030204" pitchFamily="18" charset="0"/>
                  </a:rPr>
                  <a:t>$l$</a:t>
                </a:r>
                <a:r>
                  <a:rPr sz="2400" b="0">
                    <a:solidFill>
                      <a:srgbClr val="111827"/>
                    </a:solidFill>
                    <a:latin typeface="Arial"/>
                  </a:rPr>
                  <a:t> on </a:t>
                </a:r>
                <a:r>
                  <a:rPr lang="en-IN" sz="2400">
                    <a:solidFill>
                      <a:srgbClr val="111827"/>
                    </a:solidFill>
                    <a:latin typeface="Cambria Math" panose="02040503050406030204" pitchFamily="18" charset="0"/>
                  </a:rPr>
                  <a:t>$BC$</a:t>
                </a:r>
                <a:r>
                  <a:rPr sz="2400" b="0">
                    <a:solidFill>
                      <a:srgbClr val="111827"/>
                    </a:solidFill>
                    <a:latin typeface="Arial"/>
                  </a:rPr>
                  <a:t> and height </a:t>
                </a:r>
                <a:r>
                  <a:rPr lang="en-IN" sz="2400">
                    <a:solidFill>
                      <a:srgbClr val="111827"/>
                    </a:solidFill>
                    <a:latin typeface="Cambria Math" panose="02040503050406030204" pitchFamily="18" charset="0"/>
                  </a:rPr>
                  <a:t>$b$</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horizontal gap from </a:t>
                </a:r>
                <a:r>
                  <a:rPr lang="en-IN" sz="2400">
                    <a:solidFill>
                      <a:srgbClr val="111827"/>
                    </a:solidFill>
                    <a:latin typeface="Cambria Math" panose="02040503050406030204" pitchFamily="18" charset="0"/>
                  </a:rPr>
                  <a:t>$B$</a:t>
                </a:r>
                <a:r>
                  <a:rPr sz="2400" b="0">
                    <a:solidFill>
                      <a:srgbClr val="111827"/>
                    </a:solidFill>
                    <a:latin typeface="Arial"/>
                  </a:rPr>
                  <a:t> to the rectangle's left side is </a:t>
                </a:r>
                <a:r>
                  <a:rPr lang="en-IN" sz="2400">
                    <a:solidFill>
                      <a:srgbClr val="111827"/>
                    </a:solidFill>
                    <a:latin typeface="Cambria Math" panose="02040503050406030204" pitchFamily="18" charset="0"/>
                  </a:rPr>
                  <a:t>$\frac{2\sqrt2-l}{2}$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the right triangle </a:t>
                </a:r>
                <a:r>
                  <a:rPr lang="en-IN" sz="2400">
                    <a:solidFill>
                      <a:srgbClr val="111827"/>
                    </a:solidFill>
                    <a:latin typeface="Cambria Math" panose="02040503050406030204" pitchFamily="18" charset="0"/>
                  </a:rPr>
                  <a:t>$DBF$</a:t>
                </a:r>
                <a:r>
                  <a:rPr sz="2400" b="0">
                    <a:solidFill>
                      <a:srgbClr val="111827"/>
                    </a:solidFill>
                    <a:latin typeface="Arial"/>
                  </a:rPr>
                  <a:t> with </a:t>
                </a:r>
                <a:r>
                  <a:rPr lang="en-IN" sz="2400">
                    <a:solidFill>
                      <a:srgbClr val="111827"/>
                    </a:solidFill>
                    <a:latin typeface="Cambria Math" panose="02040503050406030204" pitchFamily="18" charset="0"/>
                  </a:rPr>
                  <a:t>$\angle B=60^\circ$</a:t>
                </a:r>
                <a:r>
                  <a:rPr sz="2400" b="0">
                    <a:solidFill>
                      <a:srgbClr val="111827"/>
                    </a:solidFill>
                    <a:latin typeface="Arial"/>
                  </a:rPr>
                  <a:t>: </a:t>
                </a:r>
                <a:r>
                  <a:rPr lang="en-IN" sz="2400">
                    <a:solidFill>
                      <a:srgbClr val="111827"/>
                    </a:solidFill>
                    <a:latin typeface="Cambria Math" panose="02040503050406030204" pitchFamily="18" charset="0"/>
                  </a:rPr>
                  <a:t>$\tan60^\circ=\frac{b}{\frac{2\sqrt2-l}{2}}=\frac{2b}{2\sqrt2-l}$</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$b=\frac{\sqrt3(2\sqrt2-l)}{2}$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Area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𝑙</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2</m:t>
                        </m:r>
                      </m:den>
                    </m:f>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𝑙</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𝑙</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𝐴</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𝑙</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𝑙</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𝑙</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𝐴</m:t>
                        </m:r>
                      </m:num>
                      <m:den>
                        <m:r>
                          <a:rPr lang="en-IN" sz="2400" i="1">
                            <a:solidFill>
                              <a:srgbClr val="111827"/>
                            </a:solidFill>
                            <a:latin typeface="Cambria Math" panose="02040503050406030204" pitchFamily="18" charset="0"/>
                          </a:rPr>
                          <m:t>𝑑</m:t>
                        </m:r>
                        <m:sSup>
                          <m:e>
                            <m:r>
                              <a:rPr lang="en-IN" sz="2400" i="1">
                                <a:solidFill>
                                  <a:srgbClr val="111827"/>
                                </a:solidFill>
                                <a:latin typeface="Cambria Math" panose="02040503050406030204" pitchFamily="18" charset="0"/>
                              </a:rPr>
                              <m:t>𝑙</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so this gives the maximum.</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𝐴</m:t>
                        </m:r>
                      </m:e>
                      <m:sub>
                        <m:r>
                          <m:rPr>
                            <m:sty m:val="p"/>
                          </m:rPr>
                          <a:rPr lang="en-IN" sz="2400">
                            <a:solidFill>
                              <a:srgbClr val="111827"/>
                            </a:solidFill>
                            <a:latin typeface="Cambria Math" panose="02040503050406030204" pitchFamily="18" charset="0"/>
                          </a:rPr>
                          <m:t>max</m:t>
                        </m:r>
                      </m:sub>
                    </m:sSub>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2</m:t>
                        </m:r>
                      </m:den>
                    </m:f>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Therefore </a:t>
                </a:r>
                <a14:m>
                  <m:oMath xmlns:m="http://schemas.openxmlformats.org/officeDocument/2006/math">
                    <m:sSup>
                      <m:e>
                        <m:r>
                          <a:rPr lang="en-IN" sz="2400" i="1">
                            <a:solidFill>
                              <a:srgbClr val="111827"/>
                            </a:solidFill>
                            <a:latin typeface="Cambria Math" panose="02040503050406030204" pitchFamily="18" charset="0"/>
                          </a:rPr>
                          <m:t>𝐴</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Area </a:t>
                </a:r>
                <a:r>
                  <a:rPr lang="en-IN" sz="2400">
                    <a:solidFill>
                      <a:srgbClr val="111827"/>
                    </a:solidFill>
                    <a:latin typeface="Cambria Math" panose="02040503050406030204" pitchFamily="18" charset="0"/>
                  </a:rPr>
                  <a:t>$A=l\cdot b=\frac{\sqrt3}{2}\,l\,(2\sqrt2-l)$</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$\frac{dA}{dl}=\frac{\sqrt3}{2}(2\sqrt2-2l)=0\Rightarrow l=\sqrt2$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$\frac{d^2A}{dl^2}=-\sqrt3&lt;0$</a:t>
                </a:r>
                <a:r>
                  <a:rPr sz="2400" b="0">
                    <a:solidFill>
                      <a:srgbClr val="111827"/>
                    </a:solidFill>
                    <a:latin typeface="Arial"/>
                  </a:rPr>
                  <a:t>, so this gives the maximum.</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$A_{\max}=\sqrt2\cdot\frac{\sqrt3}{2}\left(2\sqrt2-\sqrt2\right)=\frac{\sqrt3}{2}\cdot2=\sqrt3$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Therefore </a:t>
                </a:r>
                <a:r>
                  <a:rPr lang="en-IN" sz="2400">
                    <a:solidFill>
                      <a:srgbClr val="111827"/>
                    </a:solidFill>
                    <a:latin typeface="Cambria Math" panose="02040503050406030204" pitchFamily="18" charset="0"/>
                  </a:rPr>
                  <a:t>$A^2=3$</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3</a:t>
            </a:r>
            <a:endParaRPr sz="2800">
              <a:solidFill>
                <a:srgbClr val="15803D"/>
              </a:solidFill>
            </a:endParaRP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similar triangles for the height and AM-GM instead of calculus.</a:t>
            </a:r>
            <a:endParaRPr sz="2400">
              <a:solidFill>
                <a:srgbClr val="78350F"/>
              </a:solidFill>
            </a:endParaRPr>
          </a:p>
        </p:txBody>
      </p:sp>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top edge of the rectangle is parallel to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so the small triangle above it is equilateral of side </a:t>
                </a:r>
                <a14:m>
                  <m:oMath xmlns:m="http://schemas.openxmlformats.org/officeDocument/2006/math">
                    <m:r>
                      <a:rPr lang="en-IN" sz="2400" i="1">
                        <a:solidFill>
                          <a:srgbClr val="111827"/>
                        </a:solidFill>
                        <a:latin typeface="Cambria Math" panose="02040503050406030204" pitchFamily="18" charset="0"/>
                      </a:rPr>
                      <m:t>𝑙</m:t>
                    </m:r>
                  </m:oMath>
                </a14:m>
                <a:r>
                  <a:rPr sz="2400" b="0">
                    <a:solidFill>
                      <a:srgbClr val="111827"/>
                    </a:solidFill>
                    <a:latin typeface="Arial"/>
                  </a:rPr>
                  <a:t> and height </a:t>
                </a:r>
                <a14:m>
                  <m:oMath xmlns:m="http://schemas.openxmlformats.org/officeDocument/2006/math">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2</m:t>
                        </m:r>
                      </m:den>
                    </m:f>
                    <m:r>
                      <a:rPr lang="en-IN" sz="2400" i="1">
                        <a:solidFill>
                          <a:srgbClr val="111827"/>
                        </a:solidFill>
                        <a:latin typeface="Cambria Math" panose="02040503050406030204" pitchFamily="18" charset="0"/>
                      </a:rPr>
                      <m:t>𝑙</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whole triangle has height </a:t>
                </a:r>
                <a14:m>
                  <m:oMath xmlns:m="http://schemas.openxmlformats.org/officeDocument/2006/math">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6</m:t>
                        </m:r>
                      </m:e>
                    </m:rad>
                  </m:oMath>
                </a14:m>
                <a:r>
                  <a:rPr sz="2400" b="0">
                    <a:solidFill>
                      <a:srgbClr val="111827"/>
                    </a:solidFill>
                    <a:latin typeface="Arial"/>
                  </a:rPr>
                  <a:t>, so the rectangle's height is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6</m:t>
                        </m:r>
                      </m:e>
                    </m:ra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2</m:t>
                        </m:r>
                      </m:den>
                    </m:f>
                    <m:r>
                      <a:rPr lang="en-IN" sz="2400" i="1">
                        <a:solidFill>
                          <a:srgbClr val="111827"/>
                        </a:solidFill>
                        <a:latin typeface="Cambria Math" panose="02040503050406030204" pitchFamily="18" charset="0"/>
                      </a:rPr>
                      <m:t>𝑙</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𝑙</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2</m:t>
                        </m:r>
                      </m:den>
                    </m:f>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𝑙</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𝑙</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two factors </a:t>
                </a:r>
                <a14:m>
                  <m:oMath xmlns:m="http://schemas.openxmlformats.org/officeDocument/2006/math">
                    <m:r>
                      <a:rPr lang="en-IN" sz="2400" i="1">
                        <a:solidFill>
                          <a:srgbClr val="111827"/>
                        </a:solidFill>
                        <a:latin typeface="Cambria Math" panose="02040503050406030204" pitchFamily="18" charset="0"/>
                      </a:rPr>
                      <m:t>𝑙</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𝑙</m:t>
                    </m:r>
                  </m:oMath>
                </a14:m>
                <a:r>
                  <a:rPr sz="2400" b="0">
                    <a:solidFill>
                      <a:srgbClr val="111827"/>
                    </a:solidFill>
                    <a:latin typeface="Arial"/>
                  </a:rPr>
                  <a:t> have a constant sum </a:t>
                </a:r>
                <a14:m>
                  <m:oMath xmlns:m="http://schemas.openxmlformats.org/officeDocument/2006/math">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top edge of the rectangle is parallel to </a:t>
                </a:r>
                <a:r>
                  <a:rPr lang="en-IN" sz="2400">
                    <a:solidFill>
                      <a:srgbClr val="111827"/>
                    </a:solidFill>
                    <a:latin typeface="Cambria Math" panose="02040503050406030204" pitchFamily="18" charset="0"/>
                  </a:rPr>
                  <a:t>$BC$</a:t>
                </a:r>
                <a:r>
                  <a:rPr sz="2400" b="0">
                    <a:solidFill>
                      <a:srgbClr val="111827"/>
                    </a:solidFill>
                    <a:latin typeface="Arial"/>
                  </a:rPr>
                  <a:t>, so the small triangle above it is equilateral of side </a:t>
                </a:r>
                <a:r>
                  <a:rPr lang="en-IN" sz="2400">
                    <a:solidFill>
                      <a:srgbClr val="111827"/>
                    </a:solidFill>
                    <a:latin typeface="Cambria Math" panose="02040503050406030204" pitchFamily="18" charset="0"/>
                  </a:rPr>
                  <a:t>$l$</a:t>
                </a:r>
                <a:r>
                  <a:rPr sz="2400" b="0">
                    <a:solidFill>
                      <a:srgbClr val="111827"/>
                    </a:solidFill>
                    <a:latin typeface="Arial"/>
                  </a:rPr>
                  <a:t> and height </a:t>
                </a:r>
                <a:r>
                  <a:rPr lang="en-IN" sz="2400">
                    <a:solidFill>
                      <a:srgbClr val="111827"/>
                    </a:solidFill>
                    <a:latin typeface="Cambria Math" panose="02040503050406030204" pitchFamily="18" charset="0"/>
                  </a:rPr>
                  <a:t>$\frac{\sqrt3}{2}l$</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whole triangle has height </a:t>
                </a:r>
                <a:r>
                  <a:rPr lang="en-IN" sz="2400">
                    <a:solidFill>
                      <a:srgbClr val="111827"/>
                    </a:solidFill>
                    <a:latin typeface="Cambria Math" panose="02040503050406030204" pitchFamily="18" charset="0"/>
                  </a:rPr>
                  <a:t>$\frac{\sqrt3}{2}\cdot2\sqrt2=\sqrt6$</a:t>
                </a:r>
                <a:r>
                  <a:rPr sz="2400" b="0">
                    <a:solidFill>
                      <a:srgbClr val="111827"/>
                    </a:solidFill>
                    <a:latin typeface="Arial"/>
                  </a:rPr>
                  <a:t>, so the rectangle's height is </a:t>
                </a:r>
                <a:r>
                  <a:rPr lang="en-IN" sz="2400">
                    <a:solidFill>
                      <a:srgbClr val="111827"/>
                    </a:solidFill>
                    <a:latin typeface="Cambria Math" panose="02040503050406030204" pitchFamily="18" charset="0"/>
                  </a:rPr>
                  <a:t>$b=\sqrt6-\frac{\sqrt3}{2}l=\frac{\sqrt3}{2}(2\sqrt2-l)$</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$A=\frac{\sqrt3}{2}\,l\,(2\sqrt2-l)$</a:t>
                </a:r>
                <a:r>
                  <a:rPr sz="2400" b="0">
                    <a:solidFill>
                      <a:srgbClr val="111827"/>
                    </a:solidFill>
                    <a:latin typeface="Arial"/>
                  </a:rPr>
                  <a:t>; the two factors </a:t>
                </a:r>
                <a:r>
                  <a:rPr lang="en-IN" sz="2400">
                    <a:solidFill>
                      <a:srgbClr val="111827"/>
                    </a:solidFill>
                    <a:latin typeface="Cambria Math" panose="02040503050406030204" pitchFamily="18" charset="0"/>
                  </a:rPr>
                  <a:t>$l$</a:t>
                </a:r>
                <a:r>
                  <a:rPr sz="2400" b="0">
                    <a:solidFill>
                      <a:srgbClr val="111827"/>
                    </a:solidFill>
                    <a:latin typeface="Arial"/>
                  </a:rPr>
                  <a:t> and </a:t>
                </a:r>
                <a:r>
                  <a:rPr lang="en-IN" sz="2400">
                    <a:solidFill>
                      <a:srgbClr val="111827"/>
                    </a:solidFill>
                    <a:latin typeface="Cambria Math" panose="02040503050406030204" pitchFamily="18" charset="0"/>
                  </a:rPr>
                  <a:t>$2\sqrt2-l$</a:t>
                </a:r>
                <a:r>
                  <a:rPr sz="2400" b="0">
                    <a:solidFill>
                      <a:srgbClr val="111827"/>
                    </a:solidFill>
                    <a:latin typeface="Arial"/>
                  </a:rPr>
                  <a:t> have a constant sum </a:t>
                </a:r>
                <a:r>
                  <a:rPr lang="en-IN" sz="2400">
                    <a:solidFill>
                      <a:srgbClr val="111827"/>
                    </a:solidFill>
                    <a:latin typeface="Cambria Math" panose="02040503050406030204" pitchFamily="18" charset="0"/>
                  </a:rPr>
                  <a:t>$2\sqrt2$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By AM-GM, </a:t>
                </a:r>
                <a14:m>
                  <m:oMath xmlns:m="http://schemas.openxmlformats.org/officeDocument/2006/math">
                    <m:r>
                      <a:rPr lang="en-IN" sz="2400" i="1">
                        <a:solidFill>
                          <a:srgbClr val="111827"/>
                        </a:solidFill>
                        <a:latin typeface="Cambria Math" panose="02040503050406030204" pitchFamily="18" charset="0"/>
                      </a:rPr>
                      <m:t>𝑙</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𝑙</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num>
                              <m:den>
                                <m:r>
                                  <a:rPr lang="en-IN" sz="2400" i="1">
                                    <a:solidFill>
                                      <a:srgbClr val="111827"/>
                                    </a:solidFill>
                                    <a:latin typeface="Cambria Math" panose="02040503050406030204" pitchFamily="18" charset="0"/>
                                  </a:rPr>
                                  <m:t>2</m:t>
                                </m:r>
                              </m:den>
                            </m:f>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with equality at </a:t>
                </a:r>
                <a14:m>
                  <m:oMath xmlns:m="http://schemas.openxmlformats.org/officeDocument/2006/math">
                    <m:r>
                      <a:rPr lang="en-IN" sz="2400" i="1">
                        <a:solidFill>
                          <a:srgbClr val="111827"/>
                        </a:solidFill>
                        <a:latin typeface="Cambria Math" panose="02040503050406030204" pitchFamily="18" charset="0"/>
                      </a:rPr>
                      <m:t>𝑙</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𝐴</m:t>
                        </m:r>
                      </m:e>
                      <m:sub>
                        <m:r>
                          <m:rPr>
                            <m:sty m:val="p"/>
                          </m:rPr>
                          <a:rPr lang="en-IN" sz="2400">
                            <a:solidFill>
                              <a:srgbClr val="111827"/>
                            </a:solidFill>
                            <a:latin typeface="Cambria Math" panose="02040503050406030204" pitchFamily="18" charset="0"/>
                          </a:rPr>
                          <m:t>max</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 and </a:t>
                </a:r>
                <a14:m>
                  <m:oMath xmlns:m="http://schemas.openxmlformats.org/officeDocument/2006/math">
                    <m:sSubSup>
                      <m:e>
                        <m:r>
                          <a:rPr lang="en-IN" sz="2400" i="1">
                            <a:solidFill>
                              <a:srgbClr val="111827"/>
                            </a:solidFill>
                            <a:latin typeface="Cambria Math" panose="02040503050406030204" pitchFamily="18" charset="0"/>
                          </a:rPr>
                          <m:t>𝐴</m:t>
                        </m:r>
                      </m:e>
                      <m:sub>
                        <m:r>
                          <m:rPr>
                            <m:sty m:val="p"/>
                          </m:rPr>
                          <a:rPr lang="en-IN" sz="2400">
                            <a:solidFill>
                              <a:srgbClr val="111827"/>
                            </a:solidFill>
                            <a:latin typeface="Cambria Math" panose="02040503050406030204" pitchFamily="18" charset="0"/>
                          </a:rPr>
                          <m:t>max</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Cross-check: the triangle's area is </a:t>
                </a:r>
                <a14:m>
                  <m:oMath xmlns:m="http://schemas.openxmlformats.org/officeDocument/2006/math">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 and the best inscribed rectangle is half of it,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By AM-GM, </a:t>
                </a:r>
                <a:r>
                  <a:rPr lang="en-IN" sz="2400">
                    <a:solidFill>
                      <a:srgbClr val="111827"/>
                    </a:solidFill>
                    <a:latin typeface="Cambria Math" panose="02040503050406030204" pitchFamily="18" charset="0"/>
                  </a:rPr>
                  <a:t>$l(2\sqrt2-l)\le\left(\frac{2\sqrt2}{2}\right)^2=2$</a:t>
                </a:r>
                <a:r>
                  <a:rPr sz="2400" b="0">
                    <a:solidFill>
                      <a:srgbClr val="111827"/>
                    </a:solidFill>
                    <a:latin typeface="Arial"/>
                  </a:rPr>
                  <a:t>, with equality at </a:t>
                </a:r>
                <a:r>
                  <a:rPr lang="en-IN" sz="2400">
                    <a:solidFill>
                      <a:srgbClr val="111827"/>
                    </a:solidFill>
                    <a:latin typeface="Cambria Math" panose="02040503050406030204" pitchFamily="18" charset="0"/>
                  </a:rPr>
                  <a:t>$l=\sqrt2$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$A_{\max}=\frac{\sqrt3}{2}\cdot2=\sqrt3$</a:t>
                </a:r>
                <a:r>
                  <a:rPr sz="2400" b="0">
                    <a:solidFill>
                      <a:srgbClr val="111827"/>
                    </a:solidFill>
                    <a:latin typeface="Arial"/>
                  </a:rPr>
                  <a:t> and </a:t>
                </a:r>
                <a:r>
                  <a:rPr lang="en-IN" sz="2400">
                    <a:solidFill>
                      <a:srgbClr val="111827"/>
                    </a:solidFill>
                    <a:latin typeface="Cambria Math" panose="02040503050406030204" pitchFamily="18" charset="0"/>
                  </a:rPr>
                  <a:t>$A_{\max}^2=3$</a:t>
                </a:r>
                <a:r>
                  <a:rPr sz="2400" b="0">
                    <a:solidFill>
                      <a:srgbClr val="111827"/>
                    </a:solidFill>
                    <a:latin typeface="Arial"/>
                  </a:rPr>
                  <a:t>. Cross-check: the triangle's area is </a:t>
                </a:r>
                <a:r>
                  <a:rPr lang="en-IN" sz="2400">
                    <a:solidFill>
                      <a:srgbClr val="111827"/>
                    </a:solidFill>
                    <a:latin typeface="Cambria Math" panose="02040503050406030204" pitchFamily="18" charset="0"/>
                  </a:rPr>
                  <a:t>$\frac{\sqrt3}{4}\cdot8=2\sqrt3$</a:t>
                </a:r>
                <a:r>
                  <a:rPr sz="2400" b="0">
                    <a:solidFill>
                      <a:srgbClr val="111827"/>
                    </a:solidFill>
                    <a:latin typeface="Arial"/>
                  </a:rPr>
                  <a:t> and the best inscribed rectangle is half of it, </a:t>
                </a:r>
                <a:r>
                  <a:rPr lang="en-IN" sz="2400">
                    <a:solidFill>
                      <a:srgbClr val="111827"/>
                    </a:solidFill>
                    <a:latin typeface="Cambria Math" panose="02040503050406030204" pitchFamily="18" charset="0"/>
                  </a:rPr>
                  <a:t>$\sqrt3$</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3</a:t>
            </a:r>
            <a:endParaRPr sz="2800">
              <a:solidFill>
                <a:srgbClr val="15803D"/>
              </a:solidFill>
            </a:endParaRP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largest rectangle inscribed in any triangle (one side on a side of the triangle) has area exactly half the triangle's area; its top edge is at half the height.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 product of two quantities with a fixed sum, the maximum is when they are equal (AM-GM): </a:t>
                </a:r>
                <a14:m>
                  <m:oMath xmlns:m="http://schemas.openxmlformats.org/officeDocument/2006/math">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2</m:t>
                                </m:r>
                              </m:den>
                            </m:f>
                          </m:e>
                        </m:d>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line parallel to the base cuts off a triangle similar to the whole, so lengths scale linearly with height.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Equilateral triangle of side </a:t>
                </a:r>
                <a14:m>
                  <m:oMath xmlns:m="http://schemas.openxmlformats.org/officeDocument/2006/math">
                    <m:r>
                      <a:rPr lang="en-IN" sz="2400" i="1">
                        <a:solidFill>
                          <a:srgbClr val="111827"/>
                        </a:solidFill>
                        <a:latin typeface="Cambria Math" panose="02040503050406030204" pitchFamily="18" charset="0"/>
                      </a:rPr>
                      <m:t>𝑠</m:t>
                    </m:r>
                  </m:oMath>
                </a14:m>
                <a:r>
                  <a:rPr sz="2400" b="0">
                    <a:solidFill>
                      <a:srgbClr val="111827"/>
                    </a:solidFill>
                    <a:latin typeface="Arial"/>
                  </a:rPr>
                  <a:t>: height </a:t>
                </a:r>
                <a14:m>
                  <m:oMath xmlns:m="http://schemas.openxmlformats.org/officeDocument/2006/math">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2</m:t>
                        </m:r>
                      </m:den>
                    </m:f>
                    <m:r>
                      <a:rPr lang="en-IN" sz="2400" i="1">
                        <a:solidFill>
                          <a:srgbClr val="111827"/>
                        </a:solidFill>
                        <a:latin typeface="Cambria Math" panose="02040503050406030204" pitchFamily="18" charset="0"/>
                      </a:rPr>
                      <m:t>𝑠</m:t>
                    </m:r>
                  </m:oMath>
                </a14:m>
                <a:r>
                  <a:rPr sz="2400" b="0">
                    <a:solidFill>
                      <a:srgbClr val="111827"/>
                    </a:solidFill>
                    <a:latin typeface="Arial"/>
                  </a:rPr>
                  <a:t> and area </a:t>
                </a:r>
                <a14:m>
                  <m:oMath xmlns:m="http://schemas.openxmlformats.org/officeDocument/2006/math">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4</m:t>
                        </m:r>
                      </m:den>
                    </m:f>
                    <m:sSup>
                      <m:e>
                        <m:r>
                          <a:rPr lang="en-IN" sz="2400" i="1">
                            <a:solidFill>
                              <a:srgbClr val="111827"/>
                            </a:solidFill>
                            <a:latin typeface="Cambria Math" panose="02040503050406030204" pitchFamily="18" charset="0"/>
                          </a:rPr>
                          <m:t>𝑠</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largest rectangle inscribed in any triangle (one side on a side of the triangle) has area exactly half the triangle's area; its top edge is at half the height.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 product of two quantities with a fixed sum, the maximum is when they are equal (AM-GM): </a:t>
                </a:r>
                <a:r>
                  <a:rPr lang="en-IN" sz="2400">
                    <a:solidFill>
                      <a:srgbClr val="111827"/>
                    </a:solidFill>
                    <a:latin typeface="Cambria Math" panose="02040503050406030204" pitchFamily="18" charset="0"/>
                  </a:rPr>
                  <a:t>$xy\le\left(\frac{x+y}{2}\right)^2$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line parallel to the base cuts off a triangle similar to the whole, so lengths scale linearly with height.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Equilateral triangle of side </a:t>
                </a:r>
                <a:r>
                  <a:rPr lang="en-IN" sz="2400">
                    <a:solidFill>
                      <a:srgbClr val="111827"/>
                    </a:solidFill>
                    <a:latin typeface="Cambria Math" panose="02040503050406030204" pitchFamily="18" charset="0"/>
                  </a:rPr>
                  <a:t>$s$</a:t>
                </a:r>
                <a:r>
                  <a:rPr sz="2400" b="0">
                    <a:solidFill>
                      <a:srgbClr val="111827"/>
                    </a:solidFill>
                    <a:latin typeface="Arial"/>
                  </a:rPr>
                  <a:t>: height </a:t>
                </a:r>
                <a:r>
                  <a:rPr lang="en-IN" sz="2400">
                    <a:solidFill>
                      <a:srgbClr val="111827"/>
                    </a:solidFill>
                    <a:latin typeface="Cambria Math" panose="02040503050406030204" pitchFamily="18" charset="0"/>
                  </a:rPr>
                  <a:t>$\frac{\sqrt3}{2}s$</a:t>
                </a:r>
                <a:r>
                  <a:rPr sz="2400" b="0">
                    <a:solidFill>
                      <a:srgbClr val="111827"/>
                    </a:solidFill>
                    <a:latin typeface="Arial"/>
                  </a:rPr>
                  <a:t> and area </a:t>
                </a:r>
                <a:r>
                  <a:rPr lang="en-IN" sz="2400">
                    <a:solidFill>
                      <a:srgbClr val="111827"/>
                    </a:solidFill>
                    <a:latin typeface="Cambria Math" panose="02040503050406030204" pitchFamily="18" charset="0"/>
                  </a:rPr>
                  <a:t>$\frac{\sqrt3}{4}s^2$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55447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An angle of intersection of the curves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num>
                      <m:den>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num>
                      <m:den>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𝑏</m:t>
                    </m:r>
                  </m:oMath>
                </a14:m>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e>
                        </m:rad>
                      </m:e>
                    </m:d>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(B) </a:t>
                </a:r>
                <a14:m>
                  <m:oMath xmlns:m="http://schemas.openxmlformats.org/officeDocument/2006/math">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e>
                            </m:rad>
                          </m:den>
                        </m:f>
                      </m:e>
                    </m:d>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(C) </a:t>
                </a:r>
                <a14:m>
                  <m:oMath xmlns:m="http://schemas.openxmlformats.org/officeDocument/2006/math">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num>
                          <m:den>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e>
                            </m:rad>
                          </m:den>
                        </m:f>
                      </m:e>
                    </m:d>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(D) </a:t>
                </a:r>
                <a14:m>
                  <m:oMath xmlns:m="http://schemas.openxmlformats.org/officeDocument/2006/math">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e>
                            </m:rad>
                          </m:den>
                        </m:f>
                      </m:e>
                    </m:d>
                  </m:oMath>
                </a14:m>
                <a:endParaRPr sz="2400">
                  <a:solidFill>
                    <a:srgbClr val="111827"/>
                  </a:solidFill>
                </a:endParaRPr>
              </a:p>
            </p:txBody>
          </p:sp>
        </mc:Choice>
        <mc:Fallback>
          <p:sp>
            <p:nvSpPr>
              <p:cNvPr id="4" name="Rounded Rectangle 3"/>
              <p:cNvSpPr/>
              <p:nvPr/>
            </p:nvSpPr>
            <p:spPr>
              <a:xfrm>
                <a:off x="731520" y="1280160"/>
                <a:ext cx="10725912" cy="355447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An angle of intersection of the curves </a:t>
                </a:r>
                <a:r>
                  <a:rPr lang="en-IN" sz="2400">
                    <a:solidFill>
                      <a:srgbClr val="111827"/>
                    </a:solidFill>
                    <a:latin typeface="Cambria Math" panose="02040503050406030204" pitchFamily="18" charset="0"/>
                  </a:rPr>
                  <a:t>$\frac{x^2}{a^2}+\frac{y^2}{b^2}=1$</a:t>
                </a:r>
                <a:r>
                  <a:rPr sz="2400" b="0">
                    <a:solidFill>
                      <a:srgbClr val="111827"/>
                    </a:solidFill>
                    <a:latin typeface="Arial"/>
                  </a:rPr>
                  <a:t> and </a:t>
                </a:r>
                <a:r>
                  <a:rPr lang="en-IN" sz="2400">
                    <a:solidFill>
                      <a:srgbClr val="111827"/>
                    </a:solidFill>
                    <a:latin typeface="Cambria Math" panose="02040503050406030204" pitchFamily="18" charset="0"/>
                  </a:rPr>
                  <a:t>$x^2+y^2=ab$</a:t>
                </a:r>
                <a:r>
                  <a:rPr sz="2400" b="0">
                    <a:solidFill>
                      <a:srgbClr val="111827"/>
                    </a:solidFill>
                    <a:latin typeface="Arial"/>
                  </a:rPr>
                  <a:t>, </a:t>
                </a:r>
                <a:r>
                  <a:rPr lang="en-IN" sz="2400">
                    <a:solidFill>
                      <a:srgbClr val="111827"/>
                    </a:solidFill>
                    <a:latin typeface="Cambria Math" panose="02040503050406030204" pitchFamily="18" charset="0"/>
                  </a:rPr>
                  <a:t>$a&gt;b$</a:t>
                </a:r>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$\tan^{-1}\left(2\sqrt{ab}\right)$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a:t>
                </a:r>
                <a:r>
                  <a:rPr lang="en-IN" sz="2400">
                    <a:solidFill>
                      <a:srgbClr val="111827"/>
                    </a:solidFill>
                    <a:latin typeface="Cambria Math" panose="02040503050406030204" pitchFamily="18" charset="0"/>
                  </a:rPr>
                  <a:t>$\tan^{-1}\left(\frac{a+b}{\sqrt{ab}}\right)$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a:t>
                </a:r>
                <a:r>
                  <a:rPr lang="en-IN" sz="2400">
                    <a:solidFill>
                      <a:srgbClr val="111827"/>
                    </a:solidFill>
                    <a:latin typeface="Cambria Math" panose="02040503050406030204" pitchFamily="18" charset="0"/>
                  </a:rPr>
                  <a:t>$\tan^{-1}\left(\frac{a-b}{2\sqrt{ab}}\right)$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a:t>
                </a:r>
                <a:r>
                  <a:rPr lang="en-IN" sz="2400">
                    <a:solidFill>
                      <a:srgbClr val="111827"/>
                    </a:solidFill>
                    <a:latin typeface="Cambria Math" panose="02040503050406030204" pitchFamily="18" charset="0"/>
                  </a:rPr>
                  <a:t>$\tan^{-1}\left(\frac{a-b}{\sqrt{ab}}\right)$</a:t>
                </a:r>
                <a:endParaRPr sz="2400">
                  <a:solidFill>
                    <a:srgbClr val="111827"/>
                  </a:solidFill>
                </a:endParaRPr>
              </a:p>
            </p:txBody>
          </p:sp>
        </mc:Fallback>
      </mc:AlternateContent>
      <p:sp>
        <p:nvSpPr>
          <p:cNvPr id="5" name="Rectangle 4"/>
          <p:cNvSpPr/>
          <p:nvPr/>
        </p:nvSpPr>
        <p:spPr>
          <a:xfrm>
            <a:off x="731520" y="5063235"/>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Angle of intersection of curves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Find the intersection point by eliminating </a:t>
                </a:r>
                <a14:m>
                  <m:oMath xmlns:m="http://schemas.openxmlformats.org/officeDocument/2006/math">
                    <m:sSup>
                      <m:e>
                        <m:r>
                          <a:rPr lang="en-IN" sz="2400" i="1">
                            <a:solidFill>
                              <a:srgbClr val="78350F"/>
                            </a:solidFill>
                            <a:latin typeface="Cambria Math" panose="02040503050406030204" pitchFamily="18" charset="0"/>
                          </a:rPr>
                          <m:t>𝑦</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 then use the slopes of the two tangents there.</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Find the intersection point by eliminating </a:t>
                </a:r>
                <a:r>
                  <a:rPr lang="en-IN" sz="2400">
                    <a:solidFill>
                      <a:srgbClr val="78350F"/>
                    </a:solidFill>
                    <a:latin typeface="Cambria Math" panose="02040503050406030204" pitchFamily="18" charset="0"/>
                  </a:rPr>
                  <a:t>$y^2$</a:t>
                </a:r>
                <a:r>
                  <a:rPr sz="2400" b="0">
                    <a:solidFill>
                      <a:srgbClr val="78350F"/>
                    </a:solidFill>
                    <a:latin typeface="Arial"/>
                  </a:rPr>
                  <a:t>, then use the slopes of the two tangents there.</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Ellipse: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num>
                      <m:den>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𝑦</m:t>
                        </m:r>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num>
                      <m:den>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𝑚</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num>
                      <m:den>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den>
                    </m:f>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num>
                      <m:den>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1</m:t>
                            </m:r>
                          </m:sub>
                        </m:sSub>
                      </m:den>
                    </m:f>
                  </m:oMath>
                </a14:m>
                <a:r>
                  <a:rPr sz="2400" b="0">
                    <a:solidFill>
                      <a:srgbClr val="111827"/>
                    </a:solidFill>
                    <a:latin typeface="Arial"/>
                  </a:rPr>
                  <a:t> at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Circle: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𝑦</m:t>
                    </m:r>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𝑚</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num>
                      <m:den>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1</m:t>
                            </m:r>
                          </m:sub>
                        </m:sSub>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tan</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𝑚</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𝑚</m:t>
                                </m:r>
                              </m:e>
                              <m:sub>
                                <m:r>
                                  <a:rPr lang="en-IN" sz="2400" i="1">
                                    <a:solidFill>
                                      <a:srgbClr val="111827"/>
                                    </a:solidFill>
                                    <a:latin typeface="Cambria Math" panose="02040503050406030204" pitchFamily="18" charset="0"/>
                                  </a:rPr>
                                  <m:t>2</m:t>
                                </m:r>
                              </m:sub>
                            </m:sSub>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𝑚</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𝑚</m:t>
                                </m:r>
                              </m:e>
                              <m:sub>
                                <m:r>
                                  <a:rPr lang="en-IN" sz="2400" i="1">
                                    <a:solidFill>
                                      <a:srgbClr val="111827"/>
                                    </a:solidFill>
                                    <a:latin typeface="Cambria Math" panose="02040503050406030204" pitchFamily="18" charset="0"/>
                                  </a:rPr>
                                  <m:t>2</m:t>
                                </m:r>
                              </m:sub>
                            </m:sSub>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num>
                              <m:den>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1</m:t>
                                    </m:r>
                                  </m:sub>
                                </m:sSub>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num>
                              <m:den>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den>
                            </m:f>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num>
                              <m:den>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1</m:t>
                                    </m:r>
                                  </m:sub>
                                </m:sSub>
                              </m:den>
                            </m:f>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num>
                              <m:den>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den>
                            </m:f>
                            <m:f>
                              <m:fPr>
                                <m:type m:val="bar"/>
                                <m:ctrlPr>
                                  <a:rPr lang="en-IN" sz="2400" i="1">
                                    <a:solidFill>
                                      <a:srgbClr val="111827"/>
                                    </a:solidFill>
                                    <a:latin typeface="Cambria Math" panose="02040503050406030204" pitchFamily="18" charset="0"/>
                                  </a:rPr>
                                </m:ctrlPr>
                              </m:fPr>
                              <m:num>
                                <m:sSubSup>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2</m:t>
                                    </m:r>
                                  </m:sup>
                                </m:sSubSup>
                              </m:num>
                              <m:den>
                                <m:sSubSup>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2</m:t>
                                    </m:r>
                                  </m:sup>
                                </m:sSubSup>
                              </m:den>
                            </m:f>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num>
                          <m:den>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sSubSup>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sSubSup>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2</m:t>
                                </m:r>
                              </m:sup>
                            </m:sSubSup>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on the ellipse, </a:t>
                </a:r>
                <a14:m>
                  <m:oMath xmlns:m="http://schemas.openxmlformats.org/officeDocument/2006/math">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sSubSup>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sSubSup>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tan</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num>
                          <m:den>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den>
                        </m:f>
                      </m:e>
                    </m:d>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Ellipse: </a:t>
                </a:r>
                <a:r>
                  <a:rPr lang="en-IN" sz="2400">
                    <a:solidFill>
                      <a:srgbClr val="111827"/>
                    </a:solidFill>
                    <a:latin typeface="Cambria Math" panose="02040503050406030204" pitchFamily="18" charset="0"/>
                  </a:rPr>
                  <a:t>$\frac{2x}{a^2}+\frac{2yy'}{b^2}=0\Rightarrow m_1=-\frac{b^2}{a^2}\frac{x_1}{y_1}$</a:t>
                </a:r>
                <a:r>
                  <a:rPr sz="2400" b="0">
                    <a:solidFill>
                      <a:srgbClr val="111827"/>
                    </a:solidFill>
                    <a:latin typeface="Arial"/>
                  </a:rPr>
                  <a:t> at </a:t>
                </a:r>
                <a:r>
                  <a:rPr lang="en-IN" sz="2400">
                    <a:solidFill>
                      <a:srgbClr val="111827"/>
                    </a:solidFill>
                    <a:latin typeface="Cambria Math" panose="02040503050406030204" pitchFamily="18" charset="0"/>
                  </a:rPr>
                  <a:t>$(x_1,y_1)$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Circle: </a:t>
                </a:r>
                <a:r>
                  <a:rPr lang="en-IN" sz="2400">
                    <a:solidFill>
                      <a:srgbClr val="111827"/>
                    </a:solidFill>
                    <a:latin typeface="Cambria Math" panose="02040503050406030204" pitchFamily="18" charset="0"/>
                  </a:rPr>
                  <a:t>$2x+2yy'=0\Rightarrow m_2=-\frac{x_1}{y_1}$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$\tan\theta=\left|\frac{m_1-m_2}{1+m_1m_2}\right|=\left|\frac{\frac{x_1}{y_1}-\frac{b^2}{a^2}\frac{x_1}{y_1}}{1+\frac{b^2}{a^2}\frac{x_1^2}{y_1^2}}\right|=\left|\frac{x_1y_1(a^2-b^2)}{a^2y_1^2+b^2x_1^2}\right|$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r>
                  <a:rPr lang="en-IN" sz="2400">
                    <a:solidFill>
                      <a:srgbClr val="111827"/>
                    </a:solidFill>
                    <a:latin typeface="Cambria Math" panose="02040503050406030204" pitchFamily="18" charset="0"/>
                  </a:rPr>
                  <a:t>$(x_1,y_1)$</a:t>
                </a:r>
                <a:r>
                  <a:rPr sz="2400" b="0">
                    <a:solidFill>
                      <a:srgbClr val="111827"/>
                    </a:solidFill>
                    <a:latin typeface="Arial"/>
                  </a:rPr>
                  <a:t> is on the ellipse, </a:t>
                </a:r>
                <a:r>
                  <a:rPr lang="en-IN" sz="2400">
                    <a:solidFill>
                      <a:srgbClr val="111827"/>
                    </a:solidFill>
                    <a:latin typeface="Cambria Math" panose="02040503050406030204" pitchFamily="18" charset="0"/>
                  </a:rPr>
                  <a:t>$b^2x_1^2+a^2y_1^2=a^2b^2$</a:t>
                </a:r>
                <a:r>
                  <a:rPr sz="2400" b="0">
                    <a:solidFill>
                      <a:srgbClr val="111827"/>
                    </a:solidFill>
                    <a:latin typeface="Arial"/>
                  </a:rPr>
                  <a:t>, so </a:t>
                </a:r>
                <a:r>
                  <a:rPr lang="en-IN" sz="2400">
                    <a:solidFill>
                      <a:srgbClr val="111827"/>
                    </a:solidFill>
                    <a:latin typeface="Cambria Math" panose="02040503050406030204" pitchFamily="18" charset="0"/>
                  </a:rPr>
                  <a:t>$\tan\theta=\left|\frac{x_1y_1(a^2-b^2)}{a^2b^2}\right|$</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Intersection: put </a:t>
                </a:r>
                <a14:m>
                  <m:oMath xmlns:m="http://schemas.openxmlformats.org/officeDocument/2006/math">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in the ellipse: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num>
                      <m:den>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num>
                      <m:den>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𝑏</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num>
                      <m:den>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𝑏</m:t>
                        </m:r>
                      </m:den>
                    </m:f>
                  </m:oMath>
                </a14:m>
                <a:r>
                  <a:rPr sz="2400" b="0">
                    <a:solidFill>
                      <a:srgbClr val="111827"/>
                    </a:solidFill>
                    <a:latin typeface="Arial"/>
                  </a:rPr>
                  <a:t>, giving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𝑏</m:t>
                        </m:r>
                      </m:num>
                      <m:den>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𝑏</m:t>
                        </m:r>
                      </m:num>
                      <m:den>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3</m:t>
                            </m:r>
                          </m:sup>
                        </m:sSup>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3</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tan</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num>
                      <m:den>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e>
                        </m:rad>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e>
                        </m:rad>
                      </m:den>
                    </m:f>
                  </m:oMath>
                </a14:m>
                <a:r>
                  <a:rPr sz="2400" b="0">
                    <a:solidFill>
                      <a:srgbClr val="111827"/>
                    </a:solidFill>
                    <a:latin typeface="Arial"/>
                  </a:rPr>
                  <a:t> (option D).</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Intersection: put </a:t>
                </a:r>
                <a:r>
                  <a:rPr lang="en-IN" sz="2400">
                    <a:solidFill>
                      <a:srgbClr val="111827"/>
                    </a:solidFill>
                    <a:latin typeface="Cambria Math" panose="02040503050406030204" pitchFamily="18" charset="0"/>
                  </a:rPr>
                  <a:t>$y^2=ab-x^2$</a:t>
                </a:r>
                <a:r>
                  <a:rPr sz="2400" b="0">
                    <a:solidFill>
                      <a:srgbClr val="111827"/>
                    </a:solidFill>
                    <a:latin typeface="Arial"/>
                  </a:rPr>
                  <a:t> in the ellipse: </a:t>
                </a:r>
                <a:r>
                  <a:rPr lang="en-IN" sz="2400">
                    <a:solidFill>
                      <a:srgbClr val="111827"/>
                    </a:solidFill>
                    <a:latin typeface="Cambria Math" panose="02040503050406030204" pitchFamily="18" charset="0"/>
                  </a:rPr>
                  <a:t>$\frac{x^2}{a^2}+\frac{ab-x^2}{b^2}=1\Rightarrow x^2\left(\frac{1}{a^2}-\frac{1}{b^2}\right)=1-\frac{a}{b}$</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$x^2\frac{b^2-a^2}{a^2b^2}=\frac{b-a}{b}$</a:t>
                </a:r>
                <a:r>
                  <a:rPr sz="2400" b="0">
                    <a:solidFill>
                      <a:srgbClr val="111827"/>
                    </a:solidFill>
                    <a:latin typeface="Arial"/>
                  </a:rPr>
                  <a:t>, giving </a:t>
                </a:r>
                <a:r>
                  <a:rPr lang="en-IN" sz="2400">
                    <a:solidFill>
                      <a:srgbClr val="111827"/>
                    </a:solidFill>
                    <a:latin typeface="Cambria Math" panose="02040503050406030204" pitchFamily="18" charset="0"/>
                  </a:rPr>
                  <a:t>$x^2=\frac{a^2b}{a+b}$</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$y^2=ab-\frac{a^2b}{a+b}=\frac{ab^2}{a+b}$</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$x_1y_1=\frac{(a^3b^3)^{1/2}}{a+b}=\frac{(ab)^{3/2}}{a+b}$</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$\tan\theta=\frac{(ab)^{3/2}}{a+b}\cdot\frac{(a-b)(a+b)}{a^2b^2}=\frac{a-b}{\sqrt{ab}}$</a:t>
                </a:r>
                <a:r>
                  <a:rPr sz="2400" b="0">
                    <a:solidFill>
                      <a:srgbClr val="111827"/>
                    </a:solidFill>
                    <a:latin typeface="Arial"/>
                  </a:rPr>
                  <a:t>, so </a:t>
                </a:r>
                <a:r>
                  <a:rPr lang="en-IN" sz="2400">
                    <a:solidFill>
                      <a:srgbClr val="111827"/>
                    </a:solidFill>
                    <a:latin typeface="Cambria Math" panose="02040503050406030204" pitchFamily="18" charset="0"/>
                  </a:rPr>
                  <a:t>$\theta=\tan^{-1}\frac{a-b}{\sqrt{ab}}$</a:t>
                </a:r>
                <a:r>
                  <a:rPr sz="2400" b="0">
                    <a:solidFill>
                      <a:srgbClr val="111827"/>
                    </a:solidFill>
                    <a:latin typeface="Arial"/>
                  </a:rPr>
                  <a:t> (option D).</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a:t>
                </a:r>
                <a14:m>
                  <m:oMath xmlns:m="http://schemas.openxmlformats.org/officeDocument/2006/math">
                    <m:sSup>
                      <m:e>
                        <m:r>
                          <m:rPr>
                            <m:sty m:val="p"/>
                          </m:rPr>
                          <a:rPr lang="en-IN" sz="2800">
                            <a:solidFill>
                              <a:srgbClr val="15803D"/>
                            </a:solidFill>
                            <a:latin typeface="Cambria Math" panose="02040503050406030204" pitchFamily="18" charset="0"/>
                          </a:rPr>
                          <m:t>tan</m:t>
                        </m:r>
                      </m:e>
                      <m:sup>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1</m:t>
                        </m:r>
                      </m:sup>
                    </m:sSup>
                    <m:d>
                      <m:dPr>
                        <m:begChr m:val="("/>
                        <m:sepChr m:val=""/>
                        <m:endChr m:val=")"/>
                        <m:grow/>
                        <m:ctrlPr>
                          <a:rPr lang="en-IN" sz="2800" i="1">
                            <a:solidFill>
                              <a:srgbClr val="15803D"/>
                            </a:solidFill>
                            <a:latin typeface="Cambria Math" panose="02040503050406030204" pitchFamily="18" charset="0"/>
                          </a:rPr>
                        </m:ctrlPr>
                      </m:dPr>
                      <m:e>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𝑎</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𝑏</m:t>
                            </m:r>
                          </m:num>
                          <m:den>
                            <m:rad>
                              <m:radPr>
                                <m:degHide m:val="on"/>
                                <m:ctrlPr>
                                  <a:rPr lang="en-IN" sz="2800" i="1">
                                    <a:solidFill>
                                      <a:srgbClr val="15803D"/>
                                    </a:solidFill>
                                    <a:latin typeface="Cambria Math" panose="02040503050406030204" pitchFamily="18" charset="0"/>
                                  </a:rPr>
                                </m:ctrlPr>
                              </m:radPr>
                              <m:deg/>
                              <m:e>
                                <m:r>
                                  <a:rPr lang="en-IN" sz="2800" i="1">
                                    <a:solidFill>
                                      <a:srgbClr val="15803D"/>
                                    </a:solidFill>
                                    <a:latin typeface="Cambria Math" panose="02040503050406030204" pitchFamily="18" charset="0"/>
                                  </a:rPr>
                                  <m:t>𝑎</m:t>
                                </m:r>
                                <m:r>
                                  <a:rPr lang="en-IN" sz="2800" i="1">
                                    <a:solidFill>
                                      <a:srgbClr val="15803D"/>
                                    </a:solidFill>
                                    <a:latin typeface="Cambria Math" panose="02040503050406030204" pitchFamily="18" charset="0"/>
                                  </a:rPr>
                                  <m:t>𝑏</m:t>
                                </m:r>
                              </m:e>
                            </m:rad>
                          </m:den>
                        </m:f>
                      </m:e>
                    </m:d>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a:t>
                </a:r>
                <a:r>
                  <a:rPr lang="en-IN" sz="2800">
                    <a:solidFill>
                      <a:srgbClr val="15803D"/>
                    </a:solidFill>
                    <a:latin typeface="Cambria Math" panose="02040503050406030204" pitchFamily="18" charset="0"/>
                  </a:rPr>
                  <a:t>$\tan^{-1}\left(\frac{a-b}{\sqrt{ab}}\right)$</a:t>
                </a:r>
                <a:endParaRPr sz="2800">
                  <a:solidFill>
                    <a:srgbClr val="15803D"/>
                  </a:solidFill>
                </a:endParaRPr>
              </a:p>
            </p:txBody>
          </p:sp>
        </mc:Fallback>
      </mc:AlternateContent>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the normals (gradients) of the two curves and the dot product to find </a:t>
                </a:r>
                <a14:m>
                  <m:oMath xmlns:m="http://schemas.openxmlformats.org/officeDocument/2006/math">
                    <m:r>
                      <m:rPr>
                        <m:sty m:val="p"/>
                      </m:rPr>
                      <a:rPr lang="en-IN" sz="2400">
                        <a:solidFill>
                          <a:srgbClr val="78350F"/>
                        </a:solidFill>
                        <a:latin typeface="Cambria Math" panose="02040503050406030204" pitchFamily="18" charset="0"/>
                      </a:rPr>
                      <m:t>cos</m:t>
                    </m:r>
                    <m:r>
                      <a:rPr lang="en-IN" sz="2400" i="1">
                        <a:solidFill>
                          <a:srgbClr val="78350F"/>
                        </a:solidFill>
                        <a:latin typeface="Cambria Math" panose="02040503050406030204" pitchFamily="18" charset="0"/>
                      </a:rPr>
                      <m:t>θ</m:t>
                    </m:r>
                  </m:oMath>
                </a14:m>
                <a:r>
                  <a:rPr sz="2400" b="0">
                    <a:solidFill>
                      <a:srgbClr val="78350F"/>
                    </a:solidFill>
                    <a:latin typeface="Arial"/>
                  </a:rPr>
                  <a:t>; the angle between tangents equals that between normals.</a:t>
                </a:r>
                <a:endParaRPr sz="2400">
                  <a:solidFill>
                    <a:srgbClr val="78350F"/>
                  </a:solidFill>
                </a:endParaRPr>
              </a:p>
            </p:txBody>
          </p:sp>
        </mc:Choice>
        <mc:Fallback>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the normals (gradients) of the two curves and the dot product to find </a:t>
                </a:r>
                <a:r>
                  <a:rPr lang="en-IN" sz="2400">
                    <a:solidFill>
                      <a:srgbClr val="78350F"/>
                    </a:solidFill>
                    <a:latin typeface="Cambria Math" panose="02040503050406030204" pitchFamily="18" charset="0"/>
                  </a:rPr>
                  <a:t>$\cos\theta$</a:t>
                </a:r>
                <a:r>
                  <a:rPr sz="2400" b="0">
                    <a:solidFill>
                      <a:srgbClr val="78350F"/>
                    </a:solidFill>
                    <a:latin typeface="Arial"/>
                  </a:rPr>
                  <a:t>; the angle between tangents equals that between normals.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At the common point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normals are along </a:t>
                </a:r>
                <a14:m>
                  <m:oMath xmlns:m="http://schemas.openxmlformats.org/officeDocument/2006/math">
                    <m:sSub>
                      <m:e>
                        <m:r>
                          <m:rPr>
                            <m:sty m:val="bi"/>
                          </m:rP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num>
                          <m:den>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1</m:t>
                                </m:r>
                              </m:sub>
                            </m:sSub>
                          </m:num>
                          <m:den>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den>
                        </m:f>
                      </m:e>
                    </m:d>
                  </m:oMath>
                </a14:m>
                <a:r>
                  <a:rPr sz="2400" b="0">
                    <a:solidFill>
                      <a:srgbClr val="111827"/>
                    </a:solidFill>
                    <a:latin typeface="Arial"/>
                  </a:rPr>
                  <a:t> and </a:t>
                </a:r>
                <a14:m>
                  <m:oMath xmlns:m="http://schemas.openxmlformats.org/officeDocument/2006/math">
                    <m:sSub>
                      <m:e>
                        <m:r>
                          <m:rPr>
                            <m:sty m:val="bi"/>
                          </m:rP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r>
                          <m:rPr>
                            <m:sty m:val="bi"/>
                          </m:rP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m:rPr>
                            <m:sty m:val="bi"/>
                          </m:rP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bSup>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2</m:t>
                            </m:r>
                          </m:sup>
                        </m:sSubSup>
                      </m:num>
                      <m:den>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bSup>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2</m:t>
                            </m:r>
                          </m:sup>
                        </m:sSubSup>
                      </m:num>
                      <m:den>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(the point is on the ellipse) and </a:t>
                </a:r>
                <a14:m>
                  <m:oMath xmlns:m="http://schemas.openxmlformats.org/officeDocument/2006/math">
                    <m:r>
                      <m:rPr>
                        <m:sty m:val="p"/>
                      </m:rPr>
                      <a:rPr lang="en-IN" sz="2400">
                        <a:solidFill>
                          <a:srgbClr val="111827"/>
                        </a:solidFill>
                        <a:latin typeface="Cambria Math" panose="02040503050406030204" pitchFamily="18" charset="0"/>
                      </a:rPr>
                      <m:t>|</m:t>
                    </m:r>
                    <m:sSub>
                      <m:e>
                        <m:r>
                          <m:rPr>
                            <m:sty m:val="bi"/>
                          </m:rP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e>
                    </m:rad>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At the common point </a:t>
                </a:r>
                <a:r>
                  <a:rPr lang="en-IN" sz="2400">
                    <a:solidFill>
                      <a:srgbClr val="111827"/>
                    </a:solidFill>
                    <a:latin typeface="Cambria Math" panose="02040503050406030204" pitchFamily="18" charset="0"/>
                  </a:rPr>
                  <a:t>$(x_1,y_1)$</a:t>
                </a:r>
                <a:r>
                  <a:rPr sz="2400" b="0">
                    <a:solidFill>
                      <a:srgbClr val="111827"/>
                    </a:solidFill>
                    <a:latin typeface="Arial"/>
                  </a:rPr>
                  <a:t> the normals are along </a:t>
                </a:r>
                <a:r>
                  <a:rPr lang="en-IN" sz="2400">
                    <a:solidFill>
                      <a:srgbClr val="111827"/>
                    </a:solidFill>
                    <a:latin typeface="Cambria Math" panose="02040503050406030204" pitchFamily="18" charset="0"/>
                  </a:rPr>
                  <a:t>$\mathbf{n}_1=\left(\frac{x_1}{a^2},\frac{y_1}{b^2}\right)$</a:t>
                </a:r>
                <a:r>
                  <a:rPr sz="2400" b="0">
                    <a:solidFill>
                      <a:srgbClr val="111827"/>
                    </a:solidFill>
                    <a:latin typeface="Arial"/>
                  </a:rPr>
                  <a:t> and </a:t>
                </a:r>
                <a:r>
                  <a:rPr lang="en-IN" sz="2400">
                    <a:solidFill>
                      <a:srgbClr val="111827"/>
                    </a:solidFill>
                    <a:latin typeface="Cambria Math" panose="02040503050406030204" pitchFamily="18" charset="0"/>
                  </a:rPr>
                  <a:t>$\mathbf{n}_2=(x_1,y_1)$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$\mathbf{n}_1\cdot\mathbf{n}_2=\frac{x_1^2}{a^2}+\frac{y_1^2}{b^2}=1$</a:t>
                </a:r>
                <a:r>
                  <a:rPr sz="2400" b="0">
                    <a:solidFill>
                      <a:srgbClr val="111827"/>
                    </a:solidFill>
                    <a:latin typeface="Arial"/>
                  </a:rPr>
                  <a:t> (the point is on the ellipse) and </a:t>
                </a:r>
                <a:r>
                  <a:rPr lang="en-IN" sz="2400">
                    <a:solidFill>
                      <a:srgbClr val="111827"/>
                    </a:solidFill>
                    <a:latin typeface="Cambria Math" panose="02040503050406030204" pitchFamily="18" charset="0"/>
                  </a:rPr>
                  <a:t>$|\mathbf{n}_2|=\sqrt{ab}$</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With </a:t>
                </a:r>
                <a14:m>
                  <m:oMath xmlns:m="http://schemas.openxmlformats.org/officeDocument/2006/math">
                    <m:sSubSup>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𝑏</m:t>
                        </m:r>
                      </m:num>
                      <m:den>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den>
                    </m:f>
                  </m:oMath>
                </a14:m>
                <a:r>
                  <a:rPr sz="2400" b="0">
                    <a:solidFill>
                      <a:srgbClr val="111827"/>
                    </a:solidFill>
                    <a:latin typeface="Arial"/>
                  </a:rPr>
                  <a:t>, </a:t>
                </a:r>
                <a14:m>
                  <m:oMath xmlns:m="http://schemas.openxmlformats.org/officeDocument/2006/math">
                    <m:sSubSup>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den>
                    </m:f>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sSub>
                      <m:e>
                        <m:r>
                          <m:rPr>
                            <m:sty m:val="bi"/>
                          </m:rP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1</m:t>
                        </m:r>
                      </m:sub>
                    </m:sSub>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bSup>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2</m:t>
                            </m:r>
                          </m:sup>
                        </m:sSubSup>
                      </m:num>
                      <m:den>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4</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bSup>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2</m:t>
                            </m:r>
                          </m:sup>
                        </m:sSubSup>
                      </m:num>
                      <m:den>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4</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𝑏</m:t>
                        </m:r>
                      </m:num>
                      <m:den>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num>
                      <m:den>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3</m:t>
                            </m:r>
                          </m:sup>
                        </m:sSup>
                      </m:num>
                      <m:den>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num>
                      <m:den>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m:rPr>
                            <m:sty m:val="p"/>
                          </m:rPr>
                          <a:rPr lang="en-IN" sz="2400">
                            <a:solidFill>
                              <a:srgbClr val="111827"/>
                            </a:solidFill>
                            <a:latin typeface="Cambria Math" panose="02040503050406030204" pitchFamily="18" charset="0"/>
                          </a:rPr>
                          <m:t>|</m:t>
                        </m:r>
                        <m:sSub>
                          <m:e>
                            <m:r>
                              <m:rPr>
                                <m:sty m:val="bi"/>
                              </m:rP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m:rPr>
                                <m:sty m:val="bi"/>
                              </m:rP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num>
                      <m:den>
                        <m:rad>
                          <m:radPr>
                            <m:degHide m:val="on"/>
                            <m:ctrlPr>
                              <a:rPr lang="en-IN" sz="2400" i="1">
                                <a:solidFill>
                                  <a:srgbClr val="111827"/>
                                </a:solidFill>
                                <a:latin typeface="Cambria Math" panose="02040503050406030204" pitchFamily="18" charset="0"/>
                              </a:rPr>
                            </m:ctrlPr>
                          </m:radPr>
                          <m:deg/>
                          <m:e>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e>
                        </m:rad>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e>
                        </m:ra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e>
                        </m:rad>
                      </m:num>
                      <m:den>
                        <m:rad>
                          <m:radPr>
                            <m:degHide m:val="on"/>
                            <m:ctrlPr>
                              <a:rPr lang="en-IN" sz="2400" i="1">
                                <a:solidFill>
                                  <a:srgbClr val="111827"/>
                                </a:solidFill>
                                <a:latin typeface="Cambria Math" panose="02040503050406030204" pitchFamily="18" charset="0"/>
                              </a:rPr>
                            </m:ctrlPr>
                          </m:radPr>
                          <m:deg/>
                          <m:e>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e>
                        </m:rad>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m:rPr>
                            <m:sty m:val="p"/>
                          </m:rPr>
                          <a:rPr lang="en-IN" sz="2400">
                            <a:solidFill>
                              <a:srgbClr val="111827"/>
                            </a:solidFill>
                            <a:latin typeface="Cambria Math" panose="02040503050406030204" pitchFamily="18" charset="0"/>
                          </a:rPr>
                          <m:t>tan</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m:rPr>
                                <m:sty m:val="p"/>
                              </m:rPr>
                              <a:rPr lang="en-IN" sz="2400">
                                <a:solidFill>
                                  <a:srgbClr val="111827"/>
                                </a:solidFill>
                                <a:latin typeface="Cambria Math" panose="02040503050406030204" pitchFamily="18" charset="0"/>
                              </a:rPr>
                              <m:t>cos</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θ</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num>
                      <m:den>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den>
                    </m:f>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tan</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e>
                        </m:rad>
                      </m:den>
                    </m:f>
                  </m:oMath>
                </a14:m>
                <a:r>
                  <a:rPr sz="2400" b="0">
                    <a:solidFill>
                      <a:srgbClr val="111827"/>
                    </a:solidFill>
                    <a:latin typeface="Arial"/>
                  </a:rPr>
                  <a:t> (option D).</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With </a:t>
                </a:r>
                <a:r>
                  <a:rPr lang="en-IN" sz="2400">
                    <a:solidFill>
                      <a:srgbClr val="111827"/>
                    </a:solidFill>
                    <a:latin typeface="Cambria Math" panose="02040503050406030204" pitchFamily="18" charset="0"/>
                  </a:rPr>
                  <a:t>$x_1^2=\frac{a^2b}{a+b}$</a:t>
                </a:r>
                <a:r>
                  <a:rPr sz="2400" b="0">
                    <a:solidFill>
                      <a:srgbClr val="111827"/>
                    </a:solidFill>
                    <a:latin typeface="Arial"/>
                  </a:rPr>
                  <a:t>, </a:t>
                </a:r>
                <a:r>
                  <a:rPr lang="en-IN" sz="2400">
                    <a:solidFill>
                      <a:srgbClr val="111827"/>
                    </a:solidFill>
                    <a:latin typeface="Cambria Math" panose="02040503050406030204" pitchFamily="18" charset="0"/>
                  </a:rPr>
                  <a:t>$y_1^2=\frac{ab^2}{a+b}$</a:t>
                </a:r>
                <a:r>
                  <a:rPr sz="2400" b="0">
                    <a:solidFill>
                      <a:srgbClr val="111827"/>
                    </a:solidFill>
                    <a:latin typeface="Arial"/>
                  </a:rPr>
                  <a:t>: </a:t>
                </a:r>
                <a:r>
                  <a:rPr lang="en-IN" sz="2400">
                    <a:solidFill>
                      <a:srgbClr val="111827"/>
                    </a:solidFill>
                    <a:latin typeface="Cambria Math" panose="02040503050406030204" pitchFamily="18" charset="0"/>
                  </a:rPr>
                  <a:t>$|\mathbf{n}_1|^2=\frac{x_1^2}{a^4}+\frac{y_1^2}{b^4}=\frac{b}{a^2(a+b)}+\frac{a}{b^2(a+b)}=\frac{a^3+b^3}{a^2b^2(a+b)}=\frac{a^2-ab+b^2}{a^2b^2}$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$\cos\theta=\frac{1}{|\mathbf{n}_1||\mathbf{n}_2|}=\frac{ab}{\sqrt{a^2-ab+b^2}\sqrt{ab}}=\frac{\sqrt{ab}}{\sqrt{a^2-ab+b^2}}$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$\tan^2\theta=\frac{1}{\cos^2\theta}-1=\frac{a^2-ab+b^2-ab}{ab}=\frac{(a-b)^2}{ab}$</a:t>
                </a:r>
                <a:r>
                  <a:rPr sz="2400" b="0">
                    <a:solidFill>
                      <a:srgbClr val="111827"/>
                    </a:solidFill>
                    <a:latin typeface="Arial"/>
                  </a:rPr>
                  <a:t>, so </a:t>
                </a:r>
                <a:r>
                  <a:rPr lang="en-IN" sz="2400">
                    <a:solidFill>
                      <a:srgbClr val="111827"/>
                    </a:solidFill>
                    <a:latin typeface="Cambria Math" panose="02040503050406030204" pitchFamily="18" charset="0"/>
                  </a:rPr>
                  <a:t>$\tan\theta=\frac{a-b}{\sqrt{ab}}$</a:t>
                </a:r>
                <a:r>
                  <a:rPr sz="2400" b="0">
                    <a:solidFill>
                      <a:srgbClr val="111827"/>
                    </a:solidFill>
                    <a:latin typeface="Arial"/>
                  </a:rPr>
                  <a:t> (option D).</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a:t>
                </a:r>
                <a14:m>
                  <m:oMath xmlns:m="http://schemas.openxmlformats.org/officeDocument/2006/math">
                    <m:sSup>
                      <m:e>
                        <m:r>
                          <m:rPr>
                            <m:sty m:val="p"/>
                          </m:rPr>
                          <a:rPr lang="en-IN" sz="2800">
                            <a:solidFill>
                              <a:srgbClr val="15803D"/>
                            </a:solidFill>
                            <a:latin typeface="Cambria Math" panose="02040503050406030204" pitchFamily="18" charset="0"/>
                          </a:rPr>
                          <m:t>tan</m:t>
                        </m:r>
                      </m:e>
                      <m:sup>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1</m:t>
                        </m:r>
                      </m:sup>
                    </m:sSup>
                    <m:d>
                      <m:dPr>
                        <m:begChr m:val="("/>
                        <m:sepChr m:val=""/>
                        <m:endChr m:val=")"/>
                        <m:grow/>
                        <m:ctrlPr>
                          <a:rPr lang="en-IN" sz="2800" i="1">
                            <a:solidFill>
                              <a:srgbClr val="15803D"/>
                            </a:solidFill>
                            <a:latin typeface="Cambria Math" panose="02040503050406030204" pitchFamily="18" charset="0"/>
                          </a:rPr>
                        </m:ctrlPr>
                      </m:dPr>
                      <m:e>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𝑎</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𝑏</m:t>
                            </m:r>
                          </m:num>
                          <m:den>
                            <m:rad>
                              <m:radPr>
                                <m:degHide m:val="on"/>
                                <m:ctrlPr>
                                  <a:rPr lang="en-IN" sz="2800" i="1">
                                    <a:solidFill>
                                      <a:srgbClr val="15803D"/>
                                    </a:solidFill>
                                    <a:latin typeface="Cambria Math" panose="02040503050406030204" pitchFamily="18" charset="0"/>
                                  </a:rPr>
                                </m:ctrlPr>
                              </m:radPr>
                              <m:deg/>
                              <m:e>
                                <m:r>
                                  <a:rPr lang="en-IN" sz="2800" i="1">
                                    <a:solidFill>
                                      <a:srgbClr val="15803D"/>
                                    </a:solidFill>
                                    <a:latin typeface="Cambria Math" panose="02040503050406030204" pitchFamily="18" charset="0"/>
                                  </a:rPr>
                                  <m:t>𝑎</m:t>
                                </m:r>
                                <m:r>
                                  <a:rPr lang="en-IN" sz="2800" i="1">
                                    <a:solidFill>
                                      <a:srgbClr val="15803D"/>
                                    </a:solidFill>
                                    <a:latin typeface="Cambria Math" panose="02040503050406030204" pitchFamily="18" charset="0"/>
                                  </a:rPr>
                                  <m:t>𝑏</m:t>
                                </m:r>
                              </m:e>
                            </m:rad>
                          </m:den>
                        </m:f>
                      </m:e>
                    </m:d>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a:t>
                </a:r>
                <a:r>
                  <a:rPr lang="en-IN" sz="2800">
                    <a:solidFill>
                      <a:srgbClr val="15803D"/>
                    </a:solidFill>
                    <a:latin typeface="Cambria Math" panose="02040503050406030204" pitchFamily="18" charset="0"/>
                  </a:rPr>
                  <a:t>$\tan^{-1}\left(\frac{a-b}{\sqrt{ab}}\right)$</a:t>
                </a:r>
                <a:endParaRPr sz="2800">
                  <a:solidFill>
                    <a:srgbClr val="15803D"/>
                  </a:solidFill>
                </a:endParaRPr>
              </a:p>
            </p:txBody>
          </p:sp>
        </mc:Fallback>
      </mc:AlternateContent>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Angle between curves at a common point = angle between their tangents = angle between their normals (gradients).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two curves with tangent slopes </a:t>
                </a:r>
                <a14:m>
                  <m:oMath xmlns:m="http://schemas.openxmlformats.org/officeDocument/2006/math">
                    <m:sSub>
                      <m:e>
                        <m:r>
                          <a:rPr lang="en-IN" sz="2400" i="1">
                            <a:solidFill>
                              <a:srgbClr val="111827"/>
                            </a:solidFill>
                            <a:latin typeface="Cambria Math" panose="02040503050406030204" pitchFamily="18" charset="0"/>
                          </a:rPr>
                          <m:t>𝑚</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𝑚</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tan</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𝑚</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𝑚</m:t>
                                </m:r>
                              </m:e>
                              <m:sub>
                                <m:r>
                                  <a:rPr lang="en-IN" sz="2400" i="1">
                                    <a:solidFill>
                                      <a:srgbClr val="111827"/>
                                    </a:solidFill>
                                    <a:latin typeface="Cambria Math" panose="02040503050406030204" pitchFamily="18" charset="0"/>
                                  </a:rPr>
                                  <m:t>2</m:t>
                                </m:r>
                              </m:sub>
                            </m:sSub>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𝑚</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𝑚</m:t>
                                </m:r>
                              </m:e>
                              <m:sub>
                                <m:r>
                                  <a:rPr lang="en-IN" sz="2400" i="1">
                                    <a:solidFill>
                                      <a:srgbClr val="111827"/>
                                    </a:solidFill>
                                    <a:latin typeface="Cambria Math" panose="02040503050406030204" pitchFamily="18" charset="0"/>
                                  </a:rPr>
                                  <m:t>2</m:t>
                                </m:r>
                              </m:sub>
                            </m:sSub>
                          </m:den>
                        </m:f>
                      </m:e>
                    </m:d>
                  </m:oMath>
                </a14:m>
                <a:r>
                  <a:rPr sz="2400" b="0">
                    <a:solidFill>
                      <a:srgbClr val="111827"/>
                    </a:solidFill>
                    <a:latin typeface="Arial"/>
                  </a:rPr>
                  <a:t>; if </a:t>
                </a:r>
                <a14:m>
                  <m:oMath xmlns:m="http://schemas.openxmlformats.org/officeDocument/2006/math">
                    <m:sSub>
                      <m:e>
                        <m:r>
                          <a:rPr lang="en-IN" sz="2400" i="1">
                            <a:solidFill>
                              <a:srgbClr val="111827"/>
                            </a:solidFill>
                            <a:latin typeface="Cambria Math" panose="02040503050406030204" pitchFamily="18" charset="0"/>
                          </a:rPr>
                          <m:t>𝑚</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𝑚</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the curves are orthogonal.</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the circle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the tangent slope at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Ellipse and its auxiliary-type circle: with </a:t>
                </a:r>
                <a14:m>
                  <m:oMath xmlns:m="http://schemas.openxmlformats.org/officeDocument/2006/math">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oMath>
                </a14:m>
                <a:r>
                  <a:rPr sz="2400" b="0">
                    <a:solidFill>
                      <a:srgbClr val="111827"/>
                    </a:solidFill>
                    <a:latin typeface="Arial"/>
                  </a:rPr>
                  <a:t> they meet at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𝑏</m:t>
                        </m:r>
                      </m:num>
                      <m:den>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den>
                    </m:f>
                  </m:oMath>
                </a14:m>
                <a:r>
                  <a:rPr sz="2400" b="0">
                    <a:solidFill>
                      <a:srgbClr val="111827"/>
                    </a:solidFill>
                    <a:latin typeface="Arial"/>
                  </a:rPr>
                  <a:t>, a symmetric result worth remembering. Check: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gives </a:t>
                </a:r>
                <a14:m>
                  <m:oMath xmlns:m="http://schemas.openxmlformats.org/officeDocument/2006/math">
                    <m:r>
                      <m:rPr>
                        <m:sty m:val="p"/>
                      </m:rPr>
                      <a:rPr lang="en-IN" sz="2400">
                        <a:solidFill>
                          <a:srgbClr val="111827"/>
                        </a:solidFill>
                        <a:latin typeface="Cambria Math" panose="02040503050406030204" pitchFamily="18" charset="0"/>
                      </a:rPr>
                      <m:t>tan</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oMath>
                </a14:m>
                <a:r>
                  <a:rPr sz="2400" b="0">
                    <a:solidFill>
                      <a:srgbClr val="111827"/>
                    </a:solidFill>
                    <a:latin typeface="Arial"/>
                  </a:rPr>
                  <a:t> (this is Q10's pattern).</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Angle between curves at a common point = angle between their tangents = angle between their normals (gradients).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two curves with tangent slopes </a:t>
                </a:r>
                <a:r>
                  <a:rPr lang="en-IN" sz="2400">
                    <a:solidFill>
                      <a:srgbClr val="111827"/>
                    </a:solidFill>
                    <a:latin typeface="Cambria Math" panose="02040503050406030204" pitchFamily="18" charset="0"/>
                  </a:rPr>
                  <a:t>$m_1,m_2$</a:t>
                </a:r>
                <a:r>
                  <a:rPr sz="2400" b="0">
                    <a:solidFill>
                      <a:srgbClr val="111827"/>
                    </a:solidFill>
                    <a:latin typeface="Arial"/>
                  </a:rPr>
                  <a:t>: </a:t>
                </a:r>
                <a:r>
                  <a:rPr lang="en-IN" sz="2400">
                    <a:solidFill>
                      <a:srgbClr val="111827"/>
                    </a:solidFill>
                    <a:latin typeface="Cambria Math" panose="02040503050406030204" pitchFamily="18" charset="0"/>
                  </a:rPr>
                  <a:t>$\tan\theta=\left|\frac{m_1-m_2}{1+m_1m_2}\right|$</a:t>
                </a:r>
                <a:r>
                  <a:rPr sz="2400" b="0">
                    <a:solidFill>
                      <a:srgbClr val="111827"/>
                    </a:solidFill>
                    <a:latin typeface="Arial"/>
                  </a:rPr>
                  <a:t>; if </a:t>
                </a:r>
                <a:r>
                  <a:rPr lang="en-IN" sz="2400">
                    <a:solidFill>
                      <a:srgbClr val="111827"/>
                    </a:solidFill>
                    <a:latin typeface="Cambria Math" panose="02040503050406030204" pitchFamily="18" charset="0"/>
                  </a:rPr>
                  <a:t>$m_1m_2=-1$</a:t>
                </a:r>
                <a:r>
                  <a:rPr sz="2400" b="0">
                    <a:solidFill>
                      <a:srgbClr val="111827"/>
                    </a:solidFill>
                    <a:latin typeface="Arial"/>
                  </a:rPr>
                  <a:t> the curves are orthogonal.</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the circle </a:t>
                </a:r>
                <a:r>
                  <a:rPr lang="en-IN" sz="2400">
                    <a:solidFill>
                      <a:srgbClr val="111827"/>
                    </a:solidFill>
                    <a:latin typeface="Cambria Math" panose="02040503050406030204" pitchFamily="18" charset="0"/>
                  </a:rPr>
                  <a:t>$x^2+y^2=r^2$</a:t>
                </a:r>
                <a:r>
                  <a:rPr sz="2400" b="0">
                    <a:solidFill>
                      <a:srgbClr val="111827"/>
                    </a:solidFill>
                    <a:latin typeface="Arial"/>
                  </a:rPr>
                  <a:t> the tangent slope at </a:t>
                </a:r>
                <a:r>
                  <a:rPr lang="en-IN" sz="2400">
                    <a:solidFill>
                      <a:srgbClr val="111827"/>
                    </a:solidFill>
                    <a:latin typeface="Cambria Math" panose="02040503050406030204" pitchFamily="18" charset="0"/>
                  </a:rPr>
                  <a:t>$(x_1,y_1)$</a:t>
                </a:r>
                <a:r>
                  <a:rPr sz="2400" b="0">
                    <a:solidFill>
                      <a:srgbClr val="111827"/>
                    </a:solidFill>
                    <a:latin typeface="Arial"/>
                  </a:rPr>
                  <a:t> is </a:t>
                </a:r>
                <a:r>
                  <a:rPr lang="en-IN" sz="2400">
                    <a:solidFill>
                      <a:srgbClr val="111827"/>
                    </a:solidFill>
                    <a:latin typeface="Cambria Math" panose="02040503050406030204" pitchFamily="18" charset="0"/>
                  </a:rPr>
                  <a:t>$-x_1/y_1$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Ellipse and its auxiliary-type circle: with </a:t>
                </a:r>
                <a:r>
                  <a:rPr lang="en-IN" sz="2400">
                    <a:solidFill>
                      <a:srgbClr val="111827"/>
                    </a:solidFill>
                    <a:latin typeface="Cambria Math" panose="02040503050406030204" pitchFamily="18" charset="0"/>
                  </a:rPr>
                  <a:t>$r^2=ab$</a:t>
                </a:r>
                <a:r>
                  <a:rPr sz="2400" b="0">
                    <a:solidFill>
                      <a:srgbClr val="111827"/>
                    </a:solidFill>
                    <a:latin typeface="Arial"/>
                  </a:rPr>
                  <a:t> they meet at </a:t>
                </a:r>
                <a:r>
                  <a:rPr lang="en-IN" sz="2400">
                    <a:solidFill>
                      <a:srgbClr val="111827"/>
                    </a:solidFill>
                    <a:latin typeface="Cambria Math" panose="02040503050406030204" pitchFamily="18" charset="0"/>
                  </a:rPr>
                  <a:t>$x^2=\frac{a^2b}{a+b}$</a:t>
                </a:r>
                <a:r>
                  <a:rPr sz="2400" b="0">
                    <a:solidFill>
                      <a:srgbClr val="111827"/>
                    </a:solidFill>
                    <a:latin typeface="Arial"/>
                  </a:rPr>
                  <a:t>, a symmetric result worth remembering. Check: </a:t>
                </a:r>
                <a:r>
                  <a:rPr lang="en-IN" sz="2400">
                    <a:solidFill>
                      <a:srgbClr val="111827"/>
                    </a:solidFill>
                    <a:latin typeface="Cambria Math" panose="02040503050406030204" pitchFamily="18" charset="0"/>
                  </a:rPr>
                  <a:t>$a=3,b=1$</a:t>
                </a:r>
                <a:r>
                  <a:rPr sz="2400" b="0">
                    <a:solidFill>
                      <a:srgbClr val="111827"/>
                    </a:solidFill>
                    <a:latin typeface="Arial"/>
                  </a:rPr>
                  <a:t> gives </a:t>
                </a:r>
                <a:r>
                  <a:rPr lang="en-IN" sz="2400">
                    <a:solidFill>
                      <a:srgbClr val="111827"/>
                    </a:solidFill>
                    <a:latin typeface="Cambria Math" panose="02040503050406030204" pitchFamily="18" charset="0"/>
                  </a:rPr>
                  <a:t>$\tan\theta=\frac{2}{\sqrt3}$</a:t>
                </a:r>
                <a:r>
                  <a:rPr sz="2400" b="0">
                    <a:solidFill>
                      <a:srgbClr val="111827"/>
                    </a:solidFill>
                    <a:latin typeface="Arial"/>
                  </a:rPr>
                  <a:t> (this is Q10's pattern).</a:t>
                </a:r>
                <a:endParaRPr sz="2400">
                  <a:solidFill>
                    <a:srgbClr val="111827"/>
                  </a:solidFill>
                </a:endParaRPr>
              </a:p>
            </p:txBody>
          </p:sp>
        </mc:Fallback>
      </mc:AlternateContent>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400807"/>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θ</m:t>
                    </m:r>
                  </m:oMath>
                </a14:m>
                <a:r>
                  <a:rPr sz="2400" b="0">
                    <a:solidFill>
                      <a:srgbClr val="111827"/>
                    </a:solidFill>
                    <a:latin typeface="Arial"/>
                  </a:rPr>
                  <a:t> be the acute angle between the tangents to the ellipse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9</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the circle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their point of intersection in the first quadrant. Then </a:t>
                </a:r>
                <a14:m>
                  <m:oMath xmlns:m="http://schemas.openxmlformats.org/officeDocument/2006/math">
                    <m:r>
                      <m:rPr>
                        <m:sty m:val="p"/>
                      </m:rPr>
                      <a:rPr lang="en-IN" sz="2400">
                        <a:solidFill>
                          <a:srgbClr val="111827"/>
                        </a:solidFill>
                        <a:latin typeface="Cambria Math" panose="02040503050406030204" pitchFamily="18" charset="0"/>
                      </a:rPr>
                      <m:t>tan</m:t>
                    </m:r>
                    <m:r>
                      <a:rPr lang="en-IN" sz="2400" i="1">
                        <a:solidFill>
                          <a:srgbClr val="111827"/>
                        </a:solidFill>
                        <a:latin typeface="Cambria Math" panose="02040503050406030204" pitchFamily="18" charset="0"/>
                      </a:rPr>
                      <m:t>θ</m:t>
                    </m:r>
                  </m:oMath>
                </a14:m>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(B)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oMath>
                </a14:m>
                <a:r>
                  <a:rPr sz="2400" b="0">
                    <a:solidFill>
                      <a:srgbClr val="111827"/>
                    </a:solidFill>
                    <a:latin typeface="Arial"/>
                  </a:rPr>
                  <a:t>   (C)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oMath>
                </a14:m>
                <a:r>
                  <a:rPr sz="2400" b="0">
                    <a:solidFill>
                      <a:srgbClr val="111827"/>
                    </a:solidFill>
                    <a:latin typeface="Arial"/>
                  </a:rPr>
                  <a:t>   (D)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oMath>
                </a14:m>
                <a:endParaRPr sz="2400">
                  <a:solidFill>
                    <a:srgbClr val="111827"/>
                  </a:solidFill>
                </a:endParaRPr>
              </a:p>
            </p:txBody>
          </p:sp>
        </mc:Choice>
        <mc:Fallback>
          <p:sp>
            <p:nvSpPr>
              <p:cNvPr id="4" name="Rounded Rectangle 3"/>
              <p:cNvSpPr/>
              <p:nvPr/>
            </p:nvSpPr>
            <p:spPr>
              <a:xfrm>
                <a:off x="731520" y="1280160"/>
                <a:ext cx="10725912" cy="2400807"/>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$\theta$</a:t>
                </a:r>
                <a:r>
                  <a:rPr sz="2400" b="0">
                    <a:solidFill>
                      <a:srgbClr val="111827"/>
                    </a:solidFill>
                    <a:latin typeface="Arial"/>
                  </a:rPr>
                  <a:t> be the acute angle between the tangents to the ellipse </a:t>
                </a:r>
                <a:r>
                  <a:rPr lang="en-IN" sz="2400">
                    <a:solidFill>
                      <a:srgbClr val="111827"/>
                    </a:solidFill>
                    <a:latin typeface="Cambria Math" panose="02040503050406030204" pitchFamily="18" charset="0"/>
                  </a:rPr>
                  <a:t>$\frac{x^2}{9}+\frac{y^2}{1}=1$</a:t>
                </a:r>
                <a:r>
                  <a:rPr sz="2400" b="0">
                    <a:solidFill>
                      <a:srgbClr val="111827"/>
                    </a:solidFill>
                    <a:latin typeface="Arial"/>
                  </a:rPr>
                  <a:t> and the circle </a:t>
                </a:r>
                <a:r>
                  <a:rPr lang="en-IN" sz="2400">
                    <a:solidFill>
                      <a:srgbClr val="111827"/>
                    </a:solidFill>
                    <a:latin typeface="Cambria Math" panose="02040503050406030204" pitchFamily="18" charset="0"/>
                  </a:rPr>
                  <a:t>$x^2+y^2=3$</a:t>
                </a:r>
                <a:r>
                  <a:rPr sz="2400" b="0">
                    <a:solidFill>
                      <a:srgbClr val="111827"/>
                    </a:solidFill>
                    <a:latin typeface="Arial"/>
                  </a:rPr>
                  <a:t> at their point of intersection in the first quadrant. Then </a:t>
                </a:r>
                <a:r>
                  <a:rPr lang="en-IN" sz="2400">
                    <a:solidFill>
                      <a:srgbClr val="111827"/>
                    </a:solidFill>
                    <a:latin typeface="Cambria Math" panose="02040503050406030204" pitchFamily="18" charset="0"/>
                  </a:rPr>
                  <a:t>$\tan\theta$</a:t>
                </a:r>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$2$</a:t>
                </a:r>
                <a:r>
                  <a:rPr sz="2400" b="0">
                    <a:solidFill>
                      <a:srgbClr val="111827"/>
                    </a:solidFill>
                    <a:latin typeface="Arial"/>
                  </a:rPr>
                  <a:t>   (B) </a:t>
                </a:r>
                <a:r>
                  <a:rPr lang="en-IN" sz="2400">
                    <a:solidFill>
                      <a:srgbClr val="111827"/>
                    </a:solidFill>
                    <a:latin typeface="Cambria Math" panose="02040503050406030204" pitchFamily="18" charset="0"/>
                  </a:rPr>
                  <a:t>$\frac{4}{\sqrt3}$</a:t>
                </a:r>
                <a:r>
                  <a:rPr sz="2400" b="0">
                    <a:solidFill>
                      <a:srgbClr val="111827"/>
                    </a:solidFill>
                    <a:latin typeface="Arial"/>
                  </a:rPr>
                  <a:t>   (C) </a:t>
                </a:r>
                <a:r>
                  <a:rPr lang="en-IN" sz="2400">
                    <a:solidFill>
                      <a:srgbClr val="111827"/>
                    </a:solidFill>
                    <a:latin typeface="Cambria Math" panose="02040503050406030204" pitchFamily="18" charset="0"/>
                  </a:rPr>
                  <a:t>$\frac{5}{2\sqrt3}$</a:t>
                </a:r>
                <a:r>
                  <a:rPr sz="2400" b="0">
                    <a:solidFill>
                      <a:srgbClr val="111827"/>
                    </a:solidFill>
                    <a:latin typeface="Arial"/>
                  </a:rPr>
                  <a:t>   (D) </a:t>
                </a:r>
                <a:r>
                  <a:rPr lang="en-IN" sz="2400">
                    <a:solidFill>
                      <a:srgbClr val="111827"/>
                    </a:solidFill>
                    <a:latin typeface="Cambria Math" panose="02040503050406030204" pitchFamily="18" charset="0"/>
                  </a:rPr>
                  <a:t>$\frac{2}{\sqrt3}$</a:t>
                </a:r>
                <a:endParaRPr sz="2400">
                  <a:solidFill>
                    <a:srgbClr val="111827"/>
                  </a:solidFill>
                </a:endParaRPr>
              </a:p>
            </p:txBody>
          </p:sp>
        </mc:Fallback>
      </mc:AlternateContent>
      <p:sp>
        <p:nvSpPr>
          <p:cNvPr id="5" name="Rectangle 4"/>
          <p:cNvSpPr/>
          <p:nvPr/>
        </p:nvSpPr>
        <p:spPr>
          <a:xfrm>
            <a:off x="731520" y="3909567"/>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Angle between curves (tangents)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Solve the two curves for the common point, then apply </a:t>
                </a:r>
                <a14:m>
                  <m:oMath xmlns:m="http://schemas.openxmlformats.org/officeDocument/2006/math">
                    <m:r>
                      <m:rPr>
                        <m:sty m:val="p"/>
                      </m:rPr>
                      <a:rPr lang="en-IN" sz="2400">
                        <a:solidFill>
                          <a:srgbClr val="78350F"/>
                        </a:solidFill>
                        <a:latin typeface="Cambria Math" panose="02040503050406030204" pitchFamily="18" charset="0"/>
                      </a:rPr>
                      <m:t>tan</m:t>
                    </m:r>
                    <m:r>
                      <a:rPr lang="en-IN" sz="2400" i="1">
                        <a:solidFill>
                          <a:srgbClr val="78350F"/>
                        </a:solidFill>
                        <a:latin typeface="Cambria Math" panose="02040503050406030204" pitchFamily="18" charset="0"/>
                      </a:rPr>
                      <m:t>θ</m:t>
                    </m:r>
                    <m:r>
                      <m:rPr>
                        <m:sty m:val="p"/>
                      </m:rPr>
                      <a:rPr lang="en-IN" sz="2400">
                        <a:solidFill>
                          <a:srgbClr val="78350F"/>
                        </a:solidFill>
                        <a:latin typeface="Cambria Math" panose="02040503050406030204" pitchFamily="18" charset="0"/>
                      </a:rPr>
                      <m:t>=</m:t>
                    </m:r>
                    <m:d>
                      <m:dPr>
                        <m:begChr m:val="|"/>
                        <m:sepChr m:val=""/>
                        <m:endChr m:val="|"/>
                        <m:grow/>
                        <m:ctrlPr>
                          <a:rPr lang="en-IN" sz="2400" i="1">
                            <a:solidFill>
                              <a:srgbClr val="78350F"/>
                            </a:solidFill>
                            <a:latin typeface="Cambria Math" panose="02040503050406030204" pitchFamily="18" charset="0"/>
                          </a:rPr>
                        </m:ctrlPr>
                      </m:dPr>
                      <m:e>
                        <m:f>
                          <m:fPr>
                            <m:type m:val="bar"/>
                            <m:ctrlPr>
                              <a:rPr lang="en-IN" sz="2400" i="1">
                                <a:solidFill>
                                  <a:srgbClr val="78350F"/>
                                </a:solidFill>
                                <a:latin typeface="Cambria Math" panose="02040503050406030204" pitchFamily="18" charset="0"/>
                              </a:rPr>
                            </m:ctrlPr>
                          </m:fPr>
                          <m:num>
                            <m:sSub>
                              <m:e>
                                <m:r>
                                  <a:rPr lang="en-IN" sz="2400" i="1">
                                    <a:solidFill>
                                      <a:srgbClr val="78350F"/>
                                    </a:solidFill>
                                    <a:latin typeface="Cambria Math" panose="02040503050406030204" pitchFamily="18" charset="0"/>
                                  </a:rPr>
                                  <m:t>𝑚</m:t>
                                </m:r>
                              </m:e>
                              <m:sub>
                                <m:r>
                                  <a:rPr lang="en-IN" sz="2400" i="1">
                                    <a:solidFill>
                                      <a:srgbClr val="78350F"/>
                                    </a:solidFill>
                                    <a:latin typeface="Cambria Math" panose="02040503050406030204" pitchFamily="18" charset="0"/>
                                  </a:rPr>
                                  <m:t>1</m:t>
                                </m:r>
                              </m:sub>
                            </m:sSub>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𝑚</m:t>
                                </m:r>
                              </m:e>
                              <m:sub>
                                <m:r>
                                  <a:rPr lang="en-IN" sz="2400" i="1">
                                    <a:solidFill>
                                      <a:srgbClr val="78350F"/>
                                    </a:solidFill>
                                    <a:latin typeface="Cambria Math" panose="02040503050406030204" pitchFamily="18" charset="0"/>
                                  </a:rPr>
                                  <m:t>2</m:t>
                                </m:r>
                              </m:sub>
                            </m:sSub>
                          </m:num>
                          <m:den>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𝑚</m:t>
                                </m:r>
                              </m:e>
                              <m:sub>
                                <m:r>
                                  <a:rPr lang="en-IN" sz="2400" i="1">
                                    <a:solidFill>
                                      <a:srgbClr val="78350F"/>
                                    </a:solidFill>
                                    <a:latin typeface="Cambria Math" panose="02040503050406030204" pitchFamily="18" charset="0"/>
                                  </a:rPr>
                                  <m:t>1</m:t>
                                </m:r>
                              </m:sub>
                            </m:sSub>
                            <m:sSub>
                              <m:e>
                                <m:r>
                                  <a:rPr lang="en-IN" sz="2400" i="1">
                                    <a:solidFill>
                                      <a:srgbClr val="78350F"/>
                                    </a:solidFill>
                                    <a:latin typeface="Cambria Math" panose="02040503050406030204" pitchFamily="18" charset="0"/>
                                  </a:rPr>
                                  <m:t>𝑚</m:t>
                                </m:r>
                              </m:e>
                              <m:sub>
                                <m:r>
                                  <a:rPr lang="en-IN" sz="2400" i="1">
                                    <a:solidFill>
                                      <a:srgbClr val="78350F"/>
                                    </a:solidFill>
                                    <a:latin typeface="Cambria Math" panose="02040503050406030204" pitchFamily="18" charset="0"/>
                                  </a:rPr>
                                  <m:t>2</m:t>
                                </m:r>
                              </m:sub>
                            </m:sSub>
                          </m:den>
                        </m:f>
                      </m:e>
                    </m:d>
                  </m:oMath>
                </a14:m>
                <a:r>
                  <a:rPr sz="2400" b="0">
                    <a:solidFill>
                      <a:srgbClr val="78350F"/>
                    </a:solidFill>
                    <a:latin typeface="Arial"/>
                  </a:rPr>
                  <a:t> to the two tangent slopes.</a:t>
                </a:r>
                <a:endParaRPr sz="2400">
                  <a:solidFill>
                    <a:srgbClr val="78350F"/>
                  </a:solidFill>
                </a:endParaRPr>
              </a:p>
            </p:txBody>
          </p:sp>
        </mc:Choice>
        <mc:Fallback>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Solve the two curves for the common point, then apply </a:t>
                </a:r>
                <a:r>
                  <a:rPr lang="en-IN" sz="2400">
                    <a:solidFill>
                      <a:srgbClr val="78350F"/>
                    </a:solidFill>
                    <a:latin typeface="Cambria Math" panose="02040503050406030204" pitchFamily="18" charset="0"/>
                  </a:rPr>
                  <a:t>$\tan\theta=\left|\frac{m_1-m_2}{1+m_1m_2}\right|$</a:t>
                </a:r>
                <a:r>
                  <a:rPr sz="2400" b="0">
                    <a:solidFill>
                      <a:srgbClr val="78350F"/>
                    </a:solidFill>
                    <a:latin typeface="Arial"/>
                  </a:rPr>
                  <a:t> to the two tangent slopes.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Ellipse </a:t>
                </a:r>
                <a14:m>
                  <m:oMath xmlns:m="http://schemas.openxmlformats.org/officeDocument/2006/math">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9</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circle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Substituting </a:t>
                </a:r>
                <a14:m>
                  <m:oMath xmlns:m="http://schemas.openxmlformats.org/officeDocument/2006/math">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in </a:t>
                </a:r>
                <a14:m>
                  <m:oMath xmlns:m="http://schemas.openxmlformats.org/officeDocument/2006/math">
                    <m:r>
                      <a:rPr lang="en-IN" sz="2400" i="1">
                        <a:solidFill>
                          <a:srgbClr val="111827"/>
                        </a:solidFill>
                        <a:latin typeface="Cambria Math" panose="02040503050406030204" pitchFamily="18" charset="0"/>
                      </a:rPr>
                      <m:t>𝐸</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9</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9</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2</m:t>
                        </m:r>
                      </m:den>
                    </m:f>
                  </m:oMath>
                </a14:m>
                <a:r>
                  <a:rPr sz="2400" b="0">
                    <a:solidFill>
                      <a:srgbClr val="111827"/>
                    </a:solidFill>
                    <a:latin typeface="Arial"/>
                  </a:rPr>
                  <a:t>; the point in the first quadrant is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2</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Tangent to </a:t>
                </a:r>
                <a14:m>
                  <m:oMath xmlns:m="http://schemas.openxmlformats.org/officeDocument/2006/math">
                    <m:r>
                      <a:rPr lang="en-IN" sz="2400" i="1">
                        <a:solidFill>
                          <a:srgbClr val="111827"/>
                        </a:solidFill>
                        <a:latin typeface="Cambria Math" panose="02040503050406030204" pitchFamily="18" charset="0"/>
                      </a:rPr>
                      <m:t>𝐸</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9</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𝑦</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9</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2</m:t>
                        </m:r>
                      </m:den>
                    </m:f>
                    <m:sSub>
                      <m:e>
                        <m:r>
                          <a:rPr lang="en-IN" sz="2400" i="1">
                            <a:solidFill>
                              <a:srgbClr val="111827"/>
                            </a:solidFill>
                            <a:latin typeface="Cambria Math" panose="02040503050406030204" pitchFamily="18" charset="0"/>
                          </a:rPr>
                          <m:t>𝑚</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a:rPr lang="en-IN" sz="2400" i="1">
                        <a:solidFill>
                          <a:srgbClr val="111827"/>
                        </a:solidFill>
                        <a:latin typeface="Cambria Math" panose="02040503050406030204" pitchFamily="18" charset="0"/>
                      </a:rPr>
                      <m:t> </m:t>
                    </m:r>
                    <m:sSub>
                      <m:e>
                        <m:r>
                          <a:rPr lang="en-IN" sz="2400" i="1">
                            <a:solidFill>
                              <a:srgbClr val="111827"/>
                            </a:solidFill>
                            <a:latin typeface="Cambria Math" panose="02040503050406030204" pitchFamily="18" charset="0"/>
                          </a:rPr>
                          <m:t>𝑚</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so </a:t>
                </a:r>
                <a14:m>
                  <m:oMath xmlns:m="http://schemas.openxmlformats.org/officeDocument/2006/math">
                    <m:sSub>
                      <m:e>
                        <m:r>
                          <a:rPr lang="en-IN" sz="2400" i="1">
                            <a:solidFill>
                              <a:srgbClr val="111827"/>
                            </a:solidFill>
                            <a:latin typeface="Cambria Math" panose="02040503050406030204" pitchFamily="18" charset="0"/>
                          </a:rPr>
                          <m:t>𝑚</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Ellipse </a:t>
                </a:r>
                <a:r>
                  <a:rPr lang="en-IN" sz="2400">
                    <a:solidFill>
                      <a:srgbClr val="111827"/>
                    </a:solidFill>
                    <a:latin typeface="Cambria Math" panose="02040503050406030204" pitchFamily="18" charset="0"/>
                  </a:rPr>
                  <a:t>$E:\frac{x^2}{9}+\frac{y^2}{1}=1$</a:t>
                </a:r>
                <a:r>
                  <a:rPr sz="2400" b="0">
                    <a:solidFill>
                      <a:srgbClr val="111827"/>
                    </a:solidFill>
                    <a:latin typeface="Arial"/>
                  </a:rPr>
                  <a:t> and circle </a:t>
                </a:r>
                <a:r>
                  <a:rPr lang="en-IN" sz="2400">
                    <a:solidFill>
                      <a:srgbClr val="111827"/>
                    </a:solidFill>
                    <a:latin typeface="Cambria Math" panose="02040503050406030204" pitchFamily="18" charset="0"/>
                  </a:rPr>
                  <a:t>$C:x^2+y^2=3$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Substituting </a:t>
                </a:r>
                <a:r>
                  <a:rPr lang="en-IN" sz="2400">
                    <a:solidFill>
                      <a:srgbClr val="111827"/>
                    </a:solidFill>
                    <a:latin typeface="Cambria Math" panose="02040503050406030204" pitchFamily="18" charset="0"/>
                  </a:rPr>
                  <a:t>$y^2=3-x^2$</a:t>
                </a:r>
                <a:r>
                  <a:rPr sz="2400" b="0">
                    <a:solidFill>
                      <a:srgbClr val="111827"/>
                    </a:solidFill>
                    <a:latin typeface="Arial"/>
                  </a:rPr>
                  <a:t> in </a:t>
                </a:r>
                <a:r>
                  <a:rPr lang="en-IN" sz="2400">
                    <a:solidFill>
                      <a:srgbClr val="111827"/>
                    </a:solidFill>
                    <a:latin typeface="Cambria Math" panose="02040503050406030204" pitchFamily="18" charset="0"/>
                  </a:rPr>
                  <a:t>$E$</a:t>
                </a:r>
                <a:r>
                  <a:rPr sz="2400" b="0">
                    <a:solidFill>
                      <a:srgbClr val="111827"/>
                    </a:solidFill>
                    <a:latin typeface="Arial"/>
                  </a:rPr>
                  <a:t>: </a:t>
                </a:r>
                <a:r>
                  <a:rPr lang="en-IN" sz="2400">
                    <a:solidFill>
                      <a:srgbClr val="111827"/>
                    </a:solidFill>
                    <a:latin typeface="Cambria Math" panose="02040503050406030204" pitchFamily="18" charset="0"/>
                  </a:rPr>
                  <a:t>$\frac{x^2}{9}+3-x^2=1\Rightarrow2=\frac{8x^2}{9}$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$x=\pm\frac{3}{2}$</a:t>
                </a:r>
                <a:r>
                  <a:rPr sz="2400" b="0">
                    <a:solidFill>
                      <a:srgbClr val="111827"/>
                    </a:solidFill>
                    <a:latin typeface="Arial"/>
                  </a:rPr>
                  <a:t> and </a:t>
                </a:r>
                <a:r>
                  <a:rPr lang="en-IN" sz="2400">
                    <a:solidFill>
                      <a:srgbClr val="111827"/>
                    </a:solidFill>
                    <a:latin typeface="Cambria Math" panose="02040503050406030204" pitchFamily="18" charset="0"/>
                  </a:rPr>
                  <a:t>$y=\pm\frac{\sqrt3}{2}$</a:t>
                </a:r>
                <a:r>
                  <a:rPr sz="2400" b="0">
                    <a:solidFill>
                      <a:srgbClr val="111827"/>
                    </a:solidFill>
                    <a:latin typeface="Arial"/>
                  </a:rPr>
                  <a:t>; the point in the first quadrant is </a:t>
                </a:r>
                <a:r>
                  <a:rPr lang="en-IN" sz="2400">
                    <a:solidFill>
                      <a:srgbClr val="111827"/>
                    </a:solidFill>
                    <a:latin typeface="Cambria Math" panose="02040503050406030204" pitchFamily="18" charset="0"/>
                  </a:rPr>
                  <a:t>$\left(\frac{3}{2},\frac{\sqrt3}{2}\right)$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Tangent to </a:t>
                </a:r>
                <a:r>
                  <a:rPr lang="en-IN" sz="2400">
                    <a:solidFill>
                      <a:srgbClr val="111827"/>
                    </a:solidFill>
                    <a:latin typeface="Cambria Math" panose="02040503050406030204" pitchFamily="18" charset="0"/>
                  </a:rPr>
                  <a:t>$E$</a:t>
                </a:r>
                <a:r>
                  <a:rPr sz="2400" b="0">
                    <a:solidFill>
                      <a:srgbClr val="111827"/>
                    </a:solidFill>
                    <a:latin typeface="Arial"/>
                  </a:rPr>
                  <a:t>: </a:t>
                </a:r>
                <a:r>
                  <a:rPr lang="en-IN" sz="2400">
                    <a:solidFill>
                      <a:srgbClr val="111827"/>
                    </a:solidFill>
                    <a:latin typeface="Cambria Math" panose="02040503050406030204" pitchFamily="18" charset="0"/>
                  </a:rPr>
                  <a:t>$\frac{2x}{9}+2y\frac{dy}{dx}=0\Rightarrow\frac{2}{9}\cdot\frac{3}{2}+2\cdot\frac{\sqrt3}{2}m_1=0\Rightarrow\frac{1}{3}=-\sqrt3\,m_1$</a:t>
                </a:r>
                <a:r>
                  <a:rPr sz="2400" b="0">
                    <a:solidFill>
                      <a:srgbClr val="111827"/>
                    </a:solidFill>
                    <a:latin typeface="Arial"/>
                  </a:rPr>
                  <a:t>, so </a:t>
                </a:r>
                <a:r>
                  <a:rPr lang="en-IN" sz="2400">
                    <a:solidFill>
                      <a:srgbClr val="111827"/>
                    </a:solidFill>
                    <a:latin typeface="Cambria Math" panose="02040503050406030204" pitchFamily="18" charset="0"/>
                  </a:rPr>
                  <a:t>$m_1=-\frac{1}{3\sqrt3}$</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Tangent to </a:t>
                </a:r>
                <a14:m>
                  <m:oMath xmlns:m="http://schemas.openxmlformats.org/officeDocument/2006/math">
                    <m:r>
                      <a:rPr lang="en-IN" sz="2400" i="1">
                        <a:solidFill>
                          <a:srgbClr val="111827"/>
                        </a:solidFill>
                        <a:latin typeface="Cambria Math" panose="02040503050406030204" pitchFamily="18" charset="0"/>
                      </a:rPr>
                      <m:t>𝐶</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𝑦</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2</m:t>
                        </m:r>
                      </m:den>
                    </m:f>
                    <m:sSub>
                      <m:e>
                        <m:r>
                          <a:rPr lang="en-IN" sz="2400" i="1">
                            <a:solidFill>
                              <a:srgbClr val="111827"/>
                            </a:solidFill>
                            <a:latin typeface="Cambria Math" panose="02040503050406030204" pitchFamily="18" charset="0"/>
                          </a:rPr>
                          <m:t>𝑚</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a:rPr lang="en-IN" sz="2400" i="1">
                        <a:solidFill>
                          <a:srgbClr val="111827"/>
                        </a:solidFill>
                        <a:latin typeface="Cambria Math" panose="02040503050406030204" pitchFamily="18" charset="0"/>
                      </a:rPr>
                      <m:t> </m:t>
                    </m:r>
                    <m:sSub>
                      <m:e>
                        <m:r>
                          <a:rPr lang="en-IN" sz="2400" i="1">
                            <a:solidFill>
                              <a:srgbClr val="111827"/>
                            </a:solidFill>
                            <a:latin typeface="Cambria Math" panose="02040503050406030204" pitchFamily="18" charset="0"/>
                          </a:rPr>
                          <m:t>𝑚</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sSub>
                      <m:e>
                        <m:r>
                          <a:rPr lang="en-IN" sz="2400" i="1">
                            <a:solidFill>
                              <a:srgbClr val="111827"/>
                            </a:solidFill>
                            <a:latin typeface="Cambria Math" panose="02040503050406030204" pitchFamily="18" charset="0"/>
                          </a:rPr>
                          <m:t>𝑚</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tan</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𝑚</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𝑚</m:t>
                                </m:r>
                              </m:e>
                              <m:sub>
                                <m:r>
                                  <a:rPr lang="en-IN" sz="2400" i="1">
                                    <a:solidFill>
                                      <a:srgbClr val="111827"/>
                                    </a:solidFill>
                                    <a:latin typeface="Cambria Math" panose="02040503050406030204" pitchFamily="18" charset="0"/>
                                  </a:rPr>
                                  <m:t>2</m:t>
                                </m:r>
                              </m:sub>
                            </m:sSub>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𝑚</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𝑚</m:t>
                                </m:r>
                              </m:e>
                              <m:sub>
                                <m:r>
                                  <a:rPr lang="en-IN" sz="2400" i="1">
                                    <a:solidFill>
                                      <a:srgbClr val="111827"/>
                                    </a:solidFill>
                                    <a:latin typeface="Cambria Math" panose="02040503050406030204" pitchFamily="18" charset="0"/>
                                  </a:rPr>
                                  <m:t>2</m:t>
                                </m:r>
                              </m:sub>
                            </m:sSub>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den>
                        </m:f>
                      </m:e>
                    </m:d>
                  </m:oMath>
                </a14:m>
                <a:r>
                  <a:rPr sz="2400" b="0">
                    <a:solidFill>
                      <a:srgbClr val="111827"/>
                    </a:solidFill>
                    <a:latin typeface="Arial"/>
                  </a:rPr>
                  <a:t> (since </a:t>
                </a:r>
                <a14:m>
                  <m:oMath xmlns:m="http://schemas.openxmlformats.org/officeDocument/2006/math">
                    <m:sSub>
                      <m:e>
                        <m:r>
                          <a:rPr lang="en-IN" sz="2400" i="1">
                            <a:solidFill>
                              <a:srgbClr val="111827"/>
                            </a:solidFill>
                            <a:latin typeface="Cambria Math" panose="02040503050406030204" pitchFamily="18" charset="0"/>
                          </a:rPr>
                          <m:t>𝑚</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𝑚</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Numerator: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3</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3</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oMath>
                </a14:m>
                <a:r>
                  <a:rPr sz="2400" b="0">
                    <a:solidFill>
                      <a:srgbClr val="111827"/>
                    </a:solidFill>
                    <a:latin typeface="Arial"/>
                  </a:rPr>
                  <a:t>; denominator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tan</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3</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oMath>
                </a14:m>
                <a:r>
                  <a:rPr sz="2400" b="0">
                    <a:solidFill>
                      <a:srgbClr val="111827"/>
                    </a:solidFill>
                    <a:latin typeface="Arial"/>
                  </a:rPr>
                  <a:t> (option D).</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Tangent to </a:t>
                </a:r>
                <a:r>
                  <a:rPr lang="en-IN" sz="2400">
                    <a:solidFill>
                      <a:srgbClr val="111827"/>
                    </a:solidFill>
                    <a:latin typeface="Cambria Math" panose="02040503050406030204" pitchFamily="18" charset="0"/>
                  </a:rPr>
                  <a:t>$C$</a:t>
                </a:r>
                <a:r>
                  <a:rPr sz="2400" b="0">
                    <a:solidFill>
                      <a:srgbClr val="111827"/>
                    </a:solidFill>
                    <a:latin typeface="Arial"/>
                  </a:rPr>
                  <a:t>: </a:t>
                </a:r>
                <a:r>
                  <a:rPr lang="en-IN" sz="2400">
                    <a:solidFill>
                      <a:srgbClr val="111827"/>
                    </a:solidFill>
                    <a:latin typeface="Cambria Math" panose="02040503050406030204" pitchFamily="18" charset="0"/>
                  </a:rPr>
                  <a:t>$2x+2y\frac{dy}{dx}=0\Rightarrow2\cdot\frac{3}{2}+2\cdot\frac{\sqrt3}{2}m_2=0\Rightarrow3+\sqrt3\,m_2=0$</a:t>
                </a:r>
                <a:r>
                  <a:rPr sz="2400" b="0">
                    <a:solidFill>
                      <a:srgbClr val="111827"/>
                    </a:solidFill>
                    <a:latin typeface="Arial"/>
                  </a:rPr>
                  <a:t>, so </a:t>
                </a:r>
                <a:r>
                  <a:rPr lang="en-IN" sz="2400">
                    <a:solidFill>
                      <a:srgbClr val="111827"/>
                    </a:solidFill>
                    <a:latin typeface="Cambria Math" panose="02040503050406030204" pitchFamily="18" charset="0"/>
                  </a:rPr>
                  <a:t>$m_2=-\sqrt3$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$\tan\theta=\left|\frac{m_1-m_2}{1+m_1m_2}\right|=\left|\frac{-\frac{1}{3\sqrt3}+\sqrt3}{1+\frac{1}{3}}\right|$</a:t>
                </a:r>
                <a:r>
                  <a:rPr sz="2400" b="0">
                    <a:solidFill>
                      <a:srgbClr val="111827"/>
                    </a:solidFill>
                    <a:latin typeface="Arial"/>
                  </a:rPr>
                  <a:t> (since </a:t>
                </a:r>
                <a:r>
                  <a:rPr lang="en-IN" sz="2400">
                    <a:solidFill>
                      <a:srgbClr val="111827"/>
                    </a:solidFill>
                    <a:latin typeface="Cambria Math" panose="02040503050406030204" pitchFamily="18" charset="0"/>
                  </a:rPr>
                  <a:t>$m_1m_2=\frac{1}{3}$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Numerator: </a:t>
                </a:r>
                <a:r>
                  <a:rPr lang="en-IN" sz="2400">
                    <a:solidFill>
                      <a:srgbClr val="111827"/>
                    </a:solidFill>
                    <a:latin typeface="Cambria Math" panose="02040503050406030204" pitchFamily="18" charset="0"/>
                  </a:rPr>
                  <a:t>$-\frac{1}{3\sqrt3}+\sqrt3=\frac{-1+9}{3\sqrt3}=\frac{8}{3\sqrt3}$</a:t>
                </a:r>
                <a:r>
                  <a:rPr sz="2400" b="0">
                    <a:solidFill>
                      <a:srgbClr val="111827"/>
                    </a:solidFill>
                    <a:latin typeface="Arial"/>
                  </a:rPr>
                  <a:t>; denominator </a:t>
                </a:r>
                <a:r>
                  <a:rPr lang="en-IN" sz="2400">
                    <a:solidFill>
                      <a:srgbClr val="111827"/>
                    </a:solidFill>
                    <a:latin typeface="Cambria Math" panose="02040503050406030204" pitchFamily="18" charset="0"/>
                  </a:rPr>
                  <a:t>$\frac{4}{3}$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$\tan\theta=\frac{8}{3\sqrt3}\cdot\frac{3}{4}=\frac{2}{\sqrt3}$</a:t>
                </a:r>
                <a:r>
                  <a:rPr sz="2400" b="0">
                    <a:solidFill>
                      <a:srgbClr val="111827"/>
                    </a:solidFill>
                    <a:latin typeface="Arial"/>
                  </a:rPr>
                  <a:t> (option D).</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2</m:t>
                        </m:r>
                      </m:num>
                      <m:den>
                        <m:rad>
                          <m:radPr>
                            <m:degHide m:val="on"/>
                            <m:ctrlPr>
                              <a:rPr lang="en-IN" sz="2800" i="1">
                                <a:solidFill>
                                  <a:srgbClr val="15803D"/>
                                </a:solidFill>
                                <a:latin typeface="Cambria Math" panose="02040503050406030204" pitchFamily="18" charset="0"/>
                              </a:rPr>
                            </m:ctrlPr>
                          </m:radPr>
                          <m:deg/>
                          <m:e>
                            <m:r>
                              <a:rPr lang="en-IN" sz="2800" i="1">
                                <a:solidFill>
                                  <a:srgbClr val="15803D"/>
                                </a:solidFill>
                                <a:latin typeface="Cambria Math" panose="02040503050406030204" pitchFamily="18" charset="0"/>
                              </a:rPr>
                              <m:t>3</m:t>
                            </m:r>
                          </m:e>
                        </m:rad>
                      </m:den>
                    </m:f>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a:t>
                </a:r>
                <a:r>
                  <a:rPr lang="en-IN" sz="2800">
                    <a:solidFill>
                      <a:srgbClr val="15803D"/>
                    </a:solidFill>
                    <a:latin typeface="Cambria Math" panose="02040503050406030204" pitchFamily="18" charset="0"/>
                  </a:rPr>
                  <a:t>$\frac{2}{\sqrt3}$</a:t>
                </a:r>
                <a:endParaRPr sz="2800">
                  <a:solidFill>
                    <a:srgbClr val="15803D"/>
                  </a:solidFill>
                </a:endParaRPr>
              </a:p>
            </p:txBody>
          </p:sp>
        </mc:Fallback>
      </mc:AlternateContent>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gradients (normal vectors) and tan from cross product over dot product, avoiding slopes.</a:t>
            </a:r>
            <a:endParaRPr sz="2400">
              <a:solidFill>
                <a:srgbClr val="78350F"/>
              </a:solidFill>
            </a:endParaRPr>
          </a:p>
        </p:txBody>
      </p:sp>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2</m:t>
                            </m:r>
                          </m:den>
                        </m:f>
                      </m:e>
                    </m:d>
                  </m:oMath>
                </a14:m>
                <a:r>
                  <a:rPr sz="2400" b="0">
                    <a:solidFill>
                      <a:srgbClr val="111827"/>
                    </a:solidFill>
                    <a:latin typeface="Arial"/>
                  </a:rPr>
                  <a:t> the normals are </a:t>
                </a:r>
                <a14:m>
                  <m:oMath xmlns:m="http://schemas.openxmlformats.org/officeDocument/2006/math">
                    <m:sSub>
                      <m:e>
                        <m:r>
                          <m:rPr>
                            <m:sty m:val="bi"/>
                          </m:rP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9</m:t>
                            </m:r>
                          </m:den>
                        </m:f>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9</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𝑦</m:t>
                        </m:r>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e>
                    </m:d>
                  </m:oMath>
                </a14:m>
                <a:r>
                  <a:rPr sz="2400" b="0">
                    <a:solidFill>
                      <a:srgbClr val="111827"/>
                    </a:solidFill>
                    <a:latin typeface="Arial"/>
                  </a:rPr>
                  <a:t> and </a:t>
                </a:r>
                <a14:m>
                  <m:oMath xmlns:m="http://schemas.openxmlformats.org/officeDocument/2006/math">
                    <m:sSub>
                      <m:e>
                        <m:r>
                          <m:rPr>
                            <m:sty m:val="bi"/>
                          </m:rP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Dot product: </a:t>
                </a:r>
                <a14:m>
                  <m:oMath xmlns:m="http://schemas.openxmlformats.org/officeDocument/2006/math">
                    <m:sSub>
                      <m:e>
                        <m:r>
                          <m:rPr>
                            <m:sty m:val="bi"/>
                          </m:rP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m:rPr>
                            <m:sty m:val="bi"/>
                          </m:rP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Cross product magnitude: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At </a:t>
                </a:r>
                <a:r>
                  <a:rPr lang="en-IN" sz="2400">
                    <a:solidFill>
                      <a:srgbClr val="111827"/>
                    </a:solidFill>
                    <a:latin typeface="Cambria Math" panose="02040503050406030204" pitchFamily="18" charset="0"/>
                  </a:rPr>
                  <a:t>$\left(\frac{3}{2},\frac{\sqrt3}{2}\right)$</a:t>
                </a:r>
                <a:r>
                  <a:rPr sz="2400" b="0">
                    <a:solidFill>
                      <a:srgbClr val="111827"/>
                    </a:solidFill>
                    <a:latin typeface="Arial"/>
                  </a:rPr>
                  <a:t> the normals are </a:t>
                </a:r>
                <a:r>
                  <a:rPr lang="en-IN" sz="2400">
                    <a:solidFill>
                      <a:srgbClr val="111827"/>
                    </a:solidFill>
                    <a:latin typeface="Cambria Math" panose="02040503050406030204" pitchFamily="18" charset="0"/>
                  </a:rPr>
                  <a:t>$\mathbf{n}_1=\nabla\left(\frac{x^2}{9}+y^2\right)=\left(\frac{2x}{9},2y\right)=\left(\frac{1}{3},\sqrt3\right)$</a:t>
                </a:r>
                <a:r>
                  <a:rPr sz="2400" b="0">
                    <a:solidFill>
                      <a:srgbClr val="111827"/>
                    </a:solidFill>
                    <a:latin typeface="Arial"/>
                  </a:rPr>
                  <a:t> and </a:t>
                </a:r>
                <a:r>
                  <a:rPr lang="en-IN" sz="2400">
                    <a:solidFill>
                      <a:srgbClr val="111827"/>
                    </a:solidFill>
                    <a:latin typeface="Cambria Math" panose="02040503050406030204" pitchFamily="18" charset="0"/>
                  </a:rPr>
                  <a:t>$\mathbf{n}_2=\nabla(x^2+y^2)=(2x,2y)=(3,\sqrt3)$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Dot product: </a:t>
                </a:r>
                <a:r>
                  <a:rPr lang="en-IN" sz="2400">
                    <a:solidFill>
                      <a:srgbClr val="111827"/>
                    </a:solidFill>
                    <a:latin typeface="Cambria Math" panose="02040503050406030204" pitchFamily="18" charset="0"/>
                  </a:rPr>
                  <a:t>$\mathbf{n}_1\cdot\mathbf{n}_2=1+3=4$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Cross product magnitude: </a:t>
                </a:r>
                <a:r>
                  <a:rPr lang="en-IN" sz="2400">
                    <a:solidFill>
                      <a:srgbClr val="111827"/>
                    </a:solidFill>
                    <a:latin typeface="Cambria Math" panose="02040503050406030204" pitchFamily="18" charset="0"/>
                  </a:rPr>
                  <a:t>$\left|\frac{1}{3}\cdot\sqrt3-\sqrt3\cdot3\right|=\frac{8\sqrt3}{3}$</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angle between the tangents equals the angle between the normals, so </a:t>
                </a:r>
                <a14:m>
                  <m:oMath xmlns:m="http://schemas.openxmlformats.org/officeDocument/2006/math">
                    <m:r>
                      <m:rPr>
                        <m:sty m:val="p"/>
                      </m:rPr>
                      <a:rPr lang="en-IN" sz="2400">
                        <a:solidFill>
                          <a:srgbClr val="111827"/>
                        </a:solidFill>
                        <a:latin typeface="Cambria Math" panose="02040503050406030204" pitchFamily="18" charset="0"/>
                      </a:rPr>
                      <m:t>tan</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d>
                          <m:dPr>
                            <m:begChr m:val="|"/>
                            <m:sepChr m:val=""/>
                            <m:endChr m:val="|"/>
                            <m:grow/>
                            <m:ctrlPr>
                              <a:rPr lang="en-IN" sz="2400" i="1">
                                <a:solidFill>
                                  <a:srgbClr val="111827"/>
                                </a:solidFill>
                                <a:latin typeface="Cambria Math" panose="02040503050406030204" pitchFamily="18" charset="0"/>
                              </a:rPr>
                            </m:ctrlPr>
                          </m:dPr>
                          <m:e>
                            <m:sSub>
                              <m:e>
                                <m:r>
                                  <m:rPr>
                                    <m:sty m:val="bi"/>
                                  </m:rP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m:rPr>
                                    <m:sty m:val="bi"/>
                                  </m:rP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2</m:t>
                                </m:r>
                              </m:sub>
                            </m:sSub>
                          </m:e>
                        </m:d>
                      </m:num>
                      <m:den>
                        <m:sSub>
                          <m:e>
                            <m:r>
                              <m:rPr>
                                <m:sty m:val="bi"/>
                              </m:rP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m:rPr>
                                <m:sty m:val="bi"/>
                              </m:rP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2</m:t>
                            </m:r>
                          </m:sub>
                        </m:sSub>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Positive dot product means the angle is acute, so </a:t>
                </a:r>
                <a14:m>
                  <m:oMath xmlns:m="http://schemas.openxmlformats.org/officeDocument/2006/math">
                    <m:r>
                      <a:rPr lang="en-IN" sz="2400" i="1">
                        <a:solidFill>
                          <a:srgbClr val="111827"/>
                        </a:solidFill>
                        <a:latin typeface="Cambria Math" panose="02040503050406030204" pitchFamily="18" charset="0"/>
                      </a:rPr>
                      <m:t>θ</m:t>
                    </m:r>
                  </m:oMath>
                </a14:m>
                <a:r>
                  <a:rPr sz="2400" b="0">
                    <a:solidFill>
                      <a:srgbClr val="111827"/>
                    </a:solidFill>
                    <a:latin typeface="Arial"/>
                  </a:rPr>
                  <a:t> is the required acute angle; answer (D).</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angle between the tangents equals the angle between the normals, so </a:t>
                </a:r>
                <a:r>
                  <a:rPr lang="en-IN" sz="2400">
                    <a:solidFill>
                      <a:srgbClr val="111827"/>
                    </a:solidFill>
                    <a:latin typeface="Cambria Math" panose="02040503050406030204" pitchFamily="18" charset="0"/>
                  </a:rPr>
                  <a:t>$\tan\theta=\frac{\left|\mathbf{n}_1\times\mathbf{n}_2\right|}{\mathbf{n}_1\cdot\mathbf{n}_2}=\frac{8\sqrt3/3}{4}=\frac{2\sqrt3}{3}=\frac{2}{\sqrt3}$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Positive dot product means the angle is acute, so </a:t>
                </a:r>
                <a:r>
                  <a:rPr lang="en-IN" sz="2400">
                    <a:solidFill>
                      <a:srgbClr val="111827"/>
                    </a:solidFill>
                    <a:latin typeface="Cambria Math" panose="02040503050406030204" pitchFamily="18" charset="0"/>
                  </a:rPr>
                  <a:t>$\theta$</a:t>
                </a:r>
                <a:r>
                  <a:rPr sz="2400" b="0">
                    <a:solidFill>
                      <a:srgbClr val="111827"/>
                    </a:solidFill>
                    <a:latin typeface="Arial"/>
                  </a:rPr>
                  <a:t> is the required acute angle; answer (D).</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2</m:t>
                        </m:r>
                      </m:num>
                      <m:den>
                        <m:rad>
                          <m:radPr>
                            <m:degHide m:val="on"/>
                            <m:ctrlPr>
                              <a:rPr lang="en-IN" sz="2800" i="1">
                                <a:solidFill>
                                  <a:srgbClr val="15803D"/>
                                </a:solidFill>
                                <a:latin typeface="Cambria Math" panose="02040503050406030204" pitchFamily="18" charset="0"/>
                              </a:rPr>
                            </m:ctrlPr>
                          </m:radPr>
                          <m:deg/>
                          <m:e>
                            <m:r>
                              <a:rPr lang="en-IN" sz="2800" i="1">
                                <a:solidFill>
                                  <a:srgbClr val="15803D"/>
                                </a:solidFill>
                                <a:latin typeface="Cambria Math" panose="02040503050406030204" pitchFamily="18" charset="0"/>
                              </a:rPr>
                              <m:t>3</m:t>
                            </m:r>
                          </m:e>
                        </m:rad>
                      </m:den>
                    </m:f>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a:t>
                </a:r>
                <a:r>
                  <a:rPr lang="en-IN" sz="2800">
                    <a:solidFill>
                      <a:srgbClr val="15803D"/>
                    </a:solidFill>
                    <a:latin typeface="Cambria Math" panose="02040503050406030204" pitchFamily="18" charset="0"/>
                  </a:rPr>
                  <a:t>$\frac{2}{\sqrt3}$</a:t>
                </a:r>
                <a:endParaRPr sz="2800">
                  <a:solidFill>
                    <a:srgbClr val="15803D"/>
                  </a:solidFill>
                </a:endParaRPr>
              </a:p>
            </p:txBody>
          </p:sp>
        </mc:Fallback>
      </mc:AlternateContent>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angle between two curves equals the angle between their gradient vectors; </a:t>
                </a:r>
                <a14:m>
                  <m:oMath xmlns:m="http://schemas.openxmlformats.org/officeDocument/2006/math">
                    <m:r>
                      <m:rPr>
                        <m:sty m:val="p"/>
                      </m:rPr>
                      <a:rPr lang="en-IN" sz="2400">
                        <a:solidFill>
                          <a:srgbClr val="111827"/>
                        </a:solidFill>
                        <a:latin typeface="Cambria Math" panose="02040503050406030204" pitchFamily="18" charset="0"/>
                      </a:rPr>
                      <m:t>tan</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sSub>
                          <m:e>
                            <m:r>
                              <m:rPr>
                                <m:sty m:val="bi"/>
                              </m:rP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m:rPr>
                                <m:sty m:val="bi"/>
                              </m:rP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num>
                      <m:den>
                        <m:sSub>
                          <m:e>
                            <m:r>
                              <m:rPr>
                                <m:sty m:val="bi"/>
                              </m:rP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m:rPr>
                                <m:sty m:val="bi"/>
                              </m:rP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2</m:t>
                            </m:r>
                          </m:sub>
                        </m:sSub>
                      </m:den>
                    </m:f>
                  </m:oMath>
                </a14:m>
                <a:r>
                  <a:rPr sz="2400" b="0">
                    <a:solidFill>
                      <a:srgbClr val="111827"/>
                    </a:solidFill>
                    <a:latin typeface="Arial"/>
                  </a:rPr>
                  <a:t> (take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of the dot for acute).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Slope formula: </a:t>
                </a:r>
                <a14:m>
                  <m:oMath xmlns:m="http://schemas.openxmlformats.org/officeDocument/2006/math">
                    <m:r>
                      <m:rPr>
                        <m:sty m:val="p"/>
                      </m:rPr>
                      <a:rPr lang="en-IN" sz="2400">
                        <a:solidFill>
                          <a:srgbClr val="111827"/>
                        </a:solidFill>
                        <a:latin typeface="Cambria Math" panose="02040503050406030204" pitchFamily="18" charset="0"/>
                      </a:rPr>
                      <m:t>tan</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𝑚</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𝑚</m:t>
                                </m:r>
                              </m:e>
                              <m:sub>
                                <m:r>
                                  <a:rPr lang="en-IN" sz="2400" i="1">
                                    <a:solidFill>
                                      <a:srgbClr val="111827"/>
                                    </a:solidFill>
                                    <a:latin typeface="Cambria Math" panose="02040503050406030204" pitchFamily="18" charset="0"/>
                                  </a:rPr>
                                  <m:t>2</m:t>
                                </m:r>
                              </m:sub>
                            </m:sSub>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𝑚</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𝑚</m:t>
                                </m:r>
                              </m:e>
                              <m:sub>
                                <m:r>
                                  <a:rPr lang="en-IN" sz="2400" i="1">
                                    <a:solidFill>
                                      <a:srgbClr val="111827"/>
                                    </a:solidFill>
                                    <a:latin typeface="Cambria Math" panose="02040503050406030204" pitchFamily="18" charset="0"/>
                                  </a:rPr>
                                  <m:t>2</m:t>
                                </m:r>
                              </m:sub>
                            </m:sSub>
                          </m:den>
                        </m:f>
                      </m:e>
                    </m:d>
                  </m:oMath>
                </a14:m>
                <a:r>
                  <a:rPr sz="2400" b="0">
                    <a:solidFill>
                      <a:srgbClr val="111827"/>
                    </a:solidFill>
                    <a:latin typeface="Arial"/>
                  </a:rPr>
                  <a:t> gives the acute angle; undefined for a perpendicular pair (</a:t>
                </a:r>
                <a14:m>
                  <m:oMath xmlns:m="http://schemas.openxmlformats.org/officeDocument/2006/math">
                    <m:sSub>
                      <m:e>
                        <m:r>
                          <a:rPr lang="en-IN" sz="2400" i="1">
                            <a:solidFill>
                              <a:srgbClr val="111827"/>
                            </a:solidFill>
                            <a:latin typeface="Cambria Math" panose="02040503050406030204" pitchFamily="18" charset="0"/>
                          </a:rPr>
                          <m:t>𝑚</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𝑚</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Tangent slope of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𝑝</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𝑞</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𝑞</m:t>
                        </m:r>
                        <m:r>
                          <a:rPr lang="en-IN" sz="2400" i="1">
                            <a:solidFill>
                              <a:srgbClr val="111827"/>
                            </a:solidFill>
                            <a:latin typeface="Cambria Math" panose="02040503050406030204" pitchFamily="18" charset="0"/>
                          </a:rPr>
                          <m:t> </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num>
                      <m:den>
                        <m:r>
                          <a:rPr lang="en-IN" sz="2400" i="1">
                            <a:solidFill>
                              <a:srgbClr val="111827"/>
                            </a:solidFill>
                            <a:latin typeface="Cambria Math" panose="02040503050406030204" pitchFamily="18" charset="0"/>
                          </a:rPr>
                          <m:t>𝑝</m:t>
                        </m:r>
                        <m:r>
                          <a:rPr lang="en-IN" sz="2400" i="1">
                            <a:solidFill>
                              <a:srgbClr val="111827"/>
                            </a:solidFill>
                            <a:latin typeface="Cambria Math" panose="02040503050406030204" pitchFamily="18" charset="0"/>
                          </a:rPr>
                          <m:t> </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1</m:t>
                            </m:r>
                          </m:sub>
                        </m:sSub>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this is the case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of Q9's family up to scaling the circle (here circle radius</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oMath>
                </a14:m>
                <a:r>
                  <a:rPr sz="2400" b="0">
                    <a:solidFill>
                      <a:srgbClr val="111827"/>
                    </a:solidFill>
                    <a:latin typeface="Arial"/>
                  </a:rPr>
                  <a:t>), giving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e>
                        </m:ra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angle between two curves equals the angle between their gradient vectors; </a:t>
                </a:r>
                <a:r>
                  <a:rPr lang="en-IN" sz="2400">
                    <a:solidFill>
                      <a:srgbClr val="111827"/>
                    </a:solidFill>
                    <a:latin typeface="Cambria Math" panose="02040503050406030204" pitchFamily="18" charset="0"/>
                  </a:rPr>
                  <a:t>$\tan\theta=\frac{|\mathbf{n}_1\times\mathbf{n}_2|}{\mathbf{n}_1\cdot\mathbf{n}_2}$</a:t>
                </a:r>
                <a:r>
                  <a:rPr sz="2400" b="0">
                    <a:solidFill>
                      <a:srgbClr val="111827"/>
                    </a:solidFill>
                    <a:latin typeface="Arial"/>
                  </a:rPr>
                  <a:t> (take </a:t>
                </a:r>
                <a:r>
                  <a:rPr lang="en-IN" sz="2400">
                    <a:solidFill>
                      <a:srgbClr val="111827"/>
                    </a:solidFill>
                    <a:latin typeface="Cambria Math" panose="02040503050406030204" pitchFamily="18" charset="0"/>
                  </a:rPr>
                  <a:t>$|\cdot|$</a:t>
                </a:r>
                <a:r>
                  <a:rPr sz="2400" b="0">
                    <a:solidFill>
                      <a:srgbClr val="111827"/>
                    </a:solidFill>
                    <a:latin typeface="Arial"/>
                  </a:rPr>
                  <a:t> of the dot for acute).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Slope formula: </a:t>
                </a:r>
                <a:r>
                  <a:rPr lang="en-IN" sz="2400">
                    <a:solidFill>
                      <a:srgbClr val="111827"/>
                    </a:solidFill>
                    <a:latin typeface="Cambria Math" panose="02040503050406030204" pitchFamily="18" charset="0"/>
                  </a:rPr>
                  <a:t>$\tan\theta=\left|\frac{m_1-m_2}{1+m_1m_2}\right|$</a:t>
                </a:r>
                <a:r>
                  <a:rPr sz="2400" b="0">
                    <a:solidFill>
                      <a:srgbClr val="111827"/>
                    </a:solidFill>
                    <a:latin typeface="Arial"/>
                  </a:rPr>
                  <a:t> gives the acute angle; undefined for a perpendicular pair (</a:t>
                </a:r>
                <a:r>
                  <a:rPr lang="en-IN" sz="2400">
                    <a:solidFill>
                      <a:srgbClr val="111827"/>
                    </a:solidFill>
                    <a:latin typeface="Cambria Math" panose="02040503050406030204" pitchFamily="18" charset="0"/>
                  </a:rPr>
                  <a:t>$m_1m_2=-1$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Tangent slope of </a:t>
                </a:r>
                <a:r>
                  <a:rPr lang="en-IN" sz="2400">
                    <a:solidFill>
                      <a:srgbClr val="111827"/>
                    </a:solidFill>
                    <a:latin typeface="Cambria Math" panose="02040503050406030204" pitchFamily="18" charset="0"/>
                  </a:rPr>
                  <a:t>$\frac{x^2}{p}+\frac{y^2}{q}=1$</a:t>
                </a:r>
                <a:r>
                  <a:rPr sz="2400" b="0">
                    <a:solidFill>
                      <a:srgbClr val="111827"/>
                    </a:solidFill>
                    <a:latin typeface="Arial"/>
                  </a:rPr>
                  <a:t> at </a:t>
                </a:r>
                <a:r>
                  <a:rPr lang="en-IN" sz="2400">
                    <a:solidFill>
                      <a:srgbClr val="111827"/>
                    </a:solidFill>
                    <a:latin typeface="Cambria Math" panose="02040503050406030204" pitchFamily="18" charset="0"/>
                  </a:rPr>
                  <a:t>$(x_1,y_1)$</a:t>
                </a:r>
                <a:r>
                  <a:rPr sz="2400" b="0">
                    <a:solidFill>
                      <a:srgbClr val="111827"/>
                    </a:solidFill>
                    <a:latin typeface="Arial"/>
                  </a:rPr>
                  <a:t> is </a:t>
                </a:r>
                <a:r>
                  <a:rPr lang="en-IN" sz="2400">
                    <a:solidFill>
                      <a:srgbClr val="111827"/>
                    </a:solidFill>
                    <a:latin typeface="Cambria Math" panose="02040503050406030204" pitchFamily="18" charset="0"/>
                  </a:rPr>
                  <a:t>$-\frac{q\,x_1}{p\,y_1}$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this is the case </a:t>
                </a:r>
                <a:r>
                  <a:rPr lang="en-IN" sz="2400">
                    <a:solidFill>
                      <a:srgbClr val="111827"/>
                    </a:solidFill>
                    <a:latin typeface="Cambria Math" panose="02040503050406030204" pitchFamily="18" charset="0"/>
                  </a:rPr>
                  <a:t>$a=3,b=1$</a:t>
                </a:r>
                <a:r>
                  <a:rPr sz="2400" b="0">
                    <a:solidFill>
                      <a:srgbClr val="111827"/>
                    </a:solidFill>
                    <a:latin typeface="Arial"/>
                  </a:rPr>
                  <a:t> of Q9's family up to scaling the circle (here circle radius</a:t>
                </a:r>
                <a:r>
                  <a:rPr lang="en-IN" sz="2400">
                    <a:solidFill>
                      <a:srgbClr val="111827"/>
                    </a:solidFill>
                    <a:latin typeface="Cambria Math" panose="02040503050406030204" pitchFamily="18" charset="0"/>
                  </a:rPr>
                  <a:t>$^2=3=ab$</a:t>
                </a:r>
                <a:r>
                  <a:rPr sz="2400" b="0">
                    <a:solidFill>
                      <a:srgbClr val="111827"/>
                    </a:solidFill>
                    <a:latin typeface="Arial"/>
                  </a:rPr>
                  <a:t>), giving </a:t>
                </a:r>
                <a:r>
                  <a:rPr lang="en-IN" sz="2400">
                    <a:solidFill>
                      <a:srgbClr val="111827"/>
                    </a:solidFill>
                    <a:latin typeface="Cambria Math" panose="02040503050406030204" pitchFamily="18" charset="0"/>
                  </a:rPr>
                  <a:t>$\frac{a-b}{\sqrt{ab}}=\frac{2}{\sqrt3}$</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number of real roots of the equation </a:t>
                </a:r>
                <a14:m>
                  <m:oMath xmlns:m="http://schemas.openxmlformats.org/officeDocument/2006/math">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is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0   (B) 2   (C) 4   (D) 1</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number of real roots of the equation </a:t>
                </a:r>
                <a:r>
                  <a:rPr lang="en-IN" sz="2400">
                    <a:solidFill>
                      <a:srgbClr val="111827"/>
                    </a:solidFill>
                    <a:latin typeface="Cambria Math" panose="02040503050406030204" pitchFamily="18" charset="0"/>
                  </a:rPr>
                  <a:t>$e^{4x}+2e^{3x}-e^{x}-6=0$</a:t>
                </a:r>
                <a:r>
                  <a:rPr sz="2400" b="0">
                    <a:solidFill>
                      <a:srgbClr val="111827"/>
                    </a:solidFill>
                    <a:latin typeface="Arial"/>
                  </a:rPr>
                  <a:t> is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0   (B) 2   (C) 4   (D) 1</a:t>
                </a:r>
                <a:endParaRPr sz="2400">
                  <a:solidFill>
                    <a:srgbClr val="111827"/>
                  </a:solidFill>
                </a:endParaRPr>
              </a:p>
            </p:txBody>
          </p:sp>
        </mc:Fallback>
      </mc:AlternateContent>
      <p:sp>
        <p:nvSpPr>
          <p:cNvPr id="5" name="Rectangle 4"/>
          <p:cNvSpPr/>
          <p:nvPr/>
        </p:nvSpPr>
        <p:spPr>
          <a:xfrm>
            <a:off x="731520" y="3246120"/>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Number of real roots using monotonicity of functions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Rewrite as </a:t>
                </a:r>
                <a14:m>
                  <m:oMath xmlns:m="http://schemas.openxmlformats.org/officeDocument/2006/math">
                    <m:sSup>
                      <m:e>
                        <m:r>
                          <a:rPr lang="en-IN" sz="2400" i="1">
                            <a:solidFill>
                              <a:srgbClr val="78350F"/>
                            </a:solidFill>
                            <a:latin typeface="Cambria Math" panose="02040503050406030204" pitchFamily="18" charset="0"/>
                          </a:rPr>
                          <m:t>𝑒</m:t>
                        </m:r>
                      </m:e>
                      <m:sup>
                        <m:r>
                          <a:rPr lang="en-IN" sz="2400" i="1">
                            <a:solidFill>
                              <a:srgbClr val="78350F"/>
                            </a:solidFill>
                            <a:latin typeface="Cambria Math" panose="02040503050406030204" pitchFamily="18" charset="0"/>
                          </a:rPr>
                          <m:t>3</m:t>
                        </m:r>
                        <m:r>
                          <a:rPr lang="en-IN" sz="2400" i="1">
                            <a:solidFill>
                              <a:srgbClr val="78350F"/>
                            </a:solidFill>
                            <a:latin typeface="Cambria Math" panose="02040503050406030204" pitchFamily="18" charset="0"/>
                          </a:rPr>
                          <m:t>𝑥</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4</m:t>
                        </m:r>
                      </m:num>
                      <m:den>
                        <m:sSup>
                          <m:e>
                            <m:r>
                              <a:rPr lang="en-IN" sz="2400" i="1">
                                <a:solidFill>
                                  <a:srgbClr val="78350F"/>
                                </a:solidFill>
                                <a:latin typeface="Cambria Math" panose="02040503050406030204" pitchFamily="18" charset="0"/>
                              </a:rPr>
                              <m:t>𝑒</m:t>
                            </m:r>
                          </m:e>
                          <m:sup>
                            <m:r>
                              <a:rPr lang="en-IN" sz="2400" i="1">
                                <a:solidFill>
                                  <a:srgbClr val="78350F"/>
                                </a:solidFill>
                                <a:latin typeface="Cambria Math" panose="02040503050406030204" pitchFamily="18" charset="0"/>
                              </a:rPr>
                              <m:t>𝑥</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den>
                    </m:f>
                  </m:oMath>
                </a14:m>
                <a:r>
                  <a:rPr sz="2400" b="0">
                    <a:solidFill>
                      <a:srgbClr val="78350F"/>
                    </a:solidFill>
                    <a:latin typeface="Arial"/>
                  </a:rPr>
                  <a:t>: an increasing function against a decreasing one meets exactly once.</a:t>
                </a:r>
                <a:endParaRPr sz="2400">
                  <a:solidFill>
                    <a:srgbClr val="78350F"/>
                  </a:solidFill>
                </a:endParaRPr>
              </a:p>
            </p:txBody>
          </p:sp>
        </mc:Choice>
        <mc:Fallback>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Rewrite as </a:t>
                </a:r>
                <a:r>
                  <a:rPr lang="en-IN" sz="2400">
                    <a:solidFill>
                      <a:srgbClr val="78350F"/>
                    </a:solidFill>
                    <a:latin typeface="Cambria Math" panose="02040503050406030204" pitchFamily="18" charset="0"/>
                  </a:rPr>
                  <a:t>$e^{3x}=1+\frac{4}{e^x+2}$</a:t>
                </a:r>
                <a:r>
                  <a:rPr sz="2400" b="0">
                    <a:solidFill>
                      <a:srgbClr val="78350F"/>
                    </a:solidFill>
                    <a:latin typeface="Arial"/>
                  </a:rPr>
                  <a:t>: an increasing function against a decreasing one meets exactly once.</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Write the equation as </a:t>
                </a:r>
                <a14:m>
                  <m:oMath xmlns:m="http://schemas.openxmlformats.org/officeDocument/2006/math">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i.e. </a:t>
                </a:r>
                <a14:m>
                  <m:oMath xmlns:m="http://schemas.openxmlformats.org/officeDocument/2006/math">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Divide by </a:t>
                </a:r>
                <a14:m>
                  <m:oMath xmlns:m="http://schemas.openxmlformats.org/officeDocument/2006/math">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num>
                      <m:den>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the real roots are the intersections of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sup>
                    </m:sSup>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sup>
                    </m:sSup>
                  </m:oMath>
                </a14:m>
                <a:r>
                  <a:rPr sz="2400" b="0">
                    <a:solidFill>
                      <a:srgbClr val="111827"/>
                    </a:solidFill>
                    <a:latin typeface="Arial"/>
                  </a:rPr>
                  <a:t> is strictly increasing, going from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(as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to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(as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Write the equation as </a:t>
                </a:r>
                <a:r>
                  <a:rPr lang="en-IN" sz="2400">
                    <a:solidFill>
                      <a:srgbClr val="111827"/>
                    </a:solidFill>
                    <a:latin typeface="Cambria Math" panose="02040503050406030204" pitchFamily="18" charset="0"/>
                  </a:rPr>
                  <a:t>$e^{4x}+2e^{3x}=e^{x}+6$</a:t>
                </a:r>
                <a:r>
                  <a:rPr sz="2400" b="0">
                    <a:solidFill>
                      <a:srgbClr val="111827"/>
                    </a:solidFill>
                    <a:latin typeface="Arial"/>
                  </a:rPr>
                  <a:t>, i.e. </a:t>
                </a:r>
                <a:r>
                  <a:rPr lang="en-IN" sz="2400">
                    <a:solidFill>
                      <a:srgbClr val="111827"/>
                    </a:solidFill>
                    <a:latin typeface="Cambria Math" panose="02040503050406030204" pitchFamily="18" charset="0"/>
                  </a:rPr>
                  <a:t>$e^{3x}(e^{x}+2)=e^{x}+6$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Divide by </a:t>
                </a:r>
                <a:r>
                  <a:rPr lang="en-IN" sz="2400">
                    <a:solidFill>
                      <a:srgbClr val="111827"/>
                    </a:solidFill>
                    <a:latin typeface="Cambria Math" panose="02040503050406030204" pitchFamily="18" charset="0"/>
                  </a:rPr>
                  <a:t>$e^{x}+2&gt;0$</a:t>
                </a:r>
                <a:r>
                  <a:rPr sz="2400" b="0">
                    <a:solidFill>
                      <a:srgbClr val="111827"/>
                    </a:solidFill>
                    <a:latin typeface="Arial"/>
                  </a:rPr>
                  <a:t>: </a:t>
                </a:r>
                <a:r>
                  <a:rPr lang="en-IN" sz="2400">
                    <a:solidFill>
                      <a:srgbClr val="111827"/>
                    </a:solidFill>
                    <a:latin typeface="Cambria Math" panose="02040503050406030204" pitchFamily="18" charset="0"/>
                  </a:rPr>
                  <a:t>$e^{3x}=\frac{e^{x}+6}{e^{x}+2}=1+\frac{4}{e^{x}+2}$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the real roots are the intersections of </a:t>
                </a:r>
                <a:r>
                  <a:rPr lang="en-IN" sz="2400">
                    <a:solidFill>
                      <a:srgbClr val="111827"/>
                    </a:solidFill>
                    <a:latin typeface="Cambria Math" panose="02040503050406030204" pitchFamily="18" charset="0"/>
                  </a:rPr>
                  <a:t>$y=e^{3x}$</a:t>
                </a:r>
                <a:r>
                  <a:rPr sz="2400" b="0">
                    <a:solidFill>
                      <a:srgbClr val="111827"/>
                    </a:solidFill>
                    <a:latin typeface="Arial"/>
                  </a:rPr>
                  <a:t> and </a:t>
                </a:r>
                <a:r>
                  <a:rPr lang="en-IN" sz="2400">
                    <a:solidFill>
                      <a:srgbClr val="111827"/>
                    </a:solidFill>
                    <a:latin typeface="Cambria Math" panose="02040503050406030204" pitchFamily="18" charset="0"/>
                  </a:rPr>
                  <a:t>$y=1+\frac{4}{e^{x}+2}$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$y=e^{3x}$</a:t>
                </a:r>
                <a:r>
                  <a:rPr sz="2400" b="0">
                    <a:solidFill>
                      <a:srgbClr val="111827"/>
                    </a:solidFill>
                    <a:latin typeface="Arial"/>
                  </a:rPr>
                  <a:t> is strictly increasing, going from </a:t>
                </a:r>
                <a:r>
                  <a:rPr lang="en-IN" sz="2400">
                    <a:solidFill>
                      <a:srgbClr val="111827"/>
                    </a:solidFill>
                    <a:latin typeface="Cambria Math" panose="02040503050406030204" pitchFamily="18" charset="0"/>
                  </a:rPr>
                  <a:t>$0$</a:t>
                </a:r>
                <a:r>
                  <a:rPr sz="2400" b="0">
                    <a:solidFill>
                      <a:srgbClr val="111827"/>
                    </a:solidFill>
                    <a:latin typeface="Arial"/>
                  </a:rPr>
                  <a:t> (as </a:t>
                </a:r>
                <a:r>
                  <a:rPr lang="en-IN" sz="2400">
                    <a:solidFill>
                      <a:srgbClr val="111827"/>
                    </a:solidFill>
                    <a:latin typeface="Cambria Math" panose="02040503050406030204" pitchFamily="18" charset="0"/>
                  </a:rPr>
                  <a:t>$x\to-\infty$</a:t>
                </a:r>
                <a:r>
                  <a:rPr sz="2400" b="0">
                    <a:solidFill>
                      <a:srgbClr val="111827"/>
                    </a:solidFill>
                    <a:latin typeface="Arial"/>
                  </a:rPr>
                  <a:t>) to </a:t>
                </a:r>
                <a:r>
                  <a:rPr lang="en-IN" sz="2400">
                    <a:solidFill>
                      <a:srgbClr val="111827"/>
                    </a:solidFill>
                    <a:latin typeface="Cambria Math" panose="02040503050406030204" pitchFamily="18" charset="0"/>
                  </a:rPr>
                  <a:t>$\infty$</a:t>
                </a:r>
                <a:r>
                  <a:rPr sz="2400" b="0">
                    <a:solidFill>
                      <a:srgbClr val="111827"/>
                    </a:solidFill>
                    <a:latin typeface="Arial"/>
                  </a:rPr>
                  <a:t> (as </a:t>
                </a:r>
                <a:r>
                  <a:rPr lang="en-IN" sz="2400">
                    <a:solidFill>
                      <a:srgbClr val="111827"/>
                    </a:solidFill>
                    <a:latin typeface="Cambria Math" panose="02040503050406030204" pitchFamily="18" charset="0"/>
                  </a:rPr>
                  <a:t>$x\to\infty$</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den>
                    </m:f>
                  </m:oMath>
                </a14:m>
                <a:r>
                  <a:rPr sz="2400" b="0">
                    <a:solidFill>
                      <a:srgbClr val="111827"/>
                    </a:solidFill>
                    <a:latin typeface="Arial"/>
                  </a:rPr>
                  <a:t> is strictly decreasing, from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(as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to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(as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it always lies between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very negative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the exponential is below the other curve; for large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(e.g.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3</m:t>
                    </m:r>
                  </m:oMath>
                </a14:m>
                <a:r>
                  <a:rPr sz="2400" b="0">
                    <a:solidFill>
                      <a:srgbClr val="111827"/>
                    </a:solidFill>
                    <a:latin typeface="Arial"/>
                  </a:rPr>
                  <a:t>) it is above. So the curves cross.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An increasing and a decreasing curve can cross at most once, so there is exactly one crossing.</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the equation has exactly one real root: option (D).</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$y=1+\frac{4}{e^{x}+2}$</a:t>
                </a:r>
                <a:r>
                  <a:rPr sz="2400" b="0">
                    <a:solidFill>
                      <a:srgbClr val="111827"/>
                    </a:solidFill>
                    <a:latin typeface="Arial"/>
                  </a:rPr>
                  <a:t> is strictly decreasing, from </a:t>
                </a:r>
                <a:r>
                  <a:rPr lang="en-IN" sz="2400">
                    <a:solidFill>
                      <a:srgbClr val="111827"/>
                    </a:solidFill>
                    <a:latin typeface="Cambria Math" panose="02040503050406030204" pitchFamily="18" charset="0"/>
                  </a:rPr>
                  <a:t>$3$</a:t>
                </a:r>
                <a:r>
                  <a:rPr sz="2400" b="0">
                    <a:solidFill>
                      <a:srgbClr val="111827"/>
                    </a:solidFill>
                    <a:latin typeface="Arial"/>
                  </a:rPr>
                  <a:t> (as </a:t>
                </a:r>
                <a:r>
                  <a:rPr lang="en-IN" sz="2400">
                    <a:solidFill>
                      <a:srgbClr val="111827"/>
                    </a:solidFill>
                    <a:latin typeface="Cambria Math" panose="02040503050406030204" pitchFamily="18" charset="0"/>
                  </a:rPr>
                  <a:t>$x\to-\infty$</a:t>
                </a:r>
                <a:r>
                  <a:rPr sz="2400" b="0">
                    <a:solidFill>
                      <a:srgbClr val="111827"/>
                    </a:solidFill>
                    <a:latin typeface="Arial"/>
                  </a:rPr>
                  <a:t>) to </a:t>
                </a:r>
                <a:r>
                  <a:rPr lang="en-IN" sz="2400">
                    <a:solidFill>
                      <a:srgbClr val="111827"/>
                    </a:solidFill>
                    <a:latin typeface="Cambria Math" panose="02040503050406030204" pitchFamily="18" charset="0"/>
                  </a:rPr>
                  <a:t>$1$</a:t>
                </a:r>
                <a:r>
                  <a:rPr sz="2400" b="0">
                    <a:solidFill>
                      <a:srgbClr val="111827"/>
                    </a:solidFill>
                    <a:latin typeface="Arial"/>
                  </a:rPr>
                  <a:t> (as </a:t>
                </a:r>
                <a:r>
                  <a:rPr lang="en-IN" sz="2400">
                    <a:solidFill>
                      <a:srgbClr val="111827"/>
                    </a:solidFill>
                    <a:latin typeface="Cambria Math" panose="02040503050406030204" pitchFamily="18" charset="0"/>
                  </a:rPr>
                  <a:t>$x\to\infty$</a:t>
                </a:r>
                <a:r>
                  <a:rPr sz="2400" b="0">
                    <a:solidFill>
                      <a:srgbClr val="111827"/>
                    </a:solidFill>
                    <a:latin typeface="Arial"/>
                  </a:rPr>
                  <a:t>), so it always lies between </a:t>
                </a:r>
                <a:r>
                  <a:rPr lang="en-IN" sz="2400">
                    <a:solidFill>
                      <a:srgbClr val="111827"/>
                    </a:solidFill>
                    <a:latin typeface="Cambria Math" panose="02040503050406030204" pitchFamily="18" charset="0"/>
                  </a:rPr>
                  <a:t>$1$</a:t>
                </a:r>
                <a:r>
                  <a:rPr sz="2400" b="0">
                    <a:solidFill>
                      <a:srgbClr val="111827"/>
                    </a:solidFill>
                    <a:latin typeface="Arial"/>
                  </a:rPr>
                  <a:t> and </a:t>
                </a:r>
                <a:r>
                  <a:rPr lang="en-IN" sz="2400">
                    <a:solidFill>
                      <a:srgbClr val="111827"/>
                    </a:solidFill>
                    <a:latin typeface="Cambria Math" panose="02040503050406030204" pitchFamily="18" charset="0"/>
                  </a:rPr>
                  <a:t>$3$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very negative </a:t>
                </a:r>
                <a:r>
                  <a:rPr lang="en-IN" sz="2400">
                    <a:solidFill>
                      <a:srgbClr val="111827"/>
                    </a:solidFill>
                    <a:latin typeface="Cambria Math" panose="02040503050406030204" pitchFamily="18" charset="0"/>
                  </a:rPr>
                  <a:t>$x$</a:t>
                </a:r>
                <a:r>
                  <a:rPr sz="2400" b="0">
                    <a:solidFill>
                      <a:srgbClr val="111827"/>
                    </a:solidFill>
                    <a:latin typeface="Arial"/>
                  </a:rPr>
                  <a:t> the exponential is below the other curve; for large </a:t>
                </a:r>
                <a:r>
                  <a:rPr lang="en-IN" sz="2400">
                    <a:solidFill>
                      <a:srgbClr val="111827"/>
                    </a:solidFill>
                    <a:latin typeface="Cambria Math" panose="02040503050406030204" pitchFamily="18" charset="0"/>
                  </a:rPr>
                  <a:t>$x$</a:t>
                </a:r>
                <a:r>
                  <a:rPr sz="2400" b="0">
                    <a:solidFill>
                      <a:srgbClr val="111827"/>
                    </a:solidFill>
                    <a:latin typeface="Arial"/>
                  </a:rPr>
                  <a:t> (e.g. </a:t>
                </a:r>
                <a:r>
                  <a:rPr lang="en-IN" sz="2400">
                    <a:solidFill>
                      <a:srgbClr val="111827"/>
                    </a:solidFill>
                    <a:latin typeface="Cambria Math" panose="02040503050406030204" pitchFamily="18" charset="0"/>
                  </a:rPr>
                  <a:t>$x=1$</a:t>
                </a:r>
                <a:r>
                  <a:rPr sz="2400" b="0">
                    <a:solidFill>
                      <a:srgbClr val="111827"/>
                    </a:solidFill>
                    <a:latin typeface="Arial"/>
                  </a:rPr>
                  <a:t>, </a:t>
                </a:r>
                <a:r>
                  <a:rPr lang="en-IN" sz="2400">
                    <a:solidFill>
                      <a:srgbClr val="111827"/>
                    </a:solidFill>
                    <a:latin typeface="Cambria Math" panose="02040503050406030204" pitchFamily="18" charset="0"/>
                  </a:rPr>
                  <a:t>$e^3\approx 20&gt;3$</a:t>
                </a:r>
                <a:r>
                  <a:rPr sz="2400" b="0">
                    <a:solidFill>
                      <a:srgbClr val="111827"/>
                    </a:solidFill>
                    <a:latin typeface="Arial"/>
                  </a:rPr>
                  <a:t>) it is above. So the curves cross.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An increasing and a decreasing curve can cross at most once, so there is exactly one crossing.</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the equation has exactly one real root: option (D).</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a:t>
                </a:r>
                <a14:m>
                  <m:oMath xmlns:m="http://schemas.openxmlformats.org/officeDocument/2006/math">
                    <m:r>
                      <a:rPr lang="en-IN" sz="2800" i="1">
                        <a:solidFill>
                          <a:srgbClr val="15803D"/>
                        </a:solidFill>
                        <a:latin typeface="Cambria Math" panose="02040503050406030204" pitchFamily="18" charset="0"/>
                      </a:rPr>
                      <m:t>1</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a:t>
                </a:r>
                <a:r>
                  <a:rPr lang="en-IN" sz="2800">
                    <a:solidFill>
                      <a:srgbClr val="15803D"/>
                    </a:solidFill>
                    <a:latin typeface="Cambria Math" panose="02040503050406030204" pitchFamily="18" charset="0"/>
                  </a:rPr>
                  <a:t>$1$</a:t>
                </a:r>
                <a:endParaRPr sz="2800">
                  <a:solidFill>
                    <a:srgbClr val="15803D"/>
                  </a:solidFill>
                </a:endParaRPr>
              </a:p>
            </p:txBody>
          </p:sp>
        </mc:Fallback>
      </mc:AlternateContent>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Put </a:t>
                </a:r>
                <a14:m>
                  <m:oMath xmlns:m="http://schemas.openxmlformats.org/officeDocument/2006/math">
                    <m:r>
                      <a:rPr lang="en-IN" sz="2400" i="1">
                        <a:solidFill>
                          <a:srgbClr val="78350F"/>
                        </a:solidFill>
                        <a:latin typeface="Cambria Math" panose="02040503050406030204" pitchFamily="18" charset="0"/>
                      </a:rPr>
                      <m:t>𝑡</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𝑒</m:t>
                        </m:r>
                      </m:e>
                      <m:sup>
                        <m:r>
                          <a:rPr lang="en-IN" sz="2400" i="1">
                            <a:solidFill>
                              <a:srgbClr val="78350F"/>
                            </a:solidFill>
                            <a:latin typeface="Cambria Math" panose="02040503050406030204" pitchFamily="18" charset="0"/>
                          </a:rPr>
                          <m:t>𝑥</m:t>
                        </m:r>
                      </m:sup>
                    </m:sSup>
                    <m:r>
                      <m:rPr>
                        <m:sty m:val="p"/>
                      </m:rPr>
                      <a:rPr lang="en-IN" sz="2400">
                        <a:solidFill>
                          <a:srgbClr val="78350F"/>
                        </a:solidFill>
                        <a:latin typeface="Cambria Math" panose="02040503050406030204" pitchFamily="18" charset="0"/>
                      </a:rPr>
                      <m:t>&gt;</m:t>
                    </m:r>
                    <m:r>
                      <a:rPr lang="en-IN" sz="2400" i="1">
                        <a:solidFill>
                          <a:srgbClr val="78350F"/>
                        </a:solidFill>
                        <a:latin typeface="Cambria Math" panose="02040503050406030204" pitchFamily="18" charset="0"/>
                      </a:rPr>
                      <m:t>0</m:t>
                    </m:r>
                  </m:oMath>
                </a14:m>
                <a:r>
                  <a:rPr sz="2400" b="0">
                    <a:solidFill>
                      <a:srgbClr val="78350F"/>
                    </a:solidFill>
                    <a:latin typeface="Arial"/>
                  </a:rPr>
                  <a:t> and use Descartes' rule of signs on the quartic in </a:t>
                </a:r>
                <a14:m>
                  <m:oMath xmlns:m="http://schemas.openxmlformats.org/officeDocument/2006/math">
                    <m:r>
                      <a:rPr lang="en-IN" sz="2400" i="1">
                        <a:solidFill>
                          <a:srgbClr val="78350F"/>
                        </a:solidFill>
                        <a:latin typeface="Cambria Math" panose="02040503050406030204" pitchFamily="18" charset="0"/>
                      </a:rPr>
                      <m:t>𝑡</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Put </a:t>
                </a:r>
                <a:r>
                  <a:rPr lang="en-IN" sz="2400">
                    <a:solidFill>
                      <a:srgbClr val="78350F"/>
                    </a:solidFill>
                    <a:latin typeface="Cambria Math" panose="02040503050406030204" pitchFamily="18" charset="0"/>
                  </a:rPr>
                  <a:t>$t=e^{x}&gt;0$</a:t>
                </a:r>
                <a:r>
                  <a:rPr sz="2400" b="0">
                    <a:solidFill>
                      <a:srgbClr val="78350F"/>
                    </a:solidFill>
                    <a:latin typeface="Arial"/>
                  </a:rPr>
                  <a:t> and use Descartes' rule of signs on the quartic in </a:t>
                </a:r>
                <a:r>
                  <a:rPr lang="en-IN" sz="2400">
                    <a:solidFill>
                      <a:srgbClr val="78350F"/>
                    </a:solidFill>
                    <a:latin typeface="Cambria Math" panose="02040503050406030204" pitchFamily="18" charset="0"/>
                  </a:rPr>
                  <a:t>$t$</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oMath>
                </a14:m>
                <a:r>
                  <a:rPr sz="2400" b="0">
                    <a:solidFill>
                      <a:srgbClr val="111827"/>
                    </a:solidFill>
                    <a:latin typeface="Arial"/>
                  </a:rPr>
                  <a:t>; as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runs over </a:t>
                </a:r>
                <a14:m>
                  <m:oMath xmlns:m="http://schemas.openxmlformats.org/officeDocument/2006/math">
                    <m:r>
                      <m:rPr>
                        <m:scr m:val="double-struck"/>
                        <m:sty m:val="p"/>
                      </m:rPr>
                      <a:rPr lang="en-IN" sz="2400">
                        <a:solidFill>
                          <a:srgbClr val="111827"/>
                        </a:solidFill>
                        <a:latin typeface="Cambria Math" panose="02040503050406030204" pitchFamily="18" charset="0"/>
                      </a:rPr>
                      <m:t>R</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𝑡</m:t>
                    </m:r>
                  </m:oMath>
                </a14:m>
                <a:r>
                  <a:rPr sz="2400" b="0">
                    <a:solidFill>
                      <a:srgbClr val="111827"/>
                    </a:solidFill>
                    <a:latin typeface="Arial"/>
                  </a:rPr>
                  <a:t> runs over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one-to-one, so real roots in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correspond to positive roots in </a:t>
                </a:r>
                <a14:m>
                  <m:oMath xmlns:m="http://schemas.openxmlformats.org/officeDocument/2006/math">
                    <m:r>
                      <a:rPr lang="en-IN" sz="2400" i="1">
                        <a:solidFill>
                          <a:srgbClr val="111827"/>
                        </a:solidFill>
                        <a:latin typeface="Cambria Math" panose="02040503050406030204" pitchFamily="18" charset="0"/>
                      </a:rPr>
                      <m:t>𝑡</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equation becomes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coefficient signs are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a:t>
                </a:r>
                <a14:m>
                  <m:oMath xmlns:m="http://schemas.openxmlformats.org/officeDocument/2006/math">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term is absent): exactly one sign change.</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$t=e^{x}$</a:t>
                </a:r>
                <a:r>
                  <a:rPr sz="2400" b="0">
                    <a:solidFill>
                      <a:srgbClr val="111827"/>
                    </a:solidFill>
                    <a:latin typeface="Arial"/>
                  </a:rPr>
                  <a:t>; as </a:t>
                </a:r>
                <a:r>
                  <a:rPr lang="en-IN" sz="2400">
                    <a:solidFill>
                      <a:srgbClr val="111827"/>
                    </a:solidFill>
                    <a:latin typeface="Cambria Math" panose="02040503050406030204" pitchFamily="18" charset="0"/>
                  </a:rPr>
                  <a:t>$x$</a:t>
                </a:r>
                <a:r>
                  <a:rPr sz="2400" b="0">
                    <a:solidFill>
                      <a:srgbClr val="111827"/>
                    </a:solidFill>
                    <a:latin typeface="Arial"/>
                  </a:rPr>
                  <a:t> runs over </a:t>
                </a:r>
                <a:r>
                  <a:rPr lang="en-IN" sz="2400">
                    <a:solidFill>
                      <a:srgbClr val="111827"/>
                    </a:solidFill>
                    <a:latin typeface="Cambria Math" panose="02040503050406030204" pitchFamily="18" charset="0"/>
                  </a:rPr>
                  <a:t>$\mathbb{R}$</a:t>
                </a:r>
                <a:r>
                  <a:rPr sz="2400" b="0">
                    <a:solidFill>
                      <a:srgbClr val="111827"/>
                    </a:solidFill>
                    <a:latin typeface="Arial"/>
                  </a:rPr>
                  <a:t>, </a:t>
                </a:r>
                <a:r>
                  <a:rPr lang="en-IN" sz="2400">
                    <a:solidFill>
                      <a:srgbClr val="111827"/>
                    </a:solidFill>
                    <a:latin typeface="Cambria Math" panose="02040503050406030204" pitchFamily="18" charset="0"/>
                  </a:rPr>
                  <a:t>$t$</a:t>
                </a:r>
                <a:r>
                  <a:rPr sz="2400" b="0">
                    <a:solidFill>
                      <a:srgbClr val="111827"/>
                    </a:solidFill>
                    <a:latin typeface="Arial"/>
                  </a:rPr>
                  <a:t> runs over </a:t>
                </a:r>
                <a:r>
                  <a:rPr lang="en-IN" sz="2400">
                    <a:solidFill>
                      <a:srgbClr val="111827"/>
                    </a:solidFill>
                    <a:latin typeface="Cambria Math" panose="02040503050406030204" pitchFamily="18" charset="0"/>
                  </a:rPr>
                  <a:t>$(0,\infty)$</a:t>
                </a:r>
                <a:r>
                  <a:rPr sz="2400" b="0">
                    <a:solidFill>
                      <a:srgbClr val="111827"/>
                    </a:solidFill>
                    <a:latin typeface="Arial"/>
                  </a:rPr>
                  <a:t> one-to-one, so real roots in </a:t>
                </a:r>
                <a:r>
                  <a:rPr lang="en-IN" sz="2400">
                    <a:solidFill>
                      <a:srgbClr val="111827"/>
                    </a:solidFill>
                    <a:latin typeface="Cambria Math" panose="02040503050406030204" pitchFamily="18" charset="0"/>
                  </a:rPr>
                  <a:t>$x$</a:t>
                </a:r>
                <a:r>
                  <a:rPr sz="2400" b="0">
                    <a:solidFill>
                      <a:srgbClr val="111827"/>
                    </a:solidFill>
                    <a:latin typeface="Arial"/>
                  </a:rPr>
                  <a:t> correspond to positive roots in </a:t>
                </a:r>
                <a:r>
                  <a:rPr lang="en-IN" sz="2400">
                    <a:solidFill>
                      <a:srgbClr val="111827"/>
                    </a:solidFill>
                    <a:latin typeface="Cambria Math" panose="02040503050406030204" pitchFamily="18" charset="0"/>
                  </a:rPr>
                  <a:t>$t$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equation becomes </a:t>
                </a:r>
                <a:r>
                  <a:rPr lang="en-IN" sz="2400">
                    <a:solidFill>
                      <a:srgbClr val="111827"/>
                    </a:solidFill>
                    <a:latin typeface="Cambria Math" panose="02040503050406030204" pitchFamily="18" charset="0"/>
                  </a:rPr>
                  <a:t>$p(t)=t^{4}+2t^{3}-t-6=0$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coefficient signs are </a:t>
                </a:r>
                <a:r>
                  <a:rPr lang="en-IN" sz="2400">
                    <a:solidFill>
                      <a:srgbClr val="111827"/>
                    </a:solidFill>
                    <a:latin typeface="Cambria Math" panose="02040503050406030204" pitchFamily="18" charset="0"/>
                  </a:rPr>
                  <a:t>$+,+,-,-$</a:t>
                </a:r>
                <a:r>
                  <a:rPr sz="2400" b="0">
                    <a:solidFill>
                      <a:srgbClr val="111827"/>
                    </a:solidFill>
                    <a:latin typeface="Arial"/>
                  </a:rPr>
                  <a:t> (the </a:t>
                </a:r>
                <a:r>
                  <a:rPr lang="en-IN" sz="2400">
                    <a:solidFill>
                      <a:srgbClr val="111827"/>
                    </a:solidFill>
                    <a:latin typeface="Cambria Math" panose="02040503050406030204" pitchFamily="18" charset="0"/>
                  </a:rPr>
                  <a:t>$t^2$</a:t>
                </a:r>
                <a:r>
                  <a:rPr sz="2400" b="0">
                    <a:solidFill>
                      <a:srgbClr val="111827"/>
                    </a:solidFill>
                    <a:latin typeface="Arial"/>
                  </a:rPr>
                  <a:t> term is absent): exactly one sign change.</a:t>
                </a:r>
                <a:endParaRPr sz="2400">
                  <a:solidFill>
                    <a:srgbClr val="111827"/>
                  </a:solidFill>
                </a:endParaRPr>
              </a:p>
            </p:txBody>
          </p:sp>
        </mc:Fallback>
      </mc:AlternateContent>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By Descartes' rule, </a:t>
                </a:r>
                <a14:m>
                  <m:oMath xmlns:m="http://schemas.openxmlformats.org/officeDocument/2006/math">
                    <m:r>
                      <a:rPr lang="en-IN" sz="2400" i="1">
                        <a:solidFill>
                          <a:srgbClr val="111827"/>
                        </a:solidFill>
                        <a:latin typeface="Cambria Math" panose="02040503050406030204" pitchFamily="18" charset="0"/>
                      </a:rPr>
                      <m:t>𝑝</m:t>
                    </m:r>
                  </m:oMath>
                </a14:m>
                <a:r>
                  <a:rPr sz="2400" b="0">
                    <a:solidFill>
                      <a:srgbClr val="111827"/>
                    </a:solidFill>
                    <a:latin typeface="Arial"/>
                  </a:rPr>
                  <a:t> has exactly one positive root (one sign change gives exactly one).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so the root lies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(it is about </a:t>
                </a:r>
                <a14:m>
                  <m:oMath xmlns:m="http://schemas.openxmlformats.org/officeDocument/2006/math">
                    <m:r>
                      <a:rPr lang="en-IN" sz="2400" i="1">
                        <a:solidFill>
                          <a:srgbClr val="111827"/>
                        </a:solidFill>
                        <a:latin typeface="Cambria Math" panose="02040503050406030204" pitchFamily="18" charset="0"/>
                      </a:rPr>
                      <m:t>1.30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exactly one real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𝑡</m:t>
                    </m:r>
                  </m:oMath>
                </a14:m>
                <a:r>
                  <a:rPr sz="2400" b="0">
                    <a:solidFill>
                      <a:srgbClr val="111827"/>
                    </a:solidFill>
                    <a:latin typeface="Arial"/>
                  </a:rPr>
                  <a:t>: option (D).</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By Descartes' rule, </a:t>
                </a:r>
                <a:r>
                  <a:rPr lang="en-IN" sz="2400">
                    <a:solidFill>
                      <a:srgbClr val="111827"/>
                    </a:solidFill>
                    <a:latin typeface="Cambria Math" panose="02040503050406030204" pitchFamily="18" charset="0"/>
                  </a:rPr>
                  <a:t>$p$</a:t>
                </a:r>
                <a:r>
                  <a:rPr sz="2400" b="0">
                    <a:solidFill>
                      <a:srgbClr val="111827"/>
                    </a:solidFill>
                    <a:latin typeface="Arial"/>
                  </a:rPr>
                  <a:t> has exactly one positive root (one sign change gives exactly one).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r>
                  <a:rPr lang="en-IN" sz="2400">
                    <a:solidFill>
                      <a:srgbClr val="111827"/>
                    </a:solidFill>
                    <a:latin typeface="Cambria Math" panose="02040503050406030204" pitchFamily="18" charset="0"/>
                  </a:rPr>
                  <a:t>$p(1)=-4&lt;0$</a:t>
                </a:r>
                <a:r>
                  <a:rPr sz="2400" b="0">
                    <a:solidFill>
                      <a:srgbClr val="111827"/>
                    </a:solidFill>
                    <a:latin typeface="Arial"/>
                  </a:rPr>
                  <a:t> and </a:t>
                </a:r>
                <a:r>
                  <a:rPr lang="en-IN" sz="2400">
                    <a:solidFill>
                      <a:srgbClr val="111827"/>
                    </a:solidFill>
                    <a:latin typeface="Cambria Math" panose="02040503050406030204" pitchFamily="18" charset="0"/>
                  </a:rPr>
                  <a:t>$p(2)=24&gt;0$</a:t>
                </a:r>
                <a:r>
                  <a:rPr sz="2400" b="0">
                    <a:solidFill>
                      <a:srgbClr val="111827"/>
                    </a:solidFill>
                    <a:latin typeface="Arial"/>
                  </a:rPr>
                  <a:t>, so the root lies in </a:t>
                </a:r>
                <a:r>
                  <a:rPr lang="en-IN" sz="2400">
                    <a:solidFill>
                      <a:srgbClr val="111827"/>
                    </a:solidFill>
                    <a:latin typeface="Cambria Math" panose="02040503050406030204" pitchFamily="18" charset="0"/>
                  </a:rPr>
                  <a:t>$(1,2)$</a:t>
                </a:r>
                <a:r>
                  <a:rPr sz="2400" b="0">
                    <a:solidFill>
                      <a:srgbClr val="111827"/>
                    </a:solidFill>
                    <a:latin typeface="Arial"/>
                  </a:rPr>
                  <a:t> (it is about </a:t>
                </a:r>
                <a:r>
                  <a:rPr lang="en-IN" sz="2400">
                    <a:solidFill>
                      <a:srgbClr val="111827"/>
                    </a:solidFill>
                    <a:latin typeface="Cambria Math" panose="02040503050406030204" pitchFamily="18" charset="0"/>
                  </a:rPr>
                  <a:t>$1.30$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exactly one real </a:t>
                </a:r>
                <a:r>
                  <a:rPr lang="en-IN" sz="2400">
                    <a:solidFill>
                      <a:srgbClr val="111827"/>
                    </a:solidFill>
                    <a:latin typeface="Cambria Math" panose="02040503050406030204" pitchFamily="18" charset="0"/>
                  </a:rPr>
                  <a:t>$x=\ln t$</a:t>
                </a:r>
                <a:r>
                  <a:rPr sz="2400" b="0">
                    <a:solidFill>
                      <a:srgbClr val="111827"/>
                    </a:solidFill>
                    <a:latin typeface="Arial"/>
                  </a:rPr>
                  <a:t>: option (D).</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a:t>
                </a:r>
                <a14:m>
                  <m:oMath xmlns:m="http://schemas.openxmlformats.org/officeDocument/2006/math">
                    <m:r>
                      <a:rPr lang="en-IN" sz="2800" i="1">
                        <a:solidFill>
                          <a:srgbClr val="15803D"/>
                        </a:solidFill>
                        <a:latin typeface="Cambria Math" panose="02040503050406030204" pitchFamily="18" charset="0"/>
                      </a:rPr>
                      <m:t>1</m:t>
                    </m:r>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a:t>
                </a:r>
                <a:r>
                  <a:rPr lang="en-IN" sz="2800">
                    <a:solidFill>
                      <a:srgbClr val="15803D"/>
                    </a:solidFill>
                    <a:latin typeface="Cambria Math" panose="02040503050406030204" pitchFamily="18" charset="0"/>
                  </a:rPr>
                  <a:t>$1$</a:t>
                </a:r>
                <a:endParaRPr sz="2800">
                  <a:solidFill>
                    <a:srgbClr val="15803D"/>
                  </a:solidFill>
                </a:endParaRPr>
              </a:p>
            </p:txBody>
          </p:sp>
        </mc:Fallback>
      </mc:AlternateContent>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Rearrange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that one side is increasing and the other decreasing: then there is at most one root.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num>
                      <m:den>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den>
                    </m:f>
                  </m:oMath>
                </a14:m>
                <a:r>
                  <a:rPr sz="2400" b="0">
                    <a:solidFill>
                      <a:srgbClr val="111827"/>
                    </a:solidFill>
                    <a:latin typeface="Arial"/>
                  </a:rPr>
                  <a:t> lies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polynomials in </a:t>
                </a:r>
                <a14:m>
                  <m:oMath xmlns:m="http://schemas.openxmlformats.org/officeDocument/2006/math">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oMath>
                </a14:m>
                <a:r>
                  <a:rPr sz="2400" b="0">
                    <a:solidFill>
                      <a:srgbClr val="111827"/>
                    </a:solidFill>
                    <a:latin typeface="Arial"/>
                  </a:rPr>
                  <a:t> often become tractable after dividing out the highest factor.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Descartes' rule: the number of positive roots equals the number of sign changes or is less by an even number; one sign change means exactly one positive root.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Substituting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oMath>
                </a14:m>
                <a:r>
                  <a:rPr sz="2400" b="0">
                    <a:solidFill>
                      <a:srgbClr val="111827"/>
                    </a:solidFill>
                    <a:latin typeface="Arial"/>
                  </a:rPr>
                  <a:t> turns exponential equations into polynomial ones, with the restriction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Rearrange </a:t>
                </a:r>
                <a:r>
                  <a:rPr lang="en-IN" sz="2400">
                    <a:solidFill>
                      <a:srgbClr val="111827"/>
                    </a:solidFill>
                    <a:latin typeface="Cambria Math" panose="02040503050406030204" pitchFamily="18" charset="0"/>
                  </a:rPr>
                  <a:t>$f(x)=g(x)$</a:t>
                </a:r>
                <a:r>
                  <a:rPr sz="2400" b="0">
                    <a:solidFill>
                      <a:srgbClr val="111827"/>
                    </a:solidFill>
                    <a:latin typeface="Arial"/>
                  </a:rPr>
                  <a:t> so that one side is increasing and the other decreasing: then there is at most one root.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$\frac{e^x+6}{e^x+2}=1+\frac{4}{e^x+2}$</a:t>
                </a:r>
                <a:r>
                  <a:rPr sz="2400" b="0">
                    <a:solidFill>
                      <a:srgbClr val="111827"/>
                    </a:solidFill>
                    <a:latin typeface="Arial"/>
                  </a:rPr>
                  <a:t> lies in </a:t>
                </a:r>
                <a:r>
                  <a:rPr lang="en-IN" sz="2400">
                    <a:solidFill>
                      <a:srgbClr val="111827"/>
                    </a:solidFill>
                    <a:latin typeface="Cambria Math" panose="02040503050406030204" pitchFamily="18" charset="0"/>
                  </a:rPr>
                  <a:t>$(1,3)$</a:t>
                </a:r>
                <a:r>
                  <a:rPr sz="2400" b="0">
                    <a:solidFill>
                      <a:srgbClr val="111827"/>
                    </a:solidFill>
                    <a:latin typeface="Arial"/>
                  </a:rPr>
                  <a:t>; polynomials in </a:t>
                </a:r>
                <a:r>
                  <a:rPr lang="en-IN" sz="2400">
                    <a:solidFill>
                      <a:srgbClr val="111827"/>
                    </a:solidFill>
                    <a:latin typeface="Cambria Math" panose="02040503050406030204" pitchFamily="18" charset="0"/>
                  </a:rPr>
                  <a:t>$e^x$</a:t>
                </a:r>
                <a:r>
                  <a:rPr sz="2400" b="0">
                    <a:solidFill>
                      <a:srgbClr val="111827"/>
                    </a:solidFill>
                    <a:latin typeface="Arial"/>
                  </a:rPr>
                  <a:t> often become tractable after dividing out the highest factor.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Descartes' rule: the number of positive roots equals the number of sign changes or is less by an even number; one sign change means exactly one positive root.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Substituting </a:t>
                </a:r>
                <a:r>
                  <a:rPr lang="en-IN" sz="2400">
                    <a:solidFill>
                      <a:srgbClr val="111827"/>
                    </a:solidFill>
                    <a:latin typeface="Cambria Math" panose="02040503050406030204" pitchFamily="18" charset="0"/>
                  </a:rPr>
                  <a:t>$t=e^x$</a:t>
                </a:r>
                <a:r>
                  <a:rPr sz="2400" b="0">
                    <a:solidFill>
                      <a:srgbClr val="111827"/>
                    </a:solidFill>
                    <a:latin typeface="Arial"/>
                  </a:rPr>
                  <a:t> turns exponential equations into polynomial ones, with the restriction </a:t>
                </a:r>
                <a:r>
                  <a:rPr lang="en-IN" sz="2400">
                    <a:solidFill>
                      <a:srgbClr val="111827"/>
                    </a:solidFill>
                    <a:latin typeface="Cambria Math" panose="02040503050406030204" pitchFamily="18" charset="0"/>
                  </a:rPr>
                  <a:t>$t&gt;0$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005836"/>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be any continuous function 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twice differentiable 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If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then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for some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(B)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for some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(C)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for all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(D)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for all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endParaRPr sz="2400">
                  <a:solidFill>
                    <a:srgbClr val="111827"/>
                  </a:solidFill>
                </a:endParaRPr>
              </a:p>
            </p:txBody>
          </p:sp>
        </mc:Choice>
        <mc:Fallback>
          <p:sp>
            <p:nvSpPr>
              <p:cNvPr id="4" name="Rounded Rectangle 3"/>
              <p:cNvSpPr/>
              <p:nvPr/>
            </p:nvSpPr>
            <p:spPr>
              <a:xfrm>
                <a:off x="731520" y="1280160"/>
                <a:ext cx="10725912" cy="3005836"/>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$f$</a:t>
                </a:r>
                <a:r>
                  <a:rPr sz="2400" b="0">
                    <a:solidFill>
                      <a:srgbClr val="111827"/>
                    </a:solidFill>
                    <a:latin typeface="Arial"/>
                  </a:rPr>
                  <a:t> be any continuous function on </a:t>
                </a:r>
                <a:r>
                  <a:rPr lang="en-IN" sz="2400">
                    <a:solidFill>
                      <a:srgbClr val="111827"/>
                    </a:solidFill>
                    <a:latin typeface="Cambria Math" panose="02040503050406030204" pitchFamily="18" charset="0"/>
                  </a:rPr>
                  <a:t>$[0,2]$</a:t>
                </a:r>
                <a:r>
                  <a:rPr sz="2400" b="0">
                    <a:solidFill>
                      <a:srgbClr val="111827"/>
                    </a:solidFill>
                    <a:latin typeface="Arial"/>
                  </a:rPr>
                  <a:t> and twice differentiable on </a:t>
                </a:r>
                <a:r>
                  <a:rPr lang="en-IN" sz="2400">
                    <a:solidFill>
                      <a:srgbClr val="111827"/>
                    </a:solidFill>
                    <a:latin typeface="Cambria Math" panose="02040503050406030204" pitchFamily="18" charset="0"/>
                  </a:rPr>
                  <a:t>$(0,2)$</a:t>
                </a:r>
                <a:r>
                  <a:rPr sz="2400" b="0">
                    <a:solidFill>
                      <a:srgbClr val="111827"/>
                    </a:solidFill>
                    <a:latin typeface="Arial"/>
                  </a:rPr>
                  <a:t>. If </a:t>
                </a:r>
                <a:r>
                  <a:rPr lang="en-IN" sz="2400">
                    <a:solidFill>
                      <a:srgbClr val="111827"/>
                    </a:solidFill>
                    <a:latin typeface="Cambria Math" panose="02040503050406030204" pitchFamily="18" charset="0"/>
                  </a:rPr>
                  <a:t>$f(0)=0$</a:t>
                </a:r>
                <a:r>
                  <a:rPr sz="2400" b="0">
                    <a:solidFill>
                      <a:srgbClr val="111827"/>
                    </a:solidFill>
                    <a:latin typeface="Arial"/>
                  </a:rPr>
                  <a:t>, </a:t>
                </a:r>
                <a:r>
                  <a:rPr lang="en-IN" sz="2400">
                    <a:solidFill>
                      <a:srgbClr val="111827"/>
                    </a:solidFill>
                    <a:latin typeface="Cambria Math" panose="02040503050406030204" pitchFamily="18" charset="0"/>
                  </a:rPr>
                  <a:t>$f(1)=1$</a:t>
                </a:r>
                <a:r>
                  <a:rPr sz="2400" b="0">
                    <a:solidFill>
                      <a:srgbClr val="111827"/>
                    </a:solidFill>
                    <a:latin typeface="Arial"/>
                  </a:rPr>
                  <a:t> and </a:t>
                </a:r>
                <a:r>
                  <a:rPr lang="en-IN" sz="2400">
                    <a:solidFill>
                      <a:srgbClr val="111827"/>
                    </a:solidFill>
                    <a:latin typeface="Cambria Math" panose="02040503050406030204" pitchFamily="18" charset="0"/>
                  </a:rPr>
                  <a:t>$f(2)=2$</a:t>
                </a:r>
                <a:r>
                  <a:rPr sz="2400" b="0">
                    <a:solidFill>
                      <a:srgbClr val="111827"/>
                    </a:solidFill>
                    <a:latin typeface="Arial"/>
                  </a:rPr>
                  <a:t>, then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$f'(x)=0$</a:t>
                </a:r>
                <a:r>
                  <a:rPr sz="2400" b="0">
                    <a:solidFill>
                      <a:srgbClr val="111827"/>
                    </a:solidFill>
                    <a:latin typeface="Arial"/>
                  </a:rPr>
                  <a:t> for some </a:t>
                </a:r>
                <a:r>
                  <a:rPr lang="en-IN" sz="2400">
                    <a:solidFill>
                      <a:srgbClr val="111827"/>
                    </a:solidFill>
                    <a:latin typeface="Cambria Math" panose="02040503050406030204" pitchFamily="18" charset="0"/>
                  </a:rPr>
                  <a:t>$x\in[0,2]$</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a:t>
                </a:r>
                <a:r>
                  <a:rPr lang="en-IN" sz="2400">
                    <a:solidFill>
                      <a:srgbClr val="111827"/>
                    </a:solidFill>
                    <a:latin typeface="Cambria Math" panose="02040503050406030204" pitchFamily="18" charset="0"/>
                  </a:rPr>
                  <a:t>$f''(x)=0$</a:t>
                </a:r>
                <a:r>
                  <a:rPr sz="2400" b="0">
                    <a:solidFill>
                      <a:srgbClr val="111827"/>
                    </a:solidFill>
                    <a:latin typeface="Arial"/>
                  </a:rPr>
                  <a:t> for some </a:t>
                </a:r>
                <a:r>
                  <a:rPr lang="en-IN" sz="2400">
                    <a:solidFill>
                      <a:srgbClr val="111827"/>
                    </a:solidFill>
                    <a:latin typeface="Cambria Math" panose="02040503050406030204" pitchFamily="18" charset="0"/>
                  </a:rPr>
                  <a:t>$x\in(0,2)$</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a:t>
                </a:r>
                <a:r>
                  <a:rPr lang="en-IN" sz="2400">
                    <a:solidFill>
                      <a:srgbClr val="111827"/>
                    </a:solidFill>
                    <a:latin typeface="Cambria Math" panose="02040503050406030204" pitchFamily="18" charset="0"/>
                  </a:rPr>
                  <a:t>$f''(x)=0$</a:t>
                </a:r>
                <a:r>
                  <a:rPr sz="2400" b="0">
                    <a:solidFill>
                      <a:srgbClr val="111827"/>
                    </a:solidFill>
                    <a:latin typeface="Arial"/>
                  </a:rPr>
                  <a:t> for all </a:t>
                </a:r>
                <a:r>
                  <a:rPr lang="en-IN" sz="2400">
                    <a:solidFill>
                      <a:srgbClr val="111827"/>
                    </a:solidFill>
                    <a:latin typeface="Cambria Math" panose="02040503050406030204" pitchFamily="18" charset="0"/>
                  </a:rPr>
                  <a:t>$x\in(0,2)$</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a:t>
                </a:r>
                <a:r>
                  <a:rPr lang="en-IN" sz="2400">
                    <a:solidFill>
                      <a:srgbClr val="111827"/>
                    </a:solidFill>
                    <a:latin typeface="Cambria Math" panose="02040503050406030204" pitchFamily="18" charset="0"/>
                  </a:rPr>
                  <a:t>$f''(x)&gt;0$</a:t>
                </a:r>
                <a:r>
                  <a:rPr sz="2400" b="0">
                    <a:solidFill>
                      <a:srgbClr val="111827"/>
                    </a:solidFill>
                    <a:latin typeface="Arial"/>
                  </a:rPr>
                  <a:t> for all </a:t>
                </a:r>
                <a:r>
                  <a:rPr lang="en-IN" sz="2400">
                    <a:solidFill>
                      <a:srgbClr val="111827"/>
                    </a:solidFill>
                    <a:latin typeface="Cambria Math" panose="02040503050406030204" pitchFamily="18" charset="0"/>
                  </a:rPr>
                  <a:t>$x\in(0,2)$</a:t>
                </a:r>
                <a:endParaRPr sz="2400">
                  <a:solidFill>
                    <a:srgbClr val="111827"/>
                  </a:solidFill>
                </a:endParaRPr>
              </a:p>
            </p:txBody>
          </p:sp>
        </mc:Fallback>
      </mc:AlternateContent>
      <p:sp>
        <p:nvSpPr>
          <p:cNvPr id="5" name="Rectangle 4"/>
          <p:cNvSpPr/>
          <p:nvPr/>
        </p:nvSpPr>
        <p:spPr>
          <a:xfrm>
            <a:off x="731520" y="4514596"/>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Rolle's theorem and its extension to the second derivative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Apply Rolle's theorem to </a:t>
                </a:r>
                <a14:m>
                  <m:oMath xmlns:m="http://schemas.openxmlformats.org/officeDocument/2006/math">
                    <m:r>
                      <a:rPr lang="en-IN" sz="2400" i="1">
                        <a:solidFill>
                          <a:srgbClr val="78350F"/>
                        </a:solidFill>
                        <a:latin typeface="Cambria Math" panose="02040503050406030204" pitchFamily="18" charset="0"/>
                      </a:rPr>
                      <m:t>𝑔</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𝑓</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oMath>
                </a14:m>
                <a:r>
                  <a:rPr sz="2400" b="0">
                    <a:solidFill>
                      <a:srgbClr val="78350F"/>
                    </a:solidFill>
                    <a:latin typeface="Arial"/>
                  </a:rPr>
                  <a:t>, which has three zeros, then again to </a:t>
                </a:r>
                <a14:m>
                  <m:oMath xmlns:m="http://schemas.openxmlformats.org/officeDocument/2006/math">
                    <m:sSup>
                      <m:e>
                        <m:r>
                          <a:rPr lang="en-IN" sz="2400" i="1">
                            <a:solidFill>
                              <a:srgbClr val="78350F"/>
                            </a:solidFill>
                            <a:latin typeface="Cambria Math" panose="02040503050406030204" pitchFamily="18" charset="0"/>
                          </a:rPr>
                          <m:t>𝑔</m:t>
                        </m:r>
                      </m:e>
                      <m:sup>
                        <m:r>
                          <m:rPr>
                            <m:sty m:val="p"/>
                          </m:rPr>
                          <a:rPr lang="en-IN" sz="2400">
                            <a:solidFill>
                              <a:srgbClr val="78350F"/>
                            </a:solidFill>
                            <a:latin typeface="Cambria Math" panose="02040503050406030204" pitchFamily="18" charset="0"/>
                          </a:rPr>
                          <m:t>′</m:t>
                        </m:r>
                      </m:sup>
                    </m:sSup>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Apply Rolle's theorem to </a:t>
                </a:r>
                <a:r>
                  <a:rPr lang="en-IN" sz="2400">
                    <a:solidFill>
                      <a:srgbClr val="78350F"/>
                    </a:solidFill>
                    <a:latin typeface="Cambria Math" panose="02040503050406030204" pitchFamily="18" charset="0"/>
                  </a:rPr>
                  <a:t>$g(x)=f(x)-x$</a:t>
                </a:r>
                <a:r>
                  <a:rPr sz="2400" b="0">
                    <a:solidFill>
                      <a:srgbClr val="78350F"/>
                    </a:solidFill>
                    <a:latin typeface="Arial"/>
                  </a:rPr>
                  <a:t>, which has three zeros, then again to </a:t>
                </a:r>
                <a:r>
                  <a:rPr lang="en-IN" sz="2400">
                    <a:solidFill>
                      <a:srgbClr val="78350F"/>
                    </a:solidFill>
                    <a:latin typeface="Cambria Math" panose="02040503050406030204" pitchFamily="18" charset="0"/>
                  </a:rPr>
                  <a:t>$g'$</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Define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 it is continuous 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twice differentiable 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𝑔</m:t>
                    </m:r>
                  </m:oMath>
                </a14:m>
                <a:r>
                  <a:rPr sz="2400" b="0">
                    <a:solidFill>
                      <a:srgbClr val="111827"/>
                    </a:solidFill>
                    <a:latin typeface="Arial"/>
                  </a:rPr>
                  <a:t> has three zeros.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Rolle 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gives </a:t>
                </a:r>
                <a14:m>
                  <m:oMath xmlns:m="http://schemas.openxmlformats.org/officeDocument/2006/math">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a:t>
                </a:r>
                <a14:m>
                  <m:oMath xmlns:m="http://schemas.openxmlformats.org/officeDocument/2006/math">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Rolle 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gives </a:t>
                </a:r>
                <a14:m>
                  <m:oMath xmlns:m="http://schemas.openxmlformats.org/officeDocument/2006/math">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a:t>
                </a:r>
                <a14:m>
                  <m:oMath xmlns:m="http://schemas.openxmlformats.org/officeDocument/2006/math">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has at least two roots.</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is differentiable on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Rolle on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a:t>
                </a:r>
                <a14:m>
                  <m:oMath xmlns:m="http://schemas.openxmlformats.org/officeDocument/2006/math">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Define </a:t>
                </a:r>
                <a:r>
                  <a:rPr lang="en-IN" sz="2400">
                    <a:solidFill>
                      <a:srgbClr val="111827"/>
                    </a:solidFill>
                    <a:latin typeface="Cambria Math" panose="02040503050406030204" pitchFamily="18" charset="0"/>
                  </a:rPr>
                  <a:t>$g(x)=f(x)-x$</a:t>
                </a:r>
                <a:r>
                  <a:rPr sz="2400" b="0">
                    <a:solidFill>
                      <a:srgbClr val="111827"/>
                    </a:solidFill>
                    <a:latin typeface="Arial"/>
                  </a:rPr>
                  <a:t>; it is continuous on </a:t>
                </a:r>
                <a:r>
                  <a:rPr lang="en-IN" sz="2400">
                    <a:solidFill>
                      <a:srgbClr val="111827"/>
                    </a:solidFill>
                    <a:latin typeface="Cambria Math" panose="02040503050406030204" pitchFamily="18" charset="0"/>
                  </a:rPr>
                  <a:t>$[0,2]$</a:t>
                </a:r>
                <a:r>
                  <a:rPr sz="2400" b="0">
                    <a:solidFill>
                      <a:srgbClr val="111827"/>
                    </a:solidFill>
                    <a:latin typeface="Arial"/>
                  </a:rPr>
                  <a:t> and twice differentiable on </a:t>
                </a:r>
                <a:r>
                  <a:rPr lang="en-IN" sz="2400">
                    <a:solidFill>
                      <a:srgbClr val="111827"/>
                    </a:solidFill>
                    <a:latin typeface="Cambria Math" panose="02040503050406030204" pitchFamily="18" charset="0"/>
                  </a:rPr>
                  <a:t>$(0,2)$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$g(0)=0$</a:t>
                </a:r>
                <a:r>
                  <a:rPr sz="2400" b="0">
                    <a:solidFill>
                      <a:srgbClr val="111827"/>
                    </a:solidFill>
                    <a:latin typeface="Arial"/>
                  </a:rPr>
                  <a:t>, </a:t>
                </a:r>
                <a:r>
                  <a:rPr lang="en-IN" sz="2400">
                    <a:solidFill>
                      <a:srgbClr val="111827"/>
                    </a:solidFill>
                    <a:latin typeface="Cambria Math" panose="02040503050406030204" pitchFamily="18" charset="0"/>
                  </a:rPr>
                  <a:t>$g(1)=0$</a:t>
                </a:r>
                <a:r>
                  <a:rPr sz="2400" b="0">
                    <a:solidFill>
                      <a:srgbClr val="111827"/>
                    </a:solidFill>
                    <a:latin typeface="Arial"/>
                  </a:rPr>
                  <a:t>, </a:t>
                </a:r>
                <a:r>
                  <a:rPr lang="en-IN" sz="2400">
                    <a:solidFill>
                      <a:srgbClr val="111827"/>
                    </a:solidFill>
                    <a:latin typeface="Cambria Math" panose="02040503050406030204" pitchFamily="18" charset="0"/>
                  </a:rPr>
                  <a:t>$g(2)=0$</a:t>
                </a:r>
                <a:r>
                  <a:rPr sz="2400" b="0">
                    <a:solidFill>
                      <a:srgbClr val="111827"/>
                    </a:solidFill>
                    <a:latin typeface="Arial"/>
                  </a:rPr>
                  <a:t>, so </a:t>
                </a:r>
                <a:r>
                  <a:rPr lang="en-IN" sz="2400">
                    <a:solidFill>
                      <a:srgbClr val="111827"/>
                    </a:solidFill>
                    <a:latin typeface="Cambria Math" panose="02040503050406030204" pitchFamily="18" charset="0"/>
                  </a:rPr>
                  <a:t>$g$</a:t>
                </a:r>
                <a:r>
                  <a:rPr sz="2400" b="0">
                    <a:solidFill>
                      <a:srgbClr val="111827"/>
                    </a:solidFill>
                    <a:latin typeface="Arial"/>
                  </a:rPr>
                  <a:t> has three zeros.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Rolle on </a:t>
                </a:r>
                <a:r>
                  <a:rPr lang="en-IN" sz="2400">
                    <a:solidFill>
                      <a:srgbClr val="111827"/>
                    </a:solidFill>
                    <a:latin typeface="Cambria Math" panose="02040503050406030204" pitchFamily="18" charset="0"/>
                  </a:rPr>
                  <a:t>$[0,1]$</a:t>
                </a:r>
                <a:r>
                  <a:rPr sz="2400" b="0">
                    <a:solidFill>
                      <a:srgbClr val="111827"/>
                    </a:solidFill>
                    <a:latin typeface="Arial"/>
                  </a:rPr>
                  <a:t> gives </a:t>
                </a:r>
                <a:r>
                  <a:rPr lang="en-IN" sz="2400">
                    <a:solidFill>
                      <a:srgbClr val="111827"/>
                    </a:solidFill>
                    <a:latin typeface="Cambria Math" panose="02040503050406030204" pitchFamily="18" charset="0"/>
                  </a:rPr>
                  <a:t>$c_1\in(0,1)$</a:t>
                </a:r>
                <a:r>
                  <a:rPr sz="2400" b="0">
                    <a:solidFill>
                      <a:srgbClr val="111827"/>
                    </a:solidFill>
                    <a:latin typeface="Arial"/>
                  </a:rPr>
                  <a:t> with </a:t>
                </a:r>
                <a:r>
                  <a:rPr lang="en-IN" sz="2400">
                    <a:solidFill>
                      <a:srgbClr val="111827"/>
                    </a:solidFill>
                    <a:latin typeface="Cambria Math" panose="02040503050406030204" pitchFamily="18" charset="0"/>
                  </a:rPr>
                  <a:t>$g'(c_1)=0$</a:t>
                </a:r>
                <a:r>
                  <a:rPr sz="2400" b="0">
                    <a:solidFill>
                      <a:srgbClr val="111827"/>
                    </a:solidFill>
                    <a:latin typeface="Arial"/>
                  </a:rPr>
                  <a:t>; Rolle on </a:t>
                </a:r>
                <a:r>
                  <a:rPr lang="en-IN" sz="2400">
                    <a:solidFill>
                      <a:srgbClr val="111827"/>
                    </a:solidFill>
                    <a:latin typeface="Cambria Math" panose="02040503050406030204" pitchFamily="18" charset="0"/>
                  </a:rPr>
                  <a:t>$[1,2]$</a:t>
                </a:r>
                <a:r>
                  <a:rPr sz="2400" b="0">
                    <a:solidFill>
                      <a:srgbClr val="111827"/>
                    </a:solidFill>
                    <a:latin typeface="Arial"/>
                  </a:rPr>
                  <a:t> gives </a:t>
                </a:r>
                <a:r>
                  <a:rPr lang="en-IN" sz="2400">
                    <a:solidFill>
                      <a:srgbClr val="111827"/>
                    </a:solidFill>
                    <a:latin typeface="Cambria Math" panose="02040503050406030204" pitchFamily="18" charset="0"/>
                  </a:rPr>
                  <a:t>$c_2\in(1,2)$</a:t>
                </a:r>
                <a:r>
                  <a:rPr sz="2400" b="0">
                    <a:solidFill>
                      <a:srgbClr val="111827"/>
                    </a:solidFill>
                    <a:latin typeface="Arial"/>
                  </a:rPr>
                  <a:t> with </a:t>
                </a:r>
                <a:r>
                  <a:rPr lang="en-IN" sz="2400">
                    <a:solidFill>
                      <a:srgbClr val="111827"/>
                    </a:solidFill>
                    <a:latin typeface="Cambria Math" panose="02040503050406030204" pitchFamily="18" charset="0"/>
                  </a:rPr>
                  <a:t>$g'(c_2)=0$</a:t>
                </a:r>
                <a:r>
                  <a:rPr sz="2400" b="0">
                    <a:solidFill>
                      <a:srgbClr val="111827"/>
                    </a:solidFill>
                    <a:latin typeface="Arial"/>
                  </a:rPr>
                  <a:t>. So </a:t>
                </a:r>
                <a:r>
                  <a:rPr lang="en-IN" sz="2400">
                    <a:solidFill>
                      <a:srgbClr val="111827"/>
                    </a:solidFill>
                    <a:latin typeface="Cambria Math" panose="02040503050406030204" pitchFamily="18" charset="0"/>
                  </a:rPr>
                  <a:t>$g'$</a:t>
                </a:r>
                <a:r>
                  <a:rPr sz="2400" b="0">
                    <a:solidFill>
                      <a:srgbClr val="111827"/>
                    </a:solidFill>
                    <a:latin typeface="Arial"/>
                  </a:rPr>
                  <a:t> has at least two roots.</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$g'$</a:t>
                </a:r>
                <a:r>
                  <a:rPr sz="2400" b="0">
                    <a:solidFill>
                      <a:srgbClr val="111827"/>
                    </a:solidFill>
                    <a:latin typeface="Arial"/>
                  </a:rPr>
                  <a:t> is differentiable on </a:t>
                </a:r>
                <a:r>
                  <a:rPr lang="en-IN" sz="2400">
                    <a:solidFill>
                      <a:srgbClr val="111827"/>
                    </a:solidFill>
                    <a:latin typeface="Cambria Math" panose="02040503050406030204" pitchFamily="18" charset="0"/>
                  </a:rPr>
                  <a:t>$(c_1,c_2)$</a:t>
                </a:r>
                <a:r>
                  <a:rPr sz="2400" b="0">
                    <a:solidFill>
                      <a:srgbClr val="111827"/>
                    </a:solidFill>
                    <a:latin typeface="Arial"/>
                  </a:rPr>
                  <a:t> and </a:t>
                </a:r>
                <a:r>
                  <a:rPr lang="en-IN" sz="2400">
                    <a:solidFill>
                      <a:srgbClr val="111827"/>
                    </a:solidFill>
                    <a:latin typeface="Cambria Math" panose="02040503050406030204" pitchFamily="18" charset="0"/>
                  </a:rPr>
                  <a:t>$g'(c_1)=g'(c_2)=0$</a:t>
                </a:r>
                <a:r>
                  <a:rPr sz="2400" b="0">
                    <a:solidFill>
                      <a:srgbClr val="111827"/>
                    </a:solidFill>
                    <a:latin typeface="Arial"/>
                  </a:rPr>
                  <a:t>; Rolle on </a:t>
                </a:r>
                <a:r>
                  <a:rPr lang="en-IN" sz="2400">
                    <a:solidFill>
                      <a:srgbClr val="111827"/>
                    </a:solidFill>
                    <a:latin typeface="Cambria Math" panose="02040503050406030204" pitchFamily="18" charset="0"/>
                  </a:rPr>
                  <a:t>$[c_1,c_2]$</a:t>
                </a:r>
                <a:r>
                  <a:rPr sz="2400" b="0">
                    <a:solidFill>
                      <a:srgbClr val="111827"/>
                    </a:solidFill>
                    <a:latin typeface="Arial"/>
                  </a:rPr>
                  <a:t> gives </a:t>
                </a:r>
                <a:r>
                  <a:rPr lang="en-IN" sz="2400">
                    <a:solidFill>
                      <a:srgbClr val="111827"/>
                    </a:solidFill>
                    <a:latin typeface="Cambria Math" panose="02040503050406030204" pitchFamily="18" charset="0"/>
                  </a:rPr>
                  <a:t>$c\in(c_1,c_2)\subset(0,2)$</a:t>
                </a:r>
                <a:r>
                  <a:rPr sz="2400" b="0">
                    <a:solidFill>
                      <a:srgbClr val="111827"/>
                    </a:solidFill>
                    <a:latin typeface="Arial"/>
                  </a:rPr>
                  <a:t> with </a:t>
                </a:r>
                <a:r>
                  <a:rPr lang="en-IN" sz="2400">
                    <a:solidFill>
                      <a:srgbClr val="111827"/>
                    </a:solidFill>
                    <a:latin typeface="Cambria Math" panose="02040503050406030204" pitchFamily="18" charset="0"/>
                  </a:rPr>
                  <a:t>$g''(c)=0$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Since </a:t>
                </a:r>
                <a14:m>
                  <m:oMath xmlns:m="http://schemas.openxmlformats.org/officeDocument/2006/math">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we get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for some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(B) is always true.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the others take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 then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everywhere, so (A) fails, and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(D) fails.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Take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π</m:t>
                    </m:r>
                    <m:r>
                      <a:rPr lang="en-IN" sz="2400" i="1">
                        <a:solidFill>
                          <a:srgbClr val="111827"/>
                        </a:solidFill>
                        <a:latin typeface="Cambria Math" panose="02040503050406030204" pitchFamily="18" charset="0"/>
                      </a:rPr>
                      <m:t>𝑥</m:t>
                    </m:r>
                  </m:oMath>
                </a14:m>
                <a:r>
                  <a:rPr sz="2400" b="0">
                    <a:solidFill>
                      <a:srgbClr val="111827"/>
                    </a:solidFill>
                    <a:latin typeface="Arial"/>
                  </a:rPr>
                  <a:t> (it satisfies all conditions):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π</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(C) fails. Hence (B).</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Since </a:t>
                </a:r>
                <a:r>
                  <a:rPr lang="en-IN" sz="2400">
                    <a:solidFill>
                      <a:srgbClr val="111827"/>
                    </a:solidFill>
                    <a:latin typeface="Cambria Math" panose="02040503050406030204" pitchFamily="18" charset="0"/>
                  </a:rPr>
                  <a:t>$g''(x)=f''(x)$</a:t>
                </a:r>
                <a:r>
                  <a:rPr sz="2400" b="0">
                    <a:solidFill>
                      <a:srgbClr val="111827"/>
                    </a:solidFill>
                    <a:latin typeface="Arial"/>
                  </a:rPr>
                  <a:t>, we get </a:t>
                </a:r>
                <a:r>
                  <a:rPr lang="en-IN" sz="2400">
                    <a:solidFill>
                      <a:srgbClr val="111827"/>
                    </a:solidFill>
                    <a:latin typeface="Cambria Math" panose="02040503050406030204" pitchFamily="18" charset="0"/>
                  </a:rPr>
                  <a:t>$f''(c)=0$</a:t>
                </a:r>
                <a:r>
                  <a:rPr sz="2400" b="0">
                    <a:solidFill>
                      <a:srgbClr val="111827"/>
                    </a:solidFill>
                    <a:latin typeface="Arial"/>
                  </a:rPr>
                  <a:t> for some </a:t>
                </a:r>
                <a:r>
                  <a:rPr lang="en-IN" sz="2400">
                    <a:solidFill>
                      <a:srgbClr val="111827"/>
                    </a:solidFill>
                    <a:latin typeface="Cambria Math" panose="02040503050406030204" pitchFamily="18" charset="0"/>
                  </a:rPr>
                  <a:t>$c\in(0,2)$</a:t>
                </a:r>
                <a:r>
                  <a:rPr sz="2400" b="0">
                    <a:solidFill>
                      <a:srgbClr val="111827"/>
                    </a:solidFill>
                    <a:latin typeface="Arial"/>
                  </a:rPr>
                  <a:t>: (B) is always true.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the others take </a:t>
                </a:r>
                <a:r>
                  <a:rPr lang="en-IN" sz="2400">
                    <a:solidFill>
                      <a:srgbClr val="111827"/>
                    </a:solidFill>
                    <a:latin typeface="Cambria Math" panose="02040503050406030204" pitchFamily="18" charset="0"/>
                  </a:rPr>
                  <a:t>$f(x)=x$</a:t>
                </a:r>
                <a:r>
                  <a:rPr sz="2400" b="0">
                    <a:solidFill>
                      <a:srgbClr val="111827"/>
                    </a:solidFill>
                    <a:latin typeface="Arial"/>
                  </a:rPr>
                  <a:t>: then </a:t>
                </a:r>
                <a:r>
                  <a:rPr lang="en-IN" sz="2400">
                    <a:solidFill>
                      <a:srgbClr val="111827"/>
                    </a:solidFill>
                    <a:latin typeface="Cambria Math" panose="02040503050406030204" pitchFamily="18" charset="0"/>
                  </a:rPr>
                  <a:t>$f'(x)=1\neq0$</a:t>
                </a:r>
                <a:r>
                  <a:rPr sz="2400" b="0">
                    <a:solidFill>
                      <a:srgbClr val="111827"/>
                    </a:solidFill>
                    <a:latin typeface="Arial"/>
                  </a:rPr>
                  <a:t> everywhere, so (A) fails, and </a:t>
                </a:r>
                <a:r>
                  <a:rPr lang="en-IN" sz="2400">
                    <a:solidFill>
                      <a:srgbClr val="111827"/>
                    </a:solidFill>
                    <a:latin typeface="Cambria Math" panose="02040503050406030204" pitchFamily="18" charset="0"/>
                  </a:rPr>
                  <a:t>$f''\equiv0$</a:t>
                </a:r>
                <a:r>
                  <a:rPr sz="2400" b="0">
                    <a:solidFill>
                      <a:srgbClr val="111827"/>
                    </a:solidFill>
                    <a:latin typeface="Arial"/>
                  </a:rPr>
                  <a:t>, so (D) fails.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Take </a:t>
                </a:r>
                <a:r>
                  <a:rPr lang="en-IN" sz="2400">
                    <a:solidFill>
                      <a:srgbClr val="111827"/>
                    </a:solidFill>
                    <a:latin typeface="Cambria Math" panose="02040503050406030204" pitchFamily="18" charset="0"/>
                  </a:rPr>
                  <a:t>$f(x)=x+\sin\pi x$</a:t>
                </a:r>
                <a:r>
                  <a:rPr sz="2400" b="0">
                    <a:solidFill>
                      <a:srgbClr val="111827"/>
                    </a:solidFill>
                    <a:latin typeface="Arial"/>
                  </a:rPr>
                  <a:t> (it satisfies all conditions): </a:t>
                </a:r>
                <a:r>
                  <a:rPr lang="en-IN" sz="2400">
                    <a:solidFill>
                      <a:srgbClr val="111827"/>
                    </a:solidFill>
                    <a:latin typeface="Cambria Math" panose="02040503050406030204" pitchFamily="18" charset="0"/>
                  </a:rPr>
                  <a:t>$f''(1/2)=-\pi^{2}\neq0$</a:t>
                </a:r>
                <a:r>
                  <a:rPr sz="2400" b="0">
                    <a:solidFill>
                      <a:srgbClr val="111827"/>
                    </a:solidFill>
                    <a:latin typeface="Arial"/>
                  </a:rPr>
                  <a:t>, so (C) fails. Hence (B).</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14:m>
                  <m:oMath xmlns:m="http://schemas.openxmlformats.org/officeDocument/2006/math">
                    <m:sSup>
                      <m:e>
                        <m:r>
                          <a:rPr lang="en-IN" sz="2800" i="1">
                            <a:solidFill>
                              <a:srgbClr val="15803D"/>
                            </a:solidFill>
                            <a:latin typeface="Cambria Math" panose="02040503050406030204" pitchFamily="18" charset="0"/>
                          </a:rPr>
                          <m:t>𝑓</m:t>
                        </m:r>
                      </m:e>
                      <m:sup>
                        <m:r>
                          <m:rPr>
                            <m:sty m:val="p"/>
                          </m:rPr>
                          <a:rPr lang="en-IN" sz="2800">
                            <a:solidFill>
                              <a:srgbClr val="15803D"/>
                            </a:solidFill>
                            <a:latin typeface="Cambria Math" panose="02040503050406030204" pitchFamily="18" charset="0"/>
                          </a:rPr>
                          <m:t>″</m:t>
                        </m:r>
                      </m:sup>
                    </m:sSup>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𝑥</m:t>
                    </m:r>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0</m:t>
                    </m:r>
                  </m:oMath>
                </a14:m>
                <a:r>
                  <a:rPr sz="2800" b="1">
                    <a:solidFill>
                      <a:srgbClr val="15803D"/>
                    </a:solidFill>
                    <a:latin typeface="Arial"/>
                  </a:rPr>
                  <a:t> for some </a:t>
                </a:r>
                <a14:m>
                  <m:oMath xmlns:m="http://schemas.openxmlformats.org/officeDocument/2006/math">
                    <m:r>
                      <a:rPr lang="en-IN" sz="2800" i="1">
                        <a:solidFill>
                          <a:srgbClr val="15803D"/>
                        </a:solidFill>
                        <a:latin typeface="Cambria Math" panose="02040503050406030204" pitchFamily="18" charset="0"/>
                      </a:rPr>
                      <m:t>𝑥</m:t>
                    </m:r>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0</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2</m:t>
                    </m:r>
                    <m:r>
                      <m:rPr>
                        <m:sty m:val="p"/>
                      </m:rPr>
                      <a:rPr lang="en-IN" sz="2800">
                        <a:solidFill>
                          <a:srgbClr val="15803D"/>
                        </a:solidFill>
                        <a:latin typeface="Cambria Math" panose="02040503050406030204" pitchFamily="18" charset="0"/>
                      </a:rPr>
                      <m:t>)</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r>
                  <a:rPr lang="en-IN" sz="2800">
                    <a:solidFill>
                      <a:srgbClr val="15803D"/>
                    </a:solidFill>
                    <a:latin typeface="Cambria Math" panose="02040503050406030204" pitchFamily="18" charset="0"/>
                  </a:rPr>
                  <a:t>$f''(x)=0$</a:t>
                </a:r>
                <a:r>
                  <a:rPr sz="2800" b="1">
                    <a:solidFill>
                      <a:srgbClr val="15803D"/>
                    </a:solidFill>
                    <a:latin typeface="Arial"/>
                  </a:rPr>
                  <a:t> for some </a:t>
                </a:r>
                <a:r>
                  <a:rPr lang="en-IN" sz="2800">
                    <a:solidFill>
                      <a:srgbClr val="15803D"/>
                    </a:solidFill>
                    <a:latin typeface="Cambria Math" panose="02040503050406030204" pitchFamily="18" charset="0"/>
                  </a:rPr>
                  <a:t>$x\in(0,2)$</a:t>
                </a:r>
                <a:endParaRPr sz="2800">
                  <a:solidFill>
                    <a:srgbClr val="15803D"/>
                  </a:solidFill>
                </a:endParaRPr>
              </a:p>
            </p:txBody>
          </p:sp>
        </mc:Fallback>
      </mc:AlternateContent>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Eliminate the options with explicit counter-examples instead of proving (B) in general.</a:t>
            </a:r>
            <a:endParaRPr sz="2400">
              <a:solidFill>
                <a:srgbClr val="78350F"/>
              </a:solidFill>
            </a:endParaRPr>
          </a:p>
        </p:txBody>
      </p:sp>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Check that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 satisfies all given conditions: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never vanishes, so (A) is not forced.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everywhere, so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fails: (D) is not forced.</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Check that </a:t>
                </a:r>
                <a:r>
                  <a:rPr lang="en-IN" sz="2400">
                    <a:solidFill>
                      <a:srgbClr val="111827"/>
                    </a:solidFill>
                    <a:latin typeface="Cambria Math" panose="02040503050406030204" pitchFamily="18" charset="0"/>
                  </a:rPr>
                  <a:t>$f(x)=x$</a:t>
                </a:r>
                <a:r>
                  <a:rPr sz="2400" b="0">
                    <a:solidFill>
                      <a:srgbClr val="111827"/>
                    </a:solidFill>
                    <a:latin typeface="Arial"/>
                  </a:rPr>
                  <a:t> satisfies all given conditions: </a:t>
                </a:r>
                <a:r>
                  <a:rPr lang="en-IN" sz="2400">
                    <a:solidFill>
                      <a:srgbClr val="111827"/>
                    </a:solidFill>
                    <a:latin typeface="Cambria Math" panose="02040503050406030204" pitchFamily="18" charset="0"/>
                  </a:rPr>
                  <a:t>$f(0)=0$</a:t>
                </a:r>
                <a:r>
                  <a:rPr sz="2400" b="0">
                    <a:solidFill>
                      <a:srgbClr val="111827"/>
                    </a:solidFill>
                    <a:latin typeface="Arial"/>
                  </a:rPr>
                  <a:t>, </a:t>
                </a:r>
                <a:r>
                  <a:rPr lang="en-IN" sz="2400">
                    <a:solidFill>
                      <a:srgbClr val="111827"/>
                    </a:solidFill>
                    <a:latin typeface="Cambria Math" panose="02040503050406030204" pitchFamily="18" charset="0"/>
                  </a:rPr>
                  <a:t>$f(1)=1$</a:t>
                </a:r>
                <a:r>
                  <a:rPr sz="2400" b="0">
                    <a:solidFill>
                      <a:srgbClr val="111827"/>
                    </a:solidFill>
                    <a:latin typeface="Arial"/>
                  </a:rPr>
                  <a:t>, </a:t>
                </a:r>
                <a:r>
                  <a:rPr lang="en-IN" sz="2400">
                    <a:solidFill>
                      <a:srgbClr val="111827"/>
                    </a:solidFill>
                    <a:latin typeface="Cambria Math" panose="02040503050406030204" pitchFamily="18" charset="0"/>
                  </a:rPr>
                  <a:t>$f(2)=2$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$f(x)=x$</a:t>
                </a:r>
                <a:r>
                  <a:rPr sz="2400" b="0">
                    <a:solidFill>
                      <a:srgbClr val="111827"/>
                    </a:solidFill>
                    <a:latin typeface="Arial"/>
                  </a:rPr>
                  <a:t>, </a:t>
                </a:r>
                <a:r>
                  <a:rPr lang="en-IN" sz="2400">
                    <a:solidFill>
                      <a:srgbClr val="111827"/>
                    </a:solidFill>
                    <a:latin typeface="Cambria Math" panose="02040503050406030204" pitchFamily="18" charset="0"/>
                  </a:rPr>
                  <a:t>$f'(x)=1$</a:t>
                </a:r>
                <a:r>
                  <a:rPr sz="2400" b="0">
                    <a:solidFill>
                      <a:srgbClr val="111827"/>
                    </a:solidFill>
                    <a:latin typeface="Arial"/>
                  </a:rPr>
                  <a:t> never vanishes, so (A) is not forced.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$f(x)=x$</a:t>
                </a:r>
                <a:r>
                  <a:rPr sz="2400" b="0">
                    <a:solidFill>
                      <a:srgbClr val="111827"/>
                    </a:solidFill>
                    <a:latin typeface="Arial"/>
                  </a:rPr>
                  <a:t>, </a:t>
                </a:r>
                <a:r>
                  <a:rPr lang="en-IN" sz="2400">
                    <a:solidFill>
                      <a:srgbClr val="111827"/>
                    </a:solidFill>
                    <a:latin typeface="Cambria Math" panose="02040503050406030204" pitchFamily="18" charset="0"/>
                  </a:rPr>
                  <a:t>$f''(x)=0$</a:t>
                </a:r>
                <a:r>
                  <a:rPr sz="2400" b="0">
                    <a:solidFill>
                      <a:srgbClr val="111827"/>
                    </a:solidFill>
                    <a:latin typeface="Arial"/>
                  </a:rPr>
                  <a:t> everywhere, so </a:t>
                </a:r>
                <a:r>
                  <a:rPr lang="en-IN" sz="2400">
                    <a:solidFill>
                      <a:srgbClr val="111827"/>
                    </a:solidFill>
                    <a:latin typeface="Cambria Math" panose="02040503050406030204" pitchFamily="18" charset="0"/>
                  </a:rPr>
                  <a:t>$f''&gt;0$</a:t>
                </a:r>
                <a:r>
                  <a:rPr sz="2400" b="0">
                    <a:solidFill>
                      <a:srgbClr val="111827"/>
                    </a:solidFill>
                    <a:latin typeface="Arial"/>
                  </a:rPr>
                  <a:t> fails: (D) is not forced.</a:t>
                </a:r>
                <a:endParaRPr sz="2400">
                  <a:solidFill>
                    <a:srgbClr val="111827"/>
                  </a:solidFill>
                </a:endParaRPr>
              </a:p>
            </p:txBody>
          </p:sp>
        </mc:Fallback>
      </mc:AlternateContent>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Take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π</m:t>
                    </m:r>
                    <m:r>
                      <a:rPr lang="en-IN" sz="2400" i="1">
                        <a:solidFill>
                          <a:srgbClr val="111827"/>
                        </a:solidFill>
                        <a:latin typeface="Cambria Math" panose="02040503050406030204" pitchFamily="18" charset="0"/>
                      </a:rPr>
                      <m:t>𝑥</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π</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π</m:t>
                    </m:r>
                    <m:r>
                      <a:rPr lang="en-IN" sz="2400" i="1">
                        <a:solidFill>
                          <a:srgbClr val="111827"/>
                        </a:solidFill>
                        <a:latin typeface="Cambria Math" panose="02040503050406030204" pitchFamily="18" charset="0"/>
                      </a:rPr>
                      <m:t>𝑥</m:t>
                    </m:r>
                  </m:oMath>
                </a14:m>
                <a:r>
                  <a:rPr sz="2400" b="0">
                    <a:solidFill>
                      <a:srgbClr val="111827"/>
                    </a:solidFill>
                    <a:latin typeface="Arial"/>
                  </a:rPr>
                  <a:t> is nonzero 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lin"/>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so (C) is not forced.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Only (B) is guaranteed for every admissible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(and we proved it by Rolle's theorem); (A), (C), (D) each have a counter-example. Hence (B).</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Take </a:t>
                </a:r>
                <a:r>
                  <a:rPr lang="en-IN" sz="2400">
                    <a:solidFill>
                      <a:srgbClr val="111827"/>
                    </a:solidFill>
                    <a:latin typeface="Cambria Math" panose="02040503050406030204" pitchFamily="18" charset="0"/>
                  </a:rPr>
                  <a:t>$f(x)=x+\sin\pi x$</a:t>
                </a:r>
                <a:r>
                  <a:rPr sz="2400" b="0">
                    <a:solidFill>
                      <a:srgbClr val="111827"/>
                    </a:solidFill>
                    <a:latin typeface="Arial"/>
                  </a:rPr>
                  <a:t>: </a:t>
                </a:r>
                <a:r>
                  <a:rPr lang="en-IN" sz="2400">
                    <a:solidFill>
                      <a:srgbClr val="111827"/>
                    </a:solidFill>
                    <a:latin typeface="Cambria Math" panose="02040503050406030204" pitchFamily="18" charset="0"/>
                  </a:rPr>
                  <a:t>$f(0)=0$</a:t>
                </a:r>
                <a:r>
                  <a:rPr sz="2400" b="0">
                    <a:solidFill>
                      <a:srgbClr val="111827"/>
                    </a:solidFill>
                    <a:latin typeface="Arial"/>
                  </a:rPr>
                  <a:t>, </a:t>
                </a:r>
                <a:r>
                  <a:rPr lang="en-IN" sz="2400">
                    <a:solidFill>
                      <a:srgbClr val="111827"/>
                    </a:solidFill>
                    <a:latin typeface="Cambria Math" panose="02040503050406030204" pitchFamily="18" charset="0"/>
                  </a:rPr>
                  <a:t>$f(1)=1$</a:t>
                </a:r>
                <a:r>
                  <a:rPr sz="2400" b="0">
                    <a:solidFill>
                      <a:srgbClr val="111827"/>
                    </a:solidFill>
                    <a:latin typeface="Arial"/>
                  </a:rPr>
                  <a:t>, </a:t>
                </a:r>
                <a:r>
                  <a:rPr lang="en-IN" sz="2400">
                    <a:solidFill>
                      <a:srgbClr val="111827"/>
                    </a:solidFill>
                    <a:latin typeface="Cambria Math" panose="02040503050406030204" pitchFamily="18" charset="0"/>
                  </a:rPr>
                  <a:t>$f(2)=2$</a:t>
                </a:r>
                <a:r>
                  <a:rPr sz="2400" b="0">
                    <a:solidFill>
                      <a:srgbClr val="111827"/>
                    </a:solidFill>
                    <a:latin typeface="Arial"/>
                  </a:rPr>
                  <a:t>; </a:t>
                </a:r>
                <a:r>
                  <a:rPr lang="en-IN" sz="2400">
                    <a:solidFill>
                      <a:srgbClr val="111827"/>
                    </a:solidFill>
                    <a:latin typeface="Cambria Math" panose="02040503050406030204" pitchFamily="18" charset="0"/>
                  </a:rPr>
                  <a:t>$f''(x)=-\pi^{2}\sin\pi x$</a:t>
                </a:r>
                <a:r>
                  <a:rPr sz="2400" b="0">
                    <a:solidFill>
                      <a:srgbClr val="111827"/>
                    </a:solidFill>
                    <a:latin typeface="Arial"/>
                  </a:rPr>
                  <a:t> is nonzero for </a:t>
                </a:r>
                <a:r>
                  <a:rPr lang="en-IN" sz="2400">
                    <a:solidFill>
                      <a:srgbClr val="111827"/>
                    </a:solidFill>
                    <a:latin typeface="Cambria Math" panose="02040503050406030204" pitchFamily="18" charset="0"/>
                  </a:rPr>
                  <a:t>$x=\tfrac12$</a:t>
                </a:r>
                <a:r>
                  <a:rPr sz="2400" b="0">
                    <a:solidFill>
                      <a:srgbClr val="111827"/>
                    </a:solidFill>
                    <a:latin typeface="Arial"/>
                  </a:rPr>
                  <a:t>, so (C) is not forced.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Only (B) is guaranteed for every admissible </a:t>
                </a:r>
                <a:r>
                  <a:rPr lang="en-IN" sz="2400">
                    <a:solidFill>
                      <a:srgbClr val="111827"/>
                    </a:solidFill>
                    <a:latin typeface="Cambria Math" panose="02040503050406030204" pitchFamily="18" charset="0"/>
                  </a:rPr>
                  <a:t>$f$</a:t>
                </a:r>
                <a:r>
                  <a:rPr sz="2400" b="0">
                    <a:solidFill>
                      <a:srgbClr val="111827"/>
                    </a:solidFill>
                    <a:latin typeface="Arial"/>
                  </a:rPr>
                  <a:t> (and we proved it by Rolle's theorem); (A), (C), (D) each have a counter-example. Hence (B).</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a:t>
                </a:r>
                <a14:m>
                  <m:oMath xmlns:m="http://schemas.openxmlformats.org/officeDocument/2006/math">
                    <m:sSup>
                      <m:e>
                        <m:r>
                          <a:rPr lang="en-IN" sz="2800" i="1">
                            <a:solidFill>
                              <a:srgbClr val="15803D"/>
                            </a:solidFill>
                            <a:latin typeface="Cambria Math" panose="02040503050406030204" pitchFamily="18" charset="0"/>
                          </a:rPr>
                          <m:t>𝑓</m:t>
                        </m:r>
                      </m:e>
                      <m:sup>
                        <m:r>
                          <m:rPr>
                            <m:sty m:val="p"/>
                          </m:rPr>
                          <a:rPr lang="en-IN" sz="2800">
                            <a:solidFill>
                              <a:srgbClr val="15803D"/>
                            </a:solidFill>
                            <a:latin typeface="Cambria Math" panose="02040503050406030204" pitchFamily="18" charset="0"/>
                          </a:rPr>
                          <m:t>″</m:t>
                        </m:r>
                      </m:sup>
                    </m:sSup>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𝑥</m:t>
                    </m:r>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0</m:t>
                    </m:r>
                  </m:oMath>
                </a14:m>
                <a:r>
                  <a:rPr sz="2800" b="1">
                    <a:solidFill>
                      <a:srgbClr val="15803D"/>
                    </a:solidFill>
                    <a:latin typeface="Arial"/>
                  </a:rPr>
                  <a:t> for some </a:t>
                </a:r>
                <a14:m>
                  <m:oMath xmlns:m="http://schemas.openxmlformats.org/officeDocument/2006/math">
                    <m:r>
                      <a:rPr lang="en-IN" sz="2800" i="1">
                        <a:solidFill>
                          <a:srgbClr val="15803D"/>
                        </a:solidFill>
                        <a:latin typeface="Cambria Math" panose="02040503050406030204" pitchFamily="18" charset="0"/>
                      </a:rPr>
                      <m:t>𝑥</m:t>
                    </m:r>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0</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2</m:t>
                    </m:r>
                    <m:r>
                      <m:rPr>
                        <m:sty m:val="p"/>
                      </m:rPr>
                      <a:rPr lang="en-IN" sz="2800">
                        <a:solidFill>
                          <a:srgbClr val="15803D"/>
                        </a:solidFill>
                        <a:latin typeface="Cambria Math" panose="02040503050406030204" pitchFamily="18" charset="0"/>
                      </a:rPr>
                      <m:t>)</m:t>
                    </m:r>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a:t>
                </a:r>
                <a:r>
                  <a:rPr lang="en-IN" sz="2800">
                    <a:solidFill>
                      <a:srgbClr val="15803D"/>
                    </a:solidFill>
                    <a:latin typeface="Cambria Math" panose="02040503050406030204" pitchFamily="18" charset="0"/>
                  </a:rPr>
                  <a:t>$f''(x)=0$</a:t>
                </a:r>
                <a:r>
                  <a:rPr sz="2800" b="1">
                    <a:solidFill>
                      <a:srgbClr val="15803D"/>
                    </a:solidFill>
                    <a:latin typeface="Arial"/>
                  </a:rPr>
                  <a:t> for some </a:t>
                </a:r>
                <a:r>
                  <a:rPr lang="en-IN" sz="2800">
                    <a:solidFill>
                      <a:srgbClr val="15803D"/>
                    </a:solidFill>
                    <a:latin typeface="Cambria Math" panose="02040503050406030204" pitchFamily="18" charset="0"/>
                  </a:rPr>
                  <a:t>$x\in(0,2)$</a:t>
                </a:r>
                <a:endParaRPr sz="2800">
                  <a:solidFill>
                    <a:srgbClr val="15803D"/>
                  </a:solidFill>
                </a:endParaRPr>
              </a:p>
            </p:txBody>
          </p:sp>
        </mc:Fallback>
      </mc:AlternateContent>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a:t>
                </a:r>
                <a14:m>
                  <m:oMath xmlns:m="http://schemas.openxmlformats.org/officeDocument/2006/math">
                    <m:r>
                      <a:rPr lang="en-IN" sz="2400" i="1">
                        <a:solidFill>
                          <a:srgbClr val="111827"/>
                        </a:solidFill>
                        <a:latin typeface="Cambria Math" panose="02040503050406030204" pitchFamily="18" charset="0"/>
                      </a:rPr>
                      <m:t>𝑔</m:t>
                    </m:r>
                  </m:oMath>
                </a14:m>
                <a:r>
                  <a:rPr sz="2400" b="0">
                    <a:solidFill>
                      <a:srgbClr val="111827"/>
                    </a:solidFill>
                    <a:latin typeface="Arial"/>
                  </a:rPr>
                  <a:t> has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distinct zeros in an interval, then </a:t>
                </a:r>
                <a14:m>
                  <m:oMath xmlns:m="http://schemas.openxmlformats.org/officeDocument/2006/math">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has at least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zeros there, </a:t>
                </a:r>
                <a14:m>
                  <m:oMath xmlns:m="http://schemas.openxmlformats.org/officeDocument/2006/math">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at least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and so on (repeated Rolle).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Three collinear points of a graph force a point where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 twice-differentiable curve cannot be strictly convex or strictly concave through three collinear points.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Subtracting the line through the data points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 here) is the standard way to create zeros for Rolle's theorem.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Rolle needs continuity on the closed interval and differentiability on the open interval.</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$g$</a:t>
                </a:r>
                <a:r>
                  <a:rPr sz="2400" b="0">
                    <a:solidFill>
                      <a:srgbClr val="111827"/>
                    </a:solidFill>
                    <a:latin typeface="Arial"/>
                  </a:rPr>
                  <a:t> has </a:t>
                </a:r>
                <a:r>
                  <a:rPr lang="en-IN" sz="2400">
                    <a:solidFill>
                      <a:srgbClr val="111827"/>
                    </a:solidFill>
                    <a:latin typeface="Cambria Math" panose="02040503050406030204" pitchFamily="18" charset="0"/>
                  </a:rPr>
                  <a:t>$n$</a:t>
                </a:r>
                <a:r>
                  <a:rPr sz="2400" b="0">
                    <a:solidFill>
                      <a:srgbClr val="111827"/>
                    </a:solidFill>
                    <a:latin typeface="Arial"/>
                  </a:rPr>
                  <a:t> distinct zeros in an interval, then </a:t>
                </a:r>
                <a:r>
                  <a:rPr lang="en-IN" sz="2400">
                    <a:solidFill>
                      <a:srgbClr val="111827"/>
                    </a:solidFill>
                    <a:latin typeface="Cambria Math" panose="02040503050406030204" pitchFamily="18" charset="0"/>
                  </a:rPr>
                  <a:t>$g'$</a:t>
                </a:r>
                <a:r>
                  <a:rPr sz="2400" b="0">
                    <a:solidFill>
                      <a:srgbClr val="111827"/>
                    </a:solidFill>
                    <a:latin typeface="Arial"/>
                  </a:rPr>
                  <a:t> has at least </a:t>
                </a:r>
                <a:r>
                  <a:rPr lang="en-IN" sz="2400">
                    <a:solidFill>
                      <a:srgbClr val="111827"/>
                    </a:solidFill>
                    <a:latin typeface="Cambria Math" panose="02040503050406030204" pitchFamily="18" charset="0"/>
                  </a:rPr>
                  <a:t>$n-1$</a:t>
                </a:r>
                <a:r>
                  <a:rPr sz="2400" b="0">
                    <a:solidFill>
                      <a:srgbClr val="111827"/>
                    </a:solidFill>
                    <a:latin typeface="Arial"/>
                  </a:rPr>
                  <a:t> zeros there, </a:t>
                </a:r>
                <a:r>
                  <a:rPr lang="en-IN" sz="2400">
                    <a:solidFill>
                      <a:srgbClr val="111827"/>
                    </a:solidFill>
                    <a:latin typeface="Cambria Math" panose="02040503050406030204" pitchFamily="18" charset="0"/>
                  </a:rPr>
                  <a:t>$g''$</a:t>
                </a:r>
                <a:r>
                  <a:rPr sz="2400" b="0">
                    <a:solidFill>
                      <a:srgbClr val="111827"/>
                    </a:solidFill>
                    <a:latin typeface="Arial"/>
                  </a:rPr>
                  <a:t> at least </a:t>
                </a:r>
                <a:r>
                  <a:rPr lang="en-IN" sz="2400">
                    <a:solidFill>
                      <a:srgbClr val="111827"/>
                    </a:solidFill>
                    <a:latin typeface="Cambria Math" panose="02040503050406030204" pitchFamily="18" charset="0"/>
                  </a:rPr>
                  <a:t>$n-2$</a:t>
                </a:r>
                <a:r>
                  <a:rPr sz="2400" b="0">
                    <a:solidFill>
                      <a:srgbClr val="111827"/>
                    </a:solidFill>
                    <a:latin typeface="Arial"/>
                  </a:rPr>
                  <a:t>, and so on (repeated Rolle).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Three collinear points of a graph force a point where </a:t>
                </a:r>
                <a:r>
                  <a:rPr lang="en-IN" sz="2400">
                    <a:solidFill>
                      <a:srgbClr val="111827"/>
                    </a:solidFill>
                    <a:latin typeface="Cambria Math" panose="02040503050406030204" pitchFamily="18" charset="0"/>
                  </a:rPr>
                  <a:t>$f''=0$</a:t>
                </a:r>
                <a:r>
                  <a:rPr sz="2400" b="0">
                    <a:solidFill>
                      <a:srgbClr val="111827"/>
                    </a:solidFill>
                    <a:latin typeface="Arial"/>
                  </a:rPr>
                  <a:t>: a twice-differentiable curve cannot be strictly convex or strictly concave through three collinear points.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Subtracting the line through the data points (</a:t>
                </a:r>
                <a:r>
                  <a:rPr lang="en-IN" sz="2400">
                    <a:solidFill>
                      <a:srgbClr val="111827"/>
                    </a:solidFill>
                    <a:latin typeface="Cambria Math" panose="02040503050406030204" pitchFamily="18" charset="0"/>
                  </a:rPr>
                  <a:t>$g=f-x$</a:t>
                </a:r>
                <a:r>
                  <a:rPr sz="2400" b="0">
                    <a:solidFill>
                      <a:srgbClr val="111827"/>
                    </a:solidFill>
                    <a:latin typeface="Arial"/>
                  </a:rPr>
                  <a:t> here) is the standard way to create zeros for Rolle's theorem.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Rolle needs continuity on the closed interval and differentiability on the open interval.</a:t>
                </a:r>
                <a:endParaRPr sz="2400">
                  <a:solidFill>
                    <a:srgbClr val="111827"/>
                  </a:solidFill>
                </a:endParaRPr>
              </a:p>
            </p:txBody>
          </p:sp>
        </mc:Fallback>
      </mc:AlternateContent>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505561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function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 is such that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Consider two statements.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(S1) there exist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&lt;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such that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(S2) there exist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&lt;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4</m:t>
                        </m:r>
                      </m:sub>
                    </m:sSub>
                  </m:oMath>
                </a14:m>
                <a:r>
                  <a:rPr sz="2400" b="0">
                    <a:solidFill>
                      <a:srgbClr val="111827"/>
                    </a:solidFill>
                    <a:latin typeface="Arial"/>
                  </a:rPr>
                  <a:t>, such that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is decreasing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increasing in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Then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both (S1) and (S2) are true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(S1) is true and (S2) is false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both (S1) and (S2) are false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(S1) is false and (S2) is true</a:t>
                </a:r>
                <a:endParaRPr sz="2400">
                  <a:solidFill>
                    <a:srgbClr val="111827"/>
                  </a:solidFill>
                </a:endParaRPr>
              </a:p>
            </p:txBody>
          </p:sp>
        </mc:Choice>
        <mc:Fallback>
          <p:sp>
            <p:nvSpPr>
              <p:cNvPr id="4" name="Rounded Rectangle 3"/>
              <p:cNvSpPr/>
              <p:nvPr/>
            </p:nvSpPr>
            <p:spPr>
              <a:xfrm>
                <a:off x="731520" y="1280160"/>
                <a:ext cx="10725912" cy="505561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function </a:t>
                </a:r>
                <a:r>
                  <a:rPr lang="en-IN" sz="2400">
                    <a:solidFill>
                      <a:srgbClr val="111827"/>
                    </a:solidFill>
                    <a:latin typeface="Cambria Math" panose="02040503050406030204" pitchFamily="18" charset="0"/>
                  </a:rPr>
                  <a:t>$f(x)=x^{3}-6x^{2}+ax+b$</a:t>
                </a:r>
                <a:r>
                  <a:rPr sz="2400" b="0">
                    <a:solidFill>
                      <a:srgbClr val="111827"/>
                    </a:solidFill>
                    <a:latin typeface="Arial"/>
                  </a:rPr>
                  <a:t> is such that </a:t>
                </a:r>
                <a:r>
                  <a:rPr lang="en-IN" sz="2400">
                    <a:solidFill>
                      <a:srgbClr val="111827"/>
                    </a:solidFill>
                    <a:latin typeface="Cambria Math" panose="02040503050406030204" pitchFamily="18" charset="0"/>
                  </a:rPr>
                  <a:t>$f(2)=f(4)=0$</a:t>
                </a:r>
                <a:r>
                  <a:rPr sz="2400" b="0">
                    <a:solidFill>
                      <a:srgbClr val="111827"/>
                    </a:solidFill>
                    <a:latin typeface="Arial"/>
                  </a:rPr>
                  <a:t>. Consider two statements.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(S1) there exist </a:t>
                </a:r>
                <a:r>
                  <a:rPr lang="en-IN" sz="2400">
                    <a:solidFill>
                      <a:srgbClr val="111827"/>
                    </a:solidFill>
                    <a:latin typeface="Cambria Math" panose="02040503050406030204" pitchFamily="18" charset="0"/>
                  </a:rPr>
                  <a:t>$x_1,x_2\in(2,4)$</a:t>
                </a:r>
                <a:r>
                  <a:rPr sz="2400" b="0">
                    <a:solidFill>
                      <a:srgbClr val="111827"/>
                    </a:solidFill>
                    <a:latin typeface="Arial"/>
                  </a:rPr>
                  <a:t>, </a:t>
                </a:r>
                <a:r>
                  <a:rPr lang="en-IN" sz="2400">
                    <a:solidFill>
                      <a:srgbClr val="111827"/>
                    </a:solidFill>
                    <a:latin typeface="Cambria Math" panose="02040503050406030204" pitchFamily="18" charset="0"/>
                  </a:rPr>
                  <a:t>$x_1&lt;x_2$</a:t>
                </a:r>
                <a:r>
                  <a:rPr sz="2400" b="0">
                    <a:solidFill>
                      <a:srgbClr val="111827"/>
                    </a:solidFill>
                    <a:latin typeface="Arial"/>
                  </a:rPr>
                  <a:t>, such that </a:t>
                </a:r>
                <a:r>
                  <a:rPr lang="en-IN" sz="2400">
                    <a:solidFill>
                      <a:srgbClr val="111827"/>
                    </a:solidFill>
                    <a:latin typeface="Cambria Math" panose="02040503050406030204" pitchFamily="18" charset="0"/>
                  </a:rPr>
                  <a:t>$f'(x_1)=-1$</a:t>
                </a:r>
                <a:r>
                  <a:rPr sz="2400" b="0">
                    <a:solidFill>
                      <a:srgbClr val="111827"/>
                    </a:solidFill>
                    <a:latin typeface="Arial"/>
                  </a:rPr>
                  <a:t> and </a:t>
                </a:r>
                <a:r>
                  <a:rPr lang="en-IN" sz="2400">
                    <a:solidFill>
                      <a:srgbClr val="111827"/>
                    </a:solidFill>
                    <a:latin typeface="Cambria Math" panose="02040503050406030204" pitchFamily="18" charset="0"/>
                  </a:rPr>
                  <a:t>$f'(x_2)=0$</a:t>
                </a:r>
                <a:r>
                  <a:rPr sz="2400" b="0">
                    <a:solidFill>
                      <a:srgbClr val="111827"/>
                    </a:solidFill>
                    <a:latin typeface="Arial"/>
                  </a:rPr>
                  <a: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(S2) there exist </a:t>
                </a:r>
                <a:r>
                  <a:rPr lang="en-IN" sz="2400">
                    <a:solidFill>
                      <a:srgbClr val="111827"/>
                    </a:solidFill>
                    <a:latin typeface="Cambria Math" panose="02040503050406030204" pitchFamily="18" charset="0"/>
                  </a:rPr>
                  <a:t>$x_3,x_4\in(2,4)$</a:t>
                </a:r>
                <a:r>
                  <a:rPr sz="2400" b="0">
                    <a:solidFill>
                      <a:srgbClr val="111827"/>
                    </a:solidFill>
                    <a:latin typeface="Arial"/>
                  </a:rPr>
                  <a:t>, </a:t>
                </a:r>
                <a:r>
                  <a:rPr lang="en-IN" sz="2400">
                    <a:solidFill>
                      <a:srgbClr val="111827"/>
                    </a:solidFill>
                    <a:latin typeface="Cambria Math" panose="02040503050406030204" pitchFamily="18" charset="0"/>
                  </a:rPr>
                  <a:t>$x_3&lt;x_4$</a:t>
                </a:r>
                <a:r>
                  <a:rPr sz="2400" b="0">
                    <a:solidFill>
                      <a:srgbClr val="111827"/>
                    </a:solidFill>
                    <a:latin typeface="Arial"/>
                  </a:rPr>
                  <a:t>, such that </a:t>
                </a:r>
                <a:r>
                  <a:rPr lang="en-IN" sz="2400">
                    <a:solidFill>
                      <a:srgbClr val="111827"/>
                    </a:solidFill>
                    <a:latin typeface="Cambria Math" panose="02040503050406030204" pitchFamily="18" charset="0"/>
                  </a:rPr>
                  <a:t>$f$</a:t>
                </a:r>
                <a:r>
                  <a:rPr sz="2400" b="0">
                    <a:solidFill>
                      <a:srgbClr val="111827"/>
                    </a:solidFill>
                    <a:latin typeface="Arial"/>
                  </a:rPr>
                  <a:t> is decreasing in </a:t>
                </a:r>
                <a:r>
                  <a:rPr lang="en-IN" sz="2400">
                    <a:solidFill>
                      <a:srgbClr val="111827"/>
                    </a:solidFill>
                    <a:latin typeface="Cambria Math" panose="02040503050406030204" pitchFamily="18" charset="0"/>
                  </a:rPr>
                  <a:t>$(2,x_4)$</a:t>
                </a:r>
                <a:r>
                  <a:rPr sz="2400" b="0">
                    <a:solidFill>
                      <a:srgbClr val="111827"/>
                    </a:solidFill>
                    <a:latin typeface="Arial"/>
                  </a:rPr>
                  <a:t>, increasing in </a:t>
                </a:r>
                <a:r>
                  <a:rPr lang="en-IN" sz="2400">
                    <a:solidFill>
                      <a:srgbClr val="111827"/>
                    </a:solidFill>
                    <a:latin typeface="Cambria Math" panose="02040503050406030204" pitchFamily="18" charset="0"/>
                  </a:rPr>
                  <a:t>$(x_4,4)$</a:t>
                </a:r>
                <a:r>
                  <a:rPr sz="2400" b="0">
                    <a:solidFill>
                      <a:srgbClr val="111827"/>
                    </a:solidFill>
                    <a:latin typeface="Arial"/>
                  </a:rPr>
                  <a:t> and </a:t>
                </a:r>
                <a:r>
                  <a:rPr lang="en-IN" sz="2400">
                    <a:solidFill>
                      <a:srgbClr val="111827"/>
                    </a:solidFill>
                    <a:latin typeface="Cambria Math" panose="02040503050406030204" pitchFamily="18" charset="0"/>
                  </a:rPr>
                  <a:t>$2f'(x_3)=\sqrt{3}\,f(x_4)$</a:t>
                </a:r>
                <a:r>
                  <a:rPr sz="2400" b="0">
                    <a:solidFill>
                      <a:srgbClr val="111827"/>
                    </a:solidFill>
                    <a:latin typeface="Arial"/>
                  </a:rPr>
                  <a: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Then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both (S1) and (S2) are true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(S1) is true and (S2) is false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both (S1) and (S2) are false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(S1) is false and (S2) is true</a:t>
                </a:r>
                <a:endParaRPr sz="2400">
                  <a:solidFill>
                    <a:srgbClr val="111827"/>
                  </a:solidFill>
                </a:endParaRPr>
              </a:p>
            </p:txBody>
          </p:sp>
        </mc:Fallback>
      </mc:AlternateContent>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ectangle 3"/>
          <p:cNvSpPr/>
          <p:nvPr/>
        </p:nvSpPr>
        <p:spPr>
          <a:xfrm>
            <a:off x="731520" y="128016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Local extrema and monotonicity of a cubic polynomial</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3438144"/>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r>
                      <a:rPr lang="en-IN" sz="2400" i="1">
                        <a:solidFill>
                          <a:srgbClr val="78350F"/>
                        </a:solidFill>
                        <a:latin typeface="Cambria Math" panose="02040503050406030204" pitchFamily="18" charset="0"/>
                      </a:rPr>
                      <m:t>𝑓</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4</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and the only turning point inside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4</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is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2</m:t>
                        </m:r>
                      </m:num>
                      <m:den>
                        <m:rad>
                          <m:radPr>
                            <m:degHide m:val="on"/>
                            <m:ctrlPr>
                              <a:rPr lang="en-IN" sz="2400" i="1">
                                <a:solidFill>
                                  <a:srgbClr val="78350F"/>
                                </a:solidFill>
                                <a:latin typeface="Cambria Math" panose="02040503050406030204" pitchFamily="18" charset="0"/>
                              </a:rPr>
                            </m:ctrlPr>
                          </m:radPr>
                          <m:deg/>
                          <m:e>
                            <m:r>
                              <a:rPr lang="en-IN" sz="2400" i="1">
                                <a:solidFill>
                                  <a:srgbClr val="78350F"/>
                                </a:solidFill>
                                <a:latin typeface="Cambria Math" panose="02040503050406030204" pitchFamily="18" charset="0"/>
                              </a:rPr>
                              <m:t>3</m:t>
                            </m:r>
                          </m:e>
                        </m:rad>
                      </m:den>
                    </m:f>
                  </m:oMath>
                </a14:m>
                <a:r>
                  <a:rPr sz="2400" b="0">
                    <a:solidFill>
                      <a:srgbClr val="78350F"/>
                    </a:solidFill>
                    <a:latin typeface="Arial"/>
                  </a:rPr>
                  <a:t>, which forces </a:t>
                </a:r>
                <a14:m>
                  <m:oMath xmlns:m="http://schemas.openxmlformats.org/officeDocument/2006/math">
                    <m:sSub>
                      <m:e>
                        <m:r>
                          <a:rPr lang="en-IN" sz="2400" i="1">
                            <a:solidFill>
                              <a:srgbClr val="78350F"/>
                            </a:solidFill>
                            <a:latin typeface="Cambria Math" panose="02040503050406030204" pitchFamily="18" charset="0"/>
                          </a:rPr>
                          <m:t>𝑥</m:t>
                        </m:r>
                      </m:e>
                      <m:sub>
                        <m:r>
                          <a:rPr lang="en-IN" sz="2400" i="1">
                            <a:solidFill>
                              <a:srgbClr val="78350F"/>
                            </a:solidFill>
                            <a:latin typeface="Cambria Math" panose="02040503050406030204" pitchFamily="18" charset="0"/>
                          </a:rPr>
                          <m:t>4</m:t>
                        </m:r>
                      </m:sub>
                    </m:sSub>
                  </m:oMath>
                </a14:m>
                <a:r>
                  <a:rPr sz="2400" b="0">
                    <a:solidFill>
                      <a:srgbClr val="78350F"/>
                    </a:solidFill>
                    <a:latin typeface="Arial"/>
                  </a:rPr>
                  <a:t> and </a:t>
                </a:r>
                <a14:m>
                  <m:oMath xmlns:m="http://schemas.openxmlformats.org/officeDocument/2006/math">
                    <m:sSub>
                      <m:e>
                        <m:r>
                          <a:rPr lang="en-IN" sz="2400" i="1">
                            <a:solidFill>
                              <a:srgbClr val="78350F"/>
                            </a:solidFill>
                            <a:latin typeface="Cambria Math" panose="02040503050406030204" pitchFamily="18" charset="0"/>
                          </a:rPr>
                          <m:t>𝑥</m:t>
                        </m:r>
                      </m:e>
                      <m:sub>
                        <m:r>
                          <a:rPr lang="en-IN" sz="2400" i="1">
                            <a:solidFill>
                              <a:srgbClr val="78350F"/>
                            </a:solidFill>
                            <a:latin typeface="Cambria Math" panose="02040503050406030204" pitchFamily="18" charset="0"/>
                          </a:rPr>
                          <m:t>2</m:t>
                        </m:r>
                      </m:sub>
                    </m:sSub>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3438144"/>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$f(x)=x(x-2)(x-4)$</a:t>
                </a:r>
                <a:r>
                  <a:rPr sz="2400" b="0">
                    <a:solidFill>
                      <a:srgbClr val="78350F"/>
                    </a:solidFill>
                    <a:latin typeface="Arial"/>
                  </a:rPr>
                  <a:t>, and the only turning point inside </a:t>
                </a:r>
                <a:r>
                  <a:rPr lang="en-IN" sz="2400">
                    <a:solidFill>
                      <a:srgbClr val="78350F"/>
                    </a:solidFill>
                    <a:latin typeface="Cambria Math" panose="02040503050406030204" pitchFamily="18" charset="0"/>
                  </a:rPr>
                  <a:t>$(2,4)$</a:t>
                </a:r>
                <a:r>
                  <a:rPr sz="2400" b="0">
                    <a:solidFill>
                      <a:srgbClr val="78350F"/>
                    </a:solidFill>
                    <a:latin typeface="Arial"/>
                  </a:rPr>
                  <a:t> is </a:t>
                </a:r>
                <a:r>
                  <a:rPr lang="en-IN" sz="2400">
                    <a:solidFill>
                      <a:srgbClr val="78350F"/>
                    </a:solidFill>
                    <a:latin typeface="Cambria Math" panose="02040503050406030204" pitchFamily="18" charset="0"/>
                  </a:rPr>
                  <a:t>$x=2+\frac{2}{\sqrt3}$</a:t>
                </a:r>
                <a:r>
                  <a:rPr sz="2400" b="0">
                    <a:solidFill>
                      <a:srgbClr val="78350F"/>
                    </a:solidFill>
                    <a:latin typeface="Arial"/>
                  </a:rPr>
                  <a:t>, which forces </a:t>
                </a:r>
                <a:r>
                  <a:rPr lang="en-IN" sz="2400">
                    <a:solidFill>
                      <a:srgbClr val="78350F"/>
                    </a:solidFill>
                    <a:latin typeface="Cambria Math" panose="02040503050406030204" pitchFamily="18" charset="0"/>
                  </a:rPr>
                  <a:t>$x_4$</a:t>
                </a:r>
                <a:r>
                  <a:rPr sz="2400" b="0">
                    <a:solidFill>
                      <a:srgbClr val="78350F"/>
                    </a:solidFill>
                    <a:latin typeface="Arial"/>
                  </a:rPr>
                  <a:t> and </a:t>
                </a:r>
                <a:r>
                  <a:rPr lang="en-IN" sz="2400">
                    <a:solidFill>
                      <a:srgbClr val="78350F"/>
                    </a:solidFill>
                    <a:latin typeface="Cambria Math" panose="02040503050406030204" pitchFamily="18" charset="0"/>
                  </a:rPr>
                  <a:t>$x_2$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4794504"/>
                <a:ext cx="10725912" cy="1880615"/>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oMath>
                </a14:m>
                <a:r>
                  <a:rPr sz="2400" b="0">
                    <a:solidFill>
                      <a:srgbClr val="111827"/>
                    </a:solidFill>
                    <a:latin typeface="Arial"/>
                  </a:rPr>
                  <a:t> ...(I).</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64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32</m:t>
                    </m:r>
                  </m:oMath>
                </a14:m>
                <a:r>
                  <a:rPr sz="2400" b="0">
                    <a:solidFill>
                      <a:srgbClr val="111827"/>
                    </a:solidFill>
                    <a:latin typeface="Arial"/>
                  </a:rPr>
                  <a:t> ...(II).</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(II)</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(I):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4794504"/>
                <a:ext cx="10725912" cy="1880615"/>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$f(2)=0$</a:t>
                </a:r>
                <a:r>
                  <a:rPr sz="2400" b="0">
                    <a:solidFill>
                      <a:srgbClr val="111827"/>
                    </a:solidFill>
                    <a:latin typeface="Arial"/>
                  </a:rPr>
                  <a:t>: </a:t>
                </a:r>
                <a:r>
                  <a:rPr lang="en-IN" sz="2400">
                    <a:solidFill>
                      <a:srgbClr val="111827"/>
                    </a:solidFill>
                    <a:latin typeface="Cambria Math" panose="02040503050406030204" pitchFamily="18" charset="0"/>
                  </a:rPr>
                  <a:t>$8-24+2a+b=0$</a:t>
                </a:r>
                <a:r>
                  <a:rPr sz="2400" b="0">
                    <a:solidFill>
                      <a:srgbClr val="111827"/>
                    </a:solidFill>
                    <a:latin typeface="Arial"/>
                  </a:rPr>
                  <a:t>, so </a:t>
                </a:r>
                <a:r>
                  <a:rPr lang="en-IN" sz="2400">
                    <a:solidFill>
                      <a:srgbClr val="111827"/>
                    </a:solidFill>
                    <a:latin typeface="Cambria Math" panose="02040503050406030204" pitchFamily="18" charset="0"/>
                  </a:rPr>
                  <a:t>$2a+b=16$</a:t>
                </a:r>
                <a:r>
                  <a:rPr sz="2400" b="0">
                    <a:solidFill>
                      <a:srgbClr val="111827"/>
                    </a:solidFill>
                    <a:latin typeface="Arial"/>
                  </a:rPr>
                  <a:t> ...(I).</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$f(4)=0$</a:t>
                </a:r>
                <a:r>
                  <a:rPr sz="2400" b="0">
                    <a:solidFill>
                      <a:srgbClr val="111827"/>
                    </a:solidFill>
                    <a:latin typeface="Arial"/>
                  </a:rPr>
                  <a:t>: </a:t>
                </a:r>
                <a:r>
                  <a:rPr lang="en-IN" sz="2400">
                    <a:solidFill>
                      <a:srgbClr val="111827"/>
                    </a:solidFill>
                    <a:latin typeface="Cambria Math" panose="02040503050406030204" pitchFamily="18" charset="0"/>
                  </a:rPr>
                  <a:t>$64-96+4a+b=0$</a:t>
                </a:r>
                <a:r>
                  <a:rPr sz="2400" b="0">
                    <a:solidFill>
                      <a:srgbClr val="111827"/>
                    </a:solidFill>
                    <a:latin typeface="Arial"/>
                  </a:rPr>
                  <a:t>, so </a:t>
                </a:r>
                <a:r>
                  <a:rPr lang="en-IN" sz="2400">
                    <a:solidFill>
                      <a:srgbClr val="111827"/>
                    </a:solidFill>
                    <a:latin typeface="Cambria Math" panose="02040503050406030204" pitchFamily="18" charset="0"/>
                  </a:rPr>
                  <a:t>$4a+b=32$</a:t>
                </a:r>
                <a:r>
                  <a:rPr sz="2400" b="0">
                    <a:solidFill>
                      <a:srgbClr val="111827"/>
                    </a:solidFill>
                    <a:latin typeface="Arial"/>
                  </a:rPr>
                  <a:t> ...(II).</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(II)</a:t>
                </a:r>
                <a:r>
                  <a:rPr lang="en-IN" sz="2400">
                    <a:solidFill>
                      <a:srgbClr val="111827"/>
                    </a:solidFill>
                    <a:latin typeface="Cambria Math" panose="02040503050406030204" pitchFamily="18" charset="0"/>
                  </a:rPr>
                  <a:t>$-$</a:t>
                </a:r>
                <a:r>
                  <a:rPr sz="2400" b="0">
                    <a:solidFill>
                      <a:srgbClr val="111827"/>
                    </a:solidFill>
                    <a:latin typeface="Arial"/>
                  </a:rPr>
                  <a:t>(I): </a:t>
                </a:r>
                <a:r>
                  <a:rPr lang="en-IN" sz="2400">
                    <a:solidFill>
                      <a:srgbClr val="111827"/>
                    </a:solidFill>
                    <a:latin typeface="Cambria Math" panose="02040503050406030204" pitchFamily="18" charset="0"/>
                  </a:rPr>
                  <a:t>$a=8$</a:t>
                </a:r>
                <a:r>
                  <a:rPr sz="2400" b="0">
                    <a:solidFill>
                      <a:srgbClr val="111827"/>
                    </a:solidFill>
                    <a:latin typeface="Arial"/>
                  </a:rPr>
                  <a:t>, </a:t>
                </a:r>
                <a:r>
                  <a:rPr lang="en-IN" sz="2400">
                    <a:solidFill>
                      <a:srgbClr val="111827"/>
                    </a:solidFill>
                    <a:latin typeface="Cambria Math" panose="02040503050406030204" pitchFamily="18" charset="0"/>
                  </a:rPr>
                  <a:t>$b=0$</a:t>
                </a:r>
                <a:r>
                  <a:rPr sz="2400" b="0">
                    <a:solidFill>
                      <a:srgbClr val="111827"/>
                    </a:solidFill>
                    <a:latin typeface="Arial"/>
                  </a:rPr>
                  <a:t>, so </a:t>
                </a:r>
                <a:r>
                  <a:rPr lang="en-IN" sz="2400">
                    <a:solidFill>
                      <a:srgbClr val="111827"/>
                    </a:solidFill>
                    <a:latin typeface="Cambria Math" panose="02040503050406030204" pitchFamily="18" charset="0"/>
                  </a:rPr>
                  <a:t>$f(x)=x^{3}-6x^{2}+8x=x(x-2)(x-4)$</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oMath>
                </a14:m>
                <a:r>
                  <a:rPr sz="2400" b="0">
                    <a:solidFill>
                      <a:srgbClr val="111827"/>
                    </a:solidFill>
                    <a:latin typeface="Arial"/>
                  </a:rPr>
                  <a:t>.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only </a:t>
                </a:r>
                <a14:m>
                  <m:oMath xmlns:m="http://schemas.openxmlformats.org/officeDocument/2006/math">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3.15</m:t>
                    </m:r>
                  </m:oMath>
                </a14:m>
                <a:r>
                  <a:rPr sz="2400" b="0">
                    <a:solidFill>
                      <a:srgbClr val="111827"/>
                    </a:solidFill>
                    <a:latin typeface="Arial"/>
                  </a:rPr>
                  <a:t> lies.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S1: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3</m:t>
                    </m:r>
                    <m:sSubSup>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i.e.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Take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then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&lt;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So S1 is true.</a:t>
                </a:r>
                <a:endParaRPr sz="2400">
                  <a:solidFill>
                    <a:srgbClr val="111827"/>
                  </a:solidFill>
                </a:endParaRPr>
              </a:p>
            </p:txBody>
          </p:sp>
        </mc:Choice>
        <mc:Fallback>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$f'(x)=3x^{2}-12x+8$</a:t>
                </a:r>
                <a:r>
                  <a:rPr sz="2400" b="0">
                    <a:solidFill>
                      <a:srgbClr val="111827"/>
                    </a:solidFill>
                    <a:latin typeface="Arial"/>
                  </a:rPr>
                  <a:t>; </a:t>
                </a:r>
                <a:r>
                  <a:rPr lang="en-IN" sz="2400">
                    <a:solidFill>
                      <a:srgbClr val="111827"/>
                    </a:solidFill>
                    <a:latin typeface="Cambria Math" panose="02040503050406030204" pitchFamily="18" charset="0"/>
                  </a:rPr>
                  <a:t>$f'(x)=0$</a:t>
                </a:r>
                <a:r>
                  <a:rPr sz="2400" b="0">
                    <a:solidFill>
                      <a:srgbClr val="111827"/>
                    </a:solidFill>
                    <a:latin typeface="Arial"/>
                  </a:rPr>
                  <a:t> gives </a:t>
                </a:r>
                <a:r>
                  <a:rPr lang="en-IN" sz="2400">
                    <a:solidFill>
                      <a:srgbClr val="111827"/>
                    </a:solidFill>
                    <a:latin typeface="Cambria Math" panose="02040503050406030204" pitchFamily="18" charset="0"/>
                  </a:rPr>
                  <a:t>$x=2\pm\frac{2}{\sqrt3}$</a:t>
                </a:r>
                <a:r>
                  <a:rPr sz="2400" b="0">
                    <a:solidFill>
                      <a:srgbClr val="111827"/>
                    </a:solidFill>
                    <a:latin typeface="Arial"/>
                  </a:rPr>
                  <a:t>. In </a:t>
                </a:r>
                <a:r>
                  <a:rPr lang="en-IN" sz="2400">
                    <a:solidFill>
                      <a:srgbClr val="111827"/>
                    </a:solidFill>
                    <a:latin typeface="Cambria Math" panose="02040503050406030204" pitchFamily="18" charset="0"/>
                  </a:rPr>
                  <a:t>$(2,4)$</a:t>
                </a:r>
                <a:r>
                  <a:rPr sz="2400" b="0">
                    <a:solidFill>
                      <a:srgbClr val="111827"/>
                    </a:solidFill>
                    <a:latin typeface="Arial"/>
                  </a:rPr>
                  <a:t> only </a:t>
                </a:r>
                <a:r>
                  <a:rPr lang="en-IN" sz="2400">
                    <a:solidFill>
                      <a:srgbClr val="111827"/>
                    </a:solidFill>
                    <a:latin typeface="Cambria Math" panose="02040503050406030204" pitchFamily="18" charset="0"/>
                  </a:rPr>
                  <a:t>$\beta=2+\frac{2}{\sqrt3}\approx3.15$</a:t>
                </a:r>
                <a:r>
                  <a:rPr sz="2400" b="0">
                    <a:solidFill>
                      <a:srgbClr val="111827"/>
                    </a:solidFill>
                    <a:latin typeface="Arial"/>
                  </a:rPr>
                  <a:t> lies.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S1: </a:t>
                </a:r>
                <a:r>
                  <a:rPr lang="en-IN" sz="2400">
                    <a:solidFill>
                      <a:srgbClr val="111827"/>
                    </a:solidFill>
                    <a:latin typeface="Cambria Math" panose="02040503050406030204" pitchFamily="18" charset="0"/>
                  </a:rPr>
                  <a:t>$f'(x_1)=-1$</a:t>
                </a:r>
                <a:r>
                  <a:rPr sz="2400" b="0">
                    <a:solidFill>
                      <a:srgbClr val="111827"/>
                    </a:solidFill>
                    <a:latin typeface="Arial"/>
                  </a:rPr>
                  <a:t> gives </a:t>
                </a:r>
                <a:r>
                  <a:rPr lang="en-IN" sz="2400">
                    <a:solidFill>
                      <a:srgbClr val="111827"/>
                    </a:solidFill>
                    <a:latin typeface="Cambria Math" panose="02040503050406030204" pitchFamily="18" charset="0"/>
                  </a:rPr>
                  <a:t>$3x_1^{2}-12x_1+9=0$</a:t>
                </a:r>
                <a:r>
                  <a:rPr sz="2400" b="0">
                    <a:solidFill>
                      <a:srgbClr val="111827"/>
                    </a:solidFill>
                    <a:latin typeface="Arial"/>
                  </a:rPr>
                  <a:t>, i.e. </a:t>
                </a:r>
                <a:r>
                  <a:rPr lang="en-IN" sz="2400">
                    <a:solidFill>
                      <a:srgbClr val="111827"/>
                    </a:solidFill>
                    <a:latin typeface="Cambria Math" panose="02040503050406030204" pitchFamily="18" charset="0"/>
                  </a:rPr>
                  <a:t>$x_1=1$</a:t>
                </a:r>
                <a:r>
                  <a:rPr sz="2400" b="0">
                    <a:solidFill>
                      <a:srgbClr val="111827"/>
                    </a:solidFill>
                    <a:latin typeface="Arial"/>
                  </a:rPr>
                  <a:t> or </a:t>
                </a:r>
                <a:r>
                  <a:rPr lang="en-IN" sz="2400">
                    <a:solidFill>
                      <a:srgbClr val="111827"/>
                    </a:solidFill>
                    <a:latin typeface="Cambria Math" panose="02040503050406030204" pitchFamily="18" charset="0"/>
                  </a:rPr>
                  <a:t>$3$</a:t>
                </a:r>
                <a:r>
                  <a:rPr sz="2400" b="0">
                    <a:solidFill>
                      <a:srgbClr val="111827"/>
                    </a:solidFill>
                    <a:latin typeface="Arial"/>
                  </a:rPr>
                  <a:t>; </a:t>
                </a:r>
                <a:r>
                  <a:rPr lang="en-IN" sz="2400">
                    <a:solidFill>
                      <a:srgbClr val="111827"/>
                    </a:solidFill>
                    <a:latin typeface="Cambria Math" panose="02040503050406030204" pitchFamily="18" charset="0"/>
                  </a:rPr>
                  <a:t>$x_1=3\in(2,4)$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Take </a:t>
                </a:r>
                <a:r>
                  <a:rPr lang="en-IN" sz="2400">
                    <a:solidFill>
                      <a:srgbClr val="111827"/>
                    </a:solidFill>
                    <a:latin typeface="Cambria Math" panose="02040503050406030204" pitchFamily="18" charset="0"/>
                  </a:rPr>
                  <a:t>$x_2=\beta=2+\frac{2}{\sqrt3}\in(2,4)$</a:t>
                </a:r>
                <a:r>
                  <a:rPr sz="2400" b="0">
                    <a:solidFill>
                      <a:srgbClr val="111827"/>
                    </a:solidFill>
                    <a:latin typeface="Arial"/>
                  </a:rPr>
                  <a:t>; then </a:t>
                </a:r>
                <a:r>
                  <a:rPr lang="en-IN" sz="2400">
                    <a:solidFill>
                      <a:srgbClr val="111827"/>
                    </a:solidFill>
                    <a:latin typeface="Cambria Math" panose="02040503050406030204" pitchFamily="18" charset="0"/>
                  </a:rPr>
                  <a:t>$f'(x_2)=0$</a:t>
                </a:r>
                <a:r>
                  <a:rPr sz="2400" b="0">
                    <a:solidFill>
                      <a:srgbClr val="111827"/>
                    </a:solidFill>
                    <a:latin typeface="Arial"/>
                  </a:rPr>
                  <a:t> and </a:t>
                </a:r>
                <a:r>
                  <a:rPr lang="en-IN" sz="2400">
                    <a:solidFill>
                      <a:srgbClr val="111827"/>
                    </a:solidFill>
                    <a:latin typeface="Cambria Math" panose="02040503050406030204" pitchFamily="18" charset="0"/>
                  </a:rPr>
                  <a:t>$x_1=3&lt;x_2$</a:t>
                </a:r>
                <a:r>
                  <a:rPr sz="2400" b="0">
                    <a:solidFill>
                      <a:srgbClr val="111827"/>
                    </a:solidFill>
                    <a:latin typeface="Arial"/>
                  </a:rPr>
                  <a:t>. So S1 is true.</a:t>
                </a:r>
                <a:endParaRPr sz="2400">
                  <a:solidFill>
                    <a:srgbClr val="111827"/>
                  </a:solidFill>
                </a:endParaRPr>
              </a:p>
            </p:txBody>
          </p:sp>
        </mc:Fallback>
      </mc:AlternateContent>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S2: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is decreasing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increasing in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exactly when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i.e.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e>
                    </m:d>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e>
                    </m:d>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e>
                    </m:d>
                  </m:oMath>
                </a14:m>
                <a:r>
                  <a:rPr sz="2400" b="0">
                    <a:solidFill>
                      <a:srgbClr val="111827"/>
                    </a:solidFill>
                    <a:latin typeface="Arial"/>
                  </a:rPr>
                  <a:t>, so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e>
                    </m: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16</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16</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3</m:t>
                    </m:r>
                    <m:sSubSup>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3</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9</m:t>
                    </m:r>
                    <m:sSubSup>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3</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S2: </a:t>
                </a:r>
                <a:r>
                  <a:rPr lang="en-IN" sz="2400">
                    <a:solidFill>
                      <a:srgbClr val="111827"/>
                    </a:solidFill>
                    <a:latin typeface="Cambria Math" panose="02040503050406030204" pitchFamily="18" charset="0"/>
                  </a:rPr>
                  <a:t>$f'&lt;0$</a:t>
                </a:r>
                <a:r>
                  <a:rPr sz="2400" b="0">
                    <a:solidFill>
                      <a:srgbClr val="111827"/>
                    </a:solidFill>
                    <a:latin typeface="Arial"/>
                  </a:rPr>
                  <a:t> on </a:t>
                </a:r>
                <a:r>
                  <a:rPr lang="en-IN" sz="2400">
                    <a:solidFill>
                      <a:srgbClr val="111827"/>
                    </a:solidFill>
                    <a:latin typeface="Cambria Math" panose="02040503050406030204" pitchFamily="18" charset="0"/>
                  </a:rPr>
                  <a:t>$(2,\beta)$</a:t>
                </a:r>
                <a:r>
                  <a:rPr sz="2400" b="0">
                    <a:solidFill>
                      <a:srgbClr val="111827"/>
                    </a:solidFill>
                    <a:latin typeface="Arial"/>
                  </a:rPr>
                  <a:t> and </a:t>
                </a:r>
                <a:r>
                  <a:rPr lang="en-IN" sz="2400">
                    <a:solidFill>
                      <a:srgbClr val="111827"/>
                    </a:solidFill>
                    <a:latin typeface="Cambria Math" panose="02040503050406030204" pitchFamily="18" charset="0"/>
                  </a:rPr>
                  <a:t>$f'&gt;0$</a:t>
                </a:r>
                <a:r>
                  <a:rPr sz="2400" b="0">
                    <a:solidFill>
                      <a:srgbClr val="111827"/>
                    </a:solidFill>
                    <a:latin typeface="Arial"/>
                  </a:rPr>
                  <a:t> on </a:t>
                </a:r>
                <a:r>
                  <a:rPr lang="en-IN" sz="2400">
                    <a:solidFill>
                      <a:srgbClr val="111827"/>
                    </a:solidFill>
                    <a:latin typeface="Cambria Math" panose="02040503050406030204" pitchFamily="18" charset="0"/>
                  </a:rPr>
                  <a:t>$(\beta,4)$</a:t>
                </a:r>
                <a:r>
                  <a:rPr sz="2400" b="0">
                    <a:solidFill>
                      <a:srgbClr val="111827"/>
                    </a:solidFill>
                    <a:latin typeface="Arial"/>
                  </a:rPr>
                  <a:t>, so </a:t>
                </a:r>
                <a:r>
                  <a:rPr lang="en-IN" sz="2400">
                    <a:solidFill>
                      <a:srgbClr val="111827"/>
                    </a:solidFill>
                    <a:latin typeface="Cambria Math" panose="02040503050406030204" pitchFamily="18" charset="0"/>
                  </a:rPr>
                  <a:t>$f$</a:t>
                </a:r>
                <a:r>
                  <a:rPr sz="2400" b="0">
                    <a:solidFill>
                      <a:srgbClr val="111827"/>
                    </a:solidFill>
                    <a:latin typeface="Arial"/>
                  </a:rPr>
                  <a:t> is decreasing in </a:t>
                </a:r>
                <a:r>
                  <a:rPr lang="en-IN" sz="2400">
                    <a:solidFill>
                      <a:srgbClr val="111827"/>
                    </a:solidFill>
                    <a:latin typeface="Cambria Math" panose="02040503050406030204" pitchFamily="18" charset="0"/>
                  </a:rPr>
                  <a:t>$(2,x_4)$</a:t>
                </a:r>
                <a:r>
                  <a:rPr sz="2400" b="0">
                    <a:solidFill>
                      <a:srgbClr val="111827"/>
                    </a:solidFill>
                    <a:latin typeface="Arial"/>
                  </a:rPr>
                  <a:t> and increasing in </a:t>
                </a:r>
                <a:r>
                  <a:rPr lang="en-IN" sz="2400">
                    <a:solidFill>
                      <a:srgbClr val="111827"/>
                    </a:solidFill>
                    <a:latin typeface="Cambria Math" panose="02040503050406030204" pitchFamily="18" charset="0"/>
                  </a:rPr>
                  <a:t>$(x_4,4)$</a:t>
                </a:r>
                <a:r>
                  <a:rPr sz="2400" b="0">
                    <a:solidFill>
                      <a:srgbClr val="111827"/>
                    </a:solidFill>
                    <a:latin typeface="Arial"/>
                  </a:rPr>
                  <a:t> exactly when </a:t>
                </a:r>
                <a:r>
                  <a:rPr lang="en-IN" sz="2400">
                    <a:solidFill>
                      <a:srgbClr val="111827"/>
                    </a:solidFill>
                    <a:latin typeface="Cambria Math" panose="02040503050406030204" pitchFamily="18" charset="0"/>
                  </a:rPr>
                  <a:t>$f'(x_4)=0$</a:t>
                </a:r>
                <a:r>
                  <a:rPr sz="2400" b="0">
                    <a:solidFill>
                      <a:srgbClr val="111827"/>
                    </a:solidFill>
                    <a:latin typeface="Arial"/>
                  </a:rPr>
                  <a:t>, i.e. </a:t>
                </a:r>
                <a:r>
                  <a:rPr lang="en-IN" sz="2400">
                    <a:solidFill>
                      <a:srgbClr val="111827"/>
                    </a:solidFill>
                    <a:latin typeface="Cambria Math" panose="02040503050406030204" pitchFamily="18" charset="0"/>
                  </a:rPr>
                  <a:t>$x_4=\beta$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$f(x_4)=\left(2+\frac{2}{\sqrt3}\right)\left(\frac{2}{\sqrt3}\right)\left(\frac{2}{\sqrt3}-2\right)$</a:t>
                </a:r>
                <a:r>
                  <a:rPr sz="2400" b="0">
                    <a:solidFill>
                      <a:srgbClr val="111827"/>
                    </a:solidFill>
                    <a:latin typeface="Arial"/>
                  </a:rPr>
                  <a:t>, so </a:t>
                </a:r>
                <a:r>
                  <a:rPr lang="en-IN" sz="2400">
                    <a:solidFill>
                      <a:srgbClr val="111827"/>
                    </a:solidFill>
                    <a:latin typeface="Cambria Math" panose="02040503050406030204" pitchFamily="18" charset="0"/>
                  </a:rPr>
                  <a:t>$\sqrt3\,f(x_4)=2\left(\frac43-4\right)=-\frac{16}{3}$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$2f'(x_3)=-\frac{16}{3}$</a:t>
                </a:r>
                <a:r>
                  <a:rPr sz="2400" b="0">
                    <a:solidFill>
                      <a:srgbClr val="111827"/>
                    </a:solidFill>
                    <a:latin typeface="Arial"/>
                  </a:rPr>
                  <a:t> gives </a:t>
                </a:r>
                <a:r>
                  <a:rPr lang="en-IN" sz="2400">
                    <a:solidFill>
                      <a:srgbClr val="111827"/>
                    </a:solidFill>
                    <a:latin typeface="Cambria Math" panose="02040503050406030204" pitchFamily="18" charset="0"/>
                  </a:rPr>
                  <a:t>$3x_3^{2}-12x_3+8=-\frac{8}{3}$</a:t>
                </a:r>
                <a:r>
                  <a:rPr sz="2400" b="0">
                    <a:solidFill>
                      <a:srgbClr val="111827"/>
                    </a:solidFill>
                    <a:latin typeface="Arial"/>
                  </a:rPr>
                  <a:t>, i.e. </a:t>
                </a:r>
                <a:r>
                  <a:rPr lang="en-IN" sz="2400">
                    <a:solidFill>
                      <a:srgbClr val="111827"/>
                    </a:solidFill>
                    <a:latin typeface="Cambria Math" panose="02040503050406030204" pitchFamily="18" charset="0"/>
                  </a:rPr>
                  <a:t>$9x_3^{2}-36x_3+32=0$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9</m:t>
                    </m:r>
                    <m:sSubSup>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3</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or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&lt;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&lt;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3.15</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works. So S2 is true.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Both statements are true: option (A).</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$9x_3^{2}-24x_3-12x_3+32=0$</a:t>
                </a:r>
                <a:r>
                  <a:rPr sz="2400" b="0">
                    <a:solidFill>
                      <a:srgbClr val="111827"/>
                    </a:solidFill>
                    <a:latin typeface="Arial"/>
                  </a:rPr>
                  <a:t>, so </a:t>
                </a:r>
                <a:r>
                  <a:rPr lang="en-IN" sz="2400">
                    <a:solidFill>
                      <a:srgbClr val="111827"/>
                    </a:solidFill>
                    <a:latin typeface="Cambria Math" panose="02040503050406030204" pitchFamily="18" charset="0"/>
                  </a:rPr>
                  <a:t>$(3x_3-4)(3x_3-8)=0$</a:t>
                </a:r>
                <a:r>
                  <a:rPr sz="2400" b="0">
                    <a:solidFill>
                      <a:srgbClr val="111827"/>
                    </a:solidFill>
                    <a:latin typeface="Arial"/>
                  </a:rPr>
                  <a:t> and </a:t>
                </a:r>
                <a:r>
                  <a:rPr lang="en-IN" sz="2400">
                    <a:solidFill>
                      <a:srgbClr val="111827"/>
                    </a:solidFill>
                    <a:latin typeface="Cambria Math" panose="02040503050406030204" pitchFamily="18" charset="0"/>
                  </a:rPr>
                  <a:t>$x_3=\frac43$</a:t>
                </a:r>
                <a:r>
                  <a:rPr sz="2400" b="0">
                    <a:solidFill>
                      <a:srgbClr val="111827"/>
                    </a:solidFill>
                    <a:latin typeface="Arial"/>
                  </a:rPr>
                  <a:t> or </a:t>
                </a:r>
                <a:r>
                  <a:rPr lang="en-IN" sz="2400">
                    <a:solidFill>
                      <a:srgbClr val="111827"/>
                    </a:solidFill>
                    <a:latin typeface="Cambria Math" panose="02040503050406030204" pitchFamily="18" charset="0"/>
                  </a:rPr>
                  <a:t>$\frac83$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r>
                  <a:rPr lang="en-IN" sz="2400">
                    <a:solidFill>
                      <a:srgbClr val="111827"/>
                    </a:solidFill>
                    <a:latin typeface="Cambria Math" panose="02040503050406030204" pitchFamily="18" charset="0"/>
                  </a:rPr>
                  <a:t>$2&lt;x_3&lt;x_4\approx3.15$</a:t>
                </a:r>
                <a:r>
                  <a:rPr sz="2400" b="0">
                    <a:solidFill>
                      <a:srgbClr val="111827"/>
                    </a:solidFill>
                    <a:latin typeface="Arial"/>
                  </a:rPr>
                  <a:t>, </a:t>
                </a:r>
                <a:r>
                  <a:rPr lang="en-IN" sz="2400">
                    <a:solidFill>
                      <a:srgbClr val="111827"/>
                    </a:solidFill>
                    <a:latin typeface="Cambria Math" panose="02040503050406030204" pitchFamily="18" charset="0"/>
                  </a:rPr>
                  <a:t>$x_3=\frac83$</a:t>
                </a:r>
                <a:r>
                  <a:rPr sz="2400" b="0">
                    <a:solidFill>
                      <a:srgbClr val="111827"/>
                    </a:solidFill>
                    <a:latin typeface="Arial"/>
                  </a:rPr>
                  <a:t> works. So S2 is true.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Both statements are true: option (A).</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both (S1) and (S2) are true</a:t>
            </a:r>
            <a:endParaRPr sz="2800">
              <a:solidFill>
                <a:srgbClr val="15803D"/>
              </a:solidFill>
            </a:endParaRP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14:m>
                  <m:oMath xmlns:m="http://schemas.openxmlformats.org/officeDocument/2006/math">
                    <m:sSup>
                      <m:e>
                        <m:r>
                          <a:rPr lang="en-IN" sz="2400" i="1">
                            <a:solidFill>
                              <a:srgbClr val="78350F"/>
                            </a:solidFill>
                            <a:latin typeface="Cambria Math" panose="02040503050406030204" pitchFamily="18" charset="0"/>
                          </a:rPr>
                          <m:t>𝑓</m:t>
                        </m:r>
                      </m:e>
                      <m:sup>
                        <m:r>
                          <m:rPr>
                            <m:sty m:val="p"/>
                          </m:rPr>
                          <a:rPr lang="en-IN" sz="2400">
                            <a:solidFill>
                              <a:srgbClr val="78350F"/>
                            </a:solidFill>
                            <a:latin typeface="Cambria Math" panose="02040503050406030204" pitchFamily="18" charset="0"/>
                          </a:rPr>
                          <m:t>′</m:t>
                        </m:r>
                      </m:sup>
                    </m:sSup>
                  </m:oMath>
                </a14:m>
                <a:r>
                  <a:rPr sz="2400" b="0">
                    <a:solidFill>
                      <a:srgbClr val="78350F"/>
                    </a:solidFill>
                    <a:latin typeface="Arial"/>
                  </a:rPr>
                  <a:t> is continuous and increasing on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4</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from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4</m:t>
                    </m:r>
                  </m:oMath>
                </a14:m>
                <a:r>
                  <a:rPr sz="2400" b="0">
                    <a:solidFill>
                      <a:srgbClr val="78350F"/>
                    </a:solidFill>
                    <a:latin typeface="Arial"/>
                  </a:rPr>
                  <a:t> to </a:t>
                </a:r>
                <a14:m>
                  <m:oMath xmlns:m="http://schemas.openxmlformats.org/officeDocument/2006/math">
                    <m:r>
                      <a:rPr lang="en-IN" sz="2400" i="1">
                        <a:solidFill>
                          <a:srgbClr val="78350F"/>
                        </a:solidFill>
                        <a:latin typeface="Cambria Math" panose="02040503050406030204" pitchFamily="18" charset="0"/>
                      </a:rPr>
                      <m:t>0</m:t>
                    </m:r>
                  </m:oMath>
                </a14:m>
                <a:r>
                  <a:rPr sz="2400" b="0">
                    <a:solidFill>
                      <a:srgbClr val="78350F"/>
                    </a:solidFill>
                    <a:latin typeface="Arial"/>
                  </a:rPr>
                  <a:t> at </a:t>
                </a:r>
                <a14:m>
                  <m:oMath xmlns:m="http://schemas.openxmlformats.org/officeDocument/2006/math">
                    <m:r>
                      <a:rPr lang="en-IN" sz="2400" i="1">
                        <a:solidFill>
                          <a:srgbClr val="78350F"/>
                        </a:solidFill>
                        <a:latin typeface="Cambria Math" panose="02040503050406030204" pitchFamily="18" charset="0"/>
                      </a:rPr>
                      <m:t>β</m:t>
                    </m:r>
                  </m:oMath>
                </a14:m>
                <a:r>
                  <a:rPr sz="2400" b="0">
                    <a:solidFill>
                      <a:srgbClr val="78350F"/>
                    </a:solidFill>
                    <a:latin typeface="Arial"/>
                  </a:rPr>
                  <a:t>, so the intermediate value theorem supplies </a:t>
                </a:r>
                <a14:m>
                  <m:oMath xmlns:m="http://schemas.openxmlformats.org/officeDocument/2006/math">
                    <m:sSub>
                      <m:e>
                        <m:r>
                          <a:rPr lang="en-IN" sz="2400" i="1">
                            <a:solidFill>
                              <a:srgbClr val="78350F"/>
                            </a:solidFill>
                            <a:latin typeface="Cambria Math" panose="02040503050406030204" pitchFamily="18" charset="0"/>
                          </a:rPr>
                          <m:t>𝑥</m:t>
                        </m:r>
                      </m:e>
                      <m:sub>
                        <m:r>
                          <a:rPr lang="en-IN" sz="2400" i="1">
                            <a:solidFill>
                              <a:srgbClr val="78350F"/>
                            </a:solidFill>
                            <a:latin typeface="Cambria Math" panose="02040503050406030204" pitchFamily="18" charset="0"/>
                          </a:rPr>
                          <m:t>1</m:t>
                        </m:r>
                      </m:sub>
                    </m:sSub>
                  </m:oMath>
                </a14:m>
                <a:r>
                  <a:rPr sz="2400" b="0">
                    <a:solidFill>
                      <a:srgbClr val="78350F"/>
                    </a:solidFill>
                    <a:latin typeface="Arial"/>
                  </a:rPr>
                  <a:t> and </a:t>
                </a:r>
                <a14:m>
                  <m:oMath xmlns:m="http://schemas.openxmlformats.org/officeDocument/2006/math">
                    <m:sSub>
                      <m:e>
                        <m:r>
                          <a:rPr lang="en-IN" sz="2400" i="1">
                            <a:solidFill>
                              <a:srgbClr val="78350F"/>
                            </a:solidFill>
                            <a:latin typeface="Cambria Math" panose="02040503050406030204" pitchFamily="18" charset="0"/>
                          </a:rPr>
                          <m:t>𝑥</m:t>
                        </m:r>
                      </m:e>
                      <m:sub>
                        <m:r>
                          <a:rPr lang="en-IN" sz="2400" i="1">
                            <a:solidFill>
                              <a:srgbClr val="78350F"/>
                            </a:solidFill>
                            <a:latin typeface="Cambria Math" panose="02040503050406030204" pitchFamily="18" charset="0"/>
                          </a:rPr>
                          <m:t>3</m:t>
                        </m:r>
                      </m:sub>
                    </m:sSub>
                  </m:oMath>
                </a14:m>
                <a:r>
                  <a:rPr sz="2400" b="0">
                    <a:solidFill>
                      <a:srgbClr val="78350F"/>
                    </a:solidFill>
                    <a:latin typeface="Arial"/>
                  </a:rPr>
                  <a:t> without solving.</a:t>
                </a:r>
                <a:endParaRPr sz="2400">
                  <a:solidFill>
                    <a:srgbClr val="78350F"/>
                  </a:solidFill>
                </a:endParaRPr>
              </a:p>
            </p:txBody>
          </p:sp>
        </mc:Choice>
        <mc:Fallback>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lang="en-IN" sz="2400">
                    <a:solidFill>
                      <a:srgbClr val="78350F"/>
                    </a:solidFill>
                    <a:latin typeface="Cambria Math" panose="02040503050406030204" pitchFamily="18" charset="0"/>
                  </a:rPr>
                  <a:t>$f'$</a:t>
                </a:r>
                <a:r>
                  <a:rPr sz="2400" b="0">
                    <a:solidFill>
                      <a:srgbClr val="78350F"/>
                    </a:solidFill>
                    <a:latin typeface="Arial"/>
                  </a:rPr>
                  <a:t> is continuous and increasing on </a:t>
                </a:r>
                <a:r>
                  <a:rPr lang="en-IN" sz="2400">
                    <a:solidFill>
                      <a:srgbClr val="78350F"/>
                    </a:solidFill>
                    <a:latin typeface="Cambria Math" panose="02040503050406030204" pitchFamily="18" charset="0"/>
                  </a:rPr>
                  <a:t>$(2,4)$</a:t>
                </a:r>
                <a:r>
                  <a:rPr sz="2400" b="0">
                    <a:solidFill>
                      <a:srgbClr val="78350F"/>
                    </a:solidFill>
                    <a:latin typeface="Arial"/>
                  </a:rPr>
                  <a:t> from </a:t>
                </a:r>
                <a:r>
                  <a:rPr lang="en-IN" sz="2400">
                    <a:solidFill>
                      <a:srgbClr val="78350F"/>
                    </a:solidFill>
                    <a:latin typeface="Cambria Math" panose="02040503050406030204" pitchFamily="18" charset="0"/>
                  </a:rPr>
                  <a:t>$-4$</a:t>
                </a:r>
                <a:r>
                  <a:rPr sz="2400" b="0">
                    <a:solidFill>
                      <a:srgbClr val="78350F"/>
                    </a:solidFill>
                    <a:latin typeface="Arial"/>
                  </a:rPr>
                  <a:t> to </a:t>
                </a:r>
                <a:r>
                  <a:rPr lang="en-IN" sz="2400">
                    <a:solidFill>
                      <a:srgbClr val="78350F"/>
                    </a:solidFill>
                    <a:latin typeface="Cambria Math" panose="02040503050406030204" pitchFamily="18" charset="0"/>
                  </a:rPr>
                  <a:t>$0$</a:t>
                </a:r>
                <a:r>
                  <a:rPr sz="2400" b="0">
                    <a:solidFill>
                      <a:srgbClr val="78350F"/>
                    </a:solidFill>
                    <a:latin typeface="Arial"/>
                  </a:rPr>
                  <a:t> at </a:t>
                </a:r>
                <a:r>
                  <a:rPr lang="en-IN" sz="2400">
                    <a:solidFill>
                      <a:srgbClr val="78350F"/>
                    </a:solidFill>
                    <a:latin typeface="Cambria Math" panose="02040503050406030204" pitchFamily="18" charset="0"/>
                  </a:rPr>
                  <a:t>$\beta$</a:t>
                </a:r>
                <a:r>
                  <a:rPr sz="2400" b="0">
                    <a:solidFill>
                      <a:srgbClr val="78350F"/>
                    </a:solidFill>
                    <a:latin typeface="Arial"/>
                  </a:rPr>
                  <a:t>, so the intermediate value theorem supplies </a:t>
                </a:r>
                <a:r>
                  <a:rPr lang="en-IN" sz="2400">
                    <a:solidFill>
                      <a:srgbClr val="78350F"/>
                    </a:solidFill>
                    <a:latin typeface="Cambria Math" panose="02040503050406030204" pitchFamily="18" charset="0"/>
                  </a:rPr>
                  <a:t>$x_1$</a:t>
                </a:r>
                <a:r>
                  <a:rPr sz="2400" b="0">
                    <a:solidFill>
                      <a:srgbClr val="78350F"/>
                    </a:solidFill>
                    <a:latin typeface="Arial"/>
                  </a:rPr>
                  <a:t> and </a:t>
                </a:r>
                <a:r>
                  <a:rPr lang="en-IN" sz="2400">
                    <a:solidFill>
                      <a:srgbClr val="78350F"/>
                    </a:solidFill>
                    <a:latin typeface="Cambria Math" panose="02040503050406030204" pitchFamily="18" charset="0"/>
                  </a:rPr>
                  <a:t>$x_3$</a:t>
                </a:r>
                <a:r>
                  <a:rPr sz="2400" b="0">
                    <a:solidFill>
                      <a:srgbClr val="78350F"/>
                    </a:solidFill>
                    <a:latin typeface="Arial"/>
                  </a:rPr>
                  <a:t> without solving.</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it is strictly increasing 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t>
                </a:r>
                <a14:m>
                  <m:oMath xmlns:m="http://schemas.openxmlformats.org/officeDocument/2006/math">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rises continuously from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to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S1: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by IVT some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has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with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oMath>
                </a14:m>
                <a:r>
                  <a:rPr sz="2400" b="0">
                    <a:solidFill>
                      <a:srgbClr val="111827"/>
                    </a:solidFill>
                    <a:latin typeface="Arial"/>
                  </a:rPr>
                  <a:t> we have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&lt;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True.</a:t>
                </a:r>
                <a:endParaRPr sz="2400">
                  <a:solidFill>
                    <a:srgbClr val="111827"/>
                  </a:solidFill>
                </a:endParaRPr>
              </a:p>
            </p:txBody>
          </p:sp>
        </mc:Choice>
        <mc:Fallback>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$f=x(x-2)(x-4)$</a:t>
                </a:r>
                <a:r>
                  <a:rPr sz="2400" b="0">
                    <a:solidFill>
                      <a:srgbClr val="111827"/>
                    </a:solidFill>
                    <a:latin typeface="Arial"/>
                  </a:rPr>
                  <a:t>, </a:t>
                </a:r>
                <a:r>
                  <a:rPr lang="en-IN" sz="2400">
                    <a:solidFill>
                      <a:srgbClr val="111827"/>
                    </a:solidFill>
                    <a:latin typeface="Cambria Math" panose="02040503050406030204" pitchFamily="18" charset="0"/>
                  </a:rPr>
                  <a:t>$f'(x)=3x^{2}-12x+8=3(x-2)^{2}-4$</a:t>
                </a:r>
                <a:r>
                  <a:rPr sz="2400" b="0">
                    <a:solidFill>
                      <a:srgbClr val="111827"/>
                    </a:solidFill>
                    <a:latin typeface="Arial"/>
                  </a:rPr>
                  <a:t>: it is strictly increasing on </a:t>
                </a:r>
                <a:r>
                  <a:rPr lang="en-IN" sz="2400">
                    <a:solidFill>
                      <a:srgbClr val="111827"/>
                    </a:solidFill>
                    <a:latin typeface="Cambria Math" panose="02040503050406030204" pitchFamily="18" charset="0"/>
                  </a:rPr>
                  <a:t>$[2,4]$</a:t>
                </a:r>
                <a:r>
                  <a:rPr sz="2400" b="0">
                    <a:solidFill>
                      <a:srgbClr val="111827"/>
                    </a:solidFill>
                    <a:latin typeface="Arial"/>
                  </a:rPr>
                  <a:t> with </a:t>
                </a:r>
                <a:r>
                  <a:rPr lang="en-IN" sz="2400">
                    <a:solidFill>
                      <a:srgbClr val="111827"/>
                    </a:solidFill>
                    <a:latin typeface="Cambria Math" panose="02040503050406030204" pitchFamily="18" charset="0"/>
                  </a:rPr>
                  <a:t>$f'(2)=-4$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$f'(\beta)=0$</a:t>
                </a:r>
                <a:r>
                  <a:rPr sz="2400" b="0">
                    <a:solidFill>
                      <a:srgbClr val="111827"/>
                    </a:solidFill>
                    <a:latin typeface="Arial"/>
                  </a:rPr>
                  <a:t> at </a:t>
                </a:r>
                <a:r>
                  <a:rPr lang="en-IN" sz="2400">
                    <a:solidFill>
                      <a:srgbClr val="111827"/>
                    </a:solidFill>
                    <a:latin typeface="Cambria Math" panose="02040503050406030204" pitchFamily="18" charset="0"/>
                  </a:rPr>
                  <a:t>$\beta=2+\frac{2}{\sqrt3}\in(2,4)$</a:t>
                </a:r>
                <a:r>
                  <a:rPr sz="2400" b="0">
                    <a:solidFill>
                      <a:srgbClr val="111827"/>
                    </a:solidFill>
                    <a:latin typeface="Arial"/>
                  </a:rPr>
                  <a:t>, so </a:t>
                </a:r>
                <a:r>
                  <a:rPr lang="en-IN" sz="2400">
                    <a:solidFill>
                      <a:srgbClr val="111827"/>
                    </a:solidFill>
                    <a:latin typeface="Cambria Math" panose="02040503050406030204" pitchFamily="18" charset="0"/>
                  </a:rPr>
                  <a:t>$f'$</a:t>
                </a:r>
                <a:r>
                  <a:rPr sz="2400" b="0">
                    <a:solidFill>
                      <a:srgbClr val="111827"/>
                    </a:solidFill>
                    <a:latin typeface="Arial"/>
                  </a:rPr>
                  <a:t> rises continuously from </a:t>
                </a:r>
                <a:r>
                  <a:rPr lang="en-IN" sz="2400">
                    <a:solidFill>
                      <a:srgbClr val="111827"/>
                    </a:solidFill>
                    <a:latin typeface="Cambria Math" panose="02040503050406030204" pitchFamily="18" charset="0"/>
                  </a:rPr>
                  <a:t>$-4$</a:t>
                </a:r>
                <a:r>
                  <a:rPr sz="2400" b="0">
                    <a:solidFill>
                      <a:srgbClr val="111827"/>
                    </a:solidFill>
                    <a:latin typeface="Arial"/>
                  </a:rPr>
                  <a:t> to </a:t>
                </a:r>
                <a:r>
                  <a:rPr lang="en-IN" sz="2400">
                    <a:solidFill>
                      <a:srgbClr val="111827"/>
                    </a:solidFill>
                    <a:latin typeface="Cambria Math" panose="02040503050406030204" pitchFamily="18" charset="0"/>
                  </a:rPr>
                  <a:t>$0$</a:t>
                </a:r>
                <a:r>
                  <a:rPr sz="2400" b="0">
                    <a:solidFill>
                      <a:srgbClr val="111827"/>
                    </a:solidFill>
                    <a:latin typeface="Arial"/>
                  </a:rPr>
                  <a:t> on </a:t>
                </a:r>
                <a:r>
                  <a:rPr lang="en-IN" sz="2400">
                    <a:solidFill>
                      <a:srgbClr val="111827"/>
                    </a:solidFill>
                    <a:latin typeface="Cambria Math" panose="02040503050406030204" pitchFamily="18" charset="0"/>
                  </a:rPr>
                  <a:t>$[2,\beta]$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S1: </a:t>
                </a:r>
                <a:r>
                  <a:rPr lang="en-IN" sz="2400">
                    <a:solidFill>
                      <a:srgbClr val="111827"/>
                    </a:solidFill>
                    <a:latin typeface="Cambria Math" panose="02040503050406030204" pitchFamily="18" charset="0"/>
                  </a:rPr>
                  <a:t>$-1\in(-4,0)$</a:t>
                </a:r>
                <a:r>
                  <a:rPr sz="2400" b="0">
                    <a:solidFill>
                      <a:srgbClr val="111827"/>
                    </a:solidFill>
                    <a:latin typeface="Arial"/>
                  </a:rPr>
                  <a:t>, so by IVT some </a:t>
                </a:r>
                <a:r>
                  <a:rPr lang="en-IN" sz="2400">
                    <a:solidFill>
                      <a:srgbClr val="111827"/>
                    </a:solidFill>
                    <a:latin typeface="Cambria Math" panose="02040503050406030204" pitchFamily="18" charset="0"/>
                  </a:rPr>
                  <a:t>$x_1\in(2,\beta)$</a:t>
                </a:r>
                <a:r>
                  <a:rPr sz="2400" b="0">
                    <a:solidFill>
                      <a:srgbClr val="111827"/>
                    </a:solidFill>
                    <a:latin typeface="Arial"/>
                  </a:rPr>
                  <a:t> has </a:t>
                </a:r>
                <a:r>
                  <a:rPr lang="en-IN" sz="2400">
                    <a:solidFill>
                      <a:srgbClr val="111827"/>
                    </a:solidFill>
                    <a:latin typeface="Cambria Math" panose="02040503050406030204" pitchFamily="18" charset="0"/>
                  </a:rPr>
                  <a:t>$f'(x_1)=-1$</a:t>
                </a:r>
                <a:r>
                  <a:rPr sz="2400" b="0">
                    <a:solidFill>
                      <a:srgbClr val="111827"/>
                    </a:solidFill>
                    <a:latin typeface="Arial"/>
                  </a:rPr>
                  <a:t>; with </a:t>
                </a:r>
                <a:r>
                  <a:rPr lang="en-IN" sz="2400">
                    <a:solidFill>
                      <a:srgbClr val="111827"/>
                    </a:solidFill>
                    <a:latin typeface="Cambria Math" panose="02040503050406030204" pitchFamily="18" charset="0"/>
                  </a:rPr>
                  <a:t>$x_2=\beta$</a:t>
                </a:r>
                <a:r>
                  <a:rPr sz="2400" b="0">
                    <a:solidFill>
                      <a:srgbClr val="111827"/>
                    </a:solidFill>
                    <a:latin typeface="Arial"/>
                  </a:rPr>
                  <a:t> we have </a:t>
                </a:r>
                <a:r>
                  <a:rPr lang="en-IN" sz="2400">
                    <a:solidFill>
                      <a:srgbClr val="111827"/>
                    </a:solidFill>
                    <a:latin typeface="Cambria Math" panose="02040503050406030204" pitchFamily="18" charset="0"/>
                  </a:rPr>
                  <a:t>$f'(x_2)=0$</a:t>
                </a:r>
                <a:r>
                  <a:rPr sz="2400" b="0">
                    <a:solidFill>
                      <a:srgbClr val="111827"/>
                    </a:solidFill>
                    <a:latin typeface="Arial"/>
                  </a:rPr>
                  <a:t> and </a:t>
                </a:r>
                <a:r>
                  <a:rPr lang="en-IN" sz="2400">
                    <a:solidFill>
                      <a:srgbClr val="111827"/>
                    </a:solidFill>
                    <a:latin typeface="Cambria Math" panose="02040503050406030204" pitchFamily="18" charset="0"/>
                  </a:rPr>
                  <a:t>$x_1&lt;x_2$</a:t>
                </a:r>
                <a:r>
                  <a:rPr sz="2400" b="0">
                    <a:solidFill>
                      <a:srgbClr val="111827"/>
                    </a:solidFill>
                    <a:latin typeface="Arial"/>
                  </a:rPr>
                  <a:t>. True.</a:t>
                </a:r>
                <a:endParaRPr sz="2400">
                  <a:solidFill>
                    <a:srgbClr val="111827"/>
                  </a:solidFill>
                </a:endParaRPr>
              </a:p>
            </p:txBody>
          </p:sp>
        </mc:Fallback>
      </mc:AlternateContent>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S2: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decreasing 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increasing on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forces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oMath>
                </a14:m>
                <a:r>
                  <a:rPr sz="2400" b="0">
                    <a:solidFill>
                      <a:srgbClr val="111827"/>
                    </a:solidFill>
                    <a:latin typeface="Arial"/>
                  </a:rPr>
                  <a:t>; then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16</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(direct substitution).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We need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since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&lt;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is increasing 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IVT gives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&lt;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4</m:t>
                        </m:r>
                      </m:sub>
                    </m:sSub>
                  </m:oMath>
                </a14:m>
                <a:r>
                  <a:rPr sz="2400" b="0">
                    <a:solidFill>
                      <a:srgbClr val="111827"/>
                    </a:solidFill>
                    <a:latin typeface="Arial"/>
                  </a:rPr>
                  <a:t> exists and S2 is true: option (A).</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S2: </a:t>
                </a:r>
                <a:r>
                  <a:rPr lang="en-IN" sz="2400">
                    <a:solidFill>
                      <a:srgbClr val="111827"/>
                    </a:solidFill>
                    <a:latin typeface="Cambria Math" panose="02040503050406030204" pitchFamily="18" charset="0"/>
                  </a:rPr>
                  <a:t>$f$</a:t>
                </a:r>
                <a:r>
                  <a:rPr sz="2400" b="0">
                    <a:solidFill>
                      <a:srgbClr val="111827"/>
                    </a:solidFill>
                    <a:latin typeface="Arial"/>
                  </a:rPr>
                  <a:t> decreasing on </a:t>
                </a:r>
                <a:r>
                  <a:rPr lang="en-IN" sz="2400">
                    <a:solidFill>
                      <a:srgbClr val="111827"/>
                    </a:solidFill>
                    <a:latin typeface="Cambria Math" panose="02040503050406030204" pitchFamily="18" charset="0"/>
                  </a:rPr>
                  <a:t>$(2,x_4)$</a:t>
                </a:r>
                <a:r>
                  <a:rPr sz="2400" b="0">
                    <a:solidFill>
                      <a:srgbClr val="111827"/>
                    </a:solidFill>
                    <a:latin typeface="Arial"/>
                  </a:rPr>
                  <a:t> and increasing on </a:t>
                </a:r>
                <a:r>
                  <a:rPr lang="en-IN" sz="2400">
                    <a:solidFill>
                      <a:srgbClr val="111827"/>
                    </a:solidFill>
                    <a:latin typeface="Cambria Math" panose="02040503050406030204" pitchFamily="18" charset="0"/>
                  </a:rPr>
                  <a:t>$(x_4,4)$</a:t>
                </a:r>
                <a:r>
                  <a:rPr sz="2400" b="0">
                    <a:solidFill>
                      <a:srgbClr val="111827"/>
                    </a:solidFill>
                    <a:latin typeface="Arial"/>
                  </a:rPr>
                  <a:t> forces </a:t>
                </a:r>
                <a:r>
                  <a:rPr lang="en-IN" sz="2400">
                    <a:solidFill>
                      <a:srgbClr val="111827"/>
                    </a:solidFill>
                    <a:latin typeface="Cambria Math" panose="02040503050406030204" pitchFamily="18" charset="0"/>
                  </a:rPr>
                  <a:t>$x_4=\beta$</a:t>
                </a:r>
                <a:r>
                  <a:rPr sz="2400" b="0">
                    <a:solidFill>
                      <a:srgbClr val="111827"/>
                    </a:solidFill>
                    <a:latin typeface="Arial"/>
                  </a:rPr>
                  <a:t>; then </a:t>
                </a:r>
                <a:r>
                  <a:rPr lang="en-IN" sz="2400">
                    <a:solidFill>
                      <a:srgbClr val="111827"/>
                    </a:solidFill>
                    <a:latin typeface="Cambria Math" panose="02040503050406030204" pitchFamily="18" charset="0"/>
                  </a:rPr>
                  <a:t>$\sqrt3 f(\beta)=-\frac{16}{3}$</a:t>
                </a:r>
                <a:r>
                  <a:rPr sz="2400" b="0">
                    <a:solidFill>
                      <a:srgbClr val="111827"/>
                    </a:solidFill>
                    <a:latin typeface="Arial"/>
                  </a:rPr>
                  <a:t> (direct substitution).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We need </a:t>
                </a:r>
                <a:r>
                  <a:rPr lang="en-IN" sz="2400">
                    <a:solidFill>
                      <a:srgbClr val="111827"/>
                    </a:solidFill>
                    <a:latin typeface="Cambria Math" panose="02040503050406030204" pitchFamily="18" charset="0"/>
                  </a:rPr>
                  <a:t>$f'(x_3)=-\frac{8}{3}$</a:t>
                </a:r>
                <a:r>
                  <a:rPr sz="2400" b="0">
                    <a:solidFill>
                      <a:srgbClr val="111827"/>
                    </a:solidFill>
                    <a:latin typeface="Arial"/>
                  </a:rPr>
                  <a:t>; since </a:t>
                </a:r>
                <a:r>
                  <a:rPr lang="en-IN" sz="2400">
                    <a:solidFill>
                      <a:srgbClr val="111827"/>
                    </a:solidFill>
                    <a:latin typeface="Cambria Math" panose="02040503050406030204" pitchFamily="18" charset="0"/>
                  </a:rPr>
                  <a:t>$-4&lt;-\frac83&lt;0$</a:t>
                </a:r>
                <a:r>
                  <a:rPr sz="2400" b="0">
                    <a:solidFill>
                      <a:srgbClr val="111827"/>
                    </a:solidFill>
                    <a:latin typeface="Arial"/>
                  </a:rPr>
                  <a:t> and </a:t>
                </a:r>
                <a:r>
                  <a:rPr lang="en-IN" sz="2400">
                    <a:solidFill>
                      <a:srgbClr val="111827"/>
                    </a:solidFill>
                    <a:latin typeface="Cambria Math" panose="02040503050406030204" pitchFamily="18" charset="0"/>
                  </a:rPr>
                  <a:t>$f'$</a:t>
                </a:r>
                <a:r>
                  <a:rPr sz="2400" b="0">
                    <a:solidFill>
                      <a:srgbClr val="111827"/>
                    </a:solidFill>
                    <a:latin typeface="Arial"/>
                  </a:rPr>
                  <a:t> is increasing on </a:t>
                </a:r>
                <a:r>
                  <a:rPr lang="en-IN" sz="2400">
                    <a:solidFill>
                      <a:srgbClr val="111827"/>
                    </a:solidFill>
                    <a:latin typeface="Cambria Math" panose="02040503050406030204" pitchFamily="18" charset="0"/>
                  </a:rPr>
                  <a:t>$[2,\beta]$</a:t>
                </a:r>
                <a:r>
                  <a:rPr sz="2400" b="0">
                    <a:solidFill>
                      <a:srgbClr val="111827"/>
                    </a:solidFill>
                    <a:latin typeface="Arial"/>
                  </a:rPr>
                  <a:t>, IVT gives </a:t>
                </a:r>
                <a:r>
                  <a:rPr lang="en-IN" sz="2400">
                    <a:solidFill>
                      <a:srgbClr val="111827"/>
                    </a:solidFill>
                    <a:latin typeface="Cambria Math" panose="02040503050406030204" pitchFamily="18" charset="0"/>
                  </a:rPr>
                  <a:t>$x_3\in(2,\beta)=(2,x_4)$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$x_3&lt;x_4$</a:t>
                </a:r>
                <a:r>
                  <a:rPr sz="2400" b="0">
                    <a:solidFill>
                      <a:srgbClr val="111827"/>
                    </a:solidFill>
                    <a:latin typeface="Arial"/>
                  </a:rPr>
                  <a:t> exists and S2 is true: option (A).</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both (S1) and (S2) are true</a:t>
            </a:r>
            <a:endParaRPr sz="2800">
              <a:solidFill>
                <a:srgbClr val="15803D"/>
              </a:solidFill>
            </a:endParaRP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 cubic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oMath>
                </a14:m>
                <a:r>
                  <a:rPr sz="2400" b="0">
                    <a:solidFill>
                      <a:srgbClr val="111827"/>
                    </a:solidFill>
                    <a:latin typeface="Arial"/>
                  </a:rPr>
                  <a:t> the turning points are the roots of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is monotone between its vertex and a root, so values can be hit by IVT.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is decreasing 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increasing 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then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(differentiable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𝑐</m:t>
                    </m:r>
                  </m:oMath>
                </a14:m>
                <a:r>
                  <a:rPr sz="2400" b="0">
                    <a:solidFill>
                      <a:srgbClr val="111827"/>
                    </a:solidFill>
                    <a:latin typeface="Arial"/>
                  </a:rPr>
                  <a:t> is the local minimum.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cubic with roots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use the factored form to read off sign and monotonicity quickly.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Existence statements ('there exists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with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oMath>
                </a14:m>
                <a:r>
                  <a:rPr sz="2400" b="0">
                    <a:solidFill>
                      <a:srgbClr val="111827"/>
                    </a:solidFill>
                    <a:latin typeface="Arial"/>
                  </a:rPr>
                  <a:t>') are usually settled by IVT on a monotone piece of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before any equation-solving.</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 cubic </a:t>
                </a:r>
                <a:r>
                  <a:rPr lang="en-IN" sz="2400">
                    <a:solidFill>
                      <a:srgbClr val="111827"/>
                    </a:solidFill>
                    <a:latin typeface="Cambria Math" panose="02040503050406030204" pitchFamily="18" charset="0"/>
                  </a:rPr>
                  <a:t>$x^3+px^2+qx+r$</a:t>
                </a:r>
                <a:r>
                  <a:rPr sz="2400" b="0">
                    <a:solidFill>
                      <a:srgbClr val="111827"/>
                    </a:solidFill>
                    <a:latin typeface="Arial"/>
                  </a:rPr>
                  <a:t> the turning points are the roots of </a:t>
                </a:r>
                <a:r>
                  <a:rPr lang="en-IN" sz="2400">
                    <a:solidFill>
                      <a:srgbClr val="111827"/>
                    </a:solidFill>
                    <a:latin typeface="Cambria Math" panose="02040503050406030204" pitchFamily="18" charset="0"/>
                  </a:rPr>
                  <a:t>$f'=0$</a:t>
                </a:r>
                <a:r>
                  <a:rPr sz="2400" b="0">
                    <a:solidFill>
                      <a:srgbClr val="111827"/>
                    </a:solidFill>
                    <a:latin typeface="Arial"/>
                  </a:rPr>
                  <a:t>; </a:t>
                </a:r>
                <a:r>
                  <a:rPr lang="en-IN" sz="2400">
                    <a:solidFill>
                      <a:srgbClr val="111827"/>
                    </a:solidFill>
                    <a:latin typeface="Cambria Math" panose="02040503050406030204" pitchFamily="18" charset="0"/>
                  </a:rPr>
                  <a:t>$f'$</a:t>
                </a:r>
                <a:r>
                  <a:rPr sz="2400" b="0">
                    <a:solidFill>
                      <a:srgbClr val="111827"/>
                    </a:solidFill>
                    <a:latin typeface="Arial"/>
                  </a:rPr>
                  <a:t> is monotone between its vertex and a root, so values can be hit by IVT.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$f$</a:t>
                </a:r>
                <a:r>
                  <a:rPr sz="2400" b="0">
                    <a:solidFill>
                      <a:srgbClr val="111827"/>
                    </a:solidFill>
                    <a:latin typeface="Arial"/>
                  </a:rPr>
                  <a:t> is decreasing on </a:t>
                </a:r>
                <a:r>
                  <a:rPr lang="en-IN" sz="2400">
                    <a:solidFill>
                      <a:srgbClr val="111827"/>
                    </a:solidFill>
                    <a:latin typeface="Cambria Math" panose="02040503050406030204" pitchFamily="18" charset="0"/>
                  </a:rPr>
                  <a:t>$(m,c)$</a:t>
                </a:r>
                <a:r>
                  <a:rPr sz="2400" b="0">
                    <a:solidFill>
                      <a:srgbClr val="111827"/>
                    </a:solidFill>
                    <a:latin typeface="Arial"/>
                  </a:rPr>
                  <a:t> and increasing on </a:t>
                </a:r>
                <a:r>
                  <a:rPr lang="en-IN" sz="2400">
                    <a:solidFill>
                      <a:srgbClr val="111827"/>
                    </a:solidFill>
                    <a:latin typeface="Cambria Math" panose="02040503050406030204" pitchFamily="18" charset="0"/>
                  </a:rPr>
                  <a:t>$(c,n)$</a:t>
                </a:r>
                <a:r>
                  <a:rPr sz="2400" b="0">
                    <a:solidFill>
                      <a:srgbClr val="111827"/>
                    </a:solidFill>
                    <a:latin typeface="Arial"/>
                  </a:rPr>
                  <a:t> then </a:t>
                </a:r>
                <a:r>
                  <a:rPr lang="en-IN" sz="2400">
                    <a:solidFill>
                      <a:srgbClr val="111827"/>
                    </a:solidFill>
                    <a:latin typeface="Cambria Math" panose="02040503050406030204" pitchFamily="18" charset="0"/>
                  </a:rPr>
                  <a:t>$f'(c)=0$</a:t>
                </a:r>
                <a:r>
                  <a:rPr sz="2400" b="0">
                    <a:solidFill>
                      <a:srgbClr val="111827"/>
                    </a:solidFill>
                    <a:latin typeface="Arial"/>
                  </a:rPr>
                  <a:t> (differentiable </a:t>
                </a:r>
                <a:r>
                  <a:rPr lang="en-IN" sz="2400">
                    <a:solidFill>
                      <a:srgbClr val="111827"/>
                    </a:solidFill>
                    <a:latin typeface="Cambria Math" panose="02040503050406030204" pitchFamily="18" charset="0"/>
                  </a:rPr>
                  <a:t>$f$</a:t>
                </a:r>
                <a:r>
                  <a:rPr sz="2400" b="0">
                    <a:solidFill>
                      <a:srgbClr val="111827"/>
                    </a:solidFill>
                    <a:latin typeface="Arial"/>
                  </a:rPr>
                  <a:t>): </a:t>
                </a:r>
                <a:r>
                  <a:rPr lang="en-IN" sz="2400">
                    <a:solidFill>
                      <a:srgbClr val="111827"/>
                    </a:solidFill>
                    <a:latin typeface="Cambria Math" panose="02040503050406030204" pitchFamily="18" charset="0"/>
                  </a:rPr>
                  <a:t>$c$</a:t>
                </a:r>
                <a:r>
                  <a:rPr sz="2400" b="0">
                    <a:solidFill>
                      <a:srgbClr val="111827"/>
                    </a:solidFill>
                    <a:latin typeface="Arial"/>
                  </a:rPr>
                  <a:t> is the local minimum.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cubic with roots </a:t>
                </a:r>
                <a:r>
                  <a:rPr lang="en-IN" sz="2400">
                    <a:solidFill>
                      <a:srgbClr val="111827"/>
                    </a:solidFill>
                    <a:latin typeface="Cambria Math" panose="02040503050406030204" pitchFamily="18" charset="0"/>
                  </a:rPr>
                  <a:t>$2,4$</a:t>
                </a:r>
                <a:r>
                  <a:rPr sz="2400" b="0">
                    <a:solidFill>
                      <a:srgbClr val="111827"/>
                    </a:solidFill>
                    <a:latin typeface="Arial"/>
                  </a:rPr>
                  <a:t> and </a:t>
                </a:r>
                <a:r>
                  <a:rPr lang="en-IN" sz="2400">
                    <a:solidFill>
                      <a:srgbClr val="111827"/>
                    </a:solidFill>
                    <a:latin typeface="Cambria Math" panose="02040503050406030204" pitchFamily="18" charset="0"/>
                  </a:rPr>
                  <a:t>$0$</a:t>
                </a:r>
                <a:r>
                  <a:rPr sz="2400" b="0">
                    <a:solidFill>
                      <a:srgbClr val="111827"/>
                    </a:solidFill>
                    <a:latin typeface="Arial"/>
                  </a:rPr>
                  <a:t> is </a:t>
                </a:r>
                <a:r>
                  <a:rPr lang="en-IN" sz="2400">
                    <a:solidFill>
                      <a:srgbClr val="111827"/>
                    </a:solidFill>
                    <a:latin typeface="Cambria Math" panose="02040503050406030204" pitchFamily="18" charset="0"/>
                  </a:rPr>
                  <a:t>$x(x-2)(x-4)$</a:t>
                </a:r>
                <a:r>
                  <a:rPr sz="2400" b="0">
                    <a:solidFill>
                      <a:srgbClr val="111827"/>
                    </a:solidFill>
                    <a:latin typeface="Arial"/>
                  </a:rPr>
                  <a:t>: use the factored form to read off sign and monotonicity quickly.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Existence statements ('there exists </a:t>
                </a:r>
                <a:r>
                  <a:rPr lang="en-IN" sz="2400">
                    <a:solidFill>
                      <a:srgbClr val="111827"/>
                    </a:solidFill>
                    <a:latin typeface="Cambria Math" panose="02040503050406030204" pitchFamily="18" charset="0"/>
                  </a:rPr>
                  <a:t>$x$</a:t>
                </a:r>
                <a:r>
                  <a:rPr sz="2400" b="0">
                    <a:solidFill>
                      <a:srgbClr val="111827"/>
                    </a:solidFill>
                    <a:latin typeface="Arial"/>
                  </a:rPr>
                  <a:t> with </a:t>
                </a:r>
                <a:r>
                  <a:rPr lang="en-IN" sz="2400">
                    <a:solidFill>
                      <a:srgbClr val="111827"/>
                    </a:solidFill>
                    <a:latin typeface="Cambria Math" panose="02040503050406030204" pitchFamily="18" charset="0"/>
                  </a:rPr>
                  <a:t>$f'(x)=k$</a:t>
                </a:r>
                <a:r>
                  <a:rPr sz="2400" b="0">
                    <a:solidFill>
                      <a:srgbClr val="111827"/>
                    </a:solidFill>
                    <a:latin typeface="Arial"/>
                  </a:rPr>
                  <a:t>') are usually settled by IVT on a monotone piece of </a:t>
                </a:r>
                <a:r>
                  <a:rPr lang="en-IN" sz="2400">
                    <a:solidFill>
                      <a:srgbClr val="111827"/>
                    </a:solidFill>
                    <a:latin typeface="Cambria Math" panose="02040503050406030204" pitchFamily="18" charset="0"/>
                  </a:rPr>
                  <a:t>$f'$</a:t>
                </a:r>
                <a:r>
                  <a:rPr sz="2400" b="0">
                    <a:solidFill>
                      <a:srgbClr val="111827"/>
                    </a:solidFill>
                    <a:latin typeface="Arial"/>
                  </a:rPr>
                  <a:t> before any equation-solving.</a:t>
                </a:r>
                <a:endParaRPr sz="2400">
                  <a:solidFill>
                    <a:srgbClr val="111827"/>
                  </a:solidFill>
                </a:endParaRPr>
              </a:p>
            </p:txBody>
          </p:sp>
        </mc:Fallback>
      </mc:AlternateContent>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number of distinct real roots of the equation </a:t>
                </a:r>
                <a14:m>
                  <m:oMath xmlns:m="http://schemas.openxmlformats.org/officeDocument/2006/math">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is ______.</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number of distinct real roots of the equation </a:t>
                </a:r>
                <a:r>
                  <a:rPr lang="en-IN" sz="2400">
                    <a:solidFill>
                      <a:srgbClr val="111827"/>
                    </a:solidFill>
                    <a:latin typeface="Cambria Math" panose="02040503050406030204" pitchFamily="18" charset="0"/>
                  </a:rPr>
                  <a:t>$3x^{4}+4x^{3}-12x^{2}+4=0$</a:t>
                </a:r>
                <a:r>
                  <a:rPr sz="2400" b="0">
                    <a:solidFill>
                      <a:srgbClr val="111827"/>
                    </a:solidFill>
                    <a:latin typeface="Arial"/>
                  </a:rPr>
                  <a:t> is ______.</a:t>
                </a:r>
                <a:endParaRPr sz="2400">
                  <a:solidFill>
                    <a:srgbClr val="111827"/>
                  </a:solidFill>
                </a:endParaRPr>
              </a:p>
            </p:txBody>
          </p:sp>
        </mc:Fallback>
      </mc:AlternateContent>
      <p:sp>
        <p:nvSpPr>
          <p:cNvPr id="5" name="Rectangle 4"/>
          <p:cNvSpPr/>
          <p:nvPr/>
        </p:nvSpPr>
        <p:spPr>
          <a:xfrm>
            <a:off x="731520" y="324612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Number of real roots using extrema of a polynomial</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Locate the extremum values </a:t>
                </a:r>
                <a14:m>
                  <m:oMath xmlns:m="http://schemas.openxmlformats.org/officeDocument/2006/math">
                    <m:r>
                      <a:rPr lang="en-IN" sz="2400" i="1">
                        <a:solidFill>
                          <a:srgbClr val="78350F"/>
                        </a:solidFill>
                        <a:latin typeface="Cambria Math" panose="02040503050406030204" pitchFamily="18" charset="0"/>
                      </a:rPr>
                      <m:t>𝑓</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𝑓</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𝑓</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their alternating signs give a root in each monotone piece.</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Locate the extremum values </a:t>
                </a:r>
                <a:r>
                  <a:rPr lang="en-IN" sz="2400">
                    <a:solidFill>
                      <a:srgbClr val="78350F"/>
                    </a:solidFill>
                    <a:latin typeface="Cambria Math" panose="02040503050406030204" pitchFamily="18" charset="0"/>
                  </a:rPr>
                  <a:t>$f(-2),f(0),f(1)$</a:t>
                </a:r>
                <a:r>
                  <a:rPr sz="2400" b="0">
                    <a:solidFill>
                      <a:srgbClr val="78350F"/>
                    </a:solidFill>
                    <a:latin typeface="Arial"/>
                  </a:rPr>
                  <a:t>: their alternating signs give a root in each monotone piece.</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Sign of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negative on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positive on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negative 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positive 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has local minima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a local maximum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28</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$f(x)=3x^{4}+4x^{3}-12x^{2}+4$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$f'(x)=12x^{3}+12x^{2}-24x=12x(x-1)(x+2)$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Sign of </a:t>
                </a:r>
                <a:r>
                  <a:rPr lang="en-IN" sz="2400">
                    <a:solidFill>
                      <a:srgbClr val="111827"/>
                    </a:solidFill>
                    <a:latin typeface="Cambria Math" panose="02040503050406030204" pitchFamily="18" charset="0"/>
                  </a:rPr>
                  <a:t>$f'$</a:t>
                </a:r>
                <a:r>
                  <a:rPr sz="2400" b="0">
                    <a:solidFill>
                      <a:srgbClr val="111827"/>
                    </a:solidFill>
                    <a:latin typeface="Arial"/>
                  </a:rPr>
                  <a:t>: negative on </a:t>
                </a:r>
                <a:r>
                  <a:rPr lang="en-IN" sz="2400">
                    <a:solidFill>
                      <a:srgbClr val="111827"/>
                    </a:solidFill>
                    <a:latin typeface="Cambria Math" panose="02040503050406030204" pitchFamily="18" charset="0"/>
                  </a:rPr>
                  <a:t>$(-\infty,-2)$</a:t>
                </a:r>
                <a:r>
                  <a:rPr sz="2400" b="0">
                    <a:solidFill>
                      <a:srgbClr val="111827"/>
                    </a:solidFill>
                    <a:latin typeface="Arial"/>
                  </a:rPr>
                  <a:t>, positive on </a:t>
                </a:r>
                <a:r>
                  <a:rPr lang="en-IN" sz="2400">
                    <a:solidFill>
                      <a:srgbClr val="111827"/>
                    </a:solidFill>
                    <a:latin typeface="Cambria Math" panose="02040503050406030204" pitchFamily="18" charset="0"/>
                  </a:rPr>
                  <a:t>$(-2,0)$</a:t>
                </a:r>
                <a:r>
                  <a:rPr sz="2400" b="0">
                    <a:solidFill>
                      <a:srgbClr val="111827"/>
                    </a:solidFill>
                    <a:latin typeface="Arial"/>
                  </a:rPr>
                  <a:t>, negative on </a:t>
                </a:r>
                <a:r>
                  <a:rPr lang="en-IN" sz="2400">
                    <a:solidFill>
                      <a:srgbClr val="111827"/>
                    </a:solidFill>
                    <a:latin typeface="Cambria Math" panose="02040503050406030204" pitchFamily="18" charset="0"/>
                  </a:rPr>
                  <a:t>$(0,1)$</a:t>
                </a:r>
                <a:r>
                  <a:rPr sz="2400" b="0">
                    <a:solidFill>
                      <a:srgbClr val="111827"/>
                    </a:solidFill>
                    <a:latin typeface="Arial"/>
                  </a:rPr>
                  <a:t>, positive on </a:t>
                </a:r>
                <a:r>
                  <a:rPr lang="en-IN" sz="2400">
                    <a:solidFill>
                      <a:srgbClr val="111827"/>
                    </a:solidFill>
                    <a:latin typeface="Cambria Math" panose="02040503050406030204" pitchFamily="18" charset="0"/>
                  </a:rPr>
                  <a:t>$(1,\infty)$</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$f$</a:t>
                </a:r>
                <a:r>
                  <a:rPr sz="2400" b="0">
                    <a:solidFill>
                      <a:srgbClr val="111827"/>
                    </a:solidFill>
                    <a:latin typeface="Arial"/>
                  </a:rPr>
                  <a:t> has local minima at </a:t>
                </a:r>
                <a:r>
                  <a:rPr lang="en-IN" sz="2400">
                    <a:solidFill>
                      <a:srgbClr val="111827"/>
                    </a:solidFill>
                    <a:latin typeface="Cambria Math" panose="02040503050406030204" pitchFamily="18" charset="0"/>
                  </a:rPr>
                  <a:t>$x=-2$</a:t>
                </a:r>
                <a:r>
                  <a:rPr sz="2400" b="0">
                    <a:solidFill>
                      <a:srgbClr val="111827"/>
                    </a:solidFill>
                    <a:latin typeface="Arial"/>
                  </a:rPr>
                  <a:t> and </a:t>
                </a:r>
                <a:r>
                  <a:rPr lang="en-IN" sz="2400">
                    <a:solidFill>
                      <a:srgbClr val="111827"/>
                    </a:solidFill>
                    <a:latin typeface="Cambria Math" panose="02040503050406030204" pitchFamily="18" charset="0"/>
                  </a:rPr>
                  <a:t>$x=1$</a:t>
                </a:r>
                <a:r>
                  <a:rPr sz="2400" b="0">
                    <a:solidFill>
                      <a:srgbClr val="111827"/>
                    </a:solidFill>
                    <a:latin typeface="Arial"/>
                  </a:rPr>
                  <a:t>, and a local maximum at </a:t>
                </a:r>
                <a:r>
                  <a:rPr lang="en-IN" sz="2400">
                    <a:solidFill>
                      <a:srgbClr val="111827"/>
                    </a:solidFill>
                    <a:latin typeface="Cambria Math" panose="02040503050406030204" pitchFamily="18" charset="0"/>
                  </a:rPr>
                  <a:t>$x=0$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$f(-2)=48-32-48+4=-28&lt;0$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changes sign once in each of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is monotone on each.</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there are exactly 4 distinct real roots.</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$f(0)=4&gt;0$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$f(1)=3+4-12+4=-1&lt;0$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As </a:t>
                </a:r>
                <a:r>
                  <a:rPr lang="en-IN" sz="2400">
                    <a:solidFill>
                      <a:srgbClr val="111827"/>
                    </a:solidFill>
                    <a:latin typeface="Cambria Math" panose="02040503050406030204" pitchFamily="18" charset="0"/>
                  </a:rPr>
                  <a:t>$x\to\pm\infty$</a:t>
                </a:r>
                <a:r>
                  <a:rPr sz="2400" b="0">
                    <a:solidFill>
                      <a:srgbClr val="111827"/>
                    </a:solidFill>
                    <a:latin typeface="Arial"/>
                  </a:rPr>
                  <a:t>, </a:t>
                </a:r>
                <a:r>
                  <a:rPr lang="en-IN" sz="2400">
                    <a:solidFill>
                      <a:srgbClr val="111827"/>
                    </a:solidFill>
                    <a:latin typeface="Cambria Math" panose="02040503050406030204" pitchFamily="18" charset="0"/>
                  </a:rPr>
                  <a:t>$f\to+\infty$</a:t>
                </a:r>
                <a:r>
                  <a:rPr sz="2400" b="0">
                    <a:solidFill>
                      <a:srgbClr val="111827"/>
                    </a:solidFill>
                    <a:latin typeface="Arial"/>
                  </a:rPr>
                  <a:t>. So </a:t>
                </a:r>
                <a:r>
                  <a:rPr lang="en-IN" sz="2400">
                    <a:solidFill>
                      <a:srgbClr val="111827"/>
                    </a:solidFill>
                    <a:latin typeface="Cambria Math" panose="02040503050406030204" pitchFamily="18" charset="0"/>
                  </a:rPr>
                  <a:t>$f$</a:t>
                </a:r>
                <a:r>
                  <a:rPr sz="2400" b="0">
                    <a:solidFill>
                      <a:srgbClr val="111827"/>
                    </a:solidFill>
                    <a:latin typeface="Arial"/>
                  </a:rPr>
                  <a:t> changes sign once in each of </a:t>
                </a:r>
                <a:r>
                  <a:rPr lang="en-IN" sz="2400">
                    <a:solidFill>
                      <a:srgbClr val="111827"/>
                    </a:solidFill>
                    <a:latin typeface="Cambria Math" panose="02040503050406030204" pitchFamily="18" charset="0"/>
                  </a:rPr>
                  <a:t>$(-\infty,-2)$</a:t>
                </a:r>
                <a:r>
                  <a:rPr sz="2400" b="0">
                    <a:solidFill>
                      <a:srgbClr val="111827"/>
                    </a:solidFill>
                    <a:latin typeface="Arial"/>
                  </a:rPr>
                  <a:t>, </a:t>
                </a:r>
                <a:r>
                  <a:rPr lang="en-IN" sz="2400">
                    <a:solidFill>
                      <a:srgbClr val="111827"/>
                    </a:solidFill>
                    <a:latin typeface="Cambria Math" panose="02040503050406030204" pitchFamily="18" charset="0"/>
                  </a:rPr>
                  <a:t>$(-2,0)$</a:t>
                </a:r>
                <a:r>
                  <a:rPr sz="2400" b="0">
                    <a:solidFill>
                      <a:srgbClr val="111827"/>
                    </a:solidFill>
                    <a:latin typeface="Arial"/>
                  </a:rPr>
                  <a:t>, </a:t>
                </a:r>
                <a:r>
                  <a:rPr lang="en-IN" sz="2400">
                    <a:solidFill>
                      <a:srgbClr val="111827"/>
                    </a:solidFill>
                    <a:latin typeface="Cambria Math" panose="02040503050406030204" pitchFamily="18" charset="0"/>
                  </a:rPr>
                  <a:t>$(0,1)$</a:t>
                </a:r>
                <a:r>
                  <a:rPr sz="2400" b="0">
                    <a:solidFill>
                      <a:srgbClr val="111827"/>
                    </a:solidFill>
                    <a:latin typeface="Arial"/>
                  </a:rPr>
                  <a:t>, </a:t>
                </a:r>
                <a:r>
                  <a:rPr lang="en-IN" sz="2400">
                    <a:solidFill>
                      <a:srgbClr val="111827"/>
                    </a:solidFill>
                    <a:latin typeface="Cambria Math" panose="02040503050406030204" pitchFamily="18" charset="0"/>
                  </a:rPr>
                  <a:t>$(1,\infty)$</a:t>
                </a:r>
                <a:r>
                  <a:rPr sz="2400" b="0">
                    <a:solidFill>
                      <a:srgbClr val="111827"/>
                    </a:solidFill>
                    <a:latin typeface="Arial"/>
                  </a:rPr>
                  <a:t>, and is monotone on each.</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there are exactly 4 distinct real roots.</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4</a:t>
            </a:r>
            <a:endParaRPr sz="2800">
              <a:solidFill>
                <a:srgbClr val="15803D"/>
              </a:solidFill>
            </a:endParaRP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Combine Descartes' rule of signs with sign checks at a few points: no derivative needed.</a:t>
            </a:r>
            <a:endParaRPr sz="2400">
              <a:solidFill>
                <a:srgbClr val="78350F"/>
              </a:solidFill>
            </a:endParaRPr>
          </a:p>
        </p:txBody>
      </p:sp>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has coefficient signs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two sign changes, so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positive roots.</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has signs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two sign changes, so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negative roots.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is not a root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there is a root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one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exactly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positive roots.</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$f(x)=3x^{4}+4x^{3}-12x^{2}+4$</a:t>
                </a:r>
                <a:r>
                  <a:rPr sz="2400" b="0">
                    <a:solidFill>
                      <a:srgbClr val="111827"/>
                    </a:solidFill>
                    <a:latin typeface="Arial"/>
                  </a:rPr>
                  <a:t> has coefficient signs </a:t>
                </a:r>
                <a:r>
                  <a:rPr lang="en-IN" sz="2400">
                    <a:solidFill>
                      <a:srgbClr val="111827"/>
                    </a:solidFill>
                    <a:latin typeface="Cambria Math" panose="02040503050406030204" pitchFamily="18" charset="0"/>
                  </a:rPr>
                  <a:t>$+,+,-,+$</a:t>
                </a:r>
                <a:r>
                  <a:rPr sz="2400" b="0">
                    <a:solidFill>
                      <a:srgbClr val="111827"/>
                    </a:solidFill>
                    <a:latin typeface="Arial"/>
                  </a:rPr>
                  <a:t>: two sign changes, so </a:t>
                </a:r>
                <a:r>
                  <a:rPr lang="en-IN" sz="2400">
                    <a:solidFill>
                      <a:srgbClr val="111827"/>
                    </a:solidFill>
                    <a:latin typeface="Cambria Math" panose="02040503050406030204" pitchFamily="18" charset="0"/>
                  </a:rPr>
                  <a:t>$0$</a:t>
                </a:r>
                <a:r>
                  <a:rPr sz="2400" b="0">
                    <a:solidFill>
                      <a:srgbClr val="111827"/>
                    </a:solidFill>
                    <a:latin typeface="Arial"/>
                  </a:rPr>
                  <a:t> or </a:t>
                </a:r>
                <a:r>
                  <a:rPr lang="en-IN" sz="2400">
                    <a:solidFill>
                      <a:srgbClr val="111827"/>
                    </a:solidFill>
                    <a:latin typeface="Cambria Math" panose="02040503050406030204" pitchFamily="18" charset="0"/>
                  </a:rPr>
                  <a:t>$2$</a:t>
                </a:r>
                <a:r>
                  <a:rPr sz="2400" b="0">
                    <a:solidFill>
                      <a:srgbClr val="111827"/>
                    </a:solidFill>
                    <a:latin typeface="Arial"/>
                  </a:rPr>
                  <a:t> positive roots.</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$f(-x)=3x^{4}-4x^{3}-12x^{2}+4$</a:t>
                </a:r>
                <a:r>
                  <a:rPr sz="2400" b="0">
                    <a:solidFill>
                      <a:srgbClr val="111827"/>
                    </a:solidFill>
                    <a:latin typeface="Arial"/>
                  </a:rPr>
                  <a:t> has signs </a:t>
                </a:r>
                <a:r>
                  <a:rPr lang="en-IN" sz="2400">
                    <a:solidFill>
                      <a:srgbClr val="111827"/>
                    </a:solidFill>
                    <a:latin typeface="Cambria Math" panose="02040503050406030204" pitchFamily="18" charset="0"/>
                  </a:rPr>
                  <a:t>$+,-,-,+$</a:t>
                </a:r>
                <a:r>
                  <a:rPr sz="2400" b="0">
                    <a:solidFill>
                      <a:srgbClr val="111827"/>
                    </a:solidFill>
                    <a:latin typeface="Arial"/>
                  </a:rPr>
                  <a:t>: two sign changes, so </a:t>
                </a:r>
                <a:r>
                  <a:rPr lang="en-IN" sz="2400">
                    <a:solidFill>
                      <a:srgbClr val="111827"/>
                    </a:solidFill>
                    <a:latin typeface="Cambria Math" panose="02040503050406030204" pitchFamily="18" charset="0"/>
                  </a:rPr>
                  <a:t>$0$</a:t>
                </a:r>
                <a:r>
                  <a:rPr sz="2400" b="0">
                    <a:solidFill>
                      <a:srgbClr val="111827"/>
                    </a:solidFill>
                    <a:latin typeface="Arial"/>
                  </a:rPr>
                  <a:t> or </a:t>
                </a:r>
                <a:r>
                  <a:rPr lang="en-IN" sz="2400">
                    <a:solidFill>
                      <a:srgbClr val="111827"/>
                    </a:solidFill>
                    <a:latin typeface="Cambria Math" panose="02040503050406030204" pitchFamily="18" charset="0"/>
                  </a:rPr>
                  <a:t>$2$</a:t>
                </a:r>
                <a:r>
                  <a:rPr sz="2400" b="0">
                    <a:solidFill>
                      <a:srgbClr val="111827"/>
                    </a:solidFill>
                    <a:latin typeface="Arial"/>
                  </a:rPr>
                  <a:t> negative roots. </a:t>
                </a:r>
                <a:r>
                  <a:rPr lang="en-IN" sz="2400">
                    <a:solidFill>
                      <a:srgbClr val="111827"/>
                    </a:solidFill>
                    <a:latin typeface="Cambria Math" panose="02040503050406030204" pitchFamily="18" charset="0"/>
                  </a:rPr>
                  <a:t>$x=0$</a:t>
                </a:r>
                <a:r>
                  <a:rPr sz="2400" b="0">
                    <a:solidFill>
                      <a:srgbClr val="111827"/>
                    </a:solidFill>
                    <a:latin typeface="Arial"/>
                  </a:rPr>
                  <a:t> is not a root (</a:t>
                </a:r>
                <a:r>
                  <a:rPr lang="en-IN" sz="2400">
                    <a:solidFill>
                      <a:srgbClr val="111827"/>
                    </a:solidFill>
                    <a:latin typeface="Cambria Math" panose="02040503050406030204" pitchFamily="18" charset="0"/>
                  </a:rPr>
                  <a:t>$f(0)=4$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$f(0)=4&gt;0$</a:t>
                </a:r>
                <a:r>
                  <a:rPr sz="2400" b="0">
                    <a:solidFill>
                      <a:srgbClr val="111827"/>
                    </a:solidFill>
                    <a:latin typeface="Arial"/>
                  </a:rPr>
                  <a:t>, </a:t>
                </a:r>
                <a:r>
                  <a:rPr lang="en-IN" sz="2400">
                    <a:solidFill>
                      <a:srgbClr val="111827"/>
                    </a:solidFill>
                    <a:latin typeface="Cambria Math" panose="02040503050406030204" pitchFamily="18" charset="0"/>
                  </a:rPr>
                  <a:t>$f(1)=-1&lt;0$</a:t>
                </a:r>
                <a:r>
                  <a:rPr sz="2400" b="0">
                    <a:solidFill>
                      <a:srgbClr val="111827"/>
                    </a:solidFill>
                    <a:latin typeface="Arial"/>
                  </a:rPr>
                  <a:t>, and </a:t>
                </a:r>
                <a:r>
                  <a:rPr lang="en-IN" sz="2400">
                    <a:solidFill>
                      <a:srgbClr val="111827"/>
                    </a:solidFill>
                    <a:latin typeface="Cambria Math" panose="02040503050406030204" pitchFamily="18" charset="0"/>
                  </a:rPr>
                  <a:t>$f\to+\infty$</a:t>
                </a:r>
                <a:r>
                  <a:rPr sz="2400" b="0">
                    <a:solidFill>
                      <a:srgbClr val="111827"/>
                    </a:solidFill>
                    <a:latin typeface="Arial"/>
                  </a:rPr>
                  <a:t>: there is a root in </a:t>
                </a:r>
                <a:r>
                  <a:rPr lang="en-IN" sz="2400">
                    <a:solidFill>
                      <a:srgbClr val="111827"/>
                    </a:solidFill>
                    <a:latin typeface="Cambria Math" panose="02040503050406030204" pitchFamily="18" charset="0"/>
                  </a:rPr>
                  <a:t>$(0,1)$</a:t>
                </a:r>
                <a:r>
                  <a:rPr sz="2400" b="0">
                    <a:solidFill>
                      <a:srgbClr val="111827"/>
                    </a:solidFill>
                    <a:latin typeface="Arial"/>
                  </a:rPr>
                  <a:t> and one in </a:t>
                </a:r>
                <a:r>
                  <a:rPr lang="en-IN" sz="2400">
                    <a:solidFill>
                      <a:srgbClr val="111827"/>
                    </a:solidFill>
                    <a:latin typeface="Cambria Math" panose="02040503050406030204" pitchFamily="18" charset="0"/>
                  </a:rPr>
                  <a:t>$(1,\infty)$</a:t>
                </a:r>
                <a:r>
                  <a:rPr sz="2400" b="0">
                    <a:solidFill>
                      <a:srgbClr val="111827"/>
                    </a:solidFill>
                    <a:latin typeface="Arial"/>
                  </a:rPr>
                  <a:t>, so exactly </a:t>
                </a:r>
                <a:r>
                  <a:rPr lang="en-IN" sz="2400">
                    <a:solidFill>
                      <a:srgbClr val="111827"/>
                    </a:solidFill>
                    <a:latin typeface="Cambria Math" panose="02040503050406030204" pitchFamily="18" charset="0"/>
                  </a:rPr>
                  <a:t>$2$</a:t>
                </a:r>
                <a:r>
                  <a:rPr sz="2400" b="0">
                    <a:solidFill>
                      <a:srgbClr val="111827"/>
                    </a:solidFill>
                    <a:latin typeface="Arial"/>
                  </a:rPr>
                  <a:t> positive roots.</a:t>
                </a:r>
                <a:endParaRPr sz="2400">
                  <a:solidFill>
                    <a:srgbClr val="111827"/>
                  </a:solidFill>
                </a:endParaRPr>
              </a:p>
            </p:txBody>
          </p:sp>
        </mc:Fallback>
      </mc:AlternateContent>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roots in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exactly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negative roots.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real roots, all distinct since they lie in disjoint intervals.</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$f(-1)=3-4-12+4=-9&lt;0$</a:t>
                </a:r>
                <a:r>
                  <a:rPr sz="2400" b="0">
                    <a:solidFill>
                      <a:srgbClr val="111827"/>
                    </a:solidFill>
                    <a:latin typeface="Arial"/>
                  </a:rPr>
                  <a:t>, </a:t>
                </a:r>
                <a:r>
                  <a:rPr lang="en-IN" sz="2400">
                    <a:solidFill>
                      <a:srgbClr val="111827"/>
                    </a:solidFill>
                    <a:latin typeface="Cambria Math" panose="02040503050406030204" pitchFamily="18" charset="0"/>
                  </a:rPr>
                  <a:t>$f(0)&gt;0$</a:t>
                </a:r>
                <a:r>
                  <a:rPr sz="2400" b="0">
                    <a:solidFill>
                      <a:srgbClr val="111827"/>
                    </a:solidFill>
                    <a:latin typeface="Arial"/>
                  </a:rPr>
                  <a:t>, and </a:t>
                </a:r>
                <a:r>
                  <a:rPr lang="en-IN" sz="2400">
                    <a:solidFill>
                      <a:srgbClr val="111827"/>
                    </a:solidFill>
                    <a:latin typeface="Cambria Math" panose="02040503050406030204" pitchFamily="18" charset="0"/>
                  </a:rPr>
                  <a:t>$f\to+\infty$</a:t>
                </a:r>
                <a:r>
                  <a:rPr sz="2400" b="0">
                    <a:solidFill>
                      <a:srgbClr val="111827"/>
                    </a:solidFill>
                    <a:latin typeface="Arial"/>
                  </a:rPr>
                  <a:t> as </a:t>
                </a:r>
                <a:r>
                  <a:rPr lang="en-IN" sz="2400">
                    <a:solidFill>
                      <a:srgbClr val="111827"/>
                    </a:solidFill>
                    <a:latin typeface="Cambria Math" panose="02040503050406030204" pitchFamily="18" charset="0"/>
                  </a:rPr>
                  <a:t>$x\to-\infty$</a:t>
                </a:r>
                <a:r>
                  <a:rPr sz="2400" b="0">
                    <a:solidFill>
                      <a:srgbClr val="111827"/>
                    </a:solidFill>
                    <a:latin typeface="Arial"/>
                  </a:rPr>
                  <a:t>: roots in </a:t>
                </a:r>
                <a:r>
                  <a:rPr lang="en-IN" sz="2400">
                    <a:solidFill>
                      <a:srgbClr val="111827"/>
                    </a:solidFill>
                    <a:latin typeface="Cambria Math" panose="02040503050406030204" pitchFamily="18" charset="0"/>
                  </a:rPr>
                  <a:t>$(-1,0)$</a:t>
                </a:r>
                <a:r>
                  <a:rPr sz="2400" b="0">
                    <a:solidFill>
                      <a:srgbClr val="111827"/>
                    </a:solidFill>
                    <a:latin typeface="Arial"/>
                  </a:rPr>
                  <a:t> and </a:t>
                </a:r>
                <a:r>
                  <a:rPr lang="en-IN" sz="2400">
                    <a:solidFill>
                      <a:srgbClr val="111827"/>
                    </a:solidFill>
                    <a:latin typeface="Cambria Math" panose="02040503050406030204" pitchFamily="18" charset="0"/>
                  </a:rPr>
                  <a:t>$(-\infty,-1)$</a:t>
                </a:r>
                <a:r>
                  <a:rPr sz="2400" b="0">
                    <a:solidFill>
                      <a:srgbClr val="111827"/>
                    </a:solidFill>
                    <a:latin typeface="Arial"/>
                  </a:rPr>
                  <a:t>, so exactly </a:t>
                </a:r>
                <a:r>
                  <a:rPr lang="en-IN" sz="2400">
                    <a:solidFill>
                      <a:srgbClr val="111827"/>
                    </a:solidFill>
                    <a:latin typeface="Cambria Math" panose="02040503050406030204" pitchFamily="18" charset="0"/>
                  </a:rPr>
                  <a:t>$2$</a:t>
                </a:r>
                <a:r>
                  <a:rPr sz="2400" b="0">
                    <a:solidFill>
                      <a:srgbClr val="111827"/>
                    </a:solidFill>
                    <a:latin typeface="Arial"/>
                  </a:rPr>
                  <a:t> negative roots.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r>
                  <a:rPr lang="en-IN" sz="2400">
                    <a:solidFill>
                      <a:srgbClr val="111827"/>
                    </a:solidFill>
                    <a:latin typeface="Cambria Math" panose="02040503050406030204" pitchFamily="18" charset="0"/>
                  </a:rPr>
                  <a:t>$2+2=4$</a:t>
                </a:r>
                <a:r>
                  <a:rPr sz="2400" b="0">
                    <a:solidFill>
                      <a:srgbClr val="111827"/>
                    </a:solidFill>
                    <a:latin typeface="Arial"/>
                  </a:rPr>
                  <a:t> real roots, all distinct since they lie in disjoint intervals.</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4</a:t>
            </a:r>
            <a:endParaRPr sz="2800">
              <a:solidFill>
                <a:srgbClr val="15803D"/>
              </a:solidFill>
            </a:endParaRP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 polynomial, the number of distinct real roots can be read from the extremum values: one root in each monotone piece whose end values have opposite signs.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Descartes' rule bounds positive roots by sign changes of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negative roots by sign changes of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true count differs by an even number.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quartic with positive leading coefficient has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real roots (counted with multiplicity, apart from double roots).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 local minimum value is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the polynomial has a repeated root there.</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 polynomial, the number of distinct real roots can be read from the extremum values: one root in each monotone piece whose end values have opposite signs.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Descartes' rule bounds positive roots by sign changes of </a:t>
                </a:r>
                <a:r>
                  <a:rPr lang="en-IN" sz="2400">
                    <a:solidFill>
                      <a:srgbClr val="111827"/>
                    </a:solidFill>
                    <a:latin typeface="Cambria Math" panose="02040503050406030204" pitchFamily="18" charset="0"/>
                  </a:rPr>
                  <a:t>$f(x)$</a:t>
                </a:r>
                <a:r>
                  <a:rPr sz="2400" b="0">
                    <a:solidFill>
                      <a:srgbClr val="111827"/>
                    </a:solidFill>
                    <a:latin typeface="Arial"/>
                  </a:rPr>
                  <a:t> and negative roots by sign changes of </a:t>
                </a:r>
                <a:r>
                  <a:rPr lang="en-IN" sz="2400">
                    <a:solidFill>
                      <a:srgbClr val="111827"/>
                    </a:solidFill>
                    <a:latin typeface="Cambria Math" panose="02040503050406030204" pitchFamily="18" charset="0"/>
                  </a:rPr>
                  <a:t>$f(-x)$</a:t>
                </a:r>
                <a:r>
                  <a:rPr sz="2400" b="0">
                    <a:solidFill>
                      <a:srgbClr val="111827"/>
                    </a:solidFill>
                    <a:latin typeface="Arial"/>
                  </a:rPr>
                  <a:t>; the true count differs by an even number.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quartic with positive leading coefficient has </a:t>
                </a:r>
                <a:r>
                  <a:rPr lang="en-IN" sz="2400">
                    <a:solidFill>
                      <a:srgbClr val="111827"/>
                    </a:solidFill>
                    <a:latin typeface="Cambria Math" panose="02040503050406030204" pitchFamily="18" charset="0"/>
                  </a:rPr>
                  <a:t>$0,2$</a:t>
                </a:r>
                <a:r>
                  <a:rPr sz="2400" b="0">
                    <a:solidFill>
                      <a:srgbClr val="111827"/>
                    </a:solidFill>
                    <a:latin typeface="Arial"/>
                  </a:rPr>
                  <a:t> or </a:t>
                </a:r>
                <a:r>
                  <a:rPr lang="en-IN" sz="2400">
                    <a:solidFill>
                      <a:srgbClr val="111827"/>
                    </a:solidFill>
                    <a:latin typeface="Cambria Math" panose="02040503050406030204" pitchFamily="18" charset="0"/>
                  </a:rPr>
                  <a:t>$4$</a:t>
                </a:r>
                <a:r>
                  <a:rPr sz="2400" b="0">
                    <a:solidFill>
                      <a:srgbClr val="111827"/>
                    </a:solidFill>
                    <a:latin typeface="Arial"/>
                  </a:rPr>
                  <a:t> real roots (counted with multiplicity, apart from double roots).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 local minimum value is </a:t>
                </a:r>
                <a:r>
                  <a:rPr lang="en-IN" sz="2400">
                    <a:solidFill>
                      <a:srgbClr val="111827"/>
                    </a:solidFill>
                    <a:latin typeface="Cambria Math" panose="02040503050406030204" pitchFamily="18" charset="0"/>
                  </a:rPr>
                  <a:t>$0$</a:t>
                </a:r>
                <a:r>
                  <a:rPr sz="2400" b="0">
                    <a:solidFill>
                      <a:srgbClr val="111827"/>
                    </a:solidFill>
                    <a:latin typeface="Arial"/>
                  </a:rPr>
                  <a:t> the polynomial has a repeated root there.</a:t>
                </a:r>
                <a:endParaRPr sz="2400">
                  <a:solidFill>
                    <a:srgbClr val="111827"/>
                  </a:solidFill>
                </a:endParaRPr>
              </a:p>
            </p:txBody>
          </p:sp>
        </mc:Fallback>
      </mc:AlternateContent>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0081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the least value of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such that the function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is increasing 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𝑆</m:t>
                    </m:r>
                  </m:oMath>
                </a14:m>
                <a:r>
                  <a:rPr sz="2400" b="0">
                    <a:solidFill>
                      <a:srgbClr val="111827"/>
                    </a:solidFill>
                    <a:latin typeface="Arial"/>
                  </a:rPr>
                  <a:t> is the greatest value of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such that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is decreasing 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then the value of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______.</a:t>
                </a:r>
                <a:endParaRPr sz="2400">
                  <a:solidFill>
                    <a:srgbClr val="111827"/>
                  </a:solidFill>
                </a:endParaRPr>
              </a:p>
            </p:txBody>
          </p:sp>
        </mc:Choice>
        <mc:Fallback>
          <p:sp>
            <p:nvSpPr>
              <p:cNvPr id="4" name="Rounded Rectangle 3"/>
              <p:cNvSpPr/>
              <p:nvPr/>
            </p:nvSpPr>
            <p:spPr>
              <a:xfrm>
                <a:off x="731520" y="1280160"/>
                <a:ext cx="10725912" cy="20081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$R$</a:t>
                </a:r>
                <a:r>
                  <a:rPr sz="2400" b="0">
                    <a:solidFill>
                      <a:srgbClr val="111827"/>
                    </a:solidFill>
                    <a:latin typeface="Arial"/>
                  </a:rPr>
                  <a:t> is the least value of </a:t>
                </a:r>
                <a:r>
                  <a:rPr lang="en-IN" sz="2400">
                    <a:solidFill>
                      <a:srgbClr val="111827"/>
                    </a:solidFill>
                    <a:latin typeface="Cambria Math" panose="02040503050406030204" pitchFamily="18" charset="0"/>
                  </a:rPr>
                  <a:t>$a$</a:t>
                </a:r>
                <a:r>
                  <a:rPr sz="2400" b="0">
                    <a:solidFill>
                      <a:srgbClr val="111827"/>
                    </a:solidFill>
                    <a:latin typeface="Arial"/>
                  </a:rPr>
                  <a:t> such that the function </a:t>
                </a:r>
                <a:r>
                  <a:rPr lang="en-IN" sz="2400">
                    <a:solidFill>
                      <a:srgbClr val="111827"/>
                    </a:solidFill>
                    <a:latin typeface="Cambria Math" panose="02040503050406030204" pitchFamily="18" charset="0"/>
                  </a:rPr>
                  <a:t>$f(x)=x^{2}+ax+1$</a:t>
                </a:r>
                <a:r>
                  <a:rPr sz="2400" b="0">
                    <a:solidFill>
                      <a:srgbClr val="111827"/>
                    </a:solidFill>
                    <a:latin typeface="Arial"/>
                  </a:rPr>
                  <a:t> is increasing on </a:t>
                </a:r>
                <a:r>
                  <a:rPr lang="en-IN" sz="2400">
                    <a:solidFill>
                      <a:srgbClr val="111827"/>
                    </a:solidFill>
                    <a:latin typeface="Cambria Math" panose="02040503050406030204" pitchFamily="18" charset="0"/>
                  </a:rPr>
                  <a:t>$[1,2]$</a:t>
                </a:r>
                <a:r>
                  <a:rPr sz="2400" b="0">
                    <a:solidFill>
                      <a:srgbClr val="111827"/>
                    </a:solidFill>
                    <a:latin typeface="Arial"/>
                  </a:rPr>
                  <a:t> and </a:t>
                </a:r>
                <a:r>
                  <a:rPr lang="en-IN" sz="2400">
                    <a:solidFill>
                      <a:srgbClr val="111827"/>
                    </a:solidFill>
                    <a:latin typeface="Cambria Math" panose="02040503050406030204" pitchFamily="18" charset="0"/>
                  </a:rPr>
                  <a:t>$S$</a:t>
                </a:r>
                <a:r>
                  <a:rPr sz="2400" b="0">
                    <a:solidFill>
                      <a:srgbClr val="111827"/>
                    </a:solidFill>
                    <a:latin typeface="Arial"/>
                  </a:rPr>
                  <a:t> is the greatest value of </a:t>
                </a:r>
                <a:r>
                  <a:rPr lang="en-IN" sz="2400">
                    <a:solidFill>
                      <a:srgbClr val="111827"/>
                    </a:solidFill>
                    <a:latin typeface="Cambria Math" panose="02040503050406030204" pitchFamily="18" charset="0"/>
                  </a:rPr>
                  <a:t>$a$</a:t>
                </a:r>
                <a:r>
                  <a:rPr sz="2400" b="0">
                    <a:solidFill>
                      <a:srgbClr val="111827"/>
                    </a:solidFill>
                    <a:latin typeface="Arial"/>
                  </a:rPr>
                  <a:t> such that </a:t>
                </a:r>
                <a:r>
                  <a:rPr lang="en-IN" sz="2400">
                    <a:solidFill>
                      <a:srgbClr val="111827"/>
                    </a:solidFill>
                    <a:latin typeface="Cambria Math" panose="02040503050406030204" pitchFamily="18" charset="0"/>
                  </a:rPr>
                  <a:t>$f(x)=x^{2}+ax+1$</a:t>
                </a:r>
                <a:r>
                  <a:rPr sz="2400" b="0">
                    <a:solidFill>
                      <a:srgbClr val="111827"/>
                    </a:solidFill>
                    <a:latin typeface="Arial"/>
                  </a:rPr>
                  <a:t> is decreasing on </a:t>
                </a:r>
                <a:r>
                  <a:rPr lang="en-IN" sz="2400">
                    <a:solidFill>
                      <a:srgbClr val="111827"/>
                    </a:solidFill>
                    <a:latin typeface="Cambria Math" panose="02040503050406030204" pitchFamily="18" charset="0"/>
                  </a:rPr>
                  <a:t>$[1,2]$</a:t>
                </a:r>
                <a:r>
                  <a:rPr sz="2400" b="0">
                    <a:solidFill>
                      <a:srgbClr val="111827"/>
                    </a:solidFill>
                    <a:latin typeface="Arial"/>
                  </a:rPr>
                  <a:t>, then the value of </a:t>
                </a:r>
                <a:r>
                  <a:rPr lang="en-IN" sz="2400">
                    <a:solidFill>
                      <a:srgbClr val="111827"/>
                    </a:solidFill>
                    <a:latin typeface="Cambria Math" panose="02040503050406030204" pitchFamily="18" charset="0"/>
                  </a:rPr>
                  <a:t>$|R-S|$</a:t>
                </a:r>
                <a:r>
                  <a:rPr sz="2400" b="0">
                    <a:solidFill>
                      <a:srgbClr val="111827"/>
                    </a:solidFill>
                    <a:latin typeface="Arial"/>
                  </a:rPr>
                  <a:t> is ______.</a:t>
                </a:r>
                <a:endParaRPr sz="2400">
                  <a:solidFill>
                    <a:srgbClr val="111827"/>
                  </a:solidFill>
                </a:endParaRPr>
              </a:p>
            </p:txBody>
          </p:sp>
        </mc:Fallback>
      </mc:AlternateContent>
      <p:sp>
        <p:nvSpPr>
          <p:cNvPr id="5" name="Rectangle 4"/>
          <p:cNvSpPr/>
          <p:nvPr/>
        </p:nvSpPr>
        <p:spPr>
          <a:xfrm>
            <a:off x="731520" y="3516884"/>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Monotonicity of a quadratic on an interval</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Increasing on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needs </a:t>
                </a:r>
                <a14:m>
                  <m:oMath xmlns:m="http://schemas.openxmlformats.org/officeDocument/2006/math">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oMath>
                </a14:m>
                <a:r>
                  <a:rPr sz="2400" b="0">
                    <a:solidFill>
                      <a:srgbClr val="78350F"/>
                    </a:solidFill>
                    <a:latin typeface="Arial"/>
                  </a:rPr>
                  <a:t> for every </a:t>
                </a:r>
                <a14:m>
                  <m:oMath xmlns:m="http://schemas.openxmlformats.org/officeDocument/2006/math">
                    <m:r>
                      <a:rPr lang="en-IN" sz="2400" i="1">
                        <a:solidFill>
                          <a:srgbClr val="78350F"/>
                        </a:solidFill>
                        <a:latin typeface="Cambria Math" panose="02040503050406030204" pitchFamily="18" charset="0"/>
                      </a:rPr>
                      <m:t>𝑥</m:t>
                    </m:r>
                  </m:oMath>
                </a14:m>
                <a:r>
                  <a:rPr sz="2400" b="0">
                    <a:solidFill>
                      <a:srgbClr val="78350F"/>
                    </a:solidFill>
                    <a:latin typeface="Arial"/>
                  </a:rPr>
                  <a:t> in the interval; the worst case is an endpoint.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Increasing on </a:t>
                </a:r>
                <a:r>
                  <a:rPr lang="en-IN" sz="2400">
                    <a:solidFill>
                      <a:srgbClr val="78350F"/>
                    </a:solidFill>
                    <a:latin typeface="Cambria Math" panose="02040503050406030204" pitchFamily="18" charset="0"/>
                  </a:rPr>
                  <a:t>$[1,2]$</a:t>
                </a:r>
                <a:r>
                  <a:rPr sz="2400" b="0">
                    <a:solidFill>
                      <a:srgbClr val="78350F"/>
                    </a:solidFill>
                    <a:latin typeface="Arial"/>
                  </a:rPr>
                  <a:t> needs </a:t>
                </a:r>
                <a:r>
                  <a:rPr lang="en-IN" sz="2400">
                    <a:solidFill>
                      <a:srgbClr val="78350F"/>
                    </a:solidFill>
                    <a:latin typeface="Cambria Math" panose="02040503050406030204" pitchFamily="18" charset="0"/>
                  </a:rPr>
                  <a:t>$2x+a\ge0$</a:t>
                </a:r>
                <a:r>
                  <a:rPr sz="2400" b="0">
                    <a:solidFill>
                      <a:srgbClr val="78350F"/>
                    </a:solidFill>
                    <a:latin typeface="Arial"/>
                  </a:rPr>
                  <a:t> for every </a:t>
                </a:r>
                <a:r>
                  <a:rPr lang="en-IN" sz="2400">
                    <a:solidFill>
                      <a:srgbClr val="78350F"/>
                    </a:solidFill>
                    <a:latin typeface="Cambria Math" panose="02040503050406030204" pitchFamily="18" charset="0"/>
                  </a:rPr>
                  <a:t>$x$</a:t>
                </a:r>
                <a:r>
                  <a:rPr sz="2400" b="0">
                    <a:solidFill>
                      <a:srgbClr val="78350F"/>
                    </a:solidFill>
                    <a:latin typeface="Arial"/>
                  </a:rPr>
                  <a:t> in the interval; the worst case is an endpoint.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Increasing 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for all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oMath>
                </a14:m>
                <a:r>
                  <a:rPr sz="2400" b="0">
                    <a:solidFill>
                      <a:srgbClr val="111827"/>
                    </a:solidFill>
                    <a:latin typeface="Arial"/>
                  </a:rPr>
                  <a:t> for all such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oMath>
                </a14:m>
                <a:r>
                  <a:rPr sz="2400" b="0">
                    <a:solidFill>
                      <a:srgbClr val="111827"/>
                    </a:solidFill>
                    <a:latin typeface="Arial"/>
                  </a:rPr>
                  <a:t> ranges over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we need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max</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Least such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$f'(x)=2x+a$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Increasing on </a:t>
                </a:r>
                <a:r>
                  <a:rPr lang="en-IN" sz="2400">
                    <a:solidFill>
                      <a:srgbClr val="111827"/>
                    </a:solidFill>
                    <a:latin typeface="Cambria Math" panose="02040503050406030204" pitchFamily="18" charset="0"/>
                  </a:rPr>
                  <a:t>$[1,2]$</a:t>
                </a:r>
                <a:r>
                  <a:rPr sz="2400" b="0">
                    <a:solidFill>
                      <a:srgbClr val="111827"/>
                    </a:solidFill>
                    <a:latin typeface="Arial"/>
                  </a:rPr>
                  <a:t>: </a:t>
                </a:r>
                <a:r>
                  <a:rPr lang="en-IN" sz="2400">
                    <a:solidFill>
                      <a:srgbClr val="111827"/>
                    </a:solidFill>
                    <a:latin typeface="Cambria Math" panose="02040503050406030204" pitchFamily="18" charset="0"/>
                  </a:rPr>
                  <a:t>$f'(x)\ge0$</a:t>
                </a:r>
                <a:r>
                  <a:rPr sz="2400" b="0">
                    <a:solidFill>
                      <a:srgbClr val="111827"/>
                    </a:solidFill>
                    <a:latin typeface="Arial"/>
                  </a:rPr>
                  <a:t> for all </a:t>
                </a:r>
                <a:r>
                  <a:rPr lang="en-IN" sz="2400">
                    <a:solidFill>
                      <a:srgbClr val="111827"/>
                    </a:solidFill>
                    <a:latin typeface="Cambria Math" panose="02040503050406030204" pitchFamily="18" charset="0"/>
                  </a:rPr>
                  <a:t>$x\in[1,2]$</a:t>
                </a:r>
                <a:r>
                  <a:rPr sz="2400" b="0">
                    <a:solidFill>
                      <a:srgbClr val="111827"/>
                    </a:solidFill>
                    <a:latin typeface="Arial"/>
                  </a:rPr>
                  <a:t>, i.e. </a:t>
                </a:r>
                <a:r>
                  <a:rPr lang="en-IN" sz="2400">
                    <a:solidFill>
                      <a:srgbClr val="111827"/>
                    </a:solidFill>
                    <a:latin typeface="Cambria Math" panose="02040503050406030204" pitchFamily="18" charset="0"/>
                  </a:rPr>
                  <a:t>$a\ge-2x$</a:t>
                </a:r>
                <a:r>
                  <a:rPr sz="2400" b="0">
                    <a:solidFill>
                      <a:srgbClr val="111827"/>
                    </a:solidFill>
                    <a:latin typeface="Arial"/>
                  </a:rPr>
                  <a:t> for all such </a:t>
                </a:r>
                <a:r>
                  <a:rPr lang="en-IN" sz="2400">
                    <a:solidFill>
                      <a:srgbClr val="111827"/>
                    </a:solidFill>
                    <a:latin typeface="Cambria Math" panose="02040503050406030204" pitchFamily="18" charset="0"/>
                  </a:rPr>
                  <a:t>$x$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$-2x$</a:t>
                </a:r>
                <a:r>
                  <a:rPr sz="2400" b="0">
                    <a:solidFill>
                      <a:srgbClr val="111827"/>
                    </a:solidFill>
                    <a:latin typeface="Arial"/>
                  </a:rPr>
                  <a:t> ranges over </a:t>
                </a:r>
                <a:r>
                  <a:rPr lang="en-IN" sz="2400">
                    <a:solidFill>
                      <a:srgbClr val="111827"/>
                    </a:solidFill>
                    <a:latin typeface="Cambria Math" panose="02040503050406030204" pitchFamily="18" charset="0"/>
                  </a:rPr>
                  <a:t>$[-4,-2]$</a:t>
                </a:r>
                <a:r>
                  <a:rPr sz="2400" b="0">
                    <a:solidFill>
                      <a:srgbClr val="111827"/>
                    </a:solidFill>
                    <a:latin typeface="Arial"/>
                  </a:rPr>
                  <a:t>, so we need </a:t>
                </a:r>
                <a:r>
                  <a:rPr lang="en-IN" sz="2400">
                    <a:solidFill>
                      <a:srgbClr val="111827"/>
                    </a:solidFill>
                    <a:latin typeface="Cambria Math" panose="02040503050406030204" pitchFamily="18" charset="0"/>
                  </a:rPr>
                  <a:t>$a\ge\max(-2x)=-2$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Least such </a:t>
                </a:r>
                <a:r>
                  <a:rPr lang="en-IN" sz="2400">
                    <a:solidFill>
                      <a:srgbClr val="111827"/>
                    </a:solidFill>
                    <a:latin typeface="Cambria Math" panose="02040503050406030204" pitchFamily="18" charset="0"/>
                  </a:rPr>
                  <a:t>$a$</a:t>
                </a:r>
                <a:r>
                  <a:rPr sz="2400" b="0">
                    <a:solidFill>
                      <a:srgbClr val="111827"/>
                    </a:solidFill>
                    <a:latin typeface="Arial"/>
                  </a:rPr>
                  <a:t>: </a:t>
                </a:r>
                <a:r>
                  <a:rPr lang="en-IN" sz="2400">
                    <a:solidFill>
                      <a:srgbClr val="111827"/>
                    </a:solidFill>
                    <a:latin typeface="Cambria Math" panose="02040503050406030204" pitchFamily="18" charset="0"/>
                  </a:rPr>
                  <a:t>$R=-2$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Decreasing 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oMath>
                </a14:m>
                <a:r>
                  <a:rPr sz="2400" b="0">
                    <a:solidFill>
                      <a:srgbClr val="111827"/>
                    </a:solidFill>
                    <a:latin typeface="Arial"/>
                  </a:rPr>
                  <a:t> for all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This needs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min</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Greatest such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Decreasing on </a:t>
                </a:r>
                <a:r>
                  <a:rPr lang="en-IN" sz="2400">
                    <a:solidFill>
                      <a:srgbClr val="111827"/>
                    </a:solidFill>
                    <a:latin typeface="Cambria Math" panose="02040503050406030204" pitchFamily="18" charset="0"/>
                  </a:rPr>
                  <a:t>$[1,2]$</a:t>
                </a:r>
                <a:r>
                  <a:rPr sz="2400" b="0">
                    <a:solidFill>
                      <a:srgbClr val="111827"/>
                    </a:solidFill>
                    <a:latin typeface="Arial"/>
                  </a:rPr>
                  <a:t>: </a:t>
                </a:r>
                <a:r>
                  <a:rPr lang="en-IN" sz="2400">
                    <a:solidFill>
                      <a:srgbClr val="111827"/>
                    </a:solidFill>
                    <a:latin typeface="Cambria Math" panose="02040503050406030204" pitchFamily="18" charset="0"/>
                  </a:rPr>
                  <a:t>$f'(x)\le0$</a:t>
                </a:r>
                <a:r>
                  <a:rPr sz="2400" b="0">
                    <a:solidFill>
                      <a:srgbClr val="111827"/>
                    </a:solidFill>
                    <a:latin typeface="Arial"/>
                  </a:rPr>
                  <a:t>, i.e. </a:t>
                </a:r>
                <a:r>
                  <a:rPr lang="en-IN" sz="2400">
                    <a:solidFill>
                      <a:srgbClr val="111827"/>
                    </a:solidFill>
                    <a:latin typeface="Cambria Math" panose="02040503050406030204" pitchFamily="18" charset="0"/>
                  </a:rPr>
                  <a:t>$a\le-2x$</a:t>
                </a:r>
                <a:r>
                  <a:rPr sz="2400" b="0">
                    <a:solidFill>
                      <a:srgbClr val="111827"/>
                    </a:solidFill>
                    <a:latin typeface="Arial"/>
                  </a:rPr>
                  <a:t> for all </a:t>
                </a:r>
                <a:r>
                  <a:rPr lang="en-IN" sz="2400">
                    <a:solidFill>
                      <a:srgbClr val="111827"/>
                    </a:solidFill>
                    <a:latin typeface="Cambria Math" panose="02040503050406030204" pitchFamily="18" charset="0"/>
                  </a:rPr>
                  <a:t>$x\in[1,2]$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This needs </a:t>
                </a:r>
                <a:r>
                  <a:rPr lang="en-IN" sz="2400">
                    <a:solidFill>
                      <a:srgbClr val="111827"/>
                    </a:solidFill>
                    <a:latin typeface="Cambria Math" panose="02040503050406030204" pitchFamily="18" charset="0"/>
                  </a:rPr>
                  <a:t>$a\le\min(-2x)=-4$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Greatest such </a:t>
                </a:r>
                <a:r>
                  <a:rPr lang="en-IN" sz="2400">
                    <a:solidFill>
                      <a:srgbClr val="111827"/>
                    </a:solidFill>
                    <a:latin typeface="Cambria Math" panose="02040503050406030204" pitchFamily="18" charset="0"/>
                  </a:rPr>
                  <a:t>$a$</a:t>
                </a:r>
                <a:r>
                  <a:rPr sz="2400" b="0">
                    <a:solidFill>
                      <a:srgbClr val="111827"/>
                    </a:solidFill>
                    <a:latin typeface="Arial"/>
                  </a:rPr>
                  <a:t>: </a:t>
                </a:r>
                <a:r>
                  <a:rPr lang="en-IN" sz="2400">
                    <a:solidFill>
                      <a:srgbClr val="111827"/>
                    </a:solidFill>
                    <a:latin typeface="Cambria Math" panose="02040503050406030204" pitchFamily="18" charset="0"/>
                  </a:rPr>
                  <a:t>$S=-4$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$|R-S|=|-2-(-4)|=2$</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2</a:t>
            </a:r>
            <a:endParaRPr sz="2800">
              <a:solidFill>
                <a:srgbClr val="15803D"/>
              </a:solidFill>
            </a:endParaRP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the vertex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𝑎</m:t>
                        </m:r>
                      </m:num>
                      <m:den>
                        <m:r>
                          <a:rPr lang="en-IN" sz="2400" i="1">
                            <a:solidFill>
                              <a:srgbClr val="78350F"/>
                            </a:solidFill>
                            <a:latin typeface="Cambria Math" panose="02040503050406030204" pitchFamily="18" charset="0"/>
                          </a:rPr>
                          <m:t>2</m:t>
                        </m:r>
                      </m:den>
                    </m:f>
                  </m:oMath>
                </a14:m>
                <a:r>
                  <a:rPr sz="2400" b="0">
                    <a:solidFill>
                      <a:srgbClr val="78350F"/>
                    </a:solidFill>
                    <a:latin typeface="Arial"/>
                  </a:rPr>
                  <a:t> of the parabola: </a:t>
                </a:r>
                <a14:m>
                  <m:oMath xmlns:m="http://schemas.openxmlformats.org/officeDocument/2006/math">
                    <m:r>
                      <a:rPr lang="en-IN" sz="2400" i="1">
                        <a:solidFill>
                          <a:srgbClr val="78350F"/>
                        </a:solidFill>
                        <a:latin typeface="Cambria Math" panose="02040503050406030204" pitchFamily="18" charset="0"/>
                      </a:rPr>
                      <m:t>𝑓</m:t>
                    </m:r>
                  </m:oMath>
                </a14:m>
                <a:r>
                  <a:rPr sz="2400" b="0">
                    <a:solidFill>
                      <a:srgbClr val="78350F"/>
                    </a:solidFill>
                    <a:latin typeface="Arial"/>
                  </a:rPr>
                  <a:t> increases to the right of it and decreases to the left.</a:t>
                </a:r>
                <a:endParaRPr sz="2400">
                  <a:solidFill>
                    <a:srgbClr val="78350F"/>
                  </a:solidFill>
                </a:endParaRPr>
              </a:p>
            </p:txBody>
          </p:sp>
        </mc:Choice>
        <mc:Fallback>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the vertex </a:t>
                </a:r>
                <a:r>
                  <a:rPr lang="en-IN" sz="2400">
                    <a:solidFill>
                      <a:srgbClr val="78350F"/>
                    </a:solidFill>
                    <a:latin typeface="Cambria Math" panose="02040503050406030204" pitchFamily="18" charset="0"/>
                  </a:rPr>
                  <a:t>$x=-\frac a2$</a:t>
                </a:r>
                <a:r>
                  <a:rPr sz="2400" b="0">
                    <a:solidFill>
                      <a:srgbClr val="78350F"/>
                    </a:solidFill>
                    <a:latin typeface="Arial"/>
                  </a:rPr>
                  <a:t> of the parabola: </a:t>
                </a:r>
                <a:r>
                  <a:rPr lang="en-IN" sz="2400">
                    <a:solidFill>
                      <a:srgbClr val="78350F"/>
                    </a:solidFill>
                    <a:latin typeface="Cambria Math" panose="02040503050406030204" pitchFamily="18" charset="0"/>
                  </a:rPr>
                  <a:t>$f$</a:t>
                </a:r>
                <a:r>
                  <a:rPr sz="2400" b="0">
                    <a:solidFill>
                      <a:srgbClr val="78350F"/>
                    </a:solidFill>
                    <a:latin typeface="Arial"/>
                  </a:rPr>
                  <a:t> increases to the right of it and decreases to the left.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is an upward parabola with vertex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it is increasing 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and decreasing 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Increasing 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iff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i.e.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$f(x)=x^{2}+ax+1$</a:t>
                </a:r>
                <a:r>
                  <a:rPr sz="2400" b="0">
                    <a:solidFill>
                      <a:srgbClr val="111827"/>
                    </a:solidFill>
                    <a:latin typeface="Arial"/>
                  </a:rPr>
                  <a:t> is an upward parabola with vertex at </a:t>
                </a:r>
                <a:r>
                  <a:rPr lang="en-IN" sz="2400">
                    <a:solidFill>
                      <a:srgbClr val="111827"/>
                    </a:solidFill>
                    <a:latin typeface="Cambria Math" panose="02040503050406030204" pitchFamily="18" charset="0"/>
                  </a:rPr>
                  <a:t>$x=-\frac a2$</a:t>
                </a:r>
                <a:r>
                  <a:rPr sz="2400" b="0">
                    <a:solidFill>
                      <a:srgbClr val="111827"/>
                    </a:solidFill>
                    <a:latin typeface="Arial"/>
                  </a:rPr>
                  <a:t>; it is increasing for </a:t>
                </a:r>
                <a:r>
                  <a:rPr lang="en-IN" sz="2400">
                    <a:solidFill>
                      <a:srgbClr val="111827"/>
                    </a:solidFill>
                    <a:latin typeface="Cambria Math" panose="02040503050406030204" pitchFamily="18" charset="0"/>
                  </a:rPr>
                  <a:t>$x\ge-\frac a2$</a:t>
                </a:r>
                <a:r>
                  <a:rPr sz="2400" b="0">
                    <a:solidFill>
                      <a:srgbClr val="111827"/>
                    </a:solidFill>
                    <a:latin typeface="Arial"/>
                  </a:rPr>
                  <a:t> and decreasing for </a:t>
                </a:r>
                <a:r>
                  <a:rPr lang="en-IN" sz="2400">
                    <a:solidFill>
                      <a:srgbClr val="111827"/>
                    </a:solidFill>
                    <a:latin typeface="Cambria Math" panose="02040503050406030204" pitchFamily="18" charset="0"/>
                  </a:rPr>
                  <a:t>$x\le-\frac a2$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Increasing on </a:t>
                </a:r>
                <a:r>
                  <a:rPr lang="en-IN" sz="2400">
                    <a:solidFill>
                      <a:srgbClr val="111827"/>
                    </a:solidFill>
                    <a:latin typeface="Cambria Math" panose="02040503050406030204" pitchFamily="18" charset="0"/>
                  </a:rPr>
                  <a:t>$[1,2]$</a:t>
                </a:r>
                <a:r>
                  <a:rPr sz="2400" b="0">
                    <a:solidFill>
                      <a:srgbClr val="111827"/>
                    </a:solidFill>
                    <a:latin typeface="Arial"/>
                  </a:rPr>
                  <a:t> iff </a:t>
                </a:r>
                <a:r>
                  <a:rPr lang="en-IN" sz="2400">
                    <a:solidFill>
                      <a:srgbClr val="111827"/>
                    </a:solidFill>
                    <a:latin typeface="Cambria Math" panose="02040503050406030204" pitchFamily="18" charset="0"/>
                  </a:rPr>
                  <a:t>$[1,2]\subseteq[-\frac a2,\infty)$</a:t>
                </a:r>
                <a:r>
                  <a:rPr sz="2400" b="0">
                    <a:solidFill>
                      <a:srgbClr val="111827"/>
                    </a:solidFill>
                    <a:latin typeface="Arial"/>
                  </a:rPr>
                  <a:t>, i.e. </a:t>
                </a:r>
                <a:r>
                  <a:rPr lang="en-IN" sz="2400">
                    <a:solidFill>
                      <a:srgbClr val="111827"/>
                    </a:solidFill>
                    <a:latin typeface="Cambria Math" panose="02040503050406030204" pitchFamily="18" charset="0"/>
                  </a:rPr>
                  <a:t>$-\frac a2\le1$</a:t>
                </a:r>
                <a:r>
                  <a:rPr sz="2400" b="0">
                    <a:solidFill>
                      <a:srgbClr val="111827"/>
                    </a:solidFill>
                    <a:latin typeface="Arial"/>
                  </a:rPr>
                  <a:t>, i.e. </a:t>
                </a:r>
                <a:r>
                  <a:rPr lang="en-IN" sz="2400">
                    <a:solidFill>
                      <a:srgbClr val="111827"/>
                    </a:solidFill>
                    <a:latin typeface="Cambria Math" panose="02040503050406030204" pitchFamily="18" charset="0"/>
                  </a:rPr>
                  <a:t>$a\ge-2$</a:t>
                </a:r>
                <a:r>
                  <a:rPr sz="2400" b="0">
                    <a:solidFill>
                      <a:srgbClr val="111827"/>
                    </a:solidFill>
                    <a:latin typeface="Arial"/>
                  </a:rPr>
                  <a:t>. So </a:t>
                </a:r>
                <a:r>
                  <a:rPr lang="en-IN" sz="2400">
                    <a:solidFill>
                      <a:srgbClr val="111827"/>
                    </a:solidFill>
                    <a:latin typeface="Cambria Math" panose="02040503050406030204" pitchFamily="18" charset="0"/>
                  </a:rPr>
                  <a:t>$R=-2$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Decreasing 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iff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oMath>
                </a14:m>
                <a:r>
                  <a:rPr sz="2400" b="0">
                    <a:solidFill>
                      <a:srgbClr val="111827"/>
                    </a:solidFill>
                    <a:latin typeface="Arial"/>
                  </a:rPr>
                  <a:t>, i.e.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Decreasing on </a:t>
                </a:r>
                <a:r>
                  <a:rPr lang="en-IN" sz="2400">
                    <a:solidFill>
                      <a:srgbClr val="111827"/>
                    </a:solidFill>
                    <a:latin typeface="Cambria Math" panose="02040503050406030204" pitchFamily="18" charset="0"/>
                  </a:rPr>
                  <a:t>$[1,2]$</a:t>
                </a:r>
                <a:r>
                  <a:rPr sz="2400" b="0">
                    <a:solidFill>
                      <a:srgbClr val="111827"/>
                    </a:solidFill>
                    <a:latin typeface="Arial"/>
                  </a:rPr>
                  <a:t> iff </a:t>
                </a:r>
                <a:r>
                  <a:rPr lang="en-IN" sz="2400">
                    <a:solidFill>
                      <a:srgbClr val="111827"/>
                    </a:solidFill>
                    <a:latin typeface="Cambria Math" panose="02040503050406030204" pitchFamily="18" charset="0"/>
                  </a:rPr>
                  <a:t>$[1,2]\subseteq(-\infty,-\frac a2]$</a:t>
                </a:r>
                <a:r>
                  <a:rPr sz="2400" b="0">
                    <a:solidFill>
                      <a:srgbClr val="111827"/>
                    </a:solidFill>
                    <a:latin typeface="Arial"/>
                  </a:rPr>
                  <a:t>, i.e. </a:t>
                </a:r>
                <a:r>
                  <a:rPr lang="en-IN" sz="2400">
                    <a:solidFill>
                      <a:srgbClr val="111827"/>
                    </a:solidFill>
                    <a:latin typeface="Cambria Math" panose="02040503050406030204" pitchFamily="18" charset="0"/>
                  </a:rPr>
                  <a:t>$-\frac a2\ge2$</a:t>
                </a:r>
                <a:r>
                  <a:rPr sz="2400" b="0">
                    <a:solidFill>
                      <a:srgbClr val="111827"/>
                    </a:solidFill>
                    <a:latin typeface="Arial"/>
                  </a:rPr>
                  <a:t>, i.e. </a:t>
                </a:r>
                <a:r>
                  <a:rPr lang="en-IN" sz="2400">
                    <a:solidFill>
                      <a:srgbClr val="111827"/>
                    </a:solidFill>
                    <a:latin typeface="Cambria Math" panose="02040503050406030204" pitchFamily="18" charset="0"/>
                  </a:rPr>
                  <a:t>$a\le-4$</a:t>
                </a:r>
                <a:r>
                  <a:rPr sz="2400" b="0">
                    <a:solidFill>
                      <a:srgbClr val="111827"/>
                    </a:solidFill>
                    <a:latin typeface="Arial"/>
                  </a:rPr>
                  <a:t>. So </a:t>
                </a:r>
                <a:r>
                  <a:rPr lang="en-IN" sz="2400">
                    <a:solidFill>
                      <a:srgbClr val="111827"/>
                    </a:solidFill>
                    <a:latin typeface="Cambria Math" panose="02040503050406030204" pitchFamily="18" charset="0"/>
                  </a:rPr>
                  <a:t>$S=-4$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$|R-S|=|-2+4|=2$</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2</a:t>
            </a:r>
            <a:endParaRPr sz="2800">
              <a:solidFill>
                <a:srgbClr val="15803D"/>
              </a:solidFill>
            </a:endParaRP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is increasing on an interval </a:t>
                </a:r>
                <a14:m>
                  <m:oMath xmlns:m="http://schemas.openxmlformats.org/officeDocument/2006/math">
                    <m:r>
                      <a:rPr lang="en-IN" sz="2400" i="1">
                        <a:solidFill>
                          <a:srgbClr val="111827"/>
                        </a:solidFill>
                        <a:latin typeface="Cambria Math" panose="02040503050406030204" pitchFamily="18" charset="0"/>
                      </a:rPr>
                      <m:t>𝐼</m:t>
                    </m:r>
                  </m:oMath>
                </a14:m>
                <a:r>
                  <a:rPr sz="2400" b="0">
                    <a:solidFill>
                      <a:srgbClr val="111827"/>
                    </a:solidFill>
                    <a:latin typeface="Arial"/>
                  </a:rPr>
                  <a:t> iff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on </a:t>
                </a:r>
                <a14:m>
                  <m:oMath xmlns:m="http://schemas.openxmlformats.org/officeDocument/2006/math">
                    <m:r>
                      <a:rPr lang="en-IN" sz="2400" i="1">
                        <a:solidFill>
                          <a:srgbClr val="111827"/>
                        </a:solidFill>
                        <a:latin typeface="Cambria Math" panose="02040503050406030204" pitchFamily="18" charset="0"/>
                      </a:rPr>
                      <m:t>𝐼</m:t>
                    </m:r>
                  </m:oMath>
                </a14:m>
                <a:r>
                  <a:rPr sz="2400" b="0">
                    <a:solidFill>
                      <a:srgbClr val="111827"/>
                    </a:solidFill>
                    <a:latin typeface="Arial"/>
                  </a:rPr>
                  <a:t>: the condition must hold for every point, so use the extreme value of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on </a:t>
                </a:r>
                <a14:m>
                  <m:oMath xmlns:m="http://schemas.openxmlformats.org/officeDocument/2006/math">
                    <m:r>
                      <a:rPr lang="en-IN" sz="2400" i="1">
                        <a:solidFill>
                          <a:srgbClr val="111827"/>
                        </a:solidFill>
                        <a:latin typeface="Cambria Math" panose="02040503050406030204" pitchFamily="18" charset="0"/>
                      </a:rPr>
                      <m:t>𝐼</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the vertex is at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monotonic 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iff the vertex is outside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'Least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for increasing' and 'greatest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for decreasing' are the boundary values where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touches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at an endpoint.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Equality in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isolated points does not break monotonicity.</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a:t>
                </a:r>
                <a:r>
                  <a:rPr sz="2400" b="0">
                    <a:solidFill>
                      <a:srgbClr val="111827"/>
                    </a:solidFill>
                    <a:latin typeface="Arial"/>
                  </a:rPr>
                  <a:t> is increasing on an interval </a:t>
                </a:r>
                <a:r>
                  <a:rPr lang="en-IN" sz="2400">
                    <a:solidFill>
                      <a:srgbClr val="111827"/>
                    </a:solidFill>
                    <a:latin typeface="Cambria Math" panose="02040503050406030204" pitchFamily="18" charset="0"/>
                  </a:rPr>
                  <a:t>$I$</a:t>
                </a:r>
                <a:r>
                  <a:rPr sz="2400" b="0">
                    <a:solidFill>
                      <a:srgbClr val="111827"/>
                    </a:solidFill>
                    <a:latin typeface="Arial"/>
                  </a:rPr>
                  <a:t> iff </a:t>
                </a:r>
                <a:r>
                  <a:rPr lang="en-IN" sz="2400">
                    <a:solidFill>
                      <a:srgbClr val="111827"/>
                    </a:solidFill>
                    <a:latin typeface="Cambria Math" panose="02040503050406030204" pitchFamily="18" charset="0"/>
                  </a:rPr>
                  <a:t>$f'\ge0$</a:t>
                </a:r>
                <a:r>
                  <a:rPr sz="2400" b="0">
                    <a:solidFill>
                      <a:srgbClr val="111827"/>
                    </a:solidFill>
                    <a:latin typeface="Arial"/>
                  </a:rPr>
                  <a:t> on </a:t>
                </a:r>
                <a:r>
                  <a:rPr lang="en-IN" sz="2400">
                    <a:solidFill>
                      <a:srgbClr val="111827"/>
                    </a:solidFill>
                    <a:latin typeface="Cambria Math" panose="02040503050406030204" pitchFamily="18" charset="0"/>
                  </a:rPr>
                  <a:t>$I$</a:t>
                </a:r>
                <a:r>
                  <a:rPr sz="2400" b="0">
                    <a:solidFill>
                      <a:srgbClr val="111827"/>
                    </a:solidFill>
                    <a:latin typeface="Arial"/>
                  </a:rPr>
                  <a:t>: the condition must hold for every point, so use the extreme value of </a:t>
                </a:r>
                <a:r>
                  <a:rPr lang="en-IN" sz="2400">
                    <a:solidFill>
                      <a:srgbClr val="111827"/>
                    </a:solidFill>
                    <a:latin typeface="Cambria Math" panose="02040503050406030204" pitchFamily="18" charset="0"/>
                  </a:rPr>
                  <a:t>$f'$</a:t>
                </a:r>
                <a:r>
                  <a:rPr sz="2400" b="0">
                    <a:solidFill>
                      <a:srgbClr val="111827"/>
                    </a:solidFill>
                    <a:latin typeface="Arial"/>
                  </a:rPr>
                  <a:t> on </a:t>
                </a:r>
                <a:r>
                  <a:rPr lang="en-IN" sz="2400">
                    <a:solidFill>
                      <a:srgbClr val="111827"/>
                    </a:solidFill>
                    <a:latin typeface="Cambria Math" panose="02040503050406030204" pitchFamily="18" charset="0"/>
                  </a:rPr>
                  <a:t>$I$</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$x^2+ax+c$</a:t>
                </a:r>
                <a:r>
                  <a:rPr sz="2400" b="0">
                    <a:solidFill>
                      <a:srgbClr val="111827"/>
                    </a:solidFill>
                    <a:latin typeface="Arial"/>
                  </a:rPr>
                  <a:t>, the vertex is at </a:t>
                </a:r>
                <a:r>
                  <a:rPr lang="en-IN" sz="2400">
                    <a:solidFill>
                      <a:srgbClr val="111827"/>
                    </a:solidFill>
                    <a:latin typeface="Cambria Math" panose="02040503050406030204" pitchFamily="18" charset="0"/>
                  </a:rPr>
                  <a:t>$-\frac a2$</a:t>
                </a:r>
                <a:r>
                  <a:rPr sz="2400" b="0">
                    <a:solidFill>
                      <a:srgbClr val="111827"/>
                    </a:solidFill>
                    <a:latin typeface="Arial"/>
                  </a:rPr>
                  <a:t>; monotonic on </a:t>
                </a:r>
                <a:r>
                  <a:rPr lang="en-IN" sz="2400">
                    <a:solidFill>
                      <a:srgbClr val="111827"/>
                    </a:solidFill>
                    <a:latin typeface="Cambria Math" panose="02040503050406030204" pitchFamily="18" charset="0"/>
                  </a:rPr>
                  <a:t>$[p,q]$</a:t>
                </a:r>
                <a:r>
                  <a:rPr sz="2400" b="0">
                    <a:solidFill>
                      <a:srgbClr val="111827"/>
                    </a:solidFill>
                    <a:latin typeface="Arial"/>
                  </a:rPr>
                  <a:t> iff the vertex is outside </a:t>
                </a:r>
                <a:r>
                  <a:rPr lang="en-IN" sz="2400">
                    <a:solidFill>
                      <a:srgbClr val="111827"/>
                    </a:solidFill>
                    <a:latin typeface="Cambria Math" panose="02040503050406030204" pitchFamily="18" charset="0"/>
                  </a:rPr>
                  <a:t>$(p,q)$</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'Least </a:t>
                </a:r>
                <a:r>
                  <a:rPr lang="en-IN" sz="2400">
                    <a:solidFill>
                      <a:srgbClr val="111827"/>
                    </a:solidFill>
                    <a:latin typeface="Cambria Math" panose="02040503050406030204" pitchFamily="18" charset="0"/>
                  </a:rPr>
                  <a:t>$a$</a:t>
                </a:r>
                <a:r>
                  <a:rPr sz="2400" b="0">
                    <a:solidFill>
                      <a:srgbClr val="111827"/>
                    </a:solidFill>
                    <a:latin typeface="Arial"/>
                  </a:rPr>
                  <a:t> for increasing' and 'greatest </a:t>
                </a:r>
                <a:r>
                  <a:rPr lang="en-IN" sz="2400">
                    <a:solidFill>
                      <a:srgbClr val="111827"/>
                    </a:solidFill>
                    <a:latin typeface="Cambria Math" panose="02040503050406030204" pitchFamily="18" charset="0"/>
                  </a:rPr>
                  <a:t>$a$</a:t>
                </a:r>
                <a:r>
                  <a:rPr sz="2400" b="0">
                    <a:solidFill>
                      <a:srgbClr val="111827"/>
                    </a:solidFill>
                    <a:latin typeface="Arial"/>
                  </a:rPr>
                  <a:t> for decreasing' are the boundary values where </a:t>
                </a:r>
                <a:r>
                  <a:rPr lang="en-IN" sz="2400">
                    <a:solidFill>
                      <a:srgbClr val="111827"/>
                    </a:solidFill>
                    <a:latin typeface="Cambria Math" panose="02040503050406030204" pitchFamily="18" charset="0"/>
                  </a:rPr>
                  <a:t>$f'$</a:t>
                </a:r>
                <a:r>
                  <a:rPr sz="2400" b="0">
                    <a:solidFill>
                      <a:srgbClr val="111827"/>
                    </a:solidFill>
                    <a:latin typeface="Arial"/>
                  </a:rPr>
                  <a:t> touches </a:t>
                </a:r>
                <a:r>
                  <a:rPr lang="en-IN" sz="2400">
                    <a:solidFill>
                      <a:srgbClr val="111827"/>
                    </a:solidFill>
                    <a:latin typeface="Cambria Math" panose="02040503050406030204" pitchFamily="18" charset="0"/>
                  </a:rPr>
                  <a:t>$0$</a:t>
                </a:r>
                <a:r>
                  <a:rPr sz="2400" b="0">
                    <a:solidFill>
                      <a:srgbClr val="111827"/>
                    </a:solidFill>
                    <a:latin typeface="Arial"/>
                  </a:rPr>
                  <a:t> at an endpoint.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Equality in </a:t>
                </a:r>
                <a:r>
                  <a:rPr lang="en-IN" sz="2400">
                    <a:solidFill>
                      <a:srgbClr val="111827"/>
                    </a:solidFill>
                    <a:latin typeface="Cambria Math" panose="02040503050406030204" pitchFamily="18" charset="0"/>
                  </a:rPr>
                  <a:t>$f'(x)\ge0$</a:t>
                </a:r>
                <a:r>
                  <a:rPr sz="2400" b="0">
                    <a:solidFill>
                      <a:srgbClr val="111827"/>
                    </a:solidFill>
                    <a:latin typeface="Arial"/>
                  </a:rPr>
                  <a:t> at isolated points does not break monotonicity.</a:t>
                </a:r>
                <a:endParaRPr sz="2400">
                  <a:solidFill>
                    <a:srgbClr val="111827"/>
                  </a:solidFill>
                </a:endParaRPr>
              </a:p>
            </p:txBody>
          </p:sp>
        </mc:Fallback>
      </mc:AlternateContent>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400807"/>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local maximum value of the function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𝑥</m:t>
                                </m:r>
                              </m:den>
                            </m:f>
                          </m:e>
                        </m:d>
                      </m:e>
                      <m:sup>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sup>
                    </m:sSup>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is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𝑒</m:t>
                                    </m:r>
                                  </m:e>
                                </m:rad>
                              </m:den>
                            </m:f>
                          </m:e>
                        </m:d>
                      </m:e>
                      <m: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𝑒</m:t>
                            </m:r>
                          </m:num>
                          <m:den>
                            <m:r>
                              <a:rPr lang="en-IN" sz="2400" i="1">
                                <a:solidFill>
                                  <a:srgbClr val="111827"/>
                                </a:solidFill>
                                <a:latin typeface="Cambria Math" panose="02040503050406030204" pitchFamily="18" charset="0"/>
                              </a:rPr>
                              <m:t>4</m:t>
                            </m:r>
                          </m:den>
                        </m:f>
                      </m:sup>
                    </m:sSup>
                  </m:oMath>
                </a14:m>
                <a:r>
                  <a:rPr sz="2400" b="0">
                    <a:solidFill>
                      <a:srgbClr val="111827"/>
                    </a:solidFill>
                    <a:latin typeface="Arial"/>
                  </a:rPr>
                  <a:t>   (B) </a:t>
                </a:r>
                <a14:m>
                  <m:oMath xmlns:m="http://schemas.openxmlformats.org/officeDocument/2006/math">
                    <m:sSup>
                      <m:e>
                        <m:r>
                          <a:rPr lang="en-IN" sz="2400" i="1">
                            <a:solidFill>
                              <a:srgbClr val="111827"/>
                            </a:solidFill>
                            <a:latin typeface="Cambria Math" panose="02040503050406030204" pitchFamily="18" charset="0"/>
                          </a:rPr>
                          <m:t>𝑒</m:t>
                        </m:r>
                      </m:e>
                      <m: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𝑒</m:t>
                            </m:r>
                          </m:den>
                        </m:f>
                      </m:sup>
                    </m:sSup>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(D)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𝑒</m:t>
                                </m:r>
                              </m:e>
                            </m:rad>
                          </m:e>
                        </m:d>
                      </m:e>
                      <m: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𝑒</m:t>
                            </m:r>
                          </m:den>
                        </m:f>
                      </m:sup>
                    </m:sSup>
                  </m:oMath>
                </a14:m>
                <a:endParaRPr sz="2400">
                  <a:solidFill>
                    <a:srgbClr val="111827"/>
                  </a:solidFill>
                </a:endParaRPr>
              </a:p>
            </p:txBody>
          </p:sp>
        </mc:Choice>
        <mc:Fallback>
          <p:sp>
            <p:nvSpPr>
              <p:cNvPr id="4" name="Rounded Rectangle 3"/>
              <p:cNvSpPr/>
              <p:nvPr/>
            </p:nvSpPr>
            <p:spPr>
              <a:xfrm>
                <a:off x="731520" y="1280160"/>
                <a:ext cx="10725912" cy="2400807"/>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local maximum value of the function </a:t>
                </a:r>
                <a:r>
                  <a:rPr lang="en-IN" sz="2400">
                    <a:solidFill>
                      <a:srgbClr val="111827"/>
                    </a:solidFill>
                    <a:latin typeface="Cambria Math" panose="02040503050406030204" pitchFamily="18" charset="0"/>
                  </a:rPr>
                  <a:t>$f(x)=\left(\frac{2}{x}\right)^{x^{2}}$</a:t>
                </a:r>
                <a:r>
                  <a:rPr sz="2400" b="0">
                    <a:solidFill>
                      <a:srgbClr val="111827"/>
                    </a:solidFill>
                    <a:latin typeface="Arial"/>
                  </a:rPr>
                  <a:t>, </a:t>
                </a:r>
                <a:r>
                  <a:rPr lang="en-IN" sz="2400">
                    <a:solidFill>
                      <a:srgbClr val="111827"/>
                    </a:solidFill>
                    <a:latin typeface="Cambria Math" panose="02040503050406030204" pitchFamily="18" charset="0"/>
                  </a:rPr>
                  <a:t>$x&gt;0$</a:t>
                </a:r>
                <a:r>
                  <a:rPr sz="2400" b="0">
                    <a:solidFill>
                      <a:srgbClr val="111827"/>
                    </a:solidFill>
                    <a:latin typeface="Arial"/>
                  </a:rPr>
                  <a:t>, is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$\left(\frac{4}{\sqrt e}\right)^{\frac e4}$</a:t>
                </a:r>
                <a:r>
                  <a:rPr sz="2400" b="0">
                    <a:solidFill>
                      <a:srgbClr val="111827"/>
                    </a:solidFill>
                    <a:latin typeface="Arial"/>
                  </a:rPr>
                  <a:t>   (B) </a:t>
                </a:r>
                <a:r>
                  <a:rPr lang="en-IN" sz="2400">
                    <a:solidFill>
                      <a:srgbClr val="111827"/>
                    </a:solidFill>
                    <a:latin typeface="Cambria Math" panose="02040503050406030204" pitchFamily="18" charset="0"/>
                  </a:rPr>
                  <a:t>$e^{\frac2e}$</a:t>
                </a:r>
                <a:r>
                  <a:rPr sz="2400" b="0">
                    <a:solidFill>
                      <a:srgbClr val="111827"/>
                    </a:solidFill>
                    <a:latin typeface="Arial"/>
                  </a:rPr>
                  <a:t>   (C) </a:t>
                </a:r>
                <a:r>
                  <a:rPr lang="en-IN" sz="2400">
                    <a:solidFill>
                      <a:srgbClr val="111827"/>
                    </a:solidFill>
                    <a:latin typeface="Cambria Math" panose="02040503050406030204" pitchFamily="18" charset="0"/>
                  </a:rPr>
                  <a:t>$1$</a:t>
                </a:r>
                <a:r>
                  <a:rPr sz="2400" b="0">
                    <a:solidFill>
                      <a:srgbClr val="111827"/>
                    </a:solidFill>
                    <a:latin typeface="Arial"/>
                  </a:rPr>
                  <a:t>   (D) </a:t>
                </a:r>
                <a:r>
                  <a:rPr lang="en-IN" sz="2400">
                    <a:solidFill>
                      <a:srgbClr val="111827"/>
                    </a:solidFill>
                    <a:latin typeface="Cambria Math" panose="02040503050406030204" pitchFamily="18" charset="0"/>
                  </a:rPr>
                  <a:t>$\left(2\sqrt e\right)^{\frac1e}$</a:t>
                </a:r>
                <a:endParaRPr sz="2400">
                  <a:solidFill>
                    <a:srgbClr val="111827"/>
                  </a:solidFill>
                </a:endParaRPr>
              </a:p>
            </p:txBody>
          </p:sp>
        </mc:Fallback>
      </mc:AlternateContent>
      <p:sp>
        <p:nvSpPr>
          <p:cNvPr id="5" name="Rectangle 4"/>
          <p:cNvSpPr/>
          <p:nvPr/>
        </p:nvSpPr>
        <p:spPr>
          <a:xfrm>
            <a:off x="731520" y="3909567"/>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Local maxima using logarithmic differentiation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Take logarithms: </a:t>
                </a:r>
                <a14:m>
                  <m:oMath xmlns:m="http://schemas.openxmlformats.org/officeDocument/2006/math">
                    <m:r>
                      <m:rPr>
                        <m:sty m:val="p"/>
                      </m:rPr>
                      <a:rPr lang="en-IN" sz="2400">
                        <a:solidFill>
                          <a:srgbClr val="78350F"/>
                        </a:solidFill>
                        <a:latin typeface="Cambria Math" panose="02040503050406030204" pitchFamily="18" charset="0"/>
                      </a:rPr>
                      <m:t>ln</m:t>
                    </m:r>
                    <m:r>
                      <a:rPr lang="en-IN" sz="2400" i="1">
                        <a:solidFill>
                          <a:srgbClr val="78350F"/>
                        </a:solidFill>
                        <a:latin typeface="Cambria Math" panose="02040503050406030204" pitchFamily="18" charset="0"/>
                      </a:rPr>
                      <m:t>𝑓</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ln</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ln</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whose derivative factors as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ln</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4</m:t>
                        </m:r>
                      </m:num>
                      <m:den>
                        <m:r>
                          <a:rPr lang="en-IN" sz="2400" i="1">
                            <a:solidFill>
                              <a:srgbClr val="78350F"/>
                            </a:solidFill>
                            <a:latin typeface="Cambria Math" panose="02040503050406030204" pitchFamily="18" charset="0"/>
                          </a:rPr>
                          <m:t>𝑒</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up>
                        </m:sSup>
                      </m:den>
                    </m:f>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Take logarithms: </a:t>
                </a:r>
                <a:r>
                  <a:rPr lang="en-IN" sz="2400">
                    <a:solidFill>
                      <a:srgbClr val="78350F"/>
                    </a:solidFill>
                    <a:latin typeface="Cambria Math" panose="02040503050406030204" pitchFamily="18" charset="0"/>
                  </a:rPr>
                  <a:t>$\ln f=x^2(\ln2-\ln x)$</a:t>
                </a:r>
                <a:r>
                  <a:rPr sz="2400" b="0">
                    <a:solidFill>
                      <a:srgbClr val="78350F"/>
                    </a:solidFill>
                    <a:latin typeface="Arial"/>
                  </a:rPr>
                  <a:t>, whose derivative factors as </a:t>
                </a:r>
                <a:r>
                  <a:rPr lang="en-IN" sz="2400">
                    <a:solidFill>
                      <a:srgbClr val="78350F"/>
                    </a:solidFill>
                    <a:latin typeface="Cambria Math" panose="02040503050406030204" pitchFamily="18" charset="0"/>
                  </a:rPr>
                  <a:t>$x\ln\frac{4}{ex^{2}}$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𝑥</m:t>
                                </m:r>
                              </m:den>
                            </m:f>
                          </m:e>
                        </m:d>
                      </m:e>
                      <m:sup>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sup>
                    </m:sSup>
                  </m:oMath>
                </a14:m>
                <a:r>
                  <a:rPr sz="2400" b="0">
                    <a:solidFill>
                      <a:srgbClr val="111827"/>
                    </a:solidFill>
                    <a:latin typeface="Arial"/>
                  </a:rPr>
                  <a:t>. Then </a:t>
                </a:r>
                <a14:m>
                  <m:oMath xmlns:m="http://schemas.openxmlformats.org/officeDocument/2006/math">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ln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Differentiate: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num>
                      <m:den>
                        <m:r>
                          <a:rPr lang="en-IN" sz="2400" i="1">
                            <a:solidFill>
                              <a:srgbClr val="111827"/>
                            </a:solidFill>
                            <a:latin typeface="Cambria Math" panose="02040503050406030204" pitchFamily="18" charset="0"/>
                          </a:rPr>
                          <m:t>𝑦</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𝑥</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𝑥</m:t>
                        </m:r>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𝑒</m:t>
                        </m:r>
                      </m:den>
                    </m:f>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ln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𝑒</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𝑥</m:t>
                        </m:r>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ln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𝑒</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gives </a:t>
                </a:r>
                <a14:m>
                  <m:oMath xmlns:m="http://schemas.openxmlformats.org/officeDocument/2006/math">
                    <m:r>
                      <m:rPr>
                        <m:sty m:val="p"/>
                      </m:rPr>
                      <a:rPr lang="en-IN" sz="2400">
                        <a:solidFill>
                          <a:srgbClr val="111827"/>
                        </a:solidFill>
                        <a:latin typeface="Cambria Math" panose="02040503050406030204" pitchFamily="18" charset="0"/>
                      </a:rPr>
                      <m:t>ln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𝑒</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𝑒</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$y=\left(\frac2x\right)^{x^{2}}$</a:t>
                </a:r>
                <a:r>
                  <a:rPr sz="2400" b="0">
                    <a:solidFill>
                      <a:srgbClr val="111827"/>
                    </a:solidFill>
                    <a:latin typeface="Arial"/>
                  </a:rPr>
                  <a:t>. Then </a:t>
                </a:r>
                <a:r>
                  <a:rPr lang="en-IN" sz="2400">
                    <a:solidFill>
                      <a:srgbClr val="111827"/>
                    </a:solidFill>
                    <a:latin typeface="Cambria Math" panose="02040503050406030204" pitchFamily="18" charset="0"/>
                  </a:rPr>
                  <a:t>$\ln y=x^{2}\ln\frac2x=x^{2}(\ln2-\ln 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Differentiate: </a:t>
                </a:r>
                <a:r>
                  <a:rPr lang="en-IN" sz="2400">
                    <a:solidFill>
                      <a:srgbClr val="111827"/>
                    </a:solidFill>
                    <a:latin typeface="Cambria Math" panose="02040503050406030204" pitchFamily="18" charset="0"/>
                  </a:rPr>
                  <a:t>$\frac{y'}{y}=2x(\ln2-\ln x)+x^{2}\left(-\frac1x\right)=x\left[2\ln2-1-2\ln x\right]$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$2\ln2-1=\ln\frac4e$</a:t>
                </a:r>
                <a:r>
                  <a:rPr sz="2400" b="0">
                    <a:solidFill>
                      <a:srgbClr val="111827"/>
                    </a:solidFill>
                    <a:latin typeface="Arial"/>
                  </a:rPr>
                  <a:t>, so </a:t>
                </a:r>
                <a:r>
                  <a:rPr lang="en-IN" sz="2400">
                    <a:solidFill>
                      <a:srgbClr val="111827"/>
                    </a:solidFill>
                    <a:latin typeface="Cambria Math" panose="02040503050406030204" pitchFamily="18" charset="0"/>
                  </a:rPr>
                  <a:t>$y'=y\cdot x\left(\ln\frac{4}{e}-2\ln x\right)=y\,x\,\ln\frac{4}{ex^{2}}$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$y'=0$</a:t>
                </a:r>
                <a:r>
                  <a:rPr sz="2400" b="0">
                    <a:solidFill>
                      <a:srgbClr val="111827"/>
                    </a:solidFill>
                    <a:latin typeface="Arial"/>
                  </a:rPr>
                  <a:t> gives </a:t>
                </a:r>
                <a:r>
                  <a:rPr lang="en-IN" sz="2400">
                    <a:solidFill>
                      <a:srgbClr val="111827"/>
                    </a:solidFill>
                    <a:latin typeface="Cambria Math" panose="02040503050406030204" pitchFamily="18" charset="0"/>
                  </a:rPr>
                  <a:t>$\ln\frac4e=2\ln x=\ln x^{2}$</a:t>
                </a:r>
                <a:r>
                  <a:rPr sz="2400" b="0">
                    <a:solidFill>
                      <a:srgbClr val="111827"/>
                    </a:solidFill>
                    <a:latin typeface="Arial"/>
                  </a:rPr>
                  <a:t>, so </a:t>
                </a:r>
                <a:r>
                  <a:rPr lang="en-IN" sz="2400">
                    <a:solidFill>
                      <a:srgbClr val="111827"/>
                    </a:solidFill>
                    <a:latin typeface="Cambria Math" panose="02040503050406030204" pitchFamily="18" charset="0"/>
                  </a:rPr>
                  <a:t>$x^{2}=\frac4e$</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Then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𝑒</m:t>
                        </m:r>
                      </m:e>
                    </m:rad>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𝑒</m:t>
                            </m:r>
                          </m:e>
                        </m:rad>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Sign of </a:t>
                </a:r>
                <a14:m>
                  <m:oMath xmlns:m="http://schemas.openxmlformats.org/officeDocument/2006/math">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positive for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&lt;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𝑒</m:t>
                        </m:r>
                      </m:den>
                    </m:f>
                  </m:oMath>
                </a14:m>
                <a:r>
                  <a:rPr sz="2400" b="0">
                    <a:solidFill>
                      <a:srgbClr val="111827"/>
                    </a:solidFill>
                    <a:latin typeface="Arial"/>
                  </a:rPr>
                  <a:t> and negative for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&gt;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𝑒</m:t>
                        </m:r>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𝑦</m:t>
                    </m:r>
                  </m:oMath>
                </a14:m>
                <a:r>
                  <a:rPr sz="2400" b="0">
                    <a:solidFill>
                      <a:srgbClr val="111827"/>
                    </a:solidFill>
                    <a:latin typeface="Arial"/>
                  </a:rPr>
                  <a:t> has a local maximum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𝑒</m:t>
                            </m:r>
                          </m:e>
                        </m:rad>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𝑦</m:t>
                        </m:r>
                      </m:e>
                      <m:sub>
                        <m:r>
                          <m:rPr>
                            <m:sty m:val="p"/>
                          </m:rPr>
                          <a:rPr lang="en-IN" sz="2400">
                            <a:solidFill>
                              <a:srgbClr val="111827"/>
                            </a:solidFill>
                            <a:latin typeface="Cambria Math" panose="02040503050406030204" pitchFamily="18" charset="0"/>
                          </a:rPr>
                          <m:t>max</m:t>
                        </m:r>
                      </m:sub>
                    </m:sSub>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𝑒</m:t>
                                </m:r>
                              </m:e>
                            </m:rad>
                          </m:e>
                        </m:d>
                      </m:e>
                      <m:sup>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sup>
                    </m:sSup>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𝑒</m:t>
                                </m:r>
                              </m:e>
                            </m:rad>
                          </m:e>
                        </m:d>
                      </m:e>
                      <m:sup>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𝑒</m:t>
                            </m:r>
                          </m:den>
                        </m:f>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𝑒</m:t>
                            </m:r>
                          </m:den>
                        </m:f>
                      </m:sup>
                    </m:sSup>
                  </m:oMath>
                </a14:m>
                <a:r>
                  <a:rPr sz="2400" b="0">
                    <a:solidFill>
                      <a:srgbClr val="111827"/>
                    </a:solidFill>
                    <a:latin typeface="Arial"/>
                  </a:rPr>
                  <a:t>: option (B).</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Then </a:t>
                </a:r>
                <a:r>
                  <a:rPr lang="en-IN" sz="2400">
                    <a:solidFill>
                      <a:srgbClr val="111827"/>
                    </a:solidFill>
                    <a:latin typeface="Cambria Math" panose="02040503050406030204" pitchFamily="18" charset="0"/>
                  </a:rPr>
                  <a:t>$\frac2x=\sqrt e$</a:t>
                </a:r>
                <a:r>
                  <a:rPr sz="2400" b="0">
                    <a:solidFill>
                      <a:srgbClr val="111827"/>
                    </a:solidFill>
                    <a:latin typeface="Arial"/>
                  </a:rPr>
                  <a:t>, i.e. </a:t>
                </a:r>
                <a:r>
                  <a:rPr lang="en-IN" sz="2400">
                    <a:solidFill>
                      <a:srgbClr val="111827"/>
                    </a:solidFill>
                    <a:latin typeface="Cambria Math" panose="02040503050406030204" pitchFamily="18" charset="0"/>
                  </a:rPr>
                  <a:t>$x=\frac{2}{\sqrt e}$</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Sign of </a:t>
                </a:r>
                <a:r>
                  <a:rPr lang="en-IN" sz="2400">
                    <a:solidFill>
                      <a:srgbClr val="111827"/>
                    </a:solidFill>
                    <a:latin typeface="Cambria Math" panose="02040503050406030204" pitchFamily="18" charset="0"/>
                  </a:rPr>
                  <a:t>$y'$</a:t>
                </a:r>
                <a:r>
                  <a:rPr sz="2400" b="0">
                    <a:solidFill>
                      <a:srgbClr val="111827"/>
                    </a:solidFill>
                    <a:latin typeface="Arial"/>
                  </a:rPr>
                  <a:t>: positive for </a:t>
                </a:r>
                <a:r>
                  <a:rPr lang="en-IN" sz="2400">
                    <a:solidFill>
                      <a:srgbClr val="111827"/>
                    </a:solidFill>
                    <a:latin typeface="Cambria Math" panose="02040503050406030204" pitchFamily="18" charset="0"/>
                  </a:rPr>
                  <a:t>$x^{2}&lt;\frac4e$</a:t>
                </a:r>
                <a:r>
                  <a:rPr sz="2400" b="0">
                    <a:solidFill>
                      <a:srgbClr val="111827"/>
                    </a:solidFill>
                    <a:latin typeface="Arial"/>
                  </a:rPr>
                  <a:t> and negative for </a:t>
                </a:r>
                <a:r>
                  <a:rPr lang="en-IN" sz="2400">
                    <a:solidFill>
                      <a:srgbClr val="111827"/>
                    </a:solidFill>
                    <a:latin typeface="Cambria Math" panose="02040503050406030204" pitchFamily="18" charset="0"/>
                  </a:rPr>
                  <a:t>$x^{2}&gt;\frac4e$</a:t>
                </a:r>
                <a:r>
                  <a:rPr sz="2400" b="0">
                    <a:solidFill>
                      <a:srgbClr val="111827"/>
                    </a:solidFill>
                    <a:latin typeface="Arial"/>
                  </a:rPr>
                  <a:t>, so </a:t>
                </a:r>
                <a:r>
                  <a:rPr lang="en-IN" sz="2400">
                    <a:solidFill>
                      <a:srgbClr val="111827"/>
                    </a:solidFill>
                    <a:latin typeface="Cambria Math" panose="02040503050406030204" pitchFamily="18" charset="0"/>
                  </a:rPr>
                  <a:t>$y$</a:t>
                </a:r>
                <a:r>
                  <a:rPr sz="2400" b="0">
                    <a:solidFill>
                      <a:srgbClr val="111827"/>
                    </a:solidFill>
                    <a:latin typeface="Arial"/>
                  </a:rPr>
                  <a:t> has a local maximum at </a:t>
                </a:r>
                <a:r>
                  <a:rPr lang="en-IN" sz="2400">
                    <a:solidFill>
                      <a:srgbClr val="111827"/>
                    </a:solidFill>
                    <a:latin typeface="Cambria Math" panose="02040503050406030204" pitchFamily="18" charset="0"/>
                  </a:rPr>
                  <a:t>$x=\frac{2}{\sqrt e}$</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$y_{\max}=\left(\sqrt e\right)^{x^{2}}=\left(\sqrt e\right)^{4/e}=e^{\frac12\cdot\frac4e}=e^{\frac2e}$</a:t>
                </a:r>
                <a:r>
                  <a:rPr sz="2400" b="0">
                    <a:solidFill>
                      <a:srgbClr val="111827"/>
                    </a:solidFill>
                    <a:latin typeface="Arial"/>
                  </a:rPr>
                  <a:t>: option (B).</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14:m>
                  <m:oMath xmlns:m="http://schemas.openxmlformats.org/officeDocument/2006/math">
                    <m:sSup>
                      <m:e>
                        <m:r>
                          <a:rPr lang="en-IN" sz="2800" i="1">
                            <a:solidFill>
                              <a:srgbClr val="15803D"/>
                            </a:solidFill>
                            <a:latin typeface="Cambria Math" panose="02040503050406030204" pitchFamily="18" charset="0"/>
                          </a:rPr>
                          <m:t>𝑒</m:t>
                        </m:r>
                      </m:e>
                      <m:sup>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2</m:t>
                            </m:r>
                          </m:num>
                          <m:den>
                            <m:r>
                              <a:rPr lang="en-IN" sz="2800" i="1">
                                <a:solidFill>
                                  <a:srgbClr val="15803D"/>
                                </a:solidFill>
                                <a:latin typeface="Cambria Math" panose="02040503050406030204" pitchFamily="18" charset="0"/>
                              </a:rPr>
                              <m:t>𝑒</m:t>
                            </m:r>
                          </m:den>
                        </m:f>
                      </m:sup>
                    </m:sSup>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r>
                  <a:rPr lang="en-IN" sz="2800">
                    <a:solidFill>
                      <a:srgbClr val="15803D"/>
                    </a:solidFill>
                    <a:latin typeface="Cambria Math" panose="02040503050406030204" pitchFamily="18" charset="0"/>
                  </a:rPr>
                  <a:t>$e^{\frac{2}{e}}$</a:t>
                </a:r>
                <a:endParaRPr sz="2800">
                  <a:solidFill>
                    <a:srgbClr val="15803D"/>
                  </a:solidFill>
                </a:endParaRPr>
              </a:p>
            </p:txBody>
          </p:sp>
        </mc:Fallback>
      </mc:AlternateContent>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Substitute </a:t>
                </a:r>
                <a14:m>
                  <m:oMath xmlns:m="http://schemas.openxmlformats.org/officeDocument/2006/math">
                    <m:r>
                      <a:rPr lang="en-IN" sz="2400" i="1">
                        <a:solidFill>
                          <a:srgbClr val="78350F"/>
                        </a:solidFill>
                        <a:latin typeface="Cambria Math" panose="02040503050406030204" pitchFamily="18" charset="0"/>
                      </a:rPr>
                      <m:t>𝑡</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 then </a:t>
                </a:r>
                <a14:m>
                  <m:oMath xmlns:m="http://schemas.openxmlformats.org/officeDocument/2006/math">
                    <m:r>
                      <m:rPr>
                        <m:sty m:val="p"/>
                      </m:rPr>
                      <a:rPr lang="en-IN" sz="2400">
                        <a:solidFill>
                          <a:srgbClr val="78350F"/>
                        </a:solidFill>
                        <a:latin typeface="Cambria Math" panose="02040503050406030204" pitchFamily="18" charset="0"/>
                      </a:rPr>
                      <m:t>ln</m:t>
                    </m:r>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𝑡</m:t>
                    </m:r>
                    <m:r>
                      <m:rPr>
                        <m:sty m:val="p"/>
                      </m:rPr>
                      <a:rPr lang="en-IN" sz="2400">
                        <a:solidFill>
                          <a:srgbClr val="78350F"/>
                        </a:solidFill>
                        <a:latin typeface="Cambria Math" panose="02040503050406030204" pitchFamily="18" charset="0"/>
                      </a:rPr>
                      <m:t>ln</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𝑡</m:t>
                        </m:r>
                      </m:num>
                      <m:den>
                        <m:r>
                          <a:rPr lang="en-IN" sz="2400" i="1">
                            <a:solidFill>
                              <a:srgbClr val="78350F"/>
                            </a:solidFill>
                            <a:latin typeface="Cambria Math" panose="02040503050406030204" pitchFamily="18" charset="0"/>
                          </a:rPr>
                          <m:t>2</m:t>
                        </m:r>
                      </m:den>
                    </m:f>
                    <m:r>
                      <m:rPr>
                        <m:sty m:val="p"/>
                      </m:rPr>
                      <a:rPr lang="en-IN" sz="2400">
                        <a:solidFill>
                          <a:srgbClr val="78350F"/>
                        </a:solidFill>
                        <a:latin typeface="Cambria Math" panose="02040503050406030204" pitchFamily="18" charset="0"/>
                      </a:rPr>
                      <m:t>ln</m:t>
                    </m:r>
                    <m:r>
                      <a:rPr lang="en-IN" sz="2400" i="1">
                        <a:solidFill>
                          <a:srgbClr val="78350F"/>
                        </a:solidFill>
                        <a:latin typeface="Cambria Math" panose="02040503050406030204" pitchFamily="18" charset="0"/>
                      </a:rPr>
                      <m:t>𝑡</m:t>
                    </m:r>
                  </m:oMath>
                </a14:m>
                <a:r>
                  <a:rPr sz="2400" b="0">
                    <a:solidFill>
                      <a:srgbClr val="78350F"/>
                    </a:solidFill>
                    <a:latin typeface="Arial"/>
                  </a:rPr>
                  <a:t> and the maximum value comes out as </a:t>
                </a:r>
                <a14:m>
                  <m:oMath xmlns:m="http://schemas.openxmlformats.org/officeDocument/2006/math">
                    <m:sSup>
                      <m:e>
                        <m:r>
                          <a:rPr lang="en-IN" sz="2400" i="1">
                            <a:solidFill>
                              <a:srgbClr val="78350F"/>
                            </a:solidFill>
                            <a:latin typeface="Cambria Math" panose="02040503050406030204" pitchFamily="18" charset="0"/>
                          </a:rPr>
                          <m:t>𝑒</m:t>
                        </m:r>
                      </m:e>
                      <m:sup>
                        <m:r>
                          <a:rPr lang="en-IN" sz="2400" i="1">
                            <a:solidFill>
                              <a:srgbClr val="78350F"/>
                            </a:solidFill>
                            <a:latin typeface="Cambria Math" panose="02040503050406030204" pitchFamily="18" charset="0"/>
                          </a:rPr>
                          <m:t>𝑡</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sup>
                    </m:sSup>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Substitute </a:t>
                </a:r>
                <a:r>
                  <a:rPr lang="en-IN" sz="2400">
                    <a:solidFill>
                      <a:srgbClr val="78350F"/>
                    </a:solidFill>
                    <a:latin typeface="Cambria Math" panose="02040503050406030204" pitchFamily="18" charset="0"/>
                  </a:rPr>
                  <a:t>$t=x^{2}$</a:t>
                </a:r>
                <a:r>
                  <a:rPr sz="2400" b="0">
                    <a:solidFill>
                      <a:srgbClr val="78350F"/>
                    </a:solidFill>
                    <a:latin typeface="Arial"/>
                  </a:rPr>
                  <a:t>: then </a:t>
                </a:r>
                <a:r>
                  <a:rPr lang="en-IN" sz="2400">
                    <a:solidFill>
                      <a:srgbClr val="78350F"/>
                    </a:solidFill>
                    <a:latin typeface="Cambria Math" panose="02040503050406030204" pitchFamily="18" charset="0"/>
                  </a:rPr>
                  <a:t>$\ln y=t\ln2-\frac t2\ln t$</a:t>
                </a:r>
                <a:r>
                  <a:rPr sz="2400" b="0">
                    <a:solidFill>
                      <a:srgbClr val="78350F"/>
                    </a:solidFill>
                    <a:latin typeface="Arial"/>
                  </a:rPr>
                  <a:t> and the maximum value comes out as </a:t>
                </a:r>
                <a:r>
                  <a:rPr lang="en-IN" sz="2400">
                    <a:solidFill>
                      <a:srgbClr val="78350F"/>
                    </a:solidFill>
                    <a:latin typeface="Cambria Math" panose="02040503050406030204" pitchFamily="18" charset="0"/>
                  </a:rPr>
                  <a:t>$e^{t/2}$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With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(increasing in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so maxima correspond), </a:t>
                </a:r>
                <a14:m>
                  <m:oMath xmlns:m="http://schemas.openxmlformats.org/officeDocument/2006/math">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f>
                          <m:fPr>
                            <m:type m:val="lin"/>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𝑡</m:t>
                        </m:r>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f>
                      <m:fPr>
                        <m:type m:val="lin"/>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𝑡</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𝑡</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f>
                      <m:fPr>
                        <m:type m:val="lin"/>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f>
                      <m:fPr>
                        <m:type m:val="lin"/>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𝑒</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Second derivative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𝑡</m:t>
                        </m:r>
                      </m:den>
                    </m:f>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so this is a maximum.</a:t>
                </a:r>
                <a:endParaRPr sz="2400">
                  <a:solidFill>
                    <a:srgbClr val="111827"/>
                  </a:solidFill>
                </a:endParaRPr>
              </a:p>
            </p:txBody>
          </p:sp>
        </mc:Choice>
        <mc:Fallback>
          <p:sp>
            <p:nvSpPr>
              <p:cNvPr id="6" name="Rectangle 5"/>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With </a:t>
                </a:r>
                <a:r>
                  <a:rPr lang="en-IN" sz="2400">
                    <a:solidFill>
                      <a:srgbClr val="111827"/>
                    </a:solidFill>
                    <a:latin typeface="Cambria Math" panose="02040503050406030204" pitchFamily="18" charset="0"/>
                  </a:rPr>
                  <a:t>$t=x^{2}&gt;0$</a:t>
                </a:r>
                <a:r>
                  <a:rPr sz="2400" b="0">
                    <a:solidFill>
                      <a:srgbClr val="111827"/>
                    </a:solidFill>
                    <a:latin typeface="Arial"/>
                  </a:rPr>
                  <a:t> (increasing in </a:t>
                </a:r>
                <a:r>
                  <a:rPr lang="en-IN" sz="2400">
                    <a:solidFill>
                      <a:srgbClr val="111827"/>
                    </a:solidFill>
                    <a:latin typeface="Cambria Math" panose="02040503050406030204" pitchFamily="18" charset="0"/>
                  </a:rPr>
                  <a:t>$x$</a:t>
                </a:r>
                <a:r>
                  <a:rPr sz="2400" b="0">
                    <a:solidFill>
                      <a:srgbClr val="111827"/>
                    </a:solidFill>
                    <a:latin typeface="Arial"/>
                  </a:rPr>
                  <a:t>, so maxima correspond), </a:t>
                </a:r>
                <a:r>
                  <a:rPr lang="en-IN" sz="2400">
                    <a:solidFill>
                      <a:srgbClr val="111827"/>
                    </a:solidFill>
                    <a:latin typeface="Cambria Math" panose="02040503050406030204" pitchFamily="18" charset="0"/>
                  </a:rPr>
                  <a:t>$\ln y=t\left(\ln2-\tfrac12\ln t\right)=t\ln2-\tfrac t2\ln 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$\frac{d(\ln y)}{dt}=\ln2-\tfrac12\ln t-\tfrac12=0$</a:t>
                </a:r>
                <a:r>
                  <a:rPr sz="2400" b="0">
                    <a:solidFill>
                      <a:srgbClr val="111827"/>
                    </a:solidFill>
                    <a:latin typeface="Arial"/>
                  </a:rPr>
                  <a:t>, so </a:t>
                </a:r>
                <a:r>
                  <a:rPr lang="en-IN" sz="2400">
                    <a:solidFill>
                      <a:srgbClr val="111827"/>
                    </a:solidFill>
                    <a:latin typeface="Cambria Math" panose="02040503050406030204" pitchFamily="18" charset="0"/>
                  </a:rPr>
                  <a:t>$\ln t=2\ln2-1$</a:t>
                </a:r>
                <a:r>
                  <a:rPr sz="2400" b="0">
                    <a:solidFill>
                      <a:srgbClr val="111827"/>
                    </a:solidFill>
                    <a:latin typeface="Arial"/>
                  </a:rPr>
                  <a:t>, i.e. </a:t>
                </a:r>
                <a:r>
                  <a:rPr lang="en-IN" sz="2400">
                    <a:solidFill>
                      <a:srgbClr val="111827"/>
                    </a:solidFill>
                    <a:latin typeface="Cambria Math" panose="02040503050406030204" pitchFamily="18" charset="0"/>
                  </a:rPr>
                  <a:t>$t=\frac4e$</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Second derivative </a:t>
                </a:r>
                <a:r>
                  <a:rPr lang="en-IN" sz="2400">
                    <a:solidFill>
                      <a:srgbClr val="111827"/>
                    </a:solidFill>
                    <a:latin typeface="Cambria Math" panose="02040503050406030204" pitchFamily="18" charset="0"/>
                  </a:rPr>
                  <a:t>$-\frac{1}{2t}&lt;0$</a:t>
                </a:r>
                <a:r>
                  <a:rPr sz="2400" b="0">
                    <a:solidFill>
                      <a:srgbClr val="111827"/>
                    </a:solidFill>
                    <a:latin typeface="Arial"/>
                  </a:rPr>
                  <a:t>, so this is a maximum.</a:t>
                </a:r>
                <a:endParaRPr sz="2400">
                  <a:solidFill>
                    <a:srgbClr val="111827"/>
                  </a:solidFill>
                </a:endParaRPr>
              </a:p>
            </p:txBody>
          </p:sp>
        </mc:Fallback>
      </mc:AlternateContent>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At this </a:t>
                </a:r>
                <a14:m>
                  <m:oMath xmlns:m="http://schemas.openxmlformats.org/officeDocument/2006/math">
                    <m:r>
                      <a:rPr lang="en-IN" sz="2400" i="1">
                        <a:solidFill>
                          <a:srgbClr val="111827"/>
                        </a:solidFill>
                        <a:latin typeface="Cambria Math" panose="02040503050406030204" pitchFamily="18" charset="0"/>
                      </a:rPr>
                      <m:t>𝑡</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f>
                      <m:fPr>
                        <m:type m:val="lin"/>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f>
                      <m:fPr>
                        <m:type m:val="lin"/>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lin"/>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ln</m:t>
                    </m:r>
                    <m:sSub>
                      <m:e>
                        <m:r>
                          <a:rPr lang="en-IN" sz="2400" i="1">
                            <a:solidFill>
                              <a:srgbClr val="111827"/>
                            </a:solidFill>
                            <a:latin typeface="Cambria Math" panose="02040503050406030204" pitchFamily="18" charset="0"/>
                          </a:rPr>
                          <m:t>𝑦</m:t>
                        </m:r>
                      </m:e>
                      <m:sub>
                        <m:r>
                          <m:rPr>
                            <m:sty m:val="p"/>
                          </m:rPr>
                          <a:rPr lang="en-IN" sz="2400">
                            <a:solidFill>
                              <a:srgbClr val="111827"/>
                            </a:solidFill>
                            <a:latin typeface="Cambria Math" panose="02040503050406030204" pitchFamily="18" charset="0"/>
                          </a:rPr>
                          <m:t>max</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𝑡</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𝑒</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sSub>
                      <m:e>
                        <m:r>
                          <a:rPr lang="en-IN" sz="2400" i="1">
                            <a:solidFill>
                              <a:srgbClr val="111827"/>
                            </a:solidFill>
                            <a:latin typeface="Cambria Math" panose="02040503050406030204" pitchFamily="18" charset="0"/>
                          </a:rPr>
                          <m:t>𝑦</m:t>
                        </m:r>
                      </m:e>
                      <m:sub>
                        <m:r>
                          <m:rPr>
                            <m:sty m:val="p"/>
                          </m:rPr>
                          <a:rPr lang="en-IN" sz="2400">
                            <a:solidFill>
                              <a:srgbClr val="111827"/>
                            </a:solidFill>
                            <a:latin typeface="Cambria Math" panose="02040503050406030204" pitchFamily="18" charset="0"/>
                          </a:rPr>
                          <m:t>max</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sup>
                    </m:sSup>
                  </m:oMath>
                </a14:m>
                <a:r>
                  <a:rPr sz="2400" b="0">
                    <a:solidFill>
                      <a:srgbClr val="111827"/>
                    </a:solidFill>
                    <a:latin typeface="Arial"/>
                  </a:rPr>
                  <a:t>: option (B).</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At this </a:t>
                </a:r>
                <a:r>
                  <a:rPr lang="en-IN" sz="2400">
                    <a:solidFill>
                      <a:srgbClr val="111827"/>
                    </a:solidFill>
                    <a:latin typeface="Cambria Math" panose="02040503050406030204" pitchFamily="18" charset="0"/>
                  </a:rPr>
                  <a:t>$t$</a:t>
                </a:r>
                <a:r>
                  <a:rPr sz="2400" b="0">
                    <a:solidFill>
                      <a:srgbClr val="111827"/>
                    </a:solidFill>
                    <a:latin typeface="Arial"/>
                  </a:rPr>
                  <a:t>, </a:t>
                </a:r>
                <a:r>
                  <a:rPr lang="en-IN" sz="2400">
                    <a:solidFill>
                      <a:srgbClr val="111827"/>
                    </a:solidFill>
                    <a:latin typeface="Cambria Math" panose="02040503050406030204" pitchFamily="18" charset="0"/>
                  </a:rPr>
                  <a:t>$\ln2-\tfrac12\ln t=\ln2-\ln2+\tfrac12=\tfrac12$</a:t>
                </a:r>
                <a:r>
                  <a:rPr sz="2400" b="0">
                    <a:solidFill>
                      <a:srgbClr val="111827"/>
                    </a:solidFill>
                    <a:latin typeface="Arial"/>
                  </a:rPr>
                  <a:t>, so </a:t>
                </a:r>
                <a:r>
                  <a:rPr lang="en-IN" sz="2400">
                    <a:solidFill>
                      <a:srgbClr val="111827"/>
                    </a:solidFill>
                    <a:latin typeface="Cambria Math" panose="02040503050406030204" pitchFamily="18" charset="0"/>
                  </a:rPr>
                  <a:t>$\ln y_{\max}=\frac t2=\frac2e$</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$y_{\max}=e^{2/e}$</a:t>
                </a:r>
                <a:r>
                  <a:rPr sz="2400" b="0">
                    <a:solidFill>
                      <a:srgbClr val="111827"/>
                    </a:solidFill>
                    <a:latin typeface="Arial"/>
                  </a:rPr>
                  <a:t>: option (B).</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a:t>
                </a:r>
                <a14:m>
                  <m:oMath xmlns:m="http://schemas.openxmlformats.org/officeDocument/2006/math">
                    <m:sSup>
                      <m:e>
                        <m:r>
                          <a:rPr lang="en-IN" sz="2800" i="1">
                            <a:solidFill>
                              <a:srgbClr val="15803D"/>
                            </a:solidFill>
                            <a:latin typeface="Cambria Math" panose="02040503050406030204" pitchFamily="18" charset="0"/>
                          </a:rPr>
                          <m:t>𝑒</m:t>
                        </m:r>
                      </m:e>
                      <m:sup>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2</m:t>
                            </m:r>
                          </m:num>
                          <m:den>
                            <m:r>
                              <a:rPr lang="en-IN" sz="2800" i="1">
                                <a:solidFill>
                                  <a:srgbClr val="15803D"/>
                                </a:solidFill>
                                <a:latin typeface="Cambria Math" panose="02040503050406030204" pitchFamily="18" charset="0"/>
                              </a:rPr>
                              <m:t>𝑒</m:t>
                            </m:r>
                          </m:den>
                        </m:f>
                      </m:sup>
                    </m:sSup>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a:t>
                </a:r>
                <a:r>
                  <a:rPr lang="en-IN" sz="2800">
                    <a:solidFill>
                      <a:srgbClr val="15803D"/>
                    </a:solidFill>
                    <a:latin typeface="Cambria Math" panose="02040503050406030204" pitchFamily="18" charset="0"/>
                  </a:rPr>
                  <a:t>$e^{\frac{2}{e}}$</a:t>
                </a:r>
                <a:endParaRPr sz="2800">
                  <a:solidFill>
                    <a:srgbClr val="15803D"/>
                  </a:solidFill>
                </a:endParaRPr>
              </a:p>
            </p:txBody>
          </p:sp>
        </mc:Fallback>
      </mc:AlternateContent>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𝑣</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take </a:t>
                </a:r>
                <a14:m>
                  <m:oMath xmlns:m="http://schemas.openxmlformats.org/officeDocument/2006/math">
                    <m:r>
                      <m:rPr>
                        <m:sty m:val="p"/>
                      </m:rPr>
                      <a:rPr lang="en-IN" sz="2400">
                        <a:solidFill>
                          <a:srgbClr val="111827"/>
                        </a:solidFill>
                        <a:latin typeface="Cambria Math" panose="02040503050406030204" pitchFamily="18" charset="0"/>
                      </a:rPr>
                      <m:t>ln</m:t>
                    </m:r>
                  </m:oMath>
                </a14:m>
                <a:r>
                  <a:rPr sz="2400" b="0">
                    <a:solidFill>
                      <a:srgbClr val="111827"/>
                    </a:solidFill>
                    <a:latin typeface="Arial"/>
                  </a:rPr>
                  <a:t> first: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num>
                      <m:den>
                        <m:r>
                          <a:rPr lang="en-IN" sz="2400" i="1">
                            <a:solidFill>
                              <a:srgbClr val="111827"/>
                            </a:solidFill>
                            <a:latin typeface="Cambria Math" panose="02040503050406030204" pitchFamily="18" charset="0"/>
                          </a:rPr>
                          <m:t>𝑦</m:t>
                        </m:r>
                      </m:den>
                    </m:f>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𝑣</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𝑣</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𝑢</m:t>
                            </m:r>
                          </m:e>
                          <m:sup>
                            <m:r>
                              <m:rPr>
                                <m:sty m:val="p"/>
                              </m:rPr>
                              <a:rPr lang="en-IN" sz="2400">
                                <a:solidFill>
                                  <a:srgbClr val="111827"/>
                                </a:solidFill>
                                <a:latin typeface="Cambria Math" panose="02040503050406030204" pitchFamily="18" charset="0"/>
                              </a:rPr>
                              <m:t>′</m:t>
                            </m:r>
                          </m:sup>
                        </m:sSup>
                      </m:num>
                      <m:den>
                        <m:r>
                          <a:rPr lang="en-IN" sz="2400" i="1">
                            <a:solidFill>
                              <a:srgbClr val="111827"/>
                            </a:solidFill>
                            <a:latin typeface="Cambria Math" panose="02040503050406030204" pitchFamily="18" charset="0"/>
                          </a:rPr>
                          <m:t>𝑢</m:t>
                        </m:r>
                      </m:den>
                    </m:f>
                  </m:oMath>
                </a14:m>
                <a:r>
                  <a:rPr sz="2400" b="0">
                    <a:solidFill>
                      <a:srgbClr val="111827"/>
                    </a:solidFill>
                    <a:latin typeface="Arial"/>
                  </a:rPr>
                  <a:t>; since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𝑦</m:t>
                    </m:r>
                    <m:sSup>
                      <m:e>
                        <m:r>
                          <m:rPr>
                            <m:sty m:val="p"/>
                          </m:rPr>
                          <a:rPr lang="en-IN" sz="2400">
                            <a:solidFill>
                              <a:srgbClr val="111827"/>
                            </a:solidFill>
                            <a:latin typeface="Cambria Math" panose="02040503050406030204" pitchFamily="18" charset="0"/>
                          </a:rPr>
                          <m:t>)</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have the same sign.</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𝑦</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𝑦</m:t>
                    </m:r>
                  </m:oMath>
                </a14:m>
                <a:r>
                  <a:rPr sz="2400" b="0">
                    <a:solidFill>
                      <a:srgbClr val="111827"/>
                    </a:solidFill>
                    <a:latin typeface="Arial"/>
                  </a:rPr>
                  <a:t> increase and decrease together, so extrema of </a:t>
                </a:r>
                <a14:m>
                  <m:oMath xmlns:m="http://schemas.openxmlformats.org/officeDocument/2006/math">
                    <m:r>
                      <a:rPr lang="en-IN" sz="2400" i="1">
                        <a:solidFill>
                          <a:srgbClr val="111827"/>
                        </a:solidFill>
                        <a:latin typeface="Cambria Math" panose="02040503050406030204" pitchFamily="18" charset="0"/>
                      </a:rPr>
                      <m:t>𝑦</m:t>
                    </m:r>
                  </m:oMath>
                </a14:m>
                <a:r>
                  <a:rPr sz="2400" b="0">
                    <a:solidFill>
                      <a:srgbClr val="111827"/>
                    </a:solidFill>
                    <a:latin typeface="Arial"/>
                  </a:rPr>
                  <a:t> can be found from </a:t>
                </a:r>
                <a14:m>
                  <m:oMath xmlns:m="http://schemas.openxmlformats.org/officeDocument/2006/math">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𝑦</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Substituting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works when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occurs only through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(monotonic 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Here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𝑥</m:t>
                                </m:r>
                              </m:den>
                            </m:f>
                          </m:e>
                        </m:d>
                      </m:e>
                      <m:sup>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at the critical point the exponent equals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$y=u(x)^{v(x)}$</a:t>
                </a:r>
                <a:r>
                  <a:rPr sz="2400" b="0">
                    <a:solidFill>
                      <a:srgbClr val="111827"/>
                    </a:solidFill>
                    <a:latin typeface="Arial"/>
                  </a:rPr>
                  <a:t>, take </a:t>
                </a:r>
                <a:r>
                  <a:rPr lang="en-IN" sz="2400">
                    <a:solidFill>
                      <a:srgbClr val="111827"/>
                    </a:solidFill>
                    <a:latin typeface="Cambria Math" panose="02040503050406030204" pitchFamily="18" charset="0"/>
                  </a:rPr>
                  <a:t>$\ln$</a:t>
                </a:r>
                <a:r>
                  <a:rPr sz="2400" b="0">
                    <a:solidFill>
                      <a:srgbClr val="111827"/>
                    </a:solidFill>
                    <a:latin typeface="Arial"/>
                  </a:rPr>
                  <a:t> first: </a:t>
                </a:r>
                <a:r>
                  <a:rPr lang="en-IN" sz="2400">
                    <a:solidFill>
                      <a:srgbClr val="111827"/>
                    </a:solidFill>
                    <a:latin typeface="Cambria Math" panose="02040503050406030204" pitchFamily="18" charset="0"/>
                  </a:rPr>
                  <a:t>$\frac{y'}{y}=v'\ln u+v\frac{u'}{u}$</a:t>
                </a:r>
                <a:r>
                  <a:rPr sz="2400" b="0">
                    <a:solidFill>
                      <a:srgbClr val="111827"/>
                    </a:solidFill>
                    <a:latin typeface="Arial"/>
                  </a:rPr>
                  <a:t>; since </a:t>
                </a:r>
                <a:r>
                  <a:rPr lang="en-IN" sz="2400">
                    <a:solidFill>
                      <a:srgbClr val="111827"/>
                    </a:solidFill>
                    <a:latin typeface="Cambria Math" panose="02040503050406030204" pitchFamily="18" charset="0"/>
                  </a:rPr>
                  <a:t>$y&gt;0$</a:t>
                </a:r>
                <a:r>
                  <a:rPr sz="2400" b="0">
                    <a:solidFill>
                      <a:srgbClr val="111827"/>
                    </a:solidFill>
                    <a:latin typeface="Arial"/>
                  </a:rPr>
                  <a:t>, </a:t>
                </a:r>
                <a:r>
                  <a:rPr lang="en-IN" sz="2400">
                    <a:solidFill>
                      <a:srgbClr val="111827"/>
                    </a:solidFill>
                    <a:latin typeface="Cambria Math" panose="02040503050406030204" pitchFamily="18" charset="0"/>
                  </a:rPr>
                  <a:t>$y'$</a:t>
                </a:r>
                <a:r>
                  <a:rPr sz="2400" b="0">
                    <a:solidFill>
                      <a:srgbClr val="111827"/>
                    </a:solidFill>
                    <a:latin typeface="Arial"/>
                  </a:rPr>
                  <a:t> and </a:t>
                </a:r>
                <a:r>
                  <a:rPr lang="en-IN" sz="2400">
                    <a:solidFill>
                      <a:srgbClr val="111827"/>
                    </a:solidFill>
                    <a:latin typeface="Cambria Math" panose="02040503050406030204" pitchFamily="18" charset="0"/>
                  </a:rPr>
                  <a:t>$(\ln y)'$</a:t>
                </a:r>
                <a:r>
                  <a:rPr sz="2400" b="0">
                    <a:solidFill>
                      <a:srgbClr val="111827"/>
                    </a:solidFill>
                    <a:latin typeface="Arial"/>
                  </a:rPr>
                  <a:t> have the same sign.</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$\ln y$</a:t>
                </a:r>
                <a:r>
                  <a:rPr sz="2400" b="0">
                    <a:solidFill>
                      <a:srgbClr val="111827"/>
                    </a:solidFill>
                    <a:latin typeface="Arial"/>
                  </a:rPr>
                  <a:t> and </a:t>
                </a:r>
                <a:r>
                  <a:rPr lang="en-IN" sz="2400">
                    <a:solidFill>
                      <a:srgbClr val="111827"/>
                    </a:solidFill>
                    <a:latin typeface="Cambria Math" panose="02040503050406030204" pitchFamily="18" charset="0"/>
                  </a:rPr>
                  <a:t>$y$</a:t>
                </a:r>
                <a:r>
                  <a:rPr sz="2400" b="0">
                    <a:solidFill>
                      <a:srgbClr val="111827"/>
                    </a:solidFill>
                    <a:latin typeface="Arial"/>
                  </a:rPr>
                  <a:t> increase and decrease together, so extrema of </a:t>
                </a:r>
                <a:r>
                  <a:rPr lang="en-IN" sz="2400">
                    <a:solidFill>
                      <a:srgbClr val="111827"/>
                    </a:solidFill>
                    <a:latin typeface="Cambria Math" panose="02040503050406030204" pitchFamily="18" charset="0"/>
                  </a:rPr>
                  <a:t>$y$</a:t>
                </a:r>
                <a:r>
                  <a:rPr sz="2400" b="0">
                    <a:solidFill>
                      <a:srgbClr val="111827"/>
                    </a:solidFill>
                    <a:latin typeface="Arial"/>
                  </a:rPr>
                  <a:t> can be found from </a:t>
                </a:r>
                <a:r>
                  <a:rPr lang="en-IN" sz="2400">
                    <a:solidFill>
                      <a:srgbClr val="111827"/>
                    </a:solidFill>
                    <a:latin typeface="Cambria Math" panose="02040503050406030204" pitchFamily="18" charset="0"/>
                  </a:rPr>
                  <a:t>$\ln y$</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Substituting </a:t>
                </a:r>
                <a:r>
                  <a:rPr lang="en-IN" sz="2400">
                    <a:solidFill>
                      <a:srgbClr val="111827"/>
                    </a:solidFill>
                    <a:latin typeface="Cambria Math" panose="02040503050406030204" pitchFamily="18" charset="0"/>
                  </a:rPr>
                  <a:t>$t=x^{2}$</a:t>
                </a:r>
                <a:r>
                  <a:rPr sz="2400" b="0">
                    <a:solidFill>
                      <a:srgbClr val="111827"/>
                    </a:solidFill>
                    <a:latin typeface="Arial"/>
                  </a:rPr>
                  <a:t> works when </a:t>
                </a:r>
                <a:r>
                  <a:rPr lang="en-IN" sz="2400">
                    <a:solidFill>
                      <a:srgbClr val="111827"/>
                    </a:solidFill>
                    <a:latin typeface="Cambria Math" panose="02040503050406030204" pitchFamily="18" charset="0"/>
                  </a:rPr>
                  <a:t>$x$</a:t>
                </a:r>
                <a:r>
                  <a:rPr sz="2400" b="0">
                    <a:solidFill>
                      <a:srgbClr val="111827"/>
                    </a:solidFill>
                    <a:latin typeface="Arial"/>
                  </a:rPr>
                  <a:t> occurs only through </a:t>
                </a:r>
                <a:r>
                  <a:rPr lang="en-IN" sz="2400">
                    <a:solidFill>
                      <a:srgbClr val="111827"/>
                    </a:solidFill>
                    <a:latin typeface="Cambria Math" panose="02040503050406030204" pitchFamily="18" charset="0"/>
                  </a:rPr>
                  <a:t>$x^{2}$</a:t>
                </a:r>
                <a:r>
                  <a:rPr sz="2400" b="0">
                    <a:solidFill>
                      <a:srgbClr val="111827"/>
                    </a:solidFill>
                    <a:latin typeface="Arial"/>
                  </a:rPr>
                  <a:t> (monotonic for </a:t>
                </a:r>
                <a:r>
                  <a:rPr lang="en-IN" sz="2400">
                    <a:solidFill>
                      <a:srgbClr val="111827"/>
                    </a:solidFill>
                    <a:latin typeface="Cambria Math" panose="02040503050406030204" pitchFamily="18" charset="0"/>
                  </a:rPr>
                  <a:t>$x&gt;0$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Here </a:t>
                </a:r>
                <a:r>
                  <a:rPr lang="en-IN" sz="2400">
                    <a:solidFill>
                      <a:srgbClr val="111827"/>
                    </a:solidFill>
                    <a:latin typeface="Cambria Math" panose="02040503050406030204" pitchFamily="18" charset="0"/>
                  </a:rPr>
                  <a:t>$\left(\frac2x\right)^{x^2}=e^{x^{2}(\ln2-\ln x)}$</a:t>
                </a:r>
                <a:r>
                  <a:rPr sz="2400" b="0">
                    <a:solidFill>
                      <a:srgbClr val="111827"/>
                    </a:solidFill>
                    <a:latin typeface="Arial"/>
                  </a:rPr>
                  <a:t>; at the critical point the exponent equals </a:t>
                </a:r>
                <a:r>
                  <a:rPr lang="en-IN" sz="2400">
                    <a:solidFill>
                      <a:srgbClr val="111827"/>
                    </a:solidFill>
                    <a:latin typeface="Cambria Math" panose="02040503050406030204" pitchFamily="18" charset="0"/>
                  </a:rPr>
                  <a:t>$\frac{x^{2}}{2}$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406647"/>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 wire of length </a:t>
                </a:r>
                <a14:m>
                  <m:oMath xmlns:m="http://schemas.openxmlformats.org/officeDocument/2006/math">
                    <m:r>
                      <a:rPr lang="en-IN" sz="2400" i="1">
                        <a:solidFill>
                          <a:srgbClr val="111827"/>
                        </a:solidFill>
                        <a:latin typeface="Cambria Math" panose="02040503050406030204" pitchFamily="18" charset="0"/>
                      </a:rPr>
                      <m:t>20</m:t>
                    </m:r>
                  </m:oMath>
                </a14:m>
                <a:r>
                  <a:rPr sz="2400" b="0">
                    <a:solidFill>
                      <a:srgbClr val="111827"/>
                    </a:solidFill>
                    <a:latin typeface="Arial"/>
                  </a:rPr>
                  <a:t> m is to be cut into two pieces. One of the pieces is to be made into a square and the other into a regular hexagon. Then the length of the side (in metres) of the hexagon, so that the combined area of the square and the hexagon is minimum, is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oMath>
                </a14:m>
                <a:r>
                  <a:rPr sz="2400" b="0">
                    <a:solidFill>
                      <a:srgbClr val="111827"/>
                    </a:solidFill>
                    <a:latin typeface="Arial"/>
                  </a:rPr>
                  <a:t>   (B)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num>
                      <m:den>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oMath>
                </a14:m>
                <a:r>
                  <a:rPr sz="2400" b="0">
                    <a:solidFill>
                      <a:srgbClr val="111827"/>
                    </a:solidFill>
                    <a:latin typeface="Arial"/>
                  </a:rPr>
                  <a:t>   (C)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oMath>
                </a14:m>
                <a:r>
                  <a:rPr sz="2400" b="0">
                    <a:solidFill>
                      <a:srgbClr val="111827"/>
                    </a:solidFill>
                    <a:latin typeface="Arial"/>
                  </a:rPr>
                  <a:t>   (D)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oMath>
                </a14:m>
                <a:endParaRPr sz="2400">
                  <a:solidFill>
                    <a:srgbClr val="111827"/>
                  </a:solidFill>
                </a:endParaRPr>
              </a:p>
            </p:txBody>
          </p:sp>
        </mc:Choice>
        <mc:Fallback>
          <p:sp>
            <p:nvSpPr>
              <p:cNvPr id="4" name="Rounded Rectangle 3"/>
              <p:cNvSpPr/>
              <p:nvPr/>
            </p:nvSpPr>
            <p:spPr>
              <a:xfrm>
                <a:off x="731520" y="1280160"/>
                <a:ext cx="10725912" cy="3406647"/>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 wire of length </a:t>
                </a:r>
                <a:r>
                  <a:rPr lang="en-IN" sz="2400">
                    <a:solidFill>
                      <a:srgbClr val="111827"/>
                    </a:solidFill>
                    <a:latin typeface="Cambria Math" panose="02040503050406030204" pitchFamily="18" charset="0"/>
                  </a:rPr>
                  <a:t>$20$</a:t>
                </a:r>
                <a:r>
                  <a:rPr sz="2400" b="0">
                    <a:solidFill>
                      <a:srgbClr val="111827"/>
                    </a:solidFill>
                    <a:latin typeface="Arial"/>
                  </a:rPr>
                  <a:t> m is to be cut into two pieces. One of the pieces is to be made into a square and the other into a regular hexagon. Then the length of the side (in metres) of the hexagon, so that the combined area of the square and the hexagon is minimum, is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$\frac{10}{2+3\sqrt3}$</a:t>
                </a:r>
                <a:r>
                  <a:rPr sz="2400" b="0">
                    <a:solidFill>
                      <a:srgbClr val="111827"/>
                    </a:solidFill>
                    <a:latin typeface="Arial"/>
                  </a:rPr>
                  <a:t>   (B) </a:t>
                </a:r>
                <a:r>
                  <a:rPr lang="en-IN" sz="2400">
                    <a:solidFill>
                      <a:srgbClr val="111827"/>
                    </a:solidFill>
                    <a:latin typeface="Cambria Math" panose="02040503050406030204" pitchFamily="18" charset="0"/>
                  </a:rPr>
                  <a:t>$\frac{10}{3+2\sqrt3}$</a:t>
                </a:r>
                <a:r>
                  <a:rPr sz="2400" b="0">
                    <a:solidFill>
                      <a:srgbClr val="111827"/>
                    </a:solidFill>
                    <a:latin typeface="Arial"/>
                  </a:rPr>
                  <a:t>   (C) </a:t>
                </a:r>
                <a:r>
                  <a:rPr lang="en-IN" sz="2400">
                    <a:solidFill>
                      <a:srgbClr val="111827"/>
                    </a:solidFill>
                    <a:latin typeface="Cambria Math" panose="02040503050406030204" pitchFamily="18" charset="0"/>
                  </a:rPr>
                  <a:t>$\frac{5}{3+\sqrt3}$</a:t>
                </a:r>
                <a:r>
                  <a:rPr sz="2400" b="0">
                    <a:solidFill>
                      <a:srgbClr val="111827"/>
                    </a:solidFill>
                    <a:latin typeface="Arial"/>
                  </a:rPr>
                  <a:t>   (D) </a:t>
                </a:r>
                <a:r>
                  <a:rPr lang="en-IN" sz="2400">
                    <a:solidFill>
                      <a:srgbClr val="111827"/>
                    </a:solidFill>
                    <a:latin typeface="Cambria Math" panose="02040503050406030204" pitchFamily="18" charset="0"/>
                  </a:rPr>
                  <a:t>$\frac{5}{2+\sqrt3}$</a:t>
                </a:r>
                <a:endParaRPr sz="2400">
                  <a:solidFill>
                    <a:srgbClr val="111827"/>
                  </a:solidFill>
                </a:endParaRPr>
              </a:p>
            </p:txBody>
          </p:sp>
        </mc:Fallback>
      </mc:AlternateContent>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ectangle 3"/>
          <p:cNvSpPr/>
          <p:nvPr/>
        </p:nvSpPr>
        <p:spPr>
          <a:xfrm>
            <a:off x="731520" y="128016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Optimisation (maxima-minima) application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
        <p:nvSpPr>
          <p:cNvPr id="5" name="Rounded Rectangle 4"/>
          <p:cNvSpPr/>
          <p:nvPr/>
        </p:nvSpPr>
        <p:spPr>
          <a:xfrm>
            <a:off x="731520" y="3438144"/>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Express the combined area through one variable (length given to the hexagon) and set its derivative to zero.</a:t>
            </a:r>
            <a:endParaRPr sz="2400">
              <a:solidFill>
                <a:srgbClr val="78350F"/>
              </a:solidFill>
            </a:endParaRPr>
          </a:p>
        </p:txBody>
      </p:sp>
      <mc:AlternateContent xmlns:mc="http://schemas.openxmlformats.org/markup-compatibility/2006" xmlns:a14="http://schemas.microsoft.com/office/drawing/2010/main">
        <mc:Choice Requires="a14">
          <p:sp>
            <p:nvSpPr>
              <p:cNvPr id="6" name="Rectangle 5"/>
              <p:cNvSpPr/>
              <p:nvPr/>
            </p:nvSpPr>
            <p:spPr>
              <a:xfrm>
                <a:off x="731520" y="4684776"/>
                <a:ext cx="10725912" cy="199034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be the length used for the hexagon (side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 for the square (side </a:t>
                </a:r>
                <a14:m>
                  <m:oMath xmlns:m="http://schemas.openxmlformats.org/officeDocument/2006/math">
                    <m:r>
                      <a:rPr lang="en-IN" sz="2400" i="1">
                        <a:solidFill>
                          <a:srgbClr val="111827"/>
                        </a:solidFill>
                        <a:latin typeface="Cambria Math" panose="02040503050406030204" pitchFamily="18" charset="0"/>
                      </a:rPr>
                      <m:t>𝑏</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6</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4684776"/>
                <a:ext cx="10725912" cy="199034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$x$</a:t>
                </a:r>
                <a:r>
                  <a:rPr sz="2400" b="0">
                    <a:solidFill>
                      <a:srgbClr val="111827"/>
                    </a:solidFill>
                    <a:latin typeface="Arial"/>
                  </a:rPr>
                  <a:t> be the length used for the hexagon (side </a:t>
                </a:r>
                <a:r>
                  <a:rPr lang="en-IN" sz="2400">
                    <a:solidFill>
                      <a:srgbClr val="111827"/>
                    </a:solidFill>
                    <a:latin typeface="Cambria Math" panose="02040503050406030204" pitchFamily="18" charset="0"/>
                  </a:rPr>
                  <a:t>$a$</a:t>
                </a:r>
                <a:r>
                  <a:rPr sz="2400" b="0">
                    <a:solidFill>
                      <a:srgbClr val="111827"/>
                    </a:solidFill>
                    <a:latin typeface="Arial"/>
                  </a:rPr>
                  <a:t>) and </a:t>
                </a:r>
                <a:r>
                  <a:rPr lang="en-IN" sz="2400">
                    <a:solidFill>
                      <a:srgbClr val="111827"/>
                    </a:solidFill>
                    <a:latin typeface="Cambria Math" panose="02040503050406030204" pitchFamily="18" charset="0"/>
                  </a:rPr>
                  <a:t>$20-x$</a:t>
                </a:r>
                <a:r>
                  <a:rPr sz="2400" b="0">
                    <a:solidFill>
                      <a:srgbClr val="111827"/>
                    </a:solidFill>
                    <a:latin typeface="Arial"/>
                  </a:rPr>
                  <a:t> for the square (side </a:t>
                </a:r>
                <a:r>
                  <a:rPr lang="en-IN" sz="2400">
                    <a:solidFill>
                      <a:srgbClr val="111827"/>
                    </a:solidFill>
                    <a:latin typeface="Cambria Math" panose="02040503050406030204" pitchFamily="18" charset="0"/>
                  </a:rPr>
                  <a:t>$b$</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$6a=x\Rightarrow a=\frac x6$</a:t>
                </a:r>
                <a:r>
                  <a:rPr sz="2400" b="0">
                    <a:solidFill>
                      <a:srgbClr val="111827"/>
                    </a:solidFill>
                    <a:latin typeface="Arial"/>
                  </a:rPr>
                  <a:t>; </a:t>
                </a:r>
                <a:r>
                  <a:rPr lang="en-IN" sz="2400">
                    <a:solidFill>
                      <a:srgbClr val="111827"/>
                    </a:solidFill>
                    <a:latin typeface="Cambria Math" panose="02040503050406030204" pitchFamily="18" charset="0"/>
                  </a:rPr>
                  <a:t>$4b=20-x\Rightarrow b=5-\frac x4$</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Area of a regular hexagon is </a:t>
                </a:r>
                <a14:m>
                  <m:oMath xmlns:m="http://schemas.openxmlformats.org/officeDocument/2006/math">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4</m:t>
                        </m:r>
                      </m:den>
                    </m:f>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4</m:t>
                        </m:r>
                      </m:den>
                    </m:f>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36</m:t>
                        </m:r>
                      </m:den>
                    </m:f>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4</m:t>
                                </m:r>
                              </m:den>
                            </m:f>
                          </m:e>
                        </m:d>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𝐴</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12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4</m:t>
                            </m:r>
                          </m:den>
                        </m:f>
                      </m:e>
                    </m:d>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12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4</m:t>
                            </m:r>
                          </m:den>
                        </m:f>
                      </m:e>
                    </m:d>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𝑥</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12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Area of a regular hexagon is </a:t>
                </a:r>
                <a:r>
                  <a:rPr lang="en-IN" sz="2400">
                    <a:solidFill>
                      <a:srgbClr val="111827"/>
                    </a:solidFill>
                    <a:latin typeface="Cambria Math" panose="02040503050406030204" pitchFamily="18" charset="0"/>
                  </a:rPr>
                  <a:t>$6\cdot\frac{\sqrt3}{4}a^{2}$</a:t>
                </a:r>
                <a:r>
                  <a:rPr sz="2400" b="0">
                    <a:solidFill>
                      <a:srgbClr val="111827"/>
                    </a:solidFill>
                    <a:latin typeface="Arial"/>
                  </a:rPr>
                  <a:t>, so </a:t>
                </a:r>
                <a:r>
                  <a:rPr lang="en-IN" sz="2400">
                    <a:solidFill>
                      <a:srgbClr val="111827"/>
                    </a:solidFill>
                    <a:latin typeface="Cambria Math" panose="02040503050406030204" pitchFamily="18" charset="0"/>
                  </a:rPr>
                  <a:t>$A=6\cdot\frac{\sqrt3}{4}a^{2}+b^{2}=\frac{3\sqrt3}{2}\cdot\frac{x^{2}}{36}+\left(5-\frac x4\right)^{2}$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$\frac{dA}{dx}=\frac{\sqrt3\,x}{12}+2\left(5-\frac x4\right)\left(-\frac14\right)=0$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$\frac{\sqrt3\,x}{12}=\frac12\left(5-\frac x4\right)$</a:t>
                </a:r>
                <a:r>
                  <a:rPr sz="2400" b="0">
                    <a:solidFill>
                      <a:srgbClr val="111827"/>
                    </a:solidFill>
                    <a:latin typeface="Arial"/>
                  </a:rPr>
                  <a:t>, so </a:t>
                </a:r>
                <a:r>
                  <a:rPr lang="en-IN" sz="2400">
                    <a:solidFill>
                      <a:srgbClr val="111827"/>
                    </a:solidFill>
                    <a:latin typeface="Cambria Math" panose="02040503050406030204" pitchFamily="18" charset="0"/>
                  </a:rPr>
                  <a:t>$x\left(\frac{\sqrt3}{6}+\frac14\right)=5$</a:t>
                </a:r>
                <a:r>
                  <a:rPr sz="2400" b="0">
                    <a:solidFill>
                      <a:srgbClr val="111827"/>
                    </a:solidFill>
                    <a:latin typeface="Arial"/>
                  </a:rPr>
                  <a:t>, i.e. </a:t>
                </a:r>
                <a:r>
                  <a:rPr lang="en-IN" sz="2400">
                    <a:solidFill>
                      <a:srgbClr val="111827"/>
                    </a:solidFill>
                    <a:latin typeface="Cambria Math" panose="02040503050406030204" pitchFamily="18" charset="0"/>
                  </a:rPr>
                  <a:t>$x\cdot\frac{2\sqrt3+3}{12}=5$</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60</m:t>
                        </m:r>
                      </m:num>
                      <m:den>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𝐴</m:t>
                        </m:r>
                      </m:num>
                      <m:den>
                        <m:r>
                          <a:rPr lang="en-IN" sz="2400" i="1">
                            <a:solidFill>
                              <a:srgbClr val="111827"/>
                            </a:solidFill>
                            <a:latin typeface="Cambria Math" panose="02040503050406030204" pitchFamily="18" charset="0"/>
                          </a:rPr>
                          <m:t>𝑑</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12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8</m:t>
                        </m:r>
                      </m:den>
                    </m:f>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so this is a minimum.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Side of hexagon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num>
                      <m:den>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oMath>
                </a14:m>
                <a:r>
                  <a:rPr sz="2400" b="0">
                    <a:solidFill>
                      <a:srgbClr val="111827"/>
                    </a:solidFill>
                    <a:latin typeface="Arial"/>
                  </a:rPr>
                  <a:t>: option (B).</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$x=\frac{60}{3+2\sqrt3}$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$\frac{d^{2}A}{dx^{2}}=\frac{\sqrt3}{12}+\frac18&gt;0$</a:t>
                </a:r>
                <a:r>
                  <a:rPr sz="2400" b="0">
                    <a:solidFill>
                      <a:srgbClr val="111827"/>
                    </a:solidFill>
                    <a:latin typeface="Arial"/>
                  </a:rPr>
                  <a:t>, so this is a minimum.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Side of hexagon </a:t>
                </a:r>
                <a:r>
                  <a:rPr lang="en-IN" sz="2400">
                    <a:solidFill>
                      <a:srgbClr val="111827"/>
                    </a:solidFill>
                    <a:latin typeface="Cambria Math" panose="02040503050406030204" pitchFamily="18" charset="0"/>
                  </a:rPr>
                  <a:t>$a=\frac x6=\frac{10}{3+2\sqrt3}$</a:t>
                </a:r>
                <a:r>
                  <a:rPr sz="2400" b="0">
                    <a:solidFill>
                      <a:srgbClr val="111827"/>
                    </a:solidFill>
                    <a:latin typeface="Arial"/>
                  </a:rPr>
                  <a:t>: option (B).</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10</m:t>
                        </m:r>
                      </m:num>
                      <m:den>
                        <m:r>
                          <a:rPr lang="en-IN" sz="2800" i="1">
                            <a:solidFill>
                              <a:srgbClr val="15803D"/>
                            </a:solidFill>
                            <a:latin typeface="Cambria Math" panose="02040503050406030204" pitchFamily="18" charset="0"/>
                          </a:rPr>
                          <m:t>3</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2</m:t>
                        </m:r>
                        <m:rad>
                          <m:radPr>
                            <m:degHide m:val="on"/>
                            <m:ctrlPr>
                              <a:rPr lang="en-IN" sz="2800" i="1">
                                <a:solidFill>
                                  <a:srgbClr val="15803D"/>
                                </a:solidFill>
                                <a:latin typeface="Cambria Math" panose="02040503050406030204" pitchFamily="18" charset="0"/>
                              </a:rPr>
                            </m:ctrlPr>
                          </m:radPr>
                          <m:deg/>
                          <m:e>
                            <m:r>
                              <a:rPr lang="en-IN" sz="2800" i="1">
                                <a:solidFill>
                                  <a:srgbClr val="15803D"/>
                                </a:solidFill>
                                <a:latin typeface="Cambria Math" panose="02040503050406030204" pitchFamily="18" charset="0"/>
                              </a:rPr>
                              <m:t>3</m:t>
                            </m:r>
                          </m:e>
                        </m:rad>
                      </m:den>
                    </m:f>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r>
                  <a:rPr lang="en-IN" sz="2800">
                    <a:solidFill>
                      <a:srgbClr val="15803D"/>
                    </a:solidFill>
                    <a:latin typeface="Cambria Math" panose="02040503050406030204" pitchFamily="18" charset="0"/>
                  </a:rPr>
                  <a:t>$\frac{10}{3+2\sqrt3}$</a:t>
                </a:r>
                <a:endParaRPr sz="2800">
                  <a:solidFill>
                    <a:srgbClr val="15803D"/>
                  </a:solidFill>
                </a:endParaRPr>
              </a:p>
            </p:txBody>
          </p:sp>
        </mc:Fallback>
      </mc:AlternateContent>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Cauchy-Schwarz on the constraint </a:t>
                </a:r>
                <a14:m>
                  <m:oMath xmlns:m="http://schemas.openxmlformats.org/officeDocument/2006/math">
                    <m:r>
                      <a:rPr lang="en-IN" sz="2400" i="1">
                        <a:solidFill>
                          <a:srgbClr val="78350F"/>
                        </a:solidFill>
                        <a:latin typeface="Cambria Math" panose="02040503050406030204" pitchFamily="18" charset="0"/>
                      </a:rPr>
                      <m:t>6</m:t>
                    </m:r>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4</m:t>
                    </m:r>
                    <m:r>
                      <a:rPr lang="en-IN" sz="2400" i="1">
                        <a:solidFill>
                          <a:srgbClr val="78350F"/>
                        </a:solidFill>
                        <a:latin typeface="Cambria Math" panose="02040503050406030204" pitchFamily="18" charset="0"/>
                      </a:rPr>
                      <m:t>𝑏</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20</m:t>
                    </m:r>
                  </m:oMath>
                </a14:m>
                <a:r>
                  <a:rPr sz="2400" b="0">
                    <a:solidFill>
                      <a:srgbClr val="78350F"/>
                    </a:solidFill>
                    <a:latin typeface="Arial"/>
                  </a:rPr>
                  <a:t> gives the minimum of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3</m:t>
                        </m:r>
                        <m:rad>
                          <m:radPr>
                            <m:degHide m:val="on"/>
                            <m:ctrlPr>
                              <a:rPr lang="en-IN" sz="2400" i="1">
                                <a:solidFill>
                                  <a:srgbClr val="78350F"/>
                                </a:solidFill>
                                <a:latin typeface="Cambria Math" panose="02040503050406030204" pitchFamily="18" charset="0"/>
                              </a:rPr>
                            </m:ctrlPr>
                          </m:radPr>
                          <m:deg/>
                          <m:e>
                            <m:r>
                              <a:rPr lang="en-IN" sz="2400" i="1">
                                <a:solidFill>
                                  <a:srgbClr val="78350F"/>
                                </a:solidFill>
                                <a:latin typeface="Cambria Math" panose="02040503050406030204" pitchFamily="18" charset="0"/>
                              </a:rPr>
                              <m:t>3</m:t>
                            </m:r>
                          </m:e>
                        </m:rad>
                      </m:num>
                      <m:den>
                        <m:r>
                          <a:rPr lang="en-IN" sz="2400" i="1">
                            <a:solidFill>
                              <a:srgbClr val="78350F"/>
                            </a:solidFill>
                            <a:latin typeface="Cambria Math" panose="02040503050406030204" pitchFamily="18" charset="0"/>
                          </a:rPr>
                          <m:t>2</m:t>
                        </m:r>
                      </m:den>
                    </m:f>
                    <m:sSup>
                      <m:e>
                        <m:r>
                          <a:rPr lang="en-IN" sz="2400" i="1">
                            <a:solidFill>
                              <a:srgbClr val="78350F"/>
                            </a:solidFill>
                            <a:latin typeface="Cambria Math" panose="02040503050406030204" pitchFamily="18" charset="0"/>
                          </a:rPr>
                          <m:t>𝑎</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𝑏</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 with equality at </a:t>
                </a:r>
                <a14:m>
                  <m:oMath xmlns:m="http://schemas.openxmlformats.org/officeDocument/2006/math">
                    <m:r>
                      <a:rPr lang="en-IN" sz="2400" i="1">
                        <a:solidFill>
                          <a:srgbClr val="78350F"/>
                        </a:solidFill>
                        <a:latin typeface="Cambria Math" panose="02040503050406030204" pitchFamily="18" charset="0"/>
                      </a:rPr>
                      <m:t>𝑏</m:t>
                    </m:r>
                    <m:r>
                      <m:rPr>
                        <m:sty m:val="p"/>
                      </m:rPr>
                      <a:rPr lang="en-IN" sz="2400">
                        <a:solidFill>
                          <a:srgbClr val="78350F"/>
                        </a:solidFill>
                        <a:latin typeface="Cambria Math" panose="02040503050406030204" pitchFamily="18" charset="0"/>
                      </a:rPr>
                      <m:t>=</m:t>
                    </m:r>
                    <m:rad>
                      <m:radPr>
                        <m:degHide m:val="on"/>
                        <m:ctrlPr>
                          <a:rPr lang="en-IN" sz="2400" i="1">
                            <a:solidFill>
                              <a:srgbClr val="78350F"/>
                            </a:solidFill>
                            <a:latin typeface="Cambria Math" panose="02040503050406030204" pitchFamily="18" charset="0"/>
                          </a:rPr>
                        </m:ctrlPr>
                      </m:radPr>
                      <m:deg/>
                      <m:e>
                        <m:r>
                          <a:rPr lang="en-IN" sz="2400" i="1">
                            <a:solidFill>
                              <a:srgbClr val="78350F"/>
                            </a:solidFill>
                            <a:latin typeface="Cambria Math" panose="02040503050406030204" pitchFamily="18" charset="0"/>
                          </a:rPr>
                          <m:t>3</m:t>
                        </m:r>
                      </m:e>
                    </m:rad>
                    <m:r>
                      <a:rPr lang="en-IN" sz="2400" i="1">
                        <a:solidFill>
                          <a:srgbClr val="78350F"/>
                        </a:solidFill>
                        <a:latin typeface="Cambria Math" panose="02040503050406030204" pitchFamily="18" charset="0"/>
                      </a:rPr>
                      <m:t> </m:t>
                    </m:r>
                    <m:r>
                      <a:rPr lang="en-IN" sz="2400" i="1">
                        <a:solidFill>
                          <a:srgbClr val="78350F"/>
                        </a:solidFill>
                        <a:latin typeface="Cambria Math" panose="02040503050406030204" pitchFamily="18" charset="0"/>
                      </a:rPr>
                      <m:t>𝑎</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Cauchy-Schwarz on the constraint </a:t>
                </a:r>
                <a:r>
                  <a:rPr lang="en-IN" sz="2400">
                    <a:solidFill>
                      <a:srgbClr val="78350F"/>
                    </a:solidFill>
                    <a:latin typeface="Cambria Math" panose="02040503050406030204" pitchFamily="18" charset="0"/>
                  </a:rPr>
                  <a:t>$6a+4b=20$</a:t>
                </a:r>
                <a:r>
                  <a:rPr sz="2400" b="0">
                    <a:solidFill>
                      <a:srgbClr val="78350F"/>
                    </a:solidFill>
                    <a:latin typeface="Arial"/>
                  </a:rPr>
                  <a:t> gives the minimum of </a:t>
                </a:r>
                <a:r>
                  <a:rPr lang="en-IN" sz="2400">
                    <a:solidFill>
                      <a:srgbClr val="78350F"/>
                    </a:solidFill>
                    <a:latin typeface="Cambria Math" panose="02040503050406030204" pitchFamily="18" charset="0"/>
                  </a:rPr>
                  <a:t>$\frac{3\sqrt3}{2}a^{2}+b^{2}$</a:t>
                </a:r>
                <a:r>
                  <a:rPr sz="2400" b="0">
                    <a:solidFill>
                      <a:srgbClr val="78350F"/>
                    </a:solidFill>
                    <a:latin typeface="Arial"/>
                  </a:rPr>
                  <a:t> with equality at </a:t>
                </a:r>
                <a:r>
                  <a:rPr lang="en-IN" sz="2400">
                    <a:solidFill>
                      <a:srgbClr val="78350F"/>
                    </a:solidFill>
                    <a:latin typeface="Cambria Math" panose="02040503050406030204" pitchFamily="18" charset="0"/>
                  </a:rPr>
                  <a:t>$b=\sqrt3\,a$</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the hexagon side be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and the square side </a:t>
                </a:r>
                <a14:m>
                  <m:oMath xmlns:m="http://schemas.openxmlformats.org/officeDocument/2006/math">
                    <m:r>
                      <a:rPr lang="en-IN" sz="2400" i="1">
                        <a:solidFill>
                          <a:srgbClr val="111827"/>
                        </a:solidFill>
                        <a:latin typeface="Cambria Math" panose="02040503050406030204" pitchFamily="18" charset="0"/>
                      </a:rPr>
                      <m:t>𝑏</m:t>
                    </m:r>
                  </m:oMath>
                </a14:m>
                <a:r>
                  <a:rPr sz="2400" b="0">
                    <a:solidFill>
                      <a:srgbClr val="111827"/>
                    </a:solidFill>
                    <a:latin typeface="Arial"/>
                  </a:rPr>
                  <a:t>; the wire gives </a:t>
                </a:r>
                <a14:m>
                  <m:oMath xmlns:m="http://schemas.openxmlformats.org/officeDocument/2006/math">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Write </a:t>
                </a:r>
                <a14:m>
                  <m:oMath xmlns:m="http://schemas.openxmlformats.org/officeDocument/2006/math">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𝑘</m:t>
                            </m:r>
                          </m:e>
                        </m:rad>
                      </m:den>
                    </m:f>
                    <m:d>
                      <m:dPr>
                        <m:begChr m:val="("/>
                        <m:sepChr m:val=""/>
                        <m:endChr m:val=")"/>
                        <m:grow/>
                        <m:ctrlPr>
                          <a:rPr lang="en-IN" sz="2400" i="1">
                            <a:solidFill>
                              <a:srgbClr val="111827"/>
                            </a:solidFill>
                            <a:latin typeface="Cambria Math" panose="02040503050406030204" pitchFamily="18" charset="0"/>
                          </a:rPr>
                        </m:ctrlPr>
                      </m:dPr>
                      <m:e>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𝑘</m:t>
                            </m:r>
                          </m:e>
                        </m:rad>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𝑎</m:t>
                        </m:r>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𝑏</m:t>
                    </m:r>
                  </m:oMath>
                </a14:m>
                <a:r>
                  <a:rPr sz="2400" b="0">
                    <a:solidFill>
                      <a:srgbClr val="111827"/>
                    </a:solidFill>
                    <a:latin typeface="Arial"/>
                  </a:rPr>
                  <a:t> and apply Cauchy-Schwarz: </a:t>
                </a:r>
                <a14:m>
                  <m:oMath xmlns:m="http://schemas.openxmlformats.org/officeDocument/2006/math">
                    <m:r>
                      <a:rPr lang="en-IN" sz="2400" i="1">
                        <a:solidFill>
                          <a:srgbClr val="111827"/>
                        </a:solidFill>
                        <a:latin typeface="Cambria Math" panose="02040503050406030204" pitchFamily="18" charset="0"/>
                      </a:rPr>
                      <m:t>400</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36</m:t>
                            </m:r>
                          </m:num>
                          <m:den>
                            <m:r>
                              <a:rPr lang="en-IN" sz="2400" i="1">
                                <a:solidFill>
                                  <a:srgbClr val="111827"/>
                                </a:solidFill>
                                <a:latin typeface="Cambria Math" panose="02040503050406030204" pitchFamily="18" charset="0"/>
                              </a:rPr>
                              <m:t>𝑘</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e>
                    </m:d>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𝑘</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400</m:t>
                        </m:r>
                      </m:num>
                      <m:den>
                        <m:r>
                          <a:rPr lang="en-IN" sz="2400" i="1">
                            <a:solidFill>
                              <a:srgbClr val="111827"/>
                            </a:solidFill>
                            <a:latin typeface="Cambria Math" panose="02040503050406030204" pitchFamily="18" charset="0"/>
                          </a:rPr>
                          <m:t>36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den>
                    </m:f>
                  </m:oMath>
                </a14:m>
                <a:r>
                  <a:rPr sz="2400" b="0">
                    <a:solidFill>
                      <a:srgbClr val="111827"/>
                    </a:solidFill>
                    <a:latin typeface="Arial"/>
                  </a:rPr>
                  <a:t>, a constant, with equality when </a:t>
                </a:r>
                <a14:m>
                  <m:oMath xmlns:m="http://schemas.openxmlformats.org/officeDocument/2006/math">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𝑘</m:t>
                            </m:r>
                          </m:e>
                        </m:rad>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𝑘</m:t>
                            </m:r>
                          </m:e>
                        </m:ra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𝑏</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i.e.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𝑘</m:t>
                        </m:r>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𝑏</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giving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𝑘</m:t>
                        </m:r>
                      </m:num>
                      <m:den>
                        <m:r>
                          <a:rPr lang="en-IN" sz="2400" i="1">
                            <a:solidFill>
                              <a:srgbClr val="111827"/>
                            </a:solidFill>
                            <a:latin typeface="Cambria Math" panose="02040503050406030204" pitchFamily="18" charset="0"/>
                          </a:rPr>
                          <m:t>3</m:t>
                        </m:r>
                      </m:den>
                    </m:f>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𝑎</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the hexagon side be </a:t>
                </a:r>
                <a:r>
                  <a:rPr lang="en-IN" sz="2400">
                    <a:solidFill>
                      <a:srgbClr val="111827"/>
                    </a:solidFill>
                    <a:latin typeface="Cambria Math" panose="02040503050406030204" pitchFamily="18" charset="0"/>
                  </a:rPr>
                  <a:t>$a$</a:t>
                </a:r>
                <a:r>
                  <a:rPr sz="2400" b="0">
                    <a:solidFill>
                      <a:srgbClr val="111827"/>
                    </a:solidFill>
                    <a:latin typeface="Arial"/>
                  </a:rPr>
                  <a:t> and the square side </a:t>
                </a:r>
                <a:r>
                  <a:rPr lang="en-IN" sz="2400">
                    <a:solidFill>
                      <a:srgbClr val="111827"/>
                    </a:solidFill>
                    <a:latin typeface="Cambria Math" panose="02040503050406030204" pitchFamily="18" charset="0"/>
                  </a:rPr>
                  <a:t>$b$</a:t>
                </a:r>
                <a:r>
                  <a:rPr sz="2400" b="0">
                    <a:solidFill>
                      <a:srgbClr val="111827"/>
                    </a:solidFill>
                    <a:latin typeface="Arial"/>
                  </a:rPr>
                  <a:t>; the wire gives </a:t>
                </a:r>
                <a:r>
                  <a:rPr lang="en-IN" sz="2400">
                    <a:solidFill>
                      <a:srgbClr val="111827"/>
                    </a:solidFill>
                    <a:latin typeface="Cambria Math" panose="02040503050406030204" pitchFamily="18" charset="0"/>
                  </a:rPr>
                  <a:t>$6a+4b=20$</a:t>
                </a:r>
                <a:r>
                  <a:rPr sz="2400" b="0">
                    <a:solidFill>
                      <a:srgbClr val="111827"/>
                    </a:solidFill>
                    <a:latin typeface="Arial"/>
                  </a:rPr>
                  <a:t>, and </a:t>
                </a:r>
                <a:r>
                  <a:rPr lang="en-IN" sz="2400">
                    <a:solidFill>
                      <a:srgbClr val="111827"/>
                    </a:solidFill>
                    <a:latin typeface="Cambria Math" panose="02040503050406030204" pitchFamily="18" charset="0"/>
                  </a:rPr>
                  <a:t>$A=ka^{2}+b^{2}$</a:t>
                </a:r>
                <a:r>
                  <a:rPr sz="2400" b="0">
                    <a:solidFill>
                      <a:srgbClr val="111827"/>
                    </a:solidFill>
                    <a:latin typeface="Arial"/>
                  </a:rPr>
                  <a:t> with </a:t>
                </a:r>
                <a:r>
                  <a:rPr lang="en-IN" sz="2400">
                    <a:solidFill>
                      <a:srgbClr val="111827"/>
                    </a:solidFill>
                    <a:latin typeface="Cambria Math" panose="02040503050406030204" pitchFamily="18" charset="0"/>
                  </a:rPr>
                  <a:t>$k=\frac{3\sqrt3}{2}$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Write </a:t>
                </a:r>
                <a:r>
                  <a:rPr lang="en-IN" sz="2400">
                    <a:solidFill>
                      <a:srgbClr val="111827"/>
                    </a:solidFill>
                    <a:latin typeface="Cambria Math" panose="02040503050406030204" pitchFamily="18" charset="0"/>
                  </a:rPr>
                  <a:t>$6a+4b=\frac{6}{\sqrt k}\left(\sqrt k\,a\right)+4\,b$</a:t>
                </a:r>
                <a:r>
                  <a:rPr sz="2400" b="0">
                    <a:solidFill>
                      <a:srgbClr val="111827"/>
                    </a:solidFill>
                    <a:latin typeface="Arial"/>
                  </a:rPr>
                  <a:t> and apply Cauchy-Schwarz: </a:t>
                </a:r>
                <a:r>
                  <a:rPr lang="en-IN" sz="2400">
                    <a:solidFill>
                      <a:srgbClr val="111827"/>
                    </a:solidFill>
                    <a:latin typeface="Cambria Math" panose="02040503050406030204" pitchFamily="18" charset="0"/>
                  </a:rPr>
                  <a:t>$400\le\left(\frac{36}{k}+16\right)\left(ka^{2}+b^{2}\right)$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$A\ge\frac{400}{36/k+16}$</a:t>
                </a:r>
                <a:r>
                  <a:rPr sz="2400" b="0">
                    <a:solidFill>
                      <a:srgbClr val="111827"/>
                    </a:solidFill>
                    <a:latin typeface="Arial"/>
                  </a:rPr>
                  <a:t>, a constant, with equality when </a:t>
                </a:r>
                <a:r>
                  <a:rPr lang="en-IN" sz="2400">
                    <a:solidFill>
                      <a:srgbClr val="111827"/>
                    </a:solidFill>
                    <a:latin typeface="Cambria Math" panose="02040503050406030204" pitchFamily="18" charset="0"/>
                  </a:rPr>
                  <a:t>$\frac{\sqrt k\,a}{6/\sqrt k}=\frac b4$</a:t>
                </a:r>
                <a:r>
                  <a:rPr sz="2400" b="0">
                    <a:solidFill>
                      <a:srgbClr val="111827"/>
                    </a:solidFill>
                    <a:latin typeface="Arial"/>
                  </a:rPr>
                  <a:t>, i.e. </a:t>
                </a:r>
                <a:r>
                  <a:rPr lang="en-IN" sz="2400">
                    <a:solidFill>
                      <a:srgbClr val="111827"/>
                    </a:solidFill>
                    <a:latin typeface="Cambria Math" panose="02040503050406030204" pitchFamily="18" charset="0"/>
                  </a:rPr>
                  <a:t>$\frac{ka}{6}=\frac b4$</a:t>
                </a:r>
                <a:r>
                  <a:rPr sz="2400" b="0">
                    <a:solidFill>
                      <a:srgbClr val="111827"/>
                    </a:solidFill>
                    <a:latin typeface="Arial"/>
                  </a:rPr>
                  <a:t>, giving </a:t>
                </a:r>
                <a:r>
                  <a:rPr lang="en-IN" sz="2400">
                    <a:solidFill>
                      <a:srgbClr val="111827"/>
                    </a:solidFill>
                    <a:latin typeface="Cambria Math" panose="02040503050406030204" pitchFamily="18" charset="0"/>
                  </a:rPr>
                  <a:t>$b=\frac{2k}{3}a=\sqrt3\,a$</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Put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𝑎</m:t>
                    </m:r>
                  </m:oMath>
                </a14:m>
                <a:r>
                  <a:rPr sz="2400" b="0">
                    <a:solidFill>
                      <a:srgbClr val="111827"/>
                    </a:solidFill>
                    <a:latin typeface="Arial"/>
                  </a:rPr>
                  <a:t> into </a:t>
                </a:r>
                <a14:m>
                  <m:oMath xmlns:m="http://schemas.openxmlformats.org/officeDocument/2006/math">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20</m:t>
                        </m:r>
                      </m:num>
                      <m:den>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num>
                      <m:den>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oMath>
                </a14:m>
                <a:r>
                  <a:rPr sz="2400" b="0">
                    <a:solidFill>
                      <a:srgbClr val="111827"/>
                    </a:solidFill>
                    <a:latin typeface="Arial"/>
                  </a:rPr>
                  <a:t>: option (B).</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Put </a:t>
                </a:r>
                <a:r>
                  <a:rPr lang="en-IN" sz="2400">
                    <a:solidFill>
                      <a:srgbClr val="111827"/>
                    </a:solidFill>
                    <a:latin typeface="Cambria Math" panose="02040503050406030204" pitchFamily="18" charset="0"/>
                  </a:rPr>
                  <a:t>$b=\sqrt3\,a$</a:t>
                </a:r>
                <a:r>
                  <a:rPr sz="2400" b="0">
                    <a:solidFill>
                      <a:srgbClr val="111827"/>
                    </a:solidFill>
                    <a:latin typeface="Arial"/>
                  </a:rPr>
                  <a:t> into </a:t>
                </a:r>
                <a:r>
                  <a:rPr lang="en-IN" sz="2400">
                    <a:solidFill>
                      <a:srgbClr val="111827"/>
                    </a:solidFill>
                    <a:latin typeface="Cambria Math" panose="02040503050406030204" pitchFamily="18" charset="0"/>
                  </a:rPr>
                  <a:t>$6a+4b=20$</a:t>
                </a:r>
                <a:r>
                  <a:rPr sz="2400" b="0">
                    <a:solidFill>
                      <a:srgbClr val="111827"/>
                    </a:solidFill>
                    <a:latin typeface="Arial"/>
                  </a:rPr>
                  <a:t>: </a:t>
                </a:r>
                <a:r>
                  <a:rPr lang="en-IN" sz="2400">
                    <a:solidFill>
                      <a:srgbClr val="111827"/>
                    </a:solidFill>
                    <a:latin typeface="Cambria Math" panose="02040503050406030204" pitchFamily="18" charset="0"/>
                  </a:rPr>
                  <a:t>$a(6+4\sqrt3)=20$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$a=\frac{20}{6+4\sqrt3}=\frac{10}{3+2\sqrt3}$</a:t>
                </a:r>
                <a:r>
                  <a:rPr sz="2400" b="0">
                    <a:solidFill>
                      <a:srgbClr val="111827"/>
                    </a:solidFill>
                    <a:latin typeface="Arial"/>
                  </a:rPr>
                  <a:t>: option (B).</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10</m:t>
                        </m:r>
                      </m:num>
                      <m:den>
                        <m:r>
                          <a:rPr lang="en-IN" sz="2800" i="1">
                            <a:solidFill>
                              <a:srgbClr val="15803D"/>
                            </a:solidFill>
                            <a:latin typeface="Cambria Math" panose="02040503050406030204" pitchFamily="18" charset="0"/>
                          </a:rPr>
                          <m:t>3</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2</m:t>
                        </m:r>
                        <m:rad>
                          <m:radPr>
                            <m:degHide m:val="on"/>
                            <m:ctrlPr>
                              <a:rPr lang="en-IN" sz="2800" i="1">
                                <a:solidFill>
                                  <a:srgbClr val="15803D"/>
                                </a:solidFill>
                                <a:latin typeface="Cambria Math" panose="02040503050406030204" pitchFamily="18" charset="0"/>
                              </a:rPr>
                            </m:ctrlPr>
                          </m:radPr>
                          <m:deg/>
                          <m:e>
                            <m:r>
                              <a:rPr lang="en-IN" sz="2800" i="1">
                                <a:solidFill>
                                  <a:srgbClr val="15803D"/>
                                </a:solidFill>
                                <a:latin typeface="Cambria Math" panose="02040503050406030204" pitchFamily="18" charset="0"/>
                              </a:rPr>
                              <m:t>3</m:t>
                            </m:r>
                          </m:e>
                        </m:rad>
                      </m:den>
                    </m:f>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a:t>
                </a:r>
                <a:r>
                  <a:rPr lang="en-IN" sz="2800">
                    <a:solidFill>
                      <a:srgbClr val="15803D"/>
                    </a:solidFill>
                    <a:latin typeface="Cambria Math" panose="02040503050406030204" pitchFamily="18" charset="0"/>
                  </a:rPr>
                  <a:t>$\frac{10}{3+2\sqrt3}$</a:t>
                </a:r>
                <a:endParaRPr sz="2800">
                  <a:solidFill>
                    <a:srgbClr val="15803D"/>
                  </a:solidFill>
                </a:endParaRPr>
              </a:p>
            </p:txBody>
          </p:sp>
        </mc:Fallback>
      </mc:AlternateContent>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Cauchy-Schwarz: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𝑣</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𝑝</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𝑞</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sSup>
                      <m:e>
                        <m:r>
                          <a:rPr lang="en-IN" sz="2400" i="1">
                            <a:solidFill>
                              <a:srgbClr val="111827"/>
                            </a:solidFill>
                            <a:latin typeface="Cambria Math" panose="02040503050406030204" pitchFamily="18" charset="0"/>
                          </a:rPr>
                          <m:t>𝑢</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sSup>
                      <m:e>
                        <m:r>
                          <a:rPr lang="en-IN" sz="2400" i="1">
                            <a:solidFill>
                              <a:srgbClr val="111827"/>
                            </a:solidFill>
                            <a:latin typeface="Cambria Math" panose="02040503050406030204" pitchFamily="18" charset="0"/>
                          </a:rPr>
                          <m:t>𝑣</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equality when </a:t>
                </a:r>
                <a14:m>
                  <m:oMath xmlns:m="http://schemas.openxmlformats.org/officeDocument/2006/math">
                    <m:r>
                      <a:rPr lang="en-IN" sz="2400" i="1">
                        <a:solidFill>
                          <a:srgbClr val="111827"/>
                        </a:solidFill>
                        <a:latin typeface="Cambria Math" panose="02040503050406030204" pitchFamily="18" charset="0"/>
                      </a:rPr>
                      <m:t>α</m:t>
                    </m:r>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a:rPr lang="en-IN" sz="2400" i="1">
                        <a:solidFill>
                          <a:srgbClr val="111827"/>
                        </a:solidFill>
                        <a:latin typeface="Cambria Math" panose="02040503050406030204" pitchFamily="18" charset="0"/>
                      </a:rPr>
                      <m:t>𝑣</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oMath>
                </a14:m>
                <a:r>
                  <a:rPr sz="2400" b="0">
                    <a:solidFill>
                      <a:srgbClr val="111827"/>
                    </a:solidFill>
                    <a:latin typeface="Arial"/>
                  </a:rPr>
                  <a:t>; this minimises weighted sums of squares under a linear constraint.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Area of a regular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-gon of side </a:t>
                </a:r>
                <a14:m>
                  <m:oMath xmlns:m="http://schemas.openxmlformats.org/officeDocument/2006/math">
                    <m:r>
                      <a:rPr lang="en-IN" sz="2400" i="1">
                        <a:solidFill>
                          <a:srgbClr val="111827"/>
                        </a:solidFill>
                        <a:latin typeface="Cambria Math" panose="02040503050406030204" pitchFamily="18" charset="0"/>
                      </a:rPr>
                      <m:t>𝑠</m:t>
                    </m:r>
                  </m:oMath>
                </a14:m>
                <a:r>
                  <a:rPr sz="2400" b="0">
                    <a:solidFill>
                      <a:srgbClr val="111827"/>
                    </a:solidFill>
                    <a:latin typeface="Arial"/>
                  </a:rPr>
                  <a:t>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sSup>
                          <m:e>
                            <m:r>
                              <a:rPr lang="en-IN" sz="2400" i="1">
                                <a:solidFill>
                                  <a:srgbClr val="111827"/>
                                </a:solidFill>
                                <a:latin typeface="Cambria Math" panose="02040503050406030204" pitchFamily="18" charset="0"/>
                              </a:rPr>
                              <m:t>𝑠</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cot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𝑛</m:t>
                        </m:r>
                      </m:den>
                    </m:f>
                  </m:oMath>
                </a14:m>
                <a:r>
                  <a:rPr sz="2400" b="0">
                    <a:solidFill>
                      <a:srgbClr val="111827"/>
                    </a:solidFill>
                    <a:latin typeface="Arial"/>
                  </a:rPr>
                  <a:t>; hexagon: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2</m:t>
                        </m:r>
                      </m:den>
                    </m:f>
                    <m:sSup>
                      <m:e>
                        <m:r>
                          <a:rPr lang="en-IN" sz="2400" i="1">
                            <a:solidFill>
                              <a:srgbClr val="111827"/>
                            </a:solidFill>
                            <a:latin typeface="Cambria Math" panose="02040503050406030204" pitchFamily="18" charset="0"/>
                          </a:rPr>
                          <m:t>𝑠</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sum of convex functions under a linear constraint has one stationary point and it is the minimum.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Stationary condition for two shapes: derivatives of area with respect to perimeter must be equal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a:rPr lang="en-IN" sz="2400" i="1">
                        <a:solidFill>
                          <a:srgbClr val="111827"/>
                        </a:solidFill>
                        <a:latin typeface="Cambria Math" panose="02040503050406030204" pitchFamily="18" charset="0"/>
                      </a:rPr>
                      <m:t>𝑎</m:t>
                    </m:r>
                  </m:oMath>
                </a14:m>
                <a:r>
                  <a:rPr sz="2400" b="0">
                    <a:solidFill>
                      <a:srgbClr val="111827"/>
                    </a:solidFill>
                    <a:latin typeface="Arial"/>
                  </a:rPr>
                  <a:t> here).</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Cauchy-Schwarz: </a:t>
                </a:r>
                <a:r>
                  <a:rPr lang="en-IN" sz="2400">
                    <a:solidFill>
                      <a:srgbClr val="111827"/>
                    </a:solidFill>
                    <a:latin typeface="Cambria Math" panose="02040503050406030204" pitchFamily="18" charset="0"/>
                  </a:rPr>
                  <a:t>$(p\,u+q\,v)^{2}\le(p^{2}/\alpha+q^{2}/\beta)(\alpha u^{2}+\beta v^{2})$</a:t>
                </a:r>
                <a:r>
                  <a:rPr sz="2400" b="0">
                    <a:solidFill>
                      <a:srgbClr val="111827"/>
                    </a:solidFill>
                    <a:latin typeface="Arial"/>
                  </a:rPr>
                  <a:t>, with equality when </a:t>
                </a:r>
                <a:r>
                  <a:rPr lang="en-IN" sz="2400">
                    <a:solidFill>
                      <a:srgbClr val="111827"/>
                    </a:solidFill>
                    <a:latin typeface="Cambria Math" panose="02040503050406030204" pitchFamily="18" charset="0"/>
                  </a:rPr>
                  <a:t>$\alpha u/p=\beta v/q$</a:t>
                </a:r>
                <a:r>
                  <a:rPr sz="2400" b="0">
                    <a:solidFill>
                      <a:srgbClr val="111827"/>
                    </a:solidFill>
                    <a:latin typeface="Arial"/>
                  </a:rPr>
                  <a:t>; this minimises weighted sums of squares under a linear constraint.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Area of a regular </a:t>
                </a:r>
                <a:r>
                  <a:rPr lang="en-IN" sz="2400">
                    <a:solidFill>
                      <a:srgbClr val="111827"/>
                    </a:solidFill>
                    <a:latin typeface="Cambria Math" panose="02040503050406030204" pitchFamily="18" charset="0"/>
                  </a:rPr>
                  <a:t>$n$</a:t>
                </a:r>
                <a:r>
                  <a:rPr sz="2400" b="0">
                    <a:solidFill>
                      <a:srgbClr val="111827"/>
                    </a:solidFill>
                    <a:latin typeface="Arial"/>
                  </a:rPr>
                  <a:t>-gon of side </a:t>
                </a:r>
                <a:r>
                  <a:rPr lang="en-IN" sz="2400">
                    <a:solidFill>
                      <a:srgbClr val="111827"/>
                    </a:solidFill>
                    <a:latin typeface="Cambria Math" panose="02040503050406030204" pitchFamily="18" charset="0"/>
                  </a:rPr>
                  <a:t>$s$</a:t>
                </a:r>
                <a:r>
                  <a:rPr sz="2400" b="0">
                    <a:solidFill>
                      <a:srgbClr val="111827"/>
                    </a:solidFill>
                    <a:latin typeface="Arial"/>
                  </a:rPr>
                  <a:t> is </a:t>
                </a:r>
                <a:r>
                  <a:rPr lang="en-IN" sz="2400">
                    <a:solidFill>
                      <a:srgbClr val="111827"/>
                    </a:solidFill>
                    <a:latin typeface="Cambria Math" panose="02040503050406030204" pitchFamily="18" charset="0"/>
                  </a:rPr>
                  <a:t>$\frac{n s^{2}}{4}\cot\frac{\pi}{n}$</a:t>
                </a:r>
                <a:r>
                  <a:rPr sz="2400" b="0">
                    <a:solidFill>
                      <a:srgbClr val="111827"/>
                    </a:solidFill>
                    <a:latin typeface="Arial"/>
                  </a:rPr>
                  <a:t>; hexagon: </a:t>
                </a:r>
                <a:r>
                  <a:rPr lang="en-IN" sz="2400">
                    <a:solidFill>
                      <a:srgbClr val="111827"/>
                    </a:solidFill>
                    <a:latin typeface="Cambria Math" panose="02040503050406030204" pitchFamily="18" charset="0"/>
                  </a:rPr>
                  <a:t>$\frac{3\sqrt3}{2}s^{2}$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sum of convex functions under a linear constraint has one stationary point and it is the minimum.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Stationary condition for two shapes: derivatives of area with respect to perimeter must be equal (</a:t>
                </a:r>
                <a:r>
                  <a:rPr lang="en-IN" sz="2400">
                    <a:solidFill>
                      <a:srgbClr val="111827"/>
                    </a:solidFill>
                    <a:latin typeface="Cambria Math" panose="02040503050406030204" pitchFamily="18" charset="0"/>
                  </a:rPr>
                  <a:t>$b=\sqrt3 a$</a:t>
                </a:r>
                <a:r>
                  <a:rPr sz="2400" b="0">
                    <a:solidFill>
                      <a:srgbClr val="111827"/>
                    </a:solidFill>
                    <a:latin typeface="Arial"/>
                  </a:rPr>
                  <a:t> here).</a:t>
                </a:r>
                <a:endParaRPr sz="2400">
                  <a:solidFill>
                    <a:srgbClr val="111827"/>
                  </a:solidFill>
                </a:endParaRPr>
              </a:p>
            </p:txBody>
          </p:sp>
        </mc:Fallback>
      </mc:AlternateContent>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41884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 box open from top is made from a rectangular sheet of dimension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 by cutting squares each of side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from each of the four corners and folding up the flaps. If the volume of the box is maximum, then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is equal to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e>
                        </m:rad>
                      </m:num>
                      <m:den>
                        <m:r>
                          <a:rPr lang="en-IN" sz="2400" i="1">
                            <a:solidFill>
                              <a:srgbClr val="111827"/>
                            </a:solidFill>
                            <a:latin typeface="Cambria Math" panose="02040503050406030204" pitchFamily="18" charset="0"/>
                          </a:rPr>
                          <m:t>6</m:t>
                        </m:r>
                      </m:den>
                    </m:f>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(B)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e>
                        </m:rad>
                      </m:num>
                      <m:den>
                        <m:r>
                          <a:rPr lang="en-IN" sz="2400" i="1">
                            <a:solidFill>
                              <a:srgbClr val="111827"/>
                            </a:solidFill>
                            <a:latin typeface="Cambria Math" panose="02040503050406030204" pitchFamily="18" charset="0"/>
                          </a:rPr>
                          <m:t>6</m:t>
                        </m:r>
                      </m:den>
                    </m:f>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(C)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e>
                        </m:rad>
                      </m:num>
                      <m:den>
                        <m:r>
                          <a:rPr lang="en-IN" sz="2400" i="1">
                            <a:solidFill>
                              <a:srgbClr val="111827"/>
                            </a:solidFill>
                            <a:latin typeface="Cambria Math" panose="02040503050406030204" pitchFamily="18" charset="0"/>
                          </a:rPr>
                          <m:t>12</m:t>
                        </m:r>
                      </m:den>
                    </m:f>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e>
                        </m:rad>
                      </m:num>
                      <m:den>
                        <m:r>
                          <a:rPr lang="en-IN" sz="2400" i="1">
                            <a:solidFill>
                              <a:srgbClr val="111827"/>
                            </a:solidFill>
                            <a:latin typeface="Cambria Math" panose="02040503050406030204" pitchFamily="18" charset="0"/>
                          </a:rPr>
                          <m:t>6</m:t>
                        </m:r>
                      </m:den>
                    </m:f>
                  </m:oMath>
                </a14:m>
                <a:endParaRPr sz="2400">
                  <a:solidFill>
                    <a:srgbClr val="111827"/>
                  </a:solidFill>
                </a:endParaRPr>
              </a:p>
            </p:txBody>
          </p:sp>
        </mc:Choice>
        <mc:Fallback>
          <p:sp>
            <p:nvSpPr>
              <p:cNvPr id="4" name="Rounded Rectangle 3"/>
              <p:cNvSpPr/>
              <p:nvPr/>
            </p:nvSpPr>
            <p:spPr>
              <a:xfrm>
                <a:off x="731520" y="1280160"/>
                <a:ext cx="10725912" cy="41884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 box open from top is made from a rectangular sheet of dimension </a:t>
                </a:r>
                <a:r>
                  <a:rPr lang="en-IN" sz="2400">
                    <a:solidFill>
                      <a:srgbClr val="111827"/>
                    </a:solidFill>
                    <a:latin typeface="Cambria Math" panose="02040503050406030204" pitchFamily="18" charset="0"/>
                  </a:rPr>
                  <a:t>$a\times b$</a:t>
                </a:r>
                <a:r>
                  <a:rPr sz="2400" b="0">
                    <a:solidFill>
                      <a:srgbClr val="111827"/>
                    </a:solidFill>
                    <a:latin typeface="Arial"/>
                  </a:rPr>
                  <a:t> by cutting squares each of side </a:t>
                </a:r>
                <a:r>
                  <a:rPr lang="en-IN" sz="2400">
                    <a:solidFill>
                      <a:srgbClr val="111827"/>
                    </a:solidFill>
                    <a:latin typeface="Cambria Math" panose="02040503050406030204" pitchFamily="18" charset="0"/>
                  </a:rPr>
                  <a:t>$x$</a:t>
                </a:r>
                <a:r>
                  <a:rPr sz="2400" b="0">
                    <a:solidFill>
                      <a:srgbClr val="111827"/>
                    </a:solidFill>
                    <a:latin typeface="Arial"/>
                  </a:rPr>
                  <a:t> from each of the four corners and folding up the flaps. If the volume of the box is maximum, then </a:t>
                </a:r>
                <a:r>
                  <a:rPr lang="en-IN" sz="2400">
                    <a:solidFill>
                      <a:srgbClr val="111827"/>
                    </a:solidFill>
                    <a:latin typeface="Cambria Math" panose="02040503050406030204" pitchFamily="18" charset="0"/>
                  </a:rPr>
                  <a:t>$x$</a:t>
                </a:r>
                <a:r>
                  <a:rPr sz="2400" b="0">
                    <a:solidFill>
                      <a:srgbClr val="111827"/>
                    </a:solidFill>
                    <a:latin typeface="Arial"/>
                  </a:rPr>
                  <a:t> is equal to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$\frac{a+b-\sqrt{a^{2}+b^{2}+ab}}{6}$</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a:t>
                </a:r>
                <a:r>
                  <a:rPr lang="en-IN" sz="2400">
                    <a:solidFill>
                      <a:srgbClr val="111827"/>
                    </a:solidFill>
                    <a:latin typeface="Cambria Math" panose="02040503050406030204" pitchFamily="18" charset="0"/>
                  </a:rPr>
                  <a:t>$\frac{a+b-\sqrt{a^{2}+b^{2}-ab}}{6}$</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a:t>
                </a:r>
                <a:r>
                  <a:rPr lang="en-IN" sz="2400">
                    <a:solidFill>
                      <a:srgbClr val="111827"/>
                    </a:solidFill>
                    <a:latin typeface="Cambria Math" panose="02040503050406030204" pitchFamily="18" charset="0"/>
                  </a:rPr>
                  <a:t>$\frac{a+b-\sqrt{a^{2}+b^{2}-ab}}{12}$</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a:t>
                </a:r>
                <a:r>
                  <a:rPr lang="en-IN" sz="2400">
                    <a:solidFill>
                      <a:srgbClr val="111827"/>
                    </a:solidFill>
                    <a:latin typeface="Cambria Math" panose="02040503050406030204" pitchFamily="18" charset="0"/>
                  </a:rPr>
                  <a:t>$\frac{a+b+\sqrt{a^{2}+b^{2}-ab}}{6}$</a:t>
                </a:r>
                <a:endParaRPr sz="2400">
                  <a:solidFill>
                    <a:srgbClr val="111827"/>
                  </a:solidFill>
                </a:endParaRPr>
              </a:p>
            </p:txBody>
          </p:sp>
        </mc:Fallback>
      </mc:AlternateContent>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ectangle 3"/>
          <p:cNvSpPr/>
          <p:nvPr/>
        </p:nvSpPr>
        <p:spPr>
          <a:xfrm>
            <a:off x="731520" y="1280160"/>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Optimisation (maxima-minima) application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3066288"/>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sSup>
                      <m:e>
                        <m:r>
                          <a:rPr lang="en-IN" sz="2400" i="1">
                            <a:solidFill>
                              <a:srgbClr val="78350F"/>
                            </a:solidFill>
                            <a:latin typeface="Cambria Math" panose="02040503050406030204" pitchFamily="18" charset="0"/>
                          </a:rPr>
                          <m:t>𝑉</m:t>
                        </m:r>
                      </m:e>
                      <m:sup>
                        <m:r>
                          <m:rPr>
                            <m:sty m:val="p"/>
                          </m:rPr>
                          <a:rPr lang="en-IN" sz="2400">
                            <a:solidFill>
                              <a:srgbClr val="78350F"/>
                            </a:solidFill>
                            <a:latin typeface="Cambria Math" panose="02040503050406030204" pitchFamily="18" charset="0"/>
                          </a:rPr>
                          <m:t>′</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is a quadratic with two roots; the smaller root is the maximum because </a:t>
                </a:r>
                <a14:m>
                  <m:oMath xmlns:m="http://schemas.openxmlformats.org/officeDocument/2006/math">
                    <m:sSup>
                      <m:e>
                        <m:r>
                          <a:rPr lang="en-IN" sz="2400" i="1">
                            <a:solidFill>
                              <a:srgbClr val="78350F"/>
                            </a:solidFill>
                            <a:latin typeface="Cambria Math" panose="02040503050406030204" pitchFamily="18" charset="0"/>
                          </a:rPr>
                          <m:t>𝑉</m:t>
                        </m:r>
                      </m:e>
                      <m:sup>
                        <m:r>
                          <m:rPr>
                            <m:sty m:val="p"/>
                          </m:rPr>
                          <a:rPr lang="en-IN" sz="2400">
                            <a:solidFill>
                              <a:srgbClr val="78350F"/>
                            </a:solidFill>
                            <a:latin typeface="Cambria Math" panose="02040503050406030204" pitchFamily="18" charset="0"/>
                          </a:rPr>
                          <m:t>′</m:t>
                        </m:r>
                      </m:sup>
                    </m:sSup>
                  </m:oMath>
                </a14:m>
                <a:r>
                  <a:rPr sz="2400" b="0">
                    <a:solidFill>
                      <a:srgbClr val="78350F"/>
                    </a:solidFill>
                    <a:latin typeface="Arial"/>
                  </a:rPr>
                  <a:t> goes </a:t>
                </a:r>
                <a14:m>
                  <m:oMath xmlns:m="http://schemas.openxmlformats.org/officeDocument/2006/math">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3066288"/>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$V'(x)$</a:t>
                </a:r>
                <a:r>
                  <a:rPr sz="2400" b="0">
                    <a:solidFill>
                      <a:srgbClr val="78350F"/>
                    </a:solidFill>
                    <a:latin typeface="Arial"/>
                  </a:rPr>
                  <a:t> is a quadratic with two roots; the smaller root is the maximum because </a:t>
                </a:r>
                <a:r>
                  <a:rPr lang="en-IN" sz="2400">
                    <a:solidFill>
                      <a:srgbClr val="78350F"/>
                    </a:solidFill>
                    <a:latin typeface="Cambria Math" panose="02040503050406030204" pitchFamily="18" charset="0"/>
                  </a:rPr>
                  <a:t>$V'$</a:t>
                </a:r>
                <a:r>
                  <a:rPr sz="2400" b="0">
                    <a:solidFill>
                      <a:srgbClr val="78350F"/>
                    </a:solidFill>
                    <a:latin typeface="Arial"/>
                  </a:rPr>
                  <a:t> goes </a:t>
                </a:r>
                <a:r>
                  <a:rPr lang="en-IN" sz="2400">
                    <a:solidFill>
                      <a:srgbClr val="78350F"/>
                    </a:solidFill>
                    <a:latin typeface="Cambria Math" panose="02040503050406030204" pitchFamily="18" charset="0"/>
                  </a:rPr>
                  <a:t>$+,-,+$</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4312920"/>
                <a:ext cx="10725912" cy="23621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Dimensions of the box: length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oMath>
                </a14:m>
                <a:r>
                  <a:rPr sz="2400" b="0">
                    <a:solidFill>
                      <a:srgbClr val="111827"/>
                    </a:solidFill>
                    <a:latin typeface="Arial"/>
                  </a:rPr>
                  <a:t>, breadth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oMath>
                </a14:m>
                <a:r>
                  <a:rPr sz="2400" b="0">
                    <a:solidFill>
                      <a:srgbClr val="111827"/>
                    </a:solidFill>
                    <a:latin typeface="Arial"/>
                  </a:rPr>
                  <a:t>, height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𝑉</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𝑉</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e>
                    </m:d>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𝑥</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𝑉</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4312920"/>
                <a:ext cx="10725912" cy="23621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Dimensions of the box: length </a:t>
                </a:r>
                <a:r>
                  <a:rPr lang="en-IN" sz="2400">
                    <a:solidFill>
                      <a:srgbClr val="111827"/>
                    </a:solidFill>
                    <a:latin typeface="Cambria Math" panose="02040503050406030204" pitchFamily="18" charset="0"/>
                  </a:rPr>
                  <a:t>$a-2x$</a:t>
                </a:r>
                <a:r>
                  <a:rPr sz="2400" b="0">
                    <a:solidFill>
                      <a:srgbClr val="111827"/>
                    </a:solidFill>
                    <a:latin typeface="Arial"/>
                  </a:rPr>
                  <a:t>, breadth </a:t>
                </a:r>
                <a:r>
                  <a:rPr lang="en-IN" sz="2400">
                    <a:solidFill>
                      <a:srgbClr val="111827"/>
                    </a:solidFill>
                    <a:latin typeface="Cambria Math" panose="02040503050406030204" pitchFamily="18" charset="0"/>
                  </a:rPr>
                  <a:t>$b-2x$</a:t>
                </a:r>
                <a:r>
                  <a:rPr sz="2400" b="0">
                    <a:solidFill>
                      <a:srgbClr val="111827"/>
                    </a:solidFill>
                    <a:latin typeface="Arial"/>
                  </a:rPr>
                  <a:t>, height </a:t>
                </a:r>
                <a:r>
                  <a:rPr lang="en-IN" sz="2400">
                    <a:solidFill>
                      <a:srgbClr val="111827"/>
                    </a:solidFill>
                    <a:latin typeface="Cambria Math" panose="02040503050406030204" pitchFamily="18" charset="0"/>
                  </a:rPr>
                  <a:t>$x$</a:t>
                </a:r>
                <a:r>
                  <a:rPr sz="2400" b="0">
                    <a:solidFill>
                      <a:srgbClr val="111827"/>
                    </a:solidFill>
                    <a:latin typeface="Arial"/>
                  </a:rPr>
                  <a:t>, so </a:t>
                </a:r>
                <a:r>
                  <a:rPr lang="en-IN" sz="2400">
                    <a:solidFill>
                      <a:srgbClr val="111827"/>
                    </a:solidFill>
                    <a:latin typeface="Cambria Math" panose="02040503050406030204" pitchFamily="18" charset="0"/>
                  </a:rPr>
                  <a:t>$V=(a-2x)(b-2x)x$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$V=\left(4x^{2}-2x(a+b)+ab\right)x=4x^{3}-2(a+b)x^{2}+abx$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$\frac{dV}{dx}=12x^{2}-4(a+b)x+ab=0$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48</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e>
                        </m:rad>
                      </m:num>
                      <m:den>
                        <m:r>
                          <a:rPr lang="en-IN" sz="2400" i="1">
                            <a:solidFill>
                              <a:srgbClr val="111827"/>
                            </a:solidFill>
                            <a:latin typeface="Cambria Math" panose="02040503050406030204" pitchFamily="18" charset="0"/>
                          </a:rPr>
                          <m:t>24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e>
                        </m:rad>
                      </m:num>
                      <m:den>
                        <m:r>
                          <a:rPr lang="en-IN" sz="2400" i="1">
                            <a:solidFill>
                              <a:srgbClr val="111827"/>
                            </a:solidFill>
                            <a:latin typeface="Cambria Math" panose="02040503050406030204" pitchFamily="18" charset="0"/>
                          </a:rPr>
                          <m:t>6</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e>
                        </m:rad>
                      </m:num>
                      <m:den>
                        <m:r>
                          <a:rPr lang="en-IN" sz="2400" i="1">
                            <a:solidFill>
                              <a:srgbClr val="111827"/>
                            </a:solidFill>
                            <a:latin typeface="Cambria Math" panose="02040503050406030204" pitchFamily="18" charset="0"/>
                          </a:rPr>
                          <m:t>6</m:t>
                        </m:r>
                      </m:den>
                    </m:f>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e>
                        </m:rad>
                      </m:num>
                      <m:den>
                        <m:r>
                          <a:rPr lang="en-IN" sz="2400" i="1">
                            <a:solidFill>
                              <a:srgbClr val="111827"/>
                            </a:solidFill>
                            <a:latin typeface="Cambria Math" panose="02040503050406030204" pitchFamily="18" charset="0"/>
                          </a:rPr>
                          <m:t>6</m:t>
                        </m:r>
                      </m:den>
                    </m:f>
                  </m:oMath>
                </a14:m>
                <a:r>
                  <a:rPr sz="2400" b="0">
                    <a:solidFill>
                      <a:srgbClr val="111827"/>
                    </a:solidFill>
                    <a:latin typeface="Arial"/>
                  </a:rPr>
                  <a:t>, so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𝑉</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Sign of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𝑉</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β</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between </a:t>
                </a:r>
                <a14:m>
                  <m:oMath xmlns:m="http://schemas.openxmlformats.org/officeDocument/2006/math">
                    <m:r>
                      <a:rPr lang="en-IN" sz="2400" i="1">
                        <a:solidFill>
                          <a:srgbClr val="111827"/>
                        </a:solidFill>
                        <a:latin typeface="Cambria Math" panose="02040503050406030204" pitchFamily="18" charset="0"/>
                      </a:rPr>
                      <m:t>β</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α</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α</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the maximum is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α</m:t>
                    </m:r>
                  </m:oMath>
                </a14:m>
                <a:r>
                  <a:rPr sz="2400" b="0">
                    <a:solidFill>
                      <a:srgbClr val="111827"/>
                    </a:solidFill>
                    <a:latin typeface="Arial"/>
                  </a:rPr>
                  <a:t> is a local minimum; it is also outside the feasible range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&lt;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min</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e>
                        </m:rad>
                      </m:num>
                      <m:den>
                        <m:r>
                          <a:rPr lang="en-IN" sz="2400" i="1">
                            <a:solidFill>
                              <a:srgbClr val="111827"/>
                            </a:solidFill>
                            <a:latin typeface="Cambria Math" panose="02040503050406030204" pitchFamily="18" charset="0"/>
                          </a:rPr>
                          <m:t>6</m:t>
                        </m:r>
                      </m:den>
                    </m:f>
                  </m:oMath>
                </a14:m>
                <a:r>
                  <a:rPr sz="2400" b="0">
                    <a:solidFill>
                      <a:srgbClr val="111827"/>
                    </a:solidFill>
                    <a:latin typeface="Arial"/>
                  </a:rPr>
                  <a:t>: option (B).</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$x=\frac{4(a+b)\pm\sqrt{16(a+b)^{2}-48ab}}{24}=\frac{(a+b)\pm\sqrt{a^{2}+b^{2}-ab}}{6}$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$\alpha=\frac{(a+b)+\sqrt{a^{2}+b^{2}-ab}}{6}$</a:t>
                </a:r>
                <a:r>
                  <a:rPr sz="2400" b="0">
                    <a:solidFill>
                      <a:srgbClr val="111827"/>
                    </a:solidFill>
                    <a:latin typeface="Arial"/>
                  </a:rPr>
                  <a:t> and </a:t>
                </a:r>
                <a:r>
                  <a:rPr lang="en-IN" sz="2400">
                    <a:solidFill>
                      <a:srgbClr val="111827"/>
                    </a:solidFill>
                    <a:latin typeface="Cambria Math" panose="02040503050406030204" pitchFamily="18" charset="0"/>
                  </a:rPr>
                  <a:t>$\beta=\frac{(a+b)-\sqrt{a^{2}+b^{2}-ab}}{6}$</a:t>
                </a:r>
                <a:r>
                  <a:rPr sz="2400" b="0">
                    <a:solidFill>
                      <a:srgbClr val="111827"/>
                    </a:solidFill>
                    <a:latin typeface="Arial"/>
                  </a:rPr>
                  <a:t>, so </a:t>
                </a:r>
                <a:r>
                  <a:rPr lang="en-IN" sz="2400">
                    <a:solidFill>
                      <a:srgbClr val="111827"/>
                    </a:solidFill>
                    <a:latin typeface="Cambria Math" panose="02040503050406030204" pitchFamily="18" charset="0"/>
                  </a:rPr>
                  <a:t>$\frac{dV}{dx}=12(x-\alpha)(x-\beta)$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Sign of </a:t>
                </a:r>
                <a:r>
                  <a:rPr lang="en-IN" sz="2400">
                    <a:solidFill>
                      <a:srgbClr val="111827"/>
                    </a:solidFill>
                    <a:latin typeface="Cambria Math" panose="02040503050406030204" pitchFamily="18" charset="0"/>
                  </a:rPr>
                  <a:t>$\frac{dV}{dx}$</a:t>
                </a:r>
                <a:r>
                  <a:rPr sz="2400" b="0">
                    <a:solidFill>
                      <a:srgbClr val="111827"/>
                    </a:solidFill>
                    <a:latin typeface="Arial"/>
                  </a:rPr>
                  <a:t>: </a:t>
                </a:r>
                <a:r>
                  <a:rPr lang="en-IN" sz="2400">
                    <a:solidFill>
                      <a:srgbClr val="111827"/>
                    </a:solidFill>
                    <a:latin typeface="Cambria Math" panose="02040503050406030204" pitchFamily="18" charset="0"/>
                  </a:rPr>
                  <a:t>$+$</a:t>
                </a:r>
                <a:r>
                  <a:rPr sz="2400" b="0">
                    <a:solidFill>
                      <a:srgbClr val="111827"/>
                    </a:solidFill>
                    <a:latin typeface="Arial"/>
                  </a:rPr>
                  <a:t> for </a:t>
                </a:r>
                <a:r>
                  <a:rPr lang="en-IN" sz="2400">
                    <a:solidFill>
                      <a:srgbClr val="111827"/>
                    </a:solidFill>
                    <a:latin typeface="Cambria Math" panose="02040503050406030204" pitchFamily="18" charset="0"/>
                  </a:rPr>
                  <a:t>$x&lt;\beta$</a:t>
                </a:r>
                <a:r>
                  <a:rPr sz="2400" b="0">
                    <a:solidFill>
                      <a:srgbClr val="111827"/>
                    </a:solidFill>
                    <a:latin typeface="Arial"/>
                  </a:rPr>
                  <a:t>, </a:t>
                </a:r>
                <a:r>
                  <a:rPr lang="en-IN" sz="2400">
                    <a:solidFill>
                      <a:srgbClr val="111827"/>
                    </a:solidFill>
                    <a:latin typeface="Cambria Math" panose="02040503050406030204" pitchFamily="18" charset="0"/>
                  </a:rPr>
                  <a:t>$-$</a:t>
                </a:r>
                <a:r>
                  <a:rPr sz="2400" b="0">
                    <a:solidFill>
                      <a:srgbClr val="111827"/>
                    </a:solidFill>
                    <a:latin typeface="Arial"/>
                  </a:rPr>
                  <a:t> between </a:t>
                </a:r>
                <a:r>
                  <a:rPr lang="en-IN" sz="2400">
                    <a:solidFill>
                      <a:srgbClr val="111827"/>
                    </a:solidFill>
                    <a:latin typeface="Cambria Math" panose="02040503050406030204" pitchFamily="18" charset="0"/>
                  </a:rPr>
                  <a:t>$\beta$</a:t>
                </a:r>
                <a:r>
                  <a:rPr sz="2400" b="0">
                    <a:solidFill>
                      <a:srgbClr val="111827"/>
                    </a:solidFill>
                    <a:latin typeface="Arial"/>
                  </a:rPr>
                  <a:t> and </a:t>
                </a:r>
                <a:r>
                  <a:rPr lang="en-IN" sz="2400">
                    <a:solidFill>
                      <a:srgbClr val="111827"/>
                    </a:solidFill>
                    <a:latin typeface="Cambria Math" panose="02040503050406030204" pitchFamily="18" charset="0"/>
                  </a:rPr>
                  <a:t>$\alpha$</a:t>
                </a:r>
                <a:r>
                  <a:rPr sz="2400" b="0">
                    <a:solidFill>
                      <a:srgbClr val="111827"/>
                    </a:solidFill>
                    <a:latin typeface="Arial"/>
                  </a:rPr>
                  <a:t>, </a:t>
                </a:r>
                <a:r>
                  <a:rPr lang="en-IN" sz="2400">
                    <a:solidFill>
                      <a:srgbClr val="111827"/>
                    </a:solidFill>
                    <a:latin typeface="Cambria Math" panose="02040503050406030204" pitchFamily="18" charset="0"/>
                  </a:rPr>
                  <a:t>$+$</a:t>
                </a:r>
                <a:r>
                  <a:rPr sz="2400" b="0">
                    <a:solidFill>
                      <a:srgbClr val="111827"/>
                    </a:solidFill>
                    <a:latin typeface="Arial"/>
                  </a:rPr>
                  <a:t> for </a:t>
                </a:r>
                <a:r>
                  <a:rPr lang="en-IN" sz="2400">
                    <a:solidFill>
                      <a:srgbClr val="111827"/>
                    </a:solidFill>
                    <a:latin typeface="Cambria Math" panose="02040503050406030204" pitchFamily="18" charset="0"/>
                  </a:rPr>
                  <a:t>$x&gt;\alpha$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the maximum is at </a:t>
                </a:r>
                <a:r>
                  <a:rPr lang="en-IN" sz="2400">
                    <a:solidFill>
                      <a:srgbClr val="111827"/>
                    </a:solidFill>
                    <a:latin typeface="Cambria Math" panose="02040503050406030204" pitchFamily="18" charset="0"/>
                  </a:rPr>
                  <a:t>$x=\beta$</a:t>
                </a:r>
                <a:r>
                  <a:rPr sz="2400" b="0">
                    <a:solidFill>
                      <a:srgbClr val="111827"/>
                    </a:solidFill>
                    <a:latin typeface="Arial"/>
                  </a:rPr>
                  <a:t> (and </a:t>
                </a:r>
                <a:r>
                  <a:rPr lang="en-IN" sz="2400">
                    <a:solidFill>
                      <a:srgbClr val="111827"/>
                    </a:solidFill>
                    <a:latin typeface="Cambria Math" panose="02040503050406030204" pitchFamily="18" charset="0"/>
                  </a:rPr>
                  <a:t>$\alpha$</a:t>
                </a:r>
                <a:r>
                  <a:rPr sz="2400" b="0">
                    <a:solidFill>
                      <a:srgbClr val="111827"/>
                    </a:solidFill>
                    <a:latin typeface="Arial"/>
                  </a:rPr>
                  <a:t> is a local minimum; it is also outside the feasible range </a:t>
                </a:r>
                <a:r>
                  <a:rPr lang="en-IN" sz="2400">
                    <a:solidFill>
                      <a:srgbClr val="111827"/>
                    </a:solidFill>
                    <a:latin typeface="Cambria Math" panose="02040503050406030204" pitchFamily="18" charset="0"/>
                  </a:rPr>
                  <a:t>$x&lt;\frac{\min(a,b)}{2}$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$x=\beta=\frac{a+b-\sqrt{a^{2}+b^{2}-ab}}{6}$</a:t>
                </a:r>
                <a:r>
                  <a:rPr sz="2400" b="0">
                    <a:solidFill>
                      <a:srgbClr val="111827"/>
                    </a:solidFill>
                    <a:latin typeface="Arial"/>
                  </a:rPr>
                  <a:t>: option (B).</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𝑎</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𝑏</m:t>
                        </m:r>
                        <m:r>
                          <m:rPr>
                            <m:sty m:val="p"/>
                          </m:rPr>
                          <a:rPr lang="en-IN" sz="2800">
                            <a:solidFill>
                              <a:srgbClr val="15803D"/>
                            </a:solidFill>
                            <a:latin typeface="Cambria Math" panose="02040503050406030204" pitchFamily="18" charset="0"/>
                          </a:rPr>
                          <m:t>−</m:t>
                        </m:r>
                        <m:rad>
                          <m:radPr>
                            <m:degHide m:val="on"/>
                            <m:ctrlPr>
                              <a:rPr lang="en-IN" sz="2800" i="1">
                                <a:solidFill>
                                  <a:srgbClr val="15803D"/>
                                </a:solidFill>
                                <a:latin typeface="Cambria Math" panose="02040503050406030204" pitchFamily="18" charset="0"/>
                              </a:rPr>
                            </m:ctrlPr>
                          </m:radPr>
                          <m:deg/>
                          <m:e>
                            <m:sSup>
                              <m:e>
                                <m:r>
                                  <a:rPr lang="en-IN" sz="2800" i="1">
                                    <a:solidFill>
                                      <a:srgbClr val="15803D"/>
                                    </a:solidFill>
                                    <a:latin typeface="Cambria Math" panose="02040503050406030204" pitchFamily="18" charset="0"/>
                                  </a:rPr>
                                  <m:t>𝑎</m:t>
                                </m:r>
                              </m:e>
                              <m:sup>
                                <m:r>
                                  <a:rPr lang="en-IN" sz="2800" i="1">
                                    <a:solidFill>
                                      <a:srgbClr val="15803D"/>
                                    </a:solidFill>
                                    <a:latin typeface="Cambria Math" panose="02040503050406030204" pitchFamily="18" charset="0"/>
                                  </a:rPr>
                                  <m:t>2</m:t>
                                </m:r>
                              </m:sup>
                            </m:sSup>
                            <m:r>
                              <m:rPr>
                                <m:sty m:val="p"/>
                              </m:rPr>
                              <a:rPr lang="en-IN" sz="2800">
                                <a:solidFill>
                                  <a:srgbClr val="15803D"/>
                                </a:solidFill>
                                <a:latin typeface="Cambria Math" panose="02040503050406030204" pitchFamily="18" charset="0"/>
                              </a:rPr>
                              <m:t>+</m:t>
                            </m:r>
                            <m:sSup>
                              <m:e>
                                <m:r>
                                  <a:rPr lang="en-IN" sz="2800" i="1">
                                    <a:solidFill>
                                      <a:srgbClr val="15803D"/>
                                    </a:solidFill>
                                    <a:latin typeface="Cambria Math" panose="02040503050406030204" pitchFamily="18" charset="0"/>
                                  </a:rPr>
                                  <m:t>𝑏</m:t>
                                </m:r>
                              </m:e>
                              <m:sup>
                                <m:r>
                                  <a:rPr lang="en-IN" sz="2800" i="1">
                                    <a:solidFill>
                                      <a:srgbClr val="15803D"/>
                                    </a:solidFill>
                                    <a:latin typeface="Cambria Math" panose="02040503050406030204" pitchFamily="18" charset="0"/>
                                  </a:rPr>
                                  <m:t>2</m:t>
                                </m:r>
                              </m:sup>
                            </m:sSup>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𝑎</m:t>
                            </m:r>
                            <m:r>
                              <a:rPr lang="en-IN" sz="2800" i="1">
                                <a:solidFill>
                                  <a:srgbClr val="15803D"/>
                                </a:solidFill>
                                <a:latin typeface="Cambria Math" panose="02040503050406030204" pitchFamily="18" charset="0"/>
                              </a:rPr>
                              <m:t>𝑏</m:t>
                            </m:r>
                          </m:e>
                        </m:rad>
                      </m:num>
                      <m:den>
                        <m:r>
                          <a:rPr lang="en-IN" sz="2800" i="1">
                            <a:solidFill>
                              <a:srgbClr val="15803D"/>
                            </a:solidFill>
                            <a:latin typeface="Cambria Math" panose="02040503050406030204" pitchFamily="18" charset="0"/>
                          </a:rPr>
                          <m:t>6</m:t>
                        </m:r>
                      </m:den>
                    </m:f>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r>
                  <a:rPr lang="en-IN" sz="2800">
                    <a:solidFill>
                      <a:srgbClr val="15803D"/>
                    </a:solidFill>
                    <a:latin typeface="Cambria Math" panose="02040503050406030204" pitchFamily="18" charset="0"/>
                  </a:rPr>
                  <a:t>$\frac{a+b-\sqrt{a^{2}+b^{2}-ab}}{6}$</a:t>
                </a:r>
                <a:endParaRPr sz="2800">
                  <a:solidFill>
                    <a:srgbClr val="15803D"/>
                  </a:solidFill>
                </a:endParaRPr>
              </a:p>
            </p:txBody>
          </p:sp>
        </mc:Fallback>
      </mc:AlternateContent>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Test the options on the special case </a:t>
                </a:r>
                <a14:m>
                  <m:oMath xmlns:m="http://schemas.openxmlformats.org/officeDocument/2006/math">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𝑏</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6</m:t>
                    </m:r>
                  </m:oMath>
                </a14:m>
                <a:r>
                  <a:rPr sz="2400" b="0">
                    <a:solidFill>
                      <a:srgbClr val="78350F"/>
                    </a:solidFill>
                    <a:latin typeface="Arial"/>
                  </a:rPr>
                  <a:t>, where the maximum is easy to find directly.</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Test the options on the special case </a:t>
                </a:r>
                <a:r>
                  <a:rPr lang="en-IN" sz="2400">
                    <a:solidFill>
                      <a:srgbClr val="78350F"/>
                    </a:solidFill>
                    <a:latin typeface="Cambria Math" panose="02040503050406030204" pitchFamily="18" charset="0"/>
                  </a:rPr>
                  <a:t>$a=b=6$</a:t>
                </a:r>
                <a:r>
                  <a:rPr sz="2400" b="0">
                    <a:solidFill>
                      <a:srgbClr val="78350F"/>
                    </a:solidFill>
                    <a:latin typeface="Arial"/>
                  </a:rPr>
                  <a:t>, where the maximum is easy to find directly.</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Take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𝑉</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𝑉</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(the root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𝑉</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𝑉</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changes from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to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maximum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Here </a:t>
                </a:r>
                <a14:m>
                  <m:oMath xmlns:m="http://schemas.openxmlformats.org/officeDocument/2006/math">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108</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Take </a:t>
                </a:r>
                <a:r>
                  <a:rPr lang="en-IN" sz="2400">
                    <a:solidFill>
                      <a:srgbClr val="111827"/>
                    </a:solidFill>
                    <a:latin typeface="Cambria Math" panose="02040503050406030204" pitchFamily="18" charset="0"/>
                  </a:rPr>
                  <a:t>$a=b=6$</a:t>
                </a:r>
                <a:r>
                  <a:rPr sz="2400" b="0">
                    <a:solidFill>
                      <a:srgbClr val="111827"/>
                    </a:solidFill>
                    <a:latin typeface="Arial"/>
                  </a:rPr>
                  <a:t>: </a:t>
                </a:r>
                <a:r>
                  <a:rPr lang="en-IN" sz="2400">
                    <a:solidFill>
                      <a:srgbClr val="111827"/>
                    </a:solidFill>
                    <a:latin typeface="Cambria Math" panose="02040503050406030204" pitchFamily="18" charset="0"/>
                  </a:rPr>
                  <a:t>$V=x(6-2x)^{2}$</a:t>
                </a:r>
                <a:r>
                  <a:rPr sz="2400" b="0">
                    <a:solidFill>
                      <a:srgbClr val="111827"/>
                    </a:solidFill>
                    <a:latin typeface="Arial"/>
                  </a:rPr>
                  <a:t> with </a:t>
                </a:r>
                <a:r>
                  <a:rPr lang="en-IN" sz="2400">
                    <a:solidFill>
                      <a:srgbClr val="111827"/>
                    </a:solidFill>
                    <a:latin typeface="Cambria Math" panose="02040503050406030204" pitchFamily="18" charset="0"/>
                  </a:rPr>
                  <a:t>$0&lt;x&lt;3$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$V'=(6-2x)^{2}-4x(6-2x)=(6-2x)(6-6x)=0$</a:t>
                </a:r>
                <a:r>
                  <a:rPr sz="2400" b="0">
                    <a:solidFill>
                      <a:srgbClr val="111827"/>
                    </a:solidFill>
                    <a:latin typeface="Arial"/>
                  </a:rPr>
                  <a:t>, so </a:t>
                </a:r>
                <a:r>
                  <a:rPr lang="en-IN" sz="2400">
                    <a:solidFill>
                      <a:srgbClr val="111827"/>
                    </a:solidFill>
                    <a:latin typeface="Cambria Math" panose="02040503050406030204" pitchFamily="18" charset="0"/>
                  </a:rPr>
                  <a:t>$x=1$</a:t>
                </a:r>
                <a:r>
                  <a:rPr sz="2400" b="0">
                    <a:solidFill>
                      <a:srgbClr val="111827"/>
                    </a:solidFill>
                    <a:latin typeface="Arial"/>
                  </a:rPr>
                  <a:t> (the root </a:t>
                </a:r>
                <a:r>
                  <a:rPr lang="en-IN" sz="2400">
                    <a:solidFill>
                      <a:srgbClr val="111827"/>
                    </a:solidFill>
                    <a:latin typeface="Cambria Math" panose="02040503050406030204" pitchFamily="18" charset="0"/>
                  </a:rPr>
                  <a:t>$x=3$</a:t>
                </a:r>
                <a:r>
                  <a:rPr sz="2400" b="0">
                    <a:solidFill>
                      <a:srgbClr val="111827"/>
                    </a:solidFill>
                    <a:latin typeface="Arial"/>
                  </a:rPr>
                  <a:t> gives </a:t>
                </a:r>
                <a:r>
                  <a:rPr lang="en-IN" sz="2400">
                    <a:solidFill>
                      <a:srgbClr val="111827"/>
                    </a:solidFill>
                    <a:latin typeface="Cambria Math" panose="02040503050406030204" pitchFamily="18" charset="0"/>
                  </a:rPr>
                  <a:t>$V=0$</a:t>
                </a:r>
                <a:r>
                  <a:rPr sz="2400" b="0">
                    <a:solidFill>
                      <a:srgbClr val="111827"/>
                    </a:solidFill>
                    <a:latin typeface="Arial"/>
                  </a:rPr>
                  <a:t>); </a:t>
                </a:r>
                <a:r>
                  <a:rPr lang="en-IN" sz="2400">
                    <a:solidFill>
                      <a:srgbClr val="111827"/>
                    </a:solidFill>
                    <a:latin typeface="Cambria Math" panose="02040503050406030204" pitchFamily="18" charset="0"/>
                  </a:rPr>
                  <a:t>$V'$</a:t>
                </a:r>
                <a:r>
                  <a:rPr sz="2400" b="0">
                    <a:solidFill>
                      <a:srgbClr val="111827"/>
                    </a:solidFill>
                    <a:latin typeface="Arial"/>
                  </a:rPr>
                  <a:t> changes from </a:t>
                </a:r>
                <a:r>
                  <a:rPr lang="en-IN" sz="2400">
                    <a:solidFill>
                      <a:srgbClr val="111827"/>
                    </a:solidFill>
                    <a:latin typeface="Cambria Math" panose="02040503050406030204" pitchFamily="18" charset="0"/>
                  </a:rPr>
                  <a:t>$+$</a:t>
                </a:r>
                <a:r>
                  <a:rPr sz="2400" b="0">
                    <a:solidFill>
                      <a:srgbClr val="111827"/>
                    </a:solidFill>
                    <a:latin typeface="Arial"/>
                  </a:rPr>
                  <a:t> to </a:t>
                </a:r>
                <a:r>
                  <a:rPr lang="en-IN" sz="2400">
                    <a:solidFill>
                      <a:srgbClr val="111827"/>
                    </a:solidFill>
                    <a:latin typeface="Cambria Math" panose="02040503050406030204" pitchFamily="18" charset="0"/>
                  </a:rPr>
                  <a:t>$-$</a:t>
                </a:r>
                <a:r>
                  <a:rPr sz="2400" b="0">
                    <a:solidFill>
                      <a:srgbClr val="111827"/>
                    </a:solidFill>
                    <a:latin typeface="Arial"/>
                  </a:rPr>
                  <a:t> at </a:t>
                </a:r>
                <a:r>
                  <a:rPr lang="en-IN" sz="2400">
                    <a:solidFill>
                      <a:srgbClr val="111827"/>
                    </a:solidFill>
                    <a:latin typeface="Cambria Math" panose="02040503050406030204" pitchFamily="18" charset="0"/>
                  </a:rPr>
                  <a:t>$x=1$</a:t>
                </a:r>
                <a:r>
                  <a:rPr sz="2400" b="0">
                    <a:solidFill>
                      <a:srgbClr val="111827"/>
                    </a:solidFill>
                    <a:latin typeface="Arial"/>
                  </a:rPr>
                  <a:t>: maximum at </a:t>
                </a:r>
                <a:r>
                  <a:rPr lang="en-IN" sz="2400">
                    <a:solidFill>
                      <a:srgbClr val="111827"/>
                    </a:solidFill>
                    <a:latin typeface="Cambria Math" panose="02040503050406030204" pitchFamily="18" charset="0"/>
                  </a:rPr>
                  <a:t>$x=1$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Here </a:t>
                </a:r>
                <a:r>
                  <a:rPr lang="en-IN" sz="2400">
                    <a:solidFill>
                      <a:srgbClr val="111827"/>
                    </a:solidFill>
                    <a:latin typeface="Cambria Math" panose="02040503050406030204" pitchFamily="18" charset="0"/>
                  </a:rPr>
                  <a:t>$a^{2}+b^{2}-ab=36$</a:t>
                </a:r>
                <a:r>
                  <a:rPr sz="2400" b="0">
                    <a:solidFill>
                      <a:srgbClr val="111827"/>
                    </a:solidFill>
                    <a:latin typeface="Arial"/>
                  </a:rPr>
                  <a:t> and </a:t>
                </a:r>
                <a:r>
                  <a:rPr lang="en-IN" sz="2400">
                    <a:solidFill>
                      <a:srgbClr val="111827"/>
                    </a:solidFill>
                    <a:latin typeface="Cambria Math" panose="02040503050406030204" pitchFamily="18" charset="0"/>
                  </a:rPr>
                  <a:t>$a^{2}+b^{2}+ab=108$</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108</m:t>
                            </m:r>
                          </m:e>
                        </m:rad>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0.27</m:t>
                    </m:r>
                  </m:oMath>
                </a14:m>
                <a:r>
                  <a:rPr sz="2400" b="0">
                    <a:solidFill>
                      <a:srgbClr val="111827"/>
                    </a:solidFill>
                    <a:latin typeface="Arial"/>
                  </a:rPr>
                  <a:t> and (C):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12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0.5</m:t>
                    </m:r>
                  </m:oMath>
                </a14:m>
                <a:r>
                  <a:rPr sz="2400" b="0">
                    <a:solidFill>
                      <a:srgbClr val="111827"/>
                    </a:solidFill>
                    <a:latin typeface="Arial"/>
                  </a:rPr>
                  <a:t> and (D):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none equals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36</m:t>
                            </m:r>
                          </m:e>
                        </m:rad>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matches. Hence (B).</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$\frac{12-\sqrt{108}}{6}\approx0.27$</a:t>
                </a:r>
                <a:r>
                  <a:rPr sz="2400" b="0">
                    <a:solidFill>
                      <a:srgbClr val="111827"/>
                    </a:solidFill>
                    <a:latin typeface="Arial"/>
                  </a:rPr>
                  <a:t> and (C): </a:t>
                </a:r>
                <a:r>
                  <a:rPr lang="en-IN" sz="2400">
                    <a:solidFill>
                      <a:srgbClr val="111827"/>
                    </a:solidFill>
                    <a:latin typeface="Cambria Math" panose="02040503050406030204" pitchFamily="18" charset="0"/>
                  </a:rPr>
                  <a:t>$\frac{12-6}{12}=0.5$</a:t>
                </a:r>
                <a:r>
                  <a:rPr sz="2400" b="0">
                    <a:solidFill>
                      <a:srgbClr val="111827"/>
                    </a:solidFill>
                    <a:latin typeface="Arial"/>
                  </a:rPr>
                  <a:t> and (D): </a:t>
                </a:r>
                <a:r>
                  <a:rPr lang="en-IN" sz="2400">
                    <a:solidFill>
                      <a:srgbClr val="111827"/>
                    </a:solidFill>
                    <a:latin typeface="Cambria Math" panose="02040503050406030204" pitchFamily="18" charset="0"/>
                  </a:rPr>
                  <a:t>$\frac{12+6}{6}=3$</a:t>
                </a:r>
                <a:r>
                  <a:rPr sz="2400" b="0">
                    <a:solidFill>
                      <a:srgbClr val="111827"/>
                    </a:solidFill>
                    <a:latin typeface="Arial"/>
                  </a:rPr>
                  <a:t>: none equals </a:t>
                </a:r>
                <a:r>
                  <a:rPr lang="en-IN" sz="2400">
                    <a:solidFill>
                      <a:srgbClr val="111827"/>
                    </a:solidFill>
                    <a:latin typeface="Cambria Math" panose="02040503050406030204" pitchFamily="18" charset="0"/>
                  </a:rPr>
                  <a:t>$1$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 </a:t>
                </a:r>
                <a:r>
                  <a:rPr lang="en-IN" sz="2400">
                    <a:solidFill>
                      <a:srgbClr val="111827"/>
                    </a:solidFill>
                    <a:latin typeface="Cambria Math" panose="02040503050406030204" pitchFamily="18" charset="0"/>
                  </a:rPr>
                  <a:t>$\frac{12-\sqrt{36}}{6}=1$</a:t>
                </a:r>
                <a:r>
                  <a:rPr sz="2400" b="0">
                    <a:solidFill>
                      <a:srgbClr val="111827"/>
                    </a:solidFill>
                    <a:latin typeface="Arial"/>
                  </a:rPr>
                  <a:t> matches. Hence (B).</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𝑎</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𝑏</m:t>
                        </m:r>
                        <m:r>
                          <m:rPr>
                            <m:sty m:val="p"/>
                          </m:rPr>
                          <a:rPr lang="en-IN" sz="2800">
                            <a:solidFill>
                              <a:srgbClr val="15803D"/>
                            </a:solidFill>
                            <a:latin typeface="Cambria Math" panose="02040503050406030204" pitchFamily="18" charset="0"/>
                          </a:rPr>
                          <m:t>−</m:t>
                        </m:r>
                        <m:rad>
                          <m:radPr>
                            <m:degHide m:val="on"/>
                            <m:ctrlPr>
                              <a:rPr lang="en-IN" sz="2800" i="1">
                                <a:solidFill>
                                  <a:srgbClr val="15803D"/>
                                </a:solidFill>
                                <a:latin typeface="Cambria Math" panose="02040503050406030204" pitchFamily="18" charset="0"/>
                              </a:rPr>
                            </m:ctrlPr>
                          </m:radPr>
                          <m:deg/>
                          <m:e>
                            <m:sSup>
                              <m:e>
                                <m:r>
                                  <a:rPr lang="en-IN" sz="2800" i="1">
                                    <a:solidFill>
                                      <a:srgbClr val="15803D"/>
                                    </a:solidFill>
                                    <a:latin typeface="Cambria Math" panose="02040503050406030204" pitchFamily="18" charset="0"/>
                                  </a:rPr>
                                  <m:t>𝑎</m:t>
                                </m:r>
                              </m:e>
                              <m:sup>
                                <m:r>
                                  <a:rPr lang="en-IN" sz="2800" i="1">
                                    <a:solidFill>
                                      <a:srgbClr val="15803D"/>
                                    </a:solidFill>
                                    <a:latin typeface="Cambria Math" panose="02040503050406030204" pitchFamily="18" charset="0"/>
                                  </a:rPr>
                                  <m:t>2</m:t>
                                </m:r>
                              </m:sup>
                            </m:sSup>
                            <m:r>
                              <m:rPr>
                                <m:sty m:val="p"/>
                              </m:rPr>
                              <a:rPr lang="en-IN" sz="2800">
                                <a:solidFill>
                                  <a:srgbClr val="15803D"/>
                                </a:solidFill>
                                <a:latin typeface="Cambria Math" panose="02040503050406030204" pitchFamily="18" charset="0"/>
                              </a:rPr>
                              <m:t>+</m:t>
                            </m:r>
                            <m:sSup>
                              <m:e>
                                <m:r>
                                  <a:rPr lang="en-IN" sz="2800" i="1">
                                    <a:solidFill>
                                      <a:srgbClr val="15803D"/>
                                    </a:solidFill>
                                    <a:latin typeface="Cambria Math" panose="02040503050406030204" pitchFamily="18" charset="0"/>
                                  </a:rPr>
                                  <m:t>𝑏</m:t>
                                </m:r>
                              </m:e>
                              <m:sup>
                                <m:r>
                                  <a:rPr lang="en-IN" sz="2800" i="1">
                                    <a:solidFill>
                                      <a:srgbClr val="15803D"/>
                                    </a:solidFill>
                                    <a:latin typeface="Cambria Math" panose="02040503050406030204" pitchFamily="18" charset="0"/>
                                  </a:rPr>
                                  <m:t>2</m:t>
                                </m:r>
                              </m:sup>
                            </m:sSup>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𝑎</m:t>
                            </m:r>
                            <m:r>
                              <a:rPr lang="en-IN" sz="2800" i="1">
                                <a:solidFill>
                                  <a:srgbClr val="15803D"/>
                                </a:solidFill>
                                <a:latin typeface="Cambria Math" panose="02040503050406030204" pitchFamily="18" charset="0"/>
                              </a:rPr>
                              <m:t>𝑏</m:t>
                            </m:r>
                          </m:e>
                        </m:rad>
                      </m:num>
                      <m:den>
                        <m:r>
                          <a:rPr lang="en-IN" sz="2800" i="1">
                            <a:solidFill>
                              <a:srgbClr val="15803D"/>
                            </a:solidFill>
                            <a:latin typeface="Cambria Math" panose="02040503050406030204" pitchFamily="18" charset="0"/>
                          </a:rPr>
                          <m:t>6</m:t>
                        </m:r>
                      </m:den>
                    </m:f>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a:t>
                </a:r>
                <a:r>
                  <a:rPr lang="en-IN" sz="2800">
                    <a:solidFill>
                      <a:srgbClr val="15803D"/>
                    </a:solidFill>
                    <a:latin typeface="Cambria Math" panose="02040503050406030204" pitchFamily="18" charset="0"/>
                  </a:rPr>
                  <a:t>$\frac{a+b-\sqrt{a^{2}+b^{2}-ab}}{6}$</a:t>
                </a:r>
                <a:endParaRPr sz="2800">
                  <a:solidFill>
                    <a:srgbClr val="15803D"/>
                  </a:solidFill>
                </a:endParaRPr>
              </a:p>
            </p:txBody>
          </p:sp>
        </mc:Fallback>
      </mc:AlternateContent>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quadratic </a:t>
                </a:r>
                <a14:m>
                  <m:oMath xmlns:m="http://schemas.openxmlformats.org/officeDocument/2006/math">
                    <m:sSup>
                      <m:e>
                        <m:r>
                          <a:rPr lang="en-IN" sz="2400" i="1">
                            <a:solidFill>
                              <a:srgbClr val="111827"/>
                            </a:solidFill>
                            <a:latin typeface="Cambria Math" panose="02040503050406030204" pitchFamily="18" charset="0"/>
                          </a:rPr>
                          <m:t>𝑉</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positive leading coefficient: the smaller root is a local max of </a:t>
                </a:r>
                <a14:m>
                  <m:oMath xmlns:m="http://schemas.openxmlformats.org/officeDocument/2006/math">
                    <m:r>
                      <a:rPr lang="en-IN" sz="2400" i="1">
                        <a:solidFill>
                          <a:srgbClr val="111827"/>
                        </a:solidFill>
                        <a:latin typeface="Cambria Math" panose="02040503050406030204" pitchFamily="18" charset="0"/>
                      </a:rPr>
                      <m:t>𝑉</m:t>
                    </m:r>
                  </m:oMath>
                </a14:m>
                <a:r>
                  <a:rPr sz="2400" b="0">
                    <a:solidFill>
                      <a:srgbClr val="111827"/>
                    </a:solidFill>
                    <a:latin typeface="Arial"/>
                  </a:rPr>
                  <a:t>, the larger a local min.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Discriminant of </a:t>
                </a:r>
                <a14:m>
                  <m:oMath xmlns:m="http://schemas.openxmlformats.org/officeDocument/2006/math">
                    <m:r>
                      <a:rPr lang="en-IN" sz="2400" i="1">
                        <a:solidFill>
                          <a:srgbClr val="111827"/>
                        </a:solidFill>
                        <a:latin typeface="Cambria Math" panose="02040503050406030204" pitchFamily="18" charset="0"/>
                      </a:rPr>
                      <m:t>12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oMath>
                </a14:m>
                <a:r>
                  <a:rPr sz="2400" b="0">
                    <a:solidFill>
                      <a:srgbClr val="111827"/>
                    </a:solidFill>
                    <a:latin typeface="Arial"/>
                  </a:rPr>
                  <a:t> simplifies via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 square sheet of side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the open box of maximum volume has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6</m:t>
                        </m:r>
                      </m:den>
                    </m:f>
                  </m:oMath>
                </a14:m>
                <a:r>
                  <a:rPr sz="2400" b="0">
                    <a:solidFill>
                      <a:srgbClr val="111827"/>
                    </a:solidFill>
                    <a:latin typeface="Arial"/>
                  </a:rPr>
                  <a:t> (volume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3</m:t>
                            </m:r>
                          </m:sup>
                        </m:sSup>
                      </m:num>
                      <m:den>
                        <m:r>
                          <a:rPr lang="en-IN" sz="2400" i="1">
                            <a:solidFill>
                              <a:srgbClr val="111827"/>
                            </a:solidFill>
                            <a:latin typeface="Cambria Math" panose="02040503050406030204" pitchFamily="18" charset="0"/>
                          </a:rPr>
                          <m:t>27</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Special-case testing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 is a quick check for formula-type options.</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quadratic </a:t>
                </a:r>
                <a:r>
                  <a:rPr lang="en-IN" sz="2400">
                    <a:solidFill>
                      <a:srgbClr val="111827"/>
                    </a:solidFill>
                    <a:latin typeface="Cambria Math" panose="02040503050406030204" pitchFamily="18" charset="0"/>
                  </a:rPr>
                  <a:t>$V'(x)=12(x-\alpha)(x-\beta)$</a:t>
                </a:r>
                <a:r>
                  <a:rPr sz="2400" b="0">
                    <a:solidFill>
                      <a:srgbClr val="111827"/>
                    </a:solidFill>
                    <a:latin typeface="Arial"/>
                  </a:rPr>
                  <a:t> with positive leading coefficient: the smaller root is a local max of </a:t>
                </a:r>
                <a:r>
                  <a:rPr lang="en-IN" sz="2400">
                    <a:solidFill>
                      <a:srgbClr val="111827"/>
                    </a:solidFill>
                    <a:latin typeface="Cambria Math" panose="02040503050406030204" pitchFamily="18" charset="0"/>
                  </a:rPr>
                  <a:t>$V$</a:t>
                </a:r>
                <a:r>
                  <a:rPr sz="2400" b="0">
                    <a:solidFill>
                      <a:srgbClr val="111827"/>
                    </a:solidFill>
                    <a:latin typeface="Arial"/>
                  </a:rPr>
                  <a:t>, the larger a local min.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Discriminant of </a:t>
                </a:r>
                <a:r>
                  <a:rPr lang="en-IN" sz="2400">
                    <a:solidFill>
                      <a:srgbClr val="111827"/>
                    </a:solidFill>
                    <a:latin typeface="Cambria Math" panose="02040503050406030204" pitchFamily="18" charset="0"/>
                  </a:rPr>
                  <a:t>$12x^{2}-4(a+b)x+ab$</a:t>
                </a:r>
                <a:r>
                  <a:rPr sz="2400" b="0">
                    <a:solidFill>
                      <a:srgbClr val="111827"/>
                    </a:solidFill>
                    <a:latin typeface="Arial"/>
                  </a:rPr>
                  <a:t> simplifies via </a:t>
                </a:r>
                <a:r>
                  <a:rPr lang="en-IN" sz="2400">
                    <a:solidFill>
                      <a:srgbClr val="111827"/>
                    </a:solidFill>
                    <a:latin typeface="Cambria Math" panose="02040503050406030204" pitchFamily="18" charset="0"/>
                  </a:rPr>
                  <a:t>$(a+b)^{2}-3ab=a^{2}+b^{2}-ab$</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 square sheet of side </a:t>
                </a:r>
                <a:r>
                  <a:rPr lang="en-IN" sz="2400">
                    <a:solidFill>
                      <a:srgbClr val="111827"/>
                    </a:solidFill>
                    <a:latin typeface="Cambria Math" panose="02040503050406030204" pitchFamily="18" charset="0"/>
                  </a:rPr>
                  <a:t>$a$</a:t>
                </a:r>
                <a:r>
                  <a:rPr sz="2400" b="0">
                    <a:solidFill>
                      <a:srgbClr val="111827"/>
                    </a:solidFill>
                    <a:latin typeface="Arial"/>
                  </a:rPr>
                  <a:t>, the open box of maximum volume has </a:t>
                </a:r>
                <a:r>
                  <a:rPr lang="en-IN" sz="2400">
                    <a:solidFill>
                      <a:srgbClr val="111827"/>
                    </a:solidFill>
                    <a:latin typeface="Cambria Math" panose="02040503050406030204" pitchFamily="18" charset="0"/>
                  </a:rPr>
                  <a:t>$x=\frac a6$</a:t>
                </a:r>
                <a:r>
                  <a:rPr sz="2400" b="0">
                    <a:solidFill>
                      <a:srgbClr val="111827"/>
                    </a:solidFill>
                    <a:latin typeface="Arial"/>
                  </a:rPr>
                  <a:t> (volume </a:t>
                </a:r>
                <a:r>
                  <a:rPr lang="en-IN" sz="2400">
                    <a:solidFill>
                      <a:srgbClr val="111827"/>
                    </a:solidFill>
                    <a:latin typeface="Cambria Math" panose="02040503050406030204" pitchFamily="18" charset="0"/>
                  </a:rPr>
                  <a:t>$\frac{2a^{3}}{27}$</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Special-case testing (</a:t>
                </a:r>
                <a:r>
                  <a:rPr lang="en-IN" sz="2400">
                    <a:solidFill>
                      <a:srgbClr val="111827"/>
                    </a:solidFill>
                    <a:latin typeface="Cambria Math" panose="02040503050406030204" pitchFamily="18" charset="0"/>
                  </a:rPr>
                  <a:t>$a=b$</a:t>
                </a:r>
                <a:r>
                  <a:rPr sz="2400" b="0">
                    <a:solidFill>
                      <a:srgbClr val="111827"/>
                    </a:solidFill>
                    <a:latin typeface="Arial"/>
                  </a:rPr>
                  <a:t>) is a quick check for formula-type options.</a:t>
                </a:r>
                <a:endParaRPr sz="2400">
                  <a:solidFill>
                    <a:srgbClr val="111827"/>
                  </a:solidFill>
                </a:endParaRPr>
              </a:p>
            </p:txBody>
          </p:sp>
        </mc:Fallback>
      </mc:AlternateContent>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489707"/>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 wire of length </a:t>
                </a:r>
                <a14:m>
                  <m:oMath xmlns:m="http://schemas.openxmlformats.org/officeDocument/2006/math">
                    <m:r>
                      <a:rPr lang="en-IN" sz="2400" i="1">
                        <a:solidFill>
                          <a:srgbClr val="111827"/>
                        </a:solidFill>
                        <a:latin typeface="Cambria Math" panose="02040503050406030204" pitchFamily="18" charset="0"/>
                      </a:rPr>
                      <m:t>36</m:t>
                    </m:r>
                  </m:oMath>
                </a14:m>
                <a:r>
                  <a:rPr sz="2400" b="0">
                    <a:solidFill>
                      <a:srgbClr val="111827"/>
                    </a:solidFill>
                    <a:latin typeface="Arial"/>
                  </a:rPr>
                  <a:t> m is cut into two pieces, one of the pieces is bent to form a square and the other is bent to form a circle. If the sum of the areas of the two figures is minimum, and the circumference of the circle is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(metre), then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π</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d>
                    <m:r>
                      <a:rPr lang="en-IN" sz="2400" i="1">
                        <a:solidFill>
                          <a:srgbClr val="111827"/>
                        </a:solidFill>
                        <a:latin typeface="Cambria Math" panose="02040503050406030204" pitchFamily="18" charset="0"/>
                      </a:rPr>
                      <m:t>𝑘</m:t>
                    </m:r>
                  </m:oMath>
                </a14:m>
                <a:r>
                  <a:rPr sz="2400" b="0">
                    <a:solidFill>
                      <a:srgbClr val="111827"/>
                    </a:solidFill>
                    <a:latin typeface="Arial"/>
                  </a:rPr>
                  <a:t> is equal to ______.</a:t>
                </a:r>
                <a:endParaRPr sz="2400">
                  <a:solidFill>
                    <a:srgbClr val="111827"/>
                  </a:solidFill>
                </a:endParaRPr>
              </a:p>
            </p:txBody>
          </p:sp>
        </mc:Choice>
        <mc:Fallback>
          <p:sp>
            <p:nvSpPr>
              <p:cNvPr id="4" name="Rounded Rectangle 3"/>
              <p:cNvSpPr/>
              <p:nvPr/>
            </p:nvSpPr>
            <p:spPr>
              <a:xfrm>
                <a:off x="731520" y="1280160"/>
                <a:ext cx="10725912" cy="2489707"/>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 wire of length </a:t>
                </a:r>
                <a:r>
                  <a:rPr lang="en-IN" sz="2400">
                    <a:solidFill>
                      <a:srgbClr val="111827"/>
                    </a:solidFill>
                    <a:latin typeface="Cambria Math" panose="02040503050406030204" pitchFamily="18" charset="0"/>
                  </a:rPr>
                  <a:t>$36$</a:t>
                </a:r>
                <a:r>
                  <a:rPr sz="2400" b="0">
                    <a:solidFill>
                      <a:srgbClr val="111827"/>
                    </a:solidFill>
                    <a:latin typeface="Arial"/>
                  </a:rPr>
                  <a:t> m is cut into two pieces, one of the pieces is bent to form a square and the other is bent to form a circle. If the sum of the areas of the two figures is minimum, and the circumference of the circle is </a:t>
                </a:r>
                <a:r>
                  <a:rPr lang="en-IN" sz="2400">
                    <a:solidFill>
                      <a:srgbClr val="111827"/>
                    </a:solidFill>
                    <a:latin typeface="Cambria Math" panose="02040503050406030204" pitchFamily="18" charset="0"/>
                  </a:rPr>
                  <a:t>$k$</a:t>
                </a:r>
                <a:r>
                  <a:rPr sz="2400" b="0">
                    <a:solidFill>
                      <a:srgbClr val="111827"/>
                    </a:solidFill>
                    <a:latin typeface="Arial"/>
                  </a:rPr>
                  <a:t> (metre), then </a:t>
                </a:r>
                <a:r>
                  <a:rPr lang="en-IN" sz="2400">
                    <a:solidFill>
                      <a:srgbClr val="111827"/>
                    </a:solidFill>
                    <a:latin typeface="Cambria Math" panose="02040503050406030204" pitchFamily="18" charset="0"/>
                  </a:rPr>
                  <a:t>$\left(\frac4\pi+1\right)k$</a:t>
                </a:r>
                <a:r>
                  <a:rPr sz="2400" b="0">
                    <a:solidFill>
                      <a:srgbClr val="111827"/>
                    </a:solidFill>
                    <a:latin typeface="Arial"/>
                  </a:rPr>
                  <a:t> is equal to ______.</a:t>
                </a:r>
                <a:endParaRPr sz="2400">
                  <a:solidFill>
                    <a:srgbClr val="111827"/>
                  </a:solidFill>
                </a:endParaRPr>
              </a:p>
            </p:txBody>
          </p:sp>
        </mc:Fallback>
      </mc:AlternateContent>
      <p:sp>
        <p:nvSpPr>
          <p:cNvPr id="5" name="Rectangle 4"/>
          <p:cNvSpPr/>
          <p:nvPr/>
        </p:nvSpPr>
        <p:spPr>
          <a:xfrm>
            <a:off x="731520" y="3998467"/>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Optimisation (maxima-minima) application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81051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Since </a:t>
                </a:r>
                <a14:m>
                  <m:oMath xmlns:m="http://schemas.openxmlformats.org/officeDocument/2006/math">
                    <m:r>
                      <a:rPr lang="en-IN" sz="2400" i="1">
                        <a:solidFill>
                          <a:srgbClr val="78350F"/>
                        </a:solidFill>
                        <a:latin typeface="Cambria Math" panose="02040503050406030204" pitchFamily="18" charset="0"/>
                      </a:rPr>
                      <m:t>𝑘</m:t>
                    </m:r>
                  </m:oMath>
                </a14:m>
                <a:r>
                  <a:rPr sz="2400" b="0">
                    <a:solidFill>
                      <a:srgbClr val="78350F"/>
                    </a:solidFill>
                    <a:latin typeface="Arial"/>
                  </a:rPr>
                  <a:t> is the length given to the circle, the stationarity condition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𝑥</m:t>
                        </m:r>
                      </m:num>
                      <m:den>
                        <m:r>
                          <a:rPr lang="en-IN" sz="2400" i="1">
                            <a:solidFill>
                              <a:srgbClr val="78350F"/>
                            </a:solidFill>
                            <a:latin typeface="Cambria Math" panose="02040503050406030204" pitchFamily="18" charset="0"/>
                          </a:rPr>
                          <m:t>8</m:t>
                        </m:r>
                      </m:den>
                    </m:f>
                    <m:d>
                      <m:dPr>
                        <m:begChr m:val="("/>
                        <m:sepChr m:val=""/>
                        <m:endChr m:val=")"/>
                        <m:grow/>
                        <m:ctrlPr>
                          <a:rPr lang="en-IN" sz="2400" i="1">
                            <a:solidFill>
                              <a:srgbClr val="78350F"/>
                            </a:solidFill>
                            <a:latin typeface="Cambria Math" panose="02040503050406030204" pitchFamily="18" charset="0"/>
                          </a:rPr>
                        </m:ctrlPr>
                      </m:dPr>
                      <m:e>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4</m:t>
                            </m:r>
                          </m:num>
                          <m:den>
                            <m:r>
                              <a:rPr lang="en-IN" sz="2400" i="1">
                                <a:solidFill>
                                  <a:srgbClr val="78350F"/>
                                </a:solidFill>
                                <a:latin typeface="Cambria Math" panose="02040503050406030204" pitchFamily="18" charset="0"/>
                              </a:rPr>
                              <m:t>π</m:t>
                            </m:r>
                          </m:den>
                        </m:f>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e>
                    </m:d>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9</m:t>
                        </m:r>
                      </m:num>
                      <m:den>
                        <m:r>
                          <a:rPr lang="en-IN" sz="2400" i="1">
                            <a:solidFill>
                              <a:srgbClr val="78350F"/>
                            </a:solidFill>
                            <a:latin typeface="Cambria Math" panose="02040503050406030204" pitchFamily="18" charset="0"/>
                          </a:rPr>
                          <m:t>2</m:t>
                        </m:r>
                      </m:den>
                    </m:f>
                  </m:oMath>
                </a14:m>
                <a:r>
                  <a:rPr sz="2400" b="0">
                    <a:solidFill>
                      <a:srgbClr val="78350F"/>
                    </a:solidFill>
                    <a:latin typeface="Arial"/>
                  </a:rPr>
                  <a:t> is exactly the requested expression.</a:t>
                </a:r>
                <a:endParaRPr sz="2400">
                  <a:solidFill>
                    <a:srgbClr val="78350F"/>
                  </a:solidFill>
                </a:endParaRPr>
              </a:p>
            </p:txBody>
          </p:sp>
        </mc:Choice>
        <mc:Fallback>
          <p:sp>
            <p:nvSpPr>
              <p:cNvPr id="4" name="Rounded Rectangle 3"/>
              <p:cNvSpPr/>
              <p:nvPr/>
            </p:nvSpPr>
            <p:spPr>
              <a:xfrm>
                <a:off x="731520" y="1280160"/>
                <a:ext cx="10725912" cy="181051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Since </a:t>
                </a:r>
                <a:r>
                  <a:rPr lang="en-IN" sz="2400">
                    <a:solidFill>
                      <a:srgbClr val="78350F"/>
                    </a:solidFill>
                    <a:latin typeface="Cambria Math" panose="02040503050406030204" pitchFamily="18" charset="0"/>
                  </a:rPr>
                  <a:t>$k$</a:t>
                </a:r>
                <a:r>
                  <a:rPr sz="2400" b="0">
                    <a:solidFill>
                      <a:srgbClr val="78350F"/>
                    </a:solidFill>
                    <a:latin typeface="Arial"/>
                  </a:rPr>
                  <a:t> is the length given to the circle, the stationarity condition </a:t>
                </a:r>
                <a:r>
                  <a:rPr lang="en-IN" sz="2400">
                    <a:solidFill>
                      <a:srgbClr val="78350F"/>
                    </a:solidFill>
                    <a:latin typeface="Cambria Math" panose="02040503050406030204" pitchFamily="18" charset="0"/>
                  </a:rPr>
                  <a:t>$\frac{x}{8}\left(\frac4\pi+1\right)=\frac92$</a:t>
                </a:r>
                <a:r>
                  <a:rPr sz="2400" b="0">
                    <a:solidFill>
                      <a:srgbClr val="78350F"/>
                    </a:solidFill>
                    <a:latin typeface="Arial"/>
                  </a:rPr>
                  <a:t> is exactly the requested expression.</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3227832"/>
                <a:ext cx="10725912" cy="344728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m be used for the circle (so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36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 for the square.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Circle: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π</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π</m:t>
                        </m:r>
                      </m:den>
                    </m:f>
                  </m:oMath>
                </a14:m>
                <a:r>
                  <a:rPr sz="2400" b="0">
                    <a:solidFill>
                      <a:srgbClr val="111827"/>
                    </a:solidFill>
                    <a:latin typeface="Arial"/>
                  </a:rPr>
                  <a:t>. Square: </a:t>
                </a:r>
                <a14:m>
                  <m:oMath xmlns:m="http://schemas.openxmlformats.org/officeDocument/2006/math">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area </a:t>
                </a: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π</m:t>
                                </m:r>
                              </m:den>
                            </m:f>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4</m:t>
                                </m:r>
                              </m:den>
                            </m:f>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π</m:t>
                        </m:r>
                      </m:den>
                    </m:f>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4</m:t>
                                </m:r>
                              </m:den>
                            </m:f>
                          </m:e>
                        </m:d>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3227832"/>
                <a:ext cx="10725912" cy="344728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$x$</a:t>
                </a:r>
                <a:r>
                  <a:rPr sz="2400" b="0">
                    <a:solidFill>
                      <a:srgbClr val="111827"/>
                    </a:solidFill>
                    <a:latin typeface="Arial"/>
                  </a:rPr>
                  <a:t> m be used for the circle (so </a:t>
                </a:r>
                <a:r>
                  <a:rPr lang="en-IN" sz="2400">
                    <a:solidFill>
                      <a:srgbClr val="111827"/>
                    </a:solidFill>
                    <a:latin typeface="Cambria Math" panose="02040503050406030204" pitchFamily="18" charset="0"/>
                  </a:rPr>
                  <a:t>$k=x$</a:t>
                </a:r>
                <a:r>
                  <a:rPr sz="2400" b="0">
                    <a:solidFill>
                      <a:srgbClr val="111827"/>
                    </a:solidFill>
                    <a:latin typeface="Arial"/>
                  </a:rPr>
                  <a:t>) and </a:t>
                </a:r>
                <a:r>
                  <a:rPr lang="en-IN" sz="2400">
                    <a:solidFill>
                      <a:srgbClr val="111827"/>
                    </a:solidFill>
                    <a:latin typeface="Cambria Math" panose="02040503050406030204" pitchFamily="18" charset="0"/>
                  </a:rPr>
                  <a:t>$36-x$</a:t>
                </a:r>
                <a:r>
                  <a:rPr sz="2400" b="0">
                    <a:solidFill>
                      <a:srgbClr val="111827"/>
                    </a:solidFill>
                    <a:latin typeface="Arial"/>
                  </a:rPr>
                  <a:t> for the square.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Circle: </a:t>
                </a:r>
                <a:r>
                  <a:rPr lang="en-IN" sz="2400">
                    <a:solidFill>
                      <a:srgbClr val="111827"/>
                    </a:solidFill>
                    <a:latin typeface="Cambria Math" panose="02040503050406030204" pitchFamily="18" charset="0"/>
                  </a:rPr>
                  <a:t>$2\pi r=x$</a:t>
                </a:r>
                <a:r>
                  <a:rPr sz="2400" b="0">
                    <a:solidFill>
                      <a:srgbClr val="111827"/>
                    </a:solidFill>
                    <a:latin typeface="Arial"/>
                  </a:rPr>
                  <a:t>, so </a:t>
                </a:r>
                <a:r>
                  <a:rPr lang="en-IN" sz="2400">
                    <a:solidFill>
                      <a:srgbClr val="111827"/>
                    </a:solidFill>
                    <a:latin typeface="Cambria Math" panose="02040503050406030204" pitchFamily="18" charset="0"/>
                  </a:rPr>
                  <a:t>$r=\frac{x}{2\pi}$</a:t>
                </a:r>
                <a:r>
                  <a:rPr sz="2400" b="0">
                    <a:solidFill>
                      <a:srgbClr val="111827"/>
                    </a:solidFill>
                    <a:latin typeface="Arial"/>
                  </a:rPr>
                  <a:t>. Square: </a:t>
                </a:r>
                <a:r>
                  <a:rPr lang="en-IN" sz="2400">
                    <a:solidFill>
                      <a:srgbClr val="111827"/>
                    </a:solidFill>
                    <a:latin typeface="Cambria Math" panose="02040503050406030204" pitchFamily="18" charset="0"/>
                  </a:rPr>
                  <a:t>$4a=36-x$</a:t>
                </a:r>
                <a:r>
                  <a:rPr sz="2400" b="0">
                    <a:solidFill>
                      <a:srgbClr val="111827"/>
                    </a:solidFill>
                    <a:latin typeface="Arial"/>
                  </a:rPr>
                  <a:t>, so </a:t>
                </a:r>
                <a:r>
                  <a:rPr lang="en-IN" sz="2400">
                    <a:solidFill>
                      <a:srgbClr val="111827"/>
                    </a:solidFill>
                    <a:latin typeface="Cambria Math" panose="02040503050406030204" pitchFamily="18" charset="0"/>
                  </a:rPr>
                  <a:t>$a=9-\frac x4$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area </a:t>
                </a:r>
                <a:r>
                  <a:rPr lang="en-IN" sz="2400">
                    <a:solidFill>
                      <a:srgbClr val="111827"/>
                    </a:solidFill>
                    <a:latin typeface="Cambria Math" panose="02040503050406030204" pitchFamily="18" charset="0"/>
                  </a:rPr>
                  <a:t>$S=\pi r^{2}+a^{2}=\pi\left(\frac{x}{2\pi}\right)^{2}+\left(9-\frac x4\right)^{2}=\frac{x^{2}}{4\pi}+\left(9-\frac x4\right)^{2}$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𝑆</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π</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4</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π</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8</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8</m:t>
                        </m:r>
                      </m:den>
                    </m:f>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π</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𝑆</m:t>
                        </m:r>
                      </m:num>
                      <m:den>
                        <m:r>
                          <a:rPr lang="en-IN" sz="2400" i="1">
                            <a:solidFill>
                              <a:srgbClr val="111827"/>
                            </a:solidFill>
                            <a:latin typeface="Cambria Math" panose="02040503050406030204" pitchFamily="18" charset="0"/>
                          </a:rPr>
                          <m:t>𝑑</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π</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8</m:t>
                        </m:r>
                      </m:den>
                    </m:f>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𝑆</m:t>
                    </m:r>
                  </m:oMath>
                </a14:m>
                <a:r>
                  <a:rPr sz="2400" b="0">
                    <a:solidFill>
                      <a:srgbClr val="111827"/>
                    </a:solidFill>
                    <a:latin typeface="Arial"/>
                  </a:rPr>
                  <a:t> is minimum there.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Required value: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π</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d>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π</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d>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$\frac{dS}{dx}=\frac{x}{2\pi}-\frac12\left(9-\frac x4\right)=0$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$\frac{x}{2\pi}+\frac x8=\frac92$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 x8\left(\frac4\pi+1\right)=\frac92$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$\frac{d^{2}S}{dx^{2}}=\frac{1}{2\pi}+\frac18&gt;0$</a:t>
                </a:r>
                <a:r>
                  <a:rPr sz="2400" b="0">
                    <a:solidFill>
                      <a:srgbClr val="111827"/>
                    </a:solidFill>
                    <a:latin typeface="Arial"/>
                  </a:rPr>
                  <a:t>, so </a:t>
                </a:r>
                <a:r>
                  <a:rPr lang="en-IN" sz="2400">
                    <a:solidFill>
                      <a:srgbClr val="111827"/>
                    </a:solidFill>
                    <a:latin typeface="Cambria Math" panose="02040503050406030204" pitchFamily="18" charset="0"/>
                  </a:rPr>
                  <a:t>$S$</a:t>
                </a:r>
                <a:r>
                  <a:rPr sz="2400" b="0">
                    <a:solidFill>
                      <a:srgbClr val="111827"/>
                    </a:solidFill>
                    <a:latin typeface="Arial"/>
                  </a:rPr>
                  <a:t> is minimum there.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Required value: </a:t>
                </a:r>
                <a:r>
                  <a:rPr lang="en-IN" sz="2400">
                    <a:solidFill>
                      <a:srgbClr val="111827"/>
                    </a:solidFill>
                    <a:latin typeface="Cambria Math" panose="02040503050406030204" pitchFamily="18" charset="0"/>
                  </a:rPr>
                  <a:t>$\left(\frac4\pi+1\right)k=\left(\frac4\pi+1\right)x=8\cdot\frac92=36$</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36</a:t>
            </a:r>
            <a:endParaRPr sz="2800">
              <a:solidFill>
                <a:srgbClr val="15803D"/>
              </a:solidFill>
            </a:endParaRP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Cauchy-Schwarz on the perimeter condition </a:t>
                </a:r>
                <a14:m>
                  <m:oMath xmlns:m="http://schemas.openxmlformats.org/officeDocument/2006/math">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π</m:t>
                    </m:r>
                    <m:r>
                      <a:rPr lang="en-IN" sz="2400" i="1">
                        <a:solidFill>
                          <a:srgbClr val="78350F"/>
                        </a:solidFill>
                        <a:latin typeface="Cambria Math" panose="02040503050406030204" pitchFamily="18" charset="0"/>
                      </a:rPr>
                      <m:t>𝑟</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4</m:t>
                    </m:r>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36</m:t>
                    </m:r>
                  </m:oMath>
                </a14:m>
                <a:r>
                  <a:rPr sz="2400" b="0">
                    <a:solidFill>
                      <a:srgbClr val="78350F"/>
                    </a:solidFill>
                    <a:latin typeface="Arial"/>
                  </a:rPr>
                  <a:t> shows the minimum occurs at </a:t>
                </a:r>
                <a14:m>
                  <m:oMath xmlns:m="http://schemas.openxmlformats.org/officeDocument/2006/math">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𝑟</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Cauchy-Schwarz on the perimeter condition </a:t>
                </a:r>
                <a:r>
                  <a:rPr lang="en-IN" sz="2400">
                    <a:solidFill>
                      <a:srgbClr val="78350F"/>
                    </a:solidFill>
                    <a:latin typeface="Cambria Math" panose="02040503050406030204" pitchFamily="18" charset="0"/>
                  </a:rPr>
                  <a:t>$2\pi r+4a=36$</a:t>
                </a:r>
                <a:r>
                  <a:rPr sz="2400" b="0">
                    <a:solidFill>
                      <a:srgbClr val="78350F"/>
                    </a:solidFill>
                    <a:latin typeface="Arial"/>
                  </a:rPr>
                  <a:t> shows the minimum occurs at </a:t>
                </a:r>
                <a:r>
                  <a:rPr lang="en-IN" sz="2400">
                    <a:solidFill>
                      <a:srgbClr val="78350F"/>
                    </a:solidFill>
                    <a:latin typeface="Cambria Math" panose="02040503050406030204" pitchFamily="18" charset="0"/>
                  </a:rPr>
                  <a:t>$a=2r$</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Circle radius </a:t>
                </a:r>
                <a14:m>
                  <m:oMath xmlns:m="http://schemas.openxmlformats.org/officeDocument/2006/math">
                    <m:r>
                      <a:rPr lang="en-IN" sz="2400" i="1">
                        <a:solidFill>
                          <a:srgbClr val="111827"/>
                        </a:solidFill>
                        <a:latin typeface="Cambria Math" panose="02040503050406030204" pitchFamily="18" charset="0"/>
                      </a:rPr>
                      <m:t>𝑟</m:t>
                    </m:r>
                  </m:oMath>
                </a14:m>
                <a:r>
                  <a:rPr sz="2400" b="0">
                    <a:solidFill>
                      <a:srgbClr val="111827"/>
                    </a:solidFill>
                    <a:latin typeface="Arial"/>
                  </a:rPr>
                  <a:t>, square side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π</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oMath>
                </a14:m>
                <a:r>
                  <a:rPr sz="2400" b="0">
                    <a:solidFill>
                      <a:srgbClr val="111827"/>
                    </a:solidFill>
                    <a:latin typeface="Arial"/>
                  </a:rPr>
                  <a:t> and area </a:t>
                </a: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Cauchy-Schwarz: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π</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𝑎</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π</m:t>
                                </m:r>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π</m:t>
                                </m:r>
                              </m:e>
                            </m:rad>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36</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den>
                    </m:f>
                  </m:oMath>
                </a14:m>
                <a:r>
                  <a:rPr sz="2400" b="0">
                    <a:solidFill>
                      <a:srgbClr val="111827"/>
                    </a:solidFill>
                    <a:latin typeface="Arial"/>
                  </a:rPr>
                  <a:t>, with equality when </a:t>
                </a:r>
                <a14:m>
                  <m:oMath xmlns:m="http://schemas.openxmlformats.org/officeDocument/2006/math">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π</m:t>
                            </m:r>
                          </m:e>
                        </m:rad>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𝑟</m:t>
                        </m:r>
                      </m:num>
                      <m:den>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π</m:t>
                            </m:r>
                          </m:e>
                        </m:ra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𝑟</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Circle radius </a:t>
                </a:r>
                <a:r>
                  <a:rPr lang="en-IN" sz="2400">
                    <a:solidFill>
                      <a:srgbClr val="111827"/>
                    </a:solidFill>
                    <a:latin typeface="Cambria Math" panose="02040503050406030204" pitchFamily="18" charset="0"/>
                  </a:rPr>
                  <a:t>$r$</a:t>
                </a:r>
                <a:r>
                  <a:rPr sz="2400" b="0">
                    <a:solidFill>
                      <a:srgbClr val="111827"/>
                    </a:solidFill>
                    <a:latin typeface="Arial"/>
                  </a:rPr>
                  <a:t>, square side </a:t>
                </a:r>
                <a:r>
                  <a:rPr lang="en-IN" sz="2400">
                    <a:solidFill>
                      <a:srgbClr val="111827"/>
                    </a:solidFill>
                    <a:latin typeface="Cambria Math" panose="02040503050406030204" pitchFamily="18" charset="0"/>
                  </a:rPr>
                  <a:t>$a$</a:t>
                </a:r>
                <a:r>
                  <a:rPr sz="2400" b="0">
                    <a:solidFill>
                      <a:srgbClr val="111827"/>
                    </a:solidFill>
                    <a:latin typeface="Arial"/>
                  </a:rPr>
                  <a:t>: </a:t>
                </a:r>
                <a:r>
                  <a:rPr lang="en-IN" sz="2400">
                    <a:solidFill>
                      <a:srgbClr val="111827"/>
                    </a:solidFill>
                    <a:latin typeface="Cambria Math" panose="02040503050406030204" pitchFamily="18" charset="0"/>
                  </a:rPr>
                  <a:t>$2\pi r+4a=36$</a:t>
                </a:r>
                <a:r>
                  <a:rPr sz="2400" b="0">
                    <a:solidFill>
                      <a:srgbClr val="111827"/>
                    </a:solidFill>
                    <a:latin typeface="Arial"/>
                  </a:rPr>
                  <a:t> and area </a:t>
                </a:r>
                <a:r>
                  <a:rPr lang="en-IN" sz="2400">
                    <a:solidFill>
                      <a:srgbClr val="111827"/>
                    </a:solidFill>
                    <a:latin typeface="Cambria Math" panose="02040503050406030204" pitchFamily="18" charset="0"/>
                  </a:rPr>
                  <a:t>$S=\pi r^{2}+a^{2}$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Cauchy-Schwarz: </a:t>
                </a:r>
                <a:r>
                  <a:rPr lang="en-IN" sz="2400">
                    <a:solidFill>
                      <a:srgbClr val="111827"/>
                    </a:solidFill>
                    <a:latin typeface="Cambria Math" panose="02040503050406030204" pitchFamily="18" charset="0"/>
                  </a:rPr>
                  <a:t>$(2\pi r+4a)^{2}=\left(2\sqrt\pi\cdot\sqrt\pi\,r+4\cdot a\right)^{2}\le(4\pi+16)(\pi r^{2}+a^{2})$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$S\ge\frac{36^{2}}{4\pi+16}$</a:t>
                </a:r>
                <a:r>
                  <a:rPr sz="2400" b="0">
                    <a:solidFill>
                      <a:srgbClr val="111827"/>
                    </a:solidFill>
                    <a:latin typeface="Arial"/>
                  </a:rPr>
                  <a:t>, with equality when </a:t>
                </a:r>
                <a:r>
                  <a:rPr lang="en-IN" sz="2400">
                    <a:solidFill>
                      <a:srgbClr val="111827"/>
                    </a:solidFill>
                    <a:latin typeface="Cambria Math" panose="02040503050406030204" pitchFamily="18" charset="0"/>
                  </a:rPr>
                  <a:t>$\frac{\sqrt\pi\,r}{2\sqrt\pi}=\frac a4$</a:t>
                </a:r>
                <a:r>
                  <a:rPr sz="2400" b="0">
                    <a:solidFill>
                      <a:srgbClr val="111827"/>
                    </a:solidFill>
                    <a:latin typeface="Arial"/>
                  </a:rPr>
                  <a:t>, i.e. </a:t>
                </a:r>
                <a:r>
                  <a:rPr lang="en-IN" sz="2400">
                    <a:solidFill>
                      <a:srgbClr val="111827"/>
                    </a:solidFill>
                    <a:latin typeface="Cambria Math" panose="02040503050406030204" pitchFamily="18" charset="0"/>
                  </a:rPr>
                  <a:t>$a=2r$</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At the minimum </a:t>
                </a:r>
                <a14:m>
                  <m:oMath xmlns:m="http://schemas.openxmlformats.org/officeDocument/2006/math">
                    <m:r>
                      <a:rPr lang="en-IN" sz="2400" i="1">
                        <a:solidFill>
                          <a:srgbClr val="111827"/>
                        </a:solidFill>
                        <a:latin typeface="Cambria Math" panose="02040503050406030204" pitchFamily="18" charset="0"/>
                      </a:rPr>
                      <m:t>36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π</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π</m:t>
                    </m:r>
                    <m:r>
                      <a:rPr lang="en-IN" sz="2400" i="1">
                        <a:solidFill>
                          <a:srgbClr val="111827"/>
                        </a:solidFill>
                        <a:latin typeface="Cambria Math" panose="02040503050406030204" pitchFamily="18" charset="0"/>
                      </a:rPr>
                      <m:t>𝑟</m:t>
                    </m:r>
                  </m:oMath>
                </a14:m>
                <a:r>
                  <a:rPr sz="2400" b="0">
                    <a:solidFill>
                      <a:srgbClr val="111827"/>
                    </a:solidFill>
                    <a:latin typeface="Arial"/>
                  </a:rPr>
                  <a:t>, so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π</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d>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At the minimum </a:t>
                </a:r>
                <a:r>
                  <a:rPr lang="en-IN" sz="2400">
                    <a:solidFill>
                      <a:srgbClr val="111827"/>
                    </a:solidFill>
                    <a:latin typeface="Cambria Math" panose="02040503050406030204" pitchFamily="18" charset="0"/>
                  </a:rPr>
                  <a:t>$36=2\pi r+4(2r)=(2\pi+8)r$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$k=2\pi r$</a:t>
                </a:r>
                <a:r>
                  <a:rPr sz="2400" b="0">
                    <a:solidFill>
                      <a:srgbClr val="111827"/>
                    </a:solidFill>
                    <a:latin typeface="Arial"/>
                  </a:rPr>
                  <a:t>, so </a:t>
                </a:r>
                <a:r>
                  <a:rPr lang="en-IN" sz="2400">
                    <a:solidFill>
                      <a:srgbClr val="111827"/>
                    </a:solidFill>
                    <a:latin typeface="Cambria Math" panose="02040503050406030204" pitchFamily="18" charset="0"/>
                  </a:rPr>
                  <a:t>$\left(\frac4\pi+1\right)k=(8+2\pi)r=36$</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36</a:t>
            </a:r>
            <a:endParaRPr sz="2800">
              <a:solidFill>
                <a:srgbClr val="15803D"/>
              </a:solidFill>
            </a:endParaRP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Minimising </a:t>
                </a:r>
                <a14:m>
                  <m:oMath xmlns:m="http://schemas.openxmlformats.org/officeDocument/2006/math">
                    <m:r>
                      <a:rPr lang="en-IN" sz="2400" i="1">
                        <a:solidFill>
                          <a:srgbClr val="111827"/>
                        </a:solidFill>
                        <a:latin typeface="Cambria Math" panose="02040503050406030204" pitchFamily="18" charset="0"/>
                      </a:rPr>
                      <m:t>π</m:t>
                    </m:r>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subject to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π</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𝐿</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𝑟</m:t>
                    </m:r>
                  </m:oMath>
                </a14:m>
                <a:r>
                  <a:rPr sz="2400" b="0">
                    <a:solidFill>
                      <a:srgbClr val="111827"/>
                    </a:solidFill>
                    <a:latin typeface="Arial"/>
                  </a:rPr>
                  <a:t> (square side twice the circle radius), independent of </a:t>
                </a:r>
                <a14:m>
                  <m:oMath xmlns:m="http://schemas.openxmlformats.org/officeDocument/2006/math">
                    <m:r>
                      <a:rPr lang="en-IN" sz="2400" i="1">
                        <a:solidFill>
                          <a:srgbClr val="111827"/>
                        </a:solidFill>
                        <a:latin typeface="Cambria Math" panose="02040503050406030204" pitchFamily="18" charset="0"/>
                      </a:rPr>
                      <m:t>𝐿</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area of a circle plus a square for fixed total perimeter </a:t>
                </a:r>
                <a14:m>
                  <m:oMath xmlns:m="http://schemas.openxmlformats.org/officeDocument/2006/math">
                    <m:r>
                      <a:rPr lang="en-IN" sz="2400" i="1">
                        <a:solidFill>
                          <a:srgbClr val="111827"/>
                        </a:solidFill>
                        <a:latin typeface="Cambria Math" panose="02040503050406030204" pitchFamily="18" charset="0"/>
                      </a:rPr>
                      <m:t>𝐿</m:t>
                    </m:r>
                  </m:oMath>
                </a14:m>
                <a:r>
                  <a:rPr sz="2400" b="0">
                    <a:solidFill>
                      <a:srgbClr val="111827"/>
                    </a:solidFill>
                    <a:latin typeface="Arial"/>
                  </a:rPr>
                  <a:t> is minimised at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𝐿</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Equal-ratio rule: at the optimum,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1</m:t>
                            </m:r>
                          </m:sub>
                        </m:sSub>
                      </m:num>
                      <m:den>
                        <m:r>
                          <a:rPr lang="en-IN" sz="2400" i="1">
                            <a:solidFill>
                              <a:srgbClr val="111827"/>
                            </a:solidFill>
                            <a:latin typeface="Cambria Math" panose="02040503050406030204" pitchFamily="18" charset="0"/>
                          </a:rPr>
                          <m:t>𝑑</m:t>
                        </m:r>
                        <m:sSub>
                          <m:e>
                            <m:r>
                              <a:rPr lang="en-IN" sz="2400" i="1">
                                <a:solidFill>
                                  <a:srgbClr val="111827"/>
                                </a:solidFill>
                                <a:latin typeface="Cambria Math" panose="02040503050406030204" pitchFamily="18" charset="0"/>
                              </a:rPr>
                              <m:t>𝑝</m:t>
                            </m:r>
                          </m:e>
                          <m:sub>
                            <m:r>
                              <a:rPr lang="en-IN" sz="2400" i="1">
                                <a:solidFill>
                                  <a:srgbClr val="111827"/>
                                </a:solidFill>
                                <a:latin typeface="Cambria Math" panose="02040503050406030204" pitchFamily="18" charset="0"/>
                              </a:rPr>
                              <m:t>1</m:t>
                            </m:r>
                          </m:sub>
                        </m:sSub>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2</m:t>
                            </m:r>
                          </m:sub>
                        </m:sSub>
                      </m:num>
                      <m:den>
                        <m:r>
                          <a:rPr lang="en-IN" sz="2400" i="1">
                            <a:solidFill>
                              <a:srgbClr val="111827"/>
                            </a:solidFill>
                            <a:latin typeface="Cambria Math" panose="02040503050406030204" pitchFamily="18" charset="0"/>
                          </a:rPr>
                          <m:t>𝑑</m:t>
                        </m:r>
                        <m:sSub>
                          <m:e>
                            <m:r>
                              <a:rPr lang="en-IN" sz="2400" i="1">
                                <a:solidFill>
                                  <a:srgbClr val="111827"/>
                                </a:solidFill>
                                <a:latin typeface="Cambria Math" panose="02040503050406030204" pitchFamily="18" charset="0"/>
                              </a:rPr>
                              <m:t>𝑝</m:t>
                            </m:r>
                          </m:e>
                          <m:sub>
                            <m:r>
                              <a:rPr lang="en-IN" sz="2400" i="1">
                                <a:solidFill>
                                  <a:srgbClr val="111827"/>
                                </a:solidFill>
                                <a:latin typeface="Cambria Math" panose="02040503050406030204" pitchFamily="18" charset="0"/>
                              </a:rPr>
                              <m:t>2</m:t>
                            </m:r>
                          </m:sub>
                        </m:sSub>
                      </m:den>
                    </m:f>
                  </m:oMath>
                </a14:m>
                <a:r>
                  <a:rPr sz="2400" b="0">
                    <a:solidFill>
                      <a:srgbClr val="111827"/>
                    </a:solidFill>
                    <a:latin typeface="Arial"/>
                  </a:rPr>
                  <a:t> (marginal area per unit of wire is equal).</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sum of two convex terms under a linear constraint has a unique stationary point, which is the minimum.</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Minimising </a:t>
                </a:r>
                <a:r>
                  <a:rPr lang="en-IN" sz="2400">
                    <a:solidFill>
                      <a:srgbClr val="111827"/>
                    </a:solidFill>
                    <a:latin typeface="Cambria Math" panose="02040503050406030204" pitchFamily="18" charset="0"/>
                  </a:rPr>
                  <a:t>$\pi r^{2}+a^{2}$</a:t>
                </a:r>
                <a:r>
                  <a:rPr sz="2400" b="0">
                    <a:solidFill>
                      <a:srgbClr val="111827"/>
                    </a:solidFill>
                    <a:latin typeface="Arial"/>
                  </a:rPr>
                  <a:t> subject to </a:t>
                </a:r>
                <a:r>
                  <a:rPr lang="en-IN" sz="2400">
                    <a:solidFill>
                      <a:srgbClr val="111827"/>
                    </a:solidFill>
                    <a:latin typeface="Cambria Math" panose="02040503050406030204" pitchFamily="18" charset="0"/>
                  </a:rPr>
                  <a:t>$2\pi r+4a=L$</a:t>
                </a:r>
                <a:r>
                  <a:rPr sz="2400" b="0">
                    <a:solidFill>
                      <a:srgbClr val="111827"/>
                    </a:solidFill>
                    <a:latin typeface="Arial"/>
                  </a:rPr>
                  <a:t> gives </a:t>
                </a:r>
                <a:r>
                  <a:rPr lang="en-IN" sz="2400">
                    <a:solidFill>
                      <a:srgbClr val="111827"/>
                    </a:solidFill>
                    <a:latin typeface="Cambria Math" panose="02040503050406030204" pitchFamily="18" charset="0"/>
                  </a:rPr>
                  <a:t>$a=2r$</a:t>
                </a:r>
                <a:r>
                  <a:rPr sz="2400" b="0">
                    <a:solidFill>
                      <a:srgbClr val="111827"/>
                    </a:solidFill>
                    <a:latin typeface="Arial"/>
                  </a:rPr>
                  <a:t> (square side twice the circle radius), independent of </a:t>
                </a:r>
                <a:r>
                  <a:rPr lang="en-IN" sz="2400">
                    <a:solidFill>
                      <a:srgbClr val="111827"/>
                    </a:solidFill>
                    <a:latin typeface="Cambria Math" panose="02040503050406030204" pitchFamily="18" charset="0"/>
                  </a:rPr>
                  <a:t>$L$</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area of a circle plus a square for fixed total perimeter </a:t>
                </a:r>
                <a:r>
                  <a:rPr lang="en-IN" sz="2400">
                    <a:solidFill>
                      <a:srgbClr val="111827"/>
                    </a:solidFill>
                    <a:latin typeface="Cambria Math" panose="02040503050406030204" pitchFamily="18" charset="0"/>
                  </a:rPr>
                  <a:t>$L$</a:t>
                </a:r>
                <a:r>
                  <a:rPr sz="2400" b="0">
                    <a:solidFill>
                      <a:srgbClr val="111827"/>
                    </a:solidFill>
                    <a:latin typeface="Arial"/>
                  </a:rPr>
                  <a:t> is minimised at </a:t>
                </a:r>
                <a:r>
                  <a:rPr lang="en-IN" sz="2400">
                    <a:solidFill>
                      <a:srgbClr val="111827"/>
                    </a:solidFill>
                    <a:latin typeface="Cambria Math" panose="02040503050406030204" pitchFamily="18" charset="0"/>
                  </a:rPr>
                  <a:t>$\frac{L^{2}}{4(\pi+4)}$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Equal-ratio rule: at the optimum, </a:t>
                </a:r>
                <a:r>
                  <a:rPr lang="en-IN" sz="2400">
                    <a:solidFill>
                      <a:srgbClr val="111827"/>
                    </a:solidFill>
                    <a:latin typeface="Cambria Math" panose="02040503050406030204" pitchFamily="18" charset="0"/>
                  </a:rPr>
                  <a:t>$\frac{dA_1}{dp_1}=\frac{dA_2}{dp_2}$</a:t>
                </a:r>
                <a:r>
                  <a:rPr sz="2400" b="0">
                    <a:solidFill>
                      <a:srgbClr val="111827"/>
                    </a:solidFill>
                    <a:latin typeface="Arial"/>
                  </a:rPr>
                  <a:t> (marginal area per unit of wire is equal).</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sum of two convex terms under a linear constraint has a unique stationary point, which is the minimum.</a:t>
                </a:r>
                <a:endParaRPr sz="2400">
                  <a:solidFill>
                    <a:srgbClr val="111827"/>
                  </a:solidFill>
                </a:endParaRPr>
              </a:p>
            </p:txBody>
          </p:sp>
        </mc:Fallback>
      </mc:AlternateContent>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be a cubic polynomial with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and has a local minima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has a local minima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equal to ______.</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$f(x)$</a:t>
                </a:r>
                <a:r>
                  <a:rPr sz="2400" b="0">
                    <a:solidFill>
                      <a:srgbClr val="111827"/>
                    </a:solidFill>
                    <a:latin typeface="Arial"/>
                  </a:rPr>
                  <a:t> be a cubic polynomial with </a:t>
                </a:r>
                <a:r>
                  <a:rPr lang="en-IN" sz="2400">
                    <a:solidFill>
                      <a:srgbClr val="111827"/>
                    </a:solidFill>
                    <a:latin typeface="Cambria Math" panose="02040503050406030204" pitchFamily="18" charset="0"/>
                  </a:rPr>
                  <a:t>$f(1)=-10$</a:t>
                </a:r>
                <a:r>
                  <a:rPr sz="2400" b="0">
                    <a:solidFill>
                      <a:srgbClr val="111827"/>
                    </a:solidFill>
                    <a:latin typeface="Arial"/>
                  </a:rPr>
                  <a:t>, </a:t>
                </a:r>
                <a:r>
                  <a:rPr lang="en-IN" sz="2400">
                    <a:solidFill>
                      <a:srgbClr val="111827"/>
                    </a:solidFill>
                    <a:latin typeface="Cambria Math" panose="02040503050406030204" pitchFamily="18" charset="0"/>
                  </a:rPr>
                  <a:t>$f(-1)=6$</a:t>
                </a:r>
                <a:r>
                  <a:rPr sz="2400" b="0">
                    <a:solidFill>
                      <a:srgbClr val="111827"/>
                    </a:solidFill>
                    <a:latin typeface="Arial"/>
                  </a:rPr>
                  <a:t>, and has a local minima at </a:t>
                </a:r>
                <a:r>
                  <a:rPr lang="en-IN" sz="2400">
                    <a:solidFill>
                      <a:srgbClr val="111827"/>
                    </a:solidFill>
                    <a:latin typeface="Cambria Math" panose="02040503050406030204" pitchFamily="18" charset="0"/>
                  </a:rPr>
                  <a:t>$x=1$</a:t>
                </a:r>
                <a:r>
                  <a:rPr sz="2400" b="0">
                    <a:solidFill>
                      <a:srgbClr val="111827"/>
                    </a:solidFill>
                    <a:latin typeface="Arial"/>
                  </a:rPr>
                  <a:t>, and </a:t>
                </a:r>
                <a:r>
                  <a:rPr lang="en-IN" sz="2400">
                    <a:solidFill>
                      <a:srgbClr val="111827"/>
                    </a:solidFill>
                    <a:latin typeface="Cambria Math" panose="02040503050406030204" pitchFamily="18" charset="0"/>
                  </a:rPr>
                  <a:t>$f'(x)$</a:t>
                </a:r>
                <a:r>
                  <a:rPr sz="2400" b="0">
                    <a:solidFill>
                      <a:srgbClr val="111827"/>
                    </a:solidFill>
                    <a:latin typeface="Arial"/>
                  </a:rPr>
                  <a:t> has a local minima at </a:t>
                </a:r>
                <a:r>
                  <a:rPr lang="en-IN" sz="2400">
                    <a:solidFill>
                      <a:srgbClr val="111827"/>
                    </a:solidFill>
                    <a:latin typeface="Cambria Math" panose="02040503050406030204" pitchFamily="18" charset="0"/>
                  </a:rPr>
                  <a:t>$x=-1$</a:t>
                </a:r>
                <a:r>
                  <a:rPr sz="2400" b="0">
                    <a:solidFill>
                      <a:srgbClr val="111827"/>
                    </a:solidFill>
                    <a:latin typeface="Arial"/>
                  </a:rPr>
                  <a:t>. Then </a:t>
                </a:r>
                <a:r>
                  <a:rPr lang="en-IN" sz="2400">
                    <a:solidFill>
                      <a:srgbClr val="111827"/>
                    </a:solidFill>
                    <a:latin typeface="Cambria Math" panose="02040503050406030204" pitchFamily="18" charset="0"/>
                  </a:rPr>
                  <a:t>$f(3)$</a:t>
                </a:r>
                <a:r>
                  <a:rPr sz="2400" b="0">
                    <a:solidFill>
                      <a:srgbClr val="111827"/>
                    </a:solidFill>
                    <a:latin typeface="Arial"/>
                  </a:rPr>
                  <a:t> is equal to ______.</a:t>
                </a:r>
                <a:endParaRPr sz="2400">
                  <a:solidFill>
                    <a:srgbClr val="111827"/>
                  </a:solidFill>
                </a:endParaRPr>
              </a:p>
            </p:txBody>
          </p:sp>
        </mc:Fallback>
      </mc:AlternateContent>
      <p:sp>
        <p:nvSpPr>
          <p:cNvPr id="5" name="Rectangle 4"/>
          <p:cNvSpPr/>
          <p:nvPr/>
        </p:nvSpPr>
        <p:spPr>
          <a:xfrm>
            <a:off x="731520" y="324612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Local extrema of a cubic polynomial</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sSup>
                      <m:e>
                        <m:r>
                          <a:rPr lang="en-IN" sz="2400" i="1">
                            <a:solidFill>
                              <a:srgbClr val="78350F"/>
                            </a:solidFill>
                            <a:latin typeface="Cambria Math" panose="02040503050406030204" pitchFamily="18" charset="0"/>
                          </a:rPr>
                          <m:t>𝑓</m:t>
                        </m:r>
                      </m:e>
                      <m:sup>
                        <m:r>
                          <m:rPr>
                            <m:sty m:val="p"/>
                          </m:rPr>
                          <a:rPr lang="en-IN" sz="2400">
                            <a:solidFill>
                              <a:srgbClr val="78350F"/>
                            </a:solidFill>
                            <a:latin typeface="Cambria Math" panose="02040503050406030204" pitchFamily="18" charset="0"/>
                          </a:rPr>
                          <m:t>′</m:t>
                        </m:r>
                      </m:sup>
                    </m:sSup>
                  </m:oMath>
                </a14:m>
                <a:r>
                  <a:rPr sz="2400" b="0">
                    <a:solidFill>
                      <a:srgbClr val="78350F"/>
                    </a:solidFill>
                    <a:latin typeface="Arial"/>
                  </a:rPr>
                  <a:t> has a local minimum at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means </a:t>
                </a:r>
                <a14:m>
                  <m:oMath xmlns:m="http://schemas.openxmlformats.org/officeDocument/2006/math">
                    <m:sSup>
                      <m:e>
                        <m:r>
                          <a:rPr lang="en-IN" sz="2400" i="1">
                            <a:solidFill>
                              <a:srgbClr val="78350F"/>
                            </a:solidFill>
                            <a:latin typeface="Cambria Math" panose="02040503050406030204" pitchFamily="18" charset="0"/>
                          </a:rPr>
                          <m:t>𝑓</m:t>
                        </m:r>
                      </m:e>
                      <m:sup>
                        <m:r>
                          <m:rPr>
                            <m:sty m:val="p"/>
                          </m:rPr>
                          <a:rPr lang="en-IN" sz="2400">
                            <a:solidFill>
                              <a:srgbClr val="78350F"/>
                            </a:solidFill>
                            <a:latin typeface="Cambria Math" panose="02040503050406030204" pitchFamily="18" charset="0"/>
                          </a:rPr>
                          <m:t>″</m:t>
                        </m:r>
                      </m:sup>
                    </m:sSup>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oMath>
                </a14:m>
                <a:r>
                  <a:rPr sz="2400" b="0">
                    <a:solidFill>
                      <a:srgbClr val="78350F"/>
                    </a:solidFill>
                    <a:latin typeface="Arial"/>
                  </a:rPr>
                  <a:t>, which fixes </a:t>
                </a:r>
                <a14:m>
                  <m:oMath xmlns:m="http://schemas.openxmlformats.org/officeDocument/2006/math">
                    <m:sSup>
                      <m:e>
                        <m:r>
                          <a:rPr lang="en-IN" sz="2400" i="1">
                            <a:solidFill>
                              <a:srgbClr val="78350F"/>
                            </a:solidFill>
                            <a:latin typeface="Cambria Math" panose="02040503050406030204" pitchFamily="18" charset="0"/>
                          </a:rPr>
                          <m:t>𝑓</m:t>
                        </m:r>
                      </m:e>
                      <m:sup>
                        <m:r>
                          <m:rPr>
                            <m:sty m:val="p"/>
                          </m:rPr>
                          <a:rPr lang="en-IN" sz="2400">
                            <a:solidFill>
                              <a:srgbClr val="78350F"/>
                            </a:solidFill>
                            <a:latin typeface="Cambria Math" panose="02040503050406030204" pitchFamily="18" charset="0"/>
                          </a:rPr>
                          <m:t>″</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$f'$</a:t>
                </a:r>
                <a:r>
                  <a:rPr sz="2400" b="0">
                    <a:solidFill>
                      <a:srgbClr val="78350F"/>
                    </a:solidFill>
                    <a:latin typeface="Arial"/>
                  </a:rPr>
                  <a:t> has a local minimum at </a:t>
                </a:r>
                <a:r>
                  <a:rPr lang="en-IN" sz="2400">
                    <a:solidFill>
                      <a:srgbClr val="78350F"/>
                    </a:solidFill>
                    <a:latin typeface="Cambria Math" panose="02040503050406030204" pitchFamily="18" charset="0"/>
                  </a:rPr>
                  <a:t>$-1$</a:t>
                </a:r>
                <a:r>
                  <a:rPr sz="2400" b="0">
                    <a:solidFill>
                      <a:srgbClr val="78350F"/>
                    </a:solidFill>
                    <a:latin typeface="Arial"/>
                  </a:rPr>
                  <a:t> means </a:t>
                </a:r>
                <a:r>
                  <a:rPr lang="en-IN" sz="2400">
                    <a:solidFill>
                      <a:srgbClr val="78350F"/>
                    </a:solidFill>
                    <a:latin typeface="Cambria Math" panose="02040503050406030204" pitchFamily="18" charset="0"/>
                  </a:rPr>
                  <a:t>$f''(-1)=0$</a:t>
                </a:r>
                <a:r>
                  <a:rPr sz="2400" b="0">
                    <a:solidFill>
                      <a:srgbClr val="78350F"/>
                    </a:solidFill>
                    <a:latin typeface="Arial"/>
                  </a:rPr>
                  <a:t>, which fixes </a:t>
                </a:r>
                <a:r>
                  <a:rPr lang="en-IN" sz="2400">
                    <a:solidFill>
                      <a:srgbClr val="78350F"/>
                    </a:solidFill>
                    <a:latin typeface="Cambria Math" panose="02040503050406030204" pitchFamily="18" charset="0"/>
                  </a:rPr>
                  <a:t>$f''(x)=a(x+1)$</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has a local minimum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is cubic, so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Integrate: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Local minimum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gives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a:t>
                </a:r>
                <a:r>
                  <a:rPr sz="2400" b="0">
                    <a:solidFill>
                      <a:srgbClr val="111827"/>
                    </a:solidFill>
                    <a:latin typeface="Arial"/>
                  </a:rPr>
                  <a:t> has a local minimum at </a:t>
                </a:r>
                <a:r>
                  <a:rPr lang="en-IN" sz="2400">
                    <a:solidFill>
                      <a:srgbClr val="111827"/>
                    </a:solidFill>
                    <a:latin typeface="Cambria Math" panose="02040503050406030204" pitchFamily="18" charset="0"/>
                  </a:rPr>
                  <a:t>$x=-1$</a:t>
                </a:r>
                <a:r>
                  <a:rPr sz="2400" b="0">
                    <a:solidFill>
                      <a:srgbClr val="111827"/>
                    </a:solidFill>
                    <a:latin typeface="Arial"/>
                  </a:rPr>
                  <a:t>, so </a:t>
                </a:r>
                <a:r>
                  <a:rPr lang="en-IN" sz="2400">
                    <a:solidFill>
                      <a:srgbClr val="111827"/>
                    </a:solidFill>
                    <a:latin typeface="Cambria Math" panose="02040503050406030204" pitchFamily="18" charset="0"/>
                  </a:rPr>
                  <a:t>$f''(-1)=0$</a:t>
                </a:r>
                <a:r>
                  <a:rPr sz="2400" b="0">
                    <a:solidFill>
                      <a:srgbClr val="111827"/>
                    </a:solidFill>
                    <a:latin typeface="Arial"/>
                  </a:rPr>
                  <a:t>; </a:t>
                </a:r>
                <a:r>
                  <a:rPr lang="en-IN" sz="2400">
                    <a:solidFill>
                      <a:srgbClr val="111827"/>
                    </a:solidFill>
                    <a:latin typeface="Cambria Math" panose="02040503050406030204" pitchFamily="18" charset="0"/>
                  </a:rPr>
                  <a:t>$f$</a:t>
                </a:r>
                <a:r>
                  <a:rPr sz="2400" b="0">
                    <a:solidFill>
                      <a:srgbClr val="111827"/>
                    </a:solidFill>
                    <a:latin typeface="Arial"/>
                  </a:rPr>
                  <a:t> is cubic, so </a:t>
                </a:r>
                <a:r>
                  <a:rPr lang="en-IN" sz="2400">
                    <a:solidFill>
                      <a:srgbClr val="111827"/>
                    </a:solidFill>
                    <a:latin typeface="Cambria Math" panose="02040503050406030204" pitchFamily="18" charset="0"/>
                  </a:rPr>
                  <a:t>$f''(x)=a(x+1)$</a:t>
                </a:r>
                <a:r>
                  <a:rPr sz="2400" b="0">
                    <a:solidFill>
                      <a:srgbClr val="111827"/>
                    </a:solidFill>
                    <a:latin typeface="Arial"/>
                  </a:rPr>
                  <a:t> with </a:t>
                </a:r>
                <a:r>
                  <a:rPr lang="en-IN" sz="2400">
                    <a:solidFill>
                      <a:srgbClr val="111827"/>
                    </a:solidFill>
                    <a:latin typeface="Cambria Math" panose="02040503050406030204" pitchFamily="18" charset="0"/>
                  </a:rPr>
                  <a:t>$a&gt;0$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Integrate: </a:t>
                </a:r>
                <a:r>
                  <a:rPr lang="en-IN" sz="2400">
                    <a:solidFill>
                      <a:srgbClr val="111827"/>
                    </a:solidFill>
                    <a:latin typeface="Cambria Math" panose="02040503050406030204" pitchFamily="18" charset="0"/>
                  </a:rPr>
                  <a:t>$f'(x)=\frac{ax^{2}}{2}+ax+c$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Local minimum at </a:t>
                </a:r>
                <a:r>
                  <a:rPr lang="en-IN" sz="2400">
                    <a:solidFill>
                      <a:srgbClr val="111827"/>
                    </a:solidFill>
                    <a:latin typeface="Cambria Math" panose="02040503050406030204" pitchFamily="18" charset="0"/>
                  </a:rPr>
                  <a:t>$x=1$</a:t>
                </a:r>
                <a:r>
                  <a:rPr sz="2400" b="0">
                    <a:solidFill>
                      <a:srgbClr val="111827"/>
                    </a:solidFill>
                    <a:latin typeface="Arial"/>
                  </a:rPr>
                  <a:t> gives </a:t>
                </a:r>
                <a:r>
                  <a:rPr lang="en-IN" sz="2400">
                    <a:solidFill>
                      <a:srgbClr val="111827"/>
                    </a:solidFill>
                    <a:latin typeface="Cambria Math" panose="02040503050406030204" pitchFamily="18" charset="0"/>
                  </a:rPr>
                  <a:t>$f'(1)=0$</a:t>
                </a:r>
                <a:r>
                  <a:rPr sz="2400" b="0">
                    <a:solidFill>
                      <a:srgbClr val="111827"/>
                    </a:solidFill>
                    <a:latin typeface="Arial"/>
                  </a:rPr>
                  <a:t>: </a:t>
                </a:r>
                <a:r>
                  <a:rPr lang="en-IN" sz="2400">
                    <a:solidFill>
                      <a:srgbClr val="111827"/>
                    </a:solidFill>
                    <a:latin typeface="Cambria Math" panose="02040503050406030204" pitchFamily="18" charset="0"/>
                  </a:rPr>
                  <a:t>$\frac a2+a+c=0$</a:t>
                </a:r>
                <a:r>
                  <a:rPr sz="2400" b="0">
                    <a:solidFill>
                      <a:srgbClr val="111827"/>
                    </a:solidFill>
                    <a:latin typeface="Arial"/>
                  </a:rPr>
                  <a:t>, so </a:t>
                </a:r>
                <a:r>
                  <a:rPr lang="en-IN" sz="2400">
                    <a:solidFill>
                      <a:srgbClr val="111827"/>
                    </a:solidFill>
                    <a:latin typeface="Cambria Math" panose="02040503050406030204" pitchFamily="18" charset="0"/>
                  </a:rPr>
                  <a:t>$c=-\frac{3a}{2}$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$f'(x)=\frac{ax^{2}}{2}+ax-\frac{3a}{2}$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Integrate again: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oMath>
                </a14:m>
                <a:r>
                  <a:rPr sz="2400" b="0">
                    <a:solidFill>
                      <a:srgbClr val="111827"/>
                    </a:solidFill>
                    <a:latin typeface="Arial"/>
                  </a:rPr>
                  <a:t> (constant </a:t>
                </a:r>
                <a14:m>
                  <m:oMath xmlns:m="http://schemas.openxmlformats.org/officeDocument/2006/math">
                    <m:r>
                      <a:rPr lang="en-IN" sz="2400" i="1">
                        <a:solidFill>
                          <a:srgbClr val="111827"/>
                        </a:solidFill>
                        <a:latin typeface="Cambria Math" panose="02040503050406030204" pitchFamily="18" charset="0"/>
                      </a:rPr>
                      <m:t>𝑑</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Subtract: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16</m:t>
                        </m:r>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(check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is indeed a minimum).</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22</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Integrate again: </a:t>
                </a:r>
                <a:r>
                  <a:rPr lang="en-IN" sz="2400">
                    <a:solidFill>
                      <a:srgbClr val="111827"/>
                    </a:solidFill>
                    <a:latin typeface="Cambria Math" panose="02040503050406030204" pitchFamily="18" charset="0"/>
                  </a:rPr>
                  <a:t>$f(x)=\frac{ax^{3}}{6}+\frac{ax^{2}}{2}-\frac{3ax}{2}+d$</a:t>
                </a:r>
                <a:r>
                  <a:rPr sz="2400" b="0">
                    <a:solidFill>
                      <a:srgbClr val="111827"/>
                    </a:solidFill>
                    <a:latin typeface="Arial"/>
                  </a:rPr>
                  <a:t> (constant </a:t>
                </a:r>
                <a:r>
                  <a:rPr lang="en-IN" sz="2400">
                    <a:solidFill>
                      <a:srgbClr val="111827"/>
                    </a:solidFill>
                    <a:latin typeface="Cambria Math" panose="02040503050406030204" pitchFamily="18" charset="0"/>
                  </a:rPr>
                  <a:t>$d$</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$f(1)=-10$</a:t>
                </a:r>
                <a:r>
                  <a:rPr sz="2400" b="0">
                    <a:solidFill>
                      <a:srgbClr val="111827"/>
                    </a:solidFill>
                    <a:latin typeface="Arial"/>
                  </a:rPr>
                  <a:t>: </a:t>
                </a:r>
                <a:r>
                  <a:rPr lang="en-IN" sz="2400">
                    <a:solidFill>
                      <a:srgbClr val="111827"/>
                    </a:solidFill>
                    <a:latin typeface="Cambria Math" panose="02040503050406030204" pitchFamily="18" charset="0"/>
                  </a:rPr>
                  <a:t>$-\frac{5a}{6}+d=-10$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$f(-1)=6$</a:t>
                </a:r>
                <a:r>
                  <a:rPr sz="2400" b="0">
                    <a:solidFill>
                      <a:srgbClr val="111827"/>
                    </a:solidFill>
                    <a:latin typeface="Arial"/>
                  </a:rPr>
                  <a:t>: </a:t>
                </a:r>
                <a:r>
                  <a:rPr lang="en-IN" sz="2400">
                    <a:solidFill>
                      <a:srgbClr val="111827"/>
                    </a:solidFill>
                    <a:latin typeface="Cambria Math" panose="02040503050406030204" pitchFamily="18" charset="0"/>
                  </a:rPr>
                  <a:t>$\frac{11a}{6}+d=6$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Subtract: </a:t>
                </a:r>
                <a:r>
                  <a:rPr lang="en-IN" sz="2400">
                    <a:solidFill>
                      <a:srgbClr val="111827"/>
                    </a:solidFill>
                    <a:latin typeface="Cambria Math" panose="02040503050406030204" pitchFamily="18" charset="0"/>
                  </a:rPr>
                  <a:t>$\frac{16a}{6}=16$</a:t>
                </a:r>
                <a:r>
                  <a:rPr sz="2400" b="0">
                    <a:solidFill>
                      <a:srgbClr val="111827"/>
                    </a:solidFill>
                    <a:latin typeface="Arial"/>
                  </a:rPr>
                  <a:t>, so </a:t>
                </a:r>
                <a:r>
                  <a:rPr lang="en-IN" sz="2400">
                    <a:solidFill>
                      <a:srgbClr val="111827"/>
                    </a:solidFill>
                    <a:latin typeface="Cambria Math" panose="02040503050406030204" pitchFamily="18" charset="0"/>
                  </a:rPr>
                  <a:t>$a=6$</a:t>
                </a:r>
                <a:r>
                  <a:rPr sz="2400" b="0">
                    <a:solidFill>
                      <a:srgbClr val="111827"/>
                    </a:solidFill>
                    <a:latin typeface="Arial"/>
                  </a:rPr>
                  <a:t> and </a:t>
                </a:r>
                <a:r>
                  <a:rPr lang="en-IN" sz="2400">
                    <a:solidFill>
                      <a:srgbClr val="111827"/>
                    </a:solidFill>
                    <a:latin typeface="Cambria Math" panose="02040503050406030204" pitchFamily="18" charset="0"/>
                  </a:rPr>
                  <a:t>$d=-5$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$f(x)=x^{3}+3x^{2}-9x-5$</a:t>
                </a:r>
                <a:r>
                  <a:rPr sz="2400" b="0">
                    <a:solidFill>
                      <a:srgbClr val="111827"/>
                    </a:solidFill>
                    <a:latin typeface="Arial"/>
                  </a:rPr>
                  <a:t> (check </a:t>
                </a:r>
                <a:r>
                  <a:rPr lang="en-IN" sz="2400">
                    <a:solidFill>
                      <a:srgbClr val="111827"/>
                    </a:solidFill>
                    <a:latin typeface="Cambria Math" panose="02040503050406030204" pitchFamily="18" charset="0"/>
                  </a:rPr>
                  <a:t>$f''(1)=12&gt;0$</a:t>
                </a:r>
                <a:r>
                  <a:rPr sz="2400" b="0">
                    <a:solidFill>
                      <a:srgbClr val="111827"/>
                    </a:solidFill>
                    <a:latin typeface="Arial"/>
                  </a:rPr>
                  <a:t>, so </a:t>
                </a:r>
                <a:r>
                  <a:rPr lang="en-IN" sz="2400">
                    <a:solidFill>
                      <a:srgbClr val="111827"/>
                    </a:solidFill>
                    <a:latin typeface="Cambria Math" panose="02040503050406030204" pitchFamily="18" charset="0"/>
                  </a:rPr>
                  <a:t>$x=1$</a:t>
                </a:r>
                <a:r>
                  <a:rPr sz="2400" b="0">
                    <a:solidFill>
                      <a:srgbClr val="111827"/>
                    </a:solidFill>
                    <a:latin typeface="Arial"/>
                  </a:rPr>
                  <a:t> is indeed a minimum).</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$f(3)=27+27-27-5=22$</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22</a:t>
            </a:r>
            <a:endParaRPr sz="2800">
              <a:solidFill>
                <a:srgbClr val="15803D"/>
              </a:solidFill>
            </a:endParaRP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14:m>
                  <m:oMath xmlns:m="http://schemas.openxmlformats.org/officeDocument/2006/math">
                    <m:sSup>
                      <m:e>
                        <m:r>
                          <a:rPr lang="en-IN" sz="2400" i="1">
                            <a:solidFill>
                              <a:srgbClr val="78350F"/>
                            </a:solidFill>
                            <a:latin typeface="Cambria Math" panose="02040503050406030204" pitchFamily="18" charset="0"/>
                          </a:rPr>
                          <m:t>𝑓</m:t>
                        </m:r>
                      </m:e>
                      <m:sup>
                        <m:r>
                          <m:rPr>
                            <m:sty m:val="p"/>
                          </m:rPr>
                          <a:rPr lang="en-IN" sz="2400">
                            <a:solidFill>
                              <a:srgbClr val="78350F"/>
                            </a:solidFill>
                            <a:latin typeface="Cambria Math" panose="02040503050406030204" pitchFamily="18" charset="0"/>
                          </a:rPr>
                          <m:t>′</m:t>
                        </m:r>
                      </m:sup>
                    </m:sSup>
                  </m:oMath>
                </a14:m>
                <a:r>
                  <a:rPr sz="2400" b="0">
                    <a:solidFill>
                      <a:srgbClr val="78350F"/>
                    </a:solidFill>
                    <a:latin typeface="Arial"/>
                  </a:rPr>
                  <a:t> is a parabola with vertex at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and a root at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so by symmetry its other root is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lang="en-IN" sz="2400">
                    <a:solidFill>
                      <a:srgbClr val="78350F"/>
                    </a:solidFill>
                    <a:latin typeface="Cambria Math" panose="02040503050406030204" pitchFamily="18" charset="0"/>
                  </a:rPr>
                  <a:t>$f'$</a:t>
                </a:r>
                <a:r>
                  <a:rPr sz="2400" b="0">
                    <a:solidFill>
                      <a:srgbClr val="78350F"/>
                    </a:solidFill>
                    <a:latin typeface="Arial"/>
                  </a:rPr>
                  <a:t> is a parabola with vertex at </a:t>
                </a:r>
                <a:r>
                  <a:rPr lang="en-IN" sz="2400">
                    <a:solidFill>
                      <a:srgbClr val="78350F"/>
                    </a:solidFill>
                    <a:latin typeface="Cambria Math" panose="02040503050406030204" pitchFamily="18" charset="0"/>
                  </a:rPr>
                  <a:t>$x=-1$</a:t>
                </a:r>
                <a:r>
                  <a:rPr sz="2400" b="0">
                    <a:solidFill>
                      <a:srgbClr val="78350F"/>
                    </a:solidFill>
                    <a:latin typeface="Arial"/>
                  </a:rPr>
                  <a:t> and a root at </a:t>
                </a:r>
                <a:r>
                  <a:rPr lang="en-IN" sz="2400">
                    <a:solidFill>
                      <a:srgbClr val="78350F"/>
                    </a:solidFill>
                    <a:latin typeface="Cambria Math" panose="02040503050406030204" pitchFamily="18" charset="0"/>
                  </a:rPr>
                  <a:t>$x=1$</a:t>
                </a:r>
                <a:r>
                  <a:rPr sz="2400" b="0">
                    <a:solidFill>
                      <a:srgbClr val="78350F"/>
                    </a:solidFill>
                    <a:latin typeface="Arial"/>
                  </a:rPr>
                  <a:t>, so by symmetry its other root is </a:t>
                </a:r>
                <a:r>
                  <a:rPr lang="en-IN" sz="2400">
                    <a:solidFill>
                      <a:srgbClr val="78350F"/>
                    </a:solidFill>
                    <a:latin typeface="Cambria Math" panose="02040503050406030204" pitchFamily="18" charset="0"/>
                  </a:rPr>
                  <a:t>$x=-3$</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is quadratic with a local minimum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(the axis of the parabola) and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(minimum of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at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By symmetry about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the other root of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is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Integrate: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a:t>
                </a:r>
                <a:r>
                  <a:rPr sz="2400" b="0">
                    <a:solidFill>
                      <a:srgbClr val="111827"/>
                    </a:solidFill>
                    <a:latin typeface="Arial"/>
                  </a:rPr>
                  <a:t> is quadratic with a local minimum at </a:t>
                </a:r>
                <a:r>
                  <a:rPr lang="en-IN" sz="2400">
                    <a:solidFill>
                      <a:srgbClr val="111827"/>
                    </a:solidFill>
                    <a:latin typeface="Cambria Math" panose="02040503050406030204" pitchFamily="18" charset="0"/>
                  </a:rPr>
                  <a:t>$x=-1$</a:t>
                </a:r>
                <a:r>
                  <a:rPr sz="2400" b="0">
                    <a:solidFill>
                      <a:srgbClr val="111827"/>
                    </a:solidFill>
                    <a:latin typeface="Arial"/>
                  </a:rPr>
                  <a:t> (the axis of the parabola) and </a:t>
                </a:r>
                <a:r>
                  <a:rPr lang="en-IN" sz="2400">
                    <a:solidFill>
                      <a:srgbClr val="111827"/>
                    </a:solidFill>
                    <a:latin typeface="Cambria Math" panose="02040503050406030204" pitchFamily="18" charset="0"/>
                  </a:rPr>
                  <a:t>$f'(1)=0$</a:t>
                </a:r>
                <a:r>
                  <a:rPr sz="2400" b="0">
                    <a:solidFill>
                      <a:srgbClr val="111827"/>
                    </a:solidFill>
                    <a:latin typeface="Arial"/>
                  </a:rPr>
                  <a:t> (minimum of </a:t>
                </a:r>
                <a:r>
                  <a:rPr lang="en-IN" sz="2400">
                    <a:solidFill>
                      <a:srgbClr val="111827"/>
                    </a:solidFill>
                    <a:latin typeface="Cambria Math" panose="02040503050406030204" pitchFamily="18" charset="0"/>
                  </a:rPr>
                  <a:t>$f$</a:t>
                </a:r>
                <a:r>
                  <a:rPr sz="2400" b="0">
                    <a:solidFill>
                      <a:srgbClr val="111827"/>
                    </a:solidFill>
                    <a:latin typeface="Arial"/>
                  </a:rPr>
                  <a:t> at </a:t>
                </a:r>
                <a:r>
                  <a:rPr lang="en-IN" sz="2400">
                    <a:solidFill>
                      <a:srgbClr val="111827"/>
                    </a:solidFill>
                    <a:latin typeface="Cambria Math" panose="02040503050406030204" pitchFamily="18" charset="0"/>
                  </a:rPr>
                  <a:t>$1$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By symmetry about </a:t>
                </a:r>
                <a:r>
                  <a:rPr lang="en-IN" sz="2400">
                    <a:solidFill>
                      <a:srgbClr val="111827"/>
                    </a:solidFill>
                    <a:latin typeface="Cambria Math" panose="02040503050406030204" pitchFamily="18" charset="0"/>
                  </a:rPr>
                  <a:t>$x=-1$</a:t>
                </a:r>
                <a:r>
                  <a:rPr sz="2400" b="0">
                    <a:solidFill>
                      <a:srgbClr val="111827"/>
                    </a:solidFill>
                    <a:latin typeface="Arial"/>
                  </a:rPr>
                  <a:t>, the other root of </a:t>
                </a:r>
                <a:r>
                  <a:rPr lang="en-IN" sz="2400">
                    <a:solidFill>
                      <a:srgbClr val="111827"/>
                    </a:solidFill>
                    <a:latin typeface="Cambria Math" panose="02040503050406030204" pitchFamily="18" charset="0"/>
                  </a:rPr>
                  <a:t>$f'$</a:t>
                </a:r>
                <a:r>
                  <a:rPr sz="2400" b="0">
                    <a:solidFill>
                      <a:srgbClr val="111827"/>
                    </a:solidFill>
                    <a:latin typeface="Arial"/>
                  </a:rPr>
                  <a:t> is </a:t>
                </a:r>
                <a:r>
                  <a:rPr lang="en-IN" sz="2400">
                    <a:solidFill>
                      <a:srgbClr val="111827"/>
                    </a:solidFill>
                    <a:latin typeface="Cambria Math" panose="02040503050406030204" pitchFamily="18" charset="0"/>
                  </a:rPr>
                  <a:t>$-1-2=-3$</a:t>
                </a:r>
                <a:r>
                  <a:rPr sz="2400" b="0">
                    <a:solidFill>
                      <a:srgbClr val="111827"/>
                    </a:solidFill>
                    <a:latin typeface="Arial"/>
                  </a:rPr>
                  <a:t>. So </a:t>
                </a:r>
                <a:r>
                  <a:rPr lang="en-IN" sz="2400">
                    <a:solidFill>
                      <a:srgbClr val="111827"/>
                    </a:solidFill>
                    <a:latin typeface="Cambria Math" panose="02040503050406030204" pitchFamily="18" charset="0"/>
                  </a:rPr>
                  <a:t>$f'(x)=k(x-1)(x+3)$</a:t>
                </a:r>
                <a:r>
                  <a:rPr sz="2400" b="0">
                    <a:solidFill>
                      <a:srgbClr val="111827"/>
                    </a:solidFill>
                    <a:latin typeface="Arial"/>
                  </a:rPr>
                  <a:t>, </a:t>
                </a:r>
                <a:r>
                  <a:rPr lang="en-IN" sz="2400">
                    <a:solidFill>
                      <a:srgbClr val="111827"/>
                    </a:solidFill>
                    <a:latin typeface="Cambria Math" panose="02040503050406030204" pitchFamily="18" charset="0"/>
                  </a:rPr>
                  <a:t>$k&gt;0$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Integrate: </a:t>
                </a:r>
                <a:r>
                  <a:rPr lang="en-IN" sz="2400">
                    <a:solidFill>
                      <a:srgbClr val="111827"/>
                    </a:solidFill>
                    <a:latin typeface="Cambria Math" panose="02040503050406030204" pitchFamily="18" charset="0"/>
                  </a:rPr>
                  <a:t>$f(x)=k\left(\frac{x^{3}}{3}+x^{2}-3x\right)+d$</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𝑘</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𝑘</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𝑘</m:t>
                    </m:r>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r>
                          <a:rPr lang="en-IN" sz="2400" i="1">
                            <a:solidFill>
                              <a:srgbClr val="111827"/>
                            </a:solidFill>
                            <a:latin typeface="Cambria Math" panose="02040503050406030204" pitchFamily="18" charset="0"/>
                          </a:rPr>
                          <m:t>𝑘</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Subtract: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16</m:t>
                        </m:r>
                        <m:r>
                          <a:rPr lang="en-IN" sz="2400" i="1">
                            <a:solidFill>
                              <a:srgbClr val="111827"/>
                            </a:solidFill>
                            <a:latin typeface="Cambria Math" panose="02040503050406030204" pitchFamily="18" charset="0"/>
                          </a:rPr>
                          <m:t>𝑘</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22</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$f(1)=-10$</a:t>
                </a:r>
                <a:r>
                  <a:rPr sz="2400" b="0">
                    <a:solidFill>
                      <a:srgbClr val="111827"/>
                    </a:solidFill>
                    <a:latin typeface="Arial"/>
                  </a:rPr>
                  <a:t>: </a:t>
                </a:r>
                <a:r>
                  <a:rPr lang="en-IN" sz="2400">
                    <a:solidFill>
                      <a:srgbClr val="111827"/>
                    </a:solidFill>
                    <a:latin typeface="Cambria Math" panose="02040503050406030204" pitchFamily="18" charset="0"/>
                  </a:rPr>
                  <a:t>$k\left(\frac13+1-3\right)+d=-\frac{5k}{3}+d=-10$</a:t>
                </a:r>
                <a:r>
                  <a:rPr sz="2400" b="0">
                    <a:solidFill>
                      <a:srgbClr val="111827"/>
                    </a:solidFill>
                    <a:latin typeface="Arial"/>
                  </a:rPr>
                  <a:t>. </a:t>
                </a:r>
                <a:r>
                  <a:rPr lang="en-IN" sz="2400">
                    <a:solidFill>
                      <a:srgbClr val="111827"/>
                    </a:solidFill>
                    <a:latin typeface="Cambria Math" panose="02040503050406030204" pitchFamily="18" charset="0"/>
                  </a:rPr>
                  <a:t>$f(-1)=6$</a:t>
                </a:r>
                <a:r>
                  <a:rPr sz="2400" b="0">
                    <a:solidFill>
                      <a:srgbClr val="111827"/>
                    </a:solidFill>
                    <a:latin typeface="Arial"/>
                  </a:rPr>
                  <a:t>: </a:t>
                </a:r>
                <a:r>
                  <a:rPr lang="en-IN" sz="2400">
                    <a:solidFill>
                      <a:srgbClr val="111827"/>
                    </a:solidFill>
                    <a:latin typeface="Cambria Math" panose="02040503050406030204" pitchFamily="18" charset="0"/>
                  </a:rPr>
                  <a:t>$k\left(-\frac13+1+3\right)+d=\frac{11k}{3}+d=6$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Subtract: </a:t>
                </a:r>
                <a:r>
                  <a:rPr lang="en-IN" sz="2400">
                    <a:solidFill>
                      <a:srgbClr val="111827"/>
                    </a:solidFill>
                    <a:latin typeface="Cambria Math" panose="02040503050406030204" pitchFamily="18" charset="0"/>
                  </a:rPr>
                  <a:t>$\frac{16k}{3}=16$</a:t>
                </a:r>
                <a:r>
                  <a:rPr sz="2400" b="0">
                    <a:solidFill>
                      <a:srgbClr val="111827"/>
                    </a:solidFill>
                    <a:latin typeface="Arial"/>
                  </a:rPr>
                  <a:t>, so </a:t>
                </a:r>
                <a:r>
                  <a:rPr lang="en-IN" sz="2400">
                    <a:solidFill>
                      <a:srgbClr val="111827"/>
                    </a:solidFill>
                    <a:latin typeface="Cambria Math" panose="02040503050406030204" pitchFamily="18" charset="0"/>
                  </a:rPr>
                  <a:t>$k=3$</a:t>
                </a:r>
                <a:r>
                  <a:rPr sz="2400" b="0">
                    <a:solidFill>
                      <a:srgbClr val="111827"/>
                    </a:solidFill>
                    <a:latin typeface="Arial"/>
                  </a:rPr>
                  <a:t> and </a:t>
                </a:r>
                <a:r>
                  <a:rPr lang="en-IN" sz="2400">
                    <a:solidFill>
                      <a:srgbClr val="111827"/>
                    </a:solidFill>
                    <a:latin typeface="Cambria Math" panose="02040503050406030204" pitchFamily="18" charset="0"/>
                  </a:rPr>
                  <a:t>$d=-5$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$f(3)=3(9+9-9)-5=22$</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22</a:t>
            </a:r>
            <a:endParaRPr sz="2800">
              <a:solidFill>
                <a:srgbClr val="15803D"/>
              </a:solidFill>
            </a:endParaRP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a quadratic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has a local minimum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oMath>
                </a14:m>
                <a:r>
                  <a:rPr sz="2400" b="0">
                    <a:solidFill>
                      <a:srgbClr val="111827"/>
                    </a:solidFill>
                    <a:latin typeface="Arial"/>
                  </a:rPr>
                  <a:t>, its axis is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oMath>
                </a14:m>
                <a:r>
                  <a:rPr sz="2400" b="0">
                    <a:solidFill>
                      <a:srgbClr val="111827"/>
                    </a:solidFill>
                    <a:latin typeface="Arial"/>
                  </a:rPr>
                  <a:t> and its roots are symmetric about </a:t>
                </a:r>
                <a14:m>
                  <m:oMath xmlns:m="http://schemas.openxmlformats.org/officeDocument/2006/math">
                    <m:r>
                      <a:rPr lang="en-IN" sz="2400" i="1">
                        <a:solidFill>
                          <a:srgbClr val="111827"/>
                        </a:solidFill>
                        <a:latin typeface="Cambria Math" panose="02040503050406030204" pitchFamily="18" charset="0"/>
                      </a:rPr>
                      <m:t>𝑚</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Local minimum of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oMath>
                </a14:m>
                <a:r>
                  <a:rPr sz="2400" b="0">
                    <a:solidFill>
                      <a:srgbClr val="111827"/>
                    </a:solidFill>
                    <a:latin typeface="Arial"/>
                  </a:rPr>
                  <a:t> means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with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for a cubic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𝑚</m:t>
                    </m:r>
                  </m:oMath>
                </a14:m>
                <a:r>
                  <a:rPr sz="2400" b="0">
                    <a:solidFill>
                      <a:srgbClr val="111827"/>
                    </a:solidFill>
                    <a:latin typeface="Arial"/>
                  </a:rPr>
                  <a:t> is the point of inflection of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cubic's point of inflection is the midpoint of its two critical points (and of any two symmetric points).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Build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from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by integrating twice, keeping a separate constant at each stage.</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a quadratic </a:t>
                </a:r>
                <a:r>
                  <a:rPr lang="en-IN" sz="2400">
                    <a:solidFill>
                      <a:srgbClr val="111827"/>
                    </a:solidFill>
                    <a:latin typeface="Cambria Math" panose="02040503050406030204" pitchFamily="18" charset="0"/>
                  </a:rPr>
                  <a:t>$f'$</a:t>
                </a:r>
                <a:r>
                  <a:rPr sz="2400" b="0">
                    <a:solidFill>
                      <a:srgbClr val="111827"/>
                    </a:solidFill>
                    <a:latin typeface="Arial"/>
                  </a:rPr>
                  <a:t> has a local minimum at </a:t>
                </a:r>
                <a:r>
                  <a:rPr lang="en-IN" sz="2400">
                    <a:solidFill>
                      <a:srgbClr val="111827"/>
                    </a:solidFill>
                    <a:latin typeface="Cambria Math" panose="02040503050406030204" pitchFamily="18" charset="0"/>
                  </a:rPr>
                  <a:t>$x=m$</a:t>
                </a:r>
                <a:r>
                  <a:rPr sz="2400" b="0">
                    <a:solidFill>
                      <a:srgbClr val="111827"/>
                    </a:solidFill>
                    <a:latin typeface="Arial"/>
                  </a:rPr>
                  <a:t>, its axis is </a:t>
                </a:r>
                <a:r>
                  <a:rPr lang="en-IN" sz="2400">
                    <a:solidFill>
                      <a:srgbClr val="111827"/>
                    </a:solidFill>
                    <a:latin typeface="Cambria Math" panose="02040503050406030204" pitchFamily="18" charset="0"/>
                  </a:rPr>
                  <a:t>$x=m$</a:t>
                </a:r>
                <a:r>
                  <a:rPr sz="2400" b="0">
                    <a:solidFill>
                      <a:srgbClr val="111827"/>
                    </a:solidFill>
                    <a:latin typeface="Arial"/>
                  </a:rPr>
                  <a:t> and its roots are symmetric about </a:t>
                </a:r>
                <a:r>
                  <a:rPr lang="en-IN" sz="2400">
                    <a:solidFill>
                      <a:srgbClr val="111827"/>
                    </a:solidFill>
                    <a:latin typeface="Cambria Math" panose="02040503050406030204" pitchFamily="18" charset="0"/>
                  </a:rPr>
                  <a:t>$m$</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Local minimum of </a:t>
                </a:r>
                <a:r>
                  <a:rPr lang="en-IN" sz="2400">
                    <a:solidFill>
                      <a:srgbClr val="111827"/>
                    </a:solidFill>
                    <a:latin typeface="Cambria Math" panose="02040503050406030204" pitchFamily="18" charset="0"/>
                  </a:rPr>
                  <a:t>$f'$</a:t>
                </a:r>
                <a:r>
                  <a:rPr sz="2400" b="0">
                    <a:solidFill>
                      <a:srgbClr val="111827"/>
                    </a:solidFill>
                    <a:latin typeface="Arial"/>
                  </a:rPr>
                  <a:t> at </a:t>
                </a:r>
                <a:r>
                  <a:rPr lang="en-IN" sz="2400">
                    <a:solidFill>
                      <a:srgbClr val="111827"/>
                    </a:solidFill>
                    <a:latin typeface="Cambria Math" panose="02040503050406030204" pitchFamily="18" charset="0"/>
                  </a:rPr>
                  <a:t>$x=m$</a:t>
                </a:r>
                <a:r>
                  <a:rPr sz="2400" b="0">
                    <a:solidFill>
                      <a:srgbClr val="111827"/>
                    </a:solidFill>
                    <a:latin typeface="Arial"/>
                  </a:rPr>
                  <a:t> means </a:t>
                </a:r>
                <a:r>
                  <a:rPr lang="en-IN" sz="2400">
                    <a:solidFill>
                      <a:srgbClr val="111827"/>
                    </a:solidFill>
                    <a:latin typeface="Cambria Math" panose="02040503050406030204" pitchFamily="18" charset="0"/>
                  </a:rPr>
                  <a:t>$f''(m)=0$</a:t>
                </a:r>
                <a:r>
                  <a:rPr sz="2400" b="0">
                    <a:solidFill>
                      <a:srgbClr val="111827"/>
                    </a:solidFill>
                    <a:latin typeface="Arial"/>
                  </a:rPr>
                  <a:t> with </a:t>
                </a:r>
                <a:r>
                  <a:rPr lang="en-IN" sz="2400">
                    <a:solidFill>
                      <a:srgbClr val="111827"/>
                    </a:solidFill>
                    <a:latin typeface="Cambria Math" panose="02040503050406030204" pitchFamily="18" charset="0"/>
                  </a:rPr>
                  <a:t>$f'''(m)&gt;0$</a:t>
                </a:r>
                <a:r>
                  <a:rPr sz="2400" b="0">
                    <a:solidFill>
                      <a:srgbClr val="111827"/>
                    </a:solidFill>
                    <a:latin typeface="Arial"/>
                  </a:rPr>
                  <a:t>: for a cubic </a:t>
                </a:r>
                <a:r>
                  <a:rPr lang="en-IN" sz="2400">
                    <a:solidFill>
                      <a:srgbClr val="111827"/>
                    </a:solidFill>
                    <a:latin typeface="Cambria Math" panose="02040503050406030204" pitchFamily="18" charset="0"/>
                  </a:rPr>
                  <a:t>$f$</a:t>
                </a:r>
                <a:r>
                  <a:rPr sz="2400" b="0">
                    <a:solidFill>
                      <a:srgbClr val="111827"/>
                    </a:solidFill>
                    <a:latin typeface="Arial"/>
                  </a:rPr>
                  <a:t>, </a:t>
                </a:r>
                <a:r>
                  <a:rPr lang="en-IN" sz="2400">
                    <a:solidFill>
                      <a:srgbClr val="111827"/>
                    </a:solidFill>
                    <a:latin typeface="Cambria Math" panose="02040503050406030204" pitchFamily="18" charset="0"/>
                  </a:rPr>
                  <a:t>$m$</a:t>
                </a:r>
                <a:r>
                  <a:rPr sz="2400" b="0">
                    <a:solidFill>
                      <a:srgbClr val="111827"/>
                    </a:solidFill>
                    <a:latin typeface="Arial"/>
                  </a:rPr>
                  <a:t> is the point of inflection of </a:t>
                </a:r>
                <a:r>
                  <a:rPr lang="en-IN" sz="2400">
                    <a:solidFill>
                      <a:srgbClr val="111827"/>
                    </a:solidFill>
                    <a:latin typeface="Cambria Math" panose="02040503050406030204" pitchFamily="18" charset="0"/>
                  </a:rPr>
                  <a:t>$f$</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cubic's point of inflection is the midpoint of its two critical points (and of any two symmetric points).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Build </a:t>
                </a:r>
                <a:r>
                  <a:rPr lang="en-IN" sz="2400">
                    <a:solidFill>
                      <a:srgbClr val="111827"/>
                    </a:solidFill>
                    <a:latin typeface="Cambria Math" panose="02040503050406030204" pitchFamily="18" charset="0"/>
                  </a:rPr>
                  <a:t>$f$</a:t>
                </a:r>
                <a:r>
                  <a:rPr sz="2400" b="0">
                    <a:solidFill>
                      <a:srgbClr val="111827"/>
                    </a:solidFill>
                    <a:latin typeface="Arial"/>
                  </a:rPr>
                  <a:t> from </a:t>
                </a:r>
                <a:r>
                  <a:rPr lang="en-IN" sz="2400">
                    <a:solidFill>
                      <a:srgbClr val="111827"/>
                    </a:solidFill>
                    <a:latin typeface="Cambria Math" panose="02040503050406030204" pitchFamily="18" charset="0"/>
                  </a:rPr>
                  <a:t>$f''$</a:t>
                </a:r>
                <a:r>
                  <a:rPr sz="2400" b="0">
                    <a:solidFill>
                      <a:srgbClr val="111827"/>
                    </a:solidFill>
                    <a:latin typeface="Arial"/>
                  </a:rPr>
                  <a:t> by integrating twice, keeping a separate constant at each stage.</a:t>
                </a:r>
                <a:endParaRPr sz="2400">
                  <a:solidFill>
                    <a:srgbClr val="111827"/>
                  </a:solidFill>
                </a:endParaRPr>
              </a:p>
            </p:txBody>
          </p:sp>
        </mc:Fallback>
      </mc:AlternateContent>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731520" y="1280160"/>
            <a:ext cx="10725912" cy="244348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surface area of a balloon of spherical shape being inflated increases at a constant rate. If initially the radius of the balloon is 3 units and after 5 seconds it becomes 7 units, then its radius after 9 seconds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9 unit   (B) 10 unit   (C) 11 unit   (D) 12 unit</a:t>
            </a:r>
            <a:endParaRPr sz="2400">
              <a:solidFill>
                <a:srgbClr val="111827"/>
              </a:solidFill>
            </a:endParaRPr>
          </a:p>
        </p:txBody>
      </p:sp>
      <p:sp>
        <p:nvSpPr>
          <p:cNvPr id="5" name="Rectangle 4"/>
          <p:cNvSpPr/>
          <p:nvPr/>
        </p:nvSpPr>
        <p:spPr>
          <a:xfrm>
            <a:off x="731520" y="3952239"/>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Rate of change (related rates)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A constant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𝑑</m:t>
                        </m:r>
                        <m:r>
                          <a:rPr lang="en-IN" sz="2400" i="1">
                            <a:solidFill>
                              <a:srgbClr val="78350F"/>
                            </a:solidFill>
                            <a:latin typeface="Cambria Math" panose="02040503050406030204" pitchFamily="18" charset="0"/>
                          </a:rPr>
                          <m:t>𝑆</m:t>
                        </m:r>
                      </m:num>
                      <m:den>
                        <m:r>
                          <a:rPr lang="en-IN" sz="2400" i="1">
                            <a:solidFill>
                              <a:srgbClr val="78350F"/>
                            </a:solidFill>
                            <a:latin typeface="Cambria Math" panose="02040503050406030204" pitchFamily="18" charset="0"/>
                          </a:rPr>
                          <m:t>𝑑</m:t>
                        </m:r>
                        <m:r>
                          <a:rPr lang="en-IN" sz="2400" i="1">
                            <a:solidFill>
                              <a:srgbClr val="78350F"/>
                            </a:solidFill>
                            <a:latin typeface="Cambria Math" panose="02040503050406030204" pitchFamily="18" charset="0"/>
                          </a:rPr>
                          <m:t>𝑡</m:t>
                        </m:r>
                      </m:den>
                    </m:f>
                  </m:oMath>
                </a14:m>
                <a:r>
                  <a:rPr sz="2400" b="0">
                    <a:solidFill>
                      <a:srgbClr val="78350F"/>
                    </a:solidFill>
                    <a:latin typeface="Arial"/>
                  </a:rPr>
                  <a:t> with </a:t>
                </a:r>
                <a14:m>
                  <m:oMath xmlns:m="http://schemas.openxmlformats.org/officeDocument/2006/math">
                    <m:r>
                      <a:rPr lang="en-IN" sz="2400" i="1">
                        <a:solidFill>
                          <a:srgbClr val="78350F"/>
                        </a:solidFill>
                        <a:latin typeface="Cambria Math" panose="02040503050406030204" pitchFamily="18" charset="0"/>
                      </a:rPr>
                      <m:t>𝑆</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4</m:t>
                    </m:r>
                    <m:r>
                      <a:rPr lang="en-IN" sz="2400" i="1">
                        <a:solidFill>
                          <a:srgbClr val="78350F"/>
                        </a:solidFill>
                        <a:latin typeface="Cambria Math" panose="02040503050406030204" pitchFamily="18" charset="0"/>
                      </a:rPr>
                      <m:t>π</m:t>
                    </m:r>
                    <m:sSup>
                      <m:e>
                        <m:r>
                          <a:rPr lang="en-IN" sz="2400" i="1">
                            <a:solidFill>
                              <a:srgbClr val="78350F"/>
                            </a:solidFill>
                            <a:latin typeface="Cambria Math" panose="02040503050406030204" pitchFamily="18" charset="0"/>
                          </a:rPr>
                          <m:t>𝑟</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 gives </a:t>
                </a:r>
                <a14:m>
                  <m:oMath xmlns:m="http://schemas.openxmlformats.org/officeDocument/2006/math">
                    <m:r>
                      <a:rPr lang="en-IN" sz="2400" i="1">
                        <a:solidFill>
                          <a:srgbClr val="78350F"/>
                        </a:solidFill>
                        <a:latin typeface="Cambria Math" panose="02040503050406030204" pitchFamily="18" charset="0"/>
                      </a:rPr>
                      <m:t>𝑟</m:t>
                    </m:r>
                    <m:r>
                      <a:rPr lang="en-IN" sz="2400" i="1">
                        <a:solidFill>
                          <a:srgbClr val="78350F"/>
                        </a:solidFill>
                        <a:latin typeface="Cambria Math" panose="02040503050406030204" pitchFamily="18" charset="0"/>
                      </a:rPr>
                      <m:t> </m:t>
                    </m:r>
                    <m:r>
                      <a:rPr lang="en-IN" sz="2400" i="1">
                        <a:solidFill>
                          <a:srgbClr val="78350F"/>
                        </a:solidFill>
                        <a:latin typeface="Cambria Math" panose="02040503050406030204" pitchFamily="18" charset="0"/>
                      </a:rPr>
                      <m:t>𝑑</m:t>
                    </m:r>
                    <m:r>
                      <a:rPr lang="en-IN" sz="2400" i="1">
                        <a:solidFill>
                          <a:srgbClr val="78350F"/>
                        </a:solidFill>
                        <a:latin typeface="Cambria Math" panose="02040503050406030204" pitchFamily="18" charset="0"/>
                      </a:rPr>
                      <m:t>𝑟</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𝑑</m:t>
                    </m:r>
                    <m:r>
                      <a:rPr lang="en-IN" sz="2400" i="1">
                        <a:solidFill>
                          <a:srgbClr val="78350F"/>
                        </a:solidFill>
                        <a:latin typeface="Cambria Math" panose="02040503050406030204" pitchFamily="18" charset="0"/>
                      </a:rPr>
                      <m:t>𝑡</m:t>
                    </m:r>
                  </m:oMath>
                </a14:m>
                <a:r>
                  <a:rPr sz="2400" b="0">
                    <a:solidFill>
                      <a:srgbClr val="78350F"/>
                    </a:solidFill>
                    <a:latin typeface="Arial"/>
                  </a:rPr>
                  <a:t>, so </a:t>
                </a:r>
                <a14:m>
                  <m:oMath xmlns:m="http://schemas.openxmlformats.org/officeDocument/2006/math">
                    <m:sSup>
                      <m:e>
                        <m:r>
                          <a:rPr lang="en-IN" sz="2400" i="1">
                            <a:solidFill>
                              <a:srgbClr val="78350F"/>
                            </a:solidFill>
                            <a:latin typeface="Cambria Math" panose="02040503050406030204" pitchFamily="18" charset="0"/>
                          </a:rPr>
                          <m:t>𝑟</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 is linear in </a:t>
                </a:r>
                <a14:m>
                  <m:oMath xmlns:m="http://schemas.openxmlformats.org/officeDocument/2006/math">
                    <m:r>
                      <a:rPr lang="en-IN" sz="2400" i="1">
                        <a:solidFill>
                          <a:srgbClr val="78350F"/>
                        </a:solidFill>
                        <a:latin typeface="Cambria Math" panose="02040503050406030204" pitchFamily="18" charset="0"/>
                      </a:rPr>
                      <m:t>𝑡</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A constant </a:t>
                </a:r>
                <a:r>
                  <a:rPr lang="en-IN" sz="2400">
                    <a:solidFill>
                      <a:srgbClr val="78350F"/>
                    </a:solidFill>
                    <a:latin typeface="Cambria Math" panose="02040503050406030204" pitchFamily="18" charset="0"/>
                  </a:rPr>
                  <a:t>$\frac{dS}{dt}$</a:t>
                </a:r>
                <a:r>
                  <a:rPr sz="2400" b="0">
                    <a:solidFill>
                      <a:srgbClr val="78350F"/>
                    </a:solidFill>
                    <a:latin typeface="Arial"/>
                  </a:rPr>
                  <a:t> with </a:t>
                </a:r>
                <a:r>
                  <a:rPr lang="en-IN" sz="2400">
                    <a:solidFill>
                      <a:srgbClr val="78350F"/>
                    </a:solidFill>
                    <a:latin typeface="Cambria Math" panose="02040503050406030204" pitchFamily="18" charset="0"/>
                  </a:rPr>
                  <a:t>$S=4\pi r^2$</a:t>
                </a:r>
                <a:r>
                  <a:rPr sz="2400" b="0">
                    <a:solidFill>
                      <a:srgbClr val="78350F"/>
                    </a:solidFill>
                    <a:latin typeface="Arial"/>
                  </a:rPr>
                  <a:t> gives </a:t>
                </a:r>
                <a:r>
                  <a:rPr lang="en-IN" sz="2400">
                    <a:solidFill>
                      <a:srgbClr val="78350F"/>
                    </a:solidFill>
                    <a:latin typeface="Cambria Math" panose="02040503050406030204" pitchFamily="18" charset="0"/>
                  </a:rPr>
                  <a:t>$r\,dr\propto dt$</a:t>
                </a:r>
                <a:r>
                  <a:rPr sz="2400" b="0">
                    <a:solidFill>
                      <a:srgbClr val="78350F"/>
                    </a:solidFill>
                    <a:latin typeface="Arial"/>
                  </a:rPr>
                  <a:t>, so </a:t>
                </a:r>
                <a:r>
                  <a:rPr lang="en-IN" sz="2400">
                    <a:solidFill>
                      <a:srgbClr val="78350F"/>
                    </a:solidFill>
                    <a:latin typeface="Cambria Math" panose="02040503050406030204" pitchFamily="18" charset="0"/>
                  </a:rPr>
                  <a:t>$r^2$</a:t>
                </a:r>
                <a:r>
                  <a:rPr sz="2400" b="0">
                    <a:solidFill>
                      <a:srgbClr val="78350F"/>
                    </a:solidFill>
                    <a:latin typeface="Arial"/>
                  </a:rPr>
                  <a:t> is linear in </a:t>
                </a:r>
                <a:r>
                  <a:rPr lang="en-IN" sz="2400">
                    <a:solidFill>
                      <a:srgbClr val="78350F"/>
                    </a:solidFill>
                    <a:latin typeface="Cambria Math" panose="02040503050406030204" pitchFamily="18" charset="0"/>
                  </a:rPr>
                  <a:t>$t$</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Surface area </a:t>
                </a: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π</m:t>
                    </m:r>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and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𝑆</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oMath>
                </a14:m>
                <a:r>
                  <a:rPr sz="2400" b="0">
                    <a:solidFill>
                      <a:srgbClr val="111827"/>
                    </a:solidFill>
                    <a:latin typeface="Arial"/>
                  </a:rPr>
                  <a:t> (constant).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Differentiate: </a:t>
                </a:r>
                <a14:m>
                  <m:oMath xmlns:m="http://schemas.openxmlformats.org/officeDocument/2006/math">
                    <m:r>
                      <a:rPr lang="en-IN" sz="2400" i="1">
                        <a:solidFill>
                          <a:srgbClr val="111827"/>
                        </a:solidFill>
                        <a:latin typeface="Cambria Math" panose="02040503050406030204" pitchFamily="18" charset="0"/>
                      </a:rPr>
                      <m:t>8</m:t>
                    </m:r>
                    <m:r>
                      <a:rPr lang="en-IN" sz="2400" i="1">
                        <a:solidFill>
                          <a:srgbClr val="111827"/>
                        </a:solidFill>
                        <a:latin typeface="Cambria Math" panose="02040503050406030204" pitchFamily="18" charset="0"/>
                      </a:rPr>
                      <m:t>π</m:t>
                    </m:r>
                    <m:r>
                      <a:rPr lang="en-IN" sz="2400" i="1">
                        <a:solidFill>
                          <a:srgbClr val="111827"/>
                        </a:solidFill>
                        <a:latin typeface="Cambria Math" panose="02040503050406030204" pitchFamily="18" charset="0"/>
                      </a:rPr>
                      <m:t>𝑟</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𝑟</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Separate variables: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𝑘</m:t>
                        </m:r>
                      </m:num>
                      <m:den>
                        <m:r>
                          <a:rPr lang="en-IN" sz="2400" i="1">
                            <a:solidFill>
                              <a:srgbClr val="111827"/>
                            </a:solidFill>
                            <a:latin typeface="Cambria Math" panose="02040503050406030204" pitchFamily="18" charset="0"/>
                          </a:rPr>
                          <m:t>8</m:t>
                        </m:r>
                        <m:r>
                          <a:rPr lang="en-IN" sz="2400" i="1">
                            <a:solidFill>
                              <a:srgbClr val="111827"/>
                            </a:solidFill>
                            <a:latin typeface="Cambria Math" panose="02040503050406030204" pitchFamily="18" charset="0"/>
                          </a:rPr>
                          <m:t>π</m:t>
                        </m:r>
                      </m:den>
                    </m:f>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𝑘</m:t>
                        </m:r>
                        <m:r>
                          <a:rPr lang="en-IN" sz="2400" i="1">
                            <a:solidFill>
                              <a:srgbClr val="111827"/>
                            </a:solidFill>
                            <a:latin typeface="Cambria Math" panose="02040503050406030204" pitchFamily="18" charset="0"/>
                          </a:rPr>
                          <m:t>𝑡</m:t>
                        </m:r>
                      </m:num>
                      <m:den>
                        <m:r>
                          <a:rPr lang="en-IN" sz="2400" i="1">
                            <a:solidFill>
                              <a:srgbClr val="111827"/>
                            </a:solidFill>
                            <a:latin typeface="Cambria Math" panose="02040503050406030204" pitchFamily="18" charset="0"/>
                          </a:rPr>
                          <m:t>8</m:t>
                        </m:r>
                        <m:r>
                          <a:rPr lang="en-IN" sz="2400" i="1">
                            <a:solidFill>
                              <a:srgbClr val="111827"/>
                            </a:solidFill>
                            <a:latin typeface="Cambria Math" panose="02040503050406030204" pitchFamily="18" charset="0"/>
                          </a:rPr>
                          <m:t>π</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Surface area </a:t>
                </a:r>
                <a:r>
                  <a:rPr lang="en-IN" sz="2400">
                    <a:solidFill>
                      <a:srgbClr val="111827"/>
                    </a:solidFill>
                    <a:latin typeface="Cambria Math" panose="02040503050406030204" pitchFamily="18" charset="0"/>
                  </a:rPr>
                  <a:t>$S=4\pi r^2$</a:t>
                </a:r>
                <a:r>
                  <a:rPr sz="2400" b="0">
                    <a:solidFill>
                      <a:srgbClr val="111827"/>
                    </a:solidFill>
                    <a:latin typeface="Arial"/>
                  </a:rPr>
                  <a:t> and </a:t>
                </a:r>
                <a:r>
                  <a:rPr lang="en-IN" sz="2400">
                    <a:solidFill>
                      <a:srgbClr val="111827"/>
                    </a:solidFill>
                    <a:latin typeface="Cambria Math" panose="02040503050406030204" pitchFamily="18" charset="0"/>
                  </a:rPr>
                  <a:t>$\frac{dS}{dt}=k$</a:t>
                </a:r>
                <a:r>
                  <a:rPr sz="2400" b="0">
                    <a:solidFill>
                      <a:srgbClr val="111827"/>
                    </a:solidFill>
                    <a:latin typeface="Arial"/>
                  </a:rPr>
                  <a:t> (constant).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Differentiate: </a:t>
                </a:r>
                <a:r>
                  <a:rPr lang="en-IN" sz="2400">
                    <a:solidFill>
                      <a:srgbClr val="111827"/>
                    </a:solidFill>
                    <a:latin typeface="Cambria Math" panose="02040503050406030204" pitchFamily="18" charset="0"/>
                  </a:rPr>
                  <a:t>$8\pi r\frac{dr}{dt}=k$</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Separate variables: </a:t>
                </a:r>
                <a:r>
                  <a:rPr lang="en-IN" sz="2400">
                    <a:solidFill>
                      <a:srgbClr val="111827"/>
                    </a:solidFill>
                    <a:latin typeface="Cambria Math" panose="02040503050406030204" pitchFamily="18" charset="0"/>
                  </a:rPr>
                  <a:t>$\int r\,dr=\int\frac{k}{8\pi}\,dt$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$\frac{r^2}{2}=\frac{kt}{8\pi}+c$</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At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𝑘</m:t>
                        </m:r>
                        <m:r>
                          <a:rPr lang="en-IN" sz="2400" i="1">
                            <a:solidFill>
                              <a:srgbClr val="111827"/>
                            </a:solidFill>
                            <a:latin typeface="Cambria Math" panose="02040503050406030204" pitchFamily="18" charset="0"/>
                          </a:rPr>
                          <m:t>𝑡</m:t>
                        </m:r>
                      </m:num>
                      <m:den>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π</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At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49</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𝑘</m:t>
                        </m:r>
                      </m:num>
                      <m:den>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π</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32</m:t>
                    </m:r>
                    <m:r>
                      <a:rPr lang="en-IN" sz="2400" i="1">
                        <a:solidFill>
                          <a:srgbClr val="111827"/>
                        </a:solidFill>
                        <a:latin typeface="Cambria Math" panose="02040503050406030204" pitchFamily="18" charset="0"/>
                      </a:rPr>
                      <m:t>π</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At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81</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units.</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At </a:t>
                </a:r>
                <a:r>
                  <a:rPr lang="en-IN" sz="2400">
                    <a:solidFill>
                      <a:srgbClr val="111827"/>
                    </a:solidFill>
                    <a:latin typeface="Cambria Math" panose="02040503050406030204" pitchFamily="18" charset="0"/>
                  </a:rPr>
                  <a:t>$t=0$</a:t>
                </a:r>
                <a:r>
                  <a:rPr sz="2400" b="0">
                    <a:solidFill>
                      <a:srgbClr val="111827"/>
                    </a:solidFill>
                    <a:latin typeface="Arial"/>
                  </a:rPr>
                  <a:t>, </a:t>
                </a:r>
                <a:r>
                  <a:rPr lang="en-IN" sz="2400">
                    <a:solidFill>
                      <a:srgbClr val="111827"/>
                    </a:solidFill>
                    <a:latin typeface="Cambria Math" panose="02040503050406030204" pitchFamily="18" charset="0"/>
                  </a:rPr>
                  <a:t>$r=3$</a:t>
                </a:r>
                <a:r>
                  <a:rPr sz="2400" b="0">
                    <a:solidFill>
                      <a:srgbClr val="111827"/>
                    </a:solidFill>
                    <a:latin typeface="Arial"/>
                  </a:rPr>
                  <a:t>: </a:t>
                </a:r>
                <a:r>
                  <a:rPr lang="en-IN" sz="2400">
                    <a:solidFill>
                      <a:srgbClr val="111827"/>
                    </a:solidFill>
                    <a:latin typeface="Cambria Math" panose="02040503050406030204" pitchFamily="18" charset="0"/>
                  </a:rPr>
                  <a:t>$c=\frac{9}{2}$</a:t>
                </a:r>
                <a:r>
                  <a:rPr sz="2400" b="0">
                    <a:solidFill>
                      <a:srgbClr val="111827"/>
                    </a:solidFill>
                    <a:latin typeface="Arial"/>
                  </a:rPr>
                  <a:t>, so </a:t>
                </a:r>
                <a:r>
                  <a:rPr lang="en-IN" sz="2400">
                    <a:solidFill>
                      <a:srgbClr val="111827"/>
                    </a:solidFill>
                    <a:latin typeface="Cambria Math" panose="02040503050406030204" pitchFamily="18" charset="0"/>
                  </a:rPr>
                  <a:t>$r^2=\frac{kt}{4\pi}+9$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At </a:t>
                </a:r>
                <a:r>
                  <a:rPr lang="en-IN" sz="2400">
                    <a:solidFill>
                      <a:srgbClr val="111827"/>
                    </a:solidFill>
                    <a:latin typeface="Cambria Math" panose="02040503050406030204" pitchFamily="18" charset="0"/>
                  </a:rPr>
                  <a:t>$t=5$</a:t>
                </a:r>
                <a:r>
                  <a:rPr sz="2400" b="0">
                    <a:solidFill>
                      <a:srgbClr val="111827"/>
                    </a:solidFill>
                    <a:latin typeface="Arial"/>
                  </a:rPr>
                  <a:t>, </a:t>
                </a:r>
                <a:r>
                  <a:rPr lang="en-IN" sz="2400">
                    <a:solidFill>
                      <a:srgbClr val="111827"/>
                    </a:solidFill>
                    <a:latin typeface="Cambria Math" panose="02040503050406030204" pitchFamily="18" charset="0"/>
                  </a:rPr>
                  <a:t>$r=7$</a:t>
                </a:r>
                <a:r>
                  <a:rPr sz="2400" b="0">
                    <a:solidFill>
                      <a:srgbClr val="111827"/>
                    </a:solidFill>
                    <a:latin typeface="Arial"/>
                  </a:rPr>
                  <a:t>: </a:t>
                </a:r>
                <a:r>
                  <a:rPr lang="en-IN" sz="2400">
                    <a:solidFill>
                      <a:srgbClr val="111827"/>
                    </a:solidFill>
                    <a:latin typeface="Cambria Math" panose="02040503050406030204" pitchFamily="18" charset="0"/>
                  </a:rPr>
                  <a:t>$49=\frac{5k}{4\pi}+9$</a:t>
                </a:r>
                <a:r>
                  <a:rPr sz="2400" b="0">
                    <a:solidFill>
                      <a:srgbClr val="111827"/>
                    </a:solidFill>
                    <a:latin typeface="Arial"/>
                  </a:rPr>
                  <a:t>, so </a:t>
                </a:r>
                <a:r>
                  <a:rPr lang="en-IN" sz="2400">
                    <a:solidFill>
                      <a:srgbClr val="111827"/>
                    </a:solidFill>
                    <a:latin typeface="Cambria Math" panose="02040503050406030204" pitchFamily="18" charset="0"/>
                  </a:rPr>
                  <a:t>$k=32\pi$</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$r^2=8t+9$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At </a:t>
                </a:r>
                <a:r>
                  <a:rPr lang="en-IN" sz="2400">
                    <a:solidFill>
                      <a:srgbClr val="111827"/>
                    </a:solidFill>
                    <a:latin typeface="Cambria Math" panose="02040503050406030204" pitchFamily="18" charset="0"/>
                  </a:rPr>
                  <a:t>$t=9$</a:t>
                </a:r>
                <a:r>
                  <a:rPr sz="2400" b="0">
                    <a:solidFill>
                      <a:srgbClr val="111827"/>
                    </a:solidFill>
                    <a:latin typeface="Arial"/>
                  </a:rPr>
                  <a:t>: </a:t>
                </a:r>
                <a:r>
                  <a:rPr lang="en-IN" sz="2400">
                    <a:solidFill>
                      <a:srgbClr val="111827"/>
                    </a:solidFill>
                    <a:latin typeface="Cambria Math" panose="02040503050406030204" pitchFamily="18" charset="0"/>
                  </a:rPr>
                  <a:t>$r^2=72+9=81$</a:t>
                </a:r>
                <a:r>
                  <a:rPr sz="2400" b="0">
                    <a:solidFill>
                      <a:srgbClr val="111827"/>
                    </a:solidFill>
                    <a:latin typeface="Arial"/>
                  </a:rPr>
                  <a:t>, so </a:t>
                </a:r>
                <a:r>
                  <a:rPr lang="en-IN" sz="2400">
                    <a:solidFill>
                      <a:srgbClr val="111827"/>
                    </a:solidFill>
                    <a:latin typeface="Cambria Math" panose="02040503050406030204" pitchFamily="18" charset="0"/>
                  </a:rPr>
                  <a:t>$r=9$</a:t>
                </a:r>
                <a:r>
                  <a:rPr sz="2400" b="0">
                    <a:solidFill>
                      <a:srgbClr val="111827"/>
                    </a:solidFill>
                    <a:latin typeface="Arial"/>
                  </a:rPr>
                  <a:t> units.</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9 unit</a:t>
            </a:r>
            <a:endParaRPr sz="2800">
              <a:solidFill>
                <a:srgbClr val="15803D"/>
              </a:solidFill>
            </a:endParaRP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Constant rate of change of </a:t>
                </a:r>
                <a14:m>
                  <m:oMath xmlns:m="http://schemas.openxmlformats.org/officeDocument/2006/math">
                    <m:r>
                      <a:rPr lang="en-IN" sz="2400" i="1">
                        <a:solidFill>
                          <a:srgbClr val="78350F"/>
                        </a:solidFill>
                        <a:latin typeface="Cambria Math" panose="02040503050406030204" pitchFamily="18" charset="0"/>
                      </a:rPr>
                      <m:t>𝑆</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4</m:t>
                    </m:r>
                    <m:r>
                      <a:rPr lang="en-IN" sz="2400" i="1">
                        <a:solidFill>
                          <a:srgbClr val="78350F"/>
                        </a:solidFill>
                        <a:latin typeface="Cambria Math" panose="02040503050406030204" pitchFamily="18" charset="0"/>
                      </a:rPr>
                      <m:t>π</m:t>
                    </m:r>
                    <m:sSup>
                      <m:e>
                        <m:r>
                          <a:rPr lang="en-IN" sz="2400" i="1">
                            <a:solidFill>
                              <a:srgbClr val="78350F"/>
                            </a:solidFill>
                            <a:latin typeface="Cambria Math" panose="02040503050406030204" pitchFamily="18" charset="0"/>
                          </a:rPr>
                          <m:t>𝑟</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 means </a:t>
                </a:r>
                <a14:m>
                  <m:oMath xmlns:m="http://schemas.openxmlformats.org/officeDocument/2006/math">
                    <m:r>
                      <a:rPr lang="en-IN" sz="2400" i="1">
                        <a:solidFill>
                          <a:srgbClr val="78350F"/>
                        </a:solidFill>
                        <a:latin typeface="Cambria Math" panose="02040503050406030204" pitchFamily="18" charset="0"/>
                      </a:rPr>
                      <m:t>𝑆</m:t>
                    </m:r>
                  </m:oMath>
                </a14:m>
                <a:r>
                  <a:rPr sz="2400" b="0">
                    <a:solidFill>
                      <a:srgbClr val="78350F"/>
                    </a:solidFill>
                    <a:latin typeface="Arial"/>
                  </a:rPr>
                  <a:t>, hence </a:t>
                </a:r>
                <a14:m>
                  <m:oMath xmlns:m="http://schemas.openxmlformats.org/officeDocument/2006/math">
                    <m:sSup>
                      <m:e>
                        <m:r>
                          <a:rPr lang="en-IN" sz="2400" i="1">
                            <a:solidFill>
                              <a:srgbClr val="78350F"/>
                            </a:solidFill>
                            <a:latin typeface="Cambria Math" panose="02040503050406030204" pitchFamily="18" charset="0"/>
                          </a:rPr>
                          <m:t>𝑟</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 is a linear function of </a:t>
                </a:r>
                <a14:m>
                  <m:oMath xmlns:m="http://schemas.openxmlformats.org/officeDocument/2006/math">
                    <m:r>
                      <a:rPr lang="en-IN" sz="2400" i="1">
                        <a:solidFill>
                          <a:srgbClr val="78350F"/>
                        </a:solidFill>
                        <a:latin typeface="Cambria Math" panose="02040503050406030204" pitchFamily="18" charset="0"/>
                      </a:rPr>
                      <m:t>𝑡</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Constant rate of change of </a:t>
                </a:r>
                <a:r>
                  <a:rPr lang="en-IN" sz="2400">
                    <a:solidFill>
                      <a:srgbClr val="78350F"/>
                    </a:solidFill>
                    <a:latin typeface="Cambria Math" panose="02040503050406030204" pitchFamily="18" charset="0"/>
                  </a:rPr>
                  <a:t>$S=4\pi r^2$</a:t>
                </a:r>
                <a:r>
                  <a:rPr sz="2400" b="0">
                    <a:solidFill>
                      <a:srgbClr val="78350F"/>
                    </a:solidFill>
                    <a:latin typeface="Arial"/>
                  </a:rPr>
                  <a:t> means </a:t>
                </a:r>
                <a:r>
                  <a:rPr lang="en-IN" sz="2400">
                    <a:solidFill>
                      <a:srgbClr val="78350F"/>
                    </a:solidFill>
                    <a:latin typeface="Cambria Math" panose="02040503050406030204" pitchFamily="18" charset="0"/>
                  </a:rPr>
                  <a:t>$S$</a:t>
                </a:r>
                <a:r>
                  <a:rPr sz="2400" b="0">
                    <a:solidFill>
                      <a:srgbClr val="78350F"/>
                    </a:solidFill>
                    <a:latin typeface="Arial"/>
                  </a:rPr>
                  <a:t>, hence </a:t>
                </a:r>
                <a:r>
                  <a:rPr lang="en-IN" sz="2400">
                    <a:solidFill>
                      <a:srgbClr val="78350F"/>
                    </a:solidFill>
                    <a:latin typeface="Cambria Math" panose="02040503050406030204" pitchFamily="18" charset="0"/>
                  </a:rPr>
                  <a:t>$r^2$</a:t>
                </a:r>
                <a:r>
                  <a:rPr sz="2400" b="0">
                    <a:solidFill>
                      <a:srgbClr val="78350F"/>
                    </a:solidFill>
                    <a:latin typeface="Arial"/>
                  </a:rPr>
                  <a:t>, is a linear function of </a:t>
                </a:r>
                <a:r>
                  <a:rPr lang="en-IN" sz="2400">
                    <a:solidFill>
                      <a:srgbClr val="78350F"/>
                    </a:solidFill>
                    <a:latin typeface="Cambria Math" panose="02040503050406030204" pitchFamily="18" charset="0"/>
                  </a:rPr>
                  <a:t>$t$</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π</m:t>
                    </m:r>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changes at a constant rate, so </a:t>
                </a:r>
                <a14:m>
                  <m:oMath xmlns:m="http://schemas.openxmlformats.org/officeDocument/2006/math">
                    <m:r>
                      <a:rPr lang="en-IN" sz="2400" i="1">
                        <a:solidFill>
                          <a:srgbClr val="111827"/>
                        </a:solidFill>
                        <a:latin typeface="Cambria Math" panose="02040503050406030204" pitchFamily="18" charset="0"/>
                      </a:rPr>
                      <m:t>𝑆</m:t>
                    </m:r>
                  </m:oMath>
                </a14:m>
                <a:r>
                  <a:rPr sz="2400" b="0">
                    <a:solidFill>
                      <a:srgbClr val="111827"/>
                    </a:solidFill>
                    <a:latin typeface="Arial"/>
                  </a:rPr>
                  <a:t> is linear in </a:t>
                </a:r>
                <a14:m>
                  <m:oMath xmlns:m="http://schemas.openxmlformats.org/officeDocument/2006/math">
                    <m:r>
                      <a:rPr lang="en-IN" sz="2400" i="1">
                        <a:solidFill>
                          <a:srgbClr val="111827"/>
                        </a:solidFill>
                        <a:latin typeface="Cambria Math" panose="02040503050406030204" pitchFamily="18" charset="0"/>
                      </a:rPr>
                      <m:t>𝑡</m:t>
                    </m:r>
                  </m:oMath>
                </a14:m>
                <a:r>
                  <a:rPr sz="2400" b="0">
                    <a:solidFill>
                      <a:srgbClr val="111827"/>
                    </a:solidFill>
                    <a:latin typeface="Arial"/>
                  </a:rPr>
                  <a:t>, i.e. </a:t>
                </a:r>
                <a14:m>
                  <m:oMath xmlns:m="http://schemas.openxmlformats.org/officeDocument/2006/math">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At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At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49</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at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Therefore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units.</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$S=4\pi r^2$</a:t>
                </a:r>
                <a:r>
                  <a:rPr sz="2400" b="0">
                    <a:solidFill>
                      <a:srgbClr val="111827"/>
                    </a:solidFill>
                    <a:latin typeface="Arial"/>
                  </a:rPr>
                  <a:t> changes at a constant rate, so </a:t>
                </a:r>
                <a:r>
                  <a:rPr lang="en-IN" sz="2400">
                    <a:solidFill>
                      <a:srgbClr val="111827"/>
                    </a:solidFill>
                    <a:latin typeface="Cambria Math" panose="02040503050406030204" pitchFamily="18" charset="0"/>
                  </a:rPr>
                  <a:t>$S$</a:t>
                </a:r>
                <a:r>
                  <a:rPr sz="2400" b="0">
                    <a:solidFill>
                      <a:srgbClr val="111827"/>
                    </a:solidFill>
                    <a:latin typeface="Arial"/>
                  </a:rPr>
                  <a:t> is linear in </a:t>
                </a:r>
                <a:r>
                  <a:rPr lang="en-IN" sz="2400">
                    <a:solidFill>
                      <a:srgbClr val="111827"/>
                    </a:solidFill>
                    <a:latin typeface="Cambria Math" panose="02040503050406030204" pitchFamily="18" charset="0"/>
                  </a:rPr>
                  <a:t>$t$</a:t>
                </a:r>
                <a:r>
                  <a:rPr sz="2400" b="0">
                    <a:solidFill>
                      <a:srgbClr val="111827"/>
                    </a:solidFill>
                    <a:latin typeface="Arial"/>
                  </a:rPr>
                  <a:t>, i.e. </a:t>
                </a:r>
                <a:r>
                  <a:rPr lang="en-IN" sz="2400">
                    <a:solidFill>
                      <a:srgbClr val="111827"/>
                    </a:solidFill>
                    <a:latin typeface="Cambria Math" panose="02040503050406030204" pitchFamily="18" charset="0"/>
                  </a:rPr>
                  <a:t>$r^2=pt+q$</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At </a:t>
                </a:r>
                <a:r>
                  <a:rPr lang="en-IN" sz="2400">
                    <a:solidFill>
                      <a:srgbClr val="111827"/>
                    </a:solidFill>
                    <a:latin typeface="Cambria Math" panose="02040503050406030204" pitchFamily="18" charset="0"/>
                  </a:rPr>
                  <a:t>$t=0$</a:t>
                </a:r>
                <a:r>
                  <a:rPr sz="2400" b="0">
                    <a:solidFill>
                      <a:srgbClr val="111827"/>
                    </a:solidFill>
                    <a:latin typeface="Arial"/>
                  </a:rPr>
                  <a:t>, </a:t>
                </a:r>
                <a:r>
                  <a:rPr lang="en-IN" sz="2400">
                    <a:solidFill>
                      <a:srgbClr val="111827"/>
                    </a:solidFill>
                    <a:latin typeface="Cambria Math" panose="02040503050406030204" pitchFamily="18" charset="0"/>
                  </a:rPr>
                  <a:t>$r=3$</a:t>
                </a:r>
                <a:r>
                  <a:rPr sz="2400" b="0">
                    <a:solidFill>
                      <a:srgbClr val="111827"/>
                    </a:solidFill>
                    <a:latin typeface="Arial"/>
                  </a:rPr>
                  <a:t>: </a:t>
                </a:r>
                <a:r>
                  <a:rPr lang="en-IN" sz="2400">
                    <a:solidFill>
                      <a:srgbClr val="111827"/>
                    </a:solidFill>
                    <a:latin typeface="Cambria Math" panose="02040503050406030204" pitchFamily="18" charset="0"/>
                  </a:rPr>
                  <a:t>$q=9$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At </a:t>
                </a:r>
                <a:r>
                  <a:rPr lang="en-IN" sz="2400">
                    <a:solidFill>
                      <a:srgbClr val="111827"/>
                    </a:solidFill>
                    <a:latin typeface="Cambria Math" panose="02040503050406030204" pitchFamily="18" charset="0"/>
                  </a:rPr>
                  <a:t>$t=5$</a:t>
                </a:r>
                <a:r>
                  <a:rPr sz="2400" b="0">
                    <a:solidFill>
                      <a:srgbClr val="111827"/>
                    </a:solidFill>
                    <a:latin typeface="Arial"/>
                  </a:rPr>
                  <a:t>, </a:t>
                </a:r>
                <a:r>
                  <a:rPr lang="en-IN" sz="2400">
                    <a:solidFill>
                      <a:srgbClr val="111827"/>
                    </a:solidFill>
                    <a:latin typeface="Cambria Math" panose="02040503050406030204" pitchFamily="18" charset="0"/>
                  </a:rPr>
                  <a:t>$r=7$</a:t>
                </a:r>
                <a:r>
                  <a:rPr sz="2400" b="0">
                    <a:solidFill>
                      <a:srgbClr val="111827"/>
                    </a:solidFill>
                    <a:latin typeface="Arial"/>
                  </a:rPr>
                  <a:t>: </a:t>
                </a:r>
                <a:r>
                  <a:rPr lang="en-IN" sz="2400">
                    <a:solidFill>
                      <a:srgbClr val="111827"/>
                    </a:solidFill>
                    <a:latin typeface="Cambria Math" panose="02040503050406030204" pitchFamily="18" charset="0"/>
                  </a:rPr>
                  <a:t>$5p+9=49$</a:t>
                </a:r>
                <a:r>
                  <a:rPr sz="2400" b="0">
                    <a:solidFill>
                      <a:srgbClr val="111827"/>
                    </a:solidFill>
                    <a:latin typeface="Arial"/>
                  </a:rPr>
                  <a:t>, so </a:t>
                </a:r>
                <a:r>
                  <a:rPr lang="en-IN" sz="2400">
                    <a:solidFill>
                      <a:srgbClr val="111827"/>
                    </a:solidFill>
                    <a:latin typeface="Cambria Math" panose="02040503050406030204" pitchFamily="18" charset="0"/>
                  </a:rPr>
                  <a:t>$p=8$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$r^2=8t+9$</a:t>
                </a:r>
                <a:r>
                  <a:rPr sz="2400" b="0">
                    <a:solidFill>
                      <a:srgbClr val="111827"/>
                    </a:solidFill>
                    <a:latin typeface="Arial"/>
                  </a:rPr>
                  <a:t>; at </a:t>
                </a:r>
                <a:r>
                  <a:rPr lang="en-IN" sz="2400">
                    <a:solidFill>
                      <a:srgbClr val="111827"/>
                    </a:solidFill>
                    <a:latin typeface="Cambria Math" panose="02040503050406030204" pitchFamily="18" charset="0"/>
                  </a:rPr>
                  <a:t>$t=9$</a:t>
                </a:r>
                <a:r>
                  <a:rPr sz="2400" b="0">
                    <a:solidFill>
                      <a:srgbClr val="111827"/>
                    </a:solidFill>
                    <a:latin typeface="Arial"/>
                  </a:rPr>
                  <a:t>, </a:t>
                </a:r>
                <a:r>
                  <a:rPr lang="en-IN" sz="2400">
                    <a:solidFill>
                      <a:srgbClr val="111827"/>
                    </a:solidFill>
                    <a:latin typeface="Cambria Math" panose="02040503050406030204" pitchFamily="18" charset="0"/>
                  </a:rPr>
                  <a:t>$r^2=81$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Therefore </a:t>
                </a:r>
                <a:r>
                  <a:rPr lang="en-IN" sz="2400">
                    <a:solidFill>
                      <a:srgbClr val="111827"/>
                    </a:solidFill>
                    <a:latin typeface="Cambria Math" panose="02040503050406030204" pitchFamily="18" charset="0"/>
                  </a:rPr>
                  <a:t>$r=9$</a:t>
                </a:r>
                <a:r>
                  <a:rPr sz="2400" b="0">
                    <a:solidFill>
                      <a:srgbClr val="111827"/>
                    </a:solidFill>
                    <a:latin typeface="Arial"/>
                  </a:rPr>
                  <a:t> units.</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9 unit</a:t>
            </a:r>
            <a:endParaRPr sz="2800">
              <a:solidFill>
                <a:srgbClr val="15803D"/>
              </a:solidFill>
            </a:endParaRP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a quantity </a:t>
                </a:r>
                <a14:m>
                  <m:oMath xmlns:m="http://schemas.openxmlformats.org/officeDocument/2006/math">
                    <m:r>
                      <a:rPr lang="en-IN" sz="2400" i="1">
                        <a:solidFill>
                          <a:srgbClr val="111827"/>
                        </a:solidFill>
                        <a:latin typeface="Cambria Math" panose="02040503050406030204" pitchFamily="18" charset="0"/>
                      </a:rPr>
                      <m:t>𝑄</m:t>
                    </m:r>
                  </m:oMath>
                </a14:m>
                <a:r>
                  <a:rPr sz="2400" b="0">
                    <a:solidFill>
                      <a:srgbClr val="111827"/>
                    </a:solidFill>
                    <a:latin typeface="Arial"/>
                  </a:rPr>
                  <a:t> changes at a constant rate, then </a:t>
                </a:r>
                <a14:m>
                  <m:oMath xmlns:m="http://schemas.openxmlformats.org/officeDocument/2006/math">
                    <m:r>
                      <a:rPr lang="en-IN" sz="2400" i="1">
                        <a:solidFill>
                          <a:srgbClr val="111827"/>
                        </a:solidFill>
                        <a:latin typeface="Cambria Math" panose="02040503050406030204" pitchFamily="18" charset="0"/>
                      </a:rPr>
                      <m:t>𝑄</m:t>
                    </m:r>
                  </m:oMath>
                </a14:m>
                <a:r>
                  <a:rPr sz="2400" b="0">
                    <a:solidFill>
                      <a:srgbClr val="111827"/>
                    </a:solidFill>
                    <a:latin typeface="Arial"/>
                  </a:rPr>
                  <a:t> is linear in time; here </a:t>
                </a:r>
                <a14:m>
                  <m:oMath xmlns:m="http://schemas.openxmlformats.org/officeDocument/2006/math">
                    <m:r>
                      <a:rPr lang="en-IN" sz="2400" i="1">
                        <a:solidFill>
                          <a:srgbClr val="111827"/>
                        </a:solidFill>
                        <a:latin typeface="Cambria Math" panose="02040503050406030204" pitchFamily="18" charset="0"/>
                      </a:rPr>
                      <m:t>𝑄</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is linear in </a:t>
                </a:r>
                <a14:m>
                  <m:oMath xmlns:m="http://schemas.openxmlformats.org/officeDocument/2006/math">
                    <m:r>
                      <a:rPr lang="en-IN" sz="2400" i="1">
                        <a:solidFill>
                          <a:srgbClr val="111827"/>
                        </a:solidFill>
                        <a:latin typeface="Cambria Math" panose="02040503050406030204" pitchFamily="18" charset="0"/>
                      </a:rPr>
                      <m:t>𝑡</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 sphere: </a:t>
                </a:r>
                <a14:m>
                  <m:oMath xmlns:m="http://schemas.openxmlformats.org/officeDocument/2006/math">
                    <m:r>
                      <a:rPr lang="en-IN" sz="2400" i="1">
                        <a:solidFill>
                          <a:srgbClr val="111827"/>
                        </a:solidFill>
                        <a:latin typeface="Cambria Math" panose="02040503050406030204" pitchFamily="18" charset="0"/>
                      </a:rPr>
                      <m:t>𝑉</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3</m:t>
                        </m:r>
                      </m:den>
                    </m:f>
                    <m:r>
                      <a:rPr lang="en-IN" sz="2400" i="1">
                        <a:solidFill>
                          <a:srgbClr val="111827"/>
                        </a:solidFill>
                        <a:latin typeface="Cambria Math" panose="02040503050406030204" pitchFamily="18" charset="0"/>
                      </a:rPr>
                      <m:t>π</m:t>
                    </m:r>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3</m:t>
                        </m:r>
                      </m:sup>
                    </m:sSup>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π</m:t>
                    </m:r>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and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𝑉</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𝑆</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𝑟</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den>
                    </m:f>
                  </m:oMath>
                </a14:m>
                <a:r>
                  <a:rPr sz="2400" b="0">
                    <a:solidFill>
                      <a:srgbClr val="111827"/>
                    </a:solidFill>
                    <a:latin typeface="Arial"/>
                  </a:rPr>
                  <a:t> (volume rate = area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radial speed).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Constant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𝑉</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den>
                    </m:f>
                  </m:oMath>
                </a14:m>
                <a:r>
                  <a:rPr sz="2400" b="0">
                    <a:solidFill>
                      <a:srgbClr val="111827"/>
                    </a:solidFill>
                    <a:latin typeface="Arial"/>
                  </a:rPr>
                  <a:t> makes </a:t>
                </a:r>
                <a14:m>
                  <m:oMath xmlns:m="http://schemas.openxmlformats.org/officeDocument/2006/math">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3</m:t>
                        </m:r>
                      </m:sup>
                    </m:sSup>
                  </m:oMath>
                </a14:m>
                <a:r>
                  <a:rPr sz="2400" b="0">
                    <a:solidFill>
                      <a:srgbClr val="111827"/>
                    </a:solidFill>
                    <a:latin typeface="Arial"/>
                  </a:rPr>
                  <a:t> linear in </a:t>
                </a:r>
                <a14:m>
                  <m:oMath xmlns:m="http://schemas.openxmlformats.org/officeDocument/2006/math">
                    <m:r>
                      <a:rPr lang="en-IN" sz="2400" i="1">
                        <a:solidFill>
                          <a:srgbClr val="111827"/>
                        </a:solidFill>
                        <a:latin typeface="Cambria Math" panose="02040503050406030204" pitchFamily="18" charset="0"/>
                      </a:rPr>
                      <m:t>𝑡</m:t>
                    </m:r>
                  </m:oMath>
                </a14:m>
                <a:r>
                  <a:rPr sz="2400" b="0">
                    <a:solidFill>
                      <a:srgbClr val="111827"/>
                    </a:solidFill>
                    <a:latin typeface="Arial"/>
                  </a:rPr>
                  <a:t>; constant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𝑆</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den>
                    </m:f>
                  </m:oMath>
                </a14:m>
                <a:r>
                  <a:rPr sz="2400" b="0">
                    <a:solidFill>
                      <a:srgbClr val="111827"/>
                    </a:solidFill>
                    <a:latin typeface="Arial"/>
                  </a:rPr>
                  <a:t> makes </a:t>
                </a:r>
                <a14:m>
                  <m:oMath xmlns:m="http://schemas.openxmlformats.org/officeDocument/2006/math">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linear in </a:t>
                </a:r>
                <a14:m>
                  <m:oMath xmlns:m="http://schemas.openxmlformats.org/officeDocument/2006/math">
                    <m:r>
                      <a:rPr lang="en-IN" sz="2400" i="1">
                        <a:solidFill>
                          <a:srgbClr val="111827"/>
                        </a:solidFill>
                        <a:latin typeface="Cambria Math" panose="02040503050406030204" pitchFamily="18" charset="0"/>
                      </a:rPr>
                      <m:t>𝑡</m:t>
                    </m:r>
                  </m:oMath>
                </a14:m>
                <a:r>
                  <a:rPr sz="2400" b="0">
                    <a:solidFill>
                      <a:srgbClr val="111827"/>
                    </a:solidFill>
                    <a:latin typeface="Arial"/>
                  </a:rPr>
                  <a:t>; constant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𝑟</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den>
                    </m:f>
                  </m:oMath>
                </a14:m>
                <a:r>
                  <a:rPr sz="2400" b="0">
                    <a:solidFill>
                      <a:srgbClr val="111827"/>
                    </a:solidFill>
                    <a:latin typeface="Arial"/>
                  </a:rPr>
                  <a:t> makes </a:t>
                </a:r>
                <a14:m>
                  <m:oMath xmlns:m="http://schemas.openxmlformats.org/officeDocument/2006/math">
                    <m:r>
                      <a:rPr lang="en-IN" sz="2400" i="1">
                        <a:solidFill>
                          <a:srgbClr val="111827"/>
                        </a:solidFill>
                        <a:latin typeface="Cambria Math" panose="02040503050406030204" pitchFamily="18" charset="0"/>
                      </a:rPr>
                      <m:t>𝑟</m:t>
                    </m:r>
                  </m:oMath>
                </a14:m>
                <a:r>
                  <a:rPr sz="2400" b="0">
                    <a:solidFill>
                      <a:srgbClr val="111827"/>
                    </a:solidFill>
                    <a:latin typeface="Arial"/>
                  </a:rPr>
                  <a:t> linear.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Here </a:t>
                </a:r>
                <a14:m>
                  <m:oMath xmlns:m="http://schemas.openxmlformats.org/officeDocument/2006/math">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goes </a:t>
                </a:r>
                <a14:m>
                  <m:oMath xmlns:m="http://schemas.openxmlformats.org/officeDocument/2006/math">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49</m:t>
                    </m:r>
                  </m:oMath>
                </a14:m>
                <a:r>
                  <a:rPr sz="2400" b="0">
                    <a:solidFill>
                      <a:srgbClr val="111827"/>
                    </a:solidFill>
                    <a:latin typeface="Arial"/>
                  </a:rPr>
                  <a:t> in 5 s, i.e. </a:t>
                </a:r>
                <a14:m>
                  <m:oMath xmlns:m="http://schemas.openxmlformats.org/officeDocument/2006/math">
                    <m:r>
                      <a:rPr lang="en-IN" sz="2400" i="1">
                        <a:solidFill>
                          <a:srgbClr val="111827"/>
                        </a:solidFill>
                        <a:latin typeface="Cambria Math" panose="02040503050406030204" pitchFamily="18" charset="0"/>
                      </a:rPr>
                      <m:t>8</m:t>
                    </m:r>
                  </m:oMath>
                </a14:m>
                <a:r>
                  <a:rPr sz="2400" b="0">
                    <a:solidFill>
                      <a:srgbClr val="111827"/>
                    </a:solidFill>
                    <a:latin typeface="Arial"/>
                  </a:rPr>
                  <a:t> per second, so </a:t>
                </a:r>
                <a14:m>
                  <m:oMath xmlns:m="http://schemas.openxmlformats.org/officeDocument/2006/math">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81</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a quantity </a:t>
                </a:r>
                <a:r>
                  <a:rPr lang="en-IN" sz="2400">
                    <a:solidFill>
                      <a:srgbClr val="111827"/>
                    </a:solidFill>
                    <a:latin typeface="Cambria Math" panose="02040503050406030204" pitchFamily="18" charset="0"/>
                  </a:rPr>
                  <a:t>$Q$</a:t>
                </a:r>
                <a:r>
                  <a:rPr sz="2400" b="0">
                    <a:solidFill>
                      <a:srgbClr val="111827"/>
                    </a:solidFill>
                    <a:latin typeface="Arial"/>
                  </a:rPr>
                  <a:t> changes at a constant rate, then </a:t>
                </a:r>
                <a:r>
                  <a:rPr lang="en-IN" sz="2400">
                    <a:solidFill>
                      <a:srgbClr val="111827"/>
                    </a:solidFill>
                    <a:latin typeface="Cambria Math" panose="02040503050406030204" pitchFamily="18" charset="0"/>
                  </a:rPr>
                  <a:t>$Q$</a:t>
                </a:r>
                <a:r>
                  <a:rPr sz="2400" b="0">
                    <a:solidFill>
                      <a:srgbClr val="111827"/>
                    </a:solidFill>
                    <a:latin typeface="Arial"/>
                  </a:rPr>
                  <a:t> is linear in time; here </a:t>
                </a:r>
                <a:r>
                  <a:rPr lang="en-IN" sz="2400">
                    <a:solidFill>
                      <a:srgbClr val="111827"/>
                    </a:solidFill>
                    <a:latin typeface="Cambria Math" panose="02040503050406030204" pitchFamily="18" charset="0"/>
                  </a:rPr>
                  <a:t>$Q=S\propto r^2$</a:t>
                </a:r>
                <a:r>
                  <a:rPr sz="2400" b="0">
                    <a:solidFill>
                      <a:srgbClr val="111827"/>
                    </a:solidFill>
                    <a:latin typeface="Arial"/>
                  </a:rPr>
                  <a:t>, so </a:t>
                </a:r>
                <a:r>
                  <a:rPr lang="en-IN" sz="2400">
                    <a:solidFill>
                      <a:srgbClr val="111827"/>
                    </a:solidFill>
                    <a:latin typeface="Cambria Math" panose="02040503050406030204" pitchFamily="18" charset="0"/>
                  </a:rPr>
                  <a:t>$r^2$</a:t>
                </a:r>
                <a:r>
                  <a:rPr sz="2400" b="0">
                    <a:solidFill>
                      <a:srgbClr val="111827"/>
                    </a:solidFill>
                    <a:latin typeface="Arial"/>
                  </a:rPr>
                  <a:t> is linear in </a:t>
                </a:r>
                <a:r>
                  <a:rPr lang="en-IN" sz="2400">
                    <a:solidFill>
                      <a:srgbClr val="111827"/>
                    </a:solidFill>
                    <a:latin typeface="Cambria Math" panose="02040503050406030204" pitchFamily="18" charset="0"/>
                  </a:rPr>
                  <a:t>$t$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 sphere: </a:t>
                </a:r>
                <a:r>
                  <a:rPr lang="en-IN" sz="2400">
                    <a:solidFill>
                      <a:srgbClr val="111827"/>
                    </a:solidFill>
                    <a:latin typeface="Cambria Math" panose="02040503050406030204" pitchFamily="18" charset="0"/>
                  </a:rPr>
                  <a:t>$V=\frac43\pi r^3$</a:t>
                </a:r>
                <a:r>
                  <a:rPr sz="2400" b="0">
                    <a:solidFill>
                      <a:srgbClr val="111827"/>
                    </a:solidFill>
                    <a:latin typeface="Arial"/>
                  </a:rPr>
                  <a:t>, </a:t>
                </a:r>
                <a:r>
                  <a:rPr lang="en-IN" sz="2400">
                    <a:solidFill>
                      <a:srgbClr val="111827"/>
                    </a:solidFill>
                    <a:latin typeface="Cambria Math" panose="02040503050406030204" pitchFamily="18" charset="0"/>
                  </a:rPr>
                  <a:t>$S=4\pi r^2$</a:t>
                </a:r>
                <a:r>
                  <a:rPr sz="2400" b="0">
                    <a:solidFill>
                      <a:srgbClr val="111827"/>
                    </a:solidFill>
                    <a:latin typeface="Arial"/>
                  </a:rPr>
                  <a:t>, and </a:t>
                </a:r>
                <a:r>
                  <a:rPr lang="en-IN" sz="2400">
                    <a:solidFill>
                      <a:srgbClr val="111827"/>
                    </a:solidFill>
                    <a:latin typeface="Cambria Math" panose="02040503050406030204" pitchFamily="18" charset="0"/>
                  </a:rPr>
                  <a:t>$\frac{dV}{dt}=S\frac{dr}{dt}$</a:t>
                </a:r>
                <a:r>
                  <a:rPr sz="2400" b="0">
                    <a:solidFill>
                      <a:srgbClr val="111827"/>
                    </a:solidFill>
                    <a:latin typeface="Arial"/>
                  </a:rPr>
                  <a:t> (volume rate = area </a:t>
                </a:r>
                <a:r>
                  <a:rPr lang="en-IN" sz="2400">
                    <a:solidFill>
                      <a:srgbClr val="111827"/>
                    </a:solidFill>
                    <a:latin typeface="Cambria Math" panose="02040503050406030204" pitchFamily="18" charset="0"/>
                  </a:rPr>
                  <a:t>$\times$</a:t>
                </a:r>
                <a:r>
                  <a:rPr sz="2400" b="0">
                    <a:solidFill>
                      <a:srgbClr val="111827"/>
                    </a:solidFill>
                    <a:latin typeface="Arial"/>
                  </a:rPr>
                  <a:t> radial speed).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Constant </a:t>
                </a:r>
                <a:r>
                  <a:rPr lang="en-IN" sz="2400">
                    <a:solidFill>
                      <a:srgbClr val="111827"/>
                    </a:solidFill>
                    <a:latin typeface="Cambria Math" panose="02040503050406030204" pitchFamily="18" charset="0"/>
                  </a:rPr>
                  <a:t>$\frac{dV}{dt}$</a:t>
                </a:r>
                <a:r>
                  <a:rPr sz="2400" b="0">
                    <a:solidFill>
                      <a:srgbClr val="111827"/>
                    </a:solidFill>
                    <a:latin typeface="Arial"/>
                  </a:rPr>
                  <a:t> makes </a:t>
                </a:r>
                <a:r>
                  <a:rPr lang="en-IN" sz="2400">
                    <a:solidFill>
                      <a:srgbClr val="111827"/>
                    </a:solidFill>
                    <a:latin typeface="Cambria Math" panose="02040503050406030204" pitchFamily="18" charset="0"/>
                  </a:rPr>
                  <a:t>$r^3$</a:t>
                </a:r>
                <a:r>
                  <a:rPr sz="2400" b="0">
                    <a:solidFill>
                      <a:srgbClr val="111827"/>
                    </a:solidFill>
                    <a:latin typeface="Arial"/>
                  </a:rPr>
                  <a:t> linear in </a:t>
                </a:r>
                <a:r>
                  <a:rPr lang="en-IN" sz="2400">
                    <a:solidFill>
                      <a:srgbClr val="111827"/>
                    </a:solidFill>
                    <a:latin typeface="Cambria Math" panose="02040503050406030204" pitchFamily="18" charset="0"/>
                  </a:rPr>
                  <a:t>$t$</a:t>
                </a:r>
                <a:r>
                  <a:rPr sz="2400" b="0">
                    <a:solidFill>
                      <a:srgbClr val="111827"/>
                    </a:solidFill>
                    <a:latin typeface="Arial"/>
                  </a:rPr>
                  <a:t>; constant </a:t>
                </a:r>
                <a:r>
                  <a:rPr lang="en-IN" sz="2400">
                    <a:solidFill>
                      <a:srgbClr val="111827"/>
                    </a:solidFill>
                    <a:latin typeface="Cambria Math" panose="02040503050406030204" pitchFamily="18" charset="0"/>
                  </a:rPr>
                  <a:t>$\frac{dS}{dt}$</a:t>
                </a:r>
                <a:r>
                  <a:rPr sz="2400" b="0">
                    <a:solidFill>
                      <a:srgbClr val="111827"/>
                    </a:solidFill>
                    <a:latin typeface="Arial"/>
                  </a:rPr>
                  <a:t> makes </a:t>
                </a:r>
                <a:r>
                  <a:rPr lang="en-IN" sz="2400">
                    <a:solidFill>
                      <a:srgbClr val="111827"/>
                    </a:solidFill>
                    <a:latin typeface="Cambria Math" panose="02040503050406030204" pitchFamily="18" charset="0"/>
                  </a:rPr>
                  <a:t>$r^2$</a:t>
                </a:r>
                <a:r>
                  <a:rPr sz="2400" b="0">
                    <a:solidFill>
                      <a:srgbClr val="111827"/>
                    </a:solidFill>
                    <a:latin typeface="Arial"/>
                  </a:rPr>
                  <a:t> linear in </a:t>
                </a:r>
                <a:r>
                  <a:rPr lang="en-IN" sz="2400">
                    <a:solidFill>
                      <a:srgbClr val="111827"/>
                    </a:solidFill>
                    <a:latin typeface="Cambria Math" panose="02040503050406030204" pitchFamily="18" charset="0"/>
                  </a:rPr>
                  <a:t>$t$</a:t>
                </a:r>
                <a:r>
                  <a:rPr sz="2400" b="0">
                    <a:solidFill>
                      <a:srgbClr val="111827"/>
                    </a:solidFill>
                    <a:latin typeface="Arial"/>
                  </a:rPr>
                  <a:t>; constant </a:t>
                </a:r>
                <a:r>
                  <a:rPr lang="en-IN" sz="2400">
                    <a:solidFill>
                      <a:srgbClr val="111827"/>
                    </a:solidFill>
                    <a:latin typeface="Cambria Math" panose="02040503050406030204" pitchFamily="18" charset="0"/>
                  </a:rPr>
                  <a:t>$\frac{dr}{dt}$</a:t>
                </a:r>
                <a:r>
                  <a:rPr sz="2400" b="0">
                    <a:solidFill>
                      <a:srgbClr val="111827"/>
                    </a:solidFill>
                    <a:latin typeface="Arial"/>
                  </a:rPr>
                  <a:t> makes </a:t>
                </a:r>
                <a:r>
                  <a:rPr lang="en-IN" sz="2400">
                    <a:solidFill>
                      <a:srgbClr val="111827"/>
                    </a:solidFill>
                    <a:latin typeface="Cambria Math" panose="02040503050406030204" pitchFamily="18" charset="0"/>
                  </a:rPr>
                  <a:t>$r$</a:t>
                </a:r>
                <a:r>
                  <a:rPr sz="2400" b="0">
                    <a:solidFill>
                      <a:srgbClr val="111827"/>
                    </a:solidFill>
                    <a:latin typeface="Arial"/>
                  </a:rPr>
                  <a:t> linear.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Here </a:t>
                </a:r>
                <a:r>
                  <a:rPr lang="en-IN" sz="2400">
                    <a:solidFill>
                      <a:srgbClr val="111827"/>
                    </a:solidFill>
                    <a:latin typeface="Cambria Math" panose="02040503050406030204" pitchFamily="18" charset="0"/>
                  </a:rPr>
                  <a:t>$r^2$</a:t>
                </a:r>
                <a:r>
                  <a:rPr sz="2400" b="0">
                    <a:solidFill>
                      <a:srgbClr val="111827"/>
                    </a:solidFill>
                    <a:latin typeface="Arial"/>
                  </a:rPr>
                  <a:t> goes </a:t>
                </a:r>
                <a:r>
                  <a:rPr lang="en-IN" sz="2400">
                    <a:solidFill>
                      <a:srgbClr val="111827"/>
                    </a:solidFill>
                    <a:latin typeface="Cambria Math" panose="02040503050406030204" pitchFamily="18" charset="0"/>
                  </a:rPr>
                  <a:t>$9\to49$</a:t>
                </a:r>
                <a:r>
                  <a:rPr sz="2400" b="0">
                    <a:solidFill>
                      <a:srgbClr val="111827"/>
                    </a:solidFill>
                    <a:latin typeface="Arial"/>
                  </a:rPr>
                  <a:t> in 5 s, i.e. </a:t>
                </a:r>
                <a:r>
                  <a:rPr lang="en-IN" sz="2400">
                    <a:solidFill>
                      <a:srgbClr val="111827"/>
                    </a:solidFill>
                    <a:latin typeface="Cambria Math" panose="02040503050406030204" pitchFamily="18" charset="0"/>
                  </a:rPr>
                  <a:t>$8$</a:t>
                </a:r>
                <a:r>
                  <a:rPr sz="2400" b="0">
                    <a:solidFill>
                      <a:srgbClr val="111827"/>
                    </a:solidFill>
                    <a:latin typeface="Arial"/>
                  </a:rPr>
                  <a:t> per second, so </a:t>
                </a:r>
                <a:r>
                  <a:rPr lang="en-IN" sz="2400">
                    <a:solidFill>
                      <a:srgbClr val="111827"/>
                    </a:solidFill>
                    <a:latin typeface="Cambria Math" panose="02040503050406030204" pitchFamily="18" charset="0"/>
                  </a:rPr>
                  <a:t>$r^2(9)=9+72=81$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6629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the tangent at the point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on the curve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passes through the origin, then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does NOT lie on the curve: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81</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(B)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9</m:t>
                        </m:r>
                      </m:den>
                    </m:f>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endParaRPr sz="2400">
                  <a:solidFill>
                    <a:srgbClr val="111827"/>
                  </a:solidFill>
                </a:endParaRPr>
              </a:p>
            </p:txBody>
          </p:sp>
        </mc:Choice>
        <mc:Fallback>
          <p:sp>
            <p:nvSpPr>
              <p:cNvPr id="4" name="Rounded Rectangle 3"/>
              <p:cNvSpPr/>
              <p:nvPr/>
            </p:nvSpPr>
            <p:spPr>
              <a:xfrm>
                <a:off x="731520" y="1280160"/>
                <a:ext cx="10725912" cy="26629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the tangent at the point </a:t>
                </a:r>
                <a:r>
                  <a:rPr lang="en-IN" sz="2400">
                    <a:solidFill>
                      <a:srgbClr val="111827"/>
                    </a:solidFill>
                    <a:latin typeface="Cambria Math" panose="02040503050406030204" pitchFamily="18" charset="0"/>
                  </a:rPr>
                  <a:t>$(x_1,y_1)$</a:t>
                </a:r>
                <a:r>
                  <a:rPr sz="2400" b="0">
                    <a:solidFill>
                      <a:srgbClr val="111827"/>
                    </a:solidFill>
                    <a:latin typeface="Arial"/>
                  </a:rPr>
                  <a:t> on the curve </a:t>
                </a:r>
                <a:r>
                  <a:rPr lang="en-IN" sz="2400">
                    <a:solidFill>
                      <a:srgbClr val="111827"/>
                    </a:solidFill>
                    <a:latin typeface="Cambria Math" panose="02040503050406030204" pitchFamily="18" charset="0"/>
                  </a:rPr>
                  <a:t>$y=x^3+3x^2+5$</a:t>
                </a:r>
                <a:r>
                  <a:rPr sz="2400" b="0">
                    <a:solidFill>
                      <a:srgbClr val="111827"/>
                    </a:solidFill>
                    <a:latin typeface="Arial"/>
                  </a:rPr>
                  <a:t> passes through the origin, then </a:t>
                </a:r>
                <a:r>
                  <a:rPr lang="en-IN" sz="2400">
                    <a:solidFill>
                      <a:srgbClr val="111827"/>
                    </a:solidFill>
                    <a:latin typeface="Cambria Math" panose="02040503050406030204" pitchFamily="18" charset="0"/>
                  </a:rPr>
                  <a:t>$(x_1,y_1)$</a:t>
                </a:r>
                <a:r>
                  <a:rPr sz="2400" b="0">
                    <a:solidFill>
                      <a:srgbClr val="111827"/>
                    </a:solidFill>
                    <a:latin typeface="Arial"/>
                  </a:rPr>
                  <a:t> does NOT lie on the curve: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$x^2+\frac{y^2}{81}=2$</a:t>
                </a:r>
                <a:r>
                  <a:rPr sz="2400" b="0">
                    <a:solidFill>
                      <a:srgbClr val="111827"/>
                    </a:solidFill>
                    <a:latin typeface="Arial"/>
                  </a:rPr>
                  <a:t>   (B) </a:t>
                </a:r>
                <a:r>
                  <a:rPr lang="en-IN" sz="2400">
                    <a:solidFill>
                      <a:srgbClr val="111827"/>
                    </a:solidFill>
                    <a:latin typeface="Cambria Math" panose="02040503050406030204" pitchFamily="18" charset="0"/>
                  </a:rPr>
                  <a:t>$\frac{y^2}{9}-x^2=8$</a:t>
                </a:r>
                <a:r>
                  <a:rPr sz="2400" b="0">
                    <a:solidFill>
                      <a:srgbClr val="111827"/>
                    </a:solidFill>
                    <a:latin typeface="Arial"/>
                  </a:rPr>
                  <a:t>   (C) </a:t>
                </a:r>
                <a:r>
                  <a:rPr lang="en-IN" sz="2400">
                    <a:solidFill>
                      <a:srgbClr val="111827"/>
                    </a:solidFill>
                    <a:latin typeface="Cambria Math" panose="02040503050406030204" pitchFamily="18" charset="0"/>
                  </a:rPr>
                  <a:t>$y=4x^2+5$</a:t>
                </a:r>
                <a:r>
                  <a:rPr sz="2400" b="0">
                    <a:solidFill>
                      <a:srgbClr val="111827"/>
                    </a:solidFill>
                    <a:latin typeface="Arial"/>
                  </a:rPr>
                  <a:t>   (D) </a:t>
                </a:r>
                <a:r>
                  <a:rPr lang="en-IN" sz="2400">
                    <a:solidFill>
                      <a:srgbClr val="111827"/>
                    </a:solidFill>
                    <a:latin typeface="Cambria Math" panose="02040503050406030204" pitchFamily="18" charset="0"/>
                  </a:rPr>
                  <a:t>$\frac{x}{3}-y^2=2$</a:t>
                </a:r>
                <a:endParaRPr sz="2400">
                  <a:solidFill>
                    <a:srgbClr val="111827"/>
                  </a:solidFill>
                </a:endParaRPr>
              </a:p>
            </p:txBody>
          </p:sp>
        </mc:Fallback>
      </mc:AlternateContent>
      <p:sp>
        <p:nvSpPr>
          <p:cNvPr id="5" name="Rectangle 4"/>
          <p:cNvSpPr/>
          <p:nvPr/>
        </p:nvSpPr>
        <p:spPr>
          <a:xfrm>
            <a:off x="731520" y="4171695"/>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Tangent to a curve (tangent through a given point)</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A tangent through the origin has the same slope as the chord </a:t>
                </a:r>
                <a14:m>
                  <m:oMath xmlns:m="http://schemas.openxmlformats.org/officeDocument/2006/math">
                    <m:r>
                      <a:rPr lang="en-IN" sz="2400" i="1">
                        <a:solidFill>
                          <a:srgbClr val="78350F"/>
                        </a:solidFill>
                        <a:latin typeface="Cambria Math" panose="02040503050406030204" pitchFamily="18" charset="0"/>
                      </a:rPr>
                      <m:t>𝑂</m:t>
                    </m:r>
                    <m:r>
                      <a:rPr lang="en-IN" sz="2400" i="1">
                        <a:solidFill>
                          <a:srgbClr val="78350F"/>
                        </a:solidFill>
                        <a:latin typeface="Cambria Math" panose="02040503050406030204" pitchFamily="18" charset="0"/>
                      </a:rPr>
                      <m:t>𝑃</m:t>
                    </m:r>
                  </m:oMath>
                </a14:m>
                <a:r>
                  <a:rPr sz="2400" b="0">
                    <a:solidFill>
                      <a:srgbClr val="78350F"/>
                    </a:solidFill>
                    <a:latin typeface="Arial"/>
                  </a:rPr>
                  <a:t>, giving a cubic in </a:t>
                </a:r>
                <a14:m>
                  <m:oMath xmlns:m="http://schemas.openxmlformats.org/officeDocument/2006/math">
                    <m:r>
                      <a:rPr lang="en-IN" sz="2400" i="1">
                        <a:solidFill>
                          <a:srgbClr val="78350F"/>
                        </a:solidFill>
                        <a:latin typeface="Cambria Math" panose="02040503050406030204" pitchFamily="18" charset="0"/>
                      </a:rPr>
                      <m:t>α</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A tangent through the origin has the same slope as the chord </a:t>
                </a:r>
                <a:r>
                  <a:rPr lang="en-IN" sz="2400">
                    <a:solidFill>
                      <a:srgbClr val="78350F"/>
                    </a:solidFill>
                    <a:latin typeface="Cambria Math" panose="02040503050406030204" pitchFamily="18" charset="0"/>
                  </a:rPr>
                  <a:t>$OP$</a:t>
                </a:r>
                <a:r>
                  <a:rPr sz="2400" b="0">
                    <a:solidFill>
                      <a:srgbClr val="78350F"/>
                    </a:solidFill>
                    <a:latin typeface="Arial"/>
                  </a:rPr>
                  <a:t>, giving a cubic in </a:t>
                </a:r>
                <a:r>
                  <a:rPr lang="en-IN" sz="2400">
                    <a:solidFill>
                      <a:srgbClr val="78350F"/>
                    </a:solidFill>
                    <a:latin typeface="Cambria Math" panose="02040503050406030204" pitchFamily="18" charset="0"/>
                  </a:rPr>
                  <a:t>$\alpha$</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the point of tangency be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tangent slope there is </a:t>
                </a:r>
                <a14:m>
                  <m:oMath xmlns:m="http://schemas.openxmlformats.org/officeDocument/2006/math">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α</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tangent passes through </a:t>
                </a:r>
                <a14:m>
                  <m:oMath xmlns:m="http://schemas.openxmlformats.org/officeDocument/2006/math">
                    <m:r>
                      <a:rPr lang="en-IN" sz="2400" i="1">
                        <a:solidFill>
                          <a:srgbClr val="111827"/>
                        </a:solidFill>
                        <a:latin typeface="Cambria Math" panose="02040503050406030204" pitchFamily="18" charset="0"/>
                      </a:rPr>
                      <m:t>𝑂</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the slope of </a:t>
                </a:r>
                <a14:m>
                  <m:oMath xmlns:m="http://schemas.openxmlformats.org/officeDocument/2006/math">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𝑃</m:t>
                    </m:r>
                  </m:oMath>
                </a14:m>
                <a:r>
                  <a:rPr sz="2400" b="0">
                    <a:solidFill>
                      <a:srgbClr val="111827"/>
                    </a:solidFill>
                    <a:latin typeface="Arial"/>
                  </a:rPr>
                  <a:t> equals the tangent slope.</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α</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the point of tangency be </a:t>
                </a:r>
                <a:r>
                  <a:rPr lang="en-IN" sz="2400">
                    <a:solidFill>
                      <a:srgbClr val="111827"/>
                    </a:solidFill>
                    <a:latin typeface="Cambria Math" panose="02040503050406030204" pitchFamily="18" charset="0"/>
                  </a:rPr>
                  <a:t>$P(\alpha,\alpha^3+3\alpha^2+5)$</a:t>
                </a:r>
                <a:r>
                  <a:rPr sz="2400" b="0">
                    <a:solidFill>
                      <a:srgbClr val="111827"/>
                    </a:solidFill>
                    <a:latin typeface="Arial"/>
                  </a:rPr>
                  <a:t>; the tangent slope there is </a:t>
                </a:r>
                <a:r>
                  <a:rPr lang="en-IN" sz="2400">
                    <a:solidFill>
                      <a:srgbClr val="111827"/>
                    </a:solidFill>
                    <a:latin typeface="Cambria Math" panose="02040503050406030204" pitchFamily="18" charset="0"/>
                  </a:rPr>
                  <a:t>$3\alpha^2+6\alpha$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tangent passes through </a:t>
                </a:r>
                <a:r>
                  <a:rPr lang="en-IN" sz="2400">
                    <a:solidFill>
                      <a:srgbClr val="111827"/>
                    </a:solidFill>
                    <a:latin typeface="Cambria Math" panose="02040503050406030204" pitchFamily="18" charset="0"/>
                  </a:rPr>
                  <a:t>$O(0,0)$</a:t>
                </a:r>
                <a:r>
                  <a:rPr sz="2400" b="0">
                    <a:solidFill>
                      <a:srgbClr val="111827"/>
                    </a:solidFill>
                    <a:latin typeface="Arial"/>
                  </a:rPr>
                  <a:t>, so the slope of </a:t>
                </a:r>
                <a:r>
                  <a:rPr lang="en-IN" sz="2400">
                    <a:solidFill>
                      <a:srgbClr val="111827"/>
                    </a:solidFill>
                    <a:latin typeface="Cambria Math" panose="02040503050406030204" pitchFamily="18" charset="0"/>
                  </a:rPr>
                  <a:t>$OP$</a:t>
                </a:r>
                <a:r>
                  <a:rPr sz="2400" b="0">
                    <a:solidFill>
                      <a:srgbClr val="111827"/>
                    </a:solidFill>
                    <a:latin typeface="Arial"/>
                  </a:rPr>
                  <a:t> equals the tangent slope.</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$3\alpha^2+6\alpha=\frac{\alpha^3+3\alpha^2+5}{\alpha}$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$3\alpha^3+6\alpha^2=\alpha^3+3\alpha^2+5\Rightarrow2\alpha^3+3\alpha^2-5=0$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Factor: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the quadratic has negative discriminant, so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Test (A):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81</m:t>
                        </m:r>
                      </m:num>
                      <m:den>
                        <m:r>
                          <a:rPr lang="en-IN" sz="2400" i="1">
                            <a:solidFill>
                              <a:srgbClr val="111827"/>
                            </a:solidFill>
                            <a:latin typeface="Cambria Math" panose="02040503050406030204" pitchFamily="18" charset="0"/>
                          </a:rPr>
                          <m:t>81</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holds. (B):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81</m:t>
                        </m:r>
                      </m:num>
                      <m:den>
                        <m:r>
                          <a:rPr lang="en-IN" sz="2400" i="1">
                            <a:solidFill>
                              <a:srgbClr val="111827"/>
                            </a:solidFill>
                            <a:latin typeface="Cambria Math" panose="02040503050406030204" pitchFamily="18" charset="0"/>
                          </a:rPr>
                          <m:t>9</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holds. (C):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holds.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Test (D):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 does not lie on (D).</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Factor: </a:t>
                </a:r>
                <a:r>
                  <a:rPr lang="en-IN" sz="2400">
                    <a:solidFill>
                      <a:srgbClr val="111827"/>
                    </a:solidFill>
                    <a:latin typeface="Cambria Math" panose="02040503050406030204" pitchFamily="18" charset="0"/>
                  </a:rPr>
                  <a:t>$(\alpha-1)(2\alpha^2+5\alpha+5)=0$</a:t>
                </a:r>
                <a:r>
                  <a:rPr sz="2400" b="0">
                    <a:solidFill>
                      <a:srgbClr val="111827"/>
                    </a:solidFill>
                    <a:latin typeface="Arial"/>
                  </a:rPr>
                  <a:t>; the quadratic has negative discriminant, so </a:t>
                </a:r>
                <a:r>
                  <a:rPr lang="en-IN" sz="2400">
                    <a:solidFill>
                      <a:srgbClr val="111827"/>
                    </a:solidFill>
                    <a:latin typeface="Cambria Math" panose="02040503050406030204" pitchFamily="18" charset="0"/>
                  </a:rPr>
                  <a:t>$\alpha=1$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$P=(1,9)$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Test (A): </a:t>
                </a:r>
                <a:r>
                  <a:rPr lang="en-IN" sz="2400">
                    <a:solidFill>
                      <a:srgbClr val="111827"/>
                    </a:solidFill>
                    <a:latin typeface="Cambria Math" panose="02040503050406030204" pitchFamily="18" charset="0"/>
                  </a:rPr>
                  <a:t>$1+\frac{81}{81}=2$</a:t>
                </a:r>
                <a:r>
                  <a:rPr sz="2400" b="0">
                    <a:solidFill>
                      <a:srgbClr val="111827"/>
                    </a:solidFill>
                    <a:latin typeface="Arial"/>
                  </a:rPr>
                  <a:t> holds. (B): </a:t>
                </a:r>
                <a:r>
                  <a:rPr lang="en-IN" sz="2400">
                    <a:solidFill>
                      <a:srgbClr val="111827"/>
                    </a:solidFill>
                    <a:latin typeface="Cambria Math" panose="02040503050406030204" pitchFamily="18" charset="0"/>
                  </a:rPr>
                  <a:t>$\frac{81}{9}-1=8$</a:t>
                </a:r>
                <a:r>
                  <a:rPr sz="2400" b="0">
                    <a:solidFill>
                      <a:srgbClr val="111827"/>
                    </a:solidFill>
                    <a:latin typeface="Arial"/>
                  </a:rPr>
                  <a:t> holds. (C): </a:t>
                </a:r>
                <a:r>
                  <a:rPr lang="en-IN" sz="2400">
                    <a:solidFill>
                      <a:srgbClr val="111827"/>
                    </a:solidFill>
                    <a:latin typeface="Cambria Math" panose="02040503050406030204" pitchFamily="18" charset="0"/>
                  </a:rPr>
                  <a:t>$4(1)+5=9$</a:t>
                </a:r>
                <a:r>
                  <a:rPr sz="2400" b="0">
                    <a:solidFill>
                      <a:srgbClr val="111827"/>
                    </a:solidFill>
                    <a:latin typeface="Arial"/>
                  </a:rPr>
                  <a:t> holds.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Test (D): </a:t>
                </a:r>
                <a:r>
                  <a:rPr lang="en-IN" sz="2400">
                    <a:solidFill>
                      <a:srgbClr val="111827"/>
                    </a:solidFill>
                    <a:latin typeface="Cambria Math" panose="02040503050406030204" pitchFamily="18" charset="0"/>
                  </a:rPr>
                  <a:t>$\frac{1}{3}-81\neq2$</a:t>
                </a:r>
                <a:r>
                  <a:rPr sz="2400" b="0">
                    <a:solidFill>
                      <a:srgbClr val="111827"/>
                    </a:solidFill>
                    <a:latin typeface="Arial"/>
                  </a:rPr>
                  <a:t>, so </a:t>
                </a:r>
                <a:r>
                  <a:rPr lang="en-IN" sz="2400">
                    <a:solidFill>
                      <a:srgbClr val="111827"/>
                    </a:solidFill>
                    <a:latin typeface="Cambria Math" panose="02040503050406030204" pitchFamily="18" charset="0"/>
                  </a:rPr>
                  <a:t>$P$</a:t>
                </a:r>
                <a:r>
                  <a:rPr sz="2400" b="0">
                    <a:solidFill>
                      <a:srgbClr val="111827"/>
                    </a:solidFill>
                    <a:latin typeface="Arial"/>
                  </a:rPr>
                  <a:t> does not lie on (D).</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𝑥</m:t>
                        </m:r>
                      </m:num>
                      <m:den>
                        <m:r>
                          <a:rPr lang="en-IN" sz="2800" i="1">
                            <a:solidFill>
                              <a:srgbClr val="15803D"/>
                            </a:solidFill>
                            <a:latin typeface="Cambria Math" panose="02040503050406030204" pitchFamily="18" charset="0"/>
                          </a:rPr>
                          <m:t>3</m:t>
                        </m:r>
                      </m:den>
                    </m:f>
                    <m:r>
                      <m:rPr>
                        <m:sty m:val="p"/>
                      </m:rPr>
                      <a:rPr lang="en-IN" sz="2800">
                        <a:solidFill>
                          <a:srgbClr val="15803D"/>
                        </a:solidFill>
                        <a:latin typeface="Cambria Math" panose="02040503050406030204" pitchFamily="18" charset="0"/>
                      </a:rPr>
                      <m:t>−</m:t>
                    </m:r>
                    <m:sSup>
                      <m:e>
                        <m:r>
                          <a:rPr lang="en-IN" sz="2800" i="1">
                            <a:solidFill>
                              <a:srgbClr val="15803D"/>
                            </a:solidFill>
                            <a:latin typeface="Cambria Math" panose="02040503050406030204" pitchFamily="18" charset="0"/>
                          </a:rPr>
                          <m:t>𝑦</m:t>
                        </m:r>
                      </m:e>
                      <m:sup>
                        <m:r>
                          <a:rPr lang="en-IN" sz="2800" i="1">
                            <a:solidFill>
                              <a:srgbClr val="15803D"/>
                            </a:solidFill>
                            <a:latin typeface="Cambria Math" panose="02040503050406030204" pitchFamily="18" charset="0"/>
                          </a:rPr>
                          <m:t>2</m:t>
                        </m:r>
                      </m:sup>
                    </m:sSup>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2</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a:t>
                </a:r>
                <a:r>
                  <a:rPr lang="en-IN" sz="2800">
                    <a:solidFill>
                      <a:srgbClr val="15803D"/>
                    </a:solidFill>
                    <a:latin typeface="Cambria Math" panose="02040503050406030204" pitchFamily="18" charset="0"/>
                  </a:rPr>
                  <a:t>$\frac{x}{3}-y^2=2$</a:t>
                </a:r>
                <a:endParaRPr sz="2800">
                  <a:solidFill>
                    <a:srgbClr val="15803D"/>
                  </a:solidFill>
                </a:endParaRPr>
              </a:p>
            </p:txBody>
          </p:sp>
        </mc:Fallback>
      </mc:AlternateContent>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The line </a:t>
                </a:r>
                <a14:m>
                  <m:oMath xmlns:m="http://schemas.openxmlformats.org/officeDocument/2006/math">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𝑚</m:t>
                    </m:r>
                    <m:r>
                      <a:rPr lang="en-IN" sz="2400" i="1">
                        <a:solidFill>
                          <a:srgbClr val="78350F"/>
                        </a:solidFill>
                        <a:latin typeface="Cambria Math" panose="02040503050406030204" pitchFamily="18" charset="0"/>
                      </a:rPr>
                      <m:t>𝑥</m:t>
                    </m:r>
                  </m:oMath>
                </a14:m>
                <a:r>
                  <a:rPr sz="2400" b="0">
                    <a:solidFill>
                      <a:srgbClr val="78350F"/>
                    </a:solidFill>
                    <a:latin typeface="Arial"/>
                  </a:rPr>
                  <a:t> is tangent at </a:t>
                </a:r>
                <a14:m>
                  <m:oMath xmlns:m="http://schemas.openxmlformats.org/officeDocument/2006/math">
                    <m:r>
                      <a:rPr lang="en-IN" sz="2400" i="1">
                        <a:solidFill>
                          <a:srgbClr val="78350F"/>
                        </a:solidFill>
                        <a:latin typeface="Cambria Math" panose="02040503050406030204" pitchFamily="18" charset="0"/>
                      </a:rPr>
                      <m:t>𝑃</m:t>
                    </m:r>
                  </m:oMath>
                </a14:m>
                <a:r>
                  <a:rPr sz="2400" b="0">
                    <a:solidFill>
                      <a:srgbClr val="78350F"/>
                    </a:solidFill>
                    <a:latin typeface="Arial"/>
                  </a:rPr>
                  <a:t> exactly when </a:t>
                </a:r>
                <a14:m>
                  <m:oMath xmlns:m="http://schemas.openxmlformats.org/officeDocument/2006/math">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3</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𝑚</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5</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oMath>
                </a14:m>
                <a:r>
                  <a:rPr sz="2400" b="0">
                    <a:solidFill>
                      <a:srgbClr val="78350F"/>
                    </a:solidFill>
                    <a:latin typeface="Arial"/>
                  </a:rPr>
                  <a:t> has a double root at the point of tangency.</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The line </a:t>
                </a:r>
                <a:r>
                  <a:rPr lang="en-IN" sz="2400">
                    <a:solidFill>
                      <a:srgbClr val="78350F"/>
                    </a:solidFill>
                    <a:latin typeface="Cambria Math" panose="02040503050406030204" pitchFamily="18" charset="0"/>
                  </a:rPr>
                  <a:t>$y=mx$</a:t>
                </a:r>
                <a:r>
                  <a:rPr sz="2400" b="0">
                    <a:solidFill>
                      <a:srgbClr val="78350F"/>
                    </a:solidFill>
                    <a:latin typeface="Arial"/>
                  </a:rPr>
                  <a:t> is tangent at </a:t>
                </a:r>
                <a:r>
                  <a:rPr lang="en-IN" sz="2400">
                    <a:solidFill>
                      <a:srgbClr val="78350F"/>
                    </a:solidFill>
                    <a:latin typeface="Cambria Math" panose="02040503050406030204" pitchFamily="18" charset="0"/>
                  </a:rPr>
                  <a:t>$P$</a:t>
                </a:r>
                <a:r>
                  <a:rPr sz="2400" b="0">
                    <a:solidFill>
                      <a:srgbClr val="78350F"/>
                    </a:solidFill>
                    <a:latin typeface="Arial"/>
                  </a:rPr>
                  <a:t> exactly when </a:t>
                </a:r>
                <a:r>
                  <a:rPr lang="en-IN" sz="2400">
                    <a:solidFill>
                      <a:srgbClr val="78350F"/>
                    </a:solidFill>
                    <a:latin typeface="Cambria Math" panose="02040503050406030204" pitchFamily="18" charset="0"/>
                  </a:rPr>
                  <a:t>$x^3+3x^2-mx+5=0$</a:t>
                </a:r>
                <a:r>
                  <a:rPr sz="2400" b="0">
                    <a:solidFill>
                      <a:srgbClr val="78350F"/>
                    </a:solidFill>
                    <a:latin typeface="Arial"/>
                  </a:rPr>
                  <a:t> has a double root at the point of tangency.</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tangent through </a:t>
                </a:r>
                <a14:m>
                  <m:oMath xmlns:m="http://schemas.openxmlformats.org/officeDocument/2006/math">
                    <m:r>
                      <a:rPr lang="en-IN" sz="2400" i="1">
                        <a:solidFill>
                          <a:srgbClr val="111827"/>
                        </a:solidFill>
                        <a:latin typeface="Cambria Math" panose="02040503050406030204" pitchFamily="18" charset="0"/>
                      </a:rPr>
                      <m:t>𝑂</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a:rPr lang="en-IN" sz="2400" i="1">
                        <a:solidFill>
                          <a:srgbClr val="111827"/>
                        </a:solidFill>
                        <a:latin typeface="Cambria Math" panose="02040503050406030204" pitchFamily="18" charset="0"/>
                      </a:rPr>
                      <m:t>𝑥</m:t>
                    </m:r>
                  </m:oMath>
                </a14:m>
                <a:r>
                  <a:rPr sz="2400" b="0">
                    <a:solidFill>
                      <a:srgbClr val="111827"/>
                    </a:solidFill>
                    <a:latin typeface="Arial"/>
                  </a:rPr>
                  <a:t>; it meets the curve where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Tangency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oMath>
                </a14:m>
                <a:r>
                  <a:rPr sz="2400" b="0">
                    <a:solidFill>
                      <a:srgbClr val="111827"/>
                    </a:solidFill>
                    <a:latin typeface="Arial"/>
                  </a:rPr>
                  <a:t> means a double root: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Compare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coefficients: </a:t>
                </a:r>
                <a14:m>
                  <m:oMath xmlns:m="http://schemas.openxmlformats.org/officeDocument/2006/math">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compare constants: </a:t>
                </a:r>
                <a14:m>
                  <m:oMath xmlns:m="http://schemas.openxmlformats.org/officeDocument/2006/math">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tangent through </a:t>
                </a:r>
                <a:r>
                  <a:rPr lang="en-IN" sz="2400">
                    <a:solidFill>
                      <a:srgbClr val="111827"/>
                    </a:solidFill>
                    <a:latin typeface="Cambria Math" panose="02040503050406030204" pitchFamily="18" charset="0"/>
                  </a:rPr>
                  <a:t>$O$</a:t>
                </a:r>
                <a:r>
                  <a:rPr sz="2400" b="0">
                    <a:solidFill>
                      <a:srgbClr val="111827"/>
                    </a:solidFill>
                    <a:latin typeface="Arial"/>
                  </a:rPr>
                  <a:t> is </a:t>
                </a:r>
                <a:r>
                  <a:rPr lang="en-IN" sz="2400">
                    <a:solidFill>
                      <a:srgbClr val="111827"/>
                    </a:solidFill>
                    <a:latin typeface="Cambria Math" panose="02040503050406030204" pitchFamily="18" charset="0"/>
                  </a:rPr>
                  <a:t>$y=mx$</a:t>
                </a:r>
                <a:r>
                  <a:rPr sz="2400" b="0">
                    <a:solidFill>
                      <a:srgbClr val="111827"/>
                    </a:solidFill>
                    <a:latin typeface="Arial"/>
                  </a:rPr>
                  <a:t>; it meets the curve where </a:t>
                </a:r>
                <a:r>
                  <a:rPr lang="en-IN" sz="2400">
                    <a:solidFill>
                      <a:srgbClr val="111827"/>
                    </a:solidFill>
                    <a:latin typeface="Cambria Math" panose="02040503050406030204" pitchFamily="18" charset="0"/>
                  </a:rPr>
                  <a:t>$x^3+3x^2-mx+5=0$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Tangency at </a:t>
                </a:r>
                <a:r>
                  <a:rPr lang="en-IN" sz="2400">
                    <a:solidFill>
                      <a:srgbClr val="111827"/>
                    </a:solidFill>
                    <a:latin typeface="Cambria Math" panose="02040503050406030204" pitchFamily="18" charset="0"/>
                  </a:rPr>
                  <a:t>$x=\alpha$</a:t>
                </a:r>
                <a:r>
                  <a:rPr sz="2400" b="0">
                    <a:solidFill>
                      <a:srgbClr val="111827"/>
                    </a:solidFill>
                    <a:latin typeface="Arial"/>
                  </a:rPr>
                  <a:t> means a double root: </a:t>
                </a:r>
                <a:r>
                  <a:rPr lang="en-IN" sz="2400">
                    <a:solidFill>
                      <a:srgbClr val="111827"/>
                    </a:solidFill>
                    <a:latin typeface="Cambria Math" panose="02040503050406030204" pitchFamily="18" charset="0"/>
                  </a:rPr>
                  <a:t>$x^3+3x^2-mx+5=(x-\alpha)^2(x+\beta)$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Compare </a:t>
                </a:r>
                <a:r>
                  <a:rPr lang="en-IN" sz="2400">
                    <a:solidFill>
                      <a:srgbClr val="111827"/>
                    </a:solidFill>
                    <a:latin typeface="Cambria Math" panose="02040503050406030204" pitchFamily="18" charset="0"/>
                  </a:rPr>
                  <a:t>$x^2$</a:t>
                </a:r>
                <a:r>
                  <a:rPr sz="2400" b="0">
                    <a:solidFill>
                      <a:srgbClr val="111827"/>
                    </a:solidFill>
                    <a:latin typeface="Arial"/>
                  </a:rPr>
                  <a:t> coefficients: </a:t>
                </a:r>
                <a:r>
                  <a:rPr lang="en-IN" sz="2400">
                    <a:solidFill>
                      <a:srgbClr val="111827"/>
                    </a:solidFill>
                    <a:latin typeface="Cambria Math" panose="02040503050406030204" pitchFamily="18" charset="0"/>
                  </a:rPr>
                  <a:t>$\beta-2\alpha=3$</a:t>
                </a:r>
                <a:r>
                  <a:rPr sz="2400" b="0">
                    <a:solidFill>
                      <a:srgbClr val="111827"/>
                    </a:solidFill>
                    <a:latin typeface="Arial"/>
                  </a:rPr>
                  <a:t>; compare constants: </a:t>
                </a:r>
                <a:r>
                  <a:rPr lang="en-IN" sz="2400">
                    <a:solidFill>
                      <a:srgbClr val="111827"/>
                    </a:solidFill>
                    <a:latin typeface="Cambria Math" panose="02040503050406030204" pitchFamily="18" charset="0"/>
                  </a:rPr>
                  <a:t>$\alpha^2\beta=5$</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giving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(the only real root).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a:t>
                </a:r>
                <a14:m>
                  <m:oMath xmlns:m="http://schemas.openxmlformats.org/officeDocument/2006/math">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and the point is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Testing the four curves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only (D) fails.</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$\alpha^2(3+2\alpha)=5$</a:t>
                </a:r>
                <a:r>
                  <a:rPr sz="2400" b="0">
                    <a:solidFill>
                      <a:srgbClr val="111827"/>
                    </a:solidFill>
                    <a:latin typeface="Arial"/>
                  </a:rPr>
                  <a:t>, i.e. </a:t>
                </a:r>
                <a:r>
                  <a:rPr lang="en-IN" sz="2400">
                    <a:solidFill>
                      <a:srgbClr val="111827"/>
                    </a:solidFill>
                    <a:latin typeface="Cambria Math" panose="02040503050406030204" pitchFamily="18" charset="0"/>
                  </a:rPr>
                  <a:t>$2\alpha^3+3\alpha^2-5=0$</a:t>
                </a:r>
                <a:r>
                  <a:rPr sz="2400" b="0">
                    <a:solidFill>
                      <a:srgbClr val="111827"/>
                    </a:solidFill>
                    <a:latin typeface="Arial"/>
                  </a:rPr>
                  <a:t>, giving </a:t>
                </a:r>
                <a:r>
                  <a:rPr lang="en-IN" sz="2400">
                    <a:solidFill>
                      <a:srgbClr val="111827"/>
                    </a:solidFill>
                    <a:latin typeface="Cambria Math" panose="02040503050406030204" pitchFamily="18" charset="0"/>
                  </a:rPr>
                  <a:t>$\alpha=1$</a:t>
                </a:r>
                <a:r>
                  <a:rPr sz="2400" b="0">
                    <a:solidFill>
                      <a:srgbClr val="111827"/>
                    </a:solidFill>
                    <a:latin typeface="Arial"/>
                  </a:rPr>
                  <a:t> (the only real root).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a:t>
                </a:r>
                <a:r>
                  <a:rPr lang="en-IN" sz="2400">
                    <a:solidFill>
                      <a:srgbClr val="111827"/>
                    </a:solidFill>
                    <a:latin typeface="Cambria Math" panose="02040503050406030204" pitchFamily="18" charset="0"/>
                  </a:rPr>
                  <a:t>$\beta=5$</a:t>
                </a:r>
                <a:r>
                  <a:rPr sz="2400" b="0">
                    <a:solidFill>
                      <a:srgbClr val="111827"/>
                    </a:solidFill>
                    <a:latin typeface="Arial"/>
                  </a:rPr>
                  <a:t>, </a:t>
                </a:r>
                <a:r>
                  <a:rPr lang="en-IN" sz="2400">
                    <a:solidFill>
                      <a:srgbClr val="111827"/>
                    </a:solidFill>
                    <a:latin typeface="Cambria Math" panose="02040503050406030204" pitchFamily="18" charset="0"/>
                  </a:rPr>
                  <a:t>$m=9$</a:t>
                </a:r>
                <a:r>
                  <a:rPr sz="2400" b="0">
                    <a:solidFill>
                      <a:srgbClr val="111827"/>
                    </a:solidFill>
                    <a:latin typeface="Arial"/>
                  </a:rPr>
                  <a:t> and the point is </a:t>
                </a:r>
                <a:r>
                  <a:rPr lang="en-IN" sz="2400">
                    <a:solidFill>
                      <a:srgbClr val="111827"/>
                    </a:solidFill>
                    <a:latin typeface="Cambria Math" panose="02040503050406030204" pitchFamily="18" charset="0"/>
                  </a:rPr>
                  <a:t>$(1,9)$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Testing the four curves at </a:t>
                </a:r>
                <a:r>
                  <a:rPr lang="en-IN" sz="2400">
                    <a:solidFill>
                      <a:srgbClr val="111827"/>
                    </a:solidFill>
                    <a:latin typeface="Cambria Math" panose="02040503050406030204" pitchFamily="18" charset="0"/>
                  </a:rPr>
                  <a:t>$(1,9)$</a:t>
                </a:r>
                <a:r>
                  <a:rPr sz="2400" b="0">
                    <a:solidFill>
                      <a:srgbClr val="111827"/>
                    </a:solidFill>
                    <a:latin typeface="Arial"/>
                  </a:rPr>
                  <a:t>, only (D) fails.</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𝑥</m:t>
                        </m:r>
                      </m:num>
                      <m:den>
                        <m:r>
                          <a:rPr lang="en-IN" sz="2800" i="1">
                            <a:solidFill>
                              <a:srgbClr val="15803D"/>
                            </a:solidFill>
                            <a:latin typeface="Cambria Math" panose="02040503050406030204" pitchFamily="18" charset="0"/>
                          </a:rPr>
                          <m:t>3</m:t>
                        </m:r>
                      </m:den>
                    </m:f>
                    <m:r>
                      <m:rPr>
                        <m:sty m:val="p"/>
                      </m:rPr>
                      <a:rPr lang="en-IN" sz="2800">
                        <a:solidFill>
                          <a:srgbClr val="15803D"/>
                        </a:solidFill>
                        <a:latin typeface="Cambria Math" panose="02040503050406030204" pitchFamily="18" charset="0"/>
                      </a:rPr>
                      <m:t>−</m:t>
                    </m:r>
                    <m:sSup>
                      <m:e>
                        <m:r>
                          <a:rPr lang="en-IN" sz="2800" i="1">
                            <a:solidFill>
                              <a:srgbClr val="15803D"/>
                            </a:solidFill>
                            <a:latin typeface="Cambria Math" panose="02040503050406030204" pitchFamily="18" charset="0"/>
                          </a:rPr>
                          <m:t>𝑦</m:t>
                        </m:r>
                      </m:e>
                      <m:sup>
                        <m:r>
                          <a:rPr lang="en-IN" sz="2800" i="1">
                            <a:solidFill>
                              <a:srgbClr val="15803D"/>
                            </a:solidFill>
                            <a:latin typeface="Cambria Math" panose="02040503050406030204" pitchFamily="18" charset="0"/>
                          </a:rPr>
                          <m:t>2</m:t>
                        </m:r>
                      </m:sup>
                    </m:sSup>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2</m:t>
                    </m:r>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a:t>
                </a:r>
                <a:r>
                  <a:rPr lang="en-IN" sz="2800">
                    <a:solidFill>
                      <a:srgbClr val="15803D"/>
                    </a:solidFill>
                    <a:latin typeface="Cambria Math" panose="02040503050406030204" pitchFamily="18" charset="0"/>
                  </a:rPr>
                  <a:t>$\frac{x}{3}-y^2=2$</a:t>
                </a:r>
                <a:endParaRPr sz="2800">
                  <a:solidFill>
                    <a:srgbClr val="15803D"/>
                  </a:solidFill>
                </a:endParaRPr>
              </a:p>
            </p:txBody>
          </p:sp>
        </mc:Fallback>
      </mc:AlternateContent>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line is tangent to a polynomial curve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oMath>
                </a14:m>
                <a:r>
                  <a:rPr sz="2400" b="0">
                    <a:solidFill>
                      <a:srgbClr val="111827"/>
                    </a:solidFill>
                    <a:latin typeface="Arial"/>
                  </a:rPr>
                  <a:t> iff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divides the (polynomial minus line).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Tangent from an external point: put the point-of-contact slope equal to the slope joining the contact point to that external point.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the tangent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oMath>
                </a14:m>
                <a:r>
                  <a:rPr sz="2400" b="0">
                    <a:solidFill>
                      <a:srgbClr val="111827"/>
                    </a:solidFill>
                    <a:latin typeface="Arial"/>
                  </a:rPr>
                  <a:t>; passing through </a:t>
                </a:r>
                <a14:m>
                  <m:oMath xmlns:m="http://schemas.openxmlformats.org/officeDocument/2006/math">
                    <m:r>
                      <a:rPr lang="en-IN" sz="2400" i="1">
                        <a:solidFill>
                          <a:srgbClr val="111827"/>
                        </a:solidFill>
                        <a:latin typeface="Cambria Math" panose="02040503050406030204" pitchFamily="18" charset="0"/>
                      </a:rPr>
                      <m:t>𝑂</m:t>
                    </m:r>
                  </m:oMath>
                </a14:m>
                <a:r>
                  <a:rPr sz="2400" b="0">
                    <a:solidFill>
                      <a:srgbClr val="111827"/>
                    </a:solidFill>
                    <a:latin typeface="Arial"/>
                  </a:rPr>
                  <a:t> needs </a:t>
                </a:r>
                <a14:m>
                  <m:oMath xmlns:m="http://schemas.openxmlformats.org/officeDocument/2006/math">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Always substitute the point into every option; 'does NOT lie' questions need all three others to hold as a check.</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line is tangent to a polynomial curve at </a:t>
                </a:r>
                <a:r>
                  <a:rPr lang="en-IN" sz="2400">
                    <a:solidFill>
                      <a:srgbClr val="111827"/>
                    </a:solidFill>
                    <a:latin typeface="Cambria Math" panose="02040503050406030204" pitchFamily="18" charset="0"/>
                  </a:rPr>
                  <a:t>$x=\alpha$</a:t>
                </a:r>
                <a:r>
                  <a:rPr sz="2400" b="0">
                    <a:solidFill>
                      <a:srgbClr val="111827"/>
                    </a:solidFill>
                    <a:latin typeface="Arial"/>
                  </a:rPr>
                  <a:t> iff </a:t>
                </a:r>
                <a:r>
                  <a:rPr lang="en-IN" sz="2400">
                    <a:solidFill>
                      <a:srgbClr val="111827"/>
                    </a:solidFill>
                    <a:latin typeface="Cambria Math" panose="02040503050406030204" pitchFamily="18" charset="0"/>
                  </a:rPr>
                  <a:t>$(x-\alpha)^2$</a:t>
                </a:r>
                <a:r>
                  <a:rPr sz="2400" b="0">
                    <a:solidFill>
                      <a:srgbClr val="111827"/>
                    </a:solidFill>
                    <a:latin typeface="Arial"/>
                  </a:rPr>
                  <a:t> divides the (polynomial minus line).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Tangent from an external point: put the point-of-contact slope equal to the slope joining the contact point to that external point.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$y=x^3+3x^2+5$</a:t>
                </a:r>
                <a:r>
                  <a:rPr sz="2400" b="0">
                    <a:solidFill>
                      <a:srgbClr val="111827"/>
                    </a:solidFill>
                    <a:latin typeface="Arial"/>
                  </a:rPr>
                  <a:t> the tangent at </a:t>
                </a:r>
                <a:r>
                  <a:rPr lang="en-IN" sz="2400">
                    <a:solidFill>
                      <a:srgbClr val="111827"/>
                    </a:solidFill>
                    <a:latin typeface="Cambria Math" panose="02040503050406030204" pitchFamily="18" charset="0"/>
                  </a:rPr>
                  <a:t>$x=\alpha$</a:t>
                </a:r>
                <a:r>
                  <a:rPr sz="2400" b="0">
                    <a:solidFill>
                      <a:srgbClr val="111827"/>
                    </a:solidFill>
                    <a:latin typeface="Arial"/>
                  </a:rPr>
                  <a:t> is </a:t>
                </a:r>
                <a:r>
                  <a:rPr lang="en-IN" sz="2400">
                    <a:solidFill>
                      <a:srgbClr val="111827"/>
                    </a:solidFill>
                    <a:latin typeface="Cambria Math" panose="02040503050406030204" pitchFamily="18" charset="0"/>
                  </a:rPr>
                  <a:t>$y=(3\alpha^2+6\alpha)x+(5-2\alpha^3-3\alpha^2)$</a:t>
                </a:r>
                <a:r>
                  <a:rPr sz="2400" b="0">
                    <a:solidFill>
                      <a:srgbClr val="111827"/>
                    </a:solidFill>
                    <a:latin typeface="Arial"/>
                  </a:rPr>
                  <a:t>; passing through </a:t>
                </a:r>
                <a:r>
                  <a:rPr lang="en-IN" sz="2400">
                    <a:solidFill>
                      <a:srgbClr val="111827"/>
                    </a:solidFill>
                    <a:latin typeface="Cambria Math" panose="02040503050406030204" pitchFamily="18" charset="0"/>
                  </a:rPr>
                  <a:t>$O$</a:t>
                </a:r>
                <a:r>
                  <a:rPr sz="2400" b="0">
                    <a:solidFill>
                      <a:srgbClr val="111827"/>
                    </a:solidFill>
                    <a:latin typeface="Arial"/>
                  </a:rPr>
                  <a:t> needs </a:t>
                </a:r>
                <a:r>
                  <a:rPr lang="en-IN" sz="2400">
                    <a:solidFill>
                      <a:srgbClr val="111827"/>
                    </a:solidFill>
                    <a:latin typeface="Cambria Math" panose="02040503050406030204" pitchFamily="18" charset="0"/>
                  </a:rPr>
                  <a:t>$2\alpha^3+3\alpha^2=5$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Always substitute the point into every option; 'does NOT lie' questions need all three others to hold as a check.</a:t>
                </a:r>
                <a:endParaRPr sz="2400">
                  <a:solidFill>
                    <a:srgbClr val="111827"/>
                  </a:solidFill>
                </a:endParaRPr>
              </a:p>
            </p:txBody>
          </p:sp>
        </mc:Fallback>
      </mc:AlternateContent>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92506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Water is being filled at the rate of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cm</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oMath>
                </a14:m>
                <a:r>
                  <a:rPr sz="2400" b="0">
                    <a:solidFill>
                      <a:srgbClr val="111827"/>
                    </a:solidFill>
                    <a:latin typeface="Arial"/>
                  </a:rPr>
                  <a:t>/sec in a right circular conical vessel (vertex downwards) of height </a:t>
                </a:r>
                <a14:m>
                  <m:oMath xmlns:m="http://schemas.openxmlformats.org/officeDocument/2006/math">
                    <m:r>
                      <a:rPr lang="en-IN" sz="2400" i="1">
                        <a:solidFill>
                          <a:srgbClr val="111827"/>
                        </a:solidFill>
                        <a:latin typeface="Cambria Math" panose="02040503050406030204" pitchFamily="18" charset="0"/>
                      </a:rPr>
                      <m:t>35</m:t>
                    </m:r>
                  </m:oMath>
                </a14:m>
                <a:r>
                  <a:rPr sz="2400" b="0">
                    <a:solidFill>
                      <a:srgbClr val="111827"/>
                    </a:solidFill>
                    <a:latin typeface="Arial"/>
                  </a:rPr>
                  <a:t> cm and diameter </a:t>
                </a:r>
                <a14:m>
                  <m:oMath xmlns:m="http://schemas.openxmlformats.org/officeDocument/2006/math">
                    <m:r>
                      <a:rPr lang="en-IN" sz="2400" i="1">
                        <a:solidFill>
                          <a:srgbClr val="111827"/>
                        </a:solidFill>
                        <a:latin typeface="Cambria Math" panose="02040503050406030204" pitchFamily="18" charset="0"/>
                      </a:rPr>
                      <m:t>14</m:t>
                    </m:r>
                  </m:oMath>
                </a14:m>
                <a:r>
                  <a:rPr sz="2400" b="0">
                    <a:solidFill>
                      <a:srgbClr val="111827"/>
                    </a:solidFill>
                    <a:latin typeface="Arial"/>
                  </a:rPr>
                  <a:t> cm. When the height of the water level is </a:t>
                </a:r>
                <a14:m>
                  <m:oMath xmlns:m="http://schemas.openxmlformats.org/officeDocument/2006/math">
                    <m:r>
                      <a:rPr lang="en-IN" sz="2400" i="1">
                        <a:solidFill>
                          <a:srgbClr val="111827"/>
                        </a:solidFill>
                        <a:latin typeface="Cambria Math" panose="02040503050406030204" pitchFamily="18" charset="0"/>
                      </a:rPr>
                      <m:t>10</m:t>
                    </m:r>
                  </m:oMath>
                </a14:m>
                <a:r>
                  <a:rPr sz="2400" b="0">
                    <a:solidFill>
                      <a:srgbClr val="111827"/>
                    </a:solidFill>
                    <a:latin typeface="Arial"/>
                  </a:rPr>
                  <a:t> cm, the rate (in cm</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/sec) at which the wet conical surface area of the vessel increases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5   (B) </a:t>
                </a:r>
                <a14:m>
                  <m:oMath xmlns:m="http://schemas.openxmlformats.org/officeDocument/2006/math">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21</m:t>
                            </m:r>
                          </m:e>
                        </m:rad>
                      </m:num>
                      <m:den>
                        <m:r>
                          <a:rPr lang="en-IN" sz="2400" i="1">
                            <a:solidFill>
                              <a:srgbClr val="111827"/>
                            </a:solidFill>
                            <a:latin typeface="Cambria Math" panose="02040503050406030204" pitchFamily="18" charset="0"/>
                          </a:rPr>
                          <m:t>5</m:t>
                        </m:r>
                      </m:den>
                    </m:f>
                  </m:oMath>
                </a14:m>
                <a:r>
                  <a:rPr sz="2400" b="0">
                    <a:solidFill>
                      <a:srgbClr val="111827"/>
                    </a:solidFill>
                    <a:latin typeface="Arial"/>
                  </a:rPr>
                  <a:t>   (C) </a:t>
                </a:r>
                <a14:m>
                  <m:oMath xmlns:m="http://schemas.openxmlformats.org/officeDocument/2006/math">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26</m:t>
                            </m:r>
                          </m:e>
                        </m:rad>
                      </m:num>
                      <m:den>
                        <m:r>
                          <a:rPr lang="en-IN" sz="2400" i="1">
                            <a:solidFill>
                              <a:srgbClr val="111827"/>
                            </a:solidFill>
                            <a:latin typeface="Cambria Math" panose="02040503050406030204" pitchFamily="18" charset="0"/>
                          </a:rPr>
                          <m:t>5</m:t>
                        </m:r>
                      </m:den>
                    </m:f>
                  </m:oMath>
                </a14:m>
                <a:r>
                  <a:rPr sz="2400" b="0">
                    <a:solidFill>
                      <a:srgbClr val="111827"/>
                    </a:solidFill>
                    <a:latin typeface="Arial"/>
                  </a:rPr>
                  <a:t>   (D) </a:t>
                </a:r>
                <a14:m>
                  <m:oMath xmlns:m="http://schemas.openxmlformats.org/officeDocument/2006/math">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26</m:t>
                            </m:r>
                          </m:e>
                        </m:rad>
                      </m:num>
                      <m:den>
                        <m:r>
                          <a:rPr lang="en-IN" sz="2400" i="1">
                            <a:solidFill>
                              <a:srgbClr val="111827"/>
                            </a:solidFill>
                            <a:latin typeface="Cambria Math" panose="02040503050406030204" pitchFamily="18" charset="0"/>
                          </a:rPr>
                          <m:t>10</m:t>
                        </m:r>
                      </m:den>
                    </m:f>
                  </m:oMath>
                </a14:m>
                <a:endParaRPr sz="2400">
                  <a:solidFill>
                    <a:srgbClr val="111827"/>
                  </a:solidFill>
                </a:endParaRPr>
              </a:p>
            </p:txBody>
          </p:sp>
        </mc:Choice>
        <mc:Fallback>
          <p:sp>
            <p:nvSpPr>
              <p:cNvPr id="4" name="Rounded Rectangle 3"/>
              <p:cNvSpPr/>
              <p:nvPr/>
            </p:nvSpPr>
            <p:spPr>
              <a:xfrm>
                <a:off x="731520" y="1280160"/>
                <a:ext cx="10725912" cy="292506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Water is being filled at the rate of </a:t>
                </a:r>
                <a:r>
                  <a:rPr lang="en-IN" sz="2400">
                    <a:solidFill>
                      <a:srgbClr val="111827"/>
                    </a:solidFill>
                    <a:latin typeface="Cambria Math" panose="02040503050406030204" pitchFamily="18" charset="0"/>
                  </a:rPr>
                  <a:t>$1$</a:t>
                </a:r>
                <a:r>
                  <a:rPr sz="2400" b="0">
                    <a:solidFill>
                      <a:srgbClr val="111827"/>
                    </a:solidFill>
                    <a:latin typeface="Arial"/>
                  </a:rPr>
                  <a:t> cm</a:t>
                </a:r>
                <a:r>
                  <a:rPr lang="en-IN" sz="2400">
                    <a:solidFill>
                      <a:srgbClr val="111827"/>
                    </a:solidFill>
                    <a:latin typeface="Cambria Math" panose="02040503050406030204" pitchFamily="18" charset="0"/>
                  </a:rPr>
                  <a:t>$^3$</a:t>
                </a:r>
                <a:r>
                  <a:rPr sz="2400" b="0">
                    <a:solidFill>
                      <a:srgbClr val="111827"/>
                    </a:solidFill>
                    <a:latin typeface="Arial"/>
                  </a:rPr>
                  <a:t>/sec in a right circular conical vessel (vertex downwards) of height </a:t>
                </a:r>
                <a:r>
                  <a:rPr lang="en-IN" sz="2400">
                    <a:solidFill>
                      <a:srgbClr val="111827"/>
                    </a:solidFill>
                    <a:latin typeface="Cambria Math" panose="02040503050406030204" pitchFamily="18" charset="0"/>
                  </a:rPr>
                  <a:t>$35$</a:t>
                </a:r>
                <a:r>
                  <a:rPr sz="2400" b="0">
                    <a:solidFill>
                      <a:srgbClr val="111827"/>
                    </a:solidFill>
                    <a:latin typeface="Arial"/>
                  </a:rPr>
                  <a:t> cm and diameter </a:t>
                </a:r>
                <a:r>
                  <a:rPr lang="en-IN" sz="2400">
                    <a:solidFill>
                      <a:srgbClr val="111827"/>
                    </a:solidFill>
                    <a:latin typeface="Cambria Math" panose="02040503050406030204" pitchFamily="18" charset="0"/>
                  </a:rPr>
                  <a:t>$14$</a:t>
                </a:r>
                <a:r>
                  <a:rPr sz="2400" b="0">
                    <a:solidFill>
                      <a:srgbClr val="111827"/>
                    </a:solidFill>
                    <a:latin typeface="Arial"/>
                  </a:rPr>
                  <a:t> cm. When the height of the water level is </a:t>
                </a:r>
                <a:r>
                  <a:rPr lang="en-IN" sz="2400">
                    <a:solidFill>
                      <a:srgbClr val="111827"/>
                    </a:solidFill>
                    <a:latin typeface="Cambria Math" panose="02040503050406030204" pitchFamily="18" charset="0"/>
                  </a:rPr>
                  <a:t>$10$</a:t>
                </a:r>
                <a:r>
                  <a:rPr sz="2400" b="0">
                    <a:solidFill>
                      <a:srgbClr val="111827"/>
                    </a:solidFill>
                    <a:latin typeface="Arial"/>
                  </a:rPr>
                  <a:t> cm, the rate (in cm</a:t>
                </a:r>
                <a:r>
                  <a:rPr lang="en-IN" sz="2400">
                    <a:solidFill>
                      <a:srgbClr val="111827"/>
                    </a:solidFill>
                    <a:latin typeface="Cambria Math" panose="02040503050406030204" pitchFamily="18" charset="0"/>
                  </a:rPr>
                  <a:t>$^2$</a:t>
                </a:r>
                <a:r>
                  <a:rPr sz="2400" b="0">
                    <a:solidFill>
                      <a:srgbClr val="111827"/>
                    </a:solidFill>
                    <a:latin typeface="Arial"/>
                  </a:rPr>
                  <a:t>/sec) at which the wet conical surface area of the vessel increases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5   (B) </a:t>
                </a:r>
                <a:r>
                  <a:rPr lang="en-IN" sz="2400">
                    <a:solidFill>
                      <a:srgbClr val="111827"/>
                    </a:solidFill>
                    <a:latin typeface="Cambria Math" panose="02040503050406030204" pitchFamily="18" charset="0"/>
                  </a:rPr>
                  <a:t>$\frac{\sqrt{21}}{5}$</a:t>
                </a:r>
                <a:r>
                  <a:rPr sz="2400" b="0">
                    <a:solidFill>
                      <a:srgbClr val="111827"/>
                    </a:solidFill>
                    <a:latin typeface="Arial"/>
                  </a:rPr>
                  <a:t>   (C) </a:t>
                </a:r>
                <a:r>
                  <a:rPr lang="en-IN" sz="2400">
                    <a:solidFill>
                      <a:srgbClr val="111827"/>
                    </a:solidFill>
                    <a:latin typeface="Cambria Math" panose="02040503050406030204" pitchFamily="18" charset="0"/>
                  </a:rPr>
                  <a:t>$\frac{\sqrt{26}}{5}$</a:t>
                </a:r>
                <a:r>
                  <a:rPr sz="2400" b="0">
                    <a:solidFill>
                      <a:srgbClr val="111827"/>
                    </a:solidFill>
                    <a:latin typeface="Arial"/>
                  </a:rPr>
                  <a:t>   (D) </a:t>
                </a:r>
                <a:r>
                  <a:rPr lang="en-IN" sz="2400">
                    <a:solidFill>
                      <a:srgbClr val="111827"/>
                    </a:solidFill>
                    <a:latin typeface="Cambria Math" panose="02040503050406030204" pitchFamily="18" charset="0"/>
                  </a:rPr>
                  <a:t>$\frac{\sqrt{26}}{10}$</a:t>
                </a:r>
                <a:endParaRPr sz="2400">
                  <a:solidFill>
                    <a:srgbClr val="111827"/>
                  </a:solidFill>
                </a:endParaRPr>
              </a:p>
            </p:txBody>
          </p:sp>
        </mc:Fallback>
      </mc:AlternateContent>
      <p:sp>
        <p:nvSpPr>
          <p:cNvPr id="5" name="Rectangle 4"/>
          <p:cNvSpPr/>
          <p:nvPr/>
        </p:nvSpPr>
        <p:spPr>
          <a:xfrm>
            <a:off x="731520" y="4433823"/>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Rate of change (related rates of a cone)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Similar triangles give </a:t>
                </a:r>
                <a14:m>
                  <m:oMath xmlns:m="http://schemas.openxmlformats.org/officeDocument/2006/math">
                    <m:r>
                      <a:rPr lang="en-IN" sz="2400" i="1">
                        <a:solidFill>
                          <a:srgbClr val="78350F"/>
                        </a:solidFill>
                        <a:latin typeface="Cambria Math" panose="02040503050406030204" pitchFamily="18" charset="0"/>
                      </a:rPr>
                      <m:t>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5</m:t>
                    </m:r>
                    <m:r>
                      <a:rPr lang="en-IN" sz="2400" i="1">
                        <a:solidFill>
                          <a:srgbClr val="78350F"/>
                        </a:solidFill>
                        <a:latin typeface="Cambria Math" panose="02040503050406030204" pitchFamily="18" charset="0"/>
                      </a:rPr>
                      <m:t>𝑟</m:t>
                    </m:r>
                  </m:oMath>
                </a14:m>
                <a:r>
                  <a:rPr sz="2400" b="0">
                    <a:solidFill>
                      <a:srgbClr val="78350F"/>
                    </a:solidFill>
                    <a:latin typeface="Arial"/>
                  </a:rPr>
                  <a:t>, so both </a:t>
                </a:r>
                <a14:m>
                  <m:oMath xmlns:m="http://schemas.openxmlformats.org/officeDocument/2006/math">
                    <m:r>
                      <a:rPr lang="en-IN" sz="2400" i="1">
                        <a:solidFill>
                          <a:srgbClr val="78350F"/>
                        </a:solidFill>
                        <a:latin typeface="Cambria Math" panose="02040503050406030204" pitchFamily="18" charset="0"/>
                      </a:rPr>
                      <m:t>𝑉</m:t>
                    </m:r>
                  </m:oMath>
                </a14:m>
                <a:r>
                  <a:rPr sz="2400" b="0">
                    <a:solidFill>
                      <a:srgbClr val="78350F"/>
                    </a:solidFill>
                    <a:latin typeface="Arial"/>
                  </a:rPr>
                  <a:t> and the curved area become functions of </a:t>
                </a:r>
                <a14:m>
                  <m:oMath xmlns:m="http://schemas.openxmlformats.org/officeDocument/2006/math">
                    <m:r>
                      <a:rPr lang="en-IN" sz="2400" i="1">
                        <a:solidFill>
                          <a:srgbClr val="78350F"/>
                        </a:solidFill>
                        <a:latin typeface="Cambria Math" panose="02040503050406030204" pitchFamily="18" charset="0"/>
                      </a:rPr>
                      <m:t>𝑟</m:t>
                    </m:r>
                  </m:oMath>
                </a14:m>
                <a:r>
                  <a:rPr sz="2400" b="0">
                    <a:solidFill>
                      <a:srgbClr val="78350F"/>
                    </a:solidFill>
                    <a:latin typeface="Arial"/>
                  </a:rPr>
                  <a:t> alone.</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Similar triangles give </a:t>
                </a:r>
                <a:r>
                  <a:rPr lang="en-IN" sz="2400">
                    <a:solidFill>
                      <a:srgbClr val="78350F"/>
                    </a:solidFill>
                    <a:latin typeface="Cambria Math" panose="02040503050406030204" pitchFamily="18" charset="0"/>
                  </a:rPr>
                  <a:t>$h=5r$</a:t>
                </a:r>
                <a:r>
                  <a:rPr sz="2400" b="0">
                    <a:solidFill>
                      <a:srgbClr val="78350F"/>
                    </a:solidFill>
                    <a:latin typeface="Arial"/>
                  </a:rPr>
                  <a:t>, so both </a:t>
                </a:r>
                <a:r>
                  <a:rPr lang="en-IN" sz="2400">
                    <a:solidFill>
                      <a:srgbClr val="78350F"/>
                    </a:solidFill>
                    <a:latin typeface="Cambria Math" panose="02040503050406030204" pitchFamily="18" charset="0"/>
                  </a:rPr>
                  <a:t>$V$</a:t>
                </a:r>
                <a:r>
                  <a:rPr sz="2400" b="0">
                    <a:solidFill>
                      <a:srgbClr val="78350F"/>
                    </a:solidFill>
                    <a:latin typeface="Arial"/>
                  </a:rPr>
                  <a:t> and the curved area become functions of </a:t>
                </a:r>
                <a:r>
                  <a:rPr lang="en-IN" sz="2400">
                    <a:solidFill>
                      <a:srgbClr val="78350F"/>
                    </a:solidFill>
                    <a:latin typeface="Cambria Math" panose="02040503050406030204" pitchFamily="18" charset="0"/>
                  </a:rPr>
                  <a:t>$r$</a:t>
                </a:r>
                <a:r>
                  <a:rPr sz="2400" b="0">
                    <a:solidFill>
                      <a:srgbClr val="78350F"/>
                    </a:solidFill>
                    <a:latin typeface="Arial"/>
                  </a:rPr>
                  <a:t> alone.</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Similar triangles: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𝑅</m:t>
                        </m:r>
                      </m:num>
                      <m:den>
                        <m:r>
                          <a:rPr lang="en-IN" sz="2400" i="1">
                            <a:solidFill>
                              <a:srgbClr val="111827"/>
                            </a:solidFill>
                            <a:latin typeface="Cambria Math" panose="02040503050406030204" pitchFamily="18" charset="0"/>
                          </a:rPr>
                          <m:t>𝑟</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𝐻</m:t>
                        </m:r>
                      </m:num>
                      <m:den>
                        <m:r>
                          <a:rPr lang="en-IN" sz="2400" i="1">
                            <a:solidFill>
                              <a:srgbClr val="111827"/>
                            </a:solidFill>
                            <a:latin typeface="Cambria Math" panose="02040503050406030204" pitchFamily="18" charset="0"/>
                          </a:rPr>
                          <m:t>ℎ</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𝑟</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35</m:t>
                        </m:r>
                      </m:num>
                      <m:den>
                        <m:r>
                          <a:rPr lang="en-IN" sz="2400" i="1">
                            <a:solidFill>
                              <a:srgbClr val="111827"/>
                            </a:solidFill>
                            <a:latin typeface="Cambria Math" panose="02040503050406030204" pitchFamily="18" charset="0"/>
                          </a:rPr>
                          <m:t>ℎ</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𝑟</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Volume of water </a:t>
                </a:r>
                <a14:m>
                  <m:oMath xmlns:m="http://schemas.openxmlformats.org/officeDocument/2006/math">
                    <m:r>
                      <a:rPr lang="en-IN" sz="2400" i="1">
                        <a:solidFill>
                          <a:srgbClr val="111827"/>
                        </a:solidFill>
                        <a:latin typeface="Cambria Math" panose="02040503050406030204" pitchFamily="18" charset="0"/>
                      </a:rPr>
                      <m:t>𝑉</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r>
                      <a:rPr lang="en-IN" sz="2400" i="1">
                        <a:solidFill>
                          <a:srgbClr val="111827"/>
                        </a:solidFill>
                        <a:latin typeface="Cambria Math" panose="02040503050406030204" pitchFamily="18" charset="0"/>
                      </a:rPr>
                      <m:t>π</m:t>
                    </m:r>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3</m:t>
                        </m:r>
                      </m:den>
                    </m:f>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3</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𝑉</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π</m:t>
                    </m:r>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𝑟</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𝑟</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π</m:t>
                        </m:r>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Wet curved surface </a:t>
                </a: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r>
                      <a:rPr lang="en-IN" sz="2400" i="1">
                        <a:solidFill>
                          <a:srgbClr val="111827"/>
                        </a:solidFill>
                        <a:latin typeface="Cambria Math" panose="02040503050406030204" pitchFamily="18" charset="0"/>
                      </a:rPr>
                      <m:t>𝑟</m:t>
                    </m:r>
                    <m:r>
                      <a:rPr lang="en-IN" sz="2400" i="1">
                        <a:solidFill>
                          <a:srgbClr val="111827"/>
                        </a:solidFill>
                        <a:latin typeface="Cambria Math" panose="02040503050406030204" pitchFamily="18" charset="0"/>
                      </a:rPr>
                      <m:t>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r>
                      <a:rPr lang="en-IN" sz="2400" i="1">
                        <a:solidFill>
                          <a:srgbClr val="111827"/>
                        </a:solidFill>
                        <a:latin typeface="Cambria Math" panose="02040503050406030204" pitchFamily="18" charset="0"/>
                      </a:rPr>
                      <m:t>𝑟</m:t>
                    </m:r>
                    <m:rad>
                      <m:radPr>
                        <m:degHide m:val="on"/>
                        <m:ctrlPr>
                          <a:rPr lang="en-IN" sz="2400" i="1">
                            <a:solidFill>
                              <a:srgbClr val="111827"/>
                            </a:solidFill>
                            <a:latin typeface="Cambria Math" panose="02040503050406030204" pitchFamily="18" charset="0"/>
                          </a:rPr>
                        </m:ctrlPr>
                      </m:radPr>
                      <m:deg/>
                      <m:e>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ℎ</m:t>
                            </m:r>
                          </m:e>
                          <m:sup>
                            <m:r>
                              <a:rPr lang="en-IN" sz="2400" i="1">
                                <a:solidFill>
                                  <a:srgbClr val="111827"/>
                                </a:solidFill>
                                <a:latin typeface="Cambria Math" panose="02040503050406030204" pitchFamily="18" charset="0"/>
                              </a:rPr>
                              <m:t>2</m:t>
                            </m:r>
                          </m:sup>
                        </m:sSup>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r>
                      <a:rPr lang="en-IN" sz="2400" i="1">
                        <a:solidFill>
                          <a:srgbClr val="111827"/>
                        </a:solidFill>
                        <a:latin typeface="Cambria Math" panose="02040503050406030204" pitchFamily="18" charset="0"/>
                      </a:rPr>
                      <m:t>𝑟</m:t>
                    </m:r>
                    <m:rad>
                      <m:radPr>
                        <m:degHide m:val="on"/>
                        <m:ctrlPr>
                          <a:rPr lang="en-IN" sz="2400" i="1">
                            <a:solidFill>
                              <a:srgbClr val="111827"/>
                            </a:solidFill>
                            <a:latin typeface="Cambria Math" panose="02040503050406030204" pitchFamily="18" charset="0"/>
                          </a:rPr>
                        </m:ctrlPr>
                      </m:radPr>
                      <m:deg/>
                      <m:e>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e>
                    </m:rad>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Similar triangles: </a:t>
                </a:r>
                <a:r>
                  <a:rPr lang="en-IN" sz="2400">
                    <a:solidFill>
                      <a:srgbClr val="111827"/>
                    </a:solidFill>
                    <a:latin typeface="Cambria Math" panose="02040503050406030204" pitchFamily="18" charset="0"/>
                  </a:rPr>
                  <a:t>$\frac{R}{r}=\frac{H}{h}\Rightarrow\frac{7}{r}=\frac{35}{h}\Rightarrow h=5r$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Volume of water </a:t>
                </a:r>
                <a:r>
                  <a:rPr lang="en-IN" sz="2400">
                    <a:solidFill>
                      <a:srgbClr val="111827"/>
                    </a:solidFill>
                    <a:latin typeface="Cambria Math" panose="02040503050406030204" pitchFamily="18" charset="0"/>
                  </a:rPr>
                  <a:t>$V=\frac13\pi r^2h=\frac{5\pi}{3}r^3$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$\frac{dV}{dt}=5\pi r^2\frac{dr}{dt}=1\Rightarrow\frac{dr}{dt}=\frac{1}{5\pi r^2}$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Wet curved surface </a:t>
                </a:r>
                <a:r>
                  <a:rPr lang="en-IN" sz="2400">
                    <a:solidFill>
                      <a:srgbClr val="111827"/>
                    </a:solidFill>
                    <a:latin typeface="Cambria Math" panose="02040503050406030204" pitchFamily="18" charset="0"/>
                  </a:rPr>
                  <a:t>$S=\pi r\ell=\pi r\sqrt{r^2+h^2}=\pi r\sqrt{r^2+25r^2}$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26</m:t>
                        </m:r>
                      </m:e>
                    </m:rad>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π</m:t>
                    </m:r>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𝑆</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26</m:t>
                        </m:r>
                      </m:e>
                    </m:rad>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π</m:t>
                    </m:r>
                    <m:r>
                      <a:rPr lang="en-IN" sz="2400" i="1">
                        <a:solidFill>
                          <a:srgbClr val="111827"/>
                        </a:solidFill>
                        <a:latin typeface="Cambria Math" panose="02040503050406030204" pitchFamily="18" charset="0"/>
                      </a:rPr>
                      <m:t>𝑟</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𝑟</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26</m:t>
                        </m:r>
                      </m:e>
                    </m:rad>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π</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π</m:t>
                        </m:r>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26</m:t>
                            </m:r>
                          </m:e>
                        </m:rad>
                      </m:num>
                      <m:den>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𝑟</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When </a:t>
                </a:r>
                <a14:m>
                  <m:oMath xmlns:m="http://schemas.openxmlformats.org/officeDocument/2006/math">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cm,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cm.</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𝑆</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26</m:t>
                            </m:r>
                          </m:e>
                        </m:rad>
                      </m:num>
                      <m:den>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26</m:t>
                            </m:r>
                          </m:e>
                        </m:rad>
                      </m:num>
                      <m:den>
                        <m:r>
                          <a:rPr lang="en-IN" sz="2400" i="1">
                            <a:solidFill>
                              <a:srgbClr val="111827"/>
                            </a:solidFill>
                            <a:latin typeface="Cambria Math" panose="02040503050406030204" pitchFamily="18" charset="0"/>
                          </a:rPr>
                          <m:t>5</m:t>
                        </m:r>
                      </m:den>
                    </m:f>
                  </m:oMath>
                </a14:m>
                <a:r>
                  <a:rPr sz="2400" b="0">
                    <a:solidFill>
                      <a:srgbClr val="111827"/>
                    </a:solidFill>
                    <a:latin typeface="Arial"/>
                  </a:rPr>
                  <a:t> cm</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/sec.</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$S=\sqrt{26}\,\pi r^2$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$\frac{dS}{dt}=2\sqrt{26}\,\pi r\frac{dr}{dt}=2\sqrt{26}\,\pi r\cdot\frac{1}{5\pi r^2}=\frac{2\sqrt{26}}{5r}$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When </a:t>
                </a:r>
                <a:r>
                  <a:rPr lang="en-IN" sz="2400">
                    <a:solidFill>
                      <a:srgbClr val="111827"/>
                    </a:solidFill>
                    <a:latin typeface="Cambria Math" panose="02040503050406030204" pitchFamily="18" charset="0"/>
                  </a:rPr>
                  <a:t>$h=10$</a:t>
                </a:r>
                <a:r>
                  <a:rPr sz="2400" b="0">
                    <a:solidFill>
                      <a:srgbClr val="111827"/>
                    </a:solidFill>
                    <a:latin typeface="Arial"/>
                  </a:rPr>
                  <a:t> cm, </a:t>
                </a:r>
                <a:r>
                  <a:rPr lang="en-IN" sz="2400">
                    <a:solidFill>
                      <a:srgbClr val="111827"/>
                    </a:solidFill>
                    <a:latin typeface="Cambria Math" panose="02040503050406030204" pitchFamily="18" charset="0"/>
                  </a:rPr>
                  <a:t>$r=2$</a:t>
                </a:r>
                <a:r>
                  <a:rPr sz="2400" b="0">
                    <a:solidFill>
                      <a:srgbClr val="111827"/>
                    </a:solidFill>
                    <a:latin typeface="Arial"/>
                  </a:rPr>
                  <a:t> cm.</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$\frac{dS}{dt}=\frac{2\sqrt{26}}{5\cdot2}=\frac{\sqrt{26}}{5}$</a:t>
                </a:r>
                <a:r>
                  <a:rPr sz="2400" b="0">
                    <a:solidFill>
                      <a:srgbClr val="111827"/>
                    </a:solidFill>
                    <a:latin typeface="Arial"/>
                  </a:rPr>
                  <a:t> cm</a:t>
                </a:r>
                <a:r>
                  <a:rPr lang="en-IN" sz="2400">
                    <a:solidFill>
                      <a:srgbClr val="111827"/>
                    </a:solidFill>
                    <a:latin typeface="Cambria Math" panose="02040503050406030204" pitchFamily="18" charset="0"/>
                  </a:rPr>
                  <a:t>$^2$</a:t>
                </a:r>
                <a:r>
                  <a:rPr sz="2400" b="0">
                    <a:solidFill>
                      <a:srgbClr val="111827"/>
                    </a:solidFill>
                    <a:latin typeface="Arial"/>
                  </a:rPr>
                  <a:t>/sec.</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14:m>
                  <m:oMath xmlns:m="http://schemas.openxmlformats.org/officeDocument/2006/math">
                    <m:f>
                      <m:fPr>
                        <m:type m:val="bar"/>
                        <m:ctrlPr>
                          <a:rPr lang="en-IN" sz="2800" i="1">
                            <a:solidFill>
                              <a:srgbClr val="15803D"/>
                            </a:solidFill>
                            <a:latin typeface="Cambria Math" panose="02040503050406030204" pitchFamily="18" charset="0"/>
                          </a:rPr>
                        </m:ctrlPr>
                      </m:fPr>
                      <m:num>
                        <m:rad>
                          <m:radPr>
                            <m:degHide m:val="on"/>
                            <m:ctrlPr>
                              <a:rPr lang="en-IN" sz="2800" i="1">
                                <a:solidFill>
                                  <a:srgbClr val="15803D"/>
                                </a:solidFill>
                                <a:latin typeface="Cambria Math" panose="02040503050406030204" pitchFamily="18" charset="0"/>
                              </a:rPr>
                            </m:ctrlPr>
                          </m:radPr>
                          <m:deg/>
                          <m:e>
                            <m:r>
                              <a:rPr lang="en-IN" sz="2800" i="1">
                                <a:solidFill>
                                  <a:srgbClr val="15803D"/>
                                </a:solidFill>
                                <a:latin typeface="Cambria Math" panose="02040503050406030204" pitchFamily="18" charset="0"/>
                              </a:rPr>
                              <m:t>26</m:t>
                            </m:r>
                          </m:e>
                        </m:rad>
                      </m:num>
                      <m:den>
                        <m:r>
                          <a:rPr lang="en-IN" sz="2800" i="1">
                            <a:solidFill>
                              <a:srgbClr val="15803D"/>
                            </a:solidFill>
                            <a:latin typeface="Cambria Math" panose="02040503050406030204" pitchFamily="18" charset="0"/>
                          </a:rPr>
                          <m:t>5</m:t>
                        </m:r>
                      </m:den>
                    </m:f>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r>
                  <a:rPr lang="en-IN" sz="2800">
                    <a:solidFill>
                      <a:srgbClr val="15803D"/>
                    </a:solidFill>
                    <a:latin typeface="Cambria Math" panose="02040503050406030204" pitchFamily="18" charset="0"/>
                  </a:rPr>
                  <a:t>$\frac{\sqrt{26}}{5}$</a:t>
                </a:r>
                <a:endParaRPr sz="2800">
                  <a:solidFill>
                    <a:srgbClr val="15803D"/>
                  </a:solidFill>
                </a:endParaRPr>
              </a:p>
            </p:txBody>
          </p:sp>
        </mc:Fallback>
      </mc:AlternateContent>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All water cones are similar, so </a:t>
                </a:r>
                <a14:m>
                  <m:oMath xmlns:m="http://schemas.openxmlformats.org/officeDocument/2006/math">
                    <m:r>
                      <a:rPr lang="en-IN" sz="2400" i="1">
                        <a:solidFill>
                          <a:srgbClr val="78350F"/>
                        </a:solidFill>
                        <a:latin typeface="Cambria Math" panose="02040503050406030204" pitchFamily="18" charset="0"/>
                      </a:rPr>
                      <m:t>𝑆</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𝑉</m:t>
                        </m:r>
                      </m:e>
                      <m:sup>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sup>
                    </m:sSup>
                  </m:oMath>
                </a14:m>
                <a:r>
                  <a:rPr sz="2400" b="0">
                    <a:solidFill>
                      <a:srgbClr val="78350F"/>
                    </a:solidFill>
                    <a:latin typeface="Arial"/>
                  </a:rPr>
                  <a:t> and logarithmic differentiation gives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𝑑</m:t>
                        </m:r>
                        <m:r>
                          <a:rPr lang="en-IN" sz="2400" i="1">
                            <a:solidFill>
                              <a:srgbClr val="78350F"/>
                            </a:solidFill>
                            <a:latin typeface="Cambria Math" panose="02040503050406030204" pitchFamily="18" charset="0"/>
                          </a:rPr>
                          <m:t>𝑆</m:t>
                        </m:r>
                      </m:num>
                      <m:den>
                        <m:r>
                          <a:rPr lang="en-IN" sz="2400" i="1">
                            <a:solidFill>
                              <a:srgbClr val="78350F"/>
                            </a:solidFill>
                            <a:latin typeface="Cambria Math" panose="02040503050406030204" pitchFamily="18" charset="0"/>
                          </a:rPr>
                          <m:t>𝑑</m:t>
                        </m:r>
                        <m:r>
                          <a:rPr lang="en-IN" sz="2400" i="1">
                            <a:solidFill>
                              <a:srgbClr val="78350F"/>
                            </a:solidFill>
                            <a:latin typeface="Cambria Math" panose="02040503050406030204" pitchFamily="18" charset="0"/>
                          </a:rPr>
                          <m:t>𝑡</m:t>
                        </m:r>
                      </m:den>
                    </m:f>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2</m:t>
                        </m:r>
                      </m:num>
                      <m:den>
                        <m:r>
                          <a:rPr lang="en-IN" sz="2400" i="1">
                            <a:solidFill>
                              <a:srgbClr val="78350F"/>
                            </a:solidFill>
                            <a:latin typeface="Cambria Math" panose="02040503050406030204" pitchFamily="18" charset="0"/>
                          </a:rPr>
                          <m:t>3</m:t>
                        </m:r>
                      </m:den>
                    </m:f>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𝑆</m:t>
                        </m:r>
                      </m:num>
                      <m:den>
                        <m:r>
                          <a:rPr lang="en-IN" sz="2400" i="1">
                            <a:solidFill>
                              <a:srgbClr val="78350F"/>
                            </a:solidFill>
                            <a:latin typeface="Cambria Math" panose="02040503050406030204" pitchFamily="18" charset="0"/>
                          </a:rPr>
                          <m:t>𝑉</m:t>
                        </m:r>
                      </m:den>
                    </m:f>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𝑑</m:t>
                        </m:r>
                        <m:r>
                          <a:rPr lang="en-IN" sz="2400" i="1">
                            <a:solidFill>
                              <a:srgbClr val="78350F"/>
                            </a:solidFill>
                            <a:latin typeface="Cambria Math" panose="02040503050406030204" pitchFamily="18" charset="0"/>
                          </a:rPr>
                          <m:t>𝑉</m:t>
                        </m:r>
                      </m:num>
                      <m:den>
                        <m:r>
                          <a:rPr lang="en-IN" sz="2400" i="1">
                            <a:solidFill>
                              <a:srgbClr val="78350F"/>
                            </a:solidFill>
                            <a:latin typeface="Cambria Math" panose="02040503050406030204" pitchFamily="18" charset="0"/>
                          </a:rPr>
                          <m:t>𝑑</m:t>
                        </m:r>
                        <m:r>
                          <a:rPr lang="en-IN" sz="2400" i="1">
                            <a:solidFill>
                              <a:srgbClr val="78350F"/>
                            </a:solidFill>
                            <a:latin typeface="Cambria Math" panose="02040503050406030204" pitchFamily="18" charset="0"/>
                          </a:rPr>
                          <m:t>𝑡</m:t>
                        </m:r>
                      </m:den>
                    </m:f>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All water cones are similar, so </a:t>
                </a:r>
                <a:r>
                  <a:rPr lang="en-IN" sz="2400">
                    <a:solidFill>
                      <a:srgbClr val="78350F"/>
                    </a:solidFill>
                    <a:latin typeface="Cambria Math" panose="02040503050406030204" pitchFamily="18" charset="0"/>
                  </a:rPr>
                  <a:t>$S\propto V^{2/3}$</a:t>
                </a:r>
                <a:r>
                  <a:rPr sz="2400" b="0">
                    <a:solidFill>
                      <a:srgbClr val="78350F"/>
                    </a:solidFill>
                    <a:latin typeface="Arial"/>
                  </a:rPr>
                  <a:t> and logarithmic differentiation gives </a:t>
                </a:r>
                <a:r>
                  <a:rPr lang="en-IN" sz="2400">
                    <a:solidFill>
                      <a:srgbClr val="78350F"/>
                    </a:solidFill>
                    <a:latin typeface="Cambria Math" panose="02040503050406030204" pitchFamily="18" charset="0"/>
                  </a:rPr>
                  <a:t>$\frac{dS}{dt}=\frac23\frac{S}{V}\frac{dV}{dt}$</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746248"/>
                <a:ext cx="10725912" cy="304190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Water cones are all similar (</a:t>
                </a:r>
                <a14:m>
                  <m:oMath xmlns:m="http://schemas.openxmlformats.org/officeDocument/2006/math">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𝑟</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𝑉</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3</m:t>
                        </m:r>
                      </m:den>
                    </m:f>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3</m:t>
                        </m:r>
                      </m:sup>
                    </m:sSup>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26</m:t>
                        </m:r>
                      </m:e>
                    </m:rad>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π</m:t>
                    </m:r>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give </a:t>
                </a: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𝑉</m:t>
                        </m:r>
                      </m:e>
                      <m:sup>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Take logs and differentiate: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𝑆</m:t>
                        </m:r>
                      </m:den>
                    </m:f>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𝑆</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𝑉</m:t>
                        </m:r>
                      </m:den>
                    </m:f>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𝑉</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At </a:t>
                </a:r>
                <a14:m>
                  <m:oMath xmlns:m="http://schemas.openxmlformats.org/officeDocument/2006/math">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26</m:t>
                        </m:r>
                      </m:e>
                    </m:rad>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π</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𝑉</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40</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𝑉</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𝑆</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26</m:t>
                            </m:r>
                          </m:e>
                        </m:rad>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40</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26</m:t>
                            </m:r>
                          </m:e>
                        </m:rad>
                      </m:num>
                      <m:den>
                        <m:r>
                          <a:rPr lang="en-IN" sz="2400" i="1">
                            <a:solidFill>
                              <a:srgbClr val="111827"/>
                            </a:solidFill>
                            <a:latin typeface="Cambria Math" panose="02040503050406030204" pitchFamily="18" charset="0"/>
                          </a:rPr>
                          <m:t>5</m:t>
                        </m:r>
                      </m:den>
                    </m:f>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746248"/>
                <a:ext cx="10725912" cy="304190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Water cones are all similar (</a:t>
                </a:r>
                <a:r>
                  <a:rPr lang="en-IN" sz="2400">
                    <a:solidFill>
                      <a:srgbClr val="111827"/>
                    </a:solidFill>
                    <a:latin typeface="Cambria Math" panose="02040503050406030204" pitchFamily="18" charset="0"/>
                  </a:rPr>
                  <a:t>$h=5r$</a:t>
                </a:r>
                <a:r>
                  <a:rPr sz="2400" b="0">
                    <a:solidFill>
                      <a:srgbClr val="111827"/>
                    </a:solidFill>
                    <a:latin typeface="Arial"/>
                  </a:rPr>
                  <a:t>), so </a:t>
                </a:r>
                <a:r>
                  <a:rPr lang="en-IN" sz="2400">
                    <a:solidFill>
                      <a:srgbClr val="111827"/>
                    </a:solidFill>
                    <a:latin typeface="Cambria Math" panose="02040503050406030204" pitchFamily="18" charset="0"/>
                  </a:rPr>
                  <a:t>$V=\frac{5\pi}{3}r^3$</a:t>
                </a:r>
                <a:r>
                  <a:rPr sz="2400" b="0">
                    <a:solidFill>
                      <a:srgbClr val="111827"/>
                    </a:solidFill>
                    <a:latin typeface="Arial"/>
                  </a:rPr>
                  <a:t> and </a:t>
                </a:r>
                <a:r>
                  <a:rPr lang="en-IN" sz="2400">
                    <a:solidFill>
                      <a:srgbClr val="111827"/>
                    </a:solidFill>
                    <a:latin typeface="Cambria Math" panose="02040503050406030204" pitchFamily="18" charset="0"/>
                  </a:rPr>
                  <a:t>$S=\sqrt{26}\,\pi r^2$</a:t>
                </a:r>
                <a:r>
                  <a:rPr sz="2400" b="0">
                    <a:solidFill>
                      <a:srgbClr val="111827"/>
                    </a:solidFill>
                    <a:latin typeface="Arial"/>
                  </a:rPr>
                  <a:t> give </a:t>
                </a:r>
                <a:r>
                  <a:rPr lang="en-IN" sz="2400">
                    <a:solidFill>
                      <a:srgbClr val="111827"/>
                    </a:solidFill>
                    <a:latin typeface="Cambria Math" panose="02040503050406030204" pitchFamily="18" charset="0"/>
                  </a:rPr>
                  <a:t>$S=c\,V^{2/3}$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Take logs and differentiate: </a:t>
                </a:r>
                <a:r>
                  <a:rPr lang="en-IN" sz="2400">
                    <a:solidFill>
                      <a:srgbClr val="111827"/>
                    </a:solidFill>
                    <a:latin typeface="Cambria Math" panose="02040503050406030204" pitchFamily="18" charset="0"/>
                  </a:rPr>
                  <a:t>$\frac1S\frac{dS}{dt}=\frac23\cdot\frac1V\frac{dV}{dt}$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At </a:t>
                </a:r>
                <a:r>
                  <a:rPr lang="en-IN" sz="2400">
                    <a:solidFill>
                      <a:srgbClr val="111827"/>
                    </a:solidFill>
                    <a:latin typeface="Cambria Math" panose="02040503050406030204" pitchFamily="18" charset="0"/>
                  </a:rPr>
                  <a:t>$h=10$</a:t>
                </a:r>
                <a:r>
                  <a:rPr sz="2400" b="0">
                    <a:solidFill>
                      <a:srgbClr val="111827"/>
                    </a:solidFill>
                    <a:latin typeface="Arial"/>
                  </a:rPr>
                  <a:t>: </a:t>
                </a:r>
                <a:r>
                  <a:rPr lang="en-IN" sz="2400">
                    <a:solidFill>
                      <a:srgbClr val="111827"/>
                    </a:solidFill>
                    <a:latin typeface="Cambria Math" panose="02040503050406030204" pitchFamily="18" charset="0"/>
                  </a:rPr>
                  <a:t>$r=2$</a:t>
                </a:r>
                <a:r>
                  <a:rPr sz="2400" b="0">
                    <a:solidFill>
                      <a:srgbClr val="111827"/>
                    </a:solidFill>
                    <a:latin typeface="Arial"/>
                  </a:rPr>
                  <a:t>, </a:t>
                </a:r>
                <a:r>
                  <a:rPr lang="en-IN" sz="2400">
                    <a:solidFill>
                      <a:srgbClr val="111827"/>
                    </a:solidFill>
                    <a:latin typeface="Cambria Math" panose="02040503050406030204" pitchFamily="18" charset="0"/>
                  </a:rPr>
                  <a:t>$S=4\sqrt{26}\,\pi$</a:t>
                </a:r>
                <a:r>
                  <a:rPr sz="2400" b="0">
                    <a:solidFill>
                      <a:srgbClr val="111827"/>
                    </a:solidFill>
                    <a:latin typeface="Arial"/>
                  </a:rPr>
                  <a:t>, </a:t>
                </a:r>
                <a:r>
                  <a:rPr lang="en-IN" sz="2400">
                    <a:solidFill>
                      <a:srgbClr val="111827"/>
                    </a:solidFill>
                    <a:latin typeface="Cambria Math" panose="02040503050406030204" pitchFamily="18" charset="0"/>
                  </a:rPr>
                  <a:t>$V=\frac{40\pi}{3}$</a:t>
                </a:r>
                <a:r>
                  <a:rPr sz="2400" b="0">
                    <a:solidFill>
                      <a:srgbClr val="111827"/>
                    </a:solidFill>
                    <a:latin typeface="Arial"/>
                  </a:rPr>
                  <a:t>, </a:t>
                </a:r>
                <a:r>
                  <a:rPr lang="en-IN" sz="2400">
                    <a:solidFill>
                      <a:srgbClr val="111827"/>
                    </a:solidFill>
                    <a:latin typeface="Cambria Math" panose="02040503050406030204" pitchFamily="18" charset="0"/>
                  </a:rPr>
                  <a:t>$\frac{dV}{dt}=1$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$\frac{dS}{dt}=\frac23\cdot\frac{4\sqrt{26}\,\pi}{40\pi/3}=\frac{\sqrt{26}}{5}$</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a:t>
                </a:r>
                <a14:m>
                  <m:oMath xmlns:m="http://schemas.openxmlformats.org/officeDocument/2006/math">
                    <m:f>
                      <m:fPr>
                        <m:type m:val="bar"/>
                        <m:ctrlPr>
                          <a:rPr lang="en-IN" sz="2800" i="1">
                            <a:solidFill>
                              <a:srgbClr val="15803D"/>
                            </a:solidFill>
                            <a:latin typeface="Cambria Math" panose="02040503050406030204" pitchFamily="18" charset="0"/>
                          </a:rPr>
                        </m:ctrlPr>
                      </m:fPr>
                      <m:num>
                        <m:rad>
                          <m:radPr>
                            <m:degHide m:val="on"/>
                            <m:ctrlPr>
                              <a:rPr lang="en-IN" sz="2800" i="1">
                                <a:solidFill>
                                  <a:srgbClr val="15803D"/>
                                </a:solidFill>
                                <a:latin typeface="Cambria Math" panose="02040503050406030204" pitchFamily="18" charset="0"/>
                              </a:rPr>
                            </m:ctrlPr>
                          </m:radPr>
                          <m:deg/>
                          <m:e>
                            <m:r>
                              <a:rPr lang="en-IN" sz="2800" i="1">
                                <a:solidFill>
                                  <a:srgbClr val="15803D"/>
                                </a:solidFill>
                                <a:latin typeface="Cambria Math" panose="02040503050406030204" pitchFamily="18" charset="0"/>
                              </a:rPr>
                              <m:t>26</m:t>
                            </m:r>
                          </m:e>
                        </m:rad>
                      </m:num>
                      <m:den>
                        <m:r>
                          <a:rPr lang="en-IN" sz="2800" i="1">
                            <a:solidFill>
                              <a:srgbClr val="15803D"/>
                            </a:solidFill>
                            <a:latin typeface="Cambria Math" panose="02040503050406030204" pitchFamily="18" charset="0"/>
                          </a:rPr>
                          <m:t>5</m:t>
                        </m:r>
                      </m:den>
                    </m:f>
                  </m:oMath>
                </a14:m>
                <a:endParaRPr sz="2800">
                  <a:solidFill>
                    <a:srgbClr val="15803D"/>
                  </a:solidFill>
                </a:endParaRPr>
              </a:p>
            </p:txBody>
          </p:sp>
        </mc:Choice>
        <mc:Fallback>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a:t>
                </a:r>
                <a:r>
                  <a:rPr lang="en-IN" sz="2800">
                    <a:solidFill>
                      <a:srgbClr val="15803D"/>
                    </a:solidFill>
                    <a:latin typeface="Cambria Math" panose="02040503050406030204" pitchFamily="18" charset="0"/>
                  </a:rPr>
                  <a:t>$\frac{\sqrt{26}}{5}$</a:t>
                </a:r>
                <a:endParaRPr sz="2800">
                  <a:solidFill>
                    <a:srgbClr val="15803D"/>
                  </a:solidFill>
                </a:endParaRPr>
              </a:p>
            </p:txBody>
          </p:sp>
        </mc:Fallback>
      </mc:AlternateContent>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geometrically similar solids, area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(length)</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and volume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(length)</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𝑉</m:t>
                        </m:r>
                      </m:e>
                      <m:sup>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p>
                    </m:sSup>
                  </m:oMath>
                </a14:m>
                <a:r>
                  <a:rPr sz="2400" b="0">
                    <a:solidFill>
                      <a:srgbClr val="111827"/>
                    </a:solidFill>
                    <a:latin typeface="Arial"/>
                  </a:rPr>
                  <a:t> and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𝑆</m:t>
                        </m:r>
                      </m:num>
                      <m:den>
                        <m:r>
                          <a:rPr lang="en-IN" sz="2400" i="1">
                            <a:solidFill>
                              <a:srgbClr val="111827"/>
                            </a:solidFill>
                            <a:latin typeface="Cambria Math" panose="02040503050406030204" pitchFamily="18" charset="0"/>
                          </a:rPr>
                          <m:t>𝑆</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𝑉</m:t>
                        </m:r>
                      </m:num>
                      <m:den>
                        <m:r>
                          <a:rPr lang="en-IN" sz="2400" i="1">
                            <a:solidFill>
                              <a:srgbClr val="111827"/>
                            </a:solidFill>
                            <a:latin typeface="Cambria Math" panose="02040503050406030204" pitchFamily="18" charset="0"/>
                          </a:rPr>
                          <m:t>𝑉</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Curved surface of a cone: </a:t>
                </a:r>
                <a14:m>
                  <m:oMath xmlns:m="http://schemas.openxmlformats.org/officeDocument/2006/math">
                    <m:r>
                      <a:rPr lang="en-IN" sz="2400" i="1">
                        <a:solidFill>
                          <a:srgbClr val="111827"/>
                        </a:solidFill>
                        <a:latin typeface="Cambria Math" panose="02040503050406030204" pitchFamily="18" charset="0"/>
                      </a:rPr>
                      <m:t>π</m:t>
                    </m:r>
                    <m:r>
                      <a:rPr lang="en-IN" sz="2400" i="1">
                        <a:solidFill>
                          <a:srgbClr val="111827"/>
                        </a:solidFill>
                        <a:latin typeface="Cambria Math" panose="02040503050406030204" pitchFamily="18" charset="0"/>
                      </a:rPr>
                      <m:t>𝑟</m:t>
                    </m:r>
                    <m:r>
                      <a:rPr lang="en-IN" sz="2400" i="1">
                        <a:solidFill>
                          <a:srgbClr val="111827"/>
                        </a:solidFill>
                        <a:latin typeface="Cambria Math" panose="02040503050406030204" pitchFamily="18" charset="0"/>
                      </a:rPr>
                      <m:t>ℓ</m:t>
                    </m:r>
                  </m:oMath>
                </a14:m>
                <a:r>
                  <a:rPr sz="2400" b="0">
                    <a:solidFill>
                      <a:srgbClr val="111827"/>
                    </a:solidFill>
                    <a:latin typeface="Arial"/>
                  </a:rPr>
                  <a:t> with slant height </a:t>
                </a:r>
                <a14:m>
                  <m:oMath xmlns:m="http://schemas.openxmlformats.org/officeDocument/2006/math">
                    <m:r>
                      <a:rPr lang="en-IN" sz="2400" i="1">
                        <a:solidFill>
                          <a:srgbClr val="111827"/>
                        </a:solidFill>
                        <a:latin typeface="Cambria Math" panose="02040503050406030204" pitchFamily="18" charset="0"/>
                      </a:rPr>
                      <m:t>ℓ</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ℎ</m:t>
                            </m:r>
                          </m:e>
                          <m:sup>
                            <m:r>
                              <a:rPr lang="en-IN" sz="2400" i="1">
                                <a:solidFill>
                                  <a:srgbClr val="111827"/>
                                </a:solidFill>
                                <a:latin typeface="Cambria Math" panose="02040503050406030204" pitchFamily="18" charset="0"/>
                              </a:rPr>
                              <m:t>2</m:t>
                            </m:r>
                          </m:sup>
                        </m:sSup>
                      </m:e>
                    </m:rad>
                  </m:oMath>
                </a14:m>
                <a:r>
                  <a:rPr sz="2400" b="0">
                    <a:solidFill>
                      <a:srgbClr val="111827"/>
                    </a:solidFill>
                    <a:latin typeface="Arial"/>
                  </a:rPr>
                  <a:t>; do not include the open top.</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vessel with fixed semi-vertical angle has </a:t>
                </a:r>
                <a14:m>
                  <m:oMath xmlns:m="http://schemas.openxmlformats.org/officeDocument/2006/math">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oMath>
                </a14:m>
                <a:r>
                  <a:rPr sz="2400" b="0">
                    <a:solidFill>
                      <a:srgbClr val="111827"/>
                    </a:solidFill>
                    <a:latin typeface="Arial"/>
                  </a:rPr>
                  <a:t> constant - use it to reduce to one variable before differentiating.</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Here </a:t>
                </a:r>
                <a14:m>
                  <m:oMath xmlns:m="http://schemas.openxmlformats.org/officeDocument/2006/math">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ℓ</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26</m:t>
                        </m:r>
                      </m:e>
                    </m:rad>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𝑟</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26</m:t>
                        </m:r>
                      </m:e>
                    </m:rad>
                    <m:r>
                      <a:rPr lang="en-IN" sz="2400" i="1">
                        <a:solidFill>
                          <a:srgbClr val="111827"/>
                        </a:solidFill>
                        <a:latin typeface="Cambria Math" panose="02040503050406030204" pitchFamily="18" charset="0"/>
                      </a:rPr>
                      <m:t>π</m:t>
                    </m:r>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𝑉</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3</m:t>
                        </m:r>
                      </m:den>
                    </m:f>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3</m:t>
                        </m:r>
                      </m:sup>
                    </m:sSup>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geometrically similar solids, area </a:t>
                </a:r>
                <a:r>
                  <a:rPr lang="en-IN" sz="2400">
                    <a:solidFill>
                      <a:srgbClr val="111827"/>
                    </a:solidFill>
                    <a:latin typeface="Cambria Math" panose="02040503050406030204" pitchFamily="18" charset="0"/>
                  </a:rPr>
                  <a:t>$\propto$</a:t>
                </a:r>
                <a:r>
                  <a:rPr sz="2400" b="0">
                    <a:solidFill>
                      <a:srgbClr val="111827"/>
                    </a:solidFill>
                    <a:latin typeface="Arial"/>
                  </a:rPr>
                  <a:t> (length)</a:t>
                </a:r>
                <a:r>
                  <a:rPr lang="en-IN" sz="2400">
                    <a:solidFill>
                      <a:srgbClr val="111827"/>
                    </a:solidFill>
                    <a:latin typeface="Cambria Math" panose="02040503050406030204" pitchFamily="18" charset="0"/>
                  </a:rPr>
                  <a:t>$^2$</a:t>
                </a:r>
                <a:r>
                  <a:rPr sz="2400" b="0">
                    <a:solidFill>
                      <a:srgbClr val="111827"/>
                    </a:solidFill>
                    <a:latin typeface="Arial"/>
                  </a:rPr>
                  <a:t> and volume </a:t>
                </a:r>
                <a:r>
                  <a:rPr lang="en-IN" sz="2400">
                    <a:solidFill>
                      <a:srgbClr val="111827"/>
                    </a:solidFill>
                    <a:latin typeface="Cambria Math" panose="02040503050406030204" pitchFamily="18" charset="0"/>
                  </a:rPr>
                  <a:t>$\propto$</a:t>
                </a:r>
                <a:r>
                  <a:rPr sz="2400" b="0">
                    <a:solidFill>
                      <a:srgbClr val="111827"/>
                    </a:solidFill>
                    <a:latin typeface="Arial"/>
                  </a:rPr>
                  <a:t> (length)</a:t>
                </a:r>
                <a:r>
                  <a:rPr lang="en-IN" sz="2400">
                    <a:solidFill>
                      <a:srgbClr val="111827"/>
                    </a:solidFill>
                    <a:latin typeface="Cambria Math" panose="02040503050406030204" pitchFamily="18" charset="0"/>
                  </a:rPr>
                  <a:t>$^3$</a:t>
                </a:r>
                <a:r>
                  <a:rPr sz="2400" b="0">
                    <a:solidFill>
                      <a:srgbClr val="111827"/>
                    </a:solidFill>
                    <a:latin typeface="Arial"/>
                  </a:rPr>
                  <a:t>, so </a:t>
                </a:r>
                <a:r>
                  <a:rPr lang="en-IN" sz="2400">
                    <a:solidFill>
                      <a:srgbClr val="111827"/>
                    </a:solidFill>
                    <a:latin typeface="Cambria Math" panose="02040503050406030204" pitchFamily="18" charset="0"/>
                  </a:rPr>
                  <a:t>$S\propto V^{2/3}$</a:t>
                </a:r>
                <a:r>
                  <a:rPr sz="2400" b="0">
                    <a:solidFill>
                      <a:srgbClr val="111827"/>
                    </a:solidFill>
                    <a:latin typeface="Arial"/>
                  </a:rPr>
                  <a:t> and </a:t>
                </a:r>
                <a:r>
                  <a:rPr lang="en-IN" sz="2400">
                    <a:solidFill>
                      <a:srgbClr val="111827"/>
                    </a:solidFill>
                    <a:latin typeface="Cambria Math" panose="02040503050406030204" pitchFamily="18" charset="0"/>
                  </a:rPr>
                  <a:t>$\frac{dS}{S}=\frac23\frac{dV}{V}$</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Curved surface of a cone: </a:t>
                </a:r>
                <a:r>
                  <a:rPr lang="en-IN" sz="2400">
                    <a:solidFill>
                      <a:srgbClr val="111827"/>
                    </a:solidFill>
                    <a:latin typeface="Cambria Math" panose="02040503050406030204" pitchFamily="18" charset="0"/>
                  </a:rPr>
                  <a:t>$\pi r\ell$</a:t>
                </a:r>
                <a:r>
                  <a:rPr sz="2400" b="0">
                    <a:solidFill>
                      <a:srgbClr val="111827"/>
                    </a:solidFill>
                    <a:latin typeface="Arial"/>
                  </a:rPr>
                  <a:t> with slant height </a:t>
                </a:r>
                <a:r>
                  <a:rPr lang="en-IN" sz="2400">
                    <a:solidFill>
                      <a:srgbClr val="111827"/>
                    </a:solidFill>
                    <a:latin typeface="Cambria Math" panose="02040503050406030204" pitchFamily="18" charset="0"/>
                  </a:rPr>
                  <a:t>$\ell=\sqrt{r^2+h^2}$</a:t>
                </a:r>
                <a:r>
                  <a:rPr sz="2400" b="0">
                    <a:solidFill>
                      <a:srgbClr val="111827"/>
                    </a:solidFill>
                    <a:latin typeface="Arial"/>
                  </a:rPr>
                  <a:t>; do not include the open top.</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vessel with fixed semi-vertical angle has </a:t>
                </a:r>
                <a:r>
                  <a:rPr lang="en-IN" sz="2400">
                    <a:solidFill>
                      <a:srgbClr val="111827"/>
                    </a:solidFill>
                    <a:latin typeface="Cambria Math" panose="02040503050406030204" pitchFamily="18" charset="0"/>
                  </a:rPr>
                  <a:t>$h/r$</a:t>
                </a:r>
                <a:r>
                  <a:rPr sz="2400" b="0">
                    <a:solidFill>
                      <a:srgbClr val="111827"/>
                    </a:solidFill>
                    <a:latin typeface="Arial"/>
                  </a:rPr>
                  <a:t> constant - use it to reduce to one variable before differentiating.</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Here </a:t>
                </a:r>
                <a:r>
                  <a:rPr lang="en-IN" sz="2400">
                    <a:solidFill>
                      <a:srgbClr val="111827"/>
                    </a:solidFill>
                    <a:latin typeface="Cambria Math" panose="02040503050406030204" pitchFamily="18" charset="0"/>
                  </a:rPr>
                  <a:t>$h/r=5$</a:t>
                </a:r>
                <a:r>
                  <a:rPr sz="2400" b="0">
                    <a:solidFill>
                      <a:srgbClr val="111827"/>
                    </a:solidFill>
                    <a:latin typeface="Arial"/>
                  </a:rPr>
                  <a:t>, </a:t>
                </a:r>
                <a:r>
                  <a:rPr lang="en-IN" sz="2400">
                    <a:solidFill>
                      <a:srgbClr val="111827"/>
                    </a:solidFill>
                    <a:latin typeface="Cambria Math" panose="02040503050406030204" pitchFamily="18" charset="0"/>
                  </a:rPr>
                  <a:t>$\ell=\sqrt{26}\,r$</a:t>
                </a:r>
                <a:r>
                  <a:rPr sz="2400" b="0">
                    <a:solidFill>
                      <a:srgbClr val="111827"/>
                    </a:solidFill>
                    <a:latin typeface="Arial"/>
                  </a:rPr>
                  <a:t>, so </a:t>
                </a:r>
                <a:r>
                  <a:rPr lang="en-IN" sz="2400">
                    <a:solidFill>
                      <a:srgbClr val="111827"/>
                    </a:solidFill>
                    <a:latin typeface="Cambria Math" panose="02040503050406030204" pitchFamily="18" charset="0"/>
                  </a:rPr>
                  <a:t>$S=\sqrt{26}\pi r^2$</a:t>
                </a:r>
                <a:r>
                  <a:rPr sz="2400" b="0">
                    <a:solidFill>
                      <a:srgbClr val="111827"/>
                    </a:solidFill>
                    <a:latin typeface="Arial"/>
                  </a:rPr>
                  <a:t> and </a:t>
                </a:r>
                <a:r>
                  <a:rPr lang="en-IN" sz="2400">
                    <a:solidFill>
                      <a:srgbClr val="111827"/>
                    </a:solidFill>
                    <a:latin typeface="Cambria Math" panose="02040503050406030204" pitchFamily="18" charset="0"/>
                  </a:rPr>
                  <a:t>$V=\frac{5\pi}{3}r^3$</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03479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the angle made by the tangent at the point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on the curve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𝑡</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&lt;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with the positive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-axis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then </a:t>
                </a:r>
                <a14:m>
                  <m:oMath xmlns:m="http://schemas.openxmlformats.org/officeDocument/2006/math">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0</m:t>
                        </m:r>
                      </m:sub>
                    </m:sSub>
                  </m:oMath>
                </a14:m>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6</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e>
                    </m:d>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3</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e>
                    </m:d>
                  </m:oMath>
                </a14:m>
                <a:r>
                  <a:rPr sz="2400" b="0">
                    <a:solidFill>
                      <a:srgbClr val="111827"/>
                    </a:solidFill>
                    <a:latin typeface="Arial"/>
                  </a:rPr>
                  <a:t>   (C) 27   (D) 48</a:t>
                </a:r>
                <a:endParaRPr sz="2400">
                  <a:solidFill>
                    <a:srgbClr val="111827"/>
                  </a:solidFill>
                </a:endParaRPr>
              </a:p>
            </p:txBody>
          </p:sp>
        </mc:Choice>
        <mc:Fallback>
          <p:sp>
            <p:nvSpPr>
              <p:cNvPr id="4" name="Rounded Rectangle 3"/>
              <p:cNvSpPr/>
              <p:nvPr/>
            </p:nvSpPr>
            <p:spPr>
              <a:xfrm>
                <a:off x="731520" y="1280160"/>
                <a:ext cx="10725912" cy="303479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the angle made by the tangent at the point </a:t>
                </a:r>
                <a:r>
                  <a:rPr lang="en-IN" sz="2400">
                    <a:solidFill>
                      <a:srgbClr val="111827"/>
                    </a:solidFill>
                    <a:latin typeface="Cambria Math" panose="02040503050406030204" pitchFamily="18" charset="0"/>
                  </a:rPr>
                  <a:t>$(x_0,y_0)$</a:t>
                </a:r>
                <a:r>
                  <a:rPr sz="2400" b="0">
                    <a:solidFill>
                      <a:srgbClr val="111827"/>
                    </a:solidFill>
                    <a:latin typeface="Arial"/>
                  </a:rPr>
                  <a:t> on the curve </a:t>
                </a:r>
                <a:r>
                  <a:rPr lang="en-IN" sz="2400">
                    <a:solidFill>
                      <a:srgbClr val="111827"/>
                    </a:solidFill>
                    <a:latin typeface="Cambria Math" panose="02040503050406030204" pitchFamily="18" charset="0"/>
                  </a:rPr>
                  <a:t>$x=12(t+\sin t\cos t)$</a:t>
                </a:r>
                <a:r>
                  <a:rPr sz="2400" b="0">
                    <a:solidFill>
                      <a:srgbClr val="111827"/>
                    </a:solidFill>
                    <a:latin typeface="Arial"/>
                  </a:rPr>
                  <a:t>, </a:t>
                </a:r>
                <a:r>
                  <a:rPr lang="en-IN" sz="2400">
                    <a:solidFill>
                      <a:srgbClr val="111827"/>
                    </a:solidFill>
                    <a:latin typeface="Cambria Math" panose="02040503050406030204" pitchFamily="18" charset="0"/>
                  </a:rPr>
                  <a:t>$y=12(1+\sin t)^2$</a:t>
                </a:r>
                <a:r>
                  <a:rPr sz="2400" b="0">
                    <a:solidFill>
                      <a:srgbClr val="111827"/>
                    </a:solidFill>
                    <a:latin typeface="Arial"/>
                  </a:rPr>
                  <a:t>, </a:t>
                </a:r>
                <a:r>
                  <a:rPr lang="en-IN" sz="2400">
                    <a:solidFill>
                      <a:srgbClr val="111827"/>
                    </a:solidFill>
                    <a:latin typeface="Cambria Math" panose="02040503050406030204" pitchFamily="18" charset="0"/>
                  </a:rPr>
                  <a:t>$0&lt;t&lt;\frac{\pi}{2}$</a:t>
                </a:r>
                <a:r>
                  <a:rPr sz="2400" b="0">
                    <a:solidFill>
                      <a:srgbClr val="111827"/>
                    </a:solidFill>
                    <a:latin typeface="Arial"/>
                  </a:rPr>
                  <a:t>, with the positive </a:t>
                </a:r>
                <a:r>
                  <a:rPr lang="en-IN" sz="2400">
                    <a:solidFill>
                      <a:srgbClr val="111827"/>
                    </a:solidFill>
                    <a:latin typeface="Cambria Math" panose="02040503050406030204" pitchFamily="18" charset="0"/>
                  </a:rPr>
                  <a:t>$x$</a:t>
                </a:r>
                <a:r>
                  <a:rPr sz="2400" b="0">
                    <a:solidFill>
                      <a:srgbClr val="111827"/>
                    </a:solidFill>
                    <a:latin typeface="Arial"/>
                  </a:rPr>
                  <a:t>-axis is </a:t>
                </a:r>
                <a:r>
                  <a:rPr lang="en-IN" sz="2400">
                    <a:solidFill>
                      <a:srgbClr val="111827"/>
                    </a:solidFill>
                    <a:latin typeface="Cambria Math" panose="02040503050406030204" pitchFamily="18" charset="0"/>
                  </a:rPr>
                  <a:t>$\frac{\pi}{3}$</a:t>
                </a:r>
                <a:r>
                  <a:rPr sz="2400" b="0">
                    <a:solidFill>
                      <a:srgbClr val="111827"/>
                    </a:solidFill>
                    <a:latin typeface="Arial"/>
                  </a:rPr>
                  <a:t>, then </a:t>
                </a:r>
                <a:r>
                  <a:rPr lang="en-IN" sz="2400">
                    <a:solidFill>
                      <a:srgbClr val="111827"/>
                    </a:solidFill>
                    <a:latin typeface="Cambria Math" panose="02040503050406030204" pitchFamily="18" charset="0"/>
                  </a:rPr>
                  <a:t>$y_0$</a:t>
                </a:r>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$6\left(3+2\sqrt2\right)$</a:t>
                </a:r>
                <a:r>
                  <a:rPr sz="2400" b="0">
                    <a:solidFill>
                      <a:srgbClr val="111827"/>
                    </a:solidFill>
                    <a:latin typeface="Arial"/>
                  </a:rPr>
                  <a:t>   (B) </a:t>
                </a:r>
                <a:r>
                  <a:rPr lang="en-IN" sz="2400">
                    <a:solidFill>
                      <a:srgbClr val="111827"/>
                    </a:solidFill>
                    <a:latin typeface="Cambria Math" panose="02040503050406030204" pitchFamily="18" charset="0"/>
                  </a:rPr>
                  <a:t>$3\left(7+4\sqrt3\right)$</a:t>
                </a:r>
                <a:r>
                  <a:rPr sz="2400" b="0">
                    <a:solidFill>
                      <a:srgbClr val="111827"/>
                    </a:solidFill>
                    <a:latin typeface="Arial"/>
                  </a:rPr>
                  <a:t>   (C) 27   (D) 48</a:t>
                </a:r>
                <a:endParaRPr sz="2400">
                  <a:solidFill>
                    <a:srgbClr val="111827"/>
                  </a:solidFill>
                </a:endParaRPr>
              </a:p>
            </p:txBody>
          </p:sp>
        </mc:Fallback>
      </mc:AlternateContent>
      <p:sp>
        <p:nvSpPr>
          <p:cNvPr id="5" name="Rectangle 4"/>
          <p:cNvSpPr/>
          <p:nvPr/>
        </p:nvSpPr>
        <p:spPr>
          <a:xfrm>
            <a:off x="731520" y="4543552"/>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Tangent to a parametric curve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𝑑</m:t>
                        </m:r>
                        <m:r>
                          <a:rPr lang="en-IN" sz="2400" i="1">
                            <a:solidFill>
                              <a:srgbClr val="78350F"/>
                            </a:solidFill>
                            <a:latin typeface="Cambria Math" panose="02040503050406030204" pitchFamily="18" charset="0"/>
                          </a:rPr>
                          <m:t>𝑦</m:t>
                        </m:r>
                      </m:num>
                      <m:den>
                        <m:r>
                          <a:rPr lang="en-IN" sz="2400" i="1">
                            <a:solidFill>
                              <a:srgbClr val="78350F"/>
                            </a:solidFill>
                            <a:latin typeface="Cambria Math" panose="02040503050406030204" pitchFamily="18" charset="0"/>
                          </a:rPr>
                          <m:t>𝑑</m:t>
                        </m:r>
                        <m:r>
                          <a:rPr lang="en-IN" sz="2400" i="1">
                            <a:solidFill>
                              <a:srgbClr val="78350F"/>
                            </a:solidFill>
                            <a:latin typeface="Cambria Math" panose="02040503050406030204" pitchFamily="18" charset="0"/>
                          </a:rPr>
                          <m:t>𝑥</m:t>
                        </m:r>
                      </m:den>
                    </m:f>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sin</m:t>
                        </m:r>
                        <m:r>
                          <a:rPr lang="en-IN" sz="2400" i="1">
                            <a:solidFill>
                              <a:srgbClr val="78350F"/>
                            </a:solidFill>
                            <a:latin typeface="Cambria Math" panose="02040503050406030204" pitchFamily="18" charset="0"/>
                          </a:rPr>
                          <m:t>𝑡</m:t>
                        </m:r>
                      </m:num>
                      <m:den>
                        <m:r>
                          <m:rPr>
                            <m:sty m:val="p"/>
                          </m:rPr>
                          <a:rPr lang="en-IN" sz="2400">
                            <a:solidFill>
                              <a:srgbClr val="78350F"/>
                            </a:solidFill>
                            <a:latin typeface="Cambria Math" panose="02040503050406030204" pitchFamily="18" charset="0"/>
                          </a:rPr>
                          <m:t>cos</m:t>
                        </m:r>
                        <m:r>
                          <a:rPr lang="en-IN" sz="2400" i="1">
                            <a:solidFill>
                              <a:srgbClr val="78350F"/>
                            </a:solidFill>
                            <a:latin typeface="Cambria Math" panose="02040503050406030204" pitchFamily="18" charset="0"/>
                          </a:rPr>
                          <m:t>𝑡</m:t>
                        </m:r>
                      </m:den>
                    </m:f>
                  </m:oMath>
                </a14:m>
                <a:r>
                  <a:rPr sz="2400" b="0">
                    <a:solidFill>
                      <a:srgbClr val="78350F"/>
                    </a:solidFill>
                    <a:latin typeface="Arial"/>
                  </a:rPr>
                  <a:t> after simplifying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𝑑</m:t>
                        </m:r>
                        <m:r>
                          <a:rPr lang="en-IN" sz="2400" i="1">
                            <a:solidFill>
                              <a:srgbClr val="78350F"/>
                            </a:solidFill>
                            <a:latin typeface="Cambria Math" panose="02040503050406030204" pitchFamily="18" charset="0"/>
                          </a:rPr>
                          <m:t>𝑥</m:t>
                        </m:r>
                      </m:num>
                      <m:den>
                        <m:r>
                          <a:rPr lang="en-IN" sz="2400" i="1">
                            <a:solidFill>
                              <a:srgbClr val="78350F"/>
                            </a:solidFill>
                            <a:latin typeface="Cambria Math" panose="02040503050406030204" pitchFamily="18" charset="0"/>
                          </a:rPr>
                          <m:t>𝑑</m:t>
                        </m:r>
                        <m:r>
                          <a:rPr lang="en-IN" sz="2400" i="1">
                            <a:solidFill>
                              <a:srgbClr val="78350F"/>
                            </a:solidFill>
                            <a:latin typeface="Cambria Math" panose="02040503050406030204" pitchFamily="18" charset="0"/>
                          </a:rPr>
                          <m:t>𝑡</m:t>
                        </m:r>
                      </m:den>
                    </m:f>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24</m:t>
                    </m:r>
                    <m:sSup>
                      <m:e>
                        <m:r>
                          <m:rPr>
                            <m:sty m:val="p"/>
                          </m:rPr>
                          <a:rPr lang="en-IN" sz="2400">
                            <a:solidFill>
                              <a:srgbClr val="78350F"/>
                            </a:solidFill>
                            <a:latin typeface="Cambria Math" panose="02040503050406030204" pitchFamily="18" charset="0"/>
                          </a:rPr>
                          <m:t>cos</m:t>
                        </m:r>
                      </m:e>
                      <m:sup>
                        <m:r>
                          <a:rPr lang="en-IN" sz="2400" i="1">
                            <a:solidFill>
                              <a:srgbClr val="78350F"/>
                            </a:solidFill>
                            <a:latin typeface="Cambria Math" panose="02040503050406030204" pitchFamily="18" charset="0"/>
                          </a:rPr>
                          <m:t>2</m:t>
                        </m:r>
                      </m:sup>
                    </m:sSup>
                    <m:r>
                      <a:rPr lang="en-IN" sz="2400" i="1">
                        <a:solidFill>
                          <a:srgbClr val="78350F"/>
                        </a:solidFill>
                        <a:latin typeface="Cambria Math" panose="02040503050406030204" pitchFamily="18" charset="0"/>
                      </a:rPr>
                      <m:t>𝑡</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$\frac{dy}{dx}=\frac{1+\sin t}{\cos t}$</a:t>
                </a:r>
                <a:r>
                  <a:rPr sz="2400" b="0">
                    <a:solidFill>
                      <a:srgbClr val="78350F"/>
                    </a:solidFill>
                    <a:latin typeface="Arial"/>
                  </a:rPr>
                  <a:t> after simplifying </a:t>
                </a:r>
                <a:r>
                  <a:rPr lang="en-IN" sz="2400">
                    <a:solidFill>
                      <a:srgbClr val="78350F"/>
                    </a:solidFill>
                    <a:latin typeface="Cambria Math" panose="02040503050406030204" pitchFamily="18" charset="0"/>
                  </a:rPr>
                  <a:t>$\frac{dx}{dt}=24\cos^2t$</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𝑡</m:t>
                    </m:r>
                  </m:oMath>
                </a14:m>
                <a:r>
                  <a:rPr sz="2400" b="0">
                    <a:solidFill>
                      <a:srgbClr val="111827"/>
                    </a:solidFill>
                    <a:latin typeface="Arial"/>
                  </a:rPr>
                  <a:t> and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cos</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sin</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𝑡</m:t>
                        </m:r>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sSup>
                      <m:e>
                        <m:r>
                          <m:rPr>
                            <m:sty m:val="p"/>
                          </m:rPr>
                          <a:rPr lang="en-IN" sz="2400">
                            <a:solidFill>
                              <a:srgbClr val="111827"/>
                            </a:solidFill>
                            <a:latin typeface="Cambria Math" panose="02040503050406030204" pitchFamily="18" charset="0"/>
                          </a:rPr>
                          <m:t>cos</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𝑡</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𝑡</m:t>
                        </m:r>
                      </m:num>
                      <m:den>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cos</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𝑡</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𝑡</m:t>
                        </m:r>
                      </m:num>
                      <m:den>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𝑡</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Tangent makes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with the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-axis: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tan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𝑡</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$\frac{dy}{dt}=24(1+\sin t)\cos t$</a:t>
                </a:r>
                <a:r>
                  <a:rPr sz="2400" b="0">
                    <a:solidFill>
                      <a:srgbClr val="111827"/>
                    </a:solidFill>
                    <a:latin typeface="Arial"/>
                  </a:rPr>
                  <a:t> and </a:t>
                </a:r>
                <a:r>
                  <a:rPr lang="en-IN" sz="2400">
                    <a:solidFill>
                      <a:srgbClr val="111827"/>
                    </a:solidFill>
                    <a:latin typeface="Cambria Math" panose="02040503050406030204" pitchFamily="18" charset="0"/>
                  </a:rPr>
                  <a:t>$\frac{dx}{dt}=12\left(1+\cos^2t-\sin^2t\right)=24\cos^2t$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$\frac{dy}{dx}=\frac{2(1+\sin t)\cos t}{2\cos^2t}=\frac{1+\sin t}{\cos 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Tangent makes </a:t>
                </a:r>
                <a:r>
                  <a:rPr lang="en-IN" sz="2400">
                    <a:solidFill>
                      <a:srgbClr val="111827"/>
                    </a:solidFill>
                    <a:latin typeface="Cambria Math" panose="02040503050406030204" pitchFamily="18" charset="0"/>
                  </a:rPr>
                  <a:t>$\frac{\pi}{3}$</a:t>
                </a:r>
                <a:r>
                  <a:rPr sz="2400" b="0">
                    <a:solidFill>
                      <a:srgbClr val="111827"/>
                    </a:solidFill>
                    <a:latin typeface="Arial"/>
                  </a:rPr>
                  <a:t> with the </a:t>
                </a:r>
                <a:r>
                  <a:rPr lang="en-IN" sz="2400">
                    <a:solidFill>
                      <a:srgbClr val="111827"/>
                    </a:solidFill>
                    <a:latin typeface="Cambria Math" panose="02040503050406030204" pitchFamily="18" charset="0"/>
                  </a:rPr>
                  <a:t>$x$</a:t>
                </a:r>
                <a:r>
                  <a:rPr sz="2400" b="0">
                    <a:solidFill>
                      <a:srgbClr val="111827"/>
                    </a:solidFill>
                    <a:latin typeface="Arial"/>
                  </a:rPr>
                  <a:t>-axis: </a:t>
                </a:r>
                <a:r>
                  <a:rPr lang="en-IN" sz="2400">
                    <a:solidFill>
                      <a:srgbClr val="111827"/>
                    </a:solidFill>
                    <a:latin typeface="Cambria Math" panose="02040503050406030204" pitchFamily="18" charset="0"/>
                  </a:rPr>
                  <a:t>$\frac{dy}{dx}=\tan\frac{\pi}{3}=\sqrt3$</a:t>
                </a:r>
                <a:r>
                  <a:rPr sz="2400" b="0">
                    <a:solidFill>
                      <a:srgbClr val="111827"/>
                    </a:solidFill>
                    <a:latin typeface="Arial"/>
                  </a:rPr>
                  <a:t>, so </a:t>
                </a:r>
                <a:r>
                  <a:rPr lang="en-IN" sz="2400">
                    <a:solidFill>
                      <a:srgbClr val="111827"/>
                    </a:solidFill>
                    <a:latin typeface="Cambria Math" panose="02040503050406030204" pitchFamily="18" charset="0"/>
                  </a:rPr>
                  <a:t>$1+\sin t=\sqrt3\cos 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$\sqrt3\cos t-\sin t=1\Rightarrow\frac{\sqrt3}{2}\cos t-\frac12\sin t=\frac12$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cos</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6</m:t>
                            </m:r>
                          </m:den>
                        </m:f>
                      </m:e>
                    </m: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&lt;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the angle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6</m:t>
                        </m:r>
                      </m:den>
                    </m:f>
                  </m:oMath>
                </a14:m>
                <a:r>
                  <a:rPr sz="2400" b="0">
                    <a:solidFill>
                      <a:srgbClr val="111827"/>
                    </a:solidFill>
                    <a:latin typeface="Arial"/>
                  </a:rPr>
                  <a:t> lies in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3</m:t>
                            </m:r>
                          </m:den>
                        </m:f>
                      </m:e>
                    </m:d>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6</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sSup>
                      <m:e>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6</m:t>
                                </m:r>
                              </m:den>
                            </m:f>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27</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$\cos\left(t+\frac{\pi}{6}\right)=\cos\frac{\pi}{3}$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a:t>
                </a:r>
                <a:r>
                  <a:rPr lang="en-IN" sz="2400">
                    <a:solidFill>
                      <a:srgbClr val="111827"/>
                    </a:solidFill>
                    <a:latin typeface="Cambria Math" panose="02040503050406030204" pitchFamily="18" charset="0"/>
                  </a:rPr>
                  <a:t>$0&lt;t&lt;\frac{\pi}{2}$</a:t>
                </a:r>
                <a:r>
                  <a:rPr sz="2400" b="0">
                    <a:solidFill>
                      <a:srgbClr val="111827"/>
                    </a:solidFill>
                    <a:latin typeface="Arial"/>
                  </a:rPr>
                  <a:t> the angle </a:t>
                </a:r>
                <a:r>
                  <a:rPr lang="en-IN" sz="2400">
                    <a:solidFill>
                      <a:srgbClr val="111827"/>
                    </a:solidFill>
                    <a:latin typeface="Cambria Math" panose="02040503050406030204" pitchFamily="18" charset="0"/>
                  </a:rPr>
                  <a:t>$t+\frac{\pi}{6}$</a:t>
                </a:r>
                <a:r>
                  <a:rPr sz="2400" b="0">
                    <a:solidFill>
                      <a:srgbClr val="111827"/>
                    </a:solidFill>
                    <a:latin typeface="Arial"/>
                  </a:rPr>
                  <a:t> lies in </a:t>
                </a:r>
                <a:r>
                  <a:rPr lang="en-IN" sz="2400">
                    <a:solidFill>
                      <a:srgbClr val="111827"/>
                    </a:solidFill>
                    <a:latin typeface="Cambria Math" panose="02040503050406030204" pitchFamily="18" charset="0"/>
                  </a:rPr>
                  <a:t>$\left(\frac{\pi}{6},\frac{2\pi}{3}\right)$</a:t>
                </a:r>
                <a:r>
                  <a:rPr sz="2400" b="0">
                    <a:solidFill>
                      <a:srgbClr val="111827"/>
                    </a:solidFill>
                    <a:latin typeface="Arial"/>
                  </a:rPr>
                  <a:t>, so </a:t>
                </a:r>
                <a:r>
                  <a:rPr lang="en-IN" sz="2400">
                    <a:solidFill>
                      <a:srgbClr val="111827"/>
                    </a:solidFill>
                    <a:latin typeface="Cambria Math" panose="02040503050406030204" pitchFamily="18" charset="0"/>
                  </a:rPr>
                  <a:t>$t+\frac{\pi}{6}=\frac{\pi}{3}$</a:t>
                </a:r>
                <a:r>
                  <a:rPr sz="2400" b="0">
                    <a:solidFill>
                      <a:srgbClr val="111827"/>
                    </a:solidFill>
                    <a:latin typeface="Arial"/>
                  </a:rPr>
                  <a:t> and </a:t>
                </a:r>
                <a:r>
                  <a:rPr lang="en-IN" sz="2400">
                    <a:solidFill>
                      <a:srgbClr val="111827"/>
                    </a:solidFill>
                    <a:latin typeface="Cambria Math" panose="02040503050406030204" pitchFamily="18" charset="0"/>
                  </a:rPr>
                  <a:t>$t=\frac{\pi}{6}$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$y_0=12\left(1+\sin\frac{\pi}{6}\right)^2=12\cdot\frac94=27$</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27</a:t>
            </a:r>
            <a:endParaRPr sz="2800">
              <a:solidFill>
                <a:srgbClr val="15803D"/>
              </a:solidFill>
            </a:endParaRP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sin</m:t>
                        </m:r>
                        <m:r>
                          <a:rPr lang="en-IN" sz="2400" i="1">
                            <a:solidFill>
                              <a:srgbClr val="78350F"/>
                            </a:solidFill>
                            <a:latin typeface="Cambria Math" panose="02040503050406030204" pitchFamily="18" charset="0"/>
                          </a:rPr>
                          <m:t>𝑡</m:t>
                        </m:r>
                      </m:num>
                      <m:den>
                        <m:r>
                          <m:rPr>
                            <m:sty m:val="p"/>
                          </m:rPr>
                          <a:rPr lang="en-IN" sz="2400">
                            <a:solidFill>
                              <a:srgbClr val="78350F"/>
                            </a:solidFill>
                            <a:latin typeface="Cambria Math" panose="02040503050406030204" pitchFamily="18" charset="0"/>
                          </a:rPr>
                          <m:t>cos</m:t>
                        </m:r>
                        <m:r>
                          <a:rPr lang="en-IN" sz="2400" i="1">
                            <a:solidFill>
                              <a:srgbClr val="78350F"/>
                            </a:solidFill>
                            <a:latin typeface="Cambria Math" panose="02040503050406030204" pitchFamily="18" charset="0"/>
                          </a:rPr>
                          <m:t>𝑡</m:t>
                        </m:r>
                      </m:den>
                    </m:f>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tan</m:t>
                    </m:r>
                    <m:d>
                      <m:dPr>
                        <m:begChr m:val="("/>
                        <m:sepChr m:val=""/>
                        <m:endChr m:val=")"/>
                        <m:grow/>
                        <m:ctrlPr>
                          <a:rPr lang="en-IN" sz="2400" i="1">
                            <a:solidFill>
                              <a:srgbClr val="78350F"/>
                            </a:solidFill>
                            <a:latin typeface="Cambria Math" panose="02040503050406030204" pitchFamily="18" charset="0"/>
                          </a:rPr>
                        </m:ctrlPr>
                      </m:dPr>
                      <m:e>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π</m:t>
                            </m:r>
                          </m:num>
                          <m:den>
                            <m:r>
                              <a:rPr lang="en-IN" sz="2400" i="1">
                                <a:solidFill>
                                  <a:srgbClr val="78350F"/>
                                </a:solidFill>
                                <a:latin typeface="Cambria Math" panose="02040503050406030204" pitchFamily="18" charset="0"/>
                              </a:rPr>
                              <m:t>4</m:t>
                            </m:r>
                          </m:den>
                        </m:f>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𝑡</m:t>
                            </m:r>
                          </m:num>
                          <m:den>
                            <m:r>
                              <a:rPr lang="en-IN" sz="2400" i="1">
                                <a:solidFill>
                                  <a:srgbClr val="78350F"/>
                                </a:solidFill>
                                <a:latin typeface="Cambria Math" panose="02040503050406030204" pitchFamily="18" charset="0"/>
                              </a:rPr>
                              <m:t>2</m:t>
                            </m:r>
                          </m:den>
                        </m:f>
                      </m:e>
                    </m:d>
                  </m:oMath>
                </a14:m>
                <a:r>
                  <a:rPr sz="2400" b="0">
                    <a:solidFill>
                      <a:srgbClr val="78350F"/>
                    </a:solidFill>
                    <a:latin typeface="Arial"/>
                  </a:rPr>
                  <a:t>, so the slope condition gives </a:t>
                </a:r>
                <a14:m>
                  <m:oMath xmlns:m="http://schemas.openxmlformats.org/officeDocument/2006/math">
                    <m:r>
                      <a:rPr lang="en-IN" sz="2400" i="1">
                        <a:solidFill>
                          <a:srgbClr val="78350F"/>
                        </a:solidFill>
                        <a:latin typeface="Cambria Math" panose="02040503050406030204" pitchFamily="18" charset="0"/>
                      </a:rPr>
                      <m:t>𝑡</m:t>
                    </m:r>
                  </m:oMath>
                </a14:m>
                <a:r>
                  <a:rPr sz="2400" b="0">
                    <a:solidFill>
                      <a:srgbClr val="78350F"/>
                    </a:solidFill>
                    <a:latin typeface="Arial"/>
                  </a:rPr>
                  <a:t> in one line.</a:t>
                </a:r>
                <a:endParaRPr sz="2400">
                  <a:solidFill>
                    <a:srgbClr val="78350F"/>
                  </a:solidFill>
                </a:endParaRPr>
              </a:p>
            </p:txBody>
          </p:sp>
        </mc:Choice>
        <mc:Fallback>
          <p:sp>
            <p:nvSpPr>
              <p:cNvPr id="5" name="Rounded Rectangle 4"/>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lang="en-IN" sz="2400">
                    <a:solidFill>
                      <a:srgbClr val="78350F"/>
                    </a:solidFill>
                    <a:latin typeface="Cambria Math" panose="02040503050406030204" pitchFamily="18" charset="0"/>
                  </a:rPr>
                  <a:t>$\frac{1+\sin t}{\cos t}=\tan\left(\frac{\pi}{4}+\frac t2\right)$</a:t>
                </a:r>
                <a:r>
                  <a:rPr sz="2400" b="0">
                    <a:solidFill>
                      <a:srgbClr val="78350F"/>
                    </a:solidFill>
                    <a:latin typeface="Arial"/>
                  </a:rPr>
                  <a:t>, so the slope condition gives </a:t>
                </a:r>
                <a:r>
                  <a:rPr lang="en-IN" sz="2400">
                    <a:solidFill>
                      <a:srgbClr val="78350F"/>
                    </a:solidFill>
                    <a:latin typeface="Cambria Math" panose="02040503050406030204" pitchFamily="18" charset="0"/>
                  </a:rPr>
                  <a:t>$t$</a:t>
                </a:r>
                <a:r>
                  <a:rPr sz="2400" b="0">
                    <a:solidFill>
                      <a:srgbClr val="78350F"/>
                    </a:solidFill>
                    <a:latin typeface="Arial"/>
                  </a:rPr>
                  <a:t> in one line.</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With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sin</m:t>
                        </m:r>
                      </m:e>
                      <m:sup>
                        <m:r>
                          <a:rPr lang="en-IN" sz="2400" i="1">
                            <a:solidFill>
                              <a:srgbClr val="111827"/>
                            </a:solidFill>
                            <a:latin typeface="Cambria Math" panose="02040503050406030204" pitchFamily="18" charset="0"/>
                          </a:rPr>
                          <m:t>2</m:t>
                        </m:r>
                      </m:sup>
                    </m:sSup>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𝑡</m:t>
                            </m:r>
                          </m:num>
                          <m:den>
                            <m:r>
                              <a:rPr lang="en-IN" sz="2400" i="1">
                                <a:solidFill>
                                  <a:srgbClr val="111827"/>
                                </a:solidFill>
                                <a:latin typeface="Cambria Math" panose="02040503050406030204" pitchFamily="18" charset="0"/>
                              </a:rPr>
                              <m:t>2</m:t>
                            </m:r>
                          </m:den>
                        </m:f>
                      </m:e>
                    </m:d>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sin</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𝑡</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cos</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𝑡</m:t>
                            </m:r>
                          </m:num>
                          <m:den>
                            <m:r>
                              <a:rPr lang="en-IN" sz="2400" i="1">
                                <a:solidFill>
                                  <a:srgbClr val="111827"/>
                                </a:solidFill>
                                <a:latin typeface="Cambria Math" panose="02040503050406030204" pitchFamily="18" charset="0"/>
                              </a:rPr>
                              <m:t>2</m:t>
                            </m:r>
                          </m:den>
                        </m:f>
                      </m:e>
                    </m:d>
                  </m:oMath>
                </a14:m>
                <a:r>
                  <a:rPr sz="2400" b="0">
                    <a:solidFill>
                      <a:srgbClr val="111827"/>
                    </a:solidFill>
                    <a:latin typeface="Arial"/>
                  </a:rPr>
                  <a:t>, we get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tan</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𝑡</m:t>
                            </m:r>
                          </m:num>
                          <m:den>
                            <m:r>
                              <a:rPr lang="en-IN" sz="2400" i="1">
                                <a:solidFill>
                                  <a:srgbClr val="111827"/>
                                </a:solidFill>
                                <a:latin typeface="Cambria Math" panose="02040503050406030204" pitchFamily="18" charset="0"/>
                              </a:rPr>
                              <m:t>2</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Set it equal to </a:t>
                </a:r>
                <a14:m>
                  <m:oMath xmlns:m="http://schemas.openxmlformats.org/officeDocument/2006/math">
                    <m:r>
                      <m:rPr>
                        <m:sty m:val="p"/>
                      </m:rPr>
                      <a:rPr lang="en-IN" sz="2400">
                        <a:solidFill>
                          <a:srgbClr val="111827"/>
                        </a:solidFill>
                        <a:latin typeface="Cambria Math" panose="02040503050406030204" pitchFamily="18" charset="0"/>
                      </a:rPr>
                      <m:t>tan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𝑡</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(unique, since the angle lies in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e>
                    </m:d>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With </a:t>
                </a:r>
                <a:r>
                  <a:rPr lang="en-IN" sz="2400">
                    <a:solidFill>
                      <a:srgbClr val="111827"/>
                    </a:solidFill>
                    <a:latin typeface="Cambria Math" panose="02040503050406030204" pitchFamily="18" charset="0"/>
                  </a:rPr>
                  <a:t>$1+\sin t=2\sin^2\left(\frac{\pi}{4}+\frac t2\right)$</a:t>
                </a:r>
                <a:r>
                  <a:rPr sz="2400" b="0">
                    <a:solidFill>
                      <a:srgbClr val="111827"/>
                    </a:solidFill>
                    <a:latin typeface="Arial"/>
                  </a:rPr>
                  <a:t> and </a:t>
                </a:r>
                <a:r>
                  <a:rPr lang="en-IN" sz="2400">
                    <a:solidFill>
                      <a:srgbClr val="111827"/>
                    </a:solidFill>
                    <a:latin typeface="Cambria Math" panose="02040503050406030204" pitchFamily="18" charset="0"/>
                  </a:rPr>
                  <a:t>$\cos t=2\sin\left(\frac{\pi}{4}+\frac t2\right)\cos\left(\frac{\pi}{4}+\frac t2\right)$</a:t>
                </a:r>
                <a:r>
                  <a:rPr sz="2400" b="0">
                    <a:solidFill>
                      <a:srgbClr val="111827"/>
                    </a:solidFill>
                    <a:latin typeface="Arial"/>
                  </a:rPr>
                  <a:t>, we get </a:t>
                </a:r>
                <a:r>
                  <a:rPr lang="en-IN" sz="2400">
                    <a:solidFill>
                      <a:srgbClr val="111827"/>
                    </a:solidFill>
                    <a:latin typeface="Cambria Math" panose="02040503050406030204" pitchFamily="18" charset="0"/>
                  </a:rPr>
                  <a:t>$\frac{dy}{dx}=\tan\left(\frac{\pi}{4}+\frac t2\right)$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Set it equal to </a:t>
                </a:r>
                <a:r>
                  <a:rPr lang="en-IN" sz="2400">
                    <a:solidFill>
                      <a:srgbClr val="111827"/>
                    </a:solidFill>
                    <a:latin typeface="Cambria Math" panose="02040503050406030204" pitchFamily="18" charset="0"/>
                  </a:rPr>
                  <a:t>$\tan\frac{\pi}{3}$</a:t>
                </a:r>
                <a:r>
                  <a:rPr sz="2400" b="0">
                    <a:solidFill>
                      <a:srgbClr val="111827"/>
                    </a:solidFill>
                    <a:latin typeface="Arial"/>
                  </a:rPr>
                  <a:t>: </a:t>
                </a:r>
                <a:r>
                  <a:rPr lang="en-IN" sz="2400">
                    <a:solidFill>
                      <a:srgbClr val="111827"/>
                    </a:solidFill>
                    <a:latin typeface="Cambria Math" panose="02040503050406030204" pitchFamily="18" charset="0"/>
                  </a:rPr>
                  <a:t>$\frac{\pi}{4}+\frac t2=\frac{\pi}{3}$</a:t>
                </a:r>
                <a:r>
                  <a:rPr sz="2400" b="0">
                    <a:solidFill>
                      <a:srgbClr val="111827"/>
                    </a:solidFill>
                    <a:latin typeface="Arial"/>
                  </a:rPr>
                  <a:t> (unique, since the angle lies in </a:t>
                </a:r>
                <a:r>
                  <a:rPr lang="en-IN" sz="2400">
                    <a:solidFill>
                      <a:srgbClr val="111827"/>
                    </a:solidFill>
                    <a:latin typeface="Cambria Math" panose="02040503050406030204" pitchFamily="18" charset="0"/>
                  </a:rPr>
                  <a:t>$\left(\frac{\pi}{4},\frac{\pi}{2}\right)$</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6</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sSup>
                      <m:e>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27</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$t=\frac{\pi}{6}$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$y_0=12\left(1+\frac12\right)^2=27$</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27</a:t>
            </a:r>
            <a:endParaRPr sz="2800">
              <a:solidFill>
                <a:srgbClr val="15803D"/>
              </a:solidFill>
            </a:endParaRP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𝑡</m:t>
                        </m:r>
                      </m:num>
                      <m:den>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𝑡</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tan</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𝑡</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𝑡</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𝑡</m:t>
                        </m:r>
                      </m:den>
                    </m:f>
                  </m:oMath>
                </a14:m>
                <a:r>
                  <a:rPr sz="2400" b="0">
                    <a:solidFill>
                      <a:srgbClr val="111827"/>
                    </a:solidFill>
                    <a:latin typeface="Arial"/>
                  </a:rPr>
                  <a:t> (valid for </a:t>
                </a: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 parametric curve, slope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den>
                    </m:f>
                  </m:oMath>
                </a14:m>
                <a:r>
                  <a:rPr sz="2400" b="0">
                    <a:solidFill>
                      <a:srgbClr val="111827"/>
                    </a:solidFill>
                    <a:latin typeface="Arial"/>
                  </a:rPr>
                  <a:t>; the angle with the positive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-axis </a:t>
                </a:r>
                <a14:m>
                  <m:oMath xmlns:m="http://schemas.openxmlformats.org/officeDocument/2006/math">
                    <m:r>
                      <a:rPr lang="en-IN" sz="2400" i="1">
                        <a:solidFill>
                          <a:srgbClr val="111827"/>
                        </a:solidFill>
                        <a:latin typeface="Cambria Math" panose="02040503050406030204" pitchFamily="18" charset="0"/>
                      </a:rPr>
                      <m:t>θ</m:t>
                    </m:r>
                  </m:oMath>
                </a14:m>
                <a:r>
                  <a:rPr sz="2400" b="0">
                    <a:solidFill>
                      <a:srgbClr val="111827"/>
                    </a:solidFill>
                    <a:latin typeface="Arial"/>
                  </a:rPr>
                  <a:t> gives slope </a:t>
                </a:r>
                <a14:m>
                  <m:oMath xmlns:m="http://schemas.openxmlformats.org/officeDocument/2006/math">
                    <m:r>
                      <m:rPr>
                        <m:sty m:val="p"/>
                      </m:rPr>
                      <a:rPr lang="en-IN" sz="2400">
                        <a:solidFill>
                          <a:srgbClr val="111827"/>
                        </a:solidFill>
                        <a:latin typeface="Cambria Math" panose="02040503050406030204" pitchFamily="18" charset="0"/>
                      </a:rPr>
                      <m:t>tan</m:t>
                    </m:r>
                    <m:r>
                      <a:rPr lang="en-IN" sz="2400" i="1">
                        <a:solidFill>
                          <a:srgbClr val="111827"/>
                        </a:solidFill>
                        <a:latin typeface="Cambria Math" panose="02040503050406030204" pitchFamily="18" charset="0"/>
                      </a:rPr>
                      <m:t>θ</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cos</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𝑡</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cos</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sin</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cos</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𝑡</m:t>
                    </m:r>
                  </m:oMath>
                </a14:m>
                <a:r>
                  <a:rPr sz="2400" b="0">
                    <a:solidFill>
                      <a:srgbClr val="111827"/>
                    </a:solidFill>
                    <a:latin typeface="Arial"/>
                  </a:rPr>
                  <a:t> - such simplifications make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den>
                    </m:f>
                  </m:oMath>
                </a14:m>
                <a:r>
                  <a:rPr sz="2400" b="0">
                    <a:solidFill>
                      <a:srgbClr val="111827"/>
                    </a:solidFill>
                    <a:latin typeface="Arial"/>
                  </a:rPr>
                  <a:t> a single term.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An equation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is solved by writing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cos</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ϕ</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$\frac{1+\sin t}{\cos t}=\tan\left(\frac{\pi}{4}+\frac t2\right)=\frac{\cos t}{1-\sin t}$</a:t>
                </a:r>
                <a:r>
                  <a:rPr sz="2400" b="0">
                    <a:solidFill>
                      <a:srgbClr val="111827"/>
                    </a:solidFill>
                    <a:latin typeface="Arial"/>
                  </a:rPr>
                  <a:t> (valid for </a:t>
                </a:r>
                <a:r>
                  <a:rPr lang="en-IN" sz="2400">
                    <a:solidFill>
                      <a:srgbClr val="111827"/>
                    </a:solidFill>
                    <a:latin typeface="Cambria Math" panose="02040503050406030204" pitchFamily="18" charset="0"/>
                  </a:rPr>
                  <a:t>$\cos t\neq0$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 parametric curve, slope </a:t>
                </a:r>
                <a:r>
                  <a:rPr lang="en-IN" sz="2400">
                    <a:solidFill>
                      <a:srgbClr val="111827"/>
                    </a:solidFill>
                    <a:latin typeface="Cambria Math" panose="02040503050406030204" pitchFamily="18" charset="0"/>
                  </a:rPr>
                  <a:t>$=\frac{dy/dt}{dx/dt}$</a:t>
                </a:r>
                <a:r>
                  <a:rPr sz="2400" b="0">
                    <a:solidFill>
                      <a:srgbClr val="111827"/>
                    </a:solidFill>
                    <a:latin typeface="Arial"/>
                  </a:rPr>
                  <a:t>; the angle with the positive </a:t>
                </a:r>
                <a:r>
                  <a:rPr lang="en-IN" sz="2400">
                    <a:solidFill>
                      <a:srgbClr val="111827"/>
                    </a:solidFill>
                    <a:latin typeface="Cambria Math" panose="02040503050406030204" pitchFamily="18" charset="0"/>
                  </a:rPr>
                  <a:t>$x$</a:t>
                </a:r>
                <a:r>
                  <a:rPr sz="2400" b="0">
                    <a:solidFill>
                      <a:srgbClr val="111827"/>
                    </a:solidFill>
                    <a:latin typeface="Arial"/>
                  </a:rPr>
                  <a:t>-axis </a:t>
                </a:r>
                <a:r>
                  <a:rPr lang="en-IN" sz="2400">
                    <a:solidFill>
                      <a:srgbClr val="111827"/>
                    </a:solidFill>
                    <a:latin typeface="Cambria Math" panose="02040503050406030204" pitchFamily="18" charset="0"/>
                  </a:rPr>
                  <a:t>$\theta$</a:t>
                </a:r>
                <a:r>
                  <a:rPr sz="2400" b="0">
                    <a:solidFill>
                      <a:srgbClr val="111827"/>
                    </a:solidFill>
                    <a:latin typeface="Arial"/>
                  </a:rPr>
                  <a:t> gives slope </a:t>
                </a:r>
                <a:r>
                  <a:rPr lang="en-IN" sz="2400">
                    <a:solidFill>
                      <a:srgbClr val="111827"/>
                    </a:solidFill>
                    <a:latin typeface="Cambria Math" panose="02040503050406030204" pitchFamily="18" charset="0"/>
                  </a:rPr>
                  <a:t>$\tan\theta$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$1+\cos2t=2\cos^2t$</a:t>
                </a:r>
                <a:r>
                  <a:rPr sz="2400" b="0">
                    <a:solidFill>
                      <a:srgbClr val="111827"/>
                    </a:solidFill>
                    <a:latin typeface="Arial"/>
                  </a:rPr>
                  <a:t> and </a:t>
                </a:r>
                <a:r>
                  <a:rPr lang="en-IN" sz="2400">
                    <a:solidFill>
                      <a:srgbClr val="111827"/>
                    </a:solidFill>
                    <a:latin typeface="Cambria Math" panose="02040503050406030204" pitchFamily="18" charset="0"/>
                  </a:rPr>
                  <a:t>$1+\cos^2t-\sin^2t=2\cos^2t$</a:t>
                </a:r>
                <a:r>
                  <a:rPr sz="2400" b="0">
                    <a:solidFill>
                      <a:srgbClr val="111827"/>
                    </a:solidFill>
                    <a:latin typeface="Arial"/>
                  </a:rPr>
                  <a:t> - such simplifications make </a:t>
                </a:r>
                <a:r>
                  <a:rPr lang="en-IN" sz="2400">
                    <a:solidFill>
                      <a:srgbClr val="111827"/>
                    </a:solidFill>
                    <a:latin typeface="Cambria Math" panose="02040503050406030204" pitchFamily="18" charset="0"/>
                  </a:rPr>
                  <a:t>$\frac{dx}{dt}$</a:t>
                </a:r>
                <a:r>
                  <a:rPr sz="2400" b="0">
                    <a:solidFill>
                      <a:srgbClr val="111827"/>
                    </a:solidFill>
                    <a:latin typeface="Arial"/>
                  </a:rPr>
                  <a:t> a single term.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An equation </a:t>
                </a:r>
                <a:r>
                  <a:rPr lang="en-IN" sz="2400">
                    <a:solidFill>
                      <a:srgbClr val="111827"/>
                    </a:solidFill>
                    <a:latin typeface="Cambria Math" panose="02040503050406030204" pitchFamily="18" charset="0"/>
                  </a:rPr>
                  <a:t>$a\cos t+b\sin t=c$</a:t>
                </a:r>
                <a:r>
                  <a:rPr sz="2400" b="0">
                    <a:solidFill>
                      <a:srgbClr val="111827"/>
                    </a:solidFill>
                    <a:latin typeface="Arial"/>
                  </a:rPr>
                  <a:t> is solved by writing </a:t>
                </a:r>
                <a:r>
                  <a:rPr lang="en-IN" sz="2400">
                    <a:solidFill>
                      <a:srgbClr val="111827"/>
                    </a:solidFill>
                    <a:latin typeface="Cambria Math" panose="02040503050406030204" pitchFamily="18" charset="0"/>
                  </a:rPr>
                  <a:t>$a\cos t+b\sin t=R\cos(t-\phi)$</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88239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𝑆</m:t>
                    </m:r>
                  </m:oMath>
                </a14:m>
                <a:r>
                  <a:rPr sz="2400" b="0">
                    <a:solidFill>
                      <a:srgbClr val="111827"/>
                    </a:solidFill>
                    <a:latin typeface="Arial"/>
                  </a:rPr>
                  <a:t> be the set of all natural numbers for which the line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𝑎</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𝑏</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is a tangent to the curve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𝑎</m:t>
                                </m:r>
                              </m:den>
                            </m:f>
                          </m:e>
                        </m:d>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𝑏</m:t>
                                </m:r>
                              </m:den>
                            </m:f>
                          </m:e>
                        </m:d>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the point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Then:</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ϕ</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𝑁</m:t>
                    </m:r>
                  </m:oMath>
                </a14:m>
                <a:endParaRPr sz="2400">
                  <a:solidFill>
                    <a:srgbClr val="111827"/>
                  </a:solidFill>
                </a:endParaRPr>
              </a:p>
            </p:txBody>
          </p:sp>
        </mc:Choice>
        <mc:Fallback>
          <p:sp>
            <p:nvSpPr>
              <p:cNvPr id="4" name="Rounded Rectangle 3"/>
              <p:cNvSpPr/>
              <p:nvPr/>
            </p:nvSpPr>
            <p:spPr>
              <a:xfrm>
                <a:off x="731520" y="1280160"/>
                <a:ext cx="10725912" cy="288239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$S$</a:t>
                </a:r>
                <a:r>
                  <a:rPr sz="2400" b="0">
                    <a:solidFill>
                      <a:srgbClr val="111827"/>
                    </a:solidFill>
                    <a:latin typeface="Arial"/>
                  </a:rPr>
                  <a:t> be the set of all natural numbers for which the line </a:t>
                </a:r>
                <a:r>
                  <a:rPr lang="en-IN" sz="2400">
                    <a:solidFill>
                      <a:srgbClr val="111827"/>
                    </a:solidFill>
                    <a:latin typeface="Cambria Math" panose="02040503050406030204" pitchFamily="18" charset="0"/>
                  </a:rPr>
                  <a:t>$\frac xa+\frac yb=2$</a:t>
                </a:r>
                <a:r>
                  <a:rPr sz="2400" b="0">
                    <a:solidFill>
                      <a:srgbClr val="111827"/>
                    </a:solidFill>
                    <a:latin typeface="Arial"/>
                  </a:rPr>
                  <a:t> is a tangent to the curve </a:t>
                </a:r>
                <a:r>
                  <a:rPr lang="en-IN" sz="2400">
                    <a:solidFill>
                      <a:srgbClr val="111827"/>
                    </a:solidFill>
                    <a:latin typeface="Cambria Math" panose="02040503050406030204" pitchFamily="18" charset="0"/>
                  </a:rPr>
                  <a:t>$\left(\frac xa\right)^n+\left(\frac yb\right)^n=2$</a:t>
                </a:r>
                <a:r>
                  <a:rPr sz="2400" b="0">
                    <a:solidFill>
                      <a:srgbClr val="111827"/>
                    </a:solidFill>
                    <a:latin typeface="Arial"/>
                  </a:rPr>
                  <a:t> at the point </a:t>
                </a:r>
                <a:r>
                  <a:rPr lang="en-IN" sz="2400">
                    <a:solidFill>
                      <a:srgbClr val="111827"/>
                    </a:solidFill>
                    <a:latin typeface="Cambria Math" panose="02040503050406030204" pitchFamily="18" charset="0"/>
                  </a:rPr>
                  <a:t>$(a,b)$</a:t>
                </a:r>
                <a:r>
                  <a:rPr sz="2400" b="0">
                    <a:solidFill>
                      <a:srgbClr val="111827"/>
                    </a:solidFill>
                    <a:latin typeface="Arial"/>
                  </a:rPr>
                  <a:t>, </a:t>
                </a:r>
                <a:r>
                  <a:rPr lang="en-IN" sz="2400">
                    <a:solidFill>
                      <a:srgbClr val="111827"/>
                    </a:solidFill>
                    <a:latin typeface="Cambria Math" panose="02040503050406030204" pitchFamily="18" charset="0"/>
                  </a:rPr>
                  <a:t>$ab\neq0$</a:t>
                </a:r>
                <a:r>
                  <a:rPr sz="2400" b="0">
                    <a:solidFill>
                      <a:srgbClr val="111827"/>
                    </a:solidFill>
                    <a:latin typeface="Arial"/>
                  </a:rPr>
                  <a:t>. Then:</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$S=\phi$</a:t>
                </a:r>
                <a:r>
                  <a:rPr sz="2400" b="0">
                    <a:solidFill>
                      <a:srgbClr val="111827"/>
                    </a:solidFill>
                    <a:latin typeface="Arial"/>
                  </a:rPr>
                  <a:t>   (B) </a:t>
                </a:r>
                <a:r>
                  <a:rPr lang="en-IN" sz="2400">
                    <a:solidFill>
                      <a:srgbClr val="111827"/>
                    </a:solidFill>
                    <a:latin typeface="Cambria Math" panose="02040503050406030204" pitchFamily="18" charset="0"/>
                  </a:rPr>
                  <a:t>$n(S)=1$</a:t>
                </a:r>
                <a:r>
                  <a:rPr sz="2400" b="0">
                    <a:solidFill>
                      <a:srgbClr val="111827"/>
                    </a:solidFill>
                    <a:latin typeface="Arial"/>
                  </a:rPr>
                  <a:t>   (C) </a:t>
                </a:r>
                <a:r>
                  <a:rPr lang="en-IN" sz="2400">
                    <a:solidFill>
                      <a:srgbClr val="111827"/>
                    </a:solidFill>
                    <a:latin typeface="Cambria Math" panose="02040503050406030204" pitchFamily="18" charset="0"/>
                  </a:rPr>
                  <a:t>$S=\{2k:k\in N\}$</a:t>
                </a:r>
                <a:r>
                  <a:rPr sz="2400" b="0">
                    <a:solidFill>
                      <a:srgbClr val="111827"/>
                    </a:solidFill>
                    <a:latin typeface="Arial"/>
                  </a:rPr>
                  <a:t>   (D) </a:t>
                </a:r>
                <a:r>
                  <a:rPr lang="en-IN" sz="2400">
                    <a:solidFill>
                      <a:srgbClr val="111827"/>
                    </a:solidFill>
                    <a:latin typeface="Cambria Math" panose="02040503050406030204" pitchFamily="18" charset="0"/>
                  </a:rPr>
                  <a:t>$S=N$</a:t>
                </a:r>
                <a:endParaRPr sz="2400">
                  <a:solidFill>
                    <a:srgbClr val="111827"/>
                  </a:solidFill>
                </a:endParaRPr>
              </a:p>
            </p:txBody>
          </p:sp>
        </mc:Fallback>
      </mc:AlternateContent>
      <p:sp>
        <p:nvSpPr>
          <p:cNvPr id="5" name="Rectangle 4"/>
          <p:cNvSpPr/>
          <p:nvPr/>
        </p:nvSpPr>
        <p:spPr>
          <a:xfrm>
            <a:off x="731520" y="4391151"/>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Tangent to a curve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At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𝑏</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both brackets equal </a:t>
                </a:r>
                <a14:m>
                  <m:oMath xmlns:m="http://schemas.openxmlformats.org/officeDocument/2006/math">
                    <m:r>
                      <a:rPr lang="en-IN" sz="2400" i="1">
                        <a:solidFill>
                          <a:srgbClr val="78350F"/>
                        </a:solidFill>
                        <a:latin typeface="Cambria Math" panose="02040503050406030204" pitchFamily="18" charset="0"/>
                      </a:rPr>
                      <m:t>1</m:t>
                    </m:r>
                  </m:oMath>
                </a14:m>
                <a:r>
                  <a:rPr sz="2400" b="0">
                    <a:solidFill>
                      <a:srgbClr val="78350F"/>
                    </a:solidFill>
                    <a:latin typeface="Arial"/>
                  </a:rPr>
                  <a:t>, so the slope is </a:t>
                </a:r>
                <a14:m>
                  <m:oMath xmlns:m="http://schemas.openxmlformats.org/officeDocument/2006/math">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𝑏</m:t>
                        </m:r>
                      </m:num>
                      <m:den>
                        <m:r>
                          <a:rPr lang="en-IN" sz="2400" i="1">
                            <a:solidFill>
                              <a:srgbClr val="78350F"/>
                            </a:solidFill>
                            <a:latin typeface="Cambria Math" panose="02040503050406030204" pitchFamily="18" charset="0"/>
                          </a:rPr>
                          <m:t>𝑎</m:t>
                        </m:r>
                      </m:den>
                    </m:f>
                  </m:oMath>
                </a14:m>
                <a:r>
                  <a:rPr sz="2400" b="0">
                    <a:solidFill>
                      <a:srgbClr val="78350F"/>
                    </a:solidFill>
                    <a:latin typeface="Arial"/>
                  </a:rPr>
                  <a:t> for every </a:t>
                </a:r>
                <a14:m>
                  <m:oMath xmlns:m="http://schemas.openxmlformats.org/officeDocument/2006/math">
                    <m:r>
                      <a:rPr lang="en-IN" sz="2400" i="1">
                        <a:solidFill>
                          <a:srgbClr val="78350F"/>
                        </a:solidFill>
                        <a:latin typeface="Cambria Math" panose="02040503050406030204" pitchFamily="18" charset="0"/>
                      </a:rPr>
                      <m:t>𝑛</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At </a:t>
                </a:r>
                <a:r>
                  <a:rPr lang="en-IN" sz="2400">
                    <a:solidFill>
                      <a:srgbClr val="78350F"/>
                    </a:solidFill>
                    <a:latin typeface="Cambria Math" panose="02040503050406030204" pitchFamily="18" charset="0"/>
                  </a:rPr>
                  <a:t>$(a,b)$</a:t>
                </a:r>
                <a:r>
                  <a:rPr sz="2400" b="0">
                    <a:solidFill>
                      <a:srgbClr val="78350F"/>
                    </a:solidFill>
                    <a:latin typeface="Arial"/>
                  </a:rPr>
                  <a:t> both brackets equal </a:t>
                </a:r>
                <a:r>
                  <a:rPr lang="en-IN" sz="2400">
                    <a:solidFill>
                      <a:srgbClr val="78350F"/>
                    </a:solidFill>
                    <a:latin typeface="Cambria Math" panose="02040503050406030204" pitchFamily="18" charset="0"/>
                  </a:rPr>
                  <a:t>$1$</a:t>
                </a:r>
                <a:r>
                  <a:rPr sz="2400" b="0">
                    <a:solidFill>
                      <a:srgbClr val="78350F"/>
                    </a:solidFill>
                    <a:latin typeface="Arial"/>
                  </a:rPr>
                  <a:t>, so the slope is </a:t>
                </a:r>
                <a:r>
                  <a:rPr lang="en-IN" sz="2400">
                    <a:solidFill>
                      <a:srgbClr val="78350F"/>
                    </a:solidFill>
                    <a:latin typeface="Cambria Math" panose="02040503050406030204" pitchFamily="18" charset="0"/>
                  </a:rPr>
                  <a:t>$-\frac ba$</a:t>
                </a:r>
                <a:r>
                  <a:rPr sz="2400" b="0">
                    <a:solidFill>
                      <a:srgbClr val="78350F"/>
                    </a:solidFill>
                    <a:latin typeface="Arial"/>
                  </a:rPr>
                  <a:t> for every </a:t>
                </a:r>
                <a:r>
                  <a:rPr lang="en-IN" sz="2400">
                    <a:solidFill>
                      <a:srgbClr val="78350F"/>
                    </a:solidFill>
                    <a:latin typeface="Cambria Math" panose="02040503050406030204" pitchFamily="18" charset="0"/>
                  </a:rPr>
                  <a:t>$n$</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Differentiate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𝑎</m:t>
                                </m:r>
                              </m:den>
                            </m:f>
                          </m:e>
                        </m:d>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𝑏</m:t>
                                </m:r>
                              </m:den>
                            </m:f>
                          </m:e>
                        </m:d>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𝑛</m:t>
                    </m:r>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𝑎</m:t>
                                </m:r>
                              </m:den>
                            </m:f>
                          </m:e>
                        </m:d>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𝑎</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𝑏</m:t>
                                </m:r>
                              </m:den>
                            </m:f>
                          </m:e>
                        </m:d>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𝑏</m:t>
                        </m:r>
                      </m:den>
                    </m:f>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both brackets equal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(the point lies on the curve as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𝑎</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𝑏</m:t>
                        </m:r>
                      </m:den>
                    </m:f>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sSub>
                      <m:e>
                        <m:r>
                          <m:rPr>
                            <m:sty m:val="p"/>
                          </m:rPr>
                          <a:rPr lang="en-IN" sz="2400">
                            <a:solidFill>
                              <a:srgbClr val="111827"/>
                            </a:solidFill>
                            <a:latin typeface="Cambria Math" panose="02040503050406030204" pitchFamily="18" charset="0"/>
                          </a:rPr>
                          <m:t>|</m:t>
                        </m:r>
                      </m:e>
                      <m: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𝑏</m:t>
                        </m:r>
                      </m:num>
                      <m:den>
                        <m:r>
                          <a:rPr lang="en-IN" sz="2400" i="1">
                            <a:solidFill>
                              <a:srgbClr val="111827"/>
                            </a:solidFill>
                            <a:latin typeface="Cambria Math" panose="02040503050406030204" pitchFamily="18" charset="0"/>
                          </a:rPr>
                          <m:t>𝑎</m:t>
                        </m:r>
                      </m:den>
                    </m:f>
                  </m:oMath>
                </a14:m>
                <a:r>
                  <a:rPr sz="2400" b="0">
                    <a:solidFill>
                      <a:srgbClr val="111827"/>
                    </a:solidFill>
                    <a:latin typeface="Arial"/>
                  </a:rPr>
                  <a:t>, independent of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Differentiate </a:t>
                </a:r>
                <a:r>
                  <a:rPr lang="en-IN" sz="2400">
                    <a:solidFill>
                      <a:srgbClr val="111827"/>
                    </a:solidFill>
                    <a:latin typeface="Cambria Math" panose="02040503050406030204" pitchFamily="18" charset="0"/>
                  </a:rPr>
                  <a:t>$\left(\frac xa\right)^n+\left(\frac yb\right)^n=2$</a:t>
                </a:r>
                <a:r>
                  <a:rPr sz="2400" b="0">
                    <a:solidFill>
                      <a:srgbClr val="111827"/>
                    </a:solidFill>
                    <a:latin typeface="Arial"/>
                  </a:rPr>
                  <a:t>: </a:t>
                </a:r>
                <a:r>
                  <a:rPr lang="en-IN" sz="2400">
                    <a:solidFill>
                      <a:srgbClr val="111827"/>
                    </a:solidFill>
                    <a:latin typeface="Cambria Math" panose="02040503050406030204" pitchFamily="18" charset="0"/>
                  </a:rPr>
                  <a:t>$n\left(\frac xa\right)^{n-1}\frac1a+n\left(\frac yb\right)^{n-1}\frac1b\frac{dy}{dx}=0$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At </a:t>
                </a:r>
                <a:r>
                  <a:rPr lang="en-IN" sz="2400">
                    <a:solidFill>
                      <a:srgbClr val="111827"/>
                    </a:solidFill>
                    <a:latin typeface="Cambria Math" panose="02040503050406030204" pitchFamily="18" charset="0"/>
                  </a:rPr>
                  <a:t>$(a,b)$</a:t>
                </a:r>
                <a:r>
                  <a:rPr sz="2400" b="0">
                    <a:solidFill>
                      <a:srgbClr val="111827"/>
                    </a:solidFill>
                    <a:latin typeface="Arial"/>
                  </a:rPr>
                  <a:t> both brackets equal </a:t>
                </a:r>
                <a:r>
                  <a:rPr lang="en-IN" sz="2400">
                    <a:solidFill>
                      <a:srgbClr val="111827"/>
                    </a:solidFill>
                    <a:latin typeface="Cambria Math" panose="02040503050406030204" pitchFamily="18" charset="0"/>
                  </a:rPr>
                  <a:t>$1$</a:t>
                </a:r>
                <a:r>
                  <a:rPr sz="2400" b="0">
                    <a:solidFill>
                      <a:srgbClr val="111827"/>
                    </a:solidFill>
                    <a:latin typeface="Arial"/>
                  </a:rPr>
                  <a:t> (the point lies on the curve as </a:t>
                </a:r>
                <a:r>
                  <a:rPr lang="en-IN" sz="2400">
                    <a:solidFill>
                      <a:srgbClr val="111827"/>
                    </a:solidFill>
                    <a:latin typeface="Cambria Math" panose="02040503050406030204" pitchFamily="18" charset="0"/>
                  </a:rPr>
                  <a:t>$1+1=2$</a:t>
                </a:r>
                <a:r>
                  <a:rPr sz="2400" b="0">
                    <a:solidFill>
                      <a:srgbClr val="111827"/>
                    </a:solidFill>
                    <a:latin typeface="Arial"/>
                  </a:rPr>
                  <a:t>): </a:t>
                </a:r>
                <a:r>
                  <a:rPr lang="en-IN" sz="2400">
                    <a:solidFill>
                      <a:srgbClr val="111827"/>
                    </a:solidFill>
                    <a:latin typeface="Cambria Math" panose="02040503050406030204" pitchFamily="18" charset="0"/>
                  </a:rPr>
                  <a:t>$\frac na+\frac nb\frac{dy}{dx}=0$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$\frac{dy}{dx}\Big|_{(a,b)}=-\frac ba$</a:t>
                </a:r>
                <a:r>
                  <a:rPr sz="2400" b="0">
                    <a:solidFill>
                      <a:srgbClr val="111827"/>
                    </a:solidFill>
                    <a:latin typeface="Arial"/>
                  </a:rPr>
                  <a:t>, independent of </a:t>
                </a:r>
                <a:r>
                  <a:rPr lang="en-IN" sz="2400">
                    <a:solidFill>
                      <a:srgbClr val="111827"/>
                    </a:solidFill>
                    <a:latin typeface="Cambria Math" panose="02040503050406030204" pitchFamily="18" charset="0"/>
                  </a:rPr>
                  <a:t>$n$</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Tangent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𝑏</m:t>
                        </m:r>
                      </m:num>
                      <m:den>
                        <m:r>
                          <a:rPr lang="en-IN" sz="2400" i="1">
                            <a:solidFill>
                              <a:srgbClr val="111827"/>
                            </a:solidFill>
                            <a:latin typeface="Cambria Math" panose="02040503050406030204" pitchFamily="18" charset="0"/>
                          </a:rPr>
                          <m:t>𝑎</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Divide by </a:t>
                </a:r>
                <a14:m>
                  <m:oMath xmlns:m="http://schemas.openxmlformats.org/officeDocument/2006/math">
                    <m:r>
                      <a:rPr lang="en-IN" sz="2400" i="1">
                        <a:solidFill>
                          <a:srgbClr val="111827"/>
                        </a:solidFill>
                        <a:latin typeface="Cambria Math" panose="02040503050406030204" pitchFamily="18" charset="0"/>
                      </a:rPr>
                      <m:t>𝑏</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𝑏</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𝑎</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i.e.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𝑎</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𝑏</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This is exactly the given line for every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𝑁</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𝑁</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Tangent at </a:t>
                </a:r>
                <a:r>
                  <a:rPr lang="en-IN" sz="2400">
                    <a:solidFill>
                      <a:srgbClr val="111827"/>
                    </a:solidFill>
                    <a:latin typeface="Cambria Math" panose="02040503050406030204" pitchFamily="18" charset="0"/>
                  </a:rPr>
                  <a:t>$(a,b)$</a:t>
                </a:r>
                <a:r>
                  <a:rPr sz="2400" b="0">
                    <a:solidFill>
                      <a:srgbClr val="111827"/>
                    </a:solidFill>
                    <a:latin typeface="Arial"/>
                  </a:rPr>
                  <a:t>: </a:t>
                </a:r>
                <a:r>
                  <a:rPr lang="en-IN" sz="2400">
                    <a:solidFill>
                      <a:srgbClr val="111827"/>
                    </a:solidFill>
                    <a:latin typeface="Cambria Math" panose="02040503050406030204" pitchFamily="18" charset="0"/>
                  </a:rPr>
                  <a:t>$y-b=-\frac ba(x-a)$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Divide by </a:t>
                </a:r>
                <a:r>
                  <a:rPr lang="en-IN" sz="2400">
                    <a:solidFill>
                      <a:srgbClr val="111827"/>
                    </a:solidFill>
                    <a:latin typeface="Cambria Math" panose="02040503050406030204" pitchFamily="18" charset="0"/>
                  </a:rPr>
                  <a:t>$b$</a:t>
                </a:r>
                <a:r>
                  <a:rPr sz="2400" b="0">
                    <a:solidFill>
                      <a:srgbClr val="111827"/>
                    </a:solidFill>
                    <a:latin typeface="Arial"/>
                  </a:rPr>
                  <a:t>: </a:t>
                </a:r>
                <a:r>
                  <a:rPr lang="en-IN" sz="2400">
                    <a:solidFill>
                      <a:srgbClr val="111827"/>
                    </a:solidFill>
                    <a:latin typeface="Cambria Math" panose="02040503050406030204" pitchFamily="18" charset="0"/>
                  </a:rPr>
                  <a:t>$\frac yb-1=-\frac xa+1$</a:t>
                </a:r>
                <a:r>
                  <a:rPr sz="2400" b="0">
                    <a:solidFill>
                      <a:srgbClr val="111827"/>
                    </a:solidFill>
                    <a:latin typeface="Arial"/>
                  </a:rPr>
                  <a:t>, i.e. </a:t>
                </a:r>
                <a:r>
                  <a:rPr lang="en-IN" sz="2400">
                    <a:solidFill>
                      <a:srgbClr val="111827"/>
                    </a:solidFill>
                    <a:latin typeface="Cambria Math" panose="02040503050406030204" pitchFamily="18" charset="0"/>
                  </a:rPr>
                  <a:t>$\frac xa+\frac yb=2$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This is exactly the given line for every </a:t>
                </a:r>
                <a:r>
                  <a:rPr lang="en-IN" sz="2400">
                    <a:solidFill>
                      <a:srgbClr val="111827"/>
                    </a:solidFill>
                    <a:latin typeface="Cambria Math" panose="02040503050406030204" pitchFamily="18" charset="0"/>
                  </a:rPr>
                  <a:t>$n\in N$</a:t>
                </a:r>
                <a:r>
                  <a:rPr sz="2400" b="0">
                    <a:solidFill>
                      <a:srgbClr val="111827"/>
                    </a:solidFill>
                    <a:latin typeface="Arial"/>
                  </a:rPr>
                  <a:t>, so </a:t>
                </a:r>
                <a:r>
                  <a:rPr lang="en-IN" sz="2400">
                    <a:solidFill>
                      <a:srgbClr val="111827"/>
                    </a:solidFill>
                    <a:latin typeface="Cambria Math" panose="02040503050406030204" pitchFamily="18" charset="0"/>
                  </a:rPr>
                  <a:t>$S=N$</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a:t>
                </a:r>
                <a14:m>
                  <m:oMath xmlns:m="http://schemas.openxmlformats.org/officeDocument/2006/math">
                    <m:r>
                      <a:rPr lang="en-IN" sz="2800" i="1">
                        <a:solidFill>
                          <a:srgbClr val="15803D"/>
                        </a:solidFill>
                        <a:latin typeface="Cambria Math" panose="02040503050406030204" pitchFamily="18" charset="0"/>
                      </a:rPr>
                      <m:t>𝑆</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𝑁</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a:t>
                </a:r>
                <a:r>
                  <a:rPr lang="en-IN" sz="2800">
                    <a:solidFill>
                      <a:srgbClr val="15803D"/>
                    </a:solidFill>
                    <a:latin typeface="Cambria Math" panose="02040503050406030204" pitchFamily="18" charset="0"/>
                  </a:rPr>
                  <a:t>$S=N$</a:t>
                </a:r>
                <a:endParaRPr sz="2800">
                  <a:solidFill>
                    <a:srgbClr val="15803D"/>
                  </a:solidFill>
                </a:endParaRPr>
              </a:p>
            </p:txBody>
          </p:sp>
        </mc:Fallback>
      </mc:AlternateContent>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Scale </a:t>
                </a:r>
                <a14:m>
                  <m:oMath xmlns:m="http://schemas.openxmlformats.org/officeDocument/2006/math">
                    <m:r>
                      <a:rPr lang="en-IN" sz="2400" i="1">
                        <a:solidFill>
                          <a:srgbClr val="78350F"/>
                        </a:solidFill>
                        <a:latin typeface="Cambria Math" panose="02040503050406030204" pitchFamily="18" charset="0"/>
                      </a:rPr>
                      <m:t>𝑋</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𝑥</m:t>
                        </m:r>
                      </m:num>
                      <m:den>
                        <m:r>
                          <a:rPr lang="en-IN" sz="2400" i="1">
                            <a:solidFill>
                              <a:srgbClr val="78350F"/>
                            </a:solidFill>
                            <a:latin typeface="Cambria Math" panose="02040503050406030204" pitchFamily="18" charset="0"/>
                          </a:rPr>
                          <m:t>𝑎</m:t>
                        </m:r>
                      </m:den>
                    </m:f>
                  </m:oMath>
                </a14:m>
                <a:r>
                  <a:rPr sz="2400" b="0">
                    <a:solidFill>
                      <a:srgbClr val="78350F"/>
                    </a:solidFill>
                    <a:latin typeface="Arial"/>
                  </a:rPr>
                  <a:t>, </a:t>
                </a:r>
                <a14:m>
                  <m:oMath xmlns:m="http://schemas.openxmlformats.org/officeDocument/2006/math">
                    <m:r>
                      <a:rPr lang="en-IN" sz="2400" i="1">
                        <a:solidFill>
                          <a:srgbClr val="78350F"/>
                        </a:solidFill>
                        <a:latin typeface="Cambria Math" panose="02040503050406030204" pitchFamily="18" charset="0"/>
                      </a:rPr>
                      <m:t>𝑌</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𝑦</m:t>
                        </m:r>
                      </m:num>
                      <m:den>
                        <m:r>
                          <a:rPr lang="en-IN" sz="2400" i="1">
                            <a:solidFill>
                              <a:srgbClr val="78350F"/>
                            </a:solidFill>
                            <a:latin typeface="Cambria Math" panose="02040503050406030204" pitchFamily="18" charset="0"/>
                          </a:rPr>
                          <m:t>𝑏</m:t>
                        </m:r>
                      </m:den>
                    </m:f>
                  </m:oMath>
                </a14:m>
                <a:r>
                  <a:rPr sz="2400" b="0">
                    <a:solidFill>
                      <a:srgbClr val="78350F"/>
                    </a:solidFill>
                    <a:latin typeface="Arial"/>
                  </a:rPr>
                  <a:t>: the gradient of </a:t>
                </a:r>
                <a14:m>
                  <m:oMath xmlns:m="http://schemas.openxmlformats.org/officeDocument/2006/math">
                    <m:sSup>
                      <m:e>
                        <m:r>
                          <a:rPr lang="en-IN" sz="2400" i="1">
                            <a:solidFill>
                              <a:srgbClr val="78350F"/>
                            </a:solidFill>
                            <a:latin typeface="Cambria Math" panose="02040503050406030204" pitchFamily="18" charset="0"/>
                          </a:rPr>
                          <m:t>𝑋</m:t>
                        </m:r>
                      </m:e>
                      <m:sup>
                        <m:r>
                          <a:rPr lang="en-IN" sz="2400" i="1">
                            <a:solidFill>
                              <a:srgbClr val="78350F"/>
                            </a:solidFill>
                            <a:latin typeface="Cambria Math" panose="02040503050406030204" pitchFamily="18" charset="0"/>
                          </a:rPr>
                          <m:t>𝑛</m:t>
                        </m:r>
                      </m:sup>
                    </m:sSup>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𝑌</m:t>
                        </m:r>
                      </m:e>
                      <m:sup>
                        <m:r>
                          <a:rPr lang="en-IN" sz="2400" i="1">
                            <a:solidFill>
                              <a:srgbClr val="78350F"/>
                            </a:solidFill>
                            <a:latin typeface="Cambria Math" panose="02040503050406030204" pitchFamily="18" charset="0"/>
                          </a:rPr>
                          <m:t>𝑛</m:t>
                        </m:r>
                      </m:sup>
                    </m:sSup>
                  </m:oMath>
                </a14:m>
                <a:r>
                  <a:rPr sz="2400" b="0">
                    <a:solidFill>
                      <a:srgbClr val="78350F"/>
                    </a:solidFill>
                    <a:latin typeface="Arial"/>
                  </a:rPr>
                  <a:t> at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is </a:t>
                </a:r>
                <a14:m>
                  <m:oMath xmlns:m="http://schemas.openxmlformats.org/officeDocument/2006/math">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parallel to the normal of </a:t>
                </a:r>
                <a14:m>
                  <m:oMath xmlns:m="http://schemas.openxmlformats.org/officeDocument/2006/math">
                    <m:r>
                      <a:rPr lang="en-IN" sz="2400" i="1">
                        <a:solidFill>
                          <a:srgbClr val="78350F"/>
                        </a:solidFill>
                        <a:latin typeface="Cambria Math" panose="02040503050406030204" pitchFamily="18" charset="0"/>
                      </a:rPr>
                      <m:t>𝑋</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𝑌</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Scale </a:t>
                </a:r>
                <a:r>
                  <a:rPr lang="en-IN" sz="2400">
                    <a:solidFill>
                      <a:srgbClr val="78350F"/>
                    </a:solidFill>
                    <a:latin typeface="Cambria Math" panose="02040503050406030204" pitchFamily="18" charset="0"/>
                  </a:rPr>
                  <a:t>$X=\frac xa$</a:t>
                </a:r>
                <a:r>
                  <a:rPr sz="2400" b="0">
                    <a:solidFill>
                      <a:srgbClr val="78350F"/>
                    </a:solidFill>
                    <a:latin typeface="Arial"/>
                  </a:rPr>
                  <a:t>, </a:t>
                </a:r>
                <a:r>
                  <a:rPr lang="en-IN" sz="2400">
                    <a:solidFill>
                      <a:srgbClr val="78350F"/>
                    </a:solidFill>
                    <a:latin typeface="Cambria Math" panose="02040503050406030204" pitchFamily="18" charset="0"/>
                  </a:rPr>
                  <a:t>$Y=\frac yb$</a:t>
                </a:r>
                <a:r>
                  <a:rPr sz="2400" b="0">
                    <a:solidFill>
                      <a:srgbClr val="78350F"/>
                    </a:solidFill>
                    <a:latin typeface="Arial"/>
                  </a:rPr>
                  <a:t>: the gradient of </a:t>
                </a:r>
                <a:r>
                  <a:rPr lang="en-IN" sz="2400">
                    <a:solidFill>
                      <a:srgbClr val="78350F"/>
                    </a:solidFill>
                    <a:latin typeface="Cambria Math" panose="02040503050406030204" pitchFamily="18" charset="0"/>
                  </a:rPr>
                  <a:t>$X^n+Y^n$</a:t>
                </a:r>
                <a:r>
                  <a:rPr sz="2400" b="0">
                    <a:solidFill>
                      <a:srgbClr val="78350F"/>
                    </a:solidFill>
                    <a:latin typeface="Arial"/>
                  </a:rPr>
                  <a:t> at </a:t>
                </a:r>
                <a:r>
                  <a:rPr lang="en-IN" sz="2400">
                    <a:solidFill>
                      <a:srgbClr val="78350F"/>
                    </a:solidFill>
                    <a:latin typeface="Cambria Math" panose="02040503050406030204" pitchFamily="18" charset="0"/>
                  </a:rPr>
                  <a:t>$(1,1)$</a:t>
                </a:r>
                <a:r>
                  <a:rPr sz="2400" b="0">
                    <a:solidFill>
                      <a:srgbClr val="78350F"/>
                    </a:solidFill>
                    <a:latin typeface="Arial"/>
                  </a:rPr>
                  <a:t> is </a:t>
                </a:r>
                <a:r>
                  <a:rPr lang="en-IN" sz="2400">
                    <a:solidFill>
                      <a:srgbClr val="78350F"/>
                    </a:solidFill>
                    <a:latin typeface="Cambria Math" panose="02040503050406030204" pitchFamily="18" charset="0"/>
                  </a:rPr>
                  <a:t>$n(1,1)$</a:t>
                </a:r>
                <a:r>
                  <a:rPr sz="2400" b="0">
                    <a:solidFill>
                      <a:srgbClr val="78350F"/>
                    </a:solidFill>
                    <a:latin typeface="Arial"/>
                  </a:rPr>
                  <a:t>, parallel to the normal of </a:t>
                </a:r>
                <a:r>
                  <a:rPr lang="en-IN" sz="2400">
                    <a:solidFill>
                      <a:srgbClr val="78350F"/>
                    </a:solidFill>
                    <a:latin typeface="Cambria Math" panose="02040503050406030204" pitchFamily="18" charset="0"/>
                  </a:rPr>
                  <a:t>$X+Y=2$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Put </a:t>
                </a:r>
                <a14:m>
                  <m:oMath xmlns:m="http://schemas.openxmlformats.org/officeDocument/2006/math">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𝑎</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𝑌</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𝑏</m:t>
                        </m:r>
                      </m:den>
                    </m:f>
                  </m:oMath>
                </a14:m>
                <a:r>
                  <a:rPr sz="2400" b="0">
                    <a:solidFill>
                      <a:srgbClr val="111827"/>
                    </a:solidFill>
                    <a:latin typeface="Arial"/>
                  </a:rPr>
                  <a:t>: curve </a:t>
                </a:r>
                <a14:m>
                  <m:oMath xmlns:m="http://schemas.openxmlformats.org/officeDocument/2006/math">
                    <m:sSup>
                      <m:e>
                        <m:r>
                          <a:rPr lang="en-IN" sz="2400" i="1">
                            <a:solidFill>
                              <a:srgbClr val="111827"/>
                            </a:solidFill>
                            <a:latin typeface="Cambria Math" panose="02040503050406030204" pitchFamily="18" charset="0"/>
                          </a:rPr>
                          <m:t>𝑋</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𝑌</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line </a:t>
                </a:r>
                <a14:m>
                  <m:oMath xmlns:m="http://schemas.openxmlformats.org/officeDocument/2006/math">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𝑌</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both through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normal to the curve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along the gradient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𝑛</m:t>
                        </m:r>
                        <m:sSup>
                          <m:e>
                            <m:r>
                              <a:rPr lang="en-IN" sz="2400" i="1">
                                <a:solidFill>
                                  <a:srgbClr val="111827"/>
                                </a:solidFill>
                                <a:latin typeface="Cambria Math" panose="02040503050406030204" pitchFamily="18" charset="0"/>
                              </a:rPr>
                              <m:t>𝑋</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sSup>
                          <m:e>
                            <m:r>
                              <a:rPr lang="en-IN" sz="2400" i="1">
                                <a:solidFill>
                                  <a:srgbClr val="111827"/>
                                </a:solidFill>
                                <a:latin typeface="Cambria Math" panose="02040503050406030204" pitchFamily="18" charset="0"/>
                              </a:rPr>
                              <m:t>𝑌</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normal to the line </a:t>
                </a:r>
                <a14:m>
                  <m:oMath xmlns:m="http://schemas.openxmlformats.org/officeDocument/2006/math">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𝑌</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is along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two normals are parallel.</a:t>
                </a:r>
                <a:endParaRPr sz="2400">
                  <a:solidFill>
                    <a:srgbClr val="111827"/>
                  </a:solidFill>
                </a:endParaRPr>
              </a:p>
            </p:txBody>
          </p:sp>
        </mc:Choice>
        <mc:Fallback>
          <p:sp>
            <p:nvSpPr>
              <p:cNvPr id="6" name="Rectangle 5"/>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Put </a:t>
                </a:r>
                <a:r>
                  <a:rPr lang="en-IN" sz="2400">
                    <a:solidFill>
                      <a:srgbClr val="111827"/>
                    </a:solidFill>
                    <a:latin typeface="Cambria Math" panose="02040503050406030204" pitchFamily="18" charset="0"/>
                  </a:rPr>
                  <a:t>$X=\frac xa$</a:t>
                </a:r>
                <a:r>
                  <a:rPr sz="2400" b="0">
                    <a:solidFill>
                      <a:srgbClr val="111827"/>
                    </a:solidFill>
                    <a:latin typeface="Arial"/>
                  </a:rPr>
                  <a:t>, </a:t>
                </a:r>
                <a:r>
                  <a:rPr lang="en-IN" sz="2400">
                    <a:solidFill>
                      <a:srgbClr val="111827"/>
                    </a:solidFill>
                    <a:latin typeface="Cambria Math" panose="02040503050406030204" pitchFamily="18" charset="0"/>
                  </a:rPr>
                  <a:t>$Y=\frac yb$</a:t>
                </a:r>
                <a:r>
                  <a:rPr sz="2400" b="0">
                    <a:solidFill>
                      <a:srgbClr val="111827"/>
                    </a:solidFill>
                    <a:latin typeface="Arial"/>
                  </a:rPr>
                  <a:t>: curve </a:t>
                </a:r>
                <a:r>
                  <a:rPr lang="en-IN" sz="2400">
                    <a:solidFill>
                      <a:srgbClr val="111827"/>
                    </a:solidFill>
                    <a:latin typeface="Cambria Math" panose="02040503050406030204" pitchFamily="18" charset="0"/>
                  </a:rPr>
                  <a:t>$X^n+Y^n=2$</a:t>
                </a:r>
                <a:r>
                  <a:rPr sz="2400" b="0">
                    <a:solidFill>
                      <a:srgbClr val="111827"/>
                    </a:solidFill>
                    <a:latin typeface="Arial"/>
                  </a:rPr>
                  <a:t>, line </a:t>
                </a:r>
                <a:r>
                  <a:rPr lang="en-IN" sz="2400">
                    <a:solidFill>
                      <a:srgbClr val="111827"/>
                    </a:solidFill>
                    <a:latin typeface="Cambria Math" panose="02040503050406030204" pitchFamily="18" charset="0"/>
                  </a:rPr>
                  <a:t>$X+Y=2$</a:t>
                </a:r>
                <a:r>
                  <a:rPr sz="2400" b="0">
                    <a:solidFill>
                      <a:srgbClr val="111827"/>
                    </a:solidFill>
                    <a:latin typeface="Arial"/>
                  </a:rPr>
                  <a:t>, both through </a:t>
                </a:r>
                <a:r>
                  <a:rPr lang="en-IN" sz="2400">
                    <a:solidFill>
                      <a:srgbClr val="111827"/>
                    </a:solidFill>
                    <a:latin typeface="Cambria Math" panose="02040503050406030204" pitchFamily="18" charset="0"/>
                  </a:rPr>
                  <a:t>$(1,1)$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normal to the curve at </a:t>
                </a:r>
                <a:r>
                  <a:rPr lang="en-IN" sz="2400">
                    <a:solidFill>
                      <a:srgbClr val="111827"/>
                    </a:solidFill>
                    <a:latin typeface="Cambria Math" panose="02040503050406030204" pitchFamily="18" charset="0"/>
                  </a:rPr>
                  <a:t>$(1,1)$</a:t>
                </a:r>
                <a:r>
                  <a:rPr sz="2400" b="0">
                    <a:solidFill>
                      <a:srgbClr val="111827"/>
                    </a:solidFill>
                    <a:latin typeface="Arial"/>
                  </a:rPr>
                  <a:t> is along the gradient </a:t>
                </a:r>
                <a:r>
                  <a:rPr lang="en-IN" sz="2400">
                    <a:solidFill>
                      <a:srgbClr val="111827"/>
                    </a:solidFill>
                    <a:latin typeface="Cambria Math" panose="02040503050406030204" pitchFamily="18" charset="0"/>
                  </a:rPr>
                  <a:t>$\left(nX^{n-1},nY^{n-1}\right)=n(1,1)$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normal to the line </a:t>
                </a:r>
                <a:r>
                  <a:rPr lang="en-IN" sz="2400">
                    <a:solidFill>
                      <a:srgbClr val="111827"/>
                    </a:solidFill>
                    <a:latin typeface="Cambria Math" panose="02040503050406030204" pitchFamily="18" charset="0"/>
                  </a:rPr>
                  <a:t>$X+Y=2$</a:t>
                </a:r>
                <a:r>
                  <a:rPr sz="2400" b="0">
                    <a:solidFill>
                      <a:srgbClr val="111827"/>
                    </a:solidFill>
                    <a:latin typeface="Arial"/>
                  </a:rPr>
                  <a:t> is along </a:t>
                </a:r>
                <a:r>
                  <a:rPr lang="en-IN" sz="2400">
                    <a:solidFill>
                      <a:srgbClr val="111827"/>
                    </a:solidFill>
                    <a:latin typeface="Cambria Math" panose="02040503050406030204" pitchFamily="18" charset="0"/>
                  </a:rPr>
                  <a:t>$(1,1)$</a:t>
                </a:r>
                <a:r>
                  <a:rPr sz="2400" b="0">
                    <a:solidFill>
                      <a:srgbClr val="111827"/>
                    </a:solidFill>
                    <a:latin typeface="Arial"/>
                  </a:rPr>
                  <a:t>; the two normals are parallel.</a:t>
                </a:r>
                <a:endParaRPr sz="2400">
                  <a:solidFill>
                    <a:srgbClr val="111827"/>
                  </a:solidFill>
                </a:endParaRPr>
              </a:p>
            </p:txBody>
          </p:sp>
        </mc:Fallback>
      </mc:AlternateContent>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Two curves through a common point with parallel normals share a tangent there, for every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the line is tangent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for all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𝑁</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𝑁</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Two curves through a common point with parallel normals share a tangent there, for every </a:t>
                </a:r>
                <a:r>
                  <a:rPr lang="en-IN" sz="2400">
                    <a:solidFill>
                      <a:srgbClr val="111827"/>
                    </a:solidFill>
                    <a:latin typeface="Cambria Math" panose="02040503050406030204" pitchFamily="18" charset="0"/>
                  </a:rPr>
                  <a:t>$n$</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the line is tangent at </a:t>
                </a:r>
                <a:r>
                  <a:rPr lang="en-IN" sz="2400">
                    <a:solidFill>
                      <a:srgbClr val="111827"/>
                    </a:solidFill>
                    <a:latin typeface="Cambria Math" panose="02040503050406030204" pitchFamily="18" charset="0"/>
                  </a:rPr>
                  <a:t>$(a,b)$</a:t>
                </a:r>
                <a:r>
                  <a:rPr sz="2400" b="0">
                    <a:solidFill>
                      <a:srgbClr val="111827"/>
                    </a:solidFill>
                    <a:latin typeface="Arial"/>
                  </a:rPr>
                  <a:t> for all </a:t>
                </a:r>
                <a:r>
                  <a:rPr lang="en-IN" sz="2400">
                    <a:solidFill>
                      <a:srgbClr val="111827"/>
                    </a:solidFill>
                    <a:latin typeface="Cambria Math" panose="02040503050406030204" pitchFamily="18" charset="0"/>
                  </a:rPr>
                  <a:t>$n\in N$</a:t>
                </a:r>
                <a:r>
                  <a:rPr sz="2400" b="0">
                    <a:solidFill>
                      <a:srgbClr val="111827"/>
                    </a:solidFill>
                    <a:latin typeface="Arial"/>
                  </a:rPr>
                  <a:t>, so </a:t>
                </a:r>
                <a:r>
                  <a:rPr lang="en-IN" sz="2400">
                    <a:solidFill>
                      <a:srgbClr val="111827"/>
                    </a:solidFill>
                    <a:latin typeface="Cambria Math" panose="02040503050406030204" pitchFamily="18" charset="0"/>
                  </a:rPr>
                  <a:t>$S=N$</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a:t>
                </a:r>
                <a14:m>
                  <m:oMath xmlns:m="http://schemas.openxmlformats.org/officeDocument/2006/math">
                    <m:r>
                      <a:rPr lang="en-IN" sz="2800" i="1">
                        <a:solidFill>
                          <a:srgbClr val="15803D"/>
                        </a:solidFill>
                        <a:latin typeface="Cambria Math" panose="02040503050406030204" pitchFamily="18" charset="0"/>
                      </a:rPr>
                      <m:t>𝑆</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𝑁</m:t>
                    </m:r>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a:t>
                </a:r>
                <a:r>
                  <a:rPr lang="en-IN" sz="2800">
                    <a:solidFill>
                      <a:srgbClr val="15803D"/>
                    </a:solidFill>
                    <a:latin typeface="Cambria Math" panose="02040503050406030204" pitchFamily="18" charset="0"/>
                  </a:rPr>
                  <a:t>$S=N$</a:t>
                </a:r>
                <a:endParaRPr sz="2800">
                  <a:solidFill>
                    <a:srgbClr val="15803D"/>
                  </a:solidFill>
                </a:endParaRPr>
              </a:p>
            </p:txBody>
          </p:sp>
        </mc:Fallback>
      </mc:AlternateContent>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Tangent to </a:t>
                </a:r>
                <a14:m>
                  <m:oMath xmlns:m="http://schemas.openxmlformats.org/officeDocument/2006/math">
                    <m:r>
                      <a:rPr lang="en-IN" sz="2400" i="1">
                        <a:solidFill>
                          <a:srgbClr val="111827"/>
                        </a:solidFill>
                        <a:latin typeface="Cambria Math" panose="02040503050406030204" pitchFamily="18" charset="0"/>
                      </a:rPr>
                      <m:t>𝐹</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at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𝐹</m:t>
                        </m:r>
                      </m:e>
                      <m:sub>
                        <m:r>
                          <a:rPr lang="en-IN" sz="2400" i="1">
                            <a:solidFill>
                              <a:srgbClr val="111827"/>
                            </a:solidFill>
                            <a:latin typeface="Cambria Math" panose="02040503050406030204" pitchFamily="18" charset="0"/>
                          </a:rPr>
                          <m:t>𝑥</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𝐹</m:t>
                        </m:r>
                      </m:e>
                      <m:sub>
                        <m:r>
                          <a:rPr lang="en-IN" sz="2400" i="1">
                            <a:solidFill>
                              <a:srgbClr val="111827"/>
                            </a:solidFill>
                            <a:latin typeface="Cambria Math" panose="02040503050406030204" pitchFamily="18" charset="0"/>
                          </a:rPr>
                          <m:t>𝑦</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Substituting </a:t>
                </a:r>
                <a14:m>
                  <m:oMath xmlns:m="http://schemas.openxmlformats.org/officeDocument/2006/math">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𝑌</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 removes parameters; the curve </a:t>
                </a:r>
                <a14:m>
                  <m:oMath xmlns:m="http://schemas.openxmlformats.org/officeDocument/2006/math">
                    <m:sSup>
                      <m:e>
                        <m:r>
                          <a:rPr lang="en-IN" sz="2400" i="1">
                            <a:solidFill>
                              <a:srgbClr val="111827"/>
                            </a:solidFill>
                            <a:latin typeface="Cambria Math" panose="02040503050406030204" pitchFamily="18" charset="0"/>
                          </a:rPr>
                          <m:t>𝑋</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𝑌</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always passes through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tangent </a:t>
                </a:r>
                <a14:m>
                  <m:oMath xmlns:m="http://schemas.openxmlformats.org/officeDocument/2006/math">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𝑌</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𝑌</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power-mean gives </a:t>
                </a:r>
                <a14:m>
                  <m:oMath xmlns:m="http://schemas.openxmlformats.org/officeDocument/2006/math">
                    <m:sSup>
                      <m:e>
                        <m:r>
                          <a:rPr lang="en-IN" sz="2400" i="1">
                            <a:solidFill>
                              <a:srgbClr val="111827"/>
                            </a:solidFill>
                            <a:latin typeface="Cambria Math" panose="02040503050406030204" pitchFamily="18" charset="0"/>
                          </a:rPr>
                          <m:t>𝑋</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𝑌</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𝑌</m:t>
                                </m:r>
                              </m:num>
                              <m:den>
                                <m:r>
                                  <a:rPr lang="en-IN" sz="2400" i="1">
                                    <a:solidFill>
                                      <a:srgbClr val="111827"/>
                                    </a:solidFill>
                                    <a:latin typeface="Cambria Math" panose="02040503050406030204" pitchFamily="18" charset="0"/>
                                  </a:rPr>
                                  <m:t>2</m:t>
                                </m:r>
                              </m:den>
                            </m:f>
                          </m:e>
                        </m:d>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so on </a:t>
                </a:r>
                <a14:m>
                  <m:oMath xmlns:m="http://schemas.openxmlformats.org/officeDocument/2006/math">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𝑌</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we get </a:t>
                </a:r>
                <a14:m>
                  <m:oMath xmlns:m="http://schemas.openxmlformats.org/officeDocument/2006/math">
                    <m:sSup>
                      <m:e>
                        <m:r>
                          <a:rPr lang="en-IN" sz="2400" i="1">
                            <a:solidFill>
                              <a:srgbClr val="111827"/>
                            </a:solidFill>
                            <a:latin typeface="Cambria Math" panose="02040503050406030204" pitchFamily="18" charset="0"/>
                          </a:rPr>
                          <m:t>𝑋</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𝑌</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with equality only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 the line touches the curve.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Generalisation: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𝑎</m:t>
                                </m:r>
                              </m:den>
                            </m:f>
                          </m:e>
                        </m:d>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𝑏</m:t>
                                </m:r>
                              </m:den>
                            </m:f>
                          </m:e>
                        </m:d>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has tangent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𝑎</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𝑏</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for every real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Tangent to </a:t>
                </a:r>
                <a:r>
                  <a:rPr lang="en-IN" sz="2400">
                    <a:solidFill>
                      <a:srgbClr val="111827"/>
                    </a:solidFill>
                    <a:latin typeface="Cambria Math" panose="02040503050406030204" pitchFamily="18" charset="0"/>
                  </a:rPr>
                  <a:t>$F(x,y)=c$</a:t>
                </a:r>
                <a:r>
                  <a:rPr sz="2400" b="0">
                    <a:solidFill>
                      <a:srgbClr val="111827"/>
                    </a:solidFill>
                    <a:latin typeface="Arial"/>
                  </a:rPr>
                  <a:t> at </a:t>
                </a:r>
                <a:r>
                  <a:rPr lang="en-IN" sz="2400">
                    <a:solidFill>
                      <a:srgbClr val="111827"/>
                    </a:solidFill>
                    <a:latin typeface="Cambria Math" panose="02040503050406030204" pitchFamily="18" charset="0"/>
                  </a:rPr>
                  <a:t>$(x_0,y_0)$</a:t>
                </a:r>
                <a:r>
                  <a:rPr sz="2400" b="0">
                    <a:solidFill>
                      <a:srgbClr val="111827"/>
                    </a:solidFill>
                    <a:latin typeface="Arial"/>
                  </a:rPr>
                  <a:t>: </a:t>
                </a:r>
                <a:r>
                  <a:rPr lang="en-IN" sz="2400">
                    <a:solidFill>
                      <a:srgbClr val="111827"/>
                    </a:solidFill>
                    <a:latin typeface="Cambria Math" panose="02040503050406030204" pitchFamily="18" charset="0"/>
                  </a:rPr>
                  <a:t>$F_x(x_0,y_0)(x-x_0)+F_y(x_0,y_0)(y-y_0)=0$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Substituting </a:t>
                </a:r>
                <a:r>
                  <a:rPr lang="en-IN" sz="2400">
                    <a:solidFill>
                      <a:srgbClr val="111827"/>
                    </a:solidFill>
                    <a:latin typeface="Cambria Math" panose="02040503050406030204" pitchFamily="18" charset="0"/>
                  </a:rPr>
                  <a:t>$X=x/a$</a:t>
                </a:r>
                <a:r>
                  <a:rPr sz="2400" b="0">
                    <a:solidFill>
                      <a:srgbClr val="111827"/>
                    </a:solidFill>
                    <a:latin typeface="Arial"/>
                  </a:rPr>
                  <a:t>, </a:t>
                </a:r>
                <a:r>
                  <a:rPr lang="en-IN" sz="2400">
                    <a:solidFill>
                      <a:srgbClr val="111827"/>
                    </a:solidFill>
                    <a:latin typeface="Cambria Math" panose="02040503050406030204" pitchFamily="18" charset="0"/>
                  </a:rPr>
                  <a:t>$Y=y/b$</a:t>
                </a:r>
                <a:r>
                  <a:rPr sz="2400" b="0">
                    <a:solidFill>
                      <a:srgbClr val="111827"/>
                    </a:solidFill>
                    <a:latin typeface="Arial"/>
                  </a:rPr>
                  <a:t> removes parameters; the curve </a:t>
                </a:r>
                <a:r>
                  <a:rPr lang="en-IN" sz="2400">
                    <a:solidFill>
                      <a:srgbClr val="111827"/>
                    </a:solidFill>
                    <a:latin typeface="Cambria Math" panose="02040503050406030204" pitchFamily="18" charset="0"/>
                  </a:rPr>
                  <a:t>$X^n+Y^n=2$</a:t>
                </a:r>
                <a:r>
                  <a:rPr sz="2400" b="0">
                    <a:solidFill>
                      <a:srgbClr val="111827"/>
                    </a:solidFill>
                    <a:latin typeface="Arial"/>
                  </a:rPr>
                  <a:t> always passes through </a:t>
                </a:r>
                <a:r>
                  <a:rPr lang="en-IN" sz="2400">
                    <a:solidFill>
                      <a:srgbClr val="111827"/>
                    </a:solidFill>
                    <a:latin typeface="Cambria Math" panose="02040503050406030204" pitchFamily="18" charset="0"/>
                  </a:rPr>
                  <a:t>$(1,1)$</a:t>
                </a:r>
                <a:r>
                  <a:rPr sz="2400" b="0">
                    <a:solidFill>
                      <a:srgbClr val="111827"/>
                    </a:solidFill>
                    <a:latin typeface="Arial"/>
                  </a:rPr>
                  <a:t> with tangent </a:t>
                </a:r>
                <a:r>
                  <a:rPr lang="en-IN" sz="2400">
                    <a:solidFill>
                      <a:srgbClr val="111827"/>
                    </a:solidFill>
                    <a:latin typeface="Cambria Math" panose="02040503050406030204" pitchFamily="18" charset="0"/>
                  </a:rPr>
                  <a:t>$X+Y=2$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$X,Y&gt;0$</a:t>
                </a:r>
                <a:r>
                  <a:rPr sz="2400" b="0">
                    <a:solidFill>
                      <a:srgbClr val="111827"/>
                    </a:solidFill>
                    <a:latin typeface="Arial"/>
                  </a:rPr>
                  <a:t> and </a:t>
                </a:r>
                <a:r>
                  <a:rPr lang="en-IN" sz="2400">
                    <a:solidFill>
                      <a:srgbClr val="111827"/>
                    </a:solidFill>
                    <a:latin typeface="Cambria Math" panose="02040503050406030204" pitchFamily="18" charset="0"/>
                  </a:rPr>
                  <a:t>$n\ge1$</a:t>
                </a:r>
                <a:r>
                  <a:rPr sz="2400" b="0">
                    <a:solidFill>
                      <a:srgbClr val="111827"/>
                    </a:solidFill>
                    <a:latin typeface="Arial"/>
                  </a:rPr>
                  <a:t>, power-mean gives </a:t>
                </a:r>
                <a:r>
                  <a:rPr lang="en-IN" sz="2400">
                    <a:solidFill>
                      <a:srgbClr val="111827"/>
                    </a:solidFill>
                    <a:latin typeface="Cambria Math" panose="02040503050406030204" pitchFamily="18" charset="0"/>
                  </a:rPr>
                  <a:t>$X^n+Y^n\ge2\left(\frac{X+Y}{2}\right)^n$</a:t>
                </a:r>
                <a:r>
                  <a:rPr sz="2400" b="0">
                    <a:solidFill>
                      <a:srgbClr val="111827"/>
                    </a:solidFill>
                    <a:latin typeface="Arial"/>
                  </a:rPr>
                  <a:t>, so on </a:t>
                </a:r>
                <a:r>
                  <a:rPr lang="en-IN" sz="2400">
                    <a:solidFill>
                      <a:srgbClr val="111827"/>
                    </a:solidFill>
                    <a:latin typeface="Cambria Math" panose="02040503050406030204" pitchFamily="18" charset="0"/>
                  </a:rPr>
                  <a:t>$X+Y=2$</a:t>
                </a:r>
                <a:r>
                  <a:rPr sz="2400" b="0">
                    <a:solidFill>
                      <a:srgbClr val="111827"/>
                    </a:solidFill>
                    <a:latin typeface="Arial"/>
                  </a:rPr>
                  <a:t> we get </a:t>
                </a:r>
                <a:r>
                  <a:rPr lang="en-IN" sz="2400">
                    <a:solidFill>
                      <a:srgbClr val="111827"/>
                    </a:solidFill>
                    <a:latin typeface="Cambria Math" panose="02040503050406030204" pitchFamily="18" charset="0"/>
                  </a:rPr>
                  <a:t>$X^n+Y^n\ge2$</a:t>
                </a:r>
                <a:r>
                  <a:rPr sz="2400" b="0">
                    <a:solidFill>
                      <a:srgbClr val="111827"/>
                    </a:solidFill>
                    <a:latin typeface="Arial"/>
                  </a:rPr>
                  <a:t> with equality only at </a:t>
                </a:r>
                <a:r>
                  <a:rPr lang="en-IN" sz="2400">
                    <a:solidFill>
                      <a:srgbClr val="111827"/>
                    </a:solidFill>
                    <a:latin typeface="Cambria Math" panose="02040503050406030204" pitchFamily="18" charset="0"/>
                  </a:rPr>
                  <a:t>$(1,1)$</a:t>
                </a:r>
                <a:r>
                  <a:rPr sz="2400" b="0">
                    <a:solidFill>
                      <a:srgbClr val="111827"/>
                    </a:solidFill>
                    <a:latin typeface="Arial"/>
                  </a:rPr>
                  <a:t> - the line touches the curve.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Generalisation: </a:t>
                </a:r>
                <a:r>
                  <a:rPr lang="en-IN" sz="2400">
                    <a:solidFill>
                      <a:srgbClr val="111827"/>
                    </a:solidFill>
                    <a:latin typeface="Cambria Math" panose="02040503050406030204" pitchFamily="18" charset="0"/>
                  </a:rPr>
                  <a:t>$\left(\frac xa\right)^n+\left(\frac yb\right)^n=2$</a:t>
                </a:r>
                <a:r>
                  <a:rPr sz="2400" b="0">
                    <a:solidFill>
                      <a:srgbClr val="111827"/>
                    </a:solidFill>
                    <a:latin typeface="Arial"/>
                  </a:rPr>
                  <a:t> has tangent </a:t>
                </a:r>
                <a:r>
                  <a:rPr lang="en-IN" sz="2400">
                    <a:solidFill>
                      <a:srgbClr val="111827"/>
                    </a:solidFill>
                    <a:latin typeface="Cambria Math" panose="02040503050406030204" pitchFamily="18" charset="0"/>
                  </a:rPr>
                  <a:t>$\frac xa+\frac yb=2$</a:t>
                </a:r>
                <a:r>
                  <a:rPr sz="2400" b="0">
                    <a:solidFill>
                      <a:srgbClr val="111827"/>
                    </a:solidFill>
                    <a:latin typeface="Arial"/>
                  </a:rPr>
                  <a:t> at </a:t>
                </a:r>
                <a:r>
                  <a:rPr lang="en-IN" sz="2400">
                    <a:solidFill>
                      <a:srgbClr val="111827"/>
                    </a:solidFill>
                    <a:latin typeface="Cambria Math" panose="02040503050406030204" pitchFamily="18" charset="0"/>
                  </a:rPr>
                  <a:t>$(a,b)$</a:t>
                </a:r>
                <a:r>
                  <a:rPr sz="2400" b="0">
                    <a:solidFill>
                      <a:srgbClr val="111827"/>
                    </a:solidFill>
                    <a:latin typeface="Arial"/>
                  </a:rPr>
                  <a:t> for every real </a:t>
                </a:r>
                <a:r>
                  <a:rPr lang="en-IN" sz="2400">
                    <a:solidFill>
                      <a:srgbClr val="111827"/>
                    </a:solidFill>
                    <a:latin typeface="Cambria Math" panose="02040503050406030204" pitchFamily="18" charset="0"/>
                  </a:rPr>
                  <a:t>$n$</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44348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Consider a cuboid of sides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𝑥</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𝑥</m:t>
                    </m:r>
                  </m:oMath>
                </a14:m>
                <a:r>
                  <a:rPr sz="2400" b="0">
                    <a:solidFill>
                      <a:srgbClr val="111827"/>
                    </a:solidFill>
                    <a:latin typeface="Arial"/>
                  </a:rPr>
                  <a:t> and a closed hemisphere of radius </a:t>
                </a:r>
                <a14:m>
                  <m:oMath xmlns:m="http://schemas.openxmlformats.org/officeDocument/2006/math">
                    <m:r>
                      <a:rPr lang="en-IN" sz="2400" i="1">
                        <a:solidFill>
                          <a:srgbClr val="111827"/>
                        </a:solidFill>
                        <a:latin typeface="Cambria Math" panose="02040503050406030204" pitchFamily="18" charset="0"/>
                      </a:rPr>
                      <m:t>𝑟</m:t>
                    </m:r>
                  </m:oMath>
                </a14:m>
                <a:r>
                  <a:rPr sz="2400" b="0">
                    <a:solidFill>
                      <a:srgbClr val="111827"/>
                    </a:solidFill>
                    <a:latin typeface="Arial"/>
                  </a:rPr>
                  <a:t>. If the sum of their surface areas is a constant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then the ratio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oMath>
                </a14:m>
                <a:r>
                  <a:rPr sz="2400" b="0">
                    <a:solidFill>
                      <a:srgbClr val="111827"/>
                    </a:solidFill>
                    <a:latin typeface="Arial"/>
                  </a:rPr>
                  <a:t>, for which the sum of their volumes is maximum,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2 : 5   (B) 19 : 45   (C) 3 : 8   (D) 19 : 15</a:t>
                </a:r>
                <a:endParaRPr sz="2400">
                  <a:solidFill>
                    <a:srgbClr val="111827"/>
                  </a:solidFill>
                </a:endParaRPr>
              </a:p>
            </p:txBody>
          </p:sp>
        </mc:Choice>
        <mc:Fallback>
          <p:sp>
            <p:nvSpPr>
              <p:cNvPr id="4" name="Rounded Rectangle 3"/>
              <p:cNvSpPr/>
              <p:nvPr/>
            </p:nvSpPr>
            <p:spPr>
              <a:xfrm>
                <a:off x="731520" y="1280160"/>
                <a:ext cx="10725912" cy="244348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Consider a cuboid of sides </a:t>
                </a:r>
                <a:r>
                  <a:rPr lang="en-IN" sz="2400">
                    <a:solidFill>
                      <a:srgbClr val="111827"/>
                    </a:solidFill>
                    <a:latin typeface="Cambria Math" panose="02040503050406030204" pitchFamily="18" charset="0"/>
                  </a:rPr>
                  <a:t>$2x$</a:t>
                </a:r>
                <a:r>
                  <a:rPr sz="2400" b="0">
                    <a:solidFill>
                      <a:srgbClr val="111827"/>
                    </a:solidFill>
                    <a:latin typeface="Arial"/>
                  </a:rPr>
                  <a:t>, </a:t>
                </a:r>
                <a:r>
                  <a:rPr lang="en-IN" sz="2400">
                    <a:solidFill>
                      <a:srgbClr val="111827"/>
                    </a:solidFill>
                    <a:latin typeface="Cambria Math" panose="02040503050406030204" pitchFamily="18" charset="0"/>
                  </a:rPr>
                  <a:t>$4x$</a:t>
                </a:r>
                <a:r>
                  <a:rPr sz="2400" b="0">
                    <a:solidFill>
                      <a:srgbClr val="111827"/>
                    </a:solidFill>
                    <a:latin typeface="Arial"/>
                  </a:rPr>
                  <a:t> and </a:t>
                </a:r>
                <a:r>
                  <a:rPr lang="en-IN" sz="2400">
                    <a:solidFill>
                      <a:srgbClr val="111827"/>
                    </a:solidFill>
                    <a:latin typeface="Cambria Math" panose="02040503050406030204" pitchFamily="18" charset="0"/>
                  </a:rPr>
                  <a:t>$5x$</a:t>
                </a:r>
                <a:r>
                  <a:rPr sz="2400" b="0">
                    <a:solidFill>
                      <a:srgbClr val="111827"/>
                    </a:solidFill>
                    <a:latin typeface="Arial"/>
                  </a:rPr>
                  <a:t> and a closed hemisphere of radius </a:t>
                </a:r>
                <a:r>
                  <a:rPr lang="en-IN" sz="2400">
                    <a:solidFill>
                      <a:srgbClr val="111827"/>
                    </a:solidFill>
                    <a:latin typeface="Cambria Math" panose="02040503050406030204" pitchFamily="18" charset="0"/>
                  </a:rPr>
                  <a:t>$r$</a:t>
                </a:r>
                <a:r>
                  <a:rPr sz="2400" b="0">
                    <a:solidFill>
                      <a:srgbClr val="111827"/>
                    </a:solidFill>
                    <a:latin typeface="Arial"/>
                  </a:rPr>
                  <a:t>. If the sum of their surface areas is a constant </a:t>
                </a:r>
                <a:r>
                  <a:rPr lang="en-IN" sz="2400">
                    <a:solidFill>
                      <a:srgbClr val="111827"/>
                    </a:solidFill>
                    <a:latin typeface="Cambria Math" panose="02040503050406030204" pitchFamily="18" charset="0"/>
                  </a:rPr>
                  <a:t>$k$</a:t>
                </a:r>
                <a:r>
                  <a:rPr sz="2400" b="0">
                    <a:solidFill>
                      <a:srgbClr val="111827"/>
                    </a:solidFill>
                    <a:latin typeface="Arial"/>
                  </a:rPr>
                  <a:t>, then the ratio </a:t>
                </a:r>
                <a:r>
                  <a:rPr lang="en-IN" sz="2400">
                    <a:solidFill>
                      <a:srgbClr val="111827"/>
                    </a:solidFill>
                    <a:latin typeface="Cambria Math" panose="02040503050406030204" pitchFamily="18" charset="0"/>
                  </a:rPr>
                  <a:t>$x:r$</a:t>
                </a:r>
                <a:r>
                  <a:rPr sz="2400" b="0">
                    <a:solidFill>
                      <a:srgbClr val="111827"/>
                    </a:solidFill>
                    <a:latin typeface="Arial"/>
                  </a:rPr>
                  <a:t>, for which the sum of their volumes is maximum,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2 : 5   (B) 19 : 45   (C) 3 : 8   (D) 19 : 15</a:t>
                </a:r>
                <a:endParaRPr sz="2400">
                  <a:solidFill>
                    <a:srgbClr val="111827"/>
                  </a:solidFill>
                </a:endParaRPr>
              </a:p>
            </p:txBody>
          </p:sp>
        </mc:Fallback>
      </mc:AlternateContent>
      <p:sp>
        <p:nvSpPr>
          <p:cNvPr id="5" name="Rectangle 4"/>
          <p:cNvSpPr/>
          <p:nvPr/>
        </p:nvSpPr>
        <p:spPr>
          <a:xfrm>
            <a:off x="731520" y="3952239"/>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Maxima and minima (applied problems)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Differentiate the constraint and the volume with respect to </a:t>
                </a:r>
                <a14:m>
                  <m:oMath xmlns:m="http://schemas.openxmlformats.org/officeDocument/2006/math">
                    <m:r>
                      <a:rPr lang="en-IN" sz="2400" i="1">
                        <a:solidFill>
                          <a:srgbClr val="78350F"/>
                        </a:solidFill>
                        <a:latin typeface="Cambria Math" panose="02040503050406030204" pitchFamily="18" charset="0"/>
                      </a:rPr>
                      <m:t>𝑟</m:t>
                    </m:r>
                  </m:oMath>
                </a14:m>
                <a:r>
                  <a:rPr sz="2400" b="0">
                    <a:solidFill>
                      <a:srgbClr val="78350F"/>
                    </a:solidFill>
                    <a:latin typeface="Arial"/>
                  </a:rPr>
                  <a:t>, then set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𝑑</m:t>
                        </m:r>
                        <m:r>
                          <a:rPr lang="en-IN" sz="2400" i="1">
                            <a:solidFill>
                              <a:srgbClr val="78350F"/>
                            </a:solidFill>
                            <a:latin typeface="Cambria Math" panose="02040503050406030204" pitchFamily="18" charset="0"/>
                          </a:rPr>
                          <m:t>𝑉</m:t>
                        </m:r>
                      </m:num>
                      <m:den>
                        <m:r>
                          <a:rPr lang="en-IN" sz="2400" i="1">
                            <a:solidFill>
                              <a:srgbClr val="78350F"/>
                            </a:solidFill>
                            <a:latin typeface="Cambria Math" panose="02040503050406030204" pitchFamily="18" charset="0"/>
                          </a:rPr>
                          <m:t>𝑑</m:t>
                        </m:r>
                        <m:r>
                          <a:rPr lang="en-IN" sz="2400" i="1">
                            <a:solidFill>
                              <a:srgbClr val="78350F"/>
                            </a:solidFill>
                            <a:latin typeface="Cambria Math" panose="02040503050406030204" pitchFamily="18" charset="0"/>
                          </a:rPr>
                          <m:t>𝑟</m:t>
                        </m:r>
                      </m:den>
                    </m:f>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oMath>
                </a14:m>
                <a:r>
                  <a:rPr sz="2400" b="0">
                    <a:solidFill>
                      <a:srgbClr val="78350F"/>
                    </a:solidFill>
                    <a:latin typeface="Arial"/>
                  </a:rPr>
                  <a:t> and eliminate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𝑑</m:t>
                        </m:r>
                        <m:r>
                          <a:rPr lang="en-IN" sz="2400" i="1">
                            <a:solidFill>
                              <a:srgbClr val="78350F"/>
                            </a:solidFill>
                            <a:latin typeface="Cambria Math" panose="02040503050406030204" pitchFamily="18" charset="0"/>
                          </a:rPr>
                          <m:t>𝑥</m:t>
                        </m:r>
                      </m:num>
                      <m:den>
                        <m:r>
                          <a:rPr lang="en-IN" sz="2400" i="1">
                            <a:solidFill>
                              <a:srgbClr val="78350F"/>
                            </a:solidFill>
                            <a:latin typeface="Cambria Math" panose="02040503050406030204" pitchFamily="18" charset="0"/>
                          </a:rPr>
                          <m:t>𝑑</m:t>
                        </m:r>
                        <m:r>
                          <a:rPr lang="en-IN" sz="2400" i="1">
                            <a:solidFill>
                              <a:srgbClr val="78350F"/>
                            </a:solidFill>
                            <a:latin typeface="Cambria Math" panose="02040503050406030204" pitchFamily="18" charset="0"/>
                          </a:rPr>
                          <m:t>𝑟</m:t>
                        </m:r>
                      </m:den>
                    </m:f>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Differentiate the constraint and the volume with respect to </a:t>
                </a:r>
                <a:r>
                  <a:rPr lang="en-IN" sz="2400">
                    <a:solidFill>
                      <a:srgbClr val="78350F"/>
                    </a:solidFill>
                    <a:latin typeface="Cambria Math" panose="02040503050406030204" pitchFamily="18" charset="0"/>
                  </a:rPr>
                  <a:t>$r$</a:t>
                </a:r>
                <a:r>
                  <a:rPr sz="2400" b="0">
                    <a:solidFill>
                      <a:srgbClr val="78350F"/>
                    </a:solidFill>
                    <a:latin typeface="Arial"/>
                  </a:rPr>
                  <a:t>, then set </a:t>
                </a:r>
                <a:r>
                  <a:rPr lang="en-IN" sz="2400">
                    <a:solidFill>
                      <a:srgbClr val="78350F"/>
                    </a:solidFill>
                    <a:latin typeface="Cambria Math" panose="02040503050406030204" pitchFamily="18" charset="0"/>
                  </a:rPr>
                  <a:t>$\frac{dV}{dr}=0$</a:t>
                </a:r>
                <a:r>
                  <a:rPr sz="2400" b="0">
                    <a:solidFill>
                      <a:srgbClr val="78350F"/>
                    </a:solidFill>
                    <a:latin typeface="Arial"/>
                  </a:rPr>
                  <a:t> and eliminate </a:t>
                </a:r>
                <a:r>
                  <a:rPr lang="en-IN" sz="2400">
                    <a:solidFill>
                      <a:srgbClr val="78350F"/>
                    </a:solidFill>
                    <a:latin typeface="Cambria Math" panose="02040503050406030204" pitchFamily="18" charset="0"/>
                  </a:rPr>
                  <a:t>$\frac{dx}{dr}$</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Total surface area of cuboid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8</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76</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surface area of closed hemisphere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π</m:t>
                    </m:r>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Constraint: </a:t>
                </a:r>
                <a14:m>
                  <m:oMath xmlns:m="http://schemas.openxmlformats.org/officeDocument/2006/math">
                    <m:r>
                      <a:rPr lang="en-IN" sz="2400" i="1">
                        <a:solidFill>
                          <a:srgbClr val="111827"/>
                        </a:solidFill>
                        <a:latin typeface="Cambria Math" panose="02040503050406030204" pitchFamily="18" charset="0"/>
                      </a:rPr>
                      <m:t>76</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π</m:t>
                    </m:r>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Differentiate with respect to </a:t>
                </a:r>
                <a14:m>
                  <m:oMath xmlns:m="http://schemas.openxmlformats.org/officeDocument/2006/math">
                    <m:r>
                      <a:rPr lang="en-IN" sz="2400" i="1">
                        <a:solidFill>
                          <a:srgbClr val="111827"/>
                        </a:solidFill>
                        <a:latin typeface="Cambria Math" panose="02040503050406030204" pitchFamily="18" charset="0"/>
                      </a:rPr>
                      <m:t>𝑟</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152</m:t>
                    </m:r>
                    <m:r>
                      <a:rPr lang="en-IN" sz="2400" i="1">
                        <a:solidFill>
                          <a:srgbClr val="111827"/>
                        </a:solidFill>
                        <a:latin typeface="Cambria Math" panose="02040503050406030204" pitchFamily="18" charset="0"/>
                      </a:rPr>
                      <m:t>𝑥</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𝑟</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π</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𝑟</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π</m:t>
                        </m:r>
                        <m:r>
                          <a:rPr lang="en-IN" sz="2400" i="1">
                            <a:solidFill>
                              <a:srgbClr val="111827"/>
                            </a:solidFill>
                            <a:latin typeface="Cambria Math" panose="02040503050406030204" pitchFamily="18" charset="0"/>
                          </a:rPr>
                          <m:t>𝑟</m:t>
                        </m:r>
                      </m:num>
                      <m:den>
                        <m:r>
                          <a:rPr lang="en-IN" sz="2400" i="1">
                            <a:solidFill>
                              <a:srgbClr val="111827"/>
                            </a:solidFill>
                            <a:latin typeface="Cambria Math" panose="02040503050406030204" pitchFamily="18" charset="0"/>
                          </a:rPr>
                          <m:t>152</m:t>
                        </m:r>
                        <m:r>
                          <a:rPr lang="en-IN" sz="2400" i="1">
                            <a:solidFill>
                              <a:srgbClr val="111827"/>
                            </a:solidFill>
                            <a:latin typeface="Cambria Math" panose="02040503050406030204" pitchFamily="18" charset="0"/>
                          </a:rPr>
                          <m:t>𝑥</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Total surface area of cuboid </a:t>
                </a:r>
                <a:r>
                  <a:rPr lang="en-IN" sz="2400">
                    <a:solidFill>
                      <a:srgbClr val="111827"/>
                    </a:solidFill>
                    <a:latin typeface="Cambria Math" panose="02040503050406030204" pitchFamily="18" charset="0"/>
                  </a:rPr>
                  <a:t>$=2\left(8x^2+20x^2+10x^2\right)=76x^2$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surface area of closed hemisphere </a:t>
                </a:r>
                <a:r>
                  <a:rPr lang="en-IN" sz="2400">
                    <a:solidFill>
                      <a:srgbClr val="111827"/>
                    </a:solidFill>
                    <a:latin typeface="Cambria Math" panose="02040503050406030204" pitchFamily="18" charset="0"/>
                  </a:rPr>
                  <a:t>$=3\pi r^2$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Constraint: </a:t>
                </a:r>
                <a:r>
                  <a:rPr lang="en-IN" sz="2400">
                    <a:solidFill>
                      <a:srgbClr val="111827"/>
                    </a:solidFill>
                    <a:latin typeface="Cambria Math" panose="02040503050406030204" pitchFamily="18" charset="0"/>
                  </a:rPr>
                  <a:t>$76x^2+3\pi r^2=k$</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Differentiate with respect to </a:t>
                </a:r>
                <a:r>
                  <a:rPr lang="en-IN" sz="2400">
                    <a:solidFill>
                      <a:srgbClr val="111827"/>
                    </a:solidFill>
                    <a:latin typeface="Cambria Math" panose="02040503050406030204" pitchFamily="18" charset="0"/>
                  </a:rPr>
                  <a:t>$r$</a:t>
                </a:r>
                <a:r>
                  <a:rPr sz="2400" b="0">
                    <a:solidFill>
                      <a:srgbClr val="111827"/>
                    </a:solidFill>
                    <a:latin typeface="Arial"/>
                  </a:rPr>
                  <a:t>: </a:t>
                </a:r>
                <a:r>
                  <a:rPr lang="en-IN" sz="2400">
                    <a:solidFill>
                      <a:srgbClr val="111827"/>
                    </a:solidFill>
                    <a:latin typeface="Cambria Math" panose="02040503050406030204" pitchFamily="18" charset="0"/>
                  </a:rPr>
                  <a:t>$152x\frac{dx}{dr}+6\pi r=0\Rightarrow\frac{dx}{dr}=-\frac{6\pi r}{152x}$</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Volume </a:t>
                </a:r>
                <a14:m>
                  <m:oMath xmlns:m="http://schemas.openxmlformats.org/officeDocument/2006/math">
                    <m:r>
                      <a:rPr lang="en-IN" sz="2400" i="1">
                        <a:solidFill>
                          <a:srgbClr val="111827"/>
                        </a:solidFill>
                        <a:latin typeface="Cambria Math" panose="02040503050406030204" pitchFamily="18" charset="0"/>
                      </a:rPr>
                      <m:t>𝑉</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40</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r>
                      <a:rPr lang="en-IN" sz="2400" i="1">
                        <a:solidFill>
                          <a:srgbClr val="111827"/>
                        </a:solidFill>
                        <a:latin typeface="Cambria Math" panose="02040503050406030204" pitchFamily="18" charset="0"/>
                      </a:rPr>
                      <m:t>π</m:t>
                    </m:r>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3</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𝑉</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𝑟</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120</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𝑟</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π</m:t>
                    </m:r>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Substitute: </a:t>
                </a:r>
                <a14:m>
                  <m:oMath xmlns:m="http://schemas.openxmlformats.org/officeDocument/2006/math">
                    <m:r>
                      <a:rPr lang="en-IN" sz="2400" i="1">
                        <a:solidFill>
                          <a:srgbClr val="111827"/>
                        </a:solidFill>
                        <a:latin typeface="Cambria Math" panose="02040503050406030204" pitchFamily="18" charset="0"/>
                      </a:rPr>
                      <m:t>120</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π</m:t>
                            </m:r>
                            <m:r>
                              <a:rPr lang="en-IN" sz="2400" i="1">
                                <a:solidFill>
                                  <a:srgbClr val="111827"/>
                                </a:solidFill>
                                <a:latin typeface="Cambria Math" panose="02040503050406030204" pitchFamily="18" charset="0"/>
                              </a:rPr>
                              <m:t>𝑟</m:t>
                            </m:r>
                          </m:num>
                          <m:den>
                            <m:r>
                              <a:rPr lang="en-IN" sz="2400" i="1">
                                <a:solidFill>
                                  <a:srgbClr val="111827"/>
                                </a:solidFill>
                                <a:latin typeface="Cambria Math" panose="02040503050406030204" pitchFamily="18" charset="0"/>
                              </a:rPr>
                              <m:t>152</m:t>
                            </m:r>
                            <m:r>
                              <a:rPr lang="en-IN" sz="2400" i="1">
                                <a:solidFill>
                                  <a:srgbClr val="111827"/>
                                </a:solidFill>
                                <a:latin typeface="Cambria Math" panose="02040503050406030204" pitchFamily="18" charset="0"/>
                              </a:rPr>
                              <m:t>𝑥</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π</m:t>
                    </m:r>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120</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152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𝑟</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𝑟</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152</m:t>
                        </m:r>
                      </m:num>
                      <m:den>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120</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19</m:t>
                        </m:r>
                      </m:num>
                      <m:den>
                        <m:r>
                          <a:rPr lang="en-IN" sz="2400" i="1">
                            <a:solidFill>
                              <a:srgbClr val="111827"/>
                            </a:solidFill>
                            <a:latin typeface="Cambria Math" panose="02040503050406030204" pitchFamily="18" charset="0"/>
                          </a:rPr>
                          <m:t>45</m:t>
                        </m:r>
                      </m:den>
                    </m:f>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45</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Volume </a:t>
                </a:r>
                <a:r>
                  <a:rPr lang="en-IN" sz="2400">
                    <a:solidFill>
                      <a:srgbClr val="111827"/>
                    </a:solidFill>
                    <a:latin typeface="Cambria Math" panose="02040503050406030204" pitchFamily="18" charset="0"/>
                  </a:rPr>
                  <a:t>$V=40x^3+\frac23\pi r^3$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$\frac{dV}{dr}=120x^2\frac{dx}{dr}+2\pi r^2=0$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Substitute: </a:t>
                </a:r>
                <a:r>
                  <a:rPr lang="en-IN" sz="2400">
                    <a:solidFill>
                      <a:srgbClr val="111827"/>
                    </a:solidFill>
                    <a:latin typeface="Cambria Math" panose="02040503050406030204" pitchFamily="18" charset="0"/>
                  </a:rPr>
                  <a:t>$120x^2\cdot\left(-\frac{6\pi r}{152x}\right)+2\pi r^2=0\Rightarrow120x\cdot\frac{6}{152}=2r$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 xr=\frac{2\times152}{6\times120}=\frac{19}{45}$</a:t>
                </a:r>
                <a:r>
                  <a:rPr sz="2400" b="0">
                    <a:solidFill>
                      <a:srgbClr val="111827"/>
                    </a:solidFill>
                    <a:latin typeface="Arial"/>
                  </a:rPr>
                  <a:t>, i.e. </a:t>
                </a:r>
                <a:r>
                  <a:rPr lang="en-IN" sz="2400">
                    <a:solidFill>
                      <a:srgbClr val="111827"/>
                    </a:solidFill>
                    <a:latin typeface="Cambria Math" panose="02040503050406030204" pitchFamily="18" charset="0"/>
                  </a:rPr>
                  <a:t>$x:r=19:45$</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19 : 45</a:t>
            </a:r>
            <a:endParaRPr sz="2800">
              <a:solidFill>
                <a:srgbClr val="15803D"/>
              </a:solidFill>
            </a:endParaRP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Lagrange multipliers: at the optimum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𝑉</m:t>
                    </m:r>
                  </m:oMath>
                </a14:m>
                <a:r>
                  <a:rPr sz="2400" b="0">
                    <a:solidFill>
                      <a:srgbClr val="78350F"/>
                    </a:solidFill>
                    <a:latin typeface="Arial"/>
                  </a:rPr>
                  <a:t> is parallel to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𝐺</m:t>
                    </m:r>
                  </m:oMath>
                </a14:m>
                <a:r>
                  <a:rPr sz="2400" b="0">
                    <a:solidFill>
                      <a:srgbClr val="78350F"/>
                    </a:solidFill>
                    <a:latin typeface="Arial"/>
                  </a:rPr>
                  <a:t>, giving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𝑟</m:t>
                    </m:r>
                  </m:oMath>
                </a14:m>
                <a:r>
                  <a:rPr sz="2400" b="0">
                    <a:solidFill>
                      <a:srgbClr val="78350F"/>
                    </a:solidFill>
                    <a:latin typeface="Arial"/>
                  </a:rPr>
                  <a:t> without differentiating implicitly.</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Lagrange multipliers: at the optimum </a:t>
                </a:r>
                <a:r>
                  <a:rPr lang="en-IN" sz="2400">
                    <a:solidFill>
                      <a:srgbClr val="78350F"/>
                    </a:solidFill>
                    <a:latin typeface="Cambria Math" panose="02040503050406030204" pitchFamily="18" charset="0"/>
                  </a:rPr>
                  <a:t>$\nabla V$</a:t>
                </a:r>
                <a:r>
                  <a:rPr sz="2400" b="0">
                    <a:solidFill>
                      <a:srgbClr val="78350F"/>
                    </a:solidFill>
                    <a:latin typeface="Arial"/>
                  </a:rPr>
                  <a:t> is parallel to </a:t>
                </a:r>
                <a:r>
                  <a:rPr lang="en-IN" sz="2400">
                    <a:solidFill>
                      <a:srgbClr val="78350F"/>
                    </a:solidFill>
                    <a:latin typeface="Cambria Math" panose="02040503050406030204" pitchFamily="18" charset="0"/>
                  </a:rPr>
                  <a:t>$\nabla G$</a:t>
                </a:r>
                <a:r>
                  <a:rPr sz="2400" b="0">
                    <a:solidFill>
                      <a:srgbClr val="78350F"/>
                    </a:solidFill>
                    <a:latin typeface="Arial"/>
                  </a:rPr>
                  <a:t>, giving </a:t>
                </a:r>
                <a:r>
                  <a:rPr lang="en-IN" sz="2400">
                    <a:solidFill>
                      <a:srgbClr val="78350F"/>
                    </a:solidFill>
                    <a:latin typeface="Cambria Math" panose="02040503050406030204" pitchFamily="18" charset="0"/>
                  </a:rPr>
                  <a:t>$x:r$</a:t>
                </a:r>
                <a:r>
                  <a:rPr sz="2400" b="0">
                    <a:solidFill>
                      <a:srgbClr val="78350F"/>
                    </a:solidFill>
                    <a:latin typeface="Arial"/>
                  </a:rPr>
                  <a:t> without differentiating implicitly.</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Maximise </a:t>
                </a:r>
                <a14:m>
                  <m:oMath xmlns:m="http://schemas.openxmlformats.org/officeDocument/2006/math">
                    <m:r>
                      <a:rPr lang="en-IN" sz="2400" i="1">
                        <a:solidFill>
                          <a:srgbClr val="111827"/>
                        </a:solidFill>
                        <a:latin typeface="Cambria Math" panose="02040503050406030204" pitchFamily="18" charset="0"/>
                      </a:rPr>
                      <m:t>𝑉</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40</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r>
                      <a:rPr lang="en-IN" sz="2400" i="1">
                        <a:solidFill>
                          <a:srgbClr val="111827"/>
                        </a:solidFill>
                        <a:latin typeface="Cambria Math" panose="02040503050406030204" pitchFamily="18" charset="0"/>
                      </a:rPr>
                      <m:t>π</m:t>
                    </m:r>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3</m:t>
                        </m:r>
                      </m:sup>
                    </m:sSup>
                  </m:oMath>
                </a14:m>
                <a:r>
                  <a:rPr sz="2400" b="0">
                    <a:solidFill>
                      <a:srgbClr val="111827"/>
                    </a:solidFill>
                    <a:latin typeface="Arial"/>
                  </a:rPr>
                  <a:t> subject to </a:t>
                </a:r>
                <a14:m>
                  <m:oMath xmlns:m="http://schemas.openxmlformats.org/officeDocument/2006/math">
                    <m:r>
                      <a:rPr lang="en-IN" sz="2400" i="1">
                        <a:solidFill>
                          <a:srgbClr val="111827"/>
                        </a:solidFill>
                        <a:latin typeface="Cambria Math" panose="02040503050406030204" pitchFamily="18" charset="0"/>
                      </a:rPr>
                      <m:t>𝐺</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76</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π</m:t>
                    </m:r>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Lagrange conditions </a:t>
                </a:r>
                <a14:m>
                  <m:oMath xmlns:m="http://schemas.openxmlformats.org/officeDocument/2006/math">
                    <m:sSub>
                      <m:e>
                        <m:r>
                          <a:rPr lang="en-IN" sz="2400" i="1">
                            <a:solidFill>
                              <a:srgbClr val="111827"/>
                            </a:solidFill>
                            <a:latin typeface="Cambria Math" panose="02040503050406030204" pitchFamily="18" charset="0"/>
                          </a:rPr>
                          <m:t>𝑉</m:t>
                        </m:r>
                      </m:e>
                      <m:sub>
                        <m:r>
                          <a:rPr lang="en-IN" sz="2400" i="1">
                            <a:solidFill>
                              <a:srgbClr val="111827"/>
                            </a:solidFill>
                            <a:latin typeface="Cambria Math" panose="02040503050406030204" pitchFamily="18" charset="0"/>
                          </a:rPr>
                          <m:t>𝑥</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μ</m:t>
                    </m:r>
                    <m:sSub>
                      <m:e>
                        <m:r>
                          <a:rPr lang="en-IN" sz="2400" i="1">
                            <a:solidFill>
                              <a:srgbClr val="111827"/>
                            </a:solidFill>
                            <a:latin typeface="Cambria Math" panose="02040503050406030204" pitchFamily="18" charset="0"/>
                          </a:rPr>
                          <m:t>𝐺</m:t>
                        </m:r>
                      </m:e>
                      <m:sub>
                        <m:r>
                          <a:rPr lang="en-IN" sz="2400" i="1">
                            <a:solidFill>
                              <a:srgbClr val="111827"/>
                            </a:solidFill>
                            <a:latin typeface="Cambria Math" panose="02040503050406030204" pitchFamily="18" charset="0"/>
                          </a:rPr>
                          <m:t>𝑥</m:t>
                        </m:r>
                      </m:sub>
                    </m:sSub>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𝑉</m:t>
                        </m:r>
                      </m:e>
                      <m:sub>
                        <m:r>
                          <a:rPr lang="en-IN" sz="2400" i="1">
                            <a:solidFill>
                              <a:srgbClr val="111827"/>
                            </a:solidFill>
                            <a:latin typeface="Cambria Math" panose="02040503050406030204" pitchFamily="18" charset="0"/>
                          </a:rPr>
                          <m:t>𝑟</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μ</m:t>
                    </m:r>
                    <m:sSub>
                      <m:e>
                        <m:r>
                          <a:rPr lang="en-IN" sz="2400" i="1">
                            <a:solidFill>
                              <a:srgbClr val="111827"/>
                            </a:solidFill>
                            <a:latin typeface="Cambria Math" panose="02040503050406030204" pitchFamily="18" charset="0"/>
                          </a:rPr>
                          <m:t>𝐺</m:t>
                        </m:r>
                      </m:e>
                      <m:sub>
                        <m:r>
                          <a:rPr lang="en-IN" sz="2400" i="1">
                            <a:solidFill>
                              <a:srgbClr val="111827"/>
                            </a:solidFill>
                            <a:latin typeface="Cambria Math" panose="02040503050406030204" pitchFamily="18" charset="0"/>
                          </a:rPr>
                          <m:t>𝑟</m:t>
                        </m:r>
                      </m:sub>
                    </m:sSub>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120</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152</m:t>
                    </m:r>
                    <m:r>
                      <a:rPr lang="en-IN" sz="2400" i="1">
                        <a:solidFill>
                          <a:srgbClr val="111827"/>
                        </a:solidFill>
                        <a:latin typeface="Cambria Math" panose="02040503050406030204" pitchFamily="18" charset="0"/>
                      </a:rPr>
                      <m:t>μ</m:t>
                    </m:r>
                    <m:r>
                      <a:rPr lang="en-IN" sz="2400" i="1">
                        <a:solidFill>
                          <a:srgbClr val="111827"/>
                        </a:solidFill>
                        <a:latin typeface="Cambria Math" panose="02040503050406030204" pitchFamily="18" charset="0"/>
                      </a:rPr>
                      <m:t>𝑥</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π</m:t>
                    </m:r>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π</m:t>
                    </m:r>
                    <m:r>
                      <a:rPr lang="en-IN" sz="2400" i="1">
                        <a:solidFill>
                          <a:srgbClr val="111827"/>
                        </a:solidFill>
                        <a:latin typeface="Cambria Math" panose="02040503050406030204" pitchFamily="18" charset="0"/>
                      </a:rPr>
                      <m:t>μ</m:t>
                    </m:r>
                    <m:r>
                      <a:rPr lang="en-IN" sz="2400" i="1">
                        <a:solidFill>
                          <a:srgbClr val="111827"/>
                        </a:solidFill>
                        <a:latin typeface="Cambria Math" panose="02040503050406030204" pitchFamily="18" charset="0"/>
                      </a:rPr>
                      <m:t>𝑟</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r>
                      <a:rPr lang="en-IN" sz="2400" i="1">
                        <a:solidFill>
                          <a:srgbClr val="111827"/>
                        </a:solidFill>
                        <a:latin typeface="Cambria Math" panose="02040503050406030204" pitchFamily="18" charset="0"/>
                      </a:rPr>
                      <m:t>μ</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120</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152</m:t>
                        </m:r>
                      </m:den>
                    </m:f>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μ</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𝑟</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Equate: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120</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152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𝑟</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𝑟</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152</m:t>
                        </m:r>
                      </m:num>
                      <m:den>
                        <m:r>
                          <a:rPr lang="en-IN" sz="2400" i="1">
                            <a:solidFill>
                              <a:srgbClr val="111827"/>
                            </a:solidFill>
                            <a:latin typeface="Cambria Math" panose="02040503050406030204" pitchFamily="18" charset="0"/>
                          </a:rPr>
                          <m:t>360</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19</m:t>
                        </m:r>
                      </m:num>
                      <m:den>
                        <m:r>
                          <a:rPr lang="en-IN" sz="2400" i="1">
                            <a:solidFill>
                              <a:srgbClr val="111827"/>
                            </a:solidFill>
                            <a:latin typeface="Cambria Math" panose="02040503050406030204" pitchFamily="18" charset="0"/>
                          </a:rPr>
                          <m:t>45</m:t>
                        </m:r>
                      </m:den>
                    </m:f>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Maximise </a:t>
                </a:r>
                <a:r>
                  <a:rPr lang="en-IN" sz="2400">
                    <a:solidFill>
                      <a:srgbClr val="111827"/>
                    </a:solidFill>
                    <a:latin typeface="Cambria Math" panose="02040503050406030204" pitchFamily="18" charset="0"/>
                  </a:rPr>
                  <a:t>$V=40x^3+\frac23\pi r^3$</a:t>
                </a:r>
                <a:r>
                  <a:rPr sz="2400" b="0">
                    <a:solidFill>
                      <a:srgbClr val="111827"/>
                    </a:solidFill>
                    <a:latin typeface="Arial"/>
                  </a:rPr>
                  <a:t> subject to </a:t>
                </a:r>
                <a:r>
                  <a:rPr lang="en-IN" sz="2400">
                    <a:solidFill>
                      <a:srgbClr val="111827"/>
                    </a:solidFill>
                    <a:latin typeface="Cambria Math" panose="02040503050406030204" pitchFamily="18" charset="0"/>
                  </a:rPr>
                  <a:t>$G=76x^2+3\pi r^2=k$</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Lagrange conditions </a:t>
                </a:r>
                <a:r>
                  <a:rPr lang="en-IN" sz="2400">
                    <a:solidFill>
                      <a:srgbClr val="111827"/>
                    </a:solidFill>
                    <a:latin typeface="Cambria Math" panose="02040503050406030204" pitchFamily="18" charset="0"/>
                  </a:rPr>
                  <a:t>$V_x=\mu G_x$</a:t>
                </a:r>
                <a:r>
                  <a:rPr sz="2400" b="0">
                    <a:solidFill>
                      <a:srgbClr val="111827"/>
                    </a:solidFill>
                    <a:latin typeface="Arial"/>
                  </a:rPr>
                  <a:t>, </a:t>
                </a:r>
                <a:r>
                  <a:rPr lang="en-IN" sz="2400">
                    <a:solidFill>
                      <a:srgbClr val="111827"/>
                    </a:solidFill>
                    <a:latin typeface="Cambria Math" panose="02040503050406030204" pitchFamily="18" charset="0"/>
                  </a:rPr>
                  <a:t>$V_r=\mu G_r$</a:t>
                </a:r>
                <a:r>
                  <a:rPr sz="2400" b="0">
                    <a:solidFill>
                      <a:srgbClr val="111827"/>
                    </a:solidFill>
                    <a:latin typeface="Arial"/>
                  </a:rPr>
                  <a:t>: </a:t>
                </a:r>
                <a:r>
                  <a:rPr lang="en-IN" sz="2400">
                    <a:solidFill>
                      <a:srgbClr val="111827"/>
                    </a:solidFill>
                    <a:latin typeface="Cambria Math" panose="02040503050406030204" pitchFamily="18" charset="0"/>
                  </a:rPr>
                  <a:t>$120x^2=152\mu x$</a:t>
                </a:r>
                <a:r>
                  <a:rPr sz="2400" b="0">
                    <a:solidFill>
                      <a:srgbClr val="111827"/>
                    </a:solidFill>
                    <a:latin typeface="Arial"/>
                  </a:rPr>
                  <a:t> and </a:t>
                </a:r>
                <a:r>
                  <a:rPr lang="en-IN" sz="2400">
                    <a:solidFill>
                      <a:srgbClr val="111827"/>
                    </a:solidFill>
                    <a:latin typeface="Cambria Math" panose="02040503050406030204" pitchFamily="18" charset="0"/>
                  </a:rPr>
                  <a:t>$2\pi r^2=6\pi\mu 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$\mu=\frac{120x}{152}$</a:t>
                </a:r>
                <a:r>
                  <a:rPr sz="2400" b="0">
                    <a:solidFill>
                      <a:srgbClr val="111827"/>
                    </a:solidFill>
                    <a:latin typeface="Arial"/>
                  </a:rPr>
                  <a:t> and </a:t>
                </a:r>
                <a:r>
                  <a:rPr lang="en-IN" sz="2400">
                    <a:solidFill>
                      <a:srgbClr val="111827"/>
                    </a:solidFill>
                    <a:latin typeface="Cambria Math" panose="02040503050406030204" pitchFamily="18" charset="0"/>
                  </a:rPr>
                  <a:t>$\mu=\frac r3$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Equate: </a:t>
                </a:r>
                <a:r>
                  <a:rPr lang="en-IN" sz="2400">
                    <a:solidFill>
                      <a:srgbClr val="111827"/>
                    </a:solidFill>
                    <a:latin typeface="Cambria Math" panose="02040503050406030204" pitchFamily="18" charset="0"/>
                  </a:rPr>
                  <a:t>$\frac{120x}{152}=\frac r3\Rightarrow\frac xr=\frac{152}{360}=\frac{19}{45}$</a:t>
                </a:r>
                <a:r>
                  <a:rPr sz="2400" b="0">
                    <a:solidFill>
                      <a:srgbClr val="111827"/>
                    </a:solidFill>
                    <a:latin typeface="Arial"/>
                  </a:rPr>
                  <a:t>.</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19 : 45</a:t>
            </a:r>
            <a:endParaRPr sz="2800">
              <a:solidFill>
                <a:srgbClr val="15803D"/>
              </a:solidFill>
            </a:endParaRP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Constrained optimisation: at an extremum, </a:t>
                </a:r>
                <a14:m>
                  <m:oMath xmlns:m="http://schemas.openxmlformats.org/officeDocument/2006/math">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𝑉</m:t>
                            </m:r>
                          </m:e>
                          <m:sub>
                            <m:r>
                              <a:rPr lang="en-IN" sz="2400" i="1">
                                <a:solidFill>
                                  <a:srgbClr val="111827"/>
                                </a:solidFill>
                                <a:latin typeface="Cambria Math" panose="02040503050406030204" pitchFamily="18" charset="0"/>
                              </a:rPr>
                              <m:t>𝑥</m:t>
                            </m:r>
                          </m:sub>
                        </m:sSub>
                      </m:num>
                      <m:den>
                        <m:sSub>
                          <m:e>
                            <m:r>
                              <a:rPr lang="en-IN" sz="2400" i="1">
                                <a:solidFill>
                                  <a:srgbClr val="111827"/>
                                </a:solidFill>
                                <a:latin typeface="Cambria Math" panose="02040503050406030204" pitchFamily="18" charset="0"/>
                              </a:rPr>
                              <m:t>𝐺</m:t>
                            </m:r>
                          </m:e>
                          <m:sub>
                            <m:r>
                              <a:rPr lang="en-IN" sz="2400" i="1">
                                <a:solidFill>
                                  <a:srgbClr val="111827"/>
                                </a:solidFill>
                                <a:latin typeface="Cambria Math" panose="02040503050406030204" pitchFamily="18" charset="0"/>
                              </a:rPr>
                              <m:t>𝑥</m:t>
                            </m:r>
                          </m:sub>
                        </m:sSub>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𝑉</m:t>
                            </m:r>
                          </m:e>
                          <m:sub>
                            <m:r>
                              <a:rPr lang="en-IN" sz="2400" i="1">
                                <a:solidFill>
                                  <a:srgbClr val="111827"/>
                                </a:solidFill>
                                <a:latin typeface="Cambria Math" panose="02040503050406030204" pitchFamily="18" charset="0"/>
                              </a:rPr>
                              <m:t>𝑟</m:t>
                            </m:r>
                          </m:sub>
                        </m:sSub>
                      </m:num>
                      <m:den>
                        <m:sSub>
                          <m:e>
                            <m:r>
                              <a:rPr lang="en-IN" sz="2400" i="1">
                                <a:solidFill>
                                  <a:srgbClr val="111827"/>
                                </a:solidFill>
                                <a:latin typeface="Cambria Math" panose="02040503050406030204" pitchFamily="18" charset="0"/>
                              </a:rPr>
                              <m:t>𝐺</m:t>
                            </m:r>
                          </m:e>
                          <m:sub>
                            <m:r>
                              <a:rPr lang="en-IN" sz="2400" i="1">
                                <a:solidFill>
                                  <a:srgbClr val="111827"/>
                                </a:solidFill>
                                <a:latin typeface="Cambria Math" panose="02040503050406030204" pitchFamily="18" charset="0"/>
                              </a:rPr>
                              <m:t>𝑟</m:t>
                            </m:r>
                          </m:sub>
                        </m:sSub>
                      </m:den>
                    </m:f>
                  </m:oMath>
                </a14:m>
                <a:r>
                  <a:rPr sz="2400" b="0">
                    <a:solidFill>
                      <a:srgbClr val="111827"/>
                    </a:solidFill>
                    <a:latin typeface="Arial"/>
                  </a:rPr>
                  <a:t> (Lagrange condition) - quick way to avoid implicit differentiation.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Surface areas: closed hemisphere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π</m:t>
                    </m:r>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(curved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π</m:t>
                    </m:r>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plus base </a:t>
                </a:r>
                <a14:m>
                  <m:oMath xmlns:m="http://schemas.openxmlformats.org/officeDocument/2006/math">
                    <m:r>
                      <a:rPr lang="en-IN" sz="2400" i="1">
                        <a:solidFill>
                          <a:srgbClr val="111827"/>
                        </a:solidFill>
                        <a:latin typeface="Cambria Math" panose="02040503050406030204" pitchFamily="18" charset="0"/>
                      </a:rPr>
                      <m:t>π</m:t>
                    </m:r>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cuboid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𝑙</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a:rPr lang="en-IN" sz="2400" i="1">
                        <a:solidFill>
                          <a:srgbClr val="111827"/>
                        </a:solidFill>
                        <a:latin typeface="Cambria Math" panose="02040503050406030204" pitchFamily="18" charset="0"/>
                      </a:rPr>
                      <m:t>𝑙</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stationary point on a closed constraint curve need not be a maximum - check the nature (second derivative or endpoints). Here </a:t>
                </a:r>
                <a14:m>
                  <m:oMath xmlns:m="http://schemas.openxmlformats.org/officeDocument/2006/math">
                    <m:r>
                      <a:rPr lang="en-IN" sz="2400" i="1">
                        <a:solidFill>
                          <a:srgbClr val="111827"/>
                        </a:solidFill>
                        <a:latin typeface="Cambria Math" panose="02040503050406030204" pitchFamily="18" charset="0"/>
                      </a:rPr>
                      <m:t>𝑉</m:t>
                    </m:r>
                  </m:oMath>
                </a14:m>
                <a:r>
                  <a:rPr sz="2400" b="0">
                    <a:solidFill>
                      <a:srgbClr val="111827"/>
                    </a:solidFill>
                    <a:latin typeface="Arial"/>
                  </a:rPr>
                  <a:t>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45</m:t>
                    </m:r>
                  </m:oMath>
                </a14:m>
                <a:r>
                  <a:rPr sz="2400" b="0">
                    <a:solidFill>
                      <a:srgbClr val="111827"/>
                    </a:solidFill>
                    <a:latin typeface="Arial"/>
                  </a:rPr>
                  <a:t> is actually a local minimum, and the endpoint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gives larger </a:t>
                </a:r>
                <a14:m>
                  <m:oMath xmlns:m="http://schemas.openxmlformats.org/officeDocument/2006/math">
                    <m:r>
                      <a:rPr lang="en-IN" sz="2400" i="1">
                        <a:solidFill>
                          <a:srgbClr val="111827"/>
                        </a:solidFill>
                        <a:latin typeface="Cambria Math" panose="02040503050406030204" pitchFamily="18" charset="0"/>
                      </a:rPr>
                      <m:t>𝑉</m:t>
                    </m:r>
                  </m:oMath>
                </a14:m>
                <a:r>
                  <a:rPr sz="2400" b="0">
                    <a:solidFill>
                      <a:srgbClr val="111827"/>
                    </a:solidFill>
                    <a:latin typeface="Arial"/>
                  </a:rPr>
                  <a:t>; the official key still takes the stationary ratio.</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𝑟</m:t>
                    </m:r>
                  </m:oMath>
                </a14:m>
                <a:r>
                  <a:rPr sz="2400" b="0">
                    <a:solidFill>
                      <a:srgbClr val="111827"/>
                    </a:solidFill>
                    <a:latin typeface="Arial"/>
                  </a:rPr>
                  <a:t> both positive, the constraint is the ellipse arc </a:t>
                </a:r>
                <a14:m>
                  <m:oMath xmlns:m="http://schemas.openxmlformats.org/officeDocument/2006/math">
                    <m:r>
                      <a:rPr lang="en-IN" sz="2400" i="1">
                        <a:solidFill>
                          <a:srgbClr val="111827"/>
                        </a:solidFill>
                        <a:latin typeface="Cambria Math" panose="02040503050406030204" pitchFamily="18" charset="0"/>
                      </a:rPr>
                      <m:t>76</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π</m:t>
                    </m:r>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oMath>
                </a14:m>
                <a:r>
                  <a:rPr sz="2400" b="0">
                    <a:solidFill>
                      <a:srgbClr val="111827"/>
                    </a:solidFill>
                    <a:latin typeface="Arial"/>
                  </a:rPr>
                  <a:t> in the first quadrant.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Constrained optimisation: at an extremum, </a:t>
                </a:r>
                <a:r>
                  <a:rPr lang="en-IN" sz="2400">
                    <a:solidFill>
                      <a:srgbClr val="111827"/>
                    </a:solidFill>
                    <a:latin typeface="Cambria Math" panose="02040503050406030204" pitchFamily="18" charset="0"/>
                  </a:rPr>
                  <a:t>$\frac{V_x}{G_x}=\frac{V_r}{G_r}$</a:t>
                </a:r>
                <a:r>
                  <a:rPr sz="2400" b="0">
                    <a:solidFill>
                      <a:srgbClr val="111827"/>
                    </a:solidFill>
                    <a:latin typeface="Arial"/>
                  </a:rPr>
                  <a:t> (Lagrange condition) - quick way to avoid implicit differentiation.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Surface areas: closed hemisphere </a:t>
                </a:r>
                <a:r>
                  <a:rPr lang="en-IN" sz="2400">
                    <a:solidFill>
                      <a:srgbClr val="111827"/>
                    </a:solidFill>
                    <a:latin typeface="Cambria Math" panose="02040503050406030204" pitchFamily="18" charset="0"/>
                  </a:rPr>
                  <a:t>$3\pi r^2$</a:t>
                </a:r>
                <a:r>
                  <a:rPr sz="2400" b="0">
                    <a:solidFill>
                      <a:srgbClr val="111827"/>
                    </a:solidFill>
                    <a:latin typeface="Arial"/>
                  </a:rPr>
                  <a:t> (curved </a:t>
                </a:r>
                <a:r>
                  <a:rPr lang="en-IN" sz="2400">
                    <a:solidFill>
                      <a:srgbClr val="111827"/>
                    </a:solidFill>
                    <a:latin typeface="Cambria Math" panose="02040503050406030204" pitchFamily="18" charset="0"/>
                  </a:rPr>
                  <a:t>$2\pi r^2$</a:t>
                </a:r>
                <a:r>
                  <a:rPr sz="2400" b="0">
                    <a:solidFill>
                      <a:srgbClr val="111827"/>
                    </a:solidFill>
                    <a:latin typeface="Arial"/>
                  </a:rPr>
                  <a:t> plus base </a:t>
                </a:r>
                <a:r>
                  <a:rPr lang="en-IN" sz="2400">
                    <a:solidFill>
                      <a:srgbClr val="111827"/>
                    </a:solidFill>
                    <a:latin typeface="Cambria Math" panose="02040503050406030204" pitchFamily="18" charset="0"/>
                  </a:rPr>
                  <a:t>$\pi r^2$</a:t>
                </a:r>
                <a:r>
                  <a:rPr sz="2400" b="0">
                    <a:solidFill>
                      <a:srgbClr val="111827"/>
                    </a:solidFill>
                    <a:latin typeface="Arial"/>
                  </a:rPr>
                  <a:t>); cuboid </a:t>
                </a:r>
                <a:r>
                  <a:rPr lang="en-IN" sz="2400">
                    <a:solidFill>
                      <a:srgbClr val="111827"/>
                    </a:solidFill>
                    <a:latin typeface="Cambria Math" panose="02040503050406030204" pitchFamily="18" charset="0"/>
                  </a:rPr>
                  <a:t>$2(lb+bh+hl)$</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stationary point on a closed constraint curve need not be a maximum - check the nature (second derivative or endpoints). Here </a:t>
                </a:r>
                <a:r>
                  <a:rPr lang="en-IN" sz="2400">
                    <a:solidFill>
                      <a:srgbClr val="111827"/>
                    </a:solidFill>
                    <a:latin typeface="Cambria Math" panose="02040503050406030204" pitchFamily="18" charset="0"/>
                  </a:rPr>
                  <a:t>$V$</a:t>
                </a:r>
                <a:r>
                  <a:rPr sz="2400" b="0">
                    <a:solidFill>
                      <a:srgbClr val="111827"/>
                    </a:solidFill>
                    <a:latin typeface="Arial"/>
                  </a:rPr>
                  <a:t> at </a:t>
                </a:r>
                <a:r>
                  <a:rPr lang="en-IN" sz="2400">
                    <a:solidFill>
                      <a:srgbClr val="111827"/>
                    </a:solidFill>
                    <a:latin typeface="Cambria Math" panose="02040503050406030204" pitchFamily="18" charset="0"/>
                  </a:rPr>
                  <a:t>$x:r=19:45$</a:t>
                </a:r>
                <a:r>
                  <a:rPr sz="2400" b="0">
                    <a:solidFill>
                      <a:srgbClr val="111827"/>
                    </a:solidFill>
                    <a:latin typeface="Arial"/>
                  </a:rPr>
                  <a:t> is actually a local minimum, and the endpoint </a:t>
                </a:r>
                <a:r>
                  <a:rPr lang="en-IN" sz="2400">
                    <a:solidFill>
                      <a:srgbClr val="111827"/>
                    </a:solidFill>
                    <a:latin typeface="Cambria Math" panose="02040503050406030204" pitchFamily="18" charset="0"/>
                  </a:rPr>
                  <a:t>$x=0$</a:t>
                </a:r>
                <a:r>
                  <a:rPr sz="2400" b="0">
                    <a:solidFill>
                      <a:srgbClr val="111827"/>
                    </a:solidFill>
                    <a:latin typeface="Arial"/>
                  </a:rPr>
                  <a:t> gives larger </a:t>
                </a:r>
                <a:r>
                  <a:rPr lang="en-IN" sz="2400">
                    <a:solidFill>
                      <a:srgbClr val="111827"/>
                    </a:solidFill>
                    <a:latin typeface="Cambria Math" panose="02040503050406030204" pitchFamily="18" charset="0"/>
                  </a:rPr>
                  <a:t>$V$</a:t>
                </a:r>
                <a:r>
                  <a:rPr sz="2400" b="0">
                    <a:solidFill>
                      <a:srgbClr val="111827"/>
                    </a:solidFill>
                    <a:latin typeface="Arial"/>
                  </a:rPr>
                  <a:t>; the official key still takes the stationary ratio.</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$x$</a:t>
                </a:r>
                <a:r>
                  <a:rPr sz="2400" b="0">
                    <a:solidFill>
                      <a:srgbClr val="111827"/>
                    </a:solidFill>
                    <a:latin typeface="Arial"/>
                  </a:rPr>
                  <a:t> and </a:t>
                </a:r>
                <a:r>
                  <a:rPr lang="en-IN" sz="2400">
                    <a:solidFill>
                      <a:srgbClr val="111827"/>
                    </a:solidFill>
                    <a:latin typeface="Cambria Math" panose="02040503050406030204" pitchFamily="18" charset="0"/>
                  </a:rPr>
                  <a:t>$r$</a:t>
                </a:r>
                <a:r>
                  <a:rPr sz="2400" b="0">
                    <a:solidFill>
                      <a:srgbClr val="111827"/>
                    </a:solidFill>
                    <a:latin typeface="Arial"/>
                  </a:rPr>
                  <a:t> both positive, the constraint is the ellipse arc </a:t>
                </a:r>
                <a:r>
                  <a:rPr lang="en-IN" sz="2400">
                    <a:solidFill>
                      <a:srgbClr val="111827"/>
                    </a:solidFill>
                    <a:latin typeface="Cambria Math" panose="02040503050406030204" pitchFamily="18" charset="0"/>
                  </a:rPr>
                  <a:t>$76x^2+3\pi r^2=k$</a:t>
                </a:r>
                <a:r>
                  <a:rPr sz="2400" b="0">
                    <a:solidFill>
                      <a:srgbClr val="111827"/>
                    </a:solidFill>
                    <a:latin typeface="Arial"/>
                  </a:rPr>
                  <a:t> in the first quadrant.</a:t>
                </a:r>
                <a:endParaRPr sz="2400">
                  <a:solidFill>
                    <a:srgbClr val="111827"/>
                  </a:solidFill>
                </a:endParaRPr>
              </a:p>
            </p:txBody>
          </p:sp>
        </mc:Fallback>
      </mc:AlternateContent>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0081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𝑙</m:t>
                    </m:r>
                  </m:oMath>
                </a14:m>
                <a:r>
                  <a:rPr sz="2400" b="0">
                    <a:solidFill>
                      <a:srgbClr val="111827"/>
                    </a:solidFill>
                    <a:latin typeface="Arial"/>
                  </a:rPr>
                  <a:t> be a line which is normal to the curve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 point </a:t>
                </a: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 on the curve. If the point </a:t>
                </a:r>
                <a14:m>
                  <m:oMath xmlns:m="http://schemas.openxmlformats.org/officeDocument/2006/math">
                    <m:r>
                      <a:rPr lang="en-IN" sz="2400" i="1">
                        <a:solidFill>
                          <a:srgbClr val="111827"/>
                        </a:solidFill>
                        <a:latin typeface="Cambria Math" panose="02040503050406030204" pitchFamily="18" charset="0"/>
                      </a:rPr>
                      <m:t>𝑄</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lies on the line </a:t>
                </a:r>
                <a14:m>
                  <m:oMath xmlns:m="http://schemas.openxmlformats.org/officeDocument/2006/math">
                    <m:r>
                      <a:rPr lang="en-IN" sz="2400" i="1">
                        <a:solidFill>
                          <a:srgbClr val="111827"/>
                        </a:solidFill>
                        <a:latin typeface="Cambria Math" panose="02040503050406030204" pitchFamily="18" charset="0"/>
                      </a:rPr>
                      <m:t>𝑙</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𝑂</m:t>
                    </m:r>
                  </m:oMath>
                </a14:m>
                <a:r>
                  <a:rPr sz="2400" b="0">
                    <a:solidFill>
                      <a:srgbClr val="111827"/>
                    </a:solidFill>
                    <a:latin typeface="Arial"/>
                  </a:rPr>
                  <a:t> is the origin, then the area of the triangle </a:t>
                </a:r>
                <a14:m>
                  <m:oMath xmlns:m="http://schemas.openxmlformats.org/officeDocument/2006/math">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𝑄</m:t>
                    </m:r>
                  </m:oMath>
                </a14:m>
                <a:r>
                  <a:rPr sz="2400" b="0">
                    <a:solidFill>
                      <a:srgbClr val="111827"/>
                    </a:solidFill>
                    <a:latin typeface="Arial"/>
                  </a:rPr>
                  <a:t> is equal to ________.</a:t>
                </a:r>
                <a:endParaRPr sz="2400">
                  <a:solidFill>
                    <a:srgbClr val="111827"/>
                  </a:solidFill>
                </a:endParaRPr>
              </a:p>
            </p:txBody>
          </p:sp>
        </mc:Choice>
        <mc:Fallback>
          <p:sp>
            <p:nvSpPr>
              <p:cNvPr id="4" name="Rounded Rectangle 3"/>
              <p:cNvSpPr/>
              <p:nvPr/>
            </p:nvSpPr>
            <p:spPr>
              <a:xfrm>
                <a:off x="731520" y="1280160"/>
                <a:ext cx="10725912" cy="20081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$l$</a:t>
                </a:r>
                <a:r>
                  <a:rPr sz="2400" b="0">
                    <a:solidFill>
                      <a:srgbClr val="111827"/>
                    </a:solidFill>
                    <a:latin typeface="Arial"/>
                  </a:rPr>
                  <a:t> be a line which is normal to the curve </a:t>
                </a:r>
                <a:r>
                  <a:rPr lang="en-IN" sz="2400">
                    <a:solidFill>
                      <a:srgbClr val="111827"/>
                    </a:solidFill>
                    <a:latin typeface="Cambria Math" panose="02040503050406030204" pitchFamily="18" charset="0"/>
                  </a:rPr>
                  <a:t>$y=2x^2+x+2$</a:t>
                </a:r>
                <a:r>
                  <a:rPr sz="2400" b="0">
                    <a:solidFill>
                      <a:srgbClr val="111827"/>
                    </a:solidFill>
                    <a:latin typeface="Arial"/>
                  </a:rPr>
                  <a:t> at a point </a:t>
                </a:r>
                <a:r>
                  <a:rPr lang="en-IN" sz="2400">
                    <a:solidFill>
                      <a:srgbClr val="111827"/>
                    </a:solidFill>
                    <a:latin typeface="Cambria Math" panose="02040503050406030204" pitchFamily="18" charset="0"/>
                  </a:rPr>
                  <a:t>$P$</a:t>
                </a:r>
                <a:r>
                  <a:rPr sz="2400" b="0">
                    <a:solidFill>
                      <a:srgbClr val="111827"/>
                    </a:solidFill>
                    <a:latin typeface="Arial"/>
                  </a:rPr>
                  <a:t> on the curve. If the point </a:t>
                </a:r>
                <a:r>
                  <a:rPr lang="en-IN" sz="2400">
                    <a:solidFill>
                      <a:srgbClr val="111827"/>
                    </a:solidFill>
                    <a:latin typeface="Cambria Math" panose="02040503050406030204" pitchFamily="18" charset="0"/>
                  </a:rPr>
                  <a:t>$Q(6,4)$</a:t>
                </a:r>
                <a:r>
                  <a:rPr sz="2400" b="0">
                    <a:solidFill>
                      <a:srgbClr val="111827"/>
                    </a:solidFill>
                    <a:latin typeface="Arial"/>
                  </a:rPr>
                  <a:t> lies on the line </a:t>
                </a:r>
                <a:r>
                  <a:rPr lang="en-IN" sz="2400">
                    <a:solidFill>
                      <a:srgbClr val="111827"/>
                    </a:solidFill>
                    <a:latin typeface="Cambria Math" panose="02040503050406030204" pitchFamily="18" charset="0"/>
                  </a:rPr>
                  <a:t>$l$</a:t>
                </a:r>
                <a:r>
                  <a:rPr sz="2400" b="0">
                    <a:solidFill>
                      <a:srgbClr val="111827"/>
                    </a:solidFill>
                    <a:latin typeface="Arial"/>
                  </a:rPr>
                  <a:t> and </a:t>
                </a:r>
                <a:r>
                  <a:rPr lang="en-IN" sz="2400">
                    <a:solidFill>
                      <a:srgbClr val="111827"/>
                    </a:solidFill>
                    <a:latin typeface="Cambria Math" panose="02040503050406030204" pitchFamily="18" charset="0"/>
                  </a:rPr>
                  <a:t>$O$</a:t>
                </a:r>
                <a:r>
                  <a:rPr sz="2400" b="0">
                    <a:solidFill>
                      <a:srgbClr val="111827"/>
                    </a:solidFill>
                    <a:latin typeface="Arial"/>
                  </a:rPr>
                  <a:t> is the origin, then the area of the triangle </a:t>
                </a:r>
                <a:r>
                  <a:rPr lang="en-IN" sz="2400">
                    <a:solidFill>
                      <a:srgbClr val="111827"/>
                    </a:solidFill>
                    <a:latin typeface="Cambria Math" panose="02040503050406030204" pitchFamily="18" charset="0"/>
                  </a:rPr>
                  <a:t>$OPQ$</a:t>
                </a:r>
                <a:r>
                  <a:rPr sz="2400" b="0">
                    <a:solidFill>
                      <a:srgbClr val="111827"/>
                    </a:solidFill>
                    <a:latin typeface="Arial"/>
                  </a:rPr>
                  <a:t> is equal to ________.</a:t>
                </a:r>
                <a:endParaRPr sz="2400">
                  <a:solidFill>
                    <a:srgbClr val="111827"/>
                  </a:solidFill>
                </a:endParaRPr>
              </a:p>
            </p:txBody>
          </p:sp>
        </mc:Fallback>
      </mc:AlternateContent>
      <p:sp>
        <p:nvSpPr>
          <p:cNvPr id="5" name="Rectangle 4"/>
          <p:cNvSpPr/>
          <p:nvPr/>
        </p:nvSpPr>
        <p:spPr>
          <a:xfrm>
            <a:off x="731520" y="3516884"/>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Normal to a curve, Area of a triangle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Normal slope </a:t>
                </a:r>
                <a14:m>
                  <m:oMath xmlns:m="http://schemas.openxmlformats.org/officeDocument/2006/math">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4</m:t>
                        </m:r>
                        <m:r>
                          <a:rPr lang="en-IN" sz="2400" i="1">
                            <a:solidFill>
                              <a:srgbClr val="78350F"/>
                            </a:solidFill>
                            <a:latin typeface="Cambria Math" panose="02040503050406030204" pitchFamily="18" charset="0"/>
                          </a:rPr>
                          <m:t>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den>
                    </m:f>
                  </m:oMath>
                </a14:m>
                <a:r>
                  <a:rPr sz="2400" b="0">
                    <a:solidFill>
                      <a:srgbClr val="78350F"/>
                    </a:solidFill>
                    <a:latin typeface="Arial"/>
                  </a:rPr>
                  <a:t> through </a:t>
                </a:r>
                <a14:m>
                  <m:oMath xmlns:m="http://schemas.openxmlformats.org/officeDocument/2006/math">
                    <m:r>
                      <a:rPr lang="en-IN" sz="2400" i="1">
                        <a:solidFill>
                          <a:srgbClr val="78350F"/>
                        </a:solidFill>
                        <a:latin typeface="Cambria Math" panose="02040503050406030204" pitchFamily="18" charset="0"/>
                      </a:rPr>
                      <m:t>𝑄</m:t>
                    </m:r>
                  </m:oMath>
                </a14:m>
                <a:r>
                  <a:rPr sz="2400" b="0">
                    <a:solidFill>
                      <a:srgbClr val="78350F"/>
                    </a:solidFill>
                    <a:latin typeface="Arial"/>
                  </a:rPr>
                  <a:t> gives a cubic in </a:t>
                </a:r>
                <a14:m>
                  <m:oMath xmlns:m="http://schemas.openxmlformats.org/officeDocument/2006/math">
                    <m:r>
                      <a:rPr lang="en-IN" sz="2400" i="1">
                        <a:solidFill>
                          <a:srgbClr val="78350F"/>
                        </a:solidFill>
                        <a:latin typeface="Cambria Math" panose="02040503050406030204" pitchFamily="18" charset="0"/>
                      </a:rPr>
                      <m:t>ℎ</m:t>
                    </m:r>
                  </m:oMath>
                </a14:m>
                <a:r>
                  <a:rPr sz="2400" b="0">
                    <a:solidFill>
                      <a:srgbClr val="78350F"/>
                    </a:solidFill>
                    <a:latin typeface="Arial"/>
                  </a:rPr>
                  <a:t> with the single real root </a:t>
                </a:r>
                <a14:m>
                  <m:oMath xmlns:m="http://schemas.openxmlformats.org/officeDocument/2006/math">
                    <m:r>
                      <a:rPr lang="en-IN" sz="2400" i="1">
                        <a:solidFill>
                          <a:srgbClr val="78350F"/>
                        </a:solidFill>
                        <a:latin typeface="Cambria Math" panose="02040503050406030204" pitchFamily="18" charset="0"/>
                      </a:rPr>
                      <m:t>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Normal slope </a:t>
                </a:r>
                <a:r>
                  <a:rPr lang="en-IN" sz="2400">
                    <a:solidFill>
                      <a:srgbClr val="78350F"/>
                    </a:solidFill>
                    <a:latin typeface="Cambria Math" panose="02040503050406030204" pitchFamily="18" charset="0"/>
                  </a:rPr>
                  <a:t>$-\frac{1}{4h+1}$</a:t>
                </a:r>
                <a:r>
                  <a:rPr sz="2400" b="0">
                    <a:solidFill>
                      <a:srgbClr val="78350F"/>
                    </a:solidFill>
                    <a:latin typeface="Arial"/>
                  </a:rPr>
                  <a:t> through </a:t>
                </a:r>
                <a:r>
                  <a:rPr lang="en-IN" sz="2400">
                    <a:solidFill>
                      <a:srgbClr val="78350F"/>
                    </a:solidFill>
                    <a:latin typeface="Cambria Math" panose="02040503050406030204" pitchFamily="18" charset="0"/>
                  </a:rPr>
                  <a:t>$Q$</a:t>
                </a:r>
                <a:r>
                  <a:rPr sz="2400" b="0">
                    <a:solidFill>
                      <a:srgbClr val="78350F"/>
                    </a:solidFill>
                    <a:latin typeface="Arial"/>
                  </a:rPr>
                  <a:t> gives a cubic in </a:t>
                </a:r>
                <a:r>
                  <a:rPr lang="en-IN" sz="2400">
                    <a:solidFill>
                      <a:srgbClr val="78350F"/>
                    </a:solidFill>
                    <a:latin typeface="Cambria Math" panose="02040503050406030204" pitchFamily="18" charset="0"/>
                  </a:rPr>
                  <a:t>$h$</a:t>
                </a:r>
                <a:r>
                  <a:rPr sz="2400" b="0">
                    <a:solidFill>
                      <a:srgbClr val="78350F"/>
                    </a:solidFill>
                    <a:latin typeface="Arial"/>
                  </a:rPr>
                  <a:t> with the single real root </a:t>
                </a:r>
                <a:r>
                  <a:rPr lang="en-IN" sz="2400">
                    <a:solidFill>
                      <a:srgbClr val="78350F"/>
                    </a:solidFill>
                    <a:latin typeface="Cambria Math" panose="02040503050406030204" pitchFamily="18" charset="0"/>
                  </a:rPr>
                  <a:t>$h=1$</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Let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slope of normal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Normal: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It passes through </a:t>
                </a:r>
                <a14:m>
                  <m:oMath xmlns:m="http://schemas.openxmlformats.org/officeDocument/2006/math">
                    <m:r>
                      <a:rPr lang="en-IN" sz="2400" i="1">
                        <a:solidFill>
                          <a:srgbClr val="111827"/>
                        </a:solidFill>
                        <a:latin typeface="Cambria Math" panose="02040503050406030204" pitchFamily="18" charset="0"/>
                      </a:rPr>
                      <m:t>𝑄</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num>
                      <m:den>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 is on the curve: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ℎ</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ℎ</m:t>
                            </m:r>
                          </m:e>
                          <m:sup>
                            <m:r>
                              <a:rPr lang="en-IN" sz="2400" i="1">
                                <a:solidFill>
                                  <a:srgbClr val="111827"/>
                                </a:solidFill>
                                <a:latin typeface="Cambria Math" panose="02040503050406030204" pitchFamily="18" charset="0"/>
                              </a:rPr>
                              <m:t>2</m:t>
                            </m:r>
                          </m:sup>
                        </m:sSup>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sSup>
                      <m:e>
                        <m:r>
                          <a:rPr lang="en-IN" sz="2400" i="1">
                            <a:solidFill>
                              <a:srgbClr val="111827"/>
                            </a:solidFill>
                            <a:latin typeface="Cambria Math" panose="02040503050406030204" pitchFamily="18" charset="0"/>
                          </a:rPr>
                          <m:t>ℎ</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sSup>
                      <m:e>
                        <m:r>
                          <a:rPr lang="en-IN" sz="2400" i="1">
                            <a:solidFill>
                              <a:srgbClr val="111827"/>
                            </a:solidFill>
                            <a:latin typeface="Cambria Math" panose="02040503050406030204" pitchFamily="18" charset="0"/>
                          </a:rPr>
                          <m:t>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ℎ</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$\frac{dy}{dx}=4x+1$</a:t>
                </a:r>
                <a:r>
                  <a:rPr sz="2400" b="0">
                    <a:solidFill>
                      <a:srgbClr val="111827"/>
                    </a:solidFill>
                    <a:latin typeface="Arial"/>
                  </a:rPr>
                  <a:t>. Let </a:t>
                </a:r>
                <a:r>
                  <a:rPr lang="en-IN" sz="2400">
                    <a:solidFill>
                      <a:srgbClr val="111827"/>
                    </a:solidFill>
                    <a:latin typeface="Cambria Math" panose="02040503050406030204" pitchFamily="18" charset="0"/>
                  </a:rPr>
                  <a:t>$P(h,k)$</a:t>
                </a:r>
                <a:r>
                  <a:rPr sz="2400" b="0">
                    <a:solidFill>
                      <a:srgbClr val="111827"/>
                    </a:solidFill>
                    <a:latin typeface="Arial"/>
                  </a:rPr>
                  <a:t>; slope of normal </a:t>
                </a:r>
                <a:r>
                  <a:rPr lang="en-IN" sz="2400">
                    <a:solidFill>
                      <a:srgbClr val="111827"/>
                    </a:solidFill>
                    <a:latin typeface="Cambria Math" panose="02040503050406030204" pitchFamily="18" charset="0"/>
                  </a:rPr>
                  <a:t>$=-\frac{1}{4h+1}$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Normal: </a:t>
                </a:r>
                <a:r>
                  <a:rPr lang="en-IN" sz="2400">
                    <a:solidFill>
                      <a:srgbClr val="111827"/>
                    </a:solidFill>
                    <a:latin typeface="Cambria Math" panose="02040503050406030204" pitchFamily="18" charset="0"/>
                  </a:rPr>
                  <a:t>$y-k=-\frac{1}{4h+1}(x-h)$</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It passes through </a:t>
                </a:r>
                <a:r>
                  <a:rPr lang="en-IN" sz="2400">
                    <a:solidFill>
                      <a:srgbClr val="111827"/>
                    </a:solidFill>
                    <a:latin typeface="Cambria Math" panose="02040503050406030204" pitchFamily="18" charset="0"/>
                  </a:rPr>
                  <a:t>$Q(6,4)$</a:t>
                </a:r>
                <a:r>
                  <a:rPr sz="2400" b="0">
                    <a:solidFill>
                      <a:srgbClr val="111827"/>
                    </a:solidFill>
                    <a:latin typeface="Arial"/>
                  </a:rPr>
                  <a:t>: </a:t>
                </a:r>
                <a:r>
                  <a:rPr lang="en-IN" sz="2400">
                    <a:solidFill>
                      <a:srgbClr val="111827"/>
                    </a:solidFill>
                    <a:latin typeface="Cambria Math" panose="02040503050406030204" pitchFamily="18" charset="0"/>
                  </a:rPr>
                  <a:t>$4-k=-\frac{6-h}{4h+1}\Rightarrow(4h+1)(4-k)+6-h=0$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a:t>
                </a:r>
                <a:r>
                  <a:rPr sz="2400" b="0">
                    <a:solidFill>
                      <a:srgbClr val="111827"/>
                    </a:solidFill>
                    <a:latin typeface="Arial"/>
                  </a:rPr>
                  <a:t> is on the curve: </a:t>
                </a:r>
                <a:r>
                  <a:rPr lang="en-IN" sz="2400">
                    <a:solidFill>
                      <a:srgbClr val="111827"/>
                    </a:solidFill>
                    <a:latin typeface="Cambria Math" panose="02040503050406030204" pitchFamily="18" charset="0"/>
                  </a:rPr>
                  <a:t>$k=2h^2+h+2$</a:t>
                </a:r>
                <a:r>
                  <a:rPr sz="2400" b="0">
                    <a:solidFill>
                      <a:srgbClr val="111827"/>
                    </a:solidFill>
                    <a:latin typeface="Arial"/>
                  </a:rPr>
                  <a:t>, so </a:t>
                </a:r>
                <a:r>
                  <a:rPr lang="en-IN" sz="2400">
                    <a:solidFill>
                      <a:srgbClr val="111827"/>
                    </a:solidFill>
                    <a:latin typeface="Cambria Math" panose="02040503050406030204" pitchFamily="18" charset="0"/>
                  </a:rPr>
                  <a:t>$4-k=2-h-2h^2$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$(4h+1)\left(2-h-2h^2\right)+6-h=0\Rightarrow-8h^3-6h^2+6h+8=0$</a:t>
                </a:r>
                <a:r>
                  <a:rPr sz="2400" b="0">
                    <a:solidFill>
                      <a:srgbClr val="111827"/>
                    </a:solidFill>
                    <a:latin typeface="Arial"/>
                  </a:rPr>
                  <a:t>, i.e. </a:t>
                </a:r>
                <a:r>
                  <a:rPr lang="en-IN" sz="2400">
                    <a:solidFill>
                      <a:srgbClr val="111827"/>
                    </a:solidFill>
                    <a:latin typeface="Cambria Math" panose="02040503050406030204" pitchFamily="18" charset="0"/>
                  </a:rPr>
                  <a:t>$4h^3+3h^2-3h-4=0$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Factor: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the quadratic has discriminant </a:t>
                </a:r>
                <a14:m>
                  <m:oMath xmlns:m="http://schemas.openxmlformats.org/officeDocument/2006/math">
                    <m:r>
                      <a:rPr lang="en-IN" sz="2400" i="1">
                        <a:solidFill>
                          <a:srgbClr val="111827"/>
                        </a:solidFill>
                        <a:latin typeface="Cambria Math" panose="02040503050406030204" pitchFamily="18" charset="0"/>
                      </a:rPr>
                      <m:t>49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64</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Area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center"/>
                                </m:mcPr>
                              </m:mc>
                              <m:mc>
                                <m:mcPr>
                                  <m:count m:val="1"/>
                                  <m:mcJc m:val="center"/>
                                </m:mcPr>
                              </m:mc>
                              <m:mc>
                                <m:mcPr>
                                  <m:count m:val="1"/>
                                  <m:mcJc m:val="center"/>
                                </m:mcPr>
                              </m:mc>
                            </m:mcs>
                            <m:ctrlPr>
                              <a:rPr lang="en-IN" sz="2400" i="1">
                                <a:solidFill>
                                  <a:srgbClr val="111827"/>
                                </a:solidFill>
                                <a:latin typeface="Cambria Math" panose="02040503050406030204" pitchFamily="18" charset="0"/>
                              </a:rPr>
                            </m:ctrlPr>
                          </m:mPr>
                          <m:mr>
                            <m:e>
                              <m:r>
                                <a:rPr lang="en-IN" sz="2400" i="1">
                                  <a:solidFill>
                                    <a:srgbClr val="111827"/>
                                  </a:solidFill>
                                  <a:latin typeface="Cambria Math" panose="02040503050406030204" pitchFamily="18" charset="0"/>
                                </a:rPr>
                                <m:t>1</m:t>
                              </m:r>
                            </m:e>
                            <m:e>
                              <m:r>
                                <a:rPr lang="en-IN" sz="2400" i="1">
                                  <a:solidFill>
                                    <a:srgbClr val="111827"/>
                                  </a:solidFill>
                                  <a:latin typeface="Cambria Math" panose="02040503050406030204" pitchFamily="18" charset="0"/>
                                </a:rPr>
                                <m:t>0</m:t>
                              </m:r>
                            </m:e>
                            <m:e>
                              <m:r>
                                <a:rPr lang="en-IN" sz="2400" i="1">
                                  <a:solidFill>
                                    <a:srgbClr val="111827"/>
                                  </a:solidFill>
                                  <a:latin typeface="Cambria Math" panose="02040503050406030204" pitchFamily="18" charset="0"/>
                                </a:rPr>
                                <m:t>0</m:t>
                              </m:r>
                            </m:e>
                          </m:mr>
                          <m:mr>
                            <m:e>
                              <m:r>
                                <a:rPr lang="en-IN" sz="2400" i="1">
                                  <a:solidFill>
                                    <a:srgbClr val="111827"/>
                                  </a:solidFill>
                                  <a:latin typeface="Cambria Math" panose="02040503050406030204" pitchFamily="18" charset="0"/>
                                </a:rPr>
                                <m:t>1</m:t>
                              </m:r>
                            </m:e>
                            <m:e>
                              <m:r>
                                <a:rPr lang="en-IN" sz="2400" i="1">
                                  <a:solidFill>
                                    <a:srgbClr val="111827"/>
                                  </a:solidFill>
                                  <a:latin typeface="Cambria Math" panose="02040503050406030204" pitchFamily="18" charset="0"/>
                                </a:rPr>
                                <m:t>1</m:t>
                              </m:r>
                            </m:e>
                            <m:e>
                              <m:r>
                                <a:rPr lang="en-IN" sz="2400" i="1">
                                  <a:solidFill>
                                    <a:srgbClr val="111827"/>
                                  </a:solidFill>
                                  <a:latin typeface="Cambria Math" panose="02040503050406030204" pitchFamily="18" charset="0"/>
                                </a:rPr>
                                <m:t>5</m:t>
                              </m:r>
                            </m:e>
                          </m:mr>
                          <m:mr>
                            <m:e>
                              <m:r>
                                <a:rPr lang="en-IN" sz="2400" i="1">
                                  <a:solidFill>
                                    <a:srgbClr val="111827"/>
                                  </a:solidFill>
                                  <a:latin typeface="Cambria Math" panose="02040503050406030204" pitchFamily="18" charset="0"/>
                                </a:rPr>
                                <m:t>1</m:t>
                              </m:r>
                            </m:e>
                            <m:e>
                              <m:r>
                                <a:rPr lang="en-IN" sz="2400" i="1">
                                  <a:solidFill>
                                    <a:srgbClr val="111827"/>
                                  </a:solidFill>
                                  <a:latin typeface="Cambria Math" panose="02040503050406030204" pitchFamily="18" charset="0"/>
                                </a:rPr>
                                <m:t>6</m:t>
                              </m:r>
                            </m:e>
                            <m:e>
                              <m:r>
                                <a:rPr lang="en-IN" sz="2400" i="1">
                                  <a:solidFill>
                                    <a:srgbClr val="111827"/>
                                  </a:solidFill>
                                  <a:latin typeface="Cambria Math" panose="02040503050406030204" pitchFamily="18" charset="0"/>
                                </a:rPr>
                                <m:t>4</m:t>
                              </m:r>
                            </m:e>
                          </m:mr>
                        </m:m>
                      </m:e>
                    </m:d>
                  </m:oMath>
                </a14:m>
                <a:r>
                  <a:rPr sz="2400" b="0">
                    <a:solidFill>
                      <a:srgbClr val="111827"/>
                    </a:solidFill>
                    <a:latin typeface="Arial"/>
                  </a:rPr>
                  <a:t>; the determinant is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Area of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𝑄</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Factor: </a:t>
                </a:r>
                <a:r>
                  <a:rPr lang="en-IN" sz="2400">
                    <a:solidFill>
                      <a:srgbClr val="111827"/>
                    </a:solidFill>
                    <a:latin typeface="Cambria Math" panose="02040503050406030204" pitchFamily="18" charset="0"/>
                  </a:rPr>
                  <a:t>$(h-1)\left(4h^2+7h+4\right)=0$</a:t>
                </a:r>
                <a:r>
                  <a:rPr sz="2400" b="0">
                    <a:solidFill>
                      <a:srgbClr val="111827"/>
                    </a:solidFill>
                    <a:latin typeface="Arial"/>
                  </a:rPr>
                  <a:t>; the quadratic has discriminant </a:t>
                </a:r>
                <a:r>
                  <a:rPr lang="en-IN" sz="2400">
                    <a:solidFill>
                      <a:srgbClr val="111827"/>
                    </a:solidFill>
                    <a:latin typeface="Cambria Math" panose="02040503050406030204" pitchFamily="18" charset="0"/>
                  </a:rPr>
                  <a:t>$49-64&lt;0$</a:t>
                </a:r>
                <a:r>
                  <a:rPr sz="2400" b="0">
                    <a:solidFill>
                      <a:srgbClr val="111827"/>
                    </a:solidFill>
                    <a:latin typeface="Arial"/>
                  </a:rPr>
                  <a:t>, so </a:t>
                </a:r>
                <a:r>
                  <a:rPr lang="en-IN" sz="2400">
                    <a:solidFill>
                      <a:srgbClr val="111827"/>
                    </a:solidFill>
                    <a:latin typeface="Cambria Math" panose="02040503050406030204" pitchFamily="18" charset="0"/>
                  </a:rPr>
                  <a:t>$h=1$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$k=2+1+2=5$</a:t>
                </a:r>
                <a:r>
                  <a:rPr sz="2400" b="0">
                    <a:solidFill>
                      <a:srgbClr val="111827"/>
                    </a:solidFill>
                    <a:latin typeface="Arial"/>
                  </a:rPr>
                  <a:t>, so </a:t>
                </a:r>
                <a:r>
                  <a:rPr lang="en-IN" sz="2400">
                    <a:solidFill>
                      <a:srgbClr val="111827"/>
                    </a:solidFill>
                    <a:latin typeface="Cambria Math" panose="02040503050406030204" pitchFamily="18" charset="0"/>
                  </a:rPr>
                  <a:t>$P=(1,5)$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Area </a:t>
                </a:r>
                <a:r>
                  <a:rPr lang="en-IN" sz="2400">
                    <a:solidFill>
                      <a:srgbClr val="111827"/>
                    </a:solidFill>
                    <a:latin typeface="Cambria Math" panose="02040503050406030204" pitchFamily="18" charset="0"/>
                  </a:rPr>
                  <a:t>$=\frac12\left|\begin{matrix}1&amp;0&amp;0\\1&amp;1&amp;5\\1&amp;6&amp;4\end{matrix}\right|$</a:t>
                </a:r>
                <a:r>
                  <a:rPr sz="2400" b="0">
                    <a:solidFill>
                      <a:srgbClr val="111827"/>
                    </a:solidFill>
                    <a:latin typeface="Arial"/>
                  </a:rPr>
                  <a:t>; the determinant is </a:t>
                </a:r>
                <a:r>
                  <a:rPr lang="en-IN" sz="2400">
                    <a:solidFill>
                      <a:srgbClr val="111827"/>
                    </a:solidFill>
                    <a:latin typeface="Cambria Math" panose="02040503050406030204" pitchFamily="18" charset="0"/>
                  </a:rPr>
                  <a:t>$1\cdot(4-30)=-26$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Area of </a:t>
                </a:r>
                <a:r>
                  <a:rPr lang="en-IN" sz="2400">
                    <a:solidFill>
                      <a:srgbClr val="111827"/>
                    </a:solidFill>
                    <a:latin typeface="Cambria Math" panose="02040503050406030204" pitchFamily="18" charset="0"/>
                  </a:rPr>
                  <a:t>$\triangle OPQ=\frac12|-26|=13$</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13</a:t>
            </a:r>
            <a:endParaRPr sz="2800">
              <a:solidFill>
                <a:srgbClr val="15803D"/>
              </a:solidFill>
            </a:endParaRP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Normals from </a:t>
                </a:r>
                <a14:m>
                  <m:oMath xmlns:m="http://schemas.openxmlformats.org/officeDocument/2006/math">
                    <m:r>
                      <a:rPr lang="en-IN" sz="2400" i="1">
                        <a:solidFill>
                          <a:srgbClr val="78350F"/>
                        </a:solidFill>
                        <a:latin typeface="Cambria Math" panose="02040503050406030204" pitchFamily="18" charset="0"/>
                      </a:rPr>
                      <m:t>𝑄</m:t>
                    </m:r>
                  </m:oMath>
                </a14:m>
                <a:r>
                  <a:rPr sz="2400" b="0">
                    <a:solidFill>
                      <a:srgbClr val="78350F"/>
                    </a:solidFill>
                    <a:latin typeface="Arial"/>
                  </a:rPr>
                  <a:t> to a curve correspond to stationary points of the squared distance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𝑃</m:t>
                    </m:r>
                    <m:r>
                      <a:rPr lang="en-IN" sz="2400" i="1">
                        <a:solidFill>
                          <a:srgbClr val="78350F"/>
                        </a:solidFill>
                        <a:latin typeface="Cambria Math" panose="02040503050406030204" pitchFamily="18" charset="0"/>
                      </a:rPr>
                      <m:t>𝑄</m:t>
                    </m:r>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Normals from </a:t>
                </a:r>
                <a:r>
                  <a:rPr lang="en-IN" sz="2400">
                    <a:solidFill>
                      <a:srgbClr val="78350F"/>
                    </a:solidFill>
                    <a:latin typeface="Cambria Math" panose="02040503050406030204" pitchFamily="18" charset="0"/>
                  </a:rPr>
                  <a:t>$Q$</a:t>
                </a:r>
                <a:r>
                  <a:rPr sz="2400" b="0">
                    <a:solidFill>
                      <a:srgbClr val="78350F"/>
                    </a:solidFill>
                    <a:latin typeface="Arial"/>
                  </a:rPr>
                  <a:t> to a curve correspond to stationary points of the squared distance </a:t>
                </a:r>
                <a:r>
                  <a:rPr lang="en-IN" sz="2400">
                    <a:solidFill>
                      <a:srgbClr val="78350F"/>
                    </a:solidFill>
                    <a:latin typeface="Cambria Math" panose="02040503050406030204" pitchFamily="18" charset="0"/>
                  </a:rPr>
                  <a:t>$|PQ|^2$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𝑄</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𝑄</m:t>
                    </m:r>
                  </m:oMath>
                </a14:m>
                <a:r>
                  <a:rPr sz="2400" b="0">
                    <a:solidFill>
                      <a:srgbClr val="111827"/>
                    </a:solidFill>
                    <a:latin typeface="Arial"/>
                  </a:rPr>
                  <a:t> lies along the normal exactly when </a:t>
                </a: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 is a stationary point of </a:t>
                </a:r>
                <a14:m>
                  <m:oMath xmlns:m="http://schemas.openxmlformats.org/officeDocument/2006/math">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𝑄</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e>
                        </m:d>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𝐷</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$P=(h,\,2h^2+h+2)$</a:t>
                </a:r>
                <a:r>
                  <a:rPr sz="2400" b="0">
                    <a:solidFill>
                      <a:srgbClr val="111827"/>
                    </a:solidFill>
                    <a:latin typeface="Arial"/>
                  </a:rPr>
                  <a:t> and </a:t>
                </a:r>
                <a:r>
                  <a:rPr lang="en-IN" sz="2400">
                    <a:solidFill>
                      <a:srgbClr val="111827"/>
                    </a:solidFill>
                    <a:latin typeface="Cambria Math" panose="02040503050406030204" pitchFamily="18" charset="0"/>
                  </a:rPr>
                  <a:t>$Q=(6,4)$</a:t>
                </a:r>
                <a:r>
                  <a:rPr sz="2400" b="0">
                    <a:solidFill>
                      <a:srgbClr val="111827"/>
                    </a:solidFill>
                    <a:latin typeface="Arial"/>
                  </a:rPr>
                  <a:t>; </a:t>
                </a:r>
                <a:r>
                  <a:rPr lang="en-IN" sz="2400">
                    <a:solidFill>
                      <a:srgbClr val="111827"/>
                    </a:solidFill>
                    <a:latin typeface="Cambria Math" panose="02040503050406030204" pitchFamily="18" charset="0"/>
                  </a:rPr>
                  <a:t>$PQ$</a:t>
                </a:r>
                <a:r>
                  <a:rPr sz="2400" b="0">
                    <a:solidFill>
                      <a:srgbClr val="111827"/>
                    </a:solidFill>
                    <a:latin typeface="Arial"/>
                  </a:rPr>
                  <a:t> lies along the normal exactly when </a:t>
                </a:r>
                <a:r>
                  <a:rPr lang="en-IN" sz="2400">
                    <a:solidFill>
                      <a:srgbClr val="111827"/>
                    </a:solidFill>
                    <a:latin typeface="Cambria Math" panose="02040503050406030204" pitchFamily="18" charset="0"/>
                  </a:rPr>
                  <a:t>$P$</a:t>
                </a:r>
                <a:r>
                  <a:rPr sz="2400" b="0">
                    <a:solidFill>
                      <a:srgbClr val="111827"/>
                    </a:solidFill>
                    <a:latin typeface="Arial"/>
                  </a:rPr>
                  <a:t> is a stationary point of </a:t>
                </a:r>
                <a:r>
                  <a:rPr lang="en-IN" sz="2400">
                    <a:solidFill>
                      <a:srgbClr val="111827"/>
                    </a:solidFill>
                    <a:latin typeface="Cambria Math" panose="02040503050406030204" pitchFamily="18" charset="0"/>
                  </a:rPr>
                  <a:t>$D=|PQ|^2$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$D=(h-6)^2+\left(2h^2+h-2\right)^2$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$D'(h)=2(h-6)+2\left(2h^2+h-2\right)(4h+1)=0$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Expand: </a:t>
                </a:r>
                <a14:m>
                  <m:oMath xmlns:m="http://schemas.openxmlformats.org/officeDocument/2006/math">
                    <m:r>
                      <a:rPr lang="en-IN" sz="2400" i="1">
                        <a:solidFill>
                          <a:srgbClr val="111827"/>
                        </a:solidFill>
                        <a:latin typeface="Cambria Math" panose="02040503050406030204" pitchFamily="18" charset="0"/>
                      </a:rPr>
                      <m:t>8</m:t>
                    </m:r>
                    <m:sSup>
                      <m:e>
                        <m:r>
                          <a:rPr lang="en-IN" sz="2400" i="1">
                            <a:solidFill>
                              <a:srgbClr val="111827"/>
                            </a:solidFill>
                            <a:latin typeface="Cambria Math" panose="02040503050406030204" pitchFamily="18" charset="0"/>
                          </a:rPr>
                          <m:t>ℎ</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sSup>
                      <m:e>
                        <m:r>
                          <a:rPr lang="en-IN" sz="2400" i="1">
                            <a:solidFill>
                              <a:srgbClr val="111827"/>
                            </a:solidFill>
                            <a:latin typeface="Cambria Math" panose="02040503050406030204" pitchFamily="18" charset="0"/>
                          </a:rPr>
                          <m:t>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ℎ</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(the quadratic factor has no real root).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area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𝑃</m:t>
                        </m:r>
                      </m:sub>
                    </m:sSub>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𝑄</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𝑄</m:t>
                        </m:r>
                      </m:sub>
                    </m:sSub>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𝑃</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Expand: </a:t>
                </a:r>
                <a:r>
                  <a:rPr lang="en-IN" sz="2400">
                    <a:solidFill>
                      <a:srgbClr val="111827"/>
                    </a:solidFill>
                    <a:latin typeface="Cambria Math" panose="02040503050406030204" pitchFamily="18" charset="0"/>
                  </a:rPr>
                  <a:t>$8h^3+6h^2-6h-8=0$</a:t>
                </a:r>
                <a:r>
                  <a:rPr sz="2400" b="0">
                    <a:solidFill>
                      <a:srgbClr val="111827"/>
                    </a:solidFill>
                    <a:latin typeface="Arial"/>
                  </a:rPr>
                  <a:t>, i.e. </a:t>
                </a:r>
                <a:r>
                  <a:rPr lang="en-IN" sz="2400">
                    <a:solidFill>
                      <a:srgbClr val="111827"/>
                    </a:solidFill>
                    <a:latin typeface="Cambria Math" panose="02040503050406030204" pitchFamily="18" charset="0"/>
                  </a:rPr>
                  <a:t>$4h^3+3h^2-3h-4=0$</a:t>
                </a:r>
                <a:r>
                  <a:rPr sz="2400" b="0">
                    <a:solidFill>
                      <a:srgbClr val="111827"/>
                    </a:solidFill>
                    <a:latin typeface="Arial"/>
                  </a:rPr>
                  <a:t>, so </a:t>
                </a:r>
                <a:r>
                  <a:rPr lang="en-IN" sz="2400">
                    <a:solidFill>
                      <a:srgbClr val="111827"/>
                    </a:solidFill>
                    <a:latin typeface="Cambria Math" panose="02040503050406030204" pitchFamily="18" charset="0"/>
                  </a:rPr>
                  <a:t>$h=1$</a:t>
                </a:r>
                <a:r>
                  <a:rPr sz="2400" b="0">
                    <a:solidFill>
                      <a:srgbClr val="111827"/>
                    </a:solidFill>
                    <a:latin typeface="Arial"/>
                  </a:rPr>
                  <a:t> (the quadratic factor has no real root).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$P=(1,5)$</a:t>
                </a:r>
                <a:r>
                  <a:rPr sz="2400" b="0">
                    <a:solidFill>
                      <a:srgbClr val="111827"/>
                    </a:solidFill>
                    <a:latin typeface="Arial"/>
                  </a:rPr>
                  <a:t>; area </a:t>
                </a:r>
                <a:r>
                  <a:rPr lang="en-IN" sz="2400">
                    <a:solidFill>
                      <a:srgbClr val="111827"/>
                    </a:solidFill>
                    <a:latin typeface="Cambria Math" panose="02040503050406030204" pitchFamily="18" charset="0"/>
                  </a:rPr>
                  <a:t>$=\frac12|x_Py_Q-x_Qy_P|=\frac12|1\cdot4-6\cdot5|=13$</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13</a:t>
            </a:r>
            <a:endParaRPr sz="2800">
              <a:solidFill>
                <a:srgbClr val="15803D"/>
              </a:solidFill>
            </a:endParaRP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normal passes through an external point </a:t>
                </a:r>
                <a14:m>
                  <m:oMath xmlns:m="http://schemas.openxmlformats.org/officeDocument/2006/math">
                    <m:r>
                      <a:rPr lang="en-IN" sz="2400" i="1">
                        <a:solidFill>
                          <a:srgbClr val="111827"/>
                        </a:solidFill>
                        <a:latin typeface="Cambria Math" panose="02040503050406030204" pitchFamily="18" charset="0"/>
                      </a:rPr>
                      <m:t>𝑄</m:t>
                    </m:r>
                  </m:oMath>
                </a14:m>
                <a:r>
                  <a:rPr sz="2400" b="0">
                    <a:solidFill>
                      <a:srgbClr val="111827"/>
                    </a:solidFill>
                    <a:latin typeface="Arial"/>
                  </a:rPr>
                  <a:t> iff the foot </a:t>
                </a: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 is a stationary point of the distance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𝑄</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from </a:t>
                </a:r>
                <a14:m>
                  <m:oMath xmlns:m="http://schemas.openxmlformats.org/officeDocument/2006/math">
                    <m:r>
                      <a:rPr lang="en-IN" sz="2400" i="1">
                        <a:solidFill>
                          <a:srgbClr val="111827"/>
                        </a:solidFill>
                        <a:latin typeface="Cambria Math" panose="02040503050406030204" pitchFamily="18" charset="0"/>
                      </a:rPr>
                      <m:t>𝑄</m:t>
                    </m:r>
                  </m:oMath>
                </a14:m>
                <a:r>
                  <a:rPr sz="2400" b="0">
                    <a:solidFill>
                      <a:srgbClr val="111827"/>
                    </a:solidFill>
                    <a:latin typeface="Arial"/>
                  </a:rPr>
                  <a:t> to the curve.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Normal to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 point on it gives a polynomial in </a:t>
                </a:r>
                <a14:m>
                  <m:oMath xmlns:m="http://schemas.openxmlformats.org/officeDocument/2006/math">
                    <m:r>
                      <a:rPr lang="en-IN" sz="2400" i="1">
                        <a:solidFill>
                          <a:srgbClr val="111827"/>
                        </a:solidFill>
                        <a:latin typeface="Cambria Math" panose="02040503050406030204" pitchFamily="18" charset="0"/>
                      </a:rPr>
                      <m:t>ℎ</m:t>
                    </m:r>
                  </m:oMath>
                </a14:m>
                <a:r>
                  <a:rPr sz="2400" b="0">
                    <a:solidFill>
                      <a:srgbClr val="111827"/>
                    </a:solidFill>
                    <a:latin typeface="Arial"/>
                  </a:rPr>
                  <a:t> - always test </a:t>
                </a:r>
                <a14:m>
                  <m:oMath xmlns:m="http://schemas.openxmlformats.org/officeDocument/2006/math">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first.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Area of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𝑄</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𝑃</m:t>
                        </m:r>
                      </m:sub>
                    </m:sSub>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𝑄</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𝑄</m:t>
                        </m:r>
                      </m:sub>
                    </m:sSub>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𝑃</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for the origin vertex.</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parabola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has 1 or 3 normals through a point depending on its position (a cubic in the foot parameter).</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normal passes through an external point </a:t>
                </a:r>
                <a:r>
                  <a:rPr lang="en-IN" sz="2400">
                    <a:solidFill>
                      <a:srgbClr val="111827"/>
                    </a:solidFill>
                    <a:latin typeface="Cambria Math" panose="02040503050406030204" pitchFamily="18" charset="0"/>
                  </a:rPr>
                  <a:t>$Q$</a:t>
                </a:r>
                <a:r>
                  <a:rPr sz="2400" b="0">
                    <a:solidFill>
                      <a:srgbClr val="111827"/>
                    </a:solidFill>
                    <a:latin typeface="Arial"/>
                  </a:rPr>
                  <a:t> iff the foot </a:t>
                </a:r>
                <a:r>
                  <a:rPr lang="en-IN" sz="2400">
                    <a:solidFill>
                      <a:srgbClr val="111827"/>
                    </a:solidFill>
                    <a:latin typeface="Cambria Math" panose="02040503050406030204" pitchFamily="18" charset="0"/>
                  </a:rPr>
                  <a:t>$P$</a:t>
                </a:r>
                <a:r>
                  <a:rPr sz="2400" b="0">
                    <a:solidFill>
                      <a:srgbClr val="111827"/>
                    </a:solidFill>
                    <a:latin typeface="Arial"/>
                  </a:rPr>
                  <a:t> is a stationary point of the distance </a:t>
                </a:r>
                <a:r>
                  <a:rPr lang="en-IN" sz="2400">
                    <a:solidFill>
                      <a:srgbClr val="111827"/>
                    </a:solidFill>
                    <a:latin typeface="Cambria Math" panose="02040503050406030204" pitchFamily="18" charset="0"/>
                  </a:rPr>
                  <a:t>$|PQ|$</a:t>
                </a:r>
                <a:r>
                  <a:rPr sz="2400" b="0">
                    <a:solidFill>
                      <a:srgbClr val="111827"/>
                    </a:solidFill>
                    <a:latin typeface="Arial"/>
                  </a:rPr>
                  <a:t> from </a:t>
                </a:r>
                <a:r>
                  <a:rPr lang="en-IN" sz="2400">
                    <a:solidFill>
                      <a:srgbClr val="111827"/>
                    </a:solidFill>
                    <a:latin typeface="Cambria Math" panose="02040503050406030204" pitchFamily="18" charset="0"/>
                  </a:rPr>
                  <a:t>$Q$</a:t>
                </a:r>
                <a:r>
                  <a:rPr sz="2400" b="0">
                    <a:solidFill>
                      <a:srgbClr val="111827"/>
                    </a:solidFill>
                    <a:latin typeface="Arial"/>
                  </a:rPr>
                  <a:t> to the curve.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Normal to </a:t>
                </a:r>
                <a:r>
                  <a:rPr lang="en-IN" sz="2400">
                    <a:solidFill>
                      <a:srgbClr val="111827"/>
                    </a:solidFill>
                    <a:latin typeface="Cambria Math" panose="02040503050406030204" pitchFamily="18" charset="0"/>
                  </a:rPr>
                  <a:t>$y=f(x)$</a:t>
                </a:r>
                <a:r>
                  <a:rPr sz="2400" b="0">
                    <a:solidFill>
                      <a:srgbClr val="111827"/>
                    </a:solidFill>
                    <a:latin typeface="Arial"/>
                  </a:rPr>
                  <a:t> at </a:t>
                </a:r>
                <a:r>
                  <a:rPr lang="en-IN" sz="2400">
                    <a:solidFill>
                      <a:srgbClr val="111827"/>
                    </a:solidFill>
                    <a:latin typeface="Cambria Math" panose="02040503050406030204" pitchFamily="18" charset="0"/>
                  </a:rPr>
                  <a:t>$x=h$</a:t>
                </a:r>
                <a:r>
                  <a:rPr sz="2400" b="0">
                    <a:solidFill>
                      <a:srgbClr val="111827"/>
                    </a:solidFill>
                    <a:latin typeface="Arial"/>
                  </a:rPr>
                  <a:t>: </a:t>
                </a:r>
                <a:r>
                  <a:rPr lang="en-IN" sz="2400">
                    <a:solidFill>
                      <a:srgbClr val="111827"/>
                    </a:solidFill>
                    <a:latin typeface="Cambria Math" panose="02040503050406030204" pitchFamily="18" charset="0"/>
                  </a:rPr>
                  <a:t>$y-f(h)=-\frac{1}{f'(h)}(x-h)$</a:t>
                </a:r>
                <a:r>
                  <a:rPr sz="2400" b="0">
                    <a:solidFill>
                      <a:srgbClr val="111827"/>
                    </a:solidFill>
                    <a:latin typeface="Arial"/>
                  </a:rPr>
                  <a:t>; a point on it gives a polynomial in </a:t>
                </a:r>
                <a:r>
                  <a:rPr lang="en-IN" sz="2400">
                    <a:solidFill>
                      <a:srgbClr val="111827"/>
                    </a:solidFill>
                    <a:latin typeface="Cambria Math" panose="02040503050406030204" pitchFamily="18" charset="0"/>
                  </a:rPr>
                  <a:t>$h$</a:t>
                </a:r>
                <a:r>
                  <a:rPr sz="2400" b="0">
                    <a:solidFill>
                      <a:srgbClr val="111827"/>
                    </a:solidFill>
                    <a:latin typeface="Arial"/>
                  </a:rPr>
                  <a:t> - always test </a:t>
                </a:r>
                <a:r>
                  <a:rPr lang="en-IN" sz="2400">
                    <a:solidFill>
                      <a:srgbClr val="111827"/>
                    </a:solidFill>
                    <a:latin typeface="Cambria Math" panose="02040503050406030204" pitchFamily="18" charset="0"/>
                  </a:rPr>
                  <a:t>$h=\pm1,\pm2$</a:t>
                </a:r>
                <a:r>
                  <a:rPr sz="2400" b="0">
                    <a:solidFill>
                      <a:srgbClr val="111827"/>
                    </a:solidFill>
                    <a:latin typeface="Arial"/>
                  </a:rPr>
                  <a:t> first.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Area of </a:t>
                </a:r>
                <a:r>
                  <a:rPr lang="en-IN" sz="2400">
                    <a:solidFill>
                      <a:srgbClr val="111827"/>
                    </a:solidFill>
                    <a:latin typeface="Cambria Math" panose="02040503050406030204" pitchFamily="18" charset="0"/>
                  </a:rPr>
                  <a:t>$\triangle OPQ=\frac12|x_Py_Q-x_Qy_P|$</a:t>
                </a:r>
                <a:r>
                  <a:rPr sz="2400" b="0">
                    <a:solidFill>
                      <a:srgbClr val="111827"/>
                    </a:solidFill>
                    <a:latin typeface="Arial"/>
                  </a:rPr>
                  <a:t> for the origin vertex.</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parabola </a:t>
                </a:r>
                <a:r>
                  <a:rPr lang="en-IN" sz="2400">
                    <a:solidFill>
                      <a:srgbClr val="111827"/>
                    </a:solidFill>
                    <a:latin typeface="Cambria Math" panose="02040503050406030204" pitchFamily="18" charset="0"/>
                  </a:rPr>
                  <a:t>$y=ax^2+bx+c$</a:t>
                </a:r>
                <a:r>
                  <a:rPr sz="2400" b="0">
                    <a:solidFill>
                      <a:srgbClr val="111827"/>
                    </a:solidFill>
                    <a:latin typeface="Arial"/>
                  </a:rPr>
                  <a:t> has 1 or 3 normals through a point depending on its position (a cubic in the foot parameter).</a:t>
                </a:r>
                <a:endParaRPr sz="2400">
                  <a:solidFill>
                    <a:srgbClr val="111827"/>
                  </a:solidFill>
                </a:endParaRPr>
              </a:p>
            </p:txBody>
          </p:sp>
        </mc:Fallback>
      </mc:AlternateContent>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005836"/>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For the function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b>
                      <m:e>
                        <m:r>
                          <m:rPr>
                            <m:sty m:val="p"/>
                          </m:rPr>
                          <a:rPr lang="en-IN" sz="2400">
                            <a:solidFill>
                              <a:srgbClr val="111827"/>
                            </a:solidFill>
                            <a:latin typeface="Cambria Math" panose="02040503050406030204" pitchFamily="18" charset="0"/>
                          </a:rPr>
                          <m:t>log</m:t>
                        </m:r>
                      </m:e>
                      <m:sub>
                        <m:r>
                          <a:rPr lang="en-IN" sz="2400" i="1">
                            <a:solidFill>
                              <a:srgbClr val="111827"/>
                            </a:solidFill>
                            <a:latin typeface="Cambria Math" panose="02040503050406030204" pitchFamily="18" charset="0"/>
                          </a:rPr>
                          <m:t>𝑒</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1</m:t>
                    </m:r>
                  </m:oMath>
                </a14:m>
                <a:r>
                  <a:rPr sz="2400" b="0">
                    <a:solidFill>
                      <a:srgbClr val="111827"/>
                    </a:solidFill>
                    <a:latin typeface="Arial"/>
                  </a:rPr>
                  <a:t>, which one of the following is NOT correct?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is increasing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decreasing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(B)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has exactly two solutions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(D)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has a root in the interval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endParaRPr sz="2400">
                  <a:solidFill>
                    <a:srgbClr val="111827"/>
                  </a:solidFill>
                </a:endParaRPr>
              </a:p>
            </p:txBody>
          </p:sp>
        </mc:Choice>
        <mc:Fallback>
          <p:sp>
            <p:nvSpPr>
              <p:cNvPr id="4" name="Rounded Rectangle 3"/>
              <p:cNvSpPr/>
              <p:nvPr/>
            </p:nvSpPr>
            <p:spPr>
              <a:xfrm>
                <a:off x="731520" y="1280160"/>
                <a:ext cx="10725912" cy="3005836"/>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For the function </a:t>
                </a:r>
                <a:r>
                  <a:rPr lang="en-IN" sz="2400">
                    <a:solidFill>
                      <a:srgbClr val="111827"/>
                    </a:solidFill>
                    <a:latin typeface="Cambria Math" panose="02040503050406030204" pitchFamily="18" charset="0"/>
                  </a:rPr>
                  <a:t>$f(x)=4\log_e(x-1)-2x^2+4x+5$</a:t>
                </a:r>
                <a:r>
                  <a:rPr sz="2400" b="0">
                    <a:solidFill>
                      <a:srgbClr val="111827"/>
                    </a:solidFill>
                    <a:latin typeface="Arial"/>
                  </a:rPr>
                  <a:t>, </a:t>
                </a:r>
                <a:r>
                  <a:rPr lang="en-IN" sz="2400">
                    <a:solidFill>
                      <a:srgbClr val="111827"/>
                    </a:solidFill>
                    <a:latin typeface="Cambria Math" panose="02040503050406030204" pitchFamily="18" charset="0"/>
                  </a:rPr>
                  <a:t>$x&gt;1$</a:t>
                </a:r>
                <a:r>
                  <a:rPr sz="2400" b="0">
                    <a:solidFill>
                      <a:srgbClr val="111827"/>
                    </a:solidFill>
                    <a:latin typeface="Arial"/>
                  </a:rPr>
                  <a:t>, which one of the following is NOT correct?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$f$</a:t>
                </a:r>
                <a:r>
                  <a:rPr sz="2400" b="0">
                    <a:solidFill>
                      <a:srgbClr val="111827"/>
                    </a:solidFill>
                    <a:latin typeface="Arial"/>
                  </a:rPr>
                  <a:t> is increasing in </a:t>
                </a:r>
                <a:r>
                  <a:rPr lang="en-IN" sz="2400">
                    <a:solidFill>
                      <a:srgbClr val="111827"/>
                    </a:solidFill>
                    <a:latin typeface="Cambria Math" panose="02040503050406030204" pitchFamily="18" charset="0"/>
                  </a:rPr>
                  <a:t>$(1,2)$</a:t>
                </a:r>
                <a:r>
                  <a:rPr sz="2400" b="0">
                    <a:solidFill>
                      <a:srgbClr val="111827"/>
                    </a:solidFill>
                    <a:latin typeface="Arial"/>
                  </a:rPr>
                  <a:t> and decreasing in </a:t>
                </a:r>
                <a:r>
                  <a:rPr lang="en-IN" sz="2400">
                    <a:solidFill>
                      <a:srgbClr val="111827"/>
                    </a:solidFill>
                    <a:latin typeface="Cambria Math" panose="02040503050406030204" pitchFamily="18" charset="0"/>
                  </a:rPr>
                  <a:t>$(2,\infty)$</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a:t>
                </a:r>
                <a:r>
                  <a:rPr lang="en-IN" sz="2400">
                    <a:solidFill>
                      <a:srgbClr val="111827"/>
                    </a:solidFill>
                    <a:latin typeface="Cambria Math" panose="02040503050406030204" pitchFamily="18" charset="0"/>
                  </a:rPr>
                  <a:t>$f(x)=-1$</a:t>
                </a:r>
                <a:r>
                  <a:rPr sz="2400" b="0">
                    <a:solidFill>
                      <a:srgbClr val="111827"/>
                    </a:solidFill>
                    <a:latin typeface="Arial"/>
                  </a:rPr>
                  <a:t> has exactly two solutions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a:t>
                </a:r>
                <a:r>
                  <a:rPr lang="en-IN" sz="2400">
                    <a:solidFill>
                      <a:srgbClr val="111827"/>
                    </a:solidFill>
                    <a:latin typeface="Cambria Math" panose="02040503050406030204" pitchFamily="18" charset="0"/>
                  </a:rPr>
                  <a:t>$f'(e)-f''(2)&lt;0$</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a:t>
                </a:r>
                <a:r>
                  <a:rPr lang="en-IN" sz="2400">
                    <a:solidFill>
                      <a:srgbClr val="111827"/>
                    </a:solidFill>
                    <a:latin typeface="Cambria Math" panose="02040503050406030204" pitchFamily="18" charset="0"/>
                  </a:rPr>
                  <a:t>$f(x)=0$</a:t>
                </a:r>
                <a:r>
                  <a:rPr sz="2400" b="0">
                    <a:solidFill>
                      <a:srgbClr val="111827"/>
                    </a:solidFill>
                    <a:latin typeface="Arial"/>
                  </a:rPr>
                  <a:t> has a root in the interval </a:t>
                </a:r>
                <a:r>
                  <a:rPr lang="en-IN" sz="2400">
                    <a:solidFill>
                      <a:srgbClr val="111827"/>
                    </a:solidFill>
                    <a:latin typeface="Cambria Math" panose="02040503050406030204" pitchFamily="18" charset="0"/>
                  </a:rPr>
                  <a:t>$(e,e+1)$</a:t>
                </a:r>
                <a:endParaRPr sz="2400">
                  <a:solidFill>
                    <a:srgbClr val="111827"/>
                  </a:solidFill>
                </a:endParaRPr>
              </a:p>
            </p:txBody>
          </p:sp>
        </mc:Fallback>
      </mc:AlternateContent>
      <p:sp>
        <p:nvSpPr>
          <p:cNvPr id="5" name="Rectangle 4"/>
          <p:cNvSpPr/>
          <p:nvPr/>
        </p:nvSpPr>
        <p:spPr>
          <a:xfrm>
            <a:off x="731520" y="4514596"/>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Monotonicity and graph of a function (roots, extrema)</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sSup>
                      <m:e>
                        <m:r>
                          <a:rPr lang="en-IN" sz="2400" i="1">
                            <a:solidFill>
                              <a:srgbClr val="78350F"/>
                            </a:solidFill>
                            <a:latin typeface="Cambria Math" panose="02040503050406030204" pitchFamily="18" charset="0"/>
                          </a:rPr>
                          <m:t>𝑓</m:t>
                        </m:r>
                      </m:e>
                      <m:sup>
                        <m:r>
                          <m:rPr>
                            <m:sty m:val="p"/>
                          </m:rPr>
                          <a:rPr lang="en-IN" sz="2400">
                            <a:solidFill>
                              <a:srgbClr val="78350F"/>
                            </a:solidFill>
                            <a:latin typeface="Cambria Math" panose="02040503050406030204" pitchFamily="18" charset="0"/>
                          </a:rPr>
                          <m:t>′</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4</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num>
                      <m:den>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den>
                    </m:f>
                  </m:oMath>
                </a14:m>
                <a:r>
                  <a:rPr sz="2400" b="0">
                    <a:solidFill>
                      <a:srgbClr val="78350F"/>
                    </a:solidFill>
                    <a:latin typeface="Arial"/>
                  </a:rPr>
                  <a:t> gives a single maximum at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oMath>
                </a14:m>
                <a:r>
                  <a:rPr sz="2400" b="0">
                    <a:solidFill>
                      <a:srgbClr val="78350F"/>
                    </a:solidFill>
                    <a:latin typeface="Arial"/>
                  </a:rPr>
                  <a:t>, which decides every option.</a:t>
                </a:r>
                <a:endParaRPr sz="2400">
                  <a:solidFill>
                    <a:srgbClr val="78350F"/>
                  </a:solidFill>
                </a:endParaRPr>
              </a:p>
            </p:txBody>
          </p:sp>
        </mc:Choice>
        <mc:Fallback>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$f'(x)=\frac{-4x(x-2)}{x-1}$</a:t>
                </a:r>
                <a:r>
                  <a:rPr sz="2400" b="0">
                    <a:solidFill>
                      <a:srgbClr val="78350F"/>
                    </a:solidFill>
                    <a:latin typeface="Arial"/>
                  </a:rPr>
                  <a:t> gives a single maximum at </a:t>
                </a:r>
                <a:r>
                  <a:rPr lang="en-IN" sz="2400">
                    <a:solidFill>
                      <a:srgbClr val="78350F"/>
                    </a:solidFill>
                    <a:latin typeface="Cambria Math" panose="02040503050406030204" pitchFamily="18" charset="0"/>
                  </a:rPr>
                  <a:t>$x=2$</a:t>
                </a:r>
                <a:r>
                  <a:rPr sz="2400" b="0">
                    <a:solidFill>
                      <a:srgbClr val="78350F"/>
                    </a:solidFill>
                    <a:latin typeface="Arial"/>
                  </a:rPr>
                  <a:t>, which decides every option.</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1</m:t>
                    </m:r>
                  </m:oMath>
                </a14:m>
                <a:r>
                  <a:rPr sz="2400" b="0">
                    <a:solidFill>
                      <a:srgbClr val="111827"/>
                    </a:solidFill>
                    <a:latin typeface="Arial"/>
                  </a:rPr>
                  <a:t> the factors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are positive, so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 is true.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Maximum value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also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and as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14:m>
                  <m:oMath xmlns:m="http://schemas.openxmlformats.org/officeDocument/2006/math">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&gt;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is strictly monotonic on each side of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has exactly one root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one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(B) is true.</a:t>
                </a:r>
                <a:endParaRPr sz="2400">
                  <a:solidFill>
                    <a:srgbClr val="111827"/>
                  </a:solidFill>
                </a:endParaRPr>
              </a:p>
            </p:txBody>
          </p:sp>
        </mc:Choice>
        <mc:Fallback>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$f'(x)=\frac{4}{x-1}-4x+4=\frac{4-4(x-1)^2}{x-1}=-\frac{4x(x-2)}{x-1}$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$x&gt;1$</a:t>
                </a:r>
                <a:r>
                  <a:rPr sz="2400" b="0">
                    <a:solidFill>
                      <a:srgbClr val="111827"/>
                    </a:solidFill>
                    <a:latin typeface="Arial"/>
                  </a:rPr>
                  <a:t> the factors </a:t>
                </a:r>
                <a:r>
                  <a:rPr lang="en-IN" sz="2400">
                    <a:solidFill>
                      <a:srgbClr val="111827"/>
                    </a:solidFill>
                    <a:latin typeface="Cambria Math" panose="02040503050406030204" pitchFamily="18" charset="0"/>
                  </a:rPr>
                  <a:t>$x$</a:t>
                </a:r>
                <a:r>
                  <a:rPr sz="2400" b="0">
                    <a:solidFill>
                      <a:srgbClr val="111827"/>
                    </a:solidFill>
                    <a:latin typeface="Arial"/>
                  </a:rPr>
                  <a:t> and </a:t>
                </a:r>
                <a:r>
                  <a:rPr lang="en-IN" sz="2400">
                    <a:solidFill>
                      <a:srgbClr val="111827"/>
                    </a:solidFill>
                    <a:latin typeface="Cambria Math" panose="02040503050406030204" pitchFamily="18" charset="0"/>
                  </a:rPr>
                  <a:t>$x-1$</a:t>
                </a:r>
                <a:r>
                  <a:rPr sz="2400" b="0">
                    <a:solidFill>
                      <a:srgbClr val="111827"/>
                    </a:solidFill>
                    <a:latin typeface="Arial"/>
                  </a:rPr>
                  <a:t> are positive, so </a:t>
                </a:r>
                <a:r>
                  <a:rPr lang="en-IN" sz="2400">
                    <a:solidFill>
                      <a:srgbClr val="111827"/>
                    </a:solidFill>
                    <a:latin typeface="Cambria Math" panose="02040503050406030204" pitchFamily="18" charset="0"/>
                  </a:rPr>
                  <a:t>$f'&gt;0$</a:t>
                </a:r>
                <a:r>
                  <a:rPr sz="2400" b="0">
                    <a:solidFill>
                      <a:srgbClr val="111827"/>
                    </a:solidFill>
                    <a:latin typeface="Arial"/>
                  </a:rPr>
                  <a:t> on </a:t>
                </a:r>
                <a:r>
                  <a:rPr lang="en-IN" sz="2400">
                    <a:solidFill>
                      <a:srgbClr val="111827"/>
                    </a:solidFill>
                    <a:latin typeface="Cambria Math" panose="02040503050406030204" pitchFamily="18" charset="0"/>
                  </a:rPr>
                  <a:t>$(1,2)$</a:t>
                </a:r>
                <a:r>
                  <a:rPr sz="2400" b="0">
                    <a:solidFill>
                      <a:srgbClr val="111827"/>
                    </a:solidFill>
                    <a:latin typeface="Arial"/>
                  </a:rPr>
                  <a:t> and </a:t>
                </a:r>
                <a:r>
                  <a:rPr lang="en-IN" sz="2400">
                    <a:solidFill>
                      <a:srgbClr val="111827"/>
                    </a:solidFill>
                    <a:latin typeface="Cambria Math" panose="02040503050406030204" pitchFamily="18" charset="0"/>
                  </a:rPr>
                  <a:t>$f'&lt;0$</a:t>
                </a:r>
                <a:r>
                  <a:rPr sz="2400" b="0">
                    <a:solidFill>
                      <a:srgbClr val="111827"/>
                    </a:solidFill>
                    <a:latin typeface="Arial"/>
                  </a:rPr>
                  <a:t> on </a:t>
                </a:r>
                <a:r>
                  <a:rPr lang="en-IN" sz="2400">
                    <a:solidFill>
                      <a:srgbClr val="111827"/>
                    </a:solidFill>
                    <a:latin typeface="Cambria Math" panose="02040503050406030204" pitchFamily="18" charset="0"/>
                  </a:rPr>
                  <a:t>$(2,\infty)$</a:t>
                </a:r>
                <a:r>
                  <a:rPr sz="2400" b="0">
                    <a:solidFill>
                      <a:srgbClr val="111827"/>
                    </a:solidFill>
                    <a:latin typeface="Arial"/>
                  </a:rPr>
                  <a:t>: (A) is true.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Maximum value </a:t>
                </a:r>
                <a:r>
                  <a:rPr lang="en-IN" sz="2400">
                    <a:solidFill>
                      <a:srgbClr val="111827"/>
                    </a:solidFill>
                    <a:latin typeface="Cambria Math" panose="02040503050406030204" pitchFamily="18" charset="0"/>
                  </a:rPr>
                  <a:t>$f(2)=0-8+8+5=5$</a:t>
                </a:r>
                <a:r>
                  <a:rPr sz="2400" b="0">
                    <a:solidFill>
                      <a:srgbClr val="111827"/>
                    </a:solidFill>
                    <a:latin typeface="Arial"/>
                  </a:rPr>
                  <a:t>; also </a:t>
                </a:r>
                <a:r>
                  <a:rPr lang="en-IN" sz="2400">
                    <a:solidFill>
                      <a:srgbClr val="111827"/>
                    </a:solidFill>
                    <a:latin typeface="Cambria Math" panose="02040503050406030204" pitchFamily="18" charset="0"/>
                  </a:rPr>
                  <a:t>$f\to-\infty$</a:t>
                </a:r>
                <a:r>
                  <a:rPr sz="2400" b="0">
                    <a:solidFill>
                      <a:srgbClr val="111827"/>
                    </a:solidFill>
                    <a:latin typeface="Arial"/>
                  </a:rPr>
                  <a:t> as </a:t>
                </a:r>
                <a:r>
                  <a:rPr lang="en-IN" sz="2400">
                    <a:solidFill>
                      <a:srgbClr val="111827"/>
                    </a:solidFill>
                    <a:latin typeface="Cambria Math" panose="02040503050406030204" pitchFamily="18" charset="0"/>
                  </a:rPr>
                  <a:t>$x\to1^+$</a:t>
                </a:r>
                <a:r>
                  <a:rPr sz="2400" b="0">
                    <a:solidFill>
                      <a:srgbClr val="111827"/>
                    </a:solidFill>
                    <a:latin typeface="Arial"/>
                  </a:rPr>
                  <a:t> and as </a:t>
                </a:r>
                <a:r>
                  <a:rPr lang="en-IN" sz="2400">
                    <a:solidFill>
                      <a:srgbClr val="111827"/>
                    </a:solidFill>
                    <a:latin typeface="Cambria Math" panose="02040503050406030204" pitchFamily="18" charset="0"/>
                  </a:rPr>
                  <a:t>$x\to\infty$</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r>
                  <a:rPr lang="en-IN" sz="2400">
                    <a:solidFill>
                      <a:srgbClr val="111827"/>
                    </a:solidFill>
                    <a:latin typeface="Cambria Math" panose="02040503050406030204" pitchFamily="18" charset="0"/>
                  </a:rPr>
                  <a:t>$5&gt;-1$</a:t>
                </a:r>
                <a:r>
                  <a:rPr sz="2400" b="0">
                    <a:solidFill>
                      <a:srgbClr val="111827"/>
                    </a:solidFill>
                    <a:latin typeface="Arial"/>
                  </a:rPr>
                  <a:t> and </a:t>
                </a:r>
                <a:r>
                  <a:rPr lang="en-IN" sz="2400">
                    <a:solidFill>
                      <a:srgbClr val="111827"/>
                    </a:solidFill>
                    <a:latin typeface="Cambria Math" panose="02040503050406030204" pitchFamily="18" charset="0"/>
                  </a:rPr>
                  <a:t>$f$</a:t>
                </a:r>
                <a:r>
                  <a:rPr sz="2400" b="0">
                    <a:solidFill>
                      <a:srgbClr val="111827"/>
                    </a:solidFill>
                    <a:latin typeface="Arial"/>
                  </a:rPr>
                  <a:t> is strictly monotonic on each side of </a:t>
                </a:r>
                <a:r>
                  <a:rPr lang="en-IN" sz="2400">
                    <a:solidFill>
                      <a:srgbClr val="111827"/>
                    </a:solidFill>
                    <a:latin typeface="Cambria Math" panose="02040503050406030204" pitchFamily="18" charset="0"/>
                  </a:rPr>
                  <a:t>$2$</a:t>
                </a:r>
                <a:r>
                  <a:rPr sz="2400" b="0">
                    <a:solidFill>
                      <a:srgbClr val="111827"/>
                    </a:solidFill>
                    <a:latin typeface="Arial"/>
                  </a:rPr>
                  <a:t>, </a:t>
                </a:r>
                <a:r>
                  <a:rPr lang="en-IN" sz="2400">
                    <a:solidFill>
                      <a:srgbClr val="111827"/>
                    </a:solidFill>
                    <a:latin typeface="Cambria Math" panose="02040503050406030204" pitchFamily="18" charset="0"/>
                  </a:rPr>
                  <a:t>$f(x)=-1$</a:t>
                </a:r>
                <a:r>
                  <a:rPr sz="2400" b="0">
                    <a:solidFill>
                      <a:srgbClr val="111827"/>
                    </a:solidFill>
                    <a:latin typeface="Arial"/>
                  </a:rPr>
                  <a:t> has exactly one root in </a:t>
                </a:r>
                <a:r>
                  <a:rPr lang="en-IN" sz="2400">
                    <a:solidFill>
                      <a:srgbClr val="111827"/>
                    </a:solidFill>
                    <a:latin typeface="Cambria Math" panose="02040503050406030204" pitchFamily="18" charset="0"/>
                  </a:rPr>
                  <a:t>$(1,2)$</a:t>
                </a:r>
                <a:r>
                  <a:rPr sz="2400" b="0">
                    <a:solidFill>
                      <a:srgbClr val="111827"/>
                    </a:solidFill>
                    <a:latin typeface="Arial"/>
                  </a:rPr>
                  <a:t> and one in </a:t>
                </a:r>
                <a:r>
                  <a:rPr lang="en-IN" sz="2400">
                    <a:solidFill>
                      <a:srgbClr val="111827"/>
                    </a:solidFill>
                    <a:latin typeface="Cambria Math" panose="02040503050406030204" pitchFamily="18" charset="0"/>
                  </a:rPr>
                  <a:t>$(2,\infty)$</a:t>
                </a:r>
                <a:r>
                  <a:rPr sz="2400" b="0">
                    <a:solidFill>
                      <a:srgbClr val="111827"/>
                    </a:solidFill>
                    <a:latin typeface="Arial"/>
                  </a:rPr>
                  <a:t>: (B) is true.</a:t>
                </a:r>
                <a:endParaRPr sz="2400">
                  <a:solidFill>
                    <a:srgbClr val="111827"/>
                  </a:solidFill>
                </a:endParaRPr>
              </a:p>
            </p:txBody>
          </p:sp>
        </mc:Fallback>
      </mc:AlternateContent>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2.33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6.87</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4.55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4.55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3.45</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so (C) is false.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ln</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3.26</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while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3.78</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so a root lies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(D) is true.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statement that is NOT correct is (C).</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$f''(x)=-\frac{4}{(x-1)^2}-4$</a:t>
                </a:r>
                <a:r>
                  <a:rPr sz="2400" b="0">
                    <a:solidFill>
                      <a:srgbClr val="111827"/>
                    </a:solidFill>
                    <a:latin typeface="Arial"/>
                  </a:rPr>
                  <a:t>, so </a:t>
                </a:r>
                <a:r>
                  <a:rPr lang="en-IN" sz="2400">
                    <a:solidFill>
                      <a:srgbClr val="111827"/>
                    </a:solidFill>
                    <a:latin typeface="Cambria Math" panose="02040503050406030204" pitchFamily="18" charset="0"/>
                  </a:rPr>
                  <a:t>$f''(2)=-8$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$f'(e)=\frac{4}{e-1}-4(e-1)\approx2.33-6.87=-4.55$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$f'(e)-f''(2)\approx-4.55+8=3.45&gt;0$</a:t>
                </a:r>
                <a:r>
                  <a:rPr sz="2400" b="0">
                    <a:solidFill>
                      <a:srgbClr val="111827"/>
                    </a:solidFill>
                    <a:latin typeface="Arial"/>
                  </a:rPr>
                  <a:t>, so (C) is false.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 </a:t>
                </a:r>
                <a:r>
                  <a:rPr lang="en-IN" sz="2400">
                    <a:solidFill>
                      <a:srgbClr val="111827"/>
                    </a:solidFill>
                    <a:latin typeface="Cambria Math" panose="02040503050406030204" pitchFamily="18" charset="0"/>
                  </a:rPr>
                  <a:t>$f(e)=4\ln(e-1)-2e^2+4e+5\approx3.26&gt;0$</a:t>
                </a:r>
                <a:r>
                  <a:rPr sz="2400" b="0">
                    <a:solidFill>
                      <a:srgbClr val="111827"/>
                    </a:solidFill>
                    <a:latin typeface="Arial"/>
                  </a:rPr>
                  <a:t> while </a:t>
                </a:r>
                <a:r>
                  <a:rPr lang="en-IN" sz="2400">
                    <a:solidFill>
                      <a:srgbClr val="111827"/>
                    </a:solidFill>
                    <a:latin typeface="Cambria Math" panose="02040503050406030204" pitchFamily="18" charset="0"/>
                  </a:rPr>
                  <a:t>$f(e+1)=11-2e^2\approx-3.78&lt;0$</a:t>
                </a:r>
                <a:r>
                  <a:rPr sz="2400" b="0">
                    <a:solidFill>
                      <a:srgbClr val="111827"/>
                    </a:solidFill>
                    <a:latin typeface="Arial"/>
                  </a:rPr>
                  <a:t>, so a root lies in </a:t>
                </a:r>
                <a:r>
                  <a:rPr lang="en-IN" sz="2400">
                    <a:solidFill>
                      <a:srgbClr val="111827"/>
                    </a:solidFill>
                    <a:latin typeface="Cambria Math" panose="02040503050406030204" pitchFamily="18" charset="0"/>
                  </a:rPr>
                  <a:t>$(e,e+1)$</a:t>
                </a:r>
                <a:r>
                  <a:rPr sz="2400" b="0">
                    <a:solidFill>
                      <a:srgbClr val="111827"/>
                    </a:solidFill>
                    <a:latin typeface="Arial"/>
                  </a:rPr>
                  <a:t>: (D) is true.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statement that is NOT correct is (C).</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14:m>
                  <m:oMath xmlns:m="http://schemas.openxmlformats.org/officeDocument/2006/math">
                    <m:sSup>
                      <m:e>
                        <m:r>
                          <a:rPr lang="en-IN" sz="2800" i="1">
                            <a:solidFill>
                              <a:srgbClr val="15803D"/>
                            </a:solidFill>
                            <a:latin typeface="Cambria Math" panose="02040503050406030204" pitchFamily="18" charset="0"/>
                          </a:rPr>
                          <m:t>𝑓</m:t>
                        </m:r>
                      </m:e>
                      <m:sup>
                        <m:r>
                          <m:rPr>
                            <m:sty m:val="p"/>
                          </m:rPr>
                          <a:rPr lang="en-IN" sz="2800">
                            <a:solidFill>
                              <a:srgbClr val="15803D"/>
                            </a:solidFill>
                            <a:latin typeface="Cambria Math" panose="02040503050406030204" pitchFamily="18" charset="0"/>
                          </a:rPr>
                          <m:t>′</m:t>
                        </m:r>
                      </m:sup>
                    </m:sSup>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𝑒</m:t>
                    </m:r>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sSup>
                      <m:e>
                        <m:r>
                          <a:rPr lang="en-IN" sz="2800" i="1">
                            <a:solidFill>
                              <a:srgbClr val="15803D"/>
                            </a:solidFill>
                            <a:latin typeface="Cambria Math" panose="02040503050406030204" pitchFamily="18" charset="0"/>
                          </a:rPr>
                          <m:t>𝑓</m:t>
                        </m:r>
                      </m:e>
                      <m:sup>
                        <m:r>
                          <m:rPr>
                            <m:sty m:val="p"/>
                          </m:rPr>
                          <a:rPr lang="en-IN" sz="2800">
                            <a:solidFill>
                              <a:srgbClr val="15803D"/>
                            </a:solidFill>
                            <a:latin typeface="Cambria Math" panose="02040503050406030204" pitchFamily="18" charset="0"/>
                          </a:rPr>
                          <m:t>″</m:t>
                        </m:r>
                      </m:sup>
                    </m:sSup>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2</m:t>
                    </m:r>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&lt;</m:t>
                    </m:r>
                    <m:r>
                      <a:rPr lang="en-IN" sz="2800" i="1">
                        <a:solidFill>
                          <a:srgbClr val="15803D"/>
                        </a:solidFill>
                        <a:latin typeface="Cambria Math" panose="02040503050406030204" pitchFamily="18" charset="0"/>
                      </a:rPr>
                      <m:t>0</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r>
                  <a:rPr lang="en-IN" sz="2800">
                    <a:solidFill>
                      <a:srgbClr val="15803D"/>
                    </a:solidFill>
                    <a:latin typeface="Cambria Math" panose="02040503050406030204" pitchFamily="18" charset="0"/>
                  </a:rPr>
                  <a:t>$f'(e)-f''(2)&lt;0$</a:t>
                </a:r>
                <a:endParaRPr sz="2800">
                  <a:solidFill>
                    <a:srgbClr val="15803D"/>
                  </a:solidFill>
                </a:endParaRPr>
              </a:p>
            </p:txBody>
          </p:sp>
        </mc:Fallback>
      </mc:AlternateContent>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Shift </a:t>
                </a:r>
                <a14:m>
                  <m:oMath xmlns:m="http://schemas.openxmlformats.org/officeDocument/2006/math">
                    <m:r>
                      <a:rPr lang="en-IN" sz="2400" i="1">
                        <a:solidFill>
                          <a:srgbClr val="78350F"/>
                        </a:solidFill>
                        <a:latin typeface="Cambria Math" panose="02040503050406030204" pitchFamily="18" charset="0"/>
                      </a:rPr>
                      <m:t>𝑢</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a:t>
                </a:r>
                <a14:m>
                  <m:oMath xmlns:m="http://schemas.openxmlformats.org/officeDocument/2006/math">
                    <m:r>
                      <a:rPr lang="en-IN" sz="2400" i="1">
                        <a:solidFill>
                          <a:srgbClr val="78350F"/>
                        </a:solidFill>
                        <a:latin typeface="Cambria Math" panose="02040503050406030204" pitchFamily="18" charset="0"/>
                      </a:rPr>
                      <m:t>𝑓</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4</m:t>
                    </m:r>
                    <m:r>
                      <m:rPr>
                        <m:sty m:val="p"/>
                      </m:rPr>
                      <a:rPr lang="en-IN" sz="2400">
                        <a:solidFill>
                          <a:srgbClr val="78350F"/>
                        </a:solidFill>
                        <a:latin typeface="Cambria Math" panose="02040503050406030204" pitchFamily="18" charset="0"/>
                      </a:rPr>
                      <m:t>ln</m:t>
                    </m:r>
                    <m:r>
                      <a:rPr lang="en-IN" sz="2400" i="1">
                        <a:solidFill>
                          <a:srgbClr val="78350F"/>
                        </a:solidFill>
                        <a:latin typeface="Cambria Math" panose="02040503050406030204" pitchFamily="18" charset="0"/>
                      </a:rPr>
                      <m:t>𝑢</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sSup>
                      <m:e>
                        <m:r>
                          <a:rPr lang="en-IN" sz="2400" i="1">
                            <a:solidFill>
                              <a:srgbClr val="78350F"/>
                            </a:solidFill>
                            <a:latin typeface="Cambria Math" panose="02040503050406030204" pitchFamily="18" charset="0"/>
                          </a:rPr>
                          <m:t>𝑢</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7</m:t>
                    </m:r>
                  </m:oMath>
                </a14:m>
                <a:r>
                  <a:rPr sz="2400" b="0">
                    <a:solidFill>
                      <a:srgbClr val="78350F"/>
                    </a:solidFill>
                    <a:latin typeface="Arial"/>
                  </a:rPr>
                  <a:t>, a much simpler function whose maximum is at </a:t>
                </a:r>
                <a14:m>
                  <m:oMath xmlns:m="http://schemas.openxmlformats.org/officeDocument/2006/math">
                    <m:r>
                      <a:rPr lang="en-IN" sz="2400" i="1">
                        <a:solidFill>
                          <a:srgbClr val="78350F"/>
                        </a:solidFill>
                        <a:latin typeface="Cambria Math" panose="02040503050406030204" pitchFamily="18" charset="0"/>
                      </a:rPr>
                      <m:t>𝑢</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Shift </a:t>
                </a:r>
                <a:r>
                  <a:rPr lang="en-IN" sz="2400">
                    <a:solidFill>
                      <a:srgbClr val="78350F"/>
                    </a:solidFill>
                    <a:latin typeface="Cambria Math" panose="02040503050406030204" pitchFamily="18" charset="0"/>
                  </a:rPr>
                  <a:t>$u=x-1$</a:t>
                </a:r>
                <a:r>
                  <a:rPr sz="2400" b="0">
                    <a:solidFill>
                      <a:srgbClr val="78350F"/>
                    </a:solidFill>
                    <a:latin typeface="Arial"/>
                  </a:rPr>
                  <a:t>: </a:t>
                </a:r>
                <a:r>
                  <a:rPr lang="en-IN" sz="2400">
                    <a:solidFill>
                      <a:srgbClr val="78350F"/>
                    </a:solidFill>
                    <a:latin typeface="Cambria Math" panose="02040503050406030204" pitchFamily="18" charset="0"/>
                  </a:rPr>
                  <a:t>$f=4\ln u-2u^2+7$</a:t>
                </a:r>
                <a:r>
                  <a:rPr sz="2400" b="0">
                    <a:solidFill>
                      <a:srgbClr val="78350F"/>
                    </a:solidFill>
                    <a:latin typeface="Arial"/>
                  </a:rPr>
                  <a:t>, a much simpler function whose maximum is at </a:t>
                </a:r>
                <a:r>
                  <a:rPr lang="en-IN" sz="2400">
                    <a:solidFill>
                      <a:srgbClr val="78350F"/>
                    </a:solidFill>
                    <a:latin typeface="Cambria Math" panose="02040503050406030204" pitchFamily="18" charset="0"/>
                  </a:rPr>
                  <a:t>$u=1$</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Put </a:t>
                </a:r>
                <a14:m>
                  <m:oMath xmlns:m="http://schemas.openxmlformats.org/officeDocument/2006/math">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𝑢</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𝑢</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𝑢</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𝑢</m:t>
                        </m:r>
                      </m:den>
                    </m:f>
                  </m:oMath>
                </a14:m>
                <a:r>
                  <a:rPr sz="2400" b="0">
                    <a:solidFill>
                      <a:srgbClr val="111827"/>
                    </a:solidFill>
                    <a:latin typeface="Arial"/>
                  </a:rPr>
                  <a:t>: increasing for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2</m:t>
                    </m:r>
                  </m:oMath>
                </a14:m>
                <a:r>
                  <a:rPr sz="2400" b="0">
                    <a:solidFill>
                      <a:srgbClr val="111827"/>
                    </a:solidFill>
                    <a:latin typeface="Arial"/>
                  </a:rPr>
                  <a:t>), decreasing for </a:t>
                </a:r>
                <a14:m>
                  <m:oMath xmlns:m="http://schemas.openxmlformats.org/officeDocument/2006/math">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1</m:t>
                    </m:r>
                  </m:oMath>
                </a14:m>
                <a:r>
                  <a:rPr sz="2400" b="0">
                    <a:solidFill>
                      <a:srgbClr val="111827"/>
                    </a:solidFill>
                    <a:latin typeface="Arial"/>
                  </a:rPr>
                  <a:t>: (A) true.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Maximum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at </a:t>
                </a:r>
                <a14:m>
                  <m:oMath xmlns:m="http://schemas.openxmlformats.org/officeDocument/2006/math">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both ends, and </a:t>
                </a:r>
                <a14:m>
                  <m:oMath xmlns:m="http://schemas.openxmlformats.org/officeDocument/2006/math">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&gt;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exactly two solutions of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(B) true.</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Put </a:t>
                </a:r>
                <a:r>
                  <a:rPr lang="en-IN" sz="2400">
                    <a:solidFill>
                      <a:srgbClr val="111827"/>
                    </a:solidFill>
                    <a:latin typeface="Cambria Math" panose="02040503050406030204" pitchFamily="18" charset="0"/>
                  </a:rPr>
                  <a:t>$u=x-1&gt;0$</a:t>
                </a:r>
                <a:r>
                  <a:rPr sz="2400" b="0">
                    <a:solidFill>
                      <a:srgbClr val="111827"/>
                    </a:solidFill>
                    <a:latin typeface="Arial"/>
                  </a:rPr>
                  <a:t>: </a:t>
                </a:r>
                <a:r>
                  <a:rPr lang="en-IN" sz="2400">
                    <a:solidFill>
                      <a:srgbClr val="111827"/>
                    </a:solidFill>
                    <a:latin typeface="Cambria Math" panose="02040503050406030204" pitchFamily="18" charset="0"/>
                  </a:rPr>
                  <a:t>$-2x^2+4x+5=-2(u+1)^2+4(u+1)+5=-2u^2+7$</a:t>
                </a:r>
                <a:r>
                  <a:rPr sz="2400" b="0">
                    <a:solidFill>
                      <a:srgbClr val="111827"/>
                    </a:solidFill>
                    <a:latin typeface="Arial"/>
                  </a:rPr>
                  <a:t>, so </a:t>
                </a:r>
                <a:r>
                  <a:rPr lang="en-IN" sz="2400">
                    <a:solidFill>
                      <a:srgbClr val="111827"/>
                    </a:solidFill>
                    <a:latin typeface="Cambria Math" panose="02040503050406030204" pitchFamily="18" charset="0"/>
                  </a:rPr>
                  <a:t>$f=4\ln u-2u^2+7$</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$f'=\frac4u-4u=\frac{4(1-u)(1+u)}{u}$</a:t>
                </a:r>
                <a:r>
                  <a:rPr sz="2400" b="0">
                    <a:solidFill>
                      <a:srgbClr val="111827"/>
                    </a:solidFill>
                    <a:latin typeface="Arial"/>
                  </a:rPr>
                  <a:t>: increasing for </a:t>
                </a:r>
                <a:r>
                  <a:rPr lang="en-IN" sz="2400">
                    <a:solidFill>
                      <a:srgbClr val="111827"/>
                    </a:solidFill>
                    <a:latin typeface="Cambria Math" panose="02040503050406030204" pitchFamily="18" charset="0"/>
                  </a:rPr>
                  <a:t>$0&lt;u&lt;1$</a:t>
                </a:r>
                <a:r>
                  <a:rPr sz="2400" b="0">
                    <a:solidFill>
                      <a:srgbClr val="111827"/>
                    </a:solidFill>
                    <a:latin typeface="Arial"/>
                  </a:rPr>
                  <a:t> (</a:t>
                </a:r>
                <a:r>
                  <a:rPr lang="en-IN" sz="2400">
                    <a:solidFill>
                      <a:srgbClr val="111827"/>
                    </a:solidFill>
                    <a:latin typeface="Cambria Math" panose="02040503050406030204" pitchFamily="18" charset="0"/>
                  </a:rPr>
                  <a:t>$x&lt;2$</a:t>
                </a:r>
                <a:r>
                  <a:rPr sz="2400" b="0">
                    <a:solidFill>
                      <a:srgbClr val="111827"/>
                    </a:solidFill>
                    <a:latin typeface="Arial"/>
                  </a:rPr>
                  <a:t>), decreasing for </a:t>
                </a:r>
                <a:r>
                  <a:rPr lang="en-IN" sz="2400">
                    <a:solidFill>
                      <a:srgbClr val="111827"/>
                    </a:solidFill>
                    <a:latin typeface="Cambria Math" panose="02040503050406030204" pitchFamily="18" charset="0"/>
                  </a:rPr>
                  <a:t>$u&gt;1$</a:t>
                </a:r>
                <a:r>
                  <a:rPr sz="2400" b="0">
                    <a:solidFill>
                      <a:srgbClr val="111827"/>
                    </a:solidFill>
                    <a:latin typeface="Arial"/>
                  </a:rPr>
                  <a:t>: (A) true.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Maximum </a:t>
                </a:r>
                <a:r>
                  <a:rPr lang="en-IN" sz="2400">
                    <a:solidFill>
                      <a:srgbClr val="111827"/>
                    </a:solidFill>
                    <a:latin typeface="Cambria Math" panose="02040503050406030204" pitchFamily="18" charset="0"/>
                  </a:rPr>
                  <a:t>$f=-2+7=5$</a:t>
                </a:r>
                <a:r>
                  <a:rPr sz="2400" b="0">
                    <a:solidFill>
                      <a:srgbClr val="111827"/>
                    </a:solidFill>
                    <a:latin typeface="Arial"/>
                  </a:rPr>
                  <a:t> at </a:t>
                </a:r>
                <a:r>
                  <a:rPr lang="en-IN" sz="2400">
                    <a:solidFill>
                      <a:srgbClr val="111827"/>
                    </a:solidFill>
                    <a:latin typeface="Cambria Math" panose="02040503050406030204" pitchFamily="18" charset="0"/>
                  </a:rPr>
                  <a:t>$u=1$</a:t>
                </a:r>
                <a:r>
                  <a:rPr sz="2400" b="0">
                    <a:solidFill>
                      <a:srgbClr val="111827"/>
                    </a:solidFill>
                    <a:latin typeface="Arial"/>
                  </a:rPr>
                  <a:t>; </a:t>
                </a:r>
                <a:r>
                  <a:rPr lang="en-IN" sz="2400">
                    <a:solidFill>
                      <a:srgbClr val="111827"/>
                    </a:solidFill>
                    <a:latin typeface="Cambria Math" panose="02040503050406030204" pitchFamily="18" charset="0"/>
                  </a:rPr>
                  <a:t>$f\to-\infty$</a:t>
                </a:r>
                <a:r>
                  <a:rPr sz="2400" b="0">
                    <a:solidFill>
                      <a:srgbClr val="111827"/>
                    </a:solidFill>
                    <a:latin typeface="Arial"/>
                  </a:rPr>
                  <a:t> at both ends, and </a:t>
                </a:r>
                <a:r>
                  <a:rPr lang="en-IN" sz="2400">
                    <a:solidFill>
                      <a:srgbClr val="111827"/>
                    </a:solidFill>
                    <a:latin typeface="Cambria Math" panose="02040503050406030204" pitchFamily="18" charset="0"/>
                  </a:rPr>
                  <a:t>$5&gt;-1$</a:t>
                </a:r>
                <a:r>
                  <a:rPr sz="2400" b="0">
                    <a:solidFill>
                      <a:srgbClr val="111827"/>
                    </a:solidFill>
                    <a:latin typeface="Arial"/>
                  </a:rPr>
                  <a:t>, so exactly two solutions of </a:t>
                </a:r>
                <a:r>
                  <a:rPr lang="en-IN" sz="2400">
                    <a:solidFill>
                      <a:srgbClr val="111827"/>
                    </a:solidFill>
                    <a:latin typeface="Cambria Math" panose="02040503050406030204" pitchFamily="18" charset="0"/>
                  </a:rPr>
                  <a:t>$f=-1$</a:t>
                </a:r>
                <a:r>
                  <a:rPr sz="2400" b="0">
                    <a:solidFill>
                      <a:srgbClr val="111827"/>
                    </a:solidFill>
                    <a:latin typeface="Arial"/>
                  </a:rPr>
                  <a:t>: (B) true.</a:t>
                </a:r>
                <a:endParaRPr sz="2400">
                  <a:solidFill>
                    <a:srgbClr val="111827"/>
                  </a:solidFill>
                </a:endParaRPr>
              </a:p>
            </p:txBody>
          </p:sp>
        </mc:Fallback>
      </mc:AlternateContent>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sSup>
                          <m:e>
                            <m:r>
                              <a:rPr lang="en-IN" sz="2400" i="1">
                                <a:solidFill>
                                  <a:srgbClr val="111827"/>
                                </a:solidFill>
                                <a:latin typeface="Cambria Math" panose="02040503050406030204" pitchFamily="18" charset="0"/>
                              </a:rPr>
                              <m:t>𝑢</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it is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has </a:t>
                </a:r>
                <a14:m>
                  <m:oMath xmlns:m="http://schemas.openxmlformats.org/officeDocument/2006/math">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4.55</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3.45</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(C) false.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 </a:t>
                </a:r>
                <a14:m>
                  <m:oMath xmlns:m="http://schemas.openxmlformats.org/officeDocument/2006/math">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ln</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3.26</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(D) true.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(C) is the incorrect statement.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$f''=-\frac{4}{u^2}-4$</a:t>
                </a:r>
                <a:r>
                  <a:rPr sz="2400" b="0">
                    <a:solidFill>
                      <a:srgbClr val="111827"/>
                    </a:solidFill>
                    <a:latin typeface="Arial"/>
                  </a:rPr>
                  <a:t>; at </a:t>
                </a:r>
                <a:r>
                  <a:rPr lang="en-IN" sz="2400">
                    <a:solidFill>
                      <a:srgbClr val="111827"/>
                    </a:solidFill>
                    <a:latin typeface="Cambria Math" panose="02040503050406030204" pitchFamily="18" charset="0"/>
                  </a:rPr>
                  <a:t>$x=2$</a:t>
                </a:r>
                <a:r>
                  <a:rPr sz="2400" b="0">
                    <a:solidFill>
                      <a:srgbClr val="111827"/>
                    </a:solidFill>
                    <a:latin typeface="Arial"/>
                  </a:rPr>
                  <a:t> (</a:t>
                </a:r>
                <a:r>
                  <a:rPr lang="en-IN" sz="2400">
                    <a:solidFill>
                      <a:srgbClr val="111827"/>
                    </a:solidFill>
                    <a:latin typeface="Cambria Math" panose="02040503050406030204" pitchFamily="18" charset="0"/>
                  </a:rPr>
                  <a:t>$u=1$</a:t>
                </a:r>
                <a:r>
                  <a:rPr sz="2400" b="0">
                    <a:solidFill>
                      <a:srgbClr val="111827"/>
                    </a:solidFill>
                    <a:latin typeface="Arial"/>
                  </a:rPr>
                  <a:t>) it is </a:t>
                </a:r>
                <a:r>
                  <a:rPr lang="en-IN" sz="2400">
                    <a:solidFill>
                      <a:srgbClr val="111827"/>
                    </a:solidFill>
                    <a:latin typeface="Cambria Math" panose="02040503050406030204" pitchFamily="18" charset="0"/>
                  </a:rPr>
                  <a:t>$-8$</a:t>
                </a:r>
                <a:r>
                  <a:rPr sz="2400" b="0">
                    <a:solidFill>
                      <a:srgbClr val="111827"/>
                    </a:solidFill>
                    <a:latin typeface="Arial"/>
                  </a:rPr>
                  <a:t>; </a:t>
                </a:r>
                <a:r>
                  <a:rPr lang="en-IN" sz="2400">
                    <a:solidFill>
                      <a:srgbClr val="111827"/>
                    </a:solidFill>
                    <a:latin typeface="Cambria Math" panose="02040503050406030204" pitchFamily="18" charset="0"/>
                  </a:rPr>
                  <a:t>$f'(e)$</a:t>
                </a:r>
                <a:r>
                  <a:rPr sz="2400" b="0">
                    <a:solidFill>
                      <a:srgbClr val="111827"/>
                    </a:solidFill>
                    <a:latin typeface="Arial"/>
                  </a:rPr>
                  <a:t> has </a:t>
                </a:r>
                <a:r>
                  <a:rPr lang="en-IN" sz="2400">
                    <a:solidFill>
                      <a:srgbClr val="111827"/>
                    </a:solidFill>
                    <a:latin typeface="Cambria Math" panose="02040503050406030204" pitchFamily="18" charset="0"/>
                  </a:rPr>
                  <a:t>$u=e-1$</a:t>
                </a:r>
                <a:r>
                  <a:rPr sz="2400" b="0">
                    <a:solidFill>
                      <a:srgbClr val="111827"/>
                    </a:solidFill>
                    <a:latin typeface="Arial"/>
                  </a:rPr>
                  <a:t>: </a:t>
                </a:r>
                <a:r>
                  <a:rPr lang="en-IN" sz="2400">
                    <a:solidFill>
                      <a:srgbClr val="111827"/>
                    </a:solidFill>
                    <a:latin typeface="Cambria Math" panose="02040503050406030204" pitchFamily="18" charset="0"/>
                  </a:rPr>
                  <a:t>$\frac{4}{e-1}-4(e-1)\approx-4.55$</a:t>
                </a:r>
                <a:r>
                  <a:rPr sz="2400" b="0">
                    <a:solidFill>
                      <a:srgbClr val="111827"/>
                    </a:solidFill>
                    <a:latin typeface="Arial"/>
                  </a:rPr>
                  <a:t>, so </a:t>
                </a:r>
                <a:r>
                  <a:rPr lang="en-IN" sz="2400">
                    <a:solidFill>
                      <a:srgbClr val="111827"/>
                    </a:solidFill>
                    <a:latin typeface="Cambria Math" panose="02040503050406030204" pitchFamily="18" charset="0"/>
                  </a:rPr>
                  <a:t>$f'(e)-f''(2)\approx3.45&gt;0$</a:t>
                </a:r>
                <a:r>
                  <a:rPr sz="2400" b="0">
                    <a:solidFill>
                      <a:srgbClr val="111827"/>
                    </a:solidFill>
                    <a:latin typeface="Arial"/>
                  </a:rPr>
                  <a:t>: (C) false.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 </a:t>
                </a:r>
                <a:r>
                  <a:rPr lang="en-IN" sz="2400">
                    <a:solidFill>
                      <a:srgbClr val="111827"/>
                    </a:solidFill>
                    <a:latin typeface="Cambria Math" panose="02040503050406030204" pitchFamily="18" charset="0"/>
                  </a:rPr>
                  <a:t>$u\in(e-1,e)$</a:t>
                </a:r>
                <a:r>
                  <a:rPr sz="2400" b="0">
                    <a:solidFill>
                      <a:srgbClr val="111827"/>
                    </a:solidFill>
                    <a:latin typeface="Arial"/>
                  </a:rPr>
                  <a:t>: </a:t>
                </a:r>
                <a:r>
                  <a:rPr lang="en-IN" sz="2400">
                    <a:solidFill>
                      <a:srgbClr val="111827"/>
                    </a:solidFill>
                    <a:latin typeface="Cambria Math" panose="02040503050406030204" pitchFamily="18" charset="0"/>
                  </a:rPr>
                  <a:t>$f(u=e-1)=4\ln(e-1)-2(e-1)^2+7\approx3.26&gt;0$</a:t>
                </a:r>
                <a:r>
                  <a:rPr sz="2400" b="0">
                    <a:solidFill>
                      <a:srgbClr val="111827"/>
                    </a:solidFill>
                    <a:latin typeface="Arial"/>
                  </a:rPr>
                  <a:t>, </a:t>
                </a:r>
                <a:r>
                  <a:rPr lang="en-IN" sz="2400">
                    <a:solidFill>
                      <a:srgbClr val="111827"/>
                    </a:solidFill>
                    <a:latin typeface="Cambria Math" panose="02040503050406030204" pitchFamily="18" charset="0"/>
                  </a:rPr>
                  <a:t>$f(u=e)=11-2e^2&lt;0$</a:t>
                </a:r>
                <a:r>
                  <a:rPr sz="2400" b="0">
                    <a:solidFill>
                      <a:srgbClr val="111827"/>
                    </a:solidFill>
                    <a:latin typeface="Arial"/>
                  </a:rPr>
                  <a:t>: (D) true.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(C) is the incorrect statement.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a:t>
                </a:r>
                <a14:m>
                  <m:oMath xmlns:m="http://schemas.openxmlformats.org/officeDocument/2006/math">
                    <m:sSup>
                      <m:e>
                        <m:r>
                          <a:rPr lang="en-IN" sz="2800" i="1">
                            <a:solidFill>
                              <a:srgbClr val="15803D"/>
                            </a:solidFill>
                            <a:latin typeface="Cambria Math" panose="02040503050406030204" pitchFamily="18" charset="0"/>
                          </a:rPr>
                          <m:t>𝑓</m:t>
                        </m:r>
                      </m:e>
                      <m:sup>
                        <m:r>
                          <m:rPr>
                            <m:sty m:val="p"/>
                          </m:rPr>
                          <a:rPr lang="en-IN" sz="2800">
                            <a:solidFill>
                              <a:srgbClr val="15803D"/>
                            </a:solidFill>
                            <a:latin typeface="Cambria Math" panose="02040503050406030204" pitchFamily="18" charset="0"/>
                          </a:rPr>
                          <m:t>′</m:t>
                        </m:r>
                      </m:sup>
                    </m:sSup>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𝑒</m:t>
                    </m:r>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sSup>
                      <m:e>
                        <m:r>
                          <a:rPr lang="en-IN" sz="2800" i="1">
                            <a:solidFill>
                              <a:srgbClr val="15803D"/>
                            </a:solidFill>
                            <a:latin typeface="Cambria Math" panose="02040503050406030204" pitchFamily="18" charset="0"/>
                          </a:rPr>
                          <m:t>𝑓</m:t>
                        </m:r>
                      </m:e>
                      <m:sup>
                        <m:r>
                          <m:rPr>
                            <m:sty m:val="p"/>
                          </m:rPr>
                          <a:rPr lang="en-IN" sz="2800">
                            <a:solidFill>
                              <a:srgbClr val="15803D"/>
                            </a:solidFill>
                            <a:latin typeface="Cambria Math" panose="02040503050406030204" pitchFamily="18" charset="0"/>
                          </a:rPr>
                          <m:t>″</m:t>
                        </m:r>
                      </m:sup>
                    </m:sSup>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2</m:t>
                    </m:r>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&lt;</m:t>
                    </m:r>
                    <m:r>
                      <a:rPr lang="en-IN" sz="2800" i="1">
                        <a:solidFill>
                          <a:srgbClr val="15803D"/>
                        </a:solidFill>
                        <a:latin typeface="Cambria Math" panose="02040503050406030204" pitchFamily="18" charset="0"/>
                      </a:rPr>
                      <m:t>0</m:t>
                    </m:r>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a:t>
                </a:r>
                <a:r>
                  <a:rPr lang="en-IN" sz="2800">
                    <a:solidFill>
                      <a:srgbClr val="15803D"/>
                    </a:solidFill>
                    <a:latin typeface="Cambria Math" panose="02040503050406030204" pitchFamily="18" charset="0"/>
                  </a:rPr>
                  <a:t>$f'(e)-f''(2)&lt;0$</a:t>
                </a:r>
                <a:endParaRPr sz="2800">
                  <a:solidFill>
                    <a:srgbClr val="15803D"/>
                  </a:solidFill>
                </a:endParaRPr>
              </a:p>
            </p:txBody>
          </p:sp>
        </mc:Fallback>
      </mc:AlternateContent>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function with a single maximum </a:t>
                </a:r>
                <a14:m>
                  <m:oMath xmlns:m="http://schemas.openxmlformats.org/officeDocument/2006/math">
                    <m:r>
                      <a:rPr lang="en-IN" sz="2400" i="1">
                        <a:solidFill>
                          <a:srgbClr val="111827"/>
                        </a:solidFill>
                        <a:latin typeface="Cambria Math" panose="02040503050406030204" pitchFamily="18" charset="0"/>
                      </a:rPr>
                      <m:t>𝑀</m:t>
                    </m:r>
                  </m:oMath>
                </a14:m>
                <a:r>
                  <a:rPr sz="2400" b="0">
                    <a:solidFill>
                      <a:srgbClr val="111827"/>
                    </a:solidFill>
                    <a:latin typeface="Arial"/>
                  </a:rPr>
                  <a:t> and limits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both ends has exactly two solutions of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for every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𝑀</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Shifting the variable (</a:t>
                </a:r>
                <a14:m>
                  <m:oMath xmlns:m="http://schemas.openxmlformats.org/officeDocument/2006/math">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often removes the polynomial part: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Sign test of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with a log term: combine over a common denominator and factor, e.g.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Use the sign of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at the two ends of an interval (IVT) to decide whether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has a root in it.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function with a single maximum </a:t>
                </a:r>
                <a:r>
                  <a:rPr lang="en-IN" sz="2400">
                    <a:solidFill>
                      <a:srgbClr val="111827"/>
                    </a:solidFill>
                    <a:latin typeface="Cambria Math" panose="02040503050406030204" pitchFamily="18" charset="0"/>
                  </a:rPr>
                  <a:t>$M$</a:t>
                </a:r>
                <a:r>
                  <a:rPr sz="2400" b="0">
                    <a:solidFill>
                      <a:srgbClr val="111827"/>
                    </a:solidFill>
                    <a:latin typeface="Arial"/>
                  </a:rPr>
                  <a:t> and limits </a:t>
                </a:r>
                <a:r>
                  <a:rPr lang="en-IN" sz="2400">
                    <a:solidFill>
                      <a:srgbClr val="111827"/>
                    </a:solidFill>
                    <a:latin typeface="Cambria Math" panose="02040503050406030204" pitchFamily="18" charset="0"/>
                  </a:rPr>
                  <a:t>$-\infty$</a:t>
                </a:r>
                <a:r>
                  <a:rPr sz="2400" b="0">
                    <a:solidFill>
                      <a:srgbClr val="111827"/>
                    </a:solidFill>
                    <a:latin typeface="Arial"/>
                  </a:rPr>
                  <a:t> at both ends has exactly two solutions of </a:t>
                </a:r>
                <a:r>
                  <a:rPr lang="en-IN" sz="2400">
                    <a:solidFill>
                      <a:srgbClr val="111827"/>
                    </a:solidFill>
                    <a:latin typeface="Cambria Math" panose="02040503050406030204" pitchFamily="18" charset="0"/>
                  </a:rPr>
                  <a:t>$f(x)=c$</a:t>
                </a:r>
                <a:r>
                  <a:rPr sz="2400" b="0">
                    <a:solidFill>
                      <a:srgbClr val="111827"/>
                    </a:solidFill>
                    <a:latin typeface="Arial"/>
                  </a:rPr>
                  <a:t> for every </a:t>
                </a:r>
                <a:r>
                  <a:rPr lang="en-IN" sz="2400">
                    <a:solidFill>
                      <a:srgbClr val="111827"/>
                    </a:solidFill>
                    <a:latin typeface="Cambria Math" panose="02040503050406030204" pitchFamily="18" charset="0"/>
                  </a:rPr>
                  <a:t>$c&lt;M$</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Shifting the variable (</a:t>
                </a:r>
                <a:r>
                  <a:rPr lang="en-IN" sz="2400">
                    <a:solidFill>
                      <a:srgbClr val="111827"/>
                    </a:solidFill>
                    <a:latin typeface="Cambria Math" panose="02040503050406030204" pitchFamily="18" charset="0"/>
                  </a:rPr>
                  <a:t>$u=x-1$</a:t>
                </a:r>
                <a:r>
                  <a:rPr sz="2400" b="0">
                    <a:solidFill>
                      <a:srgbClr val="111827"/>
                    </a:solidFill>
                    <a:latin typeface="Arial"/>
                  </a:rPr>
                  <a:t>) often removes the polynomial part: </a:t>
                </a:r>
                <a:r>
                  <a:rPr lang="en-IN" sz="2400">
                    <a:solidFill>
                      <a:srgbClr val="111827"/>
                    </a:solidFill>
                    <a:latin typeface="Cambria Math" panose="02040503050406030204" pitchFamily="18" charset="0"/>
                  </a:rPr>
                  <a:t>$-2x^2+4x+5=7-2(x-1)^2$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Sign test of </a:t>
                </a:r>
                <a:r>
                  <a:rPr lang="en-IN" sz="2400">
                    <a:solidFill>
                      <a:srgbClr val="111827"/>
                    </a:solidFill>
                    <a:latin typeface="Cambria Math" panose="02040503050406030204" pitchFamily="18" charset="0"/>
                  </a:rPr>
                  <a:t>$f'$</a:t>
                </a:r>
                <a:r>
                  <a:rPr sz="2400" b="0">
                    <a:solidFill>
                      <a:srgbClr val="111827"/>
                    </a:solidFill>
                    <a:latin typeface="Arial"/>
                  </a:rPr>
                  <a:t> with a log term: combine over a common denominator and factor, e.g. </a:t>
                </a:r>
                <a:r>
                  <a:rPr lang="en-IN" sz="2400">
                    <a:solidFill>
                      <a:srgbClr val="111827"/>
                    </a:solidFill>
                    <a:latin typeface="Cambria Math" panose="02040503050406030204" pitchFamily="18" charset="0"/>
                  </a:rPr>
                  <a:t>$\frac{4}{x-1}-4(x-1)=\frac{4x(2-x)}{x-1}$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Use the sign of </a:t>
                </a:r>
                <a:r>
                  <a:rPr lang="en-IN" sz="2400">
                    <a:solidFill>
                      <a:srgbClr val="111827"/>
                    </a:solidFill>
                    <a:latin typeface="Cambria Math" panose="02040503050406030204" pitchFamily="18" charset="0"/>
                  </a:rPr>
                  <a:t>$f$</a:t>
                </a:r>
                <a:r>
                  <a:rPr sz="2400" b="0">
                    <a:solidFill>
                      <a:srgbClr val="111827"/>
                    </a:solidFill>
                    <a:latin typeface="Arial"/>
                  </a:rPr>
                  <a:t> at the two ends of an interval (IVT) to decide whether </a:t>
                </a:r>
                <a:r>
                  <a:rPr lang="en-IN" sz="2400">
                    <a:solidFill>
                      <a:srgbClr val="111827"/>
                    </a:solidFill>
                    <a:latin typeface="Cambria Math" panose="02040503050406030204" pitchFamily="18" charset="0"/>
                  </a:rPr>
                  <a:t>$f$</a:t>
                </a:r>
                <a:r>
                  <a:rPr sz="2400" b="0">
                    <a:solidFill>
                      <a:srgbClr val="111827"/>
                    </a:solidFill>
                    <a:latin typeface="Arial"/>
                  </a:rPr>
                  <a:t> has a root in it.</a:t>
                </a:r>
                <a:endParaRPr sz="2400">
                  <a:solidFill>
                    <a:srgbClr val="111827"/>
                  </a:solidFill>
                </a:endParaRPr>
              </a:p>
            </p:txBody>
          </p:sp>
        </mc:Fallback>
      </mc:AlternateContent>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number of distinct real roots of the equation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7</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5   (B) 7   (C) 1   (D) 3</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number of distinct real roots of the equation </a:t>
                </a:r>
                <a:r>
                  <a:rPr lang="en-IN" sz="2400">
                    <a:solidFill>
                      <a:srgbClr val="111827"/>
                    </a:solidFill>
                    <a:latin typeface="Cambria Math" panose="02040503050406030204" pitchFamily="18" charset="0"/>
                  </a:rPr>
                  <a:t>$x^7-7x-2=0$</a:t>
                </a:r>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5   (B) 7   (C) 1   (D) 3</a:t>
                </a:r>
                <a:endParaRPr sz="2400">
                  <a:solidFill>
                    <a:srgbClr val="111827"/>
                  </a:solidFill>
                </a:endParaRPr>
              </a:p>
            </p:txBody>
          </p:sp>
        </mc:Fallback>
      </mc:AlternateContent>
      <p:sp>
        <p:nvSpPr>
          <p:cNvPr id="5" name="Rectangle 4"/>
          <p:cNvSpPr/>
          <p:nvPr/>
        </p:nvSpPr>
        <p:spPr>
          <a:xfrm>
            <a:off x="731520" y="3246120"/>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Number of real roots (monotonicity and extrema)</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sSup>
                      <m:e>
                        <m:r>
                          <a:rPr lang="en-IN" sz="2400" i="1">
                            <a:solidFill>
                              <a:srgbClr val="78350F"/>
                            </a:solidFill>
                            <a:latin typeface="Cambria Math" panose="02040503050406030204" pitchFamily="18" charset="0"/>
                          </a:rPr>
                          <m:t>𝑓</m:t>
                        </m:r>
                      </m:e>
                      <m:sup>
                        <m:r>
                          <m:rPr>
                            <m:sty m:val="p"/>
                          </m:rPr>
                          <a:rPr lang="en-IN" sz="2400">
                            <a:solidFill>
                              <a:srgbClr val="78350F"/>
                            </a:solidFill>
                            <a:latin typeface="Cambria Math" panose="02040503050406030204" pitchFamily="18" charset="0"/>
                          </a:rPr>
                          <m:t>′</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7</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6</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gives extrema at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with </a:t>
                </a:r>
                <a14:m>
                  <m:oMath xmlns:m="http://schemas.openxmlformats.org/officeDocument/2006/math">
                    <m:r>
                      <a:rPr lang="en-IN" sz="2400" i="1">
                        <a:solidFill>
                          <a:srgbClr val="78350F"/>
                        </a:solidFill>
                        <a:latin typeface="Cambria Math" panose="02040503050406030204" pitchFamily="18" charset="0"/>
                      </a:rPr>
                      <m:t>𝑓</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&gt;</m:t>
                    </m:r>
                    <m:r>
                      <a:rPr lang="en-IN" sz="2400" i="1">
                        <a:solidFill>
                          <a:srgbClr val="78350F"/>
                        </a:solidFill>
                        <a:latin typeface="Cambria Math" panose="02040503050406030204" pitchFamily="18" charset="0"/>
                      </a:rPr>
                      <m:t>0</m:t>
                    </m:r>
                    <m:r>
                      <m:rPr>
                        <m:sty m:val="p"/>
                      </m:rPr>
                      <a:rPr lang="en-IN" sz="2400">
                        <a:solidFill>
                          <a:srgbClr val="78350F"/>
                        </a:solidFill>
                        <a:latin typeface="Cambria Math" panose="02040503050406030204" pitchFamily="18" charset="0"/>
                      </a:rPr>
                      <m:t>&gt;</m:t>
                    </m:r>
                    <m:r>
                      <a:rPr lang="en-IN" sz="2400" i="1">
                        <a:solidFill>
                          <a:srgbClr val="78350F"/>
                        </a:solidFill>
                        <a:latin typeface="Cambria Math" panose="02040503050406030204" pitchFamily="18" charset="0"/>
                      </a:rPr>
                      <m:t>𝑓</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so the graph crosses the axis three times.</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$f'=7(x^6-1)$</a:t>
                </a:r>
                <a:r>
                  <a:rPr sz="2400" b="0">
                    <a:solidFill>
                      <a:srgbClr val="78350F"/>
                    </a:solidFill>
                    <a:latin typeface="Arial"/>
                  </a:rPr>
                  <a:t> gives extrema at </a:t>
                </a:r>
                <a:r>
                  <a:rPr lang="en-IN" sz="2400">
                    <a:solidFill>
                      <a:srgbClr val="78350F"/>
                    </a:solidFill>
                    <a:latin typeface="Cambria Math" panose="02040503050406030204" pitchFamily="18" charset="0"/>
                  </a:rPr>
                  <a:t>$x=\pm1$</a:t>
                </a:r>
                <a:r>
                  <a:rPr sz="2400" b="0">
                    <a:solidFill>
                      <a:srgbClr val="78350F"/>
                    </a:solidFill>
                    <a:latin typeface="Arial"/>
                  </a:rPr>
                  <a:t> with </a:t>
                </a:r>
                <a:r>
                  <a:rPr lang="en-IN" sz="2400">
                    <a:solidFill>
                      <a:srgbClr val="78350F"/>
                    </a:solidFill>
                    <a:latin typeface="Cambria Math" panose="02040503050406030204" pitchFamily="18" charset="0"/>
                  </a:rPr>
                  <a:t>$f(-1)&gt;0&gt;f(1)$</a:t>
                </a:r>
                <a:r>
                  <a:rPr sz="2400" b="0">
                    <a:solidFill>
                      <a:srgbClr val="78350F"/>
                    </a:solidFill>
                    <a:latin typeface="Arial"/>
                  </a:rPr>
                  <a:t>, so the graph crosses the axis three times.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7</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6</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6</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d>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for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for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increases on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decreases on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increases 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(sketch of graph).</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$f(x)=x^7-7x-2$</a:t>
                </a:r>
                <a:r>
                  <a:rPr sz="2400" b="0">
                    <a:solidFill>
                      <a:srgbClr val="111827"/>
                    </a:solidFill>
                    <a:latin typeface="Arial"/>
                  </a:rPr>
                  <a:t>; </a:t>
                </a:r>
                <a:r>
                  <a:rPr lang="en-IN" sz="2400">
                    <a:solidFill>
                      <a:srgbClr val="111827"/>
                    </a:solidFill>
                    <a:latin typeface="Cambria Math" panose="02040503050406030204" pitchFamily="18" charset="0"/>
                  </a:rPr>
                  <a:t>$f'(x)=7x^6-7=7\left(x^6-1\right)$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$f'(x)=7\left(x^2-1\right)\left(x^4+x^2+1\right)=7(x+1)(x-1)\left(x^4+x^2+1\right)$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r>
                  <a:rPr lang="en-IN" sz="2400">
                    <a:solidFill>
                      <a:srgbClr val="111827"/>
                    </a:solidFill>
                    <a:latin typeface="Cambria Math" panose="02040503050406030204" pitchFamily="18" charset="0"/>
                  </a:rPr>
                  <a:t>$x^4+x^2+1&gt;0$</a:t>
                </a:r>
                <a:r>
                  <a:rPr sz="2400" b="0">
                    <a:solidFill>
                      <a:srgbClr val="111827"/>
                    </a:solidFill>
                    <a:latin typeface="Arial"/>
                  </a:rPr>
                  <a:t>: </a:t>
                </a:r>
                <a:r>
                  <a:rPr lang="en-IN" sz="2400">
                    <a:solidFill>
                      <a:srgbClr val="111827"/>
                    </a:solidFill>
                    <a:latin typeface="Cambria Math" panose="02040503050406030204" pitchFamily="18" charset="0"/>
                  </a:rPr>
                  <a:t>$f'&gt;0$</a:t>
                </a:r>
                <a:r>
                  <a:rPr sz="2400" b="0">
                    <a:solidFill>
                      <a:srgbClr val="111827"/>
                    </a:solidFill>
                    <a:latin typeface="Arial"/>
                  </a:rPr>
                  <a:t> for </a:t>
                </a:r>
                <a:r>
                  <a:rPr lang="en-IN" sz="2400">
                    <a:solidFill>
                      <a:srgbClr val="111827"/>
                    </a:solidFill>
                    <a:latin typeface="Cambria Math" panose="02040503050406030204" pitchFamily="18" charset="0"/>
                  </a:rPr>
                  <a:t>$|x|&gt;1$</a:t>
                </a:r>
                <a:r>
                  <a:rPr sz="2400" b="0">
                    <a:solidFill>
                      <a:srgbClr val="111827"/>
                    </a:solidFill>
                    <a:latin typeface="Arial"/>
                  </a:rPr>
                  <a:t> and </a:t>
                </a:r>
                <a:r>
                  <a:rPr lang="en-IN" sz="2400">
                    <a:solidFill>
                      <a:srgbClr val="111827"/>
                    </a:solidFill>
                    <a:latin typeface="Cambria Math" panose="02040503050406030204" pitchFamily="18" charset="0"/>
                  </a:rPr>
                  <a:t>$f'&lt;0$</a:t>
                </a:r>
                <a:r>
                  <a:rPr sz="2400" b="0">
                    <a:solidFill>
                      <a:srgbClr val="111827"/>
                    </a:solidFill>
                    <a:latin typeface="Arial"/>
                  </a:rPr>
                  <a:t> for </a:t>
                </a:r>
                <a:r>
                  <a:rPr lang="en-IN" sz="2400">
                    <a:solidFill>
                      <a:srgbClr val="111827"/>
                    </a:solidFill>
                    <a:latin typeface="Cambria Math" panose="02040503050406030204" pitchFamily="18" charset="0"/>
                  </a:rPr>
                  <a:t>$|x|&lt;1$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$f$</a:t>
                </a:r>
                <a:r>
                  <a:rPr sz="2400" b="0">
                    <a:solidFill>
                      <a:srgbClr val="111827"/>
                    </a:solidFill>
                    <a:latin typeface="Arial"/>
                  </a:rPr>
                  <a:t> increases on </a:t>
                </a:r>
                <a:r>
                  <a:rPr lang="en-IN" sz="2400">
                    <a:solidFill>
                      <a:srgbClr val="111827"/>
                    </a:solidFill>
                    <a:latin typeface="Cambria Math" panose="02040503050406030204" pitchFamily="18" charset="0"/>
                  </a:rPr>
                  <a:t>$(-\infty,-1)$</a:t>
                </a:r>
                <a:r>
                  <a:rPr sz="2400" b="0">
                    <a:solidFill>
                      <a:srgbClr val="111827"/>
                    </a:solidFill>
                    <a:latin typeface="Arial"/>
                  </a:rPr>
                  <a:t>, decreases on </a:t>
                </a:r>
                <a:r>
                  <a:rPr lang="en-IN" sz="2400">
                    <a:solidFill>
                      <a:srgbClr val="111827"/>
                    </a:solidFill>
                    <a:latin typeface="Cambria Math" panose="02040503050406030204" pitchFamily="18" charset="0"/>
                  </a:rPr>
                  <a:t>$(-1,1)$</a:t>
                </a:r>
                <a:r>
                  <a:rPr sz="2400" b="0">
                    <a:solidFill>
                      <a:srgbClr val="111827"/>
                    </a:solidFill>
                    <a:latin typeface="Arial"/>
                  </a:rPr>
                  <a:t>, increases on </a:t>
                </a:r>
                <a:r>
                  <a:rPr lang="en-IN" sz="2400">
                    <a:solidFill>
                      <a:srgbClr val="111827"/>
                    </a:solidFill>
                    <a:latin typeface="Cambria Math" panose="02040503050406030204" pitchFamily="18" charset="0"/>
                  </a:rPr>
                  <a:t>$(1,\infty)$</a:t>
                </a:r>
                <a:r>
                  <a:rPr sz="2400" b="0">
                    <a:solidFill>
                      <a:srgbClr val="111827"/>
                    </a:solidFill>
                    <a:latin typeface="Arial"/>
                  </a:rPr>
                  <a:t> (sketch of graph).</a:t>
                </a:r>
                <a:endParaRPr sz="2400">
                  <a:solidFill>
                    <a:srgbClr val="111827"/>
                  </a:solidFill>
                </a:endParaRPr>
              </a:p>
            </p:txBody>
          </p:sp>
        </mc:Fallback>
      </mc:AlternateContent>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Local maximum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local minimum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graph crosses the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-axis once in each of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there are 3 real roots.</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Local maximum </a:t>
                </a:r>
                <a:r>
                  <a:rPr lang="en-IN" sz="2400">
                    <a:solidFill>
                      <a:srgbClr val="111827"/>
                    </a:solidFill>
                    <a:latin typeface="Cambria Math" panose="02040503050406030204" pitchFamily="18" charset="0"/>
                  </a:rPr>
                  <a:t>$f(-1)=-1+7-2=4&gt;0$</a:t>
                </a:r>
                <a:r>
                  <a:rPr sz="2400" b="0">
                    <a:solidFill>
                      <a:srgbClr val="111827"/>
                    </a:solidFill>
                    <a:latin typeface="Arial"/>
                  </a:rPr>
                  <a:t>; local minimum </a:t>
                </a:r>
                <a:r>
                  <a:rPr lang="en-IN" sz="2400">
                    <a:solidFill>
                      <a:srgbClr val="111827"/>
                    </a:solidFill>
                    <a:latin typeface="Cambria Math" panose="02040503050406030204" pitchFamily="18" charset="0"/>
                  </a:rPr>
                  <a:t>$f(1)=1-7-2=-8&lt;0$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$f(x)\to-\infty$</a:t>
                </a:r>
                <a:r>
                  <a:rPr sz="2400" b="0">
                    <a:solidFill>
                      <a:srgbClr val="111827"/>
                    </a:solidFill>
                    <a:latin typeface="Arial"/>
                  </a:rPr>
                  <a:t> as </a:t>
                </a:r>
                <a:r>
                  <a:rPr lang="en-IN" sz="2400">
                    <a:solidFill>
                      <a:srgbClr val="111827"/>
                    </a:solidFill>
                    <a:latin typeface="Cambria Math" panose="02040503050406030204" pitchFamily="18" charset="0"/>
                  </a:rPr>
                  <a:t>$x\to-\infty$</a:t>
                </a:r>
                <a:r>
                  <a:rPr sz="2400" b="0">
                    <a:solidFill>
                      <a:srgbClr val="111827"/>
                    </a:solidFill>
                    <a:latin typeface="Arial"/>
                  </a:rPr>
                  <a:t> and </a:t>
                </a:r>
                <a:r>
                  <a:rPr lang="en-IN" sz="2400">
                    <a:solidFill>
                      <a:srgbClr val="111827"/>
                    </a:solidFill>
                    <a:latin typeface="Cambria Math" panose="02040503050406030204" pitchFamily="18" charset="0"/>
                  </a:rPr>
                  <a:t>$f(x)\to+\infty$</a:t>
                </a:r>
                <a:r>
                  <a:rPr sz="2400" b="0">
                    <a:solidFill>
                      <a:srgbClr val="111827"/>
                    </a:solidFill>
                    <a:latin typeface="Arial"/>
                  </a:rPr>
                  <a:t> as </a:t>
                </a:r>
                <a:r>
                  <a:rPr lang="en-IN" sz="2400">
                    <a:solidFill>
                      <a:srgbClr val="111827"/>
                    </a:solidFill>
                    <a:latin typeface="Cambria Math" panose="02040503050406030204" pitchFamily="18" charset="0"/>
                  </a:rPr>
                  <a:t>$x\to\infty$</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graph crosses the </a:t>
                </a:r>
                <a:r>
                  <a:rPr lang="en-IN" sz="2400">
                    <a:solidFill>
                      <a:srgbClr val="111827"/>
                    </a:solidFill>
                    <a:latin typeface="Cambria Math" panose="02040503050406030204" pitchFamily="18" charset="0"/>
                  </a:rPr>
                  <a:t>$x$</a:t>
                </a:r>
                <a:r>
                  <a:rPr sz="2400" b="0">
                    <a:solidFill>
                      <a:srgbClr val="111827"/>
                    </a:solidFill>
                    <a:latin typeface="Arial"/>
                  </a:rPr>
                  <a:t>-axis once in each of </a:t>
                </a:r>
                <a:r>
                  <a:rPr lang="en-IN" sz="2400">
                    <a:solidFill>
                      <a:srgbClr val="111827"/>
                    </a:solidFill>
                    <a:latin typeface="Cambria Math" panose="02040503050406030204" pitchFamily="18" charset="0"/>
                  </a:rPr>
                  <a:t>$(-\infty,-1)$</a:t>
                </a:r>
                <a:r>
                  <a:rPr sz="2400" b="0">
                    <a:solidFill>
                      <a:srgbClr val="111827"/>
                    </a:solidFill>
                    <a:latin typeface="Arial"/>
                  </a:rPr>
                  <a:t>, </a:t>
                </a:r>
                <a:r>
                  <a:rPr lang="en-IN" sz="2400">
                    <a:solidFill>
                      <a:srgbClr val="111827"/>
                    </a:solidFill>
                    <a:latin typeface="Cambria Math" panose="02040503050406030204" pitchFamily="18" charset="0"/>
                  </a:rPr>
                  <a:t>$(-1,1)$</a:t>
                </a:r>
                <a:r>
                  <a:rPr sz="2400" b="0">
                    <a:solidFill>
                      <a:srgbClr val="111827"/>
                    </a:solidFill>
                    <a:latin typeface="Arial"/>
                  </a:rPr>
                  <a:t>, </a:t>
                </a:r>
                <a:r>
                  <a:rPr lang="en-IN" sz="2400">
                    <a:solidFill>
                      <a:srgbClr val="111827"/>
                    </a:solidFill>
                    <a:latin typeface="Cambria Math" panose="02040503050406030204" pitchFamily="18" charset="0"/>
                  </a:rPr>
                  <a:t>$(1,\infty)$</a:t>
                </a:r>
                <a:r>
                  <a:rPr sz="2400" b="0">
                    <a:solidFill>
                      <a:srgbClr val="111827"/>
                    </a:solidFill>
                    <a:latin typeface="Arial"/>
                  </a:rPr>
                  <a:t>, so there are 3 real roots.</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3</a:t>
            </a:r>
            <a:endParaRPr sz="2800">
              <a:solidFill>
                <a:srgbClr val="15803D"/>
              </a:solidFill>
            </a:endParaRP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Descartes' rule of signs bounds the positive and negative roots; one sign check then fixes the count.</a:t>
            </a:r>
            <a:endParaRPr sz="2400">
              <a:solidFill>
                <a:srgbClr val="78350F"/>
              </a:solidFill>
            </a:endParaRPr>
          </a:p>
        </p:txBody>
      </p:sp>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7</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has signs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one sign change, so exactly 1 positive root.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7</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has signs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two sign changes, so 2 or 0 negative roots.</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sign changes in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in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give 2 negative roots.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real roots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$f(x)=x^7-7x-2$</a:t>
                </a:r>
                <a:r>
                  <a:rPr sz="2400" b="0">
                    <a:solidFill>
                      <a:srgbClr val="111827"/>
                    </a:solidFill>
                    <a:latin typeface="Arial"/>
                  </a:rPr>
                  <a:t> has signs </a:t>
                </a:r>
                <a:r>
                  <a:rPr lang="en-IN" sz="2400">
                    <a:solidFill>
                      <a:srgbClr val="111827"/>
                    </a:solidFill>
                    <a:latin typeface="Cambria Math" panose="02040503050406030204" pitchFamily="18" charset="0"/>
                  </a:rPr>
                  <a:t>$+,-,-$</a:t>
                </a:r>
                <a:r>
                  <a:rPr sz="2400" b="0">
                    <a:solidFill>
                      <a:srgbClr val="111827"/>
                    </a:solidFill>
                    <a:latin typeface="Arial"/>
                  </a:rPr>
                  <a:t>: one sign change, so exactly 1 positive root.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$f(-x)=-x^7+7x-2$</a:t>
                </a:r>
                <a:r>
                  <a:rPr sz="2400" b="0">
                    <a:solidFill>
                      <a:srgbClr val="111827"/>
                    </a:solidFill>
                    <a:latin typeface="Arial"/>
                  </a:rPr>
                  <a:t> has signs </a:t>
                </a:r>
                <a:r>
                  <a:rPr lang="en-IN" sz="2400">
                    <a:solidFill>
                      <a:srgbClr val="111827"/>
                    </a:solidFill>
                    <a:latin typeface="Cambria Math" panose="02040503050406030204" pitchFamily="18" charset="0"/>
                  </a:rPr>
                  <a:t>$-,+,-$</a:t>
                </a:r>
                <a:r>
                  <a:rPr sz="2400" b="0">
                    <a:solidFill>
                      <a:srgbClr val="111827"/>
                    </a:solidFill>
                    <a:latin typeface="Arial"/>
                  </a:rPr>
                  <a:t>: two sign changes, so 2 or 0 negative roots.</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$f(0)=-2&lt;0$</a:t>
                </a:r>
                <a:r>
                  <a:rPr sz="2400" b="0">
                    <a:solidFill>
                      <a:srgbClr val="111827"/>
                    </a:solidFill>
                    <a:latin typeface="Arial"/>
                  </a:rPr>
                  <a:t>, </a:t>
                </a:r>
                <a:r>
                  <a:rPr lang="en-IN" sz="2400">
                    <a:solidFill>
                      <a:srgbClr val="111827"/>
                    </a:solidFill>
                    <a:latin typeface="Cambria Math" panose="02040503050406030204" pitchFamily="18" charset="0"/>
                  </a:rPr>
                  <a:t>$f(-1)=4&gt;0$</a:t>
                </a:r>
                <a:r>
                  <a:rPr sz="2400" b="0">
                    <a:solidFill>
                      <a:srgbClr val="111827"/>
                    </a:solidFill>
                    <a:latin typeface="Arial"/>
                  </a:rPr>
                  <a:t>, and </a:t>
                </a:r>
                <a:r>
                  <a:rPr lang="en-IN" sz="2400">
                    <a:solidFill>
                      <a:srgbClr val="111827"/>
                    </a:solidFill>
                    <a:latin typeface="Cambria Math" panose="02040503050406030204" pitchFamily="18" charset="0"/>
                  </a:rPr>
                  <a:t>$f(x)\to-\infty$</a:t>
                </a:r>
                <a:r>
                  <a:rPr sz="2400" b="0">
                    <a:solidFill>
                      <a:srgbClr val="111827"/>
                    </a:solidFill>
                    <a:latin typeface="Arial"/>
                  </a:rPr>
                  <a:t> as </a:t>
                </a:r>
                <a:r>
                  <a:rPr lang="en-IN" sz="2400">
                    <a:solidFill>
                      <a:srgbClr val="111827"/>
                    </a:solidFill>
                    <a:latin typeface="Cambria Math" panose="02040503050406030204" pitchFamily="18" charset="0"/>
                  </a:rPr>
                  <a:t>$x\to-\infty$</a:t>
                </a:r>
                <a:r>
                  <a:rPr sz="2400" b="0">
                    <a:solidFill>
                      <a:srgbClr val="111827"/>
                    </a:solidFill>
                    <a:latin typeface="Arial"/>
                  </a:rPr>
                  <a:t>: sign changes in </a:t>
                </a:r>
                <a:r>
                  <a:rPr lang="en-IN" sz="2400">
                    <a:solidFill>
                      <a:srgbClr val="111827"/>
                    </a:solidFill>
                    <a:latin typeface="Cambria Math" panose="02040503050406030204" pitchFamily="18" charset="0"/>
                  </a:rPr>
                  <a:t>$(-1,0)$</a:t>
                </a:r>
                <a:r>
                  <a:rPr sz="2400" b="0">
                    <a:solidFill>
                      <a:srgbClr val="111827"/>
                    </a:solidFill>
                    <a:latin typeface="Arial"/>
                  </a:rPr>
                  <a:t> and in </a:t>
                </a:r>
                <a:r>
                  <a:rPr lang="en-IN" sz="2400">
                    <a:solidFill>
                      <a:srgbClr val="111827"/>
                    </a:solidFill>
                    <a:latin typeface="Cambria Math" panose="02040503050406030204" pitchFamily="18" charset="0"/>
                  </a:rPr>
                  <a:t>$(-\infty,-1)$</a:t>
                </a:r>
                <a:r>
                  <a:rPr sz="2400" b="0">
                    <a:solidFill>
                      <a:srgbClr val="111827"/>
                    </a:solidFill>
                    <a:latin typeface="Arial"/>
                  </a:rPr>
                  <a:t> give 2 negative roots.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real roots </a:t>
                </a:r>
                <a:r>
                  <a:rPr lang="en-IN" sz="2400">
                    <a:solidFill>
                      <a:srgbClr val="111827"/>
                    </a:solidFill>
                    <a:latin typeface="Cambria Math" panose="02040503050406030204" pitchFamily="18" charset="0"/>
                  </a:rPr>
                  <a:t>$=1+2=3$</a:t>
                </a:r>
                <a:r>
                  <a:rPr sz="2400" b="0">
                    <a:solidFill>
                      <a:srgbClr val="111827"/>
                    </a:solidFill>
                    <a:latin typeface="Arial"/>
                  </a:rPr>
                  <a:t>.</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3</a:t>
            </a:r>
            <a:endParaRPr sz="2800">
              <a:solidFill>
                <a:srgbClr val="15803D"/>
              </a:solidFill>
            </a:endParaRP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oMath>
                </a14:m>
                <a:r>
                  <a:rPr sz="2400" b="0">
                    <a:solidFill>
                      <a:srgbClr val="111827"/>
                    </a:solidFill>
                    <a:latin typeface="Arial"/>
                  </a:rPr>
                  <a:t>, extrema occur at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𝑝</m:t>
                        </m:r>
                      </m:num>
                      <m:den>
                        <m:r>
                          <a:rPr lang="en-IN" sz="2400" i="1">
                            <a:solidFill>
                              <a:srgbClr val="111827"/>
                            </a:solidFill>
                            <a:latin typeface="Cambria Math" panose="02040503050406030204" pitchFamily="18" charset="0"/>
                          </a:rPr>
                          <m:t>𝑛</m:t>
                        </m:r>
                      </m:den>
                    </m:f>
                  </m:oMath>
                </a14:m>
                <a:r>
                  <a:rPr sz="2400" b="0">
                    <a:solidFill>
                      <a:srgbClr val="111827"/>
                    </a:solidFill>
                    <a:latin typeface="Arial"/>
                  </a:rPr>
                  <a:t>; the number of real roots is decided by the signs of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at those points.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 continuous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has consecutive extremum values of opposite signs and goes to opposite infinities appropriately, each monotonic stretch holds exactly one root.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Descartes' rule: positive roots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number of sign changes in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the difference even); negative roots analogous using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Here local max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and local min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make three roots.</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$f(x)=x^n-px-q$</a:t>
                </a:r>
                <a:r>
                  <a:rPr sz="2400" b="0">
                    <a:solidFill>
                      <a:srgbClr val="111827"/>
                    </a:solidFill>
                    <a:latin typeface="Arial"/>
                  </a:rPr>
                  <a:t>, extrema occur at </a:t>
                </a:r>
                <a:r>
                  <a:rPr lang="en-IN" sz="2400">
                    <a:solidFill>
                      <a:srgbClr val="111827"/>
                    </a:solidFill>
                    <a:latin typeface="Cambria Math" panose="02040503050406030204" pitchFamily="18" charset="0"/>
                  </a:rPr>
                  <a:t>$x^{n-1}=\frac pn$</a:t>
                </a:r>
                <a:r>
                  <a:rPr sz="2400" b="0">
                    <a:solidFill>
                      <a:srgbClr val="111827"/>
                    </a:solidFill>
                    <a:latin typeface="Arial"/>
                  </a:rPr>
                  <a:t>; the number of real roots is decided by the signs of </a:t>
                </a:r>
                <a:r>
                  <a:rPr lang="en-IN" sz="2400">
                    <a:solidFill>
                      <a:srgbClr val="111827"/>
                    </a:solidFill>
                    <a:latin typeface="Cambria Math" panose="02040503050406030204" pitchFamily="18" charset="0"/>
                  </a:rPr>
                  <a:t>$f$</a:t>
                </a:r>
                <a:r>
                  <a:rPr sz="2400" b="0">
                    <a:solidFill>
                      <a:srgbClr val="111827"/>
                    </a:solidFill>
                    <a:latin typeface="Arial"/>
                  </a:rPr>
                  <a:t> at those points.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 continuous </a:t>
                </a:r>
                <a:r>
                  <a:rPr lang="en-IN" sz="2400">
                    <a:solidFill>
                      <a:srgbClr val="111827"/>
                    </a:solidFill>
                    <a:latin typeface="Cambria Math" panose="02040503050406030204" pitchFamily="18" charset="0"/>
                  </a:rPr>
                  <a:t>$f$</a:t>
                </a:r>
                <a:r>
                  <a:rPr sz="2400" b="0">
                    <a:solidFill>
                      <a:srgbClr val="111827"/>
                    </a:solidFill>
                    <a:latin typeface="Arial"/>
                  </a:rPr>
                  <a:t> has consecutive extremum values of opposite signs and goes to opposite infinities appropriately, each monotonic stretch holds exactly one root.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Descartes' rule: positive roots </a:t>
                </a:r>
                <a:r>
                  <a:rPr lang="en-IN" sz="2400">
                    <a:solidFill>
                      <a:srgbClr val="111827"/>
                    </a:solidFill>
                    <a:latin typeface="Cambria Math" panose="02040503050406030204" pitchFamily="18" charset="0"/>
                  </a:rPr>
                  <a:t>$\le$</a:t>
                </a:r>
                <a:r>
                  <a:rPr sz="2400" b="0">
                    <a:solidFill>
                      <a:srgbClr val="111827"/>
                    </a:solidFill>
                    <a:latin typeface="Arial"/>
                  </a:rPr>
                  <a:t> number of sign changes in </a:t>
                </a:r>
                <a:r>
                  <a:rPr lang="en-IN" sz="2400">
                    <a:solidFill>
                      <a:srgbClr val="111827"/>
                    </a:solidFill>
                    <a:latin typeface="Cambria Math" panose="02040503050406030204" pitchFamily="18" charset="0"/>
                  </a:rPr>
                  <a:t>$f(x)$</a:t>
                </a:r>
                <a:r>
                  <a:rPr sz="2400" b="0">
                    <a:solidFill>
                      <a:srgbClr val="111827"/>
                    </a:solidFill>
                    <a:latin typeface="Arial"/>
                  </a:rPr>
                  <a:t> (with the difference even); negative roots analogous using </a:t>
                </a:r>
                <a:r>
                  <a:rPr lang="en-IN" sz="2400">
                    <a:solidFill>
                      <a:srgbClr val="111827"/>
                    </a:solidFill>
                    <a:latin typeface="Cambria Math" panose="02040503050406030204" pitchFamily="18" charset="0"/>
                  </a:rPr>
                  <a:t>$f(-x)$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Here local max </a:t>
                </a:r>
                <a:r>
                  <a:rPr lang="en-IN" sz="2400">
                    <a:solidFill>
                      <a:srgbClr val="111827"/>
                    </a:solidFill>
                    <a:latin typeface="Cambria Math" panose="02040503050406030204" pitchFamily="18" charset="0"/>
                  </a:rPr>
                  <a:t>$4&gt;0$</a:t>
                </a:r>
                <a:r>
                  <a:rPr sz="2400" b="0">
                    <a:solidFill>
                      <a:srgbClr val="111827"/>
                    </a:solidFill>
                    <a:latin typeface="Arial"/>
                  </a:rPr>
                  <a:t> and local min </a:t>
                </a:r>
                <a:r>
                  <a:rPr lang="en-IN" sz="2400">
                    <a:solidFill>
                      <a:srgbClr val="111827"/>
                    </a:solidFill>
                    <a:latin typeface="Cambria Math" panose="02040503050406030204" pitchFamily="18" charset="0"/>
                  </a:rPr>
                  <a:t>$-8&lt;0$</a:t>
                </a:r>
                <a:r>
                  <a:rPr sz="2400" b="0">
                    <a:solidFill>
                      <a:srgbClr val="111827"/>
                    </a:solidFill>
                    <a:latin typeface="Arial"/>
                  </a:rPr>
                  <a:t> make three roots.</a:t>
                </a:r>
                <a:endParaRPr sz="2400">
                  <a:solidFill>
                    <a:srgbClr val="111827"/>
                  </a:solidFill>
                </a:endParaRPr>
              </a:p>
            </p:txBody>
          </p:sp>
        </mc:Fallback>
      </mc:AlternateContent>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44348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sSup>
                      <m:e>
                        <m:r>
                          <a:rPr lang="en-IN" sz="2400" i="1">
                            <a:solidFill>
                              <a:srgbClr val="111827"/>
                            </a:solidFill>
                            <a:latin typeface="Cambria Math" panose="02040503050406030204" pitchFamily="18" charset="0"/>
                          </a:rPr>
                          <m:t>λ</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be the largest value of </a:t>
                </a:r>
                <a14:m>
                  <m:oMath xmlns:m="http://schemas.openxmlformats.org/officeDocument/2006/math">
                    <m:r>
                      <a:rPr lang="en-IN" sz="2400" i="1">
                        <a:solidFill>
                          <a:srgbClr val="111827"/>
                        </a:solidFill>
                        <a:latin typeface="Cambria Math" panose="02040503050406030204" pitchFamily="18" charset="0"/>
                      </a:rPr>
                      <m:t>λ</m:t>
                    </m:r>
                  </m:oMath>
                </a14:m>
                <a:r>
                  <a:rPr sz="2400" b="0">
                    <a:solidFill>
                      <a:srgbClr val="111827"/>
                    </a:solidFill>
                    <a:latin typeface="Arial"/>
                  </a:rPr>
                  <a:t> for which the function </a:t>
                </a:r>
                <a14:m>
                  <m:oMath xmlns:m="http://schemas.openxmlformats.org/officeDocument/2006/math">
                    <m:sSub>
                      <m:e>
                        <m:r>
                          <a:rPr lang="en-IN" sz="2400" i="1">
                            <a:solidFill>
                              <a:srgbClr val="111827"/>
                            </a:solidFill>
                            <a:latin typeface="Cambria Math" panose="02040503050406030204" pitchFamily="18" charset="0"/>
                          </a:rPr>
                          <m:t>𝑓</m:t>
                        </m:r>
                      </m:e>
                      <m:sub>
                        <m:r>
                          <a:rPr lang="en-IN" sz="2400" i="1">
                            <a:solidFill>
                              <a:srgbClr val="111827"/>
                            </a:solidFill>
                            <a:latin typeface="Cambria Math" panose="02040503050406030204" pitchFamily="18" charset="0"/>
                          </a:rPr>
                          <m:t>λ</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λ</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r>
                      <a:rPr lang="en-IN" sz="2400" i="1">
                        <a:solidFill>
                          <a:srgbClr val="111827"/>
                        </a:solidFill>
                        <a:latin typeface="Cambria Math" panose="02040503050406030204" pitchFamily="18" charset="0"/>
                      </a:rPr>
                      <m:t>λ</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48</m:t>
                    </m:r>
                  </m:oMath>
                </a14:m>
                <a:r>
                  <a:rPr sz="2400" b="0">
                    <a:solidFill>
                      <a:srgbClr val="111827"/>
                    </a:solidFill>
                    <a:latin typeface="Arial"/>
                  </a:rPr>
                  <a:t> is increasing for all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R</m:t>
                    </m:r>
                  </m:oMath>
                </a14:m>
                <a:r>
                  <a:rPr sz="2400" b="0">
                    <a:solidFill>
                      <a:srgbClr val="111827"/>
                    </a:solidFill>
                    <a:latin typeface="Arial"/>
                  </a:rPr>
                  <a:t>. Then </a:t>
                </a:r>
                <a14:m>
                  <m:oMath xmlns:m="http://schemas.openxmlformats.org/officeDocument/2006/math">
                    <m:sSub>
                      <m:e>
                        <m:r>
                          <a:rPr lang="en-IN" sz="2400" i="1">
                            <a:solidFill>
                              <a:srgbClr val="111827"/>
                            </a:solidFill>
                            <a:latin typeface="Cambria Math" panose="02040503050406030204" pitchFamily="18" charset="0"/>
                          </a:rPr>
                          <m:t>𝑓</m:t>
                        </m:r>
                      </m:e>
                      <m:sub>
                        <m:sSup>
                          <m:e>
                            <m:r>
                              <a:rPr lang="en-IN" sz="2400" i="1">
                                <a:solidFill>
                                  <a:srgbClr val="111827"/>
                                </a:solidFill>
                                <a:latin typeface="Cambria Math" panose="02040503050406030204" pitchFamily="18" charset="0"/>
                              </a:rPr>
                              <m:t>λ</m:t>
                            </m:r>
                          </m:e>
                          <m:sup>
                            <m:r>
                              <m:rPr>
                                <m:sty m:val="p"/>
                              </m:rPr>
                              <a:rPr lang="en-IN" sz="2400">
                                <a:solidFill>
                                  <a:srgbClr val="111827"/>
                                </a:solidFill>
                                <a:latin typeface="Cambria Math" panose="02040503050406030204" pitchFamily="18" charset="0"/>
                              </a:rPr>
                              <m:t>*</m:t>
                            </m:r>
                          </m:sup>
                        </m:sSup>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𝑓</m:t>
                        </m:r>
                      </m:e>
                      <m:sub>
                        <m:sSup>
                          <m:e>
                            <m:r>
                              <a:rPr lang="en-IN" sz="2400" i="1">
                                <a:solidFill>
                                  <a:srgbClr val="111827"/>
                                </a:solidFill>
                                <a:latin typeface="Cambria Math" panose="02040503050406030204" pitchFamily="18" charset="0"/>
                              </a:rPr>
                              <m:t>λ</m:t>
                            </m:r>
                          </m:e>
                          <m:sup>
                            <m:r>
                              <m:rPr>
                                <m:sty m:val="p"/>
                              </m:rPr>
                              <a:rPr lang="en-IN" sz="2400">
                                <a:solidFill>
                                  <a:srgbClr val="111827"/>
                                </a:solidFill>
                                <a:latin typeface="Cambria Math" panose="02040503050406030204" pitchFamily="18" charset="0"/>
                              </a:rPr>
                              <m:t>*</m:t>
                            </m:r>
                          </m:sup>
                        </m:sSup>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36   (B) 48   (C) 64   (D) 72</a:t>
                </a:r>
                <a:endParaRPr sz="2400">
                  <a:solidFill>
                    <a:srgbClr val="111827"/>
                  </a:solidFill>
                </a:endParaRPr>
              </a:p>
            </p:txBody>
          </p:sp>
        </mc:Choice>
        <mc:Fallback>
          <p:sp>
            <p:nvSpPr>
              <p:cNvPr id="4" name="Rounded Rectangle 3"/>
              <p:cNvSpPr/>
              <p:nvPr/>
            </p:nvSpPr>
            <p:spPr>
              <a:xfrm>
                <a:off x="731520" y="1280160"/>
                <a:ext cx="10725912" cy="244348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$\lambda^*$</a:t>
                </a:r>
                <a:r>
                  <a:rPr sz="2400" b="0">
                    <a:solidFill>
                      <a:srgbClr val="111827"/>
                    </a:solidFill>
                    <a:latin typeface="Arial"/>
                  </a:rPr>
                  <a:t> be the largest value of </a:t>
                </a:r>
                <a:r>
                  <a:rPr lang="en-IN" sz="2400">
                    <a:solidFill>
                      <a:srgbClr val="111827"/>
                    </a:solidFill>
                    <a:latin typeface="Cambria Math" panose="02040503050406030204" pitchFamily="18" charset="0"/>
                  </a:rPr>
                  <a:t>$\lambda$</a:t>
                </a:r>
                <a:r>
                  <a:rPr sz="2400" b="0">
                    <a:solidFill>
                      <a:srgbClr val="111827"/>
                    </a:solidFill>
                    <a:latin typeface="Arial"/>
                  </a:rPr>
                  <a:t> for which the function </a:t>
                </a:r>
                <a:r>
                  <a:rPr lang="en-IN" sz="2400">
                    <a:solidFill>
                      <a:srgbClr val="111827"/>
                    </a:solidFill>
                    <a:latin typeface="Cambria Math" panose="02040503050406030204" pitchFamily="18" charset="0"/>
                  </a:rPr>
                  <a:t>$f_\lambda(x)=4\lambda x^3-36\lambda x^2+36x+48$</a:t>
                </a:r>
                <a:r>
                  <a:rPr sz="2400" b="0">
                    <a:solidFill>
                      <a:srgbClr val="111827"/>
                    </a:solidFill>
                    <a:latin typeface="Arial"/>
                  </a:rPr>
                  <a:t> is increasing for all </a:t>
                </a:r>
                <a:r>
                  <a:rPr lang="en-IN" sz="2400">
                    <a:solidFill>
                      <a:srgbClr val="111827"/>
                    </a:solidFill>
                    <a:latin typeface="Cambria Math" panose="02040503050406030204" pitchFamily="18" charset="0"/>
                  </a:rPr>
                  <a:t>$x\in\mathbb R$</a:t>
                </a:r>
                <a:r>
                  <a:rPr sz="2400" b="0">
                    <a:solidFill>
                      <a:srgbClr val="111827"/>
                    </a:solidFill>
                    <a:latin typeface="Arial"/>
                  </a:rPr>
                  <a:t>. Then </a:t>
                </a:r>
                <a:r>
                  <a:rPr lang="en-IN" sz="2400">
                    <a:solidFill>
                      <a:srgbClr val="111827"/>
                    </a:solidFill>
                    <a:latin typeface="Cambria Math" panose="02040503050406030204" pitchFamily="18" charset="0"/>
                  </a:rPr>
                  <a:t>$f_{\lambda^*}(1)+f_{\lambda^*}(-1)$</a:t>
                </a:r>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36   (B) 48   (C) 64   (D) 72</a:t>
                </a:r>
                <a:endParaRPr sz="2400">
                  <a:solidFill>
                    <a:srgbClr val="111827"/>
                  </a:solidFill>
                </a:endParaRPr>
              </a:p>
            </p:txBody>
          </p:sp>
        </mc:Fallback>
      </mc:AlternateContent>
      <p:sp>
        <p:nvSpPr>
          <p:cNvPr id="5" name="Rectangle 4"/>
          <p:cNvSpPr/>
          <p:nvPr/>
        </p:nvSpPr>
        <p:spPr>
          <a:xfrm>
            <a:off x="731520" y="3952239"/>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Monotonicity of a function (condition on a parameter)</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Increasing for all </a:t>
                </a:r>
                <a14:m>
                  <m:oMath xmlns:m="http://schemas.openxmlformats.org/officeDocument/2006/math">
                    <m:r>
                      <a:rPr lang="en-IN" sz="2400" i="1">
                        <a:solidFill>
                          <a:srgbClr val="78350F"/>
                        </a:solidFill>
                        <a:latin typeface="Cambria Math" panose="02040503050406030204" pitchFamily="18" charset="0"/>
                      </a:rPr>
                      <m:t>𝑥</m:t>
                    </m:r>
                  </m:oMath>
                </a14:m>
                <a:r>
                  <a:rPr sz="2400" b="0">
                    <a:solidFill>
                      <a:srgbClr val="78350F"/>
                    </a:solidFill>
                    <a:latin typeface="Arial"/>
                  </a:rPr>
                  <a:t> needs </a:t>
                </a:r>
                <a14:m>
                  <m:oMath xmlns:m="http://schemas.openxmlformats.org/officeDocument/2006/math">
                    <m:sSup>
                      <m:e>
                        <m:r>
                          <a:rPr lang="en-IN" sz="2400" i="1">
                            <a:solidFill>
                              <a:srgbClr val="78350F"/>
                            </a:solidFill>
                            <a:latin typeface="Cambria Math" panose="02040503050406030204" pitchFamily="18" charset="0"/>
                          </a:rPr>
                          <m:t>𝑓</m:t>
                        </m:r>
                      </m:e>
                      <m:sup>
                        <m:r>
                          <m:rPr>
                            <m:sty m:val="p"/>
                          </m:rPr>
                          <a:rPr lang="en-IN" sz="2400">
                            <a:solidFill>
                              <a:srgbClr val="78350F"/>
                            </a:solidFill>
                            <a:latin typeface="Cambria Math" panose="02040503050406030204" pitchFamily="18" charset="0"/>
                          </a:rPr>
                          <m:t>′</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oMath>
                </a14:m>
                <a:r>
                  <a:rPr sz="2400" b="0">
                    <a:solidFill>
                      <a:srgbClr val="78350F"/>
                    </a:solidFill>
                    <a:latin typeface="Arial"/>
                  </a:rPr>
                  <a:t>, a quadratic condition: positive leading coefficient and discriminant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Increasing for all </a:t>
                </a:r>
                <a:r>
                  <a:rPr lang="en-IN" sz="2400">
                    <a:solidFill>
                      <a:srgbClr val="78350F"/>
                    </a:solidFill>
                    <a:latin typeface="Cambria Math" panose="02040503050406030204" pitchFamily="18" charset="0"/>
                  </a:rPr>
                  <a:t>$x$</a:t>
                </a:r>
                <a:r>
                  <a:rPr sz="2400" b="0">
                    <a:solidFill>
                      <a:srgbClr val="78350F"/>
                    </a:solidFill>
                    <a:latin typeface="Arial"/>
                  </a:rPr>
                  <a:t> needs </a:t>
                </a:r>
                <a:r>
                  <a:rPr lang="en-IN" sz="2400">
                    <a:solidFill>
                      <a:srgbClr val="78350F"/>
                    </a:solidFill>
                    <a:latin typeface="Cambria Math" panose="02040503050406030204" pitchFamily="18" charset="0"/>
                  </a:rPr>
                  <a:t>$f'\ge0$</a:t>
                </a:r>
                <a:r>
                  <a:rPr sz="2400" b="0">
                    <a:solidFill>
                      <a:srgbClr val="78350F"/>
                    </a:solidFill>
                    <a:latin typeface="Arial"/>
                  </a:rPr>
                  <a:t>, a quadratic condition: positive leading coefficient and discriminant </a:t>
                </a:r>
                <a:r>
                  <a:rPr lang="en-IN" sz="2400">
                    <a:solidFill>
                      <a:srgbClr val="78350F"/>
                    </a:solidFill>
                    <a:latin typeface="Cambria Math" panose="02040503050406030204" pitchFamily="18" charset="0"/>
                  </a:rPr>
                  <a:t>$\le0$</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bSup>
                      <m:e>
                        <m:r>
                          <a:rPr lang="en-IN" sz="2400" i="1">
                            <a:solidFill>
                              <a:srgbClr val="111827"/>
                            </a:solidFill>
                            <a:latin typeface="Cambria Math" panose="02040503050406030204" pitchFamily="18" charset="0"/>
                          </a:rPr>
                          <m:t>𝑓</m:t>
                        </m:r>
                      </m:e>
                      <m:sub>
                        <m:r>
                          <a:rPr lang="en-IN" sz="2400" i="1">
                            <a:solidFill>
                              <a:srgbClr val="111827"/>
                            </a:solidFill>
                            <a:latin typeface="Cambria Math" panose="02040503050406030204" pitchFamily="18" charset="0"/>
                          </a:rPr>
                          <m:t>λ</m:t>
                        </m:r>
                      </m:sub>
                      <m:sup>
                        <m:r>
                          <m:rPr>
                            <m:sty m:val="p"/>
                          </m:rPr>
                          <a:rPr lang="en-IN" sz="2400">
                            <a:solidFill>
                              <a:srgbClr val="111827"/>
                            </a:solidFill>
                            <a:latin typeface="Cambria Math" panose="02040503050406030204" pitchFamily="18" charset="0"/>
                          </a:rPr>
                          <m:t>′</m:t>
                        </m:r>
                      </m:sup>
                    </m:sSub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a:rPr lang="en-IN" sz="2400" i="1">
                        <a:solidFill>
                          <a:srgbClr val="111827"/>
                        </a:solidFill>
                        <a:latin typeface="Cambria Math" panose="02040503050406030204" pitchFamily="18" charset="0"/>
                      </a:rPr>
                      <m:t>λ</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72</m:t>
                    </m:r>
                    <m:r>
                      <a:rPr lang="en-IN" sz="2400" i="1">
                        <a:solidFill>
                          <a:srgbClr val="111827"/>
                        </a:solidFill>
                        <a:latin typeface="Cambria Math" panose="02040503050406030204" pitchFamily="18" charset="0"/>
                      </a:rPr>
                      <m:t>λ</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λ</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λ</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Increasing for all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needs </a:t>
                </a:r>
                <a14:m>
                  <m:oMath xmlns:m="http://schemas.openxmlformats.org/officeDocument/2006/math">
                    <m:r>
                      <a:rPr lang="en-IN" sz="2400" i="1">
                        <a:solidFill>
                          <a:srgbClr val="111827"/>
                        </a:solidFill>
                        <a:latin typeface="Cambria Math" panose="02040503050406030204" pitchFamily="18" charset="0"/>
                      </a:rPr>
                      <m:t>λ</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λ</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for all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the leading coefficient must satisfy </a:t>
                </a:r>
                <a14:m>
                  <m:oMath xmlns:m="http://schemas.openxmlformats.org/officeDocument/2006/math">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 (1)</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and the discriminant must satisfy </a:t>
                </a:r>
                <a14:m>
                  <m:oMath xmlns:m="http://schemas.openxmlformats.org/officeDocument/2006/math">
                    <m:r>
                      <a:rPr lang="en-IN" sz="2400" i="1">
                        <a:solidFill>
                          <a:srgbClr val="111827"/>
                        </a:solidFill>
                        <a:latin typeface="Cambria Math" panose="02040503050406030204" pitchFamily="18" charset="0"/>
                      </a:rPr>
                      <m:t>36</m:t>
                    </m:r>
                    <m:sSup>
                      <m:e>
                        <m:r>
                          <a:rPr lang="en-IN" sz="2400" i="1">
                            <a:solidFill>
                              <a:srgbClr val="111827"/>
                            </a:solidFill>
                            <a:latin typeface="Cambria Math" panose="02040503050406030204" pitchFamily="18" charset="0"/>
                          </a:rPr>
                          <m:t>λ</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 (2)</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From (2): </a:t>
                </a:r>
                <a14:m>
                  <m:oMath xmlns:m="http://schemas.openxmlformats.org/officeDocument/2006/math">
                    <m:r>
                      <a:rPr lang="en-IN" sz="2400" i="1">
                        <a:solidFill>
                          <a:srgbClr val="111827"/>
                        </a:solidFill>
                        <a:latin typeface="Cambria Math" panose="02040503050406030204" pitchFamily="18" charset="0"/>
                      </a:rPr>
                      <m:t>12</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with (1), </a:t>
                </a:r>
                <a14:m>
                  <m:oMath xmlns:m="http://schemas.openxmlformats.org/officeDocument/2006/math">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e>
                    </m:d>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$f_\lambda'(x)=12\lambda x^2-72\lambda x+36=12\left(\lambda x^2-6\lambda x+3\right)$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Increasing for all </a:t>
                </a:r>
                <a:r>
                  <a:rPr lang="en-IN" sz="2400">
                    <a:solidFill>
                      <a:srgbClr val="111827"/>
                    </a:solidFill>
                    <a:latin typeface="Cambria Math" panose="02040503050406030204" pitchFamily="18" charset="0"/>
                  </a:rPr>
                  <a:t>$x$</a:t>
                </a:r>
                <a:r>
                  <a:rPr sz="2400" b="0">
                    <a:solidFill>
                      <a:srgbClr val="111827"/>
                    </a:solidFill>
                    <a:latin typeface="Arial"/>
                  </a:rPr>
                  <a:t> needs </a:t>
                </a:r>
                <a:r>
                  <a:rPr lang="en-IN" sz="2400">
                    <a:solidFill>
                      <a:srgbClr val="111827"/>
                    </a:solidFill>
                    <a:latin typeface="Cambria Math" panose="02040503050406030204" pitchFamily="18" charset="0"/>
                  </a:rPr>
                  <a:t>$\lambda x^2-6\lambda x+3\ge0$</a:t>
                </a:r>
                <a:r>
                  <a:rPr sz="2400" b="0">
                    <a:solidFill>
                      <a:srgbClr val="111827"/>
                    </a:solidFill>
                    <a:latin typeface="Arial"/>
                  </a:rPr>
                  <a:t> for all </a:t>
                </a:r>
                <a:r>
                  <a:rPr lang="en-IN" sz="2400">
                    <a:solidFill>
                      <a:srgbClr val="111827"/>
                    </a:solidFill>
                    <a:latin typeface="Cambria Math" panose="02040503050406030204" pitchFamily="18" charset="0"/>
                  </a:rPr>
                  <a:t>$x$</a:t>
                </a:r>
                <a:r>
                  <a:rPr sz="2400" b="0">
                    <a:solidFill>
                      <a:srgbClr val="111827"/>
                    </a:solidFill>
                    <a:latin typeface="Arial"/>
                  </a:rPr>
                  <a:t>: the leading coefficient must satisfy </a:t>
                </a:r>
                <a:r>
                  <a:rPr lang="en-IN" sz="2400">
                    <a:solidFill>
                      <a:srgbClr val="111827"/>
                    </a:solidFill>
                    <a:latin typeface="Cambria Math" panose="02040503050406030204" pitchFamily="18" charset="0"/>
                  </a:rPr>
                  <a:t>$\lambda&gt;0$</a:t>
                </a:r>
                <a:r>
                  <a:rPr sz="2400" b="0">
                    <a:solidFill>
                      <a:srgbClr val="111827"/>
                    </a:solidFill>
                    <a:latin typeface="Arial"/>
                  </a:rPr>
                  <a:t> ... (1)</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and the discriminant must satisfy </a:t>
                </a:r>
                <a:r>
                  <a:rPr lang="en-IN" sz="2400">
                    <a:solidFill>
                      <a:srgbClr val="111827"/>
                    </a:solidFill>
                    <a:latin typeface="Cambria Math" panose="02040503050406030204" pitchFamily="18" charset="0"/>
                  </a:rPr>
                  <a:t>$36\lambda^2-12\lambda\le0$</a:t>
                </a:r>
                <a:r>
                  <a:rPr sz="2400" b="0">
                    <a:solidFill>
                      <a:srgbClr val="111827"/>
                    </a:solidFill>
                    <a:latin typeface="Arial"/>
                  </a:rPr>
                  <a:t> ... (2)</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From (2): </a:t>
                </a:r>
                <a:r>
                  <a:rPr lang="en-IN" sz="2400">
                    <a:solidFill>
                      <a:srgbClr val="111827"/>
                    </a:solidFill>
                    <a:latin typeface="Cambria Math" panose="02040503050406030204" pitchFamily="18" charset="0"/>
                  </a:rPr>
                  <a:t>$12\lambda(3\lambda-1)\le0\Rightarrow0\le\lambda\le\frac13$</a:t>
                </a:r>
                <a:r>
                  <a:rPr sz="2400" b="0">
                    <a:solidFill>
                      <a:srgbClr val="111827"/>
                    </a:solidFill>
                    <a:latin typeface="Arial"/>
                  </a:rPr>
                  <a:t>; with (1), </a:t>
                </a:r>
                <a:r>
                  <a:rPr lang="en-IN" sz="2400">
                    <a:solidFill>
                      <a:srgbClr val="111827"/>
                    </a:solidFill>
                    <a:latin typeface="Cambria Math" panose="02040503050406030204" pitchFamily="18" charset="0"/>
                  </a:rPr>
                  <a:t>$\lambda\in\left(0,\frac13\right]$</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Largest value: </a:t>
                </a:r>
                <a14:m>
                  <m:oMath xmlns:m="http://schemas.openxmlformats.org/officeDocument/2006/math">
                    <m:sSup>
                      <m:e>
                        <m:r>
                          <a:rPr lang="en-IN" sz="2400" i="1">
                            <a:solidFill>
                              <a:srgbClr val="111827"/>
                            </a:solidFill>
                            <a:latin typeface="Cambria Math" panose="02040503050406030204" pitchFamily="18" charset="0"/>
                          </a:rPr>
                          <m:t>λ</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3</m:t>
                        </m:r>
                      </m:den>
                    </m:f>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48</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48</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48</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72</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Largest value: </a:t>
                </a:r>
                <a:r>
                  <a:rPr lang="en-IN" sz="2400">
                    <a:solidFill>
                      <a:srgbClr val="111827"/>
                    </a:solidFill>
                    <a:latin typeface="Cambria Math" panose="02040503050406030204" pitchFamily="18" charset="0"/>
                  </a:rPr>
                  <a:t>$\lambda^*=\frac13$</a:t>
                </a:r>
                <a:r>
                  <a:rPr sz="2400" b="0">
                    <a:solidFill>
                      <a:srgbClr val="111827"/>
                    </a:solidFill>
                    <a:latin typeface="Arial"/>
                  </a:rPr>
                  <a:t>, so </a:t>
                </a:r>
                <a:r>
                  <a:rPr lang="en-IN" sz="2400">
                    <a:solidFill>
                      <a:srgbClr val="111827"/>
                    </a:solidFill>
                    <a:latin typeface="Cambria Math" panose="02040503050406030204" pitchFamily="18" charset="0"/>
                  </a:rPr>
                  <a:t>$f(x)=\frac43x^3-12x^2+36x+48$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$f(1)=\frac43-12+36+48$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$f(-1)=-\frac43-12-36+48$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$f(1)+f(-1)=72$</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72</a:t>
            </a:r>
            <a:endParaRPr sz="2800">
              <a:solidFill>
                <a:srgbClr val="15803D"/>
              </a:solidFill>
            </a:endParaRP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Complete the square in </a:t>
                </a:r>
                <a14:m>
                  <m:oMath xmlns:m="http://schemas.openxmlformats.org/officeDocument/2006/math">
                    <m:sSup>
                      <m:e>
                        <m:r>
                          <a:rPr lang="en-IN" sz="2400" i="1">
                            <a:solidFill>
                              <a:srgbClr val="78350F"/>
                            </a:solidFill>
                            <a:latin typeface="Cambria Math" panose="02040503050406030204" pitchFamily="18" charset="0"/>
                          </a:rPr>
                          <m:t>𝑓</m:t>
                        </m:r>
                      </m:e>
                      <m:sup>
                        <m:r>
                          <m:rPr>
                            <m:sty m:val="p"/>
                          </m:rPr>
                          <a:rPr lang="en-IN" sz="2400">
                            <a:solidFill>
                              <a:srgbClr val="78350F"/>
                            </a:solidFill>
                            <a:latin typeface="Cambria Math" panose="02040503050406030204" pitchFamily="18" charset="0"/>
                          </a:rPr>
                          <m:t>′</m:t>
                        </m:r>
                      </m:sup>
                    </m:sSup>
                  </m:oMath>
                </a14:m>
                <a:r>
                  <a:rPr sz="2400" b="0">
                    <a:solidFill>
                      <a:srgbClr val="78350F"/>
                    </a:solidFill>
                    <a:latin typeface="Arial"/>
                  </a:rPr>
                  <a:t> and use that odd powers cancel in </a:t>
                </a:r>
                <a14:m>
                  <m:oMath xmlns:m="http://schemas.openxmlformats.org/officeDocument/2006/math">
                    <m:r>
                      <a:rPr lang="en-IN" sz="2400" i="1">
                        <a:solidFill>
                          <a:srgbClr val="78350F"/>
                        </a:solidFill>
                        <a:latin typeface="Cambria Math" panose="02040503050406030204" pitchFamily="18" charset="0"/>
                      </a:rPr>
                      <m:t>𝑓</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𝑓</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Complete the square in </a:t>
                </a:r>
                <a:r>
                  <a:rPr lang="en-IN" sz="2400">
                    <a:solidFill>
                      <a:srgbClr val="78350F"/>
                    </a:solidFill>
                    <a:latin typeface="Cambria Math" panose="02040503050406030204" pitchFamily="18" charset="0"/>
                  </a:rPr>
                  <a:t>$f'$</a:t>
                </a:r>
                <a:r>
                  <a:rPr sz="2400" b="0">
                    <a:solidFill>
                      <a:srgbClr val="78350F"/>
                    </a:solidFill>
                    <a:latin typeface="Arial"/>
                  </a:rPr>
                  <a:t> and use that odd powers cancel in </a:t>
                </a:r>
                <a:r>
                  <a:rPr lang="en-IN" sz="2400">
                    <a:solidFill>
                      <a:srgbClr val="78350F"/>
                    </a:solidFill>
                    <a:latin typeface="Cambria Math" panose="02040503050406030204" pitchFamily="18" charset="0"/>
                  </a:rPr>
                  <a:t>$f(1)+f(-1)$</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λ</m:t>
                        </m:r>
                      </m:e>
                    </m:d>
                  </m:oMath>
                </a14:m>
                <a:r>
                  <a:rPr sz="2400" b="0">
                    <a:solidFill>
                      <a:srgbClr val="111827"/>
                    </a:solidFill>
                    <a:latin typeface="Arial"/>
                  </a:rPr>
                  <a:t>, with minimum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when </a:t>
                </a:r>
                <a14:m>
                  <m:oMath xmlns:m="http://schemas.openxmlformats.org/officeDocument/2006/math">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for all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needs </a:t>
                </a:r>
                <a14:m>
                  <m:oMath xmlns:m="http://schemas.openxmlformats.org/officeDocument/2006/math">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hence </a:t>
                </a:r>
                <a14:m>
                  <m:oMath xmlns:m="http://schemas.openxmlformats.org/officeDocument/2006/math">
                    <m:sSup>
                      <m:e>
                        <m:r>
                          <a:rPr lang="en-IN" sz="2400" i="1">
                            <a:solidFill>
                              <a:srgbClr val="111827"/>
                            </a:solidFill>
                            <a:latin typeface="Cambria Math" panose="02040503050406030204" pitchFamily="18" charset="0"/>
                          </a:rPr>
                          <m:t>λ</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odd part </a:t>
                </a:r>
                <a14:m>
                  <m:oMath xmlns:m="http://schemas.openxmlformats.org/officeDocument/2006/math">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λ</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r>
                      <a:rPr lang="en-IN" sz="2400" i="1">
                        <a:solidFill>
                          <a:srgbClr val="111827"/>
                        </a:solidFill>
                        <a:latin typeface="Cambria Math" panose="02040503050406030204" pitchFamily="18" charset="0"/>
                      </a:rPr>
                      <m:t>𝑥</m:t>
                    </m:r>
                  </m:oMath>
                </a14:m>
                <a:r>
                  <a:rPr sz="2400" b="0">
                    <a:solidFill>
                      <a:srgbClr val="111827"/>
                    </a:solidFill>
                    <a:latin typeface="Arial"/>
                  </a:rPr>
                  <a:t> cancels, leaving </a:t>
                </a:r>
                <a14:m>
                  <m:oMath xmlns:m="http://schemas.openxmlformats.org/officeDocument/2006/math">
                    <m:r>
                      <a:rPr lang="en-IN" sz="2400" i="1">
                        <a:solidFill>
                          <a:srgbClr val="111827"/>
                        </a:solidFill>
                        <a:latin typeface="Cambria Math" panose="02040503050406030204" pitchFamily="18" charset="0"/>
                      </a:rPr>
                      <m:t>2</m:t>
                    </m:r>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48</m:t>
                        </m:r>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At </a:t>
                </a:r>
                <a14:m>
                  <m:oMath xmlns:m="http://schemas.openxmlformats.org/officeDocument/2006/math">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48</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72</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$f'=12\left[\lambda(x-3)^2+3-9\lambda\right]$</a:t>
                </a:r>
                <a:r>
                  <a:rPr sz="2400" b="0">
                    <a:solidFill>
                      <a:srgbClr val="111827"/>
                    </a:solidFill>
                    <a:latin typeface="Arial"/>
                  </a:rPr>
                  <a:t>, with minimum at </a:t>
                </a:r>
                <a:r>
                  <a:rPr lang="en-IN" sz="2400">
                    <a:solidFill>
                      <a:srgbClr val="111827"/>
                    </a:solidFill>
                    <a:latin typeface="Cambria Math" panose="02040503050406030204" pitchFamily="18" charset="0"/>
                  </a:rPr>
                  <a:t>$x=3$</a:t>
                </a:r>
                <a:r>
                  <a:rPr sz="2400" b="0">
                    <a:solidFill>
                      <a:srgbClr val="111827"/>
                    </a:solidFill>
                    <a:latin typeface="Arial"/>
                  </a:rPr>
                  <a:t> when </a:t>
                </a:r>
                <a:r>
                  <a:rPr lang="en-IN" sz="2400">
                    <a:solidFill>
                      <a:srgbClr val="111827"/>
                    </a:solidFill>
                    <a:latin typeface="Cambria Math" panose="02040503050406030204" pitchFamily="18" charset="0"/>
                  </a:rPr>
                  <a:t>$\lambda&gt;0$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$f'\ge0$</a:t>
                </a:r>
                <a:r>
                  <a:rPr sz="2400" b="0">
                    <a:solidFill>
                      <a:srgbClr val="111827"/>
                    </a:solidFill>
                    <a:latin typeface="Arial"/>
                  </a:rPr>
                  <a:t> for all </a:t>
                </a:r>
                <a:r>
                  <a:rPr lang="en-IN" sz="2400">
                    <a:solidFill>
                      <a:srgbClr val="111827"/>
                    </a:solidFill>
                    <a:latin typeface="Cambria Math" panose="02040503050406030204" pitchFamily="18" charset="0"/>
                  </a:rPr>
                  <a:t>$x$</a:t>
                </a:r>
                <a:r>
                  <a:rPr sz="2400" b="0">
                    <a:solidFill>
                      <a:srgbClr val="111827"/>
                    </a:solidFill>
                    <a:latin typeface="Arial"/>
                  </a:rPr>
                  <a:t> needs </a:t>
                </a:r>
                <a:r>
                  <a:rPr lang="en-IN" sz="2400">
                    <a:solidFill>
                      <a:srgbClr val="111827"/>
                    </a:solidFill>
                    <a:latin typeface="Cambria Math" panose="02040503050406030204" pitchFamily="18" charset="0"/>
                  </a:rPr>
                  <a:t>$\lambda\ge0$</a:t>
                </a:r>
                <a:r>
                  <a:rPr sz="2400" b="0">
                    <a:solidFill>
                      <a:srgbClr val="111827"/>
                    </a:solidFill>
                    <a:latin typeface="Arial"/>
                  </a:rPr>
                  <a:t> and </a:t>
                </a:r>
                <a:r>
                  <a:rPr lang="en-IN" sz="2400">
                    <a:solidFill>
                      <a:srgbClr val="111827"/>
                    </a:solidFill>
                    <a:latin typeface="Cambria Math" panose="02040503050406030204" pitchFamily="18" charset="0"/>
                  </a:rPr>
                  <a:t>$3-9\lambda\ge0$</a:t>
                </a:r>
                <a:r>
                  <a:rPr sz="2400" b="0">
                    <a:solidFill>
                      <a:srgbClr val="111827"/>
                    </a:solidFill>
                    <a:latin typeface="Arial"/>
                  </a:rPr>
                  <a:t>, so </a:t>
                </a:r>
                <a:r>
                  <a:rPr lang="en-IN" sz="2400">
                    <a:solidFill>
                      <a:srgbClr val="111827"/>
                    </a:solidFill>
                    <a:latin typeface="Cambria Math" panose="02040503050406030204" pitchFamily="18" charset="0"/>
                  </a:rPr>
                  <a:t>$\lambda\le\frac13$</a:t>
                </a:r>
                <a:r>
                  <a:rPr sz="2400" b="0">
                    <a:solidFill>
                      <a:srgbClr val="111827"/>
                    </a:solidFill>
                    <a:latin typeface="Arial"/>
                  </a:rPr>
                  <a:t>; hence </a:t>
                </a:r>
                <a:r>
                  <a:rPr lang="en-IN" sz="2400">
                    <a:solidFill>
                      <a:srgbClr val="111827"/>
                    </a:solidFill>
                    <a:latin typeface="Cambria Math" panose="02040503050406030204" pitchFamily="18" charset="0"/>
                  </a:rPr>
                  <a:t>$\lambda^*=\frac13$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a:t>
                </a:r>
                <a:r>
                  <a:rPr lang="en-IN" sz="2400">
                    <a:solidFill>
                      <a:srgbClr val="111827"/>
                    </a:solidFill>
                    <a:latin typeface="Cambria Math" panose="02040503050406030204" pitchFamily="18" charset="0"/>
                  </a:rPr>
                  <a:t>$f(1)+f(-1)$</a:t>
                </a:r>
                <a:r>
                  <a:rPr sz="2400" b="0">
                    <a:solidFill>
                      <a:srgbClr val="111827"/>
                    </a:solidFill>
                    <a:latin typeface="Arial"/>
                  </a:rPr>
                  <a:t> the odd part </a:t>
                </a:r>
                <a:r>
                  <a:rPr lang="en-IN" sz="2400">
                    <a:solidFill>
                      <a:srgbClr val="111827"/>
                    </a:solidFill>
                    <a:latin typeface="Cambria Math" panose="02040503050406030204" pitchFamily="18" charset="0"/>
                  </a:rPr>
                  <a:t>$4\lambda x^3+36x$</a:t>
                </a:r>
                <a:r>
                  <a:rPr sz="2400" b="0">
                    <a:solidFill>
                      <a:srgbClr val="111827"/>
                    </a:solidFill>
                    <a:latin typeface="Arial"/>
                  </a:rPr>
                  <a:t> cancels, leaving </a:t>
                </a:r>
                <a:r>
                  <a:rPr lang="en-IN" sz="2400">
                    <a:solidFill>
                      <a:srgbClr val="111827"/>
                    </a:solidFill>
                    <a:latin typeface="Cambria Math" panose="02040503050406030204" pitchFamily="18" charset="0"/>
                  </a:rPr>
                  <a:t>$2\left(-36\lambda+48\right)$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At </a:t>
                </a:r>
                <a:r>
                  <a:rPr lang="en-IN" sz="2400">
                    <a:solidFill>
                      <a:srgbClr val="111827"/>
                    </a:solidFill>
                    <a:latin typeface="Cambria Math" panose="02040503050406030204" pitchFamily="18" charset="0"/>
                  </a:rPr>
                  <a:t>$\lambda=\frac13$</a:t>
                </a:r>
                <a:r>
                  <a:rPr sz="2400" b="0">
                    <a:solidFill>
                      <a:srgbClr val="111827"/>
                    </a:solidFill>
                    <a:latin typeface="Arial"/>
                  </a:rPr>
                  <a:t>: </a:t>
                </a:r>
                <a:r>
                  <a:rPr lang="en-IN" sz="2400">
                    <a:solidFill>
                      <a:srgbClr val="111827"/>
                    </a:solidFill>
                    <a:latin typeface="Cambria Math" panose="02040503050406030204" pitchFamily="18" charset="0"/>
                  </a:rPr>
                  <a:t>$2(-12+48)=72$</a:t>
                </a:r>
                <a:r>
                  <a:rPr sz="2400" b="0">
                    <a:solidFill>
                      <a:srgbClr val="111827"/>
                    </a:solidFill>
                    <a:latin typeface="Arial"/>
                  </a:rPr>
                  <a:t>.</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72</a:t>
            </a:r>
            <a:endParaRPr sz="2800">
              <a:solidFill>
                <a:srgbClr val="15803D"/>
              </a:solidFill>
            </a:endParaRP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𝑎</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for all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iff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cubic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is non-decreasing on </a:t>
                </a:r>
                <a14:m>
                  <m:oMath xmlns:m="http://schemas.openxmlformats.org/officeDocument/2006/math">
                    <m:r>
                      <m:rPr>
                        <m:scr m:val="double-struck"/>
                        <m:sty m:val="p"/>
                      </m:rPr>
                      <a:rPr lang="en-IN" sz="2400">
                        <a:solidFill>
                          <a:srgbClr val="111827"/>
                        </a:solidFill>
                        <a:latin typeface="Cambria Math" panose="02040503050406030204" pitchFamily="18" charset="0"/>
                      </a:rPr>
                      <m:t>R</m:t>
                    </m:r>
                  </m:oMath>
                </a14:m>
                <a:r>
                  <a:rPr sz="2400" b="0">
                    <a:solidFill>
                      <a:srgbClr val="111827"/>
                    </a:solidFill>
                    <a:latin typeface="Arial"/>
                  </a:rPr>
                  <a:t> iff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on </a:t>
                </a:r>
                <a14:m>
                  <m:oMath xmlns:m="http://schemas.openxmlformats.org/officeDocument/2006/math">
                    <m:r>
                      <m:rPr>
                        <m:scr m:val="double-struck"/>
                        <m:sty m:val="p"/>
                      </m:rPr>
                      <a:rPr lang="en-IN" sz="2400">
                        <a:solidFill>
                          <a:srgbClr val="111827"/>
                        </a:solidFill>
                        <a:latin typeface="Cambria Math" panose="02040503050406030204" pitchFamily="18" charset="0"/>
                      </a:rPr>
                      <m:t>R</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(even part of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at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odd powers cancel.</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Complete the square: </a:t>
                </a:r>
                <a14:m>
                  <m:oMath xmlns:m="http://schemas.openxmlformats.org/officeDocument/2006/math">
                    <m:r>
                      <a:rPr lang="en-IN" sz="2400" i="1">
                        <a:solidFill>
                          <a:srgbClr val="111827"/>
                        </a:solidFill>
                        <a:latin typeface="Cambria Math" panose="02040503050406030204" pitchFamily="18" charset="0"/>
                      </a:rPr>
                      <m:t>λ</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λ</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λ</m:t>
                    </m:r>
                  </m:oMath>
                </a14:m>
                <a:r>
                  <a:rPr sz="2400" b="0">
                    <a:solidFill>
                      <a:srgbClr val="111827"/>
                    </a:solidFill>
                    <a:latin typeface="Arial"/>
                  </a:rPr>
                  <a:t> shows the minimum value directly.</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$ax^2+bx+c\ge0$</a:t>
                </a:r>
                <a:r>
                  <a:rPr sz="2400" b="0">
                    <a:solidFill>
                      <a:srgbClr val="111827"/>
                    </a:solidFill>
                    <a:latin typeface="Arial"/>
                  </a:rPr>
                  <a:t> for all </a:t>
                </a:r>
                <a:r>
                  <a:rPr lang="en-IN" sz="2400">
                    <a:solidFill>
                      <a:srgbClr val="111827"/>
                    </a:solidFill>
                    <a:latin typeface="Cambria Math" panose="02040503050406030204" pitchFamily="18" charset="0"/>
                  </a:rPr>
                  <a:t>$x$</a:t>
                </a:r>
                <a:r>
                  <a:rPr sz="2400" b="0">
                    <a:solidFill>
                      <a:srgbClr val="111827"/>
                    </a:solidFill>
                    <a:latin typeface="Arial"/>
                  </a:rPr>
                  <a:t> iff </a:t>
                </a:r>
                <a:r>
                  <a:rPr lang="en-IN" sz="2400">
                    <a:solidFill>
                      <a:srgbClr val="111827"/>
                    </a:solidFill>
                    <a:latin typeface="Cambria Math" panose="02040503050406030204" pitchFamily="18" charset="0"/>
                  </a:rPr>
                  <a:t>$a&gt;0$</a:t>
                </a:r>
                <a:r>
                  <a:rPr sz="2400" b="0">
                    <a:solidFill>
                      <a:srgbClr val="111827"/>
                    </a:solidFill>
                    <a:latin typeface="Arial"/>
                  </a:rPr>
                  <a:t> and </a:t>
                </a:r>
                <a:r>
                  <a:rPr lang="en-IN" sz="2400">
                    <a:solidFill>
                      <a:srgbClr val="111827"/>
                    </a:solidFill>
                    <a:latin typeface="Cambria Math" panose="02040503050406030204" pitchFamily="18" charset="0"/>
                  </a:rPr>
                  <a:t>$b^2-4ac\le0$</a:t>
                </a:r>
                <a:r>
                  <a:rPr sz="2400" b="0">
                    <a:solidFill>
                      <a:srgbClr val="111827"/>
                    </a:solidFill>
                    <a:latin typeface="Arial"/>
                  </a:rPr>
                  <a:t> (or </a:t>
                </a:r>
                <a:r>
                  <a:rPr lang="en-IN" sz="2400">
                    <a:solidFill>
                      <a:srgbClr val="111827"/>
                    </a:solidFill>
                    <a:latin typeface="Cambria Math" panose="02040503050406030204" pitchFamily="18" charset="0"/>
                  </a:rPr>
                  <a:t>$a=0,b=0,c\ge0$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cubic </a:t>
                </a:r>
                <a:r>
                  <a:rPr lang="en-IN" sz="2400">
                    <a:solidFill>
                      <a:srgbClr val="111827"/>
                    </a:solidFill>
                    <a:latin typeface="Cambria Math" panose="02040503050406030204" pitchFamily="18" charset="0"/>
                  </a:rPr>
                  <a:t>$f$</a:t>
                </a:r>
                <a:r>
                  <a:rPr sz="2400" b="0">
                    <a:solidFill>
                      <a:srgbClr val="111827"/>
                    </a:solidFill>
                    <a:latin typeface="Arial"/>
                  </a:rPr>
                  <a:t> is non-decreasing on </a:t>
                </a:r>
                <a:r>
                  <a:rPr lang="en-IN" sz="2400">
                    <a:solidFill>
                      <a:srgbClr val="111827"/>
                    </a:solidFill>
                    <a:latin typeface="Cambria Math" panose="02040503050406030204" pitchFamily="18" charset="0"/>
                  </a:rPr>
                  <a:t>$\mathbb R$</a:t>
                </a:r>
                <a:r>
                  <a:rPr sz="2400" b="0">
                    <a:solidFill>
                      <a:srgbClr val="111827"/>
                    </a:solidFill>
                    <a:latin typeface="Arial"/>
                  </a:rPr>
                  <a:t> iff </a:t>
                </a:r>
                <a:r>
                  <a:rPr lang="en-IN" sz="2400">
                    <a:solidFill>
                      <a:srgbClr val="111827"/>
                    </a:solidFill>
                    <a:latin typeface="Cambria Math" panose="02040503050406030204" pitchFamily="18" charset="0"/>
                  </a:rPr>
                  <a:t>$f'\ge0$</a:t>
                </a:r>
                <a:r>
                  <a:rPr sz="2400" b="0">
                    <a:solidFill>
                      <a:srgbClr val="111827"/>
                    </a:solidFill>
                    <a:latin typeface="Arial"/>
                  </a:rPr>
                  <a:t> on </a:t>
                </a:r>
                <a:r>
                  <a:rPr lang="en-IN" sz="2400">
                    <a:solidFill>
                      <a:srgbClr val="111827"/>
                    </a:solidFill>
                    <a:latin typeface="Cambria Math" panose="02040503050406030204" pitchFamily="18" charset="0"/>
                  </a:rPr>
                  <a:t>$\mathbb 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$f(a)+f(-a)=2\times$</a:t>
                </a:r>
                <a:r>
                  <a:rPr sz="2400" b="0">
                    <a:solidFill>
                      <a:srgbClr val="111827"/>
                    </a:solidFill>
                    <a:latin typeface="Arial"/>
                  </a:rPr>
                  <a:t> (even part of </a:t>
                </a:r>
                <a:r>
                  <a:rPr lang="en-IN" sz="2400">
                    <a:solidFill>
                      <a:srgbClr val="111827"/>
                    </a:solidFill>
                    <a:latin typeface="Cambria Math" panose="02040503050406030204" pitchFamily="18" charset="0"/>
                  </a:rPr>
                  <a:t>$f$</a:t>
                </a:r>
                <a:r>
                  <a:rPr sz="2400" b="0">
                    <a:solidFill>
                      <a:srgbClr val="111827"/>
                    </a:solidFill>
                    <a:latin typeface="Arial"/>
                  </a:rPr>
                  <a:t> at </a:t>
                </a:r>
                <a:r>
                  <a:rPr lang="en-IN" sz="2400">
                    <a:solidFill>
                      <a:srgbClr val="111827"/>
                    </a:solidFill>
                    <a:latin typeface="Cambria Math" panose="02040503050406030204" pitchFamily="18" charset="0"/>
                  </a:rPr>
                  <a:t>$a$</a:t>
                </a:r>
                <a:r>
                  <a:rPr sz="2400" b="0">
                    <a:solidFill>
                      <a:srgbClr val="111827"/>
                    </a:solidFill>
                    <a:latin typeface="Arial"/>
                  </a:rPr>
                  <a:t>): odd powers cancel.</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Complete the square: </a:t>
                </a:r>
                <a:r>
                  <a:rPr lang="en-IN" sz="2400">
                    <a:solidFill>
                      <a:srgbClr val="111827"/>
                    </a:solidFill>
                    <a:latin typeface="Cambria Math" panose="02040503050406030204" pitchFamily="18" charset="0"/>
                  </a:rPr>
                  <a:t>$\lambda x^2-6\lambda x+3=\lambda(x-3)^2+3-9\lambda$</a:t>
                </a:r>
                <a:r>
                  <a:rPr sz="2400" b="0">
                    <a:solidFill>
                      <a:srgbClr val="111827"/>
                    </a:solidFill>
                    <a:latin typeface="Arial"/>
                  </a:rPr>
                  <a:t> shows the minimum value directly.</a:t>
                </a:r>
                <a:endParaRPr sz="2400">
                  <a:solidFill>
                    <a:srgbClr val="111827"/>
                  </a:solidFill>
                </a:endParaRPr>
              </a:p>
            </p:txBody>
          </p:sp>
        </mc:Fallback>
      </mc:AlternateContent>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14452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R</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R</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R</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R</m:t>
                    </m:r>
                  </m:oMath>
                </a14:m>
                <a:r>
                  <a:rPr sz="2400" b="0">
                    <a:solidFill>
                      <a:srgbClr val="111827"/>
                    </a:solidFill>
                    <a:latin typeface="Arial"/>
                  </a:rPr>
                  <a:t> be defined by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m:rPr>
                            <m:sty m:val="p"/>
                          </m:rPr>
                          <a:rPr lang="en-IN" sz="2400">
                            <a:solidFill>
                              <a:srgbClr val="111827"/>
                            </a:solidFill>
                            <a:latin typeface="Cambria Math" panose="02040503050406030204" pitchFamily="18" charset="0"/>
                          </a:rPr>
                          <m:t>log</m:t>
                        </m:r>
                      </m:e>
                      <m:sub>
                        <m:r>
                          <a:rPr lang="en-IN" sz="2400" i="1">
                            <a:solidFill>
                              <a:srgbClr val="111827"/>
                            </a:solidFill>
                            <a:latin typeface="Cambria Math" panose="02040503050406030204" pitchFamily="18" charset="0"/>
                          </a:rPr>
                          <m:t>𝑒</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sup>
                        </m:sSup>
                      </m:num>
                      <m:den>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den>
                    </m:f>
                  </m:oMath>
                </a14:m>
                <a:r>
                  <a:rPr sz="2400" b="0">
                    <a:solidFill>
                      <a:srgbClr val="111827"/>
                    </a:solidFill>
                    <a:latin typeface="Arial"/>
                  </a:rPr>
                  <a:t>. Then for which of the following ranges of </a:t>
                </a:r>
                <a14:m>
                  <m:oMath xmlns:m="http://schemas.openxmlformats.org/officeDocument/2006/math">
                    <m:r>
                      <a:rPr lang="en-IN" sz="2400" i="1">
                        <a:solidFill>
                          <a:srgbClr val="111827"/>
                        </a:solidFill>
                        <a:latin typeface="Cambria Math" panose="02040503050406030204" pitchFamily="18" charset="0"/>
                      </a:rPr>
                      <m:t>α</m:t>
                    </m:r>
                  </m:oMath>
                </a14:m>
                <a:r>
                  <a:rPr sz="2400" b="0">
                    <a:solidFill>
                      <a:srgbClr val="111827"/>
                    </a:solidFill>
                    <a:latin typeface="Arial"/>
                  </a:rPr>
                  <a:t> does the inequality </a:t>
                </a:r>
                <a14:m>
                  <m:oMath xmlns:m="http://schemas.openxmlformats.org/officeDocument/2006/math">
                    <m:r>
                      <a:rPr lang="en-IN" sz="2400" i="1">
                        <a:solidFill>
                          <a:srgbClr val="111827"/>
                        </a:solidFill>
                        <a:latin typeface="Cambria Math" panose="02040503050406030204" pitchFamily="18" charset="0"/>
                      </a:rPr>
                      <m:t>𝑓</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𝑔</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3</m:t>
                                </m:r>
                              </m:den>
                            </m:f>
                          </m:e>
                        </m:d>
                      </m:e>
                    </m:d>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𝑓</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𝑔</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3</m:t>
                                </m:r>
                              </m:den>
                            </m:f>
                          </m:e>
                        </m:d>
                      </m:e>
                    </m:d>
                  </m:oMath>
                </a14:m>
                <a:r>
                  <a:rPr sz="2400" b="0">
                    <a:solidFill>
                      <a:srgbClr val="111827"/>
                    </a:solidFill>
                    <a:latin typeface="Arial"/>
                  </a:rPr>
                  <a:t> hold?</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(B)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(C)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(D)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endParaRPr sz="2400">
                  <a:solidFill>
                    <a:srgbClr val="111827"/>
                  </a:solidFill>
                </a:endParaRPr>
              </a:p>
            </p:txBody>
          </p:sp>
        </mc:Choice>
        <mc:Fallback>
          <p:sp>
            <p:nvSpPr>
              <p:cNvPr id="4" name="Rounded Rectangle 3"/>
              <p:cNvSpPr/>
              <p:nvPr/>
            </p:nvSpPr>
            <p:spPr>
              <a:xfrm>
                <a:off x="731520" y="1280160"/>
                <a:ext cx="10725912" cy="314452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$f:\mathbb{R}\to\mathbb{R}$</a:t>
                </a:r>
                <a:r>
                  <a:rPr sz="2400" b="0">
                    <a:solidFill>
                      <a:srgbClr val="111827"/>
                    </a:solidFill>
                    <a:latin typeface="Arial"/>
                  </a:rPr>
                  <a:t> and </a:t>
                </a:r>
                <a:r>
                  <a:rPr lang="en-IN" sz="2400">
                    <a:solidFill>
                      <a:srgbClr val="111827"/>
                    </a:solidFill>
                    <a:latin typeface="Cambria Math" panose="02040503050406030204" pitchFamily="18" charset="0"/>
                  </a:rPr>
                  <a:t>$g:\mathbb{R}\to\mathbb{R}$</a:t>
                </a:r>
                <a:r>
                  <a:rPr sz="2400" b="0">
                    <a:solidFill>
                      <a:srgbClr val="111827"/>
                    </a:solidFill>
                    <a:latin typeface="Arial"/>
                  </a:rPr>
                  <a:t> be defined by </a:t>
                </a:r>
                <a:r>
                  <a:rPr lang="en-IN" sz="2400">
                    <a:solidFill>
                      <a:srgbClr val="111827"/>
                    </a:solidFill>
                    <a:latin typeface="Cambria Math" panose="02040503050406030204" pitchFamily="18" charset="0"/>
                  </a:rPr>
                  <a:t>$f(x)=\log_e(x^2+1)-e^{-x}+1$</a:t>
                </a:r>
                <a:r>
                  <a:rPr sz="2400" b="0">
                    <a:solidFill>
                      <a:srgbClr val="111827"/>
                    </a:solidFill>
                    <a:latin typeface="Arial"/>
                  </a:rPr>
                  <a:t> and </a:t>
                </a:r>
                <a:r>
                  <a:rPr lang="en-IN" sz="2400">
                    <a:solidFill>
                      <a:srgbClr val="111827"/>
                    </a:solidFill>
                    <a:latin typeface="Cambria Math" panose="02040503050406030204" pitchFamily="18" charset="0"/>
                  </a:rPr>
                  <a:t>$g(x)=\frac{1-2e^{2x}}{e^x}$</a:t>
                </a:r>
                <a:r>
                  <a:rPr sz="2400" b="0">
                    <a:solidFill>
                      <a:srgbClr val="111827"/>
                    </a:solidFill>
                    <a:latin typeface="Arial"/>
                  </a:rPr>
                  <a:t>. Then for which of the following ranges of </a:t>
                </a:r>
                <a:r>
                  <a:rPr lang="en-IN" sz="2400">
                    <a:solidFill>
                      <a:srgbClr val="111827"/>
                    </a:solidFill>
                    <a:latin typeface="Cambria Math" panose="02040503050406030204" pitchFamily="18" charset="0"/>
                  </a:rPr>
                  <a:t>$\alpha$</a:t>
                </a:r>
                <a:r>
                  <a:rPr sz="2400" b="0">
                    <a:solidFill>
                      <a:srgbClr val="111827"/>
                    </a:solidFill>
                    <a:latin typeface="Arial"/>
                  </a:rPr>
                  <a:t> does the inequality </a:t>
                </a:r>
                <a:r>
                  <a:rPr lang="en-IN" sz="2400">
                    <a:solidFill>
                      <a:srgbClr val="111827"/>
                    </a:solidFill>
                    <a:latin typeface="Cambria Math" panose="02040503050406030204" pitchFamily="18" charset="0"/>
                  </a:rPr>
                  <a:t>$f\left(g\left(\frac{(\alpha-1)^2}{3}\right)\right)&gt;f\left(g\left(\alpha-\frac{5}{3}\right)\right)$</a:t>
                </a:r>
                <a:r>
                  <a:rPr sz="2400" b="0">
                    <a:solidFill>
                      <a:srgbClr val="111827"/>
                    </a:solidFill>
                    <a:latin typeface="Arial"/>
                  </a:rPr>
                  <a:t> hold?</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$(2,3)$</a:t>
                </a:r>
                <a:r>
                  <a:rPr sz="2400" b="0">
                    <a:solidFill>
                      <a:srgbClr val="111827"/>
                    </a:solidFill>
                    <a:latin typeface="Arial"/>
                  </a:rPr>
                  <a:t>   (B) </a:t>
                </a:r>
                <a:r>
                  <a:rPr lang="en-IN" sz="2400">
                    <a:solidFill>
                      <a:srgbClr val="111827"/>
                    </a:solidFill>
                    <a:latin typeface="Cambria Math" panose="02040503050406030204" pitchFamily="18" charset="0"/>
                  </a:rPr>
                  <a:t>$(-2,-1)$</a:t>
                </a:r>
                <a:r>
                  <a:rPr sz="2400" b="0">
                    <a:solidFill>
                      <a:srgbClr val="111827"/>
                    </a:solidFill>
                    <a:latin typeface="Arial"/>
                  </a:rPr>
                  <a:t>   (C) </a:t>
                </a:r>
                <a:r>
                  <a:rPr lang="en-IN" sz="2400">
                    <a:solidFill>
                      <a:srgbClr val="111827"/>
                    </a:solidFill>
                    <a:latin typeface="Cambria Math" panose="02040503050406030204" pitchFamily="18" charset="0"/>
                  </a:rPr>
                  <a:t>$(1,2)$</a:t>
                </a:r>
                <a:r>
                  <a:rPr sz="2400" b="0">
                    <a:solidFill>
                      <a:srgbClr val="111827"/>
                    </a:solidFill>
                    <a:latin typeface="Arial"/>
                  </a:rPr>
                  <a:t>   (D) </a:t>
                </a:r>
                <a:r>
                  <a:rPr lang="en-IN" sz="2400">
                    <a:solidFill>
                      <a:srgbClr val="111827"/>
                    </a:solidFill>
                    <a:latin typeface="Cambria Math" panose="02040503050406030204" pitchFamily="18" charset="0"/>
                  </a:rPr>
                  <a:t>$(-1,1)$</a:t>
                </a:r>
                <a:endParaRPr sz="2400">
                  <a:solidFill>
                    <a:srgbClr val="111827"/>
                  </a:solidFill>
                </a:endParaRPr>
              </a:p>
            </p:txBody>
          </p:sp>
        </mc:Fallback>
      </mc:AlternateContent>
      <p:sp>
        <p:nvSpPr>
          <p:cNvPr id="5" name="Rectangle 4"/>
          <p:cNvSpPr/>
          <p:nvPr/>
        </p:nvSpPr>
        <p:spPr>
          <a:xfrm>
            <a:off x="731520" y="465328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Monotonicity of composite functions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If </a:t>
                </a:r>
                <a14:m>
                  <m:oMath xmlns:m="http://schemas.openxmlformats.org/officeDocument/2006/math">
                    <m:r>
                      <a:rPr lang="en-IN" sz="2400" i="1">
                        <a:solidFill>
                          <a:srgbClr val="78350F"/>
                        </a:solidFill>
                        <a:latin typeface="Cambria Math" panose="02040503050406030204" pitchFamily="18" charset="0"/>
                      </a:rPr>
                      <m:t>𝑓</m:t>
                    </m:r>
                  </m:oMath>
                </a14:m>
                <a:r>
                  <a:rPr sz="2400" b="0">
                    <a:solidFill>
                      <a:srgbClr val="78350F"/>
                    </a:solidFill>
                    <a:latin typeface="Arial"/>
                  </a:rPr>
                  <a:t> is strictly increasing, </a:t>
                </a:r>
                <a14:m>
                  <m:oMath xmlns:m="http://schemas.openxmlformats.org/officeDocument/2006/math">
                    <m:r>
                      <a:rPr lang="en-IN" sz="2400" i="1">
                        <a:solidFill>
                          <a:srgbClr val="78350F"/>
                        </a:solidFill>
                        <a:latin typeface="Cambria Math" panose="02040503050406030204" pitchFamily="18" charset="0"/>
                      </a:rPr>
                      <m:t>𝑓</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𝑢</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&gt;</m:t>
                    </m:r>
                    <m:r>
                      <a:rPr lang="en-IN" sz="2400" i="1">
                        <a:solidFill>
                          <a:srgbClr val="78350F"/>
                        </a:solidFill>
                        <a:latin typeface="Cambria Math" panose="02040503050406030204" pitchFamily="18" charset="0"/>
                      </a:rPr>
                      <m:t>𝑓</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𝑣</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𝑢</m:t>
                    </m:r>
                    <m:r>
                      <m:rPr>
                        <m:sty m:val="p"/>
                      </m:rPr>
                      <a:rPr lang="en-IN" sz="2400">
                        <a:solidFill>
                          <a:srgbClr val="78350F"/>
                        </a:solidFill>
                        <a:latin typeface="Cambria Math" panose="02040503050406030204" pitchFamily="18" charset="0"/>
                      </a:rPr>
                      <m:t>&gt;</m:t>
                    </m:r>
                    <m:r>
                      <a:rPr lang="en-IN" sz="2400" i="1">
                        <a:solidFill>
                          <a:srgbClr val="78350F"/>
                        </a:solidFill>
                        <a:latin typeface="Cambria Math" panose="02040503050406030204" pitchFamily="18" charset="0"/>
                      </a:rPr>
                      <m:t>𝑣</m:t>
                    </m:r>
                  </m:oMath>
                </a14:m>
                <a:r>
                  <a:rPr sz="2400" b="0">
                    <a:solidFill>
                      <a:srgbClr val="78350F"/>
                    </a:solidFill>
                    <a:latin typeface="Arial"/>
                  </a:rPr>
                  <a:t>; if </a:t>
                </a:r>
                <a14:m>
                  <m:oMath xmlns:m="http://schemas.openxmlformats.org/officeDocument/2006/math">
                    <m:r>
                      <a:rPr lang="en-IN" sz="2400" i="1">
                        <a:solidFill>
                          <a:srgbClr val="78350F"/>
                        </a:solidFill>
                        <a:latin typeface="Cambria Math" panose="02040503050406030204" pitchFamily="18" charset="0"/>
                      </a:rPr>
                      <m:t>𝑔</m:t>
                    </m:r>
                  </m:oMath>
                </a14:m>
                <a:r>
                  <a:rPr sz="2400" b="0">
                    <a:solidFill>
                      <a:srgbClr val="78350F"/>
                    </a:solidFill>
                    <a:latin typeface="Arial"/>
                  </a:rPr>
                  <a:t> is strictly decreasing, </a:t>
                </a:r>
                <a14:m>
                  <m:oMath xmlns:m="http://schemas.openxmlformats.org/officeDocument/2006/math">
                    <m:r>
                      <a:rPr lang="en-IN" sz="2400" i="1">
                        <a:solidFill>
                          <a:srgbClr val="78350F"/>
                        </a:solidFill>
                        <a:latin typeface="Cambria Math" panose="02040503050406030204" pitchFamily="18" charset="0"/>
                      </a:rPr>
                      <m:t>𝑔</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𝑢</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&gt;</m:t>
                    </m:r>
                    <m:r>
                      <a:rPr lang="en-IN" sz="2400" i="1">
                        <a:solidFill>
                          <a:srgbClr val="78350F"/>
                        </a:solidFill>
                        <a:latin typeface="Cambria Math" panose="02040503050406030204" pitchFamily="18" charset="0"/>
                      </a:rPr>
                      <m:t>𝑔</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𝑣</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𝑢</m:t>
                    </m:r>
                    <m:r>
                      <m:rPr>
                        <m:sty m:val="p"/>
                      </m:rPr>
                      <a:rPr lang="en-IN" sz="2400">
                        <a:solidFill>
                          <a:srgbClr val="78350F"/>
                        </a:solidFill>
                        <a:latin typeface="Cambria Math" panose="02040503050406030204" pitchFamily="18" charset="0"/>
                      </a:rPr>
                      <m:t>&lt;</m:t>
                    </m:r>
                    <m:r>
                      <a:rPr lang="en-IN" sz="2400" i="1">
                        <a:solidFill>
                          <a:srgbClr val="78350F"/>
                        </a:solidFill>
                        <a:latin typeface="Cambria Math" panose="02040503050406030204" pitchFamily="18" charset="0"/>
                      </a:rPr>
                      <m:t>𝑣</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If </a:t>
                </a:r>
                <a:r>
                  <a:rPr lang="en-IN" sz="2400">
                    <a:solidFill>
                      <a:srgbClr val="78350F"/>
                    </a:solidFill>
                    <a:latin typeface="Cambria Math" panose="02040503050406030204" pitchFamily="18" charset="0"/>
                  </a:rPr>
                  <a:t>$f$</a:t>
                </a:r>
                <a:r>
                  <a:rPr sz="2400" b="0">
                    <a:solidFill>
                      <a:srgbClr val="78350F"/>
                    </a:solidFill>
                    <a:latin typeface="Arial"/>
                  </a:rPr>
                  <a:t> is strictly increasing, </a:t>
                </a:r>
                <a:r>
                  <a:rPr lang="en-IN" sz="2400">
                    <a:solidFill>
                      <a:srgbClr val="78350F"/>
                    </a:solidFill>
                    <a:latin typeface="Cambria Math" panose="02040503050406030204" pitchFamily="18" charset="0"/>
                  </a:rPr>
                  <a:t>$f(u)&gt;f(v)\iff u&gt;v$</a:t>
                </a:r>
                <a:r>
                  <a:rPr sz="2400" b="0">
                    <a:solidFill>
                      <a:srgbClr val="78350F"/>
                    </a:solidFill>
                    <a:latin typeface="Arial"/>
                  </a:rPr>
                  <a:t>; if </a:t>
                </a:r>
                <a:r>
                  <a:rPr lang="en-IN" sz="2400">
                    <a:solidFill>
                      <a:srgbClr val="78350F"/>
                    </a:solidFill>
                    <a:latin typeface="Cambria Math" panose="02040503050406030204" pitchFamily="18" charset="0"/>
                  </a:rPr>
                  <a:t>$g$</a:t>
                </a:r>
                <a:r>
                  <a:rPr sz="2400" b="0">
                    <a:solidFill>
                      <a:srgbClr val="78350F"/>
                    </a:solidFill>
                    <a:latin typeface="Arial"/>
                  </a:rPr>
                  <a:t> is strictly decreasing, </a:t>
                </a:r>
                <a:r>
                  <a:rPr lang="en-IN" sz="2400">
                    <a:solidFill>
                      <a:srgbClr val="78350F"/>
                    </a:solidFill>
                    <a:latin typeface="Cambria Math" panose="02040503050406030204" pitchFamily="18" charset="0"/>
                  </a:rPr>
                  <a:t>$g(u)&gt;g(v)\iff u&lt;v$</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up>
                    </m:sSup>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both terms are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&lt;</m:t>
                    </m:r>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up>
                    </m:sSup>
                  </m:oMath>
                </a14:m>
                <a:r>
                  <a:rPr sz="2400" b="0">
                    <a:solidFill>
                      <a:srgbClr val="111827"/>
                    </a:solidFill>
                    <a:latin typeface="Arial"/>
                  </a:rPr>
                  <a:t>, hence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for all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R</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is strictly increasing.</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sup>
                        </m:sSup>
                      </m:num>
                      <m:den>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den>
                    </m:f>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for all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𝑔</m:t>
                    </m:r>
                  </m:oMath>
                </a14:m>
                <a:r>
                  <a:rPr sz="2400" b="0">
                    <a:solidFill>
                      <a:srgbClr val="111827"/>
                    </a:solidFill>
                    <a:latin typeface="Arial"/>
                  </a:rPr>
                  <a:t> is strictly decreasing.</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𝑣</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𝑣</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(as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is increasing).</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$f'(x)=\frac{2x}{x^2+1}+e^{-x}$</a:t>
                </a:r>
                <a:r>
                  <a:rPr sz="2400" b="0">
                    <a:solidFill>
                      <a:srgbClr val="111827"/>
                    </a:solidFill>
                    <a:latin typeface="Arial"/>
                  </a:rPr>
                  <a:t>. For </a:t>
                </a:r>
                <a:r>
                  <a:rPr lang="en-IN" sz="2400">
                    <a:solidFill>
                      <a:srgbClr val="111827"/>
                    </a:solidFill>
                    <a:latin typeface="Cambria Math" panose="02040503050406030204" pitchFamily="18" charset="0"/>
                  </a:rPr>
                  <a:t>$x\ge0$</a:t>
                </a:r>
                <a:r>
                  <a:rPr sz="2400" b="0">
                    <a:solidFill>
                      <a:srgbClr val="111827"/>
                    </a:solidFill>
                    <a:latin typeface="Arial"/>
                  </a:rPr>
                  <a:t> both terms are </a:t>
                </a:r>
                <a:r>
                  <a:rPr lang="en-IN" sz="2400">
                    <a:solidFill>
                      <a:srgbClr val="111827"/>
                    </a:solidFill>
                    <a:latin typeface="Cambria Math" panose="02040503050406030204" pitchFamily="18" charset="0"/>
                  </a:rPr>
                  <a:t>$\ge0$</a:t>
                </a:r>
                <a:r>
                  <a:rPr sz="2400" b="0">
                    <a:solidFill>
                      <a:srgbClr val="111827"/>
                    </a:solidFill>
                    <a:latin typeface="Arial"/>
                  </a:rPr>
                  <a:t> and </a:t>
                </a:r>
                <a:r>
                  <a:rPr lang="en-IN" sz="2400">
                    <a:solidFill>
                      <a:srgbClr val="111827"/>
                    </a:solidFill>
                    <a:latin typeface="Cambria Math" panose="02040503050406030204" pitchFamily="18" charset="0"/>
                  </a:rPr>
                  <a:t>$e^{-x}&gt;0$</a:t>
                </a:r>
                <a:r>
                  <a:rPr sz="2400" b="0">
                    <a:solidFill>
                      <a:srgbClr val="111827"/>
                    </a:solidFill>
                    <a:latin typeface="Arial"/>
                  </a:rPr>
                  <a:t>, so </a:t>
                </a:r>
                <a:r>
                  <a:rPr lang="en-IN" sz="2400">
                    <a:solidFill>
                      <a:srgbClr val="111827"/>
                    </a:solidFill>
                    <a:latin typeface="Cambria Math" panose="02040503050406030204" pitchFamily="18" charset="0"/>
                  </a:rPr>
                  <a:t>$f'&gt;0$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$x&lt;0$</a:t>
                </a:r>
                <a:r>
                  <a:rPr sz="2400" b="0">
                    <a:solidFill>
                      <a:srgbClr val="111827"/>
                    </a:solidFill>
                    <a:latin typeface="Arial"/>
                  </a:rPr>
                  <a:t>: </a:t>
                </a:r>
                <a:r>
                  <a:rPr lang="en-IN" sz="2400">
                    <a:solidFill>
                      <a:srgbClr val="111827"/>
                    </a:solidFill>
                    <a:latin typeface="Cambria Math" panose="02040503050406030204" pitchFamily="18" charset="0"/>
                  </a:rPr>
                  <a:t>$\left|\frac{2x}{x^2+1}\right|\le1&lt;e^{-x}$</a:t>
                </a:r>
                <a:r>
                  <a:rPr sz="2400" b="0">
                    <a:solidFill>
                      <a:srgbClr val="111827"/>
                    </a:solidFill>
                    <a:latin typeface="Arial"/>
                  </a:rPr>
                  <a:t>, hence </a:t>
                </a:r>
                <a:r>
                  <a:rPr lang="en-IN" sz="2400">
                    <a:solidFill>
                      <a:srgbClr val="111827"/>
                    </a:solidFill>
                    <a:latin typeface="Cambria Math" panose="02040503050406030204" pitchFamily="18" charset="0"/>
                  </a:rPr>
                  <a:t>$f'(x)&gt;0$</a:t>
                </a:r>
                <a:r>
                  <a:rPr sz="2400" b="0">
                    <a:solidFill>
                      <a:srgbClr val="111827"/>
                    </a:solidFill>
                    <a:latin typeface="Arial"/>
                  </a:rPr>
                  <a:t> for all </a:t>
                </a:r>
                <a:r>
                  <a:rPr lang="en-IN" sz="2400">
                    <a:solidFill>
                      <a:srgbClr val="111827"/>
                    </a:solidFill>
                    <a:latin typeface="Cambria Math" panose="02040503050406030204" pitchFamily="18" charset="0"/>
                  </a:rPr>
                  <a:t>$x\in\mathbb{R}$</a:t>
                </a:r>
                <a:r>
                  <a:rPr sz="2400" b="0">
                    <a:solidFill>
                      <a:srgbClr val="111827"/>
                    </a:solidFill>
                    <a:latin typeface="Arial"/>
                  </a:rPr>
                  <a:t>, so </a:t>
                </a:r>
                <a:r>
                  <a:rPr lang="en-IN" sz="2400">
                    <a:solidFill>
                      <a:srgbClr val="111827"/>
                    </a:solidFill>
                    <a:latin typeface="Cambria Math" panose="02040503050406030204" pitchFamily="18" charset="0"/>
                  </a:rPr>
                  <a:t>$f$</a:t>
                </a:r>
                <a:r>
                  <a:rPr sz="2400" b="0">
                    <a:solidFill>
                      <a:srgbClr val="111827"/>
                    </a:solidFill>
                    <a:latin typeface="Arial"/>
                  </a:rPr>
                  <a:t> is strictly increasing.</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$g(x)=\frac{1-2e^{2x}}{e^x}=e^{-x}-2e^{x}$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$g'(x)=-e^{-x}-2e^{x}=-(2e^x+e^{-x})&lt;0$</a:t>
                </a:r>
                <a:r>
                  <a:rPr sz="2400" b="0">
                    <a:solidFill>
                      <a:srgbClr val="111827"/>
                    </a:solidFill>
                    <a:latin typeface="Arial"/>
                  </a:rPr>
                  <a:t> for all </a:t>
                </a:r>
                <a:r>
                  <a:rPr lang="en-IN" sz="2400">
                    <a:solidFill>
                      <a:srgbClr val="111827"/>
                    </a:solidFill>
                    <a:latin typeface="Cambria Math" panose="02040503050406030204" pitchFamily="18" charset="0"/>
                  </a:rPr>
                  <a:t>$x$</a:t>
                </a:r>
                <a:r>
                  <a:rPr sz="2400" b="0">
                    <a:solidFill>
                      <a:srgbClr val="111827"/>
                    </a:solidFill>
                    <a:latin typeface="Arial"/>
                  </a:rPr>
                  <a:t>, so </a:t>
                </a:r>
                <a:r>
                  <a:rPr lang="en-IN" sz="2400">
                    <a:solidFill>
                      <a:srgbClr val="111827"/>
                    </a:solidFill>
                    <a:latin typeface="Cambria Math" panose="02040503050406030204" pitchFamily="18" charset="0"/>
                  </a:rPr>
                  <a:t>$g$</a:t>
                </a:r>
                <a:r>
                  <a:rPr sz="2400" b="0">
                    <a:solidFill>
                      <a:srgbClr val="111827"/>
                    </a:solidFill>
                    <a:latin typeface="Arial"/>
                  </a:rPr>
                  <a:t> is strictly decreasing.</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$f(g(u))&gt;f(g(v))\Rightarrow g(u)&gt;g(v)$</a:t>
                </a:r>
                <a:r>
                  <a:rPr sz="2400" b="0">
                    <a:solidFill>
                      <a:srgbClr val="111827"/>
                    </a:solidFill>
                    <a:latin typeface="Arial"/>
                  </a:rPr>
                  <a:t> (as </a:t>
                </a:r>
                <a:r>
                  <a:rPr lang="en-IN" sz="2400">
                    <a:solidFill>
                      <a:srgbClr val="111827"/>
                    </a:solidFill>
                    <a:latin typeface="Cambria Math" panose="02040503050406030204" pitchFamily="18" charset="0"/>
                  </a:rPr>
                  <a:t>$f$</a:t>
                </a:r>
                <a:r>
                  <a:rPr sz="2400" b="0">
                    <a:solidFill>
                      <a:srgbClr val="111827"/>
                    </a:solidFill>
                    <a:latin typeface="Arial"/>
                  </a:rPr>
                  <a:t> is increasing).</a:t>
                </a:r>
                <a:endParaRPr sz="2400">
                  <a:solidFill>
                    <a:srgbClr val="111827"/>
                  </a:solidFill>
                </a:endParaRPr>
              </a:p>
            </p:txBody>
          </p:sp>
        </mc:Fallback>
      </mc:AlternateContent>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𝑣</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𝑣</m:t>
                    </m:r>
                  </m:oMath>
                </a14:m>
                <a:r>
                  <a:rPr sz="2400" b="0">
                    <a:solidFill>
                      <a:srgbClr val="111827"/>
                    </a:solidFill>
                    <a:latin typeface="Arial"/>
                  </a:rPr>
                  <a:t> (as </a:t>
                </a:r>
                <a14:m>
                  <m:oMath xmlns:m="http://schemas.openxmlformats.org/officeDocument/2006/math">
                    <m:r>
                      <a:rPr lang="en-IN" sz="2400" i="1">
                        <a:solidFill>
                          <a:srgbClr val="111827"/>
                        </a:solidFill>
                        <a:latin typeface="Cambria Math" panose="02040503050406030204" pitchFamily="18" charset="0"/>
                      </a:rPr>
                      <m:t>𝑔</m:t>
                    </m:r>
                  </m:oMath>
                </a14:m>
                <a:r>
                  <a:rPr sz="2400" b="0">
                    <a:solidFill>
                      <a:srgbClr val="111827"/>
                    </a:solidFill>
                    <a:latin typeface="Arial"/>
                  </a:rPr>
                  <a:t> is decreasing), with </a:t>
                </a:r>
                <a14:m>
                  <m:oMath xmlns:m="http://schemas.openxmlformats.org/officeDocument/2006/math">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3</m:t>
                        </m:r>
                      </m:den>
                    </m:f>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𝑣</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option (A).</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$g(u)&gt;g(v)\Rightarrow u&lt;v$</a:t>
                </a:r>
                <a:r>
                  <a:rPr sz="2400" b="0">
                    <a:solidFill>
                      <a:srgbClr val="111827"/>
                    </a:solidFill>
                    <a:latin typeface="Arial"/>
                  </a:rPr>
                  <a:t> (as </a:t>
                </a:r>
                <a:r>
                  <a:rPr lang="en-IN" sz="2400">
                    <a:solidFill>
                      <a:srgbClr val="111827"/>
                    </a:solidFill>
                    <a:latin typeface="Cambria Math" panose="02040503050406030204" pitchFamily="18" charset="0"/>
                  </a:rPr>
                  <a:t>$g$</a:t>
                </a:r>
                <a:r>
                  <a:rPr sz="2400" b="0">
                    <a:solidFill>
                      <a:srgbClr val="111827"/>
                    </a:solidFill>
                    <a:latin typeface="Arial"/>
                  </a:rPr>
                  <a:t> is decreasing), with </a:t>
                </a:r>
                <a:r>
                  <a:rPr lang="en-IN" sz="2400">
                    <a:solidFill>
                      <a:srgbClr val="111827"/>
                    </a:solidFill>
                    <a:latin typeface="Cambria Math" panose="02040503050406030204" pitchFamily="18" charset="0"/>
                  </a:rPr>
                  <a:t>$u=\frac{(\alpha-1)^2}{3}$</a:t>
                </a:r>
                <a:r>
                  <a:rPr sz="2400" b="0">
                    <a:solidFill>
                      <a:srgbClr val="111827"/>
                    </a:solidFill>
                    <a:latin typeface="Arial"/>
                  </a:rPr>
                  <a:t> and </a:t>
                </a:r>
                <a:r>
                  <a:rPr lang="en-IN" sz="2400">
                    <a:solidFill>
                      <a:srgbClr val="111827"/>
                    </a:solidFill>
                    <a:latin typeface="Cambria Math" panose="02040503050406030204" pitchFamily="18" charset="0"/>
                  </a:rPr>
                  <a:t>$v=\alpha-\frac{5}{3}$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$\frac{(\alpha-1)^2}{3}&lt;\alpha-\frac{5}{3}\Rightarrow(\alpha-1)^2&lt;3\alpha-5$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$\alpha^2-2\alpha+1-3\alpha+5&lt;0\Rightarrow\alpha^2-5\alpha+6&lt;0$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$(\alpha-2)(\alpha-3)&lt;0\Rightarrow\alpha\in(2,3)$</a:t>
                </a:r>
                <a:r>
                  <a:rPr sz="2400" b="0">
                    <a:solidFill>
                      <a:srgbClr val="111827"/>
                    </a:solidFill>
                    <a:latin typeface="Arial"/>
                  </a:rPr>
                  <a:t>, option (A).</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a:t>
                </a:r>
                <a14:m>
                  <m:oMath xmlns:m="http://schemas.openxmlformats.org/officeDocument/2006/math">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2</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3</m:t>
                    </m:r>
                    <m:r>
                      <m:rPr>
                        <m:sty m:val="p"/>
                      </m:rPr>
                      <a:rPr lang="en-IN" sz="2800">
                        <a:solidFill>
                          <a:srgbClr val="15803D"/>
                        </a:solidFill>
                        <a:latin typeface="Cambria Math" panose="02040503050406030204" pitchFamily="18" charset="0"/>
                      </a:rPr>
                      <m:t>)</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a:t>
                </a:r>
                <a:r>
                  <a:rPr lang="en-IN" sz="2800">
                    <a:solidFill>
                      <a:srgbClr val="15803D"/>
                    </a:solidFill>
                    <a:latin typeface="Cambria Math" panose="02040503050406030204" pitchFamily="18" charset="0"/>
                  </a:rPr>
                  <a:t>$(2,3)$</a:t>
                </a:r>
                <a:endParaRPr sz="2800">
                  <a:solidFill>
                    <a:srgbClr val="15803D"/>
                  </a:solidFill>
                </a:endParaRPr>
              </a:p>
            </p:txBody>
          </p:sp>
        </mc:Fallback>
      </mc:AlternateContent>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is strictly monotonic, then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𝑣</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reduces to </a:t>
                </a:r>
                <a14:m>
                  <m:oMath xmlns:m="http://schemas.openxmlformats.org/officeDocument/2006/math">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𝑣</m:t>
                    </m:r>
                  </m:oMath>
                </a14:m>
                <a:r>
                  <a:rPr sz="2400" b="0">
                    <a:solidFill>
                      <a:srgbClr val="111827"/>
                    </a:solidFill>
                    <a:latin typeface="Arial"/>
                  </a:rPr>
                  <a:t> (increasing) or </a:t>
                </a:r>
                <a14:m>
                  <m:oMath xmlns:m="http://schemas.openxmlformats.org/officeDocument/2006/math">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𝑣</m:t>
                    </m:r>
                  </m:oMath>
                </a14:m>
                <a:r>
                  <a:rPr sz="2400" b="0">
                    <a:solidFill>
                      <a:srgbClr val="111827"/>
                    </a:solidFill>
                    <a:latin typeface="Arial"/>
                  </a:rPr>
                  <a:t> (decreasing); the inequality sign flips only for a decreasing function.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𝑔</m:t>
                    </m:r>
                  </m:oMath>
                </a14:m>
                <a:r>
                  <a:rPr sz="2400" b="0">
                    <a:solidFill>
                      <a:srgbClr val="111827"/>
                    </a:solidFill>
                    <a:latin typeface="Arial"/>
                  </a:rPr>
                  <a:t>: increasing o decreasing = decreasing, so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𝑣</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𝑣</m:t>
                    </m:r>
                  </m:oMath>
                </a14:m>
                <a:r>
                  <a:rPr sz="2400" b="0">
                    <a:solidFill>
                      <a:srgbClr val="111827"/>
                    </a:solidFill>
                    <a:latin typeface="Arial"/>
                  </a:rPr>
                  <a:t> here.</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proof pattern: split into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and use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(AM-GM: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sup>
                    </m:sSup>
                  </m:oMath>
                </a14:m>
                <a:r>
                  <a:rPr sz="2400" b="0">
                    <a:solidFill>
                      <a:srgbClr val="111827"/>
                    </a:solidFill>
                    <a:latin typeface="Arial"/>
                  </a:rPr>
                  <a:t> over </a:t>
                </a:r>
                <a14:m>
                  <m:oMath xmlns:m="http://schemas.openxmlformats.org/officeDocument/2006/math">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oMath>
                </a14:m>
                <a:r>
                  <a:rPr sz="2400" b="0">
                    <a:solidFill>
                      <a:srgbClr val="111827"/>
                    </a:solidFill>
                    <a:latin typeface="Arial"/>
                  </a:rPr>
                  <a:t> is a difference of monotone exponentials: </a:t>
                </a:r>
                <a14:m>
                  <m:oMath xmlns:m="http://schemas.openxmlformats.org/officeDocument/2006/math">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oMath>
                </a14:m>
                <a:r>
                  <a:rPr sz="2400" b="0">
                    <a:solidFill>
                      <a:srgbClr val="111827"/>
                    </a:solidFill>
                    <a:latin typeface="Arial"/>
                  </a:rPr>
                  <a:t> is strictly decreasing.</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$f$</a:t>
                </a:r>
                <a:r>
                  <a:rPr sz="2400" b="0">
                    <a:solidFill>
                      <a:srgbClr val="111827"/>
                    </a:solidFill>
                    <a:latin typeface="Arial"/>
                  </a:rPr>
                  <a:t> is strictly monotonic, then </a:t>
                </a:r>
                <a:r>
                  <a:rPr lang="en-IN" sz="2400">
                    <a:solidFill>
                      <a:srgbClr val="111827"/>
                    </a:solidFill>
                    <a:latin typeface="Cambria Math" panose="02040503050406030204" pitchFamily="18" charset="0"/>
                  </a:rPr>
                  <a:t>$f(u)&gt;f(v)$</a:t>
                </a:r>
                <a:r>
                  <a:rPr sz="2400" b="0">
                    <a:solidFill>
                      <a:srgbClr val="111827"/>
                    </a:solidFill>
                    <a:latin typeface="Arial"/>
                  </a:rPr>
                  <a:t> reduces to </a:t>
                </a:r>
                <a:r>
                  <a:rPr lang="en-IN" sz="2400">
                    <a:solidFill>
                      <a:srgbClr val="111827"/>
                    </a:solidFill>
                    <a:latin typeface="Cambria Math" panose="02040503050406030204" pitchFamily="18" charset="0"/>
                  </a:rPr>
                  <a:t>$u&gt;v$</a:t>
                </a:r>
                <a:r>
                  <a:rPr sz="2400" b="0">
                    <a:solidFill>
                      <a:srgbClr val="111827"/>
                    </a:solidFill>
                    <a:latin typeface="Arial"/>
                  </a:rPr>
                  <a:t> (increasing) or </a:t>
                </a:r>
                <a:r>
                  <a:rPr lang="en-IN" sz="2400">
                    <a:solidFill>
                      <a:srgbClr val="111827"/>
                    </a:solidFill>
                    <a:latin typeface="Cambria Math" panose="02040503050406030204" pitchFamily="18" charset="0"/>
                  </a:rPr>
                  <a:t>$u&lt;v$</a:t>
                </a:r>
                <a:r>
                  <a:rPr sz="2400" b="0">
                    <a:solidFill>
                      <a:srgbClr val="111827"/>
                    </a:solidFill>
                    <a:latin typeface="Arial"/>
                  </a:rPr>
                  <a:t> (decreasing); the inequality sign flips only for a decreasing function.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$f\circ g$</a:t>
                </a:r>
                <a:r>
                  <a:rPr sz="2400" b="0">
                    <a:solidFill>
                      <a:srgbClr val="111827"/>
                    </a:solidFill>
                    <a:latin typeface="Arial"/>
                  </a:rPr>
                  <a:t>: increasing o decreasing = decreasing, so </a:t>
                </a:r>
                <a:r>
                  <a:rPr lang="en-IN" sz="2400">
                    <a:solidFill>
                      <a:srgbClr val="111827"/>
                    </a:solidFill>
                    <a:latin typeface="Cambria Math" panose="02040503050406030204" pitchFamily="18" charset="0"/>
                  </a:rPr>
                  <a:t>$f(g(u))&gt;f(g(v))\iff u&lt;v$</a:t>
                </a:r>
                <a:r>
                  <a:rPr sz="2400" b="0">
                    <a:solidFill>
                      <a:srgbClr val="111827"/>
                    </a:solidFill>
                    <a:latin typeface="Arial"/>
                  </a:rPr>
                  <a:t> here.</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$f'(x)&gt;0$</a:t>
                </a:r>
                <a:r>
                  <a:rPr sz="2400" b="0">
                    <a:solidFill>
                      <a:srgbClr val="111827"/>
                    </a:solidFill>
                    <a:latin typeface="Arial"/>
                  </a:rPr>
                  <a:t> proof pattern: split into </a:t>
                </a:r>
                <a:r>
                  <a:rPr lang="en-IN" sz="2400">
                    <a:solidFill>
                      <a:srgbClr val="111827"/>
                    </a:solidFill>
                    <a:latin typeface="Cambria Math" panose="02040503050406030204" pitchFamily="18" charset="0"/>
                  </a:rPr>
                  <a:t>$x\ge0$</a:t>
                </a:r>
                <a:r>
                  <a:rPr sz="2400" b="0">
                    <a:solidFill>
                      <a:srgbClr val="111827"/>
                    </a:solidFill>
                    <a:latin typeface="Arial"/>
                  </a:rPr>
                  <a:t> and </a:t>
                </a:r>
                <a:r>
                  <a:rPr lang="en-IN" sz="2400">
                    <a:solidFill>
                      <a:srgbClr val="111827"/>
                    </a:solidFill>
                    <a:latin typeface="Cambria Math" panose="02040503050406030204" pitchFamily="18" charset="0"/>
                  </a:rPr>
                  <a:t>$x&lt;0$</a:t>
                </a:r>
                <a:r>
                  <a:rPr sz="2400" b="0">
                    <a:solidFill>
                      <a:srgbClr val="111827"/>
                    </a:solidFill>
                    <a:latin typeface="Arial"/>
                  </a:rPr>
                  <a:t> and use </a:t>
                </a:r>
                <a:r>
                  <a:rPr lang="en-IN" sz="2400">
                    <a:solidFill>
                      <a:srgbClr val="111827"/>
                    </a:solidFill>
                    <a:latin typeface="Cambria Math" panose="02040503050406030204" pitchFamily="18" charset="0"/>
                  </a:rPr>
                  <a:t>$\left|\frac{2x}{1+x^2}\right|\le1$</a:t>
                </a:r>
                <a:r>
                  <a:rPr sz="2400" b="0">
                    <a:solidFill>
                      <a:srgbClr val="111827"/>
                    </a:solidFill>
                    <a:latin typeface="Arial"/>
                  </a:rPr>
                  <a:t> (AM-GM: </a:t>
                </a:r>
                <a:r>
                  <a:rPr lang="en-IN" sz="2400">
                    <a:solidFill>
                      <a:srgbClr val="111827"/>
                    </a:solidFill>
                    <a:latin typeface="Cambria Math" panose="02040503050406030204" pitchFamily="18" charset="0"/>
                  </a:rPr>
                  <a:t>$1+x^2\ge2|x|$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$1-2e^{2x}$</a:t>
                </a:r>
                <a:r>
                  <a:rPr sz="2400" b="0">
                    <a:solidFill>
                      <a:srgbClr val="111827"/>
                    </a:solidFill>
                    <a:latin typeface="Arial"/>
                  </a:rPr>
                  <a:t> over </a:t>
                </a:r>
                <a:r>
                  <a:rPr lang="en-IN" sz="2400">
                    <a:solidFill>
                      <a:srgbClr val="111827"/>
                    </a:solidFill>
                    <a:latin typeface="Cambria Math" panose="02040503050406030204" pitchFamily="18" charset="0"/>
                  </a:rPr>
                  <a:t>$e^x$</a:t>
                </a:r>
                <a:r>
                  <a:rPr sz="2400" b="0">
                    <a:solidFill>
                      <a:srgbClr val="111827"/>
                    </a:solidFill>
                    <a:latin typeface="Arial"/>
                  </a:rPr>
                  <a:t> is a difference of monotone exponentials: </a:t>
                </a:r>
                <a:r>
                  <a:rPr lang="en-IN" sz="2400">
                    <a:solidFill>
                      <a:srgbClr val="111827"/>
                    </a:solidFill>
                    <a:latin typeface="Cambria Math" panose="02040503050406030204" pitchFamily="18" charset="0"/>
                  </a:rPr>
                  <a:t>$e^{-x}-2e^{x}$</a:t>
                </a:r>
                <a:r>
                  <a:rPr sz="2400" b="0">
                    <a:solidFill>
                      <a:srgbClr val="111827"/>
                    </a:solidFill>
                    <a:latin typeface="Arial"/>
                  </a:rPr>
                  <a:t> is strictly decreasing.</a:t>
                </a:r>
                <a:endParaRPr sz="2400">
                  <a:solidFill>
                    <a:srgbClr val="111827"/>
                  </a:solidFill>
                </a:endParaRPr>
              </a:p>
            </p:txBody>
          </p:sp>
        </mc:Fallback>
      </mc:AlternateContent>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cos</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p>
                      <m:e>
                        <m:r>
                          <m:rPr>
                            <m:sty m:val="p"/>
                          </m:rPr>
                          <a:rPr lang="en-IN" sz="2400">
                            <a:solidFill>
                              <a:srgbClr val="111827"/>
                            </a:solidFill>
                            <a:latin typeface="Cambria Math" panose="02040503050406030204" pitchFamily="18" charset="0"/>
                          </a:rPr>
                          <m:t>cot</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the range of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11</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oMath>
                </a14:m>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$f(x)=2\cos^{-1}x+4\cot^{-1}x-3x^2-2x+10$</a:t>
                </a:r>
                <a:r>
                  <a:rPr sz="2400" b="0">
                    <a:solidFill>
                      <a:srgbClr val="111827"/>
                    </a:solidFill>
                    <a:latin typeface="Arial"/>
                  </a:rPr>
                  <a:t>, </a:t>
                </a:r>
                <a:r>
                  <a:rPr lang="en-IN" sz="2400">
                    <a:solidFill>
                      <a:srgbClr val="111827"/>
                    </a:solidFill>
                    <a:latin typeface="Cambria Math" panose="02040503050406030204" pitchFamily="18" charset="0"/>
                  </a:rPr>
                  <a:t>$x\in[-1,1]$</a:t>
                </a:r>
                <a:r>
                  <a:rPr sz="2400" b="0">
                    <a:solidFill>
                      <a:srgbClr val="111827"/>
                    </a:solidFill>
                    <a:latin typeface="Arial"/>
                  </a:rPr>
                  <a:t>. If </a:t>
                </a:r>
                <a:r>
                  <a:rPr lang="en-IN" sz="2400">
                    <a:solidFill>
                      <a:srgbClr val="111827"/>
                    </a:solidFill>
                    <a:latin typeface="Cambria Math" panose="02040503050406030204" pitchFamily="18" charset="0"/>
                  </a:rPr>
                  <a:t>$[a,b]$</a:t>
                </a:r>
                <a:r>
                  <a:rPr sz="2400" b="0">
                    <a:solidFill>
                      <a:srgbClr val="111827"/>
                    </a:solidFill>
                    <a:latin typeface="Arial"/>
                  </a:rPr>
                  <a:t> is the range of </a:t>
                </a:r>
                <a:r>
                  <a:rPr lang="en-IN" sz="2400">
                    <a:solidFill>
                      <a:srgbClr val="111827"/>
                    </a:solidFill>
                    <a:latin typeface="Cambria Math" panose="02040503050406030204" pitchFamily="18" charset="0"/>
                  </a:rPr>
                  <a:t>$f$</a:t>
                </a:r>
                <a:r>
                  <a:rPr sz="2400" b="0">
                    <a:solidFill>
                      <a:srgbClr val="111827"/>
                    </a:solidFill>
                    <a:latin typeface="Arial"/>
                  </a:rPr>
                  <a:t>, then </a:t>
                </a:r>
                <a:r>
                  <a:rPr lang="en-IN" sz="2400">
                    <a:solidFill>
                      <a:srgbClr val="111827"/>
                    </a:solidFill>
                    <a:latin typeface="Cambria Math" panose="02040503050406030204" pitchFamily="18" charset="0"/>
                  </a:rPr>
                  <a:t>$4a-b$</a:t>
                </a:r>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$11$</a:t>
                </a:r>
                <a:r>
                  <a:rPr sz="2400" b="0">
                    <a:solidFill>
                      <a:srgbClr val="111827"/>
                    </a:solidFill>
                    <a:latin typeface="Arial"/>
                  </a:rPr>
                  <a:t>   (B) </a:t>
                </a:r>
                <a:r>
                  <a:rPr lang="en-IN" sz="2400">
                    <a:solidFill>
                      <a:srgbClr val="111827"/>
                    </a:solidFill>
                    <a:latin typeface="Cambria Math" panose="02040503050406030204" pitchFamily="18" charset="0"/>
                  </a:rPr>
                  <a:t>$11-\pi$</a:t>
                </a:r>
                <a:r>
                  <a:rPr sz="2400" b="0">
                    <a:solidFill>
                      <a:srgbClr val="111827"/>
                    </a:solidFill>
                    <a:latin typeface="Arial"/>
                  </a:rPr>
                  <a:t>   (C) </a:t>
                </a:r>
                <a:r>
                  <a:rPr lang="en-IN" sz="2400">
                    <a:solidFill>
                      <a:srgbClr val="111827"/>
                    </a:solidFill>
                    <a:latin typeface="Cambria Math" panose="02040503050406030204" pitchFamily="18" charset="0"/>
                  </a:rPr>
                  <a:t>$11+\pi$</a:t>
                </a:r>
                <a:r>
                  <a:rPr sz="2400" b="0">
                    <a:solidFill>
                      <a:srgbClr val="111827"/>
                    </a:solidFill>
                    <a:latin typeface="Arial"/>
                  </a:rPr>
                  <a:t>   (D) </a:t>
                </a:r>
                <a:r>
                  <a:rPr lang="en-IN" sz="2400">
                    <a:solidFill>
                      <a:srgbClr val="111827"/>
                    </a:solidFill>
                    <a:latin typeface="Cambria Math" panose="02040503050406030204" pitchFamily="18" charset="0"/>
                  </a:rPr>
                  <a:t>$15-\pi$</a:t>
                </a:r>
                <a:endParaRPr sz="2400">
                  <a:solidFill>
                    <a:srgbClr val="111827"/>
                  </a:solidFill>
                </a:endParaRPr>
              </a:p>
            </p:txBody>
          </p:sp>
        </mc:Fallback>
      </mc:AlternateContent>
      <p:sp>
        <p:nvSpPr>
          <p:cNvPr id="5" name="Rectangle 4"/>
          <p:cNvSpPr/>
          <p:nvPr/>
        </p:nvSpPr>
        <p:spPr>
          <a:xfrm>
            <a:off x="731520" y="3246120"/>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Range of a function using monotonicity, Inverse trigonometric functions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Show </a:t>
                </a:r>
                <a14:m>
                  <m:oMath xmlns:m="http://schemas.openxmlformats.org/officeDocument/2006/math">
                    <m:sSup>
                      <m:e>
                        <m:r>
                          <a:rPr lang="en-IN" sz="2400" i="1">
                            <a:solidFill>
                              <a:srgbClr val="78350F"/>
                            </a:solidFill>
                            <a:latin typeface="Cambria Math" panose="02040503050406030204" pitchFamily="18" charset="0"/>
                          </a:rPr>
                          <m:t>𝑓</m:t>
                        </m:r>
                      </m:e>
                      <m:sup>
                        <m:r>
                          <m:rPr>
                            <m:sty m:val="p"/>
                          </m:rPr>
                          <a:rPr lang="en-IN" sz="2400">
                            <a:solidFill>
                              <a:srgbClr val="78350F"/>
                            </a:solidFill>
                            <a:latin typeface="Cambria Math" panose="02040503050406030204" pitchFamily="18" charset="0"/>
                          </a:rPr>
                          <m:t>′</m:t>
                        </m:r>
                      </m:sup>
                    </m:sSup>
                    <m:r>
                      <m:rPr>
                        <m:sty m:val="p"/>
                      </m:rPr>
                      <a:rPr lang="en-IN" sz="2400">
                        <a:solidFill>
                          <a:srgbClr val="78350F"/>
                        </a:solidFill>
                        <a:latin typeface="Cambria Math" panose="02040503050406030204" pitchFamily="18" charset="0"/>
                      </a:rPr>
                      <m:t>&lt;</m:t>
                    </m:r>
                    <m:r>
                      <a:rPr lang="en-IN" sz="2400" i="1">
                        <a:solidFill>
                          <a:srgbClr val="78350F"/>
                        </a:solidFill>
                        <a:latin typeface="Cambria Math" panose="02040503050406030204" pitchFamily="18" charset="0"/>
                      </a:rPr>
                      <m:t>0</m:t>
                    </m:r>
                  </m:oMath>
                </a14:m>
                <a:r>
                  <a:rPr sz="2400" b="0">
                    <a:solidFill>
                      <a:srgbClr val="78350F"/>
                    </a:solidFill>
                    <a:latin typeface="Arial"/>
                  </a:rPr>
                  <a:t> on </a:t>
                </a:r>
                <a14:m>
                  <m:oMath xmlns:m="http://schemas.openxmlformats.org/officeDocument/2006/math">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so the range is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𝑓</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𝑓</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use </a:t>
                </a:r>
                <a14:m>
                  <m:oMath xmlns:m="http://schemas.openxmlformats.org/officeDocument/2006/math">
                    <m:sSup>
                      <m:e>
                        <m:r>
                          <m:rPr>
                            <m:sty m:val="p"/>
                          </m:rPr>
                          <a:rPr lang="en-IN" sz="2400">
                            <a:solidFill>
                              <a:srgbClr val="78350F"/>
                            </a:solidFill>
                            <a:latin typeface="Cambria Math" panose="02040503050406030204" pitchFamily="18" charset="0"/>
                          </a:rPr>
                          <m:t>cot</m:t>
                        </m:r>
                      </m:e>
                      <m: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up>
                    </m:sSup>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3</m:t>
                        </m:r>
                        <m:r>
                          <a:rPr lang="en-IN" sz="2400" i="1">
                            <a:solidFill>
                              <a:srgbClr val="78350F"/>
                            </a:solidFill>
                            <a:latin typeface="Cambria Math" panose="02040503050406030204" pitchFamily="18" charset="0"/>
                          </a:rPr>
                          <m:t>π</m:t>
                        </m:r>
                      </m:num>
                      <m:den>
                        <m:r>
                          <a:rPr lang="en-IN" sz="2400" i="1">
                            <a:solidFill>
                              <a:srgbClr val="78350F"/>
                            </a:solidFill>
                            <a:latin typeface="Cambria Math" panose="02040503050406030204" pitchFamily="18" charset="0"/>
                          </a:rPr>
                          <m:t>4</m:t>
                        </m:r>
                      </m:den>
                    </m:f>
                  </m:oMath>
                </a14:m>
                <a:r>
                  <a:rPr sz="2400" b="0">
                    <a:solidFill>
                      <a:srgbClr val="78350F"/>
                    </a:solidFill>
                    <a:latin typeface="Arial"/>
                  </a:rPr>
                  <a:t> (principal value in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π</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Show </a:t>
                </a:r>
                <a:r>
                  <a:rPr lang="en-IN" sz="2400">
                    <a:solidFill>
                      <a:srgbClr val="78350F"/>
                    </a:solidFill>
                    <a:latin typeface="Cambria Math" panose="02040503050406030204" pitchFamily="18" charset="0"/>
                  </a:rPr>
                  <a:t>$f'&lt;0$</a:t>
                </a:r>
                <a:r>
                  <a:rPr sz="2400" b="0">
                    <a:solidFill>
                      <a:srgbClr val="78350F"/>
                    </a:solidFill>
                    <a:latin typeface="Arial"/>
                  </a:rPr>
                  <a:t> on </a:t>
                </a:r>
                <a:r>
                  <a:rPr lang="en-IN" sz="2400">
                    <a:solidFill>
                      <a:srgbClr val="78350F"/>
                    </a:solidFill>
                    <a:latin typeface="Cambria Math" panose="02040503050406030204" pitchFamily="18" charset="0"/>
                  </a:rPr>
                  <a:t>$[-1,1]$</a:t>
                </a:r>
                <a:r>
                  <a:rPr sz="2400" b="0">
                    <a:solidFill>
                      <a:srgbClr val="78350F"/>
                    </a:solidFill>
                    <a:latin typeface="Arial"/>
                  </a:rPr>
                  <a:t>, so the range is </a:t>
                </a:r>
                <a:r>
                  <a:rPr lang="en-IN" sz="2400">
                    <a:solidFill>
                      <a:srgbClr val="78350F"/>
                    </a:solidFill>
                    <a:latin typeface="Cambria Math" panose="02040503050406030204" pitchFamily="18" charset="0"/>
                  </a:rPr>
                  <a:t>$[f(1),f(-1)]$</a:t>
                </a:r>
                <a:r>
                  <a:rPr sz="2400" b="0">
                    <a:solidFill>
                      <a:srgbClr val="78350F"/>
                    </a:solidFill>
                    <a:latin typeface="Arial"/>
                  </a:rPr>
                  <a:t>; use </a:t>
                </a:r>
                <a:r>
                  <a:rPr lang="en-IN" sz="2400">
                    <a:solidFill>
                      <a:srgbClr val="78350F"/>
                    </a:solidFill>
                    <a:latin typeface="Cambria Math" panose="02040503050406030204" pitchFamily="18" charset="0"/>
                  </a:rPr>
                  <a:t>$\cot^{-1}(-1)=\frac{3\pi}{4}$</a:t>
                </a:r>
                <a:r>
                  <a:rPr sz="2400" b="0">
                    <a:solidFill>
                      <a:srgbClr val="78350F"/>
                    </a:solidFill>
                    <a:latin typeface="Arial"/>
                  </a:rPr>
                  <a:t> (principal value in </a:t>
                </a:r>
                <a:r>
                  <a:rPr lang="en-IN" sz="2400">
                    <a:solidFill>
                      <a:srgbClr val="78350F"/>
                    </a:solidFill>
                    <a:latin typeface="Cambria Math" panose="02040503050406030204" pitchFamily="18" charset="0"/>
                  </a:rPr>
                  <a:t>$(0,\pi)$</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e>
                        </m:ra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e>
                            </m:ra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e>
                        </m:rad>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the bracket is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on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it is never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(equality would need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together).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the bracket is positive,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is a decreasing function on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$f'(x)=\frac{-2}{\sqrt{1-x^2}}-\frac{4}{1+x^2}-6x-2=-2\left[\frac{1}{\sqrt{1-x^2}}+\frac{2}{1+x^2}+3x+1\right]$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r>
                  <a:rPr lang="en-IN" sz="2400">
                    <a:solidFill>
                      <a:srgbClr val="111827"/>
                    </a:solidFill>
                    <a:latin typeface="Cambria Math" panose="02040503050406030204" pitchFamily="18" charset="0"/>
                  </a:rPr>
                  <a:t>$\frac{1}{\sqrt{1-x^2}}\ge1$</a:t>
                </a:r>
                <a:r>
                  <a:rPr sz="2400" b="0">
                    <a:solidFill>
                      <a:srgbClr val="111827"/>
                    </a:solidFill>
                    <a:latin typeface="Arial"/>
                  </a:rPr>
                  <a:t> and </a:t>
                </a:r>
                <a:r>
                  <a:rPr lang="en-IN" sz="2400">
                    <a:solidFill>
                      <a:srgbClr val="111827"/>
                    </a:solidFill>
                    <a:latin typeface="Cambria Math" panose="02040503050406030204" pitchFamily="18" charset="0"/>
                  </a:rPr>
                  <a:t>$\frac{2}{1+x^2}\ge1$</a:t>
                </a:r>
                <a:r>
                  <a:rPr sz="2400" b="0">
                    <a:solidFill>
                      <a:srgbClr val="111827"/>
                    </a:solidFill>
                    <a:latin typeface="Arial"/>
                  </a:rPr>
                  <a:t>, the bracket is </a:t>
                </a:r>
                <a:r>
                  <a:rPr lang="en-IN" sz="2400">
                    <a:solidFill>
                      <a:srgbClr val="111827"/>
                    </a:solidFill>
                    <a:latin typeface="Cambria Math" panose="02040503050406030204" pitchFamily="18" charset="0"/>
                  </a:rPr>
                  <a:t>$\ge3x+3\ge0$</a:t>
                </a:r>
                <a:r>
                  <a:rPr sz="2400" b="0">
                    <a:solidFill>
                      <a:srgbClr val="111827"/>
                    </a:solidFill>
                    <a:latin typeface="Arial"/>
                  </a:rPr>
                  <a:t> on </a:t>
                </a:r>
                <a:r>
                  <a:rPr lang="en-IN" sz="2400">
                    <a:solidFill>
                      <a:srgbClr val="111827"/>
                    </a:solidFill>
                    <a:latin typeface="Cambria Math" panose="02040503050406030204" pitchFamily="18" charset="0"/>
                  </a:rPr>
                  <a:t>$[-1,1]$</a:t>
                </a:r>
                <a:r>
                  <a:rPr sz="2400" b="0">
                    <a:solidFill>
                      <a:srgbClr val="111827"/>
                    </a:solidFill>
                    <a:latin typeface="Arial"/>
                  </a:rPr>
                  <a:t>, and it is never </a:t>
                </a:r>
                <a:r>
                  <a:rPr lang="en-IN" sz="2400">
                    <a:solidFill>
                      <a:srgbClr val="111827"/>
                    </a:solidFill>
                    <a:latin typeface="Cambria Math" panose="02040503050406030204" pitchFamily="18" charset="0"/>
                  </a:rPr>
                  <a:t>$0$</a:t>
                </a:r>
                <a:r>
                  <a:rPr sz="2400" b="0">
                    <a:solidFill>
                      <a:srgbClr val="111827"/>
                    </a:solidFill>
                    <a:latin typeface="Arial"/>
                  </a:rPr>
                  <a:t> (equality would need </a:t>
                </a:r>
                <a:r>
                  <a:rPr lang="en-IN" sz="2400">
                    <a:solidFill>
                      <a:srgbClr val="111827"/>
                    </a:solidFill>
                    <a:latin typeface="Cambria Math" panose="02040503050406030204" pitchFamily="18" charset="0"/>
                  </a:rPr>
                  <a:t>$x=0$</a:t>
                </a:r>
                <a:r>
                  <a:rPr sz="2400" b="0">
                    <a:solidFill>
                      <a:srgbClr val="111827"/>
                    </a:solidFill>
                    <a:latin typeface="Arial"/>
                  </a:rPr>
                  <a:t> and </a:t>
                </a:r>
                <a:r>
                  <a:rPr lang="en-IN" sz="2400">
                    <a:solidFill>
                      <a:srgbClr val="111827"/>
                    </a:solidFill>
                    <a:latin typeface="Cambria Math" panose="02040503050406030204" pitchFamily="18" charset="0"/>
                  </a:rPr>
                  <a:t>$x=-1$</a:t>
                </a:r>
                <a:r>
                  <a:rPr sz="2400" b="0">
                    <a:solidFill>
                      <a:srgbClr val="111827"/>
                    </a:solidFill>
                    <a:latin typeface="Arial"/>
                  </a:rPr>
                  <a:t> together).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the bracket is positive, </a:t>
                </a:r>
                <a:r>
                  <a:rPr lang="en-IN" sz="2400">
                    <a:solidFill>
                      <a:srgbClr val="111827"/>
                    </a:solidFill>
                    <a:latin typeface="Cambria Math" panose="02040503050406030204" pitchFamily="18" charset="0"/>
                  </a:rPr>
                  <a:t>$f'(x)&lt;0$</a:t>
                </a:r>
                <a:r>
                  <a:rPr sz="2400" b="0">
                    <a:solidFill>
                      <a:srgbClr val="111827"/>
                    </a:solidFill>
                    <a:latin typeface="Arial"/>
                  </a:rPr>
                  <a:t> and </a:t>
                </a:r>
                <a:r>
                  <a:rPr lang="en-IN" sz="2400">
                    <a:solidFill>
                      <a:srgbClr val="111827"/>
                    </a:solidFill>
                    <a:latin typeface="Cambria Math" panose="02040503050406030204" pitchFamily="18" charset="0"/>
                  </a:rPr>
                  <a:t>$f$</a:t>
                </a:r>
                <a:r>
                  <a:rPr sz="2400" b="0">
                    <a:solidFill>
                      <a:srgbClr val="111827"/>
                    </a:solidFill>
                    <a:latin typeface="Arial"/>
                  </a:rPr>
                  <a:t> is a decreasing function on </a:t>
                </a:r>
                <a:r>
                  <a:rPr lang="en-IN" sz="2400">
                    <a:solidFill>
                      <a:srgbClr val="111827"/>
                    </a:solidFill>
                    <a:latin typeface="Cambria Math" panose="02040503050406030204" pitchFamily="18" charset="0"/>
                  </a:rPr>
                  <a:t>$[-1,1]$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Range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oMath>
                </a14:m>
                <a:r>
                  <a:rPr sz="2400" b="0">
                    <a:solidFill>
                      <a:srgbClr val="111827"/>
                    </a:solidFill>
                    <a:latin typeface="Arial"/>
                  </a:rPr>
                  <a:t>, option (B).</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$f(1)=2\cdot0+4\cdot\frac{\pi}{4}-3-2+10=\pi+5$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$f(-1)=2\pi+4\cdot\frac{3\pi}{4}-3+2+10=5\pi+9$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Range </a:t>
                </a:r>
                <a:r>
                  <a:rPr lang="en-IN" sz="2400">
                    <a:solidFill>
                      <a:srgbClr val="111827"/>
                    </a:solidFill>
                    <a:latin typeface="Cambria Math" panose="02040503050406030204" pitchFamily="18" charset="0"/>
                  </a:rPr>
                  <a:t>$[a,b]=[\pi+5,\,5\pi+9]$</a:t>
                </a:r>
                <a:r>
                  <a:rPr sz="2400" b="0">
                    <a:solidFill>
                      <a:srgbClr val="111827"/>
                    </a:solidFill>
                    <a:latin typeface="Arial"/>
                  </a:rPr>
                  <a:t>, so </a:t>
                </a:r>
                <a:r>
                  <a:rPr lang="en-IN" sz="2400">
                    <a:solidFill>
                      <a:srgbClr val="111827"/>
                    </a:solidFill>
                    <a:latin typeface="Cambria Math" panose="02040503050406030204" pitchFamily="18" charset="0"/>
                  </a:rPr>
                  <a:t>$a=\pi+5$</a:t>
                </a:r>
                <a:r>
                  <a:rPr sz="2400" b="0">
                    <a:solidFill>
                      <a:srgbClr val="111827"/>
                    </a:solidFill>
                    <a:latin typeface="Arial"/>
                  </a:rPr>
                  <a:t>, </a:t>
                </a:r>
                <a:r>
                  <a:rPr lang="en-IN" sz="2400">
                    <a:solidFill>
                      <a:srgbClr val="111827"/>
                    </a:solidFill>
                    <a:latin typeface="Cambria Math" panose="02040503050406030204" pitchFamily="18" charset="0"/>
                  </a:rPr>
                  <a:t>$b=5\pi+9$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$4a-b=4\pi+20-5\pi-9=11-\pi$</a:t>
                </a:r>
                <a:r>
                  <a:rPr sz="2400" b="0">
                    <a:solidFill>
                      <a:srgbClr val="111827"/>
                    </a:solidFill>
                    <a:latin typeface="Arial"/>
                  </a:rPr>
                  <a:t>, option (B).</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14:m>
                  <m:oMath xmlns:m="http://schemas.openxmlformats.org/officeDocument/2006/math">
                    <m:r>
                      <a:rPr lang="en-IN" sz="2800" i="1">
                        <a:solidFill>
                          <a:srgbClr val="15803D"/>
                        </a:solidFill>
                        <a:latin typeface="Cambria Math" panose="02040503050406030204" pitchFamily="18" charset="0"/>
                      </a:rPr>
                      <m:t>11</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π</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r>
                  <a:rPr lang="en-IN" sz="2800">
                    <a:solidFill>
                      <a:srgbClr val="15803D"/>
                    </a:solidFill>
                    <a:latin typeface="Cambria Math" panose="02040503050406030204" pitchFamily="18" charset="0"/>
                  </a:rPr>
                  <a:t>$11-\pi$</a:t>
                </a:r>
                <a:endParaRPr sz="2800">
                  <a:solidFill>
                    <a:srgbClr val="15803D"/>
                  </a:solidFill>
                </a:endParaRPr>
              </a:p>
            </p:txBody>
          </p:sp>
        </mc:Fallback>
      </mc:AlternateContent>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Principal values: </a:t>
                </a:r>
                <a14:m>
                  <m:oMath xmlns:m="http://schemas.openxmlformats.org/officeDocument/2006/math">
                    <m:sSup>
                      <m:e>
                        <m:r>
                          <m:rPr>
                            <m:sty m:val="p"/>
                          </m:rPr>
                          <a:rPr lang="en-IN" sz="2400">
                            <a:solidFill>
                              <a:srgbClr val="111827"/>
                            </a:solidFill>
                            <a:latin typeface="Cambria Math" panose="02040503050406030204" pitchFamily="18" charset="0"/>
                          </a:rPr>
                          <m:t>cos</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sSup>
                      <m:e>
                        <m:r>
                          <m:rPr>
                            <m:sty m:val="p"/>
                          </m:rPr>
                          <a:rPr lang="en-IN" sz="2400">
                            <a:solidFill>
                              <a:srgbClr val="111827"/>
                            </a:solidFill>
                            <a:latin typeface="Cambria Math" panose="02040503050406030204" pitchFamily="18" charset="0"/>
                          </a:rPr>
                          <m:t>cot</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R</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sSup>
                      <m:e>
                        <m:r>
                          <m:rPr>
                            <m:sty m:val="p"/>
                          </m:rPr>
                          <a:rPr lang="en-IN" sz="2400">
                            <a:solidFill>
                              <a:srgbClr val="111827"/>
                            </a:solidFill>
                            <a:latin typeface="Cambria Math" panose="02040503050406030204" pitchFamily="18" charset="0"/>
                          </a:rPr>
                          <m:t>cot</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(not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m:rPr>
                            <m:sty m:val="p"/>
                          </m:rPr>
                          <a:rPr lang="en-IN" sz="2400">
                            <a:solidFill>
                              <a:srgbClr val="111827"/>
                            </a:solidFill>
                            <a:latin typeface="Cambria Math" panose="02040503050406030204" pitchFamily="18" charset="0"/>
                          </a:rPr>
                          <m:t>cos</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cos</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𝑥</m:t>
                    </m:r>
                  </m:oMath>
                </a14:m>
                <a:r>
                  <a:rPr sz="2400" b="0">
                    <a:solidFill>
                      <a:srgbClr val="111827"/>
                    </a:solidFill>
                    <a:latin typeface="Arial"/>
                  </a:rPr>
                  <a:t> and </a:t>
                </a:r>
                <a14:m>
                  <m:oMath xmlns:m="http://schemas.openxmlformats.org/officeDocument/2006/math">
                    <m:sSup>
                      <m:e>
                        <m:r>
                          <m:rPr>
                            <m:sty m:val="p"/>
                          </m:rPr>
                          <a:rPr lang="en-IN" sz="2400">
                            <a:solidFill>
                              <a:srgbClr val="111827"/>
                            </a:solidFill>
                            <a:latin typeface="Cambria Math" panose="02040503050406030204" pitchFamily="18" charset="0"/>
                          </a:rPr>
                          <m:t>cot</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cot</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𝑥</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is continuous and strictly decreasing 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its range is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only the end values are needed.</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e>
                        </m:rad>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on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are quick bounds for proving the sign of a derivative.</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Principal values: </a:t>
                </a:r>
                <a:r>
                  <a:rPr lang="en-IN" sz="2400">
                    <a:solidFill>
                      <a:srgbClr val="111827"/>
                    </a:solidFill>
                    <a:latin typeface="Cambria Math" panose="02040503050406030204" pitchFamily="18" charset="0"/>
                  </a:rPr>
                  <a:t>$\cos^{-1}:[-1,1]\to[0,\pi]$</a:t>
                </a:r>
                <a:r>
                  <a:rPr sz="2400" b="0">
                    <a:solidFill>
                      <a:srgbClr val="111827"/>
                    </a:solidFill>
                    <a:latin typeface="Arial"/>
                  </a:rPr>
                  <a:t>, </a:t>
                </a:r>
                <a:r>
                  <a:rPr lang="en-IN" sz="2400">
                    <a:solidFill>
                      <a:srgbClr val="111827"/>
                    </a:solidFill>
                    <a:latin typeface="Cambria Math" panose="02040503050406030204" pitchFamily="18" charset="0"/>
                  </a:rPr>
                  <a:t>$\cot^{-1}:\mathbb{R}\to(0,\pi)$</a:t>
                </a:r>
                <a:r>
                  <a:rPr sz="2400" b="0">
                    <a:solidFill>
                      <a:srgbClr val="111827"/>
                    </a:solidFill>
                    <a:latin typeface="Arial"/>
                  </a:rPr>
                  <a:t>, so </a:t>
                </a:r>
                <a:r>
                  <a:rPr lang="en-IN" sz="2400">
                    <a:solidFill>
                      <a:srgbClr val="111827"/>
                    </a:solidFill>
                    <a:latin typeface="Cambria Math" panose="02040503050406030204" pitchFamily="18" charset="0"/>
                  </a:rPr>
                  <a:t>$\cot^{-1}(-1)=\frac{3\pi}{4}$</a:t>
                </a:r>
                <a:r>
                  <a:rPr sz="2400" b="0">
                    <a:solidFill>
                      <a:srgbClr val="111827"/>
                    </a:solidFill>
                    <a:latin typeface="Arial"/>
                  </a:rPr>
                  <a:t> (not </a:t>
                </a:r>
                <a:r>
                  <a:rPr lang="en-IN" sz="2400">
                    <a:solidFill>
                      <a:srgbClr val="111827"/>
                    </a:solidFill>
                    <a:latin typeface="Cambria Math" panose="02040503050406030204" pitchFamily="18" charset="0"/>
                  </a:rPr>
                  <a:t>$-\frac{\pi}{4}$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$\cos^{-1}(-x)=\pi-\cos^{-1}x$</a:t>
                </a:r>
                <a:r>
                  <a:rPr sz="2400" b="0">
                    <a:solidFill>
                      <a:srgbClr val="111827"/>
                    </a:solidFill>
                    <a:latin typeface="Arial"/>
                  </a:rPr>
                  <a:t> and </a:t>
                </a:r>
                <a:r>
                  <a:rPr lang="en-IN" sz="2400">
                    <a:solidFill>
                      <a:srgbClr val="111827"/>
                    </a:solidFill>
                    <a:latin typeface="Cambria Math" panose="02040503050406030204" pitchFamily="18" charset="0"/>
                  </a:rPr>
                  <a:t>$\cot^{-1}(-x)=\pi-\cot^{-1}x$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$f$</a:t>
                </a:r>
                <a:r>
                  <a:rPr sz="2400" b="0">
                    <a:solidFill>
                      <a:srgbClr val="111827"/>
                    </a:solidFill>
                    <a:latin typeface="Arial"/>
                  </a:rPr>
                  <a:t> is continuous and strictly decreasing on </a:t>
                </a:r>
                <a:r>
                  <a:rPr lang="en-IN" sz="2400">
                    <a:solidFill>
                      <a:srgbClr val="111827"/>
                    </a:solidFill>
                    <a:latin typeface="Cambria Math" panose="02040503050406030204" pitchFamily="18" charset="0"/>
                  </a:rPr>
                  <a:t>$[p,q]$</a:t>
                </a:r>
                <a:r>
                  <a:rPr sz="2400" b="0">
                    <a:solidFill>
                      <a:srgbClr val="111827"/>
                    </a:solidFill>
                    <a:latin typeface="Arial"/>
                  </a:rPr>
                  <a:t>, its range is </a:t>
                </a:r>
                <a:r>
                  <a:rPr lang="en-IN" sz="2400">
                    <a:solidFill>
                      <a:srgbClr val="111827"/>
                    </a:solidFill>
                    <a:latin typeface="Cambria Math" panose="02040503050406030204" pitchFamily="18" charset="0"/>
                  </a:rPr>
                  <a:t>$[f(q),f(p)]$</a:t>
                </a:r>
                <a:r>
                  <a:rPr sz="2400" b="0">
                    <a:solidFill>
                      <a:srgbClr val="111827"/>
                    </a:solidFill>
                    <a:latin typeface="Arial"/>
                  </a:rPr>
                  <a:t>; only the end values are needed.</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$\frac{1}{\sqrt{1-x^2}}\ge1$</a:t>
                </a:r>
                <a:r>
                  <a:rPr sz="2400" b="0">
                    <a:solidFill>
                      <a:srgbClr val="111827"/>
                    </a:solidFill>
                    <a:latin typeface="Arial"/>
                  </a:rPr>
                  <a:t> and </a:t>
                </a:r>
                <a:r>
                  <a:rPr lang="en-IN" sz="2400">
                    <a:solidFill>
                      <a:srgbClr val="111827"/>
                    </a:solidFill>
                    <a:latin typeface="Cambria Math" panose="02040503050406030204" pitchFamily="18" charset="0"/>
                  </a:rPr>
                  <a:t>$\frac{2}{1+x^2}\ge1$</a:t>
                </a:r>
                <a:r>
                  <a:rPr sz="2400" b="0">
                    <a:solidFill>
                      <a:srgbClr val="111827"/>
                    </a:solidFill>
                    <a:latin typeface="Arial"/>
                  </a:rPr>
                  <a:t> on </a:t>
                </a:r>
                <a:r>
                  <a:rPr lang="en-IN" sz="2400">
                    <a:solidFill>
                      <a:srgbClr val="111827"/>
                    </a:solidFill>
                    <a:latin typeface="Cambria Math" panose="02040503050406030204" pitchFamily="18" charset="0"/>
                  </a:rPr>
                  <a:t>$[-1,1]$</a:t>
                </a:r>
                <a:r>
                  <a:rPr sz="2400" b="0">
                    <a:solidFill>
                      <a:srgbClr val="111827"/>
                    </a:solidFill>
                    <a:latin typeface="Arial"/>
                  </a:rPr>
                  <a:t> are quick bounds for proving the sign of a derivative.</a:t>
                </a:r>
                <a:endParaRPr sz="2400">
                  <a:solidFill>
                    <a:srgbClr val="111827"/>
                  </a:solidFill>
                </a:endParaRPr>
              </a:p>
            </p:txBody>
          </p:sp>
        </mc:Fallback>
      </mc:AlternateContent>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number of distinct real roots of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0</m:t>
                    </m:r>
                  </m:oMath>
                </a14:m>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number of distinct real roots of </a:t>
                </a:r>
                <a:r>
                  <a:rPr lang="en-IN" sz="2400">
                    <a:solidFill>
                      <a:srgbClr val="111827"/>
                    </a:solidFill>
                    <a:latin typeface="Cambria Math" panose="02040503050406030204" pitchFamily="18" charset="0"/>
                  </a:rPr>
                  <a:t>$x^4-4x+1=0$</a:t>
                </a:r>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$4$</a:t>
                </a:r>
                <a:r>
                  <a:rPr sz="2400" b="0">
                    <a:solidFill>
                      <a:srgbClr val="111827"/>
                    </a:solidFill>
                    <a:latin typeface="Arial"/>
                  </a:rPr>
                  <a:t>   (B) </a:t>
                </a:r>
                <a:r>
                  <a:rPr lang="en-IN" sz="2400">
                    <a:solidFill>
                      <a:srgbClr val="111827"/>
                    </a:solidFill>
                    <a:latin typeface="Cambria Math" panose="02040503050406030204" pitchFamily="18" charset="0"/>
                  </a:rPr>
                  <a:t>$2$</a:t>
                </a:r>
                <a:r>
                  <a:rPr sz="2400" b="0">
                    <a:solidFill>
                      <a:srgbClr val="111827"/>
                    </a:solidFill>
                    <a:latin typeface="Arial"/>
                  </a:rPr>
                  <a:t>   (C) </a:t>
                </a:r>
                <a:r>
                  <a:rPr lang="en-IN" sz="2400">
                    <a:solidFill>
                      <a:srgbClr val="111827"/>
                    </a:solidFill>
                    <a:latin typeface="Cambria Math" panose="02040503050406030204" pitchFamily="18" charset="0"/>
                  </a:rPr>
                  <a:t>$1$</a:t>
                </a:r>
                <a:r>
                  <a:rPr sz="2400" b="0">
                    <a:solidFill>
                      <a:srgbClr val="111827"/>
                    </a:solidFill>
                    <a:latin typeface="Arial"/>
                  </a:rPr>
                  <a:t>   (D) </a:t>
                </a:r>
                <a:r>
                  <a:rPr lang="en-IN" sz="2400">
                    <a:solidFill>
                      <a:srgbClr val="111827"/>
                    </a:solidFill>
                    <a:latin typeface="Cambria Math" panose="02040503050406030204" pitchFamily="18" charset="0"/>
                  </a:rPr>
                  <a:t>$0$</a:t>
                </a:r>
                <a:endParaRPr sz="2400">
                  <a:solidFill>
                    <a:srgbClr val="111827"/>
                  </a:solidFill>
                </a:endParaRPr>
              </a:p>
            </p:txBody>
          </p:sp>
        </mc:Fallback>
      </mc:AlternateContent>
      <p:sp>
        <p:nvSpPr>
          <p:cNvPr id="5" name="Rectangle 4"/>
          <p:cNvSpPr/>
          <p:nvPr/>
        </p:nvSpPr>
        <p:spPr>
          <a:xfrm>
            <a:off x="731520" y="3246120"/>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Number of real roots using derivative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A polynomial with a single turning point (one minimum) crosses the axis twice if that minimum is negative.</a:t>
            </a:r>
            <a:endParaRPr sz="24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Then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always.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decreases then increases, with its only minimum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$f(x)=x^4-4x+1$</a:t>
                </a:r>
                <a:r>
                  <a:rPr sz="2400" b="0">
                    <a:solidFill>
                      <a:srgbClr val="111827"/>
                    </a:solidFill>
                    <a:latin typeface="Arial"/>
                  </a:rPr>
                  <a:t>. Then </a:t>
                </a:r>
                <a:r>
                  <a:rPr lang="en-IN" sz="2400">
                    <a:solidFill>
                      <a:srgbClr val="111827"/>
                    </a:solidFill>
                    <a:latin typeface="Cambria Math" panose="02040503050406030204" pitchFamily="18" charset="0"/>
                  </a:rPr>
                  <a:t>$f'(x)=4x^3-4$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$f'(x)=4(x^3-1)=4(x-1)(x^2+x+1)$</a:t>
                </a:r>
                <a:r>
                  <a:rPr sz="2400" b="0">
                    <a:solidFill>
                      <a:srgbClr val="111827"/>
                    </a:solidFill>
                    <a:latin typeface="Arial"/>
                  </a:rPr>
                  <a:t>, and </a:t>
                </a:r>
                <a:r>
                  <a:rPr lang="en-IN" sz="2400">
                    <a:solidFill>
                      <a:srgbClr val="111827"/>
                    </a:solidFill>
                    <a:latin typeface="Cambria Math" panose="02040503050406030204" pitchFamily="18" charset="0"/>
                  </a:rPr>
                  <a:t>$x^2+x+1&gt;0$</a:t>
                </a:r>
                <a:r>
                  <a:rPr sz="2400" b="0">
                    <a:solidFill>
                      <a:srgbClr val="111827"/>
                    </a:solidFill>
                    <a:latin typeface="Arial"/>
                  </a:rPr>
                  <a:t> always.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$f'&lt;0$</a:t>
                </a:r>
                <a:r>
                  <a:rPr sz="2400" b="0">
                    <a:solidFill>
                      <a:srgbClr val="111827"/>
                    </a:solidFill>
                    <a:latin typeface="Arial"/>
                  </a:rPr>
                  <a:t> for </a:t>
                </a:r>
                <a:r>
                  <a:rPr lang="en-IN" sz="2400">
                    <a:solidFill>
                      <a:srgbClr val="111827"/>
                    </a:solidFill>
                    <a:latin typeface="Cambria Math" panose="02040503050406030204" pitchFamily="18" charset="0"/>
                  </a:rPr>
                  <a:t>$x&lt;1$</a:t>
                </a:r>
                <a:r>
                  <a:rPr sz="2400" b="0">
                    <a:solidFill>
                      <a:srgbClr val="111827"/>
                    </a:solidFill>
                    <a:latin typeface="Arial"/>
                  </a:rPr>
                  <a:t> and </a:t>
                </a:r>
                <a:r>
                  <a:rPr lang="en-IN" sz="2400">
                    <a:solidFill>
                      <a:srgbClr val="111827"/>
                    </a:solidFill>
                    <a:latin typeface="Cambria Math" panose="02040503050406030204" pitchFamily="18" charset="0"/>
                  </a:rPr>
                  <a:t>$f'&gt;0$</a:t>
                </a:r>
                <a:r>
                  <a:rPr sz="2400" b="0">
                    <a:solidFill>
                      <a:srgbClr val="111827"/>
                    </a:solidFill>
                    <a:latin typeface="Arial"/>
                  </a:rPr>
                  <a:t> for </a:t>
                </a:r>
                <a:r>
                  <a:rPr lang="en-IN" sz="2400">
                    <a:solidFill>
                      <a:srgbClr val="111827"/>
                    </a:solidFill>
                    <a:latin typeface="Cambria Math" panose="02040503050406030204" pitchFamily="18" charset="0"/>
                  </a:rPr>
                  <a:t>$x&gt;1$</a:t>
                </a:r>
                <a:r>
                  <a:rPr sz="2400" b="0">
                    <a:solidFill>
                      <a:srgbClr val="111827"/>
                    </a:solidFill>
                    <a:latin typeface="Arial"/>
                  </a:rPr>
                  <a:t>: </a:t>
                </a:r>
                <a:r>
                  <a:rPr lang="en-IN" sz="2400">
                    <a:solidFill>
                      <a:srgbClr val="111827"/>
                    </a:solidFill>
                    <a:latin typeface="Cambria Math" panose="02040503050406030204" pitchFamily="18" charset="0"/>
                  </a:rPr>
                  <a:t>$f$</a:t>
                </a:r>
                <a:r>
                  <a:rPr sz="2400" b="0">
                    <a:solidFill>
                      <a:srgbClr val="111827"/>
                    </a:solidFill>
                    <a:latin typeface="Arial"/>
                  </a:rPr>
                  <a:t> decreases then increases, with its only minimum at </a:t>
                </a:r>
                <a:r>
                  <a:rPr lang="en-IN" sz="2400">
                    <a:solidFill>
                      <a:srgbClr val="111827"/>
                    </a:solidFill>
                    <a:latin typeface="Cambria Math" panose="02040503050406030204" pitchFamily="18" charset="0"/>
                  </a:rPr>
                  <a:t>$x=1$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crosses the axis once on each side of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(check: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there are exactly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distinct real roots, option (B).</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$f(1)=1-4+1=-2&lt;0$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As </a:t>
                </a:r>
                <a:r>
                  <a:rPr lang="en-IN" sz="2400">
                    <a:solidFill>
                      <a:srgbClr val="111827"/>
                    </a:solidFill>
                    <a:latin typeface="Cambria Math" panose="02040503050406030204" pitchFamily="18" charset="0"/>
                  </a:rPr>
                  <a:t>$x\to\pm\infty$</a:t>
                </a:r>
                <a:r>
                  <a:rPr sz="2400" b="0">
                    <a:solidFill>
                      <a:srgbClr val="111827"/>
                    </a:solidFill>
                    <a:latin typeface="Arial"/>
                  </a:rPr>
                  <a:t>, </a:t>
                </a:r>
                <a:r>
                  <a:rPr lang="en-IN" sz="2400">
                    <a:solidFill>
                      <a:srgbClr val="111827"/>
                    </a:solidFill>
                    <a:latin typeface="Cambria Math" panose="02040503050406030204" pitchFamily="18" charset="0"/>
                  </a:rPr>
                  <a:t>$f(x)\to+\infty$</a:t>
                </a:r>
                <a:r>
                  <a:rPr sz="2400" b="0">
                    <a:solidFill>
                      <a:srgbClr val="111827"/>
                    </a:solidFill>
                    <a:latin typeface="Arial"/>
                  </a:rPr>
                  <a:t>, so </a:t>
                </a:r>
                <a:r>
                  <a:rPr lang="en-IN" sz="2400">
                    <a:solidFill>
                      <a:srgbClr val="111827"/>
                    </a:solidFill>
                    <a:latin typeface="Cambria Math" panose="02040503050406030204" pitchFamily="18" charset="0"/>
                  </a:rPr>
                  <a:t>$f$</a:t>
                </a:r>
                <a:r>
                  <a:rPr sz="2400" b="0">
                    <a:solidFill>
                      <a:srgbClr val="111827"/>
                    </a:solidFill>
                    <a:latin typeface="Arial"/>
                  </a:rPr>
                  <a:t> crosses the axis once on each side of </a:t>
                </a:r>
                <a:r>
                  <a:rPr lang="en-IN" sz="2400">
                    <a:solidFill>
                      <a:srgbClr val="111827"/>
                    </a:solidFill>
                    <a:latin typeface="Cambria Math" panose="02040503050406030204" pitchFamily="18" charset="0"/>
                  </a:rPr>
                  <a:t>$x=1$</a:t>
                </a:r>
                <a:r>
                  <a:rPr sz="2400" b="0">
                    <a:solidFill>
                      <a:srgbClr val="111827"/>
                    </a:solidFill>
                    <a:latin typeface="Arial"/>
                  </a:rPr>
                  <a:t> (check: </a:t>
                </a:r>
                <a:r>
                  <a:rPr lang="en-IN" sz="2400">
                    <a:solidFill>
                      <a:srgbClr val="111827"/>
                    </a:solidFill>
                    <a:latin typeface="Cambria Math" panose="02040503050406030204" pitchFamily="18" charset="0"/>
                  </a:rPr>
                  <a:t>$f(0)=1&gt;0$</a:t>
                </a:r>
                <a:r>
                  <a:rPr sz="2400" b="0">
                    <a:solidFill>
                      <a:srgbClr val="111827"/>
                    </a:solidFill>
                    <a:latin typeface="Arial"/>
                  </a:rPr>
                  <a:t>, </a:t>
                </a:r>
                <a:r>
                  <a:rPr lang="en-IN" sz="2400">
                    <a:solidFill>
                      <a:srgbClr val="111827"/>
                    </a:solidFill>
                    <a:latin typeface="Cambria Math" panose="02040503050406030204" pitchFamily="18" charset="0"/>
                  </a:rPr>
                  <a:t>$f(2)=9&gt;0$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there are exactly </a:t>
                </a:r>
                <a:r>
                  <a:rPr lang="en-IN" sz="2400">
                    <a:solidFill>
                      <a:srgbClr val="111827"/>
                    </a:solidFill>
                    <a:latin typeface="Cambria Math" panose="02040503050406030204" pitchFamily="18" charset="0"/>
                  </a:rPr>
                  <a:t>$2$</a:t>
                </a:r>
                <a:r>
                  <a:rPr sz="2400" b="0">
                    <a:solidFill>
                      <a:srgbClr val="111827"/>
                    </a:solidFill>
                    <a:latin typeface="Arial"/>
                  </a:rPr>
                  <a:t> distinct real roots, option (B).</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14:m>
                  <m:oMath xmlns:m="http://schemas.openxmlformats.org/officeDocument/2006/math">
                    <m:r>
                      <a:rPr lang="en-IN" sz="2800" i="1">
                        <a:solidFill>
                          <a:srgbClr val="15803D"/>
                        </a:solidFill>
                        <a:latin typeface="Cambria Math" panose="02040503050406030204" pitchFamily="18" charset="0"/>
                      </a:rPr>
                      <m:t>2</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r>
                  <a:rPr lang="en-IN" sz="2800">
                    <a:solidFill>
                      <a:srgbClr val="15803D"/>
                    </a:solidFill>
                    <a:latin typeface="Cambria Math" panose="02040503050406030204" pitchFamily="18" charset="0"/>
                  </a:rPr>
                  <a:t>$2$</a:t>
                </a:r>
                <a:endParaRPr sz="2800">
                  <a:solidFill>
                    <a:srgbClr val="15803D"/>
                  </a:solidFill>
                </a:endParaRPr>
              </a:p>
            </p:txBody>
          </p:sp>
        </mc:Fallback>
      </mc:AlternateContent>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Convexity: the convex curve </a:t>
                </a:r>
                <a14:m>
                  <m:oMath xmlns:m="http://schemas.openxmlformats.org/officeDocument/2006/math">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4</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can meet the line </a:t>
                </a:r>
                <a14:m>
                  <m:oMath xmlns:m="http://schemas.openxmlformats.org/officeDocument/2006/math">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4</m:t>
                    </m:r>
                    <m:r>
                      <a:rPr lang="en-IN" sz="2400" i="1">
                        <a:solidFill>
                          <a:srgbClr val="78350F"/>
                        </a:solidFill>
                        <a:latin typeface="Cambria Math" panose="02040503050406030204" pitchFamily="18" charset="0"/>
                      </a:rPr>
                      <m:t>𝑥</m:t>
                    </m:r>
                  </m:oMath>
                </a14:m>
                <a:r>
                  <a:rPr sz="2400" b="0">
                    <a:solidFill>
                      <a:srgbClr val="78350F"/>
                    </a:solidFill>
                    <a:latin typeface="Arial"/>
                  </a:rPr>
                  <a:t> in at most two points, and the line is above the curve at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Convexity: the convex curve </a:t>
                </a:r>
                <a:r>
                  <a:rPr lang="en-IN" sz="2400">
                    <a:solidFill>
                      <a:srgbClr val="78350F"/>
                    </a:solidFill>
                    <a:latin typeface="Cambria Math" panose="02040503050406030204" pitchFamily="18" charset="0"/>
                  </a:rPr>
                  <a:t>$y=x^4+1$</a:t>
                </a:r>
                <a:r>
                  <a:rPr sz="2400" b="0">
                    <a:solidFill>
                      <a:srgbClr val="78350F"/>
                    </a:solidFill>
                    <a:latin typeface="Arial"/>
                  </a:rPr>
                  <a:t> can meet the line </a:t>
                </a:r>
                <a:r>
                  <a:rPr lang="en-IN" sz="2400">
                    <a:solidFill>
                      <a:srgbClr val="78350F"/>
                    </a:solidFill>
                    <a:latin typeface="Cambria Math" panose="02040503050406030204" pitchFamily="18" charset="0"/>
                  </a:rPr>
                  <a:t>$y=4x$</a:t>
                </a:r>
                <a:r>
                  <a:rPr sz="2400" b="0">
                    <a:solidFill>
                      <a:srgbClr val="78350F"/>
                    </a:solidFill>
                    <a:latin typeface="Arial"/>
                  </a:rPr>
                  <a:t> in at most two points, and the line is above the curve at </a:t>
                </a:r>
                <a:r>
                  <a:rPr lang="en-IN" sz="2400">
                    <a:solidFill>
                      <a:srgbClr val="78350F"/>
                    </a:solidFill>
                    <a:latin typeface="Cambria Math" panose="02040503050406030204" pitchFamily="18" charset="0"/>
                  </a:rPr>
                  <a:t>$x=1$</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Write the equation as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𝑥</m:t>
                    </m:r>
                  </m:oMath>
                </a14:m>
                <a:r>
                  <a:rPr sz="2400" b="0">
                    <a:solidFill>
                      <a:srgbClr val="111827"/>
                    </a:solidFill>
                    <a:latin typeface="Arial"/>
                  </a:rPr>
                  <a:t>: intersections of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𝑥</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has second derivative </a:t>
                </a:r>
                <a14:m>
                  <m:oMath xmlns:m="http://schemas.openxmlformats.org/officeDocument/2006/math">
                    <m:r>
                      <a:rPr lang="en-IN" sz="2400" i="1">
                        <a:solidFill>
                          <a:srgbClr val="111827"/>
                        </a:solidFill>
                        <a:latin typeface="Cambria Math" panose="02040503050406030204" pitchFamily="18" charset="0"/>
                      </a:rPr>
                      <m:t>12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it is convex; a line meets a convex (strictly convex except at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curve in at most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points.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curve value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line value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so the line is strictly above the curve there.</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Write the equation as </a:t>
                </a:r>
                <a:r>
                  <a:rPr lang="en-IN" sz="2400">
                    <a:solidFill>
                      <a:srgbClr val="111827"/>
                    </a:solidFill>
                    <a:latin typeface="Cambria Math" panose="02040503050406030204" pitchFamily="18" charset="0"/>
                  </a:rPr>
                  <a:t>$x^4+1=4x$</a:t>
                </a:r>
                <a:r>
                  <a:rPr sz="2400" b="0">
                    <a:solidFill>
                      <a:srgbClr val="111827"/>
                    </a:solidFill>
                    <a:latin typeface="Arial"/>
                  </a:rPr>
                  <a:t>: intersections of </a:t>
                </a:r>
                <a:r>
                  <a:rPr lang="en-IN" sz="2400">
                    <a:solidFill>
                      <a:srgbClr val="111827"/>
                    </a:solidFill>
                    <a:latin typeface="Cambria Math" panose="02040503050406030204" pitchFamily="18" charset="0"/>
                  </a:rPr>
                  <a:t>$y=x^4+1$</a:t>
                </a:r>
                <a:r>
                  <a:rPr sz="2400" b="0">
                    <a:solidFill>
                      <a:srgbClr val="111827"/>
                    </a:solidFill>
                    <a:latin typeface="Arial"/>
                  </a:rPr>
                  <a:t> and </a:t>
                </a:r>
                <a:r>
                  <a:rPr lang="en-IN" sz="2400">
                    <a:solidFill>
                      <a:srgbClr val="111827"/>
                    </a:solidFill>
                    <a:latin typeface="Cambria Math" panose="02040503050406030204" pitchFamily="18" charset="0"/>
                  </a:rPr>
                  <a:t>$y=4x$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$y=x^4+1$</a:t>
                </a:r>
                <a:r>
                  <a:rPr sz="2400" b="0">
                    <a:solidFill>
                      <a:srgbClr val="111827"/>
                    </a:solidFill>
                    <a:latin typeface="Arial"/>
                  </a:rPr>
                  <a:t> has second derivative </a:t>
                </a:r>
                <a:r>
                  <a:rPr lang="en-IN" sz="2400">
                    <a:solidFill>
                      <a:srgbClr val="111827"/>
                    </a:solidFill>
                    <a:latin typeface="Cambria Math" panose="02040503050406030204" pitchFamily="18" charset="0"/>
                  </a:rPr>
                  <a:t>$12x^2\ge0$</a:t>
                </a:r>
                <a:r>
                  <a:rPr sz="2400" b="0">
                    <a:solidFill>
                      <a:srgbClr val="111827"/>
                    </a:solidFill>
                    <a:latin typeface="Arial"/>
                  </a:rPr>
                  <a:t>, so it is convex; a line meets a convex (strictly convex except at </a:t>
                </a:r>
                <a:r>
                  <a:rPr lang="en-IN" sz="2400">
                    <a:solidFill>
                      <a:srgbClr val="111827"/>
                    </a:solidFill>
                    <a:latin typeface="Cambria Math" panose="02040503050406030204" pitchFamily="18" charset="0"/>
                  </a:rPr>
                  <a:t>$0$</a:t>
                </a:r>
                <a:r>
                  <a:rPr sz="2400" b="0">
                    <a:solidFill>
                      <a:srgbClr val="111827"/>
                    </a:solidFill>
                    <a:latin typeface="Arial"/>
                  </a:rPr>
                  <a:t>) curve in at most </a:t>
                </a:r>
                <a:r>
                  <a:rPr lang="en-IN" sz="2400">
                    <a:solidFill>
                      <a:srgbClr val="111827"/>
                    </a:solidFill>
                    <a:latin typeface="Cambria Math" panose="02040503050406030204" pitchFamily="18" charset="0"/>
                  </a:rPr>
                  <a:t>$2$</a:t>
                </a:r>
                <a:r>
                  <a:rPr sz="2400" b="0">
                    <a:solidFill>
                      <a:srgbClr val="111827"/>
                    </a:solidFill>
                    <a:latin typeface="Arial"/>
                  </a:rPr>
                  <a:t> points.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At </a:t>
                </a:r>
                <a:r>
                  <a:rPr lang="en-IN" sz="2400">
                    <a:solidFill>
                      <a:srgbClr val="111827"/>
                    </a:solidFill>
                    <a:latin typeface="Cambria Math" panose="02040503050406030204" pitchFamily="18" charset="0"/>
                  </a:rPr>
                  <a:t>$x=1$</a:t>
                </a:r>
                <a:r>
                  <a:rPr sz="2400" b="0">
                    <a:solidFill>
                      <a:srgbClr val="111827"/>
                    </a:solidFill>
                    <a:latin typeface="Arial"/>
                  </a:rPr>
                  <a:t>: curve value </a:t>
                </a:r>
                <a:r>
                  <a:rPr lang="en-IN" sz="2400">
                    <a:solidFill>
                      <a:srgbClr val="111827"/>
                    </a:solidFill>
                    <a:latin typeface="Cambria Math" panose="02040503050406030204" pitchFamily="18" charset="0"/>
                  </a:rPr>
                  <a:t>$2$</a:t>
                </a:r>
                <a:r>
                  <a:rPr sz="2400" b="0">
                    <a:solidFill>
                      <a:srgbClr val="111827"/>
                    </a:solidFill>
                    <a:latin typeface="Arial"/>
                  </a:rPr>
                  <a:t>, line value </a:t>
                </a:r>
                <a:r>
                  <a:rPr lang="en-IN" sz="2400">
                    <a:solidFill>
                      <a:srgbClr val="111827"/>
                    </a:solidFill>
                    <a:latin typeface="Cambria Math" panose="02040503050406030204" pitchFamily="18" charset="0"/>
                  </a:rPr>
                  <a:t>$4$</a:t>
                </a:r>
                <a:r>
                  <a:rPr sz="2400" b="0">
                    <a:solidFill>
                      <a:srgbClr val="111827"/>
                    </a:solidFill>
                    <a:latin typeface="Arial"/>
                  </a:rPr>
                  <a:t>, so the line is strictly above the curve there.</a:t>
                </a:r>
                <a:endParaRPr sz="2400">
                  <a:solidFill>
                    <a:srgbClr val="111827"/>
                  </a:solidFill>
                </a:endParaRPr>
              </a:p>
            </p:txBody>
          </p:sp>
        </mc:Fallback>
      </mc:AlternateContent>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the curve value is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(line value) and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the curve is </a:t>
                </a:r>
                <a14:m>
                  <m:oMath xmlns:m="http://schemas.openxmlformats.org/officeDocument/2006/math">
                    <m:r>
                      <a:rPr lang="en-IN" sz="2400" i="1">
                        <a:solidFill>
                          <a:srgbClr val="111827"/>
                        </a:solidFill>
                        <a:latin typeface="Cambria Math" panose="02040503050406030204" pitchFamily="18" charset="0"/>
                      </a:rPr>
                      <m:t>17</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8</m:t>
                    </m:r>
                  </m:oMath>
                </a14:m>
                <a:r>
                  <a:rPr sz="2400" b="0">
                    <a:solidFill>
                      <a:srgbClr val="111827"/>
                    </a:solidFill>
                    <a:latin typeface="Arial"/>
                  </a:rPr>
                  <a:t>: the curve is above the line on both sides.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the curve goes above, below, above the line: it meets the line at least twice, and at most twice.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Exactly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distinct real roots, option (B).</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At </a:t>
                </a:r>
                <a:r>
                  <a:rPr lang="en-IN" sz="2400">
                    <a:solidFill>
                      <a:srgbClr val="111827"/>
                    </a:solidFill>
                    <a:latin typeface="Cambria Math" panose="02040503050406030204" pitchFamily="18" charset="0"/>
                  </a:rPr>
                  <a:t>$x=0$</a:t>
                </a:r>
                <a:r>
                  <a:rPr sz="2400" b="0">
                    <a:solidFill>
                      <a:srgbClr val="111827"/>
                    </a:solidFill>
                    <a:latin typeface="Arial"/>
                  </a:rPr>
                  <a:t> the curve value is </a:t>
                </a:r>
                <a:r>
                  <a:rPr lang="en-IN" sz="2400">
                    <a:solidFill>
                      <a:srgbClr val="111827"/>
                    </a:solidFill>
                    <a:latin typeface="Cambria Math" panose="02040503050406030204" pitchFamily="18" charset="0"/>
                  </a:rPr>
                  <a:t>$1&gt;0$</a:t>
                </a:r>
                <a:r>
                  <a:rPr sz="2400" b="0">
                    <a:solidFill>
                      <a:srgbClr val="111827"/>
                    </a:solidFill>
                    <a:latin typeface="Arial"/>
                  </a:rPr>
                  <a:t> (line value) and at </a:t>
                </a:r>
                <a:r>
                  <a:rPr lang="en-IN" sz="2400">
                    <a:solidFill>
                      <a:srgbClr val="111827"/>
                    </a:solidFill>
                    <a:latin typeface="Cambria Math" panose="02040503050406030204" pitchFamily="18" charset="0"/>
                  </a:rPr>
                  <a:t>$x=2$</a:t>
                </a:r>
                <a:r>
                  <a:rPr sz="2400" b="0">
                    <a:solidFill>
                      <a:srgbClr val="111827"/>
                    </a:solidFill>
                    <a:latin typeface="Arial"/>
                  </a:rPr>
                  <a:t> the curve is </a:t>
                </a:r>
                <a:r>
                  <a:rPr lang="en-IN" sz="2400">
                    <a:solidFill>
                      <a:srgbClr val="111827"/>
                    </a:solidFill>
                    <a:latin typeface="Cambria Math" panose="02040503050406030204" pitchFamily="18" charset="0"/>
                  </a:rPr>
                  <a:t>$17&gt;8$</a:t>
                </a:r>
                <a:r>
                  <a:rPr sz="2400" b="0">
                    <a:solidFill>
                      <a:srgbClr val="111827"/>
                    </a:solidFill>
                    <a:latin typeface="Arial"/>
                  </a:rPr>
                  <a:t>: the curve is above the line on both sides.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the curve goes above, below, above the line: it meets the line at least twice, and at most twice.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Exactly </a:t>
                </a:r>
                <a:r>
                  <a:rPr lang="en-IN" sz="2400">
                    <a:solidFill>
                      <a:srgbClr val="111827"/>
                    </a:solidFill>
                    <a:latin typeface="Cambria Math" panose="02040503050406030204" pitchFamily="18" charset="0"/>
                  </a:rPr>
                  <a:t>$2$</a:t>
                </a:r>
                <a:r>
                  <a:rPr sz="2400" b="0">
                    <a:solidFill>
                      <a:srgbClr val="111827"/>
                    </a:solidFill>
                    <a:latin typeface="Arial"/>
                  </a:rPr>
                  <a:t> distinct real roots, option (B).</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a:t>
                </a:r>
                <a14:m>
                  <m:oMath xmlns:m="http://schemas.openxmlformats.org/officeDocument/2006/math">
                    <m:r>
                      <a:rPr lang="en-IN" sz="2800" i="1">
                        <a:solidFill>
                          <a:srgbClr val="15803D"/>
                        </a:solidFill>
                        <a:latin typeface="Cambria Math" panose="02040503050406030204" pitchFamily="18" charset="0"/>
                      </a:rPr>
                      <m:t>2</m:t>
                    </m:r>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a:t>
                </a:r>
                <a:r>
                  <a:rPr lang="en-IN" sz="2800">
                    <a:solidFill>
                      <a:srgbClr val="15803D"/>
                    </a:solidFill>
                    <a:latin typeface="Cambria Math" panose="02040503050406030204" pitchFamily="18" charset="0"/>
                  </a:rPr>
                  <a:t>$2$</a:t>
                </a:r>
                <a:endParaRPr sz="2800">
                  <a:solidFill>
                    <a:srgbClr val="15803D"/>
                  </a:solidFill>
                </a:endParaRPr>
              </a:p>
            </p:txBody>
          </p:sp>
        </mc:Fallback>
      </mc:AlternateContent>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 polynomial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with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having exactly one real root (one turning point) and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both ends: </a:t>
                </a:r>
                <a14:m>
                  <m:oMath xmlns:m="http://schemas.openxmlformats.org/officeDocument/2006/math">
                    <m:r>
                      <m:rPr>
                        <m:sty m:val="p"/>
                      </m:rPr>
                      <a:rPr lang="en-IN" sz="2400">
                        <a:solidFill>
                          <a:srgbClr val="111827"/>
                        </a:solidFill>
                        <a:latin typeface="Cambria Math" panose="02040503050406030204" pitchFamily="18" charset="0"/>
                      </a:rPr>
                      <m:t>min</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roots, </a:t>
                </a:r>
                <a14:m>
                  <m:oMath xmlns:m="http://schemas.openxmlformats.org/officeDocument/2006/math">
                    <m:r>
                      <m:rPr>
                        <m:sty m:val="p"/>
                      </m:rPr>
                      <a:rPr lang="en-IN" sz="2400">
                        <a:solidFill>
                          <a:srgbClr val="111827"/>
                        </a:solidFill>
                        <a:latin typeface="Cambria Math" panose="02040503050406030204" pitchFamily="18" charset="0"/>
                      </a:rPr>
                      <m:t>min</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(double) root, </a:t>
                </a:r>
                <a14:m>
                  <m:oMath xmlns:m="http://schemas.openxmlformats.org/officeDocument/2006/math">
                    <m:r>
                      <m:rPr>
                        <m:sty m:val="p"/>
                      </m:rPr>
                      <a:rPr lang="en-IN" sz="2400">
                        <a:solidFill>
                          <a:srgbClr val="111827"/>
                        </a:solidFill>
                        <a:latin typeface="Cambria Math" panose="02040503050406030204" pitchFamily="18" charset="0"/>
                      </a:rPr>
                      <m:t>min</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gives none.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roots of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between consecutive critical points: at most one if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is monotonic there (use sign change of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at the ends).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Rewriting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as </a:t>
                </a:r>
                <a14:m>
                  <m:oMath xmlns:m="http://schemas.openxmlformats.org/officeDocument/2006/math">
                    <m:r>
                      <a:rPr lang="en-IN" sz="2400" i="1">
                        <a:solidFill>
                          <a:srgbClr val="111827"/>
                        </a:solidFill>
                        <a:latin typeface="Cambria Math" panose="02040503050406030204" pitchFamily="18" charset="0"/>
                      </a:rPr>
                      <m:t>ϕ</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ϕ</m:t>
                    </m:r>
                  </m:oMath>
                </a14:m>
                <a:r>
                  <a:rPr sz="2400" b="0">
                    <a:solidFill>
                      <a:srgbClr val="111827"/>
                    </a:solidFill>
                    <a:latin typeface="Arial"/>
                  </a:rPr>
                  <a:t> convex and </a:t>
                </a:r>
                <a14:m>
                  <m:oMath xmlns:m="http://schemas.openxmlformats.org/officeDocument/2006/math">
                    <m:r>
                      <a:rPr lang="en-IN" sz="2400" i="1">
                        <a:solidFill>
                          <a:srgbClr val="111827"/>
                        </a:solidFill>
                        <a:latin typeface="Cambria Math" panose="02040503050406030204" pitchFamily="18" charset="0"/>
                      </a:rPr>
                      <m:t>ℓ</m:t>
                    </m:r>
                  </m:oMath>
                </a14:m>
                <a:r>
                  <a:rPr sz="2400" b="0">
                    <a:solidFill>
                      <a:srgbClr val="111827"/>
                    </a:solidFill>
                    <a:latin typeface="Arial"/>
                  </a:rPr>
                  <a:t> linear gives at most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roots.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Here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critical point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 polynomial </a:t>
                </a:r>
                <a:r>
                  <a:rPr lang="en-IN" sz="2400">
                    <a:solidFill>
                      <a:srgbClr val="111827"/>
                    </a:solidFill>
                    <a:latin typeface="Cambria Math" panose="02040503050406030204" pitchFamily="18" charset="0"/>
                  </a:rPr>
                  <a:t>$f$</a:t>
                </a:r>
                <a:r>
                  <a:rPr sz="2400" b="0">
                    <a:solidFill>
                      <a:srgbClr val="111827"/>
                    </a:solidFill>
                    <a:latin typeface="Arial"/>
                  </a:rPr>
                  <a:t> with </a:t>
                </a:r>
                <a:r>
                  <a:rPr lang="en-IN" sz="2400">
                    <a:solidFill>
                      <a:srgbClr val="111827"/>
                    </a:solidFill>
                    <a:latin typeface="Cambria Math" panose="02040503050406030204" pitchFamily="18" charset="0"/>
                  </a:rPr>
                  <a:t>$f'$</a:t>
                </a:r>
                <a:r>
                  <a:rPr sz="2400" b="0">
                    <a:solidFill>
                      <a:srgbClr val="111827"/>
                    </a:solidFill>
                    <a:latin typeface="Arial"/>
                  </a:rPr>
                  <a:t> having exactly one real root (one turning point) and </a:t>
                </a:r>
                <a:r>
                  <a:rPr lang="en-IN" sz="2400">
                    <a:solidFill>
                      <a:srgbClr val="111827"/>
                    </a:solidFill>
                    <a:latin typeface="Cambria Math" panose="02040503050406030204" pitchFamily="18" charset="0"/>
                  </a:rPr>
                  <a:t>$f\to+\infty$</a:t>
                </a:r>
                <a:r>
                  <a:rPr sz="2400" b="0">
                    <a:solidFill>
                      <a:srgbClr val="111827"/>
                    </a:solidFill>
                    <a:latin typeface="Arial"/>
                  </a:rPr>
                  <a:t> at both ends: </a:t>
                </a:r>
                <a:r>
                  <a:rPr lang="en-IN" sz="2400">
                    <a:solidFill>
                      <a:srgbClr val="111827"/>
                    </a:solidFill>
                    <a:latin typeface="Cambria Math" panose="02040503050406030204" pitchFamily="18" charset="0"/>
                  </a:rPr>
                  <a:t>$\min f&lt;0$</a:t>
                </a:r>
                <a:r>
                  <a:rPr sz="2400" b="0">
                    <a:solidFill>
                      <a:srgbClr val="111827"/>
                    </a:solidFill>
                    <a:latin typeface="Arial"/>
                  </a:rPr>
                  <a:t> gives </a:t>
                </a:r>
                <a:r>
                  <a:rPr lang="en-IN" sz="2400">
                    <a:solidFill>
                      <a:srgbClr val="111827"/>
                    </a:solidFill>
                    <a:latin typeface="Cambria Math" panose="02040503050406030204" pitchFamily="18" charset="0"/>
                  </a:rPr>
                  <a:t>$2$</a:t>
                </a:r>
                <a:r>
                  <a:rPr sz="2400" b="0">
                    <a:solidFill>
                      <a:srgbClr val="111827"/>
                    </a:solidFill>
                    <a:latin typeface="Arial"/>
                  </a:rPr>
                  <a:t> roots, </a:t>
                </a:r>
                <a:r>
                  <a:rPr lang="en-IN" sz="2400">
                    <a:solidFill>
                      <a:srgbClr val="111827"/>
                    </a:solidFill>
                    <a:latin typeface="Cambria Math" panose="02040503050406030204" pitchFamily="18" charset="0"/>
                  </a:rPr>
                  <a:t>$\min f=0$</a:t>
                </a:r>
                <a:r>
                  <a:rPr sz="2400" b="0">
                    <a:solidFill>
                      <a:srgbClr val="111827"/>
                    </a:solidFill>
                    <a:latin typeface="Arial"/>
                  </a:rPr>
                  <a:t> gives </a:t>
                </a:r>
                <a:r>
                  <a:rPr lang="en-IN" sz="2400">
                    <a:solidFill>
                      <a:srgbClr val="111827"/>
                    </a:solidFill>
                    <a:latin typeface="Cambria Math" panose="02040503050406030204" pitchFamily="18" charset="0"/>
                  </a:rPr>
                  <a:t>$1$</a:t>
                </a:r>
                <a:r>
                  <a:rPr sz="2400" b="0">
                    <a:solidFill>
                      <a:srgbClr val="111827"/>
                    </a:solidFill>
                    <a:latin typeface="Arial"/>
                  </a:rPr>
                  <a:t> (double) root, </a:t>
                </a:r>
                <a:r>
                  <a:rPr lang="en-IN" sz="2400">
                    <a:solidFill>
                      <a:srgbClr val="111827"/>
                    </a:solidFill>
                    <a:latin typeface="Cambria Math" panose="02040503050406030204" pitchFamily="18" charset="0"/>
                  </a:rPr>
                  <a:t>$\min f&gt;0$</a:t>
                </a:r>
                <a:r>
                  <a:rPr sz="2400" b="0">
                    <a:solidFill>
                      <a:srgbClr val="111827"/>
                    </a:solidFill>
                    <a:latin typeface="Arial"/>
                  </a:rPr>
                  <a:t> gives none.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roots of </a:t>
                </a:r>
                <a:r>
                  <a:rPr lang="en-IN" sz="2400">
                    <a:solidFill>
                      <a:srgbClr val="111827"/>
                    </a:solidFill>
                    <a:latin typeface="Cambria Math" panose="02040503050406030204" pitchFamily="18" charset="0"/>
                  </a:rPr>
                  <a:t>$f=0$</a:t>
                </a:r>
                <a:r>
                  <a:rPr sz="2400" b="0">
                    <a:solidFill>
                      <a:srgbClr val="111827"/>
                    </a:solidFill>
                    <a:latin typeface="Arial"/>
                  </a:rPr>
                  <a:t> between consecutive critical points: at most one if </a:t>
                </a:r>
                <a:r>
                  <a:rPr lang="en-IN" sz="2400">
                    <a:solidFill>
                      <a:srgbClr val="111827"/>
                    </a:solidFill>
                    <a:latin typeface="Cambria Math" panose="02040503050406030204" pitchFamily="18" charset="0"/>
                  </a:rPr>
                  <a:t>$f$</a:t>
                </a:r>
                <a:r>
                  <a:rPr sz="2400" b="0">
                    <a:solidFill>
                      <a:srgbClr val="111827"/>
                    </a:solidFill>
                    <a:latin typeface="Arial"/>
                  </a:rPr>
                  <a:t> is monotonic there (use sign change of </a:t>
                </a:r>
                <a:r>
                  <a:rPr lang="en-IN" sz="2400">
                    <a:solidFill>
                      <a:srgbClr val="111827"/>
                    </a:solidFill>
                    <a:latin typeface="Cambria Math" panose="02040503050406030204" pitchFamily="18" charset="0"/>
                  </a:rPr>
                  <a:t>$f$</a:t>
                </a:r>
                <a:r>
                  <a:rPr sz="2400" b="0">
                    <a:solidFill>
                      <a:srgbClr val="111827"/>
                    </a:solidFill>
                    <a:latin typeface="Arial"/>
                  </a:rPr>
                  <a:t> at the ends).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Rewriting </a:t>
                </a:r>
                <a:r>
                  <a:rPr lang="en-IN" sz="2400">
                    <a:solidFill>
                      <a:srgbClr val="111827"/>
                    </a:solidFill>
                    <a:latin typeface="Cambria Math" panose="02040503050406030204" pitchFamily="18" charset="0"/>
                  </a:rPr>
                  <a:t>$f(x)=0$</a:t>
                </a:r>
                <a:r>
                  <a:rPr sz="2400" b="0">
                    <a:solidFill>
                      <a:srgbClr val="111827"/>
                    </a:solidFill>
                    <a:latin typeface="Arial"/>
                  </a:rPr>
                  <a:t> as </a:t>
                </a:r>
                <a:r>
                  <a:rPr lang="en-IN" sz="2400">
                    <a:solidFill>
                      <a:srgbClr val="111827"/>
                    </a:solidFill>
                    <a:latin typeface="Cambria Math" panose="02040503050406030204" pitchFamily="18" charset="0"/>
                  </a:rPr>
                  <a:t>$\phi(x)=\ell(x)$</a:t>
                </a:r>
                <a:r>
                  <a:rPr sz="2400" b="0">
                    <a:solidFill>
                      <a:srgbClr val="111827"/>
                    </a:solidFill>
                    <a:latin typeface="Arial"/>
                  </a:rPr>
                  <a:t> with </a:t>
                </a:r>
                <a:r>
                  <a:rPr lang="en-IN" sz="2400">
                    <a:solidFill>
                      <a:srgbClr val="111827"/>
                    </a:solidFill>
                    <a:latin typeface="Cambria Math" panose="02040503050406030204" pitchFamily="18" charset="0"/>
                  </a:rPr>
                  <a:t>$\phi$</a:t>
                </a:r>
                <a:r>
                  <a:rPr sz="2400" b="0">
                    <a:solidFill>
                      <a:srgbClr val="111827"/>
                    </a:solidFill>
                    <a:latin typeface="Arial"/>
                  </a:rPr>
                  <a:t> convex and </a:t>
                </a:r>
                <a:r>
                  <a:rPr lang="en-IN" sz="2400">
                    <a:solidFill>
                      <a:srgbClr val="111827"/>
                    </a:solidFill>
                    <a:latin typeface="Cambria Math" panose="02040503050406030204" pitchFamily="18" charset="0"/>
                  </a:rPr>
                  <a:t>$\ell$</a:t>
                </a:r>
                <a:r>
                  <a:rPr sz="2400" b="0">
                    <a:solidFill>
                      <a:srgbClr val="111827"/>
                    </a:solidFill>
                    <a:latin typeface="Arial"/>
                  </a:rPr>
                  <a:t> linear gives at most </a:t>
                </a:r>
                <a:r>
                  <a:rPr lang="en-IN" sz="2400">
                    <a:solidFill>
                      <a:srgbClr val="111827"/>
                    </a:solidFill>
                    <a:latin typeface="Cambria Math" panose="02040503050406030204" pitchFamily="18" charset="0"/>
                  </a:rPr>
                  <a:t>$2$</a:t>
                </a:r>
                <a:r>
                  <a:rPr sz="2400" b="0">
                    <a:solidFill>
                      <a:srgbClr val="111827"/>
                    </a:solidFill>
                    <a:latin typeface="Arial"/>
                  </a:rPr>
                  <a:t> roots.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Here </a:t>
                </a:r>
                <a:r>
                  <a:rPr lang="en-IN" sz="2400">
                    <a:solidFill>
                      <a:srgbClr val="111827"/>
                    </a:solidFill>
                    <a:latin typeface="Cambria Math" panose="02040503050406030204" pitchFamily="18" charset="0"/>
                  </a:rPr>
                  <a:t>$x^4-4x+1$</a:t>
                </a:r>
                <a:r>
                  <a:rPr sz="2400" b="0">
                    <a:solidFill>
                      <a:srgbClr val="111827"/>
                    </a:solidFill>
                    <a:latin typeface="Arial"/>
                  </a:rPr>
                  <a:t>: critical point </a:t>
                </a:r>
                <a:r>
                  <a:rPr lang="en-IN" sz="2400">
                    <a:solidFill>
                      <a:srgbClr val="111827"/>
                    </a:solidFill>
                    <a:latin typeface="Cambria Math" panose="02040503050406030204" pitchFamily="18" charset="0"/>
                  </a:rPr>
                  <a:t>$x=1$</a:t>
                </a:r>
                <a:r>
                  <a:rPr sz="2400" b="0">
                    <a:solidFill>
                      <a:srgbClr val="111827"/>
                    </a:solidFill>
                    <a:latin typeface="Arial"/>
                  </a:rPr>
                  <a:t>, </a:t>
                </a:r>
                <a:r>
                  <a:rPr lang="en-IN" sz="2400">
                    <a:solidFill>
                      <a:srgbClr val="111827"/>
                    </a:solidFill>
                    <a:latin typeface="Cambria Math" panose="02040503050406030204" pitchFamily="18" charset="0"/>
                  </a:rPr>
                  <a:t>$f(1)=-2$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number of real solutions of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7</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is equal to ________.</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number of real solutions of </a:t>
                </a:r>
                <a:r>
                  <a:rPr lang="en-IN" sz="2400">
                    <a:solidFill>
                      <a:srgbClr val="111827"/>
                    </a:solidFill>
                    <a:latin typeface="Cambria Math" panose="02040503050406030204" pitchFamily="18" charset="0"/>
                  </a:rPr>
                  <a:t>$x^7+5x^3+3x+1=0$</a:t>
                </a:r>
                <a:r>
                  <a:rPr sz="2400" b="0">
                    <a:solidFill>
                      <a:srgbClr val="111827"/>
                    </a:solidFill>
                    <a:latin typeface="Arial"/>
                  </a:rPr>
                  <a:t> is equal to ________.</a:t>
                </a:r>
                <a:endParaRPr sz="2400">
                  <a:solidFill>
                    <a:srgbClr val="111827"/>
                  </a:solidFill>
                </a:endParaRPr>
              </a:p>
            </p:txBody>
          </p:sp>
        </mc:Fallback>
      </mc:AlternateContent>
      <p:sp>
        <p:nvSpPr>
          <p:cNvPr id="5" name="Rectangle 4"/>
          <p:cNvSpPr/>
          <p:nvPr/>
        </p:nvSpPr>
        <p:spPr>
          <a:xfrm>
            <a:off x="731520" y="3246120"/>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Number of real roots using derivative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sSup>
                      <m:e>
                        <m:r>
                          <a:rPr lang="en-IN" sz="2400" i="1">
                            <a:solidFill>
                              <a:srgbClr val="78350F"/>
                            </a:solidFill>
                            <a:latin typeface="Cambria Math" panose="02040503050406030204" pitchFamily="18" charset="0"/>
                          </a:rPr>
                          <m:t>𝑓</m:t>
                        </m:r>
                      </m:e>
                      <m:sup>
                        <m:r>
                          <m:rPr>
                            <m:sty m:val="p"/>
                          </m:rPr>
                          <a:rPr lang="en-IN" sz="2400">
                            <a:solidFill>
                              <a:srgbClr val="78350F"/>
                            </a:solidFill>
                            <a:latin typeface="Cambria Math" panose="02040503050406030204" pitchFamily="18" charset="0"/>
                          </a:rPr>
                          <m:t>′</m:t>
                        </m:r>
                      </m:sup>
                    </m:sSup>
                    <m:r>
                      <m:rPr>
                        <m:sty m:val="p"/>
                      </m:rPr>
                      <a:rPr lang="en-IN" sz="2400">
                        <a:solidFill>
                          <a:srgbClr val="78350F"/>
                        </a:solidFill>
                        <a:latin typeface="Cambria Math" panose="02040503050406030204" pitchFamily="18" charset="0"/>
                      </a:rPr>
                      <m:t>&gt;</m:t>
                    </m:r>
                    <m:r>
                      <a:rPr lang="en-IN" sz="2400" i="1">
                        <a:solidFill>
                          <a:srgbClr val="78350F"/>
                        </a:solidFill>
                        <a:latin typeface="Cambria Math" panose="02040503050406030204" pitchFamily="18" charset="0"/>
                      </a:rPr>
                      <m:t>0</m:t>
                    </m:r>
                  </m:oMath>
                </a14:m>
                <a:r>
                  <a:rPr sz="2400" b="0">
                    <a:solidFill>
                      <a:srgbClr val="78350F"/>
                    </a:solidFill>
                    <a:latin typeface="Arial"/>
                  </a:rPr>
                  <a:t> makes </a:t>
                </a:r>
                <a14:m>
                  <m:oMath xmlns:m="http://schemas.openxmlformats.org/officeDocument/2006/math">
                    <m:r>
                      <a:rPr lang="en-IN" sz="2400" i="1">
                        <a:solidFill>
                          <a:srgbClr val="78350F"/>
                        </a:solidFill>
                        <a:latin typeface="Cambria Math" panose="02040503050406030204" pitchFamily="18" charset="0"/>
                      </a:rPr>
                      <m:t>𝑓</m:t>
                    </m:r>
                  </m:oMath>
                </a14:m>
                <a:r>
                  <a:rPr sz="2400" b="0">
                    <a:solidFill>
                      <a:srgbClr val="78350F"/>
                    </a:solidFill>
                    <a:latin typeface="Arial"/>
                  </a:rPr>
                  <a:t> strictly increasing, and an odd-degree polynomial takes both signs, so it has exactly one real root.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$f'&gt;0$</a:t>
                </a:r>
                <a:r>
                  <a:rPr sz="2400" b="0">
                    <a:solidFill>
                      <a:srgbClr val="78350F"/>
                    </a:solidFill>
                    <a:latin typeface="Arial"/>
                  </a:rPr>
                  <a:t> makes </a:t>
                </a:r>
                <a:r>
                  <a:rPr lang="en-IN" sz="2400">
                    <a:solidFill>
                      <a:srgbClr val="78350F"/>
                    </a:solidFill>
                    <a:latin typeface="Cambria Math" panose="02040503050406030204" pitchFamily="18" charset="0"/>
                  </a:rPr>
                  <a:t>$f$</a:t>
                </a:r>
                <a:r>
                  <a:rPr sz="2400" b="0">
                    <a:solidFill>
                      <a:srgbClr val="78350F"/>
                    </a:solidFill>
                    <a:latin typeface="Arial"/>
                  </a:rPr>
                  <a:t> strictly increasing, and an odd-degree polynomial takes both signs, so it has exactly one real root.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7</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6</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for all real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is strictly increasing on </a:t>
                </a:r>
                <a14:m>
                  <m:oMath xmlns:m="http://schemas.openxmlformats.org/officeDocument/2006/math">
                    <m:r>
                      <m:rPr>
                        <m:scr m:val="double-struck"/>
                        <m:sty m:val="p"/>
                      </m:rPr>
                      <a:rPr lang="en-IN" sz="2400">
                        <a:solidFill>
                          <a:srgbClr val="111827"/>
                        </a:solidFill>
                        <a:latin typeface="Cambria Math" panose="02040503050406030204" pitchFamily="18" charset="0"/>
                      </a:rPr>
                      <m:t>R</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strictly increasing function crosses the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-axis at most once, so there is at most one real root.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$f(x)=x^7+5x^3+3x+1$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$f'(x)=7x^6+15x^2+3&gt;0$</a:t>
                </a:r>
                <a:r>
                  <a:rPr sz="2400" b="0">
                    <a:solidFill>
                      <a:srgbClr val="111827"/>
                    </a:solidFill>
                    <a:latin typeface="Arial"/>
                  </a:rPr>
                  <a:t> for all real </a:t>
                </a:r>
                <a:r>
                  <a:rPr lang="en-IN" sz="2400">
                    <a:solidFill>
                      <a:srgbClr val="111827"/>
                    </a:solidFill>
                    <a:latin typeface="Cambria Math" panose="02040503050406030204" pitchFamily="18" charset="0"/>
                  </a:rPr>
                  <a:t>$x$</a:t>
                </a:r>
                <a:r>
                  <a:rPr sz="2400" b="0">
                    <a:solidFill>
                      <a:srgbClr val="111827"/>
                    </a:solidFill>
                    <a:latin typeface="Arial"/>
                  </a:rPr>
                  <a:t>, so </a:t>
                </a:r>
                <a:r>
                  <a:rPr lang="en-IN" sz="2400">
                    <a:solidFill>
                      <a:srgbClr val="111827"/>
                    </a:solidFill>
                    <a:latin typeface="Cambria Math" panose="02040503050406030204" pitchFamily="18" charset="0"/>
                  </a:rPr>
                  <a:t>$f$</a:t>
                </a:r>
                <a:r>
                  <a:rPr sz="2400" b="0">
                    <a:solidFill>
                      <a:srgbClr val="111827"/>
                    </a:solidFill>
                    <a:latin typeface="Arial"/>
                  </a:rPr>
                  <a:t> is strictly increasing on </a:t>
                </a:r>
                <a:r>
                  <a:rPr lang="en-IN" sz="2400">
                    <a:solidFill>
                      <a:srgbClr val="111827"/>
                    </a:solidFill>
                    <a:latin typeface="Cambria Math" panose="02040503050406030204" pitchFamily="18" charset="0"/>
                  </a:rPr>
                  <a:t>$\mathbb{R}$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strictly increasing function crosses the </a:t>
                </a:r>
                <a:r>
                  <a:rPr lang="en-IN" sz="2400">
                    <a:solidFill>
                      <a:srgbClr val="111827"/>
                    </a:solidFill>
                    <a:latin typeface="Cambria Math" panose="02040503050406030204" pitchFamily="18" charset="0"/>
                  </a:rPr>
                  <a:t>$x$</a:t>
                </a:r>
                <a:r>
                  <a:rPr sz="2400" b="0">
                    <a:solidFill>
                      <a:srgbClr val="111827"/>
                    </a:solidFill>
                    <a:latin typeface="Arial"/>
                  </a:rPr>
                  <a:t>-axis at most once, so there is at most one real root.</a:t>
                </a:r>
                <a:endParaRPr sz="2400">
                  <a:solidFill>
                    <a:srgbClr val="111827"/>
                  </a:solidFill>
                </a:endParaRPr>
              </a:p>
            </p:txBody>
          </p:sp>
        </mc:Fallback>
      </mc:AlternateContent>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has odd degree, so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by the intermediate value theorem there is at least one root (e.g.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the number of real solutions is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a:t>
                </a:r>
                <a:r>
                  <a:rPr sz="2400" b="0">
                    <a:solidFill>
                      <a:srgbClr val="111827"/>
                    </a:solidFill>
                    <a:latin typeface="Arial"/>
                  </a:rPr>
                  <a:t> has odd degree, so </a:t>
                </a:r>
                <a:r>
                  <a:rPr lang="en-IN" sz="2400">
                    <a:solidFill>
                      <a:srgbClr val="111827"/>
                    </a:solidFill>
                    <a:latin typeface="Cambria Math" panose="02040503050406030204" pitchFamily="18" charset="0"/>
                  </a:rPr>
                  <a:t>$f(x)\to-\infty$</a:t>
                </a:r>
                <a:r>
                  <a:rPr sz="2400" b="0">
                    <a:solidFill>
                      <a:srgbClr val="111827"/>
                    </a:solidFill>
                    <a:latin typeface="Arial"/>
                  </a:rPr>
                  <a:t> as </a:t>
                </a:r>
                <a:r>
                  <a:rPr lang="en-IN" sz="2400">
                    <a:solidFill>
                      <a:srgbClr val="111827"/>
                    </a:solidFill>
                    <a:latin typeface="Cambria Math" panose="02040503050406030204" pitchFamily="18" charset="0"/>
                  </a:rPr>
                  <a:t>$x\to-\infty$</a:t>
                </a:r>
                <a:r>
                  <a:rPr sz="2400" b="0">
                    <a:solidFill>
                      <a:srgbClr val="111827"/>
                    </a:solidFill>
                    <a:latin typeface="Arial"/>
                  </a:rPr>
                  <a:t> and </a:t>
                </a:r>
                <a:r>
                  <a:rPr lang="en-IN" sz="2400">
                    <a:solidFill>
                      <a:srgbClr val="111827"/>
                    </a:solidFill>
                    <a:latin typeface="Cambria Math" panose="02040503050406030204" pitchFamily="18" charset="0"/>
                  </a:rPr>
                  <a:t>$f(x)\to+\infty$</a:t>
                </a:r>
                <a:r>
                  <a:rPr sz="2400" b="0">
                    <a:solidFill>
                      <a:srgbClr val="111827"/>
                    </a:solidFill>
                    <a:latin typeface="Arial"/>
                  </a:rPr>
                  <a:t> as </a:t>
                </a:r>
                <a:r>
                  <a:rPr lang="en-IN" sz="2400">
                    <a:solidFill>
                      <a:srgbClr val="111827"/>
                    </a:solidFill>
                    <a:latin typeface="Cambria Math" panose="02040503050406030204" pitchFamily="18" charset="0"/>
                  </a:rPr>
                  <a:t>$x\to+\infty$</a:t>
                </a:r>
                <a:r>
                  <a:rPr sz="2400" b="0">
                    <a:solidFill>
                      <a:srgbClr val="111827"/>
                    </a:solidFill>
                    <a:latin typeface="Arial"/>
                  </a:rPr>
                  <a:t>; by the intermediate value theorem there is at least one root (e.g. </a:t>
                </a:r>
                <a:r>
                  <a:rPr lang="en-IN" sz="2400">
                    <a:solidFill>
                      <a:srgbClr val="111827"/>
                    </a:solidFill>
                    <a:latin typeface="Cambria Math" panose="02040503050406030204" pitchFamily="18" charset="0"/>
                  </a:rPr>
                  <a:t>$f(-1)=-8&lt;0&lt;f(0)=1$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the number of real solutions is </a:t>
                </a:r>
                <a:r>
                  <a:rPr lang="en-IN" sz="2400">
                    <a:solidFill>
                      <a:srgbClr val="111827"/>
                    </a:solidFill>
                    <a:latin typeface="Cambria Math" panose="02040503050406030204" pitchFamily="18" charset="0"/>
                  </a:rPr>
                  <a:t>$1$</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1</a:t>
            </a:r>
            <a:endParaRPr sz="2800">
              <a:solidFill>
                <a:srgbClr val="15803D"/>
              </a:solidFill>
            </a:endParaRP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Descartes' rule of signs on </a:t>
                </a:r>
                <a14:m>
                  <m:oMath xmlns:m="http://schemas.openxmlformats.org/officeDocument/2006/math">
                    <m:r>
                      <a:rPr lang="en-IN" sz="2400" i="1">
                        <a:solidFill>
                          <a:srgbClr val="78350F"/>
                        </a:solidFill>
                        <a:latin typeface="Cambria Math" panose="02040503050406030204" pitchFamily="18" charset="0"/>
                      </a:rPr>
                      <m:t>𝑓</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𝑓</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counts positive and negative roots separately.</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Descartes' rule of signs on </a:t>
                </a:r>
                <a:r>
                  <a:rPr lang="en-IN" sz="2400">
                    <a:solidFill>
                      <a:srgbClr val="78350F"/>
                    </a:solidFill>
                    <a:latin typeface="Cambria Math" panose="02040503050406030204" pitchFamily="18" charset="0"/>
                  </a:rPr>
                  <a:t>$f(x)$</a:t>
                </a:r>
                <a:r>
                  <a:rPr sz="2400" b="0">
                    <a:solidFill>
                      <a:srgbClr val="78350F"/>
                    </a:solidFill>
                    <a:latin typeface="Arial"/>
                  </a:rPr>
                  <a:t> and </a:t>
                </a:r>
                <a:r>
                  <a:rPr lang="en-IN" sz="2400">
                    <a:solidFill>
                      <a:srgbClr val="78350F"/>
                    </a:solidFill>
                    <a:latin typeface="Cambria Math" panose="02040503050406030204" pitchFamily="18" charset="0"/>
                  </a:rPr>
                  <a:t>$f(-x)$</a:t>
                </a:r>
                <a:r>
                  <a:rPr sz="2400" b="0">
                    <a:solidFill>
                      <a:srgbClr val="78350F"/>
                    </a:solidFill>
                    <a:latin typeface="Arial"/>
                  </a:rPr>
                  <a:t> counts positive and negative roots separately.</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7</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has all coefficients positive: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sign changes, so no positive root.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7</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has the sign pattern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exactly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sign change, so exactly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negative root.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is not a root.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number of real roots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$f(x)=x^7+5x^3+3x+1$</a:t>
                </a:r>
                <a:r>
                  <a:rPr sz="2400" b="0">
                    <a:solidFill>
                      <a:srgbClr val="111827"/>
                    </a:solidFill>
                    <a:latin typeface="Arial"/>
                  </a:rPr>
                  <a:t> has all coefficients positive: </a:t>
                </a:r>
                <a:r>
                  <a:rPr lang="en-IN" sz="2400">
                    <a:solidFill>
                      <a:srgbClr val="111827"/>
                    </a:solidFill>
                    <a:latin typeface="Cambria Math" panose="02040503050406030204" pitchFamily="18" charset="0"/>
                  </a:rPr>
                  <a:t>$0$</a:t>
                </a:r>
                <a:r>
                  <a:rPr sz="2400" b="0">
                    <a:solidFill>
                      <a:srgbClr val="111827"/>
                    </a:solidFill>
                    <a:latin typeface="Arial"/>
                  </a:rPr>
                  <a:t> sign changes, so no positive root.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$f(-x)=-x^7-5x^3-3x+1$</a:t>
                </a:r>
                <a:r>
                  <a:rPr sz="2400" b="0">
                    <a:solidFill>
                      <a:srgbClr val="111827"/>
                    </a:solidFill>
                    <a:latin typeface="Arial"/>
                  </a:rPr>
                  <a:t> has the sign pattern </a:t>
                </a:r>
                <a:r>
                  <a:rPr lang="en-IN" sz="2400">
                    <a:solidFill>
                      <a:srgbClr val="111827"/>
                    </a:solidFill>
                    <a:latin typeface="Cambria Math" panose="02040503050406030204" pitchFamily="18" charset="0"/>
                  </a:rPr>
                  <a:t>$-,-,-,+$</a:t>
                </a:r>
                <a:r>
                  <a:rPr sz="2400" b="0">
                    <a:solidFill>
                      <a:srgbClr val="111827"/>
                    </a:solidFill>
                    <a:latin typeface="Arial"/>
                  </a:rPr>
                  <a:t>: exactly </a:t>
                </a:r>
                <a:r>
                  <a:rPr lang="en-IN" sz="2400">
                    <a:solidFill>
                      <a:srgbClr val="111827"/>
                    </a:solidFill>
                    <a:latin typeface="Cambria Math" panose="02040503050406030204" pitchFamily="18" charset="0"/>
                  </a:rPr>
                  <a:t>$1$</a:t>
                </a:r>
                <a:r>
                  <a:rPr sz="2400" b="0">
                    <a:solidFill>
                      <a:srgbClr val="111827"/>
                    </a:solidFill>
                    <a:latin typeface="Arial"/>
                  </a:rPr>
                  <a:t> sign change, so exactly </a:t>
                </a:r>
                <a:r>
                  <a:rPr lang="en-IN" sz="2400">
                    <a:solidFill>
                      <a:srgbClr val="111827"/>
                    </a:solidFill>
                    <a:latin typeface="Cambria Math" panose="02040503050406030204" pitchFamily="18" charset="0"/>
                  </a:rPr>
                  <a:t>$1$</a:t>
                </a:r>
                <a:r>
                  <a:rPr sz="2400" b="0">
                    <a:solidFill>
                      <a:srgbClr val="111827"/>
                    </a:solidFill>
                    <a:latin typeface="Arial"/>
                  </a:rPr>
                  <a:t> negative root.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$f(0)=1\ne0$</a:t>
                </a:r>
                <a:r>
                  <a:rPr sz="2400" b="0">
                    <a:solidFill>
                      <a:srgbClr val="111827"/>
                    </a:solidFill>
                    <a:latin typeface="Arial"/>
                  </a:rPr>
                  <a:t>, so </a:t>
                </a:r>
                <a:r>
                  <a:rPr lang="en-IN" sz="2400">
                    <a:solidFill>
                      <a:srgbClr val="111827"/>
                    </a:solidFill>
                    <a:latin typeface="Cambria Math" panose="02040503050406030204" pitchFamily="18" charset="0"/>
                  </a:rPr>
                  <a:t>$0$</a:t>
                </a:r>
                <a:r>
                  <a:rPr sz="2400" b="0">
                    <a:solidFill>
                      <a:srgbClr val="111827"/>
                    </a:solidFill>
                    <a:latin typeface="Arial"/>
                  </a:rPr>
                  <a:t> is not a root.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number of real roots </a:t>
                </a:r>
                <a:r>
                  <a:rPr lang="en-IN" sz="2400">
                    <a:solidFill>
                      <a:srgbClr val="111827"/>
                    </a:solidFill>
                    <a:latin typeface="Cambria Math" panose="02040503050406030204" pitchFamily="18" charset="0"/>
                  </a:rPr>
                  <a:t>$=0+1=1$</a:t>
                </a:r>
                <a:r>
                  <a:rPr sz="2400" b="0">
                    <a:solidFill>
                      <a:srgbClr val="111827"/>
                    </a:solidFill>
                    <a:latin typeface="Arial"/>
                  </a:rPr>
                  <a:t>.</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1</a:t>
            </a:r>
            <a:endParaRPr sz="2800">
              <a:solidFill>
                <a:srgbClr val="15803D"/>
              </a:solidFill>
            </a:endParaRP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(or </a:t>
                </a:r>
                <a14:m>
                  <m:oMath xmlns:m="http://schemas.openxmlformats.org/officeDocument/2006/math">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for all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is injective, so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has at most one root; odd degree guarantees one.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sum of odd powers with positive coefficients, such as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7</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oMath>
                </a14:m>
                <a:r>
                  <a:rPr sz="2400" b="0">
                    <a:solidFill>
                      <a:srgbClr val="111827"/>
                    </a:solidFill>
                    <a:latin typeface="Arial"/>
                  </a:rPr>
                  <a:t>, is strictly increasing and onto </a:t>
                </a:r>
                <a14:m>
                  <m:oMath xmlns:m="http://schemas.openxmlformats.org/officeDocument/2006/math">
                    <m:r>
                      <m:rPr>
                        <m:scr m:val="double-struck"/>
                        <m:sty m:val="p"/>
                      </m:rPr>
                      <a:rPr lang="en-IN" sz="2400">
                        <a:solidFill>
                          <a:srgbClr val="111827"/>
                        </a:solidFill>
                        <a:latin typeface="Cambria Math" panose="02040503050406030204" pitchFamily="18" charset="0"/>
                      </a:rPr>
                      <m:t>R</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Descartes: the number of positive roots is the number of sign changes in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or less by an even number; for negative roots use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Here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6</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$f'(x)&gt;0$</a:t>
                </a:r>
                <a:r>
                  <a:rPr sz="2400" b="0">
                    <a:solidFill>
                      <a:srgbClr val="111827"/>
                    </a:solidFill>
                    <a:latin typeface="Arial"/>
                  </a:rPr>
                  <a:t> (or </a:t>
                </a:r>
                <a:r>
                  <a:rPr lang="en-IN" sz="2400">
                    <a:solidFill>
                      <a:srgbClr val="111827"/>
                    </a:solidFill>
                    <a:latin typeface="Cambria Math" panose="02040503050406030204" pitchFamily="18" charset="0"/>
                  </a:rPr>
                  <a:t>$&lt;0$</a:t>
                </a:r>
                <a:r>
                  <a:rPr sz="2400" b="0">
                    <a:solidFill>
                      <a:srgbClr val="111827"/>
                    </a:solidFill>
                    <a:latin typeface="Arial"/>
                  </a:rPr>
                  <a:t>) for all </a:t>
                </a:r>
                <a:r>
                  <a:rPr lang="en-IN" sz="2400">
                    <a:solidFill>
                      <a:srgbClr val="111827"/>
                    </a:solidFill>
                    <a:latin typeface="Cambria Math" panose="02040503050406030204" pitchFamily="18" charset="0"/>
                  </a:rPr>
                  <a:t>$x$</a:t>
                </a:r>
                <a:r>
                  <a:rPr sz="2400" b="0">
                    <a:solidFill>
                      <a:srgbClr val="111827"/>
                    </a:solidFill>
                    <a:latin typeface="Arial"/>
                  </a:rPr>
                  <a:t>, </a:t>
                </a:r>
                <a:r>
                  <a:rPr lang="en-IN" sz="2400">
                    <a:solidFill>
                      <a:srgbClr val="111827"/>
                    </a:solidFill>
                    <a:latin typeface="Cambria Math" panose="02040503050406030204" pitchFamily="18" charset="0"/>
                  </a:rPr>
                  <a:t>$f$</a:t>
                </a:r>
                <a:r>
                  <a:rPr sz="2400" b="0">
                    <a:solidFill>
                      <a:srgbClr val="111827"/>
                    </a:solidFill>
                    <a:latin typeface="Arial"/>
                  </a:rPr>
                  <a:t> is injective, so </a:t>
                </a:r>
                <a:r>
                  <a:rPr lang="en-IN" sz="2400">
                    <a:solidFill>
                      <a:srgbClr val="111827"/>
                    </a:solidFill>
                    <a:latin typeface="Cambria Math" panose="02040503050406030204" pitchFamily="18" charset="0"/>
                  </a:rPr>
                  <a:t>$f(x)=0$</a:t>
                </a:r>
                <a:r>
                  <a:rPr sz="2400" b="0">
                    <a:solidFill>
                      <a:srgbClr val="111827"/>
                    </a:solidFill>
                    <a:latin typeface="Arial"/>
                  </a:rPr>
                  <a:t> has at most one root; odd degree guarantees one.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sum of odd powers with positive coefficients, such as </a:t>
                </a:r>
                <a:r>
                  <a:rPr lang="en-IN" sz="2400">
                    <a:solidFill>
                      <a:srgbClr val="111827"/>
                    </a:solidFill>
                    <a:latin typeface="Cambria Math" panose="02040503050406030204" pitchFamily="18" charset="0"/>
                  </a:rPr>
                  <a:t>$x^7+5x^3+3x$</a:t>
                </a:r>
                <a:r>
                  <a:rPr sz="2400" b="0">
                    <a:solidFill>
                      <a:srgbClr val="111827"/>
                    </a:solidFill>
                    <a:latin typeface="Arial"/>
                  </a:rPr>
                  <a:t>, is strictly increasing and onto </a:t>
                </a:r>
                <a:r>
                  <a:rPr lang="en-IN" sz="2400">
                    <a:solidFill>
                      <a:srgbClr val="111827"/>
                    </a:solidFill>
                    <a:latin typeface="Cambria Math" panose="02040503050406030204" pitchFamily="18" charset="0"/>
                  </a:rPr>
                  <a:t>$\mathbb{R}$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Descartes: the number of positive roots is the number of sign changes in </a:t>
                </a:r>
                <a:r>
                  <a:rPr lang="en-IN" sz="2400">
                    <a:solidFill>
                      <a:srgbClr val="111827"/>
                    </a:solidFill>
                    <a:latin typeface="Cambria Math" panose="02040503050406030204" pitchFamily="18" charset="0"/>
                  </a:rPr>
                  <a:t>$f(x)$</a:t>
                </a:r>
                <a:r>
                  <a:rPr sz="2400" b="0">
                    <a:solidFill>
                      <a:srgbClr val="111827"/>
                    </a:solidFill>
                    <a:latin typeface="Arial"/>
                  </a:rPr>
                  <a:t> or less by an even number; for negative roots use </a:t>
                </a:r>
                <a:r>
                  <a:rPr lang="en-IN" sz="2400">
                    <a:solidFill>
                      <a:srgbClr val="111827"/>
                    </a:solidFill>
                    <a:latin typeface="Cambria Math" panose="02040503050406030204" pitchFamily="18" charset="0"/>
                  </a:rPr>
                  <a:t>$f(-x)$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Here </a:t>
                </a:r>
                <a:r>
                  <a:rPr lang="en-IN" sz="2400">
                    <a:solidFill>
                      <a:srgbClr val="111827"/>
                    </a:solidFill>
                    <a:latin typeface="Cambria Math" panose="02040503050406030204" pitchFamily="18" charset="0"/>
                  </a:rPr>
                  <a:t>$f'=7x^6+15x^2+3\ge3&gt;0$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70916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𝑔</m:t>
                    </m:r>
                  </m:oMath>
                </a14:m>
                <a:r>
                  <a:rPr sz="2400" b="0">
                    <a:solidFill>
                      <a:srgbClr val="111827"/>
                    </a:solidFill>
                    <a:latin typeface="Arial"/>
                  </a:rPr>
                  <a:t> be twice differentiable even functions on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such that </a:t>
                </a:r>
                <a14:m>
                  <m:oMath xmlns:m="http://schemas.openxmlformats.org/officeDocument/2006/math">
                    <m:r>
                      <a:rPr lang="en-IN" sz="2400" i="1">
                        <a:solidFill>
                          <a:srgbClr val="111827"/>
                        </a:solidFill>
                        <a:latin typeface="Cambria Math" panose="02040503050406030204" pitchFamily="18" charset="0"/>
                      </a:rPr>
                      <m:t>𝑓</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𝑓</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𝑔</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4</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Then the minimum number of solutions of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in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equal to ________.</a:t>
                </a:r>
                <a:endParaRPr sz="2400">
                  <a:solidFill>
                    <a:srgbClr val="111827"/>
                  </a:solidFill>
                </a:endParaRPr>
              </a:p>
            </p:txBody>
          </p:sp>
        </mc:Choice>
        <mc:Fallback>
          <p:sp>
            <p:nvSpPr>
              <p:cNvPr id="4" name="Rounded Rectangle 3"/>
              <p:cNvSpPr/>
              <p:nvPr/>
            </p:nvSpPr>
            <p:spPr>
              <a:xfrm>
                <a:off x="731520" y="1280160"/>
                <a:ext cx="10725912" cy="270916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$f$</a:t>
                </a:r>
                <a:r>
                  <a:rPr sz="2400" b="0">
                    <a:solidFill>
                      <a:srgbClr val="111827"/>
                    </a:solidFill>
                    <a:latin typeface="Arial"/>
                  </a:rPr>
                  <a:t> and </a:t>
                </a:r>
                <a:r>
                  <a:rPr lang="en-IN" sz="2400">
                    <a:solidFill>
                      <a:srgbClr val="111827"/>
                    </a:solidFill>
                    <a:latin typeface="Cambria Math" panose="02040503050406030204" pitchFamily="18" charset="0"/>
                  </a:rPr>
                  <a:t>$g$</a:t>
                </a:r>
                <a:r>
                  <a:rPr sz="2400" b="0">
                    <a:solidFill>
                      <a:srgbClr val="111827"/>
                    </a:solidFill>
                    <a:latin typeface="Arial"/>
                  </a:rPr>
                  <a:t> be twice differentiable even functions on </a:t>
                </a:r>
                <a:r>
                  <a:rPr lang="en-IN" sz="2400">
                    <a:solidFill>
                      <a:srgbClr val="111827"/>
                    </a:solidFill>
                    <a:latin typeface="Cambria Math" panose="02040503050406030204" pitchFamily="18" charset="0"/>
                  </a:rPr>
                  <a:t>$(-2,2)$</a:t>
                </a:r>
                <a:r>
                  <a:rPr sz="2400" b="0">
                    <a:solidFill>
                      <a:srgbClr val="111827"/>
                    </a:solidFill>
                    <a:latin typeface="Arial"/>
                  </a:rPr>
                  <a:t> such that </a:t>
                </a:r>
                <a:r>
                  <a:rPr lang="en-IN" sz="2400">
                    <a:solidFill>
                      <a:srgbClr val="111827"/>
                    </a:solidFill>
                    <a:latin typeface="Cambria Math" panose="02040503050406030204" pitchFamily="18" charset="0"/>
                  </a:rPr>
                  <a:t>$f\left(\frac{1}{4}\right)=0$</a:t>
                </a:r>
                <a:r>
                  <a:rPr sz="2400" b="0">
                    <a:solidFill>
                      <a:srgbClr val="111827"/>
                    </a:solidFill>
                    <a:latin typeface="Arial"/>
                  </a:rPr>
                  <a:t>, </a:t>
                </a:r>
                <a:r>
                  <a:rPr lang="en-IN" sz="2400">
                    <a:solidFill>
                      <a:srgbClr val="111827"/>
                    </a:solidFill>
                    <a:latin typeface="Cambria Math" panose="02040503050406030204" pitchFamily="18" charset="0"/>
                  </a:rPr>
                  <a:t>$f\left(\frac{1}{2}\right)=0$</a:t>
                </a:r>
                <a:r>
                  <a:rPr sz="2400" b="0">
                    <a:solidFill>
                      <a:srgbClr val="111827"/>
                    </a:solidFill>
                    <a:latin typeface="Arial"/>
                  </a:rPr>
                  <a:t>, </a:t>
                </a:r>
                <a:r>
                  <a:rPr lang="en-IN" sz="2400">
                    <a:solidFill>
                      <a:srgbClr val="111827"/>
                    </a:solidFill>
                    <a:latin typeface="Cambria Math" panose="02040503050406030204" pitchFamily="18" charset="0"/>
                  </a:rPr>
                  <a:t>$f(1)=1$</a:t>
                </a:r>
                <a:r>
                  <a:rPr sz="2400" b="0">
                    <a:solidFill>
                      <a:srgbClr val="111827"/>
                    </a:solidFill>
                    <a:latin typeface="Arial"/>
                  </a:rPr>
                  <a:t> and </a:t>
                </a:r>
                <a:r>
                  <a:rPr lang="en-IN" sz="2400">
                    <a:solidFill>
                      <a:srgbClr val="111827"/>
                    </a:solidFill>
                    <a:latin typeface="Cambria Math" panose="02040503050406030204" pitchFamily="18" charset="0"/>
                  </a:rPr>
                  <a:t>$g\left(\frac{3}{4}\right)=0$</a:t>
                </a:r>
                <a:r>
                  <a:rPr sz="2400" b="0">
                    <a:solidFill>
                      <a:srgbClr val="111827"/>
                    </a:solidFill>
                    <a:latin typeface="Arial"/>
                  </a:rPr>
                  <a:t>, </a:t>
                </a:r>
                <a:r>
                  <a:rPr lang="en-IN" sz="2400">
                    <a:solidFill>
                      <a:srgbClr val="111827"/>
                    </a:solidFill>
                    <a:latin typeface="Cambria Math" panose="02040503050406030204" pitchFamily="18" charset="0"/>
                  </a:rPr>
                  <a:t>$g(1)=2$</a:t>
                </a:r>
                <a:r>
                  <a:rPr sz="2400" b="0">
                    <a:solidFill>
                      <a:srgbClr val="111827"/>
                    </a:solidFill>
                    <a:latin typeface="Arial"/>
                  </a:rPr>
                  <a:t>. Then the minimum number of solutions of </a:t>
                </a:r>
                <a:r>
                  <a:rPr lang="en-IN" sz="2400">
                    <a:solidFill>
                      <a:srgbClr val="111827"/>
                    </a:solidFill>
                    <a:latin typeface="Cambria Math" panose="02040503050406030204" pitchFamily="18" charset="0"/>
                  </a:rPr>
                  <a:t>$f(x)g''(x)+f'(x)g'(x)=0$</a:t>
                </a:r>
                <a:r>
                  <a:rPr sz="2400" b="0">
                    <a:solidFill>
                      <a:srgbClr val="111827"/>
                    </a:solidFill>
                    <a:latin typeface="Arial"/>
                  </a:rPr>
                  <a:t> in </a:t>
                </a:r>
                <a:r>
                  <a:rPr lang="en-IN" sz="2400">
                    <a:solidFill>
                      <a:srgbClr val="111827"/>
                    </a:solidFill>
                    <a:latin typeface="Cambria Math" panose="02040503050406030204" pitchFamily="18" charset="0"/>
                  </a:rPr>
                  <a:t>$(-2,2)$</a:t>
                </a:r>
                <a:r>
                  <a:rPr sz="2400" b="0">
                    <a:solidFill>
                      <a:srgbClr val="111827"/>
                    </a:solidFill>
                    <a:latin typeface="Arial"/>
                  </a:rPr>
                  <a:t> is equal to ________.</a:t>
                </a:r>
                <a:endParaRPr sz="2400">
                  <a:solidFill>
                    <a:srgbClr val="111827"/>
                  </a:solidFill>
                </a:endParaRPr>
              </a:p>
            </p:txBody>
          </p:sp>
        </mc:Fallback>
      </mc:AlternateContent>
      <p:sp>
        <p:nvSpPr>
          <p:cNvPr id="5" name="Rectangle 4"/>
          <p:cNvSpPr/>
          <p:nvPr/>
        </p:nvSpPr>
        <p:spPr>
          <a:xfrm>
            <a:off x="731520" y="4217924"/>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Rolle's theorem, Even functions and their derivatives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Spot </a:t>
                </a:r>
                <a14:m>
                  <m:oMath xmlns:m="http://schemas.openxmlformats.org/officeDocument/2006/math">
                    <m:r>
                      <a:rPr lang="en-IN" sz="2400" i="1">
                        <a:solidFill>
                          <a:srgbClr val="78350F"/>
                        </a:solidFill>
                        <a:latin typeface="Cambria Math" panose="02040503050406030204" pitchFamily="18" charset="0"/>
                      </a:rPr>
                      <m:t>𝑓</m:t>
                    </m:r>
                    <m:sSup>
                      <m:e>
                        <m:r>
                          <a:rPr lang="en-IN" sz="2400" i="1">
                            <a:solidFill>
                              <a:srgbClr val="78350F"/>
                            </a:solidFill>
                            <a:latin typeface="Cambria Math" panose="02040503050406030204" pitchFamily="18" charset="0"/>
                          </a:rPr>
                          <m:t>𝑔</m:t>
                        </m:r>
                      </m:e>
                      <m:sup>
                        <m:r>
                          <m:rPr>
                            <m:sty m:val="p"/>
                          </m:rPr>
                          <a:rPr lang="en-IN" sz="2400">
                            <a:solidFill>
                              <a:srgbClr val="78350F"/>
                            </a:solidFill>
                            <a:latin typeface="Cambria Math" panose="02040503050406030204" pitchFamily="18" charset="0"/>
                          </a:rPr>
                          <m:t>″</m:t>
                        </m:r>
                      </m:sup>
                    </m:sSup>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𝑓</m:t>
                        </m:r>
                      </m:e>
                      <m:sup>
                        <m:r>
                          <m:rPr>
                            <m:sty m:val="p"/>
                          </m:rPr>
                          <a:rPr lang="en-IN" sz="2400">
                            <a:solidFill>
                              <a:srgbClr val="78350F"/>
                            </a:solidFill>
                            <a:latin typeface="Cambria Math" panose="02040503050406030204" pitchFamily="18" charset="0"/>
                          </a:rPr>
                          <m:t>′</m:t>
                        </m:r>
                      </m:sup>
                    </m:sSup>
                    <m:sSup>
                      <m:e>
                        <m:r>
                          <a:rPr lang="en-IN" sz="2400" i="1">
                            <a:solidFill>
                              <a:srgbClr val="78350F"/>
                            </a:solidFill>
                            <a:latin typeface="Cambria Math" panose="02040503050406030204" pitchFamily="18" charset="0"/>
                          </a:rPr>
                          <m:t>𝑔</m:t>
                        </m:r>
                      </m:e>
                      <m:sup>
                        <m:r>
                          <m:rPr>
                            <m:sty m:val="p"/>
                          </m:rPr>
                          <a:rPr lang="en-IN" sz="2400">
                            <a:solidFill>
                              <a:srgbClr val="78350F"/>
                            </a:solidFill>
                            <a:latin typeface="Cambria Math" panose="02040503050406030204" pitchFamily="18" charset="0"/>
                          </a:rPr>
                          <m:t>′</m:t>
                        </m:r>
                      </m:sup>
                    </m:sSup>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𝑓</m:t>
                    </m:r>
                    <m:sSup>
                      <m:e>
                        <m:r>
                          <a:rPr lang="en-IN" sz="2400" i="1">
                            <a:solidFill>
                              <a:srgbClr val="78350F"/>
                            </a:solidFill>
                            <a:latin typeface="Cambria Math" panose="02040503050406030204" pitchFamily="18" charset="0"/>
                          </a:rPr>
                          <m:t>𝑔</m:t>
                        </m:r>
                      </m:e>
                      <m:sup>
                        <m:r>
                          <m:rPr>
                            <m:sty m:val="p"/>
                          </m:rPr>
                          <a:rPr lang="en-IN" sz="2400">
                            <a:solidFill>
                              <a:srgbClr val="78350F"/>
                            </a:solidFill>
                            <a:latin typeface="Cambria Math" panose="02040503050406030204" pitchFamily="18" charset="0"/>
                          </a:rPr>
                          <m:t>′</m:t>
                        </m:r>
                      </m:sup>
                    </m:sSup>
                    <m:sSup>
                      <m:e>
                        <m:r>
                          <m:rPr>
                            <m:sty m:val="p"/>
                          </m:rPr>
                          <a:rPr lang="en-IN" sz="2400">
                            <a:solidFill>
                              <a:srgbClr val="78350F"/>
                            </a:solidFill>
                            <a:latin typeface="Cambria Math" panose="02040503050406030204" pitchFamily="18" charset="0"/>
                          </a:rPr>
                          <m:t>)</m:t>
                        </m:r>
                      </m:e>
                      <m:sup>
                        <m:r>
                          <m:rPr>
                            <m:sty m:val="p"/>
                          </m:rPr>
                          <a:rPr lang="en-IN" sz="2400">
                            <a:solidFill>
                              <a:srgbClr val="78350F"/>
                            </a:solidFill>
                            <a:latin typeface="Cambria Math" panose="02040503050406030204" pitchFamily="18" charset="0"/>
                          </a:rPr>
                          <m:t>′</m:t>
                        </m:r>
                      </m:sup>
                    </m:sSup>
                  </m:oMath>
                </a14:m>
                <a:r>
                  <a:rPr sz="2400" b="0">
                    <a:solidFill>
                      <a:srgbClr val="78350F"/>
                    </a:solidFill>
                    <a:latin typeface="Arial"/>
                  </a:rPr>
                  <a:t>, then count zeros of </a:t>
                </a:r>
                <a14:m>
                  <m:oMath xmlns:m="http://schemas.openxmlformats.org/officeDocument/2006/math">
                    <m:r>
                      <a:rPr lang="en-IN" sz="2400" i="1">
                        <a:solidFill>
                          <a:srgbClr val="78350F"/>
                        </a:solidFill>
                        <a:latin typeface="Cambria Math" panose="02040503050406030204" pitchFamily="18" charset="0"/>
                      </a:rPr>
                      <m:t>𝑓</m:t>
                    </m:r>
                    <m:sSup>
                      <m:e>
                        <m:r>
                          <a:rPr lang="en-IN" sz="2400" i="1">
                            <a:solidFill>
                              <a:srgbClr val="78350F"/>
                            </a:solidFill>
                            <a:latin typeface="Cambria Math" panose="02040503050406030204" pitchFamily="18" charset="0"/>
                          </a:rPr>
                          <m:t>𝑔</m:t>
                        </m:r>
                      </m:e>
                      <m:sup>
                        <m:r>
                          <m:rPr>
                            <m:sty m:val="p"/>
                          </m:rPr>
                          <a:rPr lang="en-IN" sz="2400">
                            <a:solidFill>
                              <a:srgbClr val="78350F"/>
                            </a:solidFill>
                            <a:latin typeface="Cambria Math" panose="02040503050406030204" pitchFamily="18" charset="0"/>
                          </a:rPr>
                          <m:t>′</m:t>
                        </m:r>
                      </m:sup>
                    </m:sSup>
                  </m:oMath>
                </a14:m>
                <a:r>
                  <a:rPr sz="2400" b="0">
                    <a:solidFill>
                      <a:srgbClr val="78350F"/>
                    </a:solidFill>
                    <a:latin typeface="Arial"/>
                  </a:rPr>
                  <a:t> (even </a:t>
                </a:r>
                <a14:m>
                  <m:oMath xmlns:m="http://schemas.openxmlformats.org/officeDocument/2006/math">
                    <m:r>
                      <a:rPr lang="en-IN" sz="2400" i="1">
                        <a:solidFill>
                          <a:srgbClr val="78350F"/>
                        </a:solidFill>
                        <a:latin typeface="Cambria Math" panose="02040503050406030204" pitchFamily="18" charset="0"/>
                      </a:rPr>
                      <m:t>𝑓</m:t>
                    </m:r>
                  </m:oMath>
                </a14:m>
                <a:r>
                  <a:rPr sz="2400" b="0">
                    <a:solidFill>
                      <a:srgbClr val="78350F"/>
                    </a:solidFill>
                    <a:latin typeface="Arial"/>
                  </a:rPr>
                  <a:t> gives </a:t>
                </a:r>
                <a14:m>
                  <m:oMath xmlns:m="http://schemas.openxmlformats.org/officeDocument/2006/math">
                    <m:r>
                      <m:rPr>
                        <m:sty m:val="p"/>
                      </m:rPr>
                      <a:rPr lang="en-IN" sz="2400">
                        <a:solidFill>
                          <a:srgbClr val="78350F"/>
                        </a:solidFill>
                        <a:latin typeface="Cambria Math" panose="02040503050406030204" pitchFamily="18" charset="0"/>
                      </a:rPr>
                      <m:t>±</m:t>
                    </m:r>
                  </m:oMath>
                </a14:m>
                <a:r>
                  <a:rPr sz="2400" b="0">
                    <a:solidFill>
                      <a:srgbClr val="78350F"/>
                    </a:solidFill>
                    <a:latin typeface="Arial"/>
                  </a:rPr>
                  <a:t> zeros, odd </a:t>
                </a:r>
                <a14:m>
                  <m:oMath xmlns:m="http://schemas.openxmlformats.org/officeDocument/2006/math">
                    <m:sSup>
                      <m:e>
                        <m:r>
                          <a:rPr lang="en-IN" sz="2400" i="1">
                            <a:solidFill>
                              <a:srgbClr val="78350F"/>
                            </a:solidFill>
                            <a:latin typeface="Cambria Math" panose="02040503050406030204" pitchFamily="18" charset="0"/>
                          </a:rPr>
                          <m:t>𝑔</m:t>
                        </m:r>
                      </m:e>
                      <m:sup>
                        <m:r>
                          <m:rPr>
                            <m:sty m:val="p"/>
                          </m:rPr>
                          <a:rPr lang="en-IN" sz="2400">
                            <a:solidFill>
                              <a:srgbClr val="78350F"/>
                            </a:solidFill>
                            <a:latin typeface="Cambria Math" panose="02040503050406030204" pitchFamily="18" charset="0"/>
                          </a:rPr>
                          <m:t>′</m:t>
                        </m:r>
                      </m:sup>
                    </m:sSup>
                  </m:oMath>
                </a14:m>
                <a:r>
                  <a:rPr sz="2400" b="0">
                    <a:solidFill>
                      <a:srgbClr val="78350F"/>
                    </a:solidFill>
                    <a:latin typeface="Arial"/>
                  </a:rPr>
                  <a:t> vanishes at </a:t>
                </a:r>
                <a14:m>
                  <m:oMath xmlns:m="http://schemas.openxmlformats.org/officeDocument/2006/math">
                    <m:r>
                      <a:rPr lang="en-IN" sz="2400" i="1">
                        <a:solidFill>
                          <a:srgbClr val="78350F"/>
                        </a:solidFill>
                        <a:latin typeface="Cambria Math" panose="02040503050406030204" pitchFamily="18" charset="0"/>
                      </a:rPr>
                      <m:t>0</m:t>
                    </m:r>
                  </m:oMath>
                </a14:m>
                <a:r>
                  <a:rPr sz="2400" b="0">
                    <a:solidFill>
                      <a:srgbClr val="78350F"/>
                    </a:solidFill>
                    <a:latin typeface="Arial"/>
                  </a:rPr>
                  <a:t>) and apply Rolle between them.</a:t>
                </a:r>
                <a:endParaRPr sz="2400">
                  <a:solidFill>
                    <a:srgbClr val="78350F"/>
                  </a:solidFill>
                </a:endParaRPr>
              </a:p>
            </p:txBody>
          </p:sp>
        </mc:Choice>
        <mc:Fallback>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Spot </a:t>
                </a:r>
                <a:r>
                  <a:rPr lang="en-IN" sz="2400">
                    <a:solidFill>
                      <a:srgbClr val="78350F"/>
                    </a:solidFill>
                    <a:latin typeface="Cambria Math" panose="02040503050406030204" pitchFamily="18" charset="0"/>
                  </a:rPr>
                  <a:t>$fg''+f'g'=(fg')'$</a:t>
                </a:r>
                <a:r>
                  <a:rPr sz="2400" b="0">
                    <a:solidFill>
                      <a:srgbClr val="78350F"/>
                    </a:solidFill>
                    <a:latin typeface="Arial"/>
                  </a:rPr>
                  <a:t>, then count zeros of </a:t>
                </a:r>
                <a:r>
                  <a:rPr lang="en-IN" sz="2400">
                    <a:solidFill>
                      <a:srgbClr val="78350F"/>
                    </a:solidFill>
                    <a:latin typeface="Cambria Math" panose="02040503050406030204" pitchFamily="18" charset="0"/>
                  </a:rPr>
                  <a:t>$fg'$</a:t>
                </a:r>
                <a:r>
                  <a:rPr sz="2400" b="0">
                    <a:solidFill>
                      <a:srgbClr val="78350F"/>
                    </a:solidFill>
                    <a:latin typeface="Arial"/>
                  </a:rPr>
                  <a:t> (even </a:t>
                </a:r>
                <a:r>
                  <a:rPr lang="en-IN" sz="2400">
                    <a:solidFill>
                      <a:srgbClr val="78350F"/>
                    </a:solidFill>
                    <a:latin typeface="Cambria Math" panose="02040503050406030204" pitchFamily="18" charset="0"/>
                  </a:rPr>
                  <a:t>$f$</a:t>
                </a:r>
                <a:r>
                  <a:rPr sz="2400" b="0">
                    <a:solidFill>
                      <a:srgbClr val="78350F"/>
                    </a:solidFill>
                    <a:latin typeface="Arial"/>
                  </a:rPr>
                  <a:t> gives </a:t>
                </a:r>
                <a:r>
                  <a:rPr lang="en-IN" sz="2400">
                    <a:solidFill>
                      <a:srgbClr val="78350F"/>
                    </a:solidFill>
                    <a:latin typeface="Cambria Math" panose="02040503050406030204" pitchFamily="18" charset="0"/>
                  </a:rPr>
                  <a:t>$\pm$</a:t>
                </a:r>
                <a:r>
                  <a:rPr sz="2400" b="0">
                    <a:solidFill>
                      <a:srgbClr val="78350F"/>
                    </a:solidFill>
                    <a:latin typeface="Arial"/>
                  </a:rPr>
                  <a:t> zeros, odd </a:t>
                </a:r>
                <a:r>
                  <a:rPr lang="en-IN" sz="2400">
                    <a:solidFill>
                      <a:srgbClr val="78350F"/>
                    </a:solidFill>
                    <a:latin typeface="Cambria Math" panose="02040503050406030204" pitchFamily="18" charset="0"/>
                  </a:rPr>
                  <a:t>$g'$</a:t>
                </a:r>
                <a:r>
                  <a:rPr sz="2400" b="0">
                    <a:solidFill>
                      <a:srgbClr val="78350F"/>
                    </a:solidFill>
                    <a:latin typeface="Arial"/>
                  </a:rPr>
                  <a:t> vanishes at </a:t>
                </a:r>
                <a:r>
                  <a:rPr lang="en-IN" sz="2400">
                    <a:solidFill>
                      <a:srgbClr val="78350F"/>
                    </a:solidFill>
                    <a:latin typeface="Cambria Math" panose="02040503050406030204" pitchFamily="18" charset="0"/>
                  </a:rPr>
                  <a:t>$0$</a:t>
                </a:r>
                <a:r>
                  <a:rPr sz="2400" b="0">
                    <a:solidFill>
                      <a:srgbClr val="78350F"/>
                    </a:solidFill>
                    <a:latin typeface="Arial"/>
                  </a:rPr>
                  <a:t>) and apply Rolle between them.</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e>
                    </m:d>
                  </m:oMath>
                </a14:m>
                <a:r>
                  <a:rPr sz="2400" b="0">
                    <a:solidFill>
                      <a:srgbClr val="111827"/>
                    </a:solidFill>
                    <a:latin typeface="Arial"/>
                  </a:rPr>
                  <a:t>. Let </a:t>
                </a:r>
                <a14:m>
                  <m:oMath xmlns:m="http://schemas.openxmlformats.org/officeDocument/2006/math">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we need the number of zeros of </a:t>
                </a:r>
                <a14:m>
                  <m:oMath xmlns:m="http://schemas.openxmlformats.org/officeDocument/2006/math">
                    <m:sSup>
                      <m:e>
                        <m:r>
                          <a:rPr lang="en-IN" sz="2400" i="1">
                            <a:solidFill>
                              <a:srgbClr val="111827"/>
                            </a:solidFill>
                            <a:latin typeface="Cambria Math" panose="02040503050406030204" pitchFamily="18" charset="0"/>
                          </a:rPr>
                          <m:t>ℎ</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is even, so </a:t>
                </a:r>
                <a14:m>
                  <m:oMath xmlns:m="http://schemas.openxmlformats.org/officeDocument/2006/math">
                    <m:r>
                      <a:rPr lang="en-IN" sz="2400" i="1">
                        <a:solidFill>
                          <a:srgbClr val="111827"/>
                        </a:solidFill>
                        <a:latin typeface="Cambria Math" panose="02040503050406030204" pitchFamily="18" charset="0"/>
                      </a:rPr>
                      <m:t>𝑓</m:t>
                    </m:r>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𝑓</m:t>
                    </m:r>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ℎ</m:t>
                    </m:r>
                  </m:oMath>
                </a14:m>
                <a:r>
                  <a:rPr sz="2400" b="0">
                    <a:solidFill>
                      <a:srgbClr val="111827"/>
                    </a:solidFill>
                    <a:latin typeface="Arial"/>
                  </a:rPr>
                  <a:t> vanishes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𝑔</m:t>
                    </m:r>
                  </m:oMath>
                </a14:m>
                <a:r>
                  <a:rPr sz="2400" b="0">
                    <a:solidFill>
                      <a:srgbClr val="111827"/>
                    </a:solidFill>
                    <a:latin typeface="Arial"/>
                  </a:rPr>
                  <a:t> is even, so </a:t>
                </a:r>
                <a14:m>
                  <m:oMath xmlns:m="http://schemas.openxmlformats.org/officeDocument/2006/math">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is odd and </a:t>
                </a:r>
                <a14:m>
                  <m:oMath xmlns:m="http://schemas.openxmlformats.org/officeDocument/2006/math">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values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give extra zeros of </a:t>
                </a:r>
                <a14:m>
                  <m:oMath xmlns:m="http://schemas.openxmlformats.org/officeDocument/2006/math">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by Rolle but are not needed for the minimum.)</a:t>
                </a:r>
                <a:endParaRPr sz="2400">
                  <a:solidFill>
                    <a:srgbClr val="111827"/>
                  </a:solidFill>
                </a:endParaRPr>
              </a:p>
            </p:txBody>
          </p:sp>
        </mc:Choice>
        <mc:Fallback>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$f(x)g''(x)+f'(x)g'(x)=\frac{d}{dx}\left[f(x)g'(x)\right]$</a:t>
                </a:r>
                <a:r>
                  <a:rPr sz="2400" b="0">
                    <a:solidFill>
                      <a:srgbClr val="111827"/>
                    </a:solidFill>
                    <a:latin typeface="Arial"/>
                  </a:rPr>
                  <a:t>. Let </a:t>
                </a:r>
                <a:r>
                  <a:rPr lang="en-IN" sz="2400">
                    <a:solidFill>
                      <a:srgbClr val="111827"/>
                    </a:solidFill>
                    <a:latin typeface="Cambria Math" panose="02040503050406030204" pitchFamily="18" charset="0"/>
                  </a:rPr>
                  <a:t>$h(x)=f(x)g'(x)$</a:t>
                </a:r>
                <a:r>
                  <a:rPr sz="2400" b="0">
                    <a:solidFill>
                      <a:srgbClr val="111827"/>
                    </a:solidFill>
                    <a:latin typeface="Arial"/>
                  </a:rPr>
                  <a:t>; we need the number of zeros of </a:t>
                </a:r>
                <a:r>
                  <a:rPr lang="en-IN" sz="2400">
                    <a:solidFill>
                      <a:srgbClr val="111827"/>
                    </a:solidFill>
                    <a:latin typeface="Cambria Math" panose="02040503050406030204" pitchFamily="18" charset="0"/>
                  </a:rPr>
                  <a:t>$h'$</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a:t>
                </a:r>
                <a:r>
                  <a:rPr sz="2400" b="0">
                    <a:solidFill>
                      <a:srgbClr val="111827"/>
                    </a:solidFill>
                    <a:latin typeface="Arial"/>
                  </a:rPr>
                  <a:t> is even, so </a:t>
                </a:r>
                <a:r>
                  <a:rPr lang="en-IN" sz="2400">
                    <a:solidFill>
                      <a:srgbClr val="111827"/>
                    </a:solidFill>
                    <a:latin typeface="Cambria Math" panose="02040503050406030204" pitchFamily="18" charset="0"/>
                  </a:rPr>
                  <a:t>$f\left(-\frac{1}{4}\right)=f\left(\frac{1}{4}\right)=0$</a:t>
                </a:r>
                <a:r>
                  <a:rPr sz="2400" b="0">
                    <a:solidFill>
                      <a:srgbClr val="111827"/>
                    </a:solidFill>
                    <a:latin typeface="Arial"/>
                  </a:rPr>
                  <a:t> and </a:t>
                </a:r>
                <a:r>
                  <a:rPr lang="en-IN" sz="2400">
                    <a:solidFill>
                      <a:srgbClr val="111827"/>
                    </a:solidFill>
                    <a:latin typeface="Cambria Math" panose="02040503050406030204" pitchFamily="18" charset="0"/>
                  </a:rPr>
                  <a:t>$f\left(-\frac{1}{2}\right)=f\left(\frac{1}{2}\right)=0$</a:t>
                </a:r>
                <a:r>
                  <a:rPr sz="2400" b="0">
                    <a:solidFill>
                      <a:srgbClr val="111827"/>
                    </a:solidFill>
                    <a:latin typeface="Arial"/>
                  </a:rPr>
                  <a:t>: </a:t>
                </a:r>
                <a:r>
                  <a:rPr lang="en-IN" sz="2400">
                    <a:solidFill>
                      <a:srgbClr val="111827"/>
                    </a:solidFill>
                    <a:latin typeface="Cambria Math" panose="02040503050406030204" pitchFamily="18" charset="0"/>
                  </a:rPr>
                  <a:t>$h$</a:t>
                </a:r>
                <a:r>
                  <a:rPr sz="2400" b="0">
                    <a:solidFill>
                      <a:srgbClr val="111827"/>
                    </a:solidFill>
                    <a:latin typeface="Arial"/>
                  </a:rPr>
                  <a:t> vanishes at </a:t>
                </a:r>
                <a:r>
                  <a:rPr lang="en-IN" sz="2400">
                    <a:solidFill>
                      <a:srgbClr val="111827"/>
                    </a:solidFill>
                    <a:latin typeface="Cambria Math" panose="02040503050406030204" pitchFamily="18" charset="0"/>
                  </a:rPr>
                  <a:t>$x=\pm\frac{1}{4},\pm\frac{1}{2}$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$g$</a:t>
                </a:r>
                <a:r>
                  <a:rPr sz="2400" b="0">
                    <a:solidFill>
                      <a:srgbClr val="111827"/>
                    </a:solidFill>
                    <a:latin typeface="Arial"/>
                  </a:rPr>
                  <a:t> is even, so </a:t>
                </a:r>
                <a:r>
                  <a:rPr lang="en-IN" sz="2400">
                    <a:solidFill>
                      <a:srgbClr val="111827"/>
                    </a:solidFill>
                    <a:latin typeface="Cambria Math" panose="02040503050406030204" pitchFamily="18" charset="0"/>
                  </a:rPr>
                  <a:t>$g'$</a:t>
                </a:r>
                <a:r>
                  <a:rPr sz="2400" b="0">
                    <a:solidFill>
                      <a:srgbClr val="111827"/>
                    </a:solidFill>
                    <a:latin typeface="Arial"/>
                  </a:rPr>
                  <a:t> is odd and </a:t>
                </a:r>
                <a:r>
                  <a:rPr lang="en-IN" sz="2400">
                    <a:solidFill>
                      <a:srgbClr val="111827"/>
                    </a:solidFill>
                    <a:latin typeface="Cambria Math" panose="02040503050406030204" pitchFamily="18" charset="0"/>
                  </a:rPr>
                  <a:t>$g'(0)=0$</a:t>
                </a:r>
                <a:r>
                  <a:rPr sz="2400" b="0">
                    <a:solidFill>
                      <a:srgbClr val="111827"/>
                    </a:solidFill>
                    <a:latin typeface="Arial"/>
                  </a:rPr>
                  <a:t>: </a:t>
                </a:r>
                <a:r>
                  <a:rPr lang="en-IN" sz="2400">
                    <a:solidFill>
                      <a:srgbClr val="111827"/>
                    </a:solidFill>
                    <a:latin typeface="Cambria Math" panose="02040503050406030204" pitchFamily="18" charset="0"/>
                  </a:rPr>
                  <a:t>$h(0)=f(0)g'(0)=0$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values </a:t>
                </a:r>
                <a:r>
                  <a:rPr lang="en-IN" sz="2400">
                    <a:solidFill>
                      <a:srgbClr val="111827"/>
                    </a:solidFill>
                    <a:latin typeface="Cambria Math" panose="02040503050406030204" pitchFamily="18" charset="0"/>
                  </a:rPr>
                  <a:t>$g(\pm\frac{3}{4})=0$</a:t>
                </a:r>
                <a:r>
                  <a:rPr sz="2400" b="0">
                    <a:solidFill>
                      <a:srgbClr val="111827"/>
                    </a:solidFill>
                    <a:latin typeface="Arial"/>
                  </a:rPr>
                  <a:t>, </a:t>
                </a:r>
                <a:r>
                  <a:rPr lang="en-IN" sz="2400">
                    <a:solidFill>
                      <a:srgbClr val="111827"/>
                    </a:solidFill>
                    <a:latin typeface="Cambria Math" panose="02040503050406030204" pitchFamily="18" charset="0"/>
                  </a:rPr>
                  <a:t>$f(1)=1$</a:t>
                </a:r>
                <a:r>
                  <a:rPr sz="2400" b="0">
                    <a:solidFill>
                      <a:srgbClr val="111827"/>
                    </a:solidFill>
                    <a:latin typeface="Arial"/>
                  </a:rPr>
                  <a:t>, </a:t>
                </a:r>
                <a:r>
                  <a:rPr lang="en-IN" sz="2400">
                    <a:solidFill>
                      <a:srgbClr val="111827"/>
                    </a:solidFill>
                    <a:latin typeface="Cambria Math" panose="02040503050406030204" pitchFamily="18" charset="0"/>
                  </a:rPr>
                  <a:t>$g(1)=2$</a:t>
                </a:r>
                <a:r>
                  <a:rPr sz="2400" b="0">
                    <a:solidFill>
                      <a:srgbClr val="111827"/>
                    </a:solidFill>
                    <a:latin typeface="Arial"/>
                  </a:rPr>
                  <a:t> give extra zeros of </a:t>
                </a:r>
                <a:r>
                  <a:rPr lang="en-IN" sz="2400">
                    <a:solidFill>
                      <a:srgbClr val="111827"/>
                    </a:solidFill>
                    <a:latin typeface="Cambria Math" panose="02040503050406030204" pitchFamily="18" charset="0"/>
                  </a:rPr>
                  <a:t>$g'$</a:t>
                </a:r>
                <a:r>
                  <a:rPr sz="2400" b="0">
                    <a:solidFill>
                      <a:srgbClr val="111827"/>
                    </a:solidFill>
                    <a:latin typeface="Arial"/>
                  </a:rPr>
                  <a:t> by Rolle but are not needed for the minimum.)</a:t>
                </a:r>
                <a:endParaRPr sz="2400">
                  <a:solidFill>
                    <a:srgbClr val="111827"/>
                  </a:solidFill>
                </a:endParaRPr>
              </a:p>
            </p:txBody>
          </p:sp>
        </mc:Fallback>
      </mc:AlternateContent>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ℎ</m:t>
                    </m:r>
                  </m:oMath>
                </a14:m>
                <a:r>
                  <a:rPr sz="2400" b="0">
                    <a:solidFill>
                      <a:srgbClr val="111827"/>
                    </a:solidFill>
                    <a:latin typeface="Arial"/>
                  </a:rPr>
                  <a:t> has at least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distinct zeros: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ℎ</m:t>
                    </m:r>
                  </m:oMath>
                </a14:m>
                <a:r>
                  <a:rPr sz="2400" b="0">
                    <a:solidFill>
                      <a:srgbClr val="111827"/>
                    </a:solidFill>
                    <a:latin typeface="Arial"/>
                  </a:rPr>
                  <a:t> is differentiable on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𝑔</m:t>
                    </m:r>
                  </m:oMath>
                </a14:m>
                <a:r>
                  <a:rPr sz="2400" b="0">
                    <a:solidFill>
                      <a:srgbClr val="111827"/>
                    </a:solidFill>
                    <a:latin typeface="Arial"/>
                  </a:rPr>
                  <a:t> are twice differentiable), so Rolle's theorem applies on each of the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gaps between consecutive zeros.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sSup>
                      <m:e>
                        <m:r>
                          <a:rPr lang="en-IN" sz="2400" i="1">
                            <a:solidFill>
                              <a:srgbClr val="111827"/>
                            </a:solidFill>
                            <a:latin typeface="Cambria Math" panose="02040503050406030204" pitchFamily="18" charset="0"/>
                          </a:rPr>
                          <m:t>ℎ</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has at least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solutions in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minimum number of solutions is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$h$</a:t>
                </a:r>
                <a:r>
                  <a:rPr sz="2400" b="0">
                    <a:solidFill>
                      <a:srgbClr val="111827"/>
                    </a:solidFill>
                    <a:latin typeface="Arial"/>
                  </a:rPr>
                  <a:t> has at least </a:t>
                </a:r>
                <a:r>
                  <a:rPr lang="en-IN" sz="2400">
                    <a:solidFill>
                      <a:srgbClr val="111827"/>
                    </a:solidFill>
                    <a:latin typeface="Cambria Math" panose="02040503050406030204" pitchFamily="18" charset="0"/>
                  </a:rPr>
                  <a:t>$5$</a:t>
                </a:r>
                <a:r>
                  <a:rPr sz="2400" b="0">
                    <a:solidFill>
                      <a:srgbClr val="111827"/>
                    </a:solidFill>
                    <a:latin typeface="Arial"/>
                  </a:rPr>
                  <a:t> distinct zeros: </a:t>
                </a:r>
                <a:r>
                  <a:rPr lang="en-IN" sz="2400">
                    <a:solidFill>
                      <a:srgbClr val="111827"/>
                    </a:solidFill>
                    <a:latin typeface="Cambria Math" panose="02040503050406030204" pitchFamily="18" charset="0"/>
                  </a:rPr>
                  <a:t>$-\frac{1}{2},-\frac{1}{4},0,\frac{1}{4},\frac{1}{2}$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$h$</a:t>
                </a:r>
                <a:r>
                  <a:rPr sz="2400" b="0">
                    <a:solidFill>
                      <a:srgbClr val="111827"/>
                    </a:solidFill>
                    <a:latin typeface="Arial"/>
                  </a:rPr>
                  <a:t> is differentiable on </a:t>
                </a:r>
                <a:r>
                  <a:rPr lang="en-IN" sz="2400">
                    <a:solidFill>
                      <a:srgbClr val="111827"/>
                    </a:solidFill>
                    <a:latin typeface="Cambria Math" panose="02040503050406030204" pitchFamily="18" charset="0"/>
                  </a:rPr>
                  <a:t>$(-2,2)$</a:t>
                </a:r>
                <a:r>
                  <a:rPr sz="2400" b="0">
                    <a:solidFill>
                      <a:srgbClr val="111827"/>
                    </a:solidFill>
                    <a:latin typeface="Arial"/>
                  </a:rPr>
                  <a:t> (</a:t>
                </a:r>
                <a:r>
                  <a:rPr lang="en-IN" sz="2400">
                    <a:solidFill>
                      <a:srgbClr val="111827"/>
                    </a:solidFill>
                    <a:latin typeface="Cambria Math" panose="02040503050406030204" pitchFamily="18" charset="0"/>
                  </a:rPr>
                  <a:t>$f$</a:t>
                </a:r>
                <a:r>
                  <a:rPr sz="2400" b="0">
                    <a:solidFill>
                      <a:srgbClr val="111827"/>
                    </a:solidFill>
                    <a:latin typeface="Arial"/>
                  </a:rPr>
                  <a:t> and </a:t>
                </a:r>
                <a:r>
                  <a:rPr lang="en-IN" sz="2400">
                    <a:solidFill>
                      <a:srgbClr val="111827"/>
                    </a:solidFill>
                    <a:latin typeface="Cambria Math" panose="02040503050406030204" pitchFamily="18" charset="0"/>
                  </a:rPr>
                  <a:t>$g$</a:t>
                </a:r>
                <a:r>
                  <a:rPr sz="2400" b="0">
                    <a:solidFill>
                      <a:srgbClr val="111827"/>
                    </a:solidFill>
                    <a:latin typeface="Arial"/>
                  </a:rPr>
                  <a:t> are twice differentiable), so Rolle's theorem applies on each of the </a:t>
                </a:r>
                <a:r>
                  <a:rPr lang="en-IN" sz="2400">
                    <a:solidFill>
                      <a:srgbClr val="111827"/>
                    </a:solidFill>
                    <a:latin typeface="Cambria Math" panose="02040503050406030204" pitchFamily="18" charset="0"/>
                  </a:rPr>
                  <a:t>$4$</a:t>
                </a:r>
                <a:r>
                  <a:rPr sz="2400" b="0">
                    <a:solidFill>
                      <a:srgbClr val="111827"/>
                    </a:solidFill>
                    <a:latin typeface="Arial"/>
                  </a:rPr>
                  <a:t> gaps between consecutive zeros.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$h'(x)=0$</a:t>
                </a:r>
                <a:r>
                  <a:rPr sz="2400" b="0">
                    <a:solidFill>
                      <a:srgbClr val="111827"/>
                    </a:solidFill>
                    <a:latin typeface="Arial"/>
                  </a:rPr>
                  <a:t> has at least </a:t>
                </a:r>
                <a:r>
                  <a:rPr lang="en-IN" sz="2400">
                    <a:solidFill>
                      <a:srgbClr val="111827"/>
                    </a:solidFill>
                    <a:latin typeface="Cambria Math" panose="02040503050406030204" pitchFamily="18" charset="0"/>
                  </a:rPr>
                  <a:t>$4$</a:t>
                </a:r>
                <a:r>
                  <a:rPr sz="2400" b="0">
                    <a:solidFill>
                      <a:srgbClr val="111827"/>
                    </a:solidFill>
                    <a:latin typeface="Arial"/>
                  </a:rPr>
                  <a:t> solutions in </a:t>
                </a:r>
                <a:r>
                  <a:rPr lang="en-IN" sz="2400">
                    <a:solidFill>
                      <a:srgbClr val="111827"/>
                    </a:solidFill>
                    <a:latin typeface="Cambria Math" panose="02040503050406030204" pitchFamily="18" charset="0"/>
                  </a:rPr>
                  <a:t>$(-2,2)$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minimum number of solutions is </a:t>
                </a:r>
                <a:r>
                  <a:rPr lang="en-IN" sz="2400">
                    <a:solidFill>
                      <a:srgbClr val="111827"/>
                    </a:solidFill>
                    <a:latin typeface="Cambria Math" panose="02040503050406030204" pitchFamily="18" charset="0"/>
                  </a:rPr>
                  <a:t>$4$</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4</a:t>
            </a:r>
            <a:endParaRPr sz="2800">
              <a:solidFill>
                <a:srgbClr val="15803D"/>
              </a:solidFill>
            </a:endParaRP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Product-rule recognition: </a:t>
                </a:r>
                <a14:m>
                  <m:oMath xmlns:m="http://schemas.openxmlformats.org/officeDocument/2006/math">
                    <m:r>
                      <a:rPr lang="en-IN" sz="2400" i="1">
                        <a:solidFill>
                          <a:srgbClr val="111827"/>
                        </a:solidFill>
                        <a:latin typeface="Cambria Math" panose="02040503050406030204" pitchFamily="18" charset="0"/>
                      </a:rPr>
                      <m:t>𝑓</m:t>
                    </m:r>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sSup>
                      <m:e>
                        <m:r>
                          <m:rPr>
                            <m:sty m:val="p"/>
                          </m:rPr>
                          <a:rPr lang="en-IN" sz="2400">
                            <a:solidFill>
                              <a:srgbClr val="111827"/>
                            </a:solidFill>
                            <a:latin typeface="Cambria Math" panose="02040503050406030204" pitchFamily="18" charset="0"/>
                          </a:rPr>
                          <m:t>)</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a:rPr lang="en-IN" sz="2400" i="1">
                        <a:solidFill>
                          <a:srgbClr val="111827"/>
                        </a:solidFill>
                        <a:latin typeface="Cambria Math" panose="02040503050406030204" pitchFamily="18" charset="0"/>
                      </a:rPr>
                      <m:t>𝑔</m:t>
                    </m:r>
                    <m:sSup>
                      <m:e>
                        <m:r>
                          <m:rPr>
                            <m:sty m:val="p"/>
                          </m:rPr>
                          <a:rPr lang="en-IN" sz="2400">
                            <a:solidFill>
                              <a:srgbClr val="111827"/>
                            </a:solidFill>
                            <a:latin typeface="Cambria Math" panose="02040503050406030204" pitchFamily="18" charset="0"/>
                          </a:rPr>
                          <m:t>)</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an equation of this shape is often a derivative of a simpler function, so use Rolle.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Rolle count: if </a:t>
                </a:r>
                <a14:m>
                  <m:oMath xmlns:m="http://schemas.openxmlformats.org/officeDocument/2006/math">
                    <m:r>
                      <a:rPr lang="en-IN" sz="2400" i="1">
                        <a:solidFill>
                          <a:srgbClr val="111827"/>
                        </a:solidFill>
                        <a:latin typeface="Cambria Math" panose="02040503050406030204" pitchFamily="18" charset="0"/>
                      </a:rPr>
                      <m:t>ℎ</m:t>
                    </m:r>
                  </m:oMath>
                </a14:m>
                <a:r>
                  <a:rPr sz="2400" b="0">
                    <a:solidFill>
                      <a:srgbClr val="111827"/>
                    </a:solidFill>
                    <a:latin typeface="Arial"/>
                  </a:rPr>
                  <a:t> has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distinct zeros and is differentiable, </a:t>
                </a:r>
                <a14:m>
                  <m:oMath xmlns:m="http://schemas.openxmlformats.org/officeDocument/2006/math">
                    <m:sSup>
                      <m:e>
                        <m:r>
                          <a:rPr lang="en-IN" sz="2400" i="1">
                            <a:solidFill>
                              <a:srgbClr val="111827"/>
                            </a:solidFill>
                            <a:latin typeface="Cambria Math" panose="02040503050406030204" pitchFamily="18" charset="0"/>
                          </a:rPr>
                          <m:t>ℎ</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has at least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zeros.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is even then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is odd (and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when it exists); if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is odd then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is even;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even and zero at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also gives a zero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Evenness doubles the information: each given zero at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yields zeros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oMath>
                </a14:m>
                <a:r>
                  <a:rPr sz="2400" b="0">
                    <a:solidFill>
                      <a:srgbClr val="111827"/>
                    </a:solidFill>
                    <a:latin typeface="Arial"/>
                  </a:rPr>
                  <a:t>, and an odd derivative gives a free zero at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Product-rule recognition: </a:t>
                </a:r>
                <a:r>
                  <a:rPr lang="en-IN" sz="2400">
                    <a:solidFill>
                      <a:srgbClr val="111827"/>
                    </a:solidFill>
                    <a:latin typeface="Cambria Math" panose="02040503050406030204" pitchFamily="18" charset="0"/>
                  </a:rPr>
                  <a:t>$fg''+f'g'=(fg')'$</a:t>
                </a:r>
                <a:r>
                  <a:rPr sz="2400" b="0">
                    <a:solidFill>
                      <a:srgbClr val="111827"/>
                    </a:solidFill>
                    <a:latin typeface="Arial"/>
                  </a:rPr>
                  <a:t> and </a:t>
                </a:r>
                <a:r>
                  <a:rPr lang="en-IN" sz="2400">
                    <a:solidFill>
                      <a:srgbClr val="111827"/>
                    </a:solidFill>
                    <a:latin typeface="Cambria Math" panose="02040503050406030204" pitchFamily="18" charset="0"/>
                  </a:rPr>
                  <a:t>$f'g+fg'=(fg)'$</a:t>
                </a:r>
                <a:r>
                  <a:rPr sz="2400" b="0">
                    <a:solidFill>
                      <a:srgbClr val="111827"/>
                    </a:solidFill>
                    <a:latin typeface="Arial"/>
                  </a:rPr>
                  <a:t>; an equation of this shape is often a derivative of a simpler function, so use Rolle.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Rolle count: if </a:t>
                </a:r>
                <a:r>
                  <a:rPr lang="en-IN" sz="2400">
                    <a:solidFill>
                      <a:srgbClr val="111827"/>
                    </a:solidFill>
                    <a:latin typeface="Cambria Math" panose="02040503050406030204" pitchFamily="18" charset="0"/>
                  </a:rPr>
                  <a:t>$h$</a:t>
                </a:r>
                <a:r>
                  <a:rPr sz="2400" b="0">
                    <a:solidFill>
                      <a:srgbClr val="111827"/>
                    </a:solidFill>
                    <a:latin typeface="Arial"/>
                  </a:rPr>
                  <a:t> has </a:t>
                </a:r>
                <a:r>
                  <a:rPr lang="en-IN" sz="2400">
                    <a:solidFill>
                      <a:srgbClr val="111827"/>
                    </a:solidFill>
                    <a:latin typeface="Cambria Math" panose="02040503050406030204" pitchFamily="18" charset="0"/>
                  </a:rPr>
                  <a:t>$n$</a:t>
                </a:r>
                <a:r>
                  <a:rPr sz="2400" b="0">
                    <a:solidFill>
                      <a:srgbClr val="111827"/>
                    </a:solidFill>
                    <a:latin typeface="Arial"/>
                  </a:rPr>
                  <a:t> distinct zeros and is differentiable, </a:t>
                </a:r>
                <a:r>
                  <a:rPr lang="en-IN" sz="2400">
                    <a:solidFill>
                      <a:srgbClr val="111827"/>
                    </a:solidFill>
                    <a:latin typeface="Cambria Math" panose="02040503050406030204" pitchFamily="18" charset="0"/>
                  </a:rPr>
                  <a:t>$h'$</a:t>
                </a:r>
                <a:r>
                  <a:rPr sz="2400" b="0">
                    <a:solidFill>
                      <a:srgbClr val="111827"/>
                    </a:solidFill>
                    <a:latin typeface="Arial"/>
                  </a:rPr>
                  <a:t> has at least </a:t>
                </a:r>
                <a:r>
                  <a:rPr lang="en-IN" sz="2400">
                    <a:solidFill>
                      <a:srgbClr val="111827"/>
                    </a:solidFill>
                    <a:latin typeface="Cambria Math" panose="02040503050406030204" pitchFamily="18" charset="0"/>
                  </a:rPr>
                  <a:t>$n-1$</a:t>
                </a:r>
                <a:r>
                  <a:rPr sz="2400" b="0">
                    <a:solidFill>
                      <a:srgbClr val="111827"/>
                    </a:solidFill>
                    <a:latin typeface="Arial"/>
                  </a:rPr>
                  <a:t> zeros.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$f$</a:t>
                </a:r>
                <a:r>
                  <a:rPr sz="2400" b="0">
                    <a:solidFill>
                      <a:srgbClr val="111827"/>
                    </a:solidFill>
                    <a:latin typeface="Arial"/>
                  </a:rPr>
                  <a:t> is even then </a:t>
                </a:r>
                <a:r>
                  <a:rPr lang="en-IN" sz="2400">
                    <a:solidFill>
                      <a:srgbClr val="111827"/>
                    </a:solidFill>
                    <a:latin typeface="Cambria Math" panose="02040503050406030204" pitchFamily="18" charset="0"/>
                  </a:rPr>
                  <a:t>$f'$</a:t>
                </a:r>
                <a:r>
                  <a:rPr sz="2400" b="0">
                    <a:solidFill>
                      <a:srgbClr val="111827"/>
                    </a:solidFill>
                    <a:latin typeface="Arial"/>
                  </a:rPr>
                  <a:t> is odd (and </a:t>
                </a:r>
                <a:r>
                  <a:rPr lang="en-IN" sz="2400">
                    <a:solidFill>
                      <a:srgbClr val="111827"/>
                    </a:solidFill>
                    <a:latin typeface="Cambria Math" panose="02040503050406030204" pitchFamily="18" charset="0"/>
                  </a:rPr>
                  <a:t>$f'(0)=0$</a:t>
                </a:r>
                <a:r>
                  <a:rPr sz="2400" b="0">
                    <a:solidFill>
                      <a:srgbClr val="111827"/>
                    </a:solidFill>
                    <a:latin typeface="Arial"/>
                  </a:rPr>
                  <a:t> when it exists); if </a:t>
                </a:r>
                <a:r>
                  <a:rPr lang="en-IN" sz="2400">
                    <a:solidFill>
                      <a:srgbClr val="111827"/>
                    </a:solidFill>
                    <a:latin typeface="Cambria Math" panose="02040503050406030204" pitchFamily="18" charset="0"/>
                  </a:rPr>
                  <a:t>$f$</a:t>
                </a:r>
                <a:r>
                  <a:rPr sz="2400" b="0">
                    <a:solidFill>
                      <a:srgbClr val="111827"/>
                    </a:solidFill>
                    <a:latin typeface="Arial"/>
                  </a:rPr>
                  <a:t> is odd then </a:t>
                </a:r>
                <a:r>
                  <a:rPr lang="en-IN" sz="2400">
                    <a:solidFill>
                      <a:srgbClr val="111827"/>
                    </a:solidFill>
                    <a:latin typeface="Cambria Math" panose="02040503050406030204" pitchFamily="18" charset="0"/>
                  </a:rPr>
                  <a:t>$f'$</a:t>
                </a:r>
                <a:r>
                  <a:rPr sz="2400" b="0">
                    <a:solidFill>
                      <a:srgbClr val="111827"/>
                    </a:solidFill>
                    <a:latin typeface="Arial"/>
                  </a:rPr>
                  <a:t> is even; </a:t>
                </a:r>
                <a:r>
                  <a:rPr lang="en-IN" sz="2400">
                    <a:solidFill>
                      <a:srgbClr val="111827"/>
                    </a:solidFill>
                    <a:latin typeface="Cambria Math" panose="02040503050406030204" pitchFamily="18" charset="0"/>
                  </a:rPr>
                  <a:t>$f$</a:t>
                </a:r>
                <a:r>
                  <a:rPr sz="2400" b="0">
                    <a:solidFill>
                      <a:srgbClr val="111827"/>
                    </a:solidFill>
                    <a:latin typeface="Arial"/>
                  </a:rPr>
                  <a:t> even and zero at </a:t>
                </a:r>
                <a:r>
                  <a:rPr lang="en-IN" sz="2400">
                    <a:solidFill>
                      <a:srgbClr val="111827"/>
                    </a:solidFill>
                    <a:latin typeface="Cambria Math" panose="02040503050406030204" pitchFamily="18" charset="0"/>
                  </a:rPr>
                  <a:t>$a$</a:t>
                </a:r>
                <a:r>
                  <a:rPr sz="2400" b="0">
                    <a:solidFill>
                      <a:srgbClr val="111827"/>
                    </a:solidFill>
                    <a:latin typeface="Arial"/>
                  </a:rPr>
                  <a:t> also gives a zero at </a:t>
                </a:r>
                <a:r>
                  <a:rPr lang="en-IN" sz="2400">
                    <a:solidFill>
                      <a:srgbClr val="111827"/>
                    </a:solidFill>
                    <a:latin typeface="Cambria Math" panose="02040503050406030204" pitchFamily="18" charset="0"/>
                  </a:rPr>
                  <a:t>$-a$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Evenness doubles the information: each given zero at </a:t>
                </a:r>
                <a:r>
                  <a:rPr lang="en-IN" sz="2400">
                    <a:solidFill>
                      <a:srgbClr val="111827"/>
                    </a:solidFill>
                    <a:latin typeface="Cambria Math" panose="02040503050406030204" pitchFamily="18" charset="0"/>
                  </a:rPr>
                  <a:t>$a\ne0$</a:t>
                </a:r>
                <a:r>
                  <a:rPr sz="2400" b="0">
                    <a:solidFill>
                      <a:srgbClr val="111827"/>
                    </a:solidFill>
                    <a:latin typeface="Arial"/>
                  </a:rPr>
                  <a:t> yields zeros at </a:t>
                </a:r>
                <a:r>
                  <a:rPr lang="en-IN" sz="2400">
                    <a:solidFill>
                      <a:srgbClr val="111827"/>
                    </a:solidFill>
                    <a:latin typeface="Cambria Math" panose="02040503050406030204" pitchFamily="18" charset="0"/>
                  </a:rPr>
                  <a:t>$\pm a$</a:t>
                </a:r>
                <a:r>
                  <a:rPr sz="2400" b="0">
                    <a:solidFill>
                      <a:srgbClr val="111827"/>
                    </a:solidFill>
                    <a:latin typeface="Arial"/>
                  </a:rPr>
                  <a:t>, and an odd derivative gives a free zero at </a:t>
                </a:r>
                <a:r>
                  <a:rPr lang="en-IN" sz="2400">
                    <a:solidFill>
                      <a:srgbClr val="111827"/>
                    </a:solidFill>
                    <a:latin typeface="Cambria Math" panose="02040503050406030204" pitchFamily="18" charset="0"/>
                  </a:rPr>
                  <a:t>$0$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444747"/>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sum of the absolute maximum and absolute minimum values of the function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oMath>
                </a14:m>
                <a:r>
                  <a:rPr sz="2400" b="0">
                    <a:solidFill>
                      <a:srgbClr val="111827"/>
                    </a:solidFill>
                    <a:latin typeface="Arial"/>
                  </a:rPr>
                  <a:t> in the interval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sin</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cos</m:t>
                            </m:r>
                          </m:e>
                          <m:sup>
                            <m:r>
                              <a:rPr lang="en-IN" sz="2400" i="1">
                                <a:solidFill>
                                  <a:srgbClr val="111827"/>
                                </a:solidFill>
                                <a:latin typeface="Cambria Math" panose="02040503050406030204" pitchFamily="18" charset="0"/>
                              </a:rPr>
                              <m:t>2</m:t>
                            </m:r>
                          </m:sup>
                        </m:sSup>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e>
                        </m:d>
                      </m:num>
                      <m:den>
                        <m:r>
                          <a:rPr lang="en-IN" sz="2400" i="1">
                            <a:solidFill>
                              <a:srgbClr val="111827"/>
                            </a:solidFill>
                            <a:latin typeface="Cambria Math" panose="02040503050406030204" pitchFamily="18" charset="0"/>
                          </a:rPr>
                          <m:t>2</m:t>
                        </m:r>
                      </m:den>
                    </m:f>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(B)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cos</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(C) </a:t>
                </a:r>
                <a14:m>
                  <m:oMath xmlns:m="http://schemas.openxmlformats.org/officeDocument/2006/math">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(D)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cos</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e>
                    </m:d>
                  </m:oMath>
                </a14:m>
                <a:endParaRPr sz="2400">
                  <a:solidFill>
                    <a:srgbClr val="111827"/>
                  </a:solidFill>
                </a:endParaRPr>
              </a:p>
            </p:txBody>
          </p:sp>
        </mc:Choice>
        <mc:Fallback>
          <p:sp>
            <p:nvSpPr>
              <p:cNvPr id="4" name="Rounded Rectangle 3"/>
              <p:cNvSpPr/>
              <p:nvPr/>
            </p:nvSpPr>
            <p:spPr>
              <a:xfrm>
                <a:off x="731520" y="1280160"/>
                <a:ext cx="10725912" cy="3444747"/>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sum of the absolute maximum and absolute minimum values of the function </a:t>
                </a:r>
                <a:r>
                  <a:rPr lang="en-IN" sz="2400">
                    <a:solidFill>
                      <a:srgbClr val="111827"/>
                    </a:solidFill>
                    <a:latin typeface="Cambria Math" panose="02040503050406030204" pitchFamily="18" charset="0"/>
                  </a:rPr>
                  <a:t>$f(x)=|2x^2+3x-2|+\sin x\cos x$</a:t>
                </a:r>
                <a:r>
                  <a:rPr sz="2400" b="0">
                    <a:solidFill>
                      <a:srgbClr val="111827"/>
                    </a:solidFill>
                    <a:latin typeface="Arial"/>
                  </a:rPr>
                  <a:t> in the interval </a:t>
                </a:r>
                <a:r>
                  <a:rPr lang="en-IN" sz="2400">
                    <a:solidFill>
                      <a:srgbClr val="111827"/>
                    </a:solidFill>
                    <a:latin typeface="Cambria Math" panose="02040503050406030204" pitchFamily="18" charset="0"/>
                  </a:rPr>
                  <a:t>$[0,1]$</a:t>
                </a:r>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$3+\frac{\sin(1)\cos^2\left(\frac{1}{2}\right)}{2}$</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a:t>
                </a:r>
                <a:r>
                  <a:rPr lang="en-IN" sz="2400">
                    <a:solidFill>
                      <a:srgbClr val="111827"/>
                    </a:solidFill>
                    <a:latin typeface="Cambria Math" panose="02040503050406030204" pitchFamily="18" charset="0"/>
                  </a:rPr>
                  <a:t>$3+\frac{1}{2}(1+2\cos(1))\sin(1)$</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a:t>
                </a:r>
                <a:r>
                  <a:rPr lang="en-IN" sz="2400">
                    <a:solidFill>
                      <a:srgbClr val="111827"/>
                    </a:solidFill>
                    <a:latin typeface="Cambria Math" panose="02040503050406030204" pitchFamily="18" charset="0"/>
                  </a:rPr>
                  <a:t>$5+\frac{1}{2}(\sin(1)+\sin(2))$</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a:t>
                </a:r>
                <a:r>
                  <a:rPr lang="en-IN" sz="2400">
                    <a:solidFill>
                      <a:srgbClr val="111827"/>
                    </a:solidFill>
                    <a:latin typeface="Cambria Math" panose="02040503050406030204" pitchFamily="18" charset="0"/>
                  </a:rPr>
                  <a:t>$2+\sin\left(\frac{1}{2}\right)\cos\left(\frac{1}{2}\right)$</a:t>
                </a:r>
                <a:endParaRPr sz="2400">
                  <a:solidFill>
                    <a:srgbClr val="111827"/>
                  </a:solidFill>
                </a:endParaRPr>
              </a:p>
            </p:txBody>
          </p:sp>
        </mc:Fallback>
      </mc:AlternateContent>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ectangle 3"/>
          <p:cNvSpPr/>
          <p:nvPr/>
        </p:nvSpPr>
        <p:spPr>
          <a:xfrm>
            <a:off x="731520" y="128016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Absolute maximum and minimum values of a function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3438144"/>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r>
                      <a:rPr lang="en-IN" sz="2400" i="1">
                        <a:solidFill>
                          <a:srgbClr val="78350F"/>
                        </a:solidFill>
                        <a:latin typeface="Cambria Math" panose="02040503050406030204" pitchFamily="18" charset="0"/>
                      </a:rPr>
                      <m:t>2</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changes sign at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2</m:t>
                        </m:r>
                      </m:den>
                    </m:f>
                  </m:oMath>
                </a14:m>
                <a:r>
                  <a:rPr sz="2400" b="0">
                    <a:solidFill>
                      <a:srgbClr val="78350F"/>
                    </a:solidFill>
                    <a:latin typeface="Arial"/>
                  </a:rPr>
                  <a:t>; split there, show </a:t>
                </a:r>
                <a14:m>
                  <m:oMath xmlns:m="http://schemas.openxmlformats.org/officeDocument/2006/math">
                    <m:r>
                      <a:rPr lang="en-IN" sz="2400" i="1">
                        <a:solidFill>
                          <a:srgbClr val="78350F"/>
                        </a:solidFill>
                        <a:latin typeface="Cambria Math" panose="02040503050406030204" pitchFamily="18" charset="0"/>
                      </a:rPr>
                      <m:t>𝑓</m:t>
                    </m:r>
                  </m:oMath>
                </a14:m>
                <a:r>
                  <a:rPr sz="2400" b="0">
                    <a:solidFill>
                      <a:srgbClr val="78350F"/>
                    </a:solidFill>
                    <a:latin typeface="Arial"/>
                  </a:rPr>
                  <a:t> decreases then increases, compare endpoints.</a:t>
                </a:r>
                <a:endParaRPr sz="2400">
                  <a:solidFill>
                    <a:srgbClr val="78350F"/>
                  </a:solidFill>
                </a:endParaRPr>
              </a:p>
            </p:txBody>
          </p:sp>
        </mc:Choice>
        <mc:Fallback>
          <p:sp>
            <p:nvSpPr>
              <p:cNvPr id="5" name="Rounded Rectangle 4"/>
              <p:cNvSpPr/>
              <p:nvPr/>
            </p:nvSpPr>
            <p:spPr>
              <a:xfrm>
                <a:off x="731520" y="3438144"/>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$2x^2+3x-2=(2x-1)(x+2)$</a:t>
                </a:r>
                <a:r>
                  <a:rPr sz="2400" b="0">
                    <a:solidFill>
                      <a:srgbClr val="78350F"/>
                    </a:solidFill>
                    <a:latin typeface="Arial"/>
                  </a:rPr>
                  <a:t> changes sign at </a:t>
                </a:r>
                <a:r>
                  <a:rPr lang="en-IN" sz="2400">
                    <a:solidFill>
                      <a:srgbClr val="78350F"/>
                    </a:solidFill>
                    <a:latin typeface="Cambria Math" panose="02040503050406030204" pitchFamily="18" charset="0"/>
                  </a:rPr>
                  <a:t>$x=\frac{1}{2}$</a:t>
                </a:r>
                <a:r>
                  <a:rPr sz="2400" b="0">
                    <a:solidFill>
                      <a:srgbClr val="78350F"/>
                    </a:solidFill>
                    <a:latin typeface="Arial"/>
                  </a:rPr>
                  <a:t>; split there, show </a:t>
                </a:r>
                <a:r>
                  <a:rPr lang="en-IN" sz="2400">
                    <a:solidFill>
                      <a:srgbClr val="78350F"/>
                    </a:solidFill>
                    <a:latin typeface="Cambria Math" panose="02040503050406030204" pitchFamily="18" charset="0"/>
                  </a:rPr>
                  <a:t>$f$</a:t>
                </a:r>
                <a:r>
                  <a:rPr sz="2400" b="0">
                    <a:solidFill>
                      <a:srgbClr val="78350F"/>
                    </a:solidFill>
                    <a:latin typeface="Arial"/>
                  </a:rPr>
                  <a:t> decreases then increases, compare endpoints.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4794504"/>
                <a:ext cx="10725912" cy="1880615"/>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which is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&lt;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Also </a:t>
                </a:r>
                <a14:m>
                  <m:oMath xmlns:m="http://schemas.openxmlformats.org/officeDocument/2006/math">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4794504"/>
                <a:ext cx="10725912" cy="1880615"/>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$2x^2+3x-2=(2x-1)(x+2)$</a:t>
                </a:r>
                <a:r>
                  <a:rPr sz="2400" b="0">
                    <a:solidFill>
                      <a:srgbClr val="111827"/>
                    </a:solidFill>
                    <a:latin typeface="Arial"/>
                  </a:rPr>
                  <a:t>, which is </a:t>
                </a:r>
                <a:r>
                  <a:rPr lang="en-IN" sz="2400">
                    <a:solidFill>
                      <a:srgbClr val="111827"/>
                    </a:solidFill>
                    <a:latin typeface="Cambria Math" panose="02040503050406030204" pitchFamily="18" charset="0"/>
                  </a:rPr>
                  <a:t>$\ge0$</a:t>
                </a:r>
                <a:r>
                  <a:rPr sz="2400" b="0">
                    <a:solidFill>
                      <a:srgbClr val="111827"/>
                    </a:solidFill>
                    <a:latin typeface="Arial"/>
                  </a:rPr>
                  <a:t> for </a:t>
                </a:r>
                <a:r>
                  <a:rPr lang="en-IN" sz="2400">
                    <a:solidFill>
                      <a:srgbClr val="111827"/>
                    </a:solidFill>
                    <a:latin typeface="Cambria Math" panose="02040503050406030204" pitchFamily="18" charset="0"/>
                  </a:rPr>
                  <a:t>$x\ge\frac{1}{2}$</a:t>
                </a:r>
                <a:r>
                  <a:rPr sz="2400" b="0">
                    <a:solidFill>
                      <a:srgbClr val="111827"/>
                    </a:solidFill>
                    <a:latin typeface="Arial"/>
                  </a:rPr>
                  <a:t> and </a:t>
                </a:r>
                <a:r>
                  <a:rPr lang="en-IN" sz="2400">
                    <a:solidFill>
                      <a:srgbClr val="111827"/>
                    </a:solidFill>
                    <a:latin typeface="Cambria Math" panose="02040503050406030204" pitchFamily="18" charset="0"/>
                  </a:rPr>
                  <a:t>$&lt;0$</a:t>
                </a:r>
                <a:r>
                  <a:rPr sz="2400" b="0">
                    <a:solidFill>
                      <a:srgbClr val="111827"/>
                    </a:solidFill>
                    <a:latin typeface="Arial"/>
                  </a:rPr>
                  <a:t> for </a:t>
                </a:r>
                <a:r>
                  <a:rPr lang="en-IN" sz="2400">
                    <a:solidFill>
                      <a:srgbClr val="111827"/>
                    </a:solidFill>
                    <a:latin typeface="Cambria Math" panose="02040503050406030204" pitchFamily="18" charset="0"/>
                  </a:rPr>
                  <a:t>$0\le x&lt;\frac{1}{2}$</a:t>
                </a:r>
                <a:r>
                  <a:rPr sz="2400" b="0">
                    <a:solidFill>
                      <a:srgbClr val="111827"/>
                    </a:solidFill>
                    <a:latin typeface="Arial"/>
                  </a:rPr>
                  <a:t>. Also </a:t>
                </a:r>
                <a:r>
                  <a:rPr lang="en-IN" sz="2400">
                    <a:solidFill>
                      <a:srgbClr val="111827"/>
                    </a:solidFill>
                    <a:latin typeface="Cambria Math" panose="02040503050406030204" pitchFamily="18" charset="0"/>
                  </a:rPr>
                  <a:t>$\sin x\cos x=\frac{\sin2x}{2}$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for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&lt;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oMath>
                </a14:m>
                <a:r>
                  <a:rPr sz="2400" b="0">
                    <a:solidFill>
                      <a:srgbClr val="111827"/>
                    </a:solidFill>
                    <a:latin typeface="Arial"/>
                  </a:rPr>
                  <a:t> for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&lt;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&lt;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is decreasing on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is increasing on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Absolute minimum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$f(x)=2x^2+3x-2+\frac{\sin2x}{2}$</a:t>
                </a:r>
                <a:r>
                  <a:rPr sz="2400" b="0">
                    <a:solidFill>
                      <a:srgbClr val="111827"/>
                    </a:solidFill>
                    <a:latin typeface="Arial"/>
                  </a:rPr>
                  <a:t> for </a:t>
                </a:r>
                <a:r>
                  <a:rPr lang="en-IN" sz="2400">
                    <a:solidFill>
                      <a:srgbClr val="111827"/>
                    </a:solidFill>
                    <a:latin typeface="Cambria Math" panose="02040503050406030204" pitchFamily="18" charset="0"/>
                  </a:rPr>
                  <a:t>$\frac{1}{2}\le x\le1$</a:t>
                </a:r>
                <a:r>
                  <a:rPr sz="2400" b="0">
                    <a:solidFill>
                      <a:srgbClr val="111827"/>
                    </a:solidFill>
                    <a:latin typeface="Arial"/>
                  </a:rPr>
                  <a:t>, and </a:t>
                </a:r>
                <a:r>
                  <a:rPr lang="en-IN" sz="2400">
                    <a:solidFill>
                      <a:srgbClr val="111827"/>
                    </a:solidFill>
                    <a:latin typeface="Cambria Math" panose="02040503050406030204" pitchFamily="18" charset="0"/>
                  </a:rPr>
                  <a:t>$f(x)=-(2x^2+3x-2)+\frac{\sin2x}{2}$</a:t>
                </a:r>
                <a:r>
                  <a:rPr sz="2400" b="0">
                    <a:solidFill>
                      <a:srgbClr val="111827"/>
                    </a:solidFill>
                    <a:latin typeface="Arial"/>
                  </a:rPr>
                  <a:t> for </a:t>
                </a:r>
                <a:r>
                  <a:rPr lang="en-IN" sz="2400">
                    <a:solidFill>
                      <a:srgbClr val="111827"/>
                    </a:solidFill>
                    <a:latin typeface="Cambria Math" panose="02040503050406030204" pitchFamily="18" charset="0"/>
                  </a:rPr>
                  <a:t>$0\le x&lt;\frac{1}{2}$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$f'(x)=4x+3+\cos2x$</a:t>
                </a:r>
                <a:r>
                  <a:rPr sz="2400" b="0">
                    <a:solidFill>
                      <a:srgbClr val="111827"/>
                    </a:solidFill>
                    <a:latin typeface="Arial"/>
                  </a:rPr>
                  <a:t> for </a:t>
                </a:r>
                <a:r>
                  <a:rPr lang="en-IN" sz="2400">
                    <a:solidFill>
                      <a:srgbClr val="111827"/>
                    </a:solidFill>
                    <a:latin typeface="Cambria Math" panose="02040503050406030204" pitchFamily="18" charset="0"/>
                  </a:rPr>
                  <a:t>$\frac{1}{2}&lt;x\le1$</a:t>
                </a:r>
                <a:r>
                  <a:rPr sz="2400" b="0">
                    <a:solidFill>
                      <a:srgbClr val="111827"/>
                    </a:solidFill>
                    <a:latin typeface="Arial"/>
                  </a:rPr>
                  <a:t>, and </a:t>
                </a:r>
                <a:r>
                  <a:rPr lang="en-IN" sz="2400">
                    <a:solidFill>
                      <a:srgbClr val="111827"/>
                    </a:solidFill>
                    <a:latin typeface="Cambria Math" panose="02040503050406030204" pitchFamily="18" charset="0"/>
                  </a:rPr>
                  <a:t>$f'(x)=-4x-3+\cos2x$</a:t>
                </a:r>
                <a:r>
                  <a:rPr sz="2400" b="0">
                    <a:solidFill>
                      <a:srgbClr val="111827"/>
                    </a:solidFill>
                    <a:latin typeface="Arial"/>
                  </a:rPr>
                  <a:t> for </a:t>
                </a:r>
                <a:r>
                  <a:rPr lang="en-IN" sz="2400">
                    <a:solidFill>
                      <a:srgbClr val="111827"/>
                    </a:solidFill>
                    <a:latin typeface="Cambria Math" panose="02040503050406030204" pitchFamily="18" charset="0"/>
                  </a:rPr>
                  <a:t>$0\le x&lt;\frac{1}{2}$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$0\le x&lt;\frac{1}{2}$</a:t>
                </a:r>
                <a:r>
                  <a:rPr sz="2400" b="0">
                    <a:solidFill>
                      <a:srgbClr val="111827"/>
                    </a:solidFill>
                    <a:latin typeface="Arial"/>
                  </a:rPr>
                  <a:t>: </a:t>
                </a:r>
                <a:r>
                  <a:rPr lang="en-IN" sz="2400">
                    <a:solidFill>
                      <a:srgbClr val="111827"/>
                    </a:solidFill>
                    <a:latin typeface="Cambria Math" panose="02040503050406030204" pitchFamily="18" charset="0"/>
                  </a:rPr>
                  <a:t>$-4x-3+\cos2x\le-3+1&lt;0$</a:t>
                </a:r>
                <a:r>
                  <a:rPr sz="2400" b="0">
                    <a:solidFill>
                      <a:srgbClr val="111827"/>
                    </a:solidFill>
                    <a:latin typeface="Arial"/>
                  </a:rPr>
                  <a:t>, so </a:t>
                </a:r>
                <a:r>
                  <a:rPr lang="en-IN" sz="2400">
                    <a:solidFill>
                      <a:srgbClr val="111827"/>
                    </a:solidFill>
                    <a:latin typeface="Cambria Math" panose="02040503050406030204" pitchFamily="18" charset="0"/>
                  </a:rPr>
                  <a:t>$f$</a:t>
                </a:r>
                <a:r>
                  <a:rPr sz="2400" b="0">
                    <a:solidFill>
                      <a:srgbClr val="111827"/>
                    </a:solidFill>
                    <a:latin typeface="Arial"/>
                  </a:rPr>
                  <a:t> is decreasing on </a:t>
                </a:r>
                <a:r>
                  <a:rPr lang="en-IN" sz="2400">
                    <a:solidFill>
                      <a:srgbClr val="111827"/>
                    </a:solidFill>
                    <a:latin typeface="Cambria Math" panose="02040503050406030204" pitchFamily="18" charset="0"/>
                  </a:rPr>
                  <a:t>$\left[0,\frac{1}{2}\right)$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$\frac{1}{2}&lt;x\le1$</a:t>
                </a:r>
                <a:r>
                  <a:rPr sz="2400" b="0">
                    <a:solidFill>
                      <a:srgbClr val="111827"/>
                    </a:solidFill>
                    <a:latin typeface="Arial"/>
                  </a:rPr>
                  <a:t>: </a:t>
                </a:r>
                <a:r>
                  <a:rPr lang="en-IN" sz="2400">
                    <a:solidFill>
                      <a:srgbClr val="111827"/>
                    </a:solidFill>
                    <a:latin typeface="Cambria Math" panose="02040503050406030204" pitchFamily="18" charset="0"/>
                  </a:rPr>
                  <a:t>$4x+3+\cos2x\ge5-1&gt;0$</a:t>
                </a:r>
                <a:r>
                  <a:rPr sz="2400" b="0">
                    <a:solidFill>
                      <a:srgbClr val="111827"/>
                    </a:solidFill>
                    <a:latin typeface="Arial"/>
                  </a:rPr>
                  <a:t>, so </a:t>
                </a:r>
                <a:r>
                  <a:rPr lang="en-IN" sz="2400">
                    <a:solidFill>
                      <a:srgbClr val="111827"/>
                    </a:solidFill>
                    <a:latin typeface="Cambria Math" panose="02040503050406030204" pitchFamily="18" charset="0"/>
                  </a:rPr>
                  <a:t>$f$</a:t>
                </a:r>
                <a:r>
                  <a:rPr sz="2400" b="0">
                    <a:solidFill>
                      <a:srgbClr val="111827"/>
                    </a:solidFill>
                    <a:latin typeface="Arial"/>
                  </a:rPr>
                  <a:t> is increasing on </a:t>
                </a:r>
                <a:r>
                  <a:rPr lang="en-IN" sz="2400">
                    <a:solidFill>
                      <a:srgbClr val="111827"/>
                    </a:solidFill>
                    <a:latin typeface="Cambria Math" panose="02040503050406030204" pitchFamily="18" charset="0"/>
                  </a:rPr>
                  <a:t>$\left(\frac{1}{2},1\right]$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Absolute minimum </a:t>
                </a:r>
                <a:r>
                  <a:rPr lang="en-IN" sz="2400">
                    <a:solidFill>
                      <a:srgbClr val="111827"/>
                    </a:solidFill>
                    <a:latin typeface="Cambria Math" panose="02040503050406030204" pitchFamily="18" charset="0"/>
                  </a:rPr>
                  <a:t>$=f\left(\frac{1}{2}\right)=0+\frac{\sin1}{2}=\frac{\sin1}{2}$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3.45</m:t>
                    </m:r>
                  </m:oMath>
                </a14:m>
                <a:r>
                  <a:rPr sz="2400" b="0">
                    <a:solidFill>
                      <a:srgbClr val="111827"/>
                    </a:solidFill>
                    <a:latin typeface="Arial"/>
                  </a:rPr>
                  <a:t>, so the absolute maximum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1</m:t>
                    </m:r>
                  </m:oMath>
                </a14:m>
                <a:r>
                  <a:rPr sz="2400" b="0">
                    <a:solidFill>
                      <a:srgbClr val="111827"/>
                    </a:solidFill>
                    <a:latin typeface="Arial"/>
                  </a:rPr>
                  <a:t>, option (B).</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$f(0)=2$</a:t>
                </a:r>
                <a:r>
                  <a:rPr sz="2400" b="0">
                    <a:solidFill>
                      <a:srgbClr val="111827"/>
                    </a:solidFill>
                    <a:latin typeface="Arial"/>
                  </a:rPr>
                  <a:t> and </a:t>
                </a:r>
                <a:r>
                  <a:rPr lang="en-IN" sz="2400">
                    <a:solidFill>
                      <a:srgbClr val="111827"/>
                    </a:solidFill>
                    <a:latin typeface="Cambria Math" panose="02040503050406030204" pitchFamily="18" charset="0"/>
                  </a:rPr>
                  <a:t>$f(1)=3+\sin1\cos1\approx3.45$</a:t>
                </a:r>
                <a:r>
                  <a:rPr sz="2400" b="0">
                    <a:solidFill>
                      <a:srgbClr val="111827"/>
                    </a:solidFill>
                    <a:latin typeface="Arial"/>
                  </a:rPr>
                  <a:t>, so the absolute maximum </a:t>
                </a:r>
                <a:r>
                  <a:rPr lang="en-IN" sz="2400">
                    <a:solidFill>
                      <a:srgbClr val="111827"/>
                    </a:solidFill>
                    <a:latin typeface="Cambria Math" panose="02040503050406030204" pitchFamily="18" charset="0"/>
                  </a:rPr>
                  <a:t>$=f(1)=3+\sin1\cos1$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a:t>
                </a:r>
                <a:r>
                  <a:rPr lang="en-IN" sz="2400">
                    <a:solidFill>
                      <a:srgbClr val="111827"/>
                    </a:solidFill>
                    <a:latin typeface="Cambria Math" panose="02040503050406030204" pitchFamily="18" charset="0"/>
                  </a:rPr>
                  <a:t>$=3+\sin1\cos1+\frac{\sin1}{2}=3+\frac{1}{2}(1+2\cos1)\sin1$</a:t>
                </a:r>
                <a:r>
                  <a:rPr sz="2400" b="0">
                    <a:solidFill>
                      <a:srgbClr val="111827"/>
                    </a:solidFill>
                    <a:latin typeface="Arial"/>
                  </a:rPr>
                  <a:t>, option (B).</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14:m>
                  <m:oMath xmlns:m="http://schemas.openxmlformats.org/officeDocument/2006/math">
                    <m:r>
                      <a:rPr lang="en-IN" sz="2800" i="1">
                        <a:solidFill>
                          <a:srgbClr val="15803D"/>
                        </a:solidFill>
                        <a:latin typeface="Cambria Math" panose="02040503050406030204" pitchFamily="18" charset="0"/>
                      </a:rPr>
                      <m:t>3</m:t>
                    </m:r>
                    <m:r>
                      <m:rPr>
                        <m:sty m:val="p"/>
                      </m:rPr>
                      <a:rPr lang="en-IN" sz="2800">
                        <a:solidFill>
                          <a:srgbClr val="15803D"/>
                        </a:solidFill>
                        <a:latin typeface="Cambria Math" panose="02040503050406030204" pitchFamily="18" charset="0"/>
                      </a:rPr>
                      <m:t>+</m:t>
                    </m:r>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1</m:t>
                        </m:r>
                      </m:num>
                      <m:den>
                        <m:r>
                          <a:rPr lang="en-IN" sz="2800" i="1">
                            <a:solidFill>
                              <a:srgbClr val="15803D"/>
                            </a:solidFill>
                            <a:latin typeface="Cambria Math" panose="02040503050406030204" pitchFamily="18" charset="0"/>
                          </a:rPr>
                          <m:t>2</m:t>
                        </m:r>
                      </m:den>
                    </m:f>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1</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2</m:t>
                    </m:r>
                    <m:r>
                      <m:rPr>
                        <m:sty m:val="p"/>
                      </m:rPr>
                      <a:rPr lang="en-IN" sz="2800">
                        <a:solidFill>
                          <a:srgbClr val="15803D"/>
                        </a:solidFill>
                        <a:latin typeface="Cambria Math" panose="02040503050406030204" pitchFamily="18" charset="0"/>
                      </a:rPr>
                      <m:t>cos</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1</m:t>
                    </m:r>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sin</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1</m:t>
                    </m:r>
                    <m:r>
                      <m:rPr>
                        <m:sty m:val="p"/>
                      </m:rPr>
                      <a:rPr lang="en-IN" sz="2800">
                        <a:solidFill>
                          <a:srgbClr val="15803D"/>
                        </a:solidFill>
                        <a:latin typeface="Cambria Math" panose="02040503050406030204" pitchFamily="18" charset="0"/>
                      </a:rPr>
                      <m:t>)</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r>
                  <a:rPr lang="en-IN" sz="2800">
                    <a:solidFill>
                      <a:srgbClr val="15803D"/>
                    </a:solidFill>
                    <a:latin typeface="Cambria Math" panose="02040503050406030204" pitchFamily="18" charset="0"/>
                  </a:rPr>
                  <a:t>$3+\frac{1}{2}(1+2\cos(1))\sin(1)$</a:t>
                </a:r>
                <a:endParaRPr sz="2800">
                  <a:solidFill>
                    <a:srgbClr val="15803D"/>
                  </a:solidFill>
                </a:endParaRPr>
              </a:p>
            </p:txBody>
          </p:sp>
        </mc:Fallback>
      </mc:AlternateContent>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 continuous function 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absolute extrema occur at endpoints or critical points (including points where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does not exist, such as the zeros of a modulus).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Split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the roots of </a:t>
                </a:r>
                <a14:m>
                  <m:oMath xmlns:m="http://schemas.openxmlformats.org/officeDocument/2006/math">
                    <m:r>
                      <a:rPr lang="en-IN" sz="2400" i="1">
                        <a:solidFill>
                          <a:srgbClr val="111827"/>
                        </a:solidFill>
                        <a:latin typeface="Cambria Math" panose="02040503050406030204" pitchFamily="18" charset="0"/>
                      </a:rPr>
                      <m:t>𝑝</m:t>
                    </m:r>
                  </m:oMath>
                </a14:m>
                <a:r>
                  <a:rPr sz="2400" b="0">
                    <a:solidFill>
                      <a:srgbClr val="111827"/>
                    </a:solidFill>
                    <a:latin typeface="Arial"/>
                  </a:rPr>
                  <a:t>; the kink where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is a local minimum of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when </a:t>
                </a:r>
                <a14:m>
                  <m:oMath xmlns:m="http://schemas.openxmlformats.org/officeDocument/2006/math">
                    <m:r>
                      <a:rPr lang="en-IN" sz="2400" i="1">
                        <a:solidFill>
                          <a:srgbClr val="111827"/>
                        </a:solidFill>
                        <a:latin typeface="Cambria Math" panose="02040503050406030204" pitchFamily="18" charset="0"/>
                      </a:rPr>
                      <m:t>𝑝</m:t>
                    </m:r>
                  </m:oMath>
                </a14:m>
                <a:r>
                  <a:rPr sz="2400" b="0">
                    <a:solidFill>
                      <a:srgbClr val="111827"/>
                    </a:solidFill>
                    <a:latin typeface="Arial"/>
                  </a:rPr>
                  <a:t> changes sign.</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oMath>
                </a14:m>
                <a:r>
                  <a:rPr sz="2400" b="0">
                    <a:solidFill>
                      <a:srgbClr val="111827"/>
                    </a:solidFill>
                    <a:latin typeface="Arial"/>
                  </a:rPr>
                  <a:t>, so its derivative is </a:t>
                </a: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compare with a larger polynomial slope to settle the sign of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Here the minimum is at the kink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and the maximum at the endpoint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 continuous function on </a:t>
                </a:r>
                <a:r>
                  <a:rPr lang="en-IN" sz="2400">
                    <a:solidFill>
                      <a:srgbClr val="111827"/>
                    </a:solidFill>
                    <a:latin typeface="Cambria Math" panose="02040503050406030204" pitchFamily="18" charset="0"/>
                  </a:rPr>
                  <a:t>$[a,b]$</a:t>
                </a:r>
                <a:r>
                  <a:rPr sz="2400" b="0">
                    <a:solidFill>
                      <a:srgbClr val="111827"/>
                    </a:solidFill>
                    <a:latin typeface="Arial"/>
                  </a:rPr>
                  <a:t>, absolute extrema occur at endpoints or critical points (including points where </a:t>
                </a:r>
                <a:r>
                  <a:rPr lang="en-IN" sz="2400">
                    <a:solidFill>
                      <a:srgbClr val="111827"/>
                    </a:solidFill>
                    <a:latin typeface="Cambria Math" panose="02040503050406030204" pitchFamily="18" charset="0"/>
                  </a:rPr>
                  <a:t>$f'$</a:t>
                </a:r>
                <a:r>
                  <a:rPr sz="2400" b="0">
                    <a:solidFill>
                      <a:srgbClr val="111827"/>
                    </a:solidFill>
                    <a:latin typeface="Arial"/>
                  </a:rPr>
                  <a:t> does not exist, such as the zeros of a modulus).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Split </a:t>
                </a:r>
                <a:r>
                  <a:rPr lang="en-IN" sz="2400">
                    <a:solidFill>
                      <a:srgbClr val="111827"/>
                    </a:solidFill>
                    <a:latin typeface="Cambria Math" panose="02040503050406030204" pitchFamily="18" charset="0"/>
                  </a:rPr>
                  <a:t>$|p(x)|$</a:t>
                </a:r>
                <a:r>
                  <a:rPr sz="2400" b="0">
                    <a:solidFill>
                      <a:srgbClr val="111827"/>
                    </a:solidFill>
                    <a:latin typeface="Arial"/>
                  </a:rPr>
                  <a:t> at the roots of </a:t>
                </a:r>
                <a:r>
                  <a:rPr lang="en-IN" sz="2400">
                    <a:solidFill>
                      <a:srgbClr val="111827"/>
                    </a:solidFill>
                    <a:latin typeface="Cambria Math" panose="02040503050406030204" pitchFamily="18" charset="0"/>
                  </a:rPr>
                  <a:t>$p$</a:t>
                </a:r>
                <a:r>
                  <a:rPr sz="2400" b="0">
                    <a:solidFill>
                      <a:srgbClr val="111827"/>
                    </a:solidFill>
                    <a:latin typeface="Arial"/>
                  </a:rPr>
                  <a:t>; the kink where </a:t>
                </a:r>
                <a:r>
                  <a:rPr lang="en-IN" sz="2400">
                    <a:solidFill>
                      <a:srgbClr val="111827"/>
                    </a:solidFill>
                    <a:latin typeface="Cambria Math" panose="02040503050406030204" pitchFamily="18" charset="0"/>
                  </a:rPr>
                  <a:t>$p=0$</a:t>
                </a:r>
                <a:r>
                  <a:rPr sz="2400" b="0">
                    <a:solidFill>
                      <a:srgbClr val="111827"/>
                    </a:solidFill>
                    <a:latin typeface="Arial"/>
                  </a:rPr>
                  <a:t> is a local minimum of </a:t>
                </a:r>
                <a:r>
                  <a:rPr lang="en-IN" sz="2400">
                    <a:solidFill>
                      <a:srgbClr val="111827"/>
                    </a:solidFill>
                    <a:latin typeface="Cambria Math" panose="02040503050406030204" pitchFamily="18" charset="0"/>
                  </a:rPr>
                  <a:t>$|p|$</a:t>
                </a:r>
                <a:r>
                  <a:rPr sz="2400" b="0">
                    <a:solidFill>
                      <a:srgbClr val="111827"/>
                    </a:solidFill>
                    <a:latin typeface="Arial"/>
                  </a:rPr>
                  <a:t> when </a:t>
                </a:r>
                <a:r>
                  <a:rPr lang="en-IN" sz="2400">
                    <a:solidFill>
                      <a:srgbClr val="111827"/>
                    </a:solidFill>
                    <a:latin typeface="Cambria Math" panose="02040503050406030204" pitchFamily="18" charset="0"/>
                  </a:rPr>
                  <a:t>$p$</a:t>
                </a:r>
                <a:r>
                  <a:rPr sz="2400" b="0">
                    <a:solidFill>
                      <a:srgbClr val="111827"/>
                    </a:solidFill>
                    <a:latin typeface="Arial"/>
                  </a:rPr>
                  <a:t> changes sign.</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$\sin x\cos x=\frac{1}{2}\sin2x$</a:t>
                </a:r>
                <a:r>
                  <a:rPr sz="2400" b="0">
                    <a:solidFill>
                      <a:srgbClr val="111827"/>
                    </a:solidFill>
                    <a:latin typeface="Arial"/>
                  </a:rPr>
                  <a:t>, so its derivative is </a:t>
                </a:r>
                <a:r>
                  <a:rPr lang="en-IN" sz="2400">
                    <a:solidFill>
                      <a:srgbClr val="111827"/>
                    </a:solidFill>
                    <a:latin typeface="Cambria Math" panose="02040503050406030204" pitchFamily="18" charset="0"/>
                  </a:rPr>
                  <a:t>$\cos2x\in[-1,1]$</a:t>
                </a:r>
                <a:r>
                  <a:rPr sz="2400" b="0">
                    <a:solidFill>
                      <a:srgbClr val="111827"/>
                    </a:solidFill>
                    <a:latin typeface="Arial"/>
                  </a:rPr>
                  <a:t>; compare with a larger polynomial slope to settle the sign of </a:t>
                </a:r>
                <a:r>
                  <a:rPr lang="en-IN" sz="2400">
                    <a:solidFill>
                      <a:srgbClr val="111827"/>
                    </a:solidFill>
                    <a:latin typeface="Cambria Math" panose="02040503050406030204" pitchFamily="18" charset="0"/>
                  </a:rPr>
                  <a:t>$f'$</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Here the minimum is at the kink </a:t>
                </a:r>
                <a:r>
                  <a:rPr lang="en-IN" sz="2400">
                    <a:solidFill>
                      <a:srgbClr val="111827"/>
                    </a:solidFill>
                    <a:latin typeface="Cambria Math" panose="02040503050406030204" pitchFamily="18" charset="0"/>
                  </a:rPr>
                  <a:t>$x=\frac{1}{2}$</a:t>
                </a:r>
                <a:r>
                  <a:rPr sz="2400" b="0">
                    <a:solidFill>
                      <a:srgbClr val="111827"/>
                    </a:solidFill>
                    <a:latin typeface="Arial"/>
                  </a:rPr>
                  <a:t> and the maximum at the endpoint </a:t>
                </a:r>
                <a:r>
                  <a:rPr lang="en-IN" sz="2400">
                    <a:solidFill>
                      <a:srgbClr val="111827"/>
                    </a:solidFill>
                    <a:latin typeface="Cambria Math" panose="02040503050406030204" pitchFamily="18" charset="0"/>
                  </a:rPr>
                  <a:t>$x=1$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14452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the maximum area of the triangle that can be inscribed in the ellipse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num>
                      <m:den>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2</m:t>
                    </m:r>
                  </m:oMath>
                </a14:m>
                <a:r>
                  <a:rPr sz="2400" b="0">
                    <a:solidFill>
                      <a:srgbClr val="111827"/>
                    </a:solidFill>
                    <a:latin typeface="Arial"/>
                  </a:rPr>
                  <a:t>, having one of its vertices at one end of the major axis of the ellipse and one of its sides parallel to the </a:t>
                </a:r>
                <a14:m>
                  <m:oMath xmlns:m="http://schemas.openxmlformats.org/officeDocument/2006/math">
                    <m:r>
                      <a:rPr lang="en-IN" sz="2400" i="1">
                        <a:solidFill>
                          <a:srgbClr val="111827"/>
                        </a:solidFill>
                        <a:latin typeface="Cambria Math" panose="02040503050406030204" pitchFamily="18" charset="0"/>
                      </a:rPr>
                      <m:t>𝑦</m:t>
                    </m:r>
                  </m:oMath>
                </a14:m>
                <a:r>
                  <a:rPr sz="2400" b="0">
                    <a:solidFill>
                      <a:srgbClr val="111827"/>
                    </a:solidFill>
                    <a:latin typeface="Arial"/>
                  </a:rPr>
                  <a:t>-axis, be </a:t>
                </a:r>
                <a14:m>
                  <m:oMath xmlns:m="http://schemas.openxmlformats.org/officeDocument/2006/math">
                    <m:r>
                      <a:rPr lang="en-IN" sz="2400" i="1">
                        <a:solidFill>
                          <a:srgbClr val="111827"/>
                        </a:solidFill>
                        <a:latin typeface="Cambria Math" panose="02040503050406030204" pitchFamily="18" charset="0"/>
                      </a:rPr>
                      <m:t>6</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 Then the eccentricity of the ellipse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2</m:t>
                        </m:r>
                      </m:den>
                    </m:f>
                  </m:oMath>
                </a14:m>
                <a:r>
                  <a:rPr sz="2400" b="0">
                    <a:solidFill>
                      <a:srgbClr val="111827"/>
                    </a:solidFill>
                    <a:latin typeface="Arial"/>
                  </a:rPr>
                  <a:t>   (B)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(C)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den>
                    </m:f>
                  </m:oMath>
                </a14:m>
                <a:r>
                  <a:rPr sz="2400" b="0">
                    <a:solidFill>
                      <a:srgbClr val="111827"/>
                    </a:solidFill>
                    <a:latin typeface="Arial"/>
                  </a:rPr>
                  <a:t>   (D) </a:t>
                </a:r>
                <a14:m>
                  <m:oMath xmlns:m="http://schemas.openxmlformats.org/officeDocument/2006/math">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4</m:t>
                        </m:r>
                      </m:den>
                    </m:f>
                  </m:oMath>
                </a14:m>
                <a:endParaRPr sz="2400">
                  <a:solidFill>
                    <a:srgbClr val="111827"/>
                  </a:solidFill>
                </a:endParaRPr>
              </a:p>
            </p:txBody>
          </p:sp>
        </mc:Choice>
        <mc:Fallback>
          <p:sp>
            <p:nvSpPr>
              <p:cNvPr id="4" name="Rounded Rectangle 3"/>
              <p:cNvSpPr/>
              <p:nvPr/>
            </p:nvSpPr>
            <p:spPr>
              <a:xfrm>
                <a:off x="731520" y="1280160"/>
                <a:ext cx="10725912" cy="314452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the maximum area of the triangle that can be inscribed in the ellipse </a:t>
                </a:r>
                <a:r>
                  <a:rPr lang="en-IN" sz="2400">
                    <a:solidFill>
                      <a:srgbClr val="111827"/>
                    </a:solidFill>
                    <a:latin typeface="Cambria Math" panose="02040503050406030204" pitchFamily="18" charset="0"/>
                  </a:rPr>
                  <a:t>$\frac{x^2}{a^2}+\frac{y^2}{4}=1$</a:t>
                </a:r>
                <a:r>
                  <a:rPr sz="2400" b="0">
                    <a:solidFill>
                      <a:srgbClr val="111827"/>
                    </a:solidFill>
                    <a:latin typeface="Arial"/>
                  </a:rPr>
                  <a:t>, </a:t>
                </a:r>
                <a:r>
                  <a:rPr lang="en-IN" sz="2400">
                    <a:solidFill>
                      <a:srgbClr val="111827"/>
                    </a:solidFill>
                    <a:latin typeface="Cambria Math" panose="02040503050406030204" pitchFamily="18" charset="0"/>
                  </a:rPr>
                  <a:t>$a&gt;2$</a:t>
                </a:r>
                <a:r>
                  <a:rPr sz="2400" b="0">
                    <a:solidFill>
                      <a:srgbClr val="111827"/>
                    </a:solidFill>
                    <a:latin typeface="Arial"/>
                  </a:rPr>
                  <a:t>, having one of its vertices at one end of the major axis of the ellipse and one of its sides parallel to the </a:t>
                </a:r>
                <a:r>
                  <a:rPr lang="en-IN" sz="2400">
                    <a:solidFill>
                      <a:srgbClr val="111827"/>
                    </a:solidFill>
                    <a:latin typeface="Cambria Math" panose="02040503050406030204" pitchFamily="18" charset="0"/>
                  </a:rPr>
                  <a:t>$y$</a:t>
                </a:r>
                <a:r>
                  <a:rPr sz="2400" b="0">
                    <a:solidFill>
                      <a:srgbClr val="111827"/>
                    </a:solidFill>
                    <a:latin typeface="Arial"/>
                  </a:rPr>
                  <a:t>-axis, be </a:t>
                </a:r>
                <a:r>
                  <a:rPr lang="en-IN" sz="2400">
                    <a:solidFill>
                      <a:srgbClr val="111827"/>
                    </a:solidFill>
                    <a:latin typeface="Cambria Math" panose="02040503050406030204" pitchFamily="18" charset="0"/>
                  </a:rPr>
                  <a:t>$6\sqrt{3}$</a:t>
                </a:r>
                <a:r>
                  <a:rPr sz="2400" b="0">
                    <a:solidFill>
                      <a:srgbClr val="111827"/>
                    </a:solidFill>
                    <a:latin typeface="Arial"/>
                  </a:rPr>
                  <a:t>. Then the eccentricity of the ellipse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$\frac{\sqrt{3}}{2}$</a:t>
                </a:r>
                <a:r>
                  <a:rPr sz="2400" b="0">
                    <a:solidFill>
                      <a:srgbClr val="111827"/>
                    </a:solidFill>
                    <a:latin typeface="Arial"/>
                  </a:rPr>
                  <a:t>   (B) </a:t>
                </a:r>
                <a:r>
                  <a:rPr lang="en-IN" sz="2400">
                    <a:solidFill>
                      <a:srgbClr val="111827"/>
                    </a:solidFill>
                    <a:latin typeface="Cambria Math" panose="02040503050406030204" pitchFamily="18" charset="0"/>
                  </a:rPr>
                  <a:t>$\frac{1}{2}$</a:t>
                </a:r>
                <a:r>
                  <a:rPr sz="2400" b="0">
                    <a:solidFill>
                      <a:srgbClr val="111827"/>
                    </a:solidFill>
                    <a:latin typeface="Arial"/>
                  </a:rPr>
                  <a:t>   (C) </a:t>
                </a:r>
                <a:r>
                  <a:rPr lang="en-IN" sz="2400">
                    <a:solidFill>
                      <a:srgbClr val="111827"/>
                    </a:solidFill>
                    <a:latin typeface="Cambria Math" panose="02040503050406030204" pitchFamily="18" charset="0"/>
                  </a:rPr>
                  <a:t>$\frac{1}{\sqrt{2}}$</a:t>
                </a:r>
                <a:r>
                  <a:rPr sz="2400" b="0">
                    <a:solidFill>
                      <a:srgbClr val="111827"/>
                    </a:solidFill>
                    <a:latin typeface="Arial"/>
                  </a:rPr>
                  <a:t>   (D) </a:t>
                </a:r>
                <a:r>
                  <a:rPr lang="en-IN" sz="2400">
                    <a:solidFill>
                      <a:srgbClr val="111827"/>
                    </a:solidFill>
                    <a:latin typeface="Cambria Math" panose="02040503050406030204" pitchFamily="18" charset="0"/>
                  </a:rPr>
                  <a:t>$\frac{\sqrt{3}}{4}$</a:t>
                </a:r>
                <a:endParaRPr sz="2400">
                  <a:solidFill>
                    <a:srgbClr val="111827"/>
                  </a:solidFill>
                </a:endParaRPr>
              </a:p>
            </p:txBody>
          </p:sp>
        </mc:Fallback>
      </mc:AlternateContent>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ectangle 3"/>
          <p:cNvSpPr/>
          <p:nvPr/>
        </p:nvSpPr>
        <p:spPr>
          <a:xfrm>
            <a:off x="731520" y="1280160"/>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Maximum area of a triangle inscribed in an ellipse, Eccentricity of an ellipse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365760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A side parallel to the </a:t>
                </a:r>
                <a14:m>
                  <m:oMath xmlns:m="http://schemas.openxmlformats.org/officeDocument/2006/math">
                    <m:r>
                      <a:rPr lang="en-IN" sz="2400" i="1">
                        <a:solidFill>
                          <a:srgbClr val="78350F"/>
                        </a:solidFill>
                        <a:latin typeface="Cambria Math" panose="02040503050406030204" pitchFamily="18" charset="0"/>
                      </a:rPr>
                      <m:t>𝑦</m:t>
                    </m:r>
                  </m:oMath>
                </a14:m>
                <a:r>
                  <a:rPr sz="2400" b="0">
                    <a:solidFill>
                      <a:srgbClr val="78350F"/>
                    </a:solidFill>
                    <a:latin typeface="Arial"/>
                  </a:rPr>
                  <a:t>-axis is the chord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cos</m:t>
                    </m:r>
                    <m:r>
                      <a:rPr lang="en-IN" sz="2400" i="1">
                        <a:solidFill>
                          <a:srgbClr val="78350F"/>
                        </a:solidFill>
                        <a:latin typeface="Cambria Math" panose="02040503050406030204" pitchFamily="18" charset="0"/>
                      </a:rPr>
                      <m:t>α</m:t>
                    </m:r>
                  </m:oMath>
                </a14:m>
                <a:r>
                  <a:rPr sz="2400" b="0">
                    <a:solidFill>
                      <a:srgbClr val="78350F"/>
                    </a:solidFill>
                    <a:latin typeface="Arial"/>
                  </a:rPr>
                  <a:t> with ends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cos</m:t>
                    </m:r>
                    <m:r>
                      <a:rPr lang="en-IN" sz="2400" i="1">
                        <a:solidFill>
                          <a:srgbClr val="78350F"/>
                        </a:solidFill>
                        <a:latin typeface="Cambria Math" panose="02040503050406030204" pitchFamily="18" charset="0"/>
                      </a:rPr>
                      <m:t>α</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sin</m:t>
                    </m:r>
                    <m:r>
                      <a:rPr lang="en-IN" sz="2400" i="1">
                        <a:solidFill>
                          <a:srgbClr val="78350F"/>
                        </a:solidFill>
                        <a:latin typeface="Cambria Math" panose="02040503050406030204" pitchFamily="18" charset="0"/>
                      </a:rPr>
                      <m:t>α</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maximise the area </a:t>
                </a:r>
                <a14:m>
                  <m:oMath xmlns:m="http://schemas.openxmlformats.org/officeDocument/2006/math">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sin</m:t>
                    </m:r>
                    <m:r>
                      <a:rPr lang="en-IN" sz="2400" i="1">
                        <a:solidFill>
                          <a:srgbClr val="78350F"/>
                        </a:solidFill>
                        <a:latin typeface="Cambria Math" panose="02040503050406030204" pitchFamily="18" charset="0"/>
                      </a:rPr>
                      <m:t>α</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cos</m:t>
                    </m:r>
                    <m:r>
                      <a:rPr lang="en-IN" sz="2400" i="1">
                        <a:solidFill>
                          <a:srgbClr val="78350F"/>
                        </a:solidFill>
                        <a:latin typeface="Cambria Math" panose="02040503050406030204" pitchFamily="18" charset="0"/>
                      </a:rPr>
                      <m:t>α</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365760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A side parallel to the </a:t>
                </a:r>
                <a:r>
                  <a:rPr lang="en-IN" sz="2400">
                    <a:solidFill>
                      <a:srgbClr val="78350F"/>
                    </a:solidFill>
                    <a:latin typeface="Cambria Math" panose="02040503050406030204" pitchFamily="18" charset="0"/>
                  </a:rPr>
                  <a:t>$y$</a:t>
                </a:r>
                <a:r>
                  <a:rPr sz="2400" b="0">
                    <a:solidFill>
                      <a:srgbClr val="78350F"/>
                    </a:solidFill>
                    <a:latin typeface="Arial"/>
                  </a:rPr>
                  <a:t>-axis is the chord </a:t>
                </a:r>
                <a:r>
                  <a:rPr lang="en-IN" sz="2400">
                    <a:solidFill>
                      <a:srgbClr val="78350F"/>
                    </a:solidFill>
                    <a:latin typeface="Cambria Math" panose="02040503050406030204" pitchFamily="18" charset="0"/>
                  </a:rPr>
                  <a:t>$x=a\cos\alpha$</a:t>
                </a:r>
                <a:r>
                  <a:rPr sz="2400" b="0">
                    <a:solidFill>
                      <a:srgbClr val="78350F"/>
                    </a:solidFill>
                    <a:latin typeface="Arial"/>
                  </a:rPr>
                  <a:t> with ends </a:t>
                </a:r>
                <a:r>
                  <a:rPr lang="en-IN" sz="2400">
                    <a:solidFill>
                      <a:srgbClr val="78350F"/>
                    </a:solidFill>
                    <a:latin typeface="Cambria Math" panose="02040503050406030204" pitchFamily="18" charset="0"/>
                  </a:rPr>
                  <a:t>$(a\cos\alpha,\pm2\sin\alpha)$</a:t>
                </a:r>
                <a:r>
                  <a:rPr sz="2400" b="0">
                    <a:solidFill>
                      <a:srgbClr val="78350F"/>
                    </a:solidFill>
                    <a:latin typeface="Arial"/>
                  </a:rPr>
                  <a:t>; maximise the area </a:t>
                </a:r>
                <a:r>
                  <a:rPr lang="en-IN" sz="2400">
                    <a:solidFill>
                      <a:srgbClr val="78350F"/>
                    </a:solidFill>
                    <a:latin typeface="Cambria Math" panose="02040503050406030204" pitchFamily="18" charset="0"/>
                  </a:rPr>
                  <a:t>$\propto\sin\alpha(1-\cos\alpha)$</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4904232"/>
                <a:ext cx="10725912" cy="1770887"/>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vertex is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side parallel to the </a:t>
                </a:r>
                <a14:m>
                  <m:oMath xmlns:m="http://schemas.openxmlformats.org/officeDocument/2006/math">
                    <m:r>
                      <a:rPr lang="en-IN" sz="2400" i="1">
                        <a:solidFill>
                          <a:srgbClr val="111827"/>
                        </a:solidFill>
                        <a:latin typeface="Cambria Math" panose="02040503050406030204" pitchFamily="18" charset="0"/>
                      </a:rPr>
                      <m:t>𝑦</m:t>
                    </m:r>
                  </m:oMath>
                </a14:m>
                <a:r>
                  <a:rPr sz="2400" b="0">
                    <a:solidFill>
                      <a:srgbClr val="111827"/>
                    </a:solidFill>
                    <a:latin typeface="Arial"/>
                  </a:rPr>
                  <a:t>-axis has ends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4904232"/>
                <a:ext cx="10725912" cy="1770887"/>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vertex is </a:t>
                </a:r>
                <a:r>
                  <a:rPr lang="en-IN" sz="2400">
                    <a:solidFill>
                      <a:srgbClr val="111827"/>
                    </a:solidFill>
                    <a:latin typeface="Cambria Math" panose="02040503050406030204" pitchFamily="18" charset="0"/>
                  </a:rPr>
                  <a:t>$(a,0)$</a:t>
                </a:r>
                <a:r>
                  <a:rPr sz="2400" b="0">
                    <a:solidFill>
                      <a:srgbClr val="111827"/>
                    </a:solidFill>
                    <a:latin typeface="Arial"/>
                  </a:rPr>
                  <a:t>; the side parallel to the </a:t>
                </a:r>
                <a:r>
                  <a:rPr lang="en-IN" sz="2400">
                    <a:solidFill>
                      <a:srgbClr val="111827"/>
                    </a:solidFill>
                    <a:latin typeface="Cambria Math" panose="02040503050406030204" pitchFamily="18" charset="0"/>
                  </a:rPr>
                  <a:t>$y$</a:t>
                </a:r>
                <a:r>
                  <a:rPr sz="2400" b="0">
                    <a:solidFill>
                      <a:srgbClr val="111827"/>
                    </a:solidFill>
                    <a:latin typeface="Arial"/>
                  </a:rPr>
                  <a:t>-axis has ends </a:t>
                </a:r>
                <a:r>
                  <a:rPr lang="en-IN" sz="2400">
                    <a:solidFill>
                      <a:srgbClr val="111827"/>
                    </a:solidFill>
                    <a:latin typeface="Cambria Math" panose="02040503050406030204" pitchFamily="18" charset="0"/>
                  </a:rPr>
                  <a:t>$(a\cos\alpha,\,2\sin\alpha)$</a:t>
                </a:r>
                <a:r>
                  <a:rPr sz="2400" b="0">
                    <a:solidFill>
                      <a:srgbClr val="111827"/>
                    </a:solidFill>
                    <a:latin typeface="Arial"/>
                  </a:rPr>
                  <a:t> and </a:t>
                </a:r>
                <a:r>
                  <a:rPr lang="en-IN" sz="2400">
                    <a:solidFill>
                      <a:srgbClr val="111827"/>
                    </a:solidFill>
                    <a:latin typeface="Cambria Math" panose="02040503050406030204" pitchFamily="18" charset="0"/>
                  </a:rPr>
                  <a:t>$(a\cos\alpha,\,-2\sin\alpha)$</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Base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α</m:t>
                    </m:r>
                  </m:oMath>
                </a14:m>
                <a:r>
                  <a:rPr sz="2400" b="0">
                    <a:solidFill>
                      <a:srgbClr val="111827"/>
                    </a:solidFill>
                    <a:latin typeface="Arial"/>
                  </a:rPr>
                  <a:t> and height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α</m:t>
                    </m:r>
                  </m:oMath>
                </a14:m>
                <a:r>
                  <a:rPr sz="2400" b="0">
                    <a:solidFill>
                      <a:srgbClr val="111827"/>
                    </a:solidFill>
                    <a:latin typeface="Arial"/>
                  </a:rPr>
                  <a:t>, so area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ϕ</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Then </a:t>
                </a:r>
                <a14:m>
                  <m:oMath xmlns:m="http://schemas.openxmlformats.org/officeDocument/2006/math">
                    <m:sSup>
                      <m:e>
                        <m:r>
                          <a:rPr lang="en-IN" sz="2400" i="1">
                            <a:solidFill>
                              <a:srgbClr val="111827"/>
                            </a:solidFill>
                            <a:latin typeface="Cambria Math" panose="02040503050406030204" pitchFamily="18" charset="0"/>
                          </a:rPr>
                          <m:t>ϕ</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sin</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ϕ</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only at </a:t>
                </a: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ϕ</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before it and </a:t>
                </a:r>
                <a14:m>
                  <m:oMath xmlns:m="http://schemas.openxmlformats.org/officeDocument/2006/math">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after it.</a:t>
                </a:r>
                <a:endParaRPr sz="2400">
                  <a:solidFill>
                    <a:srgbClr val="111827"/>
                  </a:solidFill>
                </a:endParaRPr>
              </a:p>
            </p:txBody>
          </p:sp>
        </mc:Choice>
        <mc:Fallback>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Base </a:t>
                </a:r>
                <a:r>
                  <a:rPr lang="en-IN" sz="2400">
                    <a:solidFill>
                      <a:srgbClr val="111827"/>
                    </a:solidFill>
                    <a:latin typeface="Cambria Math" panose="02040503050406030204" pitchFamily="18" charset="0"/>
                  </a:rPr>
                  <a:t>$=4\sin\alpha$</a:t>
                </a:r>
                <a:r>
                  <a:rPr sz="2400" b="0">
                    <a:solidFill>
                      <a:srgbClr val="111827"/>
                    </a:solidFill>
                    <a:latin typeface="Arial"/>
                  </a:rPr>
                  <a:t> and height </a:t>
                </a:r>
                <a:r>
                  <a:rPr lang="en-IN" sz="2400">
                    <a:solidFill>
                      <a:srgbClr val="111827"/>
                    </a:solidFill>
                    <a:latin typeface="Cambria Math" panose="02040503050406030204" pitchFamily="18" charset="0"/>
                  </a:rPr>
                  <a:t>$=a-a\cos\alpha$</a:t>
                </a:r>
                <a:r>
                  <a:rPr sz="2400" b="0">
                    <a:solidFill>
                      <a:srgbClr val="111827"/>
                    </a:solidFill>
                    <a:latin typeface="Arial"/>
                  </a:rPr>
                  <a:t>, so area </a:t>
                </a:r>
                <a:r>
                  <a:rPr lang="en-IN" sz="2400">
                    <a:solidFill>
                      <a:srgbClr val="111827"/>
                    </a:solidFill>
                    <a:latin typeface="Cambria Math" panose="02040503050406030204" pitchFamily="18" charset="0"/>
                  </a:rPr>
                  <a:t>$=\frac{1}{2}\cdot4\sin\alpha\cdot a(1-\cos\alpha)=2a\sin\alpha(1-\cos\alpha)$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$\phi(\alpha)=\sin\alpha(1-\cos\alpha)$</a:t>
                </a:r>
                <a:r>
                  <a:rPr sz="2400" b="0">
                    <a:solidFill>
                      <a:srgbClr val="111827"/>
                    </a:solidFill>
                    <a:latin typeface="Arial"/>
                  </a:rPr>
                  <a:t>. Then </a:t>
                </a:r>
                <a:r>
                  <a:rPr lang="en-IN" sz="2400">
                    <a:solidFill>
                      <a:srgbClr val="111827"/>
                    </a:solidFill>
                    <a:latin typeface="Cambria Math" panose="02040503050406030204" pitchFamily="18" charset="0"/>
                  </a:rPr>
                  <a:t>$\phi'(\alpha)=\cos\alpha(1-\cos\alpha)+\sin^2\alpha=(1-\cos\alpha)(1+2\cos\alpha)$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On </a:t>
                </a:r>
                <a:r>
                  <a:rPr lang="en-IN" sz="2400">
                    <a:solidFill>
                      <a:srgbClr val="111827"/>
                    </a:solidFill>
                    <a:latin typeface="Cambria Math" panose="02040503050406030204" pitchFamily="18" charset="0"/>
                  </a:rPr>
                  <a:t>$(0,\pi)$</a:t>
                </a:r>
                <a:r>
                  <a:rPr sz="2400" b="0">
                    <a:solidFill>
                      <a:srgbClr val="111827"/>
                    </a:solidFill>
                    <a:latin typeface="Arial"/>
                  </a:rPr>
                  <a:t>, </a:t>
                </a:r>
                <a:r>
                  <a:rPr lang="en-IN" sz="2400">
                    <a:solidFill>
                      <a:srgbClr val="111827"/>
                    </a:solidFill>
                    <a:latin typeface="Cambria Math" panose="02040503050406030204" pitchFamily="18" charset="0"/>
                  </a:rPr>
                  <a:t>$1-\cos\alpha&gt;0$</a:t>
                </a:r>
                <a:r>
                  <a:rPr sz="2400" b="0">
                    <a:solidFill>
                      <a:srgbClr val="111827"/>
                    </a:solidFill>
                    <a:latin typeface="Arial"/>
                  </a:rPr>
                  <a:t>, so </a:t>
                </a:r>
                <a:r>
                  <a:rPr lang="en-IN" sz="2400">
                    <a:solidFill>
                      <a:srgbClr val="111827"/>
                    </a:solidFill>
                    <a:latin typeface="Cambria Math" panose="02040503050406030204" pitchFamily="18" charset="0"/>
                  </a:rPr>
                  <a:t>$\phi'=0$</a:t>
                </a:r>
                <a:r>
                  <a:rPr sz="2400" b="0">
                    <a:solidFill>
                      <a:srgbClr val="111827"/>
                    </a:solidFill>
                    <a:latin typeface="Arial"/>
                  </a:rPr>
                  <a:t> only at </a:t>
                </a:r>
                <a:r>
                  <a:rPr lang="en-IN" sz="2400">
                    <a:solidFill>
                      <a:srgbClr val="111827"/>
                    </a:solidFill>
                    <a:latin typeface="Cambria Math" panose="02040503050406030204" pitchFamily="18" charset="0"/>
                  </a:rPr>
                  <a:t>$\cos\alpha=-\frac{1}{2}$</a:t>
                </a:r>
                <a:r>
                  <a:rPr sz="2400" b="0">
                    <a:solidFill>
                      <a:srgbClr val="111827"/>
                    </a:solidFill>
                    <a:latin typeface="Arial"/>
                  </a:rPr>
                  <a:t>, i.e. </a:t>
                </a:r>
                <a:r>
                  <a:rPr lang="en-IN" sz="2400">
                    <a:solidFill>
                      <a:srgbClr val="111827"/>
                    </a:solidFill>
                    <a:latin typeface="Cambria Math" panose="02040503050406030204" pitchFamily="18" charset="0"/>
                  </a:rPr>
                  <a:t>$\alpha=\frac{2\pi}{3}$</a:t>
                </a:r>
                <a:r>
                  <a:rPr sz="2400" b="0">
                    <a:solidFill>
                      <a:srgbClr val="111827"/>
                    </a:solidFill>
                    <a:latin typeface="Arial"/>
                  </a:rPr>
                  <a:t>; </a:t>
                </a:r>
                <a:r>
                  <a:rPr lang="en-IN" sz="2400">
                    <a:solidFill>
                      <a:srgbClr val="111827"/>
                    </a:solidFill>
                    <a:latin typeface="Cambria Math" panose="02040503050406030204" pitchFamily="18" charset="0"/>
                  </a:rPr>
                  <a:t>$\phi'&gt;0$</a:t>
                </a:r>
                <a:r>
                  <a:rPr sz="2400" b="0">
                    <a:solidFill>
                      <a:srgbClr val="111827"/>
                    </a:solidFill>
                    <a:latin typeface="Arial"/>
                  </a:rPr>
                  <a:t> before it and </a:t>
                </a:r>
                <a:r>
                  <a:rPr lang="en-IN" sz="2400">
                    <a:solidFill>
                      <a:srgbClr val="111827"/>
                    </a:solidFill>
                    <a:latin typeface="Cambria Math" panose="02040503050406030204" pitchFamily="18" charset="0"/>
                  </a:rPr>
                  <a:t>$&lt;0$</a:t>
                </a:r>
                <a:r>
                  <a:rPr sz="2400" b="0">
                    <a:solidFill>
                      <a:srgbClr val="111827"/>
                    </a:solidFill>
                    <a:latin typeface="Arial"/>
                  </a:rPr>
                  <a:t> after it.</a:t>
                </a:r>
                <a:endParaRPr sz="2400">
                  <a:solidFill>
                    <a:srgbClr val="111827"/>
                  </a:solidFill>
                </a:endParaRPr>
              </a:p>
            </p:txBody>
          </p:sp>
        </mc:Fallback>
      </mc:AlternateContent>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gives the maximum: </a:t>
                </a:r>
                <a14:m>
                  <m:oMath xmlns:m="http://schemas.openxmlformats.org/officeDocument/2006/math">
                    <m:sSub>
                      <m:e>
                        <m:r>
                          <a:rPr lang="en-IN" sz="2400" i="1">
                            <a:solidFill>
                              <a:srgbClr val="111827"/>
                            </a:solidFill>
                            <a:latin typeface="Cambria Math" panose="02040503050406030204" pitchFamily="18" charset="0"/>
                          </a:rPr>
                          <m:t>ϕ</m:t>
                        </m:r>
                      </m:e>
                      <m:sub>
                        <m:r>
                          <m:rPr>
                            <m:sty m:val="p"/>
                          </m:rPr>
                          <a:rPr lang="en-IN" sz="2400">
                            <a:solidFill>
                              <a:srgbClr val="111827"/>
                            </a:solidFill>
                            <a:latin typeface="Cambria Math" panose="02040503050406030204" pitchFamily="18" charset="0"/>
                          </a:rPr>
                          <m:t>max</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4</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Maximum area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2</m:t>
                        </m:r>
                      </m:den>
                    </m:f>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num>
                          <m:den>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den>
                        </m:f>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16</m:t>
                            </m:r>
                          </m:den>
                        </m:f>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4</m:t>
                            </m:r>
                          </m:den>
                        </m:f>
                      </m:e>
                    </m:ra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2</m:t>
                        </m:r>
                      </m:den>
                    </m:f>
                  </m:oMath>
                </a14:m>
                <a:r>
                  <a:rPr sz="2400" b="0">
                    <a:solidFill>
                      <a:srgbClr val="111827"/>
                    </a:solidFill>
                    <a:latin typeface="Arial"/>
                  </a:rPr>
                  <a:t>, option (A).</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$\alpha=\frac{2\pi}{3}$</a:t>
                </a:r>
                <a:r>
                  <a:rPr sz="2400" b="0">
                    <a:solidFill>
                      <a:srgbClr val="111827"/>
                    </a:solidFill>
                    <a:latin typeface="Arial"/>
                  </a:rPr>
                  <a:t> gives the maximum: </a:t>
                </a:r>
                <a:r>
                  <a:rPr lang="en-IN" sz="2400">
                    <a:solidFill>
                      <a:srgbClr val="111827"/>
                    </a:solidFill>
                    <a:latin typeface="Cambria Math" panose="02040503050406030204" pitchFamily="18" charset="0"/>
                  </a:rPr>
                  <a:t>$\phi_{\max}=\frac{\sqrt{3}}{2}\cdot\frac{3}{2}=\frac{3\sqrt{3}}{4}$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Maximum area </a:t>
                </a:r>
                <a:r>
                  <a:rPr lang="en-IN" sz="2400">
                    <a:solidFill>
                      <a:srgbClr val="111827"/>
                    </a:solidFill>
                    <a:latin typeface="Cambria Math" panose="02040503050406030204" pitchFamily="18" charset="0"/>
                  </a:rPr>
                  <a:t>$=2a\cdot\frac{3\sqrt{3}}{4}=\frac{3\sqrt{3}}{2}a=6\sqrt{3}\Rightarrow a=4$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$e=\sqrt{1-\frac{b^2}{a^2}}=\sqrt{1-\frac{4}{16}}=\sqrt{\frac{3}{4}}=\frac{\sqrt{3}}{2}$</a:t>
                </a:r>
                <a:r>
                  <a:rPr sz="2400" b="0">
                    <a:solidFill>
                      <a:srgbClr val="111827"/>
                    </a:solidFill>
                    <a:latin typeface="Arial"/>
                  </a:rPr>
                  <a:t>, option (A).</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a:t>
                </a:r>
                <a14:m>
                  <m:oMath xmlns:m="http://schemas.openxmlformats.org/officeDocument/2006/math">
                    <m:f>
                      <m:fPr>
                        <m:type m:val="bar"/>
                        <m:ctrlPr>
                          <a:rPr lang="en-IN" sz="2800" i="1">
                            <a:solidFill>
                              <a:srgbClr val="15803D"/>
                            </a:solidFill>
                            <a:latin typeface="Cambria Math" panose="02040503050406030204" pitchFamily="18" charset="0"/>
                          </a:rPr>
                        </m:ctrlPr>
                      </m:fPr>
                      <m:num>
                        <m:rad>
                          <m:radPr>
                            <m:degHide m:val="on"/>
                            <m:ctrlPr>
                              <a:rPr lang="en-IN" sz="2800" i="1">
                                <a:solidFill>
                                  <a:srgbClr val="15803D"/>
                                </a:solidFill>
                                <a:latin typeface="Cambria Math" panose="02040503050406030204" pitchFamily="18" charset="0"/>
                              </a:rPr>
                            </m:ctrlPr>
                          </m:radPr>
                          <m:deg/>
                          <m:e>
                            <m:r>
                              <a:rPr lang="en-IN" sz="2800" i="1">
                                <a:solidFill>
                                  <a:srgbClr val="15803D"/>
                                </a:solidFill>
                                <a:latin typeface="Cambria Math" panose="02040503050406030204" pitchFamily="18" charset="0"/>
                              </a:rPr>
                              <m:t>3</m:t>
                            </m:r>
                          </m:e>
                        </m:rad>
                      </m:num>
                      <m:den>
                        <m:r>
                          <a:rPr lang="en-IN" sz="2800" i="1">
                            <a:solidFill>
                              <a:srgbClr val="15803D"/>
                            </a:solidFill>
                            <a:latin typeface="Cambria Math" panose="02040503050406030204" pitchFamily="18" charset="0"/>
                          </a:rPr>
                          <m:t>2</m:t>
                        </m:r>
                      </m:den>
                    </m:f>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a:t>
                </a:r>
                <a:r>
                  <a:rPr lang="en-IN" sz="2800">
                    <a:solidFill>
                      <a:srgbClr val="15803D"/>
                    </a:solidFill>
                    <a:latin typeface="Cambria Math" panose="02040503050406030204" pitchFamily="18" charset="0"/>
                  </a:rPr>
                  <a:t>$\frac{\sqrt{3}}{2}$</a:t>
                </a:r>
                <a:endParaRPr sz="2800">
                  <a:solidFill>
                    <a:srgbClr val="15803D"/>
                  </a:solidFill>
                </a:endParaRPr>
              </a:p>
            </p:txBody>
          </p:sp>
        </mc:Fallback>
      </mc:AlternateContent>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An affine stretch </a:t>
                </a:r>
                <a14:m>
                  <m:oMath xmlns:m="http://schemas.openxmlformats.org/officeDocument/2006/math">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𝑎</m:t>
                        </m:r>
                      </m:num>
                      <m:den>
                        <m:r>
                          <a:rPr lang="en-IN" sz="2400" i="1">
                            <a:solidFill>
                              <a:srgbClr val="78350F"/>
                            </a:solidFill>
                            <a:latin typeface="Cambria Math" panose="02040503050406030204" pitchFamily="18" charset="0"/>
                          </a:rPr>
                          <m:t>2</m:t>
                        </m:r>
                      </m:den>
                    </m:f>
                    <m:r>
                      <a:rPr lang="en-IN" sz="2400" i="1">
                        <a:solidFill>
                          <a:srgbClr val="78350F"/>
                        </a:solidFill>
                        <a:latin typeface="Cambria Math" panose="02040503050406030204" pitchFamily="18" charset="0"/>
                      </a:rPr>
                      <m:t>𝑦</m:t>
                    </m:r>
                  </m:oMath>
                </a14:m>
                <a:r>
                  <a:rPr sz="2400" b="0">
                    <a:solidFill>
                      <a:srgbClr val="78350F"/>
                    </a:solidFill>
                    <a:latin typeface="Arial"/>
                  </a:rPr>
                  <a:t> turns the ellipse into a circle of radius </a:t>
                </a:r>
                <a14:m>
                  <m:oMath xmlns:m="http://schemas.openxmlformats.org/officeDocument/2006/math">
                    <m:r>
                      <a:rPr lang="en-IN" sz="2400" i="1">
                        <a:solidFill>
                          <a:srgbClr val="78350F"/>
                        </a:solidFill>
                        <a:latin typeface="Cambria Math" panose="02040503050406030204" pitchFamily="18" charset="0"/>
                      </a:rPr>
                      <m:t>𝑎</m:t>
                    </m:r>
                  </m:oMath>
                </a14:m>
                <a:r>
                  <a:rPr sz="2400" b="0">
                    <a:solidFill>
                      <a:srgbClr val="78350F"/>
                    </a:solidFill>
                    <a:latin typeface="Arial"/>
                  </a:rPr>
                  <a:t> and scales every area by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𝑎</m:t>
                        </m:r>
                      </m:num>
                      <m:den>
                        <m:r>
                          <a:rPr lang="en-IN" sz="2400" i="1">
                            <a:solidFill>
                              <a:srgbClr val="78350F"/>
                            </a:solidFill>
                            <a:latin typeface="Cambria Math" panose="02040503050406030204" pitchFamily="18" charset="0"/>
                          </a:rPr>
                          <m:t>2</m:t>
                        </m:r>
                      </m:den>
                    </m:f>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An affine stretch </a:t>
                </a:r>
                <a:r>
                  <a:rPr lang="en-IN" sz="2400">
                    <a:solidFill>
                      <a:srgbClr val="78350F"/>
                    </a:solidFill>
                    <a:latin typeface="Cambria Math" panose="02040503050406030204" pitchFamily="18" charset="0"/>
                  </a:rPr>
                  <a:t>$y\mapsto\frac{a}{2}y$</a:t>
                </a:r>
                <a:r>
                  <a:rPr sz="2400" b="0">
                    <a:solidFill>
                      <a:srgbClr val="78350F"/>
                    </a:solidFill>
                    <a:latin typeface="Arial"/>
                  </a:rPr>
                  <a:t> turns the ellipse into a circle of radius </a:t>
                </a:r>
                <a:r>
                  <a:rPr lang="en-IN" sz="2400">
                    <a:solidFill>
                      <a:srgbClr val="78350F"/>
                    </a:solidFill>
                    <a:latin typeface="Cambria Math" panose="02040503050406030204" pitchFamily="18" charset="0"/>
                  </a:rPr>
                  <a:t>$a$</a:t>
                </a:r>
                <a:r>
                  <a:rPr sz="2400" b="0">
                    <a:solidFill>
                      <a:srgbClr val="78350F"/>
                    </a:solidFill>
                    <a:latin typeface="Arial"/>
                  </a:rPr>
                  <a:t> and scales every area by </a:t>
                </a:r>
                <a:r>
                  <a:rPr lang="en-IN" sz="2400">
                    <a:solidFill>
                      <a:srgbClr val="78350F"/>
                    </a:solidFill>
                    <a:latin typeface="Cambria Math" panose="02040503050406030204" pitchFamily="18" charset="0"/>
                  </a:rPr>
                  <a:t>$\frac{a}{2}$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Map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2</m:t>
                            </m:r>
                          </m:den>
                        </m:f>
                        <m:r>
                          <a:rPr lang="en-IN" sz="2400" i="1">
                            <a:solidFill>
                              <a:srgbClr val="111827"/>
                            </a:solidFill>
                            <a:latin typeface="Cambria Math" panose="02040503050406030204" pitchFamily="18" charset="0"/>
                          </a:rPr>
                          <m:t>𝑦</m:t>
                        </m:r>
                      </m:e>
                    </m:d>
                  </m:oMath>
                </a14:m>
                <a:r>
                  <a:rPr sz="2400" b="0">
                    <a:solidFill>
                      <a:srgbClr val="111827"/>
                    </a:solidFill>
                    <a:latin typeface="Arial"/>
                  </a:rPr>
                  <a:t>: the ellipse becomes the circle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vertical chords stay vertical, the vertex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stays, and all areas are multiplied by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the circle of radius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a triangle with vertex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base perpendicular to </a:t>
                </a:r>
                <a14:m>
                  <m:oMath xmlns:m="http://schemas.openxmlformats.org/officeDocument/2006/math">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𝐴</m:t>
                    </m:r>
                  </m:oMath>
                </a14:m>
                <a:r>
                  <a:rPr sz="2400" b="0">
                    <a:solidFill>
                      <a:srgbClr val="111827"/>
                    </a:solidFill>
                    <a:latin typeface="Arial"/>
                  </a:rPr>
                  <a:t> is isosceles about the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-axis; its area is largest when it is equilateral.</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Equilateral triangle in a circle of radius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has area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4</m:t>
                        </m:r>
                      </m:den>
                    </m:f>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Map </a:t>
                </a:r>
                <a:r>
                  <a:rPr lang="en-IN" sz="2400">
                    <a:solidFill>
                      <a:srgbClr val="111827"/>
                    </a:solidFill>
                    <a:latin typeface="Cambria Math" panose="02040503050406030204" pitchFamily="18" charset="0"/>
                  </a:rPr>
                  <a:t>$(x,y)\mapsto\left(x,\frac{a}{2}y\right)$</a:t>
                </a:r>
                <a:r>
                  <a:rPr sz="2400" b="0">
                    <a:solidFill>
                      <a:srgbClr val="111827"/>
                    </a:solidFill>
                    <a:latin typeface="Arial"/>
                  </a:rPr>
                  <a:t>: the ellipse becomes the circle </a:t>
                </a:r>
                <a:r>
                  <a:rPr lang="en-IN" sz="2400">
                    <a:solidFill>
                      <a:srgbClr val="111827"/>
                    </a:solidFill>
                    <a:latin typeface="Cambria Math" panose="02040503050406030204" pitchFamily="18" charset="0"/>
                  </a:rPr>
                  <a:t>$x^2+y^2=a^2$</a:t>
                </a:r>
                <a:r>
                  <a:rPr sz="2400" b="0">
                    <a:solidFill>
                      <a:srgbClr val="111827"/>
                    </a:solidFill>
                    <a:latin typeface="Arial"/>
                  </a:rPr>
                  <a:t>; vertical chords stay vertical, the vertex </a:t>
                </a:r>
                <a:r>
                  <a:rPr lang="en-IN" sz="2400">
                    <a:solidFill>
                      <a:srgbClr val="111827"/>
                    </a:solidFill>
                    <a:latin typeface="Cambria Math" panose="02040503050406030204" pitchFamily="18" charset="0"/>
                  </a:rPr>
                  <a:t>$(a,0)$</a:t>
                </a:r>
                <a:r>
                  <a:rPr sz="2400" b="0">
                    <a:solidFill>
                      <a:srgbClr val="111827"/>
                    </a:solidFill>
                    <a:latin typeface="Arial"/>
                  </a:rPr>
                  <a:t> stays, and all areas are multiplied by </a:t>
                </a:r>
                <a:r>
                  <a:rPr lang="en-IN" sz="2400">
                    <a:solidFill>
                      <a:srgbClr val="111827"/>
                    </a:solidFill>
                    <a:latin typeface="Cambria Math" panose="02040503050406030204" pitchFamily="18" charset="0"/>
                  </a:rPr>
                  <a:t>$\frac{a}{2}$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the circle of radius </a:t>
                </a:r>
                <a:r>
                  <a:rPr lang="en-IN" sz="2400">
                    <a:solidFill>
                      <a:srgbClr val="111827"/>
                    </a:solidFill>
                    <a:latin typeface="Cambria Math" panose="02040503050406030204" pitchFamily="18" charset="0"/>
                  </a:rPr>
                  <a:t>$a$</a:t>
                </a:r>
                <a:r>
                  <a:rPr sz="2400" b="0">
                    <a:solidFill>
                      <a:srgbClr val="111827"/>
                    </a:solidFill>
                    <a:latin typeface="Arial"/>
                  </a:rPr>
                  <a:t>, a triangle with vertex </a:t>
                </a:r>
                <a:r>
                  <a:rPr lang="en-IN" sz="2400">
                    <a:solidFill>
                      <a:srgbClr val="111827"/>
                    </a:solidFill>
                    <a:latin typeface="Cambria Math" panose="02040503050406030204" pitchFamily="18" charset="0"/>
                  </a:rPr>
                  <a:t>$A=(a,0)$</a:t>
                </a:r>
                <a:r>
                  <a:rPr sz="2400" b="0">
                    <a:solidFill>
                      <a:srgbClr val="111827"/>
                    </a:solidFill>
                    <a:latin typeface="Arial"/>
                  </a:rPr>
                  <a:t> and base perpendicular to </a:t>
                </a:r>
                <a:r>
                  <a:rPr lang="en-IN" sz="2400">
                    <a:solidFill>
                      <a:srgbClr val="111827"/>
                    </a:solidFill>
                    <a:latin typeface="Cambria Math" panose="02040503050406030204" pitchFamily="18" charset="0"/>
                  </a:rPr>
                  <a:t>$OA$</a:t>
                </a:r>
                <a:r>
                  <a:rPr sz="2400" b="0">
                    <a:solidFill>
                      <a:srgbClr val="111827"/>
                    </a:solidFill>
                    <a:latin typeface="Arial"/>
                  </a:rPr>
                  <a:t> is isosceles about the </a:t>
                </a:r>
                <a:r>
                  <a:rPr lang="en-IN" sz="2400">
                    <a:solidFill>
                      <a:srgbClr val="111827"/>
                    </a:solidFill>
                    <a:latin typeface="Cambria Math" panose="02040503050406030204" pitchFamily="18" charset="0"/>
                  </a:rPr>
                  <a:t>$x$</a:t>
                </a:r>
                <a:r>
                  <a:rPr sz="2400" b="0">
                    <a:solidFill>
                      <a:srgbClr val="111827"/>
                    </a:solidFill>
                    <a:latin typeface="Arial"/>
                  </a:rPr>
                  <a:t>-axis; its area is largest when it is equilateral.</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Equilateral triangle in a circle of radius </a:t>
                </a:r>
                <a:r>
                  <a:rPr lang="en-IN" sz="2400">
                    <a:solidFill>
                      <a:srgbClr val="111827"/>
                    </a:solidFill>
                    <a:latin typeface="Cambria Math" panose="02040503050406030204" pitchFamily="18" charset="0"/>
                  </a:rPr>
                  <a:t>$a$</a:t>
                </a:r>
                <a:r>
                  <a:rPr sz="2400" b="0">
                    <a:solidFill>
                      <a:srgbClr val="111827"/>
                    </a:solidFill>
                    <a:latin typeface="Arial"/>
                  </a:rPr>
                  <a:t> has area </a:t>
                </a:r>
                <a:r>
                  <a:rPr lang="en-IN" sz="2400">
                    <a:solidFill>
                      <a:srgbClr val="111827"/>
                    </a:solidFill>
                    <a:latin typeface="Cambria Math" panose="02040503050406030204" pitchFamily="18" charset="0"/>
                  </a:rPr>
                  <a:t>$\frac{3\sqrt{3}}{4}a^2$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Back in the ellipse the maximum area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𝑎</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4</m:t>
                        </m:r>
                      </m:den>
                    </m:f>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2</m:t>
                        </m:r>
                      </m:den>
                    </m:f>
                    <m:r>
                      <a:rPr lang="en-IN" sz="2400" i="1">
                        <a:solidFill>
                          <a:srgbClr val="111827"/>
                        </a:solidFill>
                        <a:latin typeface="Cambria Math" panose="02040503050406030204" pitchFamily="18" charset="0"/>
                      </a:rPr>
                      <m:t>𝑎</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Setting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2</m:t>
                        </m:r>
                      </m:den>
                    </m:f>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16</m:t>
                            </m:r>
                          </m:den>
                        </m:f>
                      </m:e>
                    </m:ra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Back in the ellipse the maximum area is </a:t>
                </a:r>
                <a:r>
                  <a:rPr lang="en-IN" sz="2400">
                    <a:solidFill>
                      <a:srgbClr val="111827"/>
                    </a:solidFill>
                    <a:latin typeface="Cambria Math" panose="02040503050406030204" pitchFamily="18" charset="0"/>
                  </a:rPr>
                  <a:t>$\frac{2}{a}\cdot\frac{3\sqrt{3}}{4}a^2=\frac{3\sqrt{3}}{2}a$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Setting </a:t>
                </a:r>
                <a:r>
                  <a:rPr lang="en-IN" sz="2400">
                    <a:solidFill>
                      <a:srgbClr val="111827"/>
                    </a:solidFill>
                    <a:latin typeface="Cambria Math" panose="02040503050406030204" pitchFamily="18" charset="0"/>
                  </a:rPr>
                  <a:t>$\frac{3\sqrt{3}}{2}a=6\sqrt{3}$</a:t>
                </a:r>
                <a:r>
                  <a:rPr sz="2400" b="0">
                    <a:solidFill>
                      <a:srgbClr val="111827"/>
                    </a:solidFill>
                    <a:latin typeface="Arial"/>
                  </a:rPr>
                  <a:t> gives </a:t>
                </a:r>
                <a:r>
                  <a:rPr lang="en-IN" sz="2400">
                    <a:solidFill>
                      <a:srgbClr val="111827"/>
                    </a:solidFill>
                    <a:latin typeface="Cambria Math" panose="02040503050406030204" pitchFamily="18" charset="0"/>
                  </a:rPr>
                  <a:t>$a=4$</a:t>
                </a:r>
                <a:r>
                  <a:rPr sz="2400" b="0">
                    <a:solidFill>
                      <a:srgbClr val="111827"/>
                    </a:solidFill>
                    <a:latin typeface="Arial"/>
                  </a:rPr>
                  <a:t>, so </a:t>
                </a:r>
                <a:r>
                  <a:rPr lang="en-IN" sz="2400">
                    <a:solidFill>
                      <a:srgbClr val="111827"/>
                    </a:solidFill>
                    <a:latin typeface="Cambria Math" panose="02040503050406030204" pitchFamily="18" charset="0"/>
                  </a:rPr>
                  <a:t>$e=\sqrt{1-\frac{4}{16}}=\frac{\sqrt{3}}{2}$</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a:t>
                </a:r>
                <a14:m>
                  <m:oMath xmlns:m="http://schemas.openxmlformats.org/officeDocument/2006/math">
                    <m:f>
                      <m:fPr>
                        <m:type m:val="bar"/>
                        <m:ctrlPr>
                          <a:rPr lang="en-IN" sz="2800" i="1">
                            <a:solidFill>
                              <a:srgbClr val="15803D"/>
                            </a:solidFill>
                            <a:latin typeface="Cambria Math" panose="02040503050406030204" pitchFamily="18" charset="0"/>
                          </a:rPr>
                        </m:ctrlPr>
                      </m:fPr>
                      <m:num>
                        <m:rad>
                          <m:radPr>
                            <m:degHide m:val="on"/>
                            <m:ctrlPr>
                              <a:rPr lang="en-IN" sz="2800" i="1">
                                <a:solidFill>
                                  <a:srgbClr val="15803D"/>
                                </a:solidFill>
                                <a:latin typeface="Cambria Math" panose="02040503050406030204" pitchFamily="18" charset="0"/>
                              </a:rPr>
                            </m:ctrlPr>
                          </m:radPr>
                          <m:deg/>
                          <m:e>
                            <m:r>
                              <a:rPr lang="en-IN" sz="2800" i="1">
                                <a:solidFill>
                                  <a:srgbClr val="15803D"/>
                                </a:solidFill>
                                <a:latin typeface="Cambria Math" panose="02040503050406030204" pitchFamily="18" charset="0"/>
                              </a:rPr>
                              <m:t>3</m:t>
                            </m:r>
                          </m:e>
                        </m:rad>
                      </m:num>
                      <m:den>
                        <m:r>
                          <a:rPr lang="en-IN" sz="2800" i="1">
                            <a:solidFill>
                              <a:srgbClr val="15803D"/>
                            </a:solidFill>
                            <a:latin typeface="Cambria Math" panose="02040503050406030204" pitchFamily="18" charset="0"/>
                          </a:rPr>
                          <m:t>2</m:t>
                        </m:r>
                      </m:den>
                    </m:f>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a:t>
                </a:r>
                <a:r>
                  <a:rPr lang="en-IN" sz="2800">
                    <a:solidFill>
                      <a:srgbClr val="15803D"/>
                    </a:solidFill>
                    <a:latin typeface="Cambria Math" panose="02040503050406030204" pitchFamily="18" charset="0"/>
                  </a:rPr>
                  <a:t>$\frac{\sqrt{3}}{2}$</a:t>
                </a:r>
                <a:endParaRPr sz="2800">
                  <a:solidFill>
                    <a:srgbClr val="15803D"/>
                  </a:solidFill>
                </a:endParaRPr>
              </a:p>
            </p:txBody>
          </p:sp>
        </mc:Fallback>
      </mc:AlternateContent>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Affine maps preserve ratios of areas: an ellipse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num>
                      <m:den>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num>
                      <m:den>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is the image of the circle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under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𝑏</m:t>
                        </m:r>
                      </m:num>
                      <m:den>
                        <m:r>
                          <a:rPr lang="en-IN" sz="2400" i="1">
                            <a:solidFill>
                              <a:srgbClr val="111827"/>
                            </a:solidFill>
                            <a:latin typeface="Cambria Math" panose="02040503050406030204" pitchFamily="18" charset="0"/>
                          </a:rPr>
                          <m:t>𝑎</m:t>
                        </m:r>
                      </m:den>
                    </m:f>
                    <m:r>
                      <a:rPr lang="en-IN" sz="2400" i="1">
                        <a:solidFill>
                          <a:srgbClr val="111827"/>
                        </a:solidFill>
                        <a:latin typeface="Cambria Math" panose="02040503050406030204" pitchFamily="18" charset="0"/>
                      </a:rPr>
                      <m:t>𝑦</m:t>
                    </m:r>
                  </m:oMath>
                </a14:m>
                <a:r>
                  <a:rPr sz="2400" b="0">
                    <a:solidFill>
                      <a:srgbClr val="111827"/>
                    </a:solidFill>
                    <a:latin typeface="Arial"/>
                  </a:rPr>
                  <a:t>, so all areas scale by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𝑏</m:t>
                        </m:r>
                      </m:num>
                      <m:den>
                        <m:r>
                          <a:rPr lang="en-IN" sz="2400" i="1">
                            <a:solidFill>
                              <a:srgbClr val="111827"/>
                            </a:solidFill>
                            <a:latin typeface="Cambria Math" panose="02040503050406030204" pitchFamily="18" charset="0"/>
                          </a:rPr>
                          <m:t>𝑎</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Maximum area triangle inscribed in an ellipse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4</m:t>
                        </m:r>
                      </m:den>
                    </m:f>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oMath>
                </a14:m>
                <a:r>
                  <a:rPr sz="2400" b="0">
                    <a:solidFill>
                      <a:srgbClr val="111827"/>
                    </a:solidFill>
                    <a:latin typeface="Arial"/>
                  </a:rPr>
                  <a:t> (from the equilateral triangle in the circle).</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has maximum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4</m:t>
                        </m:r>
                      </m:den>
                    </m:f>
                  </m:oMath>
                </a14:m>
                <a:r>
                  <a:rPr sz="2400" b="0">
                    <a:solidFill>
                      <a:srgbClr val="111827"/>
                    </a:solidFill>
                    <a:latin typeface="Arial"/>
                  </a:rPr>
                  <a:t> at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(equivalently the equilateral triangle).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Eccentricity: </a:t>
                </a:r>
                <a14:m>
                  <m:oMath xmlns:m="http://schemas.openxmlformats.org/officeDocument/2006/math">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num>
                          <m:den>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den>
                        </m:f>
                      </m:e>
                    </m:rad>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𝑏</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Affine maps preserve ratios of areas: an ellipse </a:t>
                </a:r>
                <a:r>
                  <a:rPr lang="en-IN" sz="2400">
                    <a:solidFill>
                      <a:srgbClr val="111827"/>
                    </a:solidFill>
                    <a:latin typeface="Cambria Math" panose="02040503050406030204" pitchFamily="18" charset="0"/>
                  </a:rPr>
                  <a:t>$\frac{x^2}{a^2}+\frac{y^2}{b^2}=1$</a:t>
                </a:r>
                <a:r>
                  <a:rPr sz="2400" b="0">
                    <a:solidFill>
                      <a:srgbClr val="111827"/>
                    </a:solidFill>
                    <a:latin typeface="Arial"/>
                  </a:rPr>
                  <a:t> is the image of the circle </a:t>
                </a:r>
                <a:r>
                  <a:rPr lang="en-IN" sz="2400">
                    <a:solidFill>
                      <a:srgbClr val="111827"/>
                    </a:solidFill>
                    <a:latin typeface="Cambria Math" panose="02040503050406030204" pitchFamily="18" charset="0"/>
                  </a:rPr>
                  <a:t>$x^2+y^2=a^2$</a:t>
                </a:r>
                <a:r>
                  <a:rPr sz="2400" b="0">
                    <a:solidFill>
                      <a:srgbClr val="111827"/>
                    </a:solidFill>
                    <a:latin typeface="Arial"/>
                  </a:rPr>
                  <a:t> under </a:t>
                </a:r>
                <a:r>
                  <a:rPr lang="en-IN" sz="2400">
                    <a:solidFill>
                      <a:srgbClr val="111827"/>
                    </a:solidFill>
                    <a:latin typeface="Cambria Math" panose="02040503050406030204" pitchFamily="18" charset="0"/>
                  </a:rPr>
                  <a:t>$y\mapsto\frac{b}{a}y$</a:t>
                </a:r>
                <a:r>
                  <a:rPr sz="2400" b="0">
                    <a:solidFill>
                      <a:srgbClr val="111827"/>
                    </a:solidFill>
                    <a:latin typeface="Arial"/>
                  </a:rPr>
                  <a:t>, so all areas scale by </a:t>
                </a:r>
                <a:r>
                  <a:rPr lang="en-IN" sz="2400">
                    <a:solidFill>
                      <a:srgbClr val="111827"/>
                    </a:solidFill>
                    <a:latin typeface="Cambria Math" panose="02040503050406030204" pitchFamily="18" charset="0"/>
                  </a:rPr>
                  <a:t>$\frac{b}{a}$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Maximum area triangle inscribed in an ellipse is </a:t>
                </a:r>
                <a:r>
                  <a:rPr lang="en-IN" sz="2400">
                    <a:solidFill>
                      <a:srgbClr val="111827"/>
                    </a:solidFill>
                    <a:latin typeface="Cambria Math" panose="02040503050406030204" pitchFamily="18" charset="0"/>
                  </a:rPr>
                  <a:t>$\frac{3\sqrt{3}}{4}ab$</a:t>
                </a:r>
                <a:r>
                  <a:rPr sz="2400" b="0">
                    <a:solidFill>
                      <a:srgbClr val="111827"/>
                    </a:solidFill>
                    <a:latin typeface="Arial"/>
                  </a:rPr>
                  <a:t> (from the equilateral triangle in the circle).</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$\sin\alpha(1-\cos\alpha)$</a:t>
                </a:r>
                <a:r>
                  <a:rPr sz="2400" b="0">
                    <a:solidFill>
                      <a:srgbClr val="111827"/>
                    </a:solidFill>
                    <a:latin typeface="Arial"/>
                  </a:rPr>
                  <a:t> has maximum </a:t>
                </a:r>
                <a:r>
                  <a:rPr lang="en-IN" sz="2400">
                    <a:solidFill>
                      <a:srgbClr val="111827"/>
                    </a:solidFill>
                    <a:latin typeface="Cambria Math" panose="02040503050406030204" pitchFamily="18" charset="0"/>
                  </a:rPr>
                  <a:t>$\frac{3\sqrt{3}}{4}$</a:t>
                </a:r>
                <a:r>
                  <a:rPr sz="2400" b="0">
                    <a:solidFill>
                      <a:srgbClr val="111827"/>
                    </a:solidFill>
                    <a:latin typeface="Arial"/>
                  </a:rPr>
                  <a:t> at </a:t>
                </a:r>
                <a:r>
                  <a:rPr lang="en-IN" sz="2400">
                    <a:solidFill>
                      <a:srgbClr val="111827"/>
                    </a:solidFill>
                    <a:latin typeface="Cambria Math" panose="02040503050406030204" pitchFamily="18" charset="0"/>
                  </a:rPr>
                  <a:t>$\alpha=\frac{2\pi}{3}$</a:t>
                </a:r>
                <a:r>
                  <a:rPr sz="2400" b="0">
                    <a:solidFill>
                      <a:srgbClr val="111827"/>
                    </a:solidFill>
                    <a:latin typeface="Arial"/>
                  </a:rPr>
                  <a:t> (equivalently the equilateral triangle).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Eccentricity: </a:t>
                </a:r>
                <a:r>
                  <a:rPr lang="en-IN" sz="2400">
                    <a:solidFill>
                      <a:srgbClr val="111827"/>
                    </a:solidFill>
                    <a:latin typeface="Cambria Math" panose="02040503050406030204" pitchFamily="18" charset="0"/>
                  </a:rPr>
                  <a:t>$e=\sqrt{1-\frac{b^2}{a^2}}$</a:t>
                </a:r>
                <a:r>
                  <a:rPr sz="2400" b="0">
                    <a:solidFill>
                      <a:srgbClr val="111827"/>
                    </a:solidFill>
                    <a:latin typeface="Arial"/>
                  </a:rPr>
                  <a:t> for </a:t>
                </a:r>
                <a:r>
                  <a:rPr lang="en-IN" sz="2400">
                    <a:solidFill>
                      <a:srgbClr val="111827"/>
                    </a:solidFill>
                    <a:latin typeface="Cambria Math" panose="02040503050406030204" pitchFamily="18" charset="0"/>
                  </a:rPr>
                  <a:t>$a&gt;b$</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2910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sum of the absolute minimum and the absolute maximum values of the function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 in the interval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17</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(B) </a:t>
                </a:r>
                <a14:m>
                  <m:oMath xmlns:m="http://schemas.openxmlformats.org/officeDocument/2006/math">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17</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17</m:t>
                            </m:r>
                          </m:e>
                        </m:rad>
                      </m:num>
                      <m:den>
                        <m:r>
                          <a:rPr lang="en-IN" sz="2400" i="1">
                            <a:solidFill>
                              <a:srgbClr val="111827"/>
                            </a:solidFill>
                            <a:latin typeface="Cambria Math" panose="02040503050406030204" pitchFamily="18" charset="0"/>
                          </a:rPr>
                          <m:t>2</m:t>
                        </m:r>
                      </m:den>
                    </m:f>
                  </m:oMath>
                </a14:m>
                <a:endParaRPr sz="2400">
                  <a:solidFill>
                    <a:srgbClr val="111827"/>
                  </a:solidFill>
                </a:endParaRPr>
              </a:p>
            </p:txBody>
          </p:sp>
        </mc:Choice>
        <mc:Fallback>
          <p:sp>
            <p:nvSpPr>
              <p:cNvPr id="4" name="Rounded Rectangle 3"/>
              <p:cNvSpPr/>
              <p:nvPr/>
            </p:nvSpPr>
            <p:spPr>
              <a:xfrm>
                <a:off x="731520" y="1280160"/>
                <a:ext cx="10725912" cy="22910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sum of the absolute minimum and the absolute maximum values of the function </a:t>
                </a:r>
                <a:r>
                  <a:rPr lang="en-IN" sz="2400">
                    <a:solidFill>
                      <a:srgbClr val="111827"/>
                    </a:solidFill>
                    <a:latin typeface="Cambria Math" panose="02040503050406030204" pitchFamily="18" charset="0"/>
                  </a:rPr>
                  <a:t>$f(x)=|3x-x^2+2|-x$</a:t>
                </a:r>
                <a:r>
                  <a:rPr sz="2400" b="0">
                    <a:solidFill>
                      <a:srgbClr val="111827"/>
                    </a:solidFill>
                    <a:latin typeface="Arial"/>
                  </a:rPr>
                  <a:t> in the interval </a:t>
                </a:r>
                <a:r>
                  <a:rPr lang="en-IN" sz="2400">
                    <a:solidFill>
                      <a:srgbClr val="111827"/>
                    </a:solidFill>
                    <a:latin typeface="Cambria Math" panose="02040503050406030204" pitchFamily="18" charset="0"/>
                  </a:rPr>
                  <a:t>$[-1,2]$</a:t>
                </a:r>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$\frac{\sqrt{17}+3}{2}$</a:t>
                </a:r>
                <a:r>
                  <a:rPr sz="2400" b="0">
                    <a:solidFill>
                      <a:srgbClr val="111827"/>
                    </a:solidFill>
                    <a:latin typeface="Arial"/>
                  </a:rPr>
                  <a:t>   (B) </a:t>
                </a:r>
                <a:r>
                  <a:rPr lang="en-IN" sz="2400">
                    <a:solidFill>
                      <a:srgbClr val="111827"/>
                    </a:solidFill>
                    <a:latin typeface="Cambria Math" panose="02040503050406030204" pitchFamily="18" charset="0"/>
                  </a:rPr>
                  <a:t>$\frac{\sqrt{17}+5}{2}$</a:t>
                </a:r>
                <a:r>
                  <a:rPr sz="2400" b="0">
                    <a:solidFill>
                      <a:srgbClr val="111827"/>
                    </a:solidFill>
                    <a:latin typeface="Arial"/>
                  </a:rPr>
                  <a:t>   (C) </a:t>
                </a:r>
                <a:r>
                  <a:rPr lang="en-IN" sz="2400">
                    <a:solidFill>
                      <a:srgbClr val="111827"/>
                    </a:solidFill>
                    <a:latin typeface="Cambria Math" panose="02040503050406030204" pitchFamily="18" charset="0"/>
                  </a:rPr>
                  <a:t>$5$</a:t>
                </a:r>
                <a:r>
                  <a:rPr sz="2400" b="0">
                    <a:solidFill>
                      <a:srgbClr val="111827"/>
                    </a:solidFill>
                    <a:latin typeface="Arial"/>
                  </a:rPr>
                  <a:t>   (D) </a:t>
                </a:r>
                <a:r>
                  <a:rPr lang="en-IN" sz="2400">
                    <a:solidFill>
                      <a:srgbClr val="111827"/>
                    </a:solidFill>
                    <a:latin typeface="Cambria Math" panose="02040503050406030204" pitchFamily="18" charset="0"/>
                  </a:rPr>
                  <a:t>$\frac{9-\sqrt{17}}{2}$</a:t>
                </a:r>
                <a:endParaRPr sz="2400">
                  <a:solidFill>
                    <a:srgbClr val="111827"/>
                  </a:solidFill>
                </a:endParaRPr>
              </a:p>
            </p:txBody>
          </p:sp>
        </mc:Fallback>
      </mc:AlternateContent>
      <p:sp>
        <p:nvSpPr>
          <p:cNvPr id="5" name="Rectangle 4"/>
          <p:cNvSpPr/>
          <p:nvPr/>
        </p:nvSpPr>
        <p:spPr>
          <a:xfrm>
            <a:off x="731520" y="3799839"/>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Absolute maximum and minimum values of a function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59105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Split at the root </a:t>
                </a:r>
                <a14:m>
                  <m:oMath xmlns:m="http://schemas.openxmlformats.org/officeDocument/2006/math">
                    <m:r>
                      <a:rPr lang="en-IN" sz="2400" i="1">
                        <a:solidFill>
                          <a:srgbClr val="78350F"/>
                        </a:solidFill>
                        <a:latin typeface="Cambria Math" panose="02040503050406030204" pitchFamily="18" charset="0"/>
                      </a:rPr>
                      <m:t>α</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3</m:t>
                        </m:r>
                        <m:r>
                          <m:rPr>
                            <m:sty m:val="p"/>
                          </m:rPr>
                          <a:rPr lang="en-IN" sz="2400">
                            <a:solidFill>
                              <a:srgbClr val="78350F"/>
                            </a:solidFill>
                            <a:latin typeface="Cambria Math" panose="02040503050406030204" pitchFamily="18" charset="0"/>
                          </a:rPr>
                          <m:t>−</m:t>
                        </m:r>
                        <m:rad>
                          <m:radPr>
                            <m:degHide m:val="on"/>
                            <m:ctrlPr>
                              <a:rPr lang="en-IN" sz="2400" i="1">
                                <a:solidFill>
                                  <a:srgbClr val="78350F"/>
                                </a:solidFill>
                                <a:latin typeface="Cambria Math" panose="02040503050406030204" pitchFamily="18" charset="0"/>
                              </a:rPr>
                            </m:ctrlPr>
                          </m:radPr>
                          <m:deg/>
                          <m:e>
                            <m:r>
                              <a:rPr lang="en-IN" sz="2400" i="1">
                                <a:solidFill>
                                  <a:srgbClr val="78350F"/>
                                </a:solidFill>
                                <a:latin typeface="Cambria Math" panose="02040503050406030204" pitchFamily="18" charset="0"/>
                              </a:rPr>
                              <m:t>17</m:t>
                            </m:r>
                          </m:e>
                        </m:rad>
                      </m:num>
                      <m:den>
                        <m:r>
                          <a:rPr lang="en-IN" sz="2400" i="1">
                            <a:solidFill>
                              <a:srgbClr val="78350F"/>
                            </a:solidFill>
                            <a:latin typeface="Cambria Math" panose="02040503050406030204" pitchFamily="18" charset="0"/>
                          </a:rPr>
                          <m:t>2</m:t>
                        </m:r>
                      </m:den>
                    </m:f>
                  </m:oMath>
                </a14:m>
                <a:r>
                  <a:rPr sz="2400" b="0">
                    <a:solidFill>
                      <a:srgbClr val="78350F"/>
                    </a:solidFill>
                    <a:latin typeface="Arial"/>
                  </a:rPr>
                  <a:t> of </a:t>
                </a:r>
                <a14:m>
                  <m:oMath xmlns:m="http://schemas.openxmlformats.org/officeDocument/2006/math">
                    <m:r>
                      <a:rPr lang="en-IN" sz="2400" i="1">
                        <a:solidFill>
                          <a:srgbClr val="78350F"/>
                        </a:solidFill>
                        <a:latin typeface="Cambria Math" panose="02040503050406030204" pitchFamily="18" charset="0"/>
                      </a:rPr>
                      <m:t>3</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oMath>
                </a14:m>
                <a:r>
                  <a:rPr sz="2400" b="0">
                    <a:solidFill>
                      <a:srgbClr val="78350F"/>
                    </a:solidFill>
                    <a:latin typeface="Arial"/>
                  </a:rPr>
                  <a:t>; on each piece </a:t>
                </a:r>
                <a14:m>
                  <m:oMath xmlns:m="http://schemas.openxmlformats.org/officeDocument/2006/math">
                    <m:r>
                      <a:rPr lang="en-IN" sz="2400" i="1">
                        <a:solidFill>
                          <a:srgbClr val="78350F"/>
                        </a:solidFill>
                        <a:latin typeface="Cambria Math" panose="02040503050406030204" pitchFamily="18" charset="0"/>
                      </a:rPr>
                      <m:t>𝑓</m:t>
                    </m:r>
                  </m:oMath>
                </a14:m>
                <a:r>
                  <a:rPr sz="2400" b="0">
                    <a:solidFill>
                      <a:srgbClr val="78350F"/>
                    </a:solidFill>
                    <a:latin typeface="Arial"/>
                  </a:rPr>
                  <a:t> is a parabola with known vertex, so compare vertex and end values.</a:t>
                </a:r>
                <a:endParaRPr sz="2400">
                  <a:solidFill>
                    <a:srgbClr val="78350F"/>
                  </a:solidFill>
                </a:endParaRPr>
              </a:p>
            </p:txBody>
          </p:sp>
        </mc:Choice>
        <mc:Fallback>
          <p:sp>
            <p:nvSpPr>
              <p:cNvPr id="4" name="Rounded Rectangle 3"/>
              <p:cNvSpPr/>
              <p:nvPr/>
            </p:nvSpPr>
            <p:spPr>
              <a:xfrm>
                <a:off x="731520" y="1280160"/>
                <a:ext cx="10725912" cy="159105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Split at the root </a:t>
                </a:r>
                <a:r>
                  <a:rPr lang="en-IN" sz="2400">
                    <a:solidFill>
                      <a:srgbClr val="78350F"/>
                    </a:solidFill>
                    <a:latin typeface="Cambria Math" panose="02040503050406030204" pitchFamily="18" charset="0"/>
                  </a:rPr>
                  <a:t>$\alpha=\frac{3-\sqrt{17}}{2}$</a:t>
                </a:r>
                <a:r>
                  <a:rPr sz="2400" b="0">
                    <a:solidFill>
                      <a:srgbClr val="78350F"/>
                    </a:solidFill>
                    <a:latin typeface="Arial"/>
                  </a:rPr>
                  <a:t> of </a:t>
                </a:r>
                <a:r>
                  <a:rPr lang="en-IN" sz="2400">
                    <a:solidFill>
                      <a:srgbClr val="78350F"/>
                    </a:solidFill>
                    <a:latin typeface="Cambria Math" panose="02040503050406030204" pitchFamily="18" charset="0"/>
                  </a:rPr>
                  <a:t>$3x-x^2+2$</a:t>
                </a:r>
                <a:r>
                  <a:rPr sz="2400" b="0">
                    <a:solidFill>
                      <a:srgbClr val="78350F"/>
                    </a:solidFill>
                    <a:latin typeface="Arial"/>
                  </a:rPr>
                  <a:t>; on each piece </a:t>
                </a:r>
                <a:r>
                  <a:rPr lang="en-IN" sz="2400">
                    <a:solidFill>
                      <a:srgbClr val="78350F"/>
                    </a:solidFill>
                    <a:latin typeface="Cambria Math" panose="02040503050406030204" pitchFamily="18" charset="0"/>
                  </a:rPr>
                  <a:t>$f$</a:t>
                </a:r>
                <a:r>
                  <a:rPr sz="2400" b="0">
                    <a:solidFill>
                      <a:srgbClr val="78350F"/>
                    </a:solidFill>
                    <a:latin typeface="Arial"/>
                  </a:rPr>
                  <a:t> is a parabola with known vertex, so compare vertex and end values.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3008375"/>
                <a:ext cx="10725912" cy="366674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17</m:t>
                            </m:r>
                          </m:e>
                        </m:rad>
                      </m:num>
                      <m:den>
                        <m:r>
                          <a:rPr lang="en-IN" sz="2400" i="1">
                            <a:solidFill>
                              <a:srgbClr val="111827"/>
                            </a:solidFill>
                            <a:latin typeface="Cambria Math" panose="02040503050406030204" pitchFamily="18" charset="0"/>
                          </a:rPr>
                          <m:t>2</m:t>
                        </m:r>
                      </m:den>
                    </m:f>
                  </m:oMath>
                </a14:m>
                <a:r>
                  <a:rPr sz="2400" b="0">
                    <a:solidFill>
                      <a:srgbClr val="111827"/>
                    </a:solidFill>
                    <a:latin typeface="Arial"/>
                  </a:rPr>
                  <a:t>. In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only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17</m:t>
                            </m:r>
                          </m:e>
                        </m:rad>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0.56</m:t>
                    </m:r>
                  </m:oMath>
                </a14:m>
                <a:r>
                  <a:rPr sz="2400" b="0">
                    <a:solidFill>
                      <a:srgbClr val="111827"/>
                    </a:solidFill>
                    <a:latin typeface="Arial"/>
                  </a:rPr>
                  <a:t> lies.</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with vertex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so it is decreasing on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increasing up to its vertex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decreasing afterwards.</a:t>
                </a:r>
                <a:endParaRPr sz="2400">
                  <a:solidFill>
                    <a:srgbClr val="111827"/>
                  </a:solidFill>
                </a:endParaRPr>
              </a:p>
            </p:txBody>
          </p:sp>
        </mc:Choice>
        <mc:Fallback>
          <p:sp>
            <p:nvSpPr>
              <p:cNvPr id="5" name="Rectangle 4"/>
              <p:cNvSpPr/>
              <p:nvPr/>
            </p:nvSpPr>
            <p:spPr>
              <a:xfrm>
                <a:off x="731520" y="3008375"/>
                <a:ext cx="10725912" cy="366674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$3x-x^2+2=0\iff x^2-3x-2=0\iff x=\frac{3\pm\sqrt{17}}{2}$</a:t>
                </a:r>
                <a:r>
                  <a:rPr sz="2400" b="0">
                    <a:solidFill>
                      <a:srgbClr val="111827"/>
                    </a:solidFill>
                    <a:latin typeface="Arial"/>
                  </a:rPr>
                  <a:t>. In </a:t>
                </a:r>
                <a:r>
                  <a:rPr lang="en-IN" sz="2400">
                    <a:solidFill>
                      <a:srgbClr val="111827"/>
                    </a:solidFill>
                    <a:latin typeface="Cambria Math" panose="02040503050406030204" pitchFamily="18" charset="0"/>
                  </a:rPr>
                  <a:t>$[-1,2]$</a:t>
                </a:r>
                <a:r>
                  <a:rPr sz="2400" b="0">
                    <a:solidFill>
                      <a:srgbClr val="111827"/>
                    </a:solidFill>
                    <a:latin typeface="Arial"/>
                  </a:rPr>
                  <a:t> only </a:t>
                </a:r>
                <a:r>
                  <a:rPr lang="en-IN" sz="2400">
                    <a:solidFill>
                      <a:srgbClr val="111827"/>
                    </a:solidFill>
                    <a:latin typeface="Cambria Math" panose="02040503050406030204" pitchFamily="18" charset="0"/>
                  </a:rPr>
                  <a:t>$\alpha=\frac{3-\sqrt{17}}{2}\approx-0.56$</a:t>
                </a:r>
                <a:r>
                  <a:rPr sz="2400" b="0">
                    <a:solidFill>
                      <a:srgbClr val="111827"/>
                    </a:solidFill>
                    <a:latin typeface="Arial"/>
                  </a:rPr>
                  <a:t> lies.</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$3x-x^2+2&lt;0$</a:t>
                </a:r>
                <a:r>
                  <a:rPr sz="2400" b="0">
                    <a:solidFill>
                      <a:srgbClr val="111827"/>
                    </a:solidFill>
                    <a:latin typeface="Arial"/>
                  </a:rPr>
                  <a:t> for </a:t>
                </a:r>
                <a:r>
                  <a:rPr lang="en-IN" sz="2400">
                    <a:solidFill>
                      <a:srgbClr val="111827"/>
                    </a:solidFill>
                    <a:latin typeface="Cambria Math" panose="02040503050406030204" pitchFamily="18" charset="0"/>
                  </a:rPr>
                  <a:t>$x\in[-1,\alpha)$</a:t>
                </a:r>
                <a:r>
                  <a:rPr sz="2400" b="0">
                    <a:solidFill>
                      <a:srgbClr val="111827"/>
                    </a:solidFill>
                    <a:latin typeface="Arial"/>
                  </a:rPr>
                  <a:t> and </a:t>
                </a:r>
                <a:r>
                  <a:rPr lang="en-IN" sz="2400">
                    <a:solidFill>
                      <a:srgbClr val="111827"/>
                    </a:solidFill>
                    <a:latin typeface="Cambria Math" panose="02040503050406030204" pitchFamily="18" charset="0"/>
                  </a:rPr>
                  <a:t>$&gt;0$</a:t>
                </a:r>
                <a:r>
                  <a:rPr sz="2400" b="0">
                    <a:solidFill>
                      <a:srgbClr val="111827"/>
                    </a:solidFill>
                    <a:latin typeface="Arial"/>
                  </a:rPr>
                  <a:t> for </a:t>
                </a:r>
                <a:r>
                  <a:rPr lang="en-IN" sz="2400">
                    <a:solidFill>
                      <a:srgbClr val="111827"/>
                    </a:solidFill>
                    <a:latin typeface="Cambria Math" panose="02040503050406030204" pitchFamily="18" charset="0"/>
                  </a:rPr>
                  <a:t>$x\in(\alpha,2]$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$-1\le x\le\alpha$</a:t>
                </a:r>
                <a:r>
                  <a:rPr sz="2400" b="0">
                    <a:solidFill>
                      <a:srgbClr val="111827"/>
                    </a:solidFill>
                    <a:latin typeface="Arial"/>
                  </a:rPr>
                  <a:t>: </a:t>
                </a:r>
                <a:r>
                  <a:rPr lang="en-IN" sz="2400">
                    <a:solidFill>
                      <a:srgbClr val="111827"/>
                    </a:solidFill>
                    <a:latin typeface="Cambria Math" panose="02040503050406030204" pitchFamily="18" charset="0"/>
                  </a:rPr>
                  <a:t>$f(x)=x^2-3x-2-x=x^2-4x-2$</a:t>
                </a:r>
                <a:r>
                  <a:rPr sz="2400" b="0">
                    <a:solidFill>
                      <a:srgbClr val="111827"/>
                    </a:solidFill>
                    <a:latin typeface="Arial"/>
                  </a:rPr>
                  <a:t>, with vertex at </a:t>
                </a:r>
                <a:r>
                  <a:rPr lang="en-IN" sz="2400">
                    <a:solidFill>
                      <a:srgbClr val="111827"/>
                    </a:solidFill>
                    <a:latin typeface="Cambria Math" panose="02040503050406030204" pitchFamily="18" charset="0"/>
                  </a:rPr>
                  <a:t>$x=2$</a:t>
                </a:r>
                <a:r>
                  <a:rPr sz="2400" b="0">
                    <a:solidFill>
                      <a:srgbClr val="111827"/>
                    </a:solidFill>
                    <a:latin typeface="Arial"/>
                  </a:rPr>
                  <a:t>, so it is decreasing on </a:t>
                </a:r>
                <a:r>
                  <a:rPr lang="en-IN" sz="2400">
                    <a:solidFill>
                      <a:srgbClr val="111827"/>
                    </a:solidFill>
                    <a:latin typeface="Cambria Math" panose="02040503050406030204" pitchFamily="18" charset="0"/>
                  </a:rPr>
                  <a:t>$[-1,\alpha]$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$\alpha\le x\le2$</a:t>
                </a:r>
                <a:r>
                  <a:rPr sz="2400" b="0">
                    <a:solidFill>
                      <a:srgbClr val="111827"/>
                    </a:solidFill>
                    <a:latin typeface="Arial"/>
                  </a:rPr>
                  <a:t>: </a:t>
                </a:r>
                <a:r>
                  <a:rPr lang="en-IN" sz="2400">
                    <a:solidFill>
                      <a:srgbClr val="111827"/>
                    </a:solidFill>
                    <a:latin typeface="Cambria Math" panose="02040503050406030204" pitchFamily="18" charset="0"/>
                  </a:rPr>
                  <a:t>$f(x)=3x-x^2+2-x=-x^2+2x+2$</a:t>
                </a:r>
                <a:r>
                  <a:rPr sz="2400" b="0">
                    <a:solidFill>
                      <a:srgbClr val="111827"/>
                    </a:solidFill>
                    <a:latin typeface="Arial"/>
                  </a:rPr>
                  <a:t>, increasing up to its vertex </a:t>
                </a:r>
                <a:r>
                  <a:rPr lang="en-IN" sz="2400">
                    <a:solidFill>
                      <a:srgbClr val="111827"/>
                    </a:solidFill>
                    <a:latin typeface="Cambria Math" panose="02040503050406030204" pitchFamily="18" charset="0"/>
                  </a:rPr>
                  <a:t>$x=1$</a:t>
                </a:r>
                <a:r>
                  <a:rPr sz="2400" b="0">
                    <a:solidFill>
                      <a:srgbClr val="111827"/>
                    </a:solidFill>
                    <a:latin typeface="Arial"/>
                  </a:rPr>
                  <a:t> and decreasing afterwards.</a:t>
                </a:r>
                <a:endParaRPr sz="2400">
                  <a:solidFill>
                    <a:srgbClr val="111827"/>
                  </a:solidFill>
                </a:endParaRPr>
              </a:p>
            </p:txBody>
          </p:sp>
        </mc:Fallback>
      </mc:AlternateContent>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Values: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17</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Absolute minimum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17</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0.56</m:t>
                    </m:r>
                  </m:oMath>
                </a14:m>
                <a:r>
                  <a:rPr sz="2400" b="0">
                    <a:solidFill>
                      <a:srgbClr val="111827"/>
                    </a:solidFill>
                    <a:latin typeface="Arial"/>
                  </a:rPr>
                  <a:t> (the kink where the modulus vanishes).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Absolute maximum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(attained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17</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17</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option (A).</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Values: </a:t>
                </a:r>
                <a:r>
                  <a:rPr lang="en-IN" sz="2400">
                    <a:solidFill>
                      <a:srgbClr val="111827"/>
                    </a:solidFill>
                    <a:latin typeface="Cambria Math" panose="02040503050406030204" pitchFamily="18" charset="0"/>
                  </a:rPr>
                  <a:t>$f(-1)=1+4-2=3$</a:t>
                </a:r>
                <a:r>
                  <a:rPr sz="2400" b="0">
                    <a:solidFill>
                      <a:srgbClr val="111827"/>
                    </a:solidFill>
                    <a:latin typeface="Arial"/>
                  </a:rPr>
                  <a:t>, </a:t>
                </a:r>
                <a:r>
                  <a:rPr lang="en-IN" sz="2400">
                    <a:solidFill>
                      <a:srgbClr val="111827"/>
                    </a:solidFill>
                    <a:latin typeface="Cambria Math" panose="02040503050406030204" pitchFamily="18" charset="0"/>
                  </a:rPr>
                  <a:t>$f(\alpha)=-\alpha=\frac{\sqrt{17}-3}{2}$</a:t>
                </a:r>
                <a:r>
                  <a:rPr sz="2400" b="0">
                    <a:solidFill>
                      <a:srgbClr val="111827"/>
                    </a:solidFill>
                    <a:latin typeface="Arial"/>
                  </a:rPr>
                  <a:t>, </a:t>
                </a:r>
                <a:r>
                  <a:rPr lang="en-IN" sz="2400">
                    <a:solidFill>
                      <a:srgbClr val="111827"/>
                    </a:solidFill>
                    <a:latin typeface="Cambria Math" panose="02040503050406030204" pitchFamily="18" charset="0"/>
                  </a:rPr>
                  <a:t>$f(1)=-1+2+2=3$</a:t>
                </a:r>
                <a:r>
                  <a:rPr sz="2400" b="0">
                    <a:solidFill>
                      <a:srgbClr val="111827"/>
                    </a:solidFill>
                    <a:latin typeface="Arial"/>
                  </a:rPr>
                  <a:t>, </a:t>
                </a:r>
                <a:r>
                  <a:rPr lang="en-IN" sz="2400">
                    <a:solidFill>
                      <a:srgbClr val="111827"/>
                    </a:solidFill>
                    <a:latin typeface="Cambria Math" panose="02040503050406030204" pitchFamily="18" charset="0"/>
                  </a:rPr>
                  <a:t>$f(2)=-4+4+2=2$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Absolute minimum </a:t>
                </a:r>
                <a:r>
                  <a:rPr lang="en-IN" sz="2400">
                    <a:solidFill>
                      <a:srgbClr val="111827"/>
                    </a:solidFill>
                    <a:latin typeface="Cambria Math" panose="02040503050406030204" pitchFamily="18" charset="0"/>
                  </a:rPr>
                  <a:t>$=f(\alpha)=\frac{\sqrt{17}-3}{2}\approx0.56$</a:t>
                </a:r>
                <a:r>
                  <a:rPr sz="2400" b="0">
                    <a:solidFill>
                      <a:srgbClr val="111827"/>
                    </a:solidFill>
                    <a:latin typeface="Arial"/>
                  </a:rPr>
                  <a:t> (the kink where the modulus vanishes).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Absolute maximum </a:t>
                </a:r>
                <a:r>
                  <a:rPr lang="en-IN" sz="2400">
                    <a:solidFill>
                      <a:srgbClr val="111827"/>
                    </a:solidFill>
                    <a:latin typeface="Cambria Math" panose="02040503050406030204" pitchFamily="18" charset="0"/>
                  </a:rPr>
                  <a:t>$=3$</a:t>
                </a:r>
                <a:r>
                  <a:rPr sz="2400" b="0">
                    <a:solidFill>
                      <a:srgbClr val="111827"/>
                    </a:solidFill>
                    <a:latin typeface="Arial"/>
                  </a:rPr>
                  <a:t> (attained at </a:t>
                </a:r>
                <a:r>
                  <a:rPr lang="en-IN" sz="2400">
                    <a:solidFill>
                      <a:srgbClr val="111827"/>
                    </a:solidFill>
                    <a:latin typeface="Cambria Math" panose="02040503050406030204" pitchFamily="18" charset="0"/>
                  </a:rPr>
                  <a:t>$x=-1$</a:t>
                </a:r>
                <a:r>
                  <a:rPr sz="2400" b="0">
                    <a:solidFill>
                      <a:srgbClr val="111827"/>
                    </a:solidFill>
                    <a:latin typeface="Arial"/>
                  </a:rPr>
                  <a:t> and at </a:t>
                </a:r>
                <a:r>
                  <a:rPr lang="en-IN" sz="2400">
                    <a:solidFill>
                      <a:srgbClr val="111827"/>
                    </a:solidFill>
                    <a:latin typeface="Cambria Math" panose="02040503050406030204" pitchFamily="18" charset="0"/>
                  </a:rPr>
                  <a:t>$x=1$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a:t>
                </a:r>
                <a:r>
                  <a:rPr lang="en-IN" sz="2400">
                    <a:solidFill>
                      <a:srgbClr val="111827"/>
                    </a:solidFill>
                    <a:latin typeface="Cambria Math" panose="02040503050406030204" pitchFamily="18" charset="0"/>
                  </a:rPr>
                  <a:t>$=\frac{\sqrt{17}-3}{2}+3=\frac{\sqrt{17}+3}{2}$</a:t>
                </a:r>
                <a:r>
                  <a:rPr sz="2400" b="0">
                    <a:solidFill>
                      <a:srgbClr val="111827"/>
                    </a:solidFill>
                    <a:latin typeface="Arial"/>
                  </a:rPr>
                  <a:t>, option (A).</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a:t>
                </a:r>
                <a14:m>
                  <m:oMath xmlns:m="http://schemas.openxmlformats.org/officeDocument/2006/math">
                    <m:f>
                      <m:fPr>
                        <m:type m:val="bar"/>
                        <m:ctrlPr>
                          <a:rPr lang="en-IN" sz="2800" i="1">
                            <a:solidFill>
                              <a:srgbClr val="15803D"/>
                            </a:solidFill>
                            <a:latin typeface="Cambria Math" panose="02040503050406030204" pitchFamily="18" charset="0"/>
                          </a:rPr>
                        </m:ctrlPr>
                      </m:fPr>
                      <m:num>
                        <m:rad>
                          <m:radPr>
                            <m:degHide m:val="on"/>
                            <m:ctrlPr>
                              <a:rPr lang="en-IN" sz="2800" i="1">
                                <a:solidFill>
                                  <a:srgbClr val="15803D"/>
                                </a:solidFill>
                                <a:latin typeface="Cambria Math" panose="02040503050406030204" pitchFamily="18" charset="0"/>
                              </a:rPr>
                            </m:ctrlPr>
                          </m:radPr>
                          <m:deg/>
                          <m:e>
                            <m:r>
                              <a:rPr lang="en-IN" sz="2800" i="1">
                                <a:solidFill>
                                  <a:srgbClr val="15803D"/>
                                </a:solidFill>
                                <a:latin typeface="Cambria Math" panose="02040503050406030204" pitchFamily="18" charset="0"/>
                              </a:rPr>
                              <m:t>17</m:t>
                            </m:r>
                          </m:e>
                        </m:rad>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3</m:t>
                        </m:r>
                      </m:num>
                      <m:den>
                        <m:r>
                          <a:rPr lang="en-IN" sz="2800" i="1">
                            <a:solidFill>
                              <a:srgbClr val="15803D"/>
                            </a:solidFill>
                            <a:latin typeface="Cambria Math" panose="02040503050406030204" pitchFamily="18" charset="0"/>
                          </a:rPr>
                          <m:t>2</m:t>
                        </m:r>
                      </m:den>
                    </m:f>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a:t>
                </a:r>
                <a:r>
                  <a:rPr lang="en-IN" sz="2800">
                    <a:solidFill>
                      <a:srgbClr val="15803D"/>
                    </a:solidFill>
                    <a:latin typeface="Cambria Math" panose="02040503050406030204" pitchFamily="18" charset="0"/>
                  </a:rPr>
                  <a:t>$\frac{\sqrt{17}+3}{2}$</a:t>
                </a:r>
                <a:endParaRPr sz="2800">
                  <a:solidFill>
                    <a:srgbClr val="15803D"/>
                  </a:solidFill>
                </a:endParaRPr>
              </a:p>
            </p:txBody>
          </p:sp>
        </mc:Fallback>
      </mc:AlternateContent>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split at the roots of </a:t>
                </a:r>
                <a14:m>
                  <m:oMath xmlns:m="http://schemas.openxmlformats.org/officeDocument/2006/math">
                    <m:r>
                      <a:rPr lang="en-IN" sz="2400" i="1">
                        <a:solidFill>
                          <a:srgbClr val="111827"/>
                        </a:solidFill>
                        <a:latin typeface="Cambria Math" panose="02040503050406030204" pitchFamily="18" charset="0"/>
                      </a:rPr>
                      <m:t>𝑝</m:t>
                    </m:r>
                  </m:oMath>
                </a14:m>
                <a:r>
                  <a:rPr sz="2400" b="0">
                    <a:solidFill>
                      <a:srgbClr val="111827"/>
                    </a:solidFill>
                    <a:latin typeface="Arial"/>
                  </a:rPr>
                  <a:t>; the absolute minimum often sits at the root of </a:t>
                </a:r>
                <a14:m>
                  <m:oMath xmlns:m="http://schemas.openxmlformats.org/officeDocument/2006/math">
                    <m:r>
                      <a:rPr lang="en-IN" sz="2400" i="1">
                        <a:solidFill>
                          <a:srgbClr val="111827"/>
                        </a:solidFill>
                        <a:latin typeface="Cambria Math" panose="02040503050406030204" pitchFamily="18" charset="0"/>
                      </a:rPr>
                      <m:t>𝑝</m:t>
                    </m:r>
                  </m:oMath>
                </a14:m>
                <a:r>
                  <a:rPr sz="2400" b="0">
                    <a:solidFill>
                      <a:srgbClr val="111827"/>
                    </a:solidFill>
                    <a:latin typeface="Arial"/>
                  </a:rPr>
                  <a:t> (kink) where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On each piece the function is a parabola: check whether its vertex lies in the piece before comparing end values.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Roots of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are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17</m:t>
                            </m:r>
                          </m:e>
                        </m:rad>
                      </m:num>
                      <m:den>
                        <m:r>
                          <a:rPr lang="en-IN" sz="2400" i="1">
                            <a:solidFill>
                              <a:srgbClr val="111827"/>
                            </a:solidFill>
                            <a:latin typeface="Cambria Math" panose="02040503050406030204" pitchFamily="18" charset="0"/>
                          </a:rPr>
                          <m:t>2</m:t>
                        </m:r>
                      </m:den>
                    </m:f>
                  </m:oMath>
                </a14:m>
                <a:r>
                  <a:rPr sz="2400" b="0">
                    <a:solidFill>
                      <a:srgbClr val="111827"/>
                    </a:solidFill>
                    <a:latin typeface="Arial"/>
                  </a:rPr>
                  <a:t>; only the smaller one lies in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Candidates for absolute extrema 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endpoints, interior critical points, and points where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does not exist.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$|p(x)|+q(x)$</a:t>
                </a:r>
                <a:r>
                  <a:rPr sz="2400" b="0">
                    <a:solidFill>
                      <a:srgbClr val="111827"/>
                    </a:solidFill>
                    <a:latin typeface="Arial"/>
                  </a:rPr>
                  <a:t>, split at the roots of </a:t>
                </a:r>
                <a:r>
                  <a:rPr lang="en-IN" sz="2400">
                    <a:solidFill>
                      <a:srgbClr val="111827"/>
                    </a:solidFill>
                    <a:latin typeface="Cambria Math" panose="02040503050406030204" pitchFamily="18" charset="0"/>
                  </a:rPr>
                  <a:t>$p$</a:t>
                </a:r>
                <a:r>
                  <a:rPr sz="2400" b="0">
                    <a:solidFill>
                      <a:srgbClr val="111827"/>
                    </a:solidFill>
                    <a:latin typeface="Arial"/>
                  </a:rPr>
                  <a:t>; the absolute minimum often sits at the root of </a:t>
                </a:r>
                <a:r>
                  <a:rPr lang="en-IN" sz="2400">
                    <a:solidFill>
                      <a:srgbClr val="111827"/>
                    </a:solidFill>
                    <a:latin typeface="Cambria Math" panose="02040503050406030204" pitchFamily="18" charset="0"/>
                  </a:rPr>
                  <a:t>$p$</a:t>
                </a:r>
                <a:r>
                  <a:rPr sz="2400" b="0">
                    <a:solidFill>
                      <a:srgbClr val="111827"/>
                    </a:solidFill>
                    <a:latin typeface="Arial"/>
                  </a:rPr>
                  <a:t> (kink) where </a:t>
                </a:r>
                <a:r>
                  <a:rPr lang="en-IN" sz="2400">
                    <a:solidFill>
                      <a:srgbClr val="111827"/>
                    </a:solidFill>
                    <a:latin typeface="Cambria Math" panose="02040503050406030204" pitchFamily="18" charset="0"/>
                  </a:rPr>
                  <a:t>$|p|=0$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On each piece the function is a parabola: check whether its vertex lies in the piece before comparing end values.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Roots of </a:t>
                </a:r>
                <a:r>
                  <a:rPr lang="en-IN" sz="2400">
                    <a:solidFill>
                      <a:srgbClr val="111827"/>
                    </a:solidFill>
                    <a:latin typeface="Cambria Math" panose="02040503050406030204" pitchFamily="18" charset="0"/>
                  </a:rPr>
                  <a:t>$x^2-3x-2$</a:t>
                </a:r>
                <a:r>
                  <a:rPr sz="2400" b="0">
                    <a:solidFill>
                      <a:srgbClr val="111827"/>
                    </a:solidFill>
                    <a:latin typeface="Arial"/>
                  </a:rPr>
                  <a:t> are </a:t>
                </a:r>
                <a:r>
                  <a:rPr lang="en-IN" sz="2400">
                    <a:solidFill>
                      <a:srgbClr val="111827"/>
                    </a:solidFill>
                    <a:latin typeface="Cambria Math" panose="02040503050406030204" pitchFamily="18" charset="0"/>
                  </a:rPr>
                  <a:t>$\frac{3\pm\sqrt{17}}{2}$</a:t>
                </a:r>
                <a:r>
                  <a:rPr sz="2400" b="0">
                    <a:solidFill>
                      <a:srgbClr val="111827"/>
                    </a:solidFill>
                    <a:latin typeface="Arial"/>
                  </a:rPr>
                  <a:t>; only the smaller one lies in </a:t>
                </a:r>
                <a:r>
                  <a:rPr lang="en-IN" sz="2400">
                    <a:solidFill>
                      <a:srgbClr val="111827"/>
                    </a:solidFill>
                    <a:latin typeface="Cambria Math" panose="02040503050406030204" pitchFamily="18" charset="0"/>
                  </a:rPr>
                  <a:t>$[-1,2]$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Candidates for absolute extrema on </a:t>
                </a:r>
                <a:r>
                  <a:rPr lang="en-IN" sz="2400">
                    <a:solidFill>
                      <a:srgbClr val="111827"/>
                    </a:solidFill>
                    <a:latin typeface="Cambria Math" panose="02040503050406030204" pitchFamily="18" charset="0"/>
                  </a:rPr>
                  <a:t>$[a,b]$</a:t>
                </a:r>
                <a:r>
                  <a:rPr sz="2400" b="0">
                    <a:solidFill>
                      <a:srgbClr val="111827"/>
                    </a:solidFill>
                    <a:latin typeface="Arial"/>
                  </a:rPr>
                  <a:t>: endpoints, interior critical points, and points where </a:t>
                </a:r>
                <a:r>
                  <a:rPr lang="en-IN" sz="2400">
                    <a:solidFill>
                      <a:srgbClr val="111827"/>
                    </a:solidFill>
                    <a:latin typeface="Cambria Math" panose="02040503050406030204" pitchFamily="18" charset="0"/>
                  </a:rPr>
                  <a:t>$f'$</a:t>
                </a:r>
                <a:r>
                  <a:rPr sz="2400" b="0">
                    <a:solidFill>
                      <a:srgbClr val="111827"/>
                    </a:solidFill>
                    <a:latin typeface="Arial"/>
                  </a:rPr>
                  <a:t> does not exist.</a:t>
                </a:r>
                <a:endParaRPr sz="2400">
                  <a:solidFill>
                    <a:srgbClr val="111827"/>
                  </a:solidFill>
                </a:endParaRPr>
              </a:p>
            </p:txBody>
          </p:sp>
        </mc:Fallback>
      </mc:AlternateContent>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07162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lengths of the sides of a triangle are </a:t>
                </a:r>
                <a14:m>
                  <m:oMath xmlns:m="http://schemas.openxmlformats.org/officeDocument/2006/math">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If 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oMath>
                </a14:m>
                <a:r>
                  <a:rPr sz="2400" b="0">
                    <a:solidFill>
                      <a:srgbClr val="111827"/>
                    </a:solidFill>
                    <a:latin typeface="Arial"/>
                  </a:rPr>
                  <a:t> the area of the triangle is maximum, then </a:t>
                </a:r>
                <a14:m>
                  <m:oMath xmlns:m="http://schemas.openxmlformats.org/officeDocument/2006/math">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8</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10</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12</m:t>
                    </m:r>
                  </m:oMath>
                </a14:m>
                <a:endParaRPr sz="2400">
                  <a:solidFill>
                    <a:srgbClr val="111827"/>
                  </a:solidFill>
                </a:endParaRPr>
              </a:p>
            </p:txBody>
          </p:sp>
        </mc:Choice>
        <mc:Fallback>
          <p:sp>
            <p:nvSpPr>
              <p:cNvPr id="4" name="Rounded Rectangle 3"/>
              <p:cNvSpPr/>
              <p:nvPr/>
            </p:nvSpPr>
            <p:spPr>
              <a:xfrm>
                <a:off x="731520" y="1280160"/>
                <a:ext cx="10725912" cy="207162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lengths of the sides of a triangle are </a:t>
                </a:r>
                <a:r>
                  <a:rPr lang="en-IN" sz="2400">
                    <a:solidFill>
                      <a:srgbClr val="111827"/>
                    </a:solidFill>
                    <a:latin typeface="Cambria Math" panose="02040503050406030204" pitchFamily="18" charset="0"/>
                  </a:rPr>
                  <a:t>$10+x^2$</a:t>
                </a:r>
                <a:r>
                  <a:rPr sz="2400" b="0">
                    <a:solidFill>
                      <a:srgbClr val="111827"/>
                    </a:solidFill>
                    <a:latin typeface="Arial"/>
                  </a:rPr>
                  <a:t>, </a:t>
                </a:r>
                <a:r>
                  <a:rPr lang="en-IN" sz="2400">
                    <a:solidFill>
                      <a:srgbClr val="111827"/>
                    </a:solidFill>
                    <a:latin typeface="Cambria Math" panose="02040503050406030204" pitchFamily="18" charset="0"/>
                  </a:rPr>
                  <a:t>$10+x^2$</a:t>
                </a:r>
                <a:r>
                  <a:rPr sz="2400" b="0">
                    <a:solidFill>
                      <a:srgbClr val="111827"/>
                    </a:solidFill>
                    <a:latin typeface="Arial"/>
                  </a:rPr>
                  <a:t> and </a:t>
                </a:r>
                <a:r>
                  <a:rPr lang="en-IN" sz="2400">
                    <a:solidFill>
                      <a:srgbClr val="111827"/>
                    </a:solidFill>
                    <a:latin typeface="Cambria Math" panose="02040503050406030204" pitchFamily="18" charset="0"/>
                  </a:rPr>
                  <a:t>$20-2x^2$</a:t>
                </a:r>
                <a:r>
                  <a:rPr sz="2400" b="0">
                    <a:solidFill>
                      <a:srgbClr val="111827"/>
                    </a:solidFill>
                    <a:latin typeface="Arial"/>
                  </a:rPr>
                  <a:t>. If for </a:t>
                </a:r>
                <a:r>
                  <a:rPr lang="en-IN" sz="2400">
                    <a:solidFill>
                      <a:srgbClr val="111827"/>
                    </a:solidFill>
                    <a:latin typeface="Cambria Math" panose="02040503050406030204" pitchFamily="18" charset="0"/>
                  </a:rPr>
                  <a:t>$x=k$</a:t>
                </a:r>
                <a:r>
                  <a:rPr sz="2400" b="0">
                    <a:solidFill>
                      <a:srgbClr val="111827"/>
                    </a:solidFill>
                    <a:latin typeface="Arial"/>
                  </a:rPr>
                  <a:t> the area of the triangle is maximum, then </a:t>
                </a:r>
                <a:r>
                  <a:rPr lang="en-IN" sz="2400">
                    <a:solidFill>
                      <a:srgbClr val="111827"/>
                    </a:solidFill>
                    <a:latin typeface="Cambria Math" panose="02040503050406030204" pitchFamily="18" charset="0"/>
                  </a:rPr>
                  <a:t>$3k^2$</a:t>
                </a:r>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$5$</a:t>
                </a:r>
                <a:r>
                  <a:rPr sz="2400" b="0">
                    <a:solidFill>
                      <a:srgbClr val="111827"/>
                    </a:solidFill>
                    <a:latin typeface="Arial"/>
                  </a:rPr>
                  <a:t>   (B) </a:t>
                </a:r>
                <a:r>
                  <a:rPr lang="en-IN" sz="2400">
                    <a:solidFill>
                      <a:srgbClr val="111827"/>
                    </a:solidFill>
                    <a:latin typeface="Cambria Math" panose="02040503050406030204" pitchFamily="18" charset="0"/>
                  </a:rPr>
                  <a:t>$8$</a:t>
                </a:r>
                <a:r>
                  <a:rPr sz="2400" b="0">
                    <a:solidFill>
                      <a:srgbClr val="111827"/>
                    </a:solidFill>
                    <a:latin typeface="Arial"/>
                  </a:rPr>
                  <a:t>   (C) </a:t>
                </a:r>
                <a:r>
                  <a:rPr lang="en-IN" sz="2400">
                    <a:solidFill>
                      <a:srgbClr val="111827"/>
                    </a:solidFill>
                    <a:latin typeface="Cambria Math" panose="02040503050406030204" pitchFamily="18" charset="0"/>
                  </a:rPr>
                  <a:t>$10$</a:t>
                </a:r>
                <a:r>
                  <a:rPr sz="2400" b="0">
                    <a:solidFill>
                      <a:srgbClr val="111827"/>
                    </a:solidFill>
                    <a:latin typeface="Arial"/>
                  </a:rPr>
                  <a:t>   (D) </a:t>
                </a:r>
                <a:r>
                  <a:rPr lang="en-IN" sz="2400">
                    <a:solidFill>
                      <a:srgbClr val="111827"/>
                    </a:solidFill>
                    <a:latin typeface="Cambria Math" panose="02040503050406030204" pitchFamily="18" charset="0"/>
                  </a:rPr>
                  <a:t>$12$</a:t>
                </a:r>
                <a:endParaRPr sz="2400">
                  <a:solidFill>
                    <a:srgbClr val="111827"/>
                  </a:solidFill>
                </a:endParaRPr>
              </a:p>
            </p:txBody>
          </p:sp>
        </mc:Fallback>
      </mc:AlternateContent>
      <p:sp>
        <p:nvSpPr>
          <p:cNvPr id="5" name="Rectangle 4"/>
          <p:cNvSpPr/>
          <p:nvPr/>
        </p:nvSpPr>
        <p:spPr>
          <a:xfrm>
            <a:off x="731520" y="3580383"/>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Maximum area of a triangle, Maxima and minima</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triangle is isosceles, so the altitude to the base gives the area as a cubic in </a:t>
                </a:r>
                <a14:m>
                  <m:oMath xmlns:m="http://schemas.openxmlformats.org/officeDocument/2006/math">
                    <m:r>
                      <a:rPr lang="en-IN" sz="2400" i="1">
                        <a:solidFill>
                          <a:srgbClr val="78350F"/>
                        </a:solidFill>
                        <a:latin typeface="Cambria Math" panose="02040503050406030204" pitchFamily="18" charset="0"/>
                      </a:rPr>
                      <m:t>𝑥</m:t>
                    </m:r>
                  </m:oMath>
                </a14:m>
                <a:r>
                  <a:rPr sz="2400" b="0">
                    <a:solidFill>
                      <a:srgbClr val="78350F"/>
                    </a:solidFill>
                    <a:latin typeface="Arial"/>
                  </a:rPr>
                  <a:t> whose derivative is easily zeroed.</a:t>
                </a:r>
                <a:endParaRPr sz="2400">
                  <a:solidFill>
                    <a:srgbClr val="78350F"/>
                  </a:solidFill>
                </a:endParaRPr>
              </a:p>
            </p:txBody>
          </p:sp>
        </mc:Choice>
        <mc:Fallback>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triangle is isosceles, so the altitude to the base gives the area as a cubic in </a:t>
                </a:r>
                <a:r>
                  <a:rPr lang="en-IN" sz="2400">
                    <a:solidFill>
                      <a:srgbClr val="78350F"/>
                    </a:solidFill>
                    <a:latin typeface="Cambria Math" panose="02040503050406030204" pitchFamily="18" charset="0"/>
                  </a:rPr>
                  <a:t>$x$</a:t>
                </a:r>
                <a:r>
                  <a:rPr sz="2400" b="0">
                    <a:solidFill>
                      <a:srgbClr val="78350F"/>
                    </a:solidFill>
                    <a:latin typeface="Arial"/>
                  </a:rPr>
                  <a:t> whose derivative is easily zeroed.</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the foot </a:t>
                </a:r>
                <a14:m>
                  <m:oMath xmlns:m="http://schemas.openxmlformats.org/officeDocument/2006/math">
                    <m:r>
                      <a:rPr lang="en-IN" sz="2400" i="1">
                        <a:solidFill>
                          <a:srgbClr val="111827"/>
                        </a:solidFill>
                        <a:latin typeface="Cambria Math" panose="02040503050406030204" pitchFamily="18" charset="0"/>
                      </a:rPr>
                      <m:t>𝐷</m:t>
                    </m:r>
                  </m:oMath>
                </a14:m>
                <a:r>
                  <a:rPr sz="2400" b="0">
                    <a:solidFill>
                      <a:srgbClr val="111827"/>
                    </a:solidFill>
                    <a:latin typeface="Arial"/>
                  </a:rPr>
                  <a:t> of the altitude from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is the midpoint of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&lt;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10</m:t>
                    </m:r>
                  </m:oMath>
                </a14:m>
                <a:r>
                  <a:rPr sz="2400" b="0">
                    <a:solidFill>
                      <a:srgbClr val="111827"/>
                    </a:solidFill>
                    <a:latin typeface="Arial"/>
                  </a:rPr>
                  <a:t> for a valid triangle).</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40</m:t>
                        </m:r>
                      </m:e>
                    </m:rad>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𝑥</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Area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40</m:t>
                        </m:r>
                      </m:e>
                    </m:rad>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40</m:t>
                        </m:r>
                      </m:e>
                    </m:rad>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$AB=AC=10+x^2$</a:t>
                </a:r>
                <a:r>
                  <a:rPr sz="2400" b="0">
                    <a:solidFill>
                      <a:srgbClr val="111827"/>
                    </a:solidFill>
                    <a:latin typeface="Arial"/>
                  </a:rPr>
                  <a:t> and </a:t>
                </a:r>
                <a:r>
                  <a:rPr lang="en-IN" sz="2400">
                    <a:solidFill>
                      <a:srgbClr val="111827"/>
                    </a:solidFill>
                    <a:latin typeface="Cambria Math" panose="02040503050406030204" pitchFamily="18" charset="0"/>
                  </a:rPr>
                  <a:t>$BC=20-2x^2$</a:t>
                </a:r>
                <a:r>
                  <a:rPr sz="2400" b="0">
                    <a:solidFill>
                      <a:srgbClr val="111827"/>
                    </a:solidFill>
                    <a:latin typeface="Arial"/>
                  </a:rPr>
                  <a:t>; the foot </a:t>
                </a:r>
                <a:r>
                  <a:rPr lang="en-IN" sz="2400">
                    <a:solidFill>
                      <a:srgbClr val="111827"/>
                    </a:solidFill>
                    <a:latin typeface="Cambria Math" panose="02040503050406030204" pitchFamily="18" charset="0"/>
                  </a:rPr>
                  <a:t>$D$</a:t>
                </a:r>
                <a:r>
                  <a:rPr sz="2400" b="0">
                    <a:solidFill>
                      <a:srgbClr val="111827"/>
                    </a:solidFill>
                    <a:latin typeface="Arial"/>
                  </a:rPr>
                  <a:t> of the altitude from </a:t>
                </a:r>
                <a:r>
                  <a:rPr lang="en-IN" sz="2400">
                    <a:solidFill>
                      <a:srgbClr val="111827"/>
                    </a:solidFill>
                    <a:latin typeface="Cambria Math" panose="02040503050406030204" pitchFamily="18" charset="0"/>
                  </a:rPr>
                  <a:t>$A$</a:t>
                </a:r>
                <a:r>
                  <a:rPr sz="2400" b="0">
                    <a:solidFill>
                      <a:srgbClr val="111827"/>
                    </a:solidFill>
                    <a:latin typeface="Arial"/>
                  </a:rPr>
                  <a:t> is the midpoint of </a:t>
                </a:r>
                <a:r>
                  <a:rPr lang="en-IN" sz="2400">
                    <a:solidFill>
                      <a:srgbClr val="111827"/>
                    </a:solidFill>
                    <a:latin typeface="Cambria Math" panose="02040503050406030204" pitchFamily="18" charset="0"/>
                  </a:rPr>
                  <a:t>$BC$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$BD=\frac{20-2x^2}{2}=10-x^2$</a:t>
                </a:r>
                <a:r>
                  <a:rPr sz="2400" b="0">
                    <a:solidFill>
                      <a:srgbClr val="111827"/>
                    </a:solidFill>
                    <a:latin typeface="Arial"/>
                  </a:rPr>
                  <a:t> (so </a:t>
                </a:r>
                <a:r>
                  <a:rPr lang="en-IN" sz="2400">
                    <a:solidFill>
                      <a:srgbClr val="111827"/>
                    </a:solidFill>
                    <a:latin typeface="Cambria Math" panose="02040503050406030204" pitchFamily="18" charset="0"/>
                  </a:rPr>
                  <a:t>$0&lt;x^2&lt;10$</a:t>
                </a:r>
                <a:r>
                  <a:rPr sz="2400" b="0">
                    <a:solidFill>
                      <a:srgbClr val="111827"/>
                    </a:solidFill>
                    <a:latin typeface="Arial"/>
                  </a:rPr>
                  <a:t> for a valid triangle).</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$AD=\sqrt{(10+x^2)^2-(10-x^2)^2}=\sqrt{(20)(2x^2)}=\sqrt{40}\,x$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Area </a:t>
                </a:r>
                <a:r>
                  <a:rPr lang="en-IN" sz="2400">
                    <a:solidFill>
                      <a:srgbClr val="111827"/>
                    </a:solidFill>
                    <a:latin typeface="Cambria Math" panose="02040503050406030204" pitchFamily="18" charset="0"/>
                  </a:rPr>
                  <a:t>$=\frac{1}{2}\cdot AD\cdot BC=\frac{1}{2}\sqrt{40}\,x(20-2x^2)=\sqrt{40}\,(10x-x^3)$</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𝐴</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40</m:t>
                        </m:r>
                      </m:e>
                    </m:rad>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𝐴</m:t>
                        </m:r>
                      </m:num>
                      <m:den>
                        <m:r>
                          <a:rPr lang="en-IN" sz="2400" i="1">
                            <a:solidFill>
                              <a:srgbClr val="111827"/>
                            </a:solidFill>
                            <a:latin typeface="Cambria Math" panose="02040503050406030204" pitchFamily="18" charset="0"/>
                          </a:rPr>
                          <m:t>𝑑</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40</m:t>
                        </m:r>
                      </m:e>
                    </m:rad>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so this is a maximum.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option (C).</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$\frac{dA}{dx}=\sqrt{40}\,(10-3x^2)=0\Rightarrow x^2=\frac{10}{3}$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$\frac{d^2A}{dx^2}=-6\sqrt{40}\,x&lt;0$</a:t>
                </a:r>
                <a:r>
                  <a:rPr sz="2400" b="0">
                    <a:solidFill>
                      <a:srgbClr val="111827"/>
                    </a:solidFill>
                    <a:latin typeface="Arial"/>
                  </a:rPr>
                  <a:t> for </a:t>
                </a:r>
                <a:r>
                  <a:rPr lang="en-IN" sz="2400">
                    <a:solidFill>
                      <a:srgbClr val="111827"/>
                    </a:solidFill>
                    <a:latin typeface="Cambria Math" panose="02040503050406030204" pitchFamily="18" charset="0"/>
                  </a:rPr>
                  <a:t>$x&gt;0$</a:t>
                </a:r>
                <a:r>
                  <a:rPr sz="2400" b="0">
                    <a:solidFill>
                      <a:srgbClr val="111827"/>
                    </a:solidFill>
                    <a:latin typeface="Arial"/>
                  </a:rPr>
                  <a:t>, so this is a maximum.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At </a:t>
                </a:r>
                <a:r>
                  <a:rPr lang="en-IN" sz="2400">
                    <a:solidFill>
                      <a:srgbClr val="111827"/>
                    </a:solidFill>
                    <a:latin typeface="Cambria Math" panose="02040503050406030204" pitchFamily="18" charset="0"/>
                  </a:rPr>
                  <a:t>$x=k$</a:t>
                </a:r>
                <a:r>
                  <a:rPr sz="2400" b="0">
                    <a:solidFill>
                      <a:srgbClr val="111827"/>
                    </a:solidFill>
                    <a:latin typeface="Arial"/>
                  </a:rPr>
                  <a:t>: </a:t>
                </a:r>
                <a:r>
                  <a:rPr lang="en-IN" sz="2400">
                    <a:solidFill>
                      <a:srgbClr val="111827"/>
                    </a:solidFill>
                    <a:latin typeface="Cambria Math" panose="02040503050406030204" pitchFamily="18" charset="0"/>
                  </a:rPr>
                  <a:t>$3k^2=10$</a:t>
                </a:r>
                <a:r>
                  <a:rPr sz="2400" b="0">
                    <a:solidFill>
                      <a:srgbClr val="111827"/>
                    </a:solidFill>
                    <a:latin typeface="Arial"/>
                  </a:rPr>
                  <a:t>, option (C).</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14:m>
                  <m:oMath xmlns:m="http://schemas.openxmlformats.org/officeDocument/2006/math">
                    <m:r>
                      <a:rPr lang="en-IN" sz="2800" i="1">
                        <a:solidFill>
                          <a:srgbClr val="15803D"/>
                        </a:solidFill>
                        <a:latin typeface="Cambria Math" panose="02040503050406030204" pitchFamily="18" charset="0"/>
                      </a:rPr>
                      <m:t>10</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r>
                  <a:rPr lang="en-IN" sz="2800">
                    <a:solidFill>
                      <a:srgbClr val="15803D"/>
                    </a:solidFill>
                    <a:latin typeface="Cambria Math" panose="02040503050406030204" pitchFamily="18" charset="0"/>
                  </a:rPr>
                  <a:t>$10$</a:t>
                </a:r>
                <a:endParaRPr sz="2800">
                  <a:solidFill>
                    <a:srgbClr val="15803D"/>
                  </a:solidFill>
                </a:endParaRPr>
              </a:p>
            </p:txBody>
          </p:sp>
        </mc:Fallback>
      </mc:AlternateContent>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Heron's formula plus AM-GM on three positive factors with a constant sum; no differentiation needed.</a:t>
            </a:r>
            <a:endParaRPr sz="2400">
              <a:solidFill>
                <a:srgbClr val="78350F"/>
              </a:solidFill>
            </a:endParaRPr>
          </a:p>
        </p:txBody>
      </p:sp>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Semi-perimeter </a:t>
                </a:r>
                <a14:m>
                  <m:oMath xmlns:m="http://schemas.openxmlformats.org/officeDocument/2006/math">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Area</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40</m:t>
                    </m:r>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Write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three factors have constant sum </a:t>
                </a:r>
                <a14:m>
                  <m:oMath xmlns:m="http://schemas.openxmlformats.org/officeDocument/2006/math">
                    <m:r>
                      <a:rPr lang="en-IN" sz="2400" i="1">
                        <a:solidFill>
                          <a:srgbClr val="111827"/>
                        </a:solidFill>
                        <a:latin typeface="Cambria Math" panose="02040503050406030204" pitchFamily="18" charset="0"/>
                      </a:rPr>
                      <m:t>20</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Semi-perimeter </a:t>
                </a:r>
                <a:r>
                  <a:rPr lang="en-IN" sz="2400">
                    <a:solidFill>
                      <a:srgbClr val="111827"/>
                    </a:solidFill>
                    <a:latin typeface="Cambria Math" panose="02040503050406030204" pitchFamily="18" charset="0"/>
                  </a:rPr>
                  <a:t>$s=\frac{2(10+x^2)+20-2x^2}{2}=20$</a:t>
                </a:r>
                <a:r>
                  <a:rPr sz="2400" b="0">
                    <a:solidFill>
                      <a:srgbClr val="111827"/>
                    </a:solidFill>
                    <a:latin typeface="Arial"/>
                  </a:rPr>
                  <a:t>; </a:t>
                </a:r>
                <a:r>
                  <a:rPr lang="en-IN" sz="2400">
                    <a:solidFill>
                      <a:srgbClr val="111827"/>
                    </a:solidFill>
                    <a:latin typeface="Cambria Math" panose="02040503050406030204" pitchFamily="18" charset="0"/>
                  </a:rPr>
                  <a:t>$s-a=s-b=10-x^2$</a:t>
                </a:r>
                <a:r>
                  <a:rPr sz="2400" b="0">
                    <a:solidFill>
                      <a:srgbClr val="111827"/>
                    </a:solidFill>
                    <a:latin typeface="Arial"/>
                  </a:rPr>
                  <a:t>, </a:t>
                </a:r>
                <a:r>
                  <a:rPr lang="en-IN" sz="2400">
                    <a:solidFill>
                      <a:srgbClr val="111827"/>
                    </a:solidFill>
                    <a:latin typeface="Cambria Math" panose="02040503050406030204" pitchFamily="18" charset="0"/>
                  </a:rPr>
                  <a:t>$s-c=2x^2$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Area</a:t>
                </a:r>
                <a:r>
                  <a:rPr lang="en-IN" sz="2400">
                    <a:solidFill>
                      <a:srgbClr val="111827"/>
                    </a:solidFill>
                    <a:latin typeface="Cambria Math" panose="02040503050406030204" pitchFamily="18" charset="0"/>
                  </a:rPr>
                  <a:t>$^2=20(10-x^2)^2\cdot2x^2=40\,x^2(10-x^2)^2$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Write </a:t>
                </a:r>
                <a:r>
                  <a:rPr lang="en-IN" sz="2400">
                    <a:solidFill>
                      <a:srgbClr val="111827"/>
                    </a:solidFill>
                    <a:latin typeface="Cambria Math" panose="02040503050406030204" pitchFamily="18" charset="0"/>
                  </a:rPr>
                  <a:t>$x^2(10-x^2)^2=\frac{1}{2}(2x^2)(10-x^2)(10-x^2)$</a:t>
                </a:r>
                <a:r>
                  <a:rPr sz="2400" b="0">
                    <a:solidFill>
                      <a:srgbClr val="111827"/>
                    </a:solidFill>
                    <a:latin typeface="Arial"/>
                  </a:rPr>
                  <a:t>; the three factors have constant sum </a:t>
                </a:r>
                <a:r>
                  <a:rPr lang="en-IN" sz="2400">
                    <a:solidFill>
                      <a:srgbClr val="111827"/>
                    </a:solidFill>
                    <a:latin typeface="Cambria Math" panose="02040503050406030204" pitchFamily="18" charset="0"/>
                  </a:rPr>
                  <a:t>$20$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By AM-GM their product is maximum when all three are equal: </a:t>
                </a:r>
                <a14:m>
                  <m:oMath xmlns:m="http://schemas.openxmlformats.org/officeDocument/2006/math">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option (C).</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By AM-GM their product is maximum when all three are equal: </a:t>
                </a:r>
                <a:r>
                  <a:rPr lang="en-IN" sz="2400">
                    <a:solidFill>
                      <a:srgbClr val="111827"/>
                    </a:solidFill>
                    <a:latin typeface="Cambria Math" panose="02040503050406030204" pitchFamily="18" charset="0"/>
                  </a:rPr>
                  <a:t>$2x^2=10-x^2$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$3x^2=10$</a:t>
                </a:r>
                <a:r>
                  <a:rPr sz="2400" b="0">
                    <a:solidFill>
                      <a:srgbClr val="111827"/>
                    </a:solidFill>
                    <a:latin typeface="Arial"/>
                  </a:rPr>
                  <a:t>, i.e. </a:t>
                </a:r>
                <a:r>
                  <a:rPr lang="en-IN" sz="2400">
                    <a:solidFill>
                      <a:srgbClr val="111827"/>
                    </a:solidFill>
                    <a:latin typeface="Cambria Math" panose="02040503050406030204" pitchFamily="18" charset="0"/>
                  </a:rPr>
                  <a:t>$3k^2=10$</a:t>
                </a:r>
                <a:r>
                  <a:rPr sz="2400" b="0">
                    <a:solidFill>
                      <a:srgbClr val="111827"/>
                    </a:solidFill>
                    <a:latin typeface="Arial"/>
                  </a:rPr>
                  <a:t>, option (C).</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a:t>
                </a:r>
                <a14:m>
                  <m:oMath xmlns:m="http://schemas.openxmlformats.org/officeDocument/2006/math">
                    <m:r>
                      <a:rPr lang="en-IN" sz="2800" i="1">
                        <a:solidFill>
                          <a:srgbClr val="15803D"/>
                        </a:solidFill>
                        <a:latin typeface="Cambria Math" panose="02040503050406030204" pitchFamily="18" charset="0"/>
                      </a:rPr>
                      <m:t>10</m:t>
                    </m:r>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a:t>
                </a:r>
                <a:r>
                  <a:rPr lang="en-IN" sz="2800">
                    <a:solidFill>
                      <a:srgbClr val="15803D"/>
                    </a:solidFill>
                    <a:latin typeface="Cambria Math" panose="02040503050406030204" pitchFamily="18" charset="0"/>
                  </a:rPr>
                  <a:t>$10$</a:t>
                </a:r>
                <a:endParaRPr sz="2800">
                  <a:solidFill>
                    <a:srgbClr val="15803D"/>
                  </a:solidFill>
                </a:endParaRPr>
              </a:p>
            </p:txBody>
          </p:sp>
        </mc:Fallback>
      </mc:AlternateContent>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Isosceles triangle with equal sides </a:t>
                </a:r>
                <a14:m>
                  <m:oMath xmlns:m="http://schemas.openxmlformats.org/officeDocument/2006/math">
                    <m:r>
                      <a:rPr lang="en-IN" sz="2400" i="1">
                        <a:solidFill>
                          <a:srgbClr val="111827"/>
                        </a:solidFill>
                        <a:latin typeface="Cambria Math" panose="02040503050406030204" pitchFamily="18" charset="0"/>
                      </a:rPr>
                      <m:t>𝑝</m:t>
                    </m:r>
                  </m:oMath>
                </a14:m>
                <a:r>
                  <a:rPr sz="2400" b="0">
                    <a:solidFill>
                      <a:srgbClr val="111827"/>
                    </a:solidFill>
                    <a:latin typeface="Arial"/>
                  </a:rPr>
                  <a:t> and base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𝑚</m:t>
                    </m:r>
                  </m:oMath>
                </a14:m>
                <a:r>
                  <a:rPr sz="2400" b="0">
                    <a:solidFill>
                      <a:srgbClr val="111827"/>
                    </a:solidFill>
                    <a:latin typeface="Arial"/>
                  </a:rPr>
                  <a:t>: height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sSup>
                          <m:e>
                            <m:r>
                              <a:rPr lang="en-IN" sz="2400" i="1">
                                <a:solidFill>
                                  <a:srgbClr val="111827"/>
                                </a:solidFill>
                                <a:latin typeface="Cambria Math" panose="02040503050406030204" pitchFamily="18" charset="0"/>
                              </a:rPr>
                              <m:t>𝑝</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𝑚</m:t>
                            </m:r>
                          </m:e>
                          <m:sup>
                            <m:r>
                              <a:rPr lang="en-IN" sz="2400" i="1">
                                <a:solidFill>
                                  <a:srgbClr val="111827"/>
                                </a:solidFill>
                                <a:latin typeface="Cambria Math" panose="02040503050406030204" pitchFamily="18" charset="0"/>
                              </a:rPr>
                              <m:t>2</m:t>
                            </m:r>
                          </m:sup>
                        </m:sSup>
                      </m:e>
                    </m:rad>
                  </m:oMath>
                </a14:m>
                <a:r>
                  <a:rPr sz="2400" b="0">
                    <a:solidFill>
                      <a:srgbClr val="111827"/>
                    </a:solidFill>
                    <a:latin typeface="Arial"/>
                  </a:rPr>
                  <a:t>, area </a:t>
                </a:r>
                <a14:m>
                  <m:oMath xmlns:m="http://schemas.openxmlformats.org/officeDocument/2006/math">
                    <m:r>
                      <a:rPr lang="en-IN" sz="2400" i="1">
                        <a:solidFill>
                          <a:srgbClr val="111827"/>
                        </a:solidFill>
                        <a:latin typeface="Cambria Math" panose="02040503050406030204" pitchFamily="18" charset="0"/>
                      </a:rPr>
                      <m:t>𝑚</m:t>
                    </m:r>
                    <m:rad>
                      <m:radPr>
                        <m:degHide m:val="on"/>
                        <m:ctrlPr>
                          <a:rPr lang="en-IN" sz="2400" i="1">
                            <a:solidFill>
                              <a:srgbClr val="111827"/>
                            </a:solidFill>
                            <a:latin typeface="Cambria Math" panose="02040503050406030204" pitchFamily="18" charset="0"/>
                          </a:rPr>
                        </m:ctrlPr>
                      </m:radPr>
                      <m:deg/>
                      <m:e>
                        <m:sSup>
                          <m:e>
                            <m:r>
                              <a:rPr lang="en-IN" sz="2400" i="1">
                                <a:solidFill>
                                  <a:srgbClr val="111827"/>
                                </a:solidFill>
                                <a:latin typeface="Cambria Math" panose="02040503050406030204" pitchFamily="18" charset="0"/>
                              </a:rPr>
                              <m:t>𝑝</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𝑚</m:t>
                            </m:r>
                          </m:e>
                          <m:sup>
                            <m:r>
                              <a:rPr lang="en-IN" sz="2400" i="1">
                                <a:solidFill>
                                  <a:srgbClr val="111827"/>
                                </a:solidFill>
                                <a:latin typeface="Cambria Math" panose="02040503050406030204" pitchFamily="18" charset="0"/>
                              </a:rPr>
                              <m:t>2</m:t>
                            </m:r>
                          </m:sup>
                        </m:sSup>
                      </m:e>
                    </m:ra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Heron: area</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when factors group into a constant sum, AM-GM gives the maximum at equality.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AM-GM for maximising </a:t>
                </a:r>
                <a14:m>
                  <m:oMath xmlns:m="http://schemas.openxmlformats.org/officeDocument/2006/math">
                    <m:r>
                      <a:rPr lang="en-IN" sz="2400" i="1">
                        <a:solidFill>
                          <a:srgbClr val="111827"/>
                        </a:solidFill>
                        <a:latin typeface="Cambria Math" panose="02040503050406030204" pitchFamily="18" charset="0"/>
                      </a:rPr>
                      <m:t>𝑢</m:t>
                    </m:r>
                    <m:r>
                      <a:rPr lang="en-IN" sz="2400" i="1">
                        <a:solidFill>
                          <a:srgbClr val="111827"/>
                        </a:solidFill>
                        <a:latin typeface="Cambria Math" panose="02040503050406030204" pitchFamily="18" charset="0"/>
                      </a:rPr>
                      <m:t>𝑣</m:t>
                    </m:r>
                    <m:r>
                      <a:rPr lang="en-IN" sz="2400" i="1">
                        <a:solidFill>
                          <a:srgbClr val="111827"/>
                        </a:solidFill>
                        <a:latin typeface="Cambria Math" panose="02040503050406030204" pitchFamily="18" charset="0"/>
                      </a:rPr>
                      <m:t>𝑤</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𝑣</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𝑤</m:t>
                    </m:r>
                  </m:oMath>
                </a14:m>
                <a:r>
                  <a:rPr sz="2400" b="0">
                    <a:solidFill>
                      <a:srgbClr val="111827"/>
                    </a:solidFill>
                    <a:latin typeface="Arial"/>
                  </a:rPr>
                  <a:t> fixed: maximum when </a:t>
                </a:r>
                <a14:m>
                  <m:oMath xmlns:m="http://schemas.openxmlformats.org/officeDocument/2006/math">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𝑣</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𝑤</m:t>
                    </m:r>
                  </m:oMath>
                </a14:m>
                <a:r>
                  <a:rPr sz="2400" b="0">
                    <a:solidFill>
                      <a:srgbClr val="111827"/>
                    </a:solidFill>
                    <a:latin typeface="Arial"/>
                  </a:rPr>
                  <a:t> (here </a:t>
                </a:r>
                <a14:m>
                  <m:oMath xmlns:m="http://schemas.openxmlformats.org/officeDocument/2006/math">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Domain check: </a:t>
                </a:r>
                <a14:m>
                  <m:oMath xmlns:m="http://schemas.openxmlformats.org/officeDocument/2006/math">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needs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10</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is inside.</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Isosceles triangle with equal sides </a:t>
                </a:r>
                <a:r>
                  <a:rPr lang="en-IN" sz="2400">
                    <a:solidFill>
                      <a:srgbClr val="111827"/>
                    </a:solidFill>
                    <a:latin typeface="Cambria Math" panose="02040503050406030204" pitchFamily="18" charset="0"/>
                  </a:rPr>
                  <a:t>$p$</a:t>
                </a:r>
                <a:r>
                  <a:rPr sz="2400" b="0">
                    <a:solidFill>
                      <a:srgbClr val="111827"/>
                    </a:solidFill>
                    <a:latin typeface="Arial"/>
                  </a:rPr>
                  <a:t> and base </a:t>
                </a:r>
                <a:r>
                  <a:rPr lang="en-IN" sz="2400">
                    <a:solidFill>
                      <a:srgbClr val="111827"/>
                    </a:solidFill>
                    <a:latin typeface="Cambria Math" panose="02040503050406030204" pitchFamily="18" charset="0"/>
                  </a:rPr>
                  <a:t>$2m$</a:t>
                </a:r>
                <a:r>
                  <a:rPr sz="2400" b="0">
                    <a:solidFill>
                      <a:srgbClr val="111827"/>
                    </a:solidFill>
                    <a:latin typeface="Arial"/>
                  </a:rPr>
                  <a:t>: height </a:t>
                </a:r>
                <a:r>
                  <a:rPr lang="en-IN" sz="2400">
                    <a:solidFill>
                      <a:srgbClr val="111827"/>
                    </a:solidFill>
                    <a:latin typeface="Cambria Math" panose="02040503050406030204" pitchFamily="18" charset="0"/>
                  </a:rPr>
                  <a:t>$\sqrt{p^2-m^2}$</a:t>
                </a:r>
                <a:r>
                  <a:rPr sz="2400" b="0">
                    <a:solidFill>
                      <a:srgbClr val="111827"/>
                    </a:solidFill>
                    <a:latin typeface="Arial"/>
                  </a:rPr>
                  <a:t>, area </a:t>
                </a:r>
                <a:r>
                  <a:rPr lang="en-IN" sz="2400">
                    <a:solidFill>
                      <a:srgbClr val="111827"/>
                    </a:solidFill>
                    <a:latin typeface="Cambria Math" panose="02040503050406030204" pitchFamily="18" charset="0"/>
                  </a:rPr>
                  <a:t>$m\sqrt{p^2-m^2}$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Heron: area</a:t>
                </a:r>
                <a:r>
                  <a:rPr lang="en-IN" sz="2400">
                    <a:solidFill>
                      <a:srgbClr val="111827"/>
                    </a:solidFill>
                    <a:latin typeface="Cambria Math" panose="02040503050406030204" pitchFamily="18" charset="0"/>
                  </a:rPr>
                  <a:t>$^2=s(s-a)(s-b)(s-c)$</a:t>
                </a:r>
                <a:r>
                  <a:rPr sz="2400" b="0">
                    <a:solidFill>
                      <a:srgbClr val="111827"/>
                    </a:solidFill>
                    <a:latin typeface="Arial"/>
                  </a:rPr>
                  <a:t>; when factors group into a constant sum, AM-GM gives the maximum at equality.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AM-GM for maximising </a:t>
                </a:r>
                <a:r>
                  <a:rPr lang="en-IN" sz="2400">
                    <a:solidFill>
                      <a:srgbClr val="111827"/>
                    </a:solidFill>
                    <a:latin typeface="Cambria Math" panose="02040503050406030204" pitchFamily="18" charset="0"/>
                  </a:rPr>
                  <a:t>$uvw$</a:t>
                </a:r>
                <a:r>
                  <a:rPr sz="2400" b="0">
                    <a:solidFill>
                      <a:srgbClr val="111827"/>
                    </a:solidFill>
                    <a:latin typeface="Arial"/>
                  </a:rPr>
                  <a:t> with </a:t>
                </a:r>
                <a:r>
                  <a:rPr lang="en-IN" sz="2400">
                    <a:solidFill>
                      <a:srgbClr val="111827"/>
                    </a:solidFill>
                    <a:latin typeface="Cambria Math" panose="02040503050406030204" pitchFamily="18" charset="0"/>
                  </a:rPr>
                  <a:t>$u+v+w$</a:t>
                </a:r>
                <a:r>
                  <a:rPr sz="2400" b="0">
                    <a:solidFill>
                      <a:srgbClr val="111827"/>
                    </a:solidFill>
                    <a:latin typeface="Arial"/>
                  </a:rPr>
                  <a:t> fixed: maximum when </a:t>
                </a:r>
                <a:r>
                  <a:rPr lang="en-IN" sz="2400">
                    <a:solidFill>
                      <a:srgbClr val="111827"/>
                    </a:solidFill>
                    <a:latin typeface="Cambria Math" panose="02040503050406030204" pitchFamily="18" charset="0"/>
                  </a:rPr>
                  <a:t>$u=v=w$</a:t>
                </a:r>
                <a:r>
                  <a:rPr sz="2400" b="0">
                    <a:solidFill>
                      <a:srgbClr val="111827"/>
                    </a:solidFill>
                    <a:latin typeface="Arial"/>
                  </a:rPr>
                  <a:t> (here </a:t>
                </a:r>
                <a:r>
                  <a:rPr lang="en-IN" sz="2400">
                    <a:solidFill>
                      <a:srgbClr val="111827"/>
                    </a:solidFill>
                    <a:latin typeface="Cambria Math" panose="02040503050406030204" pitchFamily="18" charset="0"/>
                  </a:rPr>
                  <a:t>$2x^2$</a:t>
                </a:r>
                <a:r>
                  <a:rPr sz="2400" b="0">
                    <a:solidFill>
                      <a:srgbClr val="111827"/>
                    </a:solidFill>
                    <a:latin typeface="Arial"/>
                  </a:rPr>
                  <a:t>, </a:t>
                </a:r>
                <a:r>
                  <a:rPr lang="en-IN" sz="2400">
                    <a:solidFill>
                      <a:srgbClr val="111827"/>
                    </a:solidFill>
                    <a:latin typeface="Cambria Math" panose="02040503050406030204" pitchFamily="18" charset="0"/>
                  </a:rPr>
                  <a:t>$10-x^2$</a:t>
                </a:r>
                <a:r>
                  <a:rPr sz="2400" b="0">
                    <a:solidFill>
                      <a:srgbClr val="111827"/>
                    </a:solidFill>
                    <a:latin typeface="Arial"/>
                  </a:rPr>
                  <a:t>, </a:t>
                </a:r>
                <a:r>
                  <a:rPr lang="en-IN" sz="2400">
                    <a:solidFill>
                      <a:srgbClr val="111827"/>
                    </a:solidFill>
                    <a:latin typeface="Cambria Math" panose="02040503050406030204" pitchFamily="18" charset="0"/>
                  </a:rPr>
                  <a:t>$10-x^2$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Domain check: </a:t>
                </a:r>
                <a:r>
                  <a:rPr lang="en-IN" sz="2400">
                    <a:solidFill>
                      <a:srgbClr val="111827"/>
                    </a:solidFill>
                    <a:latin typeface="Cambria Math" panose="02040503050406030204" pitchFamily="18" charset="0"/>
                  </a:rPr>
                  <a:t>$20-2x^2&gt;0$</a:t>
                </a:r>
                <a:r>
                  <a:rPr sz="2400" b="0">
                    <a:solidFill>
                      <a:srgbClr val="111827"/>
                    </a:solidFill>
                    <a:latin typeface="Arial"/>
                  </a:rPr>
                  <a:t> needs </a:t>
                </a:r>
                <a:r>
                  <a:rPr lang="en-IN" sz="2400">
                    <a:solidFill>
                      <a:srgbClr val="111827"/>
                    </a:solidFill>
                    <a:latin typeface="Cambria Math" panose="02040503050406030204" pitchFamily="18" charset="0"/>
                  </a:rPr>
                  <a:t>$x^2&lt;10$</a:t>
                </a:r>
                <a:r>
                  <a:rPr sz="2400" b="0">
                    <a:solidFill>
                      <a:srgbClr val="111827"/>
                    </a:solidFill>
                    <a:latin typeface="Arial"/>
                  </a:rPr>
                  <a:t>; </a:t>
                </a:r>
                <a:r>
                  <a:rPr lang="en-IN" sz="2400">
                    <a:solidFill>
                      <a:srgbClr val="111827"/>
                    </a:solidFill>
                    <a:latin typeface="Cambria Math" panose="02040503050406030204" pitchFamily="18" charset="0"/>
                  </a:rPr>
                  <a:t>$x^2=\frac{10}{3}$</a:t>
                </a:r>
                <a:r>
                  <a:rPr sz="2400" b="0">
                    <a:solidFill>
                      <a:srgbClr val="111827"/>
                    </a:solidFill>
                    <a:latin typeface="Arial"/>
                  </a:rPr>
                  <a:t> is inside.</a:t>
                </a:r>
                <a:endParaRPr sz="2400">
                  <a:solidFill>
                    <a:srgbClr val="111827"/>
                  </a:solidFill>
                </a:endParaRPr>
              </a:p>
            </p:txBody>
          </p:sp>
        </mc:Fallback>
      </mc:AlternateContent>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406647"/>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 wire of length </a:t>
                </a:r>
                <a14:m>
                  <m:oMath xmlns:m="http://schemas.openxmlformats.org/officeDocument/2006/math">
                    <m:r>
                      <a:rPr lang="en-IN" sz="2400" i="1">
                        <a:solidFill>
                          <a:srgbClr val="111827"/>
                        </a:solidFill>
                        <a:latin typeface="Cambria Math" panose="02040503050406030204" pitchFamily="18" charset="0"/>
                      </a:rPr>
                      <m:t>22</m:t>
                    </m:r>
                  </m:oMath>
                </a14:m>
                <a:r>
                  <a:rPr sz="2400" b="0">
                    <a:solidFill>
                      <a:srgbClr val="111827"/>
                    </a:solidFill>
                    <a:latin typeface="Arial"/>
                  </a:rPr>
                  <a:t> m is to be cut into two pieces. One of the pieces is to be made into a square and the other into an equilateral triangle. Then the length of the side of the equilateral triangle, so that the combined area of the square and the equilateral triangle is minimum,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22</m:t>
                        </m:r>
                      </m:num>
                      <m:den>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oMath>
                </a14:m>
                <a:r>
                  <a:rPr sz="2400" b="0">
                    <a:solidFill>
                      <a:srgbClr val="111827"/>
                    </a:solidFill>
                    <a:latin typeface="Arial"/>
                  </a:rPr>
                  <a:t>   (B)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66</m:t>
                        </m:r>
                      </m:num>
                      <m:den>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oMath>
                </a14:m>
                <a:r>
                  <a:rPr sz="2400" b="0">
                    <a:solidFill>
                      <a:srgbClr val="111827"/>
                    </a:solidFill>
                    <a:latin typeface="Arial"/>
                  </a:rPr>
                  <a:t>   (C)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22</m:t>
                        </m:r>
                      </m:num>
                      <m:den>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oMath>
                </a14:m>
                <a:r>
                  <a:rPr sz="2400" b="0">
                    <a:solidFill>
                      <a:srgbClr val="111827"/>
                    </a:solidFill>
                    <a:latin typeface="Arial"/>
                  </a:rPr>
                  <a:t>   (D)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66</m:t>
                        </m:r>
                      </m:num>
                      <m:den>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oMath>
                </a14:m>
                <a:endParaRPr sz="2400">
                  <a:solidFill>
                    <a:srgbClr val="111827"/>
                  </a:solidFill>
                </a:endParaRPr>
              </a:p>
            </p:txBody>
          </p:sp>
        </mc:Choice>
        <mc:Fallback>
          <p:sp>
            <p:nvSpPr>
              <p:cNvPr id="4" name="Rounded Rectangle 3"/>
              <p:cNvSpPr/>
              <p:nvPr/>
            </p:nvSpPr>
            <p:spPr>
              <a:xfrm>
                <a:off x="731520" y="1280160"/>
                <a:ext cx="10725912" cy="3406647"/>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 wire of length </a:t>
                </a:r>
                <a:r>
                  <a:rPr lang="en-IN" sz="2400">
                    <a:solidFill>
                      <a:srgbClr val="111827"/>
                    </a:solidFill>
                    <a:latin typeface="Cambria Math" panose="02040503050406030204" pitchFamily="18" charset="0"/>
                  </a:rPr>
                  <a:t>$22$</a:t>
                </a:r>
                <a:r>
                  <a:rPr sz="2400" b="0">
                    <a:solidFill>
                      <a:srgbClr val="111827"/>
                    </a:solidFill>
                    <a:latin typeface="Arial"/>
                  </a:rPr>
                  <a:t> m is to be cut into two pieces. One of the pieces is to be made into a square and the other into an equilateral triangle. Then the length of the side of the equilateral triangle, so that the combined area of the square and the equilateral triangle is minimum,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$\frac{22}{9+4\sqrt{3}}$</a:t>
                </a:r>
                <a:r>
                  <a:rPr sz="2400" b="0">
                    <a:solidFill>
                      <a:srgbClr val="111827"/>
                    </a:solidFill>
                    <a:latin typeface="Arial"/>
                  </a:rPr>
                  <a:t>   (B) </a:t>
                </a:r>
                <a:r>
                  <a:rPr lang="en-IN" sz="2400">
                    <a:solidFill>
                      <a:srgbClr val="111827"/>
                    </a:solidFill>
                    <a:latin typeface="Cambria Math" panose="02040503050406030204" pitchFamily="18" charset="0"/>
                  </a:rPr>
                  <a:t>$\frac{66}{9+4\sqrt{3}}$</a:t>
                </a:r>
                <a:r>
                  <a:rPr sz="2400" b="0">
                    <a:solidFill>
                      <a:srgbClr val="111827"/>
                    </a:solidFill>
                    <a:latin typeface="Arial"/>
                  </a:rPr>
                  <a:t>   (C) </a:t>
                </a:r>
                <a:r>
                  <a:rPr lang="en-IN" sz="2400">
                    <a:solidFill>
                      <a:srgbClr val="111827"/>
                    </a:solidFill>
                    <a:latin typeface="Cambria Math" panose="02040503050406030204" pitchFamily="18" charset="0"/>
                  </a:rPr>
                  <a:t>$\frac{22}{4+9\sqrt{3}}$</a:t>
                </a:r>
                <a:r>
                  <a:rPr sz="2400" b="0">
                    <a:solidFill>
                      <a:srgbClr val="111827"/>
                    </a:solidFill>
                    <a:latin typeface="Arial"/>
                  </a:rPr>
                  <a:t>   (D) </a:t>
                </a:r>
                <a:r>
                  <a:rPr lang="en-IN" sz="2400">
                    <a:solidFill>
                      <a:srgbClr val="111827"/>
                    </a:solidFill>
                    <a:latin typeface="Cambria Math" panose="02040503050406030204" pitchFamily="18" charset="0"/>
                  </a:rPr>
                  <a:t>$\frac{66}{4+9\sqrt{3}}$</a:t>
                </a:r>
                <a:endParaRPr sz="2400">
                  <a:solidFill>
                    <a:srgbClr val="111827"/>
                  </a:solidFill>
                </a:endParaRPr>
              </a:p>
            </p:txBody>
          </p:sp>
        </mc:Fallback>
      </mc:AlternateContent>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ectangle 3"/>
          <p:cNvSpPr/>
          <p:nvPr/>
        </p:nvSpPr>
        <p:spPr>
          <a:xfrm>
            <a:off x="731520" y="128016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Maxima and minima: area optimisation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3438144"/>
                <a:ext cx="10725912" cy="159105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Take the triangle's wire length </a:t>
                </a:r>
                <a14:m>
                  <m:oMath xmlns:m="http://schemas.openxmlformats.org/officeDocument/2006/math">
                    <m:r>
                      <a:rPr lang="en-IN" sz="2400" i="1">
                        <a:solidFill>
                          <a:srgbClr val="78350F"/>
                        </a:solidFill>
                        <a:latin typeface="Cambria Math" panose="02040503050406030204" pitchFamily="18" charset="0"/>
                      </a:rPr>
                      <m:t>𝑥</m:t>
                    </m:r>
                  </m:oMath>
                </a14:m>
                <a:r>
                  <a:rPr sz="2400" b="0">
                    <a:solidFill>
                      <a:srgbClr val="78350F"/>
                    </a:solidFill>
                    <a:latin typeface="Arial"/>
                  </a:rPr>
                  <a:t> as the variable; the combined area is an upward quadratic in </a:t>
                </a:r>
                <a14:m>
                  <m:oMath xmlns:m="http://schemas.openxmlformats.org/officeDocument/2006/math">
                    <m:r>
                      <a:rPr lang="en-IN" sz="2400" i="1">
                        <a:solidFill>
                          <a:srgbClr val="78350F"/>
                        </a:solidFill>
                        <a:latin typeface="Cambria Math" panose="02040503050406030204" pitchFamily="18" charset="0"/>
                      </a:rPr>
                      <m:t>𝑥</m:t>
                    </m:r>
                  </m:oMath>
                </a14:m>
                <a:r>
                  <a:rPr sz="2400" b="0">
                    <a:solidFill>
                      <a:srgbClr val="78350F"/>
                    </a:solidFill>
                    <a:latin typeface="Arial"/>
                  </a:rPr>
                  <a:t>, minimised at its vertex </a:t>
                </a:r>
                <a14:m>
                  <m:oMath xmlns:m="http://schemas.openxmlformats.org/officeDocument/2006/math">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𝐵</m:t>
                        </m:r>
                      </m:num>
                      <m:den>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𝐴</m:t>
                        </m:r>
                      </m:den>
                    </m:f>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3438144"/>
                <a:ext cx="10725912" cy="159105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Take the triangle's wire length </a:t>
                </a:r>
                <a:r>
                  <a:rPr lang="en-IN" sz="2400">
                    <a:solidFill>
                      <a:srgbClr val="78350F"/>
                    </a:solidFill>
                    <a:latin typeface="Cambria Math" panose="02040503050406030204" pitchFamily="18" charset="0"/>
                  </a:rPr>
                  <a:t>$x$</a:t>
                </a:r>
                <a:r>
                  <a:rPr sz="2400" b="0">
                    <a:solidFill>
                      <a:srgbClr val="78350F"/>
                    </a:solidFill>
                    <a:latin typeface="Arial"/>
                  </a:rPr>
                  <a:t> as the variable; the combined area is an upward quadratic in </a:t>
                </a:r>
                <a:r>
                  <a:rPr lang="en-IN" sz="2400">
                    <a:solidFill>
                      <a:srgbClr val="78350F"/>
                    </a:solidFill>
                    <a:latin typeface="Cambria Math" panose="02040503050406030204" pitchFamily="18" charset="0"/>
                  </a:rPr>
                  <a:t>$x$</a:t>
                </a:r>
                <a:r>
                  <a:rPr sz="2400" b="0">
                    <a:solidFill>
                      <a:srgbClr val="78350F"/>
                    </a:solidFill>
                    <a:latin typeface="Arial"/>
                  </a:rPr>
                  <a:t>, minimised at its vertex </a:t>
                </a:r>
                <a:r>
                  <a:rPr lang="en-IN" sz="2400">
                    <a:solidFill>
                      <a:srgbClr val="78350F"/>
                    </a:solidFill>
                    <a:latin typeface="Cambria Math" panose="02040503050406030204" pitchFamily="18" charset="0"/>
                  </a:rPr>
                  <a:t>$-\frac{B}{2A}$</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5166360"/>
                <a:ext cx="10725912" cy="150875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m go into the equilateral triangle of side </a:t>
                </a:r>
                <a14:m>
                  <m:oMath xmlns:m="http://schemas.openxmlformats.org/officeDocument/2006/math">
                    <m:r>
                      <a:rPr lang="en-IN" sz="2400" i="1">
                        <a:solidFill>
                          <a:srgbClr val="111827"/>
                        </a:solidFill>
                        <a:latin typeface="Cambria Math" panose="02040503050406030204" pitchFamily="18" charset="0"/>
                      </a:rPr>
                      <m:t>𝑏</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The remaining </a:t>
                </a:r>
                <a14:m>
                  <m:oMath xmlns:m="http://schemas.openxmlformats.org/officeDocument/2006/math">
                    <m:r>
                      <a:rPr lang="en-IN" sz="2400" i="1">
                        <a:solidFill>
                          <a:srgbClr val="111827"/>
                        </a:solidFill>
                        <a:latin typeface="Cambria Math" panose="02040503050406030204" pitchFamily="18" charset="0"/>
                      </a:rPr>
                      <m:t>22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 makes the square.</a:t>
                </a:r>
                <a:endParaRPr sz="2400">
                  <a:solidFill>
                    <a:srgbClr val="111827"/>
                  </a:solidFill>
                </a:endParaRPr>
              </a:p>
            </p:txBody>
          </p:sp>
        </mc:Choice>
        <mc:Fallback>
          <p:sp>
            <p:nvSpPr>
              <p:cNvPr id="6" name="Rectangle 5"/>
              <p:cNvSpPr/>
              <p:nvPr/>
            </p:nvSpPr>
            <p:spPr>
              <a:xfrm>
                <a:off x="731520" y="5166360"/>
                <a:ext cx="10725912" cy="150875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$x$</a:t>
                </a:r>
                <a:r>
                  <a:rPr sz="2400" b="0">
                    <a:solidFill>
                      <a:srgbClr val="111827"/>
                    </a:solidFill>
                    <a:latin typeface="Arial"/>
                  </a:rPr>
                  <a:t> m go into the equilateral triangle of side </a:t>
                </a:r>
                <a:r>
                  <a:rPr lang="en-IN" sz="2400">
                    <a:solidFill>
                      <a:srgbClr val="111827"/>
                    </a:solidFill>
                    <a:latin typeface="Cambria Math" panose="02040503050406030204" pitchFamily="18" charset="0"/>
                  </a:rPr>
                  <a:t>$b$</a:t>
                </a:r>
                <a:r>
                  <a:rPr sz="2400" b="0">
                    <a:solidFill>
                      <a:srgbClr val="111827"/>
                    </a:solidFill>
                    <a:latin typeface="Arial"/>
                  </a:rPr>
                  <a:t>: </a:t>
                </a:r>
                <a:r>
                  <a:rPr lang="en-IN" sz="2400">
                    <a:solidFill>
                      <a:srgbClr val="111827"/>
                    </a:solidFill>
                    <a:latin typeface="Cambria Math" panose="02040503050406030204" pitchFamily="18" charset="0"/>
                  </a:rPr>
                  <a:t>$3b=x\Rightarrow b=\frac{x}{3}$</a:t>
                </a:r>
                <a:r>
                  <a:rPr sz="2400" b="0">
                    <a:solidFill>
                      <a:srgbClr val="111827"/>
                    </a:solidFill>
                    <a:latin typeface="Arial"/>
                  </a:rPr>
                  <a:t>. The remaining </a:t>
                </a:r>
                <a:r>
                  <a:rPr lang="en-IN" sz="2400">
                    <a:solidFill>
                      <a:srgbClr val="111827"/>
                    </a:solidFill>
                    <a:latin typeface="Cambria Math" panose="02040503050406030204" pitchFamily="18" charset="0"/>
                  </a:rPr>
                  <a:t>$22-x$</a:t>
                </a:r>
                <a:r>
                  <a:rPr sz="2400" b="0">
                    <a:solidFill>
                      <a:srgbClr val="111827"/>
                    </a:solidFill>
                    <a:latin typeface="Arial"/>
                  </a:rPr>
                  <a:t> makes the square.</a:t>
                </a:r>
                <a:endParaRPr sz="2400">
                  <a:solidFill>
                    <a:srgbClr val="111827"/>
                  </a:solidFill>
                </a:endParaRPr>
              </a:p>
            </p:txBody>
          </p:sp>
        </mc:Fallback>
      </mc:AlternateContent>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Square side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Combined area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4</m:t>
                        </m:r>
                      </m:den>
                    </m:f>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9</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16</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36</m:t>
                        </m:r>
                      </m:den>
                    </m:f>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16</m:t>
                        </m:r>
                      </m:den>
                    </m:f>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44</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16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22</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16</m:t>
                        </m:r>
                      </m:den>
                    </m:f>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36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16</m:t>
                            </m:r>
                          </m:den>
                        </m:f>
                      </m:e>
                    </m:d>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num>
                      <m:den>
                        <m:r>
                          <a:rPr lang="en-IN" sz="2400" i="1">
                            <a:solidFill>
                              <a:srgbClr val="111827"/>
                            </a:solidFill>
                            <a:latin typeface="Cambria Math" panose="02040503050406030204" pitchFamily="18" charset="0"/>
                          </a:rPr>
                          <m:t>4</m:t>
                        </m:r>
                      </m:den>
                    </m:f>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484</m:t>
                        </m:r>
                      </m:num>
                      <m:den>
                        <m:r>
                          <a:rPr lang="en-IN" sz="2400" i="1">
                            <a:solidFill>
                              <a:srgbClr val="111827"/>
                            </a:solidFill>
                            <a:latin typeface="Cambria Math" panose="02040503050406030204" pitchFamily="18" charset="0"/>
                          </a:rPr>
                          <m:t>16</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coefficient of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is positive, so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is minimum at the vertex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num>
                          <m:den>
                            <m:r>
                              <a:rPr lang="en-IN" sz="2400" i="1">
                                <a:solidFill>
                                  <a:srgbClr val="111827"/>
                                </a:solidFill>
                                <a:latin typeface="Cambria Math" panose="02040503050406030204" pitchFamily="18" charset="0"/>
                              </a:rPr>
                              <m:t>4</m:t>
                            </m:r>
                          </m:den>
                        </m:f>
                      </m:num>
                      <m:den>
                        <m:r>
                          <a:rPr lang="en-IN" sz="2400" i="1">
                            <a:solidFill>
                              <a:srgbClr val="111827"/>
                            </a:solidFill>
                            <a:latin typeface="Cambria Math" panose="02040503050406030204" pitchFamily="18" charset="0"/>
                          </a:rPr>
                          <m:t>2</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36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16</m:t>
                                </m:r>
                              </m:den>
                            </m:f>
                          </m:e>
                        </m:d>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36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144</m:t>
                        </m:r>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144</m:t>
                        </m:r>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198</m:t>
                        </m:r>
                      </m:num>
                      <m:den>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Square side </a:t>
                </a:r>
                <a:r>
                  <a:rPr lang="en-IN" sz="2400">
                    <a:solidFill>
                      <a:srgbClr val="111827"/>
                    </a:solidFill>
                    <a:latin typeface="Cambria Math" panose="02040503050406030204" pitchFamily="18" charset="0"/>
                  </a:rPr>
                  <a:t>$a$</a:t>
                </a:r>
                <a:r>
                  <a:rPr sz="2400" b="0">
                    <a:solidFill>
                      <a:srgbClr val="111827"/>
                    </a:solidFill>
                    <a:latin typeface="Arial"/>
                  </a:rPr>
                  <a:t>: </a:t>
                </a:r>
                <a:r>
                  <a:rPr lang="en-IN" sz="2400">
                    <a:solidFill>
                      <a:srgbClr val="111827"/>
                    </a:solidFill>
                    <a:latin typeface="Cambria Math" panose="02040503050406030204" pitchFamily="18" charset="0"/>
                  </a:rPr>
                  <a:t>$4a=22-x\Rightarrow a=\frac{22-x}{4}$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Combined area </a:t>
                </a:r>
                <a:r>
                  <a:rPr lang="en-IN" sz="2400">
                    <a:solidFill>
                      <a:srgbClr val="111827"/>
                    </a:solidFill>
                    <a:latin typeface="Cambria Math" panose="02040503050406030204" pitchFamily="18" charset="0"/>
                  </a:rPr>
                  <a:t>$A=\frac{\sqrt{3}}{4}b^2+a^2=\frac{\sqrt{3}}{4}\cdot\frac{x^2}{9}+\frac{(22-x)^2}{16}$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$A=\frac{\sqrt{3}}{36}x^2+\frac{1}{16}x^2-\frac{44x}{16}+\frac{22^2}{16}=\left(\frac{\sqrt{3}}{36}+\frac{1}{16}\right)x^2-\frac{11}{4}x+\frac{484}{16}$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coefficient of </a:t>
                </a:r>
                <a:r>
                  <a:rPr lang="en-IN" sz="2400">
                    <a:solidFill>
                      <a:srgbClr val="111827"/>
                    </a:solidFill>
                    <a:latin typeface="Cambria Math" panose="02040503050406030204" pitchFamily="18" charset="0"/>
                  </a:rPr>
                  <a:t>$x^2$</a:t>
                </a:r>
                <a:r>
                  <a:rPr sz="2400" b="0">
                    <a:solidFill>
                      <a:srgbClr val="111827"/>
                    </a:solidFill>
                    <a:latin typeface="Arial"/>
                  </a:rPr>
                  <a:t> is positive, so </a:t>
                </a:r>
                <a:r>
                  <a:rPr lang="en-IN" sz="2400">
                    <a:solidFill>
                      <a:srgbClr val="111827"/>
                    </a:solidFill>
                    <a:latin typeface="Cambria Math" panose="02040503050406030204" pitchFamily="18" charset="0"/>
                  </a:rPr>
                  <a:t>$A$</a:t>
                </a:r>
                <a:r>
                  <a:rPr sz="2400" b="0">
                    <a:solidFill>
                      <a:srgbClr val="111827"/>
                    </a:solidFill>
                    <a:latin typeface="Arial"/>
                  </a:rPr>
                  <a:t> is minimum at the vertex </a:t>
                </a:r>
                <a:r>
                  <a:rPr lang="en-IN" sz="2400">
                    <a:solidFill>
                      <a:srgbClr val="111827"/>
                    </a:solidFill>
                    <a:latin typeface="Cambria Math" panose="02040503050406030204" pitchFamily="18" charset="0"/>
                  </a:rPr>
                  <a:t>$x=\frac{\frac{11}{4}}{2\left(\frac{\sqrt{3}}{36}+\frac{1}{16}\right)}$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$\frac{\sqrt{3}}{36}+\frac{1}{16}=\frac{4\sqrt{3}+9}{144}$</a:t>
                </a:r>
                <a:r>
                  <a:rPr sz="2400" b="0">
                    <a:solidFill>
                      <a:srgbClr val="111827"/>
                    </a:solidFill>
                    <a:latin typeface="Arial"/>
                  </a:rPr>
                  <a:t>, so </a:t>
                </a:r>
                <a:r>
                  <a:rPr lang="en-IN" sz="2400">
                    <a:solidFill>
                      <a:srgbClr val="111827"/>
                    </a:solidFill>
                    <a:latin typeface="Cambria Math" panose="02040503050406030204" pitchFamily="18" charset="0"/>
                  </a:rPr>
                  <a:t>$x=\frac{11}{4}\cdot\frac{144}{2(4\sqrt{3}+9)}=\frac{198}{9+4\sqrt{3}}$</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Side of the triangle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66</m:t>
                        </m:r>
                      </m:num>
                      <m:den>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oMath>
                </a14:m>
                <a:r>
                  <a:rPr sz="2400" b="0">
                    <a:solidFill>
                      <a:srgbClr val="111827"/>
                    </a:solidFill>
                    <a:latin typeface="Arial"/>
                  </a:rPr>
                  <a:t> (about </a:t>
                </a:r>
                <a14:m>
                  <m:oMath xmlns:m="http://schemas.openxmlformats.org/officeDocument/2006/math">
                    <m:r>
                      <a:rPr lang="en-IN" sz="2400" i="1">
                        <a:solidFill>
                          <a:srgbClr val="111827"/>
                        </a:solidFill>
                        <a:latin typeface="Cambria Math" panose="02040503050406030204" pitchFamily="18" charset="0"/>
                      </a:rPr>
                      <m:t>4.14</m:t>
                    </m:r>
                  </m:oMath>
                </a14:m>
                <a:r>
                  <a:rPr sz="2400" b="0">
                    <a:solidFill>
                      <a:srgbClr val="111827"/>
                    </a:solidFill>
                    <a:latin typeface="Arial"/>
                  </a:rPr>
                  <a:t> m), option (B).</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Side of the triangle </a:t>
                </a:r>
                <a:r>
                  <a:rPr lang="en-IN" sz="2400">
                    <a:solidFill>
                      <a:srgbClr val="111827"/>
                    </a:solidFill>
                    <a:latin typeface="Cambria Math" panose="02040503050406030204" pitchFamily="18" charset="0"/>
                  </a:rPr>
                  <a:t>$b=\frac{x}{3}=\frac{66}{9+4\sqrt{3}}$</a:t>
                </a:r>
                <a:r>
                  <a:rPr sz="2400" b="0">
                    <a:solidFill>
                      <a:srgbClr val="111827"/>
                    </a:solidFill>
                    <a:latin typeface="Arial"/>
                  </a:rPr>
                  <a:t> (about </a:t>
                </a:r>
                <a:r>
                  <a:rPr lang="en-IN" sz="2400">
                    <a:solidFill>
                      <a:srgbClr val="111827"/>
                    </a:solidFill>
                    <a:latin typeface="Cambria Math" panose="02040503050406030204" pitchFamily="18" charset="0"/>
                  </a:rPr>
                  <a:t>$4.14$</a:t>
                </a:r>
                <a:r>
                  <a:rPr sz="2400" b="0">
                    <a:solidFill>
                      <a:srgbClr val="111827"/>
                    </a:solidFill>
                    <a:latin typeface="Arial"/>
                  </a:rPr>
                  <a:t> m), option (B).</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66</m:t>
                        </m:r>
                      </m:num>
                      <m:den>
                        <m:r>
                          <a:rPr lang="en-IN" sz="2800" i="1">
                            <a:solidFill>
                              <a:srgbClr val="15803D"/>
                            </a:solidFill>
                            <a:latin typeface="Cambria Math" panose="02040503050406030204" pitchFamily="18" charset="0"/>
                          </a:rPr>
                          <m:t>9</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4</m:t>
                        </m:r>
                        <m:rad>
                          <m:radPr>
                            <m:degHide m:val="on"/>
                            <m:ctrlPr>
                              <a:rPr lang="en-IN" sz="2800" i="1">
                                <a:solidFill>
                                  <a:srgbClr val="15803D"/>
                                </a:solidFill>
                                <a:latin typeface="Cambria Math" panose="02040503050406030204" pitchFamily="18" charset="0"/>
                              </a:rPr>
                            </m:ctrlPr>
                          </m:radPr>
                          <m:deg/>
                          <m:e>
                            <m:r>
                              <a:rPr lang="en-IN" sz="2800" i="1">
                                <a:solidFill>
                                  <a:srgbClr val="15803D"/>
                                </a:solidFill>
                                <a:latin typeface="Cambria Math" panose="02040503050406030204" pitchFamily="18" charset="0"/>
                              </a:rPr>
                              <m:t>3</m:t>
                            </m:r>
                          </m:e>
                        </m:rad>
                      </m:den>
                    </m:f>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r>
                  <a:rPr lang="en-IN" sz="2800">
                    <a:solidFill>
                      <a:srgbClr val="15803D"/>
                    </a:solidFill>
                    <a:latin typeface="Cambria Math" panose="02040503050406030204" pitchFamily="18" charset="0"/>
                  </a:rPr>
                  <a:t>$\frac{66}{9+4\sqrt{3}}$</a:t>
                </a:r>
                <a:endParaRPr sz="2800">
                  <a:solidFill>
                    <a:srgbClr val="15803D"/>
                  </a:solidFill>
                </a:endParaRPr>
              </a:p>
            </p:txBody>
          </p:sp>
        </mc:Fallback>
      </mc:AlternateContent>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Lagrange multipliers: minimise </a:t>
                </a:r>
                <a14:m>
                  <m:oMath xmlns:m="http://schemas.openxmlformats.org/officeDocument/2006/math">
                    <m:sSup>
                      <m:e>
                        <m:r>
                          <a:rPr lang="en-IN" sz="2400" i="1">
                            <a:solidFill>
                              <a:srgbClr val="78350F"/>
                            </a:solidFill>
                            <a:latin typeface="Cambria Math" panose="02040503050406030204" pitchFamily="18" charset="0"/>
                          </a:rPr>
                          <m:t>𝑎</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ad>
                          <m:radPr>
                            <m:degHide m:val="on"/>
                            <m:ctrlPr>
                              <a:rPr lang="en-IN" sz="2400" i="1">
                                <a:solidFill>
                                  <a:srgbClr val="78350F"/>
                                </a:solidFill>
                                <a:latin typeface="Cambria Math" panose="02040503050406030204" pitchFamily="18" charset="0"/>
                              </a:rPr>
                            </m:ctrlPr>
                          </m:radPr>
                          <m:deg/>
                          <m:e>
                            <m:r>
                              <a:rPr lang="en-IN" sz="2400" i="1">
                                <a:solidFill>
                                  <a:srgbClr val="78350F"/>
                                </a:solidFill>
                                <a:latin typeface="Cambria Math" panose="02040503050406030204" pitchFamily="18" charset="0"/>
                              </a:rPr>
                              <m:t>3</m:t>
                            </m:r>
                          </m:e>
                        </m:rad>
                      </m:num>
                      <m:den>
                        <m:r>
                          <a:rPr lang="en-IN" sz="2400" i="1">
                            <a:solidFill>
                              <a:srgbClr val="78350F"/>
                            </a:solidFill>
                            <a:latin typeface="Cambria Math" panose="02040503050406030204" pitchFamily="18" charset="0"/>
                          </a:rPr>
                          <m:t>4</m:t>
                        </m:r>
                      </m:den>
                    </m:f>
                    <m:sSup>
                      <m:e>
                        <m:r>
                          <a:rPr lang="en-IN" sz="2400" i="1">
                            <a:solidFill>
                              <a:srgbClr val="78350F"/>
                            </a:solidFill>
                            <a:latin typeface="Cambria Math" panose="02040503050406030204" pitchFamily="18" charset="0"/>
                          </a:rPr>
                          <m:t>𝑏</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 subject to </a:t>
                </a:r>
                <a14:m>
                  <m:oMath xmlns:m="http://schemas.openxmlformats.org/officeDocument/2006/math">
                    <m:r>
                      <a:rPr lang="en-IN" sz="2400" i="1">
                        <a:solidFill>
                          <a:srgbClr val="78350F"/>
                        </a:solidFill>
                        <a:latin typeface="Cambria Math" panose="02040503050406030204" pitchFamily="18" charset="0"/>
                      </a:rPr>
                      <m:t>4</m:t>
                    </m:r>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a:rPr lang="en-IN" sz="2400" i="1">
                        <a:solidFill>
                          <a:srgbClr val="78350F"/>
                        </a:solidFill>
                        <a:latin typeface="Cambria Math" panose="02040503050406030204" pitchFamily="18" charset="0"/>
                      </a:rPr>
                      <m:t>𝑏</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22</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Lagrange multipliers: minimise </a:t>
                </a:r>
                <a:r>
                  <a:rPr lang="en-IN" sz="2400">
                    <a:solidFill>
                      <a:srgbClr val="78350F"/>
                    </a:solidFill>
                    <a:latin typeface="Cambria Math" panose="02040503050406030204" pitchFamily="18" charset="0"/>
                  </a:rPr>
                  <a:t>$a^2+\frac{\sqrt{3}}{4}b^2$</a:t>
                </a:r>
                <a:r>
                  <a:rPr sz="2400" b="0">
                    <a:solidFill>
                      <a:srgbClr val="78350F"/>
                    </a:solidFill>
                    <a:latin typeface="Arial"/>
                  </a:rPr>
                  <a:t> subject to </a:t>
                </a:r>
                <a:r>
                  <a:rPr lang="en-IN" sz="2400">
                    <a:solidFill>
                      <a:srgbClr val="78350F"/>
                    </a:solidFill>
                    <a:latin typeface="Cambria Math" panose="02040503050406030204" pitchFamily="18" charset="0"/>
                  </a:rPr>
                  <a:t>$4a+3b=22$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Minimise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4</m:t>
                        </m:r>
                      </m:den>
                    </m:f>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subject to </a:t>
                </a:r>
                <a14:m>
                  <m:oMath xmlns:m="http://schemas.openxmlformats.org/officeDocument/2006/math">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 square side, </a:t>
                </a:r>
                <a14:m>
                  <m:oMath xmlns:m="http://schemas.openxmlformats.org/officeDocument/2006/math">
                    <m:r>
                      <a:rPr lang="en-IN" sz="2400" i="1">
                        <a:solidFill>
                          <a:srgbClr val="111827"/>
                        </a:solidFill>
                        <a:latin typeface="Cambria Math" panose="02040503050406030204" pitchFamily="18" charset="0"/>
                      </a:rPr>
                      <m:t>𝑏</m:t>
                    </m:r>
                  </m:oMath>
                </a14:m>
                <a:r>
                  <a:rPr sz="2400" b="0">
                    <a:solidFill>
                      <a:srgbClr val="111827"/>
                    </a:solidFill>
                    <a:latin typeface="Arial"/>
                  </a:rPr>
                  <a:t> = triangle side).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Stationarity: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λ</m:t>
                    </m:r>
                  </m:oMath>
                </a14:m>
                <a:r>
                  <a:rPr sz="2400" b="0">
                    <a:solidFill>
                      <a:srgbClr val="111827"/>
                    </a:solidFill>
                    <a:latin typeface="Arial"/>
                  </a:rPr>
                  <a:t> and </a:t>
                </a:r>
                <a14:m>
                  <m:oMath xmlns:m="http://schemas.openxmlformats.org/officeDocument/2006/math">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2</m:t>
                        </m:r>
                      </m:den>
                    </m:f>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λ</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λ</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a:rPr lang="en-IN" sz="2400" i="1">
                        <a:solidFill>
                          <a:srgbClr val="111827"/>
                        </a:solidFill>
                        <a:latin typeface="Cambria Math" panose="02040503050406030204" pitchFamily="18" charset="0"/>
                      </a:rPr>
                      <m:t>λ</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Constraint: </a:t>
                </a:r>
                <a14:m>
                  <m:oMath xmlns:m="http://schemas.openxmlformats.org/officeDocument/2006/math">
                    <m:r>
                      <a:rPr lang="en-IN" sz="2400" i="1">
                        <a:solidFill>
                          <a:srgbClr val="111827"/>
                        </a:solidFill>
                        <a:latin typeface="Cambria Math" panose="02040503050406030204" pitchFamily="18" charset="0"/>
                      </a:rPr>
                      <m:t>8</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num>
                      <m:den>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Minimise </a:t>
                </a:r>
                <a:r>
                  <a:rPr lang="en-IN" sz="2400">
                    <a:solidFill>
                      <a:srgbClr val="111827"/>
                    </a:solidFill>
                    <a:latin typeface="Cambria Math" panose="02040503050406030204" pitchFamily="18" charset="0"/>
                  </a:rPr>
                  <a:t>$A=a^2+\frac{\sqrt{3}}{4}b^2$</a:t>
                </a:r>
                <a:r>
                  <a:rPr sz="2400" b="0">
                    <a:solidFill>
                      <a:srgbClr val="111827"/>
                    </a:solidFill>
                    <a:latin typeface="Arial"/>
                  </a:rPr>
                  <a:t> subject to </a:t>
                </a:r>
                <a:r>
                  <a:rPr lang="en-IN" sz="2400">
                    <a:solidFill>
                      <a:srgbClr val="111827"/>
                    </a:solidFill>
                    <a:latin typeface="Cambria Math" panose="02040503050406030204" pitchFamily="18" charset="0"/>
                  </a:rPr>
                  <a:t>$4a+3b=22$</a:t>
                </a:r>
                <a:r>
                  <a:rPr sz="2400" b="0">
                    <a:solidFill>
                      <a:srgbClr val="111827"/>
                    </a:solidFill>
                    <a:latin typeface="Arial"/>
                  </a:rPr>
                  <a:t> (</a:t>
                </a:r>
                <a:r>
                  <a:rPr lang="en-IN" sz="2400">
                    <a:solidFill>
                      <a:srgbClr val="111827"/>
                    </a:solidFill>
                    <a:latin typeface="Cambria Math" panose="02040503050406030204" pitchFamily="18" charset="0"/>
                  </a:rPr>
                  <a:t>$a$</a:t>
                </a:r>
                <a:r>
                  <a:rPr sz="2400" b="0">
                    <a:solidFill>
                      <a:srgbClr val="111827"/>
                    </a:solidFill>
                    <a:latin typeface="Arial"/>
                  </a:rPr>
                  <a:t> = square side, </a:t>
                </a:r>
                <a:r>
                  <a:rPr lang="en-IN" sz="2400">
                    <a:solidFill>
                      <a:srgbClr val="111827"/>
                    </a:solidFill>
                    <a:latin typeface="Cambria Math" panose="02040503050406030204" pitchFamily="18" charset="0"/>
                  </a:rPr>
                  <a:t>$b$</a:t>
                </a:r>
                <a:r>
                  <a:rPr sz="2400" b="0">
                    <a:solidFill>
                      <a:srgbClr val="111827"/>
                    </a:solidFill>
                    <a:latin typeface="Arial"/>
                  </a:rPr>
                  <a:t> = triangle side).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Stationarity: </a:t>
                </a:r>
                <a:r>
                  <a:rPr lang="en-IN" sz="2400">
                    <a:solidFill>
                      <a:srgbClr val="111827"/>
                    </a:solidFill>
                    <a:latin typeface="Cambria Math" panose="02040503050406030204" pitchFamily="18" charset="0"/>
                  </a:rPr>
                  <a:t>$2a=4\lambda$</a:t>
                </a:r>
                <a:r>
                  <a:rPr sz="2400" b="0">
                    <a:solidFill>
                      <a:srgbClr val="111827"/>
                    </a:solidFill>
                    <a:latin typeface="Arial"/>
                  </a:rPr>
                  <a:t> and </a:t>
                </a:r>
                <a:r>
                  <a:rPr lang="en-IN" sz="2400">
                    <a:solidFill>
                      <a:srgbClr val="111827"/>
                    </a:solidFill>
                    <a:latin typeface="Cambria Math" panose="02040503050406030204" pitchFamily="18" charset="0"/>
                  </a:rPr>
                  <a:t>$\frac{\sqrt{3}}{2}b=3\lambda$</a:t>
                </a:r>
                <a:r>
                  <a:rPr sz="2400" b="0">
                    <a:solidFill>
                      <a:srgbClr val="111827"/>
                    </a:solidFill>
                    <a:latin typeface="Arial"/>
                  </a:rPr>
                  <a:t>, so </a:t>
                </a:r>
                <a:r>
                  <a:rPr lang="en-IN" sz="2400">
                    <a:solidFill>
                      <a:srgbClr val="111827"/>
                    </a:solidFill>
                    <a:latin typeface="Cambria Math" panose="02040503050406030204" pitchFamily="18" charset="0"/>
                  </a:rPr>
                  <a:t>$a=2\lambda$</a:t>
                </a:r>
                <a:r>
                  <a:rPr sz="2400" b="0">
                    <a:solidFill>
                      <a:srgbClr val="111827"/>
                    </a:solidFill>
                    <a:latin typeface="Arial"/>
                  </a:rPr>
                  <a:t> and </a:t>
                </a:r>
                <a:r>
                  <a:rPr lang="en-IN" sz="2400">
                    <a:solidFill>
                      <a:srgbClr val="111827"/>
                    </a:solidFill>
                    <a:latin typeface="Cambria Math" panose="02040503050406030204" pitchFamily="18" charset="0"/>
                  </a:rPr>
                  <a:t>$b=2\sqrt{3}\lambda$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Constraint: </a:t>
                </a:r>
                <a:r>
                  <a:rPr lang="en-IN" sz="2400">
                    <a:solidFill>
                      <a:srgbClr val="111827"/>
                    </a:solidFill>
                    <a:latin typeface="Cambria Math" panose="02040503050406030204" pitchFamily="18" charset="0"/>
                  </a:rPr>
                  <a:t>$8\lambda+6\sqrt{3}\lambda=22\Rightarrow\lambda=\frac{11}{4+3\sqrt{3}}$</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against option (B): </a:t>
                </a:r>
                <a14:m>
                  <m:oMath xmlns:m="http://schemas.openxmlformats.org/officeDocument/2006/math">
                    <m:r>
                      <a:rPr lang="en-IN" sz="2400" i="1">
                        <a:solidFill>
                          <a:srgbClr val="111827"/>
                        </a:solidFill>
                        <a:latin typeface="Cambria Math" panose="02040503050406030204" pitchFamily="18" charset="0"/>
                      </a:rPr>
                      <m:t>22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198</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264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66</m:t>
                        </m:r>
                      </m:num>
                      <m:den>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area is convex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the constraint is linear, so this stationary point is the minimum.</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$b=\frac{22\sqrt{3}}{4+3\sqrt{3}}$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against option (B): </a:t>
                </a:r>
                <a:r>
                  <a:rPr lang="en-IN" sz="2400">
                    <a:solidFill>
                      <a:srgbClr val="111827"/>
                    </a:solidFill>
                    <a:latin typeface="Cambria Math" panose="02040503050406030204" pitchFamily="18" charset="0"/>
                  </a:rPr>
                  <a:t>$22\sqrt{3}(9+4\sqrt{3})=198\sqrt{3}+264=66(4+3\sqrt{3})$</a:t>
                </a:r>
                <a:r>
                  <a:rPr sz="2400" b="0">
                    <a:solidFill>
                      <a:srgbClr val="111827"/>
                    </a:solidFill>
                    <a:latin typeface="Arial"/>
                  </a:rPr>
                  <a:t>, so </a:t>
                </a:r>
                <a:r>
                  <a:rPr lang="en-IN" sz="2400">
                    <a:solidFill>
                      <a:srgbClr val="111827"/>
                    </a:solidFill>
                    <a:latin typeface="Cambria Math" panose="02040503050406030204" pitchFamily="18" charset="0"/>
                  </a:rPr>
                  <a:t>$b=\frac{66}{9+4\sqrt{3}}$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area is convex in </a:t>
                </a:r>
                <a:r>
                  <a:rPr lang="en-IN" sz="2400">
                    <a:solidFill>
                      <a:srgbClr val="111827"/>
                    </a:solidFill>
                    <a:latin typeface="Cambria Math" panose="02040503050406030204" pitchFamily="18" charset="0"/>
                  </a:rPr>
                  <a:t>$(a,b)$</a:t>
                </a:r>
                <a:r>
                  <a:rPr sz="2400" b="0">
                    <a:solidFill>
                      <a:srgbClr val="111827"/>
                    </a:solidFill>
                    <a:latin typeface="Arial"/>
                  </a:rPr>
                  <a:t> and the constraint is linear, so this stationary point is the minimum.</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66</m:t>
                        </m:r>
                      </m:num>
                      <m:den>
                        <m:r>
                          <a:rPr lang="en-IN" sz="2800" i="1">
                            <a:solidFill>
                              <a:srgbClr val="15803D"/>
                            </a:solidFill>
                            <a:latin typeface="Cambria Math" panose="02040503050406030204" pitchFamily="18" charset="0"/>
                          </a:rPr>
                          <m:t>9</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4</m:t>
                        </m:r>
                        <m:rad>
                          <m:radPr>
                            <m:degHide m:val="on"/>
                            <m:ctrlPr>
                              <a:rPr lang="en-IN" sz="2800" i="1">
                                <a:solidFill>
                                  <a:srgbClr val="15803D"/>
                                </a:solidFill>
                                <a:latin typeface="Cambria Math" panose="02040503050406030204" pitchFamily="18" charset="0"/>
                              </a:rPr>
                            </m:ctrlPr>
                          </m:radPr>
                          <m:deg/>
                          <m:e>
                            <m:r>
                              <a:rPr lang="en-IN" sz="2800" i="1">
                                <a:solidFill>
                                  <a:srgbClr val="15803D"/>
                                </a:solidFill>
                                <a:latin typeface="Cambria Math" panose="02040503050406030204" pitchFamily="18" charset="0"/>
                              </a:rPr>
                              <m:t>3</m:t>
                            </m:r>
                          </m:e>
                        </m:rad>
                      </m:den>
                    </m:f>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a:t>
                </a:r>
                <a:r>
                  <a:rPr lang="en-IN" sz="2800">
                    <a:solidFill>
                      <a:srgbClr val="15803D"/>
                    </a:solidFill>
                    <a:latin typeface="Cambria Math" panose="02040503050406030204" pitchFamily="18" charset="0"/>
                  </a:rPr>
                  <a:t>$\frac{66}{9+4\sqrt{3}}$</a:t>
                </a:r>
                <a:endParaRPr sz="2800">
                  <a:solidFill>
                    <a:srgbClr val="15803D"/>
                  </a:solidFill>
                </a:endParaRPr>
              </a:p>
            </p:txBody>
          </p:sp>
        </mc:Fallback>
      </mc:AlternateContent>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Wire cut into a square and another regular polygon: reduce to one variable (length used for one shape); the area is a convex quadratic, so its vertex is the minimum.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Area of an equilateral triangle of side </a:t>
                </a:r>
                <a14:m>
                  <m:oMath xmlns:m="http://schemas.openxmlformats.org/officeDocument/2006/math">
                    <m:r>
                      <a:rPr lang="en-IN" sz="2400" i="1">
                        <a:solidFill>
                          <a:srgbClr val="111827"/>
                        </a:solidFill>
                        <a:latin typeface="Cambria Math" panose="02040503050406030204" pitchFamily="18" charset="0"/>
                      </a:rPr>
                      <m:t>𝑏</m:t>
                    </m:r>
                  </m:oMath>
                </a14:m>
                <a:r>
                  <a:rPr sz="2400" b="0">
                    <a:solidFill>
                      <a:srgbClr val="111827"/>
                    </a:solidFill>
                    <a:latin typeface="Arial"/>
                  </a:rPr>
                  <a:t> is </a:t>
                </a:r>
                <a14:m>
                  <m:oMath xmlns:m="http://schemas.openxmlformats.org/officeDocument/2006/math">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4</m:t>
                        </m:r>
                      </m:den>
                    </m:f>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of a square of side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is </a:t>
                </a:r>
                <a14:m>
                  <m:oMath xmlns:m="http://schemas.openxmlformats.org/officeDocument/2006/math">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Minimum of </a:t>
                </a:r>
                <a14:m>
                  <m:oMath xmlns:m="http://schemas.openxmlformats.org/officeDocument/2006/math">
                    <m:r>
                      <a:rPr lang="en-IN" sz="2400" i="1">
                        <a:solidFill>
                          <a:srgbClr val="111827"/>
                        </a:solidFill>
                        <a:latin typeface="Cambria Math" panose="02040503050406030204" pitchFamily="18" charset="0"/>
                      </a:rPr>
                      <m:t>𝐴</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is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𝐵</m:t>
                        </m:r>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𝐴</m:t>
                        </m:r>
                      </m:den>
                    </m:f>
                  </m:oMath>
                </a14:m>
                <a:r>
                  <a:rPr sz="2400" b="0">
                    <a:solidFill>
                      <a:srgbClr val="111827"/>
                    </a:solidFill>
                    <a:latin typeface="Arial"/>
                  </a:rPr>
                  <a:t>; no second derivative test is needed.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Lagrange condition: marginal area per unit wire is equal in both shapes.</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Wire cut into a square and another regular polygon: reduce to one variable (length used for one shape); the area is a convex quadratic, so its vertex is the minimum.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Area of an equilateral triangle of side </a:t>
                </a:r>
                <a:r>
                  <a:rPr lang="en-IN" sz="2400">
                    <a:solidFill>
                      <a:srgbClr val="111827"/>
                    </a:solidFill>
                    <a:latin typeface="Cambria Math" panose="02040503050406030204" pitchFamily="18" charset="0"/>
                  </a:rPr>
                  <a:t>$b$</a:t>
                </a:r>
                <a:r>
                  <a:rPr sz="2400" b="0">
                    <a:solidFill>
                      <a:srgbClr val="111827"/>
                    </a:solidFill>
                    <a:latin typeface="Arial"/>
                  </a:rPr>
                  <a:t> is </a:t>
                </a:r>
                <a:r>
                  <a:rPr lang="en-IN" sz="2400">
                    <a:solidFill>
                      <a:srgbClr val="111827"/>
                    </a:solidFill>
                    <a:latin typeface="Cambria Math" panose="02040503050406030204" pitchFamily="18" charset="0"/>
                  </a:rPr>
                  <a:t>$\frac{\sqrt{3}}{4}b^2$</a:t>
                </a:r>
                <a:r>
                  <a:rPr sz="2400" b="0">
                    <a:solidFill>
                      <a:srgbClr val="111827"/>
                    </a:solidFill>
                    <a:latin typeface="Arial"/>
                  </a:rPr>
                  <a:t>; of a square of side </a:t>
                </a:r>
                <a:r>
                  <a:rPr lang="en-IN" sz="2400">
                    <a:solidFill>
                      <a:srgbClr val="111827"/>
                    </a:solidFill>
                    <a:latin typeface="Cambria Math" panose="02040503050406030204" pitchFamily="18" charset="0"/>
                  </a:rPr>
                  <a:t>$a$</a:t>
                </a:r>
                <a:r>
                  <a:rPr sz="2400" b="0">
                    <a:solidFill>
                      <a:srgbClr val="111827"/>
                    </a:solidFill>
                    <a:latin typeface="Arial"/>
                  </a:rPr>
                  <a:t> is </a:t>
                </a:r>
                <a:r>
                  <a:rPr lang="en-IN" sz="2400">
                    <a:solidFill>
                      <a:srgbClr val="111827"/>
                    </a:solidFill>
                    <a:latin typeface="Cambria Math" panose="02040503050406030204" pitchFamily="18" charset="0"/>
                  </a:rPr>
                  <a:t>$a^2$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Minimum of </a:t>
                </a:r>
                <a:r>
                  <a:rPr lang="en-IN" sz="2400">
                    <a:solidFill>
                      <a:srgbClr val="111827"/>
                    </a:solidFill>
                    <a:latin typeface="Cambria Math" panose="02040503050406030204" pitchFamily="18" charset="0"/>
                  </a:rPr>
                  <a:t>$Ax^2+Bx+C$</a:t>
                </a:r>
                <a:r>
                  <a:rPr sz="2400" b="0">
                    <a:solidFill>
                      <a:srgbClr val="111827"/>
                    </a:solidFill>
                    <a:latin typeface="Arial"/>
                  </a:rPr>
                  <a:t> (</a:t>
                </a:r>
                <a:r>
                  <a:rPr lang="en-IN" sz="2400">
                    <a:solidFill>
                      <a:srgbClr val="111827"/>
                    </a:solidFill>
                    <a:latin typeface="Cambria Math" panose="02040503050406030204" pitchFamily="18" charset="0"/>
                  </a:rPr>
                  <a:t>$A&gt;0$</a:t>
                </a:r>
                <a:r>
                  <a:rPr sz="2400" b="0">
                    <a:solidFill>
                      <a:srgbClr val="111827"/>
                    </a:solidFill>
                    <a:latin typeface="Arial"/>
                  </a:rPr>
                  <a:t>) is at </a:t>
                </a:r>
                <a:r>
                  <a:rPr lang="en-IN" sz="2400">
                    <a:solidFill>
                      <a:srgbClr val="111827"/>
                    </a:solidFill>
                    <a:latin typeface="Cambria Math" panose="02040503050406030204" pitchFamily="18" charset="0"/>
                  </a:rPr>
                  <a:t>$x=-\frac{B}{2A}$</a:t>
                </a:r>
                <a:r>
                  <a:rPr sz="2400" b="0">
                    <a:solidFill>
                      <a:srgbClr val="111827"/>
                    </a:solidFill>
                    <a:latin typeface="Arial"/>
                  </a:rPr>
                  <a:t>; no second derivative test is needed.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Lagrange condition: marginal area per unit wire is equal in both shapes.</a:t>
                </a:r>
                <a:endParaRPr sz="2400">
                  <a:solidFill>
                    <a:srgbClr val="111827"/>
                  </a:solidFill>
                </a:endParaRPr>
              </a:p>
            </p:txBody>
          </p:sp>
        </mc:Fallback>
      </mc:AlternateContent>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44932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R</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R</m:t>
                    </m:r>
                  </m:oMath>
                </a14:m>
                <a:r>
                  <a:rPr sz="2400" b="0">
                    <a:solidFill>
                      <a:srgbClr val="111827"/>
                    </a:solidFill>
                    <a:latin typeface="Arial"/>
                  </a:rPr>
                  <a:t> be defined by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m:rPr>
                            <m:sty m:val="p"/>
                          </m:rPr>
                          <a:rPr lang="en-IN" sz="2400">
                            <a:solidFill>
                              <a:srgbClr val="111827"/>
                            </a:solidFill>
                            <a:latin typeface="Cambria Math" panose="02040503050406030204" pitchFamily="18" charset="0"/>
                          </a:rPr>
                          <m:t>)</m:t>
                        </m:r>
                      </m:e>
                      <m:sup>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1</m:t>
                            </m:r>
                          </m:sub>
                        </m:sSub>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sSup>
                      <m:e>
                        <m:r>
                          <m:rPr>
                            <m:sty m:val="p"/>
                          </m:rPr>
                          <a:rPr lang="en-IN" sz="2400">
                            <a:solidFill>
                              <a:srgbClr val="111827"/>
                            </a:solidFill>
                            <a:latin typeface="Cambria Math" panose="02040503050406030204" pitchFamily="18" charset="0"/>
                          </a:rPr>
                          <m:t>)</m:t>
                        </m:r>
                      </m:e>
                      <m:sup>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2</m:t>
                            </m:r>
                          </m:sub>
                        </m:sSub>
                      </m:sup>
                    </m:sSup>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N</m:t>
                    </m:r>
                  </m:oMath>
                </a14:m>
                <a:r>
                  <a:rPr sz="2400" b="0">
                    <a:solidFill>
                      <a:srgbClr val="111827"/>
                    </a:solidFill>
                    <a:latin typeface="Arial"/>
                  </a:rPr>
                  <a:t>. Then which of the following is NOT true?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For </a:t>
                </a:r>
                <a14:m>
                  <m:oMath xmlns:m="http://schemas.openxmlformats.org/officeDocument/2006/math">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there exists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where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attains local maxima</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For </a:t>
                </a:r>
                <a14:m>
                  <m:oMath xmlns:m="http://schemas.openxmlformats.org/officeDocument/2006/math">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there exists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where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attains local minima</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For </a:t>
                </a:r>
                <a14:m>
                  <m:oMath xmlns:m="http://schemas.openxmlformats.org/officeDocument/2006/math">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there exists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where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attains local maxima</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For </a:t>
                </a:r>
                <a14:m>
                  <m:oMath xmlns:m="http://schemas.openxmlformats.org/officeDocument/2006/math">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there exists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where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attains local maxima</a:t>
                </a:r>
                <a:endParaRPr sz="2400">
                  <a:solidFill>
                    <a:srgbClr val="111827"/>
                  </a:solidFill>
                </a:endParaRPr>
              </a:p>
            </p:txBody>
          </p:sp>
        </mc:Choice>
        <mc:Fallback>
          <p:sp>
            <p:nvSpPr>
              <p:cNvPr id="4" name="Rounded Rectangle 3"/>
              <p:cNvSpPr/>
              <p:nvPr/>
            </p:nvSpPr>
            <p:spPr>
              <a:xfrm>
                <a:off x="731520" y="1280160"/>
                <a:ext cx="10725912" cy="44932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$f:\mathbb{R}\to\mathbb{R}$</a:t>
                </a:r>
                <a:r>
                  <a:rPr sz="2400" b="0">
                    <a:solidFill>
                      <a:srgbClr val="111827"/>
                    </a:solidFill>
                    <a:latin typeface="Arial"/>
                  </a:rPr>
                  <a:t> be defined by </a:t>
                </a:r>
                <a:r>
                  <a:rPr lang="en-IN" sz="2400">
                    <a:solidFill>
                      <a:srgbClr val="111827"/>
                    </a:solidFill>
                    <a:latin typeface="Cambria Math" panose="02040503050406030204" pitchFamily="18" charset="0"/>
                  </a:rPr>
                  <a:t>$f(x)=(x-3)^{n_1}(x-5)^{n_2}$</a:t>
                </a:r>
                <a:r>
                  <a:rPr sz="2400" b="0">
                    <a:solidFill>
                      <a:srgbClr val="111827"/>
                    </a:solidFill>
                    <a:latin typeface="Arial"/>
                  </a:rPr>
                  <a:t>, </a:t>
                </a:r>
                <a:r>
                  <a:rPr lang="en-IN" sz="2400">
                    <a:solidFill>
                      <a:srgbClr val="111827"/>
                    </a:solidFill>
                    <a:latin typeface="Cambria Math" panose="02040503050406030204" pitchFamily="18" charset="0"/>
                  </a:rPr>
                  <a:t>$n_1,n_2\in\mathbb{N}$</a:t>
                </a:r>
                <a:r>
                  <a:rPr sz="2400" b="0">
                    <a:solidFill>
                      <a:srgbClr val="111827"/>
                    </a:solidFill>
                    <a:latin typeface="Arial"/>
                  </a:rPr>
                  <a:t>. Then which of the following is NOT true?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For </a:t>
                </a:r>
                <a:r>
                  <a:rPr lang="en-IN" sz="2400">
                    <a:solidFill>
                      <a:srgbClr val="111827"/>
                    </a:solidFill>
                    <a:latin typeface="Cambria Math" panose="02040503050406030204" pitchFamily="18" charset="0"/>
                  </a:rPr>
                  <a:t>$n_1=3,\ n_2=4$</a:t>
                </a:r>
                <a:r>
                  <a:rPr sz="2400" b="0">
                    <a:solidFill>
                      <a:srgbClr val="111827"/>
                    </a:solidFill>
                    <a:latin typeface="Arial"/>
                  </a:rPr>
                  <a:t>, there exists </a:t>
                </a:r>
                <a:r>
                  <a:rPr lang="en-IN" sz="2400">
                    <a:solidFill>
                      <a:srgbClr val="111827"/>
                    </a:solidFill>
                    <a:latin typeface="Cambria Math" panose="02040503050406030204" pitchFamily="18" charset="0"/>
                  </a:rPr>
                  <a:t>$\alpha\in(3,5)$</a:t>
                </a:r>
                <a:r>
                  <a:rPr sz="2400" b="0">
                    <a:solidFill>
                      <a:srgbClr val="111827"/>
                    </a:solidFill>
                    <a:latin typeface="Arial"/>
                  </a:rPr>
                  <a:t> where </a:t>
                </a:r>
                <a:r>
                  <a:rPr lang="en-IN" sz="2400">
                    <a:solidFill>
                      <a:srgbClr val="111827"/>
                    </a:solidFill>
                    <a:latin typeface="Cambria Math" panose="02040503050406030204" pitchFamily="18" charset="0"/>
                  </a:rPr>
                  <a:t>$f$</a:t>
                </a:r>
                <a:r>
                  <a:rPr sz="2400" b="0">
                    <a:solidFill>
                      <a:srgbClr val="111827"/>
                    </a:solidFill>
                    <a:latin typeface="Arial"/>
                  </a:rPr>
                  <a:t> attains local maxima</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For </a:t>
                </a:r>
                <a:r>
                  <a:rPr lang="en-IN" sz="2400">
                    <a:solidFill>
                      <a:srgbClr val="111827"/>
                    </a:solidFill>
                    <a:latin typeface="Cambria Math" panose="02040503050406030204" pitchFamily="18" charset="0"/>
                  </a:rPr>
                  <a:t>$n_1=4,\ n_2=3$</a:t>
                </a:r>
                <a:r>
                  <a:rPr sz="2400" b="0">
                    <a:solidFill>
                      <a:srgbClr val="111827"/>
                    </a:solidFill>
                    <a:latin typeface="Arial"/>
                  </a:rPr>
                  <a:t>, there exists </a:t>
                </a:r>
                <a:r>
                  <a:rPr lang="en-IN" sz="2400">
                    <a:solidFill>
                      <a:srgbClr val="111827"/>
                    </a:solidFill>
                    <a:latin typeface="Cambria Math" panose="02040503050406030204" pitchFamily="18" charset="0"/>
                  </a:rPr>
                  <a:t>$\alpha\in(3,5)$</a:t>
                </a:r>
                <a:r>
                  <a:rPr sz="2400" b="0">
                    <a:solidFill>
                      <a:srgbClr val="111827"/>
                    </a:solidFill>
                    <a:latin typeface="Arial"/>
                  </a:rPr>
                  <a:t> where </a:t>
                </a:r>
                <a:r>
                  <a:rPr lang="en-IN" sz="2400">
                    <a:solidFill>
                      <a:srgbClr val="111827"/>
                    </a:solidFill>
                    <a:latin typeface="Cambria Math" panose="02040503050406030204" pitchFamily="18" charset="0"/>
                  </a:rPr>
                  <a:t>$f$</a:t>
                </a:r>
                <a:r>
                  <a:rPr sz="2400" b="0">
                    <a:solidFill>
                      <a:srgbClr val="111827"/>
                    </a:solidFill>
                    <a:latin typeface="Arial"/>
                  </a:rPr>
                  <a:t> attains local minima</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For </a:t>
                </a:r>
                <a:r>
                  <a:rPr lang="en-IN" sz="2400">
                    <a:solidFill>
                      <a:srgbClr val="111827"/>
                    </a:solidFill>
                    <a:latin typeface="Cambria Math" panose="02040503050406030204" pitchFamily="18" charset="0"/>
                  </a:rPr>
                  <a:t>$n_1=3,\ n_2=5$</a:t>
                </a:r>
                <a:r>
                  <a:rPr sz="2400" b="0">
                    <a:solidFill>
                      <a:srgbClr val="111827"/>
                    </a:solidFill>
                    <a:latin typeface="Arial"/>
                  </a:rPr>
                  <a:t>, there exists </a:t>
                </a:r>
                <a:r>
                  <a:rPr lang="en-IN" sz="2400">
                    <a:solidFill>
                      <a:srgbClr val="111827"/>
                    </a:solidFill>
                    <a:latin typeface="Cambria Math" panose="02040503050406030204" pitchFamily="18" charset="0"/>
                  </a:rPr>
                  <a:t>$\alpha\in(3,5)$</a:t>
                </a:r>
                <a:r>
                  <a:rPr sz="2400" b="0">
                    <a:solidFill>
                      <a:srgbClr val="111827"/>
                    </a:solidFill>
                    <a:latin typeface="Arial"/>
                  </a:rPr>
                  <a:t> where </a:t>
                </a:r>
                <a:r>
                  <a:rPr lang="en-IN" sz="2400">
                    <a:solidFill>
                      <a:srgbClr val="111827"/>
                    </a:solidFill>
                    <a:latin typeface="Cambria Math" panose="02040503050406030204" pitchFamily="18" charset="0"/>
                  </a:rPr>
                  <a:t>$f$</a:t>
                </a:r>
                <a:r>
                  <a:rPr sz="2400" b="0">
                    <a:solidFill>
                      <a:srgbClr val="111827"/>
                    </a:solidFill>
                    <a:latin typeface="Arial"/>
                  </a:rPr>
                  <a:t> attains local maxima</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For </a:t>
                </a:r>
                <a:r>
                  <a:rPr lang="en-IN" sz="2400">
                    <a:solidFill>
                      <a:srgbClr val="111827"/>
                    </a:solidFill>
                    <a:latin typeface="Cambria Math" panose="02040503050406030204" pitchFamily="18" charset="0"/>
                  </a:rPr>
                  <a:t>$n_1=4,\ n_2=6$</a:t>
                </a:r>
                <a:r>
                  <a:rPr sz="2400" b="0">
                    <a:solidFill>
                      <a:srgbClr val="111827"/>
                    </a:solidFill>
                    <a:latin typeface="Arial"/>
                  </a:rPr>
                  <a:t>, there exists </a:t>
                </a:r>
                <a:r>
                  <a:rPr lang="en-IN" sz="2400">
                    <a:solidFill>
                      <a:srgbClr val="111827"/>
                    </a:solidFill>
                    <a:latin typeface="Cambria Math" panose="02040503050406030204" pitchFamily="18" charset="0"/>
                  </a:rPr>
                  <a:t>$\alpha\in(3,5)$</a:t>
                </a:r>
                <a:r>
                  <a:rPr sz="2400" b="0">
                    <a:solidFill>
                      <a:srgbClr val="111827"/>
                    </a:solidFill>
                    <a:latin typeface="Arial"/>
                  </a:rPr>
                  <a:t> where </a:t>
                </a:r>
                <a:r>
                  <a:rPr lang="en-IN" sz="2400">
                    <a:solidFill>
                      <a:srgbClr val="111827"/>
                    </a:solidFill>
                    <a:latin typeface="Cambria Math" panose="02040503050406030204" pitchFamily="18" charset="0"/>
                  </a:rPr>
                  <a:t>$f$</a:t>
                </a:r>
                <a:r>
                  <a:rPr sz="2400" b="0">
                    <a:solidFill>
                      <a:srgbClr val="111827"/>
                    </a:solidFill>
                    <a:latin typeface="Arial"/>
                  </a:rPr>
                  <a:t> attains local maxima</a:t>
                </a:r>
                <a:endParaRPr sz="2400">
                  <a:solidFill>
                    <a:srgbClr val="111827"/>
                  </a:solidFill>
                </a:endParaRPr>
              </a:p>
            </p:txBody>
          </p:sp>
        </mc:Fallback>
      </mc:AlternateContent>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ectangle 3"/>
          <p:cNvSpPr/>
          <p:nvPr/>
        </p:nvSpPr>
        <p:spPr>
          <a:xfrm>
            <a:off x="731520" y="1280160"/>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Rolle's theorem and local extrema of a product function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365760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Since </a:t>
                </a:r>
                <a14:m>
                  <m:oMath xmlns:m="http://schemas.openxmlformats.org/officeDocument/2006/math">
                    <m:r>
                      <a:rPr lang="en-IN" sz="2400" i="1">
                        <a:solidFill>
                          <a:srgbClr val="78350F"/>
                        </a:solidFill>
                        <a:latin typeface="Cambria Math" panose="02040503050406030204" pitchFamily="18" charset="0"/>
                      </a:rPr>
                      <m:t>𝑓</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𝑓</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5</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oMath>
                </a14:m>
                <a:r>
                  <a:rPr sz="2400" b="0">
                    <a:solidFill>
                      <a:srgbClr val="78350F"/>
                    </a:solidFill>
                    <a:latin typeface="Arial"/>
                  </a:rPr>
                  <a:t>, the sign of </a:t>
                </a:r>
                <a14:m>
                  <m:oMath xmlns:m="http://schemas.openxmlformats.org/officeDocument/2006/math">
                    <m:r>
                      <a:rPr lang="en-IN" sz="2400" i="1">
                        <a:solidFill>
                          <a:srgbClr val="78350F"/>
                        </a:solidFill>
                        <a:latin typeface="Cambria Math" panose="02040503050406030204" pitchFamily="18" charset="0"/>
                      </a:rPr>
                      <m:t>𝑓</m:t>
                    </m:r>
                  </m:oMath>
                </a14:m>
                <a:r>
                  <a:rPr sz="2400" b="0">
                    <a:solidFill>
                      <a:srgbClr val="78350F"/>
                    </a:solidFill>
                    <a:latin typeface="Arial"/>
                  </a:rPr>
                  <a:t> on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5</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is </a:t>
                </a:r>
                <a14:m>
                  <m:oMath xmlns:m="http://schemas.openxmlformats.org/officeDocument/2006/math">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Sup>
                      <m:e>
                        <m:r>
                          <m:rPr>
                            <m:sty m:val="p"/>
                          </m:rPr>
                          <a:rPr lang="en-IN" sz="2400">
                            <a:solidFill>
                              <a:srgbClr val="78350F"/>
                            </a:solidFill>
                            <a:latin typeface="Cambria Math" panose="02040503050406030204" pitchFamily="18" charset="0"/>
                          </a:rPr>
                          <m:t>)</m:t>
                        </m:r>
                      </m:e>
                      <m:sup>
                        <m:sSub>
                          <m:e>
                            <m:r>
                              <a:rPr lang="en-IN" sz="2400" i="1">
                                <a:solidFill>
                                  <a:srgbClr val="78350F"/>
                                </a:solidFill>
                                <a:latin typeface="Cambria Math" panose="02040503050406030204" pitchFamily="18" charset="0"/>
                              </a:rPr>
                              <m:t>𝑛</m:t>
                            </m:r>
                          </m:e>
                          <m:sub>
                            <m:r>
                              <a:rPr lang="en-IN" sz="2400" i="1">
                                <a:solidFill>
                                  <a:srgbClr val="78350F"/>
                                </a:solidFill>
                                <a:latin typeface="Cambria Math" panose="02040503050406030204" pitchFamily="18" charset="0"/>
                              </a:rPr>
                              <m:t>2</m:t>
                            </m:r>
                          </m:sub>
                        </m:sSub>
                      </m:sup>
                    </m:sSup>
                  </m:oMath>
                </a14:m>
                <a:r>
                  <a:rPr sz="2400" b="0">
                    <a:solidFill>
                      <a:srgbClr val="78350F"/>
                    </a:solidFill>
                    <a:latin typeface="Arial"/>
                  </a:rPr>
                  <a:t>, which decides maximum versus minimum.</a:t>
                </a:r>
                <a:endParaRPr sz="2400">
                  <a:solidFill>
                    <a:srgbClr val="78350F"/>
                  </a:solidFill>
                </a:endParaRPr>
              </a:p>
            </p:txBody>
          </p:sp>
        </mc:Choice>
        <mc:Fallback>
          <p:sp>
            <p:nvSpPr>
              <p:cNvPr id="5" name="Rounded Rectangle 4"/>
              <p:cNvSpPr/>
              <p:nvPr/>
            </p:nvSpPr>
            <p:spPr>
              <a:xfrm>
                <a:off x="731520" y="365760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Since </a:t>
                </a:r>
                <a:r>
                  <a:rPr lang="en-IN" sz="2400">
                    <a:solidFill>
                      <a:srgbClr val="78350F"/>
                    </a:solidFill>
                    <a:latin typeface="Cambria Math" panose="02040503050406030204" pitchFamily="18" charset="0"/>
                  </a:rPr>
                  <a:t>$f(3)=f(5)=0$</a:t>
                </a:r>
                <a:r>
                  <a:rPr sz="2400" b="0">
                    <a:solidFill>
                      <a:srgbClr val="78350F"/>
                    </a:solidFill>
                    <a:latin typeface="Arial"/>
                  </a:rPr>
                  <a:t>, the sign of </a:t>
                </a:r>
                <a:r>
                  <a:rPr lang="en-IN" sz="2400">
                    <a:solidFill>
                      <a:srgbClr val="78350F"/>
                    </a:solidFill>
                    <a:latin typeface="Cambria Math" panose="02040503050406030204" pitchFamily="18" charset="0"/>
                  </a:rPr>
                  <a:t>$f$</a:t>
                </a:r>
                <a:r>
                  <a:rPr sz="2400" b="0">
                    <a:solidFill>
                      <a:srgbClr val="78350F"/>
                    </a:solidFill>
                    <a:latin typeface="Arial"/>
                  </a:rPr>
                  <a:t> on </a:t>
                </a:r>
                <a:r>
                  <a:rPr lang="en-IN" sz="2400">
                    <a:solidFill>
                      <a:srgbClr val="78350F"/>
                    </a:solidFill>
                    <a:latin typeface="Cambria Math" panose="02040503050406030204" pitchFamily="18" charset="0"/>
                  </a:rPr>
                  <a:t>$(3,5)$</a:t>
                </a:r>
                <a:r>
                  <a:rPr sz="2400" b="0">
                    <a:solidFill>
                      <a:srgbClr val="78350F"/>
                    </a:solidFill>
                    <a:latin typeface="Arial"/>
                  </a:rPr>
                  <a:t> is </a:t>
                </a:r>
                <a:r>
                  <a:rPr lang="en-IN" sz="2400">
                    <a:solidFill>
                      <a:srgbClr val="78350F"/>
                    </a:solidFill>
                    <a:latin typeface="Cambria Math" panose="02040503050406030204" pitchFamily="18" charset="0"/>
                  </a:rPr>
                  <a:t>$(-1)^{n_2}$</a:t>
                </a:r>
                <a:r>
                  <a:rPr sz="2400" b="0">
                    <a:solidFill>
                      <a:srgbClr val="78350F"/>
                    </a:solidFill>
                    <a:latin typeface="Arial"/>
                  </a:rPr>
                  <a:t>, which decides maximum versus minimum.</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4904232"/>
                <a:ext cx="10725912" cy="1770887"/>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by Rolle's theorem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for some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m:rPr>
                            <m:sty m:val="p"/>
                          </m:rPr>
                          <a:rPr lang="en-IN" sz="2400">
                            <a:solidFill>
                              <a:srgbClr val="111827"/>
                            </a:solidFill>
                            <a:latin typeface="Cambria Math" panose="02040503050406030204" pitchFamily="18" charset="0"/>
                          </a:rPr>
                          <m:t>)</m:t>
                        </m:r>
                      </m:e>
                      <m:sup>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sSup>
                      <m:e>
                        <m:r>
                          <m:rPr>
                            <m:sty m:val="p"/>
                          </m:rPr>
                          <a:rPr lang="en-IN" sz="2400">
                            <a:solidFill>
                              <a:srgbClr val="111827"/>
                            </a:solidFill>
                            <a:latin typeface="Cambria Math" panose="02040503050406030204" pitchFamily="18" charset="0"/>
                          </a:rPr>
                          <m:t>)</m:t>
                        </m:r>
                      </m:e>
                      <m:sup>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2</m:t>
                            </m:r>
                          </m:sub>
                        </m:sSub>
                      </m:sup>
                    </m:sSup>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m:rPr>
                            <m:sty m:val="p"/>
                          </m:rPr>
                          <a:rPr lang="en-IN" sz="2400">
                            <a:solidFill>
                              <a:srgbClr val="111827"/>
                            </a:solidFill>
                            <a:latin typeface="Cambria Math" panose="02040503050406030204" pitchFamily="18" charset="0"/>
                          </a:rPr>
                          <m:t>)</m:t>
                        </m:r>
                      </m:e>
                      <m:sup>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1</m:t>
                            </m:r>
                          </m:sub>
                        </m:sSub>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sSup>
                      <m:e>
                        <m:r>
                          <m:rPr>
                            <m:sty m:val="p"/>
                          </m:rPr>
                          <a:rPr lang="en-IN" sz="2400">
                            <a:solidFill>
                              <a:srgbClr val="111827"/>
                            </a:solidFill>
                            <a:latin typeface="Cambria Math" panose="02040503050406030204" pitchFamily="18" charset="0"/>
                          </a:rPr>
                          <m:t>)</m:t>
                        </m:r>
                      </m:e>
                      <m:sup>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4904232"/>
                <a:ext cx="10725912" cy="1770887"/>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$f(3)=f(5)=0$</a:t>
                </a:r>
                <a:r>
                  <a:rPr sz="2400" b="0">
                    <a:solidFill>
                      <a:srgbClr val="111827"/>
                    </a:solidFill>
                    <a:latin typeface="Arial"/>
                  </a:rPr>
                  <a:t>, so by Rolle's theorem </a:t>
                </a:r>
                <a:r>
                  <a:rPr lang="en-IN" sz="2400">
                    <a:solidFill>
                      <a:srgbClr val="111827"/>
                    </a:solidFill>
                    <a:latin typeface="Cambria Math" panose="02040503050406030204" pitchFamily="18" charset="0"/>
                  </a:rPr>
                  <a:t>$f'(\alpha)=0$</a:t>
                </a:r>
                <a:r>
                  <a:rPr sz="2400" b="0">
                    <a:solidFill>
                      <a:srgbClr val="111827"/>
                    </a:solidFill>
                    <a:latin typeface="Arial"/>
                  </a:rPr>
                  <a:t> for some </a:t>
                </a:r>
                <a:r>
                  <a:rPr lang="en-IN" sz="2400">
                    <a:solidFill>
                      <a:srgbClr val="111827"/>
                    </a:solidFill>
                    <a:latin typeface="Cambria Math" panose="02040503050406030204" pitchFamily="18" charset="0"/>
                  </a:rPr>
                  <a:t>$\alpha\in(3,5)$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$f'(x)=n_1(x-3)^{n_1-1}(x-5)^{n_2}+n_2(x-3)^{n_1}(x-5)^{n_2-1}$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m:rPr>
                            <m:sty m:val="p"/>
                          </m:rPr>
                          <a:rPr lang="en-IN" sz="2400">
                            <a:solidFill>
                              <a:srgbClr val="111827"/>
                            </a:solidFill>
                            <a:latin typeface="Cambria Math" panose="02040503050406030204" pitchFamily="18" charset="0"/>
                          </a:rPr>
                          <m:t>)</m:t>
                        </m:r>
                      </m:e>
                      <m:sup>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sSup>
                      <m:e>
                        <m:r>
                          <m:rPr>
                            <m:sty m:val="p"/>
                          </m:rPr>
                          <a:rPr lang="en-IN" sz="2400">
                            <a:solidFill>
                              <a:srgbClr val="111827"/>
                            </a:solidFill>
                            <a:latin typeface="Cambria Math" panose="02040503050406030204" pitchFamily="18" charset="0"/>
                          </a:rPr>
                          <m:t>)</m:t>
                        </m:r>
                      </m:e>
                      <m:sup>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d>
                      <m:dPr>
                        <m:begChr m:val="["/>
                        <m:sepChr m:val=""/>
                        <m:endChr m:val="]"/>
                        <m:grow/>
                        <m:ctrlPr>
                          <a:rPr lang="en-IN" sz="2400" i="1">
                            <a:solidFill>
                              <a:srgbClr val="111827"/>
                            </a:solidFill>
                            <a:latin typeface="Cambria Math" panose="02040503050406030204" pitchFamily="18" charset="0"/>
                          </a:rPr>
                        </m:ctrlPr>
                      </m:dPr>
                      <m:e>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m:rPr>
                            <m:sty m:val="p"/>
                          </m:rPr>
                          <a:rPr lang="en-IN" sz="2400">
                            <a:solidFill>
                              <a:srgbClr val="111827"/>
                            </a:solidFill>
                            <a:latin typeface="Cambria Math" panose="02040503050406030204" pitchFamily="18" charset="0"/>
                          </a:rPr>
                          <m:t>)</m:t>
                        </m:r>
                      </m:e>
                      <m:sup>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and the bracket goes from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to </a:t>
                </a:r>
                <a14:m>
                  <m:oMath xmlns:m="http://schemas.openxmlformats.org/officeDocument/2006/math">
                    <m:r>
                      <a:rPr lang="en-IN" sz="2400" i="1">
                        <a:solidFill>
                          <a:srgbClr val="111827"/>
                        </a:solidFill>
                        <a:latin typeface="Cambria Math" panose="02040503050406030204" pitchFamily="18" charset="0"/>
                      </a:rPr>
                      <m:t>2</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so it changes sign from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to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2</m:t>
                            </m:r>
                          </m:sub>
                        </m:sSub>
                      </m:num>
                      <m:den>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2</m:t>
                            </m:r>
                          </m:sub>
                        </m:sSub>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14:m>
                  <m:oMath xmlns:m="http://schemas.openxmlformats.org/officeDocument/2006/math">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is even, </a:t>
                </a:r>
                <a14:m>
                  <m:oMath xmlns:m="http://schemas.openxmlformats.org/officeDocument/2006/math">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is odd,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sSup>
                      <m:e>
                        <m:r>
                          <m:rPr>
                            <m:sty m:val="p"/>
                          </m:rPr>
                          <a:rPr lang="en-IN" sz="2400">
                            <a:solidFill>
                              <a:srgbClr val="111827"/>
                            </a:solidFill>
                            <a:latin typeface="Cambria Math" panose="02040503050406030204" pitchFamily="18" charset="0"/>
                          </a:rPr>
                          <m:t>)</m:t>
                        </m:r>
                      </m:e>
                      <m:sup>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changes sign from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to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t>
                </a:r>
                <a14:m>
                  <m:oMath xmlns:m="http://schemas.openxmlformats.org/officeDocument/2006/math">
                    <m:r>
                      <a:rPr lang="en-IN" sz="2400" i="1">
                        <a:solidFill>
                          <a:srgbClr val="111827"/>
                        </a:solidFill>
                        <a:latin typeface="Cambria Math" panose="02040503050406030204" pitchFamily="18" charset="0"/>
                      </a:rPr>
                      <m:t>α</m:t>
                    </m:r>
                  </m:oMath>
                </a14:m>
                <a:r>
                  <a:rPr sz="2400" b="0">
                    <a:solidFill>
                      <a:srgbClr val="111827"/>
                    </a:solidFill>
                    <a:latin typeface="Arial"/>
                  </a:rPr>
                  <a:t>: local maximum.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14:m>
                  <m:oMath xmlns:m="http://schemas.openxmlformats.org/officeDocument/2006/math">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is odd, </a:t>
                </a:r>
                <a14:m>
                  <m:oMath xmlns:m="http://schemas.openxmlformats.org/officeDocument/2006/math">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is even,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sSup>
                      <m:e>
                        <m:r>
                          <m:rPr>
                            <m:sty m:val="p"/>
                          </m:rPr>
                          <a:rPr lang="en-IN" sz="2400">
                            <a:solidFill>
                              <a:srgbClr val="111827"/>
                            </a:solidFill>
                            <a:latin typeface="Cambria Math" panose="02040503050406030204" pitchFamily="18" charset="0"/>
                          </a:rPr>
                          <m:t>)</m:t>
                        </m:r>
                      </m:e>
                      <m:sup>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changes from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to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t>
                </a:r>
                <a14:m>
                  <m:oMath xmlns:m="http://schemas.openxmlformats.org/officeDocument/2006/math">
                    <m:r>
                      <a:rPr lang="en-IN" sz="2400" i="1">
                        <a:solidFill>
                          <a:srgbClr val="111827"/>
                        </a:solidFill>
                        <a:latin typeface="Cambria Math" panose="02040503050406030204" pitchFamily="18" charset="0"/>
                      </a:rPr>
                      <m:t>α</m:t>
                    </m:r>
                  </m:oMath>
                </a14:m>
                <a:r>
                  <a:rPr sz="2400" b="0">
                    <a:solidFill>
                      <a:srgbClr val="111827"/>
                    </a:solidFill>
                    <a:latin typeface="Arial"/>
                  </a:rPr>
                  <a:t>: local minimum.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a:t>
                </a:r>
                <a14:m>
                  <m:oMath xmlns:m="http://schemas.openxmlformats.org/officeDocument/2006/math">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even: maximum, true. (B) </a:t>
                </a:r>
                <a14:m>
                  <m:oMath xmlns:m="http://schemas.openxmlformats.org/officeDocument/2006/math">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odd: minimum, true.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 </a:t>
                </a:r>
                <a14:m>
                  <m:oMath xmlns:m="http://schemas.openxmlformats.org/officeDocument/2006/math">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odd: the point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a minimum, not a maximum, so (C) is NOT true.</a:t>
                </a:r>
                <a:endParaRPr sz="2400">
                  <a:solidFill>
                    <a:srgbClr val="111827"/>
                  </a:solidFill>
                </a:endParaRPr>
              </a:p>
            </p:txBody>
          </p:sp>
        </mc:Choice>
        <mc:Fallback>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$f'(x)=(x-3)^{n_1-1}(x-5)^{n_2-1}\left[n_1(x-5)+n_2(x-3)\right]$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On </a:t>
                </a:r>
                <a:r>
                  <a:rPr lang="en-IN" sz="2400">
                    <a:solidFill>
                      <a:srgbClr val="111827"/>
                    </a:solidFill>
                    <a:latin typeface="Cambria Math" panose="02040503050406030204" pitchFamily="18" charset="0"/>
                  </a:rPr>
                  <a:t>$(3,5)$</a:t>
                </a:r>
                <a:r>
                  <a:rPr sz="2400" b="0">
                    <a:solidFill>
                      <a:srgbClr val="111827"/>
                    </a:solidFill>
                    <a:latin typeface="Arial"/>
                  </a:rPr>
                  <a:t>: </a:t>
                </a:r>
                <a:r>
                  <a:rPr lang="en-IN" sz="2400">
                    <a:solidFill>
                      <a:srgbClr val="111827"/>
                    </a:solidFill>
                    <a:latin typeface="Cambria Math" panose="02040503050406030204" pitchFamily="18" charset="0"/>
                  </a:rPr>
                  <a:t>$(x-3)^{n_1-1}&gt;0$</a:t>
                </a:r>
                <a:r>
                  <a:rPr sz="2400" b="0">
                    <a:solidFill>
                      <a:srgbClr val="111827"/>
                    </a:solidFill>
                    <a:latin typeface="Arial"/>
                  </a:rPr>
                  <a:t>, and the bracket goes from </a:t>
                </a:r>
                <a:r>
                  <a:rPr lang="en-IN" sz="2400">
                    <a:solidFill>
                      <a:srgbClr val="111827"/>
                    </a:solidFill>
                    <a:latin typeface="Cambria Math" panose="02040503050406030204" pitchFamily="18" charset="0"/>
                  </a:rPr>
                  <a:t>$-2n_1&lt;0$</a:t>
                </a:r>
                <a:r>
                  <a:rPr sz="2400" b="0">
                    <a:solidFill>
                      <a:srgbClr val="111827"/>
                    </a:solidFill>
                    <a:latin typeface="Arial"/>
                  </a:rPr>
                  <a:t> at </a:t>
                </a:r>
                <a:r>
                  <a:rPr lang="en-IN" sz="2400">
                    <a:solidFill>
                      <a:srgbClr val="111827"/>
                    </a:solidFill>
                    <a:latin typeface="Cambria Math" panose="02040503050406030204" pitchFamily="18" charset="0"/>
                  </a:rPr>
                  <a:t>$x=3$</a:t>
                </a:r>
                <a:r>
                  <a:rPr sz="2400" b="0">
                    <a:solidFill>
                      <a:srgbClr val="111827"/>
                    </a:solidFill>
                    <a:latin typeface="Arial"/>
                  </a:rPr>
                  <a:t> to </a:t>
                </a:r>
                <a:r>
                  <a:rPr lang="en-IN" sz="2400">
                    <a:solidFill>
                      <a:srgbClr val="111827"/>
                    </a:solidFill>
                    <a:latin typeface="Cambria Math" panose="02040503050406030204" pitchFamily="18" charset="0"/>
                  </a:rPr>
                  <a:t>$2n_2&gt;0$</a:t>
                </a:r>
                <a:r>
                  <a:rPr sz="2400" b="0">
                    <a:solidFill>
                      <a:srgbClr val="111827"/>
                    </a:solidFill>
                    <a:latin typeface="Arial"/>
                  </a:rPr>
                  <a:t> at </a:t>
                </a:r>
                <a:r>
                  <a:rPr lang="en-IN" sz="2400">
                    <a:solidFill>
                      <a:srgbClr val="111827"/>
                    </a:solidFill>
                    <a:latin typeface="Cambria Math" panose="02040503050406030204" pitchFamily="18" charset="0"/>
                  </a:rPr>
                  <a:t>$x=5$</a:t>
                </a:r>
                <a:r>
                  <a:rPr sz="2400" b="0">
                    <a:solidFill>
                      <a:srgbClr val="111827"/>
                    </a:solidFill>
                    <a:latin typeface="Arial"/>
                  </a:rPr>
                  <a:t>, so it changes sign from </a:t>
                </a:r>
                <a:r>
                  <a:rPr lang="en-IN" sz="2400">
                    <a:solidFill>
                      <a:srgbClr val="111827"/>
                    </a:solidFill>
                    <a:latin typeface="Cambria Math" panose="02040503050406030204" pitchFamily="18" charset="0"/>
                  </a:rPr>
                  <a:t>$-$</a:t>
                </a:r>
                <a:r>
                  <a:rPr sz="2400" b="0">
                    <a:solidFill>
                      <a:srgbClr val="111827"/>
                    </a:solidFill>
                    <a:latin typeface="Arial"/>
                  </a:rPr>
                  <a:t> to </a:t>
                </a:r>
                <a:r>
                  <a:rPr lang="en-IN" sz="2400">
                    <a:solidFill>
                      <a:srgbClr val="111827"/>
                    </a:solidFill>
                    <a:latin typeface="Cambria Math" panose="02040503050406030204" pitchFamily="18" charset="0"/>
                  </a:rPr>
                  <a:t>$+$</a:t>
                </a:r>
                <a:r>
                  <a:rPr sz="2400" b="0">
                    <a:solidFill>
                      <a:srgbClr val="111827"/>
                    </a:solidFill>
                    <a:latin typeface="Arial"/>
                  </a:rPr>
                  <a:t> at </a:t>
                </a:r>
                <a:r>
                  <a:rPr lang="en-IN" sz="2400">
                    <a:solidFill>
                      <a:srgbClr val="111827"/>
                    </a:solidFill>
                    <a:latin typeface="Cambria Math" panose="02040503050406030204" pitchFamily="18" charset="0"/>
                  </a:rPr>
                  <a:t>$\alpha=\frac{5n_1+3n_2}{n_1+n_2}$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$n_2$</a:t>
                </a:r>
                <a:r>
                  <a:rPr sz="2400" b="0">
                    <a:solidFill>
                      <a:srgbClr val="111827"/>
                    </a:solidFill>
                    <a:latin typeface="Arial"/>
                  </a:rPr>
                  <a:t> is even, </a:t>
                </a:r>
                <a:r>
                  <a:rPr lang="en-IN" sz="2400">
                    <a:solidFill>
                      <a:srgbClr val="111827"/>
                    </a:solidFill>
                    <a:latin typeface="Cambria Math" panose="02040503050406030204" pitchFamily="18" charset="0"/>
                  </a:rPr>
                  <a:t>$n_2-1$</a:t>
                </a:r>
                <a:r>
                  <a:rPr sz="2400" b="0">
                    <a:solidFill>
                      <a:srgbClr val="111827"/>
                    </a:solidFill>
                    <a:latin typeface="Arial"/>
                  </a:rPr>
                  <a:t> is odd, so </a:t>
                </a:r>
                <a:r>
                  <a:rPr lang="en-IN" sz="2400">
                    <a:solidFill>
                      <a:srgbClr val="111827"/>
                    </a:solidFill>
                    <a:latin typeface="Cambria Math" panose="02040503050406030204" pitchFamily="18" charset="0"/>
                  </a:rPr>
                  <a:t>$(x-5)^{n_2-1}&lt;0$</a:t>
                </a:r>
                <a:r>
                  <a:rPr sz="2400" b="0">
                    <a:solidFill>
                      <a:srgbClr val="111827"/>
                    </a:solidFill>
                    <a:latin typeface="Arial"/>
                  </a:rPr>
                  <a:t> on </a:t>
                </a:r>
                <a:r>
                  <a:rPr lang="en-IN" sz="2400">
                    <a:solidFill>
                      <a:srgbClr val="111827"/>
                    </a:solidFill>
                    <a:latin typeface="Cambria Math" panose="02040503050406030204" pitchFamily="18" charset="0"/>
                  </a:rPr>
                  <a:t>$(3,5)$</a:t>
                </a:r>
                <a:r>
                  <a:rPr sz="2400" b="0">
                    <a:solidFill>
                      <a:srgbClr val="111827"/>
                    </a:solidFill>
                    <a:latin typeface="Arial"/>
                  </a:rPr>
                  <a:t> and </a:t>
                </a:r>
                <a:r>
                  <a:rPr lang="en-IN" sz="2400">
                    <a:solidFill>
                      <a:srgbClr val="111827"/>
                    </a:solidFill>
                    <a:latin typeface="Cambria Math" panose="02040503050406030204" pitchFamily="18" charset="0"/>
                  </a:rPr>
                  <a:t>$f'$</a:t>
                </a:r>
                <a:r>
                  <a:rPr sz="2400" b="0">
                    <a:solidFill>
                      <a:srgbClr val="111827"/>
                    </a:solidFill>
                    <a:latin typeface="Arial"/>
                  </a:rPr>
                  <a:t> changes sign from </a:t>
                </a:r>
                <a:r>
                  <a:rPr lang="en-IN" sz="2400">
                    <a:solidFill>
                      <a:srgbClr val="111827"/>
                    </a:solidFill>
                    <a:latin typeface="Cambria Math" panose="02040503050406030204" pitchFamily="18" charset="0"/>
                  </a:rPr>
                  <a:t>$+$</a:t>
                </a:r>
                <a:r>
                  <a:rPr sz="2400" b="0">
                    <a:solidFill>
                      <a:srgbClr val="111827"/>
                    </a:solidFill>
                    <a:latin typeface="Arial"/>
                  </a:rPr>
                  <a:t> to </a:t>
                </a:r>
                <a:r>
                  <a:rPr lang="en-IN" sz="2400">
                    <a:solidFill>
                      <a:srgbClr val="111827"/>
                    </a:solidFill>
                    <a:latin typeface="Cambria Math" panose="02040503050406030204" pitchFamily="18" charset="0"/>
                  </a:rPr>
                  <a:t>$-$</a:t>
                </a:r>
                <a:r>
                  <a:rPr sz="2400" b="0">
                    <a:solidFill>
                      <a:srgbClr val="111827"/>
                    </a:solidFill>
                    <a:latin typeface="Arial"/>
                  </a:rPr>
                  <a:t> at </a:t>
                </a:r>
                <a:r>
                  <a:rPr lang="en-IN" sz="2400">
                    <a:solidFill>
                      <a:srgbClr val="111827"/>
                    </a:solidFill>
                    <a:latin typeface="Cambria Math" panose="02040503050406030204" pitchFamily="18" charset="0"/>
                  </a:rPr>
                  <a:t>$\alpha$</a:t>
                </a:r>
                <a:r>
                  <a:rPr sz="2400" b="0">
                    <a:solidFill>
                      <a:srgbClr val="111827"/>
                    </a:solidFill>
                    <a:latin typeface="Arial"/>
                  </a:rPr>
                  <a:t>: local maximum.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$n_2$</a:t>
                </a:r>
                <a:r>
                  <a:rPr sz="2400" b="0">
                    <a:solidFill>
                      <a:srgbClr val="111827"/>
                    </a:solidFill>
                    <a:latin typeface="Arial"/>
                  </a:rPr>
                  <a:t> is odd, </a:t>
                </a:r>
                <a:r>
                  <a:rPr lang="en-IN" sz="2400">
                    <a:solidFill>
                      <a:srgbClr val="111827"/>
                    </a:solidFill>
                    <a:latin typeface="Cambria Math" panose="02040503050406030204" pitchFamily="18" charset="0"/>
                  </a:rPr>
                  <a:t>$n_2-1$</a:t>
                </a:r>
                <a:r>
                  <a:rPr sz="2400" b="0">
                    <a:solidFill>
                      <a:srgbClr val="111827"/>
                    </a:solidFill>
                    <a:latin typeface="Arial"/>
                  </a:rPr>
                  <a:t> is even, so </a:t>
                </a:r>
                <a:r>
                  <a:rPr lang="en-IN" sz="2400">
                    <a:solidFill>
                      <a:srgbClr val="111827"/>
                    </a:solidFill>
                    <a:latin typeface="Cambria Math" panose="02040503050406030204" pitchFamily="18" charset="0"/>
                  </a:rPr>
                  <a:t>$(x-5)^{n_2-1}&gt;0$</a:t>
                </a:r>
                <a:r>
                  <a:rPr sz="2400" b="0">
                    <a:solidFill>
                      <a:srgbClr val="111827"/>
                    </a:solidFill>
                    <a:latin typeface="Arial"/>
                  </a:rPr>
                  <a:t> and </a:t>
                </a:r>
                <a:r>
                  <a:rPr lang="en-IN" sz="2400">
                    <a:solidFill>
                      <a:srgbClr val="111827"/>
                    </a:solidFill>
                    <a:latin typeface="Cambria Math" panose="02040503050406030204" pitchFamily="18" charset="0"/>
                  </a:rPr>
                  <a:t>$f'$</a:t>
                </a:r>
                <a:r>
                  <a:rPr sz="2400" b="0">
                    <a:solidFill>
                      <a:srgbClr val="111827"/>
                    </a:solidFill>
                    <a:latin typeface="Arial"/>
                  </a:rPr>
                  <a:t> changes from </a:t>
                </a:r>
                <a:r>
                  <a:rPr lang="en-IN" sz="2400">
                    <a:solidFill>
                      <a:srgbClr val="111827"/>
                    </a:solidFill>
                    <a:latin typeface="Cambria Math" panose="02040503050406030204" pitchFamily="18" charset="0"/>
                  </a:rPr>
                  <a:t>$-$</a:t>
                </a:r>
                <a:r>
                  <a:rPr sz="2400" b="0">
                    <a:solidFill>
                      <a:srgbClr val="111827"/>
                    </a:solidFill>
                    <a:latin typeface="Arial"/>
                  </a:rPr>
                  <a:t> to </a:t>
                </a:r>
                <a:r>
                  <a:rPr lang="en-IN" sz="2400">
                    <a:solidFill>
                      <a:srgbClr val="111827"/>
                    </a:solidFill>
                    <a:latin typeface="Cambria Math" panose="02040503050406030204" pitchFamily="18" charset="0"/>
                  </a:rPr>
                  <a:t>$+$</a:t>
                </a:r>
                <a:r>
                  <a:rPr sz="2400" b="0">
                    <a:solidFill>
                      <a:srgbClr val="111827"/>
                    </a:solidFill>
                    <a:latin typeface="Arial"/>
                  </a:rPr>
                  <a:t> at </a:t>
                </a:r>
                <a:r>
                  <a:rPr lang="en-IN" sz="2400">
                    <a:solidFill>
                      <a:srgbClr val="111827"/>
                    </a:solidFill>
                    <a:latin typeface="Cambria Math" panose="02040503050406030204" pitchFamily="18" charset="0"/>
                  </a:rPr>
                  <a:t>$\alpha$</a:t>
                </a:r>
                <a:r>
                  <a:rPr sz="2400" b="0">
                    <a:solidFill>
                      <a:srgbClr val="111827"/>
                    </a:solidFill>
                    <a:latin typeface="Arial"/>
                  </a:rPr>
                  <a:t>: local minimum.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$n_2=4$</a:t>
                </a:r>
                <a:r>
                  <a:rPr sz="2400" b="0">
                    <a:solidFill>
                      <a:srgbClr val="111827"/>
                    </a:solidFill>
                    <a:latin typeface="Arial"/>
                  </a:rPr>
                  <a:t> even: maximum, true. (B) </a:t>
                </a:r>
                <a:r>
                  <a:rPr lang="en-IN" sz="2400">
                    <a:solidFill>
                      <a:srgbClr val="111827"/>
                    </a:solidFill>
                    <a:latin typeface="Cambria Math" panose="02040503050406030204" pitchFamily="18" charset="0"/>
                  </a:rPr>
                  <a:t>$n_2=3$</a:t>
                </a:r>
                <a:r>
                  <a:rPr sz="2400" b="0">
                    <a:solidFill>
                      <a:srgbClr val="111827"/>
                    </a:solidFill>
                    <a:latin typeface="Arial"/>
                  </a:rPr>
                  <a:t> odd: minimum, true.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 </a:t>
                </a:r>
                <a:r>
                  <a:rPr lang="en-IN" sz="2400">
                    <a:solidFill>
                      <a:srgbClr val="111827"/>
                    </a:solidFill>
                    <a:latin typeface="Cambria Math" panose="02040503050406030204" pitchFamily="18" charset="0"/>
                  </a:rPr>
                  <a:t>$n_2=5$</a:t>
                </a:r>
                <a:r>
                  <a:rPr sz="2400" b="0">
                    <a:solidFill>
                      <a:srgbClr val="111827"/>
                    </a:solidFill>
                    <a:latin typeface="Arial"/>
                  </a:rPr>
                  <a:t> odd: the point in </a:t>
                </a:r>
                <a:r>
                  <a:rPr lang="en-IN" sz="2400">
                    <a:solidFill>
                      <a:srgbClr val="111827"/>
                    </a:solidFill>
                    <a:latin typeface="Cambria Math" panose="02040503050406030204" pitchFamily="18" charset="0"/>
                  </a:rPr>
                  <a:t>$(3,5)$</a:t>
                </a:r>
                <a:r>
                  <a:rPr sz="2400" b="0">
                    <a:solidFill>
                      <a:srgbClr val="111827"/>
                    </a:solidFill>
                    <a:latin typeface="Arial"/>
                  </a:rPr>
                  <a:t> is a minimum, not a maximum, so (C) is NOT true.</a:t>
                </a:r>
                <a:endParaRPr sz="2400">
                  <a:solidFill>
                    <a:srgbClr val="111827"/>
                  </a:solidFill>
                </a:endParaRPr>
              </a:p>
            </p:txBody>
          </p:sp>
        </mc:Fallback>
      </mc:AlternateContent>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 </a:t>
                </a:r>
                <a14:m>
                  <m:oMath xmlns:m="http://schemas.openxmlformats.org/officeDocument/2006/math">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even: maximum, true. Hence the required option is (C).</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 </a:t>
                </a:r>
                <a:r>
                  <a:rPr lang="en-IN" sz="2400">
                    <a:solidFill>
                      <a:srgbClr val="111827"/>
                    </a:solidFill>
                    <a:latin typeface="Cambria Math" panose="02040503050406030204" pitchFamily="18" charset="0"/>
                  </a:rPr>
                  <a:t>$n_2=6$</a:t>
                </a:r>
                <a:r>
                  <a:rPr sz="2400" b="0">
                    <a:solidFill>
                      <a:srgbClr val="111827"/>
                    </a:solidFill>
                    <a:latin typeface="Arial"/>
                  </a:rPr>
                  <a:t> even: maximum, true. Hence the required option is (C).</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For </a:t>
                </a:r>
                <a14:m>
                  <m:oMath xmlns:m="http://schemas.openxmlformats.org/officeDocument/2006/math">
                    <m:sSub>
                      <m:e>
                        <m:r>
                          <a:rPr lang="en-IN" sz="2800" i="1">
                            <a:solidFill>
                              <a:srgbClr val="15803D"/>
                            </a:solidFill>
                            <a:latin typeface="Cambria Math" panose="02040503050406030204" pitchFamily="18" charset="0"/>
                          </a:rPr>
                          <m:t>𝑛</m:t>
                        </m:r>
                      </m:e>
                      <m:sub>
                        <m:r>
                          <a:rPr lang="en-IN" sz="2800" i="1">
                            <a:solidFill>
                              <a:srgbClr val="15803D"/>
                            </a:solidFill>
                            <a:latin typeface="Cambria Math" panose="02040503050406030204" pitchFamily="18" charset="0"/>
                          </a:rPr>
                          <m:t>1</m:t>
                        </m:r>
                      </m:sub>
                    </m:sSub>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3</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 </m:t>
                    </m:r>
                    <m:sSub>
                      <m:e>
                        <m:r>
                          <a:rPr lang="en-IN" sz="2800" i="1">
                            <a:solidFill>
                              <a:srgbClr val="15803D"/>
                            </a:solidFill>
                            <a:latin typeface="Cambria Math" panose="02040503050406030204" pitchFamily="18" charset="0"/>
                          </a:rPr>
                          <m:t>𝑛</m:t>
                        </m:r>
                      </m:e>
                      <m:sub>
                        <m:r>
                          <a:rPr lang="en-IN" sz="2800" i="1">
                            <a:solidFill>
                              <a:srgbClr val="15803D"/>
                            </a:solidFill>
                            <a:latin typeface="Cambria Math" panose="02040503050406030204" pitchFamily="18" charset="0"/>
                          </a:rPr>
                          <m:t>2</m:t>
                        </m:r>
                      </m:sub>
                    </m:sSub>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5</m:t>
                    </m:r>
                  </m:oMath>
                </a14:m>
                <a:r>
                  <a:rPr sz="2800" b="1">
                    <a:solidFill>
                      <a:srgbClr val="15803D"/>
                    </a:solidFill>
                    <a:latin typeface="Arial"/>
                  </a:rPr>
                  <a:t>, local maxima exists in </a:t>
                </a:r>
                <a14:m>
                  <m:oMath xmlns:m="http://schemas.openxmlformats.org/officeDocument/2006/math">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3</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5</m:t>
                    </m:r>
                    <m:r>
                      <m:rPr>
                        <m:sty m:val="p"/>
                      </m:rPr>
                      <a:rPr lang="en-IN" sz="2800">
                        <a:solidFill>
                          <a:srgbClr val="15803D"/>
                        </a:solidFill>
                        <a:latin typeface="Cambria Math" panose="02040503050406030204" pitchFamily="18" charset="0"/>
                      </a:rPr>
                      <m:t>)</m:t>
                    </m:r>
                  </m:oMath>
                </a14:m>
                <a:r>
                  <a:rPr sz="2800" b="1">
                    <a:solidFill>
                      <a:srgbClr val="15803D"/>
                    </a:solidFill>
                    <a:latin typeface="Arial"/>
                  </a:rPr>
                  <a:t> - this is NOT true</a:t>
                </a:r>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For </a:t>
                </a:r>
                <a:r>
                  <a:rPr lang="en-IN" sz="2800">
                    <a:solidFill>
                      <a:srgbClr val="15803D"/>
                    </a:solidFill>
                    <a:latin typeface="Cambria Math" panose="02040503050406030204" pitchFamily="18" charset="0"/>
                  </a:rPr>
                  <a:t>$n_1=3,\ n_2=5$</a:t>
                </a:r>
                <a:r>
                  <a:rPr sz="2800" b="1">
                    <a:solidFill>
                      <a:srgbClr val="15803D"/>
                    </a:solidFill>
                    <a:latin typeface="Arial"/>
                  </a:rPr>
                  <a:t>, local maxima exists in </a:t>
                </a:r>
                <a:r>
                  <a:rPr lang="en-IN" sz="2800">
                    <a:solidFill>
                      <a:srgbClr val="15803D"/>
                    </a:solidFill>
                    <a:latin typeface="Cambria Math" panose="02040503050406030204" pitchFamily="18" charset="0"/>
                  </a:rPr>
                  <a:t>$(3,5)$</a:t>
                </a:r>
                <a:r>
                  <a:rPr sz="2800" b="1">
                    <a:solidFill>
                      <a:srgbClr val="15803D"/>
                    </a:solidFill>
                    <a:latin typeface="Arial"/>
                  </a:rPr>
                  <a:t> - this is NOT true</a:t>
                </a:r>
                <a:endParaRPr sz="2800">
                  <a:solidFill>
                    <a:srgbClr val="15803D"/>
                  </a:solidFill>
                </a:endParaRPr>
              </a:p>
            </p:txBody>
          </p:sp>
        </mc:Fallback>
      </mc:AlternateContent>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Sign of </a:t>
                </a:r>
                <a14:m>
                  <m:oMath xmlns:m="http://schemas.openxmlformats.org/officeDocument/2006/math">
                    <m:r>
                      <a:rPr lang="en-IN" sz="2400" i="1">
                        <a:solidFill>
                          <a:srgbClr val="78350F"/>
                        </a:solidFill>
                        <a:latin typeface="Cambria Math" panose="02040503050406030204" pitchFamily="18" charset="0"/>
                      </a:rPr>
                      <m:t>𝑓</m:t>
                    </m:r>
                  </m:oMath>
                </a14:m>
                <a:r>
                  <a:rPr sz="2400" b="0">
                    <a:solidFill>
                      <a:srgbClr val="78350F"/>
                    </a:solidFill>
                    <a:latin typeface="Arial"/>
                  </a:rPr>
                  <a:t> on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5</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and the extreme value theorem give the type of extremum with no differentiation.</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Sign of </a:t>
                </a:r>
                <a:r>
                  <a:rPr lang="en-IN" sz="2400">
                    <a:solidFill>
                      <a:srgbClr val="78350F"/>
                    </a:solidFill>
                    <a:latin typeface="Cambria Math" panose="02040503050406030204" pitchFamily="18" charset="0"/>
                  </a:rPr>
                  <a:t>$f$</a:t>
                </a:r>
                <a:r>
                  <a:rPr sz="2400" b="0">
                    <a:solidFill>
                      <a:srgbClr val="78350F"/>
                    </a:solidFill>
                    <a:latin typeface="Arial"/>
                  </a:rPr>
                  <a:t> on </a:t>
                </a:r>
                <a:r>
                  <a:rPr lang="en-IN" sz="2400">
                    <a:solidFill>
                      <a:srgbClr val="78350F"/>
                    </a:solidFill>
                    <a:latin typeface="Cambria Math" panose="02040503050406030204" pitchFamily="18" charset="0"/>
                  </a:rPr>
                  <a:t>$(3,5)$</a:t>
                </a:r>
                <a:r>
                  <a:rPr sz="2400" b="0">
                    <a:solidFill>
                      <a:srgbClr val="78350F"/>
                    </a:solidFill>
                    <a:latin typeface="Arial"/>
                  </a:rPr>
                  <a:t> and the extreme value theorem give the type of extremum with no differentiation.</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is continuous 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it attains a maximum and a minimum 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m:rPr>
                            <m:sty m:val="p"/>
                          </m:rPr>
                          <a:rPr lang="en-IN" sz="2400">
                            <a:solidFill>
                              <a:srgbClr val="111827"/>
                            </a:solidFill>
                            <a:latin typeface="Cambria Math" panose="02040503050406030204" pitchFamily="18" charset="0"/>
                          </a:rPr>
                          <m:t>)</m:t>
                        </m:r>
                      </m:e>
                      <m:sup>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1</m:t>
                            </m:r>
                          </m:sub>
                        </m:sSub>
                      </m:sup>
                    </m:sSup>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sSup>
                      <m:e>
                        <m:r>
                          <m:rPr>
                            <m:sty m:val="p"/>
                          </m:rPr>
                          <a:rPr lang="en-IN" sz="2400">
                            <a:solidFill>
                              <a:srgbClr val="111827"/>
                            </a:solidFill>
                            <a:latin typeface="Cambria Math" panose="02040503050406030204" pitchFamily="18" charset="0"/>
                          </a:rPr>
                          <m:t>)</m:t>
                        </m:r>
                      </m:e>
                      <m:sup>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2</m:t>
                            </m:r>
                          </m:sub>
                        </m:sSub>
                      </m:sup>
                    </m:sSup>
                  </m:oMath>
                </a14:m>
                <a:r>
                  <a:rPr sz="2400" b="0">
                    <a:solidFill>
                      <a:srgbClr val="111827"/>
                    </a:solidFill>
                    <a:latin typeface="Arial"/>
                  </a:rPr>
                  <a:t> has the sign of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2</m:t>
                            </m:r>
                          </m:sub>
                        </m:sSub>
                      </m:sup>
                    </m:sSup>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has a constant sign there.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14:m>
                  <m:oMath xmlns:m="http://schemas.openxmlformats.org/officeDocument/2006/math">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is even,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while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the ends, so the absolute maximum is attained at an interior point: a local maximum exists.</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$f(3)=f(5)=0$</a:t>
                </a:r>
                <a:r>
                  <a:rPr sz="2400" b="0">
                    <a:solidFill>
                      <a:srgbClr val="111827"/>
                    </a:solidFill>
                    <a:latin typeface="Arial"/>
                  </a:rPr>
                  <a:t> and </a:t>
                </a:r>
                <a:r>
                  <a:rPr lang="en-IN" sz="2400">
                    <a:solidFill>
                      <a:srgbClr val="111827"/>
                    </a:solidFill>
                    <a:latin typeface="Cambria Math" panose="02040503050406030204" pitchFamily="18" charset="0"/>
                  </a:rPr>
                  <a:t>$f$</a:t>
                </a:r>
                <a:r>
                  <a:rPr sz="2400" b="0">
                    <a:solidFill>
                      <a:srgbClr val="111827"/>
                    </a:solidFill>
                    <a:latin typeface="Arial"/>
                  </a:rPr>
                  <a:t> is continuous on </a:t>
                </a:r>
                <a:r>
                  <a:rPr lang="en-IN" sz="2400">
                    <a:solidFill>
                      <a:srgbClr val="111827"/>
                    </a:solidFill>
                    <a:latin typeface="Cambria Math" panose="02040503050406030204" pitchFamily="18" charset="0"/>
                  </a:rPr>
                  <a:t>$[3,5]$</a:t>
                </a:r>
                <a:r>
                  <a:rPr sz="2400" b="0">
                    <a:solidFill>
                      <a:srgbClr val="111827"/>
                    </a:solidFill>
                    <a:latin typeface="Arial"/>
                  </a:rPr>
                  <a:t>, so it attains a maximum and a minimum on </a:t>
                </a:r>
                <a:r>
                  <a:rPr lang="en-IN" sz="2400">
                    <a:solidFill>
                      <a:srgbClr val="111827"/>
                    </a:solidFill>
                    <a:latin typeface="Cambria Math" panose="02040503050406030204" pitchFamily="18" charset="0"/>
                  </a:rPr>
                  <a:t>$[3,5]$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On </a:t>
                </a:r>
                <a:r>
                  <a:rPr lang="en-IN" sz="2400">
                    <a:solidFill>
                      <a:srgbClr val="111827"/>
                    </a:solidFill>
                    <a:latin typeface="Cambria Math" panose="02040503050406030204" pitchFamily="18" charset="0"/>
                  </a:rPr>
                  <a:t>$(3,5)$</a:t>
                </a:r>
                <a:r>
                  <a:rPr sz="2400" b="0">
                    <a:solidFill>
                      <a:srgbClr val="111827"/>
                    </a:solidFill>
                    <a:latin typeface="Arial"/>
                  </a:rPr>
                  <a:t>, </a:t>
                </a:r>
                <a:r>
                  <a:rPr lang="en-IN" sz="2400">
                    <a:solidFill>
                      <a:srgbClr val="111827"/>
                    </a:solidFill>
                    <a:latin typeface="Cambria Math" panose="02040503050406030204" pitchFamily="18" charset="0"/>
                  </a:rPr>
                  <a:t>$(x-3)^{n_1}&gt;0$</a:t>
                </a:r>
                <a:r>
                  <a:rPr sz="2400" b="0">
                    <a:solidFill>
                      <a:srgbClr val="111827"/>
                    </a:solidFill>
                    <a:latin typeface="Arial"/>
                  </a:rPr>
                  <a:t> and </a:t>
                </a:r>
                <a:r>
                  <a:rPr lang="en-IN" sz="2400">
                    <a:solidFill>
                      <a:srgbClr val="111827"/>
                    </a:solidFill>
                    <a:latin typeface="Cambria Math" panose="02040503050406030204" pitchFamily="18" charset="0"/>
                  </a:rPr>
                  <a:t>$(x-5)^{n_2}$</a:t>
                </a:r>
                <a:r>
                  <a:rPr sz="2400" b="0">
                    <a:solidFill>
                      <a:srgbClr val="111827"/>
                    </a:solidFill>
                    <a:latin typeface="Arial"/>
                  </a:rPr>
                  <a:t> has the sign of </a:t>
                </a:r>
                <a:r>
                  <a:rPr lang="en-IN" sz="2400">
                    <a:solidFill>
                      <a:srgbClr val="111827"/>
                    </a:solidFill>
                    <a:latin typeface="Cambria Math" panose="02040503050406030204" pitchFamily="18" charset="0"/>
                  </a:rPr>
                  <a:t>$(-1)^{n_2}$</a:t>
                </a:r>
                <a:r>
                  <a:rPr sz="2400" b="0">
                    <a:solidFill>
                      <a:srgbClr val="111827"/>
                    </a:solidFill>
                    <a:latin typeface="Arial"/>
                  </a:rPr>
                  <a:t>, so </a:t>
                </a:r>
                <a:r>
                  <a:rPr lang="en-IN" sz="2400">
                    <a:solidFill>
                      <a:srgbClr val="111827"/>
                    </a:solidFill>
                    <a:latin typeface="Cambria Math" panose="02040503050406030204" pitchFamily="18" charset="0"/>
                  </a:rPr>
                  <a:t>$f$</a:t>
                </a:r>
                <a:r>
                  <a:rPr sz="2400" b="0">
                    <a:solidFill>
                      <a:srgbClr val="111827"/>
                    </a:solidFill>
                    <a:latin typeface="Arial"/>
                  </a:rPr>
                  <a:t> has a constant sign there.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$n_2$</a:t>
                </a:r>
                <a:r>
                  <a:rPr sz="2400" b="0">
                    <a:solidFill>
                      <a:srgbClr val="111827"/>
                    </a:solidFill>
                    <a:latin typeface="Arial"/>
                  </a:rPr>
                  <a:t> is even, </a:t>
                </a:r>
                <a:r>
                  <a:rPr lang="en-IN" sz="2400">
                    <a:solidFill>
                      <a:srgbClr val="111827"/>
                    </a:solidFill>
                    <a:latin typeface="Cambria Math" panose="02040503050406030204" pitchFamily="18" charset="0"/>
                  </a:rPr>
                  <a:t>$f&gt;0$</a:t>
                </a:r>
                <a:r>
                  <a:rPr sz="2400" b="0">
                    <a:solidFill>
                      <a:srgbClr val="111827"/>
                    </a:solidFill>
                    <a:latin typeface="Arial"/>
                  </a:rPr>
                  <a:t> on </a:t>
                </a:r>
                <a:r>
                  <a:rPr lang="en-IN" sz="2400">
                    <a:solidFill>
                      <a:srgbClr val="111827"/>
                    </a:solidFill>
                    <a:latin typeface="Cambria Math" panose="02040503050406030204" pitchFamily="18" charset="0"/>
                  </a:rPr>
                  <a:t>$(3,5)$</a:t>
                </a:r>
                <a:r>
                  <a:rPr sz="2400" b="0">
                    <a:solidFill>
                      <a:srgbClr val="111827"/>
                    </a:solidFill>
                    <a:latin typeface="Arial"/>
                  </a:rPr>
                  <a:t> while </a:t>
                </a:r>
                <a:r>
                  <a:rPr lang="en-IN" sz="2400">
                    <a:solidFill>
                      <a:srgbClr val="111827"/>
                    </a:solidFill>
                    <a:latin typeface="Cambria Math" panose="02040503050406030204" pitchFamily="18" charset="0"/>
                  </a:rPr>
                  <a:t>$f=0$</a:t>
                </a:r>
                <a:r>
                  <a:rPr sz="2400" b="0">
                    <a:solidFill>
                      <a:srgbClr val="111827"/>
                    </a:solidFill>
                    <a:latin typeface="Arial"/>
                  </a:rPr>
                  <a:t> at the ends, so the absolute maximum is attained at an interior point: a local maximum exists.</a:t>
                </a:r>
                <a:endParaRPr sz="2400">
                  <a:solidFill>
                    <a:srgbClr val="111827"/>
                  </a:solidFill>
                </a:endParaRPr>
              </a:p>
            </p:txBody>
          </p:sp>
        </mc:Fallback>
      </mc:AlternateContent>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a:t>
                </a:r>
                <a14:m>
                  <m:oMath xmlns:m="http://schemas.openxmlformats.org/officeDocument/2006/math">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is odd,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the absolute minimum is attained inside: a local minimum exists (and no local maximum, since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vanishes only once).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a:t>
                </a:r>
                <a14:m>
                  <m:oMath xmlns:m="http://schemas.openxmlformats.org/officeDocument/2006/math">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gives maximum, (B) </a:t>
                </a:r>
                <a14:m>
                  <m:oMath xmlns:m="http://schemas.openxmlformats.org/officeDocument/2006/math">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gives minimum, (D) </a:t>
                </a:r>
                <a14:m>
                  <m:oMath xmlns:m="http://schemas.openxmlformats.org/officeDocument/2006/math">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gives maximum: all true.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 </a:t>
                </a:r>
                <a14:m>
                  <m:oMath xmlns:m="http://schemas.openxmlformats.org/officeDocument/2006/math">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is odd, so the interior extremum is a minimum: (C) is NOT true.</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$n_2$</a:t>
                </a:r>
                <a:r>
                  <a:rPr sz="2400" b="0">
                    <a:solidFill>
                      <a:srgbClr val="111827"/>
                    </a:solidFill>
                    <a:latin typeface="Arial"/>
                  </a:rPr>
                  <a:t> is odd, </a:t>
                </a:r>
                <a:r>
                  <a:rPr lang="en-IN" sz="2400">
                    <a:solidFill>
                      <a:srgbClr val="111827"/>
                    </a:solidFill>
                    <a:latin typeface="Cambria Math" panose="02040503050406030204" pitchFamily="18" charset="0"/>
                  </a:rPr>
                  <a:t>$f&lt;0$</a:t>
                </a:r>
                <a:r>
                  <a:rPr sz="2400" b="0">
                    <a:solidFill>
                      <a:srgbClr val="111827"/>
                    </a:solidFill>
                    <a:latin typeface="Arial"/>
                  </a:rPr>
                  <a:t> on </a:t>
                </a:r>
                <a:r>
                  <a:rPr lang="en-IN" sz="2400">
                    <a:solidFill>
                      <a:srgbClr val="111827"/>
                    </a:solidFill>
                    <a:latin typeface="Cambria Math" panose="02040503050406030204" pitchFamily="18" charset="0"/>
                  </a:rPr>
                  <a:t>$(3,5)$</a:t>
                </a:r>
                <a:r>
                  <a:rPr sz="2400" b="0">
                    <a:solidFill>
                      <a:srgbClr val="111827"/>
                    </a:solidFill>
                    <a:latin typeface="Arial"/>
                  </a:rPr>
                  <a:t>, so the absolute minimum is attained inside: a local minimum exists (and no local maximum, since </a:t>
                </a:r>
                <a:r>
                  <a:rPr lang="en-IN" sz="2400">
                    <a:solidFill>
                      <a:srgbClr val="111827"/>
                    </a:solidFill>
                    <a:latin typeface="Cambria Math" panose="02040503050406030204" pitchFamily="18" charset="0"/>
                  </a:rPr>
                  <a:t>$f'$</a:t>
                </a:r>
                <a:r>
                  <a:rPr sz="2400" b="0">
                    <a:solidFill>
                      <a:srgbClr val="111827"/>
                    </a:solidFill>
                    <a:latin typeface="Arial"/>
                  </a:rPr>
                  <a:t> vanishes only once).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$n_2=4$</a:t>
                </a:r>
                <a:r>
                  <a:rPr sz="2400" b="0">
                    <a:solidFill>
                      <a:srgbClr val="111827"/>
                    </a:solidFill>
                    <a:latin typeface="Arial"/>
                  </a:rPr>
                  <a:t> gives maximum, (B) </a:t>
                </a:r>
                <a:r>
                  <a:rPr lang="en-IN" sz="2400">
                    <a:solidFill>
                      <a:srgbClr val="111827"/>
                    </a:solidFill>
                    <a:latin typeface="Cambria Math" panose="02040503050406030204" pitchFamily="18" charset="0"/>
                  </a:rPr>
                  <a:t>$n_2=3$</a:t>
                </a:r>
                <a:r>
                  <a:rPr sz="2400" b="0">
                    <a:solidFill>
                      <a:srgbClr val="111827"/>
                    </a:solidFill>
                    <a:latin typeface="Arial"/>
                  </a:rPr>
                  <a:t> gives minimum, (D) </a:t>
                </a:r>
                <a:r>
                  <a:rPr lang="en-IN" sz="2400">
                    <a:solidFill>
                      <a:srgbClr val="111827"/>
                    </a:solidFill>
                    <a:latin typeface="Cambria Math" panose="02040503050406030204" pitchFamily="18" charset="0"/>
                  </a:rPr>
                  <a:t>$n_2=6$</a:t>
                </a:r>
                <a:r>
                  <a:rPr sz="2400" b="0">
                    <a:solidFill>
                      <a:srgbClr val="111827"/>
                    </a:solidFill>
                    <a:latin typeface="Arial"/>
                  </a:rPr>
                  <a:t> gives maximum: all true.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 </a:t>
                </a:r>
                <a:r>
                  <a:rPr lang="en-IN" sz="2400">
                    <a:solidFill>
                      <a:srgbClr val="111827"/>
                    </a:solidFill>
                    <a:latin typeface="Cambria Math" panose="02040503050406030204" pitchFamily="18" charset="0"/>
                  </a:rPr>
                  <a:t>$n_2=5$</a:t>
                </a:r>
                <a:r>
                  <a:rPr sz="2400" b="0">
                    <a:solidFill>
                      <a:srgbClr val="111827"/>
                    </a:solidFill>
                    <a:latin typeface="Arial"/>
                  </a:rPr>
                  <a:t> is odd, so the interior extremum is a minimum: (C) is NOT true.</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For </a:t>
                </a:r>
                <a14:m>
                  <m:oMath xmlns:m="http://schemas.openxmlformats.org/officeDocument/2006/math">
                    <m:sSub>
                      <m:e>
                        <m:r>
                          <a:rPr lang="en-IN" sz="2800" i="1">
                            <a:solidFill>
                              <a:srgbClr val="15803D"/>
                            </a:solidFill>
                            <a:latin typeface="Cambria Math" panose="02040503050406030204" pitchFamily="18" charset="0"/>
                          </a:rPr>
                          <m:t>𝑛</m:t>
                        </m:r>
                      </m:e>
                      <m:sub>
                        <m:r>
                          <a:rPr lang="en-IN" sz="2800" i="1">
                            <a:solidFill>
                              <a:srgbClr val="15803D"/>
                            </a:solidFill>
                            <a:latin typeface="Cambria Math" panose="02040503050406030204" pitchFamily="18" charset="0"/>
                          </a:rPr>
                          <m:t>1</m:t>
                        </m:r>
                      </m:sub>
                    </m:sSub>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3</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 </m:t>
                    </m:r>
                    <m:sSub>
                      <m:e>
                        <m:r>
                          <a:rPr lang="en-IN" sz="2800" i="1">
                            <a:solidFill>
                              <a:srgbClr val="15803D"/>
                            </a:solidFill>
                            <a:latin typeface="Cambria Math" panose="02040503050406030204" pitchFamily="18" charset="0"/>
                          </a:rPr>
                          <m:t>𝑛</m:t>
                        </m:r>
                      </m:e>
                      <m:sub>
                        <m:r>
                          <a:rPr lang="en-IN" sz="2800" i="1">
                            <a:solidFill>
                              <a:srgbClr val="15803D"/>
                            </a:solidFill>
                            <a:latin typeface="Cambria Math" panose="02040503050406030204" pitchFamily="18" charset="0"/>
                          </a:rPr>
                          <m:t>2</m:t>
                        </m:r>
                      </m:sub>
                    </m:sSub>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5</m:t>
                    </m:r>
                  </m:oMath>
                </a14:m>
                <a:r>
                  <a:rPr sz="2800" b="1">
                    <a:solidFill>
                      <a:srgbClr val="15803D"/>
                    </a:solidFill>
                    <a:latin typeface="Arial"/>
                  </a:rPr>
                  <a:t>, local maxima exists in </a:t>
                </a:r>
                <a14:m>
                  <m:oMath xmlns:m="http://schemas.openxmlformats.org/officeDocument/2006/math">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3</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5</m:t>
                    </m:r>
                    <m:r>
                      <m:rPr>
                        <m:sty m:val="p"/>
                      </m:rPr>
                      <a:rPr lang="en-IN" sz="2800">
                        <a:solidFill>
                          <a:srgbClr val="15803D"/>
                        </a:solidFill>
                        <a:latin typeface="Cambria Math" panose="02040503050406030204" pitchFamily="18" charset="0"/>
                      </a:rPr>
                      <m:t>)</m:t>
                    </m:r>
                  </m:oMath>
                </a14:m>
                <a:r>
                  <a:rPr sz="2800" b="1">
                    <a:solidFill>
                      <a:srgbClr val="15803D"/>
                    </a:solidFill>
                    <a:latin typeface="Arial"/>
                  </a:rPr>
                  <a:t> - this is NOT true</a:t>
                </a:r>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For </a:t>
                </a:r>
                <a:r>
                  <a:rPr lang="en-IN" sz="2800">
                    <a:solidFill>
                      <a:srgbClr val="15803D"/>
                    </a:solidFill>
                    <a:latin typeface="Cambria Math" panose="02040503050406030204" pitchFamily="18" charset="0"/>
                  </a:rPr>
                  <a:t>$n_1=3,\ n_2=5$</a:t>
                </a:r>
                <a:r>
                  <a:rPr sz="2800" b="1">
                    <a:solidFill>
                      <a:srgbClr val="15803D"/>
                    </a:solidFill>
                    <a:latin typeface="Arial"/>
                  </a:rPr>
                  <a:t>, local maxima exists in </a:t>
                </a:r>
                <a:r>
                  <a:rPr lang="en-IN" sz="2800">
                    <a:solidFill>
                      <a:srgbClr val="15803D"/>
                    </a:solidFill>
                    <a:latin typeface="Cambria Math" panose="02040503050406030204" pitchFamily="18" charset="0"/>
                  </a:rPr>
                  <a:t>$(3,5)$</a:t>
                </a:r>
                <a:r>
                  <a:rPr sz="2800" b="1">
                    <a:solidFill>
                      <a:srgbClr val="15803D"/>
                    </a:solidFill>
                    <a:latin typeface="Arial"/>
                  </a:rPr>
                  <a:t> - this is NOT true</a:t>
                </a:r>
                <a:endParaRPr sz="2800">
                  <a:solidFill>
                    <a:srgbClr val="15803D"/>
                  </a:solidFill>
                </a:endParaRPr>
              </a:p>
            </p:txBody>
          </p:sp>
        </mc:Fallback>
      </mc:AlternateContent>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𝑚</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the only critical point strictly between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𝑏</m:t>
                    </m:r>
                  </m:oMath>
                </a14:m>
                <a:r>
                  <a:rPr sz="2400" b="0">
                    <a:solidFill>
                      <a:srgbClr val="111827"/>
                    </a:solidFill>
                    <a:latin typeface="Arial"/>
                  </a:rPr>
                  <a:t>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a:rPr lang="en-IN" sz="2400" i="1">
                            <a:solidFill>
                              <a:srgbClr val="111827"/>
                            </a:solidFill>
                            <a:latin typeface="Cambria Math" panose="02040503050406030204" pitchFamily="18" charset="0"/>
                          </a:rPr>
                          <m:t>𝑏</m:t>
                        </m:r>
                      </m:num>
                      <m:den>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den>
                    </m:f>
                  </m:oMath>
                </a14:m>
                <a:r>
                  <a:rPr sz="2400" b="0">
                    <a:solidFill>
                      <a:srgbClr val="111827"/>
                    </a:solidFill>
                    <a:latin typeface="Arial"/>
                  </a:rPr>
                  <a:t>; here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1</m:t>
                            </m:r>
                          </m:sub>
                        </m:sSub>
                      </m:num>
                      <m:den>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2</m:t>
                            </m:r>
                          </m:sub>
                        </m:sSub>
                      </m:den>
                    </m:f>
                  </m:oMath>
                </a14:m>
                <a:r>
                  <a:rPr sz="2400" b="0">
                    <a:solidFill>
                      <a:srgbClr val="111827"/>
                    </a:solidFill>
                    <a:latin typeface="Arial"/>
                  </a:rPr>
                  <a:t>, a weighted mean of the roots.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Between two consecutive zeros of a continuous function with constant sign, the extremum is a maximum if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and a minimum if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At a root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oMath>
                </a14:m>
                <a:r>
                  <a:rPr sz="2400" b="0">
                    <a:solidFill>
                      <a:srgbClr val="111827"/>
                    </a:solidFill>
                    <a:latin typeface="Arial"/>
                  </a:rPr>
                  <a:t> of multiplicity </a:t>
                </a:r>
                <a14:m>
                  <m:oMath xmlns:m="http://schemas.openxmlformats.org/officeDocument/2006/math">
                    <m:r>
                      <a:rPr lang="en-IN" sz="2400" i="1">
                        <a:solidFill>
                          <a:srgbClr val="111827"/>
                        </a:solidFill>
                        <a:latin typeface="Cambria Math" panose="02040503050406030204" pitchFamily="18" charset="0"/>
                      </a:rPr>
                      <m:t>𝑚</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changes sign iff </a:t>
                </a:r>
                <a14:m>
                  <m:oMath xmlns:m="http://schemas.openxmlformats.org/officeDocument/2006/math">
                    <m:r>
                      <a:rPr lang="en-IN" sz="2400" i="1">
                        <a:solidFill>
                          <a:srgbClr val="111827"/>
                        </a:solidFill>
                        <a:latin typeface="Cambria Math" panose="02040503050406030204" pitchFamily="18" charset="0"/>
                      </a:rPr>
                      <m:t>𝑚</m:t>
                    </m:r>
                  </m:oMath>
                </a14:m>
                <a:r>
                  <a:rPr sz="2400" b="0">
                    <a:solidFill>
                      <a:srgbClr val="111827"/>
                    </a:solidFill>
                    <a:latin typeface="Arial"/>
                  </a:rPr>
                  <a:t> is odd; for even </a:t>
                </a:r>
                <a14:m>
                  <m:oMath xmlns:m="http://schemas.openxmlformats.org/officeDocument/2006/math">
                    <m:r>
                      <a:rPr lang="en-IN" sz="2400" i="1">
                        <a:solidFill>
                          <a:srgbClr val="111827"/>
                        </a:solidFill>
                        <a:latin typeface="Cambria Math" panose="02040503050406030204" pitchFamily="18" charset="0"/>
                      </a:rPr>
                      <m:t>𝑚</m:t>
                    </m:r>
                  </m:oMath>
                </a14:m>
                <a:r>
                  <a:rPr sz="2400" b="0">
                    <a:solidFill>
                      <a:srgbClr val="111827"/>
                    </a:solidFill>
                    <a:latin typeface="Arial"/>
                  </a:rPr>
                  <a:t> the root is itself a local extremum.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Rolle's theorem only guarantees a critical point; the sign change of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decides its nature.</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$f=(x-a)^m(x-b)^n$</a:t>
                </a:r>
                <a:r>
                  <a:rPr sz="2400" b="0">
                    <a:solidFill>
                      <a:srgbClr val="111827"/>
                    </a:solidFill>
                    <a:latin typeface="Arial"/>
                  </a:rPr>
                  <a:t>, the only critical point strictly between </a:t>
                </a:r>
                <a:r>
                  <a:rPr lang="en-IN" sz="2400">
                    <a:solidFill>
                      <a:srgbClr val="111827"/>
                    </a:solidFill>
                    <a:latin typeface="Cambria Math" panose="02040503050406030204" pitchFamily="18" charset="0"/>
                  </a:rPr>
                  <a:t>$a$</a:t>
                </a:r>
                <a:r>
                  <a:rPr sz="2400" b="0">
                    <a:solidFill>
                      <a:srgbClr val="111827"/>
                    </a:solidFill>
                    <a:latin typeface="Arial"/>
                  </a:rPr>
                  <a:t> and </a:t>
                </a:r>
                <a:r>
                  <a:rPr lang="en-IN" sz="2400">
                    <a:solidFill>
                      <a:srgbClr val="111827"/>
                    </a:solidFill>
                    <a:latin typeface="Cambria Math" panose="02040503050406030204" pitchFamily="18" charset="0"/>
                  </a:rPr>
                  <a:t>$b$</a:t>
                </a:r>
                <a:r>
                  <a:rPr sz="2400" b="0">
                    <a:solidFill>
                      <a:srgbClr val="111827"/>
                    </a:solidFill>
                    <a:latin typeface="Arial"/>
                  </a:rPr>
                  <a:t> is </a:t>
                </a:r>
                <a:r>
                  <a:rPr lang="en-IN" sz="2400">
                    <a:solidFill>
                      <a:srgbClr val="111827"/>
                    </a:solidFill>
                    <a:latin typeface="Cambria Math" panose="02040503050406030204" pitchFamily="18" charset="0"/>
                  </a:rPr>
                  <a:t>$\frac{na+mb}{m+n}$</a:t>
                </a:r>
                <a:r>
                  <a:rPr sz="2400" b="0">
                    <a:solidFill>
                      <a:srgbClr val="111827"/>
                    </a:solidFill>
                    <a:latin typeface="Arial"/>
                  </a:rPr>
                  <a:t>; here </a:t>
                </a:r>
                <a:r>
                  <a:rPr lang="en-IN" sz="2400">
                    <a:solidFill>
                      <a:srgbClr val="111827"/>
                    </a:solidFill>
                    <a:latin typeface="Cambria Math" panose="02040503050406030204" pitchFamily="18" charset="0"/>
                  </a:rPr>
                  <a:t>$\alpha=\frac{3n_2+5n_1}{n_1+n_2}$</a:t>
                </a:r>
                <a:r>
                  <a:rPr sz="2400" b="0">
                    <a:solidFill>
                      <a:srgbClr val="111827"/>
                    </a:solidFill>
                    <a:latin typeface="Arial"/>
                  </a:rPr>
                  <a:t>, a weighted mean of the roots.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Between two consecutive zeros of a continuous function with constant sign, the extremum is a maximum if </a:t>
                </a:r>
                <a:r>
                  <a:rPr lang="en-IN" sz="2400">
                    <a:solidFill>
                      <a:srgbClr val="111827"/>
                    </a:solidFill>
                    <a:latin typeface="Cambria Math" panose="02040503050406030204" pitchFamily="18" charset="0"/>
                  </a:rPr>
                  <a:t>$f&gt;0$</a:t>
                </a:r>
                <a:r>
                  <a:rPr sz="2400" b="0">
                    <a:solidFill>
                      <a:srgbClr val="111827"/>
                    </a:solidFill>
                    <a:latin typeface="Arial"/>
                  </a:rPr>
                  <a:t> and a minimum if </a:t>
                </a:r>
                <a:r>
                  <a:rPr lang="en-IN" sz="2400">
                    <a:solidFill>
                      <a:srgbClr val="111827"/>
                    </a:solidFill>
                    <a:latin typeface="Cambria Math" panose="02040503050406030204" pitchFamily="18" charset="0"/>
                  </a:rPr>
                  <a:t>$f&lt;0$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At a root </a:t>
                </a:r>
                <a:r>
                  <a:rPr lang="en-IN" sz="2400">
                    <a:solidFill>
                      <a:srgbClr val="111827"/>
                    </a:solidFill>
                    <a:latin typeface="Cambria Math" panose="02040503050406030204" pitchFamily="18" charset="0"/>
                  </a:rPr>
                  <a:t>$x=a$</a:t>
                </a:r>
                <a:r>
                  <a:rPr sz="2400" b="0">
                    <a:solidFill>
                      <a:srgbClr val="111827"/>
                    </a:solidFill>
                    <a:latin typeface="Arial"/>
                  </a:rPr>
                  <a:t> of multiplicity </a:t>
                </a:r>
                <a:r>
                  <a:rPr lang="en-IN" sz="2400">
                    <a:solidFill>
                      <a:srgbClr val="111827"/>
                    </a:solidFill>
                    <a:latin typeface="Cambria Math" panose="02040503050406030204" pitchFamily="18" charset="0"/>
                  </a:rPr>
                  <a:t>$m$</a:t>
                </a:r>
                <a:r>
                  <a:rPr sz="2400" b="0">
                    <a:solidFill>
                      <a:srgbClr val="111827"/>
                    </a:solidFill>
                    <a:latin typeface="Arial"/>
                  </a:rPr>
                  <a:t>, </a:t>
                </a:r>
                <a:r>
                  <a:rPr lang="en-IN" sz="2400">
                    <a:solidFill>
                      <a:srgbClr val="111827"/>
                    </a:solidFill>
                    <a:latin typeface="Cambria Math" panose="02040503050406030204" pitchFamily="18" charset="0"/>
                  </a:rPr>
                  <a:t>$f$</a:t>
                </a:r>
                <a:r>
                  <a:rPr sz="2400" b="0">
                    <a:solidFill>
                      <a:srgbClr val="111827"/>
                    </a:solidFill>
                    <a:latin typeface="Arial"/>
                  </a:rPr>
                  <a:t> changes sign iff </a:t>
                </a:r>
                <a:r>
                  <a:rPr lang="en-IN" sz="2400">
                    <a:solidFill>
                      <a:srgbClr val="111827"/>
                    </a:solidFill>
                    <a:latin typeface="Cambria Math" panose="02040503050406030204" pitchFamily="18" charset="0"/>
                  </a:rPr>
                  <a:t>$m$</a:t>
                </a:r>
                <a:r>
                  <a:rPr sz="2400" b="0">
                    <a:solidFill>
                      <a:srgbClr val="111827"/>
                    </a:solidFill>
                    <a:latin typeface="Arial"/>
                  </a:rPr>
                  <a:t> is odd; for even </a:t>
                </a:r>
                <a:r>
                  <a:rPr lang="en-IN" sz="2400">
                    <a:solidFill>
                      <a:srgbClr val="111827"/>
                    </a:solidFill>
                    <a:latin typeface="Cambria Math" panose="02040503050406030204" pitchFamily="18" charset="0"/>
                  </a:rPr>
                  <a:t>$m$</a:t>
                </a:r>
                <a:r>
                  <a:rPr sz="2400" b="0">
                    <a:solidFill>
                      <a:srgbClr val="111827"/>
                    </a:solidFill>
                    <a:latin typeface="Arial"/>
                  </a:rPr>
                  <a:t> the root is itself a local extremum.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Rolle's theorem only guarantees a critical point; the sign change of </a:t>
                </a:r>
                <a:r>
                  <a:rPr lang="en-IN" sz="2400">
                    <a:solidFill>
                      <a:srgbClr val="111827"/>
                    </a:solidFill>
                    <a:latin typeface="Cambria Math" panose="02040503050406030204" pitchFamily="18" charset="0"/>
                  </a:rPr>
                  <a:t>$f'$</a:t>
                </a:r>
                <a:r>
                  <a:rPr sz="2400" b="0">
                    <a:solidFill>
                      <a:srgbClr val="111827"/>
                    </a:solidFill>
                    <a:latin typeface="Arial"/>
                  </a:rPr>
                  <a:t> decides its nature.</a:t>
                </a:r>
                <a:endParaRPr sz="2400">
                  <a:solidFill>
                    <a:srgbClr val="111827"/>
                  </a:solidFill>
                </a:endParaRPr>
              </a:p>
            </p:txBody>
          </p:sp>
        </mc:Fallback>
      </mc:AlternateContent>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0081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R</m:t>
                    </m:r>
                  </m:oMath>
                </a14:m>
                <a:r>
                  <a:rPr sz="2400" b="0">
                    <a:solidFill>
                      <a:srgbClr val="111827"/>
                    </a:solidFill>
                    <a:latin typeface="Arial"/>
                  </a:rPr>
                  <a:t>. If </a:t>
                </a:r>
                <a14:m>
                  <m:oMath xmlns:m="http://schemas.openxmlformats.org/officeDocument/2006/math">
                    <m:r>
                      <a:rPr lang="en-IN" sz="2400" i="1">
                        <a:solidFill>
                          <a:srgbClr val="111827"/>
                        </a:solidFill>
                        <a:latin typeface="Cambria Math" panose="02040503050406030204" pitchFamily="18" charset="0"/>
                      </a:rPr>
                      <m:t>𝑚</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𝑀</m:t>
                    </m:r>
                  </m:oMath>
                </a14:m>
                <a:r>
                  <a:rPr sz="2400" b="0">
                    <a:solidFill>
                      <a:srgbClr val="111827"/>
                    </a:solidFill>
                    <a:latin typeface="Arial"/>
                  </a:rPr>
                  <a:t> are respectively the number of points of local minimum and local maximum of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in the interval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𝑀</m:t>
                    </m:r>
                  </m:oMath>
                </a14:m>
                <a:r>
                  <a:rPr sz="2400" b="0">
                    <a:solidFill>
                      <a:srgbClr val="111827"/>
                    </a:solidFill>
                    <a:latin typeface="Arial"/>
                  </a:rPr>
                  <a:t> is equal to ______.</a:t>
                </a:r>
                <a:endParaRPr sz="2400">
                  <a:solidFill>
                    <a:srgbClr val="111827"/>
                  </a:solidFill>
                </a:endParaRPr>
              </a:p>
            </p:txBody>
          </p:sp>
        </mc:Choice>
        <mc:Fallback>
          <p:sp>
            <p:nvSpPr>
              <p:cNvPr id="4" name="Rounded Rectangle 3"/>
              <p:cNvSpPr/>
              <p:nvPr/>
            </p:nvSpPr>
            <p:spPr>
              <a:xfrm>
                <a:off x="731520" y="1280160"/>
                <a:ext cx="10725912" cy="20081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$f(x)=|(x-1)(x^2-2x-3)|+x-3,\ x\in\mathbb{R}$</a:t>
                </a:r>
                <a:r>
                  <a:rPr sz="2400" b="0">
                    <a:solidFill>
                      <a:srgbClr val="111827"/>
                    </a:solidFill>
                    <a:latin typeface="Arial"/>
                  </a:rPr>
                  <a:t>. If </a:t>
                </a:r>
                <a:r>
                  <a:rPr lang="en-IN" sz="2400">
                    <a:solidFill>
                      <a:srgbClr val="111827"/>
                    </a:solidFill>
                    <a:latin typeface="Cambria Math" panose="02040503050406030204" pitchFamily="18" charset="0"/>
                  </a:rPr>
                  <a:t>$m$</a:t>
                </a:r>
                <a:r>
                  <a:rPr sz="2400" b="0">
                    <a:solidFill>
                      <a:srgbClr val="111827"/>
                    </a:solidFill>
                    <a:latin typeface="Arial"/>
                  </a:rPr>
                  <a:t> and </a:t>
                </a:r>
                <a:r>
                  <a:rPr lang="en-IN" sz="2400">
                    <a:solidFill>
                      <a:srgbClr val="111827"/>
                    </a:solidFill>
                    <a:latin typeface="Cambria Math" panose="02040503050406030204" pitchFamily="18" charset="0"/>
                  </a:rPr>
                  <a:t>$M$</a:t>
                </a:r>
                <a:r>
                  <a:rPr sz="2400" b="0">
                    <a:solidFill>
                      <a:srgbClr val="111827"/>
                    </a:solidFill>
                    <a:latin typeface="Arial"/>
                  </a:rPr>
                  <a:t> are respectively the number of points of local minimum and local maximum of </a:t>
                </a:r>
                <a:r>
                  <a:rPr lang="en-IN" sz="2400">
                    <a:solidFill>
                      <a:srgbClr val="111827"/>
                    </a:solidFill>
                    <a:latin typeface="Cambria Math" panose="02040503050406030204" pitchFamily="18" charset="0"/>
                  </a:rPr>
                  <a:t>$f$</a:t>
                </a:r>
                <a:r>
                  <a:rPr sz="2400" b="0">
                    <a:solidFill>
                      <a:srgbClr val="111827"/>
                    </a:solidFill>
                    <a:latin typeface="Arial"/>
                  </a:rPr>
                  <a:t> in the interval </a:t>
                </a:r>
                <a:r>
                  <a:rPr lang="en-IN" sz="2400">
                    <a:solidFill>
                      <a:srgbClr val="111827"/>
                    </a:solidFill>
                    <a:latin typeface="Cambria Math" panose="02040503050406030204" pitchFamily="18" charset="0"/>
                  </a:rPr>
                  <a:t>$(0,4)$</a:t>
                </a:r>
                <a:r>
                  <a:rPr sz="2400" b="0">
                    <a:solidFill>
                      <a:srgbClr val="111827"/>
                    </a:solidFill>
                    <a:latin typeface="Arial"/>
                  </a:rPr>
                  <a:t>, then </a:t>
                </a:r>
                <a:r>
                  <a:rPr lang="en-IN" sz="2400">
                    <a:solidFill>
                      <a:srgbClr val="111827"/>
                    </a:solidFill>
                    <a:latin typeface="Cambria Math" panose="02040503050406030204" pitchFamily="18" charset="0"/>
                  </a:rPr>
                  <a:t>$m+M$</a:t>
                </a:r>
                <a:r>
                  <a:rPr sz="2400" b="0">
                    <a:solidFill>
                      <a:srgbClr val="111827"/>
                    </a:solidFill>
                    <a:latin typeface="Arial"/>
                  </a:rPr>
                  <a:t> is equal to ______.</a:t>
                </a:r>
                <a:endParaRPr sz="2400">
                  <a:solidFill>
                    <a:srgbClr val="111827"/>
                  </a:solidFill>
                </a:endParaRPr>
              </a:p>
            </p:txBody>
          </p:sp>
        </mc:Fallback>
      </mc:AlternateContent>
      <p:sp>
        <p:nvSpPr>
          <p:cNvPr id="5" name="Rectangle 4"/>
          <p:cNvSpPr/>
          <p:nvPr/>
        </p:nvSpPr>
        <p:spPr>
          <a:xfrm>
            <a:off x="731520" y="3516884"/>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Local extrema of a modulus function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Split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𝑢</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at its roots </a:t>
                </a:r>
                <a14:m>
                  <m:oMath xmlns:m="http://schemas.openxmlformats.org/officeDocument/2006/math">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oMath>
                </a14:m>
                <a:r>
                  <a:rPr sz="2400" b="0">
                    <a:solidFill>
                      <a:srgbClr val="78350F"/>
                    </a:solidFill>
                    <a:latin typeface="Arial"/>
                  </a:rPr>
                  <a:t> and check the sign change of </a:t>
                </a:r>
                <a14:m>
                  <m:oMath xmlns:m="http://schemas.openxmlformats.org/officeDocument/2006/math">
                    <m:sSup>
                      <m:e>
                        <m:r>
                          <a:rPr lang="en-IN" sz="2400" i="1">
                            <a:solidFill>
                              <a:srgbClr val="78350F"/>
                            </a:solidFill>
                            <a:latin typeface="Cambria Math" panose="02040503050406030204" pitchFamily="18" charset="0"/>
                          </a:rPr>
                          <m:t>𝑓</m:t>
                        </m:r>
                      </m:e>
                      <m:sup>
                        <m:r>
                          <m:rPr>
                            <m:sty m:val="p"/>
                          </m:rPr>
                          <a:rPr lang="en-IN" sz="2400">
                            <a:solidFill>
                              <a:srgbClr val="78350F"/>
                            </a:solidFill>
                            <a:latin typeface="Cambria Math" panose="02040503050406030204" pitchFamily="18" charset="0"/>
                          </a:rPr>
                          <m:t>′</m:t>
                        </m:r>
                      </m:sup>
                    </m:sSup>
                  </m:oMath>
                </a14:m>
                <a:r>
                  <a:rPr sz="2400" b="0">
                    <a:solidFill>
                      <a:srgbClr val="78350F"/>
                    </a:solidFill>
                    <a:latin typeface="Arial"/>
                  </a:rPr>
                  <a:t> on each branch and at the corners.</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Split </a:t>
                </a:r>
                <a:r>
                  <a:rPr lang="en-IN" sz="2400">
                    <a:solidFill>
                      <a:srgbClr val="78350F"/>
                    </a:solidFill>
                    <a:latin typeface="Cambria Math" panose="02040503050406030204" pitchFamily="18" charset="0"/>
                  </a:rPr>
                  <a:t>$|u|$</a:t>
                </a:r>
                <a:r>
                  <a:rPr sz="2400" b="0">
                    <a:solidFill>
                      <a:srgbClr val="78350F"/>
                    </a:solidFill>
                    <a:latin typeface="Arial"/>
                  </a:rPr>
                  <a:t> at its roots </a:t>
                </a:r>
                <a:r>
                  <a:rPr lang="en-IN" sz="2400">
                    <a:solidFill>
                      <a:srgbClr val="78350F"/>
                    </a:solidFill>
                    <a:latin typeface="Cambria Math" panose="02040503050406030204" pitchFamily="18" charset="0"/>
                  </a:rPr>
                  <a:t>$1,3$</a:t>
                </a:r>
                <a:r>
                  <a:rPr sz="2400" b="0">
                    <a:solidFill>
                      <a:srgbClr val="78350F"/>
                    </a:solidFill>
                    <a:latin typeface="Arial"/>
                  </a:rPr>
                  <a:t> and check the sign change of </a:t>
                </a:r>
                <a:r>
                  <a:rPr lang="en-IN" sz="2400">
                    <a:solidFill>
                      <a:srgbClr val="78350F"/>
                    </a:solidFill>
                    <a:latin typeface="Cambria Math" panose="02040503050406030204" pitchFamily="18" charset="0"/>
                  </a:rPr>
                  <a:t>$f'$</a:t>
                </a:r>
                <a:r>
                  <a:rPr sz="2400" b="0">
                    <a:solidFill>
                      <a:srgbClr val="78350F"/>
                    </a:solidFill>
                    <a:latin typeface="Arial"/>
                  </a:rPr>
                  <a:t> on each branch and at the corners.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cubic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positive 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negative 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𝑥</m:t>
                    </m:r>
                  </m:oMath>
                </a14:m>
                <a:r>
                  <a:rPr sz="2400" b="0">
                    <a:solidFill>
                      <a:srgbClr val="111827"/>
                    </a:solidFill>
                    <a:latin typeface="Arial"/>
                  </a:rPr>
                  <a:t> 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No critical point lies inside these two intervals.</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$x^2-2x-3=(x-3)(x+1)$</a:t>
                </a:r>
                <a:r>
                  <a:rPr sz="2400" b="0">
                    <a:solidFill>
                      <a:srgbClr val="111827"/>
                    </a:solidFill>
                    <a:latin typeface="Arial"/>
                  </a:rPr>
                  <a:t>, so </a:t>
                </a:r>
                <a:r>
                  <a:rPr lang="en-IN" sz="2400">
                    <a:solidFill>
                      <a:srgbClr val="111827"/>
                    </a:solidFill>
                    <a:latin typeface="Cambria Math" panose="02040503050406030204" pitchFamily="18" charset="0"/>
                  </a:rPr>
                  <a:t>$f(x)=|(x-1)(x-3)(x+1)|+x-3$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cubic </a:t>
                </a:r>
                <a:r>
                  <a:rPr lang="en-IN" sz="2400">
                    <a:solidFill>
                      <a:srgbClr val="111827"/>
                    </a:solidFill>
                    <a:latin typeface="Cambria Math" panose="02040503050406030204" pitchFamily="18" charset="0"/>
                  </a:rPr>
                  <a:t>$(x-1)(x-3)(x+1)$</a:t>
                </a:r>
                <a:r>
                  <a:rPr sz="2400" b="0">
                    <a:solidFill>
                      <a:srgbClr val="111827"/>
                    </a:solidFill>
                    <a:latin typeface="Arial"/>
                  </a:rPr>
                  <a:t> is positive on </a:t>
                </a:r>
                <a:r>
                  <a:rPr lang="en-IN" sz="2400">
                    <a:solidFill>
                      <a:srgbClr val="111827"/>
                    </a:solidFill>
                    <a:latin typeface="Cambria Math" panose="02040503050406030204" pitchFamily="18" charset="0"/>
                  </a:rPr>
                  <a:t>$(0,1)$</a:t>
                </a:r>
                <a:r>
                  <a:rPr sz="2400" b="0">
                    <a:solidFill>
                      <a:srgbClr val="111827"/>
                    </a:solidFill>
                    <a:latin typeface="Arial"/>
                  </a:rPr>
                  <a:t> and </a:t>
                </a:r>
                <a:r>
                  <a:rPr lang="en-IN" sz="2400">
                    <a:solidFill>
                      <a:srgbClr val="111827"/>
                    </a:solidFill>
                    <a:latin typeface="Cambria Math" panose="02040503050406030204" pitchFamily="18" charset="0"/>
                  </a:rPr>
                  <a:t>$(3,4)$</a:t>
                </a:r>
                <a:r>
                  <a:rPr sz="2400" b="0">
                    <a:solidFill>
                      <a:srgbClr val="111827"/>
                    </a:solidFill>
                    <a:latin typeface="Arial"/>
                  </a:rPr>
                  <a:t> and negative on </a:t>
                </a:r>
                <a:r>
                  <a:rPr lang="en-IN" sz="2400">
                    <a:solidFill>
                      <a:srgbClr val="111827"/>
                    </a:solidFill>
                    <a:latin typeface="Cambria Math" panose="02040503050406030204" pitchFamily="18" charset="0"/>
                  </a:rPr>
                  <a:t>$(1,3)$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$f(x)=x^3-3x^2$</a:t>
                </a:r>
                <a:r>
                  <a:rPr sz="2400" b="0">
                    <a:solidFill>
                      <a:srgbClr val="111827"/>
                    </a:solidFill>
                    <a:latin typeface="Arial"/>
                  </a:rPr>
                  <a:t> on </a:t>
                </a:r>
                <a:r>
                  <a:rPr lang="en-IN" sz="2400">
                    <a:solidFill>
                      <a:srgbClr val="111827"/>
                    </a:solidFill>
                    <a:latin typeface="Cambria Math" panose="02040503050406030204" pitchFamily="18" charset="0"/>
                  </a:rPr>
                  <a:t>$(0,1)$</a:t>
                </a:r>
                <a:r>
                  <a:rPr sz="2400" b="0">
                    <a:solidFill>
                      <a:srgbClr val="111827"/>
                    </a:solidFill>
                    <a:latin typeface="Arial"/>
                  </a:rPr>
                  <a:t>, </a:t>
                </a:r>
                <a:r>
                  <a:rPr lang="en-IN" sz="2400">
                    <a:solidFill>
                      <a:srgbClr val="111827"/>
                    </a:solidFill>
                    <a:latin typeface="Cambria Math" panose="02040503050406030204" pitchFamily="18" charset="0"/>
                  </a:rPr>
                  <a:t>$f(x)=-x^3+3x^2+2x-6$</a:t>
                </a:r>
                <a:r>
                  <a:rPr sz="2400" b="0">
                    <a:solidFill>
                      <a:srgbClr val="111827"/>
                    </a:solidFill>
                    <a:latin typeface="Arial"/>
                  </a:rPr>
                  <a:t> on </a:t>
                </a:r>
                <a:r>
                  <a:rPr lang="en-IN" sz="2400">
                    <a:solidFill>
                      <a:srgbClr val="111827"/>
                    </a:solidFill>
                    <a:latin typeface="Cambria Math" panose="02040503050406030204" pitchFamily="18" charset="0"/>
                  </a:rPr>
                  <a:t>$(1,3)$</a:t>
                </a:r>
                <a:r>
                  <a:rPr sz="2400" b="0">
                    <a:solidFill>
                      <a:srgbClr val="111827"/>
                    </a:solidFill>
                    <a:latin typeface="Arial"/>
                  </a:rPr>
                  <a:t>, </a:t>
                </a:r>
                <a:r>
                  <a:rPr lang="en-IN" sz="2400">
                    <a:solidFill>
                      <a:srgbClr val="111827"/>
                    </a:solidFill>
                    <a:latin typeface="Cambria Math" panose="02040503050406030204" pitchFamily="18" charset="0"/>
                  </a:rPr>
                  <a:t>$f(x)=x^3-3x^2$</a:t>
                </a:r>
                <a:r>
                  <a:rPr sz="2400" b="0">
                    <a:solidFill>
                      <a:srgbClr val="111827"/>
                    </a:solidFill>
                    <a:latin typeface="Arial"/>
                  </a:rPr>
                  <a:t> on </a:t>
                </a:r>
                <a:r>
                  <a:rPr lang="en-IN" sz="2400">
                    <a:solidFill>
                      <a:srgbClr val="111827"/>
                    </a:solidFill>
                    <a:latin typeface="Cambria Math" panose="02040503050406030204" pitchFamily="18" charset="0"/>
                  </a:rPr>
                  <a:t>$(3,4)$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$f'(x)=3x^2-6x$</a:t>
                </a:r>
                <a:r>
                  <a:rPr sz="2400" b="0">
                    <a:solidFill>
                      <a:srgbClr val="111827"/>
                    </a:solidFill>
                    <a:latin typeface="Arial"/>
                  </a:rPr>
                  <a:t> on </a:t>
                </a:r>
                <a:r>
                  <a:rPr lang="en-IN" sz="2400">
                    <a:solidFill>
                      <a:srgbClr val="111827"/>
                    </a:solidFill>
                    <a:latin typeface="Cambria Math" panose="02040503050406030204" pitchFamily="18" charset="0"/>
                  </a:rPr>
                  <a:t>$(0,1)$</a:t>
                </a:r>
                <a:r>
                  <a:rPr sz="2400" b="0">
                    <a:solidFill>
                      <a:srgbClr val="111827"/>
                    </a:solidFill>
                    <a:latin typeface="Arial"/>
                  </a:rPr>
                  <a:t> and </a:t>
                </a:r>
                <a:r>
                  <a:rPr lang="en-IN" sz="2400">
                    <a:solidFill>
                      <a:srgbClr val="111827"/>
                    </a:solidFill>
                    <a:latin typeface="Cambria Math" panose="02040503050406030204" pitchFamily="18" charset="0"/>
                  </a:rPr>
                  <a:t>$(3,4)$</a:t>
                </a:r>
                <a:r>
                  <a:rPr sz="2400" b="0">
                    <a:solidFill>
                      <a:srgbClr val="111827"/>
                    </a:solidFill>
                    <a:latin typeface="Arial"/>
                  </a:rPr>
                  <a:t>; </a:t>
                </a:r>
                <a:r>
                  <a:rPr lang="en-IN" sz="2400">
                    <a:solidFill>
                      <a:srgbClr val="111827"/>
                    </a:solidFill>
                    <a:latin typeface="Cambria Math" panose="02040503050406030204" pitchFamily="18" charset="0"/>
                  </a:rPr>
                  <a:t>$f'(x)=-3x^2+6x+2$</a:t>
                </a:r>
                <a:r>
                  <a:rPr sz="2400" b="0">
                    <a:solidFill>
                      <a:srgbClr val="111827"/>
                    </a:solidFill>
                    <a:latin typeface="Arial"/>
                  </a:rPr>
                  <a:t> on </a:t>
                </a:r>
                <a:r>
                  <a:rPr lang="en-IN" sz="2400">
                    <a:solidFill>
                      <a:srgbClr val="111827"/>
                    </a:solidFill>
                    <a:latin typeface="Cambria Math" panose="02040503050406030204" pitchFamily="18" charset="0"/>
                  </a:rPr>
                  <a:t>$(1,3)$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On </a:t>
                </a:r>
                <a:r>
                  <a:rPr lang="en-IN" sz="2400">
                    <a:solidFill>
                      <a:srgbClr val="111827"/>
                    </a:solidFill>
                    <a:latin typeface="Cambria Math" panose="02040503050406030204" pitchFamily="18" charset="0"/>
                  </a:rPr>
                  <a:t>$(0,1)$</a:t>
                </a:r>
                <a:r>
                  <a:rPr sz="2400" b="0">
                    <a:solidFill>
                      <a:srgbClr val="111827"/>
                    </a:solidFill>
                    <a:latin typeface="Arial"/>
                  </a:rPr>
                  <a:t>: </a:t>
                </a:r>
                <a:r>
                  <a:rPr lang="en-IN" sz="2400">
                    <a:solidFill>
                      <a:srgbClr val="111827"/>
                    </a:solidFill>
                    <a:latin typeface="Cambria Math" panose="02040503050406030204" pitchFamily="18" charset="0"/>
                  </a:rPr>
                  <a:t>$f'=3x(x-2)&lt;0$</a:t>
                </a:r>
                <a:r>
                  <a:rPr sz="2400" b="0">
                    <a:solidFill>
                      <a:srgbClr val="111827"/>
                    </a:solidFill>
                    <a:latin typeface="Arial"/>
                  </a:rPr>
                  <a:t>. On </a:t>
                </a:r>
                <a:r>
                  <a:rPr lang="en-IN" sz="2400">
                    <a:solidFill>
                      <a:srgbClr val="111827"/>
                    </a:solidFill>
                    <a:latin typeface="Cambria Math" panose="02040503050406030204" pitchFamily="18" charset="0"/>
                  </a:rPr>
                  <a:t>$(3,4)$</a:t>
                </a:r>
                <a:r>
                  <a:rPr sz="2400" b="0">
                    <a:solidFill>
                      <a:srgbClr val="111827"/>
                    </a:solidFill>
                    <a:latin typeface="Arial"/>
                  </a:rPr>
                  <a:t>: </a:t>
                </a:r>
                <a:r>
                  <a:rPr lang="en-IN" sz="2400">
                    <a:solidFill>
                      <a:srgbClr val="111827"/>
                    </a:solidFill>
                    <a:latin typeface="Cambria Math" panose="02040503050406030204" pitchFamily="18" charset="0"/>
                  </a:rPr>
                  <a:t>$f'=3x(x-2)&gt;0$</a:t>
                </a:r>
                <a:r>
                  <a:rPr sz="2400" b="0">
                    <a:solidFill>
                      <a:srgbClr val="111827"/>
                    </a:solidFill>
                    <a:latin typeface="Arial"/>
                  </a:rPr>
                  <a:t>. No critical point lies inside these two intervals.</a:t>
                </a:r>
                <a:endParaRPr sz="2400">
                  <a:solidFill>
                    <a:srgbClr val="111827"/>
                  </a:solidFill>
                </a:endParaRPr>
              </a:p>
            </p:txBody>
          </p:sp>
        </mc:Fallback>
      </mc:AlternateContent>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e>
                    </m:rad>
                  </m:oMath>
                </a14:m>
                <a:r>
                  <a:rPr sz="2400" b="0">
                    <a:solidFill>
                      <a:srgbClr val="111827"/>
                    </a:solidFill>
                    <a:latin typeface="Arial"/>
                  </a:rPr>
                  <a:t>; only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2.29</m:t>
                    </m:r>
                  </m:oMath>
                </a14:m>
                <a:r>
                  <a:rPr sz="2400" b="0">
                    <a:solidFill>
                      <a:srgbClr val="111827"/>
                    </a:solidFill>
                    <a:latin typeface="Arial"/>
                  </a:rPr>
                  <a:t> lies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Sign of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along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Local minima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(sign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Local maximum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e>
                    </m:rad>
                  </m:oMath>
                </a14:m>
                <a:r>
                  <a:rPr sz="2400" b="0">
                    <a:solidFill>
                      <a:srgbClr val="111827"/>
                    </a:solidFill>
                    <a:latin typeface="Arial"/>
                  </a:rPr>
                  <a:t> (sign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Therefore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On </a:t>
                </a:r>
                <a:r>
                  <a:rPr lang="en-IN" sz="2400">
                    <a:solidFill>
                      <a:srgbClr val="111827"/>
                    </a:solidFill>
                    <a:latin typeface="Cambria Math" panose="02040503050406030204" pitchFamily="18" charset="0"/>
                  </a:rPr>
                  <a:t>$(1,3)$</a:t>
                </a:r>
                <a:r>
                  <a:rPr sz="2400" b="0">
                    <a:solidFill>
                      <a:srgbClr val="111827"/>
                    </a:solidFill>
                    <a:latin typeface="Arial"/>
                  </a:rPr>
                  <a:t>: </a:t>
                </a:r>
                <a:r>
                  <a:rPr lang="en-IN" sz="2400">
                    <a:solidFill>
                      <a:srgbClr val="111827"/>
                    </a:solidFill>
                    <a:latin typeface="Cambria Math" panose="02040503050406030204" pitchFamily="18" charset="0"/>
                  </a:rPr>
                  <a:t>$f'=0\Rightarrow x=1\pm\sqrt{5/3}$</a:t>
                </a:r>
                <a:r>
                  <a:rPr sz="2400" b="0">
                    <a:solidFill>
                      <a:srgbClr val="111827"/>
                    </a:solidFill>
                    <a:latin typeface="Arial"/>
                  </a:rPr>
                  <a:t>; only </a:t>
                </a:r>
                <a:r>
                  <a:rPr lang="en-IN" sz="2400">
                    <a:solidFill>
                      <a:srgbClr val="111827"/>
                    </a:solidFill>
                    <a:latin typeface="Cambria Math" panose="02040503050406030204" pitchFamily="18" charset="0"/>
                  </a:rPr>
                  <a:t>$x=1+\sqrt{5/3}\approx2.29$</a:t>
                </a:r>
                <a:r>
                  <a:rPr sz="2400" b="0">
                    <a:solidFill>
                      <a:srgbClr val="111827"/>
                    </a:solidFill>
                    <a:latin typeface="Arial"/>
                  </a:rPr>
                  <a:t> lies in </a:t>
                </a:r>
                <a:r>
                  <a:rPr lang="en-IN" sz="2400">
                    <a:solidFill>
                      <a:srgbClr val="111827"/>
                    </a:solidFill>
                    <a:latin typeface="Cambria Math" panose="02040503050406030204" pitchFamily="18" charset="0"/>
                  </a:rPr>
                  <a:t>$(1,3)$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Sign of </a:t>
                </a:r>
                <a:r>
                  <a:rPr lang="en-IN" sz="2400">
                    <a:solidFill>
                      <a:srgbClr val="111827"/>
                    </a:solidFill>
                    <a:latin typeface="Cambria Math" panose="02040503050406030204" pitchFamily="18" charset="0"/>
                  </a:rPr>
                  <a:t>$f'$</a:t>
                </a:r>
                <a:r>
                  <a:rPr sz="2400" b="0">
                    <a:solidFill>
                      <a:srgbClr val="111827"/>
                    </a:solidFill>
                    <a:latin typeface="Arial"/>
                  </a:rPr>
                  <a:t> along </a:t>
                </a:r>
                <a:r>
                  <a:rPr lang="en-IN" sz="2400">
                    <a:solidFill>
                      <a:srgbClr val="111827"/>
                    </a:solidFill>
                    <a:latin typeface="Cambria Math" panose="02040503050406030204" pitchFamily="18" charset="0"/>
                  </a:rPr>
                  <a:t>$(0,4)$</a:t>
                </a:r>
                <a:r>
                  <a:rPr sz="2400" b="0">
                    <a:solidFill>
                      <a:srgbClr val="111827"/>
                    </a:solidFill>
                    <a:latin typeface="Arial"/>
                  </a:rPr>
                  <a:t>: </a:t>
                </a:r>
                <a:r>
                  <a:rPr lang="en-IN" sz="2400">
                    <a:solidFill>
                      <a:srgbClr val="111827"/>
                    </a:solidFill>
                    <a:latin typeface="Cambria Math" panose="02040503050406030204" pitchFamily="18" charset="0"/>
                  </a:rPr>
                  <a:t>$-$</a:t>
                </a:r>
                <a:r>
                  <a:rPr sz="2400" b="0">
                    <a:solidFill>
                      <a:srgbClr val="111827"/>
                    </a:solidFill>
                    <a:latin typeface="Arial"/>
                  </a:rPr>
                  <a:t> on </a:t>
                </a:r>
                <a:r>
                  <a:rPr lang="en-IN" sz="2400">
                    <a:solidFill>
                      <a:srgbClr val="111827"/>
                    </a:solidFill>
                    <a:latin typeface="Cambria Math" panose="02040503050406030204" pitchFamily="18" charset="0"/>
                  </a:rPr>
                  <a:t>$(0,1)$</a:t>
                </a:r>
                <a:r>
                  <a:rPr sz="2400" b="0">
                    <a:solidFill>
                      <a:srgbClr val="111827"/>
                    </a:solidFill>
                    <a:latin typeface="Arial"/>
                  </a:rPr>
                  <a:t>, </a:t>
                </a:r>
                <a:r>
                  <a:rPr lang="en-IN" sz="2400">
                    <a:solidFill>
                      <a:srgbClr val="111827"/>
                    </a:solidFill>
                    <a:latin typeface="Cambria Math" panose="02040503050406030204" pitchFamily="18" charset="0"/>
                  </a:rPr>
                  <a:t>$+$</a:t>
                </a:r>
                <a:r>
                  <a:rPr sz="2400" b="0">
                    <a:solidFill>
                      <a:srgbClr val="111827"/>
                    </a:solidFill>
                    <a:latin typeface="Arial"/>
                  </a:rPr>
                  <a:t> on </a:t>
                </a:r>
                <a:r>
                  <a:rPr lang="en-IN" sz="2400">
                    <a:solidFill>
                      <a:srgbClr val="111827"/>
                    </a:solidFill>
                    <a:latin typeface="Cambria Math" panose="02040503050406030204" pitchFamily="18" charset="0"/>
                  </a:rPr>
                  <a:t>$(1,1+\sqrt{5/3})$</a:t>
                </a:r>
                <a:r>
                  <a:rPr sz="2400" b="0">
                    <a:solidFill>
                      <a:srgbClr val="111827"/>
                    </a:solidFill>
                    <a:latin typeface="Arial"/>
                  </a:rPr>
                  <a:t>, </a:t>
                </a:r>
                <a:r>
                  <a:rPr lang="en-IN" sz="2400">
                    <a:solidFill>
                      <a:srgbClr val="111827"/>
                    </a:solidFill>
                    <a:latin typeface="Cambria Math" panose="02040503050406030204" pitchFamily="18" charset="0"/>
                  </a:rPr>
                  <a:t>$-$</a:t>
                </a:r>
                <a:r>
                  <a:rPr sz="2400" b="0">
                    <a:solidFill>
                      <a:srgbClr val="111827"/>
                    </a:solidFill>
                    <a:latin typeface="Arial"/>
                  </a:rPr>
                  <a:t> on </a:t>
                </a:r>
                <a:r>
                  <a:rPr lang="en-IN" sz="2400">
                    <a:solidFill>
                      <a:srgbClr val="111827"/>
                    </a:solidFill>
                    <a:latin typeface="Cambria Math" panose="02040503050406030204" pitchFamily="18" charset="0"/>
                  </a:rPr>
                  <a:t>$(1+\sqrt{5/3},3)$</a:t>
                </a:r>
                <a:r>
                  <a:rPr sz="2400" b="0">
                    <a:solidFill>
                      <a:srgbClr val="111827"/>
                    </a:solidFill>
                    <a:latin typeface="Arial"/>
                  </a:rPr>
                  <a:t>, </a:t>
                </a:r>
                <a:r>
                  <a:rPr lang="en-IN" sz="2400">
                    <a:solidFill>
                      <a:srgbClr val="111827"/>
                    </a:solidFill>
                    <a:latin typeface="Cambria Math" panose="02040503050406030204" pitchFamily="18" charset="0"/>
                  </a:rPr>
                  <a:t>$+$</a:t>
                </a:r>
                <a:r>
                  <a:rPr sz="2400" b="0">
                    <a:solidFill>
                      <a:srgbClr val="111827"/>
                    </a:solidFill>
                    <a:latin typeface="Arial"/>
                  </a:rPr>
                  <a:t> on </a:t>
                </a:r>
                <a:r>
                  <a:rPr lang="en-IN" sz="2400">
                    <a:solidFill>
                      <a:srgbClr val="111827"/>
                    </a:solidFill>
                    <a:latin typeface="Cambria Math" panose="02040503050406030204" pitchFamily="18" charset="0"/>
                  </a:rPr>
                  <a:t>$(3,4)$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Local minima at </a:t>
                </a:r>
                <a:r>
                  <a:rPr lang="en-IN" sz="2400">
                    <a:solidFill>
                      <a:srgbClr val="111827"/>
                    </a:solidFill>
                    <a:latin typeface="Cambria Math" panose="02040503050406030204" pitchFamily="18" charset="0"/>
                  </a:rPr>
                  <a:t>$x=1$</a:t>
                </a:r>
                <a:r>
                  <a:rPr sz="2400" b="0">
                    <a:solidFill>
                      <a:srgbClr val="111827"/>
                    </a:solidFill>
                    <a:latin typeface="Arial"/>
                  </a:rPr>
                  <a:t> and </a:t>
                </a:r>
                <a:r>
                  <a:rPr lang="en-IN" sz="2400">
                    <a:solidFill>
                      <a:srgbClr val="111827"/>
                    </a:solidFill>
                    <a:latin typeface="Cambria Math" panose="02040503050406030204" pitchFamily="18" charset="0"/>
                  </a:rPr>
                  <a:t>$x=3$</a:t>
                </a:r>
                <a:r>
                  <a:rPr sz="2400" b="0">
                    <a:solidFill>
                      <a:srgbClr val="111827"/>
                    </a:solidFill>
                    <a:latin typeface="Arial"/>
                  </a:rPr>
                  <a:t> (sign </a:t>
                </a:r>
                <a:r>
                  <a:rPr lang="en-IN" sz="2400">
                    <a:solidFill>
                      <a:srgbClr val="111827"/>
                    </a:solidFill>
                    <a:latin typeface="Cambria Math" panose="02040503050406030204" pitchFamily="18" charset="0"/>
                  </a:rPr>
                  <a:t>$-\to+$</a:t>
                </a:r>
                <a:r>
                  <a:rPr sz="2400" b="0">
                    <a:solidFill>
                      <a:srgbClr val="111827"/>
                    </a:solidFill>
                    <a:latin typeface="Arial"/>
                  </a:rPr>
                  <a:t>): </a:t>
                </a:r>
                <a:r>
                  <a:rPr lang="en-IN" sz="2400">
                    <a:solidFill>
                      <a:srgbClr val="111827"/>
                    </a:solidFill>
                    <a:latin typeface="Cambria Math" panose="02040503050406030204" pitchFamily="18" charset="0"/>
                  </a:rPr>
                  <a:t>$m=2$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Local maximum at </a:t>
                </a:r>
                <a:r>
                  <a:rPr lang="en-IN" sz="2400">
                    <a:solidFill>
                      <a:srgbClr val="111827"/>
                    </a:solidFill>
                    <a:latin typeface="Cambria Math" panose="02040503050406030204" pitchFamily="18" charset="0"/>
                  </a:rPr>
                  <a:t>$x=1+\sqrt{5/3}$</a:t>
                </a:r>
                <a:r>
                  <a:rPr sz="2400" b="0">
                    <a:solidFill>
                      <a:srgbClr val="111827"/>
                    </a:solidFill>
                    <a:latin typeface="Arial"/>
                  </a:rPr>
                  <a:t> (sign </a:t>
                </a:r>
                <a:r>
                  <a:rPr lang="en-IN" sz="2400">
                    <a:solidFill>
                      <a:srgbClr val="111827"/>
                    </a:solidFill>
                    <a:latin typeface="Cambria Math" panose="02040503050406030204" pitchFamily="18" charset="0"/>
                  </a:rPr>
                  <a:t>$+\to-$</a:t>
                </a:r>
                <a:r>
                  <a:rPr sz="2400" b="0">
                    <a:solidFill>
                      <a:srgbClr val="111827"/>
                    </a:solidFill>
                    <a:latin typeface="Arial"/>
                  </a:rPr>
                  <a:t>): </a:t>
                </a:r>
                <a:r>
                  <a:rPr lang="en-IN" sz="2400">
                    <a:solidFill>
                      <a:srgbClr val="111827"/>
                    </a:solidFill>
                    <a:latin typeface="Cambria Math" panose="02040503050406030204" pitchFamily="18" charset="0"/>
                  </a:rPr>
                  <a:t>$M=1$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Therefore </a:t>
                </a:r>
                <a:r>
                  <a:rPr lang="en-IN" sz="2400">
                    <a:solidFill>
                      <a:srgbClr val="111827"/>
                    </a:solidFill>
                    <a:latin typeface="Cambria Math" panose="02040503050406030204" pitchFamily="18" charset="0"/>
                  </a:rPr>
                  <a:t>$m+M=3$</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3</a:t>
            </a:r>
            <a:endParaRPr sz="2800">
              <a:solidFill>
                <a:srgbClr val="15803D"/>
              </a:solidFill>
            </a:endParaRPr>
          </a:p>
        </p:txBody>
      </p:sp>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At a simple root </a:t>
                </a:r>
                <a14:m>
                  <m:oMath xmlns:m="http://schemas.openxmlformats.org/officeDocument/2006/math">
                    <m:r>
                      <a:rPr lang="en-IN" sz="2400" i="1">
                        <a:solidFill>
                          <a:srgbClr val="78350F"/>
                        </a:solidFill>
                        <a:latin typeface="Cambria Math" panose="02040503050406030204" pitchFamily="18" charset="0"/>
                      </a:rPr>
                      <m:t>𝑐</m:t>
                    </m:r>
                  </m:oMath>
                </a14:m>
                <a:r>
                  <a:rPr sz="2400" b="0">
                    <a:solidFill>
                      <a:srgbClr val="78350F"/>
                    </a:solidFill>
                    <a:latin typeface="Arial"/>
                  </a:rPr>
                  <a:t> of </a:t>
                </a:r>
                <a14:m>
                  <m:oMath xmlns:m="http://schemas.openxmlformats.org/officeDocument/2006/math">
                    <m:r>
                      <a:rPr lang="en-IN" sz="2400" i="1">
                        <a:solidFill>
                          <a:srgbClr val="78350F"/>
                        </a:solidFill>
                        <a:latin typeface="Cambria Math" panose="02040503050406030204" pitchFamily="18" charset="0"/>
                      </a:rPr>
                      <m:t>𝑢</m:t>
                    </m:r>
                  </m:oMath>
                </a14:m>
                <a:r>
                  <a:rPr sz="2400" b="0">
                    <a:solidFill>
                      <a:srgbClr val="78350F"/>
                    </a:solidFill>
                    <a:latin typeface="Arial"/>
                  </a:rPr>
                  <a:t>,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𝑢</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oMath>
                </a14:m>
                <a:r>
                  <a:rPr sz="2400" b="0">
                    <a:solidFill>
                      <a:srgbClr val="78350F"/>
                    </a:solidFill>
                    <a:latin typeface="Arial"/>
                  </a:rPr>
                  <a:t> has a corner; it is a local minimum iff </a:t>
                </a:r>
                <a14:m>
                  <m:oMath xmlns:m="http://schemas.openxmlformats.org/officeDocument/2006/math">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𝑢</m:t>
                        </m:r>
                      </m:e>
                      <m:sup>
                        <m:r>
                          <m:rPr>
                            <m:sty m:val="p"/>
                          </m:rPr>
                          <a:rPr lang="en-IN" sz="2400">
                            <a:solidFill>
                              <a:srgbClr val="78350F"/>
                            </a:solidFill>
                            <a:latin typeface="Cambria Math" panose="02040503050406030204" pitchFamily="18" charset="0"/>
                          </a:rPr>
                          <m:t>′</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𝑐</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&gt;</m:t>
                    </m:r>
                    <m:r>
                      <a:rPr lang="en-IN" sz="2400" i="1">
                        <a:solidFill>
                          <a:srgbClr val="78350F"/>
                        </a:solidFill>
                        <a:latin typeface="Cambria Math" panose="02040503050406030204" pitchFamily="18" charset="0"/>
                      </a:rPr>
                      <m:t>1</m:t>
                    </m:r>
                  </m:oMath>
                </a14:m>
                <a:r>
                  <a:rPr sz="2400" b="0">
                    <a:solidFill>
                      <a:srgbClr val="78350F"/>
                    </a:solidFill>
                    <a:latin typeface="Arial"/>
                  </a:rPr>
                  <a:t> (slope of the linear term).</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At a simple root </a:t>
                </a:r>
                <a:r>
                  <a:rPr lang="en-IN" sz="2400">
                    <a:solidFill>
                      <a:srgbClr val="78350F"/>
                    </a:solidFill>
                    <a:latin typeface="Cambria Math" panose="02040503050406030204" pitchFamily="18" charset="0"/>
                  </a:rPr>
                  <a:t>$c$</a:t>
                </a:r>
                <a:r>
                  <a:rPr sz="2400" b="0">
                    <a:solidFill>
                      <a:srgbClr val="78350F"/>
                    </a:solidFill>
                    <a:latin typeface="Arial"/>
                  </a:rPr>
                  <a:t> of </a:t>
                </a:r>
                <a:r>
                  <a:rPr lang="en-IN" sz="2400">
                    <a:solidFill>
                      <a:srgbClr val="78350F"/>
                    </a:solidFill>
                    <a:latin typeface="Cambria Math" panose="02040503050406030204" pitchFamily="18" charset="0"/>
                  </a:rPr>
                  <a:t>$u$</a:t>
                </a:r>
                <a:r>
                  <a:rPr sz="2400" b="0">
                    <a:solidFill>
                      <a:srgbClr val="78350F"/>
                    </a:solidFill>
                    <a:latin typeface="Arial"/>
                  </a:rPr>
                  <a:t>, </a:t>
                </a:r>
                <a:r>
                  <a:rPr lang="en-IN" sz="2400">
                    <a:solidFill>
                      <a:srgbClr val="78350F"/>
                    </a:solidFill>
                    <a:latin typeface="Cambria Math" panose="02040503050406030204" pitchFamily="18" charset="0"/>
                  </a:rPr>
                  <a:t>$|u|+x-3$</a:t>
                </a:r>
                <a:r>
                  <a:rPr sz="2400" b="0">
                    <a:solidFill>
                      <a:srgbClr val="78350F"/>
                    </a:solidFill>
                    <a:latin typeface="Arial"/>
                  </a:rPr>
                  <a:t> has a corner; it is a local minimum iff </a:t>
                </a:r>
                <a:r>
                  <a:rPr lang="en-IN" sz="2400">
                    <a:solidFill>
                      <a:srgbClr val="78350F"/>
                    </a:solidFill>
                    <a:latin typeface="Cambria Math" panose="02040503050406030204" pitchFamily="18" charset="0"/>
                  </a:rPr>
                  <a:t>$|u'(c)|&gt;1$</a:t>
                </a:r>
                <a:r>
                  <a:rPr sz="2400" b="0">
                    <a:solidFill>
                      <a:srgbClr val="78350F"/>
                    </a:solidFill>
                    <a:latin typeface="Arial"/>
                  </a:rPr>
                  <a:t> (slope of the linear term).</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Write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𝑢</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Near a simple root </a:t>
                </a:r>
                <a14:m>
                  <m:oMath xmlns:m="http://schemas.openxmlformats.org/officeDocument/2006/math">
                    <m:r>
                      <a:rPr lang="en-IN" sz="2400" i="1">
                        <a:solidFill>
                          <a:srgbClr val="111827"/>
                        </a:solidFill>
                        <a:latin typeface="Cambria Math" panose="02040503050406030204" pitchFamily="18" charset="0"/>
                      </a:rPr>
                      <m:t>𝑐</m:t>
                    </m:r>
                  </m:oMath>
                </a14:m>
                <a:r>
                  <a:rPr sz="2400" b="0">
                    <a:solidFill>
                      <a:srgbClr val="111827"/>
                    </a:solidFill>
                    <a:latin typeface="Arial"/>
                  </a:rPr>
                  <a:t> of </a:t>
                </a:r>
                <a14:m>
                  <m:oMath xmlns:m="http://schemas.openxmlformats.org/officeDocument/2006/math">
                    <m:r>
                      <a:rPr lang="en-IN" sz="2400" i="1">
                        <a:solidFill>
                          <a:srgbClr val="111827"/>
                        </a:solidFill>
                        <a:latin typeface="Cambria Math" panose="02040503050406030204" pitchFamily="18" charset="0"/>
                      </a:rPr>
                      <m:t>𝑢</m:t>
                    </m:r>
                  </m:oMath>
                </a14:m>
                <a:r>
                  <a:rPr sz="2400" b="0">
                    <a:solidFill>
                      <a:srgbClr val="111827"/>
                    </a:solidFill>
                    <a:latin typeface="Arial"/>
                  </a:rPr>
                  <a:t>: left slope of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is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𝑢</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right slope is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𝑢</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(for </a:t>
                </a:r>
                <a14:m>
                  <m:oMath xmlns:m="http://schemas.openxmlformats.org/officeDocument/2006/math">
                    <m:sSup>
                      <m:e>
                        <m:r>
                          <a:rPr lang="en-IN" sz="2400" i="1">
                            <a:solidFill>
                              <a:srgbClr val="111827"/>
                            </a:solidFill>
                            <a:latin typeface="Cambria Math" panose="02040503050406030204" pitchFamily="18" charset="0"/>
                          </a:rPr>
                          <m:t>𝑢</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absolute value turns into a V).</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𝑢</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𝑢</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1</m:t>
                    </m:r>
                  </m:oMath>
                </a14:m>
                <a:r>
                  <a:rPr sz="2400" b="0">
                    <a:solidFill>
                      <a:srgbClr val="111827"/>
                    </a:solidFill>
                    <a:latin typeface="Arial"/>
                  </a:rPr>
                  <a:t>: left slope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right slope </a:t>
                </a:r>
                <a14:m>
                  <m:oMath xmlns:m="http://schemas.openxmlformats.org/officeDocument/2006/math">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is a local minimum.</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Write </a:t>
                </a:r>
                <a:r>
                  <a:rPr lang="en-IN" sz="2400">
                    <a:solidFill>
                      <a:srgbClr val="111827"/>
                    </a:solidFill>
                    <a:latin typeface="Cambria Math" panose="02040503050406030204" pitchFamily="18" charset="0"/>
                  </a:rPr>
                  <a:t>$f=|u|+(x-3)$</a:t>
                </a:r>
                <a:r>
                  <a:rPr sz="2400" b="0">
                    <a:solidFill>
                      <a:srgbClr val="111827"/>
                    </a:solidFill>
                    <a:latin typeface="Arial"/>
                  </a:rPr>
                  <a:t> with </a:t>
                </a:r>
                <a:r>
                  <a:rPr lang="en-IN" sz="2400">
                    <a:solidFill>
                      <a:srgbClr val="111827"/>
                    </a:solidFill>
                    <a:latin typeface="Cambria Math" panose="02040503050406030204" pitchFamily="18" charset="0"/>
                  </a:rPr>
                  <a:t>$u=(x-1)(x-3)(x+1)=x^3-3x^2-x+3$</a:t>
                </a:r>
                <a:r>
                  <a:rPr sz="2400" b="0">
                    <a:solidFill>
                      <a:srgbClr val="111827"/>
                    </a:solidFill>
                    <a:latin typeface="Arial"/>
                  </a:rPr>
                  <a:t>, </a:t>
                </a:r>
                <a:r>
                  <a:rPr lang="en-IN" sz="2400">
                    <a:solidFill>
                      <a:srgbClr val="111827"/>
                    </a:solidFill>
                    <a:latin typeface="Cambria Math" panose="02040503050406030204" pitchFamily="18" charset="0"/>
                  </a:rPr>
                  <a:t>$u'=3x^2-6x-1$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Near a simple root </a:t>
                </a:r>
                <a:r>
                  <a:rPr lang="en-IN" sz="2400">
                    <a:solidFill>
                      <a:srgbClr val="111827"/>
                    </a:solidFill>
                    <a:latin typeface="Cambria Math" panose="02040503050406030204" pitchFamily="18" charset="0"/>
                  </a:rPr>
                  <a:t>$c$</a:t>
                </a:r>
                <a:r>
                  <a:rPr sz="2400" b="0">
                    <a:solidFill>
                      <a:srgbClr val="111827"/>
                    </a:solidFill>
                    <a:latin typeface="Arial"/>
                  </a:rPr>
                  <a:t> of </a:t>
                </a:r>
                <a:r>
                  <a:rPr lang="en-IN" sz="2400">
                    <a:solidFill>
                      <a:srgbClr val="111827"/>
                    </a:solidFill>
                    <a:latin typeface="Cambria Math" panose="02040503050406030204" pitchFamily="18" charset="0"/>
                  </a:rPr>
                  <a:t>$u$</a:t>
                </a:r>
                <a:r>
                  <a:rPr sz="2400" b="0">
                    <a:solidFill>
                      <a:srgbClr val="111827"/>
                    </a:solidFill>
                    <a:latin typeface="Arial"/>
                  </a:rPr>
                  <a:t>: left slope of </a:t>
                </a:r>
                <a:r>
                  <a:rPr lang="en-IN" sz="2400">
                    <a:solidFill>
                      <a:srgbClr val="111827"/>
                    </a:solidFill>
                    <a:latin typeface="Cambria Math" panose="02040503050406030204" pitchFamily="18" charset="0"/>
                  </a:rPr>
                  <a:t>$f$</a:t>
                </a:r>
                <a:r>
                  <a:rPr sz="2400" b="0">
                    <a:solidFill>
                      <a:srgbClr val="111827"/>
                    </a:solidFill>
                    <a:latin typeface="Arial"/>
                  </a:rPr>
                  <a:t> is </a:t>
                </a:r>
                <a:r>
                  <a:rPr lang="en-IN" sz="2400">
                    <a:solidFill>
                      <a:srgbClr val="111827"/>
                    </a:solidFill>
                    <a:latin typeface="Cambria Math" panose="02040503050406030204" pitchFamily="18" charset="0"/>
                  </a:rPr>
                  <a:t>$-|u'(c)|+1$</a:t>
                </a:r>
                <a:r>
                  <a:rPr sz="2400" b="0">
                    <a:solidFill>
                      <a:srgbClr val="111827"/>
                    </a:solidFill>
                    <a:latin typeface="Arial"/>
                  </a:rPr>
                  <a:t> and right slope is </a:t>
                </a:r>
                <a:r>
                  <a:rPr lang="en-IN" sz="2400">
                    <a:solidFill>
                      <a:srgbClr val="111827"/>
                    </a:solidFill>
                    <a:latin typeface="Cambria Math" panose="02040503050406030204" pitchFamily="18" charset="0"/>
                  </a:rPr>
                  <a:t>$|u'(c)|+1$</a:t>
                </a:r>
                <a:r>
                  <a:rPr sz="2400" b="0">
                    <a:solidFill>
                      <a:srgbClr val="111827"/>
                    </a:solidFill>
                    <a:latin typeface="Arial"/>
                  </a:rPr>
                  <a:t> (for </a:t>
                </a:r>
                <a:r>
                  <a:rPr lang="en-IN" sz="2400">
                    <a:solidFill>
                      <a:srgbClr val="111827"/>
                    </a:solidFill>
                    <a:latin typeface="Cambria Math" panose="02040503050406030204" pitchFamily="18" charset="0"/>
                  </a:rPr>
                  <a:t>$u'(c)\ne0$</a:t>
                </a:r>
                <a:r>
                  <a:rPr sz="2400" b="0">
                    <a:solidFill>
                      <a:srgbClr val="111827"/>
                    </a:solidFill>
                    <a:latin typeface="Arial"/>
                  </a:rPr>
                  <a:t>, absolute value turns into a V).</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$u'(1)=-4$</a:t>
                </a:r>
                <a:r>
                  <a:rPr sz="2400" b="0">
                    <a:solidFill>
                      <a:srgbClr val="111827"/>
                    </a:solidFill>
                    <a:latin typeface="Arial"/>
                  </a:rPr>
                  <a:t>, </a:t>
                </a:r>
                <a:r>
                  <a:rPr lang="en-IN" sz="2400">
                    <a:solidFill>
                      <a:srgbClr val="111827"/>
                    </a:solidFill>
                    <a:latin typeface="Cambria Math" panose="02040503050406030204" pitchFamily="18" charset="0"/>
                  </a:rPr>
                  <a:t>$|u'(1)|=4&gt;1$</a:t>
                </a:r>
                <a:r>
                  <a:rPr sz="2400" b="0">
                    <a:solidFill>
                      <a:srgbClr val="111827"/>
                    </a:solidFill>
                    <a:latin typeface="Arial"/>
                  </a:rPr>
                  <a:t>: left slope </a:t>
                </a:r>
                <a:r>
                  <a:rPr lang="en-IN" sz="2400">
                    <a:solidFill>
                      <a:srgbClr val="111827"/>
                    </a:solidFill>
                    <a:latin typeface="Cambria Math" panose="02040503050406030204" pitchFamily="18" charset="0"/>
                  </a:rPr>
                  <a:t>$-3&lt;0$</a:t>
                </a:r>
                <a:r>
                  <a:rPr sz="2400" b="0">
                    <a:solidFill>
                      <a:srgbClr val="111827"/>
                    </a:solidFill>
                    <a:latin typeface="Arial"/>
                  </a:rPr>
                  <a:t>, right slope </a:t>
                </a:r>
                <a:r>
                  <a:rPr lang="en-IN" sz="2400">
                    <a:solidFill>
                      <a:srgbClr val="111827"/>
                    </a:solidFill>
                    <a:latin typeface="Cambria Math" panose="02040503050406030204" pitchFamily="18" charset="0"/>
                  </a:rPr>
                  <a:t>$5&gt;0$</a:t>
                </a:r>
                <a:r>
                  <a:rPr sz="2400" b="0">
                    <a:solidFill>
                      <a:srgbClr val="111827"/>
                    </a:solidFill>
                    <a:latin typeface="Arial"/>
                  </a:rPr>
                  <a:t>, so </a:t>
                </a:r>
                <a:r>
                  <a:rPr lang="en-IN" sz="2400">
                    <a:solidFill>
                      <a:srgbClr val="111827"/>
                    </a:solidFill>
                    <a:latin typeface="Cambria Math" panose="02040503050406030204" pitchFamily="18" charset="0"/>
                  </a:rPr>
                  <a:t>$x=1$</a:t>
                </a:r>
                <a:r>
                  <a:rPr sz="2400" b="0">
                    <a:solidFill>
                      <a:srgbClr val="111827"/>
                    </a:solidFill>
                    <a:latin typeface="Arial"/>
                  </a:rPr>
                  <a:t> is a local minimum.</a:t>
                </a:r>
                <a:endParaRPr sz="2400">
                  <a:solidFill>
                    <a:srgbClr val="111827"/>
                  </a:solidFill>
                </a:endParaRPr>
              </a:p>
            </p:txBody>
          </p:sp>
        </mc:Fallback>
      </mc:AlternateContent>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𝑢</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1</m:t>
                    </m:r>
                  </m:oMath>
                </a14:m>
                <a:r>
                  <a:rPr sz="2400" b="0">
                    <a:solidFill>
                      <a:srgbClr val="111827"/>
                    </a:solidFill>
                    <a:latin typeface="Arial"/>
                  </a:rPr>
                  <a:t>: left slope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right slope </a:t>
                </a:r>
                <a14:m>
                  <m:oMath xmlns:m="http://schemas.openxmlformats.org/officeDocument/2006/math">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is a local minimum. Hence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from the corners.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Away from corners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is a cubic: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𝑥</m:t>
                    </m:r>
                  </m:oMath>
                </a14:m>
                <a:r>
                  <a:rPr sz="2400" b="0">
                    <a:solidFill>
                      <a:srgbClr val="111827"/>
                    </a:solidFill>
                    <a:latin typeface="Arial"/>
                  </a:rPr>
                  <a:t> has no zero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or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has exactly one zero,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e>
                    </m:rad>
                  </m:oMath>
                </a14:m>
                <a:r>
                  <a:rPr sz="2400" b="0">
                    <a:solidFill>
                      <a:srgbClr val="111827"/>
                    </a:solidFill>
                    <a:latin typeface="Arial"/>
                  </a:rPr>
                  <a:t>,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That zero is a maximum, since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rises from the minimum at 1 and falls to the minimum at 3. So </a:t>
                </a:r>
                <a14:m>
                  <m:oMath xmlns:m="http://schemas.openxmlformats.org/officeDocument/2006/math">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$u'(3)=8&gt;1$</a:t>
                </a:r>
                <a:r>
                  <a:rPr sz="2400" b="0">
                    <a:solidFill>
                      <a:srgbClr val="111827"/>
                    </a:solidFill>
                    <a:latin typeface="Arial"/>
                  </a:rPr>
                  <a:t>: left slope </a:t>
                </a:r>
                <a:r>
                  <a:rPr lang="en-IN" sz="2400">
                    <a:solidFill>
                      <a:srgbClr val="111827"/>
                    </a:solidFill>
                    <a:latin typeface="Cambria Math" panose="02040503050406030204" pitchFamily="18" charset="0"/>
                  </a:rPr>
                  <a:t>$-7&lt;0$</a:t>
                </a:r>
                <a:r>
                  <a:rPr sz="2400" b="0">
                    <a:solidFill>
                      <a:srgbClr val="111827"/>
                    </a:solidFill>
                    <a:latin typeface="Arial"/>
                  </a:rPr>
                  <a:t>, right slope </a:t>
                </a:r>
                <a:r>
                  <a:rPr lang="en-IN" sz="2400">
                    <a:solidFill>
                      <a:srgbClr val="111827"/>
                    </a:solidFill>
                    <a:latin typeface="Cambria Math" panose="02040503050406030204" pitchFamily="18" charset="0"/>
                  </a:rPr>
                  <a:t>$9&gt;0$</a:t>
                </a:r>
                <a:r>
                  <a:rPr sz="2400" b="0">
                    <a:solidFill>
                      <a:srgbClr val="111827"/>
                    </a:solidFill>
                    <a:latin typeface="Arial"/>
                  </a:rPr>
                  <a:t>, so </a:t>
                </a:r>
                <a:r>
                  <a:rPr lang="en-IN" sz="2400">
                    <a:solidFill>
                      <a:srgbClr val="111827"/>
                    </a:solidFill>
                    <a:latin typeface="Cambria Math" panose="02040503050406030204" pitchFamily="18" charset="0"/>
                  </a:rPr>
                  <a:t>$x=3$</a:t>
                </a:r>
                <a:r>
                  <a:rPr sz="2400" b="0">
                    <a:solidFill>
                      <a:srgbClr val="111827"/>
                    </a:solidFill>
                    <a:latin typeface="Arial"/>
                  </a:rPr>
                  <a:t> is a local minimum. Hence </a:t>
                </a:r>
                <a:r>
                  <a:rPr lang="en-IN" sz="2400">
                    <a:solidFill>
                      <a:srgbClr val="111827"/>
                    </a:solidFill>
                    <a:latin typeface="Cambria Math" panose="02040503050406030204" pitchFamily="18" charset="0"/>
                  </a:rPr>
                  <a:t>$m=2$</a:t>
                </a:r>
                <a:r>
                  <a:rPr sz="2400" b="0">
                    <a:solidFill>
                      <a:srgbClr val="111827"/>
                    </a:solidFill>
                    <a:latin typeface="Arial"/>
                  </a:rPr>
                  <a:t> from the corners.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Away from corners </a:t>
                </a:r>
                <a:r>
                  <a:rPr lang="en-IN" sz="2400">
                    <a:solidFill>
                      <a:srgbClr val="111827"/>
                    </a:solidFill>
                    <a:latin typeface="Cambria Math" panose="02040503050406030204" pitchFamily="18" charset="0"/>
                  </a:rPr>
                  <a:t>$f$</a:t>
                </a:r>
                <a:r>
                  <a:rPr sz="2400" b="0">
                    <a:solidFill>
                      <a:srgbClr val="111827"/>
                    </a:solidFill>
                    <a:latin typeface="Arial"/>
                  </a:rPr>
                  <a:t> is a cubic: </a:t>
                </a:r>
                <a:r>
                  <a:rPr lang="en-IN" sz="2400">
                    <a:solidFill>
                      <a:srgbClr val="111827"/>
                    </a:solidFill>
                    <a:latin typeface="Cambria Math" panose="02040503050406030204" pitchFamily="18" charset="0"/>
                  </a:rPr>
                  <a:t>$f'=3x^2-6x$</a:t>
                </a:r>
                <a:r>
                  <a:rPr sz="2400" b="0">
                    <a:solidFill>
                      <a:srgbClr val="111827"/>
                    </a:solidFill>
                    <a:latin typeface="Arial"/>
                  </a:rPr>
                  <a:t> has no zero in </a:t>
                </a:r>
                <a:r>
                  <a:rPr lang="en-IN" sz="2400">
                    <a:solidFill>
                      <a:srgbClr val="111827"/>
                    </a:solidFill>
                    <a:latin typeface="Cambria Math" panose="02040503050406030204" pitchFamily="18" charset="0"/>
                  </a:rPr>
                  <a:t>$(0,1)$</a:t>
                </a:r>
                <a:r>
                  <a:rPr sz="2400" b="0">
                    <a:solidFill>
                      <a:srgbClr val="111827"/>
                    </a:solidFill>
                    <a:latin typeface="Arial"/>
                  </a:rPr>
                  <a:t> or </a:t>
                </a:r>
                <a:r>
                  <a:rPr lang="en-IN" sz="2400">
                    <a:solidFill>
                      <a:srgbClr val="111827"/>
                    </a:solidFill>
                    <a:latin typeface="Cambria Math" panose="02040503050406030204" pitchFamily="18" charset="0"/>
                  </a:rPr>
                  <a:t>$(3,4)$</a:t>
                </a:r>
                <a:r>
                  <a:rPr sz="2400" b="0">
                    <a:solidFill>
                      <a:srgbClr val="111827"/>
                    </a:solidFill>
                    <a:latin typeface="Arial"/>
                  </a:rPr>
                  <a:t>, and </a:t>
                </a:r>
                <a:r>
                  <a:rPr lang="en-IN" sz="2400">
                    <a:solidFill>
                      <a:srgbClr val="111827"/>
                    </a:solidFill>
                    <a:latin typeface="Cambria Math" panose="02040503050406030204" pitchFamily="18" charset="0"/>
                  </a:rPr>
                  <a:t>$f'=-3x^2+6x+2$</a:t>
                </a:r>
                <a:r>
                  <a:rPr sz="2400" b="0">
                    <a:solidFill>
                      <a:srgbClr val="111827"/>
                    </a:solidFill>
                    <a:latin typeface="Arial"/>
                  </a:rPr>
                  <a:t> has exactly one zero, </a:t>
                </a:r>
                <a:r>
                  <a:rPr lang="en-IN" sz="2400">
                    <a:solidFill>
                      <a:srgbClr val="111827"/>
                    </a:solidFill>
                    <a:latin typeface="Cambria Math" panose="02040503050406030204" pitchFamily="18" charset="0"/>
                  </a:rPr>
                  <a:t>$1+\sqrt{5/3}$</a:t>
                </a:r>
                <a:r>
                  <a:rPr sz="2400" b="0">
                    <a:solidFill>
                      <a:srgbClr val="111827"/>
                    </a:solidFill>
                    <a:latin typeface="Arial"/>
                  </a:rPr>
                  <a:t>, in </a:t>
                </a:r>
                <a:r>
                  <a:rPr lang="en-IN" sz="2400">
                    <a:solidFill>
                      <a:srgbClr val="111827"/>
                    </a:solidFill>
                    <a:latin typeface="Cambria Math" panose="02040503050406030204" pitchFamily="18" charset="0"/>
                  </a:rPr>
                  <a:t>$(1,3)$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That zero is a maximum, since </a:t>
                </a:r>
                <a:r>
                  <a:rPr lang="en-IN" sz="2400">
                    <a:solidFill>
                      <a:srgbClr val="111827"/>
                    </a:solidFill>
                    <a:latin typeface="Cambria Math" panose="02040503050406030204" pitchFamily="18" charset="0"/>
                  </a:rPr>
                  <a:t>$f$</a:t>
                </a:r>
                <a:r>
                  <a:rPr sz="2400" b="0">
                    <a:solidFill>
                      <a:srgbClr val="111827"/>
                    </a:solidFill>
                    <a:latin typeface="Arial"/>
                  </a:rPr>
                  <a:t> rises from the minimum at 1 and falls to the minimum at 3. So </a:t>
                </a:r>
                <a:r>
                  <a:rPr lang="en-IN" sz="2400">
                    <a:solidFill>
                      <a:srgbClr val="111827"/>
                    </a:solidFill>
                    <a:latin typeface="Cambria Math" panose="02040503050406030204" pitchFamily="18" charset="0"/>
                  </a:rPr>
                  <a:t>$M=1$</a:t>
                </a:r>
                <a:r>
                  <a:rPr sz="2400" b="0">
                    <a:solidFill>
                      <a:srgbClr val="111827"/>
                    </a:solidFill>
                    <a:latin typeface="Arial"/>
                  </a:rPr>
                  <a:t> and </a:t>
                </a:r>
                <a:r>
                  <a:rPr lang="en-IN" sz="2400">
                    <a:solidFill>
                      <a:srgbClr val="111827"/>
                    </a:solidFill>
                    <a:latin typeface="Cambria Math" panose="02040503050406030204" pitchFamily="18" charset="0"/>
                  </a:rPr>
                  <a:t>$m+M=3$</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3</a:t>
            </a:r>
            <a:endParaRPr sz="2800">
              <a:solidFill>
                <a:srgbClr val="15803D"/>
              </a:solidFill>
            </a:endParaRPr>
          </a:p>
        </p:txBody>
      </p:sp>
    </p:spTree>
  </p:cSld>
  <p:clrMapOvr>
    <a:masterClrMapping/>
  </p:clrMapOvr>
</p:sld>
</file>

<file path=ppt/slides/slide2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has a corner at each simple root </a:t>
                </a:r>
                <a14:m>
                  <m:oMath xmlns:m="http://schemas.openxmlformats.org/officeDocument/2006/math">
                    <m:r>
                      <a:rPr lang="en-IN" sz="2400" i="1">
                        <a:solidFill>
                          <a:srgbClr val="111827"/>
                        </a:solidFill>
                        <a:latin typeface="Cambria Math" panose="02040503050406030204" pitchFamily="18" charset="0"/>
                      </a:rPr>
                      <m:t>𝑐</m:t>
                    </m:r>
                  </m:oMath>
                </a14:m>
                <a:r>
                  <a:rPr sz="2400" b="0">
                    <a:solidFill>
                      <a:srgbClr val="111827"/>
                    </a:solidFill>
                    <a:latin typeface="Arial"/>
                  </a:rPr>
                  <a:t> of </a:t>
                </a:r>
                <a14:m>
                  <m:oMath xmlns:m="http://schemas.openxmlformats.org/officeDocument/2006/math">
                    <m:r>
                      <a:rPr lang="en-IN" sz="2400" i="1">
                        <a:solidFill>
                          <a:srgbClr val="111827"/>
                        </a:solidFill>
                        <a:latin typeface="Cambria Math" panose="02040503050406030204" pitchFamily="18" charset="0"/>
                      </a:rPr>
                      <m:t>𝑔</m:t>
                    </m:r>
                  </m:oMath>
                </a14:m>
                <a:r>
                  <a:rPr sz="2400" b="0">
                    <a:solidFill>
                      <a:srgbClr val="111827"/>
                    </a:solidFill>
                    <a:latin typeface="Arial"/>
                  </a:rPr>
                  <a:t> (where </a:t>
                </a:r>
                <a14:m>
                  <m:oMath xmlns:m="http://schemas.openxmlformats.org/officeDocument/2006/math">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with an added term </a:t>
                </a:r>
                <a14:m>
                  <m:oMath xmlns:m="http://schemas.openxmlformats.org/officeDocument/2006/math">
                    <m:r>
                      <a:rPr lang="en-IN" sz="2400" i="1">
                        <a:solidFill>
                          <a:srgbClr val="111827"/>
                        </a:solidFill>
                        <a:latin typeface="Cambria Math" panose="02040503050406030204" pitchFamily="18" charset="0"/>
                      </a:rPr>
                      <m:t>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corner is a local minimum iff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&gt;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corner of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 simple root of </a:t>
                </a:r>
                <a14:m>
                  <m:oMath xmlns:m="http://schemas.openxmlformats.org/officeDocument/2006/math">
                    <m:r>
                      <a:rPr lang="en-IN" sz="2400" i="1">
                        <a:solidFill>
                          <a:srgbClr val="111827"/>
                        </a:solidFill>
                        <a:latin typeface="Cambria Math" panose="02040503050406030204" pitchFamily="18" charset="0"/>
                      </a:rPr>
                      <m:t>𝑔</m:t>
                    </m:r>
                  </m:oMath>
                </a14:m>
                <a:r>
                  <a:rPr sz="2400" b="0">
                    <a:solidFill>
                      <a:srgbClr val="111827"/>
                    </a:solidFill>
                    <a:latin typeface="Arial"/>
                  </a:rPr>
                  <a:t> is always a local minimum of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itself; the added linear term can destroy it if it tilts too much.</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Between two consecutive local minima of a continuous function there is at least one local maximum.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 count extrema of a piecewise function, list the critical points of each branch inside its own interval and check every junction separately.</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$|g(x)|$</a:t>
                </a:r>
                <a:r>
                  <a:rPr sz="2400" b="0">
                    <a:solidFill>
                      <a:srgbClr val="111827"/>
                    </a:solidFill>
                    <a:latin typeface="Arial"/>
                  </a:rPr>
                  <a:t> has a corner at each simple root </a:t>
                </a:r>
                <a:r>
                  <a:rPr lang="en-IN" sz="2400">
                    <a:solidFill>
                      <a:srgbClr val="111827"/>
                    </a:solidFill>
                    <a:latin typeface="Cambria Math" panose="02040503050406030204" pitchFamily="18" charset="0"/>
                  </a:rPr>
                  <a:t>$c$</a:t>
                </a:r>
                <a:r>
                  <a:rPr sz="2400" b="0">
                    <a:solidFill>
                      <a:srgbClr val="111827"/>
                    </a:solidFill>
                    <a:latin typeface="Arial"/>
                  </a:rPr>
                  <a:t> of </a:t>
                </a:r>
                <a:r>
                  <a:rPr lang="en-IN" sz="2400">
                    <a:solidFill>
                      <a:srgbClr val="111827"/>
                    </a:solidFill>
                    <a:latin typeface="Cambria Math" panose="02040503050406030204" pitchFamily="18" charset="0"/>
                  </a:rPr>
                  <a:t>$g$</a:t>
                </a:r>
                <a:r>
                  <a:rPr sz="2400" b="0">
                    <a:solidFill>
                      <a:srgbClr val="111827"/>
                    </a:solidFill>
                    <a:latin typeface="Arial"/>
                  </a:rPr>
                  <a:t> (where </a:t>
                </a:r>
                <a:r>
                  <a:rPr lang="en-IN" sz="2400">
                    <a:solidFill>
                      <a:srgbClr val="111827"/>
                    </a:solidFill>
                    <a:latin typeface="Cambria Math" panose="02040503050406030204" pitchFamily="18" charset="0"/>
                  </a:rPr>
                  <a:t>$g'(c)\neq0$</a:t>
                </a:r>
                <a:r>
                  <a:rPr sz="2400" b="0">
                    <a:solidFill>
                      <a:srgbClr val="111827"/>
                    </a:solidFill>
                    <a:latin typeface="Arial"/>
                  </a:rPr>
                  <a:t>); with an added term </a:t>
                </a:r>
                <a:r>
                  <a:rPr lang="en-IN" sz="2400">
                    <a:solidFill>
                      <a:srgbClr val="111827"/>
                    </a:solidFill>
                    <a:latin typeface="Cambria Math" panose="02040503050406030204" pitchFamily="18" charset="0"/>
                  </a:rPr>
                  <a:t>$\ell(x)$</a:t>
                </a:r>
                <a:r>
                  <a:rPr sz="2400" b="0">
                    <a:solidFill>
                      <a:srgbClr val="111827"/>
                    </a:solidFill>
                    <a:latin typeface="Arial"/>
                  </a:rPr>
                  <a:t> the corner is a local minimum iff </a:t>
                </a:r>
                <a:r>
                  <a:rPr lang="en-IN" sz="2400">
                    <a:solidFill>
                      <a:srgbClr val="111827"/>
                    </a:solidFill>
                    <a:latin typeface="Cambria Math" panose="02040503050406030204" pitchFamily="18" charset="0"/>
                  </a:rPr>
                  <a:t>$|g'(c)|&gt;|\ell'(c)|$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corner of </a:t>
                </a:r>
                <a:r>
                  <a:rPr lang="en-IN" sz="2400">
                    <a:solidFill>
                      <a:srgbClr val="111827"/>
                    </a:solidFill>
                    <a:latin typeface="Cambria Math" panose="02040503050406030204" pitchFamily="18" charset="0"/>
                  </a:rPr>
                  <a:t>$|g|$</a:t>
                </a:r>
                <a:r>
                  <a:rPr sz="2400" b="0">
                    <a:solidFill>
                      <a:srgbClr val="111827"/>
                    </a:solidFill>
                    <a:latin typeface="Arial"/>
                  </a:rPr>
                  <a:t> at a simple root of </a:t>
                </a:r>
                <a:r>
                  <a:rPr lang="en-IN" sz="2400">
                    <a:solidFill>
                      <a:srgbClr val="111827"/>
                    </a:solidFill>
                    <a:latin typeface="Cambria Math" panose="02040503050406030204" pitchFamily="18" charset="0"/>
                  </a:rPr>
                  <a:t>$g$</a:t>
                </a:r>
                <a:r>
                  <a:rPr sz="2400" b="0">
                    <a:solidFill>
                      <a:srgbClr val="111827"/>
                    </a:solidFill>
                    <a:latin typeface="Arial"/>
                  </a:rPr>
                  <a:t> is always a local minimum of </a:t>
                </a:r>
                <a:r>
                  <a:rPr lang="en-IN" sz="2400">
                    <a:solidFill>
                      <a:srgbClr val="111827"/>
                    </a:solidFill>
                    <a:latin typeface="Cambria Math" panose="02040503050406030204" pitchFamily="18" charset="0"/>
                  </a:rPr>
                  <a:t>$|g|$</a:t>
                </a:r>
                <a:r>
                  <a:rPr sz="2400" b="0">
                    <a:solidFill>
                      <a:srgbClr val="111827"/>
                    </a:solidFill>
                    <a:latin typeface="Arial"/>
                  </a:rPr>
                  <a:t> itself; the added linear term can destroy it if it tilts too much.</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Between two consecutive local minima of a continuous function there is at least one local maximum.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 count extrema of a piecewise function, list the critical points of each branch inside its own interval and check every junction separately.</a:t>
                </a:r>
                <a:endParaRPr sz="2400">
                  <a:solidFill>
                    <a:srgbClr val="111827"/>
                  </a:solidFill>
                </a:endParaRPr>
              </a:p>
            </p:txBody>
          </p:sp>
        </mc:Fallback>
      </mc:AlternateContent>
    </p:spTree>
  </p:cSld>
  <p:clrMapOvr>
    <a:masterClrMapping/>
  </p:clrMapOvr>
</p:sld>
</file>

<file path=ppt/slides/slide2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14452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𝑄</m:t>
                    </m:r>
                  </m:oMath>
                </a14:m>
                <a:r>
                  <a:rPr sz="2400" b="0">
                    <a:solidFill>
                      <a:srgbClr val="111827"/>
                    </a:solidFill>
                    <a:latin typeface="Arial"/>
                  </a:rPr>
                  <a:t> be any points on the curves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respectively. The distance between </a:t>
                </a: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𝑄</m:t>
                    </m:r>
                  </m:oMath>
                </a14:m>
                <a:r>
                  <a:rPr sz="2400" b="0">
                    <a:solidFill>
                      <a:srgbClr val="111827"/>
                    </a:solidFill>
                    <a:latin typeface="Arial"/>
                  </a:rPr>
                  <a:t> is minimum for some value of the abscissa of </a:t>
                </a: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 in the interval:</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e>
                    </m:d>
                  </m:oMath>
                </a14:m>
                <a:r>
                  <a:rPr sz="2400" b="0">
                    <a:solidFill>
                      <a:srgbClr val="111827"/>
                    </a:solidFill>
                    <a:latin typeface="Arial"/>
                  </a:rPr>
                  <a:t>   (B)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4</m:t>
                            </m:r>
                          </m:den>
                        </m:f>
                      </m:e>
                    </m:d>
                  </m:oMath>
                </a14:m>
                <a:r>
                  <a:rPr sz="2400" b="0">
                    <a:solidFill>
                      <a:srgbClr val="111827"/>
                    </a:solidFill>
                    <a:latin typeface="Arial"/>
                  </a:rPr>
                  <a:t>   (C)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e>
                    </m:d>
                  </m:oMath>
                </a14:m>
                <a:r>
                  <a:rPr sz="2400" b="0">
                    <a:solidFill>
                      <a:srgbClr val="111827"/>
                    </a:solidFill>
                    <a:latin typeface="Arial"/>
                  </a:rPr>
                  <a:t>   (D)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d>
                  </m:oMath>
                </a14:m>
                <a:endParaRPr sz="2400">
                  <a:solidFill>
                    <a:srgbClr val="111827"/>
                  </a:solidFill>
                </a:endParaRPr>
              </a:p>
            </p:txBody>
          </p:sp>
        </mc:Choice>
        <mc:Fallback>
          <p:sp>
            <p:nvSpPr>
              <p:cNvPr id="4" name="Rounded Rectangle 3"/>
              <p:cNvSpPr/>
              <p:nvPr/>
            </p:nvSpPr>
            <p:spPr>
              <a:xfrm>
                <a:off x="731520" y="1280160"/>
                <a:ext cx="10725912" cy="314452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$P$</a:t>
                </a:r>
                <a:r>
                  <a:rPr sz="2400" b="0">
                    <a:solidFill>
                      <a:srgbClr val="111827"/>
                    </a:solidFill>
                    <a:latin typeface="Arial"/>
                  </a:rPr>
                  <a:t> and </a:t>
                </a:r>
                <a:r>
                  <a:rPr lang="en-IN" sz="2400">
                    <a:solidFill>
                      <a:srgbClr val="111827"/>
                    </a:solidFill>
                    <a:latin typeface="Cambria Math" panose="02040503050406030204" pitchFamily="18" charset="0"/>
                  </a:rPr>
                  <a:t>$Q$</a:t>
                </a:r>
                <a:r>
                  <a:rPr sz="2400" b="0">
                    <a:solidFill>
                      <a:srgbClr val="111827"/>
                    </a:solidFill>
                    <a:latin typeface="Arial"/>
                  </a:rPr>
                  <a:t> be any points on the curves </a:t>
                </a:r>
                <a:r>
                  <a:rPr lang="en-IN" sz="2400">
                    <a:solidFill>
                      <a:srgbClr val="111827"/>
                    </a:solidFill>
                    <a:latin typeface="Cambria Math" panose="02040503050406030204" pitchFamily="18" charset="0"/>
                  </a:rPr>
                  <a:t>$(x-1)^2+(y+1)^2=1$</a:t>
                </a:r>
                <a:r>
                  <a:rPr sz="2400" b="0">
                    <a:solidFill>
                      <a:srgbClr val="111827"/>
                    </a:solidFill>
                    <a:latin typeface="Arial"/>
                  </a:rPr>
                  <a:t> and </a:t>
                </a:r>
                <a:r>
                  <a:rPr lang="en-IN" sz="2400">
                    <a:solidFill>
                      <a:srgbClr val="111827"/>
                    </a:solidFill>
                    <a:latin typeface="Cambria Math" panose="02040503050406030204" pitchFamily="18" charset="0"/>
                  </a:rPr>
                  <a:t>$y=x^2$</a:t>
                </a:r>
                <a:r>
                  <a:rPr sz="2400" b="0">
                    <a:solidFill>
                      <a:srgbClr val="111827"/>
                    </a:solidFill>
                    <a:latin typeface="Arial"/>
                  </a:rPr>
                  <a:t>, respectively. The distance between </a:t>
                </a:r>
                <a:r>
                  <a:rPr lang="en-IN" sz="2400">
                    <a:solidFill>
                      <a:srgbClr val="111827"/>
                    </a:solidFill>
                    <a:latin typeface="Cambria Math" panose="02040503050406030204" pitchFamily="18" charset="0"/>
                  </a:rPr>
                  <a:t>$P$</a:t>
                </a:r>
                <a:r>
                  <a:rPr sz="2400" b="0">
                    <a:solidFill>
                      <a:srgbClr val="111827"/>
                    </a:solidFill>
                    <a:latin typeface="Arial"/>
                  </a:rPr>
                  <a:t> and </a:t>
                </a:r>
                <a:r>
                  <a:rPr lang="en-IN" sz="2400">
                    <a:solidFill>
                      <a:srgbClr val="111827"/>
                    </a:solidFill>
                    <a:latin typeface="Cambria Math" panose="02040503050406030204" pitchFamily="18" charset="0"/>
                  </a:rPr>
                  <a:t>$Q$</a:t>
                </a:r>
                <a:r>
                  <a:rPr sz="2400" b="0">
                    <a:solidFill>
                      <a:srgbClr val="111827"/>
                    </a:solidFill>
                    <a:latin typeface="Arial"/>
                  </a:rPr>
                  <a:t> is minimum for some value of the abscissa of </a:t>
                </a:r>
                <a:r>
                  <a:rPr lang="en-IN" sz="2400">
                    <a:solidFill>
                      <a:srgbClr val="111827"/>
                    </a:solidFill>
                    <a:latin typeface="Cambria Math" panose="02040503050406030204" pitchFamily="18" charset="0"/>
                  </a:rPr>
                  <a:t>$P$</a:t>
                </a:r>
                <a:r>
                  <a:rPr sz="2400" b="0">
                    <a:solidFill>
                      <a:srgbClr val="111827"/>
                    </a:solidFill>
                    <a:latin typeface="Arial"/>
                  </a:rPr>
                  <a:t> in the interval:</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$\left(0,\frac14\right)$</a:t>
                </a:r>
                <a:r>
                  <a:rPr sz="2400" b="0">
                    <a:solidFill>
                      <a:srgbClr val="111827"/>
                    </a:solidFill>
                    <a:latin typeface="Arial"/>
                  </a:rPr>
                  <a:t>   (B) </a:t>
                </a:r>
                <a:r>
                  <a:rPr lang="en-IN" sz="2400">
                    <a:solidFill>
                      <a:srgbClr val="111827"/>
                    </a:solidFill>
                    <a:latin typeface="Cambria Math" panose="02040503050406030204" pitchFamily="18" charset="0"/>
                  </a:rPr>
                  <a:t>$\left(\frac12,\frac34\right)$</a:t>
                </a:r>
                <a:r>
                  <a:rPr sz="2400" b="0">
                    <a:solidFill>
                      <a:srgbClr val="111827"/>
                    </a:solidFill>
                    <a:latin typeface="Arial"/>
                  </a:rPr>
                  <a:t>   (C) </a:t>
                </a:r>
                <a:r>
                  <a:rPr lang="en-IN" sz="2400">
                    <a:solidFill>
                      <a:srgbClr val="111827"/>
                    </a:solidFill>
                    <a:latin typeface="Cambria Math" panose="02040503050406030204" pitchFamily="18" charset="0"/>
                  </a:rPr>
                  <a:t>$\left(\frac14,\frac12\right)$</a:t>
                </a:r>
                <a:r>
                  <a:rPr sz="2400" b="0">
                    <a:solidFill>
                      <a:srgbClr val="111827"/>
                    </a:solidFill>
                    <a:latin typeface="Arial"/>
                  </a:rPr>
                  <a:t>   (D) </a:t>
                </a:r>
                <a:r>
                  <a:rPr lang="en-IN" sz="2400">
                    <a:solidFill>
                      <a:srgbClr val="111827"/>
                    </a:solidFill>
                    <a:latin typeface="Cambria Math" panose="02040503050406030204" pitchFamily="18" charset="0"/>
                  </a:rPr>
                  <a:t>$\left(\frac34,1\right)$</a:t>
                </a:r>
                <a:endParaRPr sz="2400">
                  <a:solidFill>
                    <a:srgbClr val="111827"/>
                  </a:solidFill>
                </a:endParaRPr>
              </a:p>
            </p:txBody>
          </p:sp>
        </mc:Fallback>
      </mc:AlternateContent>
      <p:sp>
        <p:nvSpPr>
          <p:cNvPr id="5" name="Rectangle 4"/>
          <p:cNvSpPr/>
          <p:nvPr/>
        </p:nvSpPr>
        <p:spPr>
          <a:xfrm>
            <a:off x="731520" y="465328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Shortest distance between curves (normal to the parabola), Maxima Minima</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p:spTree>
  </p:cSld>
  <p:clrMapOvr>
    <a:masterClrMapping/>
  </p:clrMapOvr>
</p:sld>
</file>

<file path=ppt/slides/slide2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shortest distance between two curves lies along a common normal, so the normal at </a:t>
                </a:r>
                <a14:m>
                  <m:oMath xmlns:m="http://schemas.openxmlformats.org/officeDocument/2006/math">
                    <m:r>
                      <a:rPr lang="en-IN" sz="2400" i="1">
                        <a:solidFill>
                          <a:srgbClr val="78350F"/>
                        </a:solidFill>
                        <a:latin typeface="Cambria Math" panose="02040503050406030204" pitchFamily="18" charset="0"/>
                      </a:rPr>
                      <m:t>𝑄</m:t>
                    </m:r>
                  </m:oMath>
                </a14:m>
                <a:r>
                  <a:rPr sz="2400" b="0">
                    <a:solidFill>
                      <a:srgbClr val="78350F"/>
                    </a:solidFill>
                    <a:latin typeface="Arial"/>
                  </a:rPr>
                  <a:t> must pass through the centre </a:t>
                </a:r>
                <a14:m>
                  <m:oMath xmlns:m="http://schemas.openxmlformats.org/officeDocument/2006/math">
                    <m:r>
                      <a:rPr lang="en-IN" sz="2400" i="1">
                        <a:solidFill>
                          <a:srgbClr val="78350F"/>
                        </a:solidFill>
                        <a:latin typeface="Cambria Math" panose="02040503050406030204" pitchFamily="18" charset="0"/>
                      </a:rPr>
                      <m:t>𝐶</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shortest distance between two curves lies along a common normal, so the normal at </a:t>
                </a:r>
                <a:r>
                  <a:rPr lang="en-IN" sz="2400">
                    <a:solidFill>
                      <a:srgbClr val="78350F"/>
                    </a:solidFill>
                    <a:latin typeface="Cambria Math" panose="02040503050406030204" pitchFamily="18" charset="0"/>
                  </a:rPr>
                  <a:t>$Q$</a:t>
                </a:r>
                <a:r>
                  <a:rPr sz="2400" b="0">
                    <a:solidFill>
                      <a:srgbClr val="78350F"/>
                    </a:solidFill>
                    <a:latin typeface="Arial"/>
                  </a:rPr>
                  <a:t> must pass through the centre </a:t>
                </a:r>
                <a:r>
                  <a:rPr lang="en-IN" sz="2400">
                    <a:solidFill>
                      <a:srgbClr val="78350F"/>
                    </a:solidFill>
                    <a:latin typeface="Cambria Math" panose="02040503050406030204" pitchFamily="18" charset="0"/>
                  </a:rPr>
                  <a:t>$C(1,-1)$</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Circle: centre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radius 1. Let </a:t>
                </a:r>
                <a14:m>
                  <m:oMath xmlns:m="http://schemas.openxmlformats.org/officeDocument/2006/math">
                    <m:r>
                      <a:rPr lang="en-IN" sz="2400" i="1">
                        <a:solidFill>
                          <a:srgbClr val="111827"/>
                        </a:solidFill>
                        <a:latin typeface="Cambria Math" panose="02040503050406030204" pitchFamily="18" charset="0"/>
                      </a:rPr>
                      <m:t>𝑄</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oMath>
                </a14:m>
                <a:r>
                  <a:rPr sz="2400" b="0">
                    <a:solidFill>
                      <a:srgbClr val="111827"/>
                    </a:solidFill>
                    <a:latin typeface="Arial"/>
                  </a:rPr>
                  <a:t> on the parabola. The distance is minimum when </a:t>
                </a:r>
                <a14:m>
                  <m:oMath xmlns:m="http://schemas.openxmlformats.org/officeDocument/2006/math">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𝑄</m:t>
                    </m:r>
                  </m:oMath>
                </a14:m>
                <a:r>
                  <a:rPr sz="2400" b="0">
                    <a:solidFill>
                      <a:srgbClr val="111827"/>
                    </a:solidFill>
                    <a:latin typeface="Arial"/>
                  </a:rPr>
                  <a:t> is along the common normal, i.e. </a:t>
                </a:r>
                <a14:m>
                  <m:oMath xmlns:m="http://schemas.openxmlformats.org/officeDocument/2006/math">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𝑄</m:t>
                    </m:r>
                  </m:oMath>
                </a14:m>
                <a:r>
                  <a:rPr sz="2400" b="0">
                    <a:solidFill>
                      <a:srgbClr val="111827"/>
                    </a:solidFill>
                    <a:latin typeface="Arial"/>
                  </a:rPr>
                  <a:t> is normal to the parabola.</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Slope of tangent at </a:t>
                </a:r>
                <a14:m>
                  <m:oMath xmlns:m="http://schemas.openxmlformats.org/officeDocument/2006/math">
                    <m:r>
                      <a:rPr lang="en-IN" sz="2400" i="1">
                        <a:solidFill>
                          <a:srgbClr val="111827"/>
                        </a:solidFill>
                        <a:latin typeface="Cambria Math" panose="02040503050406030204" pitchFamily="18" charset="0"/>
                      </a:rPr>
                      <m:t>𝑄</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𝑡</m:t>
                    </m:r>
                  </m:oMath>
                </a14:m>
                <a:r>
                  <a:rPr sz="2400" b="0">
                    <a:solidFill>
                      <a:srgbClr val="111827"/>
                    </a:solidFill>
                    <a:latin typeface="Arial"/>
                  </a:rPr>
                  <a:t>, so slope of the normal is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𝑡</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Slope of </a:t>
                </a:r>
                <a14:m>
                  <m:oMath xmlns:m="http://schemas.openxmlformats.org/officeDocument/2006/math">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𝑄</m:t>
                    </m:r>
                  </m:oMath>
                </a14:m>
                <a:r>
                  <a:rPr sz="2400" b="0">
                    <a:solidFill>
                      <a:srgbClr val="111827"/>
                    </a:solidFill>
                    <a:latin typeface="Arial"/>
                  </a:rPr>
                  <a:t> equals the normal slope: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𝑡</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Circle: centre </a:t>
                </a:r>
                <a:r>
                  <a:rPr lang="en-IN" sz="2400">
                    <a:solidFill>
                      <a:srgbClr val="111827"/>
                    </a:solidFill>
                    <a:latin typeface="Cambria Math" panose="02040503050406030204" pitchFamily="18" charset="0"/>
                  </a:rPr>
                  <a:t>$C(1,-1)$</a:t>
                </a:r>
                <a:r>
                  <a:rPr sz="2400" b="0">
                    <a:solidFill>
                      <a:srgbClr val="111827"/>
                    </a:solidFill>
                    <a:latin typeface="Arial"/>
                  </a:rPr>
                  <a:t>, radius 1. Let </a:t>
                </a:r>
                <a:r>
                  <a:rPr lang="en-IN" sz="2400">
                    <a:solidFill>
                      <a:srgbClr val="111827"/>
                    </a:solidFill>
                    <a:latin typeface="Cambria Math" panose="02040503050406030204" pitchFamily="18" charset="0"/>
                  </a:rPr>
                  <a:t>$Q=(t,t^2)$</a:t>
                </a:r>
                <a:r>
                  <a:rPr sz="2400" b="0">
                    <a:solidFill>
                      <a:srgbClr val="111827"/>
                    </a:solidFill>
                    <a:latin typeface="Arial"/>
                  </a:rPr>
                  <a:t> on the parabola. The distance is minimum when </a:t>
                </a:r>
                <a:r>
                  <a:rPr lang="en-IN" sz="2400">
                    <a:solidFill>
                      <a:srgbClr val="111827"/>
                    </a:solidFill>
                    <a:latin typeface="Cambria Math" panose="02040503050406030204" pitchFamily="18" charset="0"/>
                  </a:rPr>
                  <a:t>$PQ$</a:t>
                </a:r>
                <a:r>
                  <a:rPr sz="2400" b="0">
                    <a:solidFill>
                      <a:srgbClr val="111827"/>
                    </a:solidFill>
                    <a:latin typeface="Arial"/>
                  </a:rPr>
                  <a:t> is along the common normal, i.e. </a:t>
                </a:r>
                <a:r>
                  <a:rPr lang="en-IN" sz="2400">
                    <a:solidFill>
                      <a:srgbClr val="111827"/>
                    </a:solidFill>
                    <a:latin typeface="Cambria Math" panose="02040503050406030204" pitchFamily="18" charset="0"/>
                  </a:rPr>
                  <a:t>$CQ$</a:t>
                </a:r>
                <a:r>
                  <a:rPr sz="2400" b="0">
                    <a:solidFill>
                      <a:srgbClr val="111827"/>
                    </a:solidFill>
                    <a:latin typeface="Arial"/>
                  </a:rPr>
                  <a:t> is normal to the parabola.</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Slope of tangent at </a:t>
                </a:r>
                <a:r>
                  <a:rPr lang="en-IN" sz="2400">
                    <a:solidFill>
                      <a:srgbClr val="111827"/>
                    </a:solidFill>
                    <a:latin typeface="Cambria Math" panose="02040503050406030204" pitchFamily="18" charset="0"/>
                  </a:rPr>
                  <a:t>$Q$</a:t>
                </a:r>
                <a:r>
                  <a:rPr sz="2400" b="0">
                    <a:solidFill>
                      <a:srgbClr val="111827"/>
                    </a:solidFill>
                    <a:latin typeface="Arial"/>
                  </a:rPr>
                  <a:t> is </a:t>
                </a:r>
                <a:r>
                  <a:rPr lang="en-IN" sz="2400">
                    <a:solidFill>
                      <a:srgbClr val="111827"/>
                    </a:solidFill>
                    <a:latin typeface="Cambria Math" panose="02040503050406030204" pitchFamily="18" charset="0"/>
                  </a:rPr>
                  <a:t>$2t$</a:t>
                </a:r>
                <a:r>
                  <a:rPr sz="2400" b="0">
                    <a:solidFill>
                      <a:srgbClr val="111827"/>
                    </a:solidFill>
                    <a:latin typeface="Arial"/>
                  </a:rPr>
                  <a:t>, so slope of the normal is </a:t>
                </a:r>
                <a:r>
                  <a:rPr lang="en-IN" sz="2400">
                    <a:solidFill>
                      <a:srgbClr val="111827"/>
                    </a:solidFill>
                    <a:latin typeface="Cambria Math" panose="02040503050406030204" pitchFamily="18" charset="0"/>
                  </a:rPr>
                  <a:t>$-\frac{1}{2t}$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Slope of </a:t>
                </a:r>
                <a:r>
                  <a:rPr lang="en-IN" sz="2400">
                    <a:solidFill>
                      <a:srgbClr val="111827"/>
                    </a:solidFill>
                    <a:latin typeface="Cambria Math" panose="02040503050406030204" pitchFamily="18" charset="0"/>
                  </a:rPr>
                  <a:t>$CQ$</a:t>
                </a:r>
                <a:r>
                  <a:rPr sz="2400" b="0">
                    <a:solidFill>
                      <a:srgbClr val="111827"/>
                    </a:solidFill>
                    <a:latin typeface="Arial"/>
                  </a:rPr>
                  <a:t> equals the normal slope: </a:t>
                </a:r>
                <a:r>
                  <a:rPr lang="en-IN" sz="2400">
                    <a:solidFill>
                      <a:srgbClr val="111827"/>
                    </a:solidFill>
                    <a:latin typeface="Cambria Math" panose="02040503050406030204" pitchFamily="18" charset="0"/>
                  </a:rPr>
                  <a:t>$\frac{t^2+1}{t-1}=-\frac{1}{2t}$</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Let </a:t>
                </a:r>
                <a14:m>
                  <m:oMath xmlns:m="http://schemas.openxmlformats.org/officeDocument/2006/math">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ℎ</m:t>
                    </m:r>
                    <m:r>
                      <a:rPr lang="en-IN" sz="2400" i="1">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e>
                    </m: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32</m:t>
                        </m:r>
                      </m:den>
                    </m:f>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ℎ</m:t>
                    </m:r>
                    <m:r>
                      <a:rPr lang="en-IN" sz="2400" i="1">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27</m:t>
                        </m:r>
                      </m:den>
                    </m:f>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so the root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e>
                    </m:d>
                  </m:oMath>
                </a14:m>
                <a:r>
                  <a:rPr sz="2400" b="0">
                    <a:solidFill>
                      <a:srgbClr val="111827"/>
                    </a:solidFill>
                    <a:latin typeface="Arial"/>
                  </a:rPr>
                  <a:t>; also </a:t>
                </a:r>
                <a14:m>
                  <m:oMath xmlns:m="http://schemas.openxmlformats.org/officeDocument/2006/math">
                    <m:sSup>
                      <m:e>
                        <m:r>
                          <a:rPr lang="en-IN" sz="2400" i="1">
                            <a:solidFill>
                              <a:srgbClr val="111827"/>
                            </a:solidFill>
                            <a:latin typeface="Cambria Math" panose="02040503050406030204" pitchFamily="18" charset="0"/>
                          </a:rPr>
                          <m:t>ℎ</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so it is the only real root.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 lies on </a:t>
                </a:r>
                <a14:m>
                  <m:oMath xmlns:m="http://schemas.openxmlformats.org/officeDocument/2006/math">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𝑄</m:t>
                    </m:r>
                  </m:oMath>
                </a14:m>
                <a:r>
                  <a:rPr sz="2400" b="0">
                    <a:solidFill>
                      <a:srgbClr val="111827"/>
                    </a:solidFill>
                    <a:latin typeface="Arial"/>
                  </a:rPr>
                  <a:t> at distance 1 from </a:t>
                </a:r>
                <a14:m>
                  <m:oMath xmlns:m="http://schemas.openxmlformats.org/officeDocument/2006/math">
                    <m:r>
                      <a:rPr lang="en-IN" sz="2400" i="1">
                        <a:solidFill>
                          <a:srgbClr val="111827"/>
                        </a:solidFill>
                        <a:latin typeface="Cambria Math" panose="02040503050406030204" pitchFamily="18" charset="0"/>
                      </a:rPr>
                      <m:t>𝐶</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a:t>
                </a:r>
                <a14:m>
                  <m:oMath xmlns:m="http://schemas.openxmlformats.org/officeDocument/2006/math">
                    <m:r>
                      <m:rPr>
                        <m:sty m:val="p"/>
                      </m:rPr>
                      <a:rPr lang="en-IN" sz="2400">
                        <a:solidFill>
                          <a:srgbClr val="111827"/>
                        </a:solidFill>
                        <a:latin typeface="Cambria Math" panose="02040503050406030204" pitchFamily="18" charset="0"/>
                      </a:rPr>
                      <m:t>tan</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𝑡</m:t>
                    </m:r>
                  </m:oMath>
                </a14:m>
                <a:r>
                  <a:rPr sz="2400" b="0">
                    <a:solidFill>
                      <a:srgbClr val="111827"/>
                    </a:solidFill>
                    <a:latin typeface="Arial"/>
                  </a:rPr>
                  <a:t> (from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𝑡</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num>
                      <m:den>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den>
                    </m:f>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$2t^3+2t=-(t-1)\Rightarrow 2t^3+3t-1=0$</a:t>
                </a:r>
                <a:r>
                  <a:rPr sz="2400" b="0">
                    <a:solidFill>
                      <a:srgbClr val="111827"/>
                    </a:solidFill>
                    <a:latin typeface="Arial"/>
                  </a:rPr>
                  <a:t>. Let </a:t>
                </a:r>
                <a:r>
                  <a:rPr lang="en-IN" sz="2400">
                    <a:solidFill>
                      <a:srgbClr val="111827"/>
                    </a:solidFill>
                    <a:latin typeface="Cambria Math" panose="02040503050406030204" pitchFamily="18" charset="0"/>
                  </a:rPr>
                  <a:t>$h(t)=2t^3+3t-1$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$h\!\left(\frac14\right)=-\frac{7}{32}&lt;0$</a:t>
                </a:r>
                <a:r>
                  <a:rPr sz="2400" b="0">
                    <a:solidFill>
                      <a:srgbClr val="111827"/>
                    </a:solidFill>
                    <a:latin typeface="Arial"/>
                  </a:rPr>
                  <a:t> and </a:t>
                </a:r>
                <a:r>
                  <a:rPr lang="en-IN" sz="2400">
                    <a:solidFill>
                      <a:srgbClr val="111827"/>
                    </a:solidFill>
                    <a:latin typeface="Cambria Math" panose="02040503050406030204" pitchFamily="18" charset="0"/>
                  </a:rPr>
                  <a:t>$h\!\left(\frac13\right)=\frac{2}{27}&gt;0$</a:t>
                </a:r>
                <a:r>
                  <a:rPr sz="2400" b="0">
                    <a:solidFill>
                      <a:srgbClr val="111827"/>
                    </a:solidFill>
                    <a:latin typeface="Arial"/>
                  </a:rPr>
                  <a:t>, so the root </a:t>
                </a:r>
                <a:r>
                  <a:rPr lang="en-IN" sz="2400">
                    <a:solidFill>
                      <a:srgbClr val="111827"/>
                    </a:solidFill>
                    <a:latin typeface="Cambria Math" panose="02040503050406030204" pitchFamily="18" charset="0"/>
                  </a:rPr>
                  <a:t>$t\in\left(\frac14,\frac13\right)$</a:t>
                </a:r>
                <a:r>
                  <a:rPr sz="2400" b="0">
                    <a:solidFill>
                      <a:srgbClr val="111827"/>
                    </a:solidFill>
                    <a:latin typeface="Arial"/>
                  </a:rPr>
                  <a:t>; also </a:t>
                </a:r>
                <a:r>
                  <a:rPr lang="en-IN" sz="2400">
                    <a:solidFill>
                      <a:srgbClr val="111827"/>
                    </a:solidFill>
                    <a:latin typeface="Cambria Math" panose="02040503050406030204" pitchFamily="18" charset="0"/>
                  </a:rPr>
                  <a:t>$h'(t)=6t^2+3&gt;0$</a:t>
                </a:r>
                <a:r>
                  <a:rPr sz="2400" b="0">
                    <a:solidFill>
                      <a:srgbClr val="111827"/>
                    </a:solidFill>
                    <a:latin typeface="Arial"/>
                  </a:rPr>
                  <a:t>, so it is the only real root.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a:t>
                </a:r>
                <a:r>
                  <a:rPr sz="2400" b="0">
                    <a:solidFill>
                      <a:srgbClr val="111827"/>
                    </a:solidFill>
                    <a:latin typeface="Arial"/>
                  </a:rPr>
                  <a:t> lies on </a:t>
                </a:r>
                <a:r>
                  <a:rPr lang="en-IN" sz="2400">
                    <a:solidFill>
                      <a:srgbClr val="111827"/>
                    </a:solidFill>
                    <a:latin typeface="Cambria Math" panose="02040503050406030204" pitchFamily="18" charset="0"/>
                  </a:rPr>
                  <a:t>$CQ$</a:t>
                </a:r>
                <a:r>
                  <a:rPr sz="2400" b="0">
                    <a:solidFill>
                      <a:srgbClr val="111827"/>
                    </a:solidFill>
                    <a:latin typeface="Arial"/>
                  </a:rPr>
                  <a:t> at distance 1 from </a:t>
                </a:r>
                <a:r>
                  <a:rPr lang="en-IN" sz="2400">
                    <a:solidFill>
                      <a:srgbClr val="111827"/>
                    </a:solidFill>
                    <a:latin typeface="Cambria Math" panose="02040503050406030204" pitchFamily="18" charset="0"/>
                  </a:rPr>
                  <a:t>$C$</a:t>
                </a:r>
                <a:r>
                  <a:rPr sz="2400" b="0">
                    <a:solidFill>
                      <a:srgbClr val="111827"/>
                    </a:solidFill>
                    <a:latin typeface="Arial"/>
                  </a:rPr>
                  <a:t>: </a:t>
                </a:r>
                <a:r>
                  <a:rPr lang="en-IN" sz="2400">
                    <a:solidFill>
                      <a:srgbClr val="111827"/>
                    </a:solidFill>
                    <a:latin typeface="Cambria Math" panose="02040503050406030204" pitchFamily="18" charset="0"/>
                  </a:rPr>
                  <a:t>$P=(1-\sin\theta,\,-1+\cos\theta)$</a:t>
                </a:r>
                <a:r>
                  <a:rPr sz="2400" b="0">
                    <a:solidFill>
                      <a:srgbClr val="111827"/>
                    </a:solidFill>
                    <a:latin typeface="Arial"/>
                  </a:rPr>
                  <a:t> with </a:t>
                </a:r>
                <a:r>
                  <a:rPr lang="en-IN" sz="2400">
                    <a:solidFill>
                      <a:srgbClr val="111827"/>
                    </a:solidFill>
                    <a:latin typeface="Cambria Math" panose="02040503050406030204" pitchFamily="18" charset="0"/>
                  </a:rPr>
                  <a:t>$\tan\theta=2t$</a:t>
                </a:r>
                <a:r>
                  <a:rPr sz="2400" b="0">
                    <a:solidFill>
                      <a:srgbClr val="111827"/>
                    </a:solidFill>
                    <a:latin typeface="Arial"/>
                  </a:rPr>
                  <a:t> (from </a:t>
                </a:r>
                <a:r>
                  <a:rPr lang="en-IN" sz="2400">
                    <a:solidFill>
                      <a:srgbClr val="111827"/>
                    </a:solidFill>
                    <a:latin typeface="Cambria Math" panose="02040503050406030204" pitchFamily="18" charset="0"/>
                  </a:rPr>
                  <a:t>$-\frac{1}{2t}=\frac{\cos\theta}{-\sin\theta}$</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Abscissa of </a:t>
                </a: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𝑡</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e>
                        </m:rad>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𝑡</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e>
                        </m:rad>
                      </m:den>
                    </m:f>
                  </m:oMath>
                </a14:m>
                <a:r>
                  <a:rPr sz="2400" b="0">
                    <a:solidFill>
                      <a:srgbClr val="111827"/>
                    </a:solidFill>
                    <a:latin typeface="Arial"/>
                  </a:rPr>
                  <a:t> is increasing in </a:t>
                </a:r>
                <a14:m>
                  <m:oMath xmlns:m="http://schemas.openxmlformats.org/officeDocument/2006/math">
                    <m:r>
                      <a:rPr lang="en-IN" sz="2400" i="1">
                        <a:solidFill>
                          <a:srgbClr val="111827"/>
                        </a:solidFill>
                        <a:latin typeface="Cambria Math" panose="02040503050406030204" pitchFamily="18" charset="0"/>
                      </a:rPr>
                      <m:t>𝑡</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𝑔</m:t>
                    </m:r>
                  </m:oMath>
                </a14:m>
                <a:r>
                  <a:rPr sz="2400" b="0">
                    <a:solidFill>
                      <a:srgbClr val="111827"/>
                    </a:solidFill>
                    <a:latin typeface="Arial"/>
                  </a:rPr>
                  <a:t> is decreasing. With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0.3</m:t>
                    </m:r>
                    <m:r>
                      <m:rPr>
                        <m:sty m:val="p"/>
                      </m:rPr>
                      <a:rPr lang="en-IN" sz="2400">
                        <a:solidFill>
                          <a:srgbClr val="111827"/>
                        </a:solidFill>
                        <a:latin typeface="Cambria Math" panose="02040503050406030204" pitchFamily="18" charset="0"/>
                      </a:rPr>
                      <m:t>,</m:t>
                    </m:r>
                    <m:f>
                      <m:fPr>
                        <m:type m:val="lin"/>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0.4855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f>
                      <m:fPr>
                        <m:type m:val="lin"/>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0.4453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0.445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0.486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e>
                    </m:d>
                  </m:oMath>
                </a14:m>
                <a:r>
                  <a:rPr sz="2400" b="0">
                    <a:solidFill>
                      <a:srgbClr val="111827"/>
                    </a:solidFill>
                    <a:latin typeface="Arial"/>
                  </a:rPr>
                  <a:t>. (Actual root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0.3129</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0.4695</m:t>
                    </m:r>
                  </m:oMath>
                </a14:m>
                <a:r>
                  <a:rPr sz="2400" b="0">
                    <a:solidFill>
                      <a:srgbClr val="111827"/>
                    </a:solidFill>
                    <a:latin typeface="Arial"/>
                  </a:rPr>
                  <a:t>.) Option (C).</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Abscissa of </a:t>
                </a:r>
                <a:r>
                  <a:rPr lang="en-IN" sz="2400">
                    <a:solidFill>
                      <a:srgbClr val="111827"/>
                    </a:solidFill>
                    <a:latin typeface="Cambria Math" panose="02040503050406030204" pitchFamily="18" charset="0"/>
                  </a:rPr>
                  <a:t>$P$</a:t>
                </a:r>
                <a:r>
                  <a:rPr sz="2400" b="0">
                    <a:solidFill>
                      <a:srgbClr val="111827"/>
                    </a:solidFill>
                    <a:latin typeface="Arial"/>
                  </a:rPr>
                  <a:t>: </a:t>
                </a:r>
                <a:r>
                  <a:rPr lang="en-IN" sz="2400">
                    <a:solidFill>
                      <a:srgbClr val="111827"/>
                    </a:solidFill>
                    <a:latin typeface="Cambria Math" panose="02040503050406030204" pitchFamily="18" charset="0"/>
                  </a:rPr>
                  <a:t>$x=1-\sin\theta=1-\frac{2t}{\sqrt{1+4t^2}}=g(t)$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$\frac{2t}{\sqrt{1+4t^2}}$</a:t>
                </a:r>
                <a:r>
                  <a:rPr sz="2400" b="0">
                    <a:solidFill>
                      <a:srgbClr val="111827"/>
                    </a:solidFill>
                    <a:latin typeface="Arial"/>
                  </a:rPr>
                  <a:t> is increasing in </a:t>
                </a:r>
                <a:r>
                  <a:rPr lang="en-IN" sz="2400">
                    <a:solidFill>
                      <a:srgbClr val="111827"/>
                    </a:solidFill>
                    <a:latin typeface="Cambria Math" panose="02040503050406030204" pitchFamily="18" charset="0"/>
                  </a:rPr>
                  <a:t>$t$</a:t>
                </a:r>
                <a:r>
                  <a:rPr sz="2400" b="0">
                    <a:solidFill>
                      <a:srgbClr val="111827"/>
                    </a:solidFill>
                    <a:latin typeface="Arial"/>
                  </a:rPr>
                  <a:t>, so </a:t>
                </a:r>
                <a:r>
                  <a:rPr lang="en-IN" sz="2400">
                    <a:solidFill>
                      <a:srgbClr val="111827"/>
                    </a:solidFill>
                    <a:latin typeface="Cambria Math" panose="02040503050406030204" pitchFamily="18" charset="0"/>
                  </a:rPr>
                  <a:t>$g$</a:t>
                </a:r>
                <a:r>
                  <a:rPr sz="2400" b="0">
                    <a:solidFill>
                      <a:srgbClr val="111827"/>
                    </a:solidFill>
                    <a:latin typeface="Arial"/>
                  </a:rPr>
                  <a:t> is decreasing. With </a:t>
                </a:r>
                <a:r>
                  <a:rPr lang="en-IN" sz="2400">
                    <a:solidFill>
                      <a:srgbClr val="111827"/>
                    </a:solidFill>
                    <a:latin typeface="Cambria Math" panose="02040503050406030204" pitchFamily="18" charset="0"/>
                  </a:rPr>
                  <a:t>$t\in(0.3,\tfrac13)$</a:t>
                </a:r>
                <a:r>
                  <a:rPr sz="2400" b="0">
                    <a:solidFill>
                      <a:srgbClr val="111827"/>
                    </a:solidFill>
                    <a:latin typeface="Arial"/>
                  </a:rPr>
                  <a:t>: </a:t>
                </a:r>
                <a:r>
                  <a:rPr lang="en-IN" sz="2400">
                    <a:solidFill>
                      <a:srgbClr val="111827"/>
                    </a:solidFill>
                    <a:latin typeface="Cambria Math" panose="02040503050406030204" pitchFamily="18" charset="0"/>
                  </a:rPr>
                  <a:t>$g(0.3)\approx0.4855$</a:t>
                </a:r>
                <a:r>
                  <a:rPr sz="2400" b="0">
                    <a:solidFill>
                      <a:srgbClr val="111827"/>
                    </a:solidFill>
                    <a:latin typeface="Arial"/>
                  </a:rPr>
                  <a:t>, </a:t>
                </a:r>
                <a:r>
                  <a:rPr lang="en-IN" sz="2400">
                    <a:solidFill>
                      <a:srgbClr val="111827"/>
                    </a:solidFill>
                    <a:latin typeface="Cambria Math" panose="02040503050406030204" pitchFamily="18" charset="0"/>
                  </a:rPr>
                  <a:t>$g(\tfrac13)\approx0.4453$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$x\in(0.445,\,0.486)\subset\left(\frac14,\frac12\right)$</a:t>
                </a:r>
                <a:r>
                  <a:rPr sz="2400" b="0">
                    <a:solidFill>
                      <a:srgbClr val="111827"/>
                    </a:solidFill>
                    <a:latin typeface="Arial"/>
                  </a:rPr>
                  <a:t>. (Actual root </a:t>
                </a:r>
                <a:r>
                  <a:rPr lang="en-IN" sz="2400">
                    <a:solidFill>
                      <a:srgbClr val="111827"/>
                    </a:solidFill>
                    <a:latin typeface="Cambria Math" panose="02040503050406030204" pitchFamily="18" charset="0"/>
                  </a:rPr>
                  <a:t>$t\approx0.3129$</a:t>
                </a:r>
                <a:r>
                  <a:rPr sz="2400" b="0">
                    <a:solidFill>
                      <a:srgbClr val="111827"/>
                    </a:solidFill>
                    <a:latin typeface="Arial"/>
                  </a:rPr>
                  <a:t>, </a:t>
                </a:r>
                <a:r>
                  <a:rPr lang="en-IN" sz="2400">
                    <a:solidFill>
                      <a:srgbClr val="111827"/>
                    </a:solidFill>
                    <a:latin typeface="Cambria Math" panose="02040503050406030204" pitchFamily="18" charset="0"/>
                  </a:rPr>
                  <a:t>$x\approx0.4695$</a:t>
                </a:r>
                <a:r>
                  <a:rPr sz="2400" b="0">
                    <a:solidFill>
                      <a:srgbClr val="111827"/>
                    </a:solidFill>
                    <a:latin typeface="Arial"/>
                  </a:rPr>
                  <a:t>.) Option (C).</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14:m>
                  <m:oMath xmlns:m="http://schemas.openxmlformats.org/officeDocument/2006/math">
                    <m:d>
                      <m:dPr>
                        <m:begChr m:val="("/>
                        <m:sepChr m:val=""/>
                        <m:endChr m:val=")"/>
                        <m:grow/>
                        <m:ctrlPr>
                          <a:rPr lang="en-IN" sz="2800" i="1">
                            <a:solidFill>
                              <a:srgbClr val="15803D"/>
                            </a:solidFill>
                            <a:latin typeface="Cambria Math" panose="02040503050406030204" pitchFamily="18" charset="0"/>
                          </a:rPr>
                        </m:ctrlPr>
                      </m:dPr>
                      <m:e>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1</m:t>
                            </m:r>
                          </m:num>
                          <m:den>
                            <m:r>
                              <a:rPr lang="en-IN" sz="2800" i="1">
                                <a:solidFill>
                                  <a:srgbClr val="15803D"/>
                                </a:solidFill>
                                <a:latin typeface="Cambria Math" panose="02040503050406030204" pitchFamily="18" charset="0"/>
                              </a:rPr>
                              <m:t>4</m:t>
                            </m:r>
                          </m:den>
                        </m:f>
                        <m:r>
                          <m:rPr>
                            <m:sty m:val="p"/>
                          </m:rPr>
                          <a:rPr lang="en-IN" sz="2800">
                            <a:solidFill>
                              <a:srgbClr val="15803D"/>
                            </a:solidFill>
                            <a:latin typeface="Cambria Math" panose="02040503050406030204" pitchFamily="18" charset="0"/>
                          </a:rPr>
                          <m:t>,</m:t>
                        </m:r>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1</m:t>
                            </m:r>
                          </m:num>
                          <m:den>
                            <m:r>
                              <a:rPr lang="en-IN" sz="2800" i="1">
                                <a:solidFill>
                                  <a:srgbClr val="15803D"/>
                                </a:solidFill>
                                <a:latin typeface="Cambria Math" panose="02040503050406030204" pitchFamily="18" charset="0"/>
                              </a:rPr>
                              <m:t>2</m:t>
                            </m:r>
                          </m:den>
                        </m:f>
                      </m:e>
                    </m:d>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r>
                  <a:rPr lang="en-IN" sz="2800">
                    <a:solidFill>
                      <a:srgbClr val="15803D"/>
                    </a:solidFill>
                    <a:latin typeface="Cambria Math" panose="02040503050406030204" pitchFamily="18" charset="0"/>
                  </a:rPr>
                  <a:t>$\left(\frac14,\frac12\right)$</a:t>
                </a:r>
                <a:endParaRPr sz="2800">
                  <a:solidFill>
                    <a:srgbClr val="15803D"/>
                  </a:solidFill>
                </a:endParaRPr>
              </a:p>
            </p:txBody>
          </p:sp>
        </mc:Fallback>
      </mc:AlternateContent>
    </p:spTree>
  </p:cSld>
  <p:clrMapOvr>
    <a:masterClrMapping/>
  </p:clrMapOvr>
</p:sld>
</file>

<file path=ppt/slides/slide2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Minimise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𝐶</m:t>
                    </m:r>
                    <m:r>
                      <a:rPr lang="en-IN" sz="2400" i="1">
                        <a:solidFill>
                          <a:srgbClr val="78350F"/>
                        </a:solidFill>
                        <a:latin typeface="Cambria Math" panose="02040503050406030204" pitchFamily="18" charset="0"/>
                      </a:rPr>
                      <m:t>𝑄</m:t>
                    </m:r>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 over the parabola directly; </a:t>
                </a:r>
                <a14:m>
                  <m:oMath xmlns:m="http://schemas.openxmlformats.org/officeDocument/2006/math">
                    <m:r>
                      <a:rPr lang="en-IN" sz="2400" i="1">
                        <a:solidFill>
                          <a:srgbClr val="78350F"/>
                        </a:solidFill>
                        <a:latin typeface="Cambria Math" panose="02040503050406030204" pitchFamily="18" charset="0"/>
                      </a:rPr>
                      <m:t>𝑃</m:t>
                    </m:r>
                  </m:oMath>
                </a14:m>
                <a:r>
                  <a:rPr sz="2400" b="0">
                    <a:solidFill>
                      <a:srgbClr val="78350F"/>
                    </a:solidFill>
                    <a:latin typeface="Arial"/>
                  </a:rPr>
                  <a:t> is then the point of the circle on segment </a:t>
                </a:r>
                <a14:m>
                  <m:oMath xmlns:m="http://schemas.openxmlformats.org/officeDocument/2006/math">
                    <m:r>
                      <a:rPr lang="en-IN" sz="2400" i="1">
                        <a:solidFill>
                          <a:srgbClr val="78350F"/>
                        </a:solidFill>
                        <a:latin typeface="Cambria Math" panose="02040503050406030204" pitchFamily="18" charset="0"/>
                      </a:rPr>
                      <m:t>𝐶</m:t>
                    </m:r>
                    <m:r>
                      <a:rPr lang="en-IN" sz="2400" i="1">
                        <a:solidFill>
                          <a:srgbClr val="78350F"/>
                        </a:solidFill>
                        <a:latin typeface="Cambria Math" panose="02040503050406030204" pitchFamily="18" charset="0"/>
                      </a:rPr>
                      <m:t>𝑄</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Minimise </a:t>
                </a:r>
                <a:r>
                  <a:rPr lang="en-IN" sz="2400">
                    <a:solidFill>
                      <a:srgbClr val="78350F"/>
                    </a:solidFill>
                    <a:latin typeface="Cambria Math" panose="02040503050406030204" pitchFamily="18" charset="0"/>
                  </a:rPr>
                  <a:t>$|CQ|^2$</a:t>
                </a:r>
                <a:r>
                  <a:rPr sz="2400" b="0">
                    <a:solidFill>
                      <a:srgbClr val="78350F"/>
                    </a:solidFill>
                    <a:latin typeface="Arial"/>
                  </a:rPr>
                  <a:t> over the parabola directly; </a:t>
                </a:r>
                <a:r>
                  <a:rPr lang="en-IN" sz="2400">
                    <a:solidFill>
                      <a:srgbClr val="78350F"/>
                    </a:solidFill>
                    <a:latin typeface="Cambria Math" panose="02040503050406030204" pitchFamily="18" charset="0"/>
                  </a:rPr>
                  <a:t>$P$</a:t>
                </a:r>
                <a:r>
                  <a:rPr sz="2400" b="0">
                    <a:solidFill>
                      <a:srgbClr val="78350F"/>
                    </a:solidFill>
                    <a:latin typeface="Arial"/>
                  </a:rPr>
                  <a:t> is then the point of the circle on segment </a:t>
                </a:r>
                <a:r>
                  <a:rPr lang="en-IN" sz="2400">
                    <a:solidFill>
                      <a:srgbClr val="78350F"/>
                    </a:solidFill>
                    <a:latin typeface="Cambria Math" panose="02040503050406030204" pitchFamily="18" charset="0"/>
                  </a:rPr>
                  <a:t>$CQ$</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fixed </a:t>
                </a:r>
                <a14:m>
                  <m:oMath xmlns:m="http://schemas.openxmlformats.org/officeDocument/2006/math">
                    <m:r>
                      <a:rPr lang="en-IN" sz="2400" i="1">
                        <a:solidFill>
                          <a:srgbClr val="111827"/>
                        </a:solidFill>
                        <a:latin typeface="Cambria Math" panose="02040503050406030204" pitchFamily="18" charset="0"/>
                      </a:rPr>
                      <m:t>𝑄</m:t>
                    </m:r>
                  </m:oMath>
                </a14:m>
                <a:r>
                  <a:rPr sz="2400" b="0">
                    <a:solidFill>
                      <a:srgbClr val="111827"/>
                    </a:solidFill>
                    <a:latin typeface="Arial"/>
                  </a:rPr>
                  <a:t>, the nearest point of the circle is on segment </a:t>
                </a:r>
                <a14:m>
                  <m:oMath xmlns:m="http://schemas.openxmlformats.org/officeDocument/2006/math">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𝑄</m:t>
                    </m:r>
                  </m:oMath>
                </a14:m>
                <a:r>
                  <a:rPr sz="2400" b="0">
                    <a:solidFill>
                      <a:srgbClr val="111827"/>
                    </a:solidFill>
                    <a:latin typeface="Arial"/>
                  </a:rPr>
                  <a:t> at distance 1 from </a:t>
                </a:r>
                <a14:m>
                  <m:oMath xmlns:m="http://schemas.openxmlformats.org/officeDocument/2006/math">
                    <m:r>
                      <a:rPr lang="en-IN" sz="2400" i="1">
                        <a:solidFill>
                          <a:srgbClr val="111827"/>
                        </a:solidFill>
                        <a:latin typeface="Cambria Math" panose="02040503050406030204" pitchFamily="18" charset="0"/>
                      </a:rPr>
                      <m:t>𝐶</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𝑃</m:t>
                    </m:r>
                    <m:sSub>
                      <m:e>
                        <m:r>
                          <a:rPr lang="en-IN" sz="2400" i="1">
                            <a:solidFill>
                              <a:srgbClr val="111827"/>
                            </a:solidFill>
                            <a:latin typeface="Cambria Math" panose="02040503050406030204" pitchFamily="18" charset="0"/>
                          </a:rPr>
                          <m:t>𝑄</m:t>
                        </m:r>
                      </m:e>
                      <m:sub>
                        <m:r>
                          <m:rPr>
                            <m:sty m:val="p"/>
                          </m:rPr>
                          <a:rPr lang="en-IN" sz="2400">
                            <a:solidFill>
                              <a:srgbClr val="111827"/>
                            </a:solidFill>
                            <a:latin typeface="Cambria Math" panose="02040503050406030204" pitchFamily="18" charset="0"/>
                          </a:rPr>
                          <m:t>min</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𝑄</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minimise </a:t>
                </a:r>
                <a14:m>
                  <m:oMath xmlns:m="http://schemas.openxmlformats.org/officeDocument/2006/math">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𝑄</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𝑄</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𝐷</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which vanishes only at the single real root </a:t>
                </a:r>
                <a14:m>
                  <m:oMath xmlns:m="http://schemas.openxmlformats.org/officeDocument/2006/math">
                    <m:sSub>
                      <m:e>
                        <m:r>
                          <a:rPr lang="en-IN" sz="2400" i="1">
                            <a:solidFill>
                              <a:srgbClr val="111827"/>
                            </a:solidFill>
                            <a:latin typeface="Cambria Math" panose="02040503050406030204" pitchFamily="18" charset="0"/>
                          </a:rPr>
                          <m:t>𝑡</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0.3129</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𝐷</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so a minimum).</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fixed </a:t>
                </a:r>
                <a:r>
                  <a:rPr lang="en-IN" sz="2400">
                    <a:solidFill>
                      <a:srgbClr val="111827"/>
                    </a:solidFill>
                    <a:latin typeface="Cambria Math" panose="02040503050406030204" pitchFamily="18" charset="0"/>
                  </a:rPr>
                  <a:t>$Q$</a:t>
                </a:r>
                <a:r>
                  <a:rPr sz="2400" b="0">
                    <a:solidFill>
                      <a:srgbClr val="111827"/>
                    </a:solidFill>
                    <a:latin typeface="Arial"/>
                  </a:rPr>
                  <a:t>, the nearest point of the circle is on segment </a:t>
                </a:r>
                <a:r>
                  <a:rPr lang="en-IN" sz="2400">
                    <a:solidFill>
                      <a:srgbClr val="111827"/>
                    </a:solidFill>
                    <a:latin typeface="Cambria Math" panose="02040503050406030204" pitchFamily="18" charset="0"/>
                  </a:rPr>
                  <a:t>$CQ$</a:t>
                </a:r>
                <a:r>
                  <a:rPr sz="2400" b="0">
                    <a:solidFill>
                      <a:srgbClr val="111827"/>
                    </a:solidFill>
                    <a:latin typeface="Arial"/>
                  </a:rPr>
                  <a:t> at distance 1 from </a:t>
                </a:r>
                <a:r>
                  <a:rPr lang="en-IN" sz="2400">
                    <a:solidFill>
                      <a:srgbClr val="111827"/>
                    </a:solidFill>
                    <a:latin typeface="Cambria Math" panose="02040503050406030204" pitchFamily="18" charset="0"/>
                  </a:rPr>
                  <a:t>$C$</a:t>
                </a:r>
                <a:r>
                  <a:rPr sz="2400" b="0">
                    <a:solidFill>
                      <a:srgbClr val="111827"/>
                    </a:solidFill>
                    <a:latin typeface="Arial"/>
                  </a:rPr>
                  <a:t>, so </a:t>
                </a:r>
                <a:r>
                  <a:rPr lang="en-IN" sz="2400">
                    <a:solidFill>
                      <a:srgbClr val="111827"/>
                    </a:solidFill>
                    <a:latin typeface="Cambria Math" panose="02040503050406030204" pitchFamily="18" charset="0"/>
                  </a:rPr>
                  <a:t>$PQ_{\min}=|CQ|-1$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minimise </a:t>
                </a:r>
                <a:r>
                  <a:rPr lang="en-IN" sz="2400">
                    <a:solidFill>
                      <a:srgbClr val="111827"/>
                    </a:solidFill>
                    <a:latin typeface="Cambria Math" panose="02040503050406030204" pitchFamily="18" charset="0"/>
                  </a:rPr>
                  <a:t>$D(t)=|CQ|^2=(t-1)^2+(t^2+1)^2$</a:t>
                </a:r>
                <a:r>
                  <a:rPr sz="2400" b="0">
                    <a:solidFill>
                      <a:srgbClr val="111827"/>
                    </a:solidFill>
                    <a:latin typeface="Arial"/>
                  </a:rPr>
                  <a:t> for </a:t>
                </a:r>
                <a:r>
                  <a:rPr lang="en-IN" sz="2400">
                    <a:solidFill>
                      <a:srgbClr val="111827"/>
                    </a:solidFill>
                    <a:latin typeface="Cambria Math" panose="02040503050406030204" pitchFamily="18" charset="0"/>
                  </a:rPr>
                  <a:t>$Q=(t,t^2)$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$D'(t)=2(t-1)+4t(t^2+1)=4t^3+6t-2=2(2t^3+3t-1)$</a:t>
                </a:r>
                <a:r>
                  <a:rPr sz="2400" b="0">
                    <a:solidFill>
                      <a:srgbClr val="111827"/>
                    </a:solidFill>
                    <a:latin typeface="Arial"/>
                  </a:rPr>
                  <a:t>, which vanishes only at the single real root </a:t>
                </a:r>
                <a:r>
                  <a:rPr lang="en-IN" sz="2400">
                    <a:solidFill>
                      <a:srgbClr val="111827"/>
                    </a:solidFill>
                    <a:latin typeface="Cambria Math" panose="02040503050406030204" pitchFamily="18" charset="0"/>
                  </a:rPr>
                  <a:t>$t_0\approx0.3129$</a:t>
                </a:r>
                <a:r>
                  <a:rPr sz="2400" b="0">
                    <a:solidFill>
                      <a:srgbClr val="111827"/>
                    </a:solidFill>
                    <a:latin typeface="Arial"/>
                  </a:rPr>
                  <a:t> (</a:t>
                </a:r>
                <a:r>
                  <a:rPr lang="en-IN" sz="2400">
                    <a:solidFill>
                      <a:srgbClr val="111827"/>
                    </a:solidFill>
                    <a:latin typeface="Cambria Math" panose="02040503050406030204" pitchFamily="18" charset="0"/>
                  </a:rPr>
                  <a:t>$D''&gt;0$</a:t>
                </a:r>
                <a:r>
                  <a:rPr sz="2400" b="0">
                    <a:solidFill>
                      <a:srgbClr val="111827"/>
                    </a:solidFill>
                    <a:latin typeface="Arial"/>
                  </a:rPr>
                  <a:t>, so a minimum).</a:t>
                </a:r>
                <a:endParaRPr sz="2400">
                  <a:solidFill>
                    <a:srgbClr val="111827"/>
                  </a:solidFill>
                </a:endParaRPr>
              </a:p>
            </p:txBody>
          </p:sp>
        </mc:Fallback>
      </mc:AlternateContent>
    </p:spTree>
  </p:cSld>
  <p:clrMapOvr>
    <a:masterClrMapping/>
  </p:clrMapOvr>
</p:sld>
</file>

<file path=ppt/slides/slide2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Then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𝑃</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𝑡</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𝑄</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𝑡</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ad>
                          <m:radPr>
                            <m:degHide m:val="on"/>
                            <m:ctrlPr>
                              <a:rPr lang="en-IN" sz="2400" i="1">
                                <a:solidFill>
                                  <a:srgbClr val="111827"/>
                                </a:solidFill>
                                <a:latin typeface="Cambria Math" panose="02040503050406030204" pitchFamily="18" charset="0"/>
                              </a:rPr>
                            </m:ctrlPr>
                          </m:radPr>
                          <m:deg/>
                          <m:e>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𝑡</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𝑡</m:t>
                                </m:r>
                              </m:e>
                              <m:sub>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e>
                        </m:rad>
                      </m:den>
                    </m:f>
                  </m:oMath>
                </a14:m>
                <a:r>
                  <a:rPr sz="2400" b="0">
                    <a:solidFill>
                      <a:srgbClr val="111827"/>
                    </a:solidFill>
                    <a:latin typeface="Arial"/>
                  </a:rPr>
                  <a:t> (section formula along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𝑄</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Numerically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𝑄</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1.2952</m:t>
                    </m:r>
                  </m:oMath>
                </a14:m>
                <a:r>
                  <a:rPr sz="2400" b="0">
                    <a:solidFill>
                      <a:srgbClr val="111827"/>
                    </a:solidFill>
                    <a:latin typeface="Arial"/>
                  </a:rPr>
                  <a:t>, so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𝑃</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0.6871</m:t>
                        </m:r>
                      </m:num>
                      <m:den>
                        <m:r>
                          <a:rPr lang="en-IN" sz="2400" i="1">
                            <a:solidFill>
                              <a:srgbClr val="111827"/>
                            </a:solidFill>
                            <a:latin typeface="Cambria Math" panose="02040503050406030204" pitchFamily="18" charset="0"/>
                          </a:rPr>
                          <m:t>1.2952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0.4695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0.25</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0.4695</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0.5</m:t>
                    </m:r>
                  </m:oMath>
                </a14:m>
                <a:r>
                  <a:rPr sz="2400" b="0">
                    <a:solidFill>
                      <a:srgbClr val="111827"/>
                    </a:solidFill>
                    <a:latin typeface="Arial"/>
                  </a:rPr>
                  <a:t>, so the abscissa lies in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e>
                    </m:d>
                  </m:oMath>
                </a14:m>
                <a:r>
                  <a:rPr sz="2400" b="0">
                    <a:solidFill>
                      <a:srgbClr val="111827"/>
                    </a:solidFill>
                    <a:latin typeface="Arial"/>
                  </a:rPr>
                  <a:t>: option (C).</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Then </a:t>
                </a:r>
                <a:r>
                  <a:rPr lang="en-IN" sz="2400">
                    <a:solidFill>
                      <a:srgbClr val="111827"/>
                    </a:solidFill>
                    <a:latin typeface="Cambria Math" panose="02040503050406030204" pitchFamily="18" charset="0"/>
                  </a:rPr>
                  <a:t>$x_P=1+\frac{t_0-1}{|CQ|}=1+\frac{t_0-1}{\sqrt{(t_0-1)^2+(t_0^2+1)^2}}$</a:t>
                </a:r>
                <a:r>
                  <a:rPr sz="2400" b="0">
                    <a:solidFill>
                      <a:srgbClr val="111827"/>
                    </a:solidFill>
                    <a:latin typeface="Arial"/>
                  </a:rPr>
                  <a:t> (section formula along </a:t>
                </a:r>
                <a:r>
                  <a:rPr lang="en-IN" sz="2400">
                    <a:solidFill>
                      <a:srgbClr val="111827"/>
                    </a:solidFill>
                    <a:latin typeface="Cambria Math" panose="02040503050406030204" pitchFamily="18" charset="0"/>
                  </a:rPr>
                  <a:t>$C\to Q$</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Numerically </a:t>
                </a:r>
                <a:r>
                  <a:rPr lang="en-IN" sz="2400">
                    <a:solidFill>
                      <a:srgbClr val="111827"/>
                    </a:solidFill>
                    <a:latin typeface="Cambria Math" panose="02040503050406030204" pitchFamily="18" charset="0"/>
                  </a:rPr>
                  <a:t>$|CQ|\approx1.2952$</a:t>
                </a:r>
                <a:r>
                  <a:rPr sz="2400" b="0">
                    <a:solidFill>
                      <a:srgbClr val="111827"/>
                    </a:solidFill>
                    <a:latin typeface="Arial"/>
                  </a:rPr>
                  <a:t>, so </a:t>
                </a:r>
                <a:r>
                  <a:rPr lang="en-IN" sz="2400">
                    <a:solidFill>
                      <a:srgbClr val="111827"/>
                    </a:solidFill>
                    <a:latin typeface="Cambria Math" panose="02040503050406030204" pitchFamily="18" charset="0"/>
                  </a:rPr>
                  <a:t>$x_P=1-\frac{0.6871}{1.2952}\approx0.4695$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$0.25&lt;0.4695&lt;0.5$</a:t>
                </a:r>
                <a:r>
                  <a:rPr sz="2400" b="0">
                    <a:solidFill>
                      <a:srgbClr val="111827"/>
                    </a:solidFill>
                    <a:latin typeface="Arial"/>
                  </a:rPr>
                  <a:t>, so the abscissa lies in </a:t>
                </a:r>
                <a:r>
                  <a:rPr lang="en-IN" sz="2400">
                    <a:solidFill>
                      <a:srgbClr val="111827"/>
                    </a:solidFill>
                    <a:latin typeface="Cambria Math" panose="02040503050406030204" pitchFamily="18" charset="0"/>
                  </a:rPr>
                  <a:t>$\left(\frac14,\frac12\right)$</a:t>
                </a:r>
                <a:r>
                  <a:rPr sz="2400" b="0">
                    <a:solidFill>
                      <a:srgbClr val="111827"/>
                    </a:solidFill>
                    <a:latin typeface="Arial"/>
                  </a:rPr>
                  <a:t>: option (C).</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a:t>
                </a:r>
                <a14:m>
                  <m:oMath xmlns:m="http://schemas.openxmlformats.org/officeDocument/2006/math">
                    <m:d>
                      <m:dPr>
                        <m:begChr m:val="("/>
                        <m:sepChr m:val=""/>
                        <m:endChr m:val=")"/>
                        <m:grow/>
                        <m:ctrlPr>
                          <a:rPr lang="en-IN" sz="2800" i="1">
                            <a:solidFill>
                              <a:srgbClr val="15803D"/>
                            </a:solidFill>
                            <a:latin typeface="Cambria Math" panose="02040503050406030204" pitchFamily="18" charset="0"/>
                          </a:rPr>
                        </m:ctrlPr>
                      </m:dPr>
                      <m:e>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1</m:t>
                            </m:r>
                          </m:num>
                          <m:den>
                            <m:r>
                              <a:rPr lang="en-IN" sz="2800" i="1">
                                <a:solidFill>
                                  <a:srgbClr val="15803D"/>
                                </a:solidFill>
                                <a:latin typeface="Cambria Math" panose="02040503050406030204" pitchFamily="18" charset="0"/>
                              </a:rPr>
                              <m:t>4</m:t>
                            </m:r>
                          </m:den>
                        </m:f>
                        <m:r>
                          <m:rPr>
                            <m:sty m:val="p"/>
                          </m:rPr>
                          <a:rPr lang="en-IN" sz="2800">
                            <a:solidFill>
                              <a:srgbClr val="15803D"/>
                            </a:solidFill>
                            <a:latin typeface="Cambria Math" panose="02040503050406030204" pitchFamily="18" charset="0"/>
                          </a:rPr>
                          <m:t>,</m:t>
                        </m:r>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1</m:t>
                            </m:r>
                          </m:num>
                          <m:den>
                            <m:r>
                              <a:rPr lang="en-IN" sz="2800" i="1">
                                <a:solidFill>
                                  <a:srgbClr val="15803D"/>
                                </a:solidFill>
                                <a:latin typeface="Cambria Math" panose="02040503050406030204" pitchFamily="18" charset="0"/>
                              </a:rPr>
                              <m:t>2</m:t>
                            </m:r>
                          </m:den>
                        </m:f>
                      </m:e>
                    </m:d>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a:t>
                </a:r>
                <a:r>
                  <a:rPr lang="en-IN" sz="2800">
                    <a:solidFill>
                      <a:srgbClr val="15803D"/>
                    </a:solidFill>
                    <a:latin typeface="Cambria Math" panose="02040503050406030204" pitchFamily="18" charset="0"/>
                  </a:rPr>
                  <a:t>$\left(\frac14,\frac12\right)$</a:t>
                </a:r>
                <a:endParaRPr sz="2800">
                  <a:solidFill>
                    <a:srgbClr val="15803D"/>
                  </a:solidFill>
                </a:endParaRPr>
              </a:p>
            </p:txBody>
          </p:sp>
        </mc:Fallback>
      </mc:AlternateContent>
    </p:spTree>
  </p:cSld>
  <p:clrMapOvr>
    <a:masterClrMapping/>
  </p:clrMapOvr>
</p:sld>
</file>

<file path=ppt/slides/slide2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Shortest distance between two curves (when attained) is along a common normal; for a circle this means the normal to the other curve passes through the centre.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Minimum distance from a point </a:t>
                </a:r>
                <a14:m>
                  <m:oMath xmlns:m="http://schemas.openxmlformats.org/officeDocument/2006/math">
                    <m:r>
                      <a:rPr lang="en-IN" sz="2400" i="1">
                        <a:solidFill>
                          <a:srgbClr val="111827"/>
                        </a:solidFill>
                        <a:latin typeface="Cambria Math" panose="02040503050406030204" pitchFamily="18" charset="0"/>
                      </a:rPr>
                      <m:t>𝐶</m:t>
                    </m:r>
                  </m:oMath>
                </a14:m>
                <a:r>
                  <a:rPr sz="2400" b="0">
                    <a:solidFill>
                      <a:srgbClr val="111827"/>
                    </a:solidFill>
                    <a:latin typeface="Arial"/>
                  </a:rPr>
                  <a:t> to a curve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𝑄</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 foot </a:t>
                </a:r>
                <a14:m>
                  <m:oMath xmlns:m="http://schemas.openxmlformats.org/officeDocument/2006/math">
                    <m:r>
                      <a:rPr lang="en-IN" sz="2400" i="1">
                        <a:solidFill>
                          <a:srgbClr val="111827"/>
                        </a:solidFill>
                        <a:latin typeface="Cambria Math" panose="02040503050406030204" pitchFamily="18" charset="0"/>
                      </a:rPr>
                      <m:t>𝑄</m:t>
                    </m:r>
                  </m:oMath>
                </a14:m>
                <a:r>
                  <a:rPr sz="2400" b="0">
                    <a:solidFill>
                      <a:srgbClr val="111827"/>
                    </a:solidFill>
                    <a:latin typeface="Arial"/>
                  </a:rPr>
                  <a:t> where </a:t>
                </a:r>
                <a14:m>
                  <m:oMath xmlns:m="http://schemas.openxmlformats.org/officeDocument/2006/math">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𝑄</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tangent; distance circle-to-curve is that minus the radius (for a point outside the circle).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cubic with positive derivative has exactly one real root; locate it with sign changes (IVT) at nearby test values.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When bracketing a root to bound a derived quantity, tighten the bracket until the bound falls within the option interval.</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Shortest distance between two curves (when attained) is along a common normal; for a circle this means the normal to the other curve passes through the centre.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Minimum distance from a point </a:t>
                </a:r>
                <a:r>
                  <a:rPr lang="en-IN" sz="2400">
                    <a:solidFill>
                      <a:srgbClr val="111827"/>
                    </a:solidFill>
                    <a:latin typeface="Cambria Math" panose="02040503050406030204" pitchFamily="18" charset="0"/>
                  </a:rPr>
                  <a:t>$C$</a:t>
                </a:r>
                <a:r>
                  <a:rPr sz="2400" b="0">
                    <a:solidFill>
                      <a:srgbClr val="111827"/>
                    </a:solidFill>
                    <a:latin typeface="Arial"/>
                  </a:rPr>
                  <a:t> to a curve </a:t>
                </a:r>
                <a:r>
                  <a:rPr lang="en-IN" sz="2400">
                    <a:solidFill>
                      <a:srgbClr val="111827"/>
                    </a:solidFill>
                    <a:latin typeface="Cambria Math" panose="02040503050406030204" pitchFamily="18" charset="0"/>
                  </a:rPr>
                  <a:t>$=|CQ|$</a:t>
                </a:r>
                <a:r>
                  <a:rPr sz="2400" b="0">
                    <a:solidFill>
                      <a:srgbClr val="111827"/>
                    </a:solidFill>
                    <a:latin typeface="Arial"/>
                  </a:rPr>
                  <a:t> at a foot </a:t>
                </a:r>
                <a:r>
                  <a:rPr lang="en-IN" sz="2400">
                    <a:solidFill>
                      <a:srgbClr val="111827"/>
                    </a:solidFill>
                    <a:latin typeface="Cambria Math" panose="02040503050406030204" pitchFamily="18" charset="0"/>
                  </a:rPr>
                  <a:t>$Q$</a:t>
                </a:r>
                <a:r>
                  <a:rPr sz="2400" b="0">
                    <a:solidFill>
                      <a:srgbClr val="111827"/>
                    </a:solidFill>
                    <a:latin typeface="Arial"/>
                  </a:rPr>
                  <a:t> where </a:t>
                </a:r>
                <a:r>
                  <a:rPr lang="en-IN" sz="2400">
                    <a:solidFill>
                      <a:srgbClr val="111827"/>
                    </a:solidFill>
                    <a:latin typeface="Cambria Math" panose="02040503050406030204" pitchFamily="18" charset="0"/>
                  </a:rPr>
                  <a:t>$CQ\perp$</a:t>
                </a:r>
                <a:r>
                  <a:rPr sz="2400" b="0">
                    <a:solidFill>
                      <a:srgbClr val="111827"/>
                    </a:solidFill>
                    <a:latin typeface="Arial"/>
                  </a:rPr>
                  <a:t> tangent; distance circle-to-curve is that minus the radius (for a point outside the circle).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cubic with positive derivative has exactly one real root; locate it with sign changes (IVT) at nearby test values.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When bracketing a root to bound a derived quantity, tighten the bracket until the bound falls within the option interval.</a:t>
                </a:r>
                <a:endParaRPr sz="2400">
                  <a:solidFill>
                    <a:srgbClr val="111827"/>
                  </a:solidFill>
                </a:endParaRPr>
              </a:p>
            </p:txBody>
          </p:sp>
        </mc:Fallback>
      </mc:AlternateContent>
    </p:spTree>
  </p:cSld>
  <p:clrMapOvr>
    <a:masterClrMapping/>
  </p:clrMapOvr>
</p:sld>
</file>

<file path=ppt/slides/slide2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the area enclosed by the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-axis, and the tangent and normal drawn to the curve </a:t>
                </a:r>
                <a14:m>
                  <m:oMath xmlns:m="http://schemas.openxmlformats.org/officeDocument/2006/math">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the point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be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8</m:t>
                    </m:r>
                    <m:r>
                      <a:rPr lang="en-IN" sz="2400" i="1">
                        <a:solidFill>
                          <a:srgbClr val="111827"/>
                        </a:solidFill>
                        <a:latin typeface="Cambria Math" panose="02040503050406030204" pitchFamily="18" charset="0"/>
                      </a:rPr>
                      <m:t>𝐴</m:t>
                    </m:r>
                  </m:oMath>
                </a14:m>
                <a:r>
                  <a:rPr sz="2400" b="0">
                    <a:solidFill>
                      <a:srgbClr val="111827"/>
                    </a:solidFill>
                    <a:latin typeface="Arial"/>
                  </a:rPr>
                  <a:t> is equal to ______.</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the area enclosed by the </a:t>
                </a:r>
                <a:r>
                  <a:rPr lang="en-IN" sz="2400">
                    <a:solidFill>
                      <a:srgbClr val="111827"/>
                    </a:solidFill>
                    <a:latin typeface="Cambria Math" panose="02040503050406030204" pitchFamily="18" charset="0"/>
                  </a:rPr>
                  <a:t>$x$</a:t>
                </a:r>
                <a:r>
                  <a:rPr sz="2400" b="0">
                    <a:solidFill>
                      <a:srgbClr val="111827"/>
                    </a:solidFill>
                    <a:latin typeface="Arial"/>
                  </a:rPr>
                  <a:t>-axis, and the tangent and normal drawn to the curve </a:t>
                </a:r>
                <a:r>
                  <a:rPr lang="en-IN" sz="2400">
                    <a:solidFill>
                      <a:srgbClr val="111827"/>
                    </a:solidFill>
                    <a:latin typeface="Cambria Math" panose="02040503050406030204" pitchFamily="18" charset="0"/>
                  </a:rPr>
                  <a:t>$4x^3-3xy^2+6x^2-5xy-8y^2+9x+14=0$</a:t>
                </a:r>
                <a:r>
                  <a:rPr sz="2400" b="0">
                    <a:solidFill>
                      <a:srgbClr val="111827"/>
                    </a:solidFill>
                    <a:latin typeface="Arial"/>
                  </a:rPr>
                  <a:t> at the point </a:t>
                </a:r>
                <a:r>
                  <a:rPr lang="en-IN" sz="2400">
                    <a:solidFill>
                      <a:srgbClr val="111827"/>
                    </a:solidFill>
                    <a:latin typeface="Cambria Math" panose="02040503050406030204" pitchFamily="18" charset="0"/>
                  </a:rPr>
                  <a:t>$(-2,3)$</a:t>
                </a:r>
                <a:r>
                  <a:rPr sz="2400" b="0">
                    <a:solidFill>
                      <a:srgbClr val="111827"/>
                    </a:solidFill>
                    <a:latin typeface="Arial"/>
                  </a:rPr>
                  <a:t> be </a:t>
                </a:r>
                <a:r>
                  <a:rPr lang="en-IN" sz="2400">
                    <a:solidFill>
                      <a:srgbClr val="111827"/>
                    </a:solidFill>
                    <a:latin typeface="Cambria Math" panose="02040503050406030204" pitchFamily="18" charset="0"/>
                  </a:rPr>
                  <a:t>$A$</a:t>
                </a:r>
                <a:r>
                  <a:rPr sz="2400" b="0">
                    <a:solidFill>
                      <a:srgbClr val="111827"/>
                    </a:solidFill>
                    <a:latin typeface="Arial"/>
                  </a:rPr>
                  <a:t>. Then </a:t>
                </a:r>
                <a:r>
                  <a:rPr lang="en-IN" sz="2400">
                    <a:solidFill>
                      <a:srgbClr val="111827"/>
                    </a:solidFill>
                    <a:latin typeface="Cambria Math" panose="02040503050406030204" pitchFamily="18" charset="0"/>
                  </a:rPr>
                  <a:t>$8A$</a:t>
                </a:r>
                <a:r>
                  <a:rPr sz="2400" b="0">
                    <a:solidFill>
                      <a:srgbClr val="111827"/>
                    </a:solidFill>
                    <a:latin typeface="Arial"/>
                  </a:rPr>
                  <a:t> is equal to ______.</a:t>
                </a:r>
                <a:endParaRPr sz="2400">
                  <a:solidFill>
                    <a:srgbClr val="111827"/>
                  </a:solidFill>
                </a:endParaRPr>
              </a:p>
            </p:txBody>
          </p:sp>
        </mc:Fallback>
      </mc:AlternateContent>
      <p:sp>
        <p:nvSpPr>
          <p:cNvPr id="5" name="Rectangle 4"/>
          <p:cNvSpPr/>
          <p:nvPr/>
        </p:nvSpPr>
        <p:spPr>
          <a:xfrm>
            <a:off x="731520" y="324612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Tangent and normal to an implicit curve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2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tangent and normal at </a:t>
                </a:r>
                <a14:m>
                  <m:oMath xmlns:m="http://schemas.openxmlformats.org/officeDocument/2006/math">
                    <m:r>
                      <a:rPr lang="en-IN" sz="2400" i="1">
                        <a:solidFill>
                          <a:srgbClr val="78350F"/>
                        </a:solidFill>
                        <a:latin typeface="Cambria Math" panose="02040503050406030204" pitchFamily="18" charset="0"/>
                      </a:rPr>
                      <m:t>𝑃</m:t>
                    </m:r>
                  </m:oMath>
                </a14:m>
                <a:r>
                  <a:rPr sz="2400" b="0">
                    <a:solidFill>
                      <a:srgbClr val="78350F"/>
                    </a:solidFill>
                    <a:latin typeface="Arial"/>
                  </a:rPr>
                  <a:t> are perpendicular, so the triangle with the </a:t>
                </a:r>
                <a14:m>
                  <m:oMath xmlns:m="http://schemas.openxmlformats.org/officeDocument/2006/math">
                    <m:r>
                      <a:rPr lang="en-IN" sz="2400" i="1">
                        <a:solidFill>
                          <a:srgbClr val="78350F"/>
                        </a:solidFill>
                        <a:latin typeface="Cambria Math" panose="02040503050406030204" pitchFamily="18" charset="0"/>
                      </a:rPr>
                      <m:t>𝑥</m:t>
                    </m:r>
                  </m:oMath>
                </a14:m>
                <a:r>
                  <a:rPr sz="2400" b="0">
                    <a:solidFill>
                      <a:srgbClr val="78350F"/>
                    </a:solidFill>
                    <a:latin typeface="Arial"/>
                  </a:rPr>
                  <a:t>-axis is found from their two </a:t>
                </a:r>
                <a14:m>
                  <m:oMath xmlns:m="http://schemas.openxmlformats.org/officeDocument/2006/math">
                    <m:r>
                      <a:rPr lang="en-IN" sz="2400" i="1">
                        <a:solidFill>
                          <a:srgbClr val="78350F"/>
                        </a:solidFill>
                        <a:latin typeface="Cambria Math" panose="02040503050406030204" pitchFamily="18" charset="0"/>
                      </a:rPr>
                      <m:t>𝑥</m:t>
                    </m:r>
                  </m:oMath>
                </a14:m>
                <a:r>
                  <a:rPr sz="2400" b="0">
                    <a:solidFill>
                      <a:srgbClr val="78350F"/>
                    </a:solidFill>
                    <a:latin typeface="Arial"/>
                  </a:rPr>
                  <a:t>-intercepts.</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tangent and normal at </a:t>
                </a:r>
                <a:r>
                  <a:rPr lang="en-IN" sz="2400">
                    <a:solidFill>
                      <a:srgbClr val="78350F"/>
                    </a:solidFill>
                    <a:latin typeface="Cambria Math" panose="02040503050406030204" pitchFamily="18" charset="0"/>
                  </a:rPr>
                  <a:t>$P$</a:t>
                </a:r>
                <a:r>
                  <a:rPr sz="2400" b="0">
                    <a:solidFill>
                      <a:srgbClr val="78350F"/>
                    </a:solidFill>
                    <a:latin typeface="Arial"/>
                  </a:rPr>
                  <a:t> are perpendicular, so the triangle with the </a:t>
                </a:r>
                <a:r>
                  <a:rPr lang="en-IN" sz="2400">
                    <a:solidFill>
                      <a:srgbClr val="78350F"/>
                    </a:solidFill>
                    <a:latin typeface="Cambria Math" panose="02040503050406030204" pitchFamily="18" charset="0"/>
                  </a:rPr>
                  <a:t>$x$</a:t>
                </a:r>
                <a:r>
                  <a:rPr sz="2400" b="0">
                    <a:solidFill>
                      <a:srgbClr val="78350F"/>
                    </a:solidFill>
                    <a:latin typeface="Arial"/>
                  </a:rPr>
                  <a:t>-axis is found from their two </a:t>
                </a:r>
                <a:r>
                  <a:rPr lang="en-IN" sz="2400">
                    <a:solidFill>
                      <a:srgbClr val="78350F"/>
                    </a:solidFill>
                    <a:latin typeface="Cambria Math" panose="02040503050406030204" pitchFamily="18" charset="0"/>
                  </a:rPr>
                  <a:t>$x$</a:t>
                </a:r>
                <a:r>
                  <a:rPr sz="2400" b="0">
                    <a:solidFill>
                      <a:srgbClr val="78350F"/>
                    </a:solidFill>
                    <a:latin typeface="Arial"/>
                  </a:rPr>
                  <a:t>-intercepts.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Check: at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the point lies on the curve.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Differentiate implicitly: </a:t>
                </a:r>
                <a14:m>
                  <m:oMath xmlns:m="http://schemas.openxmlformats.org/officeDocument/2006/math">
                    <m:r>
                      <a:rPr lang="en-IN" sz="2400" i="1">
                        <a:solidFill>
                          <a:srgbClr val="111827"/>
                        </a:solidFill>
                        <a:latin typeface="Cambria Math" panose="02040503050406030204" pitchFamily="18" charset="0"/>
                      </a:rPr>
                      <m:t>12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𝑦</m:t>
                    </m:r>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𝑥</m:t>
                    </m:r>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a:rPr lang="en-IN" sz="2400" i="1">
                        <a:solidFill>
                          <a:srgbClr val="111827"/>
                        </a:solidFill>
                        <a:latin typeface="Cambria Math" panose="02040503050406030204" pitchFamily="18" charset="0"/>
                      </a:rPr>
                      <m:t>𝑦</m:t>
                    </m:r>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Put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48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48</m:t>
                    </m:r>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so </a:t>
                </a:r>
                <a14:m>
                  <m:oMath xmlns:m="http://schemas.openxmlformats.org/officeDocument/2006/math">
                    <m:sSub>
                      <m:e>
                        <m:r>
                          <a:rPr lang="en-IN" sz="2400" i="1">
                            <a:solidFill>
                              <a:srgbClr val="111827"/>
                            </a:solidFill>
                            <a:latin typeface="Cambria Math" panose="02040503050406030204" pitchFamily="18" charset="0"/>
                          </a:rPr>
                          <m:t>𝑚</m:t>
                        </m:r>
                      </m:e>
                      <m:sub>
                        <m:r>
                          <a:rPr lang="en-IN" sz="2400" i="1">
                            <a:solidFill>
                              <a:srgbClr val="111827"/>
                            </a:solidFill>
                            <a:latin typeface="Cambria Math" panose="02040503050406030204" pitchFamily="18" charset="0"/>
                          </a:rPr>
                          <m:t>𝑇</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𝑚</m:t>
                        </m:r>
                      </m:e>
                      <m:sub>
                        <m:r>
                          <a:rPr lang="en-IN" sz="2400" i="1">
                            <a:solidFill>
                              <a:srgbClr val="111827"/>
                            </a:solidFill>
                            <a:latin typeface="Cambria Math" panose="02040503050406030204" pitchFamily="18" charset="0"/>
                          </a:rPr>
                          <m:t>𝑁</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9</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Check: at </a:t>
                </a:r>
                <a:r>
                  <a:rPr lang="en-IN" sz="2400">
                    <a:solidFill>
                      <a:srgbClr val="111827"/>
                    </a:solidFill>
                    <a:latin typeface="Cambria Math" panose="02040503050406030204" pitchFamily="18" charset="0"/>
                  </a:rPr>
                  <a:t>$(-2,3)$</a:t>
                </a:r>
                <a:r>
                  <a:rPr sz="2400" b="0">
                    <a:solidFill>
                      <a:srgbClr val="111827"/>
                    </a:solidFill>
                    <a:latin typeface="Arial"/>
                  </a:rPr>
                  <a:t>: </a:t>
                </a:r>
                <a:r>
                  <a:rPr lang="en-IN" sz="2400">
                    <a:solidFill>
                      <a:srgbClr val="111827"/>
                    </a:solidFill>
                    <a:latin typeface="Cambria Math" panose="02040503050406030204" pitchFamily="18" charset="0"/>
                  </a:rPr>
                  <a:t>$-32+54+24+30-72-18+14=0$</a:t>
                </a:r>
                <a:r>
                  <a:rPr sz="2400" b="0">
                    <a:solidFill>
                      <a:srgbClr val="111827"/>
                    </a:solidFill>
                    <a:latin typeface="Arial"/>
                  </a:rPr>
                  <a:t>, so the point lies on the curve.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Differentiate implicitly: </a:t>
                </a:r>
                <a:r>
                  <a:rPr lang="en-IN" sz="2400">
                    <a:solidFill>
                      <a:srgbClr val="111827"/>
                    </a:solidFill>
                    <a:latin typeface="Cambria Math" panose="02040503050406030204" pitchFamily="18" charset="0"/>
                  </a:rPr>
                  <a:t>$12x^2-3y^2-6xyy'+12x-5y-5xy'-16yy'+9=0$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Put </a:t>
                </a:r>
                <a:r>
                  <a:rPr lang="en-IN" sz="2400">
                    <a:solidFill>
                      <a:srgbClr val="111827"/>
                    </a:solidFill>
                    <a:latin typeface="Cambria Math" panose="02040503050406030204" pitchFamily="18" charset="0"/>
                  </a:rPr>
                  <a:t>$(x,y)=(-2,3)$</a:t>
                </a:r>
                <a:r>
                  <a:rPr sz="2400" b="0">
                    <a:solidFill>
                      <a:srgbClr val="111827"/>
                    </a:solidFill>
                    <a:latin typeface="Arial"/>
                  </a:rPr>
                  <a:t>: </a:t>
                </a:r>
                <a:r>
                  <a:rPr lang="en-IN" sz="2400">
                    <a:solidFill>
                      <a:srgbClr val="111827"/>
                    </a:solidFill>
                    <a:latin typeface="Cambria Math" panose="02040503050406030204" pitchFamily="18" charset="0"/>
                  </a:rPr>
                  <a:t>$48-27+36y'-24-15+10y'-48y'+9=0$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$-9-2y'=0\Rightarrow y'=-\frac92$</a:t>
                </a:r>
                <a:r>
                  <a:rPr sz="2400" b="0">
                    <a:solidFill>
                      <a:srgbClr val="111827"/>
                    </a:solidFill>
                    <a:latin typeface="Arial"/>
                  </a:rPr>
                  <a:t>, so </a:t>
                </a:r>
                <a:r>
                  <a:rPr lang="en-IN" sz="2400">
                    <a:solidFill>
                      <a:srgbClr val="111827"/>
                    </a:solidFill>
                    <a:latin typeface="Cambria Math" panose="02040503050406030204" pitchFamily="18" charset="0"/>
                  </a:rPr>
                  <a:t>$m_T=-\frac92$</a:t>
                </a:r>
                <a:r>
                  <a:rPr sz="2400" b="0">
                    <a:solidFill>
                      <a:srgbClr val="111827"/>
                    </a:solidFill>
                    <a:latin typeface="Arial"/>
                  </a:rPr>
                  <a:t> and </a:t>
                </a:r>
                <a:r>
                  <a:rPr lang="en-IN" sz="2400">
                    <a:solidFill>
                      <a:srgbClr val="111827"/>
                    </a:solidFill>
                    <a:latin typeface="Cambria Math" panose="02040503050406030204" pitchFamily="18" charset="0"/>
                  </a:rPr>
                  <a:t>$m_N=\frac29$</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Tangent: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Normal: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9</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Put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in the tangent: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Put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in the normal: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9</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Base on the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-axis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85</m:t>
                        </m:r>
                      </m:num>
                      <m:den>
                        <m:r>
                          <a:rPr lang="en-IN" sz="2400" i="1">
                            <a:solidFill>
                              <a:srgbClr val="111827"/>
                            </a:solidFill>
                            <a:latin typeface="Cambria Math" panose="02040503050406030204" pitchFamily="18" charset="0"/>
                          </a:rPr>
                          <m:t>6</m:t>
                        </m:r>
                      </m:den>
                    </m:f>
                  </m:oMath>
                </a14:m>
                <a:r>
                  <a:rPr sz="2400" b="0">
                    <a:solidFill>
                      <a:srgbClr val="111827"/>
                    </a:solidFill>
                    <a:latin typeface="Arial"/>
                  </a:rPr>
                  <a:t>; height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(the ordinate of the point of contact).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85</m:t>
                        </m:r>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85</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8</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170</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Tangent: </a:t>
                </a:r>
                <a:r>
                  <a:rPr lang="en-IN" sz="2400">
                    <a:solidFill>
                      <a:srgbClr val="111827"/>
                    </a:solidFill>
                    <a:latin typeface="Cambria Math" panose="02040503050406030204" pitchFamily="18" charset="0"/>
                  </a:rPr>
                  <a:t>$y-3=-\frac92(x+2)$</a:t>
                </a:r>
                <a:r>
                  <a:rPr sz="2400" b="0">
                    <a:solidFill>
                      <a:srgbClr val="111827"/>
                    </a:solidFill>
                    <a:latin typeface="Arial"/>
                  </a:rPr>
                  <a:t>. Normal: </a:t>
                </a:r>
                <a:r>
                  <a:rPr lang="en-IN" sz="2400">
                    <a:solidFill>
                      <a:srgbClr val="111827"/>
                    </a:solidFill>
                    <a:latin typeface="Cambria Math" panose="02040503050406030204" pitchFamily="18" charset="0"/>
                  </a:rPr>
                  <a:t>$y-3=\frac29(x+2)$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Put </a:t>
                </a:r>
                <a:r>
                  <a:rPr lang="en-IN" sz="2400">
                    <a:solidFill>
                      <a:srgbClr val="111827"/>
                    </a:solidFill>
                    <a:latin typeface="Cambria Math" panose="02040503050406030204" pitchFamily="18" charset="0"/>
                  </a:rPr>
                  <a:t>$y=0$</a:t>
                </a:r>
                <a:r>
                  <a:rPr sz="2400" b="0">
                    <a:solidFill>
                      <a:srgbClr val="111827"/>
                    </a:solidFill>
                    <a:latin typeface="Arial"/>
                  </a:rPr>
                  <a:t> in the tangent: </a:t>
                </a:r>
                <a:r>
                  <a:rPr lang="en-IN" sz="2400">
                    <a:solidFill>
                      <a:srgbClr val="111827"/>
                    </a:solidFill>
                    <a:latin typeface="Cambria Math" panose="02040503050406030204" pitchFamily="18" charset="0"/>
                  </a:rPr>
                  <a:t>$-3=-\frac92(x+2)\Rightarrow x=-\frac43$</a:t>
                </a:r>
                <a:r>
                  <a:rPr sz="2400" b="0">
                    <a:solidFill>
                      <a:srgbClr val="111827"/>
                    </a:solidFill>
                    <a:latin typeface="Arial"/>
                  </a:rPr>
                  <a:t>. Put </a:t>
                </a:r>
                <a:r>
                  <a:rPr lang="en-IN" sz="2400">
                    <a:solidFill>
                      <a:srgbClr val="111827"/>
                    </a:solidFill>
                    <a:latin typeface="Cambria Math" panose="02040503050406030204" pitchFamily="18" charset="0"/>
                  </a:rPr>
                  <a:t>$y=0$</a:t>
                </a:r>
                <a:r>
                  <a:rPr sz="2400" b="0">
                    <a:solidFill>
                      <a:srgbClr val="111827"/>
                    </a:solidFill>
                    <a:latin typeface="Arial"/>
                  </a:rPr>
                  <a:t> in the normal: </a:t>
                </a:r>
                <a:r>
                  <a:rPr lang="en-IN" sz="2400">
                    <a:solidFill>
                      <a:srgbClr val="111827"/>
                    </a:solidFill>
                    <a:latin typeface="Cambria Math" panose="02040503050406030204" pitchFamily="18" charset="0"/>
                  </a:rPr>
                  <a:t>$-3=\frac29(x+2)\Rightarrow x=-\frac{31}{2}$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Base on the </a:t>
                </a:r>
                <a:r>
                  <a:rPr lang="en-IN" sz="2400">
                    <a:solidFill>
                      <a:srgbClr val="111827"/>
                    </a:solidFill>
                    <a:latin typeface="Cambria Math" panose="02040503050406030204" pitchFamily="18" charset="0"/>
                  </a:rPr>
                  <a:t>$x$</a:t>
                </a:r>
                <a:r>
                  <a:rPr sz="2400" b="0">
                    <a:solidFill>
                      <a:srgbClr val="111827"/>
                    </a:solidFill>
                    <a:latin typeface="Arial"/>
                  </a:rPr>
                  <a:t>-axis </a:t>
                </a:r>
                <a:r>
                  <a:rPr lang="en-IN" sz="2400">
                    <a:solidFill>
                      <a:srgbClr val="111827"/>
                    </a:solidFill>
                    <a:latin typeface="Cambria Math" panose="02040503050406030204" pitchFamily="18" charset="0"/>
                  </a:rPr>
                  <a:t>$=\frac{31}{2}-\frac43=\frac{85}{6}$</a:t>
                </a:r>
                <a:r>
                  <a:rPr sz="2400" b="0">
                    <a:solidFill>
                      <a:srgbClr val="111827"/>
                    </a:solidFill>
                    <a:latin typeface="Arial"/>
                  </a:rPr>
                  <a:t>; height </a:t>
                </a:r>
                <a:r>
                  <a:rPr lang="en-IN" sz="2400">
                    <a:solidFill>
                      <a:srgbClr val="111827"/>
                    </a:solidFill>
                    <a:latin typeface="Cambria Math" panose="02040503050406030204" pitchFamily="18" charset="0"/>
                  </a:rPr>
                  <a:t>$=3$</a:t>
                </a:r>
                <a:r>
                  <a:rPr sz="2400" b="0">
                    <a:solidFill>
                      <a:srgbClr val="111827"/>
                    </a:solidFill>
                    <a:latin typeface="Arial"/>
                  </a:rPr>
                  <a:t> (the ordinate of the point of contact).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$A=\frac12\times\frac{85}{6}\times3=\frac{85}{4}$</a:t>
                </a:r>
                <a:r>
                  <a:rPr sz="2400" b="0">
                    <a:solidFill>
                      <a:srgbClr val="111827"/>
                    </a:solidFill>
                    <a:latin typeface="Arial"/>
                  </a:rPr>
                  <a:t>, so </a:t>
                </a:r>
                <a:r>
                  <a:rPr lang="en-IN" sz="2400">
                    <a:solidFill>
                      <a:srgbClr val="111827"/>
                    </a:solidFill>
                    <a:latin typeface="Cambria Math" panose="02040503050406030204" pitchFamily="18" charset="0"/>
                  </a:rPr>
                  <a:t>$8A=170$</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170</a:t>
            </a:r>
            <a:endParaRPr sz="2800">
              <a:solidFill>
                <a:srgbClr val="15803D"/>
              </a:solidFill>
            </a:endParaRPr>
          </a:p>
        </p:txBody>
      </p:sp>
    </p:spTree>
  </p:cSld>
  <p:clrMapOvr>
    <a:masterClrMapping/>
  </p:clrMapOvr>
</p:sld>
</file>

<file path=ppt/slides/slide2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Tangent </a:t>
                </a:r>
                <a14:m>
                  <m:oMath xmlns:m="http://schemas.openxmlformats.org/officeDocument/2006/math">
                    <m:r>
                      <m:rPr>
                        <m:sty m:val="p"/>
                      </m:rPr>
                      <a:rPr lang="en-IN" sz="2400">
                        <a:solidFill>
                          <a:srgbClr val="78350F"/>
                        </a:solidFill>
                        <a:latin typeface="Cambria Math" panose="02040503050406030204" pitchFamily="18" charset="0"/>
                      </a:rPr>
                      <m:t>⟂</m:t>
                    </m:r>
                  </m:oMath>
                </a14:m>
                <a:r>
                  <a:rPr sz="2400" b="0">
                    <a:solidFill>
                      <a:srgbClr val="78350F"/>
                    </a:solidFill>
                    <a:latin typeface="Arial"/>
                  </a:rPr>
                  <a:t> normal, so the triangle is right-angled at </a:t>
                </a:r>
                <a14:m>
                  <m:oMath xmlns:m="http://schemas.openxmlformats.org/officeDocument/2006/math">
                    <m:r>
                      <a:rPr lang="en-IN" sz="2400" i="1">
                        <a:solidFill>
                          <a:srgbClr val="78350F"/>
                        </a:solidFill>
                        <a:latin typeface="Cambria Math" panose="02040503050406030204" pitchFamily="18" charset="0"/>
                      </a:rPr>
                      <m:t>𝑃</m:t>
                    </m:r>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𝐴</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2</m:t>
                        </m:r>
                      </m:den>
                    </m:f>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𝑃</m:t>
                    </m:r>
                    <m:r>
                      <a:rPr lang="en-IN" sz="2400" i="1">
                        <a:solidFill>
                          <a:srgbClr val="78350F"/>
                        </a:solidFill>
                        <a:latin typeface="Cambria Math" panose="02040503050406030204" pitchFamily="18" charset="0"/>
                      </a:rPr>
                      <m:t>𝐴</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𝑃</m:t>
                    </m:r>
                    <m:r>
                      <a:rPr lang="en-IN" sz="2400" i="1">
                        <a:solidFill>
                          <a:srgbClr val="78350F"/>
                        </a:solidFill>
                        <a:latin typeface="Cambria Math" panose="02040503050406030204" pitchFamily="18" charset="0"/>
                      </a:rPr>
                      <m:t>𝐵</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Tangent </a:t>
                </a:r>
                <a:r>
                  <a:rPr lang="en-IN" sz="2400">
                    <a:solidFill>
                      <a:srgbClr val="78350F"/>
                    </a:solidFill>
                    <a:latin typeface="Cambria Math" panose="02040503050406030204" pitchFamily="18" charset="0"/>
                  </a:rPr>
                  <a:t>$\perp$</a:t>
                </a:r>
                <a:r>
                  <a:rPr sz="2400" b="0">
                    <a:solidFill>
                      <a:srgbClr val="78350F"/>
                    </a:solidFill>
                    <a:latin typeface="Arial"/>
                  </a:rPr>
                  <a:t> normal, so the triangle is right-angled at </a:t>
                </a:r>
                <a:r>
                  <a:rPr lang="en-IN" sz="2400">
                    <a:solidFill>
                      <a:srgbClr val="78350F"/>
                    </a:solidFill>
                    <a:latin typeface="Cambria Math" panose="02040503050406030204" pitchFamily="18" charset="0"/>
                  </a:rPr>
                  <a:t>$P$</a:t>
                </a:r>
                <a:r>
                  <a:rPr sz="2400" b="0">
                    <a:solidFill>
                      <a:srgbClr val="78350F"/>
                    </a:solidFill>
                    <a:latin typeface="Arial"/>
                  </a:rPr>
                  <a:t> and </a:t>
                </a:r>
                <a:r>
                  <a:rPr lang="en-IN" sz="2400">
                    <a:solidFill>
                      <a:srgbClr val="78350F"/>
                    </a:solidFill>
                    <a:latin typeface="Cambria Math" panose="02040503050406030204" pitchFamily="18" charset="0"/>
                  </a:rPr>
                  <a:t>$A=\frac12|PA||PB|$</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Intercepts as before: tangent meets the axis at </a:t>
                </a:r>
                <a14:m>
                  <m:oMath xmlns:m="http://schemas.openxmlformats.org/officeDocument/2006/math">
                    <m:r>
                      <a:rPr lang="en-IN" sz="2400" i="1">
                        <a:solidFill>
                          <a:srgbClr val="111827"/>
                        </a:solidFill>
                        <a:latin typeface="Cambria Math" panose="02040503050406030204" pitchFamily="18" charset="0"/>
                      </a:rPr>
                      <m:t>𝐴</m:t>
                    </m:r>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e>
                    </m:d>
                  </m:oMath>
                </a14:m>
                <a:r>
                  <a:rPr sz="2400" b="0">
                    <a:solidFill>
                      <a:srgbClr val="111827"/>
                    </a:solidFill>
                    <a:latin typeface="Arial"/>
                  </a:rPr>
                  <a:t>, normal at </a:t>
                </a:r>
                <a14:m>
                  <m:oMath xmlns:m="http://schemas.openxmlformats.org/officeDocument/2006/math">
                    <m:r>
                      <a:rPr lang="en-IN" sz="2400" i="1">
                        <a:solidFill>
                          <a:srgbClr val="111827"/>
                        </a:solidFill>
                        <a:latin typeface="Cambria Math" panose="02040503050406030204" pitchFamily="18" charset="0"/>
                      </a:rPr>
                      <m:t>𝐵</m:t>
                    </m:r>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e>
                    </m:d>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2</m:t>
                            </m:r>
                          </m:sup>
                        </m:sSup>
                      </m:e>
                    </m:ra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85</m:t>
                            </m:r>
                          </m:e>
                        </m:rad>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27</m:t>
                                    </m:r>
                                  </m:num>
                                  <m:den>
                                    <m:r>
                                      <a:rPr lang="en-IN" sz="2400" i="1">
                                        <a:solidFill>
                                          <a:srgbClr val="111827"/>
                                        </a:solidFill>
                                        <a:latin typeface="Cambria Math" panose="02040503050406030204" pitchFamily="18" charset="0"/>
                                      </a:rPr>
                                      <m:t>2</m:t>
                                    </m:r>
                                  </m:den>
                                </m:f>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2</m:t>
                            </m:r>
                          </m:sup>
                        </m:sSup>
                      </m:e>
                    </m:ra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85</m:t>
                            </m:r>
                          </m:e>
                        </m:rad>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Intercepts as before: tangent meets the axis at </a:t>
                </a:r>
                <a:r>
                  <a:rPr lang="en-IN" sz="2400">
                    <a:solidFill>
                      <a:srgbClr val="111827"/>
                    </a:solidFill>
                    <a:latin typeface="Cambria Math" panose="02040503050406030204" pitchFamily="18" charset="0"/>
                  </a:rPr>
                  <a:t>$A\left(-\frac43,0\right)$</a:t>
                </a:r>
                <a:r>
                  <a:rPr sz="2400" b="0">
                    <a:solidFill>
                      <a:srgbClr val="111827"/>
                    </a:solidFill>
                    <a:latin typeface="Arial"/>
                  </a:rPr>
                  <a:t>, normal at </a:t>
                </a:r>
                <a:r>
                  <a:rPr lang="en-IN" sz="2400">
                    <a:solidFill>
                      <a:srgbClr val="111827"/>
                    </a:solidFill>
                    <a:latin typeface="Cambria Math" panose="02040503050406030204" pitchFamily="18" charset="0"/>
                  </a:rPr>
                  <a:t>$B\left(-\frac{31}{2},0\right)$</a:t>
                </a:r>
                <a:r>
                  <a:rPr sz="2400" b="0">
                    <a:solidFill>
                      <a:srgbClr val="111827"/>
                    </a:solidFill>
                    <a:latin typeface="Arial"/>
                  </a:rPr>
                  <a:t>, with </a:t>
                </a:r>
                <a:r>
                  <a:rPr lang="en-IN" sz="2400">
                    <a:solidFill>
                      <a:srgbClr val="111827"/>
                    </a:solidFill>
                    <a:latin typeface="Cambria Math" panose="02040503050406030204" pitchFamily="18" charset="0"/>
                  </a:rPr>
                  <a:t>$P(-2,3)$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$|PA|=\sqrt{\left(\frac23\right)^2+3^2}=\frac{\sqrt{85}}{3}$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$|PB|=\sqrt{\left(\frac{27}{2}\right)^2+3^2}=\frac{3\sqrt{85}}{2}$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Since tangent and normal are perpendicular,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90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𝐴</m:t>
                        </m:r>
                      </m:e>
                      <m:sub>
                        <m:r>
                          <m:rPr>
                            <m:sty m:val="p"/>
                          </m:rPr>
                          <a:rPr lang="en-IN" sz="2400">
                            <a:solidFill>
                              <a:srgbClr val="111827"/>
                            </a:solidFill>
                            <a:latin typeface="Cambria Math" panose="02040503050406030204" pitchFamily="18" charset="0"/>
                          </a:rPr>
                          <m:t>△</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85</m:t>
                            </m:r>
                          </m:e>
                        </m:rad>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85</m:t>
                            </m:r>
                          </m:e>
                        </m:rad>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85</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8</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Since tangent and normal are perpendicular, </a:t>
                </a:r>
                <a:r>
                  <a:rPr lang="en-IN" sz="2400">
                    <a:solidFill>
                      <a:srgbClr val="111827"/>
                    </a:solidFill>
                    <a:latin typeface="Cambria Math" panose="02040503050406030204" pitchFamily="18" charset="0"/>
                  </a:rPr>
                  <a:t>$\angle APB=90^\circ$</a:t>
                </a:r>
                <a:r>
                  <a:rPr sz="2400" b="0">
                    <a:solidFill>
                      <a:srgbClr val="111827"/>
                    </a:solidFill>
                    <a:latin typeface="Arial"/>
                  </a:rPr>
                  <a:t> and </a:t>
                </a:r>
                <a:r>
                  <a:rPr lang="en-IN" sz="2400">
                    <a:solidFill>
                      <a:srgbClr val="111827"/>
                    </a:solidFill>
                    <a:latin typeface="Cambria Math" panose="02040503050406030204" pitchFamily="18" charset="0"/>
                  </a:rPr>
                  <a:t>$A_{\triangle}=\frac12\cdot\frac{\sqrt{85}}{3}\cdot\frac{3\sqrt{85}}{2}=\frac{85}{4}$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$8A=170$</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170</a:t>
            </a:r>
            <a:endParaRPr sz="2800">
              <a:solidFill>
                <a:srgbClr val="15803D"/>
              </a:solidFill>
            </a:endParaRPr>
          </a:p>
        </p:txBody>
      </p:sp>
    </p:spTree>
  </p:cSld>
  <p:clrMapOvr>
    <a:masterClrMapping/>
  </p:clrMapOvr>
</p:sld>
</file>

<file path=ppt/slides/slide2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𝐹</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slope of tangent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𝐹</m:t>
                        </m:r>
                      </m:e>
                      <m:sub>
                        <m:r>
                          <a:rPr lang="en-IN" sz="2400" i="1">
                            <a:solidFill>
                              <a:srgbClr val="111827"/>
                            </a:solidFill>
                            <a:latin typeface="Cambria Math" panose="02040503050406030204" pitchFamily="18" charset="0"/>
                          </a:rPr>
                          <m:t>𝑥</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𝐹</m:t>
                        </m:r>
                      </m:e>
                      <m:sub>
                        <m:r>
                          <a:rPr lang="en-IN" sz="2400" i="1">
                            <a:solidFill>
                              <a:srgbClr val="111827"/>
                            </a:solidFill>
                            <a:latin typeface="Cambria Math" panose="02040503050406030204" pitchFamily="18" charset="0"/>
                          </a:rPr>
                          <m:t>𝑦</m:t>
                        </m:r>
                      </m:sub>
                    </m:sSub>
                  </m:oMath>
                </a14:m>
                <a:r>
                  <a:rPr sz="2400" b="0">
                    <a:solidFill>
                      <a:srgbClr val="111827"/>
                    </a:solidFill>
                    <a:latin typeface="Arial"/>
                  </a:rPr>
                  <a:t>; the normal has slope </a:t>
                </a:r>
                <a14:m>
                  <m:oMath xmlns:m="http://schemas.openxmlformats.org/officeDocument/2006/math">
                    <m:sSub>
                      <m:e>
                        <m:r>
                          <a:rPr lang="en-IN" sz="2400" i="1">
                            <a:solidFill>
                              <a:srgbClr val="111827"/>
                            </a:solidFill>
                            <a:latin typeface="Cambria Math" panose="02040503050406030204" pitchFamily="18" charset="0"/>
                          </a:rPr>
                          <m:t>𝐹</m:t>
                        </m:r>
                      </m:e>
                      <m:sub>
                        <m:r>
                          <a:rPr lang="en-IN" sz="2400" i="1">
                            <a:solidFill>
                              <a:srgbClr val="111827"/>
                            </a:solidFill>
                            <a:latin typeface="Cambria Math" panose="02040503050406030204" pitchFamily="18" charset="0"/>
                          </a:rPr>
                          <m:t>𝑦</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𝐹</m:t>
                        </m:r>
                      </m:e>
                      <m:sub>
                        <m:r>
                          <a:rPr lang="en-IN" sz="2400" i="1">
                            <a:solidFill>
                              <a:srgbClr val="111827"/>
                            </a:solidFill>
                            <a:latin typeface="Cambria Math" panose="02040503050406030204" pitchFamily="18" charset="0"/>
                          </a:rPr>
                          <m:t>𝑥</m:t>
                        </m:r>
                      </m:sub>
                    </m:sSub>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Subtangent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oMath>
                </a14:m>
                <a:r>
                  <a:rPr sz="2400" b="0">
                    <a:solidFill>
                      <a:srgbClr val="111827"/>
                    </a:solidFill>
                    <a:latin typeface="Arial"/>
                  </a:rPr>
                  <a:t> and subnormal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a:rPr lang="en-IN" sz="2400" i="1">
                        <a:solidFill>
                          <a:srgbClr val="111827"/>
                        </a:solidFill>
                        <a:latin typeface="Cambria Math" panose="02040503050406030204" pitchFamily="18" charset="0"/>
                      </a:rPr>
                      <m:t>𝑚</m:t>
                    </m:r>
                  </m:oMath>
                </a14:m>
                <a:r>
                  <a:rPr sz="2400" b="0">
                    <a:solidFill>
                      <a:srgbClr val="111827"/>
                    </a:solidFill>
                    <a:latin typeface="Arial"/>
                  </a:rPr>
                  <a:t> (as signed lengths on the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-axis), so the base of the tangent-normal-axis triangle is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its area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𝑚</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Here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9</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85</m:t>
                        </m:r>
                      </m:num>
                      <m:den>
                        <m:r>
                          <a:rPr lang="en-IN" sz="2400" i="1">
                            <a:solidFill>
                              <a:srgbClr val="111827"/>
                            </a:solidFill>
                            <a:latin typeface="Cambria Math" panose="02040503050406030204" pitchFamily="18" charset="0"/>
                          </a:rPr>
                          <m:t>18</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85</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Always substitute the point into the curve first to confirm it lies on the curve.</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$F(x,y)=0$</a:t>
                </a:r>
                <a:r>
                  <a:rPr sz="2400" b="0">
                    <a:solidFill>
                      <a:srgbClr val="111827"/>
                    </a:solidFill>
                    <a:latin typeface="Arial"/>
                  </a:rPr>
                  <a:t>: slope of tangent </a:t>
                </a:r>
                <a:r>
                  <a:rPr lang="en-IN" sz="2400">
                    <a:solidFill>
                      <a:srgbClr val="111827"/>
                    </a:solidFill>
                    <a:latin typeface="Cambria Math" panose="02040503050406030204" pitchFamily="18" charset="0"/>
                  </a:rPr>
                  <a:t>$=-F_x/F_y$</a:t>
                </a:r>
                <a:r>
                  <a:rPr sz="2400" b="0">
                    <a:solidFill>
                      <a:srgbClr val="111827"/>
                    </a:solidFill>
                    <a:latin typeface="Arial"/>
                  </a:rPr>
                  <a:t>; the normal has slope </a:t>
                </a:r>
                <a:r>
                  <a:rPr lang="en-IN" sz="2400">
                    <a:solidFill>
                      <a:srgbClr val="111827"/>
                    </a:solidFill>
                    <a:latin typeface="Cambria Math" panose="02040503050406030204" pitchFamily="18" charset="0"/>
                  </a:rPr>
                  <a:t>$F_y/F_x$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Subtangent </a:t>
                </a:r>
                <a:r>
                  <a:rPr lang="en-IN" sz="2400">
                    <a:solidFill>
                      <a:srgbClr val="111827"/>
                    </a:solidFill>
                    <a:latin typeface="Cambria Math" panose="02040503050406030204" pitchFamily="18" charset="0"/>
                  </a:rPr>
                  <a:t>$=y/m$</a:t>
                </a:r>
                <a:r>
                  <a:rPr sz="2400" b="0">
                    <a:solidFill>
                      <a:srgbClr val="111827"/>
                    </a:solidFill>
                    <a:latin typeface="Arial"/>
                  </a:rPr>
                  <a:t> and subnormal </a:t>
                </a:r>
                <a:r>
                  <a:rPr lang="en-IN" sz="2400">
                    <a:solidFill>
                      <a:srgbClr val="111827"/>
                    </a:solidFill>
                    <a:latin typeface="Cambria Math" panose="02040503050406030204" pitchFamily="18" charset="0"/>
                  </a:rPr>
                  <a:t>$=ym$</a:t>
                </a:r>
                <a:r>
                  <a:rPr sz="2400" b="0">
                    <a:solidFill>
                      <a:srgbClr val="111827"/>
                    </a:solidFill>
                    <a:latin typeface="Arial"/>
                  </a:rPr>
                  <a:t> (as signed lengths on the </a:t>
                </a:r>
                <a:r>
                  <a:rPr lang="en-IN" sz="2400">
                    <a:solidFill>
                      <a:srgbClr val="111827"/>
                    </a:solidFill>
                    <a:latin typeface="Cambria Math" panose="02040503050406030204" pitchFamily="18" charset="0"/>
                  </a:rPr>
                  <a:t>$x$</a:t>
                </a:r>
                <a:r>
                  <a:rPr sz="2400" b="0">
                    <a:solidFill>
                      <a:srgbClr val="111827"/>
                    </a:solidFill>
                    <a:latin typeface="Arial"/>
                  </a:rPr>
                  <a:t>-axis), so the base of the tangent-normal-axis triangle is </a:t>
                </a:r>
                <a:r>
                  <a:rPr lang="en-IN" sz="2400">
                    <a:solidFill>
                      <a:srgbClr val="111827"/>
                    </a:solidFill>
                    <a:latin typeface="Cambria Math" panose="02040503050406030204" pitchFamily="18" charset="0"/>
                  </a:rPr>
                  <a:t>$|y/m+ym|$</a:t>
                </a:r>
                <a:r>
                  <a:rPr sz="2400" b="0">
                    <a:solidFill>
                      <a:srgbClr val="111827"/>
                    </a:solidFill>
                    <a:latin typeface="Arial"/>
                  </a:rPr>
                  <a:t> and its area is </a:t>
                </a:r>
                <a:r>
                  <a:rPr lang="en-IN" sz="2400">
                    <a:solidFill>
                      <a:srgbClr val="111827"/>
                    </a:solidFill>
                    <a:latin typeface="Cambria Math" panose="02040503050406030204" pitchFamily="18" charset="0"/>
                  </a:rPr>
                  <a:t>$\frac12y^2\left|\frac1m+m\right|$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Here </a:t>
                </a:r>
                <a:r>
                  <a:rPr lang="en-IN" sz="2400">
                    <a:solidFill>
                      <a:srgbClr val="111827"/>
                    </a:solidFill>
                    <a:latin typeface="Cambria Math" panose="02040503050406030204" pitchFamily="18" charset="0"/>
                  </a:rPr>
                  <a:t>$\frac12\cdot9\cdot\left|-\frac29-\frac92\right|=\frac12\cdot9\cdot\frac{85}{18}=\frac{85}{4}$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Always substitute the point into the curve first to confirm it lies on the curve.</a:t>
                </a:r>
                <a:endParaRPr sz="2400">
                  <a:solidFill>
                    <a:srgbClr val="111827"/>
                  </a:solidFill>
                </a:endParaRPr>
              </a:p>
            </p:txBody>
          </p:sp>
        </mc:Fallback>
      </mc:AlternateContent>
    </p:spTree>
  </p:cSld>
  <p:clrMapOvr>
    <a:masterClrMapping/>
  </p:clrMapOvr>
</p:sld>
</file>

<file path=ppt/slides/slide2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𝑀</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𝑁</m:t>
                    </m:r>
                  </m:oMath>
                </a14:m>
                <a:r>
                  <a:rPr sz="2400" b="0">
                    <a:solidFill>
                      <a:srgbClr val="111827"/>
                    </a:solidFill>
                    <a:latin typeface="Arial"/>
                  </a:rPr>
                  <a:t> be the number of points on the curve </a:t>
                </a:r>
                <a14:m>
                  <m:oMath xmlns:m="http://schemas.openxmlformats.org/officeDocument/2006/math">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5</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where the tangents to the curve are parallel to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-axis and </a:t>
                </a:r>
                <a14:m>
                  <m:oMath xmlns:m="http://schemas.openxmlformats.org/officeDocument/2006/math">
                    <m:r>
                      <a:rPr lang="en-IN" sz="2400" i="1">
                        <a:solidFill>
                          <a:srgbClr val="111827"/>
                        </a:solidFill>
                        <a:latin typeface="Cambria Math" panose="02040503050406030204" pitchFamily="18" charset="0"/>
                      </a:rPr>
                      <m:t>𝑦</m:t>
                    </m:r>
                  </m:oMath>
                </a14:m>
                <a:r>
                  <a:rPr sz="2400" b="0">
                    <a:solidFill>
                      <a:srgbClr val="111827"/>
                    </a:solidFill>
                    <a:latin typeface="Arial"/>
                  </a:rPr>
                  <a:t>-axis, respectively. Then the value of </a:t>
                </a:r>
                <a14:m>
                  <m:oMath xmlns:m="http://schemas.openxmlformats.org/officeDocument/2006/math">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𝑁</m:t>
                    </m:r>
                  </m:oMath>
                </a14:m>
                <a:r>
                  <a:rPr sz="2400" b="0">
                    <a:solidFill>
                      <a:srgbClr val="111827"/>
                    </a:solidFill>
                    <a:latin typeface="Arial"/>
                  </a:rPr>
                  <a:t> equals ______.</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$M$</a:t>
                </a:r>
                <a:r>
                  <a:rPr sz="2400" b="0">
                    <a:solidFill>
                      <a:srgbClr val="111827"/>
                    </a:solidFill>
                    <a:latin typeface="Arial"/>
                  </a:rPr>
                  <a:t> and </a:t>
                </a:r>
                <a:r>
                  <a:rPr lang="en-IN" sz="2400">
                    <a:solidFill>
                      <a:srgbClr val="111827"/>
                    </a:solidFill>
                    <a:latin typeface="Cambria Math" panose="02040503050406030204" pitchFamily="18" charset="0"/>
                  </a:rPr>
                  <a:t>$N$</a:t>
                </a:r>
                <a:r>
                  <a:rPr sz="2400" b="0">
                    <a:solidFill>
                      <a:srgbClr val="111827"/>
                    </a:solidFill>
                    <a:latin typeface="Arial"/>
                  </a:rPr>
                  <a:t> be the number of points on the curve </a:t>
                </a:r>
                <a:r>
                  <a:rPr lang="en-IN" sz="2400">
                    <a:solidFill>
                      <a:srgbClr val="111827"/>
                    </a:solidFill>
                    <a:latin typeface="Cambria Math" panose="02040503050406030204" pitchFamily="18" charset="0"/>
                  </a:rPr>
                  <a:t>$y^5-9xy+2x=0$</a:t>
                </a:r>
                <a:r>
                  <a:rPr sz="2400" b="0">
                    <a:solidFill>
                      <a:srgbClr val="111827"/>
                    </a:solidFill>
                    <a:latin typeface="Arial"/>
                  </a:rPr>
                  <a:t>, where the tangents to the curve are parallel to </a:t>
                </a:r>
                <a:r>
                  <a:rPr lang="en-IN" sz="2400">
                    <a:solidFill>
                      <a:srgbClr val="111827"/>
                    </a:solidFill>
                    <a:latin typeface="Cambria Math" panose="02040503050406030204" pitchFamily="18" charset="0"/>
                  </a:rPr>
                  <a:t>$x$</a:t>
                </a:r>
                <a:r>
                  <a:rPr sz="2400" b="0">
                    <a:solidFill>
                      <a:srgbClr val="111827"/>
                    </a:solidFill>
                    <a:latin typeface="Arial"/>
                  </a:rPr>
                  <a:t>-axis and </a:t>
                </a:r>
                <a:r>
                  <a:rPr lang="en-IN" sz="2400">
                    <a:solidFill>
                      <a:srgbClr val="111827"/>
                    </a:solidFill>
                    <a:latin typeface="Cambria Math" panose="02040503050406030204" pitchFamily="18" charset="0"/>
                  </a:rPr>
                  <a:t>$y$</a:t>
                </a:r>
                <a:r>
                  <a:rPr sz="2400" b="0">
                    <a:solidFill>
                      <a:srgbClr val="111827"/>
                    </a:solidFill>
                    <a:latin typeface="Arial"/>
                  </a:rPr>
                  <a:t>-axis, respectively. Then the value of </a:t>
                </a:r>
                <a:r>
                  <a:rPr lang="en-IN" sz="2400">
                    <a:solidFill>
                      <a:srgbClr val="111827"/>
                    </a:solidFill>
                    <a:latin typeface="Cambria Math" panose="02040503050406030204" pitchFamily="18" charset="0"/>
                  </a:rPr>
                  <a:t>$M+N$</a:t>
                </a:r>
                <a:r>
                  <a:rPr sz="2400" b="0">
                    <a:solidFill>
                      <a:srgbClr val="111827"/>
                    </a:solidFill>
                    <a:latin typeface="Arial"/>
                  </a:rPr>
                  <a:t> equals ______.</a:t>
                </a:r>
                <a:endParaRPr sz="2400">
                  <a:solidFill>
                    <a:srgbClr val="111827"/>
                  </a:solidFill>
                </a:endParaRPr>
              </a:p>
            </p:txBody>
          </p:sp>
        </mc:Fallback>
      </mc:AlternateContent>
      <p:sp>
        <p:nvSpPr>
          <p:cNvPr id="5" name="Rectangle 4"/>
          <p:cNvSpPr/>
          <p:nvPr/>
        </p:nvSpPr>
        <p:spPr>
          <a:xfrm>
            <a:off x="731520" y="324612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Tangents to a curve parallel to the axes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2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00784"/>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Horizontal tangent needs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𝑑</m:t>
                        </m:r>
                        <m:r>
                          <a:rPr lang="en-IN" sz="2400" i="1">
                            <a:solidFill>
                              <a:srgbClr val="78350F"/>
                            </a:solidFill>
                            <a:latin typeface="Cambria Math" panose="02040503050406030204" pitchFamily="18" charset="0"/>
                          </a:rPr>
                          <m:t>𝑦</m:t>
                        </m:r>
                      </m:num>
                      <m:den>
                        <m:r>
                          <a:rPr lang="en-IN" sz="2400" i="1">
                            <a:solidFill>
                              <a:srgbClr val="78350F"/>
                            </a:solidFill>
                            <a:latin typeface="Cambria Math" panose="02040503050406030204" pitchFamily="18" charset="0"/>
                          </a:rPr>
                          <m:t>𝑑</m:t>
                        </m:r>
                        <m:r>
                          <a:rPr lang="en-IN" sz="2400" i="1">
                            <a:solidFill>
                              <a:srgbClr val="78350F"/>
                            </a:solidFill>
                            <a:latin typeface="Cambria Math" panose="02040503050406030204" pitchFamily="18" charset="0"/>
                          </a:rPr>
                          <m:t>𝑥</m:t>
                        </m:r>
                      </m:den>
                    </m:f>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oMath>
                </a14:m>
                <a:r>
                  <a:rPr sz="2400" b="0">
                    <a:solidFill>
                      <a:srgbClr val="78350F"/>
                    </a:solidFill>
                    <a:latin typeface="Arial"/>
                  </a:rPr>
                  <a:t> but the resulting </a:t>
                </a:r>
                <a14:m>
                  <m:oMath xmlns:m="http://schemas.openxmlformats.org/officeDocument/2006/math">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2</m:t>
                        </m:r>
                      </m:num>
                      <m:den>
                        <m:r>
                          <a:rPr lang="en-IN" sz="2400" i="1">
                            <a:solidFill>
                              <a:srgbClr val="78350F"/>
                            </a:solidFill>
                            <a:latin typeface="Cambria Math" panose="02040503050406030204" pitchFamily="18" charset="0"/>
                          </a:rPr>
                          <m:t>9</m:t>
                        </m:r>
                      </m:den>
                    </m:f>
                  </m:oMath>
                </a14:m>
                <a:r>
                  <a:rPr sz="2400" b="0">
                    <a:solidFill>
                      <a:srgbClr val="78350F"/>
                    </a:solidFill>
                    <a:latin typeface="Arial"/>
                  </a:rPr>
                  <a:t> is not on the curve; vertical tangent needs the denominator </a:t>
                </a:r>
                <a14:m>
                  <m:oMath xmlns:m="http://schemas.openxmlformats.org/officeDocument/2006/math">
                    <m:r>
                      <a:rPr lang="en-IN" sz="2400" i="1">
                        <a:solidFill>
                          <a:srgbClr val="78350F"/>
                        </a:solidFill>
                        <a:latin typeface="Cambria Math" panose="02040503050406030204" pitchFamily="18" charset="0"/>
                      </a:rPr>
                      <m:t>5</m:t>
                    </m:r>
                    <m:sSup>
                      <m:e>
                        <m:r>
                          <a:rPr lang="en-IN" sz="2400" i="1">
                            <a:solidFill>
                              <a:srgbClr val="78350F"/>
                            </a:solidFill>
                            <a:latin typeface="Cambria Math" panose="02040503050406030204" pitchFamily="18" charset="0"/>
                          </a:rPr>
                          <m:t>𝑦</m:t>
                        </m:r>
                      </m:e>
                      <m:sup>
                        <m:r>
                          <a:rPr lang="en-IN" sz="2400" i="1">
                            <a:solidFill>
                              <a:srgbClr val="78350F"/>
                            </a:solidFill>
                            <a:latin typeface="Cambria Math" panose="02040503050406030204" pitchFamily="18" charset="0"/>
                          </a:rPr>
                          <m:t>4</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9</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700784"/>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Horizontal tangent needs </a:t>
                </a:r>
                <a:r>
                  <a:rPr lang="en-IN" sz="2400">
                    <a:solidFill>
                      <a:srgbClr val="78350F"/>
                    </a:solidFill>
                    <a:latin typeface="Cambria Math" panose="02040503050406030204" pitchFamily="18" charset="0"/>
                  </a:rPr>
                  <a:t>$\frac{dy}{dx}=0$</a:t>
                </a:r>
                <a:r>
                  <a:rPr sz="2400" b="0">
                    <a:solidFill>
                      <a:srgbClr val="78350F"/>
                    </a:solidFill>
                    <a:latin typeface="Arial"/>
                  </a:rPr>
                  <a:t> but the resulting </a:t>
                </a:r>
                <a:r>
                  <a:rPr lang="en-IN" sz="2400">
                    <a:solidFill>
                      <a:srgbClr val="78350F"/>
                    </a:solidFill>
                    <a:latin typeface="Cambria Math" panose="02040503050406030204" pitchFamily="18" charset="0"/>
                  </a:rPr>
                  <a:t>$y=\frac29$</a:t>
                </a:r>
                <a:r>
                  <a:rPr sz="2400" b="0">
                    <a:solidFill>
                      <a:srgbClr val="78350F"/>
                    </a:solidFill>
                    <a:latin typeface="Arial"/>
                  </a:rPr>
                  <a:t> is not on the curve; vertical tangent needs the denominator </a:t>
                </a:r>
                <a:r>
                  <a:rPr lang="en-IN" sz="2400">
                    <a:solidFill>
                      <a:srgbClr val="78350F"/>
                    </a:solidFill>
                    <a:latin typeface="Cambria Math" panose="02040503050406030204" pitchFamily="18" charset="0"/>
                  </a:rPr>
                  <a:t>$5y^4-9x=0$</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3118103"/>
                <a:ext cx="10725912" cy="35570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Differentiate: </a:t>
                </a:r>
                <a14:m>
                  <m:oMath xmlns:m="http://schemas.openxmlformats.org/officeDocument/2006/math">
                    <m:r>
                      <a:rPr lang="en-IN" sz="2400" i="1">
                        <a:solidFill>
                          <a:srgbClr val="111827"/>
                        </a:solidFill>
                        <a:latin typeface="Cambria Math" panose="02040503050406030204" pitchFamily="18" charset="0"/>
                      </a:rPr>
                      <m:t>5</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4</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𝑥</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5</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𝑥</m:t>
                        </m:r>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so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5</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𝑥</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Horizontal tangent: </a:t>
                </a:r>
                <a14:m>
                  <m:oMath xmlns:m="http://schemas.openxmlformats.org/officeDocument/2006/math">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9</m:t>
                        </m:r>
                      </m:den>
                    </m:f>
                  </m:oMath>
                </a14:m>
                <a:r>
                  <a:rPr sz="2400" b="0">
                    <a:solidFill>
                      <a:srgbClr val="111827"/>
                    </a:solidFill>
                    <a:latin typeface="Arial"/>
                  </a:rPr>
                  <a:t>. Put in the curve: </a:t>
                </a:r>
                <a14:m>
                  <m:oMath xmlns:m="http://schemas.openxmlformats.org/officeDocument/2006/math">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5</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5</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impossible for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9</m:t>
                        </m:r>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Vertical tangent: </a:t>
                </a:r>
                <a14:m>
                  <m:oMath xmlns:m="http://schemas.openxmlformats.org/officeDocument/2006/math">
                    <m:r>
                      <a:rPr lang="en-IN" sz="2400" i="1">
                        <a:solidFill>
                          <a:srgbClr val="111827"/>
                        </a:solidFill>
                        <a:latin typeface="Cambria Math" panose="02040503050406030204" pitchFamily="18" charset="0"/>
                      </a:rPr>
                      <m:t>5</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4</m:t>
                            </m:r>
                          </m:sup>
                        </m:sSup>
                      </m:num>
                      <m:den>
                        <m:r>
                          <a:rPr lang="en-IN" sz="2400" i="1">
                            <a:solidFill>
                              <a:srgbClr val="111827"/>
                            </a:solidFill>
                            <a:latin typeface="Cambria Math" panose="02040503050406030204" pitchFamily="18" charset="0"/>
                          </a:rPr>
                          <m:t>9</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3118103"/>
                <a:ext cx="10725912" cy="35570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Differentiate: </a:t>
                </a:r>
                <a:r>
                  <a:rPr lang="en-IN" sz="2400">
                    <a:solidFill>
                      <a:srgbClr val="111827"/>
                    </a:solidFill>
                    <a:latin typeface="Cambria Math" panose="02040503050406030204" pitchFamily="18" charset="0"/>
                  </a:rPr>
                  <a:t>$5y^4\frac{dy}{dx}-9x\frac{dy}{dx}-9y+2=0$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$\frac{dy}{dx}\left(5y^4-9x\right)=9y-2$</a:t>
                </a:r>
                <a:r>
                  <a:rPr sz="2400" b="0">
                    <a:solidFill>
                      <a:srgbClr val="111827"/>
                    </a:solidFill>
                    <a:latin typeface="Arial"/>
                  </a:rPr>
                  <a:t>, so </a:t>
                </a:r>
                <a:r>
                  <a:rPr lang="en-IN" sz="2400">
                    <a:solidFill>
                      <a:srgbClr val="111827"/>
                    </a:solidFill>
                    <a:latin typeface="Cambria Math" panose="02040503050406030204" pitchFamily="18" charset="0"/>
                  </a:rPr>
                  <a:t>$\frac{dy}{dx}=\frac{9y-2}{5y^4-9x}$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Horizontal tangent: </a:t>
                </a:r>
                <a:r>
                  <a:rPr lang="en-IN" sz="2400">
                    <a:solidFill>
                      <a:srgbClr val="111827"/>
                    </a:solidFill>
                    <a:latin typeface="Cambria Math" panose="02040503050406030204" pitchFamily="18" charset="0"/>
                  </a:rPr>
                  <a:t>$9y-2=0\Rightarrow y=\frac29$</a:t>
                </a:r>
                <a:r>
                  <a:rPr sz="2400" b="0">
                    <a:solidFill>
                      <a:srgbClr val="111827"/>
                    </a:solidFill>
                    <a:latin typeface="Arial"/>
                  </a:rPr>
                  <a:t>. Put in the curve: </a:t>
                </a:r>
                <a:r>
                  <a:rPr lang="en-IN" sz="2400">
                    <a:solidFill>
                      <a:srgbClr val="111827"/>
                    </a:solidFill>
                    <a:latin typeface="Cambria Math" panose="02040503050406030204" pitchFamily="18" charset="0"/>
                  </a:rPr>
                  <a:t>$y^5-x(9y-2)=y^5=0$</a:t>
                </a:r>
                <a:r>
                  <a:rPr sz="2400" b="0">
                    <a:solidFill>
                      <a:srgbClr val="111827"/>
                    </a:solidFill>
                    <a:latin typeface="Arial"/>
                  </a:rPr>
                  <a:t>, impossible for </a:t>
                </a:r>
                <a:r>
                  <a:rPr lang="en-IN" sz="2400">
                    <a:solidFill>
                      <a:srgbClr val="111827"/>
                    </a:solidFill>
                    <a:latin typeface="Cambria Math" panose="02040503050406030204" pitchFamily="18" charset="0"/>
                  </a:rPr>
                  <a:t>$y=\frac29$</a:t>
                </a:r>
                <a:r>
                  <a:rPr sz="2400" b="0">
                    <a:solidFill>
                      <a:srgbClr val="111827"/>
                    </a:solidFill>
                    <a:latin typeface="Arial"/>
                  </a:rPr>
                  <a:t>. So </a:t>
                </a:r>
                <a:r>
                  <a:rPr lang="en-IN" sz="2400">
                    <a:solidFill>
                      <a:srgbClr val="111827"/>
                    </a:solidFill>
                    <a:latin typeface="Cambria Math" panose="02040503050406030204" pitchFamily="18" charset="0"/>
                  </a:rPr>
                  <a:t>$M=0$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Vertical tangent: </a:t>
                </a:r>
                <a:r>
                  <a:rPr lang="en-IN" sz="2400">
                    <a:solidFill>
                      <a:srgbClr val="111827"/>
                    </a:solidFill>
                    <a:latin typeface="Cambria Math" panose="02040503050406030204" pitchFamily="18" charset="0"/>
                  </a:rPr>
                  <a:t>$5y^4-9x=0$</a:t>
                </a:r>
                <a:r>
                  <a:rPr sz="2400" b="0">
                    <a:solidFill>
                      <a:srgbClr val="111827"/>
                    </a:solidFill>
                    <a:latin typeface="Arial"/>
                  </a:rPr>
                  <a:t>, i.e. </a:t>
                </a:r>
                <a:r>
                  <a:rPr lang="en-IN" sz="2400">
                    <a:solidFill>
                      <a:srgbClr val="111827"/>
                    </a:solidFill>
                    <a:latin typeface="Cambria Math" panose="02040503050406030204" pitchFamily="18" charset="0"/>
                  </a:rPr>
                  <a:t>$x=\frac{5y^4}{9}$</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Substitute in the curve: </a:t>
                </a:r>
                <a14:m>
                  <m:oMath xmlns:m="http://schemas.openxmlformats.org/officeDocument/2006/math">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5</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4</m:t>
                            </m:r>
                          </m:sup>
                        </m:sSup>
                      </m:num>
                      <m:den>
                        <m:r>
                          <a:rPr lang="en-IN" sz="2400" i="1">
                            <a:solidFill>
                              <a:srgbClr val="111827"/>
                            </a:solidFill>
                            <a:latin typeface="Cambria Math" panose="02040503050406030204" pitchFamily="18" charset="0"/>
                          </a:rPr>
                          <m:t>9</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4</m:t>
                            </m:r>
                          </m:sup>
                        </m:sSup>
                      </m:num>
                      <m:den>
                        <m:r>
                          <a:rPr lang="en-IN" sz="2400" i="1">
                            <a:solidFill>
                              <a:srgbClr val="111827"/>
                            </a:solidFill>
                            <a:latin typeface="Cambria Math" panose="02040503050406030204" pitchFamily="18" charset="0"/>
                          </a:rPr>
                          <m:t>9</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5</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5</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4</m:t>
                            </m:r>
                          </m:sup>
                        </m:sSup>
                      </m:num>
                      <m:den>
                        <m:r>
                          <a:rPr lang="en-IN" sz="2400" i="1">
                            <a:solidFill>
                              <a:srgbClr val="111827"/>
                            </a:solidFill>
                            <a:latin typeface="Cambria Math" panose="02040503050406030204" pitchFamily="18" charset="0"/>
                          </a:rPr>
                          <m:t>9</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5</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4</m:t>
                            </m:r>
                          </m:sup>
                        </m:sSup>
                      </m:num>
                      <m:den>
                        <m:r>
                          <a:rPr lang="en-IN" sz="2400" i="1">
                            <a:solidFill>
                              <a:srgbClr val="111827"/>
                            </a:solidFill>
                            <a:latin typeface="Cambria Math" panose="02040503050406030204" pitchFamily="18" charset="0"/>
                          </a:rPr>
                          <m:t>9</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4</m:t>
                        </m:r>
                      </m:sup>
                    </m:sSup>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36</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18</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point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18</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4</m:t>
                            </m:r>
                          </m:sup>
                        </m:sSup>
                      </m:num>
                      <m:den>
                        <m:r>
                          <a:rPr lang="en-IN" sz="2400" i="1">
                            <a:solidFill>
                              <a:srgbClr val="111827"/>
                            </a:solidFill>
                            <a:latin typeface="Cambria Math" panose="02040503050406030204" pitchFamily="18" charset="0"/>
                          </a:rPr>
                          <m:t>9</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5</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 second point.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At both points the numerator </a:t>
                </a:r>
                <a14:m>
                  <m:oMath xmlns:m="http://schemas.openxmlformats.org/officeDocument/2006/math">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the tangent is truly vertical. Hence </a:t>
                </a:r>
                <a14:m>
                  <m:oMath xmlns:m="http://schemas.openxmlformats.org/officeDocument/2006/math">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Substitute in the curve: </a:t>
                </a:r>
                <a:r>
                  <a:rPr lang="en-IN" sz="2400">
                    <a:solidFill>
                      <a:srgbClr val="111827"/>
                    </a:solidFill>
                    <a:latin typeface="Cambria Math" panose="02040503050406030204" pitchFamily="18" charset="0"/>
                  </a:rPr>
                  <a:t>$y^5-9y\cdot\frac{5y^4}{9}+2\cdot\frac{5y^4}{9}=0\Rightarrow y^5-5y^5+\frac{10y^4}{9}=0$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$-4y^5+\frac{10y^4}{9}=0\Rightarrow y^4\left(36y-10\right)=0\Rightarrow y=0$</a:t>
                </a:r>
                <a:r>
                  <a:rPr sz="2400" b="0">
                    <a:solidFill>
                      <a:srgbClr val="111827"/>
                    </a:solidFill>
                    <a:latin typeface="Arial"/>
                  </a:rPr>
                  <a:t> or </a:t>
                </a:r>
                <a:r>
                  <a:rPr lang="en-IN" sz="2400">
                    <a:solidFill>
                      <a:srgbClr val="111827"/>
                    </a:solidFill>
                    <a:latin typeface="Cambria Math" panose="02040503050406030204" pitchFamily="18" charset="0"/>
                  </a:rPr>
                  <a:t>$y=\frac{5}{18}$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$y=0\Rightarrow x=0$</a:t>
                </a:r>
                <a:r>
                  <a:rPr sz="2400" b="0">
                    <a:solidFill>
                      <a:srgbClr val="111827"/>
                    </a:solidFill>
                    <a:latin typeface="Arial"/>
                  </a:rPr>
                  <a:t>: point </a:t>
                </a:r>
                <a:r>
                  <a:rPr lang="en-IN" sz="2400">
                    <a:solidFill>
                      <a:srgbClr val="111827"/>
                    </a:solidFill>
                    <a:latin typeface="Cambria Math" panose="02040503050406030204" pitchFamily="18" charset="0"/>
                  </a:rPr>
                  <a:t>$(0,0)$</a:t>
                </a:r>
                <a:r>
                  <a:rPr sz="2400" b="0">
                    <a:solidFill>
                      <a:srgbClr val="111827"/>
                    </a:solidFill>
                    <a:latin typeface="Arial"/>
                  </a:rPr>
                  <a:t>. </a:t>
                </a:r>
                <a:r>
                  <a:rPr lang="en-IN" sz="2400">
                    <a:solidFill>
                      <a:srgbClr val="111827"/>
                    </a:solidFill>
                    <a:latin typeface="Cambria Math" panose="02040503050406030204" pitchFamily="18" charset="0"/>
                  </a:rPr>
                  <a:t>$y=\frac5{18}\Rightarrow x=\frac{5y^4}{9}=2y^5\ne0$</a:t>
                </a:r>
                <a:r>
                  <a:rPr sz="2400" b="0">
                    <a:solidFill>
                      <a:srgbClr val="111827"/>
                    </a:solidFill>
                    <a:latin typeface="Arial"/>
                  </a:rPr>
                  <a:t>: a second point.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At both points the numerator </a:t>
                </a:r>
                <a:r>
                  <a:rPr lang="en-IN" sz="2400">
                    <a:solidFill>
                      <a:srgbClr val="111827"/>
                    </a:solidFill>
                    <a:latin typeface="Cambria Math" panose="02040503050406030204" pitchFamily="18" charset="0"/>
                  </a:rPr>
                  <a:t>$9y-2\neq0$</a:t>
                </a:r>
                <a:r>
                  <a:rPr sz="2400" b="0">
                    <a:solidFill>
                      <a:srgbClr val="111827"/>
                    </a:solidFill>
                    <a:latin typeface="Arial"/>
                  </a:rPr>
                  <a:t>, so the tangent is truly vertical. Hence </a:t>
                </a:r>
                <a:r>
                  <a:rPr lang="en-IN" sz="2400">
                    <a:solidFill>
                      <a:srgbClr val="111827"/>
                    </a:solidFill>
                    <a:latin typeface="Cambria Math" panose="02040503050406030204" pitchFamily="18" charset="0"/>
                  </a:rPr>
                  <a:t>$N=2$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$M+N=0+2=2$</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2</a:t>
            </a:r>
            <a:endParaRPr sz="2800">
              <a:solidFill>
                <a:srgbClr val="15803D"/>
              </a:solidFill>
            </a:endParaRPr>
          </a:p>
        </p:txBody>
      </p:sp>
    </p:spTree>
  </p:cSld>
  <p:clrMapOvr>
    <a:masterClrMapping/>
  </p:clrMapOvr>
</p:sld>
</file>

<file path=ppt/slides/slide2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Write </a:t>
                </a:r>
                <a14:m>
                  <m:oMath xmlns:m="http://schemas.openxmlformats.org/officeDocument/2006/math">
                    <m:r>
                      <a:rPr lang="en-IN" sz="2400" i="1">
                        <a:solidFill>
                          <a:srgbClr val="78350F"/>
                        </a:solidFill>
                        <a:latin typeface="Cambria Math" panose="02040503050406030204" pitchFamily="18" charset="0"/>
                      </a:rPr>
                      <m:t>𝑥</m:t>
                    </m:r>
                  </m:oMath>
                </a14:m>
                <a:r>
                  <a:rPr sz="2400" b="0">
                    <a:solidFill>
                      <a:srgbClr val="78350F"/>
                    </a:solidFill>
                    <a:latin typeface="Arial"/>
                  </a:rPr>
                  <a:t> as a function of </a:t>
                </a:r>
                <a14:m>
                  <m:oMath xmlns:m="http://schemas.openxmlformats.org/officeDocument/2006/math">
                    <m:r>
                      <a:rPr lang="en-IN" sz="2400" i="1">
                        <a:solidFill>
                          <a:srgbClr val="78350F"/>
                        </a:solidFill>
                        <a:latin typeface="Cambria Math" panose="02040503050406030204" pitchFamily="18" charset="0"/>
                      </a:rPr>
                      <m:t>𝑦</m:t>
                    </m:r>
                  </m:oMath>
                </a14:m>
                <a:r>
                  <a:rPr sz="2400" b="0">
                    <a:solidFill>
                      <a:srgbClr val="78350F"/>
                    </a:solidFill>
                    <a:latin typeface="Arial"/>
                  </a:rPr>
                  <a:t>: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sSup>
                          <m:e>
                            <m:r>
                              <a:rPr lang="en-IN" sz="2400" i="1">
                                <a:solidFill>
                                  <a:srgbClr val="78350F"/>
                                </a:solidFill>
                                <a:latin typeface="Cambria Math" panose="02040503050406030204" pitchFamily="18" charset="0"/>
                              </a:rPr>
                              <m:t>𝑦</m:t>
                            </m:r>
                          </m:e>
                          <m:sup>
                            <m:r>
                              <a:rPr lang="en-IN" sz="2400" i="1">
                                <a:solidFill>
                                  <a:srgbClr val="78350F"/>
                                </a:solidFill>
                                <a:latin typeface="Cambria Math" panose="02040503050406030204" pitchFamily="18" charset="0"/>
                              </a:rPr>
                              <m:t>5</m:t>
                            </m:r>
                          </m:sup>
                        </m:sSup>
                      </m:num>
                      <m:den>
                        <m:r>
                          <a:rPr lang="en-IN" sz="2400" i="1">
                            <a:solidFill>
                              <a:srgbClr val="78350F"/>
                            </a:solidFill>
                            <a:latin typeface="Cambria Math" panose="02040503050406030204" pitchFamily="18" charset="0"/>
                          </a:rPr>
                          <m:t>9</m:t>
                        </m:r>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den>
                    </m:f>
                  </m:oMath>
                </a14:m>
                <a:r>
                  <a:rPr sz="2400" b="0">
                    <a:solidFill>
                      <a:srgbClr val="78350F"/>
                    </a:solidFill>
                    <a:latin typeface="Arial"/>
                  </a:rPr>
                  <a:t>; vertical tangents are where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𝑑</m:t>
                        </m:r>
                        <m:r>
                          <a:rPr lang="en-IN" sz="2400" i="1">
                            <a:solidFill>
                              <a:srgbClr val="78350F"/>
                            </a:solidFill>
                            <a:latin typeface="Cambria Math" panose="02040503050406030204" pitchFamily="18" charset="0"/>
                          </a:rPr>
                          <m:t>𝑥</m:t>
                        </m:r>
                      </m:num>
                      <m:den>
                        <m:r>
                          <a:rPr lang="en-IN" sz="2400" i="1">
                            <a:solidFill>
                              <a:srgbClr val="78350F"/>
                            </a:solidFill>
                            <a:latin typeface="Cambria Math" panose="02040503050406030204" pitchFamily="18" charset="0"/>
                          </a:rPr>
                          <m:t>𝑑</m:t>
                        </m:r>
                        <m:r>
                          <a:rPr lang="en-IN" sz="2400" i="1">
                            <a:solidFill>
                              <a:srgbClr val="78350F"/>
                            </a:solidFill>
                            <a:latin typeface="Cambria Math" panose="02040503050406030204" pitchFamily="18" charset="0"/>
                          </a:rPr>
                          <m:t>𝑦</m:t>
                        </m:r>
                      </m:den>
                    </m:f>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Write </a:t>
                </a:r>
                <a:r>
                  <a:rPr lang="en-IN" sz="2400">
                    <a:solidFill>
                      <a:srgbClr val="78350F"/>
                    </a:solidFill>
                    <a:latin typeface="Cambria Math" panose="02040503050406030204" pitchFamily="18" charset="0"/>
                  </a:rPr>
                  <a:t>$x$</a:t>
                </a:r>
                <a:r>
                  <a:rPr sz="2400" b="0">
                    <a:solidFill>
                      <a:srgbClr val="78350F"/>
                    </a:solidFill>
                    <a:latin typeface="Arial"/>
                  </a:rPr>
                  <a:t> as a function of </a:t>
                </a:r>
                <a:r>
                  <a:rPr lang="en-IN" sz="2400">
                    <a:solidFill>
                      <a:srgbClr val="78350F"/>
                    </a:solidFill>
                    <a:latin typeface="Cambria Math" panose="02040503050406030204" pitchFamily="18" charset="0"/>
                  </a:rPr>
                  <a:t>$y$</a:t>
                </a:r>
                <a:r>
                  <a:rPr sz="2400" b="0">
                    <a:solidFill>
                      <a:srgbClr val="78350F"/>
                    </a:solidFill>
                    <a:latin typeface="Arial"/>
                  </a:rPr>
                  <a:t>: </a:t>
                </a:r>
                <a:r>
                  <a:rPr lang="en-IN" sz="2400">
                    <a:solidFill>
                      <a:srgbClr val="78350F"/>
                    </a:solidFill>
                    <a:latin typeface="Cambria Math" panose="02040503050406030204" pitchFamily="18" charset="0"/>
                  </a:rPr>
                  <a:t>$x=\frac{y^5}{9y-2}$</a:t>
                </a:r>
                <a:r>
                  <a:rPr sz="2400" b="0">
                    <a:solidFill>
                      <a:srgbClr val="78350F"/>
                    </a:solidFill>
                    <a:latin typeface="Arial"/>
                  </a:rPr>
                  <a:t>; vertical tangents are where </a:t>
                </a:r>
                <a:r>
                  <a:rPr lang="en-IN" sz="2400">
                    <a:solidFill>
                      <a:srgbClr val="78350F"/>
                    </a:solidFill>
                    <a:latin typeface="Cambria Math" panose="02040503050406030204" pitchFamily="18" charset="0"/>
                  </a:rPr>
                  <a:t>$\frac{dx}{dy}=0$</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From </a:t>
                </a:r>
                <a14:m>
                  <m:oMath xmlns:m="http://schemas.openxmlformats.org/officeDocument/2006/math">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5</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we get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5</m:t>
                            </m:r>
                          </m:sup>
                        </m:sSup>
                      </m:num>
                      <m:den>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den>
                    </m:f>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9</m:t>
                        </m:r>
                      </m:den>
                    </m:f>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9</m:t>
                        </m:r>
                      </m:den>
                    </m:f>
                  </m:oMath>
                </a14:m>
                <a:r>
                  <a:rPr sz="2400" b="0">
                    <a:solidFill>
                      <a:srgbClr val="111827"/>
                    </a:solidFill>
                    <a:latin typeface="Arial"/>
                  </a:rPr>
                  <a:t> gives </a:t>
                </a:r>
                <a14:m>
                  <m:oMath xmlns:m="http://schemas.openxmlformats.org/officeDocument/2006/math">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5</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impossible, so no point has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9</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5</m:t>
                            </m:r>
                          </m:sup>
                        </m:sSup>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Vertical tangent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18</m:t>
                        </m:r>
                      </m:den>
                    </m:f>
                  </m:oMath>
                </a14:m>
                <a:r>
                  <a:rPr sz="2400" b="0">
                    <a:solidFill>
                      <a:srgbClr val="111827"/>
                    </a:solidFill>
                    <a:latin typeface="Arial"/>
                  </a:rPr>
                  <a:t>: two points, </a:t>
                </a:r>
                <a14:m>
                  <m:oMath xmlns:m="http://schemas.openxmlformats.org/officeDocument/2006/math">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From </a:t>
                </a:r>
                <a:r>
                  <a:rPr lang="en-IN" sz="2400">
                    <a:solidFill>
                      <a:srgbClr val="111827"/>
                    </a:solidFill>
                    <a:latin typeface="Cambria Math" panose="02040503050406030204" pitchFamily="18" charset="0"/>
                  </a:rPr>
                  <a:t>$y^5=x(9y-2)$</a:t>
                </a:r>
                <a:r>
                  <a:rPr sz="2400" b="0">
                    <a:solidFill>
                      <a:srgbClr val="111827"/>
                    </a:solidFill>
                    <a:latin typeface="Arial"/>
                  </a:rPr>
                  <a:t> we get </a:t>
                </a:r>
                <a:r>
                  <a:rPr lang="en-IN" sz="2400">
                    <a:solidFill>
                      <a:srgbClr val="111827"/>
                    </a:solidFill>
                    <a:latin typeface="Cambria Math" panose="02040503050406030204" pitchFamily="18" charset="0"/>
                  </a:rPr>
                  <a:t>$x=\frac{y^5}{9y-2}$</a:t>
                </a:r>
                <a:r>
                  <a:rPr sz="2400" b="0">
                    <a:solidFill>
                      <a:srgbClr val="111827"/>
                    </a:solidFill>
                    <a:latin typeface="Arial"/>
                  </a:rPr>
                  <a:t> for </a:t>
                </a:r>
                <a:r>
                  <a:rPr lang="en-IN" sz="2400">
                    <a:solidFill>
                      <a:srgbClr val="111827"/>
                    </a:solidFill>
                    <a:latin typeface="Cambria Math" panose="02040503050406030204" pitchFamily="18" charset="0"/>
                  </a:rPr>
                  <a:t>$y\neq\frac29$</a:t>
                </a:r>
                <a:r>
                  <a:rPr sz="2400" b="0">
                    <a:solidFill>
                      <a:srgbClr val="111827"/>
                    </a:solidFill>
                    <a:latin typeface="Arial"/>
                  </a:rPr>
                  <a:t> (and </a:t>
                </a:r>
                <a:r>
                  <a:rPr lang="en-IN" sz="2400">
                    <a:solidFill>
                      <a:srgbClr val="111827"/>
                    </a:solidFill>
                    <a:latin typeface="Cambria Math" panose="02040503050406030204" pitchFamily="18" charset="0"/>
                  </a:rPr>
                  <a:t>$y=\frac29$</a:t>
                </a:r>
                <a:r>
                  <a:rPr sz="2400" b="0">
                    <a:solidFill>
                      <a:srgbClr val="111827"/>
                    </a:solidFill>
                    <a:latin typeface="Arial"/>
                  </a:rPr>
                  <a:t> gives </a:t>
                </a:r>
                <a:r>
                  <a:rPr lang="en-IN" sz="2400">
                    <a:solidFill>
                      <a:srgbClr val="111827"/>
                    </a:solidFill>
                    <a:latin typeface="Cambria Math" panose="02040503050406030204" pitchFamily="18" charset="0"/>
                  </a:rPr>
                  <a:t>$y^5=0$</a:t>
                </a:r>
                <a:r>
                  <a:rPr sz="2400" b="0">
                    <a:solidFill>
                      <a:srgbClr val="111827"/>
                    </a:solidFill>
                    <a:latin typeface="Arial"/>
                  </a:rPr>
                  <a:t>, impossible, so no point has </a:t>
                </a:r>
                <a:r>
                  <a:rPr lang="en-IN" sz="2400">
                    <a:solidFill>
                      <a:srgbClr val="111827"/>
                    </a:solidFill>
                    <a:latin typeface="Cambria Math" panose="02040503050406030204" pitchFamily="18" charset="0"/>
                  </a:rPr>
                  <a:t>$y=\frac29$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$\frac{dx}{dy}=\frac{5y^4(9y-2)-9y^5}{(9y-2)^2}=\frac{y^4(36y-10)}{(9y-2)^2}$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Vertical tangent </a:t>
                </a:r>
                <a:r>
                  <a:rPr lang="en-IN" sz="2400">
                    <a:solidFill>
                      <a:srgbClr val="111827"/>
                    </a:solidFill>
                    <a:latin typeface="Cambria Math" panose="02040503050406030204" pitchFamily="18" charset="0"/>
                  </a:rPr>
                  <a:t>$\iff\frac{dx}{dy}=0\iff y=0$</a:t>
                </a:r>
                <a:r>
                  <a:rPr sz="2400" b="0">
                    <a:solidFill>
                      <a:srgbClr val="111827"/>
                    </a:solidFill>
                    <a:latin typeface="Arial"/>
                  </a:rPr>
                  <a:t> or </a:t>
                </a:r>
                <a:r>
                  <a:rPr lang="en-IN" sz="2400">
                    <a:solidFill>
                      <a:srgbClr val="111827"/>
                    </a:solidFill>
                    <a:latin typeface="Cambria Math" panose="02040503050406030204" pitchFamily="18" charset="0"/>
                  </a:rPr>
                  <a:t>$y=\frac5{18}$</a:t>
                </a:r>
                <a:r>
                  <a:rPr sz="2400" b="0">
                    <a:solidFill>
                      <a:srgbClr val="111827"/>
                    </a:solidFill>
                    <a:latin typeface="Arial"/>
                  </a:rPr>
                  <a:t>: two points, </a:t>
                </a:r>
                <a:r>
                  <a:rPr lang="en-IN" sz="2400">
                    <a:solidFill>
                      <a:srgbClr val="111827"/>
                    </a:solidFill>
                    <a:latin typeface="Cambria Math" panose="02040503050406030204" pitchFamily="18" charset="0"/>
                  </a:rPr>
                  <a:t>$N=2$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Horizontal tangent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which happens only at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9</m:t>
                        </m:r>
                      </m:den>
                    </m:f>
                  </m:oMath>
                </a14:m>
                <a:r>
                  <a:rPr sz="2400" b="0">
                    <a:solidFill>
                      <a:srgbClr val="111827"/>
                    </a:solidFill>
                    <a:latin typeface="Arial"/>
                  </a:rPr>
                  <a:t>, a value no point of the curve takes. So </a:t>
                </a:r>
                <a14:m>
                  <m:oMath xmlns:m="http://schemas.openxmlformats.org/officeDocument/2006/math">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Horizontal tangent </a:t>
                </a:r>
                <a:r>
                  <a:rPr lang="en-IN" sz="2400">
                    <a:solidFill>
                      <a:srgbClr val="111827"/>
                    </a:solidFill>
                    <a:latin typeface="Cambria Math" panose="02040503050406030204" pitchFamily="18" charset="0"/>
                  </a:rPr>
                  <a:t>$\iff\frac{dy}{dx}=0\iff\frac{dx}{dy}\to\infty$</a:t>
                </a:r>
                <a:r>
                  <a:rPr sz="2400" b="0">
                    <a:solidFill>
                      <a:srgbClr val="111827"/>
                    </a:solidFill>
                    <a:latin typeface="Arial"/>
                  </a:rPr>
                  <a:t>, which happens only at </a:t>
                </a:r>
                <a:r>
                  <a:rPr lang="en-IN" sz="2400">
                    <a:solidFill>
                      <a:srgbClr val="111827"/>
                    </a:solidFill>
                    <a:latin typeface="Cambria Math" panose="02040503050406030204" pitchFamily="18" charset="0"/>
                  </a:rPr>
                  <a:t>$y=\frac29$</a:t>
                </a:r>
                <a:r>
                  <a:rPr sz="2400" b="0">
                    <a:solidFill>
                      <a:srgbClr val="111827"/>
                    </a:solidFill>
                    <a:latin typeface="Arial"/>
                  </a:rPr>
                  <a:t>, a value no point of the curve takes. So </a:t>
                </a:r>
                <a:r>
                  <a:rPr lang="en-IN" sz="2400">
                    <a:solidFill>
                      <a:srgbClr val="111827"/>
                    </a:solidFill>
                    <a:latin typeface="Cambria Math" panose="02040503050406030204" pitchFamily="18" charset="0"/>
                  </a:rPr>
                  <a:t>$M=0$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$M+N=2$</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2</a:t>
            </a:r>
            <a:endParaRPr sz="2800">
              <a:solidFill>
                <a:srgbClr val="15803D"/>
              </a:solidFill>
            </a:endParaRPr>
          </a:p>
        </p:txBody>
      </p:sp>
    </p:spTree>
  </p:cSld>
  <p:clrMapOvr>
    <a:masterClrMapping/>
  </p:clrMapOvr>
</p:sld>
</file>

<file path=ppt/slides/slide2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Since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𝐹</m:t>
                            </m:r>
                          </m:e>
                          <m:sub>
                            <m:r>
                              <a:rPr lang="en-IN" sz="2400" i="1">
                                <a:solidFill>
                                  <a:srgbClr val="111827"/>
                                </a:solidFill>
                                <a:latin typeface="Cambria Math" panose="02040503050406030204" pitchFamily="18" charset="0"/>
                              </a:rPr>
                              <m:t>𝑥</m:t>
                            </m:r>
                          </m:sub>
                        </m:sSub>
                      </m:num>
                      <m:den>
                        <m:sSub>
                          <m:e>
                            <m:r>
                              <a:rPr lang="en-IN" sz="2400" i="1">
                                <a:solidFill>
                                  <a:srgbClr val="111827"/>
                                </a:solidFill>
                                <a:latin typeface="Cambria Math" panose="02040503050406030204" pitchFamily="18" charset="0"/>
                              </a:rPr>
                              <m:t>𝐹</m:t>
                            </m:r>
                          </m:e>
                          <m:sub>
                            <m:r>
                              <a:rPr lang="en-IN" sz="2400" i="1">
                                <a:solidFill>
                                  <a:srgbClr val="111827"/>
                                </a:solidFill>
                                <a:latin typeface="Cambria Math" panose="02040503050406030204" pitchFamily="18" charset="0"/>
                              </a:rPr>
                              <m:t>𝑦</m:t>
                            </m:r>
                          </m:sub>
                        </m:sSub>
                      </m:den>
                    </m:f>
                  </m:oMath>
                </a14:m>
                <a:r>
                  <a:rPr sz="2400" b="0">
                    <a:solidFill>
                      <a:srgbClr val="111827"/>
                    </a:solidFill>
                    <a:latin typeface="Arial"/>
                  </a:rPr>
                  <a:t>: horizontal tangent needs </a:t>
                </a:r>
                <a14:m>
                  <m:oMath xmlns:m="http://schemas.openxmlformats.org/officeDocument/2006/math">
                    <m:sSub>
                      <m:e>
                        <m:r>
                          <a:rPr lang="en-IN" sz="2400" i="1">
                            <a:solidFill>
                              <a:srgbClr val="111827"/>
                            </a:solidFill>
                            <a:latin typeface="Cambria Math" panose="02040503050406030204" pitchFamily="18" charset="0"/>
                          </a:rPr>
                          <m:t>𝐹</m:t>
                        </m:r>
                      </m:e>
                      <m:sub>
                        <m:r>
                          <a:rPr lang="en-IN" sz="2400" i="1">
                            <a:solidFill>
                              <a:srgbClr val="111827"/>
                            </a:solidFill>
                            <a:latin typeface="Cambria Math" panose="02040503050406030204" pitchFamily="18" charset="0"/>
                          </a:rPr>
                          <m:t>𝑥</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(with </a:t>
                </a:r>
                <a14:m>
                  <m:oMath xmlns:m="http://schemas.openxmlformats.org/officeDocument/2006/math">
                    <m:sSub>
                      <m:e>
                        <m:r>
                          <a:rPr lang="en-IN" sz="2400" i="1">
                            <a:solidFill>
                              <a:srgbClr val="111827"/>
                            </a:solidFill>
                            <a:latin typeface="Cambria Math" panose="02040503050406030204" pitchFamily="18" charset="0"/>
                          </a:rPr>
                          <m:t>𝐹</m:t>
                        </m:r>
                      </m:e>
                      <m:sub>
                        <m:r>
                          <a:rPr lang="en-IN" sz="2400" i="1">
                            <a:solidFill>
                              <a:srgbClr val="111827"/>
                            </a:solidFill>
                            <a:latin typeface="Cambria Math" panose="02040503050406030204" pitchFamily="18" charset="0"/>
                          </a:rPr>
                          <m:t>𝑦</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vertical tangent needs </a:t>
                </a:r>
                <a14:m>
                  <m:oMath xmlns:m="http://schemas.openxmlformats.org/officeDocument/2006/math">
                    <m:sSub>
                      <m:e>
                        <m:r>
                          <a:rPr lang="en-IN" sz="2400" i="1">
                            <a:solidFill>
                              <a:srgbClr val="111827"/>
                            </a:solidFill>
                            <a:latin typeface="Cambria Math" panose="02040503050406030204" pitchFamily="18" charset="0"/>
                          </a:rPr>
                          <m:t>𝐹</m:t>
                        </m:r>
                      </m:e>
                      <m:sub>
                        <m:r>
                          <a:rPr lang="en-IN" sz="2400" i="1">
                            <a:solidFill>
                              <a:srgbClr val="111827"/>
                            </a:solidFill>
                            <a:latin typeface="Cambria Math" panose="02040503050406030204" pitchFamily="18" charset="0"/>
                          </a:rPr>
                          <m:t>𝑦</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(with </a:t>
                </a:r>
                <a14:m>
                  <m:oMath xmlns:m="http://schemas.openxmlformats.org/officeDocument/2006/math">
                    <m:sSub>
                      <m:e>
                        <m:r>
                          <a:rPr lang="en-IN" sz="2400" i="1">
                            <a:solidFill>
                              <a:srgbClr val="111827"/>
                            </a:solidFill>
                            <a:latin typeface="Cambria Math" panose="02040503050406030204" pitchFamily="18" charset="0"/>
                          </a:rPr>
                          <m:t>𝐹</m:t>
                        </m:r>
                      </m:e>
                      <m:sub>
                        <m:r>
                          <a:rPr lang="en-IN" sz="2400" i="1">
                            <a:solidFill>
                              <a:srgbClr val="111827"/>
                            </a:solidFill>
                            <a:latin typeface="Cambria Math" panose="02040503050406030204" pitchFamily="18" charset="0"/>
                          </a:rPr>
                          <m:t>𝑥</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Always check that the solution lies on the curve.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Treating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as a function of </a:t>
                </a:r>
                <a14:m>
                  <m:oMath xmlns:m="http://schemas.openxmlformats.org/officeDocument/2006/math">
                    <m:r>
                      <a:rPr lang="en-IN" sz="2400" i="1">
                        <a:solidFill>
                          <a:srgbClr val="111827"/>
                        </a:solidFill>
                        <a:latin typeface="Cambria Math" panose="02040503050406030204" pitchFamily="18" charset="0"/>
                      </a:rPr>
                      <m:t>𝑦</m:t>
                    </m:r>
                  </m:oMath>
                </a14:m>
                <a:r>
                  <a:rPr sz="2400" b="0">
                    <a:solidFill>
                      <a:srgbClr val="111827"/>
                    </a:solidFill>
                    <a:latin typeface="Arial"/>
                  </a:rPr>
                  <a:t> swaps the roles: vertical tangent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Solving </a:t>
                </a:r>
                <a14:m>
                  <m:oMath xmlns:m="http://schemas.openxmlformats.org/officeDocument/2006/math">
                    <m:sSub>
                      <m:e>
                        <m:r>
                          <a:rPr lang="en-IN" sz="2400" i="1">
                            <a:solidFill>
                              <a:srgbClr val="111827"/>
                            </a:solidFill>
                            <a:latin typeface="Cambria Math" panose="02040503050406030204" pitchFamily="18" charset="0"/>
                          </a:rPr>
                          <m:t>𝐹</m:t>
                        </m:r>
                      </m:e>
                      <m:sub>
                        <m:r>
                          <a:rPr lang="en-IN" sz="2400" i="1">
                            <a:solidFill>
                              <a:srgbClr val="111827"/>
                            </a:solidFill>
                            <a:latin typeface="Cambria Math" panose="02040503050406030204" pitchFamily="18" charset="0"/>
                          </a:rPr>
                          <m:t>𝑦</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together with </a:t>
                </a:r>
                <a14:m>
                  <m:oMath xmlns:m="http://schemas.openxmlformats.org/officeDocument/2006/math">
                    <m:r>
                      <a:rPr lang="en-IN" sz="2400" i="1">
                        <a:solidFill>
                          <a:srgbClr val="111827"/>
                        </a:solidFill>
                        <a:latin typeface="Cambria Math" panose="02040503050406030204" pitchFamily="18" charset="0"/>
                      </a:rPr>
                      <m:t>𝐹</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often reduces to one variable after eliminating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linearly.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Common trap: a critical value of the derivative that is not on the curve gives no tangent at all.</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Since </a:t>
                </a:r>
                <a:r>
                  <a:rPr lang="en-IN" sz="2400">
                    <a:solidFill>
                      <a:srgbClr val="111827"/>
                    </a:solidFill>
                    <a:latin typeface="Cambria Math" panose="02040503050406030204" pitchFamily="18" charset="0"/>
                  </a:rPr>
                  <a:t>$\frac{dy}{dx}=-\frac{F_x}{F_y}$</a:t>
                </a:r>
                <a:r>
                  <a:rPr sz="2400" b="0">
                    <a:solidFill>
                      <a:srgbClr val="111827"/>
                    </a:solidFill>
                    <a:latin typeface="Arial"/>
                  </a:rPr>
                  <a:t>: horizontal tangent needs </a:t>
                </a:r>
                <a:r>
                  <a:rPr lang="en-IN" sz="2400">
                    <a:solidFill>
                      <a:srgbClr val="111827"/>
                    </a:solidFill>
                    <a:latin typeface="Cambria Math" panose="02040503050406030204" pitchFamily="18" charset="0"/>
                  </a:rPr>
                  <a:t>$F_x=0$</a:t>
                </a:r>
                <a:r>
                  <a:rPr sz="2400" b="0">
                    <a:solidFill>
                      <a:srgbClr val="111827"/>
                    </a:solidFill>
                    <a:latin typeface="Arial"/>
                  </a:rPr>
                  <a:t> (with </a:t>
                </a:r>
                <a:r>
                  <a:rPr lang="en-IN" sz="2400">
                    <a:solidFill>
                      <a:srgbClr val="111827"/>
                    </a:solidFill>
                    <a:latin typeface="Cambria Math" panose="02040503050406030204" pitchFamily="18" charset="0"/>
                  </a:rPr>
                  <a:t>$F_y\ne0$</a:t>
                </a:r>
                <a:r>
                  <a:rPr sz="2400" b="0">
                    <a:solidFill>
                      <a:srgbClr val="111827"/>
                    </a:solidFill>
                    <a:latin typeface="Arial"/>
                  </a:rPr>
                  <a:t>); vertical tangent needs </a:t>
                </a:r>
                <a:r>
                  <a:rPr lang="en-IN" sz="2400">
                    <a:solidFill>
                      <a:srgbClr val="111827"/>
                    </a:solidFill>
                    <a:latin typeface="Cambria Math" panose="02040503050406030204" pitchFamily="18" charset="0"/>
                  </a:rPr>
                  <a:t>$F_y=0$</a:t>
                </a:r>
                <a:r>
                  <a:rPr sz="2400" b="0">
                    <a:solidFill>
                      <a:srgbClr val="111827"/>
                    </a:solidFill>
                    <a:latin typeface="Arial"/>
                  </a:rPr>
                  <a:t> (with </a:t>
                </a:r>
                <a:r>
                  <a:rPr lang="en-IN" sz="2400">
                    <a:solidFill>
                      <a:srgbClr val="111827"/>
                    </a:solidFill>
                    <a:latin typeface="Cambria Math" panose="02040503050406030204" pitchFamily="18" charset="0"/>
                  </a:rPr>
                  <a:t>$F_x\ne0$</a:t>
                </a:r>
                <a:r>
                  <a:rPr sz="2400" b="0">
                    <a:solidFill>
                      <a:srgbClr val="111827"/>
                    </a:solidFill>
                    <a:latin typeface="Arial"/>
                  </a:rPr>
                  <a:t>). Always check that the solution lies on the curve.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Treating </a:t>
                </a:r>
                <a:r>
                  <a:rPr lang="en-IN" sz="2400">
                    <a:solidFill>
                      <a:srgbClr val="111827"/>
                    </a:solidFill>
                    <a:latin typeface="Cambria Math" panose="02040503050406030204" pitchFamily="18" charset="0"/>
                  </a:rPr>
                  <a:t>$x$</a:t>
                </a:r>
                <a:r>
                  <a:rPr sz="2400" b="0">
                    <a:solidFill>
                      <a:srgbClr val="111827"/>
                    </a:solidFill>
                    <a:latin typeface="Arial"/>
                  </a:rPr>
                  <a:t> as a function of </a:t>
                </a:r>
                <a:r>
                  <a:rPr lang="en-IN" sz="2400">
                    <a:solidFill>
                      <a:srgbClr val="111827"/>
                    </a:solidFill>
                    <a:latin typeface="Cambria Math" panose="02040503050406030204" pitchFamily="18" charset="0"/>
                  </a:rPr>
                  <a:t>$y$</a:t>
                </a:r>
                <a:r>
                  <a:rPr sz="2400" b="0">
                    <a:solidFill>
                      <a:srgbClr val="111827"/>
                    </a:solidFill>
                    <a:latin typeface="Arial"/>
                  </a:rPr>
                  <a:t> swaps the roles: vertical tangent </a:t>
                </a:r>
                <a:r>
                  <a:rPr lang="en-IN" sz="2400">
                    <a:solidFill>
                      <a:srgbClr val="111827"/>
                    </a:solidFill>
                    <a:latin typeface="Cambria Math" panose="02040503050406030204" pitchFamily="18" charset="0"/>
                  </a:rPr>
                  <a:t>$\iff dx/dy=0$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Solving </a:t>
                </a:r>
                <a:r>
                  <a:rPr lang="en-IN" sz="2400">
                    <a:solidFill>
                      <a:srgbClr val="111827"/>
                    </a:solidFill>
                    <a:latin typeface="Cambria Math" panose="02040503050406030204" pitchFamily="18" charset="0"/>
                  </a:rPr>
                  <a:t>$F_y=0$</a:t>
                </a:r>
                <a:r>
                  <a:rPr sz="2400" b="0">
                    <a:solidFill>
                      <a:srgbClr val="111827"/>
                    </a:solidFill>
                    <a:latin typeface="Arial"/>
                  </a:rPr>
                  <a:t> together with </a:t>
                </a:r>
                <a:r>
                  <a:rPr lang="en-IN" sz="2400">
                    <a:solidFill>
                      <a:srgbClr val="111827"/>
                    </a:solidFill>
                    <a:latin typeface="Cambria Math" panose="02040503050406030204" pitchFamily="18" charset="0"/>
                  </a:rPr>
                  <a:t>$F=0$</a:t>
                </a:r>
                <a:r>
                  <a:rPr sz="2400" b="0">
                    <a:solidFill>
                      <a:srgbClr val="111827"/>
                    </a:solidFill>
                    <a:latin typeface="Arial"/>
                  </a:rPr>
                  <a:t> often reduces to one variable after eliminating </a:t>
                </a:r>
                <a:r>
                  <a:rPr lang="en-IN" sz="2400">
                    <a:solidFill>
                      <a:srgbClr val="111827"/>
                    </a:solidFill>
                    <a:latin typeface="Cambria Math" panose="02040503050406030204" pitchFamily="18" charset="0"/>
                  </a:rPr>
                  <a:t>$x$</a:t>
                </a:r>
                <a:r>
                  <a:rPr sz="2400" b="0">
                    <a:solidFill>
                      <a:srgbClr val="111827"/>
                    </a:solidFill>
                    <a:latin typeface="Arial"/>
                  </a:rPr>
                  <a:t> linearly.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Common trap: a critical value of the derivative that is not on the curve gives no tangent at all.</a:t>
                </a:r>
                <a:endParaRPr sz="2400">
                  <a:solidFill>
                    <a:srgbClr val="111827"/>
                  </a:solidFill>
                </a:endParaRPr>
              </a:p>
            </p:txBody>
          </p:sp>
        </mc:Fallback>
      </mc:AlternateContent>
    </p:spTree>
  </p:cSld>
  <p:clrMapOvr>
    <a:masterClrMapping/>
  </p:clrMapOvr>
</p:sld>
</file>

<file path=ppt/slides/slide2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86156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 water tank has the shape of a right circular cone with axis vertical and vertex downwards. Its semi-vertical angle is </a:t>
                </a:r>
                <a14:m>
                  <m:oMath xmlns:m="http://schemas.openxmlformats.org/officeDocument/2006/math">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Water is poured in it at a constant rate of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cubic meter per hour. The rate (in square meter per hour), at which the wet curved surface area of the tank is increasing, when the depth of water in the tank is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meters, is ______.</a:t>
                </a:r>
                <a:endParaRPr sz="2400">
                  <a:solidFill>
                    <a:srgbClr val="111827"/>
                  </a:solidFill>
                </a:endParaRPr>
              </a:p>
            </p:txBody>
          </p:sp>
        </mc:Choice>
        <mc:Fallback>
          <p:sp>
            <p:nvSpPr>
              <p:cNvPr id="4" name="Rounded Rectangle 3"/>
              <p:cNvSpPr/>
              <p:nvPr/>
            </p:nvSpPr>
            <p:spPr>
              <a:xfrm>
                <a:off x="731520" y="1280160"/>
                <a:ext cx="10725912" cy="286156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 water tank has the shape of a right circular cone with axis vertical and vertex downwards. Its semi-vertical angle is </a:t>
                </a:r>
                <a:r>
                  <a:rPr lang="en-IN" sz="2400">
                    <a:solidFill>
                      <a:srgbClr val="111827"/>
                    </a:solidFill>
                    <a:latin typeface="Cambria Math" panose="02040503050406030204" pitchFamily="18" charset="0"/>
                  </a:rPr>
                  <a:t>$\tan^{-1}\frac34$</a:t>
                </a:r>
                <a:r>
                  <a:rPr sz="2400" b="0">
                    <a:solidFill>
                      <a:srgbClr val="111827"/>
                    </a:solidFill>
                    <a:latin typeface="Arial"/>
                  </a:rPr>
                  <a:t>. Water is poured in it at a constant rate of </a:t>
                </a:r>
                <a:r>
                  <a:rPr lang="en-IN" sz="2400">
                    <a:solidFill>
                      <a:srgbClr val="111827"/>
                    </a:solidFill>
                    <a:latin typeface="Cambria Math" panose="02040503050406030204" pitchFamily="18" charset="0"/>
                  </a:rPr>
                  <a:t>$6$</a:t>
                </a:r>
                <a:r>
                  <a:rPr sz="2400" b="0">
                    <a:solidFill>
                      <a:srgbClr val="111827"/>
                    </a:solidFill>
                    <a:latin typeface="Arial"/>
                  </a:rPr>
                  <a:t> cubic meter per hour. The rate (in square meter per hour), at which the wet curved surface area of the tank is increasing, when the depth of water in the tank is </a:t>
                </a:r>
                <a:r>
                  <a:rPr lang="en-IN" sz="2400">
                    <a:solidFill>
                      <a:srgbClr val="111827"/>
                    </a:solidFill>
                    <a:latin typeface="Cambria Math" panose="02040503050406030204" pitchFamily="18" charset="0"/>
                  </a:rPr>
                  <a:t>$4$</a:t>
                </a:r>
                <a:r>
                  <a:rPr sz="2400" b="0">
                    <a:solidFill>
                      <a:srgbClr val="111827"/>
                    </a:solidFill>
                    <a:latin typeface="Arial"/>
                  </a:rPr>
                  <a:t> meters, is ______.</a:t>
                </a:r>
                <a:endParaRPr sz="2400">
                  <a:solidFill>
                    <a:srgbClr val="111827"/>
                  </a:solidFill>
                </a:endParaRPr>
              </a:p>
            </p:txBody>
          </p:sp>
        </mc:Fallback>
      </mc:AlternateContent>
      <p:sp>
        <p:nvSpPr>
          <p:cNvPr id="5" name="Rectangle 4"/>
          <p:cNvSpPr/>
          <p:nvPr/>
        </p:nvSpPr>
        <p:spPr>
          <a:xfrm>
            <a:off x="731520" y="4370323"/>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Rate of change of cone volume and curved surface area</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2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Express </a:t>
                </a:r>
                <a14:m>
                  <m:oMath xmlns:m="http://schemas.openxmlformats.org/officeDocument/2006/math">
                    <m:r>
                      <a:rPr lang="en-IN" sz="2400" i="1">
                        <a:solidFill>
                          <a:srgbClr val="78350F"/>
                        </a:solidFill>
                        <a:latin typeface="Cambria Math" panose="02040503050406030204" pitchFamily="18" charset="0"/>
                      </a:rPr>
                      <m:t>𝑉</m:t>
                    </m:r>
                  </m:oMath>
                </a14:m>
                <a:r>
                  <a:rPr sz="2400" b="0">
                    <a:solidFill>
                      <a:srgbClr val="78350F"/>
                    </a:solidFill>
                    <a:latin typeface="Arial"/>
                  </a:rPr>
                  <a:t> and the curved area </a:t>
                </a:r>
                <a14:m>
                  <m:oMath xmlns:m="http://schemas.openxmlformats.org/officeDocument/2006/math">
                    <m:r>
                      <a:rPr lang="en-IN" sz="2400" i="1">
                        <a:solidFill>
                          <a:srgbClr val="78350F"/>
                        </a:solidFill>
                        <a:latin typeface="Cambria Math" panose="02040503050406030204" pitchFamily="18" charset="0"/>
                      </a:rPr>
                      <m:t>𝑆</m:t>
                    </m:r>
                  </m:oMath>
                </a14:m>
                <a:r>
                  <a:rPr sz="2400" b="0">
                    <a:solidFill>
                      <a:srgbClr val="78350F"/>
                    </a:solidFill>
                    <a:latin typeface="Arial"/>
                  </a:rPr>
                  <a:t> in the single variable </a:t>
                </a:r>
                <a14:m>
                  <m:oMath xmlns:m="http://schemas.openxmlformats.org/officeDocument/2006/math">
                    <m:r>
                      <a:rPr lang="en-IN" sz="2400" i="1">
                        <a:solidFill>
                          <a:srgbClr val="78350F"/>
                        </a:solidFill>
                        <a:latin typeface="Cambria Math" panose="02040503050406030204" pitchFamily="18" charset="0"/>
                      </a:rPr>
                      <m:t>ℎ</m:t>
                    </m:r>
                  </m:oMath>
                </a14:m>
                <a:r>
                  <a:rPr sz="2400" b="0">
                    <a:solidFill>
                      <a:srgbClr val="78350F"/>
                    </a:solidFill>
                    <a:latin typeface="Arial"/>
                  </a:rPr>
                  <a:t> using </a:t>
                </a:r>
                <a14:m>
                  <m:oMath xmlns:m="http://schemas.openxmlformats.org/officeDocument/2006/math">
                    <m:r>
                      <a:rPr lang="en-IN" sz="2400" i="1">
                        <a:solidFill>
                          <a:srgbClr val="78350F"/>
                        </a:solidFill>
                        <a:latin typeface="Cambria Math" panose="02040503050406030204" pitchFamily="18" charset="0"/>
                      </a:rPr>
                      <m:t>𝑟</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3</m:t>
                        </m:r>
                      </m:num>
                      <m:den>
                        <m:r>
                          <a:rPr lang="en-IN" sz="2400" i="1">
                            <a:solidFill>
                              <a:srgbClr val="78350F"/>
                            </a:solidFill>
                            <a:latin typeface="Cambria Math" panose="02040503050406030204" pitchFamily="18" charset="0"/>
                          </a:rPr>
                          <m:t>4</m:t>
                        </m:r>
                      </m:den>
                    </m:f>
                    <m:r>
                      <a:rPr lang="en-IN" sz="2400" i="1">
                        <a:solidFill>
                          <a:srgbClr val="78350F"/>
                        </a:solidFill>
                        <a:latin typeface="Cambria Math" panose="02040503050406030204" pitchFamily="18" charset="0"/>
                      </a:rPr>
                      <m:t>ℎ</m:t>
                    </m:r>
                  </m:oMath>
                </a14:m>
                <a:r>
                  <a:rPr sz="2400" b="0">
                    <a:solidFill>
                      <a:srgbClr val="78350F"/>
                    </a:solidFill>
                    <a:latin typeface="Arial"/>
                  </a:rPr>
                  <a:t>, then use the chain rule.</a:t>
                </a:r>
                <a:endParaRPr sz="2400">
                  <a:solidFill>
                    <a:srgbClr val="78350F"/>
                  </a:solidFill>
                </a:endParaRPr>
              </a:p>
            </p:txBody>
          </p:sp>
        </mc:Choice>
        <mc:Fallback>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Express </a:t>
                </a:r>
                <a:r>
                  <a:rPr lang="en-IN" sz="2400">
                    <a:solidFill>
                      <a:srgbClr val="78350F"/>
                    </a:solidFill>
                    <a:latin typeface="Cambria Math" panose="02040503050406030204" pitchFamily="18" charset="0"/>
                  </a:rPr>
                  <a:t>$V$</a:t>
                </a:r>
                <a:r>
                  <a:rPr sz="2400" b="0">
                    <a:solidFill>
                      <a:srgbClr val="78350F"/>
                    </a:solidFill>
                    <a:latin typeface="Arial"/>
                  </a:rPr>
                  <a:t> and the curved area </a:t>
                </a:r>
                <a:r>
                  <a:rPr lang="en-IN" sz="2400">
                    <a:solidFill>
                      <a:srgbClr val="78350F"/>
                    </a:solidFill>
                    <a:latin typeface="Cambria Math" panose="02040503050406030204" pitchFamily="18" charset="0"/>
                  </a:rPr>
                  <a:t>$S$</a:t>
                </a:r>
                <a:r>
                  <a:rPr sz="2400" b="0">
                    <a:solidFill>
                      <a:srgbClr val="78350F"/>
                    </a:solidFill>
                    <a:latin typeface="Arial"/>
                  </a:rPr>
                  <a:t> in the single variable </a:t>
                </a:r>
                <a:r>
                  <a:rPr lang="en-IN" sz="2400">
                    <a:solidFill>
                      <a:srgbClr val="78350F"/>
                    </a:solidFill>
                    <a:latin typeface="Cambria Math" panose="02040503050406030204" pitchFamily="18" charset="0"/>
                  </a:rPr>
                  <a:t>$h$</a:t>
                </a:r>
                <a:r>
                  <a:rPr sz="2400" b="0">
                    <a:solidFill>
                      <a:srgbClr val="78350F"/>
                    </a:solidFill>
                    <a:latin typeface="Arial"/>
                  </a:rPr>
                  <a:t> using </a:t>
                </a:r>
                <a:r>
                  <a:rPr lang="en-IN" sz="2400">
                    <a:solidFill>
                      <a:srgbClr val="78350F"/>
                    </a:solidFill>
                    <a:latin typeface="Cambria Math" panose="02040503050406030204" pitchFamily="18" charset="0"/>
                  </a:rPr>
                  <a:t>$r=\frac34h$</a:t>
                </a:r>
                <a:r>
                  <a:rPr sz="2400" b="0">
                    <a:solidFill>
                      <a:srgbClr val="78350F"/>
                    </a:solidFill>
                    <a:latin typeface="Arial"/>
                  </a:rPr>
                  <a:t>, then use the chain rule.</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tan</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𝑟</m:t>
                        </m:r>
                      </m:num>
                      <m:den>
                        <m:r>
                          <a:rPr lang="en-IN" sz="2400" i="1">
                            <a:solidFill>
                              <a:srgbClr val="111827"/>
                            </a:solidFill>
                            <a:latin typeface="Cambria Math" panose="02040503050406030204" pitchFamily="18" charset="0"/>
                          </a:rPr>
                          <m:t>ℎ</m:t>
                        </m:r>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ℎ</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and slant height </a:t>
                </a:r>
                <a14:m>
                  <m:oMath xmlns:m="http://schemas.openxmlformats.org/officeDocument/2006/math">
                    <m:r>
                      <a:rPr lang="en-IN" sz="2400" i="1">
                        <a:solidFill>
                          <a:srgbClr val="111827"/>
                        </a:solidFill>
                        <a:latin typeface="Cambria Math" panose="02040503050406030204" pitchFamily="18" charset="0"/>
                      </a:rPr>
                      <m:t>ℓ</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ℎ</m:t>
                            </m:r>
                          </m:e>
                          <m:sup>
                            <m:r>
                              <a:rPr lang="en-IN" sz="2400" i="1">
                                <a:solidFill>
                                  <a:srgbClr val="111827"/>
                                </a:solidFill>
                                <a:latin typeface="Cambria Math" panose="02040503050406030204" pitchFamily="18" charset="0"/>
                              </a:rPr>
                              <m:t>2</m:t>
                            </m:r>
                          </m:sup>
                        </m:sSup>
                      </m:e>
                    </m:ra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ℎ</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Given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𝑉</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𝑉</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r>
                      <a:rPr lang="en-IN" sz="2400" i="1">
                        <a:solidFill>
                          <a:srgbClr val="111827"/>
                        </a:solidFill>
                        <a:latin typeface="Cambria Math" panose="02040503050406030204" pitchFamily="18" charset="0"/>
                      </a:rPr>
                      <m:t>π</m:t>
                    </m:r>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r>
                      <a:rPr lang="en-IN" sz="2400" i="1">
                        <a:solidFill>
                          <a:srgbClr val="111827"/>
                        </a:solidFill>
                        <a:latin typeface="Cambria Math" panose="02040503050406030204" pitchFamily="18" charset="0"/>
                      </a:rPr>
                      <m:t>π</m:t>
                    </m:r>
                    <m:sSup>
                      <m:e>
                        <m:r>
                          <a:rPr lang="en-IN" sz="2400" i="1">
                            <a:solidFill>
                              <a:srgbClr val="111827"/>
                            </a:solidFill>
                            <a:latin typeface="Cambria Math" panose="02040503050406030204" pitchFamily="18" charset="0"/>
                          </a:rPr>
                          <m:t>ℎ</m:t>
                        </m:r>
                      </m:e>
                      <m:sup>
                        <m:r>
                          <a:rPr lang="en-IN" sz="2400" i="1">
                            <a:solidFill>
                              <a:srgbClr val="111827"/>
                            </a:solidFill>
                            <a:latin typeface="Cambria Math" panose="02040503050406030204" pitchFamily="18" charset="0"/>
                          </a:rPr>
                          <m:t>3</m:t>
                        </m:r>
                      </m:sup>
                    </m:sSup>
                    <m:sSup>
                      <m:e>
                        <m:r>
                          <m:rPr>
                            <m:sty m:val="p"/>
                          </m:rPr>
                          <a:rPr lang="en-IN" sz="2400">
                            <a:solidFill>
                              <a:srgbClr val="111827"/>
                            </a:solidFill>
                            <a:latin typeface="Cambria Math" panose="02040503050406030204" pitchFamily="18" charset="0"/>
                          </a:rPr>
                          <m:t>tan</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48</m:t>
                        </m:r>
                      </m:den>
                    </m:f>
                    <m:sSup>
                      <m:e>
                        <m:r>
                          <a:rPr lang="en-IN" sz="2400" i="1">
                            <a:solidFill>
                              <a:srgbClr val="111827"/>
                            </a:solidFill>
                            <a:latin typeface="Cambria Math" panose="02040503050406030204" pitchFamily="18" charset="0"/>
                          </a:rPr>
                          <m:t>ℎ</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16</m:t>
                        </m:r>
                      </m:den>
                    </m:f>
                    <m:sSup>
                      <m:e>
                        <m:r>
                          <a:rPr lang="en-IN" sz="2400" i="1">
                            <a:solidFill>
                              <a:srgbClr val="111827"/>
                            </a:solidFill>
                            <a:latin typeface="Cambria Math" panose="02040503050406030204" pitchFamily="18" charset="0"/>
                          </a:rPr>
                          <m:t>ℎ</m:t>
                        </m:r>
                      </m:e>
                      <m:sup>
                        <m:r>
                          <a:rPr lang="en-IN" sz="2400" i="1">
                            <a:solidFill>
                              <a:srgbClr val="111827"/>
                            </a:solidFill>
                            <a:latin typeface="Cambria Math" panose="02040503050406030204" pitchFamily="18" charset="0"/>
                          </a:rPr>
                          <m:t>3</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𝑉</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16</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ℎ</m:t>
                        </m:r>
                      </m:e>
                      <m:sup>
                        <m:r>
                          <a:rPr lang="en-IN" sz="2400" i="1">
                            <a:solidFill>
                              <a:srgbClr val="111827"/>
                            </a:solidFill>
                            <a:latin typeface="Cambria Math" panose="02040503050406030204" pitchFamily="18" charset="0"/>
                          </a:rPr>
                          <m:t>2</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ℎ</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At </a:t>
                </a:r>
                <a14:m>
                  <m:oMath xmlns:m="http://schemas.openxmlformats.org/officeDocument/2006/math">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16</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a:rPr lang="en-IN" sz="2400" i="1">
                        <a:solidFill>
                          <a:srgbClr val="111827"/>
                        </a:solidFill>
                        <a:latin typeface="Cambria Math" panose="02040503050406030204" pitchFamily="18" charset="0"/>
                      </a:rPr>
                      <m:t> </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ℎ</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ℎ</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π</m:t>
                        </m:r>
                      </m:den>
                    </m:f>
                  </m:oMath>
                </a14:m>
                <a:r>
                  <a:rPr sz="2400" b="0">
                    <a:solidFill>
                      <a:srgbClr val="111827"/>
                    </a:solidFill>
                    <a:latin typeface="Arial"/>
                  </a:rPr>
                  <a:t> m/hr.</a:t>
                </a:r>
                <a:endParaRPr sz="2400">
                  <a:solidFill>
                    <a:srgbClr val="111827"/>
                  </a:solidFill>
                </a:endParaRPr>
              </a:p>
            </p:txBody>
          </p:sp>
        </mc:Choice>
        <mc:Fallback>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$\tan\theta=\frac34=\frac rh$</a:t>
                </a:r>
                <a:r>
                  <a:rPr sz="2400" b="0">
                    <a:solidFill>
                      <a:srgbClr val="111827"/>
                    </a:solidFill>
                    <a:latin typeface="Arial"/>
                  </a:rPr>
                  <a:t>, so </a:t>
                </a:r>
                <a:r>
                  <a:rPr lang="en-IN" sz="2400">
                    <a:solidFill>
                      <a:srgbClr val="111827"/>
                    </a:solidFill>
                    <a:latin typeface="Cambria Math" panose="02040503050406030204" pitchFamily="18" charset="0"/>
                  </a:rPr>
                  <a:t>$r=\frac{3h}{4}$</a:t>
                </a:r>
                <a:r>
                  <a:rPr sz="2400" b="0">
                    <a:solidFill>
                      <a:srgbClr val="111827"/>
                    </a:solidFill>
                    <a:latin typeface="Arial"/>
                  </a:rPr>
                  <a:t> and slant height </a:t>
                </a:r>
                <a:r>
                  <a:rPr lang="en-IN" sz="2400">
                    <a:solidFill>
                      <a:srgbClr val="111827"/>
                    </a:solidFill>
                    <a:latin typeface="Cambria Math" panose="02040503050406030204" pitchFamily="18" charset="0"/>
                  </a:rPr>
                  <a:t>$\ell=\sqrt{r^2+h^2}=\frac{5h}{4}$</a:t>
                </a:r>
                <a:r>
                  <a:rPr sz="2400" b="0">
                    <a:solidFill>
                      <a:srgbClr val="111827"/>
                    </a:solidFill>
                    <a:latin typeface="Arial"/>
                  </a:rPr>
                  <a:t>. Given </a:t>
                </a:r>
                <a:r>
                  <a:rPr lang="en-IN" sz="2400">
                    <a:solidFill>
                      <a:srgbClr val="111827"/>
                    </a:solidFill>
                    <a:latin typeface="Cambria Math" panose="02040503050406030204" pitchFamily="18" charset="0"/>
                  </a:rPr>
                  <a:t>$\frac{dV}{dt}=6$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$V=\frac13\pi r^2h=\frac13\pi h^3\tan^2\theta=\frac{9\pi}{48}h^3=\frac{3\pi}{16}h^3$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$\frac{dV}{dt}=\frac{3\pi}{16}\cdot3h^2\frac{dh}{dt}=6$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At </a:t>
                </a:r>
                <a:r>
                  <a:rPr lang="en-IN" sz="2400">
                    <a:solidFill>
                      <a:srgbClr val="111827"/>
                    </a:solidFill>
                    <a:latin typeface="Cambria Math" panose="02040503050406030204" pitchFamily="18" charset="0"/>
                  </a:rPr>
                  <a:t>$h=4$</a:t>
                </a:r>
                <a:r>
                  <a:rPr sz="2400" b="0">
                    <a:solidFill>
                      <a:srgbClr val="111827"/>
                    </a:solidFill>
                    <a:latin typeface="Arial"/>
                  </a:rPr>
                  <a:t>: </a:t>
                </a:r>
                <a:r>
                  <a:rPr lang="en-IN" sz="2400">
                    <a:solidFill>
                      <a:srgbClr val="111827"/>
                    </a:solidFill>
                    <a:latin typeface="Cambria Math" panose="02040503050406030204" pitchFamily="18" charset="0"/>
                  </a:rPr>
                  <a:t>$\frac{9\pi}{16}\cdot16\,\frac{dh}{dt}=6\Rightarrow\frac{dh}{dt}=\frac{2}{3\pi}$</a:t>
                </a:r>
                <a:r>
                  <a:rPr sz="2400" b="0">
                    <a:solidFill>
                      <a:srgbClr val="111827"/>
                    </a:solidFill>
                    <a:latin typeface="Arial"/>
                  </a:rPr>
                  <a:t> m/hr.</a:t>
                </a:r>
                <a:endParaRPr sz="2400">
                  <a:solidFill>
                    <a:srgbClr val="111827"/>
                  </a:solidFill>
                </a:endParaRPr>
              </a:p>
            </p:txBody>
          </p:sp>
        </mc:Fallback>
      </mc:AlternateContent>
    </p:spTree>
  </p:cSld>
  <p:clrMapOvr>
    <a:masterClrMapping/>
  </p:clrMapOvr>
</p:sld>
</file>

<file path=ppt/slides/slide2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Curved surface area </a:t>
                </a: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r>
                      <a:rPr lang="en-IN" sz="2400" i="1">
                        <a:solidFill>
                          <a:srgbClr val="111827"/>
                        </a:solidFill>
                        <a:latin typeface="Cambria Math" panose="02040503050406030204" pitchFamily="18" charset="0"/>
                      </a:rPr>
                      <m:t>𝑟</m:t>
                    </m:r>
                    <m:r>
                      <a:rPr lang="en-IN" sz="2400" i="1">
                        <a:solidFill>
                          <a:srgbClr val="111827"/>
                        </a:solidFill>
                        <a:latin typeface="Cambria Math" panose="02040503050406030204" pitchFamily="18" charset="0"/>
                      </a:rPr>
                      <m:t>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ℎ</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ℎ</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15</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16</m:t>
                        </m:r>
                      </m:den>
                    </m:f>
                    <m:sSup>
                      <m:e>
                        <m:r>
                          <a:rPr lang="en-IN" sz="2400" i="1">
                            <a:solidFill>
                              <a:srgbClr val="111827"/>
                            </a:solidFill>
                            <a:latin typeface="Cambria Math" panose="02040503050406030204" pitchFamily="18" charset="0"/>
                          </a:rPr>
                          <m:t>ℎ</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𝑆</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15</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16</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ℎ</m:t>
                    </m:r>
                    <m:r>
                      <a:rPr lang="en-IN" sz="2400" i="1">
                        <a:solidFill>
                          <a:srgbClr val="111827"/>
                        </a:solidFill>
                        <a:latin typeface="Cambria Math" panose="02040503050406030204" pitchFamily="18" charset="0"/>
                      </a:rPr>
                      <m:t> </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ℎ</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15</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8</m:t>
                        </m:r>
                      </m:den>
                    </m:f>
                    <m:r>
                      <a:rPr lang="en-IN" sz="2400" i="1">
                        <a:solidFill>
                          <a:srgbClr val="111827"/>
                        </a:solidFill>
                        <a:latin typeface="Cambria Math" panose="02040503050406030204" pitchFamily="18" charset="0"/>
                      </a:rPr>
                      <m:t>ℎ</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ℎ</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At </a:t>
                </a:r>
                <a14:m>
                  <m:oMath xmlns:m="http://schemas.openxmlformats.org/officeDocument/2006/math">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𝑆</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15</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8</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π</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square metres per hour.</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Curved surface area </a:t>
                </a:r>
                <a:r>
                  <a:rPr lang="en-IN" sz="2400">
                    <a:solidFill>
                      <a:srgbClr val="111827"/>
                    </a:solidFill>
                    <a:latin typeface="Cambria Math" panose="02040503050406030204" pitchFamily="18" charset="0"/>
                  </a:rPr>
                  <a:t>$S=\pi r\ell=\pi\cdot\frac{3h}{4}\cdot\frac{5h}{4}=\frac{15\pi}{16}h^2$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$\frac{dS}{dt}=\frac{15\pi}{16}\cdot2h\,\frac{dh}{dt}=\frac{15\pi}{8}h\frac{dh}{dt}$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At </a:t>
                </a:r>
                <a:r>
                  <a:rPr lang="en-IN" sz="2400">
                    <a:solidFill>
                      <a:srgbClr val="111827"/>
                    </a:solidFill>
                    <a:latin typeface="Cambria Math" panose="02040503050406030204" pitchFamily="18" charset="0"/>
                  </a:rPr>
                  <a:t>$h=4$</a:t>
                </a:r>
                <a:r>
                  <a:rPr sz="2400" b="0">
                    <a:solidFill>
                      <a:srgbClr val="111827"/>
                    </a:solidFill>
                    <a:latin typeface="Arial"/>
                  </a:rPr>
                  <a:t>: </a:t>
                </a:r>
                <a:r>
                  <a:rPr lang="en-IN" sz="2400">
                    <a:solidFill>
                      <a:srgbClr val="111827"/>
                    </a:solidFill>
                    <a:latin typeface="Cambria Math" panose="02040503050406030204" pitchFamily="18" charset="0"/>
                  </a:rPr>
                  <a:t>$\frac{dS}{dt}=\frac{15\pi}{8}\cdot4\cdot\frac{2}{3\pi}=5$</a:t>
                </a:r>
                <a:r>
                  <a:rPr sz="2400" b="0">
                    <a:solidFill>
                      <a:srgbClr val="111827"/>
                    </a:solidFill>
                    <a:latin typeface="Arial"/>
                  </a:rPr>
                  <a:t> square metres per hour.</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5</a:t>
            </a:r>
            <a:endParaRPr sz="2800">
              <a:solidFill>
                <a:srgbClr val="15803D"/>
              </a:solidFill>
            </a:endParaRPr>
          </a:p>
        </p:txBody>
      </p:sp>
    </p:spTree>
  </p:cSld>
  <p:clrMapOvr>
    <a:masterClrMapping/>
  </p:clrMapOvr>
</p:sld>
</file>

<file path=ppt/slides/slide2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a:t>
                </a:r>
                <a14:m>
                  <m:oMath xmlns:m="http://schemas.openxmlformats.org/officeDocument/2006/math">
                    <m:r>
                      <a:rPr lang="en-IN" sz="2400" i="1">
                        <a:solidFill>
                          <a:srgbClr val="78350F"/>
                        </a:solidFill>
                        <a:latin typeface="Cambria Math" panose="02040503050406030204" pitchFamily="18" charset="0"/>
                      </a:rPr>
                      <m:t>ℓ</m:t>
                    </m:r>
                  </m:oMath>
                </a14:m>
                <a:r>
                  <a:rPr sz="2400" b="0">
                    <a:solidFill>
                      <a:srgbClr val="78350F"/>
                    </a:solidFill>
                    <a:latin typeface="Arial"/>
                  </a:rPr>
                  <a:t> (slant height) as the variable and the ratio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𝑑</m:t>
                        </m:r>
                        <m:r>
                          <a:rPr lang="en-IN" sz="2400" i="1">
                            <a:solidFill>
                              <a:srgbClr val="78350F"/>
                            </a:solidFill>
                            <a:latin typeface="Cambria Math" panose="02040503050406030204" pitchFamily="18" charset="0"/>
                          </a:rPr>
                          <m:t>𝑆</m:t>
                        </m:r>
                      </m:num>
                      <m:den>
                        <m:r>
                          <a:rPr lang="en-IN" sz="2400" i="1">
                            <a:solidFill>
                              <a:srgbClr val="78350F"/>
                            </a:solidFill>
                            <a:latin typeface="Cambria Math" panose="02040503050406030204" pitchFamily="18" charset="0"/>
                          </a:rPr>
                          <m:t>𝑑</m:t>
                        </m:r>
                        <m:r>
                          <a:rPr lang="en-IN" sz="2400" i="1">
                            <a:solidFill>
                              <a:srgbClr val="78350F"/>
                            </a:solidFill>
                            <a:latin typeface="Cambria Math" panose="02040503050406030204" pitchFamily="18" charset="0"/>
                          </a:rPr>
                          <m:t>𝑉</m:t>
                        </m:r>
                      </m:den>
                    </m:f>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a:t>
                </a:r>
                <a:r>
                  <a:rPr lang="en-IN" sz="2400">
                    <a:solidFill>
                      <a:srgbClr val="78350F"/>
                    </a:solidFill>
                    <a:latin typeface="Cambria Math" panose="02040503050406030204" pitchFamily="18" charset="0"/>
                  </a:rPr>
                  <a:t>$\ell$</a:t>
                </a:r>
                <a:r>
                  <a:rPr sz="2400" b="0">
                    <a:solidFill>
                      <a:srgbClr val="78350F"/>
                    </a:solidFill>
                    <a:latin typeface="Arial"/>
                  </a:rPr>
                  <a:t> (slant height) as the variable and the ratio </a:t>
                </a:r>
                <a:r>
                  <a:rPr lang="en-IN" sz="2400">
                    <a:solidFill>
                      <a:srgbClr val="78350F"/>
                    </a:solidFill>
                    <a:latin typeface="Cambria Math" panose="02040503050406030204" pitchFamily="18" charset="0"/>
                  </a:rPr>
                  <a:t>$\frac{dS}{dV}$</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With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ℓ</m:t>
                        </m:r>
                      </m:num>
                      <m:den>
                        <m:r>
                          <a:rPr lang="en-IN" sz="2400" i="1">
                            <a:solidFill>
                              <a:srgbClr val="111827"/>
                            </a:solidFill>
                            <a:latin typeface="Cambria Math" panose="02040503050406030204" pitchFamily="18" charset="0"/>
                          </a:rPr>
                          <m:t>5</m:t>
                        </m:r>
                      </m:den>
                    </m:f>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ℓ</m:t>
                        </m:r>
                      </m:num>
                      <m:den>
                        <m:r>
                          <a:rPr lang="en-IN" sz="2400" i="1">
                            <a:solidFill>
                              <a:srgbClr val="111827"/>
                            </a:solidFill>
                            <a:latin typeface="Cambria Math" panose="02040503050406030204" pitchFamily="18" charset="0"/>
                          </a:rPr>
                          <m:t>5</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𝑉</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r>
                      <a:rPr lang="en-IN" sz="2400" i="1">
                        <a:solidFill>
                          <a:srgbClr val="111827"/>
                        </a:solidFill>
                        <a:latin typeface="Cambria Math" panose="02040503050406030204" pitchFamily="18" charset="0"/>
                      </a:rPr>
                      <m:t>π</m:t>
                    </m:r>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125</m:t>
                        </m:r>
                      </m:den>
                    </m:f>
                    <m:sSup>
                      <m:e>
                        <m:r>
                          <a:rPr lang="en-IN" sz="2400" i="1">
                            <a:solidFill>
                              <a:srgbClr val="111827"/>
                            </a:solidFill>
                            <a:latin typeface="Cambria Math" panose="02040503050406030204" pitchFamily="18" charset="0"/>
                          </a:rPr>
                          <m:t>ℓ</m:t>
                        </m:r>
                      </m:e>
                      <m:sup>
                        <m:r>
                          <a:rPr lang="en-IN" sz="2400" i="1">
                            <a:solidFill>
                              <a:srgbClr val="111827"/>
                            </a:solidFill>
                            <a:latin typeface="Cambria Math" panose="02040503050406030204" pitchFamily="18" charset="0"/>
                          </a:rPr>
                          <m:t>3</m:t>
                        </m:r>
                      </m:sup>
                    </m:sSup>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r>
                      <a:rPr lang="en-IN" sz="2400" i="1">
                        <a:solidFill>
                          <a:srgbClr val="111827"/>
                        </a:solidFill>
                        <a:latin typeface="Cambria Math" panose="02040503050406030204" pitchFamily="18" charset="0"/>
                      </a:rPr>
                      <m:t>𝑟</m:t>
                    </m:r>
                    <m:r>
                      <a:rPr lang="en-IN" sz="2400" i="1">
                        <a:solidFill>
                          <a:srgbClr val="111827"/>
                        </a:solidFill>
                        <a:latin typeface="Cambria Math" panose="02040503050406030204" pitchFamily="18" charset="0"/>
                      </a:rPr>
                      <m:t>ℓ</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5</m:t>
                        </m:r>
                      </m:den>
                    </m:f>
                    <m:sSup>
                      <m:e>
                        <m:r>
                          <a:rPr lang="en-IN" sz="2400" i="1">
                            <a:solidFill>
                              <a:srgbClr val="111827"/>
                            </a:solidFill>
                            <a:latin typeface="Cambria Math" panose="02040503050406030204" pitchFamily="18" charset="0"/>
                          </a:rPr>
                          <m:t>ℓ</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𝑉</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ℓ</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36</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125</m:t>
                        </m:r>
                      </m:den>
                    </m:f>
                    <m:sSup>
                      <m:e>
                        <m:r>
                          <a:rPr lang="en-IN" sz="2400" i="1">
                            <a:solidFill>
                              <a:srgbClr val="111827"/>
                            </a:solidFill>
                            <a:latin typeface="Cambria Math" panose="02040503050406030204" pitchFamily="18" charset="0"/>
                          </a:rPr>
                          <m:t>ℓ</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and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𝑆</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ℓ</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5</m:t>
                        </m:r>
                      </m:den>
                    </m:f>
                    <m:r>
                      <a:rPr lang="en-IN" sz="2400" i="1">
                        <a:solidFill>
                          <a:srgbClr val="111827"/>
                        </a:solidFill>
                        <a:latin typeface="Cambria Math" panose="02040503050406030204" pitchFamily="18" charset="0"/>
                      </a:rPr>
                      <m:t>ℓ</m:t>
                    </m:r>
                  </m:oMath>
                </a14:m>
                <a:r>
                  <a:rPr sz="2400" b="0">
                    <a:solidFill>
                      <a:srgbClr val="111827"/>
                    </a:solidFill>
                    <a:latin typeface="Arial"/>
                  </a:rPr>
                  <a:t>, so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𝑆</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𝑉</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π</m:t>
                        </m:r>
                        <m:r>
                          <a:rPr lang="en-IN" sz="2400" i="1">
                            <a:solidFill>
                              <a:srgbClr val="111827"/>
                            </a:solidFill>
                            <a:latin typeface="Cambria Math" panose="02040503050406030204" pitchFamily="18" charset="0"/>
                          </a:rPr>
                          <m:t>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36</m:t>
                        </m:r>
                        <m:r>
                          <a:rPr lang="en-IN" sz="2400" i="1">
                            <a:solidFill>
                              <a:srgbClr val="111827"/>
                            </a:solidFill>
                            <a:latin typeface="Cambria Math" panose="02040503050406030204" pitchFamily="18" charset="0"/>
                          </a:rPr>
                          <m:t>π</m:t>
                        </m:r>
                        <m:sSup>
                          <m:e>
                            <m:r>
                              <a:rPr lang="en-IN" sz="2400" i="1">
                                <a:solidFill>
                                  <a:srgbClr val="111827"/>
                                </a:solidFill>
                                <a:latin typeface="Cambria Math" panose="02040503050406030204" pitchFamily="18" charset="0"/>
                              </a:rPr>
                              <m:t>ℓ</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125</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25</m:t>
                        </m:r>
                      </m:num>
                      <m:den>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ℓ</m:t>
                        </m:r>
                      </m:den>
                    </m:f>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With </a:t>
                </a:r>
                <a:r>
                  <a:rPr lang="en-IN" sz="2400">
                    <a:solidFill>
                      <a:srgbClr val="111827"/>
                    </a:solidFill>
                    <a:latin typeface="Cambria Math" panose="02040503050406030204" pitchFamily="18" charset="0"/>
                  </a:rPr>
                  <a:t>$r=\frac{3\ell}{5}$</a:t>
                </a:r>
                <a:r>
                  <a:rPr sz="2400" b="0">
                    <a:solidFill>
                      <a:srgbClr val="111827"/>
                    </a:solidFill>
                    <a:latin typeface="Arial"/>
                  </a:rPr>
                  <a:t> and </a:t>
                </a:r>
                <a:r>
                  <a:rPr lang="en-IN" sz="2400">
                    <a:solidFill>
                      <a:srgbClr val="111827"/>
                    </a:solidFill>
                    <a:latin typeface="Cambria Math" panose="02040503050406030204" pitchFamily="18" charset="0"/>
                  </a:rPr>
                  <a:t>$h=\frac{4\ell}{5}$</a:t>
                </a:r>
                <a:r>
                  <a:rPr sz="2400" b="0">
                    <a:solidFill>
                      <a:srgbClr val="111827"/>
                    </a:solidFill>
                    <a:latin typeface="Arial"/>
                  </a:rPr>
                  <a:t>: </a:t>
                </a:r>
                <a:r>
                  <a:rPr lang="en-IN" sz="2400">
                    <a:solidFill>
                      <a:srgbClr val="111827"/>
                    </a:solidFill>
                    <a:latin typeface="Cambria Math" panose="02040503050406030204" pitchFamily="18" charset="0"/>
                  </a:rPr>
                  <a:t>$V=\frac13\pi r^2h=\frac{12\pi}{125}\ell^3$</a:t>
                </a:r>
                <a:r>
                  <a:rPr sz="2400" b="0">
                    <a:solidFill>
                      <a:srgbClr val="111827"/>
                    </a:solidFill>
                    <a:latin typeface="Arial"/>
                  </a:rPr>
                  <a:t> and </a:t>
                </a:r>
                <a:r>
                  <a:rPr lang="en-IN" sz="2400">
                    <a:solidFill>
                      <a:srgbClr val="111827"/>
                    </a:solidFill>
                    <a:latin typeface="Cambria Math" panose="02040503050406030204" pitchFamily="18" charset="0"/>
                  </a:rPr>
                  <a:t>$S=\pi r\ell=\frac{3\pi}{5}\ell^2$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$\frac{dV}{d\ell}=\frac{36\pi}{125}\ell^2$</a:t>
                </a:r>
                <a:r>
                  <a:rPr sz="2400" b="0">
                    <a:solidFill>
                      <a:srgbClr val="111827"/>
                    </a:solidFill>
                    <a:latin typeface="Arial"/>
                  </a:rPr>
                  <a:t> and </a:t>
                </a:r>
                <a:r>
                  <a:rPr lang="en-IN" sz="2400">
                    <a:solidFill>
                      <a:srgbClr val="111827"/>
                    </a:solidFill>
                    <a:latin typeface="Cambria Math" panose="02040503050406030204" pitchFamily="18" charset="0"/>
                  </a:rPr>
                  <a:t>$\frac{dS}{d\ell}=\frac{6\pi}{5}\ell$</a:t>
                </a:r>
                <a:r>
                  <a:rPr sz="2400" b="0">
                    <a:solidFill>
                      <a:srgbClr val="111827"/>
                    </a:solidFill>
                    <a:latin typeface="Arial"/>
                  </a:rPr>
                  <a:t>, so </a:t>
                </a:r>
                <a:r>
                  <a:rPr lang="en-IN" sz="2400">
                    <a:solidFill>
                      <a:srgbClr val="111827"/>
                    </a:solidFill>
                    <a:latin typeface="Cambria Math" panose="02040503050406030204" pitchFamily="18" charset="0"/>
                  </a:rPr>
                  <a:t>$\frac{dS}{dV}=\frac{6\pi\ell/5}{36\pi\ell^2/125}=\frac{25}{6\ell}$</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At depth </a:t>
                </a:r>
                <a14:m>
                  <m:oMath xmlns:m="http://schemas.openxmlformats.org/officeDocument/2006/math">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so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𝑆</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𝑉</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25</m:t>
                        </m:r>
                      </m:num>
                      <m:den>
                        <m:r>
                          <a:rPr lang="en-IN" sz="2400" i="1">
                            <a:solidFill>
                              <a:srgbClr val="111827"/>
                            </a:solidFill>
                            <a:latin typeface="Cambria Math" panose="02040503050406030204" pitchFamily="18" charset="0"/>
                          </a:rPr>
                          <m:t>30</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6</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𝑆</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𝑆</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𝑉</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𝑉</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square metres per hour.</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At depth </a:t>
                </a:r>
                <a:r>
                  <a:rPr lang="en-IN" sz="2400">
                    <a:solidFill>
                      <a:srgbClr val="111827"/>
                    </a:solidFill>
                    <a:latin typeface="Cambria Math" panose="02040503050406030204" pitchFamily="18" charset="0"/>
                  </a:rPr>
                  <a:t>$h=4$</a:t>
                </a:r>
                <a:r>
                  <a:rPr sz="2400" b="0">
                    <a:solidFill>
                      <a:srgbClr val="111827"/>
                    </a:solidFill>
                    <a:latin typeface="Arial"/>
                  </a:rPr>
                  <a:t>, </a:t>
                </a:r>
                <a:r>
                  <a:rPr lang="en-IN" sz="2400">
                    <a:solidFill>
                      <a:srgbClr val="111827"/>
                    </a:solidFill>
                    <a:latin typeface="Cambria Math" panose="02040503050406030204" pitchFamily="18" charset="0"/>
                  </a:rPr>
                  <a:t>$\ell=5$</a:t>
                </a:r>
                <a:r>
                  <a:rPr sz="2400" b="0">
                    <a:solidFill>
                      <a:srgbClr val="111827"/>
                    </a:solidFill>
                    <a:latin typeface="Arial"/>
                  </a:rPr>
                  <a:t>, so </a:t>
                </a:r>
                <a:r>
                  <a:rPr lang="en-IN" sz="2400">
                    <a:solidFill>
                      <a:srgbClr val="111827"/>
                    </a:solidFill>
                    <a:latin typeface="Cambria Math" panose="02040503050406030204" pitchFamily="18" charset="0"/>
                  </a:rPr>
                  <a:t>$\frac{dS}{dV}=\frac{25}{30}=\frac56$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$\frac{dS}{dt}=\frac{dS}{dV}\cdot\frac{dV}{dt}=\frac56\cdot6=5$</a:t>
                </a:r>
                <a:r>
                  <a:rPr sz="2400" b="0">
                    <a:solidFill>
                      <a:srgbClr val="111827"/>
                    </a:solidFill>
                    <a:latin typeface="Arial"/>
                  </a:rPr>
                  <a:t> square metres per hour.</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5</a:t>
            </a:r>
            <a:endParaRPr sz="2800">
              <a:solidFill>
                <a:srgbClr val="15803D"/>
              </a:solidFill>
            </a:endParaRPr>
          </a:p>
        </p:txBody>
      </p:sp>
    </p:spTree>
  </p:cSld>
  <p:clrMapOvr>
    <a:masterClrMapping/>
  </p:clrMapOvr>
</p:sld>
</file>

<file path=ppt/slides/slide2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 cone of fixed shape every length scales together: </a:t>
                </a:r>
                <a14:m>
                  <m:oMath xmlns:m="http://schemas.openxmlformats.org/officeDocument/2006/math">
                    <m:r>
                      <a:rPr lang="en-IN" sz="2400" i="1">
                        <a:solidFill>
                          <a:srgbClr val="111827"/>
                        </a:solidFill>
                        <a:latin typeface="Cambria Math" panose="02040503050406030204" pitchFamily="18" charset="0"/>
                      </a:rPr>
                      <m:t>𝑉</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ℎ</m:t>
                        </m:r>
                      </m:e>
                      <m:sup>
                        <m:r>
                          <a:rPr lang="en-IN" sz="2400" i="1">
                            <a:solidFill>
                              <a:srgbClr val="111827"/>
                            </a:solidFill>
                            <a:latin typeface="Cambria Math" panose="02040503050406030204" pitchFamily="18" charset="0"/>
                          </a:rPr>
                          <m:t>3</m:t>
                        </m:r>
                      </m:sup>
                    </m:sSup>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ℎ</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so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𝑆</m:t>
                        </m:r>
                      </m:num>
                      <m:den>
                        <m:r>
                          <a:rPr lang="en-IN" sz="2400" i="1">
                            <a:solidFill>
                              <a:srgbClr val="111827"/>
                            </a:solidFill>
                            <a:latin typeface="Cambria Math" panose="02040503050406030204" pitchFamily="18" charset="0"/>
                          </a:rPr>
                          <m:t>𝑆</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𝑉</m:t>
                        </m:r>
                      </m:num>
                      <m:den>
                        <m:r>
                          <a:rPr lang="en-IN" sz="2400" i="1">
                            <a:solidFill>
                              <a:srgbClr val="111827"/>
                            </a:solidFill>
                            <a:latin typeface="Cambria Math" panose="02040503050406030204" pitchFamily="18" charset="0"/>
                          </a:rPr>
                          <m:t>𝑉</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15</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16</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a:rPr lang="en-IN" sz="2400" i="1">
                        <a:solidFill>
                          <a:srgbClr val="111827"/>
                        </a:solidFill>
                        <a:latin typeface="Cambria Math" panose="02040503050406030204" pitchFamily="18" charset="0"/>
                      </a:rPr>
                      <m:t>π</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𝑉</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16</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a:rPr lang="en-IN" sz="2400" i="1">
                        <a:solidFill>
                          <a:srgbClr val="111827"/>
                        </a:solidFill>
                        <a:latin typeface="Cambria Math" panose="02040503050406030204" pitchFamily="18" charset="0"/>
                      </a:rPr>
                      <m:t>π</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𝑆</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15</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12</m:t>
                        </m:r>
                        <m:r>
                          <a:rPr lang="en-IN" sz="2400" i="1">
                            <a:solidFill>
                              <a:srgbClr val="111827"/>
                            </a:solidFill>
                            <a:latin typeface="Cambria Math" panose="02040503050406030204" pitchFamily="18" charset="0"/>
                          </a:rPr>
                          <m:t>π</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Related-rates recipe: write every quantity in one variable, differentiate with respect to </a:t>
                </a:r>
                <a14:m>
                  <m:oMath xmlns:m="http://schemas.openxmlformats.org/officeDocument/2006/math">
                    <m:r>
                      <a:rPr lang="en-IN" sz="2400" i="1">
                        <a:solidFill>
                          <a:srgbClr val="111827"/>
                        </a:solidFill>
                        <a:latin typeface="Cambria Math" panose="02040503050406030204" pitchFamily="18" charset="0"/>
                      </a:rPr>
                      <m:t>𝑡</m:t>
                    </m:r>
                  </m:oMath>
                </a14:m>
                <a:r>
                  <a:rPr sz="2400" b="0">
                    <a:solidFill>
                      <a:srgbClr val="111827"/>
                    </a:solidFill>
                    <a:latin typeface="Arial"/>
                  </a:rPr>
                  <a:t>, then substitute the instant's value.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Semi-vertical angle </a:t>
                </a:r>
                <a14:m>
                  <m:oMath xmlns:m="http://schemas.openxmlformats.org/officeDocument/2006/math">
                    <m:r>
                      <a:rPr lang="en-IN" sz="2400" i="1">
                        <a:solidFill>
                          <a:srgbClr val="111827"/>
                        </a:solidFill>
                        <a:latin typeface="Cambria Math" panose="02040503050406030204" pitchFamily="18" charset="0"/>
                      </a:rPr>
                      <m:t>θ</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tan</m:t>
                    </m:r>
                    <m:r>
                      <a:rPr lang="en-IN" sz="2400" i="1">
                        <a:solidFill>
                          <a:srgbClr val="111827"/>
                        </a:solidFill>
                        <a:latin typeface="Cambria Math" panose="02040503050406030204" pitchFamily="18" charset="0"/>
                      </a:rPr>
                      <m:t>θ</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sec</m:t>
                    </m:r>
                    <m:r>
                      <a:rPr lang="en-IN" sz="2400" i="1">
                        <a:solidFill>
                          <a:srgbClr val="111827"/>
                        </a:solidFill>
                        <a:latin typeface="Cambria Math" panose="02040503050406030204" pitchFamily="18" charset="0"/>
                      </a:rPr>
                      <m:t>θ</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 cone of fixed shape every length scales together: </a:t>
                </a:r>
                <a:r>
                  <a:rPr lang="en-IN" sz="2400">
                    <a:solidFill>
                      <a:srgbClr val="111827"/>
                    </a:solidFill>
                    <a:latin typeface="Cambria Math" panose="02040503050406030204" pitchFamily="18" charset="0"/>
                  </a:rPr>
                  <a:t>$V\propto h^3$</a:t>
                </a:r>
                <a:r>
                  <a:rPr sz="2400" b="0">
                    <a:solidFill>
                      <a:srgbClr val="111827"/>
                    </a:solidFill>
                    <a:latin typeface="Arial"/>
                  </a:rPr>
                  <a:t>, </a:t>
                </a:r>
                <a:r>
                  <a:rPr lang="en-IN" sz="2400">
                    <a:solidFill>
                      <a:srgbClr val="111827"/>
                    </a:solidFill>
                    <a:latin typeface="Cambria Math" panose="02040503050406030204" pitchFamily="18" charset="0"/>
                  </a:rPr>
                  <a:t>$S\propto h^2$</a:t>
                </a:r>
                <a:r>
                  <a:rPr sz="2400" b="0">
                    <a:solidFill>
                      <a:srgbClr val="111827"/>
                    </a:solidFill>
                    <a:latin typeface="Arial"/>
                  </a:rPr>
                  <a:t>, so </a:t>
                </a:r>
                <a:r>
                  <a:rPr lang="en-IN" sz="2400">
                    <a:solidFill>
                      <a:srgbClr val="111827"/>
                    </a:solidFill>
                    <a:latin typeface="Cambria Math" panose="02040503050406030204" pitchFamily="18" charset="0"/>
                  </a:rPr>
                  <a:t>$\frac{dS}{S}=\frac23\frac{dV}{V}$</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r>
                  <a:rPr lang="en-IN" sz="2400">
                    <a:solidFill>
                      <a:srgbClr val="111827"/>
                    </a:solidFill>
                    <a:latin typeface="Cambria Math" panose="02040503050406030204" pitchFamily="18" charset="0"/>
                  </a:rPr>
                  <a:t>$S=\frac{15\pi}{16}\cdot16=15\pi$</a:t>
                </a:r>
                <a:r>
                  <a:rPr sz="2400" b="0">
                    <a:solidFill>
                      <a:srgbClr val="111827"/>
                    </a:solidFill>
                    <a:latin typeface="Arial"/>
                  </a:rPr>
                  <a:t>, </a:t>
                </a:r>
                <a:r>
                  <a:rPr lang="en-IN" sz="2400">
                    <a:solidFill>
                      <a:srgbClr val="111827"/>
                    </a:solidFill>
                    <a:latin typeface="Cambria Math" panose="02040503050406030204" pitchFamily="18" charset="0"/>
                  </a:rPr>
                  <a:t>$V=\frac{3\pi}{16}\cdot64=12\pi$</a:t>
                </a:r>
                <a:r>
                  <a:rPr sz="2400" b="0">
                    <a:solidFill>
                      <a:srgbClr val="111827"/>
                    </a:solidFill>
                    <a:latin typeface="Arial"/>
                  </a:rPr>
                  <a:t>; </a:t>
                </a:r>
                <a:r>
                  <a:rPr lang="en-IN" sz="2400">
                    <a:solidFill>
                      <a:srgbClr val="111827"/>
                    </a:solidFill>
                    <a:latin typeface="Cambria Math" panose="02040503050406030204" pitchFamily="18" charset="0"/>
                  </a:rPr>
                  <a:t>$\frac{dS}{dt}=\frac23\cdot\frac{15\pi}{12\pi}\cdot6=5$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Related-rates recipe: write every quantity in one variable, differentiate with respect to </a:t>
                </a:r>
                <a:r>
                  <a:rPr lang="en-IN" sz="2400">
                    <a:solidFill>
                      <a:srgbClr val="111827"/>
                    </a:solidFill>
                    <a:latin typeface="Cambria Math" panose="02040503050406030204" pitchFamily="18" charset="0"/>
                  </a:rPr>
                  <a:t>$t$</a:t>
                </a:r>
                <a:r>
                  <a:rPr sz="2400" b="0">
                    <a:solidFill>
                      <a:srgbClr val="111827"/>
                    </a:solidFill>
                    <a:latin typeface="Arial"/>
                  </a:rPr>
                  <a:t>, then substitute the instant's value.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Semi-vertical angle </a:t>
                </a:r>
                <a:r>
                  <a:rPr lang="en-IN" sz="2400">
                    <a:solidFill>
                      <a:srgbClr val="111827"/>
                    </a:solidFill>
                    <a:latin typeface="Cambria Math" panose="02040503050406030204" pitchFamily="18" charset="0"/>
                  </a:rPr>
                  <a:t>$\theta$</a:t>
                </a:r>
                <a:r>
                  <a:rPr sz="2400" b="0">
                    <a:solidFill>
                      <a:srgbClr val="111827"/>
                    </a:solidFill>
                    <a:latin typeface="Arial"/>
                  </a:rPr>
                  <a:t>: </a:t>
                </a:r>
                <a:r>
                  <a:rPr lang="en-IN" sz="2400">
                    <a:solidFill>
                      <a:srgbClr val="111827"/>
                    </a:solidFill>
                    <a:latin typeface="Cambria Math" panose="02040503050406030204" pitchFamily="18" charset="0"/>
                  </a:rPr>
                  <a:t>$r=h\tan\theta$</a:t>
                </a:r>
                <a:r>
                  <a:rPr sz="2400" b="0">
                    <a:solidFill>
                      <a:srgbClr val="111827"/>
                    </a:solidFill>
                    <a:latin typeface="Arial"/>
                  </a:rPr>
                  <a:t>, </a:t>
                </a:r>
                <a:r>
                  <a:rPr lang="en-IN" sz="2400">
                    <a:solidFill>
                      <a:srgbClr val="111827"/>
                    </a:solidFill>
                    <a:latin typeface="Cambria Math" panose="02040503050406030204" pitchFamily="18" charset="0"/>
                  </a:rPr>
                  <a:t>$\ell=h\sec\theta$</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the tangent to the curve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 at the point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also tangent to the curve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oMath>
                </a14:m>
                <a:r>
                  <a:rPr sz="2400" b="0">
                    <a:solidFill>
                      <a:srgbClr val="111827"/>
                    </a:solidFill>
                    <a:latin typeface="Arial"/>
                  </a:rPr>
                  <a:t> at the point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equal to ______.</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the tangent to the curve </a:t>
                </a:r>
                <a:r>
                  <a:rPr lang="en-IN" sz="2400">
                    <a:solidFill>
                      <a:srgbClr val="111827"/>
                    </a:solidFill>
                    <a:latin typeface="Cambria Math" panose="02040503050406030204" pitchFamily="18" charset="0"/>
                  </a:rPr>
                  <a:t>$y=x^3-x^2+x$</a:t>
                </a:r>
                <a:r>
                  <a:rPr sz="2400" b="0">
                    <a:solidFill>
                      <a:srgbClr val="111827"/>
                    </a:solidFill>
                    <a:latin typeface="Arial"/>
                  </a:rPr>
                  <a:t> at the point </a:t>
                </a:r>
                <a:r>
                  <a:rPr lang="en-IN" sz="2400">
                    <a:solidFill>
                      <a:srgbClr val="111827"/>
                    </a:solidFill>
                    <a:latin typeface="Cambria Math" panose="02040503050406030204" pitchFamily="18" charset="0"/>
                  </a:rPr>
                  <a:t>$(a,b)$</a:t>
                </a:r>
                <a:r>
                  <a:rPr sz="2400" b="0">
                    <a:solidFill>
                      <a:srgbClr val="111827"/>
                    </a:solidFill>
                    <a:latin typeface="Arial"/>
                  </a:rPr>
                  <a:t> is also tangent to the curve </a:t>
                </a:r>
                <a:r>
                  <a:rPr lang="en-IN" sz="2400">
                    <a:solidFill>
                      <a:srgbClr val="111827"/>
                    </a:solidFill>
                    <a:latin typeface="Cambria Math" panose="02040503050406030204" pitchFamily="18" charset="0"/>
                  </a:rPr>
                  <a:t>$y=5x^2+2x-25$</a:t>
                </a:r>
                <a:r>
                  <a:rPr sz="2400" b="0">
                    <a:solidFill>
                      <a:srgbClr val="111827"/>
                    </a:solidFill>
                    <a:latin typeface="Arial"/>
                  </a:rPr>
                  <a:t> at the point </a:t>
                </a:r>
                <a:r>
                  <a:rPr lang="en-IN" sz="2400">
                    <a:solidFill>
                      <a:srgbClr val="111827"/>
                    </a:solidFill>
                    <a:latin typeface="Cambria Math" panose="02040503050406030204" pitchFamily="18" charset="0"/>
                  </a:rPr>
                  <a:t>$(2,-1)$</a:t>
                </a:r>
                <a:r>
                  <a:rPr sz="2400" b="0">
                    <a:solidFill>
                      <a:srgbClr val="111827"/>
                    </a:solidFill>
                    <a:latin typeface="Arial"/>
                  </a:rPr>
                  <a:t>, then </a:t>
                </a:r>
                <a:r>
                  <a:rPr lang="en-IN" sz="2400">
                    <a:solidFill>
                      <a:srgbClr val="111827"/>
                    </a:solidFill>
                    <a:latin typeface="Cambria Math" panose="02040503050406030204" pitchFamily="18" charset="0"/>
                  </a:rPr>
                  <a:t>$|2a+9b|$</a:t>
                </a:r>
                <a:r>
                  <a:rPr sz="2400" b="0">
                    <a:solidFill>
                      <a:srgbClr val="111827"/>
                    </a:solidFill>
                    <a:latin typeface="Arial"/>
                  </a:rPr>
                  <a:t> is equal to ______.</a:t>
                </a:r>
                <a:endParaRPr sz="2400">
                  <a:solidFill>
                    <a:srgbClr val="111827"/>
                  </a:solidFill>
                </a:endParaRPr>
              </a:p>
            </p:txBody>
          </p:sp>
        </mc:Fallback>
      </mc:AlternateContent>
      <p:sp>
        <p:nvSpPr>
          <p:cNvPr id="5" name="Rectangle 4"/>
          <p:cNvSpPr/>
          <p:nvPr/>
        </p:nvSpPr>
        <p:spPr>
          <a:xfrm>
            <a:off x="731520" y="324612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Common tangent to two curves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2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line tangent at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is fixed (</a:t>
                </a:r>
                <a14:m>
                  <m:oMath xmlns:m="http://schemas.openxmlformats.org/officeDocument/2006/math">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22</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45</m:t>
                    </m:r>
                  </m:oMath>
                </a14:m>
                <a:r>
                  <a:rPr sz="2400" b="0">
                    <a:solidFill>
                      <a:srgbClr val="78350F"/>
                    </a:solidFill>
                    <a:latin typeface="Arial"/>
                  </a:rPr>
                  <a:t>); match its slope with the cubic's slope and keep the point that lies on this very line.</a:t>
                </a:r>
                <a:endParaRPr sz="2400">
                  <a:solidFill>
                    <a:srgbClr val="78350F"/>
                  </a:solidFill>
                </a:endParaRPr>
              </a:p>
            </p:txBody>
          </p:sp>
        </mc:Choice>
        <mc:Fallback>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line tangent at </a:t>
                </a:r>
                <a:r>
                  <a:rPr lang="en-IN" sz="2400">
                    <a:solidFill>
                      <a:srgbClr val="78350F"/>
                    </a:solidFill>
                    <a:latin typeface="Cambria Math" panose="02040503050406030204" pitchFamily="18" charset="0"/>
                  </a:rPr>
                  <a:t>$(2,-1)$</a:t>
                </a:r>
                <a:r>
                  <a:rPr sz="2400" b="0">
                    <a:solidFill>
                      <a:srgbClr val="78350F"/>
                    </a:solidFill>
                    <a:latin typeface="Arial"/>
                  </a:rPr>
                  <a:t> is fixed (</a:t>
                </a:r>
                <a:r>
                  <a:rPr lang="en-IN" sz="2400">
                    <a:solidFill>
                      <a:srgbClr val="78350F"/>
                    </a:solidFill>
                    <a:latin typeface="Cambria Math" panose="02040503050406030204" pitchFamily="18" charset="0"/>
                  </a:rPr>
                  <a:t>$y=22x-45$</a:t>
                </a:r>
                <a:r>
                  <a:rPr sz="2400" b="0">
                    <a:solidFill>
                      <a:srgbClr val="78350F"/>
                    </a:solidFill>
                    <a:latin typeface="Arial"/>
                  </a:rPr>
                  <a:t>); match its slope with the cubic's slope and keep the point that lies on this very line.</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slope is </a:t>
                </a:r>
                <a14:m>
                  <m:oMath xmlns:m="http://schemas.openxmlformats.org/officeDocument/2006/math">
                    <m:r>
                      <a:rPr lang="en-IN" sz="2400" i="1">
                        <a:solidFill>
                          <a:srgbClr val="111827"/>
                        </a:solidFill>
                        <a:latin typeface="Cambria Math" panose="02040503050406030204" pitchFamily="18" charset="0"/>
                      </a:rPr>
                      <m:t>22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Tangent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the cubic,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it equals </a:t>
                </a:r>
                <a14:m>
                  <m:oMath xmlns:m="http://schemas.openxmlformats.org/officeDocument/2006/math">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Equal slopes: </a:t>
                </a:r>
                <a14:m>
                  <m:oMath xmlns:m="http://schemas.openxmlformats.org/officeDocument/2006/math">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$y=5x^2+2x-25$</a:t>
                </a:r>
                <a:r>
                  <a:rPr sz="2400" b="0">
                    <a:solidFill>
                      <a:srgbClr val="111827"/>
                    </a:solidFill>
                    <a:latin typeface="Arial"/>
                  </a:rPr>
                  <a:t>, </a:t>
                </a:r>
                <a:r>
                  <a:rPr lang="en-IN" sz="2400">
                    <a:solidFill>
                      <a:srgbClr val="111827"/>
                    </a:solidFill>
                    <a:latin typeface="Cambria Math" panose="02040503050406030204" pitchFamily="18" charset="0"/>
                  </a:rPr>
                  <a:t>$y'=10x+2$</a:t>
                </a:r>
                <a:r>
                  <a:rPr sz="2400" b="0">
                    <a:solidFill>
                      <a:srgbClr val="111827"/>
                    </a:solidFill>
                    <a:latin typeface="Arial"/>
                  </a:rPr>
                  <a:t>; at </a:t>
                </a:r>
                <a:r>
                  <a:rPr lang="en-IN" sz="2400">
                    <a:solidFill>
                      <a:srgbClr val="111827"/>
                    </a:solidFill>
                    <a:latin typeface="Cambria Math" panose="02040503050406030204" pitchFamily="18" charset="0"/>
                  </a:rPr>
                  <a:t>$(2,-1)$</a:t>
                </a:r>
                <a:r>
                  <a:rPr sz="2400" b="0">
                    <a:solidFill>
                      <a:srgbClr val="111827"/>
                    </a:solidFill>
                    <a:latin typeface="Arial"/>
                  </a:rPr>
                  <a:t> the slope is </a:t>
                </a:r>
                <a:r>
                  <a:rPr lang="en-IN" sz="2400">
                    <a:solidFill>
                      <a:srgbClr val="111827"/>
                    </a:solidFill>
                    <a:latin typeface="Cambria Math" panose="02040503050406030204" pitchFamily="18" charset="0"/>
                  </a:rPr>
                  <a:t>$22$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Tangent at </a:t>
                </a:r>
                <a:r>
                  <a:rPr lang="en-IN" sz="2400">
                    <a:solidFill>
                      <a:srgbClr val="111827"/>
                    </a:solidFill>
                    <a:latin typeface="Cambria Math" panose="02040503050406030204" pitchFamily="18" charset="0"/>
                  </a:rPr>
                  <a:t>$(2,-1)$</a:t>
                </a:r>
                <a:r>
                  <a:rPr sz="2400" b="0">
                    <a:solidFill>
                      <a:srgbClr val="111827"/>
                    </a:solidFill>
                    <a:latin typeface="Arial"/>
                  </a:rPr>
                  <a:t>: </a:t>
                </a:r>
                <a:r>
                  <a:rPr lang="en-IN" sz="2400">
                    <a:solidFill>
                      <a:srgbClr val="111827"/>
                    </a:solidFill>
                    <a:latin typeface="Cambria Math" panose="02040503050406030204" pitchFamily="18" charset="0"/>
                  </a:rPr>
                  <a:t>$y+1=22(x-2)$</a:t>
                </a:r>
                <a:r>
                  <a:rPr sz="2400" b="0">
                    <a:solidFill>
                      <a:srgbClr val="111827"/>
                    </a:solidFill>
                    <a:latin typeface="Arial"/>
                  </a:rPr>
                  <a:t>, i.e. </a:t>
                </a:r>
                <a:r>
                  <a:rPr lang="en-IN" sz="2400">
                    <a:solidFill>
                      <a:srgbClr val="111827"/>
                    </a:solidFill>
                    <a:latin typeface="Cambria Math" panose="02040503050406030204" pitchFamily="18" charset="0"/>
                  </a:rPr>
                  <a:t>$y=22x-45$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the cubic, </a:t>
                </a:r>
                <a:r>
                  <a:rPr lang="en-IN" sz="2400">
                    <a:solidFill>
                      <a:srgbClr val="111827"/>
                    </a:solidFill>
                    <a:latin typeface="Cambria Math" panose="02040503050406030204" pitchFamily="18" charset="0"/>
                  </a:rPr>
                  <a:t>$\frac{dy}{dx}=3x^2-2x+1$</a:t>
                </a:r>
                <a:r>
                  <a:rPr sz="2400" b="0">
                    <a:solidFill>
                      <a:srgbClr val="111827"/>
                    </a:solidFill>
                    <a:latin typeface="Arial"/>
                  </a:rPr>
                  <a:t>, and at </a:t>
                </a:r>
                <a:r>
                  <a:rPr lang="en-IN" sz="2400">
                    <a:solidFill>
                      <a:srgbClr val="111827"/>
                    </a:solidFill>
                    <a:latin typeface="Cambria Math" panose="02040503050406030204" pitchFamily="18" charset="0"/>
                  </a:rPr>
                  <a:t>$(a,b)$</a:t>
                </a:r>
                <a:r>
                  <a:rPr sz="2400" b="0">
                    <a:solidFill>
                      <a:srgbClr val="111827"/>
                    </a:solidFill>
                    <a:latin typeface="Arial"/>
                  </a:rPr>
                  <a:t> it equals </a:t>
                </a:r>
                <a:r>
                  <a:rPr lang="en-IN" sz="2400">
                    <a:solidFill>
                      <a:srgbClr val="111827"/>
                    </a:solidFill>
                    <a:latin typeface="Cambria Math" panose="02040503050406030204" pitchFamily="18" charset="0"/>
                  </a:rPr>
                  <a:t>$3a^2-2a+1$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Equal slopes: </a:t>
                </a:r>
                <a:r>
                  <a:rPr lang="en-IN" sz="2400">
                    <a:solidFill>
                      <a:srgbClr val="111827"/>
                    </a:solidFill>
                    <a:latin typeface="Cambria Math" panose="02040503050406030204" pitchFamily="18" charset="0"/>
                  </a:rPr>
                  <a:t>$3a^2-2a+1=22\Rightarrow3a^2-2a-21=0$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22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oMath>
                </a14:m>
                <a:r>
                  <a:rPr sz="2400" b="0">
                    <a:solidFill>
                      <a:srgbClr val="111827"/>
                    </a:solidFill>
                    <a:latin typeface="Arial"/>
                  </a:rPr>
                  <a:t>, so the point lies on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45</m:t>
                    </m:r>
                  </m:oMath>
                </a14:m>
                <a:r>
                  <a:rPr sz="2400" b="0">
                    <a:solidFill>
                      <a:srgbClr val="111827"/>
                    </a:solidFill>
                    <a:latin typeface="Arial"/>
                  </a:rPr>
                  <a:t>: it is the same line.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343</m:t>
                        </m:r>
                      </m:num>
                      <m:den>
                        <m:r>
                          <a:rPr lang="en-IN" sz="2400" i="1">
                            <a:solidFill>
                              <a:srgbClr val="111827"/>
                            </a:solidFill>
                            <a:latin typeface="Cambria Math" panose="02040503050406030204" pitchFamily="18" charset="0"/>
                          </a:rPr>
                          <m:t>27</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49</m:t>
                        </m:r>
                      </m:num>
                      <m:den>
                        <m:r>
                          <a:rPr lang="en-IN" sz="2400" i="1">
                            <a:solidFill>
                              <a:srgbClr val="111827"/>
                            </a:solidFill>
                            <a:latin typeface="Cambria Math" panose="02040503050406030204" pitchFamily="18" charset="0"/>
                          </a:rPr>
                          <m:t>9</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343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63</m:t>
                        </m:r>
                      </m:num>
                      <m:den>
                        <m:r>
                          <a:rPr lang="en-IN" sz="2400" i="1">
                            <a:solidFill>
                              <a:srgbClr val="111827"/>
                            </a:solidFill>
                            <a:latin typeface="Cambria Math" panose="02040503050406030204" pitchFamily="18" charset="0"/>
                          </a:rPr>
                          <m:t>27</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553</m:t>
                        </m:r>
                      </m:num>
                      <m:den>
                        <m:r>
                          <a:rPr lang="en-IN" sz="2400" i="1">
                            <a:solidFill>
                              <a:srgbClr val="111827"/>
                            </a:solidFill>
                            <a:latin typeface="Cambria Math" panose="02040503050406030204" pitchFamily="18" charset="0"/>
                          </a:rPr>
                          <m:t>27</m:t>
                        </m:r>
                      </m:den>
                    </m:f>
                  </m:oMath>
                </a14:m>
                <a:r>
                  <a:rPr sz="2400" b="0">
                    <a:solidFill>
                      <a:srgbClr val="111827"/>
                    </a:solidFill>
                    <a:latin typeface="Arial"/>
                  </a:rPr>
                  <a:t>, but the line gives </a:t>
                </a:r>
                <a14:m>
                  <m:oMath xmlns:m="http://schemas.openxmlformats.org/officeDocument/2006/math">
                    <m:r>
                      <a:rPr lang="en-IN" sz="2400" i="1">
                        <a:solidFill>
                          <a:srgbClr val="111827"/>
                        </a:solidFill>
                        <a:latin typeface="Cambria Math" panose="02040503050406030204" pitchFamily="18" charset="0"/>
                      </a:rPr>
                      <m:t>22</m:t>
                    </m:r>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3</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289</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a parallel, different tangent. Rejected.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189</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195</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$3a^2-9a+7a-21=0\Rightarrow(3a+7)(a-3)=0$</a:t>
                </a:r>
                <a:r>
                  <a:rPr sz="2400" b="0">
                    <a:solidFill>
                      <a:srgbClr val="111827"/>
                    </a:solidFill>
                    <a:latin typeface="Arial"/>
                  </a:rPr>
                  <a:t>, so </a:t>
                </a:r>
                <a:r>
                  <a:rPr lang="en-IN" sz="2400">
                    <a:solidFill>
                      <a:srgbClr val="111827"/>
                    </a:solidFill>
                    <a:latin typeface="Cambria Math" panose="02040503050406030204" pitchFamily="18" charset="0"/>
                  </a:rPr>
                  <a:t>$a=3$</a:t>
                </a:r>
                <a:r>
                  <a:rPr sz="2400" b="0">
                    <a:solidFill>
                      <a:srgbClr val="111827"/>
                    </a:solidFill>
                    <a:latin typeface="Arial"/>
                  </a:rPr>
                  <a:t> or </a:t>
                </a:r>
                <a:r>
                  <a:rPr lang="en-IN" sz="2400">
                    <a:solidFill>
                      <a:srgbClr val="111827"/>
                    </a:solidFill>
                    <a:latin typeface="Cambria Math" panose="02040503050406030204" pitchFamily="18" charset="0"/>
                  </a:rPr>
                  <a:t>$a=-\frac73$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$a=3$</a:t>
                </a:r>
                <a:r>
                  <a:rPr sz="2400" b="0">
                    <a:solidFill>
                      <a:srgbClr val="111827"/>
                    </a:solidFill>
                    <a:latin typeface="Arial"/>
                  </a:rPr>
                  <a:t>: </a:t>
                </a:r>
                <a:r>
                  <a:rPr lang="en-IN" sz="2400">
                    <a:solidFill>
                      <a:srgbClr val="111827"/>
                    </a:solidFill>
                    <a:latin typeface="Cambria Math" panose="02040503050406030204" pitchFamily="18" charset="0"/>
                  </a:rPr>
                  <a:t>$b=27-9+3=21$</a:t>
                </a:r>
                <a:r>
                  <a:rPr sz="2400" b="0">
                    <a:solidFill>
                      <a:srgbClr val="111827"/>
                    </a:solidFill>
                    <a:latin typeface="Arial"/>
                  </a:rPr>
                  <a:t>, and </a:t>
                </a:r>
                <a:r>
                  <a:rPr lang="en-IN" sz="2400">
                    <a:solidFill>
                      <a:srgbClr val="111827"/>
                    </a:solidFill>
                    <a:latin typeface="Cambria Math" panose="02040503050406030204" pitchFamily="18" charset="0"/>
                  </a:rPr>
                  <a:t>$22\cdot3-45=21$</a:t>
                </a:r>
                <a:r>
                  <a:rPr sz="2400" b="0">
                    <a:solidFill>
                      <a:srgbClr val="111827"/>
                    </a:solidFill>
                    <a:latin typeface="Arial"/>
                  </a:rPr>
                  <a:t>, so the point lies on </a:t>
                </a:r>
                <a:r>
                  <a:rPr lang="en-IN" sz="2400">
                    <a:solidFill>
                      <a:srgbClr val="111827"/>
                    </a:solidFill>
                    <a:latin typeface="Cambria Math" panose="02040503050406030204" pitchFamily="18" charset="0"/>
                  </a:rPr>
                  <a:t>$y=22x-45$</a:t>
                </a:r>
                <a:r>
                  <a:rPr sz="2400" b="0">
                    <a:solidFill>
                      <a:srgbClr val="111827"/>
                    </a:solidFill>
                    <a:latin typeface="Arial"/>
                  </a:rPr>
                  <a:t>: it is the same line.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$a=-\frac73$</a:t>
                </a:r>
                <a:r>
                  <a:rPr sz="2400" b="0">
                    <a:solidFill>
                      <a:srgbClr val="111827"/>
                    </a:solidFill>
                    <a:latin typeface="Arial"/>
                  </a:rPr>
                  <a:t>: </a:t>
                </a:r>
                <a:r>
                  <a:rPr lang="en-IN" sz="2400">
                    <a:solidFill>
                      <a:srgbClr val="111827"/>
                    </a:solidFill>
                    <a:latin typeface="Cambria Math" panose="02040503050406030204" pitchFamily="18" charset="0"/>
                  </a:rPr>
                  <a:t>$b=-\frac{343}{27}-\frac{49}{9}-\frac73=-\frac{343+147+63}{27}=-\frac{553}{27}$</a:t>
                </a:r>
                <a:r>
                  <a:rPr sz="2400" b="0">
                    <a:solidFill>
                      <a:srgbClr val="111827"/>
                    </a:solidFill>
                    <a:latin typeface="Arial"/>
                  </a:rPr>
                  <a:t>, but the line gives </a:t>
                </a:r>
                <a:r>
                  <a:rPr lang="en-IN" sz="2400">
                    <a:solidFill>
                      <a:srgbClr val="111827"/>
                    </a:solidFill>
                    <a:latin typeface="Cambria Math" panose="02040503050406030204" pitchFamily="18" charset="0"/>
                  </a:rPr>
                  <a:t>$22\left(-\frac73\right)-45=-\frac{289}{3}$</a:t>
                </a:r>
                <a:r>
                  <a:rPr sz="2400" b="0">
                    <a:solidFill>
                      <a:srgbClr val="111827"/>
                    </a:solidFill>
                    <a:latin typeface="Arial"/>
                  </a:rPr>
                  <a:t>: a parallel, different tangent. Rejected.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$a=3$</a:t>
                </a:r>
                <a:r>
                  <a:rPr sz="2400" b="0">
                    <a:solidFill>
                      <a:srgbClr val="111827"/>
                    </a:solidFill>
                    <a:latin typeface="Arial"/>
                  </a:rPr>
                  <a:t>, </a:t>
                </a:r>
                <a:r>
                  <a:rPr lang="en-IN" sz="2400">
                    <a:solidFill>
                      <a:srgbClr val="111827"/>
                    </a:solidFill>
                    <a:latin typeface="Cambria Math" panose="02040503050406030204" pitchFamily="18" charset="0"/>
                  </a:rPr>
                  <a:t>$b=21$</a:t>
                </a:r>
                <a:r>
                  <a:rPr sz="2400" b="0">
                    <a:solidFill>
                      <a:srgbClr val="111827"/>
                    </a:solidFill>
                    <a:latin typeface="Arial"/>
                  </a:rPr>
                  <a:t> and </a:t>
                </a:r>
                <a:r>
                  <a:rPr lang="en-IN" sz="2400">
                    <a:solidFill>
                      <a:srgbClr val="111827"/>
                    </a:solidFill>
                    <a:latin typeface="Cambria Math" panose="02040503050406030204" pitchFamily="18" charset="0"/>
                  </a:rPr>
                  <a:t>$|2a+9b|=|6+189|=195$</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195</a:t>
            </a:r>
            <a:endParaRPr sz="2800">
              <a:solidFill>
                <a:srgbClr val="15803D"/>
              </a:solidFill>
            </a:endParaRPr>
          </a:p>
        </p:txBody>
      </p:sp>
    </p:spTree>
  </p:cSld>
  <p:clrMapOvr>
    <a:masterClrMapping/>
  </p:clrMapOvr>
</p:sld>
</file>

<file path=ppt/slides/slide2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A tangent means a double root: subtract the line from the cubic and demand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𝑎</m:t>
                    </m:r>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 is a factor.</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A tangent means a double root: subtract the line from the cubic and demand </a:t>
                </a:r>
                <a:r>
                  <a:rPr lang="en-IN" sz="2400">
                    <a:solidFill>
                      <a:srgbClr val="78350F"/>
                    </a:solidFill>
                    <a:latin typeface="Cambria Math" panose="02040503050406030204" pitchFamily="18" charset="0"/>
                  </a:rPr>
                  <a:t>$(x-a)^2$</a:t>
                </a:r>
                <a:r>
                  <a:rPr sz="2400" b="0">
                    <a:solidFill>
                      <a:srgbClr val="78350F"/>
                    </a:solidFill>
                    <a:latin typeface="Arial"/>
                  </a:rPr>
                  <a:t> is a factor.</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common tangent is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45</m:t>
                    </m:r>
                  </m:oMath>
                </a14:m>
                <a:r>
                  <a:rPr sz="2400" b="0">
                    <a:solidFill>
                      <a:srgbClr val="111827"/>
                    </a:solidFill>
                    <a:latin typeface="Arial"/>
                  </a:rPr>
                  <a:t>. Intersect with the cubic: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Tangency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oMath>
                </a14:m>
                <a:r>
                  <a:rPr sz="2400" b="0">
                    <a:solidFill>
                      <a:srgbClr val="111827"/>
                    </a:solidFill>
                    <a:latin typeface="Arial"/>
                  </a:rPr>
                  <a:t> means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is a double root: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𝑝</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with </a:t>
                </a:r>
                <a14:m>
                  <m:oMath xmlns:m="http://schemas.openxmlformats.org/officeDocument/2006/math">
                    <m:sSup>
                      <m:e>
                        <m:r>
                          <a:rPr lang="en-IN" sz="2400" i="1">
                            <a:solidFill>
                              <a:srgbClr val="111827"/>
                            </a:solidFill>
                            <a:latin typeface="Cambria Math" panose="02040503050406030204" pitchFamily="18" charset="0"/>
                          </a:rPr>
                          <m:t>𝑝</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Candidates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works; </a:t>
                </a:r>
                <a14:m>
                  <m:oMath xmlns:m="http://schemas.openxmlformats.org/officeDocument/2006/math">
                    <m:r>
                      <a:rPr lang="en-IN" sz="2400" i="1">
                        <a:solidFill>
                          <a:srgbClr val="111827"/>
                        </a:solidFill>
                        <a:latin typeface="Cambria Math" panose="02040503050406030204" pitchFamily="18" charset="0"/>
                      </a:rPr>
                      <m:t>𝑝</m:t>
                    </m:r>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3</m:t>
                            </m:r>
                          </m:den>
                        </m:f>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2048</m:t>
                        </m:r>
                      </m:num>
                      <m:den>
                        <m:r>
                          <a:rPr lang="en-IN" sz="2400" i="1">
                            <a:solidFill>
                              <a:srgbClr val="111827"/>
                            </a:solidFill>
                            <a:latin typeface="Cambria Math" panose="02040503050406030204" pitchFamily="18" charset="0"/>
                          </a:rPr>
                          <m:t>27</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it fails.</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common tangent is </a:t>
                </a:r>
                <a:r>
                  <a:rPr lang="en-IN" sz="2400">
                    <a:solidFill>
                      <a:srgbClr val="111827"/>
                    </a:solidFill>
                    <a:latin typeface="Cambria Math" panose="02040503050406030204" pitchFamily="18" charset="0"/>
                  </a:rPr>
                  <a:t>$y=22x-45$</a:t>
                </a:r>
                <a:r>
                  <a:rPr sz="2400" b="0">
                    <a:solidFill>
                      <a:srgbClr val="111827"/>
                    </a:solidFill>
                    <a:latin typeface="Arial"/>
                  </a:rPr>
                  <a:t>. Intersect with the cubic: </a:t>
                </a:r>
                <a:r>
                  <a:rPr lang="en-IN" sz="2400">
                    <a:solidFill>
                      <a:srgbClr val="111827"/>
                    </a:solidFill>
                    <a:latin typeface="Cambria Math" panose="02040503050406030204" pitchFamily="18" charset="0"/>
                  </a:rPr>
                  <a:t>$x^3-x^2+x-22x+45=0$</a:t>
                </a:r>
                <a:r>
                  <a:rPr sz="2400" b="0">
                    <a:solidFill>
                      <a:srgbClr val="111827"/>
                    </a:solidFill>
                    <a:latin typeface="Arial"/>
                  </a:rPr>
                  <a:t>, i.e. </a:t>
                </a:r>
                <a:r>
                  <a:rPr lang="en-IN" sz="2400">
                    <a:solidFill>
                      <a:srgbClr val="111827"/>
                    </a:solidFill>
                    <a:latin typeface="Cambria Math" panose="02040503050406030204" pitchFamily="18" charset="0"/>
                  </a:rPr>
                  <a:t>$p(x)=x^3-x^2-21x+45=0$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Tangency at </a:t>
                </a:r>
                <a:r>
                  <a:rPr lang="en-IN" sz="2400">
                    <a:solidFill>
                      <a:srgbClr val="111827"/>
                    </a:solidFill>
                    <a:latin typeface="Cambria Math" panose="02040503050406030204" pitchFamily="18" charset="0"/>
                  </a:rPr>
                  <a:t>$x=a$</a:t>
                </a:r>
                <a:r>
                  <a:rPr sz="2400" b="0">
                    <a:solidFill>
                      <a:srgbClr val="111827"/>
                    </a:solidFill>
                    <a:latin typeface="Arial"/>
                  </a:rPr>
                  <a:t> means </a:t>
                </a:r>
                <a:r>
                  <a:rPr lang="en-IN" sz="2400">
                    <a:solidFill>
                      <a:srgbClr val="111827"/>
                    </a:solidFill>
                    <a:latin typeface="Cambria Math" panose="02040503050406030204" pitchFamily="18" charset="0"/>
                  </a:rPr>
                  <a:t>$a$</a:t>
                </a:r>
                <a:r>
                  <a:rPr sz="2400" b="0">
                    <a:solidFill>
                      <a:srgbClr val="111827"/>
                    </a:solidFill>
                    <a:latin typeface="Arial"/>
                  </a:rPr>
                  <a:t> is a double root: </a:t>
                </a:r>
                <a:r>
                  <a:rPr lang="en-IN" sz="2400">
                    <a:solidFill>
                      <a:srgbClr val="111827"/>
                    </a:solidFill>
                    <a:latin typeface="Cambria Math" panose="02040503050406030204" pitchFamily="18" charset="0"/>
                  </a:rPr>
                  <a:t>$p(a)=p'(a)=0$</a:t>
                </a:r>
                <a:r>
                  <a:rPr sz="2400" b="0">
                    <a:solidFill>
                      <a:srgbClr val="111827"/>
                    </a:solidFill>
                    <a:latin typeface="Arial"/>
                  </a:rPr>
                  <a:t> with </a:t>
                </a:r>
                <a:r>
                  <a:rPr lang="en-IN" sz="2400">
                    <a:solidFill>
                      <a:srgbClr val="111827"/>
                    </a:solidFill>
                    <a:latin typeface="Cambria Math" panose="02040503050406030204" pitchFamily="18" charset="0"/>
                  </a:rPr>
                  <a:t>$p'(x)=3x^2-2x-21=(3x+7)(x-3)$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Candidates </a:t>
                </a:r>
                <a:r>
                  <a:rPr lang="en-IN" sz="2400">
                    <a:solidFill>
                      <a:srgbClr val="111827"/>
                    </a:solidFill>
                    <a:latin typeface="Cambria Math" panose="02040503050406030204" pitchFamily="18" charset="0"/>
                  </a:rPr>
                  <a:t>$a=3$</a:t>
                </a:r>
                <a:r>
                  <a:rPr sz="2400" b="0">
                    <a:solidFill>
                      <a:srgbClr val="111827"/>
                    </a:solidFill>
                    <a:latin typeface="Arial"/>
                  </a:rPr>
                  <a:t> or </a:t>
                </a:r>
                <a:r>
                  <a:rPr lang="en-IN" sz="2400">
                    <a:solidFill>
                      <a:srgbClr val="111827"/>
                    </a:solidFill>
                    <a:latin typeface="Cambria Math" panose="02040503050406030204" pitchFamily="18" charset="0"/>
                  </a:rPr>
                  <a:t>$a=-\frac73$</a:t>
                </a:r>
                <a:r>
                  <a:rPr sz="2400" b="0">
                    <a:solidFill>
                      <a:srgbClr val="111827"/>
                    </a:solidFill>
                    <a:latin typeface="Arial"/>
                  </a:rPr>
                  <a:t>. </a:t>
                </a:r>
                <a:r>
                  <a:rPr lang="en-IN" sz="2400">
                    <a:solidFill>
                      <a:srgbClr val="111827"/>
                    </a:solidFill>
                    <a:latin typeface="Cambria Math" panose="02040503050406030204" pitchFamily="18" charset="0"/>
                  </a:rPr>
                  <a:t>$p(3)=27-9-63+45=0$</a:t>
                </a:r>
                <a:r>
                  <a:rPr sz="2400" b="0">
                    <a:solidFill>
                      <a:srgbClr val="111827"/>
                    </a:solidFill>
                    <a:latin typeface="Arial"/>
                  </a:rPr>
                  <a:t> works; </a:t>
                </a:r>
                <a:r>
                  <a:rPr lang="en-IN" sz="2400">
                    <a:solidFill>
                      <a:srgbClr val="111827"/>
                    </a:solidFill>
                    <a:latin typeface="Cambria Math" panose="02040503050406030204" pitchFamily="18" charset="0"/>
                  </a:rPr>
                  <a:t>$p\left(-\frac73\right)=\frac{2048}{27}\neq0$</a:t>
                </a:r>
                <a:r>
                  <a:rPr sz="2400" b="0">
                    <a:solidFill>
                      <a:srgbClr val="111827"/>
                    </a:solidFill>
                    <a:latin typeface="Arial"/>
                  </a:rPr>
                  <a:t>, so it fails.</a:t>
                </a:r>
                <a:endParaRPr sz="2400">
                  <a:solidFill>
                    <a:srgbClr val="111827"/>
                  </a:solidFill>
                </a:endParaRPr>
              </a:p>
            </p:txBody>
          </p:sp>
        </mc:Fallback>
      </mc:AlternateContent>
    </p:spTree>
  </p:cSld>
  <p:clrMapOvr>
    <a:masterClrMapping/>
  </p:clrMapOvr>
</p:sld>
</file>

<file path=ppt/slides/slide2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Indeed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double root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189</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195</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Indeed </a:t>
                </a:r>
                <a:r>
                  <a:rPr lang="en-IN" sz="2400">
                    <a:solidFill>
                      <a:srgbClr val="111827"/>
                    </a:solidFill>
                    <a:latin typeface="Cambria Math" panose="02040503050406030204" pitchFamily="18" charset="0"/>
                  </a:rPr>
                  <a:t>$p(x)=(x-3)^2(x+5)$</a:t>
                </a:r>
                <a:r>
                  <a:rPr sz="2400" b="0">
                    <a:solidFill>
                      <a:srgbClr val="111827"/>
                    </a:solidFill>
                    <a:latin typeface="Arial"/>
                  </a:rPr>
                  <a:t>, double root </a:t>
                </a:r>
                <a:r>
                  <a:rPr lang="en-IN" sz="2400">
                    <a:solidFill>
                      <a:srgbClr val="111827"/>
                    </a:solidFill>
                    <a:latin typeface="Cambria Math" panose="02040503050406030204" pitchFamily="18" charset="0"/>
                  </a:rPr>
                  <a:t>$a=3$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$b=22\cdot3-45=21$</a:t>
                </a:r>
                <a:r>
                  <a:rPr sz="2400" b="0">
                    <a:solidFill>
                      <a:srgbClr val="111827"/>
                    </a:solidFill>
                    <a:latin typeface="Arial"/>
                  </a:rPr>
                  <a:t>, so </a:t>
                </a:r>
                <a:r>
                  <a:rPr lang="en-IN" sz="2400">
                    <a:solidFill>
                      <a:srgbClr val="111827"/>
                    </a:solidFill>
                    <a:latin typeface="Cambria Math" panose="02040503050406030204" pitchFamily="18" charset="0"/>
                  </a:rPr>
                  <a:t>$|2a+9b|=|6+189|=195$</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195</a:t>
            </a:r>
            <a:endParaRPr sz="2800">
              <a:solidFill>
                <a:srgbClr val="15803D"/>
              </a:solidFill>
            </a:endParaRPr>
          </a:p>
        </p:txBody>
      </p:sp>
    </p:spTree>
  </p:cSld>
  <p:clrMapOvr>
    <a:masterClrMapping/>
  </p:clrMapOvr>
</p:sld>
</file>

<file path=ppt/slides/slide2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line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is tangent to a polynomial curve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oMath>
                </a14:m>
                <a:r>
                  <a:rPr sz="2400" b="0">
                    <a:solidFill>
                      <a:srgbClr val="111827"/>
                    </a:solidFill>
                    <a:latin typeface="Arial"/>
                  </a:rPr>
                  <a:t> iff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has a double root at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common tangent needs both the slope and the intercept to match; matching slopes alone gives a parallel tangent.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Tangent to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at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0</m:t>
                        </m:r>
                      </m:sub>
                    </m:sSub>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0</m:t>
                        </m:r>
                      </m:sub>
                    </m:sSub>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Always test each slope-match candidate against the actual line.</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line </a:t>
                </a:r>
                <a:r>
                  <a:rPr lang="en-IN" sz="2400">
                    <a:solidFill>
                      <a:srgbClr val="111827"/>
                    </a:solidFill>
                    <a:latin typeface="Cambria Math" panose="02040503050406030204" pitchFamily="18" charset="0"/>
                  </a:rPr>
                  <a:t>$y=mx+c$</a:t>
                </a:r>
                <a:r>
                  <a:rPr sz="2400" b="0">
                    <a:solidFill>
                      <a:srgbClr val="111827"/>
                    </a:solidFill>
                    <a:latin typeface="Arial"/>
                  </a:rPr>
                  <a:t> is tangent to a polynomial curve </a:t>
                </a:r>
                <a:r>
                  <a:rPr lang="en-IN" sz="2400">
                    <a:solidFill>
                      <a:srgbClr val="111827"/>
                    </a:solidFill>
                    <a:latin typeface="Cambria Math" panose="02040503050406030204" pitchFamily="18" charset="0"/>
                  </a:rPr>
                  <a:t>$y=P(x)$</a:t>
                </a:r>
                <a:r>
                  <a:rPr sz="2400" b="0">
                    <a:solidFill>
                      <a:srgbClr val="111827"/>
                    </a:solidFill>
                    <a:latin typeface="Arial"/>
                  </a:rPr>
                  <a:t> at </a:t>
                </a:r>
                <a:r>
                  <a:rPr lang="en-IN" sz="2400">
                    <a:solidFill>
                      <a:srgbClr val="111827"/>
                    </a:solidFill>
                    <a:latin typeface="Cambria Math" panose="02040503050406030204" pitchFamily="18" charset="0"/>
                  </a:rPr>
                  <a:t>$x=a$</a:t>
                </a:r>
                <a:r>
                  <a:rPr sz="2400" b="0">
                    <a:solidFill>
                      <a:srgbClr val="111827"/>
                    </a:solidFill>
                    <a:latin typeface="Arial"/>
                  </a:rPr>
                  <a:t> iff </a:t>
                </a:r>
                <a:r>
                  <a:rPr lang="en-IN" sz="2400">
                    <a:solidFill>
                      <a:srgbClr val="111827"/>
                    </a:solidFill>
                    <a:latin typeface="Cambria Math" panose="02040503050406030204" pitchFamily="18" charset="0"/>
                  </a:rPr>
                  <a:t>$P(x)-mx-c$</a:t>
                </a:r>
                <a:r>
                  <a:rPr sz="2400" b="0">
                    <a:solidFill>
                      <a:srgbClr val="111827"/>
                    </a:solidFill>
                    <a:latin typeface="Arial"/>
                  </a:rPr>
                  <a:t> has a double root at </a:t>
                </a:r>
                <a:r>
                  <a:rPr lang="en-IN" sz="2400">
                    <a:solidFill>
                      <a:srgbClr val="111827"/>
                    </a:solidFill>
                    <a:latin typeface="Cambria Math" panose="02040503050406030204" pitchFamily="18" charset="0"/>
                  </a:rPr>
                  <a:t>$a$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common tangent needs both the slope and the intercept to match; matching slopes alone gives a parallel tangent.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Tangent to </a:t>
                </a:r>
                <a:r>
                  <a:rPr lang="en-IN" sz="2400">
                    <a:solidFill>
                      <a:srgbClr val="111827"/>
                    </a:solidFill>
                    <a:latin typeface="Cambria Math" panose="02040503050406030204" pitchFamily="18" charset="0"/>
                  </a:rPr>
                  <a:t>$y=ax^2+bx+c$</a:t>
                </a:r>
                <a:r>
                  <a:rPr sz="2400" b="0">
                    <a:solidFill>
                      <a:srgbClr val="111827"/>
                    </a:solidFill>
                    <a:latin typeface="Arial"/>
                  </a:rPr>
                  <a:t> at </a:t>
                </a:r>
                <a:r>
                  <a:rPr lang="en-IN" sz="2400">
                    <a:solidFill>
                      <a:srgbClr val="111827"/>
                    </a:solidFill>
                    <a:latin typeface="Cambria Math" panose="02040503050406030204" pitchFamily="18" charset="0"/>
                  </a:rPr>
                  <a:t>$x_0$</a:t>
                </a:r>
                <a:r>
                  <a:rPr sz="2400" b="0">
                    <a:solidFill>
                      <a:srgbClr val="111827"/>
                    </a:solidFill>
                    <a:latin typeface="Arial"/>
                  </a:rPr>
                  <a:t>: </a:t>
                </a:r>
                <a:r>
                  <a:rPr lang="en-IN" sz="2400">
                    <a:solidFill>
                      <a:srgbClr val="111827"/>
                    </a:solidFill>
                    <a:latin typeface="Cambria Math" panose="02040503050406030204" pitchFamily="18" charset="0"/>
                  </a:rPr>
                  <a:t>$y=(2ax_0+b)(x-x_0)+y_0$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Always test each slope-match candidate against the actual line.</a:t>
                </a:r>
                <a:endParaRPr sz="2400">
                  <a:solidFill>
                    <a:srgbClr val="111827"/>
                  </a:solidFill>
                </a:endParaRPr>
              </a:p>
            </p:txBody>
          </p:sp>
        </mc:Fallback>
      </mc:AlternateContent>
    </p:spTree>
  </p:cSld>
  <p:clrMapOvr>
    <a:masterClrMapping/>
  </p:clrMapOvr>
</p:sld>
</file>

<file path=ppt/slides/slide2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4145788"/>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the maximum value of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for which the function </a:t>
                </a:r>
                <a14:m>
                  <m:oMath xmlns:m="http://schemas.openxmlformats.org/officeDocument/2006/math">
                    <m:sSub>
                      <m:e>
                        <m:r>
                          <a:rPr lang="en-IN" sz="2400" i="1">
                            <a:solidFill>
                              <a:srgbClr val="111827"/>
                            </a:solidFill>
                            <a:latin typeface="Cambria Math" panose="02040503050406030204" pitchFamily="18" charset="0"/>
                          </a:rPr>
                          <m:t>𝑓</m:t>
                        </m:r>
                      </m:e>
                      <m:sub>
                        <m:r>
                          <a:rPr lang="en-IN" sz="2400" i="1">
                            <a:solidFill>
                              <a:srgbClr val="111827"/>
                            </a:solidFill>
                            <a:latin typeface="Cambria Math" panose="02040503050406030204" pitchFamily="18" charset="0"/>
                          </a:rPr>
                          <m:t>𝑎</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is non-decreasing in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6</m:t>
                            </m:r>
                          </m:den>
                        </m:f>
                      </m:e>
                    </m:d>
                  </m:oMath>
                </a14:m>
                <a:r>
                  <a:rPr sz="2400" b="0">
                    <a:solidFill>
                      <a:srgbClr val="111827"/>
                    </a:solidFill>
                    <a:latin typeface="Arial"/>
                  </a:rPr>
                  <a:t>, is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oMath>
                </a14:m>
                <a:r>
                  <a:rPr sz="2400" b="0">
                    <a:solidFill>
                      <a:srgbClr val="111827"/>
                    </a:solidFill>
                    <a:latin typeface="Arial"/>
                  </a:rPr>
                  <a:t>, then </a:t>
                </a:r>
                <a14:m>
                  <m:oMath xmlns:m="http://schemas.openxmlformats.org/officeDocument/2006/math">
                    <m:sSub>
                      <m:e>
                        <m:r>
                          <a:rPr lang="en-IN" sz="2400" i="1">
                            <a:solidFill>
                              <a:srgbClr val="111827"/>
                            </a:solidFill>
                            <a:latin typeface="Cambria Math" panose="02040503050406030204" pitchFamily="18" charset="0"/>
                          </a:rPr>
                          <m:t>𝑓</m:t>
                        </m:r>
                      </m:e>
                      <m:sub>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sub>
                    </m:sSub>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8</m:t>
                            </m:r>
                          </m:den>
                        </m:f>
                      </m:e>
                    </m:d>
                  </m:oMath>
                </a14:m>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π</m:t>
                                </m:r>
                              </m:e>
                              <m:sup>
                                <m:r>
                                  <a:rPr lang="en-IN" sz="2400" i="1">
                                    <a:solidFill>
                                      <a:srgbClr val="111827"/>
                                    </a:solidFill>
                                    <a:latin typeface="Cambria Math" panose="02040503050406030204" pitchFamily="18" charset="0"/>
                                  </a:rPr>
                                  <m:t>2</m:t>
                                </m:r>
                              </m:sup>
                            </m:sSup>
                          </m:e>
                        </m:d>
                      </m:den>
                    </m:f>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(B) </a:t>
                </a:r>
                <a14:m>
                  <m:oMath xmlns:m="http://schemas.openxmlformats.org/officeDocument/2006/math">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9</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π</m:t>
                                </m:r>
                              </m:e>
                              <m:sup>
                                <m:r>
                                  <a:rPr lang="en-IN" sz="2400" i="1">
                                    <a:solidFill>
                                      <a:srgbClr val="111827"/>
                                    </a:solidFill>
                                    <a:latin typeface="Cambria Math" panose="02040503050406030204" pitchFamily="18" charset="0"/>
                                  </a:rPr>
                                  <m:t>2</m:t>
                                </m:r>
                              </m:sup>
                            </m:sSup>
                          </m:e>
                        </m:d>
                      </m:den>
                    </m:f>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(C) </a:t>
                </a:r>
                <a14:m>
                  <m:oMath xmlns:m="http://schemas.openxmlformats.org/officeDocument/2006/math">
                    <m:r>
                      <a:rPr lang="en-IN" sz="2400" i="1">
                        <a:solidFill>
                          <a:srgbClr val="111827"/>
                        </a:solidFill>
                        <a:latin typeface="Cambria Math" panose="02040503050406030204" pitchFamily="18" charset="0"/>
                      </a:rPr>
                      <m:t>8</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π</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π</m:t>
                                </m:r>
                              </m:e>
                              <m:sup>
                                <m:r>
                                  <a:rPr lang="en-IN" sz="2400" i="1">
                                    <a:solidFill>
                                      <a:srgbClr val="111827"/>
                                    </a:solidFill>
                                    <a:latin typeface="Cambria Math" panose="02040503050406030204" pitchFamily="18" charset="0"/>
                                  </a:rPr>
                                  <m:t>2</m:t>
                                </m:r>
                              </m:sup>
                            </m:sSup>
                          </m:den>
                        </m:f>
                      </m:e>
                    </m:d>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(D) </a:t>
                </a:r>
                <a14:m>
                  <m:oMath xmlns:m="http://schemas.openxmlformats.org/officeDocument/2006/math">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oMath>
                </a14:m>
                <a:endParaRPr sz="2400">
                  <a:solidFill>
                    <a:srgbClr val="111827"/>
                  </a:solidFill>
                </a:endParaRPr>
              </a:p>
            </p:txBody>
          </p:sp>
        </mc:Choice>
        <mc:Fallback>
          <p:sp>
            <p:nvSpPr>
              <p:cNvPr id="4" name="Rounded Rectangle 3"/>
              <p:cNvSpPr/>
              <p:nvPr/>
            </p:nvSpPr>
            <p:spPr>
              <a:xfrm>
                <a:off x="731520" y="1280160"/>
                <a:ext cx="10725912" cy="4145788"/>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the maximum value of </a:t>
                </a:r>
                <a:r>
                  <a:rPr lang="en-IN" sz="2400">
                    <a:solidFill>
                      <a:srgbClr val="111827"/>
                    </a:solidFill>
                    <a:latin typeface="Cambria Math" panose="02040503050406030204" pitchFamily="18" charset="0"/>
                  </a:rPr>
                  <a:t>$a$</a:t>
                </a:r>
                <a:r>
                  <a:rPr sz="2400" b="0">
                    <a:solidFill>
                      <a:srgbClr val="111827"/>
                    </a:solidFill>
                    <a:latin typeface="Arial"/>
                  </a:rPr>
                  <a:t>, for which the function </a:t>
                </a:r>
                <a:r>
                  <a:rPr lang="en-IN" sz="2400">
                    <a:solidFill>
                      <a:srgbClr val="111827"/>
                    </a:solidFill>
                    <a:latin typeface="Cambria Math" panose="02040503050406030204" pitchFamily="18" charset="0"/>
                  </a:rPr>
                  <a:t>$f_a(x)=\tan^{-1}2x-3ax+7$</a:t>
                </a:r>
                <a:r>
                  <a:rPr sz="2400" b="0">
                    <a:solidFill>
                      <a:srgbClr val="111827"/>
                    </a:solidFill>
                    <a:latin typeface="Arial"/>
                  </a:rPr>
                  <a:t> is non-decreasing in </a:t>
                </a:r>
                <a:r>
                  <a:rPr lang="en-IN" sz="2400">
                    <a:solidFill>
                      <a:srgbClr val="111827"/>
                    </a:solidFill>
                    <a:latin typeface="Cambria Math" panose="02040503050406030204" pitchFamily="18" charset="0"/>
                  </a:rPr>
                  <a:t>$\left(-\frac\pi6,\frac\pi6\right)$</a:t>
                </a:r>
                <a:r>
                  <a:rPr sz="2400" b="0">
                    <a:solidFill>
                      <a:srgbClr val="111827"/>
                    </a:solidFill>
                    <a:latin typeface="Arial"/>
                  </a:rPr>
                  <a:t>, is </a:t>
                </a:r>
                <a:r>
                  <a:rPr lang="en-IN" sz="2400">
                    <a:solidFill>
                      <a:srgbClr val="111827"/>
                    </a:solidFill>
                    <a:latin typeface="Cambria Math" panose="02040503050406030204" pitchFamily="18" charset="0"/>
                  </a:rPr>
                  <a:t>$\bar a$</a:t>
                </a:r>
                <a:r>
                  <a:rPr sz="2400" b="0">
                    <a:solidFill>
                      <a:srgbClr val="111827"/>
                    </a:solidFill>
                    <a:latin typeface="Arial"/>
                  </a:rPr>
                  <a:t>, then </a:t>
                </a:r>
                <a:r>
                  <a:rPr lang="en-IN" sz="2400">
                    <a:solidFill>
                      <a:srgbClr val="111827"/>
                    </a:solidFill>
                    <a:latin typeface="Cambria Math" panose="02040503050406030204" pitchFamily="18" charset="0"/>
                  </a:rPr>
                  <a:t>$f_{\bar a}\left(\frac\pi8\right)$</a:t>
                </a:r>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$8-\frac{9\pi}{4\left(9+\pi^2\right)}$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a:t>
                </a:r>
                <a:r>
                  <a:rPr lang="en-IN" sz="2400">
                    <a:solidFill>
                      <a:srgbClr val="111827"/>
                    </a:solidFill>
                    <a:latin typeface="Cambria Math" panose="02040503050406030204" pitchFamily="18" charset="0"/>
                  </a:rPr>
                  <a:t>$8-\frac{4\pi}{9\left(4+\pi^2\right)}$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a:t>
                </a:r>
                <a:r>
                  <a:rPr lang="en-IN" sz="2400">
                    <a:solidFill>
                      <a:srgbClr val="111827"/>
                    </a:solidFill>
                    <a:latin typeface="Cambria Math" panose="02040503050406030204" pitchFamily="18" charset="0"/>
                  </a:rPr>
                  <a:t>$8\left(\frac{1+\pi^2}{9+\pi^2}\right)$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a:t>
                </a:r>
                <a:r>
                  <a:rPr lang="en-IN" sz="2400">
                    <a:solidFill>
                      <a:srgbClr val="111827"/>
                    </a:solidFill>
                    <a:latin typeface="Cambria Math" panose="02040503050406030204" pitchFamily="18" charset="0"/>
                  </a:rPr>
                  <a:t>$8-\frac\pi4$</a:t>
                </a:r>
                <a:endParaRPr sz="2400">
                  <a:solidFill>
                    <a:srgbClr val="111827"/>
                  </a:solidFill>
                </a:endParaRPr>
              </a:p>
            </p:txBody>
          </p:sp>
        </mc:Fallback>
      </mc:AlternateContent>
    </p:spTree>
  </p:cSld>
  <p:clrMapOvr>
    <a:masterClrMapping/>
  </p:clrMapOvr>
</p:sld>
</file>

<file path=ppt/slides/slide2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ectangle 3"/>
          <p:cNvSpPr/>
          <p:nvPr/>
        </p:nvSpPr>
        <p:spPr>
          <a:xfrm>
            <a:off x="731520" y="128016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Monotonicity of a function with a parameter</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3438144"/>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Non-decreasing needs </a:t>
                </a:r>
                <a14:m>
                  <m:oMath xmlns:m="http://schemas.openxmlformats.org/officeDocument/2006/math">
                    <m:sSup>
                      <m:e>
                        <m:r>
                          <a:rPr lang="en-IN" sz="2400" i="1">
                            <a:solidFill>
                              <a:srgbClr val="78350F"/>
                            </a:solidFill>
                            <a:latin typeface="Cambria Math" panose="02040503050406030204" pitchFamily="18" charset="0"/>
                          </a:rPr>
                          <m:t>𝑓</m:t>
                        </m:r>
                      </m:e>
                      <m:sup>
                        <m:r>
                          <m:rPr>
                            <m:sty m:val="p"/>
                          </m:rPr>
                          <a:rPr lang="en-IN" sz="2400">
                            <a:solidFill>
                              <a:srgbClr val="78350F"/>
                            </a:solidFill>
                            <a:latin typeface="Cambria Math" panose="02040503050406030204" pitchFamily="18" charset="0"/>
                          </a:rPr>
                          <m:t>′</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oMath>
                </a14:m>
                <a:r>
                  <a:rPr sz="2400" b="0">
                    <a:solidFill>
                      <a:srgbClr val="78350F"/>
                    </a:solidFill>
                    <a:latin typeface="Arial"/>
                  </a:rPr>
                  <a:t> on the interval, so </a:t>
                </a:r>
                <a14:m>
                  <m:oMath xmlns:m="http://schemas.openxmlformats.org/officeDocument/2006/math">
                    <m:r>
                      <a:rPr lang="en-IN" sz="2400" i="1">
                        <a:solidFill>
                          <a:srgbClr val="78350F"/>
                        </a:solidFill>
                        <a:latin typeface="Cambria Math" panose="02040503050406030204" pitchFamily="18" charset="0"/>
                      </a:rPr>
                      <m:t>3</m:t>
                    </m:r>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min</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2</m:t>
                        </m:r>
                      </m:num>
                      <m:den>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4</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up>
                        </m:sSup>
                      </m:den>
                    </m:f>
                  </m:oMath>
                </a14:m>
                <a:r>
                  <a:rPr sz="2400" b="0">
                    <a:solidFill>
                      <a:srgbClr val="78350F"/>
                    </a:solidFill>
                    <a:latin typeface="Arial"/>
                  </a:rPr>
                  <a:t>, attained at the ends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π</m:t>
                        </m:r>
                      </m:num>
                      <m:den>
                        <m:r>
                          <a:rPr lang="en-IN" sz="2400" i="1">
                            <a:solidFill>
                              <a:srgbClr val="78350F"/>
                            </a:solidFill>
                            <a:latin typeface="Cambria Math" panose="02040503050406030204" pitchFamily="18" charset="0"/>
                          </a:rPr>
                          <m:t>6</m:t>
                        </m:r>
                      </m:den>
                    </m:f>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3438144"/>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Non-decreasing needs </a:t>
                </a:r>
                <a:r>
                  <a:rPr lang="en-IN" sz="2400">
                    <a:solidFill>
                      <a:srgbClr val="78350F"/>
                    </a:solidFill>
                    <a:latin typeface="Cambria Math" panose="02040503050406030204" pitchFamily="18" charset="0"/>
                  </a:rPr>
                  <a:t>$f'\ge0$</a:t>
                </a:r>
                <a:r>
                  <a:rPr sz="2400" b="0">
                    <a:solidFill>
                      <a:srgbClr val="78350F"/>
                    </a:solidFill>
                    <a:latin typeface="Arial"/>
                  </a:rPr>
                  <a:t> on the interval, so </a:t>
                </a:r>
                <a:r>
                  <a:rPr lang="en-IN" sz="2400">
                    <a:solidFill>
                      <a:srgbClr val="78350F"/>
                    </a:solidFill>
                    <a:latin typeface="Cambria Math" panose="02040503050406030204" pitchFamily="18" charset="0"/>
                  </a:rPr>
                  <a:t>$3a\le\min\frac{2}{1+4x^2}$</a:t>
                </a:r>
                <a:r>
                  <a:rPr sz="2400" b="0">
                    <a:solidFill>
                      <a:srgbClr val="78350F"/>
                    </a:solidFill>
                    <a:latin typeface="Arial"/>
                  </a:rPr>
                  <a:t>, attained at the ends </a:t>
                </a:r>
                <a:r>
                  <a:rPr lang="en-IN" sz="2400">
                    <a:solidFill>
                      <a:srgbClr val="78350F"/>
                    </a:solidFill>
                    <a:latin typeface="Cambria Math" panose="02040503050406030204" pitchFamily="18" charset="0"/>
                  </a:rPr>
                  <a:t>$x=\pm\frac\pi6$</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4904232"/>
                <a:ext cx="10725912" cy="1770887"/>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bSup>
                      <m:e>
                        <m:r>
                          <a:rPr lang="en-IN" sz="2400" i="1">
                            <a:solidFill>
                              <a:srgbClr val="111827"/>
                            </a:solidFill>
                            <a:latin typeface="Cambria Math" panose="02040503050406030204" pitchFamily="18" charset="0"/>
                          </a:rPr>
                          <m:t>𝑓</m:t>
                        </m:r>
                      </m:e>
                      <m:sub>
                        <m:r>
                          <a:rPr lang="en-IN" sz="2400" i="1">
                            <a:solidFill>
                              <a:srgbClr val="111827"/>
                            </a:solidFill>
                            <a:latin typeface="Cambria Math" panose="02040503050406030204" pitchFamily="18" charset="0"/>
                          </a:rPr>
                          <m:t>𝑎</m:t>
                        </m:r>
                      </m:sub>
                      <m:sup>
                        <m:r>
                          <m:rPr>
                            <m:sty m:val="p"/>
                          </m:rPr>
                          <a:rPr lang="en-IN" sz="2400">
                            <a:solidFill>
                              <a:srgbClr val="111827"/>
                            </a:solidFill>
                            <a:latin typeface="Cambria Math" panose="02040503050406030204" pitchFamily="18" charset="0"/>
                          </a:rPr>
                          <m:t>′</m:t>
                        </m:r>
                      </m:sup>
                    </m:sSub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for all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6</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 for all such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min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4904232"/>
                <a:ext cx="10725912" cy="1770887"/>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$f_a'(x)=\frac{2}{1+4x^2}-3a\ge0$</a:t>
                </a:r>
                <a:r>
                  <a:rPr sz="2400" b="0">
                    <a:solidFill>
                      <a:srgbClr val="111827"/>
                    </a:solidFill>
                    <a:latin typeface="Arial"/>
                  </a:rPr>
                  <a:t> for all </a:t>
                </a:r>
                <a:r>
                  <a:rPr lang="en-IN" sz="2400">
                    <a:solidFill>
                      <a:srgbClr val="111827"/>
                    </a:solidFill>
                    <a:latin typeface="Cambria Math" panose="02040503050406030204" pitchFamily="18" charset="0"/>
                  </a:rPr>
                  <a:t>$x\in\left(-\frac\pi6,\frac\pi6\right)$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$a\le\frac{2}{3(1+4x^2)}$</a:t>
                </a:r>
                <a:r>
                  <a:rPr sz="2400" b="0">
                    <a:solidFill>
                      <a:srgbClr val="111827"/>
                    </a:solidFill>
                    <a:latin typeface="Arial"/>
                  </a:rPr>
                  <a:t> for all such </a:t>
                </a:r>
                <a:r>
                  <a:rPr lang="en-IN" sz="2400">
                    <a:solidFill>
                      <a:srgbClr val="111827"/>
                    </a:solidFill>
                    <a:latin typeface="Cambria Math" panose="02040503050406030204" pitchFamily="18" charset="0"/>
                  </a:rPr>
                  <a:t>$x$</a:t>
                </a:r>
                <a:r>
                  <a:rPr sz="2400" b="0">
                    <a:solidFill>
                      <a:srgbClr val="111827"/>
                    </a:solidFill>
                    <a:latin typeface="Arial"/>
                  </a:rPr>
                  <a:t>, i.e. </a:t>
                </a:r>
                <a:r>
                  <a:rPr lang="en-IN" sz="2400">
                    <a:solidFill>
                      <a:srgbClr val="111827"/>
                    </a:solidFill>
                    <a:latin typeface="Cambria Math" panose="02040503050406030204" pitchFamily="18" charset="0"/>
                  </a:rPr>
                  <a:t>$a\le\min\frac{2}{3(1+4x^2)}$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 is decreasing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its infimum is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6</m:t>
                        </m:r>
                      </m:den>
                    </m:f>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π</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9</m:t>
                                </m:r>
                              </m:den>
                            </m:f>
                          </m:e>
                        </m: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π</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sSub>
                      <m:e>
                        <m:r>
                          <a:rPr lang="en-IN" sz="2400" i="1">
                            <a:solidFill>
                              <a:srgbClr val="111827"/>
                            </a:solidFill>
                            <a:latin typeface="Cambria Math" panose="02040503050406030204" pitchFamily="18" charset="0"/>
                          </a:rPr>
                          <m:t>𝑎</m:t>
                        </m:r>
                      </m:e>
                      <m:sub>
                        <m:r>
                          <m:rPr>
                            <m:sty m:val="p"/>
                          </m:rPr>
                          <a:rPr lang="en-IN" sz="2400">
                            <a:solidFill>
                              <a:srgbClr val="111827"/>
                            </a:solidFill>
                            <a:latin typeface="Cambria Math" panose="02040503050406030204" pitchFamily="18" charset="0"/>
                          </a:rPr>
                          <m:t>max</m:t>
                        </m:r>
                      </m:sub>
                    </m:sSub>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π</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 (equality is allowed,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strictly inside).</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𝑓</m:t>
                        </m:r>
                      </m:e>
                      <m:sub>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sub>
                    </m:sSub>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8</m:t>
                            </m:r>
                          </m:den>
                        </m:f>
                      </m:e>
                    </m:d>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π</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8</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π</m:t>
                                </m:r>
                              </m:e>
                              <m:sup>
                                <m:r>
                                  <a:rPr lang="en-IN" sz="2400" i="1">
                                    <a:solidFill>
                                      <a:srgbClr val="111827"/>
                                    </a:solidFill>
                                    <a:latin typeface="Cambria Math" panose="02040503050406030204" pitchFamily="18" charset="0"/>
                                  </a:rPr>
                                  <m:t>2</m:t>
                                </m:r>
                              </m:sup>
                            </m:sSup>
                          </m:e>
                        </m:d>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π</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 part matches option (A). The constant is </a:t>
                </a:r>
                <a14:m>
                  <m:oMath xmlns:m="http://schemas.openxmlformats.org/officeDocument/2006/math">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7.666</m:t>
                    </m:r>
                  </m:oMath>
                </a14:m>
                <a:r>
                  <a:rPr sz="2400" b="0">
                    <a:solidFill>
                      <a:srgbClr val="111827"/>
                    </a:solidFill>
                    <a:latin typeface="Arial"/>
                  </a:rPr>
                  <a:t>, so the exact value is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7.291</m:t>
                    </m:r>
                  </m:oMath>
                </a14:m>
                <a:r>
                  <a:rPr sz="2400" b="0">
                    <a:solidFill>
                      <a:srgbClr val="111827"/>
                    </a:solidFill>
                    <a:latin typeface="Arial"/>
                  </a:rPr>
                  <a:t>, which differs from (A)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7.625</m:t>
                    </m:r>
                  </m:oMath>
                </a14:m>
                <a:r>
                  <a:rPr sz="2400" b="0">
                    <a:solidFill>
                      <a:srgbClr val="111827"/>
                    </a:solidFill>
                    <a:latin typeface="Arial"/>
                  </a:rPr>
                  <a:t> and equals none of the four options.</a:t>
                </a:r>
                <a:endParaRPr sz="2400">
                  <a:solidFill>
                    <a:srgbClr val="111827"/>
                  </a:solidFill>
                </a:endParaRPr>
              </a:p>
            </p:txBody>
          </p:sp>
        </mc:Choice>
        <mc:Fallback>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$\frac{2}{3(1+4x^2)}$</a:t>
                </a:r>
                <a:r>
                  <a:rPr sz="2400" b="0">
                    <a:solidFill>
                      <a:srgbClr val="111827"/>
                    </a:solidFill>
                    <a:latin typeface="Arial"/>
                  </a:rPr>
                  <a:t> is decreasing in </a:t>
                </a:r>
                <a:r>
                  <a:rPr lang="en-IN" sz="2400">
                    <a:solidFill>
                      <a:srgbClr val="111827"/>
                    </a:solidFill>
                    <a:latin typeface="Cambria Math" panose="02040503050406030204" pitchFamily="18" charset="0"/>
                  </a:rPr>
                  <a:t>$|x|$</a:t>
                </a:r>
                <a:r>
                  <a:rPr sz="2400" b="0">
                    <a:solidFill>
                      <a:srgbClr val="111827"/>
                    </a:solidFill>
                    <a:latin typeface="Arial"/>
                  </a:rPr>
                  <a:t>, so its infimum is at </a:t>
                </a:r>
                <a:r>
                  <a:rPr lang="en-IN" sz="2400">
                    <a:solidFill>
                      <a:srgbClr val="111827"/>
                    </a:solidFill>
                    <a:latin typeface="Cambria Math" panose="02040503050406030204" pitchFamily="18" charset="0"/>
                  </a:rPr>
                  <a:t>$x=\pm\frac\pi6$</a:t>
                </a:r>
                <a:r>
                  <a:rPr sz="2400" b="0">
                    <a:solidFill>
                      <a:srgbClr val="111827"/>
                    </a:solidFill>
                    <a:latin typeface="Arial"/>
                  </a:rPr>
                  <a:t>: </a:t>
                </a:r>
                <a:r>
                  <a:rPr lang="en-IN" sz="2400">
                    <a:solidFill>
                      <a:srgbClr val="111827"/>
                    </a:solidFill>
                    <a:latin typeface="Cambria Math" panose="02040503050406030204" pitchFamily="18" charset="0"/>
                  </a:rPr>
                  <a:t>$\frac{2}{3\left(1+\frac{\pi^2}{9}\right)}=\frac{6}{9+\pi^2}$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$a_{\max}=\bar a=\frac{6}{9+\pi^2}$</a:t>
                </a:r>
                <a:r>
                  <a:rPr sz="2400" b="0">
                    <a:solidFill>
                      <a:srgbClr val="111827"/>
                    </a:solidFill>
                    <a:latin typeface="Arial"/>
                  </a:rPr>
                  <a:t> (equality is allowed, </a:t>
                </a:r>
                <a:r>
                  <a:rPr lang="en-IN" sz="2400">
                    <a:solidFill>
                      <a:srgbClr val="111827"/>
                    </a:solidFill>
                    <a:latin typeface="Cambria Math" panose="02040503050406030204" pitchFamily="18" charset="0"/>
                  </a:rPr>
                  <a:t>$f'&gt;0$</a:t>
                </a:r>
                <a:r>
                  <a:rPr sz="2400" b="0">
                    <a:solidFill>
                      <a:srgbClr val="111827"/>
                    </a:solidFill>
                    <a:latin typeface="Arial"/>
                  </a:rPr>
                  <a:t> strictly inside).</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$f_{\bar a}\left(\frac\pi8\right)=\tan^{-1}\frac\pi4-3\cdot\frac{6}{9+\pi^2}\cdot\frac\pi8+7$</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$=\tan^{-1}\frac\pi4-\frac{9\pi}{4\left(9+\pi^2\right)}+7$</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a:t>
                </a:r>
                <a:r>
                  <a:rPr lang="en-IN" sz="2400">
                    <a:solidFill>
                      <a:srgbClr val="111827"/>
                    </a:solidFill>
                    <a:latin typeface="Cambria Math" panose="02040503050406030204" pitchFamily="18" charset="0"/>
                  </a:rPr>
                  <a:t>$\frac{9\pi}{4(9+\pi^2)}$</a:t>
                </a:r>
                <a:r>
                  <a:rPr sz="2400" b="0">
                    <a:solidFill>
                      <a:srgbClr val="111827"/>
                    </a:solidFill>
                    <a:latin typeface="Arial"/>
                  </a:rPr>
                  <a:t> part matches option (A). The constant is </a:t>
                </a:r>
                <a:r>
                  <a:rPr lang="en-IN" sz="2400">
                    <a:solidFill>
                      <a:srgbClr val="111827"/>
                    </a:solidFill>
                    <a:latin typeface="Cambria Math" panose="02040503050406030204" pitchFamily="18" charset="0"/>
                  </a:rPr>
                  <a:t>$7+\tan^{-1}\frac\pi4\approx7.666$</a:t>
                </a:r>
                <a:r>
                  <a:rPr sz="2400" b="0">
                    <a:solidFill>
                      <a:srgbClr val="111827"/>
                    </a:solidFill>
                    <a:latin typeface="Arial"/>
                  </a:rPr>
                  <a:t>, so the exact value is </a:t>
                </a:r>
                <a:r>
                  <a:rPr lang="en-IN" sz="2400">
                    <a:solidFill>
                      <a:srgbClr val="111827"/>
                    </a:solidFill>
                    <a:latin typeface="Cambria Math" panose="02040503050406030204" pitchFamily="18" charset="0"/>
                  </a:rPr>
                  <a:t>$\approx7.291$</a:t>
                </a:r>
                <a:r>
                  <a:rPr sz="2400" b="0">
                    <a:solidFill>
                      <a:srgbClr val="111827"/>
                    </a:solidFill>
                    <a:latin typeface="Arial"/>
                  </a:rPr>
                  <a:t>, which differs from (A) </a:t>
                </a:r>
                <a:r>
                  <a:rPr lang="en-IN" sz="2400">
                    <a:solidFill>
                      <a:srgbClr val="111827"/>
                    </a:solidFill>
                    <a:latin typeface="Cambria Math" panose="02040503050406030204" pitchFamily="18" charset="0"/>
                  </a:rPr>
                  <a:t>$\approx7.625$</a:t>
                </a:r>
                <a:r>
                  <a:rPr sz="2400" b="0">
                    <a:solidFill>
                      <a:srgbClr val="111827"/>
                    </a:solidFill>
                    <a:latin typeface="Arial"/>
                  </a:rPr>
                  <a:t> and equals none of the four options.</a:t>
                </a:r>
                <a:endParaRPr sz="2400">
                  <a:solidFill>
                    <a:srgbClr val="111827"/>
                  </a:solidFill>
                </a:endParaRPr>
              </a:p>
            </p:txBody>
          </p:sp>
        </mc:Fallback>
      </mc:AlternateContent>
    </p:spTree>
  </p:cSld>
  <p:clrMapOvr>
    <a:masterClrMapping/>
  </p:clrMapOvr>
</p:sld>
</file>

<file path=ppt/slides/slide2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question is flawed (the printed option constants do not follow from the printed function); the official key is (A), the only option with the correct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π</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 term.</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question is flawed (the printed option constants do not follow from the printed function); the official key is (A), the only option with the correct </a:t>
                </a:r>
                <a:r>
                  <a:rPr lang="en-IN" sz="2400">
                    <a:solidFill>
                      <a:srgbClr val="111827"/>
                    </a:solidFill>
                    <a:latin typeface="Cambria Math" panose="02040503050406030204" pitchFamily="18" charset="0"/>
                  </a:rPr>
                  <a:t>$\frac{9\pi}{4(9+\pi^2)}$</a:t>
                </a:r>
                <a:r>
                  <a:rPr sz="2400" b="0">
                    <a:solidFill>
                      <a:srgbClr val="111827"/>
                    </a:solidFill>
                    <a:latin typeface="Arial"/>
                  </a:rPr>
                  <a:t> term.</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a:t>
                </a:r>
                <a14:m>
                  <m:oMath xmlns:m="http://schemas.openxmlformats.org/officeDocument/2006/math">
                    <m:r>
                      <a:rPr lang="en-IN" sz="2800" i="1">
                        <a:solidFill>
                          <a:srgbClr val="15803D"/>
                        </a:solidFill>
                        <a:latin typeface="Cambria Math" panose="02040503050406030204" pitchFamily="18" charset="0"/>
                      </a:rPr>
                      <m:t>8</m:t>
                    </m:r>
                    <m:r>
                      <m:rPr>
                        <m:sty m:val="p"/>
                      </m:rPr>
                      <a:rPr lang="en-IN" sz="2800">
                        <a:solidFill>
                          <a:srgbClr val="15803D"/>
                        </a:solidFill>
                        <a:latin typeface="Cambria Math" panose="02040503050406030204" pitchFamily="18" charset="0"/>
                      </a:rPr>
                      <m:t>−</m:t>
                    </m:r>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9</m:t>
                        </m:r>
                        <m:r>
                          <a:rPr lang="en-IN" sz="2800" i="1">
                            <a:solidFill>
                              <a:srgbClr val="15803D"/>
                            </a:solidFill>
                            <a:latin typeface="Cambria Math" panose="02040503050406030204" pitchFamily="18" charset="0"/>
                          </a:rPr>
                          <m:t>π</m:t>
                        </m:r>
                      </m:num>
                      <m:den>
                        <m:r>
                          <a:rPr lang="en-IN" sz="2800" i="1">
                            <a:solidFill>
                              <a:srgbClr val="15803D"/>
                            </a:solidFill>
                            <a:latin typeface="Cambria Math" panose="02040503050406030204" pitchFamily="18" charset="0"/>
                          </a:rPr>
                          <m:t>4</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9</m:t>
                        </m:r>
                        <m:r>
                          <m:rPr>
                            <m:sty m:val="p"/>
                          </m:rPr>
                          <a:rPr lang="en-IN" sz="2800">
                            <a:solidFill>
                              <a:srgbClr val="15803D"/>
                            </a:solidFill>
                            <a:latin typeface="Cambria Math" panose="02040503050406030204" pitchFamily="18" charset="0"/>
                          </a:rPr>
                          <m:t>+</m:t>
                        </m:r>
                        <m:sSup>
                          <m:e>
                            <m:r>
                              <a:rPr lang="en-IN" sz="2800" i="1">
                                <a:solidFill>
                                  <a:srgbClr val="15803D"/>
                                </a:solidFill>
                                <a:latin typeface="Cambria Math" panose="02040503050406030204" pitchFamily="18" charset="0"/>
                              </a:rPr>
                              <m:t>π</m:t>
                            </m:r>
                          </m:e>
                          <m:sup>
                            <m:r>
                              <a:rPr lang="en-IN" sz="2800" i="1">
                                <a:solidFill>
                                  <a:srgbClr val="15803D"/>
                                </a:solidFill>
                                <a:latin typeface="Cambria Math" panose="02040503050406030204" pitchFamily="18" charset="0"/>
                              </a:rPr>
                              <m:t>2</m:t>
                            </m:r>
                          </m:sup>
                        </m:sSup>
                        <m:r>
                          <m:rPr>
                            <m:sty m:val="p"/>
                          </m:rPr>
                          <a:rPr lang="en-IN" sz="2800">
                            <a:solidFill>
                              <a:srgbClr val="15803D"/>
                            </a:solidFill>
                            <a:latin typeface="Cambria Math" panose="02040503050406030204" pitchFamily="18" charset="0"/>
                          </a:rPr>
                          <m:t>)</m:t>
                        </m:r>
                      </m:den>
                    </m:f>
                  </m:oMath>
                </a14:m>
                <a:r>
                  <a:rPr sz="2800" b="1">
                    <a:solidFill>
                      <a:srgbClr val="15803D"/>
                    </a:solidFill>
                    <a:latin typeface="Arial"/>
                  </a:rPr>
                  <a:t> (official key; see note: exact value is </a:t>
                </a:r>
                <a14:m>
                  <m:oMath xmlns:m="http://schemas.openxmlformats.org/officeDocument/2006/math">
                    <m:r>
                      <a:rPr lang="en-IN" sz="2800" i="1">
                        <a:solidFill>
                          <a:srgbClr val="15803D"/>
                        </a:solidFill>
                        <a:latin typeface="Cambria Math" panose="02040503050406030204" pitchFamily="18" charset="0"/>
                      </a:rPr>
                      <m:t>7</m:t>
                    </m:r>
                    <m:r>
                      <m:rPr>
                        <m:sty m:val="p"/>
                      </m:rPr>
                      <a:rPr lang="en-IN" sz="2800">
                        <a:solidFill>
                          <a:srgbClr val="15803D"/>
                        </a:solidFill>
                        <a:latin typeface="Cambria Math" panose="02040503050406030204" pitchFamily="18" charset="0"/>
                      </a:rPr>
                      <m:t>+</m:t>
                    </m:r>
                    <m:sSup>
                      <m:e>
                        <m:r>
                          <m:rPr>
                            <m:sty m:val="p"/>
                          </m:rPr>
                          <a:rPr lang="en-IN" sz="2800">
                            <a:solidFill>
                              <a:srgbClr val="15803D"/>
                            </a:solidFill>
                            <a:latin typeface="Cambria Math" panose="02040503050406030204" pitchFamily="18" charset="0"/>
                          </a:rPr>
                          <m:t>tan</m:t>
                        </m:r>
                      </m:e>
                      <m:sup>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1</m:t>
                        </m:r>
                      </m:sup>
                    </m:sSup>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π</m:t>
                        </m:r>
                      </m:num>
                      <m:den>
                        <m:r>
                          <a:rPr lang="en-IN" sz="2800" i="1">
                            <a:solidFill>
                              <a:srgbClr val="15803D"/>
                            </a:solidFill>
                            <a:latin typeface="Cambria Math" panose="02040503050406030204" pitchFamily="18" charset="0"/>
                          </a:rPr>
                          <m:t>4</m:t>
                        </m:r>
                      </m:den>
                    </m:f>
                    <m:r>
                      <m:rPr>
                        <m:sty m:val="p"/>
                      </m:rPr>
                      <a:rPr lang="en-IN" sz="2800">
                        <a:solidFill>
                          <a:srgbClr val="15803D"/>
                        </a:solidFill>
                        <a:latin typeface="Cambria Math" panose="02040503050406030204" pitchFamily="18" charset="0"/>
                      </a:rPr>
                      <m:t>−</m:t>
                    </m:r>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9</m:t>
                        </m:r>
                        <m:r>
                          <a:rPr lang="en-IN" sz="2800" i="1">
                            <a:solidFill>
                              <a:srgbClr val="15803D"/>
                            </a:solidFill>
                            <a:latin typeface="Cambria Math" panose="02040503050406030204" pitchFamily="18" charset="0"/>
                          </a:rPr>
                          <m:t>π</m:t>
                        </m:r>
                      </m:num>
                      <m:den>
                        <m:r>
                          <a:rPr lang="en-IN" sz="2800" i="1">
                            <a:solidFill>
                              <a:srgbClr val="15803D"/>
                            </a:solidFill>
                            <a:latin typeface="Cambria Math" panose="02040503050406030204" pitchFamily="18" charset="0"/>
                          </a:rPr>
                          <m:t>4</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9</m:t>
                        </m:r>
                        <m:r>
                          <m:rPr>
                            <m:sty m:val="p"/>
                          </m:rPr>
                          <a:rPr lang="en-IN" sz="2800">
                            <a:solidFill>
                              <a:srgbClr val="15803D"/>
                            </a:solidFill>
                            <a:latin typeface="Cambria Math" panose="02040503050406030204" pitchFamily="18" charset="0"/>
                          </a:rPr>
                          <m:t>+</m:t>
                        </m:r>
                        <m:sSup>
                          <m:e>
                            <m:r>
                              <a:rPr lang="en-IN" sz="2800" i="1">
                                <a:solidFill>
                                  <a:srgbClr val="15803D"/>
                                </a:solidFill>
                                <a:latin typeface="Cambria Math" panose="02040503050406030204" pitchFamily="18" charset="0"/>
                              </a:rPr>
                              <m:t>π</m:t>
                            </m:r>
                          </m:e>
                          <m:sup>
                            <m:r>
                              <a:rPr lang="en-IN" sz="2800" i="1">
                                <a:solidFill>
                                  <a:srgbClr val="15803D"/>
                                </a:solidFill>
                                <a:latin typeface="Cambria Math" panose="02040503050406030204" pitchFamily="18" charset="0"/>
                              </a:rPr>
                              <m:t>2</m:t>
                            </m:r>
                          </m:sup>
                        </m:sSup>
                        <m:r>
                          <m:rPr>
                            <m:sty m:val="p"/>
                          </m:rPr>
                          <a:rPr lang="en-IN" sz="2800">
                            <a:solidFill>
                              <a:srgbClr val="15803D"/>
                            </a:solidFill>
                            <a:latin typeface="Cambria Math" panose="02040503050406030204" pitchFamily="18" charset="0"/>
                          </a:rPr>
                          <m:t>)</m:t>
                        </m:r>
                      </m:den>
                    </m:f>
                  </m:oMath>
                </a14:m>
                <a:r>
                  <a:rPr sz="2800" b="1">
                    <a:solidFill>
                      <a:srgbClr val="15803D"/>
                    </a:solidFill>
                    <a:latin typeface="Arial"/>
                  </a:rPr>
                  <a:t>)</a:t>
                </a:r>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a:t>
                </a:r>
                <a:r>
                  <a:rPr lang="en-IN" sz="2800">
                    <a:solidFill>
                      <a:srgbClr val="15803D"/>
                    </a:solidFill>
                    <a:latin typeface="Cambria Math" panose="02040503050406030204" pitchFamily="18" charset="0"/>
                  </a:rPr>
                  <a:t>$8-\frac{9\pi}{4(9+\pi^2)}$</a:t>
                </a:r>
                <a:r>
                  <a:rPr sz="2800" b="1">
                    <a:solidFill>
                      <a:srgbClr val="15803D"/>
                    </a:solidFill>
                    <a:latin typeface="Arial"/>
                  </a:rPr>
                  <a:t> (official key; see note: exact value is </a:t>
                </a:r>
                <a:r>
                  <a:rPr lang="en-IN" sz="2800">
                    <a:solidFill>
                      <a:srgbClr val="15803D"/>
                    </a:solidFill>
                    <a:latin typeface="Cambria Math" panose="02040503050406030204" pitchFamily="18" charset="0"/>
                  </a:rPr>
                  <a:t>$7+\tan^{-1}\frac\pi4-\frac{9\pi}{4(9+\pi^2)}$</a:t>
                </a:r>
                <a:r>
                  <a:rPr sz="2800" b="1">
                    <a:solidFill>
                      <a:srgbClr val="15803D"/>
                    </a:solidFill>
                    <a:latin typeface="Arial"/>
                  </a:rPr>
                  <a:t>)</a:t>
                </a:r>
                <a:endParaRPr sz="2800">
                  <a:solidFill>
                    <a:srgbClr val="15803D"/>
                  </a:solidFill>
                </a:endParaRPr>
              </a:p>
            </p:txBody>
          </p:sp>
        </mc:Fallback>
      </mc:AlternateContent>
    </p:spTree>
  </p:cSld>
  <p:clrMapOvr>
    <a:masterClrMapping/>
  </p:clrMapOvr>
</p:sld>
</file>

<file path=ppt/slides/slide2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is non-decreasing on an interval iff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there; equality at isolated points or at an endpoint is allowed.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 parameter inequality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𝐼</m:t>
                    </m:r>
                  </m:oMath>
                </a14:m>
                <a:r>
                  <a:rPr sz="2400" b="0">
                    <a:solidFill>
                      <a:srgbClr val="111827"/>
                    </a:solidFill>
                    <a:latin typeface="Arial"/>
                  </a:rPr>
                  <a:t>, take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sSub>
                      <m:e>
                        <m:r>
                          <m:rPr>
                            <m:sty m:val="p"/>
                          </m:rPr>
                          <a:rPr lang="en-IN" sz="2400">
                            <a:solidFill>
                              <a:srgbClr val="111827"/>
                            </a:solidFill>
                            <a:latin typeface="Cambria Math" panose="02040503050406030204" pitchFamily="18" charset="0"/>
                          </a:rPr>
                          <m:t>inf</m:t>
                        </m:r>
                      </m:e>
                      <m:sub>
                        <m:r>
                          <a:rPr lang="en-IN" sz="2400" i="1">
                            <a:solidFill>
                              <a:srgbClr val="111827"/>
                            </a:solidFill>
                            <a:latin typeface="Cambria Math" panose="02040503050406030204" pitchFamily="18" charset="0"/>
                          </a:rPr>
                          <m:t>𝐼</m:t>
                        </m:r>
                      </m:sub>
                    </m:sSub>
                    <m:r>
                      <a:rPr lang="en-IN" sz="2400" i="1">
                        <a:solidFill>
                          <a:srgbClr val="111827"/>
                        </a:solidFill>
                        <a:latin typeface="Cambria Math" panose="02040503050406030204" pitchFamily="18" charset="0"/>
                      </a:rPr>
                      <m:t>𝑔</m:t>
                    </m:r>
                  </m:oMath>
                </a14:m>
                <a:r>
                  <a:rPr sz="2400" b="0">
                    <a:solidFill>
                      <a:srgbClr val="111827"/>
                    </a:solidFill>
                    <a:latin typeface="Arial"/>
                  </a:rPr>
                  <a:t>; check whether the infimum lies at an endpoint.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𝑘</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2</m:t>
                            </m:r>
                          </m:sup>
                        </m:sSup>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 even and maximal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decreasing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no option matches a clean computation, recheck the question statement before forcing a match.</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a:t>
                </a:r>
                <a:r>
                  <a:rPr sz="2400" b="0">
                    <a:solidFill>
                      <a:srgbClr val="111827"/>
                    </a:solidFill>
                    <a:latin typeface="Arial"/>
                  </a:rPr>
                  <a:t> is non-decreasing on an interval iff </a:t>
                </a:r>
                <a:r>
                  <a:rPr lang="en-IN" sz="2400">
                    <a:solidFill>
                      <a:srgbClr val="111827"/>
                    </a:solidFill>
                    <a:latin typeface="Cambria Math" panose="02040503050406030204" pitchFamily="18" charset="0"/>
                  </a:rPr>
                  <a:t>$f'\ge0$</a:t>
                </a:r>
                <a:r>
                  <a:rPr sz="2400" b="0">
                    <a:solidFill>
                      <a:srgbClr val="111827"/>
                    </a:solidFill>
                    <a:latin typeface="Arial"/>
                  </a:rPr>
                  <a:t> there; equality at isolated points or at an endpoint is allowed.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 parameter inequality </a:t>
                </a:r>
                <a:r>
                  <a:rPr lang="en-IN" sz="2400">
                    <a:solidFill>
                      <a:srgbClr val="111827"/>
                    </a:solidFill>
                    <a:latin typeface="Cambria Math" panose="02040503050406030204" pitchFamily="18" charset="0"/>
                  </a:rPr>
                  <a:t>$a\le g(x)\ \forall x\in I$</a:t>
                </a:r>
                <a:r>
                  <a:rPr sz="2400" b="0">
                    <a:solidFill>
                      <a:srgbClr val="111827"/>
                    </a:solidFill>
                    <a:latin typeface="Arial"/>
                  </a:rPr>
                  <a:t>, take </a:t>
                </a:r>
                <a:r>
                  <a:rPr lang="en-IN" sz="2400">
                    <a:solidFill>
                      <a:srgbClr val="111827"/>
                    </a:solidFill>
                    <a:latin typeface="Cambria Math" panose="02040503050406030204" pitchFamily="18" charset="0"/>
                  </a:rPr>
                  <a:t>$a\le\inf_I g$</a:t>
                </a:r>
                <a:r>
                  <a:rPr sz="2400" b="0">
                    <a:solidFill>
                      <a:srgbClr val="111827"/>
                    </a:solidFill>
                    <a:latin typeface="Arial"/>
                  </a:rPr>
                  <a:t>; check whether the infimum lies at an endpoint.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$\frac{d}{dx}\tan^{-1}(kx)=\frac{k}{1+k^2x^2}$</a:t>
                </a:r>
                <a:r>
                  <a:rPr sz="2400" b="0">
                    <a:solidFill>
                      <a:srgbClr val="111827"/>
                    </a:solidFill>
                    <a:latin typeface="Arial"/>
                  </a:rPr>
                  <a:t>, even and maximal at </a:t>
                </a:r>
                <a:r>
                  <a:rPr lang="en-IN" sz="2400">
                    <a:solidFill>
                      <a:srgbClr val="111827"/>
                    </a:solidFill>
                    <a:latin typeface="Cambria Math" panose="02040503050406030204" pitchFamily="18" charset="0"/>
                  </a:rPr>
                  <a:t>$x=0$</a:t>
                </a:r>
                <a:r>
                  <a:rPr sz="2400" b="0">
                    <a:solidFill>
                      <a:srgbClr val="111827"/>
                    </a:solidFill>
                    <a:latin typeface="Arial"/>
                  </a:rPr>
                  <a:t>, decreasing in </a:t>
                </a:r>
                <a:r>
                  <a:rPr lang="en-IN" sz="2400">
                    <a:solidFill>
                      <a:srgbClr val="111827"/>
                    </a:solidFill>
                    <a:latin typeface="Cambria Math" panose="02040503050406030204" pitchFamily="18" charset="0"/>
                  </a:rPr>
                  <a:t>$|x|$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no option matches a clean computation, recheck the question statement before forcing a match.</a:t>
                </a:r>
                <a:endParaRPr sz="2400">
                  <a:solidFill>
                    <a:srgbClr val="111827"/>
                  </a:solidFill>
                </a:endParaRPr>
              </a:p>
            </p:txBody>
          </p:sp>
        </mc:Fallback>
      </mc:AlternateContent>
    </p:spTree>
  </p:cSld>
  <p:clrMapOvr>
    <a:masterClrMapping/>
  </p:clrMapOvr>
</p:sld>
</file>

<file path=ppt/slides/slide2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4078732"/>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 function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R</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R</m:t>
                    </m:r>
                  </m:oMath>
                </a14:m>
                <a:r>
                  <a:rPr sz="2400" b="0">
                    <a:solidFill>
                      <a:srgbClr val="111827"/>
                    </a:solidFill>
                    <a:latin typeface="Arial"/>
                  </a:rPr>
                  <a:t> be defined as: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nary>
                      <m:naryPr>
                        <m:chr m:val="∫"/>
                        <m:limLoc m:val="subSup"/>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𝑥</m:t>
                        </m:r>
                      </m:sup>
                      <m:e>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e>
                        </m:d>
                      </m:e>
                    </m:nary>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4</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𝑥</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where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R</m:t>
                    </m:r>
                  </m:oMath>
                </a14:m>
                <a:r>
                  <a:rPr sz="2400" b="0">
                    <a:solidFill>
                      <a:srgbClr val="111827"/>
                    </a:solidFill>
                    <a:latin typeface="Arial"/>
                  </a:rPr>
                  <a:t>. If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is continuous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then which of the following statements is NOT true?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is not differentiable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(B)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35</m:t>
                        </m:r>
                      </m:num>
                      <m:den>
                        <m:r>
                          <a:rPr lang="en-IN" sz="2400" i="1">
                            <a:solidFill>
                              <a:srgbClr val="111827"/>
                            </a:solidFill>
                            <a:latin typeface="Cambria Math" panose="02040503050406030204" pitchFamily="18" charset="0"/>
                          </a:rPr>
                          <m:t>4</m:t>
                        </m:r>
                      </m:den>
                    </m:f>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(C)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is increasing in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8</m:t>
                            </m:r>
                          </m:den>
                        </m:f>
                      </m:e>
                    </m: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(D)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has a local minima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8</m:t>
                        </m:r>
                      </m:den>
                    </m:f>
                  </m:oMath>
                </a14:m>
                <a:endParaRPr sz="2400">
                  <a:solidFill>
                    <a:srgbClr val="111827"/>
                  </a:solidFill>
                </a:endParaRPr>
              </a:p>
            </p:txBody>
          </p:sp>
        </mc:Choice>
        <mc:Fallback>
          <p:sp>
            <p:nvSpPr>
              <p:cNvPr id="4" name="Rounded Rectangle 3"/>
              <p:cNvSpPr/>
              <p:nvPr/>
            </p:nvSpPr>
            <p:spPr>
              <a:xfrm>
                <a:off x="731520" y="1280160"/>
                <a:ext cx="10725912" cy="4078732"/>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 function </a:t>
                </a:r>
                <a:r>
                  <a:rPr lang="en-IN" sz="2400">
                    <a:solidFill>
                      <a:srgbClr val="111827"/>
                    </a:solidFill>
                    <a:latin typeface="Cambria Math" panose="02040503050406030204" pitchFamily="18" charset="0"/>
                  </a:rPr>
                  <a:t>$f:\mathbb{R}\to\mathbb{R}$</a:t>
                </a:r>
                <a:r>
                  <a:rPr sz="2400" b="0">
                    <a:solidFill>
                      <a:srgbClr val="111827"/>
                    </a:solidFill>
                    <a:latin typeface="Arial"/>
                  </a:rPr>
                  <a:t> be defined as: </a:t>
                </a:r>
                <a:r>
                  <a:rPr lang="en-IN" sz="2400">
                    <a:solidFill>
                      <a:srgbClr val="111827"/>
                    </a:solidFill>
                    <a:latin typeface="Cambria Math" panose="02040503050406030204" pitchFamily="18" charset="0"/>
                  </a:rPr>
                  <a:t>$f(x)=\int_0^x\left(5-|t-3|\right)dt$</a:t>
                </a:r>
                <a:r>
                  <a:rPr sz="2400" b="0">
                    <a:solidFill>
                      <a:srgbClr val="111827"/>
                    </a:solidFill>
                    <a:latin typeface="Arial"/>
                  </a:rPr>
                  <a:t> for </a:t>
                </a:r>
                <a:r>
                  <a:rPr lang="en-IN" sz="2400">
                    <a:solidFill>
                      <a:srgbClr val="111827"/>
                    </a:solidFill>
                    <a:latin typeface="Cambria Math" panose="02040503050406030204" pitchFamily="18" charset="0"/>
                  </a:rPr>
                  <a:t>$x&gt;4$</a:t>
                </a:r>
                <a:r>
                  <a:rPr sz="2400" b="0">
                    <a:solidFill>
                      <a:srgbClr val="111827"/>
                    </a:solidFill>
                    <a:latin typeface="Arial"/>
                  </a:rPr>
                  <a:t>, and </a:t>
                </a:r>
                <a:r>
                  <a:rPr lang="en-IN" sz="2400">
                    <a:solidFill>
                      <a:srgbClr val="111827"/>
                    </a:solidFill>
                    <a:latin typeface="Cambria Math" panose="02040503050406030204" pitchFamily="18" charset="0"/>
                  </a:rPr>
                  <a:t>$f(x)=x^2+bx$</a:t>
                </a:r>
                <a:r>
                  <a:rPr sz="2400" b="0">
                    <a:solidFill>
                      <a:srgbClr val="111827"/>
                    </a:solidFill>
                    <a:latin typeface="Arial"/>
                  </a:rPr>
                  <a:t> for </a:t>
                </a:r>
                <a:r>
                  <a:rPr lang="en-IN" sz="2400">
                    <a:solidFill>
                      <a:srgbClr val="111827"/>
                    </a:solidFill>
                    <a:latin typeface="Cambria Math" panose="02040503050406030204" pitchFamily="18" charset="0"/>
                  </a:rPr>
                  <a:t>$x\le4$</a:t>
                </a:r>
                <a:r>
                  <a:rPr sz="2400" b="0">
                    <a:solidFill>
                      <a:srgbClr val="111827"/>
                    </a:solidFill>
                    <a:latin typeface="Arial"/>
                  </a:rPr>
                  <a:t>, where </a:t>
                </a:r>
                <a:r>
                  <a:rPr lang="en-IN" sz="2400">
                    <a:solidFill>
                      <a:srgbClr val="111827"/>
                    </a:solidFill>
                    <a:latin typeface="Cambria Math" panose="02040503050406030204" pitchFamily="18" charset="0"/>
                  </a:rPr>
                  <a:t>$b\in\mathbb{R}$</a:t>
                </a:r>
                <a:r>
                  <a:rPr sz="2400" b="0">
                    <a:solidFill>
                      <a:srgbClr val="111827"/>
                    </a:solidFill>
                    <a:latin typeface="Arial"/>
                  </a:rPr>
                  <a:t>. If </a:t>
                </a:r>
                <a:r>
                  <a:rPr lang="en-IN" sz="2400">
                    <a:solidFill>
                      <a:srgbClr val="111827"/>
                    </a:solidFill>
                    <a:latin typeface="Cambria Math" panose="02040503050406030204" pitchFamily="18" charset="0"/>
                  </a:rPr>
                  <a:t>$f$</a:t>
                </a:r>
                <a:r>
                  <a:rPr sz="2400" b="0">
                    <a:solidFill>
                      <a:srgbClr val="111827"/>
                    </a:solidFill>
                    <a:latin typeface="Arial"/>
                  </a:rPr>
                  <a:t> is continuous at </a:t>
                </a:r>
                <a:r>
                  <a:rPr lang="en-IN" sz="2400">
                    <a:solidFill>
                      <a:srgbClr val="111827"/>
                    </a:solidFill>
                    <a:latin typeface="Cambria Math" panose="02040503050406030204" pitchFamily="18" charset="0"/>
                  </a:rPr>
                  <a:t>$x=4$</a:t>
                </a:r>
                <a:r>
                  <a:rPr sz="2400" b="0">
                    <a:solidFill>
                      <a:srgbClr val="111827"/>
                    </a:solidFill>
                    <a:latin typeface="Arial"/>
                  </a:rPr>
                  <a:t>, then which of the following statements is NOT true?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$f$</a:t>
                </a:r>
                <a:r>
                  <a:rPr sz="2400" b="0">
                    <a:solidFill>
                      <a:srgbClr val="111827"/>
                    </a:solidFill>
                    <a:latin typeface="Arial"/>
                  </a:rPr>
                  <a:t> is not differentiable at </a:t>
                </a:r>
                <a:r>
                  <a:rPr lang="en-IN" sz="2400">
                    <a:solidFill>
                      <a:srgbClr val="111827"/>
                    </a:solidFill>
                    <a:latin typeface="Cambria Math" panose="02040503050406030204" pitchFamily="18" charset="0"/>
                  </a:rPr>
                  <a:t>$x=4$</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a:t>
                </a:r>
                <a:r>
                  <a:rPr lang="en-IN" sz="2400">
                    <a:solidFill>
                      <a:srgbClr val="111827"/>
                    </a:solidFill>
                    <a:latin typeface="Cambria Math" panose="02040503050406030204" pitchFamily="18" charset="0"/>
                  </a:rPr>
                  <a:t>$f'(3)+f'(5)=\frac{35}{4}$</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a:t>
                </a:r>
                <a:r>
                  <a:rPr lang="en-IN" sz="2400">
                    <a:solidFill>
                      <a:srgbClr val="111827"/>
                    </a:solidFill>
                    <a:latin typeface="Cambria Math" panose="02040503050406030204" pitchFamily="18" charset="0"/>
                  </a:rPr>
                  <a:t>$f$</a:t>
                </a:r>
                <a:r>
                  <a:rPr sz="2400" b="0">
                    <a:solidFill>
                      <a:srgbClr val="111827"/>
                    </a:solidFill>
                    <a:latin typeface="Arial"/>
                  </a:rPr>
                  <a:t> is increasing in </a:t>
                </a:r>
                <a:r>
                  <a:rPr lang="en-IN" sz="2400">
                    <a:solidFill>
                      <a:srgbClr val="111827"/>
                    </a:solidFill>
                    <a:latin typeface="Cambria Math" panose="02040503050406030204" pitchFamily="18" charset="0"/>
                  </a:rPr>
                  <a:t>$\left(-\infty,\frac18\right)\cup(8,\infty)$</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a:t>
                </a:r>
                <a:r>
                  <a:rPr lang="en-IN" sz="2400">
                    <a:solidFill>
                      <a:srgbClr val="111827"/>
                    </a:solidFill>
                    <a:latin typeface="Cambria Math" panose="02040503050406030204" pitchFamily="18" charset="0"/>
                  </a:rPr>
                  <a:t>$f$</a:t>
                </a:r>
                <a:r>
                  <a:rPr sz="2400" b="0">
                    <a:solidFill>
                      <a:srgbClr val="111827"/>
                    </a:solidFill>
                    <a:latin typeface="Arial"/>
                  </a:rPr>
                  <a:t> has a local minima at </a:t>
                </a:r>
                <a:r>
                  <a:rPr lang="en-IN" sz="2400">
                    <a:solidFill>
                      <a:srgbClr val="111827"/>
                    </a:solidFill>
                    <a:latin typeface="Cambria Math" panose="02040503050406030204" pitchFamily="18" charset="0"/>
                  </a:rPr>
                  <a:t>$x=\frac18$</a:t>
                </a:r>
                <a:endParaRPr sz="2400">
                  <a:solidFill>
                    <a:srgbClr val="111827"/>
                  </a:solidFill>
                </a:endParaRPr>
              </a:p>
            </p:txBody>
          </p:sp>
        </mc:Fallback>
      </mc:AlternateContent>
    </p:spTree>
  </p:cSld>
  <p:clrMapOvr>
    <a:masterClrMapping/>
  </p:clrMapOvr>
</p:sld>
</file>

<file path=ppt/slides/slide2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ectangle 3"/>
          <p:cNvSpPr/>
          <p:nvPr/>
        </p:nvSpPr>
        <p:spPr>
          <a:xfrm>
            <a:off x="731520" y="1280160"/>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Continuity, differentiability and monotonicity of a piecewise function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365760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Continuity at </a:t>
                </a:r>
                <a14:m>
                  <m:oMath xmlns:m="http://schemas.openxmlformats.org/officeDocument/2006/math">
                    <m:r>
                      <a:rPr lang="en-IN" sz="2400" i="1">
                        <a:solidFill>
                          <a:srgbClr val="78350F"/>
                        </a:solidFill>
                        <a:latin typeface="Cambria Math" panose="02040503050406030204" pitchFamily="18" charset="0"/>
                      </a:rPr>
                      <m:t>4</m:t>
                    </m:r>
                  </m:oMath>
                </a14:m>
                <a:r>
                  <a:rPr sz="2400" b="0">
                    <a:solidFill>
                      <a:srgbClr val="78350F"/>
                    </a:solidFill>
                    <a:latin typeface="Arial"/>
                  </a:rPr>
                  <a:t> fixes </a:t>
                </a:r>
                <a14:m>
                  <m:oMath xmlns:m="http://schemas.openxmlformats.org/officeDocument/2006/math">
                    <m:r>
                      <a:rPr lang="en-IN" sz="2400" i="1">
                        <a:solidFill>
                          <a:srgbClr val="78350F"/>
                        </a:solidFill>
                        <a:latin typeface="Cambria Math" panose="02040503050406030204" pitchFamily="18" charset="0"/>
                      </a:rPr>
                      <m:t>𝑏</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4</m:t>
                        </m:r>
                      </m:den>
                    </m:f>
                  </m:oMath>
                </a14:m>
                <a:r>
                  <a:rPr sz="2400" b="0">
                    <a:solidFill>
                      <a:srgbClr val="78350F"/>
                    </a:solidFill>
                    <a:latin typeface="Arial"/>
                  </a:rPr>
                  <a:t>; then </a:t>
                </a:r>
                <a14:m>
                  <m:oMath xmlns:m="http://schemas.openxmlformats.org/officeDocument/2006/math">
                    <m:sSup>
                      <m:e>
                        <m:r>
                          <a:rPr lang="en-IN" sz="2400" i="1">
                            <a:solidFill>
                              <a:srgbClr val="78350F"/>
                            </a:solidFill>
                            <a:latin typeface="Cambria Math" panose="02040503050406030204" pitchFamily="18" charset="0"/>
                          </a:rPr>
                          <m:t>𝑓</m:t>
                        </m:r>
                      </m:e>
                      <m:sup>
                        <m:r>
                          <m:rPr>
                            <m:sty m:val="p"/>
                          </m:rPr>
                          <a:rPr lang="en-IN" sz="2400">
                            <a:solidFill>
                              <a:srgbClr val="78350F"/>
                            </a:solidFill>
                            <a:latin typeface="Cambria Math" panose="02040503050406030204" pitchFamily="18" charset="0"/>
                          </a:rPr>
                          <m:t>′</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4</m:t>
                        </m:r>
                      </m:den>
                    </m:f>
                  </m:oMath>
                </a14:m>
                <a:r>
                  <a:rPr sz="2400" b="0">
                    <a:solidFill>
                      <a:srgbClr val="78350F"/>
                    </a:solidFill>
                    <a:latin typeface="Arial"/>
                  </a:rPr>
                  <a:t> is negative for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&lt;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8</m:t>
                        </m:r>
                      </m:den>
                    </m:f>
                  </m:oMath>
                </a14:m>
                <a:r>
                  <a:rPr sz="2400" b="0">
                    <a:solidFill>
                      <a:srgbClr val="78350F"/>
                    </a:solidFill>
                    <a:latin typeface="Arial"/>
                  </a:rPr>
                  <a:t>, so </a:t>
                </a:r>
                <a14:m>
                  <m:oMath xmlns:m="http://schemas.openxmlformats.org/officeDocument/2006/math">
                    <m:r>
                      <a:rPr lang="en-IN" sz="2400" i="1">
                        <a:solidFill>
                          <a:srgbClr val="78350F"/>
                        </a:solidFill>
                        <a:latin typeface="Cambria Math" panose="02040503050406030204" pitchFamily="18" charset="0"/>
                      </a:rPr>
                      <m:t>𝑓</m:t>
                    </m:r>
                  </m:oMath>
                </a14:m>
                <a:r>
                  <a:rPr sz="2400" b="0">
                    <a:solidFill>
                      <a:srgbClr val="78350F"/>
                    </a:solidFill>
                    <a:latin typeface="Arial"/>
                  </a:rPr>
                  <a:t> decreases on </a:t>
                </a:r>
                <a14:m>
                  <m:oMath xmlns:m="http://schemas.openxmlformats.org/officeDocument/2006/math">
                    <m:d>
                      <m:dPr>
                        <m:begChr m:val="("/>
                        <m:sepChr m:val=""/>
                        <m:endChr m:val=")"/>
                        <m:grow/>
                        <m:ctrlPr>
                          <a:rPr lang="en-IN" sz="2400" i="1">
                            <a:solidFill>
                              <a:srgbClr val="78350F"/>
                            </a:solidFill>
                            <a:latin typeface="Cambria Math" panose="02040503050406030204" pitchFamily="18" charset="0"/>
                          </a:rPr>
                        </m:ctrlPr>
                      </m:dPr>
                      <m:e>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8</m:t>
                            </m:r>
                          </m:den>
                        </m:f>
                      </m:e>
                    </m:d>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365760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Continuity at </a:t>
                </a:r>
                <a:r>
                  <a:rPr lang="en-IN" sz="2400">
                    <a:solidFill>
                      <a:srgbClr val="78350F"/>
                    </a:solidFill>
                    <a:latin typeface="Cambria Math" panose="02040503050406030204" pitchFamily="18" charset="0"/>
                  </a:rPr>
                  <a:t>$4$</a:t>
                </a:r>
                <a:r>
                  <a:rPr sz="2400" b="0">
                    <a:solidFill>
                      <a:srgbClr val="78350F"/>
                    </a:solidFill>
                    <a:latin typeface="Arial"/>
                  </a:rPr>
                  <a:t> fixes </a:t>
                </a:r>
                <a:r>
                  <a:rPr lang="en-IN" sz="2400">
                    <a:solidFill>
                      <a:srgbClr val="78350F"/>
                    </a:solidFill>
                    <a:latin typeface="Cambria Math" panose="02040503050406030204" pitchFamily="18" charset="0"/>
                  </a:rPr>
                  <a:t>$b=-\frac14$</a:t>
                </a:r>
                <a:r>
                  <a:rPr sz="2400" b="0">
                    <a:solidFill>
                      <a:srgbClr val="78350F"/>
                    </a:solidFill>
                    <a:latin typeface="Arial"/>
                  </a:rPr>
                  <a:t>; then </a:t>
                </a:r>
                <a:r>
                  <a:rPr lang="en-IN" sz="2400">
                    <a:solidFill>
                      <a:srgbClr val="78350F"/>
                    </a:solidFill>
                    <a:latin typeface="Cambria Math" panose="02040503050406030204" pitchFamily="18" charset="0"/>
                  </a:rPr>
                  <a:t>$f'=2x-\frac14$</a:t>
                </a:r>
                <a:r>
                  <a:rPr sz="2400" b="0">
                    <a:solidFill>
                      <a:srgbClr val="78350F"/>
                    </a:solidFill>
                    <a:latin typeface="Arial"/>
                  </a:rPr>
                  <a:t> is negative for </a:t>
                </a:r>
                <a:r>
                  <a:rPr lang="en-IN" sz="2400">
                    <a:solidFill>
                      <a:srgbClr val="78350F"/>
                    </a:solidFill>
                    <a:latin typeface="Cambria Math" panose="02040503050406030204" pitchFamily="18" charset="0"/>
                  </a:rPr>
                  <a:t>$x&lt;\frac18$</a:t>
                </a:r>
                <a:r>
                  <a:rPr sz="2400" b="0">
                    <a:solidFill>
                      <a:srgbClr val="78350F"/>
                    </a:solidFill>
                    <a:latin typeface="Arial"/>
                  </a:rPr>
                  <a:t>, so </a:t>
                </a:r>
                <a:r>
                  <a:rPr lang="en-IN" sz="2400">
                    <a:solidFill>
                      <a:srgbClr val="78350F"/>
                    </a:solidFill>
                    <a:latin typeface="Cambria Math" panose="02040503050406030204" pitchFamily="18" charset="0"/>
                  </a:rPr>
                  <a:t>$f$</a:t>
                </a:r>
                <a:r>
                  <a:rPr sz="2400" b="0">
                    <a:solidFill>
                      <a:srgbClr val="78350F"/>
                    </a:solidFill>
                    <a:latin typeface="Arial"/>
                  </a:rPr>
                  <a:t> decreases on </a:t>
                </a:r>
                <a:r>
                  <a:rPr lang="en-IN" sz="2400">
                    <a:solidFill>
                      <a:srgbClr val="78350F"/>
                    </a:solidFill>
                    <a:latin typeface="Cambria Math" panose="02040503050406030204" pitchFamily="18" charset="0"/>
                  </a:rPr>
                  <a:t>$\left(-\infty,\frac18\right)$</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5123688"/>
                <a:ext cx="10725912" cy="1551431"/>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Continuity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sSub>
                      <m:e>
                        <m:r>
                          <m:rPr>
                            <m:sty m:val="p"/>
                          </m:rPr>
                          <a:rPr lang="en-IN" sz="2400">
                            <a:solidFill>
                              <a:srgbClr val="111827"/>
                            </a:solidFill>
                            <a:latin typeface="Cambria Math" panose="02040503050406030204" pitchFamily="18" charset="0"/>
                          </a:rPr>
                          <m:t>lim</m:t>
                        </m:r>
                      </m:e>
                      <m:sub>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4</m:t>
                            </m:r>
                          </m:e>
                          <m:sup>
                            <m:r>
                              <m:rPr>
                                <m:sty m:val="p"/>
                              </m:rPr>
                              <a:rPr lang="en-IN" sz="2400">
                                <a:solidFill>
                                  <a:srgbClr val="111827"/>
                                </a:solidFill>
                                <a:latin typeface="Cambria Math" panose="02040503050406030204" pitchFamily="18" charset="0"/>
                              </a:rPr>
                              <m:t>−</m:t>
                            </m:r>
                          </m:sup>
                        </m:sSup>
                      </m:sub>
                    </m:sSub>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𝑏</m:t>
                    </m:r>
                  </m:oMath>
                </a14:m>
                <a:r>
                  <a:rPr sz="2400" b="0">
                    <a:solidFill>
                      <a:srgbClr val="111827"/>
                    </a:solidFill>
                    <a:latin typeface="Arial"/>
                  </a:rPr>
                  <a:t> and </a:t>
                </a:r>
                <a14:m>
                  <m:oMath xmlns:m="http://schemas.openxmlformats.org/officeDocument/2006/math">
                    <m:sSub>
                      <m:e>
                        <m:r>
                          <m:rPr>
                            <m:sty m:val="p"/>
                          </m:rPr>
                          <a:rPr lang="en-IN" sz="2400">
                            <a:solidFill>
                              <a:srgbClr val="111827"/>
                            </a:solidFill>
                            <a:latin typeface="Cambria Math" panose="02040503050406030204" pitchFamily="18" charset="0"/>
                          </a:rPr>
                          <m:t>lim</m:t>
                        </m:r>
                      </m:e>
                      <m:sub>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4</m:t>
                            </m:r>
                          </m:e>
                          <m:sup>
                            <m:r>
                              <m:rPr>
                                <m:sty m:val="p"/>
                              </m:rPr>
                              <a:rPr lang="en-IN" sz="2400">
                                <a:solidFill>
                                  <a:srgbClr val="111827"/>
                                </a:solidFill>
                                <a:latin typeface="Cambria Math" panose="02040503050406030204" pitchFamily="18" charset="0"/>
                              </a:rPr>
                              <m:t>+</m:t>
                            </m:r>
                          </m:sup>
                        </m:sSup>
                      </m:sub>
                    </m:sSub>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nary>
                      <m:naryPr>
                        <m:chr m:val="∫"/>
                        <m:limLoc m:val="subSup"/>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4</m:t>
                        </m:r>
                      </m:sup>
                      <m:e>
                        <m:r>
                          <m:rPr>
                            <m:sty m:val="p"/>
                          </m:rPr>
                          <a:rPr lang="en-IN" sz="2400">
                            <a:solidFill>
                              <a:srgbClr val="111827"/>
                            </a:solidFill>
                            <a:latin typeface="Cambria Math" panose="02040503050406030204" pitchFamily="18" charset="0"/>
                          </a:rPr>
                          <m:t>(</m:t>
                        </m:r>
                      </m:e>
                    </m:nary>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5123688"/>
                <a:ext cx="10725912" cy="1551431"/>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Continuity at </a:t>
                </a:r>
                <a:r>
                  <a:rPr lang="en-IN" sz="2400">
                    <a:solidFill>
                      <a:srgbClr val="111827"/>
                    </a:solidFill>
                    <a:latin typeface="Cambria Math" panose="02040503050406030204" pitchFamily="18" charset="0"/>
                  </a:rPr>
                  <a:t>$x=4$</a:t>
                </a:r>
                <a:r>
                  <a:rPr sz="2400" b="0">
                    <a:solidFill>
                      <a:srgbClr val="111827"/>
                    </a:solidFill>
                    <a:latin typeface="Arial"/>
                  </a:rPr>
                  <a:t>: </a:t>
                </a:r>
                <a:r>
                  <a:rPr lang="en-IN" sz="2400">
                    <a:solidFill>
                      <a:srgbClr val="111827"/>
                    </a:solidFill>
                    <a:latin typeface="Cambria Math" panose="02040503050406030204" pitchFamily="18" charset="0"/>
                  </a:rPr>
                  <a:t>$\lim_{x\to4^-}f=16+4b$</a:t>
                </a:r>
                <a:r>
                  <a:rPr sz="2400" b="0">
                    <a:solidFill>
                      <a:srgbClr val="111827"/>
                    </a:solidFill>
                    <a:latin typeface="Arial"/>
                  </a:rPr>
                  <a:t> and </a:t>
                </a:r>
                <a:r>
                  <a:rPr lang="en-IN" sz="2400">
                    <a:solidFill>
                      <a:srgbClr val="111827"/>
                    </a:solidFill>
                    <a:latin typeface="Cambria Math" panose="02040503050406030204" pitchFamily="18" charset="0"/>
                  </a:rPr>
                  <a:t>$\lim_{x\to4^+}f=\int_0^4(5-|t-3|)dt$</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nary>
                      <m:naryPr>
                        <m:chr m:val="∫"/>
                        <m:limLoc m:val="subSup"/>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4</m:t>
                        </m:r>
                      </m:sup>
                      <m:e>
                        <m:r>
                          <m:rPr>
                            <m:sty m:val="p"/>
                          </m:rPr>
                          <a:rPr lang="en-IN" sz="2400">
                            <a:solidFill>
                              <a:srgbClr val="111827"/>
                            </a:solidFill>
                            <a:latin typeface="Cambria Math" panose="02040503050406030204" pitchFamily="18" charset="0"/>
                          </a:rPr>
                          <m:t>(</m:t>
                        </m:r>
                      </m:e>
                    </m:nary>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nary>
                      <m:naryPr>
                        <m:chr m:val="∫"/>
                        <m:limLoc m:val="subSup"/>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3</m:t>
                        </m:r>
                      </m:sup>
                      <m:e>
                        <m:r>
                          <m:rPr>
                            <m:sty m:val="p"/>
                          </m:rPr>
                          <a:rPr lang="en-IN" sz="2400">
                            <a:solidFill>
                              <a:srgbClr val="111827"/>
                            </a:solidFill>
                            <a:latin typeface="Cambria Math" panose="02040503050406030204" pitchFamily="18" charset="0"/>
                          </a:rPr>
                          <m:t>(</m:t>
                        </m:r>
                      </m:e>
                    </m:nary>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nary>
                      <m:naryPr>
                        <m:chr m:val="∫"/>
                        <m:limLoc m:val="subSup"/>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3</m:t>
                        </m:r>
                      </m:sub>
                      <m:sup>
                        <m:r>
                          <a:rPr lang="en-IN" sz="2400" i="1">
                            <a:solidFill>
                              <a:srgbClr val="111827"/>
                            </a:solidFill>
                            <a:latin typeface="Cambria Math" panose="02040503050406030204" pitchFamily="18" charset="0"/>
                          </a:rPr>
                          <m:t>4</m:t>
                        </m:r>
                      </m:sup>
                      <m:e>
                        <m:r>
                          <m:rPr>
                            <m:sty m:val="p"/>
                          </m:rPr>
                          <a:rPr lang="en-IN" sz="2400">
                            <a:solidFill>
                              <a:srgbClr val="111827"/>
                            </a:solidFill>
                            <a:latin typeface="Cambria Math" panose="02040503050406030204" pitchFamily="18" charset="0"/>
                          </a:rPr>
                          <m:t>(</m:t>
                        </m:r>
                      </m:e>
                    </m:nary>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LHD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31</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RHD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LHD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RHD, so (A) is true.</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23</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(as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the sum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23</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35</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so (B) is true.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which is negative 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&lt;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8</m:t>
                        </m:r>
                      </m:den>
                    </m:f>
                  </m:oMath>
                </a14:m>
                <a:r>
                  <a:rPr sz="2400" b="0">
                    <a:solidFill>
                      <a:srgbClr val="111827"/>
                    </a:solidFill>
                    <a:latin typeface="Arial"/>
                  </a:rPr>
                  <a:t> and positive 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&gt;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8</m:t>
                        </m:r>
                      </m:den>
                    </m:f>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$\int_0^4(5-|t-3|)dt=\int_0^3(2+t)\,dt+\int_3^4(8-t)\,dt=\left(6+\frac92\right)+\left(8-\frac72\right)=15$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$16+4b=15\Rightarrow b=-\frac14$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At </a:t>
                </a:r>
                <a:r>
                  <a:rPr lang="en-IN" sz="2400">
                    <a:solidFill>
                      <a:srgbClr val="111827"/>
                    </a:solidFill>
                    <a:latin typeface="Cambria Math" panose="02040503050406030204" pitchFamily="18" charset="0"/>
                  </a:rPr>
                  <a:t>$x=4$</a:t>
                </a:r>
                <a:r>
                  <a:rPr sz="2400" b="0">
                    <a:solidFill>
                      <a:srgbClr val="111827"/>
                    </a:solidFill>
                    <a:latin typeface="Arial"/>
                  </a:rPr>
                  <a:t>: LHD </a:t>
                </a:r>
                <a:r>
                  <a:rPr lang="en-IN" sz="2400">
                    <a:solidFill>
                      <a:srgbClr val="111827"/>
                    </a:solidFill>
                    <a:latin typeface="Cambria Math" panose="02040503050406030204" pitchFamily="18" charset="0"/>
                  </a:rPr>
                  <a:t>$=2x+b=8-\frac14=\frac{31}{4}$</a:t>
                </a:r>
                <a:r>
                  <a:rPr sz="2400" b="0">
                    <a:solidFill>
                      <a:srgbClr val="111827"/>
                    </a:solidFill>
                    <a:latin typeface="Arial"/>
                  </a:rPr>
                  <a:t>; RHD </a:t>
                </a:r>
                <a:r>
                  <a:rPr lang="en-IN" sz="2400">
                    <a:solidFill>
                      <a:srgbClr val="111827"/>
                    </a:solidFill>
                    <a:latin typeface="Cambria Math" panose="02040503050406030204" pitchFamily="18" charset="0"/>
                  </a:rPr>
                  <a:t>$=5-|4-3|=4$</a:t>
                </a:r>
                <a:r>
                  <a:rPr sz="2400" b="0">
                    <a:solidFill>
                      <a:srgbClr val="111827"/>
                    </a:solidFill>
                    <a:latin typeface="Arial"/>
                  </a:rPr>
                  <a:t>. LHD </a:t>
                </a:r>
                <a:r>
                  <a:rPr lang="en-IN" sz="2400">
                    <a:solidFill>
                      <a:srgbClr val="111827"/>
                    </a:solidFill>
                    <a:latin typeface="Cambria Math" panose="02040503050406030204" pitchFamily="18" charset="0"/>
                  </a:rPr>
                  <a:t>$\ne$</a:t>
                </a:r>
                <a:r>
                  <a:rPr sz="2400" b="0">
                    <a:solidFill>
                      <a:srgbClr val="111827"/>
                    </a:solidFill>
                    <a:latin typeface="Arial"/>
                  </a:rPr>
                  <a:t> RHD, so (A) is true.</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$f'(3)=2\cdot3-\frac14=\frac{23}{4}$</a:t>
                </a:r>
                <a:r>
                  <a:rPr sz="2400" b="0">
                    <a:solidFill>
                      <a:srgbClr val="111827"/>
                    </a:solidFill>
                    <a:latin typeface="Arial"/>
                  </a:rPr>
                  <a:t> (as </a:t>
                </a:r>
                <a:r>
                  <a:rPr lang="en-IN" sz="2400">
                    <a:solidFill>
                      <a:srgbClr val="111827"/>
                    </a:solidFill>
                    <a:latin typeface="Cambria Math" panose="02040503050406030204" pitchFamily="18" charset="0"/>
                  </a:rPr>
                  <a:t>$3\le4$</a:t>
                </a:r>
                <a:r>
                  <a:rPr sz="2400" b="0">
                    <a:solidFill>
                      <a:srgbClr val="111827"/>
                    </a:solidFill>
                    <a:latin typeface="Arial"/>
                  </a:rPr>
                  <a:t>) and </a:t>
                </a:r>
                <a:r>
                  <a:rPr lang="en-IN" sz="2400">
                    <a:solidFill>
                      <a:srgbClr val="111827"/>
                    </a:solidFill>
                    <a:latin typeface="Cambria Math" panose="02040503050406030204" pitchFamily="18" charset="0"/>
                  </a:rPr>
                  <a:t>$f'(5)=5-|5-3|=3$</a:t>
                </a:r>
                <a:r>
                  <a:rPr sz="2400" b="0">
                    <a:solidFill>
                      <a:srgbClr val="111827"/>
                    </a:solidFill>
                    <a:latin typeface="Arial"/>
                  </a:rPr>
                  <a:t>; the sum is </a:t>
                </a:r>
                <a:r>
                  <a:rPr lang="en-IN" sz="2400">
                    <a:solidFill>
                      <a:srgbClr val="111827"/>
                    </a:solidFill>
                    <a:latin typeface="Cambria Math" panose="02040503050406030204" pitchFamily="18" charset="0"/>
                  </a:rPr>
                  <a:t>$\frac{23}{4}+3=\frac{35}{4}$</a:t>
                </a:r>
                <a:r>
                  <a:rPr sz="2400" b="0">
                    <a:solidFill>
                      <a:srgbClr val="111827"/>
                    </a:solidFill>
                    <a:latin typeface="Arial"/>
                  </a:rPr>
                  <a:t>, so (B) is true.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$x\le4$</a:t>
                </a:r>
                <a:r>
                  <a:rPr sz="2400" b="0">
                    <a:solidFill>
                      <a:srgbClr val="111827"/>
                    </a:solidFill>
                    <a:latin typeface="Arial"/>
                  </a:rPr>
                  <a:t>: </a:t>
                </a:r>
                <a:r>
                  <a:rPr lang="en-IN" sz="2400">
                    <a:solidFill>
                      <a:srgbClr val="111827"/>
                    </a:solidFill>
                    <a:latin typeface="Cambria Math" panose="02040503050406030204" pitchFamily="18" charset="0"/>
                  </a:rPr>
                  <a:t>$f(x)=x^2-\frac x4$</a:t>
                </a:r>
                <a:r>
                  <a:rPr sz="2400" b="0">
                    <a:solidFill>
                      <a:srgbClr val="111827"/>
                    </a:solidFill>
                    <a:latin typeface="Arial"/>
                  </a:rPr>
                  <a:t> and </a:t>
                </a:r>
                <a:r>
                  <a:rPr lang="en-IN" sz="2400">
                    <a:solidFill>
                      <a:srgbClr val="111827"/>
                    </a:solidFill>
                    <a:latin typeface="Cambria Math" panose="02040503050406030204" pitchFamily="18" charset="0"/>
                  </a:rPr>
                  <a:t>$f'(x)=2x-\frac14$</a:t>
                </a:r>
                <a:r>
                  <a:rPr sz="2400" b="0">
                    <a:solidFill>
                      <a:srgbClr val="111827"/>
                    </a:solidFill>
                    <a:latin typeface="Arial"/>
                  </a:rPr>
                  <a:t>, which is negative for </a:t>
                </a:r>
                <a:r>
                  <a:rPr lang="en-IN" sz="2400">
                    <a:solidFill>
                      <a:srgbClr val="111827"/>
                    </a:solidFill>
                    <a:latin typeface="Cambria Math" panose="02040503050406030204" pitchFamily="18" charset="0"/>
                  </a:rPr>
                  <a:t>$x&lt;\frac18$</a:t>
                </a:r>
                <a:r>
                  <a:rPr sz="2400" b="0">
                    <a:solidFill>
                      <a:srgbClr val="111827"/>
                    </a:solidFill>
                    <a:latin typeface="Arial"/>
                  </a:rPr>
                  <a:t> and positive for </a:t>
                </a:r>
                <a:r>
                  <a:rPr lang="en-IN" sz="2400">
                    <a:solidFill>
                      <a:srgbClr val="111827"/>
                    </a:solidFill>
                    <a:latin typeface="Cambria Math" panose="02040503050406030204" pitchFamily="18" charset="0"/>
                  </a:rPr>
                  <a:t>$x&gt;\frac18$</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is decreasing on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8</m:t>
                            </m:r>
                          </m:den>
                        </m:f>
                      </m:e>
                    </m:d>
                  </m:oMath>
                </a14:m>
                <a:r>
                  <a:rPr sz="2400" b="0">
                    <a:solidFill>
                      <a:srgbClr val="111827"/>
                    </a:solidFill>
                    <a:latin typeface="Arial"/>
                  </a:rPr>
                  <a:t>; hence (C) is NOT true (also 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8</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decreases there too).</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changes sign from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to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8</m:t>
                        </m:r>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has a local minimum there: (D) is true.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Therefore the required option is (C).</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$f$</a:t>
                </a:r>
                <a:r>
                  <a:rPr sz="2400" b="0">
                    <a:solidFill>
                      <a:srgbClr val="111827"/>
                    </a:solidFill>
                    <a:latin typeface="Arial"/>
                  </a:rPr>
                  <a:t> is decreasing on </a:t>
                </a:r>
                <a:r>
                  <a:rPr lang="en-IN" sz="2400">
                    <a:solidFill>
                      <a:srgbClr val="111827"/>
                    </a:solidFill>
                    <a:latin typeface="Cambria Math" panose="02040503050406030204" pitchFamily="18" charset="0"/>
                  </a:rPr>
                  <a:t>$\left(-\infty,\frac18\right)$</a:t>
                </a:r>
                <a:r>
                  <a:rPr sz="2400" b="0">
                    <a:solidFill>
                      <a:srgbClr val="111827"/>
                    </a:solidFill>
                    <a:latin typeface="Arial"/>
                  </a:rPr>
                  <a:t>; hence (C) is NOT true (also for </a:t>
                </a:r>
                <a:r>
                  <a:rPr lang="en-IN" sz="2400">
                    <a:solidFill>
                      <a:srgbClr val="111827"/>
                    </a:solidFill>
                    <a:latin typeface="Cambria Math" panose="02040503050406030204" pitchFamily="18" charset="0"/>
                  </a:rPr>
                  <a:t>$x&gt;8$</a:t>
                </a:r>
                <a:r>
                  <a:rPr sz="2400" b="0">
                    <a:solidFill>
                      <a:srgbClr val="111827"/>
                    </a:solidFill>
                    <a:latin typeface="Arial"/>
                  </a:rPr>
                  <a:t>, </a:t>
                </a:r>
                <a:r>
                  <a:rPr lang="en-IN" sz="2400">
                    <a:solidFill>
                      <a:srgbClr val="111827"/>
                    </a:solidFill>
                    <a:latin typeface="Cambria Math" panose="02040503050406030204" pitchFamily="18" charset="0"/>
                  </a:rPr>
                  <a:t>$f'=8-x&lt;0$</a:t>
                </a:r>
                <a:r>
                  <a:rPr sz="2400" b="0">
                    <a:solidFill>
                      <a:srgbClr val="111827"/>
                    </a:solidFill>
                    <a:latin typeface="Arial"/>
                  </a:rPr>
                  <a:t>, so </a:t>
                </a:r>
                <a:r>
                  <a:rPr lang="en-IN" sz="2400">
                    <a:solidFill>
                      <a:srgbClr val="111827"/>
                    </a:solidFill>
                    <a:latin typeface="Cambria Math" panose="02040503050406030204" pitchFamily="18" charset="0"/>
                  </a:rPr>
                  <a:t>$f$</a:t>
                </a:r>
                <a:r>
                  <a:rPr sz="2400" b="0">
                    <a:solidFill>
                      <a:srgbClr val="111827"/>
                    </a:solidFill>
                    <a:latin typeface="Arial"/>
                  </a:rPr>
                  <a:t> decreases there too).</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a:t>
                </a:r>
                <a:r>
                  <a:rPr sz="2400" b="0">
                    <a:solidFill>
                      <a:srgbClr val="111827"/>
                    </a:solidFill>
                    <a:latin typeface="Arial"/>
                  </a:rPr>
                  <a:t> changes sign from </a:t>
                </a:r>
                <a:r>
                  <a:rPr lang="en-IN" sz="2400">
                    <a:solidFill>
                      <a:srgbClr val="111827"/>
                    </a:solidFill>
                    <a:latin typeface="Cambria Math" panose="02040503050406030204" pitchFamily="18" charset="0"/>
                  </a:rPr>
                  <a:t>$-$</a:t>
                </a:r>
                <a:r>
                  <a:rPr sz="2400" b="0">
                    <a:solidFill>
                      <a:srgbClr val="111827"/>
                    </a:solidFill>
                    <a:latin typeface="Arial"/>
                  </a:rPr>
                  <a:t> to </a:t>
                </a:r>
                <a:r>
                  <a:rPr lang="en-IN" sz="2400">
                    <a:solidFill>
                      <a:srgbClr val="111827"/>
                    </a:solidFill>
                    <a:latin typeface="Cambria Math" panose="02040503050406030204" pitchFamily="18" charset="0"/>
                  </a:rPr>
                  <a:t>$+$</a:t>
                </a:r>
                <a:r>
                  <a:rPr sz="2400" b="0">
                    <a:solidFill>
                      <a:srgbClr val="111827"/>
                    </a:solidFill>
                    <a:latin typeface="Arial"/>
                  </a:rPr>
                  <a:t> at </a:t>
                </a:r>
                <a:r>
                  <a:rPr lang="en-IN" sz="2400">
                    <a:solidFill>
                      <a:srgbClr val="111827"/>
                    </a:solidFill>
                    <a:latin typeface="Cambria Math" panose="02040503050406030204" pitchFamily="18" charset="0"/>
                  </a:rPr>
                  <a:t>$x=\frac18$</a:t>
                </a:r>
                <a:r>
                  <a:rPr sz="2400" b="0">
                    <a:solidFill>
                      <a:srgbClr val="111827"/>
                    </a:solidFill>
                    <a:latin typeface="Arial"/>
                  </a:rPr>
                  <a:t>, so </a:t>
                </a:r>
                <a:r>
                  <a:rPr lang="en-IN" sz="2400">
                    <a:solidFill>
                      <a:srgbClr val="111827"/>
                    </a:solidFill>
                    <a:latin typeface="Cambria Math" panose="02040503050406030204" pitchFamily="18" charset="0"/>
                  </a:rPr>
                  <a:t>$f$</a:t>
                </a:r>
                <a:r>
                  <a:rPr sz="2400" b="0">
                    <a:solidFill>
                      <a:srgbClr val="111827"/>
                    </a:solidFill>
                    <a:latin typeface="Arial"/>
                  </a:rPr>
                  <a:t> has a local minimum there: (D) is true.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Therefore the required option is (C).</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14:m>
                  <m:oMath xmlns:m="http://schemas.openxmlformats.org/officeDocument/2006/math">
                    <m:r>
                      <a:rPr lang="en-IN" sz="2800" i="1">
                        <a:solidFill>
                          <a:srgbClr val="15803D"/>
                        </a:solidFill>
                        <a:latin typeface="Cambria Math" panose="02040503050406030204" pitchFamily="18" charset="0"/>
                      </a:rPr>
                      <m:t>𝑓</m:t>
                    </m:r>
                  </m:oMath>
                </a14:m>
                <a:r>
                  <a:rPr sz="2800" b="1">
                    <a:solidFill>
                      <a:srgbClr val="15803D"/>
                    </a:solidFill>
                    <a:latin typeface="Arial"/>
                  </a:rPr>
                  <a:t> is increasing in </a:t>
                </a:r>
                <a14:m>
                  <m:oMath xmlns:m="http://schemas.openxmlformats.org/officeDocument/2006/math">
                    <m:d>
                      <m:dPr>
                        <m:begChr m:val="("/>
                        <m:sepChr m:val=""/>
                        <m:endChr m:val=")"/>
                        <m:grow/>
                        <m:ctrlPr>
                          <a:rPr lang="en-IN" sz="2800" i="1">
                            <a:solidFill>
                              <a:srgbClr val="15803D"/>
                            </a:solidFill>
                            <a:latin typeface="Cambria Math" panose="02040503050406030204" pitchFamily="18" charset="0"/>
                          </a:rPr>
                        </m:ctrlPr>
                      </m:dPr>
                      <m:e>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1</m:t>
                            </m:r>
                          </m:num>
                          <m:den>
                            <m:r>
                              <a:rPr lang="en-IN" sz="2800" i="1">
                                <a:solidFill>
                                  <a:srgbClr val="15803D"/>
                                </a:solidFill>
                                <a:latin typeface="Cambria Math" panose="02040503050406030204" pitchFamily="18" charset="0"/>
                              </a:rPr>
                              <m:t>8</m:t>
                            </m:r>
                          </m:den>
                        </m:f>
                      </m:e>
                    </m:d>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8</m:t>
                    </m:r>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oMath>
                </a14:m>
                <a:r>
                  <a:rPr sz="2800" b="1">
                    <a:solidFill>
                      <a:srgbClr val="15803D"/>
                    </a:solidFill>
                    <a:latin typeface="Arial"/>
                  </a:rPr>
                  <a:t> - this is NOT true</a:t>
                </a:r>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r>
                  <a:rPr lang="en-IN" sz="2800">
                    <a:solidFill>
                      <a:srgbClr val="15803D"/>
                    </a:solidFill>
                    <a:latin typeface="Cambria Math" panose="02040503050406030204" pitchFamily="18" charset="0"/>
                  </a:rPr>
                  <a:t>$f$</a:t>
                </a:r>
                <a:r>
                  <a:rPr sz="2800" b="1">
                    <a:solidFill>
                      <a:srgbClr val="15803D"/>
                    </a:solidFill>
                    <a:latin typeface="Arial"/>
                  </a:rPr>
                  <a:t> is increasing in </a:t>
                </a:r>
                <a:r>
                  <a:rPr lang="en-IN" sz="2800">
                    <a:solidFill>
                      <a:srgbClr val="15803D"/>
                    </a:solidFill>
                    <a:latin typeface="Cambria Math" panose="02040503050406030204" pitchFamily="18" charset="0"/>
                  </a:rPr>
                  <a:t>$\left(-\infty,\frac18\right)\cup(8,\infty)$</a:t>
                </a:r>
                <a:r>
                  <a:rPr sz="2800" b="1">
                    <a:solidFill>
                      <a:srgbClr val="15803D"/>
                    </a:solidFill>
                    <a:latin typeface="Arial"/>
                  </a:rPr>
                  <a:t> - this is NOT true</a:t>
                </a:r>
                <a:endParaRPr sz="2800">
                  <a:solidFill>
                    <a:srgbClr val="15803D"/>
                  </a:solidFill>
                </a:endParaRPr>
              </a:p>
            </p:txBody>
          </p:sp>
        </mc:Fallback>
      </mc:AlternateContent>
    </p:spTree>
  </p:cSld>
  <p:clrMapOvr>
    <a:masterClrMapping/>
  </p:clrMapOvr>
</p:sld>
</file>

<file path=ppt/slides/slide2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Find </a:t>
                </a:r>
                <a14:m>
                  <m:oMath xmlns:m="http://schemas.openxmlformats.org/officeDocument/2006/math">
                    <m:r>
                      <a:rPr lang="en-IN" sz="2400" i="1">
                        <a:solidFill>
                          <a:srgbClr val="78350F"/>
                        </a:solidFill>
                        <a:latin typeface="Cambria Math" panose="02040503050406030204" pitchFamily="18" charset="0"/>
                      </a:rPr>
                      <m:t>𝑏</m:t>
                    </m:r>
                  </m:oMath>
                </a14:m>
                <a:r>
                  <a:rPr sz="2400" b="0">
                    <a:solidFill>
                      <a:srgbClr val="78350F"/>
                    </a:solidFill>
                    <a:latin typeface="Arial"/>
                  </a:rPr>
                  <a:t> from the area under the tent-shaped integrand, then kill (C) by the sign of </a:t>
                </a:r>
                <a14:m>
                  <m:oMath xmlns:m="http://schemas.openxmlformats.org/officeDocument/2006/math">
                    <m:sSup>
                      <m:e>
                        <m:r>
                          <a:rPr lang="en-IN" sz="2400" i="1">
                            <a:solidFill>
                              <a:srgbClr val="78350F"/>
                            </a:solidFill>
                            <a:latin typeface="Cambria Math" panose="02040503050406030204" pitchFamily="18" charset="0"/>
                          </a:rPr>
                          <m:t>𝑓</m:t>
                        </m:r>
                      </m:e>
                      <m:sup>
                        <m:r>
                          <m:rPr>
                            <m:sty m:val="p"/>
                          </m:rPr>
                          <a:rPr lang="en-IN" sz="2400">
                            <a:solidFill>
                              <a:srgbClr val="78350F"/>
                            </a:solidFill>
                            <a:latin typeface="Cambria Math" panose="02040503050406030204" pitchFamily="18" charset="0"/>
                          </a:rPr>
                          <m:t>′</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𝑏</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Find </a:t>
                </a:r>
                <a:r>
                  <a:rPr lang="en-IN" sz="2400">
                    <a:solidFill>
                      <a:srgbClr val="78350F"/>
                    </a:solidFill>
                    <a:latin typeface="Cambria Math" panose="02040503050406030204" pitchFamily="18" charset="0"/>
                  </a:rPr>
                  <a:t>$b$</a:t>
                </a:r>
                <a:r>
                  <a:rPr sz="2400" b="0">
                    <a:solidFill>
                      <a:srgbClr val="78350F"/>
                    </a:solidFill>
                    <a:latin typeface="Arial"/>
                  </a:rPr>
                  <a:t> from the area under the tent-shaped integrand, then kill (C) by the sign of </a:t>
                </a:r>
                <a:r>
                  <a:rPr lang="en-IN" sz="2400">
                    <a:solidFill>
                      <a:srgbClr val="78350F"/>
                    </a:solidFill>
                    <a:latin typeface="Cambria Math" panose="02040503050406030204" pitchFamily="18" charset="0"/>
                  </a:rPr>
                  <a:t>$f'(0)=b$</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a tent with values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at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at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at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nary>
                      <m:naryPr>
                        <m:chr m:val="∫"/>
                        <m:limLoc m:val="subSup"/>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4</m:t>
                        </m:r>
                      </m:sup>
                      <m:e>
                        <m:r>
                          <a:rPr lang="en-IN" sz="2400" i="1">
                            <a:solidFill>
                              <a:srgbClr val="111827"/>
                            </a:solidFill>
                            <a:latin typeface="Cambria Math" panose="02040503050406030204" pitchFamily="18" charset="0"/>
                          </a:rPr>
                          <m:t>​</m:t>
                        </m:r>
                      </m:e>
                    </m:nary>
                  </m:oMath>
                </a14:m>
                <a:r>
                  <a:rPr sz="2400" b="0">
                    <a:solidFill>
                      <a:srgbClr val="111827"/>
                    </a:solidFill>
                    <a:latin typeface="Arial"/>
                  </a:rPr>
                  <a:t> is two trapezoids: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Continuity: </a:t>
                </a:r>
                <a14:m>
                  <m:oMath xmlns:m="http://schemas.openxmlformats.org/officeDocument/2006/math">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$5-|t-3|$</a:t>
                </a:r>
                <a:r>
                  <a:rPr sz="2400" b="0">
                    <a:solidFill>
                      <a:srgbClr val="111827"/>
                    </a:solidFill>
                    <a:latin typeface="Arial"/>
                  </a:rPr>
                  <a:t> is a tent with values </a:t>
                </a:r>
                <a:r>
                  <a:rPr lang="en-IN" sz="2400">
                    <a:solidFill>
                      <a:srgbClr val="111827"/>
                    </a:solidFill>
                    <a:latin typeface="Cambria Math" panose="02040503050406030204" pitchFamily="18" charset="0"/>
                  </a:rPr>
                  <a:t>$2$</a:t>
                </a:r>
                <a:r>
                  <a:rPr sz="2400" b="0">
                    <a:solidFill>
                      <a:srgbClr val="111827"/>
                    </a:solidFill>
                    <a:latin typeface="Arial"/>
                  </a:rPr>
                  <a:t> at </a:t>
                </a:r>
                <a:r>
                  <a:rPr lang="en-IN" sz="2400">
                    <a:solidFill>
                      <a:srgbClr val="111827"/>
                    </a:solidFill>
                    <a:latin typeface="Cambria Math" panose="02040503050406030204" pitchFamily="18" charset="0"/>
                  </a:rPr>
                  <a:t>$t=0$</a:t>
                </a:r>
                <a:r>
                  <a:rPr sz="2400" b="0">
                    <a:solidFill>
                      <a:srgbClr val="111827"/>
                    </a:solidFill>
                    <a:latin typeface="Arial"/>
                  </a:rPr>
                  <a:t>, </a:t>
                </a:r>
                <a:r>
                  <a:rPr lang="en-IN" sz="2400">
                    <a:solidFill>
                      <a:srgbClr val="111827"/>
                    </a:solidFill>
                    <a:latin typeface="Cambria Math" panose="02040503050406030204" pitchFamily="18" charset="0"/>
                  </a:rPr>
                  <a:t>$5$</a:t>
                </a:r>
                <a:r>
                  <a:rPr sz="2400" b="0">
                    <a:solidFill>
                      <a:srgbClr val="111827"/>
                    </a:solidFill>
                    <a:latin typeface="Arial"/>
                  </a:rPr>
                  <a:t> at </a:t>
                </a:r>
                <a:r>
                  <a:rPr lang="en-IN" sz="2400">
                    <a:solidFill>
                      <a:srgbClr val="111827"/>
                    </a:solidFill>
                    <a:latin typeface="Cambria Math" panose="02040503050406030204" pitchFamily="18" charset="0"/>
                  </a:rPr>
                  <a:t>$t=3$</a:t>
                </a:r>
                <a:r>
                  <a:rPr sz="2400" b="0">
                    <a:solidFill>
                      <a:srgbClr val="111827"/>
                    </a:solidFill>
                    <a:latin typeface="Arial"/>
                  </a:rPr>
                  <a:t>, </a:t>
                </a:r>
                <a:r>
                  <a:rPr lang="en-IN" sz="2400">
                    <a:solidFill>
                      <a:srgbClr val="111827"/>
                    </a:solidFill>
                    <a:latin typeface="Cambria Math" panose="02040503050406030204" pitchFamily="18" charset="0"/>
                  </a:rPr>
                  <a:t>$4$</a:t>
                </a:r>
                <a:r>
                  <a:rPr sz="2400" b="0">
                    <a:solidFill>
                      <a:srgbClr val="111827"/>
                    </a:solidFill>
                    <a:latin typeface="Arial"/>
                  </a:rPr>
                  <a:t> at </a:t>
                </a:r>
                <a:r>
                  <a:rPr lang="en-IN" sz="2400">
                    <a:solidFill>
                      <a:srgbClr val="111827"/>
                    </a:solidFill>
                    <a:latin typeface="Cambria Math" panose="02040503050406030204" pitchFamily="18" charset="0"/>
                  </a:rPr>
                  <a:t>$t=4$</a:t>
                </a:r>
                <a:r>
                  <a:rPr sz="2400" b="0">
                    <a:solidFill>
                      <a:srgbClr val="111827"/>
                    </a:solidFill>
                    <a:latin typeface="Arial"/>
                  </a:rPr>
                  <a:t>; </a:t>
                </a:r>
                <a:r>
                  <a:rPr lang="en-IN" sz="2400">
                    <a:solidFill>
                      <a:srgbClr val="111827"/>
                    </a:solidFill>
                    <a:latin typeface="Cambria Math" panose="02040503050406030204" pitchFamily="18" charset="0"/>
                  </a:rPr>
                  <a:t>$\int_0^4$</a:t>
                </a:r>
                <a:r>
                  <a:rPr sz="2400" b="0">
                    <a:solidFill>
                      <a:srgbClr val="111827"/>
                    </a:solidFill>
                    <a:latin typeface="Arial"/>
                  </a:rPr>
                  <a:t> is two trapezoids: </a:t>
                </a:r>
                <a:r>
                  <a:rPr lang="en-IN" sz="2400">
                    <a:solidFill>
                      <a:srgbClr val="111827"/>
                    </a:solidFill>
                    <a:latin typeface="Cambria Math" panose="02040503050406030204" pitchFamily="18" charset="0"/>
                  </a:rPr>
                  <a:t>$\frac{2+5}{2}\cdot3+\frac{5+4}{2}\cdot1=10.5+4.5=15$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Continuity: </a:t>
                </a:r>
                <a:r>
                  <a:rPr lang="en-IN" sz="2400">
                    <a:solidFill>
                      <a:srgbClr val="111827"/>
                    </a:solidFill>
                    <a:latin typeface="Cambria Math" panose="02040503050406030204" pitchFamily="18" charset="0"/>
                  </a:rPr>
                  <a:t>$16+4b=15\Rightarrow b=-\frac14$</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8</m:t>
                            </m:r>
                          </m:den>
                        </m:f>
                      </m:e>
                    </m:d>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is decreasing near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is NOT increasing on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8</m:t>
                            </m:r>
                          </m:den>
                        </m:f>
                      </m:e>
                    </m: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Statement (C) is the false one.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Confirm the others quickly: corner at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with slopes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31</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23</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35</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(B),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changes sign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8</m:t>
                        </m:r>
                      </m:den>
                    </m:f>
                  </m:oMath>
                </a14:m>
                <a:r>
                  <a:rPr sz="2400" b="0">
                    <a:solidFill>
                      <a:srgbClr val="111827"/>
                    </a:solidFill>
                    <a:latin typeface="Arial"/>
                  </a:rPr>
                  <a:t> from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to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(D).</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$f'(0)=b=-\frac14&lt;0$</a:t>
                </a:r>
                <a:r>
                  <a:rPr sz="2400" b="0">
                    <a:solidFill>
                      <a:srgbClr val="111827"/>
                    </a:solidFill>
                    <a:latin typeface="Arial"/>
                  </a:rPr>
                  <a:t> and </a:t>
                </a:r>
                <a:r>
                  <a:rPr lang="en-IN" sz="2400">
                    <a:solidFill>
                      <a:srgbClr val="111827"/>
                    </a:solidFill>
                    <a:latin typeface="Cambria Math" panose="02040503050406030204" pitchFamily="18" charset="0"/>
                  </a:rPr>
                  <a:t>$0\in\left(-\infty,\frac18\right)$</a:t>
                </a:r>
                <a:r>
                  <a:rPr sz="2400" b="0">
                    <a:solidFill>
                      <a:srgbClr val="111827"/>
                    </a:solidFill>
                    <a:latin typeface="Arial"/>
                  </a:rPr>
                  <a:t>, so </a:t>
                </a:r>
                <a:r>
                  <a:rPr lang="en-IN" sz="2400">
                    <a:solidFill>
                      <a:srgbClr val="111827"/>
                    </a:solidFill>
                    <a:latin typeface="Cambria Math" panose="02040503050406030204" pitchFamily="18" charset="0"/>
                  </a:rPr>
                  <a:t>$f$</a:t>
                </a:r>
                <a:r>
                  <a:rPr sz="2400" b="0">
                    <a:solidFill>
                      <a:srgbClr val="111827"/>
                    </a:solidFill>
                    <a:latin typeface="Arial"/>
                  </a:rPr>
                  <a:t> is decreasing near </a:t>
                </a:r>
                <a:r>
                  <a:rPr lang="en-IN" sz="2400">
                    <a:solidFill>
                      <a:srgbClr val="111827"/>
                    </a:solidFill>
                    <a:latin typeface="Cambria Math" panose="02040503050406030204" pitchFamily="18" charset="0"/>
                  </a:rPr>
                  <a:t>$0$</a:t>
                </a:r>
                <a:r>
                  <a:rPr sz="2400" b="0">
                    <a:solidFill>
                      <a:srgbClr val="111827"/>
                    </a:solidFill>
                    <a:latin typeface="Arial"/>
                  </a:rPr>
                  <a:t>: </a:t>
                </a:r>
                <a:r>
                  <a:rPr lang="en-IN" sz="2400">
                    <a:solidFill>
                      <a:srgbClr val="111827"/>
                    </a:solidFill>
                    <a:latin typeface="Cambria Math" panose="02040503050406030204" pitchFamily="18" charset="0"/>
                  </a:rPr>
                  <a:t>$f$</a:t>
                </a:r>
                <a:r>
                  <a:rPr sz="2400" b="0">
                    <a:solidFill>
                      <a:srgbClr val="111827"/>
                    </a:solidFill>
                    <a:latin typeface="Arial"/>
                  </a:rPr>
                  <a:t> is NOT increasing on </a:t>
                </a:r>
                <a:r>
                  <a:rPr lang="en-IN" sz="2400">
                    <a:solidFill>
                      <a:srgbClr val="111827"/>
                    </a:solidFill>
                    <a:latin typeface="Cambria Math" panose="02040503050406030204" pitchFamily="18" charset="0"/>
                  </a:rPr>
                  <a:t>$\left(-\infty,\frac18\right)\cup(8,\infty)$</a:t>
                </a:r>
                <a:r>
                  <a:rPr sz="2400" b="0">
                    <a:solidFill>
                      <a:srgbClr val="111827"/>
                    </a:solidFill>
                    <a:latin typeface="Arial"/>
                  </a:rPr>
                  <a:t>. Statement (C) is the false one.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Confirm the others quickly: corner at </a:t>
                </a:r>
                <a:r>
                  <a:rPr lang="en-IN" sz="2400">
                    <a:solidFill>
                      <a:srgbClr val="111827"/>
                    </a:solidFill>
                    <a:latin typeface="Cambria Math" panose="02040503050406030204" pitchFamily="18" charset="0"/>
                  </a:rPr>
                  <a:t>$4$</a:t>
                </a:r>
                <a:r>
                  <a:rPr sz="2400" b="0">
                    <a:solidFill>
                      <a:srgbClr val="111827"/>
                    </a:solidFill>
                    <a:latin typeface="Arial"/>
                  </a:rPr>
                  <a:t> with slopes </a:t>
                </a:r>
                <a:r>
                  <a:rPr lang="en-IN" sz="2400">
                    <a:solidFill>
                      <a:srgbClr val="111827"/>
                    </a:solidFill>
                    <a:latin typeface="Cambria Math" panose="02040503050406030204" pitchFamily="18" charset="0"/>
                  </a:rPr>
                  <a:t>$\frac{31}{4}\ne4$</a:t>
                </a:r>
                <a:r>
                  <a:rPr sz="2400" b="0">
                    <a:solidFill>
                      <a:srgbClr val="111827"/>
                    </a:solidFill>
                    <a:latin typeface="Arial"/>
                  </a:rPr>
                  <a:t> (A), </a:t>
                </a:r>
                <a:r>
                  <a:rPr lang="en-IN" sz="2400">
                    <a:solidFill>
                      <a:srgbClr val="111827"/>
                    </a:solidFill>
                    <a:latin typeface="Cambria Math" panose="02040503050406030204" pitchFamily="18" charset="0"/>
                  </a:rPr>
                  <a:t>$f'(3)+f'(5)=\frac{23}{4}+3=\frac{35}{4}$</a:t>
                </a:r>
                <a:r>
                  <a:rPr sz="2400" b="0">
                    <a:solidFill>
                      <a:srgbClr val="111827"/>
                    </a:solidFill>
                    <a:latin typeface="Arial"/>
                  </a:rPr>
                  <a:t> (B), </a:t>
                </a:r>
                <a:r>
                  <a:rPr lang="en-IN" sz="2400">
                    <a:solidFill>
                      <a:srgbClr val="111827"/>
                    </a:solidFill>
                    <a:latin typeface="Cambria Math" panose="02040503050406030204" pitchFamily="18" charset="0"/>
                  </a:rPr>
                  <a:t>$f'(x)=2x-\frac14$</a:t>
                </a:r>
                <a:r>
                  <a:rPr sz="2400" b="0">
                    <a:solidFill>
                      <a:srgbClr val="111827"/>
                    </a:solidFill>
                    <a:latin typeface="Arial"/>
                  </a:rPr>
                  <a:t> changes sign at </a:t>
                </a:r>
                <a:r>
                  <a:rPr lang="en-IN" sz="2400">
                    <a:solidFill>
                      <a:srgbClr val="111827"/>
                    </a:solidFill>
                    <a:latin typeface="Cambria Math" panose="02040503050406030204" pitchFamily="18" charset="0"/>
                  </a:rPr>
                  <a:t>$\frac18$</a:t>
                </a:r>
                <a:r>
                  <a:rPr sz="2400" b="0">
                    <a:solidFill>
                      <a:srgbClr val="111827"/>
                    </a:solidFill>
                    <a:latin typeface="Arial"/>
                  </a:rPr>
                  <a:t> from </a:t>
                </a:r>
                <a:r>
                  <a:rPr lang="en-IN" sz="2400">
                    <a:solidFill>
                      <a:srgbClr val="111827"/>
                    </a:solidFill>
                    <a:latin typeface="Cambria Math" panose="02040503050406030204" pitchFamily="18" charset="0"/>
                  </a:rPr>
                  <a:t>$-$</a:t>
                </a:r>
                <a:r>
                  <a:rPr sz="2400" b="0">
                    <a:solidFill>
                      <a:srgbClr val="111827"/>
                    </a:solidFill>
                    <a:latin typeface="Arial"/>
                  </a:rPr>
                  <a:t> to </a:t>
                </a:r>
                <a:r>
                  <a:rPr lang="en-IN" sz="2400">
                    <a:solidFill>
                      <a:srgbClr val="111827"/>
                    </a:solidFill>
                    <a:latin typeface="Cambria Math" panose="02040503050406030204" pitchFamily="18" charset="0"/>
                  </a:rPr>
                  <a:t>$+$</a:t>
                </a:r>
                <a:r>
                  <a:rPr sz="2400" b="0">
                    <a:solidFill>
                      <a:srgbClr val="111827"/>
                    </a:solidFill>
                    <a:latin typeface="Arial"/>
                  </a:rPr>
                  <a:t> (D).</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a:t>
                </a:r>
                <a14:m>
                  <m:oMath xmlns:m="http://schemas.openxmlformats.org/officeDocument/2006/math">
                    <m:r>
                      <a:rPr lang="en-IN" sz="2800" i="1">
                        <a:solidFill>
                          <a:srgbClr val="15803D"/>
                        </a:solidFill>
                        <a:latin typeface="Cambria Math" panose="02040503050406030204" pitchFamily="18" charset="0"/>
                      </a:rPr>
                      <m:t>𝑓</m:t>
                    </m:r>
                  </m:oMath>
                </a14:m>
                <a:r>
                  <a:rPr sz="2800" b="1">
                    <a:solidFill>
                      <a:srgbClr val="15803D"/>
                    </a:solidFill>
                    <a:latin typeface="Arial"/>
                  </a:rPr>
                  <a:t> is increasing in </a:t>
                </a:r>
                <a14:m>
                  <m:oMath xmlns:m="http://schemas.openxmlformats.org/officeDocument/2006/math">
                    <m:d>
                      <m:dPr>
                        <m:begChr m:val="("/>
                        <m:sepChr m:val=""/>
                        <m:endChr m:val=")"/>
                        <m:grow/>
                        <m:ctrlPr>
                          <a:rPr lang="en-IN" sz="2800" i="1">
                            <a:solidFill>
                              <a:srgbClr val="15803D"/>
                            </a:solidFill>
                            <a:latin typeface="Cambria Math" panose="02040503050406030204" pitchFamily="18" charset="0"/>
                          </a:rPr>
                        </m:ctrlPr>
                      </m:dPr>
                      <m:e>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1</m:t>
                            </m:r>
                          </m:num>
                          <m:den>
                            <m:r>
                              <a:rPr lang="en-IN" sz="2800" i="1">
                                <a:solidFill>
                                  <a:srgbClr val="15803D"/>
                                </a:solidFill>
                                <a:latin typeface="Cambria Math" panose="02040503050406030204" pitchFamily="18" charset="0"/>
                              </a:rPr>
                              <m:t>8</m:t>
                            </m:r>
                          </m:den>
                        </m:f>
                      </m:e>
                    </m:d>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8</m:t>
                    </m:r>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oMath>
                </a14:m>
                <a:r>
                  <a:rPr sz="2800" b="1">
                    <a:solidFill>
                      <a:srgbClr val="15803D"/>
                    </a:solidFill>
                    <a:latin typeface="Arial"/>
                  </a:rPr>
                  <a:t> - this is NOT true</a:t>
                </a:r>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a:t>
                </a:r>
                <a:r>
                  <a:rPr lang="en-IN" sz="2800">
                    <a:solidFill>
                      <a:srgbClr val="15803D"/>
                    </a:solidFill>
                    <a:latin typeface="Cambria Math" panose="02040503050406030204" pitchFamily="18" charset="0"/>
                  </a:rPr>
                  <a:t>$f$</a:t>
                </a:r>
                <a:r>
                  <a:rPr sz="2800" b="1">
                    <a:solidFill>
                      <a:srgbClr val="15803D"/>
                    </a:solidFill>
                    <a:latin typeface="Arial"/>
                  </a:rPr>
                  <a:t> is increasing in </a:t>
                </a:r>
                <a:r>
                  <a:rPr lang="en-IN" sz="2800">
                    <a:solidFill>
                      <a:srgbClr val="15803D"/>
                    </a:solidFill>
                    <a:latin typeface="Cambria Math" panose="02040503050406030204" pitchFamily="18" charset="0"/>
                  </a:rPr>
                  <a:t>$\left(-\infty,\frac18\right)\cup(8,\infty)$</a:t>
                </a:r>
                <a:r>
                  <a:rPr sz="2800" b="1">
                    <a:solidFill>
                      <a:srgbClr val="15803D"/>
                    </a:solidFill>
                    <a:latin typeface="Arial"/>
                  </a:rPr>
                  <a:t> - this is NOT true</a:t>
                </a:r>
                <a:endParaRPr sz="2800">
                  <a:solidFill>
                    <a:srgbClr val="15803D"/>
                  </a:solidFill>
                </a:endParaRPr>
              </a:p>
            </p:txBody>
          </p:sp>
        </mc:Fallback>
      </mc:AlternateContent>
    </p:spTree>
  </p:cSld>
  <p:clrMapOvr>
    <a:masterClrMapping/>
  </p:clrMapOvr>
</p:sld>
</file>

<file path=ppt/slides/slide2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nary>
                      <m:naryPr>
                        <m:chr m:val="∫"/>
                        <m:limLoc m:val="subSup"/>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𝑎</m:t>
                        </m:r>
                      </m:sub>
                      <m:sup>
                        <m:r>
                          <a:rPr lang="en-IN" sz="2400" i="1">
                            <a:solidFill>
                              <a:srgbClr val="111827"/>
                            </a:solidFill>
                            <a:latin typeface="Cambria Math" panose="02040503050406030204" pitchFamily="18" charset="0"/>
                          </a:rPr>
                          <m:t>𝑏</m:t>
                        </m:r>
                      </m:sup>
                      <m:e>
                        <m:r>
                          <a:rPr lang="en-IN" sz="2400" i="1">
                            <a:solidFill>
                              <a:srgbClr val="111827"/>
                            </a:solidFill>
                            <a:latin typeface="Cambria Math" panose="02040503050406030204" pitchFamily="18" charset="0"/>
                          </a:rPr>
                          <m:t>​</m:t>
                        </m:r>
                      </m:e>
                    </m:nary>
                  </m:oMath>
                </a14:m>
                <a:r>
                  <a:rPr sz="2400" b="0">
                    <a:solidFill>
                      <a:srgbClr val="111827"/>
                    </a:solidFill>
                    <a:latin typeface="Arial"/>
                  </a:rPr>
                  <a:t> of a piecewise-linear integrand, use areas of trapezoids/triangles instead of integrating.</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piecewise function is differentiable at the junction iff continuity holds and the one-sided derivatives (computed from each branch's formula) agree.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By the fundamental theorem,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nary>
                      <m:naryPr>
                        <m:chr m:val="∫"/>
                        <m:limLoc m:val="subSup"/>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𝑥</m:t>
                        </m:r>
                      </m:sup>
                      <m:e>
                        <m:r>
                          <a:rPr lang="en-IN" sz="2400" i="1">
                            <a:solidFill>
                              <a:srgbClr val="111827"/>
                            </a:solidFill>
                            <a:latin typeface="Cambria Math" panose="02040503050406030204" pitchFamily="18" charset="0"/>
                          </a:rPr>
                          <m:t>𝑔</m:t>
                        </m:r>
                      </m:e>
                    </m:nary>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for the right-hand branch.</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single point where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in an interval disproves 'increasing' on that interval.</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$\int_a^b$</a:t>
                </a:r>
                <a:r>
                  <a:rPr sz="2400" b="0">
                    <a:solidFill>
                      <a:srgbClr val="111827"/>
                    </a:solidFill>
                    <a:latin typeface="Arial"/>
                  </a:rPr>
                  <a:t> of a piecewise-linear integrand, use areas of trapezoids/triangles instead of integrating.</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piecewise function is differentiable at the junction iff continuity holds and the one-sided derivatives (computed from each branch's formula) agree.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By the fundamental theorem, </a:t>
                </a:r>
                <a:r>
                  <a:rPr lang="en-IN" sz="2400">
                    <a:solidFill>
                      <a:srgbClr val="111827"/>
                    </a:solidFill>
                    <a:latin typeface="Cambria Math" panose="02040503050406030204" pitchFamily="18" charset="0"/>
                  </a:rPr>
                  <a:t>$\frac{d}{dx}\int_0^xg(t)\,dt=g(x)$</a:t>
                </a:r>
                <a:r>
                  <a:rPr sz="2400" b="0">
                    <a:solidFill>
                      <a:srgbClr val="111827"/>
                    </a:solidFill>
                    <a:latin typeface="Arial"/>
                  </a:rPr>
                  <a:t> for the right-hand branch.</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single point where </a:t>
                </a:r>
                <a:r>
                  <a:rPr lang="en-IN" sz="2400">
                    <a:solidFill>
                      <a:srgbClr val="111827"/>
                    </a:solidFill>
                    <a:latin typeface="Cambria Math" panose="02040503050406030204" pitchFamily="18" charset="0"/>
                  </a:rPr>
                  <a:t>$f'&lt;0$</a:t>
                </a:r>
                <a:r>
                  <a:rPr sz="2400" b="0">
                    <a:solidFill>
                      <a:srgbClr val="111827"/>
                    </a:solidFill>
                    <a:latin typeface="Arial"/>
                  </a:rPr>
                  <a:t> in an interval disproves 'increasing' on that interval.</a:t>
                </a:r>
                <a:endParaRPr sz="2400">
                  <a:solidFill>
                    <a:srgbClr val="111827"/>
                  </a:solidFill>
                </a:endParaRPr>
              </a:p>
            </p:txBody>
          </p:sp>
        </mc:Fallback>
      </mc:AlternateContent>
    </p:spTree>
  </p:cSld>
  <p:clrMapOvr>
    <a:masterClrMapping/>
  </p:clrMapOvr>
</p:sld>
</file>

<file path=ppt/slides/slide2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07289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function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R</m:t>
                    </m:r>
                  </m:oMath>
                </a14:m>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increasing in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d>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(B) decreasing in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e>
                    </m:d>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(C) increasing in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e>
                    </m:d>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(D) decreasing in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e>
                    </m:d>
                  </m:oMath>
                </a14:m>
                <a:endParaRPr sz="2400">
                  <a:solidFill>
                    <a:srgbClr val="111827"/>
                  </a:solidFill>
                </a:endParaRPr>
              </a:p>
            </p:txBody>
          </p:sp>
        </mc:Choice>
        <mc:Fallback>
          <p:sp>
            <p:nvSpPr>
              <p:cNvPr id="4" name="Rounded Rectangle 3"/>
              <p:cNvSpPr/>
              <p:nvPr/>
            </p:nvSpPr>
            <p:spPr>
              <a:xfrm>
                <a:off x="731520" y="1280160"/>
                <a:ext cx="10725912" cy="307289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function </a:t>
                </a:r>
                <a:r>
                  <a:rPr lang="en-IN" sz="2400">
                    <a:solidFill>
                      <a:srgbClr val="111827"/>
                    </a:solidFill>
                    <a:latin typeface="Cambria Math" panose="02040503050406030204" pitchFamily="18" charset="0"/>
                  </a:rPr>
                  <a:t>$f(x)=x\,e^{x(1-x)},\ x\in\mathbb{R}$</a:t>
                </a:r>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increasing in </a:t>
                </a:r>
                <a:r>
                  <a:rPr lang="en-IN" sz="2400">
                    <a:solidFill>
                      <a:srgbClr val="111827"/>
                    </a:solidFill>
                    <a:latin typeface="Cambria Math" panose="02040503050406030204" pitchFamily="18" charset="0"/>
                  </a:rPr>
                  <a:t>$\left(-\frac12,1\right)$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decreasing in </a:t>
                </a:r>
                <a:r>
                  <a:rPr lang="en-IN" sz="2400">
                    <a:solidFill>
                      <a:srgbClr val="111827"/>
                    </a:solidFill>
                    <a:latin typeface="Cambria Math" panose="02040503050406030204" pitchFamily="18" charset="0"/>
                  </a:rPr>
                  <a:t>$\left(\frac12,2\right)$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increasing in </a:t>
                </a:r>
                <a:r>
                  <a:rPr lang="en-IN" sz="2400">
                    <a:solidFill>
                      <a:srgbClr val="111827"/>
                    </a:solidFill>
                    <a:latin typeface="Cambria Math" panose="02040503050406030204" pitchFamily="18" charset="0"/>
                  </a:rPr>
                  <a:t>$\left(-1,-\frac12\right)$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decreasing in </a:t>
                </a:r>
                <a:r>
                  <a:rPr lang="en-IN" sz="2400">
                    <a:solidFill>
                      <a:srgbClr val="111827"/>
                    </a:solidFill>
                    <a:latin typeface="Cambria Math" panose="02040503050406030204" pitchFamily="18" charset="0"/>
                  </a:rPr>
                  <a:t>$\left(-\frac12,\frac12\right)$</a:t>
                </a:r>
                <a:endParaRPr sz="2400">
                  <a:solidFill>
                    <a:srgbClr val="111827"/>
                  </a:solidFill>
                </a:endParaRPr>
              </a:p>
            </p:txBody>
          </p:sp>
        </mc:Fallback>
      </mc:AlternateContent>
      <p:sp>
        <p:nvSpPr>
          <p:cNvPr id="5" name="Rectangle 4"/>
          <p:cNvSpPr/>
          <p:nvPr/>
        </p:nvSpPr>
        <p:spPr>
          <a:xfrm>
            <a:off x="731520" y="4581651"/>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Monotonicity of a function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2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exponential factor is positive, so the sign of </a:t>
                </a:r>
                <a14:m>
                  <m:oMath xmlns:m="http://schemas.openxmlformats.org/officeDocument/2006/math">
                    <m:sSup>
                      <m:e>
                        <m:r>
                          <a:rPr lang="en-IN" sz="2400" i="1">
                            <a:solidFill>
                              <a:srgbClr val="78350F"/>
                            </a:solidFill>
                            <a:latin typeface="Cambria Math" panose="02040503050406030204" pitchFamily="18" charset="0"/>
                          </a:rPr>
                          <m:t>𝑓</m:t>
                        </m:r>
                      </m:e>
                      <m:sup>
                        <m:r>
                          <m:rPr>
                            <m:sty m:val="p"/>
                          </m:rPr>
                          <a:rPr lang="en-IN" sz="2400">
                            <a:solidFill>
                              <a:srgbClr val="78350F"/>
                            </a:solidFill>
                            <a:latin typeface="Cambria Math" panose="02040503050406030204" pitchFamily="18" charset="0"/>
                          </a:rPr>
                          <m:t>′</m:t>
                        </m:r>
                      </m:sup>
                    </m:sSup>
                  </m:oMath>
                </a14:m>
                <a:r>
                  <a:rPr sz="2400" b="0">
                    <a:solidFill>
                      <a:srgbClr val="78350F"/>
                    </a:solidFill>
                    <a:latin typeface="Arial"/>
                  </a:rPr>
                  <a:t> is the sign of the quadratic </a:t>
                </a:r>
                <a14:m>
                  <m:oMath xmlns:m="http://schemas.openxmlformats.org/officeDocument/2006/math">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exponential factor is positive, so the sign of </a:t>
                </a:r>
                <a:r>
                  <a:rPr lang="en-IN" sz="2400">
                    <a:solidFill>
                      <a:srgbClr val="78350F"/>
                    </a:solidFill>
                    <a:latin typeface="Cambria Math" panose="02040503050406030204" pitchFamily="18" charset="0"/>
                  </a:rPr>
                  <a:t>$f'$</a:t>
                </a:r>
                <a:r>
                  <a:rPr sz="2400" b="0">
                    <a:solidFill>
                      <a:srgbClr val="78350F"/>
                    </a:solidFill>
                    <a:latin typeface="Arial"/>
                  </a:rPr>
                  <a:t> is the sign of the quadratic </a:t>
                </a:r>
                <a:r>
                  <a:rPr lang="en-IN" sz="2400">
                    <a:solidFill>
                      <a:srgbClr val="78350F"/>
                    </a:solidFill>
                    <a:latin typeface="Cambria Math" panose="02040503050406030204" pitchFamily="18" charset="0"/>
                  </a:rPr>
                  <a:t>$1+x-2x^2$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sup>
                    </m:sSup>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$f(x)=x\,e^{x(1-x)}=x\,e^{x-x^2}$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$f'(x)=e^{x-x^2}+x\,e^{x-x^2}(1-2x)=e^{x-x^2}\left(1+x-2x^2\right)$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$1+x-2x^2=-(2x^2-x-1)=-(2x+1)(x-1)$</a:t>
                </a:r>
                <a:r>
                  <a:rPr sz="2400" b="0">
                    <a:solidFill>
                      <a:srgbClr val="111827"/>
                    </a:solidFill>
                    <a:latin typeface="Arial"/>
                  </a:rPr>
                  <a:t>, so </a:t>
                </a:r>
                <a:r>
                  <a:rPr lang="en-IN" sz="2400">
                    <a:solidFill>
                      <a:srgbClr val="111827"/>
                    </a:solidFill>
                    <a:latin typeface="Cambria Math" panose="02040503050406030204" pitchFamily="18" charset="0"/>
                  </a:rPr>
                  <a:t>$f'(x)=-e^{x(1-x)}(2x+1)(x-1)$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so the sign of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is the sign of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is increasing in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&lt;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is decreasing there. So (C) fails, and (B)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e>
                    </m:d>
                  </m:oMath>
                </a14:m>
                <a:r>
                  <a:rPr sz="2400" b="0">
                    <a:solidFill>
                      <a:srgbClr val="111827"/>
                    </a:solidFill>
                    <a:latin typeface="Arial"/>
                  </a:rPr>
                  <a:t> and (D)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e>
                    </m:d>
                  </m:oMath>
                </a14:m>
                <a:r>
                  <a:rPr sz="2400" b="0">
                    <a:solidFill>
                      <a:srgbClr val="111827"/>
                    </a:solidFill>
                    <a:latin typeface="Arial"/>
                  </a:rPr>
                  <a:t> fail as well; (A) is correct.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$e^{x(1-x)}&gt;0$</a:t>
                </a:r>
                <a:r>
                  <a:rPr sz="2400" b="0">
                    <a:solidFill>
                      <a:srgbClr val="111827"/>
                    </a:solidFill>
                    <a:latin typeface="Arial"/>
                  </a:rPr>
                  <a:t>, so the sign of </a:t>
                </a:r>
                <a:r>
                  <a:rPr lang="en-IN" sz="2400">
                    <a:solidFill>
                      <a:srgbClr val="111827"/>
                    </a:solidFill>
                    <a:latin typeface="Cambria Math" panose="02040503050406030204" pitchFamily="18" charset="0"/>
                  </a:rPr>
                  <a:t>$f'$</a:t>
                </a:r>
                <a:r>
                  <a:rPr sz="2400" b="0">
                    <a:solidFill>
                      <a:srgbClr val="111827"/>
                    </a:solidFill>
                    <a:latin typeface="Arial"/>
                  </a:rPr>
                  <a:t> is the sign of </a:t>
                </a:r>
                <a:r>
                  <a:rPr lang="en-IN" sz="2400">
                    <a:solidFill>
                      <a:srgbClr val="111827"/>
                    </a:solidFill>
                    <a:latin typeface="Cambria Math" panose="02040503050406030204" pitchFamily="18" charset="0"/>
                  </a:rPr>
                  <a:t>$-(2x+1)(x-1)$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$-\frac12&lt;x&lt;1$</a:t>
                </a:r>
                <a:r>
                  <a:rPr sz="2400" b="0">
                    <a:solidFill>
                      <a:srgbClr val="111827"/>
                    </a:solidFill>
                    <a:latin typeface="Arial"/>
                  </a:rPr>
                  <a:t>: </a:t>
                </a:r>
                <a:r>
                  <a:rPr lang="en-IN" sz="2400">
                    <a:solidFill>
                      <a:srgbClr val="111827"/>
                    </a:solidFill>
                    <a:latin typeface="Cambria Math" panose="02040503050406030204" pitchFamily="18" charset="0"/>
                  </a:rPr>
                  <a:t>$(2x+1)&gt;0$</a:t>
                </a:r>
                <a:r>
                  <a:rPr sz="2400" b="0">
                    <a:solidFill>
                      <a:srgbClr val="111827"/>
                    </a:solidFill>
                    <a:latin typeface="Arial"/>
                  </a:rPr>
                  <a:t> and </a:t>
                </a:r>
                <a:r>
                  <a:rPr lang="en-IN" sz="2400">
                    <a:solidFill>
                      <a:srgbClr val="111827"/>
                    </a:solidFill>
                    <a:latin typeface="Cambria Math" panose="02040503050406030204" pitchFamily="18" charset="0"/>
                  </a:rPr>
                  <a:t>$(x-1)&lt;0$</a:t>
                </a:r>
                <a:r>
                  <a:rPr sz="2400" b="0">
                    <a:solidFill>
                      <a:srgbClr val="111827"/>
                    </a:solidFill>
                    <a:latin typeface="Arial"/>
                  </a:rPr>
                  <a:t>, so </a:t>
                </a:r>
                <a:r>
                  <a:rPr lang="en-IN" sz="2400">
                    <a:solidFill>
                      <a:srgbClr val="111827"/>
                    </a:solidFill>
                    <a:latin typeface="Cambria Math" panose="02040503050406030204" pitchFamily="18" charset="0"/>
                  </a:rPr>
                  <a:t>$f'&gt;0$</a:t>
                </a:r>
                <a:r>
                  <a:rPr sz="2400" b="0">
                    <a:solidFill>
                      <a:srgbClr val="111827"/>
                    </a:solidFill>
                    <a:latin typeface="Arial"/>
                  </a:rPr>
                  <a:t>: </a:t>
                </a:r>
                <a:r>
                  <a:rPr lang="en-IN" sz="2400">
                    <a:solidFill>
                      <a:srgbClr val="111827"/>
                    </a:solidFill>
                    <a:latin typeface="Cambria Math" panose="02040503050406030204" pitchFamily="18" charset="0"/>
                  </a:rPr>
                  <a:t>$f$</a:t>
                </a:r>
                <a:r>
                  <a:rPr sz="2400" b="0">
                    <a:solidFill>
                      <a:srgbClr val="111827"/>
                    </a:solidFill>
                    <a:latin typeface="Arial"/>
                  </a:rPr>
                  <a:t> is increasing in </a:t>
                </a:r>
                <a:r>
                  <a:rPr lang="en-IN" sz="2400">
                    <a:solidFill>
                      <a:srgbClr val="111827"/>
                    </a:solidFill>
                    <a:latin typeface="Cambria Math" panose="02040503050406030204" pitchFamily="18" charset="0"/>
                  </a:rPr>
                  <a:t>$\left(-\frac12,1\right)$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$x&lt;-\frac12$</a:t>
                </a:r>
                <a:r>
                  <a:rPr sz="2400" b="0">
                    <a:solidFill>
                      <a:srgbClr val="111827"/>
                    </a:solidFill>
                    <a:latin typeface="Arial"/>
                  </a:rPr>
                  <a:t> or </a:t>
                </a:r>
                <a:r>
                  <a:rPr lang="en-IN" sz="2400">
                    <a:solidFill>
                      <a:srgbClr val="111827"/>
                    </a:solidFill>
                    <a:latin typeface="Cambria Math" panose="02040503050406030204" pitchFamily="18" charset="0"/>
                  </a:rPr>
                  <a:t>$x&gt;1$</a:t>
                </a:r>
                <a:r>
                  <a:rPr sz="2400" b="0">
                    <a:solidFill>
                      <a:srgbClr val="111827"/>
                    </a:solidFill>
                    <a:latin typeface="Arial"/>
                  </a:rPr>
                  <a:t>, </a:t>
                </a:r>
                <a:r>
                  <a:rPr lang="en-IN" sz="2400">
                    <a:solidFill>
                      <a:srgbClr val="111827"/>
                    </a:solidFill>
                    <a:latin typeface="Cambria Math" panose="02040503050406030204" pitchFamily="18" charset="0"/>
                  </a:rPr>
                  <a:t>$f'&lt;0$</a:t>
                </a:r>
                <a:r>
                  <a:rPr sz="2400" b="0">
                    <a:solidFill>
                      <a:srgbClr val="111827"/>
                    </a:solidFill>
                    <a:latin typeface="Arial"/>
                  </a:rPr>
                  <a:t>: </a:t>
                </a:r>
                <a:r>
                  <a:rPr lang="en-IN" sz="2400">
                    <a:solidFill>
                      <a:srgbClr val="111827"/>
                    </a:solidFill>
                    <a:latin typeface="Cambria Math" panose="02040503050406030204" pitchFamily="18" charset="0"/>
                  </a:rPr>
                  <a:t>$f$</a:t>
                </a:r>
                <a:r>
                  <a:rPr sz="2400" b="0">
                    <a:solidFill>
                      <a:srgbClr val="111827"/>
                    </a:solidFill>
                    <a:latin typeface="Arial"/>
                  </a:rPr>
                  <a:t> is decreasing there. So (C) fails, and (B) </a:t>
                </a:r>
                <a:r>
                  <a:rPr lang="en-IN" sz="2400">
                    <a:solidFill>
                      <a:srgbClr val="111827"/>
                    </a:solidFill>
                    <a:latin typeface="Cambria Math" panose="02040503050406030204" pitchFamily="18" charset="0"/>
                  </a:rPr>
                  <a:t>$\left(\frac12,2\right)$</a:t>
                </a:r>
                <a:r>
                  <a:rPr sz="2400" b="0">
                    <a:solidFill>
                      <a:srgbClr val="111827"/>
                    </a:solidFill>
                    <a:latin typeface="Arial"/>
                  </a:rPr>
                  <a:t> and (D) </a:t>
                </a:r>
                <a:r>
                  <a:rPr lang="en-IN" sz="2400">
                    <a:solidFill>
                      <a:srgbClr val="111827"/>
                    </a:solidFill>
                    <a:latin typeface="Cambria Math" panose="02040503050406030204" pitchFamily="18" charset="0"/>
                  </a:rPr>
                  <a:t>$\left(-\frac12,\frac12\right)$</a:t>
                </a:r>
                <a:r>
                  <a:rPr sz="2400" b="0">
                    <a:solidFill>
                      <a:srgbClr val="111827"/>
                    </a:solidFill>
                    <a:latin typeface="Arial"/>
                  </a:rPr>
                  <a:t> fail as well; (A) is correct.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increasing in </a:t>
                </a:r>
                <a14:m>
                  <m:oMath xmlns:m="http://schemas.openxmlformats.org/officeDocument/2006/math">
                    <m:d>
                      <m:dPr>
                        <m:begChr m:val="("/>
                        <m:sepChr m:val=""/>
                        <m:endChr m:val=")"/>
                        <m:grow/>
                        <m:ctrlPr>
                          <a:rPr lang="en-IN" sz="2800" i="1">
                            <a:solidFill>
                              <a:srgbClr val="15803D"/>
                            </a:solidFill>
                            <a:latin typeface="Cambria Math" panose="02040503050406030204" pitchFamily="18" charset="0"/>
                          </a:rPr>
                        </m:ctrlPr>
                      </m:dPr>
                      <m:e>
                        <m:r>
                          <m:rPr>
                            <m:sty m:val="p"/>
                          </m:rPr>
                          <a:rPr lang="en-IN" sz="2800">
                            <a:solidFill>
                              <a:srgbClr val="15803D"/>
                            </a:solidFill>
                            <a:latin typeface="Cambria Math" panose="02040503050406030204" pitchFamily="18" charset="0"/>
                          </a:rPr>
                          <m:t>−</m:t>
                        </m:r>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1</m:t>
                            </m:r>
                          </m:num>
                          <m:den>
                            <m:r>
                              <a:rPr lang="en-IN" sz="2800" i="1">
                                <a:solidFill>
                                  <a:srgbClr val="15803D"/>
                                </a:solidFill>
                                <a:latin typeface="Cambria Math" panose="02040503050406030204" pitchFamily="18" charset="0"/>
                              </a:rPr>
                              <m:t>2</m:t>
                            </m:r>
                          </m:den>
                        </m:f>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1</m:t>
                        </m:r>
                      </m:e>
                    </m:d>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increasing in </a:t>
                </a:r>
                <a:r>
                  <a:rPr lang="en-IN" sz="2800">
                    <a:solidFill>
                      <a:srgbClr val="15803D"/>
                    </a:solidFill>
                    <a:latin typeface="Cambria Math" panose="02040503050406030204" pitchFamily="18" charset="0"/>
                  </a:rPr>
                  <a:t>$\left(-\frac12,1\right)$</a:t>
                </a:r>
                <a:endParaRPr sz="2800">
                  <a:solidFill>
                    <a:srgbClr val="15803D"/>
                  </a:solidFill>
                </a:endParaRPr>
              </a:p>
            </p:txBody>
          </p:sp>
        </mc:Fallback>
      </mc:AlternateContent>
    </p:spTree>
  </p:cSld>
  <p:clrMapOvr>
    <a:masterClrMapping/>
  </p:clrMapOvr>
</p:sld>
</file>

<file path=ppt/slides/slide2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p:sp>
        <p:nvSpPr>
          <p:cNvPr id="5" name="Rounded Rectangle 4"/>
          <p:cNvSpPr/>
          <p:nvPr/>
        </p:nvSpPr>
        <p:spPr>
          <a:xfrm>
            <a:off x="731520" y="1280160"/>
            <a:ext cx="10725912" cy="73761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Eliminate options by comparing a few function values.</a:t>
            </a:r>
            <a:endParaRPr sz="2400">
              <a:solidFill>
                <a:srgbClr val="78350F"/>
              </a:solidFill>
            </a:endParaRPr>
          </a:p>
        </p:txBody>
      </p:sp>
      <mc:AlternateContent xmlns:mc="http://schemas.openxmlformats.org/markup-compatibility/2006" xmlns:a14="http://schemas.microsoft.com/office/drawing/2010/main">
        <mc:Choice Requires="a14">
          <p:sp>
            <p:nvSpPr>
              <p:cNvPr id="6" name="Rectangle 5"/>
              <p:cNvSpPr/>
              <p:nvPr/>
            </p:nvSpPr>
            <p:spPr>
              <a:xfrm>
                <a:off x="731520" y="2154936"/>
                <a:ext cx="10725912" cy="452018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Values: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0.135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𝑓</m:t>
                    </m:r>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0.236</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𝑓</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0.642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0.271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𝑓</m:t>
                    </m:r>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e>
                    </m:d>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is not increasing on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e>
                    </m:d>
                  </m:oMath>
                </a14:m>
                <a:r>
                  <a:rPr sz="2400" b="0">
                    <a:solidFill>
                      <a:srgbClr val="111827"/>
                    </a:solidFill>
                    <a:latin typeface="Arial"/>
                  </a:rPr>
                  <a:t>: rejected.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 </a:t>
                </a:r>
                <a14:m>
                  <m:oMath xmlns:m="http://schemas.openxmlformats.org/officeDocument/2006/math">
                    <m:r>
                      <a:rPr lang="en-IN" sz="2400" i="1">
                        <a:solidFill>
                          <a:srgbClr val="111827"/>
                        </a:solidFill>
                        <a:latin typeface="Cambria Math" panose="02040503050406030204" pitchFamily="18" charset="0"/>
                      </a:rPr>
                      <m:t>𝑓</m:t>
                    </m:r>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is not decreasing on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e>
                    </m:d>
                  </m:oMath>
                </a14:m>
                <a:r>
                  <a:rPr sz="2400" b="0">
                    <a:solidFill>
                      <a:srgbClr val="111827"/>
                    </a:solidFill>
                    <a:latin typeface="Arial"/>
                  </a:rPr>
                  <a:t>: rejected.</a:t>
                </a:r>
                <a:endParaRPr sz="2400">
                  <a:solidFill>
                    <a:srgbClr val="111827"/>
                  </a:solidFill>
                </a:endParaRPr>
              </a:p>
            </p:txBody>
          </p:sp>
        </mc:Choice>
        <mc:Fallback>
          <p:sp>
            <p:nvSpPr>
              <p:cNvPr id="6" name="Rectangle 5"/>
              <p:cNvSpPr/>
              <p:nvPr/>
            </p:nvSpPr>
            <p:spPr>
              <a:xfrm>
                <a:off x="731520" y="2154936"/>
                <a:ext cx="10725912" cy="452018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Values: </a:t>
                </a:r>
                <a:r>
                  <a:rPr lang="en-IN" sz="2400">
                    <a:solidFill>
                      <a:srgbClr val="111827"/>
                    </a:solidFill>
                    <a:latin typeface="Cambria Math" panose="02040503050406030204" pitchFamily="18" charset="0"/>
                  </a:rPr>
                  <a:t>$f(-1)=-e^{-2}\approx-0.135$</a:t>
                </a:r>
                <a:r>
                  <a:rPr sz="2400" b="0">
                    <a:solidFill>
                      <a:srgbClr val="111827"/>
                    </a:solidFill>
                    <a:latin typeface="Arial"/>
                  </a:rPr>
                  <a:t>, </a:t>
                </a:r>
                <a:r>
                  <a:rPr lang="en-IN" sz="2400">
                    <a:solidFill>
                      <a:srgbClr val="111827"/>
                    </a:solidFill>
                    <a:latin typeface="Cambria Math" panose="02040503050406030204" pitchFamily="18" charset="0"/>
                  </a:rPr>
                  <a:t>$f\left(-\frac12\right)=-\frac12e^{-3/4}\approx-0.236$</a:t>
                </a:r>
                <a:r>
                  <a:rPr sz="2400" b="0">
                    <a:solidFill>
                      <a:srgbClr val="111827"/>
                    </a:solidFill>
                    <a:latin typeface="Arial"/>
                  </a:rPr>
                  <a:t>, </a:t>
                </a:r>
                <a:r>
                  <a:rPr lang="en-IN" sz="2400">
                    <a:solidFill>
                      <a:srgbClr val="111827"/>
                    </a:solidFill>
                    <a:latin typeface="Cambria Math" panose="02040503050406030204" pitchFamily="18" charset="0"/>
                  </a:rPr>
                  <a:t>$f(0)=0$</a:t>
                </a:r>
                <a:r>
                  <a:rPr sz="2400" b="0">
                    <a:solidFill>
                      <a:srgbClr val="111827"/>
                    </a:solidFill>
                    <a:latin typeface="Arial"/>
                  </a:rPr>
                  <a:t>, </a:t>
                </a:r>
                <a:r>
                  <a:rPr lang="en-IN" sz="2400">
                    <a:solidFill>
                      <a:srgbClr val="111827"/>
                    </a:solidFill>
                    <a:latin typeface="Cambria Math" panose="02040503050406030204" pitchFamily="18" charset="0"/>
                  </a:rPr>
                  <a:t>$f\left(\frac12\right)=\frac12e^{1/4}\approx0.642$</a:t>
                </a:r>
                <a:r>
                  <a:rPr sz="2400" b="0">
                    <a:solidFill>
                      <a:srgbClr val="111827"/>
                    </a:solidFill>
                    <a:latin typeface="Arial"/>
                  </a:rPr>
                  <a:t>, </a:t>
                </a:r>
                <a:r>
                  <a:rPr lang="en-IN" sz="2400">
                    <a:solidFill>
                      <a:srgbClr val="111827"/>
                    </a:solidFill>
                    <a:latin typeface="Cambria Math" panose="02040503050406030204" pitchFamily="18" charset="0"/>
                  </a:rPr>
                  <a:t>$f(1)=1$</a:t>
                </a:r>
                <a:r>
                  <a:rPr sz="2400" b="0">
                    <a:solidFill>
                      <a:srgbClr val="111827"/>
                    </a:solidFill>
                    <a:latin typeface="Arial"/>
                  </a:rPr>
                  <a:t>, </a:t>
                </a:r>
                <a:r>
                  <a:rPr lang="en-IN" sz="2400">
                    <a:solidFill>
                      <a:srgbClr val="111827"/>
                    </a:solidFill>
                    <a:latin typeface="Cambria Math" panose="02040503050406030204" pitchFamily="18" charset="0"/>
                  </a:rPr>
                  <a:t>$f(2)=2e^{-2}\approx0.271$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 </a:t>
                </a:r>
                <a:r>
                  <a:rPr lang="en-IN" sz="2400">
                    <a:solidFill>
                      <a:srgbClr val="111827"/>
                    </a:solidFill>
                    <a:latin typeface="Cambria Math" panose="02040503050406030204" pitchFamily="18" charset="0"/>
                  </a:rPr>
                  <a:t>$f(-1)&gt;f\left(-\frac12\right)$</a:t>
                </a:r>
                <a:r>
                  <a:rPr sz="2400" b="0">
                    <a:solidFill>
                      <a:srgbClr val="111827"/>
                    </a:solidFill>
                    <a:latin typeface="Arial"/>
                  </a:rPr>
                  <a:t>, so </a:t>
                </a:r>
                <a:r>
                  <a:rPr lang="en-IN" sz="2400">
                    <a:solidFill>
                      <a:srgbClr val="111827"/>
                    </a:solidFill>
                    <a:latin typeface="Cambria Math" panose="02040503050406030204" pitchFamily="18" charset="0"/>
                  </a:rPr>
                  <a:t>$f$</a:t>
                </a:r>
                <a:r>
                  <a:rPr sz="2400" b="0">
                    <a:solidFill>
                      <a:srgbClr val="111827"/>
                    </a:solidFill>
                    <a:latin typeface="Arial"/>
                  </a:rPr>
                  <a:t> is not increasing on </a:t>
                </a:r>
                <a:r>
                  <a:rPr lang="en-IN" sz="2400">
                    <a:solidFill>
                      <a:srgbClr val="111827"/>
                    </a:solidFill>
                    <a:latin typeface="Cambria Math" panose="02040503050406030204" pitchFamily="18" charset="0"/>
                  </a:rPr>
                  <a:t>$\left(-1,-\frac12\right)$</a:t>
                </a:r>
                <a:r>
                  <a:rPr sz="2400" b="0">
                    <a:solidFill>
                      <a:srgbClr val="111827"/>
                    </a:solidFill>
                    <a:latin typeface="Arial"/>
                  </a:rPr>
                  <a:t>: rejected.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 </a:t>
                </a:r>
                <a:r>
                  <a:rPr lang="en-IN" sz="2400">
                    <a:solidFill>
                      <a:srgbClr val="111827"/>
                    </a:solidFill>
                    <a:latin typeface="Cambria Math" panose="02040503050406030204" pitchFamily="18" charset="0"/>
                  </a:rPr>
                  <a:t>$f\left(-\frac12\right)&lt;f(0)$</a:t>
                </a:r>
                <a:r>
                  <a:rPr sz="2400" b="0">
                    <a:solidFill>
                      <a:srgbClr val="111827"/>
                    </a:solidFill>
                    <a:latin typeface="Arial"/>
                  </a:rPr>
                  <a:t>, so </a:t>
                </a:r>
                <a:r>
                  <a:rPr lang="en-IN" sz="2400">
                    <a:solidFill>
                      <a:srgbClr val="111827"/>
                    </a:solidFill>
                    <a:latin typeface="Cambria Math" panose="02040503050406030204" pitchFamily="18" charset="0"/>
                  </a:rPr>
                  <a:t>$f$</a:t>
                </a:r>
                <a:r>
                  <a:rPr sz="2400" b="0">
                    <a:solidFill>
                      <a:srgbClr val="111827"/>
                    </a:solidFill>
                    <a:latin typeface="Arial"/>
                  </a:rPr>
                  <a:t> is not decreasing on </a:t>
                </a:r>
                <a:r>
                  <a:rPr lang="en-IN" sz="2400">
                    <a:solidFill>
                      <a:srgbClr val="111827"/>
                    </a:solidFill>
                    <a:latin typeface="Cambria Math" panose="02040503050406030204" pitchFamily="18" charset="0"/>
                  </a:rPr>
                  <a:t>$\left(-\frac12,\frac12\right)$</a:t>
                </a:r>
                <a:r>
                  <a:rPr sz="2400" b="0">
                    <a:solidFill>
                      <a:srgbClr val="111827"/>
                    </a:solidFill>
                    <a:latin typeface="Arial"/>
                  </a:rPr>
                  <a:t>: rejected.</a:t>
                </a:r>
                <a:endParaRPr sz="2400">
                  <a:solidFill>
                    <a:srgbClr val="111827"/>
                  </a:solidFill>
                </a:endParaRPr>
              </a:p>
            </p:txBody>
          </p:sp>
        </mc:Fallback>
      </mc:AlternateContent>
    </p:spTree>
  </p:cSld>
  <p:clrMapOvr>
    <a:masterClrMapping/>
  </p:clrMapOvr>
</p:sld>
</file>

<file path=ppt/slides/slide2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 </a:t>
                </a:r>
                <a14:m>
                  <m:oMath xmlns:m="http://schemas.openxmlformats.org/officeDocument/2006/math">
                    <m:r>
                      <a:rPr lang="en-IN" sz="2400" i="1">
                        <a:solidFill>
                          <a:srgbClr val="111827"/>
                        </a:solidFill>
                        <a:latin typeface="Cambria Math" panose="02040503050406030204" pitchFamily="18" charset="0"/>
                      </a:rPr>
                      <m:t>𝑓</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e>
                    </m:d>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is not decreasing there: rejected.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Only (A) remains, consistent with the values rising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0.236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0.642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across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d>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 </a:t>
                </a:r>
                <a:r>
                  <a:rPr lang="en-IN" sz="2400">
                    <a:solidFill>
                      <a:srgbClr val="111827"/>
                    </a:solidFill>
                    <a:latin typeface="Cambria Math" panose="02040503050406030204" pitchFamily="18" charset="0"/>
                  </a:rPr>
                  <a:t>$f\left(\frac12\right)&lt;f(1)$</a:t>
                </a:r>
                <a:r>
                  <a:rPr sz="2400" b="0">
                    <a:solidFill>
                      <a:srgbClr val="111827"/>
                    </a:solidFill>
                    <a:latin typeface="Arial"/>
                  </a:rPr>
                  <a:t> with </a:t>
                </a:r>
                <a:r>
                  <a:rPr lang="en-IN" sz="2400">
                    <a:solidFill>
                      <a:srgbClr val="111827"/>
                    </a:solidFill>
                    <a:latin typeface="Cambria Math" panose="02040503050406030204" pitchFamily="18" charset="0"/>
                  </a:rPr>
                  <a:t>$1\in\left(\frac12,2\right)$</a:t>
                </a:r>
                <a:r>
                  <a:rPr sz="2400" b="0">
                    <a:solidFill>
                      <a:srgbClr val="111827"/>
                    </a:solidFill>
                    <a:latin typeface="Arial"/>
                  </a:rPr>
                  <a:t>, so </a:t>
                </a:r>
                <a:r>
                  <a:rPr lang="en-IN" sz="2400">
                    <a:solidFill>
                      <a:srgbClr val="111827"/>
                    </a:solidFill>
                    <a:latin typeface="Cambria Math" panose="02040503050406030204" pitchFamily="18" charset="0"/>
                  </a:rPr>
                  <a:t>$f$</a:t>
                </a:r>
                <a:r>
                  <a:rPr sz="2400" b="0">
                    <a:solidFill>
                      <a:srgbClr val="111827"/>
                    </a:solidFill>
                    <a:latin typeface="Arial"/>
                  </a:rPr>
                  <a:t> is not decreasing there: rejected.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Only (A) remains, consistent with the values rising </a:t>
                </a:r>
                <a:r>
                  <a:rPr lang="en-IN" sz="2400">
                    <a:solidFill>
                      <a:srgbClr val="111827"/>
                    </a:solidFill>
                    <a:latin typeface="Cambria Math" panose="02040503050406030204" pitchFamily="18" charset="0"/>
                  </a:rPr>
                  <a:t>$-0.236,0,0.642,1$</a:t>
                </a:r>
                <a:r>
                  <a:rPr sz="2400" b="0">
                    <a:solidFill>
                      <a:srgbClr val="111827"/>
                    </a:solidFill>
                    <a:latin typeface="Arial"/>
                  </a:rPr>
                  <a:t> across </a:t>
                </a:r>
                <a:r>
                  <a:rPr lang="en-IN" sz="2400">
                    <a:solidFill>
                      <a:srgbClr val="111827"/>
                    </a:solidFill>
                    <a:latin typeface="Cambria Math" panose="02040503050406030204" pitchFamily="18" charset="0"/>
                  </a:rPr>
                  <a:t>$\left(-\frac12,1\right)$</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increasing in </a:t>
                </a:r>
                <a14:m>
                  <m:oMath xmlns:m="http://schemas.openxmlformats.org/officeDocument/2006/math">
                    <m:d>
                      <m:dPr>
                        <m:begChr m:val="("/>
                        <m:sepChr m:val=""/>
                        <m:endChr m:val=")"/>
                        <m:grow/>
                        <m:ctrlPr>
                          <a:rPr lang="en-IN" sz="2800" i="1">
                            <a:solidFill>
                              <a:srgbClr val="15803D"/>
                            </a:solidFill>
                            <a:latin typeface="Cambria Math" panose="02040503050406030204" pitchFamily="18" charset="0"/>
                          </a:rPr>
                        </m:ctrlPr>
                      </m:dPr>
                      <m:e>
                        <m:r>
                          <m:rPr>
                            <m:sty m:val="p"/>
                          </m:rPr>
                          <a:rPr lang="en-IN" sz="2800">
                            <a:solidFill>
                              <a:srgbClr val="15803D"/>
                            </a:solidFill>
                            <a:latin typeface="Cambria Math" panose="02040503050406030204" pitchFamily="18" charset="0"/>
                          </a:rPr>
                          <m:t>−</m:t>
                        </m:r>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1</m:t>
                            </m:r>
                          </m:num>
                          <m:den>
                            <m:r>
                              <a:rPr lang="en-IN" sz="2800" i="1">
                                <a:solidFill>
                                  <a:srgbClr val="15803D"/>
                                </a:solidFill>
                                <a:latin typeface="Cambria Math" panose="02040503050406030204" pitchFamily="18" charset="0"/>
                              </a:rPr>
                              <m:t>2</m:t>
                            </m:r>
                          </m:den>
                        </m:f>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1</m:t>
                        </m:r>
                      </m:e>
                    </m:d>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increasing in </a:t>
                </a:r>
                <a:r>
                  <a:rPr lang="en-IN" sz="2800">
                    <a:solidFill>
                      <a:srgbClr val="15803D"/>
                    </a:solidFill>
                    <a:latin typeface="Cambria Math" panose="02040503050406030204" pitchFamily="18" charset="0"/>
                  </a:rPr>
                  <a:t>$\left(-\frac12,1\right)$</a:t>
                </a:r>
                <a:endParaRPr sz="2800">
                  <a:solidFill>
                    <a:srgbClr val="15803D"/>
                  </a:solidFill>
                </a:endParaRPr>
              </a:p>
            </p:txBody>
          </p:sp>
        </mc:Fallback>
      </mc:AlternateContent>
    </p:spTree>
  </p:cSld>
  <p:clrMapOvr>
    <a:masterClrMapping/>
  </p:clrMapOvr>
</p:sld>
</file>

<file path=ppt/slides/slide2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𝑔</m:t>
                    </m:r>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ℎ</m:t>
                        </m:r>
                      </m:sup>
                    </m:sSup>
                  </m:oMath>
                </a14:m>
                <a:r>
                  <a:rPr sz="2400" b="0">
                    <a:solidFill>
                      <a:srgbClr val="111827"/>
                    </a:solidFill>
                    <a:latin typeface="Arial"/>
                  </a:rPr>
                  <a:t> with </a:t>
                </a:r>
                <a14:m>
                  <m:oMath xmlns:m="http://schemas.openxmlformats.org/officeDocument/2006/math">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ℎ</m:t>
                        </m:r>
                      </m:sup>
                    </m:sSup>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only </a:t>
                </a:r>
                <a14:m>
                  <m:oMath xmlns:m="http://schemas.openxmlformats.org/officeDocument/2006/math">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𝑔</m:t>
                    </m:r>
                    <m:sSup>
                      <m:e>
                        <m:r>
                          <a:rPr lang="en-IN" sz="2400" i="1">
                            <a:solidFill>
                              <a:srgbClr val="111827"/>
                            </a:solidFill>
                            <a:latin typeface="Cambria Math" panose="02040503050406030204" pitchFamily="18" charset="0"/>
                          </a:rPr>
                          <m:t>ℎ</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matters: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ℎ</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𝑔</m:t>
                    </m:r>
                    <m:sSup>
                      <m:e>
                        <m:r>
                          <a:rPr lang="en-IN" sz="2400" i="1">
                            <a:solidFill>
                              <a:srgbClr val="111827"/>
                            </a:solidFill>
                            <a:latin typeface="Cambria Math" panose="02040503050406030204" pitchFamily="18" charset="0"/>
                          </a:rPr>
                          <m:t>ℎ</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function is monotonic on an interval iff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keeps one sign there; a quick numerical test of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's sign factors is enough.</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single pair of points with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𝑏</m:t>
                    </m:r>
                  </m:oMath>
                </a14:m>
                <a:r>
                  <a:rPr sz="2400" b="0">
                    <a:solidFill>
                      <a:srgbClr val="111827"/>
                    </a:solidFill>
                    <a:latin typeface="Arial"/>
                  </a:rPr>
                  <a:t>) in an interval disproves 'decreasing' on it (and vice versa).</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Sign of a quadratic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positive between roots, negative outside.</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$f=g\,e^{h}$</a:t>
                </a:r>
                <a:r>
                  <a:rPr sz="2400" b="0">
                    <a:solidFill>
                      <a:srgbClr val="111827"/>
                    </a:solidFill>
                    <a:latin typeface="Arial"/>
                  </a:rPr>
                  <a:t> with </a:t>
                </a:r>
                <a:r>
                  <a:rPr lang="en-IN" sz="2400">
                    <a:solidFill>
                      <a:srgbClr val="111827"/>
                    </a:solidFill>
                    <a:latin typeface="Cambria Math" panose="02040503050406030204" pitchFamily="18" charset="0"/>
                  </a:rPr>
                  <a:t>$e^{h}&gt;0$</a:t>
                </a:r>
                <a:r>
                  <a:rPr sz="2400" b="0">
                    <a:solidFill>
                      <a:srgbClr val="111827"/>
                    </a:solidFill>
                    <a:latin typeface="Arial"/>
                  </a:rPr>
                  <a:t>, only </a:t>
                </a:r>
                <a:r>
                  <a:rPr lang="en-IN" sz="2400">
                    <a:solidFill>
                      <a:srgbClr val="111827"/>
                    </a:solidFill>
                    <a:latin typeface="Cambria Math" panose="02040503050406030204" pitchFamily="18" charset="0"/>
                  </a:rPr>
                  <a:t>$g'+gh'$</a:t>
                </a:r>
                <a:r>
                  <a:rPr sz="2400" b="0">
                    <a:solidFill>
                      <a:srgbClr val="111827"/>
                    </a:solidFill>
                    <a:latin typeface="Arial"/>
                  </a:rPr>
                  <a:t> matters: </a:t>
                </a:r>
                <a:r>
                  <a:rPr lang="en-IN" sz="2400">
                    <a:solidFill>
                      <a:srgbClr val="111827"/>
                    </a:solidFill>
                    <a:latin typeface="Cambria Math" panose="02040503050406030204" pitchFamily="18" charset="0"/>
                  </a:rPr>
                  <a:t>$f'=e^{h}(g'+gh')$</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function is monotonic on an interval iff </a:t>
                </a:r>
                <a:r>
                  <a:rPr lang="en-IN" sz="2400">
                    <a:solidFill>
                      <a:srgbClr val="111827"/>
                    </a:solidFill>
                    <a:latin typeface="Cambria Math" panose="02040503050406030204" pitchFamily="18" charset="0"/>
                  </a:rPr>
                  <a:t>$f'$</a:t>
                </a:r>
                <a:r>
                  <a:rPr sz="2400" b="0">
                    <a:solidFill>
                      <a:srgbClr val="111827"/>
                    </a:solidFill>
                    <a:latin typeface="Arial"/>
                  </a:rPr>
                  <a:t> keeps one sign there; a quick numerical test of </a:t>
                </a:r>
                <a:r>
                  <a:rPr lang="en-IN" sz="2400">
                    <a:solidFill>
                      <a:srgbClr val="111827"/>
                    </a:solidFill>
                    <a:latin typeface="Cambria Math" panose="02040503050406030204" pitchFamily="18" charset="0"/>
                  </a:rPr>
                  <a:t>$f'$</a:t>
                </a:r>
                <a:r>
                  <a:rPr sz="2400" b="0">
                    <a:solidFill>
                      <a:srgbClr val="111827"/>
                    </a:solidFill>
                    <a:latin typeface="Arial"/>
                  </a:rPr>
                  <a:t>'s sign factors is enough.</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single pair of points with </a:t>
                </a:r>
                <a:r>
                  <a:rPr lang="en-IN" sz="2400">
                    <a:solidFill>
                      <a:srgbClr val="111827"/>
                    </a:solidFill>
                    <a:latin typeface="Cambria Math" panose="02040503050406030204" pitchFamily="18" charset="0"/>
                  </a:rPr>
                  <a:t>$f(a)&lt;f(b)$</a:t>
                </a:r>
                <a:r>
                  <a:rPr sz="2400" b="0">
                    <a:solidFill>
                      <a:srgbClr val="111827"/>
                    </a:solidFill>
                    <a:latin typeface="Arial"/>
                  </a:rPr>
                  <a:t> (</a:t>
                </a:r>
                <a:r>
                  <a:rPr lang="en-IN" sz="2400">
                    <a:solidFill>
                      <a:srgbClr val="111827"/>
                    </a:solidFill>
                    <a:latin typeface="Cambria Math" panose="02040503050406030204" pitchFamily="18" charset="0"/>
                  </a:rPr>
                  <a:t>$a&lt;b$</a:t>
                </a:r>
                <a:r>
                  <a:rPr sz="2400" b="0">
                    <a:solidFill>
                      <a:srgbClr val="111827"/>
                    </a:solidFill>
                    <a:latin typeface="Arial"/>
                  </a:rPr>
                  <a:t>) in an interval disproves 'decreasing' on it (and vice versa).</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Sign of a quadratic </a:t>
                </a:r>
                <a:r>
                  <a:rPr lang="en-IN" sz="2400">
                    <a:solidFill>
                      <a:srgbClr val="111827"/>
                    </a:solidFill>
                    <a:latin typeface="Cambria Math" panose="02040503050406030204" pitchFamily="18" charset="0"/>
                  </a:rPr>
                  <a:t>$-(2x+1)(x-1)$</a:t>
                </a:r>
                <a:r>
                  <a:rPr sz="2400" b="0">
                    <a:solidFill>
                      <a:srgbClr val="111827"/>
                    </a:solidFill>
                    <a:latin typeface="Arial"/>
                  </a:rPr>
                  <a:t>: positive between roots, negative outside.</a:t>
                </a:r>
                <a:endParaRPr sz="2400">
                  <a:solidFill>
                    <a:srgbClr val="111827"/>
                  </a:solidFill>
                </a:endParaRPr>
              </a:p>
            </p:txBody>
          </p:sp>
        </mc:Fallback>
      </mc:AlternateContent>
    </p:spTree>
  </p:cSld>
  <p:clrMapOvr>
    <a:masterClrMapping/>
  </p:clrMapOvr>
</p:sld>
</file>

<file path=ppt/slides/slide2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number of distinct real roots of the equation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5</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is ______.</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number of distinct real roots of the equation </a:t>
                </a:r>
                <a:r>
                  <a:rPr lang="en-IN" sz="2400">
                    <a:solidFill>
                      <a:srgbClr val="111827"/>
                    </a:solidFill>
                    <a:latin typeface="Cambria Math" panose="02040503050406030204" pitchFamily="18" charset="0"/>
                  </a:rPr>
                  <a:t>$x^5(x^3-x^2-x+1)+x(3x^3-4x^2-2x+4)-1=0$</a:t>
                </a:r>
                <a:r>
                  <a:rPr sz="2400" b="0">
                    <a:solidFill>
                      <a:srgbClr val="111827"/>
                    </a:solidFill>
                    <a:latin typeface="Arial"/>
                  </a:rPr>
                  <a:t> is ______.</a:t>
                </a:r>
                <a:endParaRPr sz="2400">
                  <a:solidFill>
                    <a:srgbClr val="111827"/>
                  </a:solidFill>
                </a:endParaRPr>
              </a:p>
            </p:txBody>
          </p:sp>
        </mc:Fallback>
      </mc:AlternateContent>
      <p:sp>
        <p:nvSpPr>
          <p:cNvPr id="5" name="Rectangle 4"/>
          <p:cNvSpPr/>
          <p:nvPr/>
        </p:nvSpPr>
        <p:spPr>
          <a:xfrm>
            <a:off x="731520" y="324612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Monotonicity and number of real roots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2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Factor out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then a strictly increasing polynomial has exactly one real root.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Factor out </a:t>
                </a:r>
                <a:r>
                  <a:rPr lang="en-IN" sz="2400">
                    <a:solidFill>
                      <a:srgbClr val="78350F"/>
                    </a:solidFill>
                    <a:latin typeface="Cambria Math" panose="02040503050406030204" pitchFamily="18" charset="0"/>
                  </a:rPr>
                  <a:t>$(x-1)^2(x+1)$</a:t>
                </a:r>
                <a:r>
                  <a:rPr sz="2400" b="0">
                    <a:solidFill>
                      <a:srgbClr val="78350F"/>
                    </a:solidFill>
                    <a:latin typeface="Arial"/>
                  </a:rPr>
                  <a:t>, then a strictly increasing polynomial has exactly one real root.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Expand: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8</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7</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6</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5</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Test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the sum is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is a root; it repeats, since the derivative also vanishes at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Test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is a root.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Dividing out gives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5</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Roots of the first factors: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(double) and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 two distinct real roots so far.</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Expand: </a:t>
                </a:r>
                <a:r>
                  <a:rPr lang="en-IN" sz="2400">
                    <a:solidFill>
                      <a:srgbClr val="111827"/>
                    </a:solidFill>
                    <a:latin typeface="Cambria Math" panose="02040503050406030204" pitchFamily="18" charset="0"/>
                  </a:rPr>
                  <a:t>$x^8-x^7-x^6+x^5+3x^4-4x^3-2x^2+4x-1=0$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Test </a:t>
                </a:r>
                <a:r>
                  <a:rPr lang="en-IN" sz="2400">
                    <a:solidFill>
                      <a:srgbClr val="111827"/>
                    </a:solidFill>
                    <a:latin typeface="Cambria Math" panose="02040503050406030204" pitchFamily="18" charset="0"/>
                  </a:rPr>
                  <a:t>$x=1$</a:t>
                </a:r>
                <a:r>
                  <a:rPr sz="2400" b="0">
                    <a:solidFill>
                      <a:srgbClr val="111827"/>
                    </a:solidFill>
                    <a:latin typeface="Arial"/>
                  </a:rPr>
                  <a:t>: the sum is </a:t>
                </a:r>
                <a:r>
                  <a:rPr lang="en-IN" sz="2400">
                    <a:solidFill>
                      <a:srgbClr val="111827"/>
                    </a:solidFill>
                    <a:latin typeface="Cambria Math" panose="02040503050406030204" pitchFamily="18" charset="0"/>
                  </a:rPr>
                  <a:t>$1-1-1+1+3-4-2+4-1=0$</a:t>
                </a:r>
                <a:r>
                  <a:rPr sz="2400" b="0">
                    <a:solidFill>
                      <a:srgbClr val="111827"/>
                    </a:solidFill>
                    <a:latin typeface="Arial"/>
                  </a:rPr>
                  <a:t>, so </a:t>
                </a:r>
                <a:r>
                  <a:rPr lang="en-IN" sz="2400">
                    <a:solidFill>
                      <a:srgbClr val="111827"/>
                    </a:solidFill>
                    <a:latin typeface="Cambria Math" panose="02040503050406030204" pitchFamily="18" charset="0"/>
                  </a:rPr>
                  <a:t>$x=1$</a:t>
                </a:r>
                <a:r>
                  <a:rPr sz="2400" b="0">
                    <a:solidFill>
                      <a:srgbClr val="111827"/>
                    </a:solidFill>
                    <a:latin typeface="Arial"/>
                  </a:rPr>
                  <a:t> is a root; it repeats, since the derivative also vanishes at </a:t>
                </a:r>
                <a:r>
                  <a:rPr lang="en-IN" sz="2400">
                    <a:solidFill>
                      <a:srgbClr val="111827"/>
                    </a:solidFill>
                    <a:latin typeface="Cambria Math" panose="02040503050406030204" pitchFamily="18" charset="0"/>
                  </a:rPr>
                  <a:t>$1$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Test </a:t>
                </a:r>
                <a:r>
                  <a:rPr lang="en-IN" sz="2400">
                    <a:solidFill>
                      <a:srgbClr val="111827"/>
                    </a:solidFill>
                    <a:latin typeface="Cambria Math" panose="02040503050406030204" pitchFamily="18" charset="0"/>
                  </a:rPr>
                  <a:t>$x=-1$</a:t>
                </a:r>
                <a:r>
                  <a:rPr sz="2400" b="0">
                    <a:solidFill>
                      <a:srgbClr val="111827"/>
                    </a:solidFill>
                    <a:latin typeface="Arial"/>
                  </a:rPr>
                  <a:t>: </a:t>
                </a:r>
                <a:r>
                  <a:rPr lang="en-IN" sz="2400">
                    <a:solidFill>
                      <a:srgbClr val="111827"/>
                    </a:solidFill>
                    <a:latin typeface="Cambria Math" panose="02040503050406030204" pitchFamily="18" charset="0"/>
                  </a:rPr>
                  <a:t>$1+1-1-1+3+4-2-4-1=0$</a:t>
                </a:r>
                <a:r>
                  <a:rPr sz="2400" b="0">
                    <a:solidFill>
                      <a:srgbClr val="111827"/>
                    </a:solidFill>
                    <a:latin typeface="Arial"/>
                  </a:rPr>
                  <a:t>, so </a:t>
                </a:r>
                <a:r>
                  <a:rPr lang="en-IN" sz="2400">
                    <a:solidFill>
                      <a:srgbClr val="111827"/>
                    </a:solidFill>
                    <a:latin typeface="Cambria Math" panose="02040503050406030204" pitchFamily="18" charset="0"/>
                  </a:rPr>
                  <a:t>$x=-1$</a:t>
                </a:r>
                <a:r>
                  <a:rPr sz="2400" b="0">
                    <a:solidFill>
                      <a:srgbClr val="111827"/>
                    </a:solidFill>
                    <a:latin typeface="Arial"/>
                  </a:rPr>
                  <a:t> is a root.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Dividing out gives </a:t>
                </a:r>
                <a:r>
                  <a:rPr lang="en-IN" sz="2400">
                    <a:solidFill>
                      <a:srgbClr val="111827"/>
                    </a:solidFill>
                    <a:latin typeface="Cambria Math" panose="02040503050406030204" pitchFamily="18" charset="0"/>
                  </a:rPr>
                  <a:t>$(x-1)^2(x+1)(x^5+3x-1)=0$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Roots of the first factors: </a:t>
                </a:r>
                <a:r>
                  <a:rPr lang="en-IN" sz="2400">
                    <a:solidFill>
                      <a:srgbClr val="111827"/>
                    </a:solidFill>
                    <a:latin typeface="Cambria Math" panose="02040503050406030204" pitchFamily="18" charset="0"/>
                  </a:rPr>
                  <a:t>$x=1$</a:t>
                </a:r>
                <a:r>
                  <a:rPr sz="2400" b="0">
                    <a:solidFill>
                      <a:srgbClr val="111827"/>
                    </a:solidFill>
                    <a:latin typeface="Arial"/>
                  </a:rPr>
                  <a:t> (double) and </a:t>
                </a:r>
                <a:r>
                  <a:rPr lang="en-IN" sz="2400">
                    <a:solidFill>
                      <a:srgbClr val="111827"/>
                    </a:solidFill>
                    <a:latin typeface="Cambria Math" panose="02040503050406030204" pitchFamily="18" charset="0"/>
                  </a:rPr>
                  <a:t>$x=-1$</a:t>
                </a:r>
                <a:r>
                  <a:rPr sz="2400" b="0">
                    <a:solidFill>
                      <a:srgbClr val="111827"/>
                    </a:solidFill>
                    <a:latin typeface="Arial"/>
                  </a:rPr>
                  <a:t> - two distinct real roots so far.</a:t>
                </a:r>
                <a:endParaRPr sz="2400">
                  <a:solidFill>
                    <a:srgbClr val="111827"/>
                  </a:solidFill>
                </a:endParaRPr>
              </a:p>
            </p:txBody>
          </p:sp>
        </mc:Fallback>
      </mc:AlternateContent>
    </p:spTree>
  </p:cSld>
  <p:clrMapOvr>
    <a:masterClrMapping/>
  </p:clrMapOvr>
</p:sld>
</file>

<file path=ppt/slides/slide2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5</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Then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for all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R</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is strictly increasing.</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the increasing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crosses zero exactly once,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This root is neither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nor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as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Distinct real roots: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the root of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so there are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$f(x)=x^5+3x-1$</a:t>
                </a:r>
                <a:r>
                  <a:rPr sz="2400" b="0">
                    <a:solidFill>
                      <a:srgbClr val="111827"/>
                    </a:solidFill>
                    <a:latin typeface="Arial"/>
                  </a:rPr>
                  <a:t>. Then </a:t>
                </a:r>
                <a:r>
                  <a:rPr lang="en-IN" sz="2400">
                    <a:solidFill>
                      <a:srgbClr val="111827"/>
                    </a:solidFill>
                    <a:latin typeface="Cambria Math" panose="02040503050406030204" pitchFamily="18" charset="0"/>
                  </a:rPr>
                  <a:t>$f'(x)=5x^4+3&gt;0$</a:t>
                </a:r>
                <a:r>
                  <a:rPr sz="2400" b="0">
                    <a:solidFill>
                      <a:srgbClr val="111827"/>
                    </a:solidFill>
                    <a:latin typeface="Arial"/>
                  </a:rPr>
                  <a:t> for all </a:t>
                </a:r>
                <a:r>
                  <a:rPr lang="en-IN" sz="2400">
                    <a:solidFill>
                      <a:srgbClr val="111827"/>
                    </a:solidFill>
                    <a:latin typeface="Cambria Math" panose="02040503050406030204" pitchFamily="18" charset="0"/>
                  </a:rPr>
                  <a:t>$x\in\mathbb{R}$</a:t>
                </a:r>
                <a:r>
                  <a:rPr sz="2400" b="0">
                    <a:solidFill>
                      <a:srgbClr val="111827"/>
                    </a:solidFill>
                    <a:latin typeface="Arial"/>
                  </a:rPr>
                  <a:t>, so </a:t>
                </a:r>
                <a:r>
                  <a:rPr lang="en-IN" sz="2400">
                    <a:solidFill>
                      <a:srgbClr val="111827"/>
                    </a:solidFill>
                    <a:latin typeface="Cambria Math" panose="02040503050406030204" pitchFamily="18" charset="0"/>
                  </a:rPr>
                  <a:t>$f$</a:t>
                </a:r>
                <a:r>
                  <a:rPr sz="2400" b="0">
                    <a:solidFill>
                      <a:srgbClr val="111827"/>
                    </a:solidFill>
                    <a:latin typeface="Arial"/>
                  </a:rPr>
                  <a:t> is strictly increasing.</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r>
                  <a:rPr lang="en-IN" sz="2400">
                    <a:solidFill>
                      <a:srgbClr val="111827"/>
                    </a:solidFill>
                    <a:latin typeface="Cambria Math" panose="02040503050406030204" pitchFamily="18" charset="0"/>
                  </a:rPr>
                  <a:t>$f(0)=-1&lt;0$</a:t>
                </a:r>
                <a:r>
                  <a:rPr sz="2400" b="0">
                    <a:solidFill>
                      <a:srgbClr val="111827"/>
                    </a:solidFill>
                    <a:latin typeface="Arial"/>
                  </a:rPr>
                  <a:t> and </a:t>
                </a:r>
                <a:r>
                  <a:rPr lang="en-IN" sz="2400">
                    <a:solidFill>
                      <a:srgbClr val="111827"/>
                    </a:solidFill>
                    <a:latin typeface="Cambria Math" panose="02040503050406030204" pitchFamily="18" charset="0"/>
                  </a:rPr>
                  <a:t>$f(1)=3&gt;0$</a:t>
                </a:r>
                <a:r>
                  <a:rPr sz="2400" b="0">
                    <a:solidFill>
                      <a:srgbClr val="111827"/>
                    </a:solidFill>
                    <a:latin typeface="Arial"/>
                  </a:rPr>
                  <a:t>, the increasing </a:t>
                </a:r>
                <a:r>
                  <a:rPr lang="en-IN" sz="2400">
                    <a:solidFill>
                      <a:srgbClr val="111827"/>
                    </a:solidFill>
                    <a:latin typeface="Cambria Math" panose="02040503050406030204" pitchFamily="18" charset="0"/>
                  </a:rPr>
                  <a:t>$f$</a:t>
                </a:r>
                <a:r>
                  <a:rPr sz="2400" b="0">
                    <a:solidFill>
                      <a:srgbClr val="111827"/>
                    </a:solidFill>
                    <a:latin typeface="Arial"/>
                  </a:rPr>
                  <a:t> crosses zero exactly once, in </a:t>
                </a:r>
                <a:r>
                  <a:rPr lang="en-IN" sz="2400">
                    <a:solidFill>
                      <a:srgbClr val="111827"/>
                    </a:solidFill>
                    <a:latin typeface="Cambria Math" panose="02040503050406030204" pitchFamily="18" charset="0"/>
                  </a:rPr>
                  <a:t>$(0,1)$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This root is neither </a:t>
                </a:r>
                <a:r>
                  <a:rPr lang="en-IN" sz="2400">
                    <a:solidFill>
                      <a:srgbClr val="111827"/>
                    </a:solidFill>
                    <a:latin typeface="Cambria Math" panose="02040503050406030204" pitchFamily="18" charset="0"/>
                  </a:rPr>
                  <a:t>$1$</a:t>
                </a:r>
                <a:r>
                  <a:rPr sz="2400" b="0">
                    <a:solidFill>
                      <a:srgbClr val="111827"/>
                    </a:solidFill>
                    <a:latin typeface="Arial"/>
                  </a:rPr>
                  <a:t> nor </a:t>
                </a:r>
                <a:r>
                  <a:rPr lang="en-IN" sz="2400">
                    <a:solidFill>
                      <a:srgbClr val="111827"/>
                    </a:solidFill>
                    <a:latin typeface="Cambria Math" panose="02040503050406030204" pitchFamily="18" charset="0"/>
                  </a:rPr>
                  <a:t>$-1$</a:t>
                </a:r>
                <a:r>
                  <a:rPr sz="2400" b="0">
                    <a:solidFill>
                      <a:srgbClr val="111827"/>
                    </a:solidFill>
                    <a:latin typeface="Arial"/>
                  </a:rPr>
                  <a:t>, as </a:t>
                </a:r>
                <a:r>
                  <a:rPr lang="en-IN" sz="2400">
                    <a:solidFill>
                      <a:srgbClr val="111827"/>
                    </a:solidFill>
                    <a:latin typeface="Cambria Math" panose="02040503050406030204" pitchFamily="18" charset="0"/>
                  </a:rPr>
                  <a:t>$f(1)=3\neq0$</a:t>
                </a:r>
                <a:r>
                  <a:rPr sz="2400" b="0">
                    <a:solidFill>
                      <a:srgbClr val="111827"/>
                    </a:solidFill>
                    <a:latin typeface="Arial"/>
                  </a:rPr>
                  <a:t> and </a:t>
                </a:r>
                <a:r>
                  <a:rPr lang="en-IN" sz="2400">
                    <a:solidFill>
                      <a:srgbClr val="111827"/>
                    </a:solidFill>
                    <a:latin typeface="Cambria Math" panose="02040503050406030204" pitchFamily="18" charset="0"/>
                  </a:rPr>
                  <a:t>$f(-1)=-5\neq0$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Distinct real roots: </a:t>
                </a:r>
                <a:r>
                  <a:rPr lang="en-IN" sz="2400">
                    <a:solidFill>
                      <a:srgbClr val="111827"/>
                    </a:solidFill>
                    <a:latin typeface="Cambria Math" panose="02040503050406030204" pitchFamily="18" charset="0"/>
                  </a:rPr>
                  <a:t>$1,\,-1$</a:t>
                </a:r>
                <a:r>
                  <a:rPr sz="2400" b="0">
                    <a:solidFill>
                      <a:srgbClr val="111827"/>
                    </a:solidFill>
                    <a:latin typeface="Arial"/>
                  </a:rPr>
                  <a:t> and the root of </a:t>
                </a:r>
                <a:r>
                  <a:rPr lang="en-IN" sz="2400">
                    <a:solidFill>
                      <a:srgbClr val="111827"/>
                    </a:solidFill>
                    <a:latin typeface="Cambria Math" panose="02040503050406030204" pitchFamily="18" charset="0"/>
                  </a:rPr>
                  <a:t>$f$</a:t>
                </a:r>
                <a:r>
                  <a:rPr sz="2400" b="0">
                    <a:solidFill>
                      <a:srgbClr val="111827"/>
                    </a:solidFill>
                    <a:latin typeface="Arial"/>
                  </a:rPr>
                  <a:t>, so there are </a:t>
                </a:r>
                <a:r>
                  <a:rPr lang="en-IN" sz="2400">
                    <a:solidFill>
                      <a:srgbClr val="111827"/>
                    </a:solidFill>
                    <a:latin typeface="Cambria Math" panose="02040503050406030204" pitchFamily="18" charset="0"/>
                  </a:rPr>
                  <a:t>$3$</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3</a:t>
            </a:r>
            <a:endParaRPr sz="2800">
              <a:solidFill>
                <a:srgbClr val="15803D"/>
              </a:solidFill>
            </a:endParaRPr>
          </a:p>
        </p:txBody>
      </p:sp>
    </p:spTree>
  </p:cSld>
  <p:clrMapOvr>
    <a:masterClrMapping/>
  </p:clrMapOvr>
</p:sld>
</file>

<file path=ppt/slides/slide3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Count real roots of the quintic factor by Descartes' rule of signs instead of monotonicity.</a:t>
            </a:r>
            <a:endParaRPr sz="2400">
              <a:solidFill>
                <a:srgbClr val="78350F"/>
              </a:solidFill>
            </a:endParaRPr>
          </a:p>
        </p:txBody>
      </p:sp>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factorisation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5</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found as before;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are roots.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5</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the coefficient signs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show exactly one sign change, so exactly one positive root.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Replace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by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5</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has signs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no sign change, so no negative root.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factorisation </a:t>
                </a:r>
                <a:r>
                  <a:rPr lang="en-IN" sz="2400">
                    <a:solidFill>
                      <a:srgbClr val="111827"/>
                    </a:solidFill>
                    <a:latin typeface="Cambria Math" panose="02040503050406030204" pitchFamily="18" charset="0"/>
                  </a:rPr>
                  <a:t>$(x-1)^2(x+1)(x^5+3x-1)$</a:t>
                </a:r>
                <a:r>
                  <a:rPr sz="2400" b="0">
                    <a:solidFill>
                      <a:srgbClr val="111827"/>
                    </a:solidFill>
                    <a:latin typeface="Arial"/>
                  </a:rPr>
                  <a:t> is found as before; </a:t>
                </a:r>
                <a:r>
                  <a:rPr lang="en-IN" sz="2400">
                    <a:solidFill>
                      <a:srgbClr val="111827"/>
                    </a:solidFill>
                    <a:latin typeface="Cambria Math" panose="02040503050406030204" pitchFamily="18" charset="0"/>
                  </a:rPr>
                  <a:t>$\pm1$</a:t>
                </a:r>
                <a:r>
                  <a:rPr sz="2400" b="0">
                    <a:solidFill>
                      <a:srgbClr val="111827"/>
                    </a:solidFill>
                    <a:latin typeface="Arial"/>
                  </a:rPr>
                  <a:t> are roots.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$x^5+3x-1$</a:t>
                </a:r>
                <a:r>
                  <a:rPr sz="2400" b="0">
                    <a:solidFill>
                      <a:srgbClr val="111827"/>
                    </a:solidFill>
                    <a:latin typeface="Arial"/>
                  </a:rPr>
                  <a:t> the coefficient signs </a:t>
                </a:r>
                <a:r>
                  <a:rPr lang="en-IN" sz="2400">
                    <a:solidFill>
                      <a:srgbClr val="111827"/>
                    </a:solidFill>
                    <a:latin typeface="Cambria Math" panose="02040503050406030204" pitchFamily="18" charset="0"/>
                  </a:rPr>
                  <a:t>$+,+,-$</a:t>
                </a:r>
                <a:r>
                  <a:rPr sz="2400" b="0">
                    <a:solidFill>
                      <a:srgbClr val="111827"/>
                    </a:solidFill>
                    <a:latin typeface="Arial"/>
                  </a:rPr>
                  <a:t> show exactly one sign change, so exactly one positive root.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Replace </a:t>
                </a:r>
                <a:r>
                  <a:rPr lang="en-IN" sz="2400">
                    <a:solidFill>
                      <a:srgbClr val="111827"/>
                    </a:solidFill>
                    <a:latin typeface="Cambria Math" panose="02040503050406030204" pitchFamily="18" charset="0"/>
                  </a:rPr>
                  <a:t>$x$</a:t>
                </a:r>
                <a:r>
                  <a:rPr sz="2400" b="0">
                    <a:solidFill>
                      <a:srgbClr val="111827"/>
                    </a:solidFill>
                    <a:latin typeface="Arial"/>
                  </a:rPr>
                  <a:t> by </a:t>
                </a:r>
                <a:r>
                  <a:rPr lang="en-IN" sz="2400">
                    <a:solidFill>
                      <a:srgbClr val="111827"/>
                    </a:solidFill>
                    <a:latin typeface="Cambria Math" panose="02040503050406030204" pitchFamily="18" charset="0"/>
                  </a:rPr>
                  <a:t>$-x$</a:t>
                </a:r>
                <a:r>
                  <a:rPr sz="2400" b="0">
                    <a:solidFill>
                      <a:srgbClr val="111827"/>
                    </a:solidFill>
                    <a:latin typeface="Arial"/>
                  </a:rPr>
                  <a:t>: </a:t>
                </a:r>
                <a:r>
                  <a:rPr lang="en-IN" sz="2400">
                    <a:solidFill>
                      <a:srgbClr val="111827"/>
                    </a:solidFill>
                    <a:latin typeface="Cambria Math" panose="02040503050406030204" pitchFamily="18" charset="0"/>
                  </a:rPr>
                  <a:t>$-x^5-3x-1$</a:t>
                </a:r>
                <a:r>
                  <a:rPr sz="2400" b="0">
                    <a:solidFill>
                      <a:srgbClr val="111827"/>
                    </a:solidFill>
                    <a:latin typeface="Arial"/>
                  </a:rPr>
                  <a:t> has signs </a:t>
                </a:r>
                <a:r>
                  <a:rPr lang="en-IN" sz="2400">
                    <a:solidFill>
                      <a:srgbClr val="111827"/>
                    </a:solidFill>
                    <a:latin typeface="Cambria Math" panose="02040503050406030204" pitchFamily="18" charset="0"/>
                  </a:rPr>
                  <a:t>$-,-,-$</a:t>
                </a:r>
                <a:r>
                  <a:rPr sz="2400" b="0">
                    <a:solidFill>
                      <a:srgbClr val="111827"/>
                    </a:solidFill>
                    <a:latin typeface="Arial"/>
                  </a:rPr>
                  <a:t>, no sign change, so no negative root.</a:t>
                </a:r>
                <a:endParaRPr sz="2400">
                  <a:solidFill>
                    <a:srgbClr val="111827"/>
                  </a:solidFill>
                </a:endParaRPr>
              </a:p>
            </p:txBody>
          </p:sp>
        </mc:Fallback>
      </mc:AlternateContent>
    </p:spTree>
  </p:cSld>
  <p:clrMapOvr>
    <a:masterClrMapping/>
  </p:clrMapOvr>
</p:sld>
</file>

<file path=ppt/slides/slide3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is not a root of the quintic, so it has exactly one real root, positive.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positive root is not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since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distinct real roots: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plus one more, so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$x=0$</a:t>
                </a:r>
                <a:r>
                  <a:rPr sz="2400" b="0">
                    <a:solidFill>
                      <a:srgbClr val="111827"/>
                    </a:solidFill>
                    <a:latin typeface="Arial"/>
                  </a:rPr>
                  <a:t> is not a root of the quintic, so it has exactly one real root, positive.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positive root is not </a:t>
                </a:r>
                <a:r>
                  <a:rPr lang="en-IN" sz="2400">
                    <a:solidFill>
                      <a:srgbClr val="111827"/>
                    </a:solidFill>
                    <a:latin typeface="Cambria Math" panose="02040503050406030204" pitchFamily="18" charset="0"/>
                  </a:rPr>
                  <a:t>$1$</a:t>
                </a:r>
                <a:r>
                  <a:rPr sz="2400" b="0">
                    <a:solidFill>
                      <a:srgbClr val="111827"/>
                    </a:solidFill>
                    <a:latin typeface="Arial"/>
                  </a:rPr>
                  <a:t> since </a:t>
                </a:r>
                <a:r>
                  <a:rPr lang="en-IN" sz="2400">
                    <a:solidFill>
                      <a:srgbClr val="111827"/>
                    </a:solidFill>
                    <a:latin typeface="Cambria Math" panose="02040503050406030204" pitchFamily="18" charset="0"/>
                  </a:rPr>
                  <a:t>$1+3-1=3\neq0$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distinct real roots: </a:t>
                </a:r>
                <a:r>
                  <a:rPr lang="en-IN" sz="2400">
                    <a:solidFill>
                      <a:srgbClr val="111827"/>
                    </a:solidFill>
                    <a:latin typeface="Cambria Math" panose="02040503050406030204" pitchFamily="18" charset="0"/>
                  </a:rPr>
                  <a:t>$\{1,-1\}$</a:t>
                </a:r>
                <a:r>
                  <a:rPr sz="2400" b="0">
                    <a:solidFill>
                      <a:srgbClr val="111827"/>
                    </a:solidFill>
                    <a:latin typeface="Arial"/>
                  </a:rPr>
                  <a:t> plus one more, so </a:t>
                </a:r>
                <a:r>
                  <a:rPr lang="en-IN" sz="2400">
                    <a:solidFill>
                      <a:srgbClr val="111827"/>
                    </a:solidFill>
                    <a:latin typeface="Cambria Math" panose="02040503050406030204" pitchFamily="18" charset="0"/>
                  </a:rPr>
                  <a:t>$3$</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3</a:t>
            </a:r>
            <a:endParaRPr sz="2800">
              <a:solidFill>
                <a:srgbClr val="15803D"/>
              </a:solidFill>
            </a:endParaRPr>
          </a:p>
        </p:txBody>
      </p:sp>
    </p:spTree>
  </p:cSld>
  <p:clrMapOvr>
    <a:masterClrMapping/>
  </p:clrMapOvr>
</p:sld>
</file>

<file path=ppt/slides/slide3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An odd-degree polynomial with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everywhere is strictly increasing and has exactly one real root.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sum of terms with all-positive derivative, such as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𝑥</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is strictly increasing.</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Descartes: the number of positive roots is at most the number of sign changes, and differs from it by an even number.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first whenever coefficients of a polynomial look balanced; a repeated root also kills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An odd-degree polynomial with </a:t>
                </a:r>
                <a:r>
                  <a:rPr lang="en-IN" sz="2400">
                    <a:solidFill>
                      <a:srgbClr val="111827"/>
                    </a:solidFill>
                    <a:latin typeface="Cambria Math" panose="02040503050406030204" pitchFamily="18" charset="0"/>
                  </a:rPr>
                  <a:t>$f'&gt;0$</a:t>
                </a:r>
                <a:r>
                  <a:rPr sz="2400" b="0">
                    <a:solidFill>
                      <a:srgbClr val="111827"/>
                    </a:solidFill>
                    <a:latin typeface="Arial"/>
                  </a:rPr>
                  <a:t> everywhere is strictly increasing and has exactly one real root.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sum of terms with all-positive derivative, such as </a:t>
                </a:r>
                <a:r>
                  <a:rPr lang="en-IN" sz="2400">
                    <a:solidFill>
                      <a:srgbClr val="111827"/>
                    </a:solidFill>
                    <a:latin typeface="Cambria Math" panose="02040503050406030204" pitchFamily="18" charset="0"/>
                  </a:rPr>
                  <a:t>$x^{2k+1}+ax$</a:t>
                </a:r>
                <a:r>
                  <a:rPr sz="2400" b="0">
                    <a:solidFill>
                      <a:srgbClr val="111827"/>
                    </a:solidFill>
                    <a:latin typeface="Arial"/>
                  </a:rPr>
                  <a:t> with </a:t>
                </a:r>
                <a:r>
                  <a:rPr lang="en-IN" sz="2400">
                    <a:solidFill>
                      <a:srgbClr val="111827"/>
                    </a:solidFill>
                    <a:latin typeface="Cambria Math" panose="02040503050406030204" pitchFamily="18" charset="0"/>
                  </a:rPr>
                  <a:t>$a&gt;0$</a:t>
                </a:r>
                <a:r>
                  <a:rPr sz="2400" b="0">
                    <a:solidFill>
                      <a:srgbClr val="111827"/>
                    </a:solidFill>
                    <a:latin typeface="Arial"/>
                  </a:rPr>
                  <a:t>, is strictly increasing.</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Descartes: the number of positive roots is at most the number of sign changes, and differs from it by an even number.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r>
                  <a:rPr lang="en-IN" sz="2400">
                    <a:solidFill>
                      <a:srgbClr val="111827"/>
                    </a:solidFill>
                    <a:latin typeface="Cambria Math" panose="02040503050406030204" pitchFamily="18" charset="0"/>
                  </a:rPr>
                  <a:t>$x=\pm1$</a:t>
                </a:r>
                <a:r>
                  <a:rPr sz="2400" b="0">
                    <a:solidFill>
                      <a:srgbClr val="111827"/>
                    </a:solidFill>
                    <a:latin typeface="Arial"/>
                  </a:rPr>
                  <a:t> first whenever coefficients of a polynomial look balanced; a repeated root also kills </a:t>
                </a:r>
                <a:r>
                  <a:rPr lang="en-IN" sz="2400">
                    <a:solidFill>
                      <a:srgbClr val="111827"/>
                    </a:solidFill>
                    <a:latin typeface="Cambria Math" panose="02040503050406030204" pitchFamily="18" charset="0"/>
                  </a:rPr>
                  <a:t>$f'$</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70916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the function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b>
                      <m:e>
                        <m:r>
                          <m:rPr>
                            <m:sty m:val="p"/>
                          </m:rPr>
                          <a:rPr lang="en-IN" sz="2400">
                            <a:solidFill>
                              <a:srgbClr val="111827"/>
                            </a:solidFill>
                            <a:latin typeface="Cambria Math" panose="02040503050406030204" pitchFamily="18" charset="0"/>
                          </a:rPr>
                          <m:t>log</m:t>
                        </m:r>
                      </m:e>
                      <m:sub>
                        <m:r>
                          <a:rPr lang="en-IN" sz="2400" i="1">
                            <a:solidFill>
                              <a:srgbClr val="111827"/>
                            </a:solidFill>
                            <a:latin typeface="Cambria Math" panose="02040503050406030204" pitchFamily="18" charset="0"/>
                          </a:rPr>
                          <m:t>𝑒</m:t>
                        </m:r>
                      </m:sub>
                    </m:sSub>
                    <m:r>
                      <a:rPr lang="en-IN" sz="2400" i="1">
                        <a:solidFill>
                          <a:srgbClr val="111827"/>
                        </a:solidFill>
                        <a:latin typeface="Cambria Math" panose="02040503050406030204" pitchFamily="18" charset="0"/>
                      </a:rPr>
                      <m:t>𝑥</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be decreasing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increasing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 tangent to the parabola </a:t>
                </a:r>
                <a14:m>
                  <m:oMath xmlns:m="http://schemas.openxmlformats.org/officeDocument/2006/math">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𝑥</m:t>
                    </m:r>
                  </m:oMath>
                </a14:m>
                <a:r>
                  <a:rPr sz="2400" b="0">
                    <a:solidFill>
                      <a:srgbClr val="111827"/>
                    </a:solidFill>
                    <a:latin typeface="Arial"/>
                  </a:rPr>
                  <a:t> at a point </a:t>
                </a: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 on it passes through the point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8</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but does not pass through the point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𝑎</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e>
                    </m:d>
                  </m:oMath>
                </a14:m>
                <a:r>
                  <a:rPr sz="2400" b="0">
                    <a:solidFill>
                      <a:srgbClr val="111827"/>
                    </a:solidFill>
                    <a:latin typeface="Arial"/>
                  </a:rPr>
                  <a:t>. If the equation of the normal at </a:t>
                </a: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α</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β</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oMath>
                </a14:m>
                <a:r>
                  <a:rPr sz="2400" b="0">
                    <a:solidFill>
                      <a:srgbClr val="111827"/>
                    </a:solidFill>
                    <a:latin typeface="Arial"/>
                  </a:rPr>
                  <a:t> is equal to ______.</a:t>
                </a:r>
                <a:endParaRPr sz="2400">
                  <a:solidFill>
                    <a:srgbClr val="111827"/>
                  </a:solidFill>
                </a:endParaRPr>
              </a:p>
            </p:txBody>
          </p:sp>
        </mc:Choice>
        <mc:Fallback>
          <p:sp>
            <p:nvSpPr>
              <p:cNvPr id="4" name="Rounded Rectangle 3"/>
              <p:cNvSpPr/>
              <p:nvPr/>
            </p:nvSpPr>
            <p:spPr>
              <a:xfrm>
                <a:off x="731520" y="1280160"/>
                <a:ext cx="10725912" cy="270916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the function </a:t>
                </a:r>
                <a:r>
                  <a:rPr lang="en-IN" sz="2400">
                    <a:solidFill>
                      <a:srgbClr val="111827"/>
                    </a:solidFill>
                    <a:latin typeface="Cambria Math" panose="02040503050406030204" pitchFamily="18" charset="0"/>
                  </a:rPr>
                  <a:t>$f(x)=2x^2-\log_e x$</a:t>
                </a:r>
                <a:r>
                  <a:rPr sz="2400" b="0">
                    <a:solidFill>
                      <a:srgbClr val="111827"/>
                    </a:solidFill>
                    <a:latin typeface="Arial"/>
                  </a:rPr>
                  <a:t>, </a:t>
                </a:r>
                <a:r>
                  <a:rPr lang="en-IN" sz="2400">
                    <a:solidFill>
                      <a:srgbClr val="111827"/>
                    </a:solidFill>
                    <a:latin typeface="Cambria Math" panose="02040503050406030204" pitchFamily="18" charset="0"/>
                  </a:rPr>
                  <a:t>$x&gt;0$</a:t>
                </a:r>
                <a:r>
                  <a:rPr sz="2400" b="0">
                    <a:solidFill>
                      <a:srgbClr val="111827"/>
                    </a:solidFill>
                    <a:latin typeface="Arial"/>
                  </a:rPr>
                  <a:t>, be decreasing in </a:t>
                </a:r>
                <a:r>
                  <a:rPr lang="en-IN" sz="2400">
                    <a:solidFill>
                      <a:srgbClr val="111827"/>
                    </a:solidFill>
                    <a:latin typeface="Cambria Math" panose="02040503050406030204" pitchFamily="18" charset="0"/>
                  </a:rPr>
                  <a:t>$(0,a)$</a:t>
                </a:r>
                <a:r>
                  <a:rPr sz="2400" b="0">
                    <a:solidFill>
                      <a:srgbClr val="111827"/>
                    </a:solidFill>
                    <a:latin typeface="Arial"/>
                  </a:rPr>
                  <a:t> and increasing in </a:t>
                </a:r>
                <a:r>
                  <a:rPr lang="en-IN" sz="2400">
                    <a:solidFill>
                      <a:srgbClr val="111827"/>
                    </a:solidFill>
                    <a:latin typeface="Cambria Math" panose="02040503050406030204" pitchFamily="18" charset="0"/>
                  </a:rPr>
                  <a:t>$(a,4)$</a:t>
                </a:r>
                <a:r>
                  <a:rPr sz="2400" b="0">
                    <a:solidFill>
                      <a:srgbClr val="111827"/>
                    </a:solidFill>
                    <a:latin typeface="Arial"/>
                  </a:rPr>
                  <a:t>. A tangent to the parabola </a:t>
                </a:r>
                <a:r>
                  <a:rPr lang="en-IN" sz="2400">
                    <a:solidFill>
                      <a:srgbClr val="111827"/>
                    </a:solidFill>
                    <a:latin typeface="Cambria Math" panose="02040503050406030204" pitchFamily="18" charset="0"/>
                  </a:rPr>
                  <a:t>$y^2=4ax$</a:t>
                </a:r>
                <a:r>
                  <a:rPr sz="2400" b="0">
                    <a:solidFill>
                      <a:srgbClr val="111827"/>
                    </a:solidFill>
                    <a:latin typeface="Arial"/>
                  </a:rPr>
                  <a:t> at a point </a:t>
                </a:r>
                <a:r>
                  <a:rPr lang="en-IN" sz="2400">
                    <a:solidFill>
                      <a:srgbClr val="111827"/>
                    </a:solidFill>
                    <a:latin typeface="Cambria Math" panose="02040503050406030204" pitchFamily="18" charset="0"/>
                  </a:rPr>
                  <a:t>$P$</a:t>
                </a:r>
                <a:r>
                  <a:rPr sz="2400" b="0">
                    <a:solidFill>
                      <a:srgbClr val="111827"/>
                    </a:solidFill>
                    <a:latin typeface="Arial"/>
                  </a:rPr>
                  <a:t> on it passes through the point </a:t>
                </a:r>
                <a:r>
                  <a:rPr lang="en-IN" sz="2400">
                    <a:solidFill>
                      <a:srgbClr val="111827"/>
                    </a:solidFill>
                    <a:latin typeface="Cambria Math" panose="02040503050406030204" pitchFamily="18" charset="0"/>
                  </a:rPr>
                  <a:t>$(8a,\,8a-1)$</a:t>
                </a:r>
                <a:r>
                  <a:rPr sz="2400" b="0">
                    <a:solidFill>
                      <a:srgbClr val="111827"/>
                    </a:solidFill>
                    <a:latin typeface="Arial"/>
                  </a:rPr>
                  <a:t> but does not pass through the point </a:t>
                </a:r>
                <a:r>
                  <a:rPr lang="en-IN" sz="2400">
                    <a:solidFill>
                      <a:srgbClr val="111827"/>
                    </a:solidFill>
                    <a:latin typeface="Cambria Math" panose="02040503050406030204" pitchFamily="18" charset="0"/>
                  </a:rPr>
                  <a:t>$\left(-\frac1a,0\right)$</a:t>
                </a:r>
                <a:r>
                  <a:rPr sz="2400" b="0">
                    <a:solidFill>
                      <a:srgbClr val="111827"/>
                    </a:solidFill>
                    <a:latin typeface="Arial"/>
                  </a:rPr>
                  <a:t>. If the equation of the normal at </a:t>
                </a:r>
                <a:r>
                  <a:rPr lang="en-IN" sz="2400">
                    <a:solidFill>
                      <a:srgbClr val="111827"/>
                    </a:solidFill>
                    <a:latin typeface="Cambria Math" panose="02040503050406030204" pitchFamily="18" charset="0"/>
                  </a:rPr>
                  <a:t>$P$</a:t>
                </a:r>
                <a:r>
                  <a:rPr sz="2400" b="0">
                    <a:solidFill>
                      <a:srgbClr val="111827"/>
                    </a:solidFill>
                    <a:latin typeface="Arial"/>
                  </a:rPr>
                  <a:t> is </a:t>
                </a:r>
                <a:r>
                  <a:rPr lang="en-IN" sz="2400">
                    <a:solidFill>
                      <a:srgbClr val="111827"/>
                    </a:solidFill>
                    <a:latin typeface="Cambria Math" panose="02040503050406030204" pitchFamily="18" charset="0"/>
                  </a:rPr>
                  <a:t>$\frac{x}{\alpha}+\frac{y}{\beta}=1$</a:t>
                </a:r>
                <a:r>
                  <a:rPr sz="2400" b="0">
                    <a:solidFill>
                      <a:srgbClr val="111827"/>
                    </a:solidFill>
                    <a:latin typeface="Arial"/>
                  </a:rPr>
                  <a:t>, then </a:t>
                </a:r>
                <a:r>
                  <a:rPr lang="en-IN" sz="2400">
                    <a:solidFill>
                      <a:srgbClr val="111827"/>
                    </a:solidFill>
                    <a:latin typeface="Cambria Math" panose="02040503050406030204" pitchFamily="18" charset="0"/>
                  </a:rPr>
                  <a:t>$\alpha+\beta$</a:t>
                </a:r>
                <a:r>
                  <a:rPr sz="2400" b="0">
                    <a:solidFill>
                      <a:srgbClr val="111827"/>
                    </a:solidFill>
                    <a:latin typeface="Arial"/>
                  </a:rPr>
                  <a:t> is equal to ______.</a:t>
                </a:r>
                <a:endParaRPr sz="2400">
                  <a:solidFill>
                    <a:srgbClr val="111827"/>
                  </a:solidFill>
                </a:endParaRPr>
              </a:p>
            </p:txBody>
          </p:sp>
        </mc:Fallback>
      </mc:AlternateContent>
      <p:sp>
        <p:nvSpPr>
          <p:cNvPr id="5" name="Rectangle 4"/>
          <p:cNvSpPr/>
          <p:nvPr/>
        </p:nvSpPr>
        <p:spPr>
          <a:xfrm>
            <a:off x="731520" y="4217924"/>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Monotonicity of a function, Tangent and normal to a parabola</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3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59105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turning point of </a:t>
                </a:r>
                <a14:m>
                  <m:oMath xmlns:m="http://schemas.openxmlformats.org/officeDocument/2006/math">
                    <m:r>
                      <a:rPr lang="en-IN" sz="2400" i="1">
                        <a:solidFill>
                          <a:srgbClr val="78350F"/>
                        </a:solidFill>
                        <a:latin typeface="Cambria Math" panose="02040503050406030204" pitchFamily="18" charset="0"/>
                      </a:rPr>
                      <m:t>𝑓</m:t>
                    </m:r>
                  </m:oMath>
                </a14:m>
                <a:r>
                  <a:rPr sz="2400" b="0">
                    <a:solidFill>
                      <a:srgbClr val="78350F"/>
                    </a:solidFill>
                    <a:latin typeface="Arial"/>
                  </a:rPr>
                  <a:t> gives </a:t>
                </a:r>
                <a14:m>
                  <m:oMath xmlns:m="http://schemas.openxmlformats.org/officeDocument/2006/math">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2</m:t>
                        </m:r>
                      </m:den>
                    </m:f>
                  </m:oMath>
                </a14:m>
                <a:r>
                  <a:rPr sz="2400" b="0">
                    <a:solidFill>
                      <a:srgbClr val="78350F"/>
                    </a:solidFill>
                    <a:latin typeface="Arial"/>
                  </a:rPr>
                  <a:t>; the tangent condition then leaves two candidate points and the second condition rejects one.</a:t>
                </a:r>
                <a:endParaRPr sz="2400">
                  <a:solidFill>
                    <a:srgbClr val="78350F"/>
                  </a:solidFill>
                </a:endParaRPr>
              </a:p>
            </p:txBody>
          </p:sp>
        </mc:Choice>
        <mc:Fallback>
          <p:sp>
            <p:nvSpPr>
              <p:cNvPr id="4" name="Rounded Rectangle 3"/>
              <p:cNvSpPr/>
              <p:nvPr/>
            </p:nvSpPr>
            <p:spPr>
              <a:xfrm>
                <a:off x="731520" y="1280160"/>
                <a:ext cx="10725912" cy="159105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turning point of </a:t>
                </a:r>
                <a:r>
                  <a:rPr lang="en-IN" sz="2400">
                    <a:solidFill>
                      <a:srgbClr val="78350F"/>
                    </a:solidFill>
                    <a:latin typeface="Cambria Math" panose="02040503050406030204" pitchFamily="18" charset="0"/>
                  </a:rPr>
                  <a:t>$f$</a:t>
                </a:r>
                <a:r>
                  <a:rPr sz="2400" b="0">
                    <a:solidFill>
                      <a:srgbClr val="78350F"/>
                    </a:solidFill>
                    <a:latin typeface="Arial"/>
                  </a:rPr>
                  <a:t> gives </a:t>
                </a:r>
                <a:r>
                  <a:rPr lang="en-IN" sz="2400">
                    <a:solidFill>
                      <a:srgbClr val="78350F"/>
                    </a:solidFill>
                    <a:latin typeface="Cambria Math" panose="02040503050406030204" pitchFamily="18" charset="0"/>
                  </a:rPr>
                  <a:t>$a=\frac12$</a:t>
                </a:r>
                <a:r>
                  <a:rPr sz="2400" b="0">
                    <a:solidFill>
                      <a:srgbClr val="78350F"/>
                    </a:solidFill>
                    <a:latin typeface="Arial"/>
                  </a:rPr>
                  <a:t>; the tangent condition then leaves two candidate points and the second condition rejects one.</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3008375"/>
                <a:ext cx="10725912" cy="366674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𝑥</m:t>
                        </m:r>
                      </m:den>
                    </m:f>
                  </m:oMath>
                </a14:m>
                <a:r>
                  <a:rPr sz="2400" b="0">
                    <a:solidFill>
                      <a:srgbClr val="111827"/>
                    </a:solidFill>
                    <a:latin typeface="Arial"/>
                  </a:rPr>
                  <a:t>, which is negative 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positive 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&gt;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decreases then increases with turning point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hence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and the parabola is </a:t>
                </a:r>
                <a14:m>
                  <m:oMath xmlns:m="http://schemas.openxmlformats.org/officeDocument/2006/math">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point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𝑎</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e>
                    </m:d>
                  </m:oMath>
                </a14:m>
                <a:r>
                  <a:rPr sz="2400" b="0">
                    <a:solidFill>
                      <a:srgbClr val="111827"/>
                    </a:solidFill>
                    <a:latin typeface="Arial"/>
                  </a:rPr>
                  <a:t> is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Tangent at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on </a:t>
                </a:r>
                <a14:m>
                  <m:oMath xmlns:m="http://schemas.openxmlformats.org/officeDocument/2006/math">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𝑦</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with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bSup>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2</m:t>
                            </m:r>
                          </m:sup>
                        </m:sSubSup>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3008375"/>
                <a:ext cx="10725912" cy="366674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$f'(x)=4x-\frac1x=\frac{4x^2-1}{x}$</a:t>
                </a:r>
                <a:r>
                  <a:rPr sz="2400" b="0">
                    <a:solidFill>
                      <a:srgbClr val="111827"/>
                    </a:solidFill>
                    <a:latin typeface="Arial"/>
                  </a:rPr>
                  <a:t>, which is negative on </a:t>
                </a:r>
                <a:r>
                  <a:rPr lang="en-IN" sz="2400">
                    <a:solidFill>
                      <a:srgbClr val="111827"/>
                    </a:solidFill>
                    <a:latin typeface="Cambria Math" panose="02040503050406030204" pitchFamily="18" charset="0"/>
                  </a:rPr>
                  <a:t>$(0,\frac12)$</a:t>
                </a:r>
                <a:r>
                  <a:rPr sz="2400" b="0">
                    <a:solidFill>
                      <a:srgbClr val="111827"/>
                    </a:solidFill>
                    <a:latin typeface="Arial"/>
                  </a:rPr>
                  <a:t> and positive for </a:t>
                </a:r>
                <a:r>
                  <a:rPr lang="en-IN" sz="2400">
                    <a:solidFill>
                      <a:srgbClr val="111827"/>
                    </a:solidFill>
                    <a:latin typeface="Cambria Math" panose="02040503050406030204" pitchFamily="18" charset="0"/>
                  </a:rPr>
                  <a:t>$x&gt;\frac12$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$f$</a:t>
                </a:r>
                <a:r>
                  <a:rPr sz="2400" b="0">
                    <a:solidFill>
                      <a:srgbClr val="111827"/>
                    </a:solidFill>
                    <a:latin typeface="Arial"/>
                  </a:rPr>
                  <a:t> decreases then increases with turning point </a:t>
                </a:r>
                <a:r>
                  <a:rPr lang="en-IN" sz="2400">
                    <a:solidFill>
                      <a:srgbClr val="111827"/>
                    </a:solidFill>
                    <a:latin typeface="Cambria Math" panose="02040503050406030204" pitchFamily="18" charset="0"/>
                  </a:rPr>
                  <a:t>$x=\frac12$</a:t>
                </a:r>
                <a:r>
                  <a:rPr sz="2400" b="0">
                    <a:solidFill>
                      <a:srgbClr val="111827"/>
                    </a:solidFill>
                    <a:latin typeface="Arial"/>
                  </a:rPr>
                  <a:t>, hence </a:t>
                </a:r>
                <a:r>
                  <a:rPr lang="en-IN" sz="2400">
                    <a:solidFill>
                      <a:srgbClr val="111827"/>
                    </a:solidFill>
                    <a:latin typeface="Cambria Math" panose="02040503050406030204" pitchFamily="18" charset="0"/>
                  </a:rPr>
                  <a:t>$a=\frac12$</a:t>
                </a:r>
                <a:r>
                  <a:rPr sz="2400" b="0">
                    <a:solidFill>
                      <a:srgbClr val="111827"/>
                    </a:solidFill>
                    <a:latin typeface="Arial"/>
                  </a:rPr>
                  <a:t> and the parabola is </a:t>
                </a:r>
                <a:r>
                  <a:rPr lang="en-IN" sz="2400">
                    <a:solidFill>
                      <a:srgbClr val="111827"/>
                    </a:solidFill>
                    <a:latin typeface="Cambria Math" panose="02040503050406030204" pitchFamily="18" charset="0"/>
                  </a:rPr>
                  <a:t>$y^2=2x$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point </a:t>
                </a:r>
                <a:r>
                  <a:rPr lang="en-IN" sz="2400">
                    <a:solidFill>
                      <a:srgbClr val="111827"/>
                    </a:solidFill>
                    <a:latin typeface="Cambria Math" panose="02040503050406030204" pitchFamily="18" charset="0"/>
                  </a:rPr>
                  <a:t>$(8a,8a-1)$</a:t>
                </a:r>
                <a:r>
                  <a:rPr sz="2400" b="0">
                    <a:solidFill>
                      <a:srgbClr val="111827"/>
                    </a:solidFill>
                    <a:latin typeface="Arial"/>
                  </a:rPr>
                  <a:t> is </a:t>
                </a:r>
                <a:r>
                  <a:rPr lang="en-IN" sz="2400">
                    <a:solidFill>
                      <a:srgbClr val="111827"/>
                    </a:solidFill>
                    <a:latin typeface="Cambria Math" panose="02040503050406030204" pitchFamily="18" charset="0"/>
                  </a:rPr>
                  <a:t>$(4,3)$</a:t>
                </a:r>
                <a:r>
                  <a:rPr sz="2400" b="0">
                    <a:solidFill>
                      <a:srgbClr val="111827"/>
                    </a:solidFill>
                    <a:latin typeface="Arial"/>
                  </a:rPr>
                  <a:t> and </a:t>
                </a:r>
                <a:r>
                  <a:rPr lang="en-IN" sz="2400">
                    <a:solidFill>
                      <a:srgbClr val="111827"/>
                    </a:solidFill>
                    <a:latin typeface="Cambria Math" panose="02040503050406030204" pitchFamily="18" charset="0"/>
                  </a:rPr>
                  <a:t>$\left(-\frac1a,0\right)$</a:t>
                </a:r>
                <a:r>
                  <a:rPr sz="2400" b="0">
                    <a:solidFill>
                      <a:srgbClr val="111827"/>
                    </a:solidFill>
                    <a:latin typeface="Arial"/>
                  </a:rPr>
                  <a:t> is </a:t>
                </a:r>
                <a:r>
                  <a:rPr lang="en-IN" sz="2400">
                    <a:solidFill>
                      <a:srgbClr val="111827"/>
                    </a:solidFill>
                    <a:latin typeface="Cambria Math" panose="02040503050406030204" pitchFamily="18" charset="0"/>
                  </a:rPr>
                  <a:t>$(-2,0)$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Tangent at </a:t>
                </a:r>
                <a:r>
                  <a:rPr lang="en-IN" sz="2400">
                    <a:solidFill>
                      <a:srgbClr val="111827"/>
                    </a:solidFill>
                    <a:latin typeface="Cambria Math" panose="02040503050406030204" pitchFamily="18" charset="0"/>
                  </a:rPr>
                  <a:t>$P(x_1,y_1)$</a:t>
                </a:r>
                <a:r>
                  <a:rPr sz="2400" b="0">
                    <a:solidFill>
                      <a:srgbClr val="111827"/>
                    </a:solidFill>
                    <a:latin typeface="Arial"/>
                  </a:rPr>
                  <a:t> on </a:t>
                </a:r>
                <a:r>
                  <a:rPr lang="en-IN" sz="2400">
                    <a:solidFill>
                      <a:srgbClr val="111827"/>
                    </a:solidFill>
                    <a:latin typeface="Cambria Math" panose="02040503050406030204" pitchFamily="18" charset="0"/>
                  </a:rPr>
                  <a:t>$y^2=2x$</a:t>
                </a:r>
                <a:r>
                  <a:rPr sz="2400" b="0">
                    <a:solidFill>
                      <a:srgbClr val="111827"/>
                    </a:solidFill>
                    <a:latin typeface="Arial"/>
                  </a:rPr>
                  <a:t>: </a:t>
                </a:r>
                <a:r>
                  <a:rPr lang="en-IN" sz="2400">
                    <a:solidFill>
                      <a:srgbClr val="111827"/>
                    </a:solidFill>
                    <a:latin typeface="Cambria Math" panose="02040503050406030204" pitchFamily="18" charset="0"/>
                  </a:rPr>
                  <a:t>$yy_1=x+x_1$</a:t>
                </a:r>
                <a:r>
                  <a:rPr sz="2400" b="0">
                    <a:solidFill>
                      <a:srgbClr val="111827"/>
                    </a:solidFill>
                    <a:latin typeface="Arial"/>
                  </a:rPr>
                  <a:t> with </a:t>
                </a:r>
                <a:r>
                  <a:rPr lang="en-IN" sz="2400">
                    <a:solidFill>
                      <a:srgbClr val="111827"/>
                    </a:solidFill>
                    <a:latin typeface="Cambria Math" panose="02040503050406030204" pitchFamily="18" charset="0"/>
                  </a:rPr>
                  <a:t>$x_1=\frac{y_1^2}{2}$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Through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3</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bSup>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2</m:t>
                            </m:r>
                          </m:sup>
                        </m:sSubSup>
                      </m:num>
                      <m:den>
                        <m:r>
                          <a:rPr lang="en-IN" sz="2400" i="1">
                            <a:solidFill>
                              <a:srgbClr val="111827"/>
                            </a:solidFill>
                            <a:latin typeface="Cambria Math" panose="02040503050406030204" pitchFamily="18" charset="0"/>
                          </a:rPr>
                          <m:t>2</m:t>
                        </m:r>
                      </m:den>
                    </m:f>
                  </m:oMath>
                </a14:m>
                <a:r>
                  <a:rPr sz="2400" b="0">
                    <a:solidFill>
                      <a:srgbClr val="111827"/>
                    </a:solidFill>
                    <a:latin typeface="Arial"/>
                  </a:rPr>
                  <a:t>, i.e. </a:t>
                </a:r>
                <a14:m>
                  <m:oMath xmlns:m="http://schemas.openxmlformats.org/officeDocument/2006/math">
                    <m:sSubSup>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14:m>
                  <m:oMath xmlns:m="http://schemas.openxmlformats.org/officeDocument/2006/math">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the tangent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passes through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which is not allowed, so reject it.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14:m>
                  <m:oMath xmlns:m="http://schemas.openxmlformats.org/officeDocument/2006/math">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the tangent </a:t>
                </a:r>
                <a14:m>
                  <m:oMath xmlns:m="http://schemas.openxmlformats.org/officeDocument/2006/math">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at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so it does not pass; accept.</a:t>
                </a:r>
                <a:endParaRPr sz="2400">
                  <a:solidFill>
                    <a:srgbClr val="111827"/>
                  </a:solidFill>
                </a:endParaRPr>
              </a:p>
            </p:txBody>
          </p:sp>
        </mc:Choice>
        <mc:Fallback>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Through </a:t>
                </a:r>
                <a:r>
                  <a:rPr lang="en-IN" sz="2400">
                    <a:solidFill>
                      <a:srgbClr val="111827"/>
                    </a:solidFill>
                    <a:latin typeface="Cambria Math" panose="02040503050406030204" pitchFamily="18" charset="0"/>
                  </a:rPr>
                  <a:t>$(4,3)$</a:t>
                </a:r>
                <a:r>
                  <a:rPr sz="2400" b="0">
                    <a:solidFill>
                      <a:srgbClr val="111827"/>
                    </a:solidFill>
                    <a:latin typeface="Arial"/>
                  </a:rPr>
                  <a:t>: </a:t>
                </a:r>
                <a:r>
                  <a:rPr lang="en-IN" sz="2400">
                    <a:solidFill>
                      <a:srgbClr val="111827"/>
                    </a:solidFill>
                    <a:latin typeface="Cambria Math" panose="02040503050406030204" pitchFamily="18" charset="0"/>
                  </a:rPr>
                  <a:t>$3y_1=4+\frac{y_1^2}{2}$</a:t>
                </a:r>
                <a:r>
                  <a:rPr sz="2400" b="0">
                    <a:solidFill>
                      <a:srgbClr val="111827"/>
                    </a:solidFill>
                    <a:latin typeface="Arial"/>
                  </a:rPr>
                  <a:t>, i.e. </a:t>
                </a:r>
                <a:r>
                  <a:rPr lang="en-IN" sz="2400">
                    <a:solidFill>
                      <a:srgbClr val="111827"/>
                    </a:solidFill>
                    <a:latin typeface="Cambria Math" panose="02040503050406030204" pitchFamily="18" charset="0"/>
                  </a:rPr>
                  <a:t>$y_1^2-6y_1+8=0$</a:t>
                </a:r>
                <a:r>
                  <a:rPr sz="2400" b="0">
                    <a:solidFill>
                      <a:srgbClr val="111827"/>
                    </a:solidFill>
                    <a:latin typeface="Arial"/>
                  </a:rPr>
                  <a:t>, so </a:t>
                </a:r>
                <a:r>
                  <a:rPr lang="en-IN" sz="2400">
                    <a:solidFill>
                      <a:srgbClr val="111827"/>
                    </a:solidFill>
                    <a:latin typeface="Cambria Math" panose="02040503050406030204" pitchFamily="18" charset="0"/>
                  </a:rPr>
                  <a:t>$y_1=2$</a:t>
                </a:r>
                <a:r>
                  <a:rPr sz="2400" b="0">
                    <a:solidFill>
                      <a:srgbClr val="111827"/>
                    </a:solidFill>
                    <a:latin typeface="Arial"/>
                  </a:rPr>
                  <a:t> or </a:t>
                </a:r>
                <a:r>
                  <a:rPr lang="en-IN" sz="2400">
                    <a:solidFill>
                      <a:srgbClr val="111827"/>
                    </a:solidFill>
                    <a:latin typeface="Cambria Math" panose="02040503050406030204" pitchFamily="18" charset="0"/>
                  </a:rPr>
                  <a:t>$4$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$y_1=2$</a:t>
                </a:r>
                <a:r>
                  <a:rPr sz="2400" b="0">
                    <a:solidFill>
                      <a:srgbClr val="111827"/>
                    </a:solidFill>
                    <a:latin typeface="Arial"/>
                  </a:rPr>
                  <a:t> then </a:t>
                </a:r>
                <a:r>
                  <a:rPr lang="en-IN" sz="2400">
                    <a:solidFill>
                      <a:srgbClr val="111827"/>
                    </a:solidFill>
                    <a:latin typeface="Cambria Math" panose="02040503050406030204" pitchFamily="18" charset="0"/>
                  </a:rPr>
                  <a:t>$P=(2,2)$</a:t>
                </a:r>
                <a:r>
                  <a:rPr sz="2400" b="0">
                    <a:solidFill>
                      <a:srgbClr val="111827"/>
                    </a:solidFill>
                    <a:latin typeface="Arial"/>
                  </a:rPr>
                  <a:t> and the tangent </a:t>
                </a:r>
                <a:r>
                  <a:rPr lang="en-IN" sz="2400">
                    <a:solidFill>
                      <a:srgbClr val="111827"/>
                    </a:solidFill>
                    <a:latin typeface="Cambria Math" panose="02040503050406030204" pitchFamily="18" charset="0"/>
                  </a:rPr>
                  <a:t>$2y=x+2$</a:t>
                </a:r>
                <a:r>
                  <a:rPr sz="2400" b="0">
                    <a:solidFill>
                      <a:srgbClr val="111827"/>
                    </a:solidFill>
                    <a:latin typeface="Arial"/>
                  </a:rPr>
                  <a:t> passes through </a:t>
                </a:r>
                <a:r>
                  <a:rPr lang="en-IN" sz="2400">
                    <a:solidFill>
                      <a:srgbClr val="111827"/>
                    </a:solidFill>
                    <a:latin typeface="Cambria Math" panose="02040503050406030204" pitchFamily="18" charset="0"/>
                  </a:rPr>
                  <a:t>$(-2,0)$</a:t>
                </a:r>
                <a:r>
                  <a:rPr sz="2400" b="0">
                    <a:solidFill>
                      <a:srgbClr val="111827"/>
                    </a:solidFill>
                    <a:latin typeface="Arial"/>
                  </a:rPr>
                  <a:t>, which is not allowed, so reject it.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$y_1=4$</a:t>
                </a:r>
                <a:r>
                  <a:rPr sz="2400" b="0">
                    <a:solidFill>
                      <a:srgbClr val="111827"/>
                    </a:solidFill>
                    <a:latin typeface="Arial"/>
                  </a:rPr>
                  <a:t> then </a:t>
                </a:r>
                <a:r>
                  <a:rPr lang="en-IN" sz="2400">
                    <a:solidFill>
                      <a:srgbClr val="111827"/>
                    </a:solidFill>
                    <a:latin typeface="Cambria Math" panose="02040503050406030204" pitchFamily="18" charset="0"/>
                  </a:rPr>
                  <a:t>$P=(8,4)$</a:t>
                </a:r>
                <a:r>
                  <a:rPr sz="2400" b="0">
                    <a:solidFill>
                      <a:srgbClr val="111827"/>
                    </a:solidFill>
                    <a:latin typeface="Arial"/>
                  </a:rPr>
                  <a:t> and the tangent </a:t>
                </a:r>
                <a:r>
                  <a:rPr lang="en-IN" sz="2400">
                    <a:solidFill>
                      <a:srgbClr val="111827"/>
                    </a:solidFill>
                    <a:latin typeface="Cambria Math" panose="02040503050406030204" pitchFamily="18" charset="0"/>
                  </a:rPr>
                  <a:t>$4y=x+8$</a:t>
                </a:r>
                <a:r>
                  <a:rPr sz="2400" b="0">
                    <a:solidFill>
                      <a:srgbClr val="111827"/>
                    </a:solidFill>
                    <a:latin typeface="Arial"/>
                  </a:rPr>
                  <a:t> at </a:t>
                </a:r>
                <a:r>
                  <a:rPr lang="en-IN" sz="2400">
                    <a:solidFill>
                      <a:srgbClr val="111827"/>
                    </a:solidFill>
                    <a:latin typeface="Cambria Math" panose="02040503050406030204" pitchFamily="18" charset="0"/>
                  </a:rPr>
                  <a:t>$(-2,0)$</a:t>
                </a:r>
                <a:r>
                  <a:rPr sz="2400" b="0">
                    <a:solidFill>
                      <a:srgbClr val="111827"/>
                    </a:solidFill>
                    <a:latin typeface="Arial"/>
                  </a:rPr>
                  <a:t> gives </a:t>
                </a:r>
                <a:r>
                  <a:rPr lang="en-IN" sz="2400">
                    <a:solidFill>
                      <a:srgbClr val="111827"/>
                    </a:solidFill>
                    <a:latin typeface="Cambria Math" panose="02040503050406030204" pitchFamily="18" charset="0"/>
                  </a:rPr>
                  <a:t>$0\neq6$</a:t>
                </a:r>
                <a:r>
                  <a:rPr sz="2400" b="0">
                    <a:solidFill>
                      <a:srgbClr val="111827"/>
                    </a:solidFill>
                    <a:latin typeface="Arial"/>
                  </a:rPr>
                  <a:t>, so it does not pass; accept.</a:t>
                </a:r>
                <a:endParaRPr sz="2400">
                  <a:solidFill>
                    <a:srgbClr val="111827"/>
                  </a:solidFill>
                </a:endParaRPr>
              </a:p>
            </p:txBody>
          </p:sp>
        </mc:Fallback>
      </mc:AlternateContent>
    </p:spTree>
  </p:cSld>
  <p:clrMapOvr>
    <a:masterClrMapping/>
  </p:clrMapOvr>
</p:sld>
</file>

<file path=ppt/slides/slide3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Slope of tangent at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1</m:t>
                            </m:r>
                          </m:sub>
                        </m:sSub>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so the normal slope is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Normal: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oMath>
                </a14:m>
                <a:r>
                  <a:rPr sz="2400" b="0">
                    <a:solidFill>
                      <a:srgbClr val="111827"/>
                    </a:solidFill>
                    <a:latin typeface="Arial"/>
                  </a:rPr>
                  <a:t>, i.e.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9</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36</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45</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Slope of tangent at </a:t>
                </a:r>
                <a:r>
                  <a:rPr lang="en-IN" sz="2400">
                    <a:solidFill>
                      <a:srgbClr val="111827"/>
                    </a:solidFill>
                    <a:latin typeface="Cambria Math" panose="02040503050406030204" pitchFamily="18" charset="0"/>
                  </a:rPr>
                  <a:t>$P(8,4)$</a:t>
                </a:r>
                <a:r>
                  <a:rPr sz="2400" b="0">
                    <a:solidFill>
                      <a:srgbClr val="111827"/>
                    </a:solidFill>
                    <a:latin typeface="Arial"/>
                  </a:rPr>
                  <a:t> is </a:t>
                </a:r>
                <a:r>
                  <a:rPr lang="en-IN" sz="2400">
                    <a:solidFill>
                      <a:srgbClr val="111827"/>
                    </a:solidFill>
                    <a:latin typeface="Cambria Math" panose="02040503050406030204" pitchFamily="18" charset="0"/>
                  </a:rPr>
                  <a:t>$\frac{1}{y_1}=\frac14$</a:t>
                </a:r>
                <a:r>
                  <a:rPr sz="2400" b="0">
                    <a:solidFill>
                      <a:srgbClr val="111827"/>
                    </a:solidFill>
                    <a:latin typeface="Arial"/>
                  </a:rPr>
                  <a:t>, so the normal slope is </a:t>
                </a:r>
                <a:r>
                  <a:rPr lang="en-IN" sz="2400">
                    <a:solidFill>
                      <a:srgbClr val="111827"/>
                    </a:solidFill>
                    <a:latin typeface="Cambria Math" panose="02040503050406030204" pitchFamily="18" charset="0"/>
                  </a:rPr>
                  <a:t>$-4$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Normal: </a:t>
                </a:r>
                <a:r>
                  <a:rPr lang="en-IN" sz="2400">
                    <a:solidFill>
                      <a:srgbClr val="111827"/>
                    </a:solidFill>
                    <a:latin typeface="Cambria Math" panose="02040503050406030204" pitchFamily="18" charset="0"/>
                  </a:rPr>
                  <a:t>$y-4=-4(x-8)$</a:t>
                </a:r>
                <a:r>
                  <a:rPr sz="2400" b="0">
                    <a:solidFill>
                      <a:srgbClr val="111827"/>
                    </a:solidFill>
                    <a:latin typeface="Arial"/>
                  </a:rPr>
                  <a:t>, i.e. </a:t>
                </a:r>
                <a:r>
                  <a:rPr lang="en-IN" sz="2400">
                    <a:solidFill>
                      <a:srgbClr val="111827"/>
                    </a:solidFill>
                    <a:latin typeface="Cambria Math" panose="02040503050406030204" pitchFamily="18" charset="0"/>
                  </a:rPr>
                  <a:t>$4x+y=36$</a:t>
                </a:r>
                <a:r>
                  <a:rPr sz="2400" b="0">
                    <a:solidFill>
                      <a:srgbClr val="111827"/>
                    </a:solidFill>
                    <a:latin typeface="Arial"/>
                  </a:rPr>
                  <a:t>, i.e. </a:t>
                </a:r>
                <a:r>
                  <a:rPr lang="en-IN" sz="2400">
                    <a:solidFill>
                      <a:srgbClr val="111827"/>
                    </a:solidFill>
                    <a:latin typeface="Cambria Math" panose="02040503050406030204" pitchFamily="18" charset="0"/>
                  </a:rPr>
                  <a:t>$\frac{x}{9}+\frac{y}{36}=1$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$\alpha=9$</a:t>
                </a:r>
                <a:r>
                  <a:rPr sz="2400" b="0">
                    <a:solidFill>
                      <a:srgbClr val="111827"/>
                    </a:solidFill>
                    <a:latin typeface="Arial"/>
                  </a:rPr>
                  <a:t>, </a:t>
                </a:r>
                <a:r>
                  <a:rPr lang="en-IN" sz="2400">
                    <a:solidFill>
                      <a:srgbClr val="111827"/>
                    </a:solidFill>
                    <a:latin typeface="Cambria Math" panose="02040503050406030204" pitchFamily="18" charset="0"/>
                  </a:rPr>
                  <a:t>$\beta=36$</a:t>
                </a:r>
                <a:r>
                  <a:rPr sz="2400" b="0">
                    <a:solidFill>
                      <a:srgbClr val="111827"/>
                    </a:solidFill>
                    <a:latin typeface="Arial"/>
                  </a:rPr>
                  <a:t> and </a:t>
                </a:r>
                <a:r>
                  <a:rPr lang="en-IN" sz="2400">
                    <a:solidFill>
                      <a:srgbClr val="111827"/>
                    </a:solidFill>
                    <a:latin typeface="Cambria Math" panose="02040503050406030204" pitchFamily="18" charset="0"/>
                  </a:rPr>
                  <a:t>$\alpha+\beta=45$</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45</a:t>
            </a:r>
            <a:endParaRPr sz="2800">
              <a:solidFill>
                <a:srgbClr val="15803D"/>
              </a:solidFill>
            </a:endParaRPr>
          </a:p>
        </p:txBody>
      </p:sp>
    </p:spTree>
  </p:cSld>
  <p:clrMapOvr>
    <a:masterClrMapping/>
  </p:clrMapOvr>
</p:sld>
</file>

<file path=ppt/slides/slide3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the slope form of a tangent, </a:t>
                </a:r>
                <a14:m>
                  <m:oMath xmlns:m="http://schemas.openxmlformats.org/officeDocument/2006/math">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𝑚</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𝑎</m:t>
                        </m:r>
                      </m:num>
                      <m:den>
                        <m:r>
                          <a:rPr lang="en-IN" sz="2400" i="1">
                            <a:solidFill>
                              <a:srgbClr val="78350F"/>
                            </a:solidFill>
                            <a:latin typeface="Cambria Math" panose="02040503050406030204" pitchFamily="18" charset="0"/>
                          </a:rPr>
                          <m:t>𝑚</m:t>
                        </m:r>
                      </m:den>
                    </m:f>
                  </m:oMath>
                </a14:m>
                <a:r>
                  <a:rPr sz="2400" b="0">
                    <a:solidFill>
                      <a:srgbClr val="78350F"/>
                    </a:solidFill>
                    <a:latin typeface="Arial"/>
                  </a:rPr>
                  <a:t>, instead of the point form.</a:t>
                </a:r>
                <a:endParaRPr sz="2400">
                  <a:solidFill>
                    <a:srgbClr val="78350F"/>
                  </a:solidFill>
                </a:endParaRPr>
              </a:p>
            </p:txBody>
          </p:sp>
        </mc:Choice>
        <mc:Fallback>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the slope form of a tangent, </a:t>
                </a:r>
                <a:r>
                  <a:rPr lang="en-IN" sz="2400">
                    <a:solidFill>
                      <a:srgbClr val="78350F"/>
                    </a:solidFill>
                    <a:latin typeface="Cambria Math" panose="02040503050406030204" pitchFamily="18" charset="0"/>
                  </a:rPr>
                  <a:t>$y=mx+\frac{a}{m}$</a:t>
                </a:r>
                <a:r>
                  <a:rPr sz="2400" b="0">
                    <a:solidFill>
                      <a:srgbClr val="78350F"/>
                    </a:solidFill>
                    <a:latin typeface="Arial"/>
                  </a:rPr>
                  <a:t>, instead of the point form.</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With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the parabola is </a:t>
                </a:r>
                <a14:m>
                  <m:oMath xmlns:m="http://schemas.openxmlformats.org/officeDocument/2006/math">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oMath>
                </a14:m>
                <a:r>
                  <a:rPr sz="2400" b="0">
                    <a:solidFill>
                      <a:srgbClr val="111827"/>
                    </a:solidFill>
                    <a:latin typeface="Arial"/>
                  </a:rPr>
                  <a:t> and a tangent of slope </a:t>
                </a:r>
                <a14:m>
                  <m:oMath xmlns:m="http://schemas.openxmlformats.org/officeDocument/2006/math">
                    <m:r>
                      <a:rPr lang="en-IN" sz="2400" i="1">
                        <a:solidFill>
                          <a:srgbClr val="111827"/>
                        </a:solidFill>
                        <a:latin typeface="Cambria Math" panose="02040503050406030204" pitchFamily="18" charset="0"/>
                      </a:rPr>
                      <m:t>𝑚</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𝑚</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Passing through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𝑚</m:t>
                        </m:r>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8</m:t>
                    </m:r>
                    <m:sSup>
                      <m:e>
                        <m:r>
                          <a:rPr lang="en-IN" sz="2400" i="1">
                            <a:solidFill>
                              <a:srgbClr val="111827"/>
                            </a:solidFill>
                            <a:latin typeface="Cambria Math" panose="02040503050406030204" pitchFamily="18" charset="0"/>
                          </a:rPr>
                          <m:t>𝑚</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or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Contact point is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𝑚</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𝑚</m:t>
                            </m:r>
                          </m:den>
                        </m:f>
                      </m:e>
                    </m:d>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gives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gives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With </a:t>
                </a:r>
                <a:r>
                  <a:rPr lang="en-IN" sz="2400">
                    <a:solidFill>
                      <a:srgbClr val="111827"/>
                    </a:solidFill>
                    <a:latin typeface="Cambria Math" panose="02040503050406030204" pitchFamily="18" charset="0"/>
                  </a:rPr>
                  <a:t>$a=\frac12$</a:t>
                </a:r>
                <a:r>
                  <a:rPr sz="2400" b="0">
                    <a:solidFill>
                      <a:srgbClr val="111827"/>
                    </a:solidFill>
                    <a:latin typeface="Arial"/>
                  </a:rPr>
                  <a:t> the parabola is </a:t>
                </a:r>
                <a:r>
                  <a:rPr lang="en-IN" sz="2400">
                    <a:solidFill>
                      <a:srgbClr val="111827"/>
                    </a:solidFill>
                    <a:latin typeface="Cambria Math" panose="02040503050406030204" pitchFamily="18" charset="0"/>
                  </a:rPr>
                  <a:t>$y^2=2x$</a:t>
                </a:r>
                <a:r>
                  <a:rPr sz="2400" b="0">
                    <a:solidFill>
                      <a:srgbClr val="111827"/>
                    </a:solidFill>
                    <a:latin typeface="Arial"/>
                  </a:rPr>
                  <a:t> and a tangent of slope </a:t>
                </a:r>
                <a:r>
                  <a:rPr lang="en-IN" sz="2400">
                    <a:solidFill>
                      <a:srgbClr val="111827"/>
                    </a:solidFill>
                    <a:latin typeface="Cambria Math" panose="02040503050406030204" pitchFamily="18" charset="0"/>
                  </a:rPr>
                  <a:t>$m$</a:t>
                </a:r>
                <a:r>
                  <a:rPr sz="2400" b="0">
                    <a:solidFill>
                      <a:srgbClr val="111827"/>
                    </a:solidFill>
                    <a:latin typeface="Arial"/>
                  </a:rPr>
                  <a:t> is </a:t>
                </a:r>
                <a:r>
                  <a:rPr lang="en-IN" sz="2400">
                    <a:solidFill>
                      <a:srgbClr val="111827"/>
                    </a:solidFill>
                    <a:latin typeface="Cambria Math" panose="02040503050406030204" pitchFamily="18" charset="0"/>
                  </a:rPr>
                  <a:t>$y=mx+\frac{1}{2m}$</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Passing through </a:t>
                </a:r>
                <a:r>
                  <a:rPr lang="en-IN" sz="2400">
                    <a:solidFill>
                      <a:srgbClr val="111827"/>
                    </a:solidFill>
                    <a:latin typeface="Cambria Math" panose="02040503050406030204" pitchFamily="18" charset="0"/>
                  </a:rPr>
                  <a:t>$(4,3)$</a:t>
                </a:r>
                <a:r>
                  <a:rPr sz="2400" b="0">
                    <a:solidFill>
                      <a:srgbClr val="111827"/>
                    </a:solidFill>
                    <a:latin typeface="Arial"/>
                  </a:rPr>
                  <a:t>: </a:t>
                </a:r>
                <a:r>
                  <a:rPr lang="en-IN" sz="2400">
                    <a:solidFill>
                      <a:srgbClr val="111827"/>
                    </a:solidFill>
                    <a:latin typeface="Cambria Math" panose="02040503050406030204" pitchFamily="18" charset="0"/>
                  </a:rPr>
                  <a:t>$3=4m+\frac{1}{2m}$</a:t>
                </a:r>
                <a:r>
                  <a:rPr sz="2400" b="0">
                    <a:solidFill>
                      <a:srgbClr val="111827"/>
                    </a:solidFill>
                    <a:latin typeface="Arial"/>
                  </a:rPr>
                  <a:t>, so </a:t>
                </a:r>
                <a:r>
                  <a:rPr lang="en-IN" sz="2400">
                    <a:solidFill>
                      <a:srgbClr val="111827"/>
                    </a:solidFill>
                    <a:latin typeface="Cambria Math" panose="02040503050406030204" pitchFamily="18" charset="0"/>
                  </a:rPr>
                  <a:t>$8m^2-6m+1=0$</a:t>
                </a:r>
                <a:r>
                  <a:rPr sz="2400" b="0">
                    <a:solidFill>
                      <a:srgbClr val="111827"/>
                    </a:solidFill>
                    <a:latin typeface="Arial"/>
                  </a:rPr>
                  <a:t> and </a:t>
                </a:r>
                <a:r>
                  <a:rPr lang="en-IN" sz="2400">
                    <a:solidFill>
                      <a:srgbClr val="111827"/>
                    </a:solidFill>
                    <a:latin typeface="Cambria Math" panose="02040503050406030204" pitchFamily="18" charset="0"/>
                  </a:rPr>
                  <a:t>$m=\frac12$</a:t>
                </a:r>
                <a:r>
                  <a:rPr sz="2400" b="0">
                    <a:solidFill>
                      <a:srgbClr val="111827"/>
                    </a:solidFill>
                    <a:latin typeface="Arial"/>
                  </a:rPr>
                  <a:t> or </a:t>
                </a:r>
                <a:r>
                  <a:rPr lang="en-IN" sz="2400">
                    <a:solidFill>
                      <a:srgbClr val="111827"/>
                    </a:solidFill>
                    <a:latin typeface="Cambria Math" panose="02040503050406030204" pitchFamily="18" charset="0"/>
                  </a:rPr>
                  <a:t>$\frac14$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Contact point is </a:t>
                </a:r>
                <a:r>
                  <a:rPr lang="en-IN" sz="2400">
                    <a:solidFill>
                      <a:srgbClr val="111827"/>
                    </a:solidFill>
                    <a:latin typeface="Cambria Math" panose="02040503050406030204" pitchFamily="18" charset="0"/>
                  </a:rPr>
                  <a:t>$\left(\frac{1}{2m^2},\frac1m\right)$</a:t>
                </a:r>
                <a:r>
                  <a:rPr sz="2400" b="0">
                    <a:solidFill>
                      <a:srgbClr val="111827"/>
                    </a:solidFill>
                    <a:latin typeface="Arial"/>
                  </a:rPr>
                  <a:t>: </a:t>
                </a:r>
                <a:r>
                  <a:rPr lang="en-IN" sz="2400">
                    <a:solidFill>
                      <a:srgbClr val="111827"/>
                    </a:solidFill>
                    <a:latin typeface="Cambria Math" panose="02040503050406030204" pitchFamily="18" charset="0"/>
                  </a:rPr>
                  <a:t>$m=\frac12$</a:t>
                </a:r>
                <a:r>
                  <a:rPr sz="2400" b="0">
                    <a:solidFill>
                      <a:srgbClr val="111827"/>
                    </a:solidFill>
                    <a:latin typeface="Arial"/>
                  </a:rPr>
                  <a:t> gives </a:t>
                </a:r>
                <a:r>
                  <a:rPr lang="en-IN" sz="2400">
                    <a:solidFill>
                      <a:srgbClr val="111827"/>
                    </a:solidFill>
                    <a:latin typeface="Cambria Math" panose="02040503050406030204" pitchFamily="18" charset="0"/>
                  </a:rPr>
                  <a:t>$(2,2)$</a:t>
                </a:r>
                <a:r>
                  <a:rPr sz="2400" b="0">
                    <a:solidFill>
                      <a:srgbClr val="111827"/>
                    </a:solidFill>
                    <a:latin typeface="Arial"/>
                  </a:rPr>
                  <a:t>, </a:t>
                </a:r>
                <a:r>
                  <a:rPr lang="en-IN" sz="2400">
                    <a:solidFill>
                      <a:srgbClr val="111827"/>
                    </a:solidFill>
                    <a:latin typeface="Cambria Math" panose="02040503050406030204" pitchFamily="18" charset="0"/>
                  </a:rPr>
                  <a:t>$m=\frac14$</a:t>
                </a:r>
                <a:r>
                  <a:rPr sz="2400" b="0">
                    <a:solidFill>
                      <a:srgbClr val="111827"/>
                    </a:solidFill>
                    <a:latin typeface="Arial"/>
                  </a:rPr>
                  <a:t> gives </a:t>
                </a:r>
                <a:r>
                  <a:rPr lang="en-IN" sz="2400">
                    <a:solidFill>
                      <a:srgbClr val="111827"/>
                    </a:solidFill>
                    <a:latin typeface="Cambria Math" panose="02040503050406030204" pitchFamily="18" charset="0"/>
                  </a:rPr>
                  <a:t>$(8,4)$</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line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it passes through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reject.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line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gives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accept, so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Normal slope is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𝑚</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9</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36</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45</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$m=\frac12$</a:t>
                </a:r>
                <a:r>
                  <a:rPr sz="2400" b="0">
                    <a:solidFill>
                      <a:srgbClr val="111827"/>
                    </a:solidFill>
                    <a:latin typeface="Arial"/>
                  </a:rPr>
                  <a:t>: line </a:t>
                </a:r>
                <a:r>
                  <a:rPr lang="en-IN" sz="2400">
                    <a:solidFill>
                      <a:srgbClr val="111827"/>
                    </a:solidFill>
                    <a:latin typeface="Cambria Math" panose="02040503050406030204" pitchFamily="18" charset="0"/>
                  </a:rPr>
                  <a:t>$y=\frac x2+1$</a:t>
                </a:r>
                <a:r>
                  <a:rPr sz="2400" b="0">
                    <a:solidFill>
                      <a:srgbClr val="111827"/>
                    </a:solidFill>
                    <a:latin typeface="Arial"/>
                  </a:rPr>
                  <a:t> at </a:t>
                </a:r>
                <a:r>
                  <a:rPr lang="en-IN" sz="2400">
                    <a:solidFill>
                      <a:srgbClr val="111827"/>
                    </a:solidFill>
                    <a:latin typeface="Cambria Math" panose="02040503050406030204" pitchFamily="18" charset="0"/>
                  </a:rPr>
                  <a:t>$x=-2$</a:t>
                </a:r>
                <a:r>
                  <a:rPr sz="2400" b="0">
                    <a:solidFill>
                      <a:srgbClr val="111827"/>
                    </a:solidFill>
                    <a:latin typeface="Arial"/>
                  </a:rPr>
                  <a:t> gives </a:t>
                </a:r>
                <a:r>
                  <a:rPr lang="en-IN" sz="2400">
                    <a:solidFill>
                      <a:srgbClr val="111827"/>
                    </a:solidFill>
                    <a:latin typeface="Cambria Math" panose="02040503050406030204" pitchFamily="18" charset="0"/>
                  </a:rPr>
                  <a:t>$y=0$</a:t>
                </a:r>
                <a:r>
                  <a:rPr sz="2400" b="0">
                    <a:solidFill>
                      <a:srgbClr val="111827"/>
                    </a:solidFill>
                    <a:latin typeface="Arial"/>
                  </a:rPr>
                  <a:t>, so it passes through </a:t>
                </a:r>
                <a:r>
                  <a:rPr lang="en-IN" sz="2400">
                    <a:solidFill>
                      <a:srgbClr val="111827"/>
                    </a:solidFill>
                    <a:latin typeface="Cambria Math" panose="02040503050406030204" pitchFamily="18" charset="0"/>
                  </a:rPr>
                  <a:t>$(-2,0)$</a:t>
                </a:r>
                <a:r>
                  <a:rPr sz="2400" b="0">
                    <a:solidFill>
                      <a:srgbClr val="111827"/>
                    </a:solidFill>
                    <a:latin typeface="Arial"/>
                  </a:rPr>
                  <a:t>; reject.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$m=\frac14$</a:t>
                </a:r>
                <a:r>
                  <a:rPr sz="2400" b="0">
                    <a:solidFill>
                      <a:srgbClr val="111827"/>
                    </a:solidFill>
                    <a:latin typeface="Arial"/>
                  </a:rPr>
                  <a:t>: line </a:t>
                </a:r>
                <a:r>
                  <a:rPr lang="en-IN" sz="2400">
                    <a:solidFill>
                      <a:srgbClr val="111827"/>
                    </a:solidFill>
                    <a:latin typeface="Cambria Math" panose="02040503050406030204" pitchFamily="18" charset="0"/>
                  </a:rPr>
                  <a:t>$y=\frac x4+2$</a:t>
                </a:r>
                <a:r>
                  <a:rPr sz="2400" b="0">
                    <a:solidFill>
                      <a:srgbClr val="111827"/>
                    </a:solidFill>
                    <a:latin typeface="Arial"/>
                  </a:rPr>
                  <a:t> at </a:t>
                </a:r>
                <a:r>
                  <a:rPr lang="en-IN" sz="2400">
                    <a:solidFill>
                      <a:srgbClr val="111827"/>
                    </a:solidFill>
                    <a:latin typeface="Cambria Math" panose="02040503050406030204" pitchFamily="18" charset="0"/>
                  </a:rPr>
                  <a:t>$x=-2$</a:t>
                </a:r>
                <a:r>
                  <a:rPr sz="2400" b="0">
                    <a:solidFill>
                      <a:srgbClr val="111827"/>
                    </a:solidFill>
                    <a:latin typeface="Arial"/>
                  </a:rPr>
                  <a:t> gives </a:t>
                </a:r>
                <a:r>
                  <a:rPr lang="en-IN" sz="2400">
                    <a:solidFill>
                      <a:srgbClr val="111827"/>
                    </a:solidFill>
                    <a:latin typeface="Cambria Math" panose="02040503050406030204" pitchFamily="18" charset="0"/>
                  </a:rPr>
                  <a:t>$\frac32\neq0$</a:t>
                </a:r>
                <a:r>
                  <a:rPr sz="2400" b="0">
                    <a:solidFill>
                      <a:srgbClr val="111827"/>
                    </a:solidFill>
                    <a:latin typeface="Arial"/>
                  </a:rPr>
                  <a:t>; accept, so </a:t>
                </a:r>
                <a:r>
                  <a:rPr lang="en-IN" sz="2400">
                    <a:solidFill>
                      <a:srgbClr val="111827"/>
                    </a:solidFill>
                    <a:latin typeface="Cambria Math" panose="02040503050406030204" pitchFamily="18" charset="0"/>
                  </a:rPr>
                  <a:t>$P=(8,4)$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Normal slope is </a:t>
                </a:r>
                <a:r>
                  <a:rPr lang="en-IN" sz="2400">
                    <a:solidFill>
                      <a:srgbClr val="111827"/>
                    </a:solidFill>
                    <a:latin typeface="Cambria Math" panose="02040503050406030204" pitchFamily="18" charset="0"/>
                  </a:rPr>
                  <a:t>$-\frac1m=-4$</a:t>
                </a:r>
                <a:r>
                  <a:rPr sz="2400" b="0">
                    <a:solidFill>
                      <a:srgbClr val="111827"/>
                    </a:solidFill>
                    <a:latin typeface="Arial"/>
                  </a:rPr>
                  <a:t>: </a:t>
                </a:r>
                <a:r>
                  <a:rPr lang="en-IN" sz="2400">
                    <a:solidFill>
                      <a:srgbClr val="111827"/>
                    </a:solidFill>
                    <a:latin typeface="Cambria Math" panose="02040503050406030204" pitchFamily="18" charset="0"/>
                  </a:rPr>
                  <a:t>$y-4=-4(x-8)$</a:t>
                </a:r>
                <a:r>
                  <a:rPr sz="2400" b="0">
                    <a:solidFill>
                      <a:srgbClr val="111827"/>
                    </a:solidFill>
                    <a:latin typeface="Arial"/>
                  </a:rPr>
                  <a:t>, i.e. </a:t>
                </a:r>
                <a:r>
                  <a:rPr lang="en-IN" sz="2400">
                    <a:solidFill>
                      <a:srgbClr val="111827"/>
                    </a:solidFill>
                    <a:latin typeface="Cambria Math" panose="02040503050406030204" pitchFamily="18" charset="0"/>
                  </a:rPr>
                  <a:t>$\frac x9+\frac y{36}=1$</a:t>
                </a:r>
                <a:r>
                  <a:rPr sz="2400" b="0">
                    <a:solidFill>
                      <a:srgbClr val="111827"/>
                    </a:solidFill>
                    <a:latin typeface="Arial"/>
                  </a:rPr>
                  <a:t>, so </a:t>
                </a:r>
                <a:r>
                  <a:rPr lang="en-IN" sz="2400">
                    <a:solidFill>
                      <a:srgbClr val="111827"/>
                    </a:solidFill>
                    <a:latin typeface="Cambria Math" panose="02040503050406030204" pitchFamily="18" charset="0"/>
                  </a:rPr>
                  <a:t>$\alpha+\beta=45$</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45</a:t>
            </a:r>
            <a:endParaRPr sz="2800">
              <a:solidFill>
                <a:srgbClr val="15803D"/>
              </a:solidFill>
            </a:endParaRPr>
          </a:p>
        </p:txBody>
      </p:sp>
    </p:spTree>
  </p:cSld>
  <p:clrMapOvr>
    <a:masterClrMapping/>
  </p:clrMapOvr>
</p:sld>
</file>

<file path=ppt/slides/slide3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𝑥</m:t>
                    </m:r>
                  </m:oMath>
                </a14:m>
                <a:r>
                  <a:rPr sz="2400" b="0">
                    <a:solidFill>
                      <a:srgbClr val="111827"/>
                    </a:solidFill>
                    <a:latin typeface="Arial"/>
                  </a:rPr>
                  <a:t> the tangent at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𝑦</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the tangent of slope </a:t>
                </a:r>
                <a14:m>
                  <m:oMath xmlns:m="http://schemas.openxmlformats.org/officeDocument/2006/math">
                    <m:r>
                      <a:rPr lang="en-IN" sz="2400" i="1">
                        <a:solidFill>
                          <a:srgbClr val="111827"/>
                        </a:solidFill>
                        <a:latin typeface="Cambria Math" panose="02040503050406030204" pitchFamily="18" charset="0"/>
                      </a:rPr>
                      <m:t>𝑚</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𝑚</m:t>
                        </m:r>
                      </m:den>
                    </m:f>
                  </m:oMath>
                </a14:m>
                <a:r>
                  <a:rPr sz="2400" b="0">
                    <a:solidFill>
                      <a:srgbClr val="111827"/>
                    </a:solidFill>
                    <a:latin typeface="Arial"/>
                  </a:rPr>
                  <a:t> touching at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num>
                          <m:den>
                            <m:sSup>
                              <m:e>
                                <m:r>
                                  <a:rPr lang="en-IN" sz="2400" i="1">
                                    <a:solidFill>
                                      <a:srgbClr val="111827"/>
                                    </a:solidFill>
                                    <a:latin typeface="Cambria Math" panose="02040503050406030204" pitchFamily="18" charset="0"/>
                                  </a:rPr>
                                  <m:t>𝑚</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𝑚</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Normal to </a:t>
                </a:r>
                <a14:m>
                  <m:oMath xmlns:m="http://schemas.openxmlformats.org/officeDocument/2006/math">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𝑥</m:t>
                    </m:r>
                  </m:oMath>
                </a14:m>
                <a:r>
                  <a:rPr sz="2400" b="0">
                    <a:solidFill>
                      <a:srgbClr val="111827"/>
                    </a:solidFill>
                    <a:latin typeface="Arial"/>
                  </a:rPr>
                  <a:t>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has slope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oMath>
                </a14:m>
                <a:r>
                  <a:rPr sz="2400" b="0">
                    <a:solidFill>
                      <a:srgbClr val="111827"/>
                    </a:solidFill>
                    <a:latin typeface="Arial"/>
                  </a:rPr>
                  <a:t>; it is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3</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Two tangents from an external point always give a quadratic (two points); extra conditions are used to discard one.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𝑥</m:t>
                    </m:r>
                  </m:oMath>
                </a14:m>
                <a:r>
                  <a:rPr sz="2400" b="0">
                    <a:solidFill>
                      <a:srgbClr val="111827"/>
                    </a:solidFill>
                    <a:latin typeface="Arial"/>
                  </a:rPr>
                  <a:t> the minimum is where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𝑝</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𝑥</m:t>
                        </m:r>
                      </m:den>
                    </m:f>
                  </m:oMath>
                </a14:m>
                <a:r>
                  <a:rPr sz="2400" b="0">
                    <a:solidFill>
                      <a:srgbClr val="111827"/>
                    </a:solidFill>
                    <a:latin typeface="Arial"/>
                  </a:rPr>
                  <a:t>; a function is decreasing then increasing around its unique critical point of this type.</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$y^2=4ax$</a:t>
                </a:r>
                <a:r>
                  <a:rPr sz="2400" b="0">
                    <a:solidFill>
                      <a:srgbClr val="111827"/>
                    </a:solidFill>
                    <a:latin typeface="Arial"/>
                  </a:rPr>
                  <a:t> the tangent at </a:t>
                </a:r>
                <a:r>
                  <a:rPr lang="en-IN" sz="2400">
                    <a:solidFill>
                      <a:srgbClr val="111827"/>
                    </a:solidFill>
                    <a:latin typeface="Cambria Math" panose="02040503050406030204" pitchFamily="18" charset="0"/>
                  </a:rPr>
                  <a:t>$(x_1,y_1)$</a:t>
                </a:r>
                <a:r>
                  <a:rPr sz="2400" b="0">
                    <a:solidFill>
                      <a:srgbClr val="111827"/>
                    </a:solidFill>
                    <a:latin typeface="Arial"/>
                  </a:rPr>
                  <a:t> is </a:t>
                </a:r>
                <a:r>
                  <a:rPr lang="en-IN" sz="2400">
                    <a:solidFill>
                      <a:srgbClr val="111827"/>
                    </a:solidFill>
                    <a:latin typeface="Cambria Math" panose="02040503050406030204" pitchFamily="18" charset="0"/>
                  </a:rPr>
                  <a:t>$yy_1=2a(x+x_1)$</a:t>
                </a:r>
                <a:r>
                  <a:rPr sz="2400" b="0">
                    <a:solidFill>
                      <a:srgbClr val="111827"/>
                    </a:solidFill>
                    <a:latin typeface="Arial"/>
                  </a:rPr>
                  <a:t>, and the tangent of slope </a:t>
                </a:r>
                <a:r>
                  <a:rPr lang="en-IN" sz="2400">
                    <a:solidFill>
                      <a:srgbClr val="111827"/>
                    </a:solidFill>
                    <a:latin typeface="Cambria Math" panose="02040503050406030204" pitchFamily="18" charset="0"/>
                  </a:rPr>
                  <a:t>$m$</a:t>
                </a:r>
                <a:r>
                  <a:rPr sz="2400" b="0">
                    <a:solidFill>
                      <a:srgbClr val="111827"/>
                    </a:solidFill>
                    <a:latin typeface="Arial"/>
                  </a:rPr>
                  <a:t> is </a:t>
                </a:r>
                <a:r>
                  <a:rPr lang="en-IN" sz="2400">
                    <a:solidFill>
                      <a:srgbClr val="111827"/>
                    </a:solidFill>
                    <a:latin typeface="Cambria Math" panose="02040503050406030204" pitchFamily="18" charset="0"/>
                  </a:rPr>
                  <a:t>$y=mx+\frac am$</a:t>
                </a:r>
                <a:r>
                  <a:rPr sz="2400" b="0">
                    <a:solidFill>
                      <a:srgbClr val="111827"/>
                    </a:solidFill>
                    <a:latin typeface="Arial"/>
                  </a:rPr>
                  <a:t> touching at </a:t>
                </a:r>
                <a:r>
                  <a:rPr lang="en-IN" sz="2400">
                    <a:solidFill>
                      <a:srgbClr val="111827"/>
                    </a:solidFill>
                    <a:latin typeface="Cambria Math" panose="02040503050406030204" pitchFamily="18" charset="0"/>
                  </a:rPr>
                  <a:t>$\left(\frac{a}{m^2},\frac{2a}{m}\right)$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Normal to </a:t>
                </a:r>
                <a:r>
                  <a:rPr lang="en-IN" sz="2400">
                    <a:solidFill>
                      <a:srgbClr val="111827"/>
                    </a:solidFill>
                    <a:latin typeface="Cambria Math" panose="02040503050406030204" pitchFamily="18" charset="0"/>
                  </a:rPr>
                  <a:t>$y^2=4ax$</a:t>
                </a:r>
                <a:r>
                  <a:rPr sz="2400" b="0">
                    <a:solidFill>
                      <a:srgbClr val="111827"/>
                    </a:solidFill>
                    <a:latin typeface="Arial"/>
                  </a:rPr>
                  <a:t> at </a:t>
                </a:r>
                <a:r>
                  <a:rPr lang="en-IN" sz="2400">
                    <a:solidFill>
                      <a:srgbClr val="111827"/>
                    </a:solidFill>
                    <a:latin typeface="Cambria Math" panose="02040503050406030204" pitchFamily="18" charset="0"/>
                  </a:rPr>
                  <a:t>$(at^2,2at)$</a:t>
                </a:r>
                <a:r>
                  <a:rPr sz="2400" b="0">
                    <a:solidFill>
                      <a:srgbClr val="111827"/>
                    </a:solidFill>
                    <a:latin typeface="Arial"/>
                  </a:rPr>
                  <a:t> has slope </a:t>
                </a:r>
                <a:r>
                  <a:rPr lang="en-IN" sz="2400">
                    <a:solidFill>
                      <a:srgbClr val="111827"/>
                    </a:solidFill>
                    <a:latin typeface="Cambria Math" panose="02040503050406030204" pitchFamily="18" charset="0"/>
                  </a:rPr>
                  <a:t>$-t$</a:t>
                </a:r>
                <a:r>
                  <a:rPr sz="2400" b="0">
                    <a:solidFill>
                      <a:srgbClr val="111827"/>
                    </a:solidFill>
                    <a:latin typeface="Arial"/>
                  </a:rPr>
                  <a:t>; it is </a:t>
                </a:r>
                <a:r>
                  <a:rPr lang="en-IN" sz="2400">
                    <a:solidFill>
                      <a:srgbClr val="111827"/>
                    </a:solidFill>
                    <a:latin typeface="Cambria Math" panose="02040503050406030204" pitchFamily="18" charset="0"/>
                  </a:rPr>
                  <a:t>$y=-tx+2at+at^3$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Two tangents from an external point always give a quadratic (two points); extra conditions are used to discard one.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$f=px^2-\ln x$</a:t>
                </a:r>
                <a:r>
                  <a:rPr sz="2400" b="0">
                    <a:solidFill>
                      <a:srgbClr val="111827"/>
                    </a:solidFill>
                    <a:latin typeface="Arial"/>
                  </a:rPr>
                  <a:t> the minimum is where </a:t>
                </a:r>
                <a:r>
                  <a:rPr lang="en-IN" sz="2400">
                    <a:solidFill>
                      <a:srgbClr val="111827"/>
                    </a:solidFill>
                    <a:latin typeface="Cambria Math" panose="02040503050406030204" pitchFamily="18" charset="0"/>
                  </a:rPr>
                  <a:t>$2px=\frac1x$</a:t>
                </a:r>
                <a:r>
                  <a:rPr sz="2400" b="0">
                    <a:solidFill>
                      <a:srgbClr val="111827"/>
                    </a:solidFill>
                    <a:latin typeface="Arial"/>
                  </a:rPr>
                  <a:t>; a function is decreasing then increasing around its unique critical point of this type.</a:t>
                </a:r>
                <a:endParaRPr sz="2400">
                  <a:solidFill>
                    <a:srgbClr val="111827"/>
                  </a:solidFill>
                </a:endParaRPr>
              </a:p>
            </p:txBody>
          </p:sp>
        </mc:Fallback>
      </mc:AlternateContent>
    </p:spTree>
  </p:cSld>
  <p:clrMapOvr>
    <a:masterClrMapping/>
  </p:clrMapOvr>
</p:sld>
</file>

<file path=ppt/slides/slide3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3799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R</m:t>
                    </m:r>
                  </m:oMath>
                </a14:m>
                <a:r>
                  <a:rPr sz="2400" b="0">
                    <a:solidFill>
                      <a:srgbClr val="111827"/>
                    </a:solidFill>
                    <a:latin typeface="Arial"/>
                  </a:rPr>
                  <a:t> be a twice differentiable function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such that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If the line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intersects the graph of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at only two distinct points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then the least number of points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which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is ______.</a:t>
                </a:r>
                <a:endParaRPr sz="2400">
                  <a:solidFill>
                    <a:srgbClr val="111827"/>
                  </a:solidFill>
                </a:endParaRPr>
              </a:p>
            </p:txBody>
          </p:sp>
        </mc:Choice>
        <mc:Fallback>
          <p:sp>
            <p:nvSpPr>
              <p:cNvPr id="4" name="Rounded Rectangle 3"/>
              <p:cNvSpPr/>
              <p:nvPr/>
            </p:nvSpPr>
            <p:spPr>
              <a:xfrm>
                <a:off x="731520" y="1280160"/>
                <a:ext cx="10725912" cy="23799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$f:[0,1]\to\mathbb{R}$</a:t>
                </a:r>
                <a:r>
                  <a:rPr sz="2400" b="0">
                    <a:solidFill>
                      <a:srgbClr val="111827"/>
                    </a:solidFill>
                    <a:latin typeface="Arial"/>
                  </a:rPr>
                  <a:t> be a twice differentiable function in </a:t>
                </a:r>
                <a:r>
                  <a:rPr lang="en-IN" sz="2400">
                    <a:solidFill>
                      <a:srgbClr val="111827"/>
                    </a:solidFill>
                    <a:latin typeface="Cambria Math" panose="02040503050406030204" pitchFamily="18" charset="0"/>
                  </a:rPr>
                  <a:t>$(0,1)$</a:t>
                </a:r>
                <a:r>
                  <a:rPr sz="2400" b="0">
                    <a:solidFill>
                      <a:srgbClr val="111827"/>
                    </a:solidFill>
                    <a:latin typeface="Arial"/>
                  </a:rPr>
                  <a:t> such that </a:t>
                </a:r>
                <a:r>
                  <a:rPr lang="en-IN" sz="2400">
                    <a:solidFill>
                      <a:srgbClr val="111827"/>
                    </a:solidFill>
                    <a:latin typeface="Cambria Math" panose="02040503050406030204" pitchFamily="18" charset="0"/>
                  </a:rPr>
                  <a:t>$f(0)=3$</a:t>
                </a:r>
                <a:r>
                  <a:rPr sz="2400" b="0">
                    <a:solidFill>
                      <a:srgbClr val="111827"/>
                    </a:solidFill>
                    <a:latin typeface="Arial"/>
                  </a:rPr>
                  <a:t> and </a:t>
                </a:r>
                <a:r>
                  <a:rPr lang="en-IN" sz="2400">
                    <a:solidFill>
                      <a:srgbClr val="111827"/>
                    </a:solidFill>
                    <a:latin typeface="Cambria Math" panose="02040503050406030204" pitchFamily="18" charset="0"/>
                  </a:rPr>
                  <a:t>$f(1)=5$</a:t>
                </a:r>
                <a:r>
                  <a:rPr sz="2400" b="0">
                    <a:solidFill>
                      <a:srgbClr val="111827"/>
                    </a:solidFill>
                    <a:latin typeface="Arial"/>
                  </a:rPr>
                  <a:t>. If the line </a:t>
                </a:r>
                <a:r>
                  <a:rPr lang="en-IN" sz="2400">
                    <a:solidFill>
                      <a:srgbClr val="111827"/>
                    </a:solidFill>
                    <a:latin typeface="Cambria Math" panose="02040503050406030204" pitchFamily="18" charset="0"/>
                  </a:rPr>
                  <a:t>$y=2x+3$</a:t>
                </a:r>
                <a:r>
                  <a:rPr sz="2400" b="0">
                    <a:solidFill>
                      <a:srgbClr val="111827"/>
                    </a:solidFill>
                    <a:latin typeface="Arial"/>
                  </a:rPr>
                  <a:t> intersects the graph of </a:t>
                </a:r>
                <a:r>
                  <a:rPr lang="en-IN" sz="2400">
                    <a:solidFill>
                      <a:srgbClr val="111827"/>
                    </a:solidFill>
                    <a:latin typeface="Cambria Math" panose="02040503050406030204" pitchFamily="18" charset="0"/>
                  </a:rPr>
                  <a:t>$f$</a:t>
                </a:r>
                <a:r>
                  <a:rPr sz="2400" b="0">
                    <a:solidFill>
                      <a:srgbClr val="111827"/>
                    </a:solidFill>
                    <a:latin typeface="Arial"/>
                  </a:rPr>
                  <a:t> at only two distinct points in </a:t>
                </a:r>
                <a:r>
                  <a:rPr lang="en-IN" sz="2400">
                    <a:solidFill>
                      <a:srgbClr val="111827"/>
                    </a:solidFill>
                    <a:latin typeface="Cambria Math" panose="02040503050406030204" pitchFamily="18" charset="0"/>
                  </a:rPr>
                  <a:t>$(0,1)$</a:t>
                </a:r>
                <a:r>
                  <a:rPr sz="2400" b="0">
                    <a:solidFill>
                      <a:srgbClr val="111827"/>
                    </a:solidFill>
                    <a:latin typeface="Arial"/>
                  </a:rPr>
                  <a:t>, then the least number of points </a:t>
                </a:r>
                <a:r>
                  <a:rPr lang="en-IN" sz="2400">
                    <a:solidFill>
                      <a:srgbClr val="111827"/>
                    </a:solidFill>
                    <a:latin typeface="Cambria Math" panose="02040503050406030204" pitchFamily="18" charset="0"/>
                  </a:rPr>
                  <a:t>$x\in(0,1)$</a:t>
                </a:r>
                <a:r>
                  <a:rPr sz="2400" b="0">
                    <a:solidFill>
                      <a:srgbClr val="111827"/>
                    </a:solidFill>
                    <a:latin typeface="Arial"/>
                  </a:rPr>
                  <a:t> at which </a:t>
                </a:r>
                <a:r>
                  <a:rPr lang="en-IN" sz="2400">
                    <a:solidFill>
                      <a:srgbClr val="111827"/>
                    </a:solidFill>
                    <a:latin typeface="Cambria Math" panose="02040503050406030204" pitchFamily="18" charset="0"/>
                  </a:rPr>
                  <a:t>$f''(x)=0$</a:t>
                </a:r>
                <a:r>
                  <a:rPr sz="2400" b="0">
                    <a:solidFill>
                      <a:srgbClr val="111827"/>
                    </a:solidFill>
                    <a:latin typeface="Arial"/>
                  </a:rPr>
                  <a:t> is ______.</a:t>
                </a:r>
                <a:endParaRPr sz="2400">
                  <a:solidFill>
                    <a:srgbClr val="111827"/>
                  </a:solidFill>
                </a:endParaRPr>
              </a:p>
            </p:txBody>
          </p:sp>
        </mc:Fallback>
      </mc:AlternateContent>
      <p:sp>
        <p:nvSpPr>
          <p:cNvPr id="5" name="Rectangle 4"/>
          <p:cNvSpPr/>
          <p:nvPr/>
        </p:nvSpPr>
        <p:spPr>
          <a:xfrm>
            <a:off x="731520" y="3888739"/>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Rolle's theorem</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3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line already passes through the end points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and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5</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giving four intersection points; apply Rolle's theorem twice.</a:t>
                </a:r>
                <a:endParaRPr sz="2400">
                  <a:solidFill>
                    <a:srgbClr val="78350F"/>
                  </a:solidFill>
                </a:endParaRPr>
              </a:p>
            </p:txBody>
          </p:sp>
        </mc:Choice>
        <mc:Fallback>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line already passes through the end points </a:t>
                </a:r>
                <a:r>
                  <a:rPr lang="en-IN" sz="2400">
                    <a:solidFill>
                      <a:srgbClr val="78350F"/>
                    </a:solidFill>
                    <a:latin typeface="Cambria Math" panose="02040503050406030204" pitchFamily="18" charset="0"/>
                  </a:rPr>
                  <a:t>$(0,3)$</a:t>
                </a:r>
                <a:r>
                  <a:rPr sz="2400" b="0">
                    <a:solidFill>
                      <a:srgbClr val="78350F"/>
                    </a:solidFill>
                    <a:latin typeface="Arial"/>
                  </a:rPr>
                  <a:t> and </a:t>
                </a:r>
                <a:r>
                  <a:rPr lang="en-IN" sz="2400">
                    <a:solidFill>
                      <a:srgbClr val="78350F"/>
                    </a:solidFill>
                    <a:latin typeface="Cambria Math" panose="02040503050406030204" pitchFamily="18" charset="0"/>
                  </a:rPr>
                  <a:t>$(1,5)$</a:t>
                </a:r>
                <a:r>
                  <a:rPr sz="2400" b="0">
                    <a:solidFill>
                      <a:srgbClr val="78350F"/>
                    </a:solidFill>
                    <a:latin typeface="Arial"/>
                  </a:rPr>
                  <a:t>, giving four intersection points; apply Rolle's theorem twice.</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line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passes through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which are the end points of the graph of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the line meets the graph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two more points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1</m:t>
                    </m:r>
                  </m:oMath>
                </a14:m>
                <a:r>
                  <a:rPr sz="2400" b="0">
                    <a:solidFill>
                      <a:srgbClr val="111827"/>
                    </a:solidFill>
                    <a:latin typeface="Arial"/>
                  </a:rPr>
                  <a:t>, so four intersection points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By Rolle's theorem 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vanishes at three points </a:t>
                </a:r>
                <a14:m>
                  <m:oMath xmlns:m="http://schemas.openxmlformats.org/officeDocument/2006/math">
                    <m:sSub>
                      <m:e>
                        <m:r>
                          <a:rPr lang="en-IN" sz="2400" i="1">
                            <a:solidFill>
                              <a:srgbClr val="111827"/>
                            </a:solidFill>
                            <a:latin typeface="Cambria Math" panose="02040503050406030204" pitchFamily="18" charset="0"/>
                          </a:rPr>
                          <m:t>𝑝</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&lt;</m:t>
                    </m:r>
                    <m:sSub>
                      <m:e>
                        <m:r>
                          <a:rPr lang="en-IN" sz="2400" i="1">
                            <a:solidFill>
                              <a:srgbClr val="111827"/>
                            </a:solidFill>
                            <a:latin typeface="Cambria Math" panose="02040503050406030204" pitchFamily="18" charset="0"/>
                          </a:rPr>
                          <m:t>𝑝</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&lt;</m:t>
                    </m:r>
                    <m:sSub>
                      <m:e>
                        <m:r>
                          <a:rPr lang="en-IN" sz="2400" i="1">
                            <a:solidFill>
                              <a:srgbClr val="111827"/>
                            </a:solidFill>
                            <a:latin typeface="Cambria Math" panose="02040503050406030204" pitchFamily="18" charset="0"/>
                          </a:rPr>
                          <m:t>𝑝</m:t>
                        </m:r>
                      </m:e>
                      <m:sub>
                        <m:r>
                          <a:rPr lang="en-IN" sz="2400" i="1">
                            <a:solidFill>
                              <a:srgbClr val="111827"/>
                            </a:solidFill>
                            <a:latin typeface="Cambria Math" panose="02040503050406030204" pitchFamily="18" charset="0"/>
                          </a:rPr>
                          <m:t>3</m:t>
                        </m:r>
                      </m:sub>
                    </m:sSub>
                  </m:oMath>
                </a14:m>
                <a:r>
                  <a:rPr sz="2400" b="0">
                    <a:solidFill>
                      <a:srgbClr val="111827"/>
                    </a:solidFill>
                    <a:latin typeface="Arial"/>
                  </a:rPr>
                  <a:t>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(that is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there).</a:t>
                </a:r>
                <a:endParaRPr sz="2400">
                  <a:solidFill>
                    <a:srgbClr val="111827"/>
                  </a:solidFill>
                </a:endParaRPr>
              </a:p>
            </p:txBody>
          </p:sp>
        </mc:Choice>
        <mc:Fallback>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line </a:t>
                </a:r>
                <a:r>
                  <a:rPr lang="en-IN" sz="2400">
                    <a:solidFill>
                      <a:srgbClr val="111827"/>
                    </a:solidFill>
                    <a:latin typeface="Cambria Math" panose="02040503050406030204" pitchFamily="18" charset="0"/>
                  </a:rPr>
                  <a:t>$y=2x+3$</a:t>
                </a:r>
                <a:r>
                  <a:rPr sz="2400" b="0">
                    <a:solidFill>
                      <a:srgbClr val="111827"/>
                    </a:solidFill>
                    <a:latin typeface="Arial"/>
                  </a:rPr>
                  <a:t> passes through </a:t>
                </a:r>
                <a:r>
                  <a:rPr lang="en-IN" sz="2400">
                    <a:solidFill>
                      <a:srgbClr val="111827"/>
                    </a:solidFill>
                    <a:latin typeface="Cambria Math" panose="02040503050406030204" pitchFamily="18" charset="0"/>
                  </a:rPr>
                  <a:t>$(0,3)$</a:t>
                </a:r>
                <a:r>
                  <a:rPr sz="2400" b="0">
                    <a:solidFill>
                      <a:srgbClr val="111827"/>
                    </a:solidFill>
                    <a:latin typeface="Arial"/>
                  </a:rPr>
                  <a:t> and </a:t>
                </a:r>
                <a:r>
                  <a:rPr lang="en-IN" sz="2400">
                    <a:solidFill>
                      <a:srgbClr val="111827"/>
                    </a:solidFill>
                    <a:latin typeface="Cambria Math" panose="02040503050406030204" pitchFamily="18" charset="0"/>
                  </a:rPr>
                  <a:t>$(1,5)$</a:t>
                </a:r>
                <a:r>
                  <a:rPr sz="2400" b="0">
                    <a:solidFill>
                      <a:srgbClr val="111827"/>
                    </a:solidFill>
                    <a:latin typeface="Arial"/>
                  </a:rPr>
                  <a:t>, which are the end points of the graph of </a:t>
                </a:r>
                <a:r>
                  <a:rPr lang="en-IN" sz="2400">
                    <a:solidFill>
                      <a:srgbClr val="111827"/>
                    </a:solidFill>
                    <a:latin typeface="Cambria Math" panose="02040503050406030204" pitchFamily="18" charset="0"/>
                  </a:rPr>
                  <a:t>$f$</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the line meets the graph at </a:t>
                </a:r>
                <a:r>
                  <a:rPr lang="en-IN" sz="2400">
                    <a:solidFill>
                      <a:srgbClr val="111827"/>
                    </a:solidFill>
                    <a:latin typeface="Cambria Math" panose="02040503050406030204" pitchFamily="18" charset="0"/>
                  </a:rPr>
                  <a:t>$x=0$</a:t>
                </a:r>
                <a:r>
                  <a:rPr sz="2400" b="0">
                    <a:solidFill>
                      <a:srgbClr val="111827"/>
                    </a:solidFill>
                    <a:latin typeface="Arial"/>
                  </a:rPr>
                  <a:t>, </a:t>
                </a:r>
                <a:r>
                  <a:rPr lang="en-IN" sz="2400">
                    <a:solidFill>
                      <a:srgbClr val="111827"/>
                    </a:solidFill>
                    <a:latin typeface="Cambria Math" panose="02040503050406030204" pitchFamily="18" charset="0"/>
                  </a:rPr>
                  <a:t>$x=1$</a:t>
                </a:r>
                <a:r>
                  <a:rPr sz="2400" b="0">
                    <a:solidFill>
                      <a:srgbClr val="111827"/>
                    </a:solidFill>
                    <a:latin typeface="Arial"/>
                  </a:rPr>
                  <a:t> and two more points </a:t>
                </a:r>
                <a:r>
                  <a:rPr lang="en-IN" sz="2400">
                    <a:solidFill>
                      <a:srgbClr val="111827"/>
                    </a:solidFill>
                    <a:latin typeface="Cambria Math" panose="02040503050406030204" pitchFamily="18" charset="0"/>
                  </a:rPr>
                  <a:t>$b,c$</a:t>
                </a:r>
                <a:r>
                  <a:rPr sz="2400" b="0">
                    <a:solidFill>
                      <a:srgbClr val="111827"/>
                    </a:solidFill>
                    <a:latin typeface="Arial"/>
                  </a:rPr>
                  <a:t> with </a:t>
                </a:r>
                <a:r>
                  <a:rPr lang="en-IN" sz="2400">
                    <a:solidFill>
                      <a:srgbClr val="111827"/>
                    </a:solidFill>
                    <a:latin typeface="Cambria Math" panose="02040503050406030204" pitchFamily="18" charset="0"/>
                  </a:rPr>
                  <a:t>$0&lt;b&lt;c&lt;1$</a:t>
                </a:r>
                <a:r>
                  <a:rPr sz="2400" b="0">
                    <a:solidFill>
                      <a:srgbClr val="111827"/>
                    </a:solidFill>
                    <a:latin typeface="Arial"/>
                  </a:rPr>
                  <a:t>, so four intersection points in </a:t>
                </a:r>
                <a:r>
                  <a:rPr lang="en-IN" sz="2400">
                    <a:solidFill>
                      <a:srgbClr val="111827"/>
                    </a:solidFill>
                    <a:latin typeface="Cambria Math" panose="02040503050406030204" pitchFamily="18" charset="0"/>
                  </a:rPr>
                  <a:t>$[0,1]$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$g(x)=f(x)-2x-3$</a:t>
                </a:r>
                <a:r>
                  <a:rPr sz="2400" b="0">
                    <a:solidFill>
                      <a:srgbClr val="111827"/>
                    </a:solidFill>
                    <a:latin typeface="Arial"/>
                  </a:rPr>
                  <a:t>. Then </a:t>
                </a:r>
                <a:r>
                  <a:rPr lang="en-IN" sz="2400">
                    <a:solidFill>
                      <a:srgbClr val="111827"/>
                    </a:solidFill>
                    <a:latin typeface="Cambria Math" panose="02040503050406030204" pitchFamily="18" charset="0"/>
                  </a:rPr>
                  <a:t>$g(0)=g(b)=g(c)=g(1)=0$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By Rolle's theorem on </a:t>
                </a:r>
                <a:r>
                  <a:rPr lang="en-IN" sz="2400">
                    <a:solidFill>
                      <a:srgbClr val="111827"/>
                    </a:solidFill>
                    <a:latin typeface="Cambria Math" panose="02040503050406030204" pitchFamily="18" charset="0"/>
                  </a:rPr>
                  <a:t>$[0,b]$</a:t>
                </a:r>
                <a:r>
                  <a:rPr sz="2400" b="0">
                    <a:solidFill>
                      <a:srgbClr val="111827"/>
                    </a:solidFill>
                    <a:latin typeface="Arial"/>
                  </a:rPr>
                  <a:t>, </a:t>
                </a:r>
                <a:r>
                  <a:rPr lang="en-IN" sz="2400">
                    <a:solidFill>
                      <a:srgbClr val="111827"/>
                    </a:solidFill>
                    <a:latin typeface="Cambria Math" panose="02040503050406030204" pitchFamily="18" charset="0"/>
                  </a:rPr>
                  <a:t>$[b,c]$</a:t>
                </a:r>
                <a:r>
                  <a:rPr sz="2400" b="0">
                    <a:solidFill>
                      <a:srgbClr val="111827"/>
                    </a:solidFill>
                    <a:latin typeface="Arial"/>
                  </a:rPr>
                  <a:t>, </a:t>
                </a:r>
                <a:r>
                  <a:rPr lang="en-IN" sz="2400">
                    <a:solidFill>
                      <a:srgbClr val="111827"/>
                    </a:solidFill>
                    <a:latin typeface="Cambria Math" panose="02040503050406030204" pitchFamily="18" charset="0"/>
                  </a:rPr>
                  <a:t>$[c,1]$</a:t>
                </a:r>
                <a:r>
                  <a:rPr sz="2400" b="0">
                    <a:solidFill>
                      <a:srgbClr val="111827"/>
                    </a:solidFill>
                    <a:latin typeface="Arial"/>
                  </a:rPr>
                  <a:t>, </a:t>
                </a:r>
                <a:r>
                  <a:rPr lang="en-IN" sz="2400">
                    <a:solidFill>
                      <a:srgbClr val="111827"/>
                    </a:solidFill>
                    <a:latin typeface="Cambria Math" panose="02040503050406030204" pitchFamily="18" charset="0"/>
                  </a:rPr>
                  <a:t>$g'$</a:t>
                </a:r>
                <a:r>
                  <a:rPr sz="2400" b="0">
                    <a:solidFill>
                      <a:srgbClr val="111827"/>
                    </a:solidFill>
                    <a:latin typeface="Arial"/>
                  </a:rPr>
                  <a:t> vanishes at three points </a:t>
                </a:r>
                <a:r>
                  <a:rPr lang="en-IN" sz="2400">
                    <a:solidFill>
                      <a:srgbClr val="111827"/>
                    </a:solidFill>
                    <a:latin typeface="Cambria Math" panose="02040503050406030204" pitchFamily="18" charset="0"/>
                  </a:rPr>
                  <a:t>$p_1&lt;p_2&lt;p_3$</a:t>
                </a:r>
                <a:r>
                  <a:rPr sz="2400" b="0">
                    <a:solidFill>
                      <a:srgbClr val="111827"/>
                    </a:solidFill>
                    <a:latin typeface="Arial"/>
                  </a:rPr>
                  <a:t> in </a:t>
                </a:r>
                <a:r>
                  <a:rPr lang="en-IN" sz="2400">
                    <a:solidFill>
                      <a:srgbClr val="111827"/>
                    </a:solidFill>
                    <a:latin typeface="Cambria Math" panose="02040503050406030204" pitchFamily="18" charset="0"/>
                  </a:rPr>
                  <a:t>$(0,1)$</a:t>
                </a:r>
                <a:r>
                  <a:rPr sz="2400" b="0">
                    <a:solidFill>
                      <a:srgbClr val="111827"/>
                    </a:solidFill>
                    <a:latin typeface="Arial"/>
                  </a:rPr>
                  <a:t> (that is </a:t>
                </a:r>
                <a:r>
                  <a:rPr lang="en-IN" sz="2400">
                    <a:solidFill>
                      <a:srgbClr val="111827"/>
                    </a:solidFill>
                    <a:latin typeface="Cambria Math" panose="02040503050406030204" pitchFamily="18" charset="0"/>
                  </a:rPr>
                  <a:t>$f'=2$</a:t>
                </a:r>
                <a:r>
                  <a:rPr sz="2400" b="0">
                    <a:solidFill>
                      <a:srgbClr val="111827"/>
                    </a:solidFill>
                    <a:latin typeface="Arial"/>
                  </a:rPr>
                  <a:t> there).</a:t>
                </a:r>
                <a:endParaRPr sz="2400">
                  <a:solidFill>
                    <a:srgbClr val="111827"/>
                  </a:solidFill>
                </a:endParaRPr>
              </a:p>
            </p:txBody>
          </p:sp>
        </mc:Fallback>
      </mc:AlternateContent>
    </p:spTree>
  </p:cSld>
  <p:clrMapOvr>
    <a:masterClrMapping/>
  </p:clrMapOvr>
</p:sld>
</file>

<file path=ppt/slides/slide3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Apply Rolle's theorem on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𝑝</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𝑝</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𝑝</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𝑝</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vanishes at two points in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𝑝</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𝑝</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has at least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solutions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This is attainable: take the quartic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lin"/>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lin"/>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oMath>
                </a14:m>
                <a:r>
                  <a:rPr sz="2400" b="0">
                    <a:solidFill>
                      <a:srgbClr val="111827"/>
                    </a:solidFill>
                    <a:latin typeface="Arial"/>
                  </a:rPr>
                  <a:t>, whose </a:t>
                </a:r>
                <a14:m>
                  <m:oMath xmlns:m="http://schemas.openxmlformats.org/officeDocument/2006/math">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is a quadratic with two roots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the least number of points is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Apply Rolle's theorem on </a:t>
                </a:r>
                <a:r>
                  <a:rPr lang="en-IN" sz="2400">
                    <a:solidFill>
                      <a:srgbClr val="111827"/>
                    </a:solidFill>
                    <a:latin typeface="Cambria Math" panose="02040503050406030204" pitchFamily="18" charset="0"/>
                  </a:rPr>
                  <a:t>$[p_1,p_2]$</a:t>
                </a:r>
                <a:r>
                  <a:rPr sz="2400" b="0">
                    <a:solidFill>
                      <a:srgbClr val="111827"/>
                    </a:solidFill>
                    <a:latin typeface="Arial"/>
                  </a:rPr>
                  <a:t> and </a:t>
                </a:r>
                <a:r>
                  <a:rPr lang="en-IN" sz="2400">
                    <a:solidFill>
                      <a:srgbClr val="111827"/>
                    </a:solidFill>
                    <a:latin typeface="Cambria Math" panose="02040503050406030204" pitchFamily="18" charset="0"/>
                  </a:rPr>
                  <a:t>$[p_2,p_3]$</a:t>
                </a:r>
                <a:r>
                  <a:rPr sz="2400" b="0">
                    <a:solidFill>
                      <a:srgbClr val="111827"/>
                    </a:solidFill>
                    <a:latin typeface="Arial"/>
                  </a:rPr>
                  <a:t>: </a:t>
                </a:r>
                <a:r>
                  <a:rPr lang="en-IN" sz="2400">
                    <a:solidFill>
                      <a:srgbClr val="111827"/>
                    </a:solidFill>
                    <a:latin typeface="Cambria Math" panose="02040503050406030204" pitchFamily="18" charset="0"/>
                  </a:rPr>
                  <a:t>$g''(x)=f''(x)$</a:t>
                </a:r>
                <a:r>
                  <a:rPr sz="2400" b="0">
                    <a:solidFill>
                      <a:srgbClr val="111827"/>
                    </a:solidFill>
                    <a:latin typeface="Arial"/>
                  </a:rPr>
                  <a:t> vanishes at two points in </a:t>
                </a:r>
                <a:r>
                  <a:rPr lang="en-IN" sz="2400">
                    <a:solidFill>
                      <a:srgbClr val="111827"/>
                    </a:solidFill>
                    <a:latin typeface="Cambria Math" panose="02040503050406030204" pitchFamily="18" charset="0"/>
                  </a:rPr>
                  <a:t>$(p_1,p_3)\subset(0,1)$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$f''(x)=0$</a:t>
                </a:r>
                <a:r>
                  <a:rPr sz="2400" b="0">
                    <a:solidFill>
                      <a:srgbClr val="111827"/>
                    </a:solidFill>
                    <a:latin typeface="Arial"/>
                  </a:rPr>
                  <a:t> has at least </a:t>
                </a:r>
                <a:r>
                  <a:rPr lang="en-IN" sz="2400">
                    <a:solidFill>
                      <a:srgbClr val="111827"/>
                    </a:solidFill>
                    <a:latin typeface="Cambria Math" panose="02040503050406030204" pitchFamily="18" charset="0"/>
                  </a:rPr>
                  <a:t>$2$</a:t>
                </a:r>
                <a:r>
                  <a:rPr sz="2400" b="0">
                    <a:solidFill>
                      <a:srgbClr val="111827"/>
                    </a:solidFill>
                    <a:latin typeface="Arial"/>
                  </a:rPr>
                  <a:t> solutions in </a:t>
                </a:r>
                <a:r>
                  <a:rPr lang="en-IN" sz="2400">
                    <a:solidFill>
                      <a:srgbClr val="111827"/>
                    </a:solidFill>
                    <a:latin typeface="Cambria Math" panose="02040503050406030204" pitchFamily="18" charset="0"/>
                  </a:rPr>
                  <a:t>$(0,1)$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This is attainable: take the quartic </a:t>
                </a:r>
                <a:r>
                  <a:rPr lang="en-IN" sz="2400">
                    <a:solidFill>
                      <a:srgbClr val="111827"/>
                    </a:solidFill>
                    <a:latin typeface="Cambria Math" panose="02040503050406030204" pitchFamily="18" charset="0"/>
                  </a:rPr>
                  <a:t>$g(x)=x(x-1)(x-\tfrac13)(x-\tfrac23)$</a:t>
                </a:r>
                <a:r>
                  <a:rPr sz="2400" b="0">
                    <a:solidFill>
                      <a:srgbClr val="111827"/>
                    </a:solidFill>
                    <a:latin typeface="Arial"/>
                  </a:rPr>
                  <a:t>, whose </a:t>
                </a:r>
                <a:r>
                  <a:rPr lang="en-IN" sz="2400">
                    <a:solidFill>
                      <a:srgbClr val="111827"/>
                    </a:solidFill>
                    <a:latin typeface="Cambria Math" panose="02040503050406030204" pitchFamily="18" charset="0"/>
                  </a:rPr>
                  <a:t>$g''$</a:t>
                </a:r>
                <a:r>
                  <a:rPr sz="2400" b="0">
                    <a:solidFill>
                      <a:srgbClr val="111827"/>
                    </a:solidFill>
                    <a:latin typeface="Arial"/>
                  </a:rPr>
                  <a:t> is a quadratic with two roots in </a:t>
                </a:r>
                <a:r>
                  <a:rPr lang="en-IN" sz="2400">
                    <a:solidFill>
                      <a:srgbClr val="111827"/>
                    </a:solidFill>
                    <a:latin typeface="Cambria Math" panose="02040503050406030204" pitchFamily="18" charset="0"/>
                  </a:rPr>
                  <a:t>$(0,1)$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the least number of points is </a:t>
                </a:r>
                <a:r>
                  <a:rPr lang="en-IN" sz="2400">
                    <a:solidFill>
                      <a:srgbClr val="111827"/>
                    </a:solidFill>
                    <a:latin typeface="Cambria Math" panose="02040503050406030204" pitchFamily="18" charset="0"/>
                  </a:rPr>
                  <a:t>$2$</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2</a:t>
            </a:r>
            <a:endParaRPr sz="2800">
              <a:solidFill>
                <a:srgbClr val="15803D"/>
              </a:solidFill>
            </a:endParaRPr>
          </a:p>
        </p:txBody>
      </p:sp>
    </p:spTree>
  </p:cSld>
  <p:clrMapOvr>
    <a:masterClrMapping/>
  </p:clrMapOvr>
</p:sld>
</file>

<file path=ppt/slides/slide3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a:t>
                </a:r>
                <a14:m>
                  <m:oMath xmlns:m="http://schemas.openxmlformats.org/officeDocument/2006/math">
                    <m:r>
                      <a:rPr lang="en-IN" sz="2400" i="1">
                        <a:solidFill>
                          <a:srgbClr val="111827"/>
                        </a:solidFill>
                        <a:latin typeface="Cambria Math" panose="02040503050406030204" pitchFamily="18" charset="0"/>
                      </a:rPr>
                      <m:t>𝑔</m:t>
                    </m:r>
                  </m:oMath>
                </a14:m>
                <a:r>
                  <a:rPr sz="2400" b="0">
                    <a:solidFill>
                      <a:srgbClr val="111827"/>
                    </a:solidFill>
                    <a:latin typeface="Arial"/>
                  </a:rPr>
                  <a:t> has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distinct zeros in an interval, then </a:t>
                </a:r>
                <a14:m>
                  <m:oMath xmlns:m="http://schemas.openxmlformats.org/officeDocument/2006/math">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has at least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zeros, </a:t>
                </a:r>
                <a14:m>
                  <m:oMath xmlns:m="http://schemas.openxmlformats.org/officeDocument/2006/math">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at least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and in general </a:t>
                </a:r>
                <a14:m>
                  <m:oMath xmlns:m="http://schemas.openxmlformats.org/officeDocument/2006/math">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at least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Always check whether a given line passes through the end points of the graph: such points count as intersections.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Replace a line-intersection condition by zeros of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ℓ</m:t>
                    </m:r>
                  </m:oMath>
                </a14:m>
                <a:r>
                  <a:rPr sz="2400" b="0">
                    <a:solidFill>
                      <a:srgbClr val="111827"/>
                    </a:solidFill>
                    <a:latin typeface="Arial"/>
                  </a:rPr>
                  <a:t>; the derivative of </a:t>
                </a:r>
                <a14:m>
                  <m:oMath xmlns:m="http://schemas.openxmlformats.org/officeDocument/2006/math">
                    <m:r>
                      <a:rPr lang="en-IN" sz="2400" i="1">
                        <a:solidFill>
                          <a:srgbClr val="111827"/>
                        </a:solidFill>
                        <a:latin typeface="Cambria Math" panose="02040503050406030204" pitchFamily="18" charset="0"/>
                      </a:rPr>
                      <m:t>𝑔</m:t>
                    </m:r>
                  </m:oMath>
                </a14:m>
                <a:r>
                  <a:rPr sz="2400" b="0">
                    <a:solidFill>
                      <a:srgbClr val="111827"/>
                    </a:solidFill>
                    <a:latin typeface="Arial"/>
                  </a:rPr>
                  <a:t> is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minus the slope, and </a:t>
                </a:r>
                <a14:m>
                  <m:oMath xmlns:m="http://schemas.openxmlformats.org/officeDocument/2006/math">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$g$</a:t>
                </a:r>
                <a:r>
                  <a:rPr sz="2400" b="0">
                    <a:solidFill>
                      <a:srgbClr val="111827"/>
                    </a:solidFill>
                    <a:latin typeface="Arial"/>
                  </a:rPr>
                  <a:t> has </a:t>
                </a:r>
                <a:r>
                  <a:rPr lang="en-IN" sz="2400">
                    <a:solidFill>
                      <a:srgbClr val="111827"/>
                    </a:solidFill>
                    <a:latin typeface="Cambria Math" panose="02040503050406030204" pitchFamily="18" charset="0"/>
                  </a:rPr>
                  <a:t>$n$</a:t>
                </a:r>
                <a:r>
                  <a:rPr sz="2400" b="0">
                    <a:solidFill>
                      <a:srgbClr val="111827"/>
                    </a:solidFill>
                    <a:latin typeface="Arial"/>
                  </a:rPr>
                  <a:t> distinct zeros in an interval, then </a:t>
                </a:r>
                <a:r>
                  <a:rPr lang="en-IN" sz="2400">
                    <a:solidFill>
                      <a:srgbClr val="111827"/>
                    </a:solidFill>
                    <a:latin typeface="Cambria Math" panose="02040503050406030204" pitchFamily="18" charset="0"/>
                  </a:rPr>
                  <a:t>$g'$</a:t>
                </a:r>
                <a:r>
                  <a:rPr sz="2400" b="0">
                    <a:solidFill>
                      <a:srgbClr val="111827"/>
                    </a:solidFill>
                    <a:latin typeface="Arial"/>
                  </a:rPr>
                  <a:t> has at least </a:t>
                </a:r>
                <a:r>
                  <a:rPr lang="en-IN" sz="2400">
                    <a:solidFill>
                      <a:srgbClr val="111827"/>
                    </a:solidFill>
                    <a:latin typeface="Cambria Math" panose="02040503050406030204" pitchFamily="18" charset="0"/>
                  </a:rPr>
                  <a:t>$n-1$</a:t>
                </a:r>
                <a:r>
                  <a:rPr sz="2400" b="0">
                    <a:solidFill>
                      <a:srgbClr val="111827"/>
                    </a:solidFill>
                    <a:latin typeface="Arial"/>
                  </a:rPr>
                  <a:t> zeros, </a:t>
                </a:r>
                <a:r>
                  <a:rPr lang="en-IN" sz="2400">
                    <a:solidFill>
                      <a:srgbClr val="111827"/>
                    </a:solidFill>
                    <a:latin typeface="Cambria Math" panose="02040503050406030204" pitchFamily="18" charset="0"/>
                  </a:rPr>
                  <a:t>$g''$</a:t>
                </a:r>
                <a:r>
                  <a:rPr sz="2400" b="0">
                    <a:solidFill>
                      <a:srgbClr val="111827"/>
                    </a:solidFill>
                    <a:latin typeface="Arial"/>
                  </a:rPr>
                  <a:t> at least </a:t>
                </a:r>
                <a:r>
                  <a:rPr lang="en-IN" sz="2400">
                    <a:solidFill>
                      <a:srgbClr val="111827"/>
                    </a:solidFill>
                    <a:latin typeface="Cambria Math" panose="02040503050406030204" pitchFamily="18" charset="0"/>
                  </a:rPr>
                  <a:t>$n-2$</a:t>
                </a:r>
                <a:r>
                  <a:rPr sz="2400" b="0">
                    <a:solidFill>
                      <a:srgbClr val="111827"/>
                    </a:solidFill>
                    <a:latin typeface="Arial"/>
                  </a:rPr>
                  <a:t>, and in general </a:t>
                </a:r>
                <a:r>
                  <a:rPr lang="en-IN" sz="2400">
                    <a:solidFill>
                      <a:srgbClr val="111827"/>
                    </a:solidFill>
                    <a:latin typeface="Cambria Math" panose="02040503050406030204" pitchFamily="18" charset="0"/>
                  </a:rPr>
                  <a:t>$g^{(k)}$</a:t>
                </a:r>
                <a:r>
                  <a:rPr sz="2400" b="0">
                    <a:solidFill>
                      <a:srgbClr val="111827"/>
                    </a:solidFill>
                    <a:latin typeface="Arial"/>
                  </a:rPr>
                  <a:t> at least </a:t>
                </a:r>
                <a:r>
                  <a:rPr lang="en-IN" sz="2400">
                    <a:solidFill>
                      <a:srgbClr val="111827"/>
                    </a:solidFill>
                    <a:latin typeface="Cambria Math" panose="02040503050406030204" pitchFamily="18" charset="0"/>
                  </a:rPr>
                  <a:t>$n-k$</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Always check whether a given line passes through the end points of the graph: such points count as intersections.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Replace a line-intersection condition by zeros of </a:t>
                </a:r>
                <a:r>
                  <a:rPr lang="en-IN" sz="2400">
                    <a:solidFill>
                      <a:srgbClr val="111827"/>
                    </a:solidFill>
                    <a:latin typeface="Cambria Math" panose="02040503050406030204" pitchFamily="18" charset="0"/>
                  </a:rPr>
                  <a:t>$g=f-\ell$</a:t>
                </a:r>
                <a:r>
                  <a:rPr sz="2400" b="0">
                    <a:solidFill>
                      <a:srgbClr val="111827"/>
                    </a:solidFill>
                    <a:latin typeface="Arial"/>
                  </a:rPr>
                  <a:t>; the derivative of </a:t>
                </a:r>
                <a:r>
                  <a:rPr lang="en-IN" sz="2400">
                    <a:solidFill>
                      <a:srgbClr val="111827"/>
                    </a:solidFill>
                    <a:latin typeface="Cambria Math" panose="02040503050406030204" pitchFamily="18" charset="0"/>
                  </a:rPr>
                  <a:t>$g$</a:t>
                </a:r>
                <a:r>
                  <a:rPr sz="2400" b="0">
                    <a:solidFill>
                      <a:srgbClr val="111827"/>
                    </a:solidFill>
                    <a:latin typeface="Arial"/>
                  </a:rPr>
                  <a:t> is </a:t>
                </a:r>
                <a:r>
                  <a:rPr lang="en-IN" sz="2400">
                    <a:solidFill>
                      <a:srgbClr val="111827"/>
                    </a:solidFill>
                    <a:latin typeface="Cambria Math" panose="02040503050406030204" pitchFamily="18" charset="0"/>
                  </a:rPr>
                  <a:t>$f'$</a:t>
                </a:r>
                <a:r>
                  <a:rPr sz="2400" b="0">
                    <a:solidFill>
                      <a:srgbClr val="111827"/>
                    </a:solidFill>
                    <a:latin typeface="Arial"/>
                  </a:rPr>
                  <a:t> minus the slope, and </a:t>
                </a:r>
                <a:r>
                  <a:rPr lang="en-IN" sz="2400">
                    <a:solidFill>
                      <a:srgbClr val="111827"/>
                    </a:solidFill>
                    <a:latin typeface="Cambria Math" panose="02040503050406030204" pitchFamily="18" charset="0"/>
                  </a:rPr>
                  <a:t>$g''=f''$</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4434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the absolute maximum value of the function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180</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31</m:t>
                        </m:r>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in the interval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then:</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endParaRPr sz="2400">
                  <a:solidFill>
                    <a:srgbClr val="111827"/>
                  </a:solidFill>
                </a:endParaRPr>
              </a:p>
            </p:txBody>
          </p:sp>
        </mc:Choice>
        <mc:Fallback>
          <p:sp>
            <p:nvSpPr>
              <p:cNvPr id="4" name="Rounded Rectangle 3"/>
              <p:cNvSpPr/>
              <p:nvPr/>
            </p:nvSpPr>
            <p:spPr>
              <a:xfrm>
                <a:off x="731520" y="1280160"/>
                <a:ext cx="10725912" cy="24434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the absolute maximum value of the function </a:t>
                </a:r>
                <a:r>
                  <a:rPr lang="en-IN" sz="2400">
                    <a:solidFill>
                      <a:srgbClr val="111827"/>
                    </a:solidFill>
                    <a:latin typeface="Cambria Math" panose="02040503050406030204" pitchFamily="18" charset="0"/>
                  </a:rPr>
                  <a:t>$f(x)=(x^2-2x+7)\,e^{(4x^3-12x^2-180x+31)}$</a:t>
                </a:r>
                <a:r>
                  <a:rPr sz="2400" b="0">
                    <a:solidFill>
                      <a:srgbClr val="111827"/>
                    </a:solidFill>
                    <a:latin typeface="Arial"/>
                  </a:rPr>
                  <a:t> in the interval </a:t>
                </a:r>
                <a:r>
                  <a:rPr lang="en-IN" sz="2400">
                    <a:solidFill>
                      <a:srgbClr val="111827"/>
                    </a:solidFill>
                    <a:latin typeface="Cambria Math" panose="02040503050406030204" pitchFamily="18" charset="0"/>
                  </a:rPr>
                  <a:t>$[-3,0]$</a:t>
                </a:r>
                <a:r>
                  <a:rPr sz="2400" b="0">
                    <a:solidFill>
                      <a:srgbClr val="111827"/>
                    </a:solidFill>
                    <a:latin typeface="Arial"/>
                  </a:rPr>
                  <a:t> is </a:t>
                </a:r>
                <a:r>
                  <a:rPr lang="en-IN" sz="2400">
                    <a:solidFill>
                      <a:srgbClr val="111827"/>
                    </a:solidFill>
                    <a:latin typeface="Cambria Math" panose="02040503050406030204" pitchFamily="18" charset="0"/>
                  </a:rPr>
                  <a:t>$f(\alpha)$</a:t>
                </a:r>
                <a:r>
                  <a:rPr sz="2400" b="0">
                    <a:solidFill>
                      <a:srgbClr val="111827"/>
                    </a:solidFill>
                    <a:latin typeface="Arial"/>
                  </a:rPr>
                  <a:t>, then:</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$\alpha=0$</a:t>
                </a:r>
                <a:r>
                  <a:rPr sz="2400" b="0">
                    <a:solidFill>
                      <a:srgbClr val="111827"/>
                    </a:solidFill>
                    <a:latin typeface="Arial"/>
                  </a:rPr>
                  <a:t>   (B) </a:t>
                </a:r>
                <a:r>
                  <a:rPr lang="en-IN" sz="2400">
                    <a:solidFill>
                      <a:srgbClr val="111827"/>
                    </a:solidFill>
                    <a:latin typeface="Cambria Math" panose="02040503050406030204" pitchFamily="18" charset="0"/>
                  </a:rPr>
                  <a:t>$\alpha=-3$</a:t>
                </a:r>
                <a:r>
                  <a:rPr sz="2400" b="0">
                    <a:solidFill>
                      <a:srgbClr val="111827"/>
                    </a:solidFill>
                    <a:latin typeface="Arial"/>
                  </a:rPr>
                  <a:t>   (C) </a:t>
                </a:r>
                <a:r>
                  <a:rPr lang="en-IN" sz="2400">
                    <a:solidFill>
                      <a:srgbClr val="111827"/>
                    </a:solidFill>
                    <a:latin typeface="Cambria Math" panose="02040503050406030204" pitchFamily="18" charset="0"/>
                  </a:rPr>
                  <a:t>$\alpha\in(-1,0)$</a:t>
                </a:r>
                <a:r>
                  <a:rPr sz="2400" b="0">
                    <a:solidFill>
                      <a:srgbClr val="111827"/>
                    </a:solidFill>
                    <a:latin typeface="Arial"/>
                  </a:rPr>
                  <a:t>   (D) </a:t>
                </a:r>
                <a:r>
                  <a:rPr lang="en-IN" sz="2400">
                    <a:solidFill>
                      <a:srgbClr val="111827"/>
                    </a:solidFill>
                    <a:latin typeface="Cambria Math" panose="02040503050406030204" pitchFamily="18" charset="0"/>
                  </a:rPr>
                  <a:t>$\alpha\in(-3,-1]$</a:t>
                </a:r>
                <a:endParaRPr sz="2400">
                  <a:solidFill>
                    <a:srgbClr val="111827"/>
                  </a:solidFill>
                </a:endParaRPr>
              </a:p>
            </p:txBody>
          </p:sp>
        </mc:Fallback>
      </mc:AlternateContent>
      <p:sp>
        <p:nvSpPr>
          <p:cNvPr id="5" name="Rectangle 4"/>
          <p:cNvSpPr/>
          <p:nvPr/>
        </p:nvSpPr>
        <p:spPr>
          <a:xfrm>
            <a:off x="731520" y="3952239"/>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Monotonicity and absolute extrema</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3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On a closed interval, show the derivative keeps one sign, so the extremum is at an end point.</a:t>
            </a:r>
            <a:endParaRPr sz="24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180</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31</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up>
                    </m:sSup>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so the first term is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$g(x)=4x^3-12x^2-180x+31$</a:t>
                </a:r>
                <a:r>
                  <a:rPr sz="2400" b="0">
                    <a:solidFill>
                      <a:srgbClr val="111827"/>
                    </a:solidFill>
                    <a:latin typeface="Arial"/>
                  </a:rPr>
                  <a:t>, so </a:t>
                </a:r>
                <a:r>
                  <a:rPr lang="en-IN" sz="2400">
                    <a:solidFill>
                      <a:srgbClr val="111827"/>
                    </a:solidFill>
                    <a:latin typeface="Cambria Math" panose="02040503050406030204" pitchFamily="18" charset="0"/>
                  </a:rPr>
                  <a:t>$f(x)=(x^2-2x+7)e^{g(x)}$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$g'(x)=12x^2-24x-180=12(x-5)(x+3)$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$f'(x)=e^{g(x)}\left[12(x^2-2x+7)(x+3)(x-5)+2(x-1)\right]$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$x\in[-3,0]$</a:t>
                </a:r>
                <a:r>
                  <a:rPr sz="2400" b="0">
                    <a:solidFill>
                      <a:srgbClr val="111827"/>
                    </a:solidFill>
                    <a:latin typeface="Arial"/>
                  </a:rPr>
                  <a:t>: </a:t>
                </a:r>
                <a:r>
                  <a:rPr lang="en-IN" sz="2400">
                    <a:solidFill>
                      <a:srgbClr val="111827"/>
                    </a:solidFill>
                    <a:latin typeface="Cambria Math" panose="02040503050406030204" pitchFamily="18" charset="0"/>
                  </a:rPr>
                  <a:t>$x+3\ge0$</a:t>
                </a:r>
                <a:r>
                  <a:rPr sz="2400" b="0">
                    <a:solidFill>
                      <a:srgbClr val="111827"/>
                    </a:solidFill>
                    <a:latin typeface="Arial"/>
                  </a:rPr>
                  <a:t>, </a:t>
                </a:r>
                <a:r>
                  <a:rPr lang="en-IN" sz="2400">
                    <a:solidFill>
                      <a:srgbClr val="111827"/>
                    </a:solidFill>
                    <a:latin typeface="Cambria Math" panose="02040503050406030204" pitchFamily="18" charset="0"/>
                  </a:rPr>
                  <a:t>$x-5&lt;0$</a:t>
                </a:r>
                <a:r>
                  <a:rPr sz="2400" b="0">
                    <a:solidFill>
                      <a:srgbClr val="111827"/>
                    </a:solidFill>
                    <a:latin typeface="Arial"/>
                  </a:rPr>
                  <a:t> and </a:t>
                </a:r>
                <a:r>
                  <a:rPr lang="en-IN" sz="2400">
                    <a:solidFill>
                      <a:srgbClr val="111827"/>
                    </a:solidFill>
                    <a:latin typeface="Cambria Math" panose="02040503050406030204" pitchFamily="18" charset="0"/>
                  </a:rPr>
                  <a:t>$x^2-2x+7&gt;0$</a:t>
                </a:r>
                <a:r>
                  <a:rPr sz="2400" b="0">
                    <a:solidFill>
                      <a:srgbClr val="111827"/>
                    </a:solidFill>
                    <a:latin typeface="Arial"/>
                  </a:rPr>
                  <a:t>, so the first term is </a:t>
                </a:r>
                <a:r>
                  <a:rPr lang="en-IN" sz="2400">
                    <a:solidFill>
                      <a:srgbClr val="111827"/>
                    </a:solidFill>
                    <a:latin typeface="Cambria Math" panose="02040503050406030204" pitchFamily="18" charset="0"/>
                  </a:rPr>
                  <a:t>$\le0$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Also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on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the second term is negative.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on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is strictly decreasing there.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decreasing function has its absolute maximum at the left end point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Also </a:t>
                </a:r>
                <a:r>
                  <a:rPr lang="en-IN" sz="2400">
                    <a:solidFill>
                      <a:srgbClr val="111827"/>
                    </a:solidFill>
                    <a:latin typeface="Cambria Math" panose="02040503050406030204" pitchFamily="18" charset="0"/>
                  </a:rPr>
                  <a:t>$2(x-1)&lt;0$</a:t>
                </a:r>
                <a:r>
                  <a:rPr sz="2400" b="0">
                    <a:solidFill>
                      <a:srgbClr val="111827"/>
                    </a:solidFill>
                    <a:latin typeface="Arial"/>
                  </a:rPr>
                  <a:t> on </a:t>
                </a:r>
                <a:r>
                  <a:rPr lang="en-IN" sz="2400">
                    <a:solidFill>
                      <a:srgbClr val="111827"/>
                    </a:solidFill>
                    <a:latin typeface="Cambria Math" panose="02040503050406030204" pitchFamily="18" charset="0"/>
                  </a:rPr>
                  <a:t>$[-3,0]$</a:t>
                </a:r>
                <a:r>
                  <a:rPr sz="2400" b="0">
                    <a:solidFill>
                      <a:srgbClr val="111827"/>
                    </a:solidFill>
                    <a:latin typeface="Arial"/>
                  </a:rPr>
                  <a:t>, so the second term is negative.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$f'(x)&lt;0$</a:t>
                </a:r>
                <a:r>
                  <a:rPr sz="2400" b="0">
                    <a:solidFill>
                      <a:srgbClr val="111827"/>
                    </a:solidFill>
                    <a:latin typeface="Arial"/>
                  </a:rPr>
                  <a:t> on </a:t>
                </a:r>
                <a:r>
                  <a:rPr lang="en-IN" sz="2400">
                    <a:solidFill>
                      <a:srgbClr val="111827"/>
                    </a:solidFill>
                    <a:latin typeface="Cambria Math" panose="02040503050406030204" pitchFamily="18" charset="0"/>
                  </a:rPr>
                  <a:t>$[-3,0]$</a:t>
                </a:r>
                <a:r>
                  <a:rPr sz="2400" b="0">
                    <a:solidFill>
                      <a:srgbClr val="111827"/>
                    </a:solidFill>
                    <a:latin typeface="Arial"/>
                  </a:rPr>
                  <a:t> and </a:t>
                </a:r>
                <a:r>
                  <a:rPr lang="en-IN" sz="2400">
                    <a:solidFill>
                      <a:srgbClr val="111827"/>
                    </a:solidFill>
                    <a:latin typeface="Cambria Math" panose="02040503050406030204" pitchFamily="18" charset="0"/>
                  </a:rPr>
                  <a:t>$f$</a:t>
                </a:r>
                <a:r>
                  <a:rPr sz="2400" b="0">
                    <a:solidFill>
                      <a:srgbClr val="111827"/>
                    </a:solidFill>
                    <a:latin typeface="Arial"/>
                  </a:rPr>
                  <a:t> is strictly decreasing there.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decreasing function has its absolute maximum at the left end point </a:t>
                </a:r>
                <a:r>
                  <a:rPr lang="en-IN" sz="2400">
                    <a:solidFill>
                      <a:srgbClr val="111827"/>
                    </a:solidFill>
                    <a:latin typeface="Cambria Math" panose="02040503050406030204" pitchFamily="18" charset="0"/>
                  </a:rPr>
                  <a:t>$x=-3$</a:t>
                </a:r>
                <a:r>
                  <a:rPr sz="2400" b="0">
                    <a:solidFill>
                      <a:srgbClr val="111827"/>
                    </a:solidFill>
                    <a:latin typeface="Arial"/>
                  </a:rPr>
                  <a:t>, so </a:t>
                </a:r>
                <a:r>
                  <a:rPr lang="en-IN" sz="2400">
                    <a:solidFill>
                      <a:srgbClr val="111827"/>
                    </a:solidFill>
                    <a:latin typeface="Cambria Math" panose="02040503050406030204" pitchFamily="18" charset="0"/>
                  </a:rPr>
                  <a:t>$\alpha=-3$</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14:m>
                  <m:oMath xmlns:m="http://schemas.openxmlformats.org/officeDocument/2006/math">
                    <m:r>
                      <a:rPr lang="en-IN" sz="2800" i="1">
                        <a:solidFill>
                          <a:srgbClr val="15803D"/>
                        </a:solidFill>
                        <a:latin typeface="Cambria Math" panose="02040503050406030204" pitchFamily="18" charset="0"/>
                      </a:rPr>
                      <m:t>α</m:t>
                    </m:r>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3</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r>
                  <a:rPr lang="en-IN" sz="2800">
                    <a:solidFill>
                      <a:srgbClr val="15803D"/>
                    </a:solidFill>
                    <a:latin typeface="Cambria Math" panose="02040503050406030204" pitchFamily="18" charset="0"/>
                  </a:rPr>
                  <a:t>$\alpha=-3$</a:t>
                </a:r>
                <a:endParaRPr sz="2800">
                  <a:solidFill>
                    <a:srgbClr val="15803D"/>
                  </a:solidFill>
                </a:endParaRPr>
              </a:p>
            </p:txBody>
          </p:sp>
        </mc:Fallback>
      </mc:AlternateContent>
    </p:spTree>
  </p:cSld>
  <p:clrMapOvr>
    <a:masterClrMapping/>
  </p:clrMapOvr>
</p:sld>
</file>

<file path=ppt/slides/slide3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Product of two positive decreasing functions is decreasing, so no product-rule expansion is needed.</a:t>
            </a:r>
            <a:endParaRPr sz="2400">
              <a:solidFill>
                <a:srgbClr val="78350F"/>
              </a:solidFill>
            </a:endParaRPr>
          </a:p>
        </p:txBody>
      </p:sp>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𝑢</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on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𝑢</m:t>
                    </m:r>
                  </m:oMath>
                </a14:m>
                <a:r>
                  <a:rPr sz="2400" b="0">
                    <a:solidFill>
                      <a:srgbClr val="111827"/>
                    </a:solidFill>
                    <a:latin typeface="Arial"/>
                  </a:rPr>
                  <a:t> is positive and decreasing.</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𝑣</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with </a:t>
                </a:r>
                <a14:m>
                  <m:oMath xmlns:m="http://schemas.openxmlformats.org/officeDocument/2006/math">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on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𝑔</m:t>
                    </m:r>
                  </m:oMath>
                </a14:m>
                <a:r>
                  <a:rPr sz="2400" b="0">
                    <a:solidFill>
                      <a:srgbClr val="111827"/>
                    </a:solidFill>
                    <a:latin typeface="Arial"/>
                  </a:rPr>
                  <a:t> decreases and </a:t>
                </a:r>
                <a14:m>
                  <m:oMath xmlns:m="http://schemas.openxmlformats.org/officeDocument/2006/math">
                    <m:r>
                      <a:rPr lang="en-IN" sz="2400" i="1">
                        <a:solidFill>
                          <a:srgbClr val="111827"/>
                        </a:solidFill>
                        <a:latin typeface="Cambria Math" panose="02040503050406030204" pitchFamily="18" charset="0"/>
                      </a:rPr>
                      <m:t>𝑣</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decreases.</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$u(x)=x^2-2x+7$</a:t>
                </a:r>
                <a:r>
                  <a:rPr sz="2400" b="0">
                    <a:solidFill>
                      <a:srgbClr val="111827"/>
                    </a:solidFill>
                    <a:latin typeface="Arial"/>
                  </a:rPr>
                  <a:t>; </a:t>
                </a:r>
                <a:r>
                  <a:rPr lang="en-IN" sz="2400">
                    <a:solidFill>
                      <a:srgbClr val="111827"/>
                    </a:solidFill>
                    <a:latin typeface="Cambria Math" panose="02040503050406030204" pitchFamily="18" charset="0"/>
                  </a:rPr>
                  <a:t>$u'(x)=2(x-1)&lt;0$</a:t>
                </a:r>
                <a:r>
                  <a:rPr sz="2400" b="0">
                    <a:solidFill>
                      <a:srgbClr val="111827"/>
                    </a:solidFill>
                    <a:latin typeface="Arial"/>
                  </a:rPr>
                  <a:t> on </a:t>
                </a:r>
                <a:r>
                  <a:rPr lang="en-IN" sz="2400">
                    <a:solidFill>
                      <a:srgbClr val="111827"/>
                    </a:solidFill>
                    <a:latin typeface="Cambria Math" panose="02040503050406030204" pitchFamily="18" charset="0"/>
                  </a:rPr>
                  <a:t>$[-3,0]$</a:t>
                </a:r>
                <a:r>
                  <a:rPr sz="2400" b="0">
                    <a:solidFill>
                      <a:srgbClr val="111827"/>
                    </a:solidFill>
                    <a:latin typeface="Arial"/>
                  </a:rPr>
                  <a:t> and </a:t>
                </a:r>
                <a:r>
                  <a:rPr lang="en-IN" sz="2400">
                    <a:solidFill>
                      <a:srgbClr val="111827"/>
                    </a:solidFill>
                    <a:latin typeface="Cambria Math" panose="02040503050406030204" pitchFamily="18" charset="0"/>
                  </a:rPr>
                  <a:t>$u&gt;0$</a:t>
                </a:r>
                <a:r>
                  <a:rPr sz="2400" b="0">
                    <a:solidFill>
                      <a:srgbClr val="111827"/>
                    </a:solidFill>
                    <a:latin typeface="Arial"/>
                  </a:rPr>
                  <a:t>, so </a:t>
                </a:r>
                <a:r>
                  <a:rPr lang="en-IN" sz="2400">
                    <a:solidFill>
                      <a:srgbClr val="111827"/>
                    </a:solidFill>
                    <a:latin typeface="Cambria Math" panose="02040503050406030204" pitchFamily="18" charset="0"/>
                  </a:rPr>
                  <a:t>$u$</a:t>
                </a:r>
                <a:r>
                  <a:rPr sz="2400" b="0">
                    <a:solidFill>
                      <a:srgbClr val="111827"/>
                    </a:solidFill>
                    <a:latin typeface="Arial"/>
                  </a:rPr>
                  <a:t> is positive and decreasing.</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$v(x)=e^{g(x)}$</a:t>
                </a:r>
                <a:r>
                  <a:rPr sz="2400" b="0">
                    <a:solidFill>
                      <a:srgbClr val="111827"/>
                    </a:solidFill>
                    <a:latin typeface="Arial"/>
                  </a:rPr>
                  <a:t> with </a:t>
                </a:r>
                <a:r>
                  <a:rPr lang="en-IN" sz="2400">
                    <a:solidFill>
                      <a:srgbClr val="111827"/>
                    </a:solidFill>
                    <a:latin typeface="Cambria Math" panose="02040503050406030204" pitchFamily="18" charset="0"/>
                  </a:rPr>
                  <a:t>$g'(x)=12(x+3)(x-5)\le0$</a:t>
                </a:r>
                <a:r>
                  <a:rPr sz="2400" b="0">
                    <a:solidFill>
                      <a:srgbClr val="111827"/>
                    </a:solidFill>
                    <a:latin typeface="Arial"/>
                  </a:rPr>
                  <a:t> on </a:t>
                </a:r>
                <a:r>
                  <a:rPr lang="en-IN" sz="2400">
                    <a:solidFill>
                      <a:srgbClr val="111827"/>
                    </a:solidFill>
                    <a:latin typeface="Cambria Math" panose="02040503050406030204" pitchFamily="18" charset="0"/>
                  </a:rPr>
                  <a:t>$[-3,0]$</a:t>
                </a:r>
                <a:r>
                  <a:rPr sz="2400" b="0">
                    <a:solidFill>
                      <a:srgbClr val="111827"/>
                    </a:solidFill>
                    <a:latin typeface="Arial"/>
                  </a:rPr>
                  <a:t>, so </a:t>
                </a:r>
                <a:r>
                  <a:rPr lang="en-IN" sz="2400">
                    <a:solidFill>
                      <a:srgbClr val="111827"/>
                    </a:solidFill>
                    <a:latin typeface="Cambria Math" panose="02040503050406030204" pitchFamily="18" charset="0"/>
                  </a:rPr>
                  <a:t>$g$</a:t>
                </a:r>
                <a:r>
                  <a:rPr sz="2400" b="0">
                    <a:solidFill>
                      <a:srgbClr val="111827"/>
                    </a:solidFill>
                    <a:latin typeface="Arial"/>
                  </a:rPr>
                  <a:t> decreases and </a:t>
                </a:r>
                <a:r>
                  <a:rPr lang="en-IN" sz="2400">
                    <a:solidFill>
                      <a:srgbClr val="111827"/>
                    </a:solidFill>
                    <a:latin typeface="Cambria Math" panose="02040503050406030204" pitchFamily="18" charset="0"/>
                  </a:rPr>
                  <a:t>$v&gt;0$</a:t>
                </a:r>
                <a:r>
                  <a:rPr sz="2400" b="0">
                    <a:solidFill>
                      <a:srgbClr val="111827"/>
                    </a:solidFill>
                    <a:latin typeface="Arial"/>
                  </a:rPr>
                  <a:t> decreases.</a:t>
                </a:r>
                <a:endParaRPr sz="2400">
                  <a:solidFill>
                    <a:srgbClr val="111827"/>
                  </a:solidFill>
                </a:endParaRPr>
              </a:p>
            </p:txBody>
          </p:sp>
        </mc:Fallback>
      </mc:AlternateContent>
    </p:spTree>
  </p:cSld>
  <p:clrMapOvr>
    <a:masterClrMapping/>
  </p:clrMapOvr>
</p:sld>
</file>

<file path=ppt/slides/slide3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&lt;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𝑣</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𝑣</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𝑣</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𝑣</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(strict since </a:t>
                </a:r>
                <a14:m>
                  <m:oMath xmlns:m="http://schemas.openxmlformats.org/officeDocument/2006/math">
                    <m:r>
                      <a:rPr lang="en-IN" sz="2400" i="1">
                        <a:solidFill>
                          <a:srgbClr val="111827"/>
                        </a:solidFill>
                        <a:latin typeface="Cambria Math" panose="02040503050406030204" pitchFamily="18" charset="0"/>
                      </a:rPr>
                      <m:t>𝑢</m:t>
                    </m:r>
                  </m:oMath>
                </a14:m>
                <a:r>
                  <a:rPr sz="2400" b="0">
                    <a:solidFill>
                      <a:srgbClr val="111827"/>
                    </a:solidFill>
                    <a:latin typeface="Arial"/>
                  </a:rPr>
                  <a:t> is strictly decreasing).</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r>
                      <a:rPr lang="en-IN" sz="2400" i="1">
                        <a:solidFill>
                          <a:srgbClr val="111827"/>
                        </a:solidFill>
                        <a:latin typeface="Cambria Math" panose="02040503050406030204" pitchFamily="18" charset="0"/>
                      </a:rPr>
                      <m:t>𝑣</m:t>
                    </m:r>
                  </m:oMath>
                </a14:m>
                <a:r>
                  <a:rPr sz="2400" b="0">
                    <a:solidFill>
                      <a:srgbClr val="111827"/>
                    </a:solidFill>
                    <a:latin typeface="Arial"/>
                  </a:rPr>
                  <a:t> is strictly decreasing on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the maximum is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$x_1&lt;x_2$</a:t>
                </a:r>
                <a:r>
                  <a:rPr sz="2400" b="0">
                    <a:solidFill>
                      <a:srgbClr val="111827"/>
                    </a:solidFill>
                    <a:latin typeface="Arial"/>
                  </a:rPr>
                  <a:t> then </a:t>
                </a:r>
                <a:r>
                  <a:rPr lang="en-IN" sz="2400">
                    <a:solidFill>
                      <a:srgbClr val="111827"/>
                    </a:solidFill>
                    <a:latin typeface="Cambria Math" panose="02040503050406030204" pitchFamily="18" charset="0"/>
                  </a:rPr>
                  <a:t>$u(x_1)\ge u(x_2)&gt;0$</a:t>
                </a:r>
                <a:r>
                  <a:rPr sz="2400" b="0">
                    <a:solidFill>
                      <a:srgbClr val="111827"/>
                    </a:solidFill>
                    <a:latin typeface="Arial"/>
                  </a:rPr>
                  <a:t> and </a:t>
                </a:r>
                <a:r>
                  <a:rPr lang="en-IN" sz="2400">
                    <a:solidFill>
                      <a:srgbClr val="111827"/>
                    </a:solidFill>
                    <a:latin typeface="Cambria Math" panose="02040503050406030204" pitchFamily="18" charset="0"/>
                  </a:rPr>
                  <a:t>$v(x_1)\ge v(x_2)&gt;0$</a:t>
                </a:r>
                <a:r>
                  <a:rPr sz="2400" b="0">
                    <a:solidFill>
                      <a:srgbClr val="111827"/>
                    </a:solidFill>
                    <a:latin typeface="Arial"/>
                  </a:rPr>
                  <a:t>, so </a:t>
                </a:r>
                <a:r>
                  <a:rPr lang="en-IN" sz="2400">
                    <a:solidFill>
                      <a:srgbClr val="111827"/>
                    </a:solidFill>
                    <a:latin typeface="Cambria Math" panose="02040503050406030204" pitchFamily="18" charset="0"/>
                  </a:rPr>
                  <a:t>$u(x_1)v(x_1)&gt;u(x_2)v(x_2)$</a:t>
                </a:r>
                <a:r>
                  <a:rPr sz="2400" b="0">
                    <a:solidFill>
                      <a:srgbClr val="111827"/>
                    </a:solidFill>
                    <a:latin typeface="Arial"/>
                  </a:rPr>
                  <a:t> (strict since </a:t>
                </a:r>
                <a:r>
                  <a:rPr lang="en-IN" sz="2400">
                    <a:solidFill>
                      <a:srgbClr val="111827"/>
                    </a:solidFill>
                    <a:latin typeface="Cambria Math" panose="02040503050406030204" pitchFamily="18" charset="0"/>
                  </a:rPr>
                  <a:t>$u$</a:t>
                </a:r>
                <a:r>
                  <a:rPr sz="2400" b="0">
                    <a:solidFill>
                      <a:srgbClr val="111827"/>
                    </a:solidFill>
                    <a:latin typeface="Arial"/>
                  </a:rPr>
                  <a:t> is strictly decreasing).</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$f=uv$</a:t>
                </a:r>
                <a:r>
                  <a:rPr sz="2400" b="0">
                    <a:solidFill>
                      <a:srgbClr val="111827"/>
                    </a:solidFill>
                    <a:latin typeface="Arial"/>
                  </a:rPr>
                  <a:t> is strictly decreasing on </a:t>
                </a:r>
                <a:r>
                  <a:rPr lang="en-IN" sz="2400">
                    <a:solidFill>
                      <a:srgbClr val="111827"/>
                    </a:solidFill>
                    <a:latin typeface="Cambria Math" panose="02040503050406030204" pitchFamily="18" charset="0"/>
                  </a:rPr>
                  <a:t>$[-3,0]$</a:t>
                </a:r>
                <a:r>
                  <a:rPr sz="2400" b="0">
                    <a:solidFill>
                      <a:srgbClr val="111827"/>
                    </a:solidFill>
                    <a:latin typeface="Arial"/>
                  </a:rPr>
                  <a:t> and the maximum is at </a:t>
                </a:r>
                <a:r>
                  <a:rPr lang="en-IN" sz="2400">
                    <a:solidFill>
                      <a:srgbClr val="111827"/>
                    </a:solidFill>
                    <a:latin typeface="Cambria Math" panose="02040503050406030204" pitchFamily="18" charset="0"/>
                  </a:rPr>
                  <a:t>$x=-3$</a:t>
                </a:r>
                <a:r>
                  <a:rPr sz="2400" b="0">
                    <a:solidFill>
                      <a:srgbClr val="111827"/>
                    </a:solidFill>
                    <a:latin typeface="Arial"/>
                  </a:rPr>
                  <a:t>, so </a:t>
                </a:r>
                <a:r>
                  <a:rPr lang="en-IN" sz="2400">
                    <a:solidFill>
                      <a:srgbClr val="111827"/>
                    </a:solidFill>
                    <a:latin typeface="Cambria Math" panose="02040503050406030204" pitchFamily="18" charset="0"/>
                  </a:rPr>
                  <a:t>$\alpha=-3$</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a:t>
                </a:r>
                <a14:m>
                  <m:oMath xmlns:m="http://schemas.openxmlformats.org/officeDocument/2006/math">
                    <m:r>
                      <a:rPr lang="en-IN" sz="2800" i="1">
                        <a:solidFill>
                          <a:srgbClr val="15803D"/>
                        </a:solidFill>
                        <a:latin typeface="Cambria Math" panose="02040503050406030204" pitchFamily="18" charset="0"/>
                      </a:rPr>
                      <m:t>α</m:t>
                    </m:r>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3</m:t>
                    </m:r>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a:t>
                </a:r>
                <a:r>
                  <a:rPr lang="en-IN" sz="2800">
                    <a:solidFill>
                      <a:srgbClr val="15803D"/>
                    </a:solidFill>
                    <a:latin typeface="Cambria Math" panose="02040503050406030204" pitchFamily="18" charset="0"/>
                  </a:rPr>
                  <a:t>$\alpha=-3$</a:t>
                </a:r>
                <a:endParaRPr sz="2800">
                  <a:solidFill>
                    <a:srgbClr val="15803D"/>
                  </a:solidFill>
                </a:endParaRPr>
              </a:p>
            </p:txBody>
          </p:sp>
        </mc:Fallback>
      </mc:AlternateContent>
    </p:spTree>
  </p:cSld>
  <p:clrMapOvr>
    <a:masterClrMapping/>
  </p:clrMapOvr>
</p:sld>
</file>

<file path=ppt/slides/slide3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product of two positive functions that are both decreasing (or both increasing) is decreasing (increasing).</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has the same monotonicity as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only the exponent's derivative matters.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continuous function with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of one sign 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has its extrema at the end points; check signs by factorising the derivative.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Don't solve a messy cubic times exponential; a sign argument is enough.</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product of two positive functions that are both decreasing (or both increasing) is decreasing (increasing).</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$e^{g(x)}$</a:t>
                </a:r>
                <a:r>
                  <a:rPr sz="2400" b="0">
                    <a:solidFill>
                      <a:srgbClr val="111827"/>
                    </a:solidFill>
                    <a:latin typeface="Arial"/>
                  </a:rPr>
                  <a:t> has the same monotonicity as </a:t>
                </a:r>
                <a:r>
                  <a:rPr lang="en-IN" sz="2400">
                    <a:solidFill>
                      <a:srgbClr val="111827"/>
                    </a:solidFill>
                    <a:latin typeface="Cambria Math" panose="02040503050406030204" pitchFamily="18" charset="0"/>
                  </a:rPr>
                  <a:t>$g(x)$</a:t>
                </a:r>
                <a:r>
                  <a:rPr sz="2400" b="0">
                    <a:solidFill>
                      <a:srgbClr val="111827"/>
                    </a:solidFill>
                    <a:latin typeface="Arial"/>
                  </a:rPr>
                  <a:t>, so only the exponent's derivative matters.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continuous function with </a:t>
                </a:r>
                <a:r>
                  <a:rPr lang="en-IN" sz="2400">
                    <a:solidFill>
                      <a:srgbClr val="111827"/>
                    </a:solidFill>
                    <a:latin typeface="Cambria Math" panose="02040503050406030204" pitchFamily="18" charset="0"/>
                  </a:rPr>
                  <a:t>$f'$</a:t>
                </a:r>
                <a:r>
                  <a:rPr sz="2400" b="0">
                    <a:solidFill>
                      <a:srgbClr val="111827"/>
                    </a:solidFill>
                    <a:latin typeface="Arial"/>
                  </a:rPr>
                  <a:t> of one sign on </a:t>
                </a:r>
                <a:r>
                  <a:rPr lang="en-IN" sz="2400">
                    <a:solidFill>
                      <a:srgbClr val="111827"/>
                    </a:solidFill>
                    <a:latin typeface="Cambria Math" panose="02040503050406030204" pitchFamily="18" charset="0"/>
                  </a:rPr>
                  <a:t>$[a,b]$</a:t>
                </a:r>
                <a:r>
                  <a:rPr sz="2400" b="0">
                    <a:solidFill>
                      <a:srgbClr val="111827"/>
                    </a:solidFill>
                    <a:latin typeface="Arial"/>
                  </a:rPr>
                  <a:t> has its extrema at the end points; check signs by factorising the derivative.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Don't solve a messy cubic times exponential; a sign argument is enough.</a:t>
                </a:r>
                <a:endParaRPr sz="2400">
                  <a:solidFill>
                    <a:srgbClr val="111827"/>
                  </a:solidFill>
                </a:endParaRPr>
              </a:p>
            </p:txBody>
          </p:sp>
        </mc:Fallback>
      </mc:AlternateContent>
    </p:spTree>
  </p:cSld>
  <p:clrMapOvr>
    <a:masterClrMapping/>
  </p:clrMapOvr>
</p:sld>
</file>

<file path=ppt/slides/slide3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6629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curve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touches the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-axis at the point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cuts the </a:t>
                </a:r>
                <a14:m>
                  <m:oMath xmlns:m="http://schemas.openxmlformats.org/officeDocument/2006/math">
                    <m:r>
                      <a:rPr lang="en-IN" sz="2400" i="1">
                        <a:solidFill>
                          <a:srgbClr val="111827"/>
                        </a:solidFill>
                        <a:latin typeface="Cambria Math" panose="02040503050406030204" pitchFamily="18" charset="0"/>
                      </a:rPr>
                      <m:t>𝑦</m:t>
                    </m:r>
                  </m:oMath>
                </a14:m>
                <a:r>
                  <a:rPr sz="2400" b="0">
                    <a:solidFill>
                      <a:srgbClr val="111827"/>
                    </a:solidFill>
                    <a:latin typeface="Arial"/>
                  </a:rPr>
                  <a:t>-axis at the point </a:t>
                </a:r>
                <a14:m>
                  <m:oMath xmlns:m="http://schemas.openxmlformats.org/officeDocument/2006/math">
                    <m:r>
                      <a:rPr lang="en-IN" sz="2400" i="1">
                        <a:solidFill>
                          <a:srgbClr val="111827"/>
                        </a:solidFill>
                        <a:latin typeface="Cambria Math" panose="02040503050406030204" pitchFamily="18" charset="0"/>
                      </a:rPr>
                      <m:t>𝑄</m:t>
                    </m:r>
                  </m:oMath>
                </a14:m>
                <a:r>
                  <a:rPr sz="2400" b="0">
                    <a:solidFill>
                      <a:srgbClr val="111827"/>
                    </a:solidFill>
                    <a:latin typeface="Arial"/>
                  </a:rPr>
                  <a:t>, where </a:t>
                </a:r>
                <a14:m>
                  <m:oMath xmlns:m="http://schemas.openxmlformats.org/officeDocument/2006/math">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is equal to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Then the local maximum value of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27</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(B)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29</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(C)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37</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2</m:t>
                        </m:r>
                      </m:den>
                    </m:f>
                  </m:oMath>
                </a14:m>
                <a:endParaRPr sz="2400">
                  <a:solidFill>
                    <a:srgbClr val="111827"/>
                  </a:solidFill>
                </a:endParaRPr>
              </a:p>
            </p:txBody>
          </p:sp>
        </mc:Choice>
        <mc:Fallback>
          <p:sp>
            <p:nvSpPr>
              <p:cNvPr id="4" name="Rounded Rectangle 3"/>
              <p:cNvSpPr/>
              <p:nvPr/>
            </p:nvSpPr>
            <p:spPr>
              <a:xfrm>
                <a:off x="731520" y="1280160"/>
                <a:ext cx="10725912" cy="26629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curve </a:t>
                </a:r>
                <a:r>
                  <a:rPr lang="en-IN" sz="2400">
                    <a:solidFill>
                      <a:srgbClr val="111827"/>
                    </a:solidFill>
                    <a:latin typeface="Cambria Math" panose="02040503050406030204" pitchFamily="18" charset="0"/>
                  </a:rPr>
                  <a:t>$y(x)=ax^3+bx^2+cx+5$</a:t>
                </a:r>
                <a:r>
                  <a:rPr sz="2400" b="0">
                    <a:solidFill>
                      <a:srgbClr val="111827"/>
                    </a:solidFill>
                    <a:latin typeface="Arial"/>
                  </a:rPr>
                  <a:t> touches the </a:t>
                </a:r>
                <a:r>
                  <a:rPr lang="en-IN" sz="2400">
                    <a:solidFill>
                      <a:srgbClr val="111827"/>
                    </a:solidFill>
                    <a:latin typeface="Cambria Math" panose="02040503050406030204" pitchFamily="18" charset="0"/>
                  </a:rPr>
                  <a:t>$x$</a:t>
                </a:r>
                <a:r>
                  <a:rPr sz="2400" b="0">
                    <a:solidFill>
                      <a:srgbClr val="111827"/>
                    </a:solidFill>
                    <a:latin typeface="Arial"/>
                  </a:rPr>
                  <a:t>-axis at the point </a:t>
                </a:r>
                <a:r>
                  <a:rPr lang="en-IN" sz="2400">
                    <a:solidFill>
                      <a:srgbClr val="111827"/>
                    </a:solidFill>
                    <a:latin typeface="Cambria Math" panose="02040503050406030204" pitchFamily="18" charset="0"/>
                  </a:rPr>
                  <a:t>$P(-2,0)$</a:t>
                </a:r>
                <a:r>
                  <a:rPr sz="2400" b="0">
                    <a:solidFill>
                      <a:srgbClr val="111827"/>
                    </a:solidFill>
                    <a:latin typeface="Arial"/>
                  </a:rPr>
                  <a:t> and cuts the </a:t>
                </a:r>
                <a:r>
                  <a:rPr lang="en-IN" sz="2400">
                    <a:solidFill>
                      <a:srgbClr val="111827"/>
                    </a:solidFill>
                    <a:latin typeface="Cambria Math" panose="02040503050406030204" pitchFamily="18" charset="0"/>
                  </a:rPr>
                  <a:t>$y$</a:t>
                </a:r>
                <a:r>
                  <a:rPr sz="2400" b="0">
                    <a:solidFill>
                      <a:srgbClr val="111827"/>
                    </a:solidFill>
                    <a:latin typeface="Arial"/>
                  </a:rPr>
                  <a:t>-axis at the point </a:t>
                </a:r>
                <a:r>
                  <a:rPr lang="en-IN" sz="2400">
                    <a:solidFill>
                      <a:srgbClr val="111827"/>
                    </a:solidFill>
                    <a:latin typeface="Cambria Math" panose="02040503050406030204" pitchFamily="18" charset="0"/>
                  </a:rPr>
                  <a:t>$Q$</a:t>
                </a:r>
                <a:r>
                  <a:rPr sz="2400" b="0">
                    <a:solidFill>
                      <a:srgbClr val="111827"/>
                    </a:solidFill>
                    <a:latin typeface="Arial"/>
                  </a:rPr>
                  <a:t>, where </a:t>
                </a:r>
                <a:r>
                  <a:rPr lang="en-IN" sz="2400">
                    <a:solidFill>
                      <a:srgbClr val="111827"/>
                    </a:solidFill>
                    <a:latin typeface="Cambria Math" panose="02040503050406030204" pitchFamily="18" charset="0"/>
                  </a:rPr>
                  <a:t>$y'$</a:t>
                </a:r>
                <a:r>
                  <a:rPr sz="2400" b="0">
                    <a:solidFill>
                      <a:srgbClr val="111827"/>
                    </a:solidFill>
                    <a:latin typeface="Arial"/>
                  </a:rPr>
                  <a:t> is equal to </a:t>
                </a:r>
                <a:r>
                  <a:rPr lang="en-IN" sz="2400">
                    <a:solidFill>
                      <a:srgbClr val="111827"/>
                    </a:solidFill>
                    <a:latin typeface="Cambria Math" panose="02040503050406030204" pitchFamily="18" charset="0"/>
                  </a:rPr>
                  <a:t>$3$</a:t>
                </a:r>
                <a:r>
                  <a:rPr sz="2400" b="0">
                    <a:solidFill>
                      <a:srgbClr val="111827"/>
                    </a:solidFill>
                    <a:latin typeface="Arial"/>
                  </a:rPr>
                  <a:t>. Then the local maximum value of </a:t>
                </a:r>
                <a:r>
                  <a:rPr lang="en-IN" sz="2400">
                    <a:solidFill>
                      <a:srgbClr val="111827"/>
                    </a:solidFill>
                    <a:latin typeface="Cambria Math" panose="02040503050406030204" pitchFamily="18" charset="0"/>
                  </a:rPr>
                  <a:t>$y(x)$</a:t>
                </a:r>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$\frac{27}{4}$</a:t>
                </a:r>
                <a:r>
                  <a:rPr sz="2400" b="0">
                    <a:solidFill>
                      <a:srgbClr val="111827"/>
                    </a:solidFill>
                    <a:latin typeface="Arial"/>
                  </a:rPr>
                  <a:t>   (B) </a:t>
                </a:r>
                <a:r>
                  <a:rPr lang="en-IN" sz="2400">
                    <a:solidFill>
                      <a:srgbClr val="111827"/>
                    </a:solidFill>
                    <a:latin typeface="Cambria Math" panose="02040503050406030204" pitchFamily="18" charset="0"/>
                  </a:rPr>
                  <a:t>$\frac{29}{4}$</a:t>
                </a:r>
                <a:r>
                  <a:rPr sz="2400" b="0">
                    <a:solidFill>
                      <a:srgbClr val="111827"/>
                    </a:solidFill>
                    <a:latin typeface="Arial"/>
                  </a:rPr>
                  <a:t>   (C) </a:t>
                </a:r>
                <a:r>
                  <a:rPr lang="en-IN" sz="2400">
                    <a:solidFill>
                      <a:srgbClr val="111827"/>
                    </a:solidFill>
                    <a:latin typeface="Cambria Math" panose="02040503050406030204" pitchFamily="18" charset="0"/>
                  </a:rPr>
                  <a:t>$\frac{37}{4}$</a:t>
                </a:r>
                <a:r>
                  <a:rPr sz="2400" b="0">
                    <a:solidFill>
                      <a:srgbClr val="111827"/>
                    </a:solidFill>
                    <a:latin typeface="Arial"/>
                  </a:rPr>
                  <a:t>   (D) </a:t>
                </a:r>
                <a:r>
                  <a:rPr lang="en-IN" sz="2400">
                    <a:solidFill>
                      <a:srgbClr val="111827"/>
                    </a:solidFill>
                    <a:latin typeface="Cambria Math" panose="02040503050406030204" pitchFamily="18" charset="0"/>
                  </a:rPr>
                  <a:t>$\frac92$</a:t>
                </a:r>
                <a:endParaRPr sz="2400">
                  <a:solidFill>
                    <a:srgbClr val="111827"/>
                  </a:solidFill>
                </a:endParaRPr>
              </a:p>
            </p:txBody>
          </p:sp>
        </mc:Fallback>
      </mc:AlternateContent>
      <p:sp>
        <p:nvSpPr>
          <p:cNvPr id="5" name="Rectangle 4"/>
          <p:cNvSpPr/>
          <p:nvPr/>
        </p:nvSpPr>
        <p:spPr>
          <a:xfrm>
            <a:off x="731520" y="4171695"/>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Maxima and minima of a cubic</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3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Touching the axis at </a:t>
                </a:r>
                <a14:m>
                  <m:oMath xmlns:m="http://schemas.openxmlformats.org/officeDocument/2006/math">
                    <m:r>
                      <a:rPr lang="en-IN" sz="2400" i="1">
                        <a:solidFill>
                          <a:srgbClr val="78350F"/>
                        </a:solidFill>
                        <a:latin typeface="Cambria Math" panose="02040503050406030204" pitchFamily="18" charset="0"/>
                      </a:rPr>
                      <m:t>𝑃</m:t>
                    </m:r>
                  </m:oMath>
                </a14:m>
                <a:r>
                  <a:rPr sz="2400" b="0">
                    <a:solidFill>
                      <a:srgbClr val="78350F"/>
                    </a:solidFill>
                    <a:latin typeface="Arial"/>
                  </a:rPr>
                  <a:t> means </a:t>
                </a:r>
                <a14:m>
                  <m:oMath xmlns:m="http://schemas.openxmlformats.org/officeDocument/2006/math">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oMath>
                </a14:m>
                <a:r>
                  <a:rPr sz="2400" b="0">
                    <a:solidFill>
                      <a:srgbClr val="78350F"/>
                    </a:solidFill>
                    <a:latin typeface="Arial"/>
                  </a:rPr>
                  <a:t> and </a:t>
                </a:r>
                <a14:m>
                  <m:oMath xmlns:m="http://schemas.openxmlformats.org/officeDocument/2006/math">
                    <m:sSup>
                      <m:e>
                        <m:r>
                          <a:rPr lang="en-IN" sz="2400" i="1">
                            <a:solidFill>
                              <a:srgbClr val="78350F"/>
                            </a:solidFill>
                            <a:latin typeface="Cambria Math" panose="02040503050406030204" pitchFamily="18" charset="0"/>
                          </a:rPr>
                          <m:t>𝑦</m:t>
                        </m:r>
                      </m:e>
                      <m:sup>
                        <m:r>
                          <m:rPr>
                            <m:sty m:val="p"/>
                          </m:rPr>
                          <a:rPr lang="en-IN" sz="2400">
                            <a:solidFill>
                              <a:srgbClr val="78350F"/>
                            </a:solidFill>
                            <a:latin typeface="Cambria Math" panose="02040503050406030204" pitchFamily="18" charset="0"/>
                          </a:rPr>
                          <m:t>′</m:t>
                        </m:r>
                      </m:sup>
                    </m:sSup>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oMath>
                </a14:m>
                <a:r>
                  <a:rPr sz="2400" b="0">
                    <a:solidFill>
                      <a:srgbClr val="78350F"/>
                    </a:solidFill>
                    <a:latin typeface="Arial"/>
                  </a:rPr>
                  <a:t>, giving three linear equations for </a:t>
                </a:r>
                <a14:m>
                  <m:oMath xmlns:m="http://schemas.openxmlformats.org/officeDocument/2006/math">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𝑏</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𝑐</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Touching the axis at </a:t>
                </a:r>
                <a:r>
                  <a:rPr lang="en-IN" sz="2400">
                    <a:solidFill>
                      <a:srgbClr val="78350F"/>
                    </a:solidFill>
                    <a:latin typeface="Cambria Math" panose="02040503050406030204" pitchFamily="18" charset="0"/>
                  </a:rPr>
                  <a:t>$P$</a:t>
                </a:r>
                <a:r>
                  <a:rPr sz="2400" b="0">
                    <a:solidFill>
                      <a:srgbClr val="78350F"/>
                    </a:solidFill>
                    <a:latin typeface="Arial"/>
                  </a:rPr>
                  <a:t> means </a:t>
                </a:r>
                <a:r>
                  <a:rPr lang="en-IN" sz="2400">
                    <a:solidFill>
                      <a:srgbClr val="78350F"/>
                    </a:solidFill>
                    <a:latin typeface="Cambria Math" panose="02040503050406030204" pitchFamily="18" charset="0"/>
                  </a:rPr>
                  <a:t>$y(-2)=0$</a:t>
                </a:r>
                <a:r>
                  <a:rPr sz="2400" b="0">
                    <a:solidFill>
                      <a:srgbClr val="78350F"/>
                    </a:solidFill>
                    <a:latin typeface="Arial"/>
                  </a:rPr>
                  <a:t> and </a:t>
                </a:r>
                <a:r>
                  <a:rPr lang="en-IN" sz="2400">
                    <a:solidFill>
                      <a:srgbClr val="78350F"/>
                    </a:solidFill>
                    <a:latin typeface="Cambria Math" panose="02040503050406030204" pitchFamily="18" charset="0"/>
                  </a:rPr>
                  <a:t>$y'(-2)=0$</a:t>
                </a:r>
                <a:r>
                  <a:rPr sz="2400" b="0">
                    <a:solidFill>
                      <a:srgbClr val="78350F"/>
                    </a:solidFill>
                    <a:latin typeface="Arial"/>
                  </a:rPr>
                  <a:t>, giving three linear equations for </a:t>
                </a:r>
                <a:r>
                  <a:rPr lang="en-IN" sz="2400">
                    <a:solidFill>
                      <a:srgbClr val="78350F"/>
                    </a:solidFill>
                    <a:latin typeface="Cambria Math" panose="02040503050406030204" pitchFamily="18" charset="0"/>
                  </a:rPr>
                  <a:t>$a,b,c$</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curve passes through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8</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 (1).</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𝑎</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Touching the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-axis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gives </a:t>
                </a:r>
                <a14:m>
                  <m:oMath xmlns:m="http://schemas.openxmlformats.org/officeDocument/2006/math">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12</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 (2).</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At </a:t>
                </a:r>
                <a14:m>
                  <m:oMath xmlns:m="http://schemas.openxmlformats.org/officeDocument/2006/math">
                    <m:r>
                      <a:rPr lang="en-IN" sz="2400" i="1">
                        <a:solidFill>
                          <a:srgbClr val="111827"/>
                        </a:solidFill>
                        <a:latin typeface="Cambria Math" panose="02040503050406030204" pitchFamily="18" charset="0"/>
                      </a:rPr>
                      <m:t>𝑄</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 (3).</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Put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(1) gives </a:t>
                </a:r>
                <a14:m>
                  <m:oMath xmlns:m="http://schemas.openxmlformats.org/officeDocument/2006/math">
                    <m:r>
                      <a:rPr lang="en-IN" sz="2400" i="1">
                        <a:solidFill>
                          <a:srgbClr val="111827"/>
                        </a:solidFill>
                        <a:latin typeface="Cambria Math" panose="02040503050406030204" pitchFamily="18" charset="0"/>
                      </a:rPr>
                      <m:t>8</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(2) gives </a:t>
                </a:r>
                <a14:m>
                  <m:oMath xmlns:m="http://schemas.openxmlformats.org/officeDocument/2006/math">
                    <m:r>
                      <a:rPr lang="en-IN" sz="2400" i="1">
                        <a:solidFill>
                          <a:srgbClr val="111827"/>
                        </a:solidFill>
                        <a:latin typeface="Cambria Math" panose="02040503050406030204" pitchFamily="18" charset="0"/>
                      </a:rPr>
                      <m:t>12</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curve passes through </a:t>
                </a:r>
                <a:r>
                  <a:rPr lang="en-IN" sz="2400">
                    <a:solidFill>
                      <a:srgbClr val="111827"/>
                    </a:solidFill>
                    <a:latin typeface="Cambria Math" panose="02040503050406030204" pitchFamily="18" charset="0"/>
                  </a:rPr>
                  <a:t>$(-2,0)$</a:t>
                </a:r>
                <a:r>
                  <a:rPr sz="2400" b="0">
                    <a:solidFill>
                      <a:srgbClr val="111827"/>
                    </a:solidFill>
                    <a:latin typeface="Arial"/>
                  </a:rPr>
                  <a:t>: </a:t>
                </a:r>
                <a:r>
                  <a:rPr lang="en-IN" sz="2400">
                    <a:solidFill>
                      <a:srgbClr val="111827"/>
                    </a:solidFill>
                    <a:latin typeface="Cambria Math" panose="02040503050406030204" pitchFamily="18" charset="0"/>
                  </a:rPr>
                  <a:t>$-8a+4b-2c+5=0$</a:t>
                </a:r>
                <a:r>
                  <a:rPr sz="2400" b="0">
                    <a:solidFill>
                      <a:srgbClr val="111827"/>
                    </a:solidFill>
                    <a:latin typeface="Arial"/>
                  </a:rPr>
                  <a:t>, i.e. </a:t>
                </a:r>
                <a:r>
                  <a:rPr lang="en-IN" sz="2400">
                    <a:solidFill>
                      <a:srgbClr val="111827"/>
                    </a:solidFill>
                    <a:latin typeface="Cambria Math" panose="02040503050406030204" pitchFamily="18" charset="0"/>
                  </a:rPr>
                  <a:t>$8a-4b+2c=5$</a:t>
                </a:r>
                <a:r>
                  <a:rPr sz="2400" b="0">
                    <a:solidFill>
                      <a:srgbClr val="111827"/>
                    </a:solidFill>
                    <a:latin typeface="Arial"/>
                  </a:rPr>
                  <a:t> ... (1).</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$y'(x)=3ax^2+2bx+c$</a:t>
                </a:r>
                <a:r>
                  <a:rPr sz="2400" b="0">
                    <a:solidFill>
                      <a:srgbClr val="111827"/>
                    </a:solidFill>
                    <a:latin typeface="Arial"/>
                  </a:rPr>
                  <a:t>. Touching the </a:t>
                </a:r>
                <a:r>
                  <a:rPr lang="en-IN" sz="2400">
                    <a:solidFill>
                      <a:srgbClr val="111827"/>
                    </a:solidFill>
                    <a:latin typeface="Cambria Math" panose="02040503050406030204" pitchFamily="18" charset="0"/>
                  </a:rPr>
                  <a:t>$x$</a:t>
                </a:r>
                <a:r>
                  <a:rPr sz="2400" b="0">
                    <a:solidFill>
                      <a:srgbClr val="111827"/>
                    </a:solidFill>
                    <a:latin typeface="Arial"/>
                  </a:rPr>
                  <a:t>-axis at </a:t>
                </a:r>
                <a:r>
                  <a:rPr lang="en-IN" sz="2400">
                    <a:solidFill>
                      <a:srgbClr val="111827"/>
                    </a:solidFill>
                    <a:latin typeface="Cambria Math" panose="02040503050406030204" pitchFamily="18" charset="0"/>
                  </a:rPr>
                  <a:t>$x=-2$</a:t>
                </a:r>
                <a:r>
                  <a:rPr sz="2400" b="0">
                    <a:solidFill>
                      <a:srgbClr val="111827"/>
                    </a:solidFill>
                    <a:latin typeface="Arial"/>
                  </a:rPr>
                  <a:t> gives </a:t>
                </a:r>
                <a:r>
                  <a:rPr lang="en-IN" sz="2400">
                    <a:solidFill>
                      <a:srgbClr val="111827"/>
                    </a:solidFill>
                    <a:latin typeface="Cambria Math" panose="02040503050406030204" pitchFamily="18" charset="0"/>
                  </a:rPr>
                  <a:t>$y'(-2)=0$</a:t>
                </a:r>
                <a:r>
                  <a:rPr sz="2400" b="0">
                    <a:solidFill>
                      <a:srgbClr val="111827"/>
                    </a:solidFill>
                    <a:latin typeface="Arial"/>
                  </a:rPr>
                  <a:t>: </a:t>
                </a:r>
                <a:r>
                  <a:rPr lang="en-IN" sz="2400">
                    <a:solidFill>
                      <a:srgbClr val="111827"/>
                    </a:solidFill>
                    <a:latin typeface="Cambria Math" panose="02040503050406030204" pitchFamily="18" charset="0"/>
                  </a:rPr>
                  <a:t>$12a-4b+c=0$</a:t>
                </a:r>
                <a:r>
                  <a:rPr sz="2400" b="0">
                    <a:solidFill>
                      <a:srgbClr val="111827"/>
                    </a:solidFill>
                    <a:latin typeface="Arial"/>
                  </a:rPr>
                  <a:t> ... (2).</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At </a:t>
                </a:r>
                <a:r>
                  <a:rPr lang="en-IN" sz="2400">
                    <a:solidFill>
                      <a:srgbClr val="111827"/>
                    </a:solidFill>
                    <a:latin typeface="Cambria Math" panose="02040503050406030204" pitchFamily="18" charset="0"/>
                  </a:rPr>
                  <a:t>$Q$</a:t>
                </a:r>
                <a:r>
                  <a:rPr sz="2400" b="0">
                    <a:solidFill>
                      <a:srgbClr val="111827"/>
                    </a:solidFill>
                    <a:latin typeface="Arial"/>
                  </a:rPr>
                  <a:t>, </a:t>
                </a:r>
                <a:r>
                  <a:rPr lang="en-IN" sz="2400">
                    <a:solidFill>
                      <a:srgbClr val="111827"/>
                    </a:solidFill>
                    <a:latin typeface="Cambria Math" panose="02040503050406030204" pitchFamily="18" charset="0"/>
                  </a:rPr>
                  <a:t>$x=0$</a:t>
                </a:r>
                <a:r>
                  <a:rPr sz="2400" b="0">
                    <a:solidFill>
                      <a:srgbClr val="111827"/>
                    </a:solidFill>
                    <a:latin typeface="Arial"/>
                  </a:rPr>
                  <a:t> and </a:t>
                </a:r>
                <a:r>
                  <a:rPr lang="en-IN" sz="2400">
                    <a:solidFill>
                      <a:srgbClr val="111827"/>
                    </a:solidFill>
                    <a:latin typeface="Cambria Math" panose="02040503050406030204" pitchFamily="18" charset="0"/>
                  </a:rPr>
                  <a:t>$y'(0)=c=3$</a:t>
                </a:r>
                <a:r>
                  <a:rPr sz="2400" b="0">
                    <a:solidFill>
                      <a:srgbClr val="111827"/>
                    </a:solidFill>
                    <a:latin typeface="Arial"/>
                  </a:rPr>
                  <a:t> ... (3).</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Put </a:t>
                </a:r>
                <a:r>
                  <a:rPr lang="en-IN" sz="2400">
                    <a:solidFill>
                      <a:srgbClr val="111827"/>
                    </a:solidFill>
                    <a:latin typeface="Cambria Math" panose="02040503050406030204" pitchFamily="18" charset="0"/>
                  </a:rPr>
                  <a:t>$c=3$</a:t>
                </a:r>
                <a:r>
                  <a:rPr sz="2400" b="0">
                    <a:solidFill>
                      <a:srgbClr val="111827"/>
                    </a:solidFill>
                    <a:latin typeface="Arial"/>
                  </a:rPr>
                  <a:t>: (1) gives </a:t>
                </a:r>
                <a:r>
                  <a:rPr lang="en-IN" sz="2400">
                    <a:solidFill>
                      <a:srgbClr val="111827"/>
                    </a:solidFill>
                    <a:latin typeface="Cambria Math" panose="02040503050406030204" pitchFamily="18" charset="0"/>
                  </a:rPr>
                  <a:t>$8a-4b=-1$</a:t>
                </a:r>
                <a:r>
                  <a:rPr sz="2400" b="0">
                    <a:solidFill>
                      <a:srgbClr val="111827"/>
                    </a:solidFill>
                    <a:latin typeface="Arial"/>
                  </a:rPr>
                  <a:t> and (2) gives </a:t>
                </a:r>
                <a:r>
                  <a:rPr lang="en-IN" sz="2400">
                    <a:solidFill>
                      <a:srgbClr val="111827"/>
                    </a:solidFill>
                    <a:latin typeface="Cambria Math" panose="02040503050406030204" pitchFamily="18" charset="0"/>
                  </a:rPr>
                  <a:t>$12a-4b=-3$</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Subtracting: </a:t>
                </a:r>
                <a14:m>
                  <m:oMath xmlns:m="http://schemas.openxmlformats.org/officeDocument/2006/math">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Critical points are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is negative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and positive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the local maximum is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27</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Subtracting: </a:t>
                </a:r>
                <a:r>
                  <a:rPr lang="en-IN" sz="2400">
                    <a:solidFill>
                      <a:srgbClr val="111827"/>
                    </a:solidFill>
                    <a:latin typeface="Cambria Math" panose="02040503050406030204" pitchFamily="18" charset="0"/>
                  </a:rPr>
                  <a:t>$4a=-2$</a:t>
                </a:r>
                <a:r>
                  <a:rPr sz="2400" b="0">
                    <a:solidFill>
                      <a:srgbClr val="111827"/>
                    </a:solidFill>
                    <a:latin typeface="Arial"/>
                  </a:rPr>
                  <a:t>, so </a:t>
                </a:r>
                <a:r>
                  <a:rPr lang="en-IN" sz="2400">
                    <a:solidFill>
                      <a:srgbClr val="111827"/>
                    </a:solidFill>
                    <a:latin typeface="Cambria Math" panose="02040503050406030204" pitchFamily="18" charset="0"/>
                  </a:rPr>
                  <a:t>$a=-\frac12$</a:t>
                </a:r>
                <a:r>
                  <a:rPr sz="2400" b="0">
                    <a:solidFill>
                      <a:srgbClr val="111827"/>
                    </a:solidFill>
                    <a:latin typeface="Arial"/>
                  </a:rPr>
                  <a:t>; then </a:t>
                </a:r>
                <a:r>
                  <a:rPr lang="en-IN" sz="2400">
                    <a:solidFill>
                      <a:srgbClr val="111827"/>
                    </a:solidFill>
                    <a:latin typeface="Cambria Math" panose="02040503050406030204" pitchFamily="18" charset="0"/>
                  </a:rPr>
                  <a:t>$4b=8a+1=-3$</a:t>
                </a:r>
                <a:r>
                  <a:rPr sz="2400" b="0">
                    <a:solidFill>
                      <a:srgbClr val="111827"/>
                    </a:solidFill>
                    <a:latin typeface="Arial"/>
                  </a:rPr>
                  <a:t>, so </a:t>
                </a:r>
                <a:r>
                  <a:rPr lang="en-IN" sz="2400">
                    <a:solidFill>
                      <a:srgbClr val="111827"/>
                    </a:solidFill>
                    <a:latin typeface="Cambria Math" panose="02040503050406030204" pitchFamily="18" charset="0"/>
                  </a:rPr>
                  <a:t>$b=-\frac34$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$y'(x)=-\frac32x^2-\frac32x+3=-\frac32(x+2)(x-1)$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Critical points are </a:t>
                </a:r>
                <a:r>
                  <a:rPr lang="en-IN" sz="2400">
                    <a:solidFill>
                      <a:srgbClr val="111827"/>
                    </a:solidFill>
                    <a:latin typeface="Cambria Math" panose="02040503050406030204" pitchFamily="18" charset="0"/>
                  </a:rPr>
                  <a:t>$x=-2$</a:t>
                </a:r>
                <a:r>
                  <a:rPr sz="2400" b="0">
                    <a:solidFill>
                      <a:srgbClr val="111827"/>
                    </a:solidFill>
                    <a:latin typeface="Arial"/>
                  </a:rPr>
                  <a:t> and </a:t>
                </a:r>
                <a:r>
                  <a:rPr lang="en-IN" sz="2400">
                    <a:solidFill>
                      <a:srgbClr val="111827"/>
                    </a:solidFill>
                    <a:latin typeface="Cambria Math" panose="02040503050406030204" pitchFamily="18" charset="0"/>
                  </a:rPr>
                  <a:t>$x=1$</a:t>
                </a:r>
                <a:r>
                  <a:rPr sz="2400" b="0">
                    <a:solidFill>
                      <a:srgbClr val="111827"/>
                    </a:solidFill>
                    <a:latin typeface="Arial"/>
                  </a:rPr>
                  <a:t>; </a:t>
                </a:r>
                <a:r>
                  <a:rPr lang="en-IN" sz="2400">
                    <a:solidFill>
                      <a:srgbClr val="111827"/>
                    </a:solidFill>
                    <a:latin typeface="Cambria Math" panose="02040503050406030204" pitchFamily="18" charset="0"/>
                  </a:rPr>
                  <a:t>$y''(x)=-3x-\frac32$</a:t>
                </a:r>
                <a:r>
                  <a:rPr sz="2400" b="0">
                    <a:solidFill>
                      <a:srgbClr val="111827"/>
                    </a:solidFill>
                    <a:latin typeface="Arial"/>
                  </a:rPr>
                  <a:t> is negative at </a:t>
                </a:r>
                <a:r>
                  <a:rPr lang="en-IN" sz="2400">
                    <a:solidFill>
                      <a:srgbClr val="111827"/>
                    </a:solidFill>
                    <a:latin typeface="Cambria Math" panose="02040503050406030204" pitchFamily="18" charset="0"/>
                  </a:rPr>
                  <a:t>$x=1$</a:t>
                </a:r>
                <a:r>
                  <a:rPr sz="2400" b="0">
                    <a:solidFill>
                      <a:srgbClr val="111827"/>
                    </a:solidFill>
                    <a:latin typeface="Arial"/>
                  </a:rPr>
                  <a:t> (</a:t>
                </a:r>
                <a:r>
                  <a:rPr lang="en-IN" sz="2400">
                    <a:solidFill>
                      <a:srgbClr val="111827"/>
                    </a:solidFill>
                    <a:latin typeface="Cambria Math" panose="02040503050406030204" pitchFamily="18" charset="0"/>
                  </a:rPr>
                  <a:t>$-\frac92$</a:t>
                </a:r>
                <a:r>
                  <a:rPr sz="2400" b="0">
                    <a:solidFill>
                      <a:srgbClr val="111827"/>
                    </a:solidFill>
                    <a:latin typeface="Arial"/>
                  </a:rPr>
                  <a:t>) and positive at </a:t>
                </a:r>
                <a:r>
                  <a:rPr lang="en-IN" sz="2400">
                    <a:solidFill>
                      <a:srgbClr val="111827"/>
                    </a:solidFill>
                    <a:latin typeface="Cambria Math" panose="02040503050406030204" pitchFamily="18" charset="0"/>
                  </a:rPr>
                  <a:t>$x=-2$</a:t>
                </a:r>
                <a:r>
                  <a:rPr sz="2400" b="0">
                    <a:solidFill>
                      <a:srgbClr val="111827"/>
                    </a:solidFill>
                    <a:latin typeface="Arial"/>
                  </a:rPr>
                  <a:t> (</a:t>
                </a:r>
                <a:r>
                  <a:rPr lang="en-IN" sz="2400">
                    <a:solidFill>
                      <a:srgbClr val="111827"/>
                    </a:solidFill>
                    <a:latin typeface="Cambria Math" panose="02040503050406030204" pitchFamily="18" charset="0"/>
                  </a:rPr>
                  <a:t>$\frac92$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the local maximum is at </a:t>
                </a:r>
                <a:r>
                  <a:rPr lang="en-IN" sz="2400">
                    <a:solidFill>
                      <a:srgbClr val="111827"/>
                    </a:solidFill>
                    <a:latin typeface="Cambria Math" panose="02040503050406030204" pitchFamily="18" charset="0"/>
                  </a:rPr>
                  <a:t>$x=1$</a:t>
                </a:r>
                <a:r>
                  <a:rPr sz="2400" b="0">
                    <a:solidFill>
                      <a:srgbClr val="111827"/>
                    </a:solidFill>
                    <a:latin typeface="Arial"/>
                  </a:rPr>
                  <a:t>: </a:t>
                </a:r>
                <a:r>
                  <a:rPr lang="en-IN" sz="2400">
                    <a:solidFill>
                      <a:srgbClr val="111827"/>
                    </a:solidFill>
                    <a:latin typeface="Cambria Math" panose="02040503050406030204" pitchFamily="18" charset="0"/>
                  </a:rPr>
                  <a:t>$y(1)=-\frac12-\frac34+3+5=\frac{27}{4}$</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27</m:t>
                        </m:r>
                      </m:num>
                      <m:den>
                        <m:r>
                          <a:rPr lang="en-IN" sz="2800" i="1">
                            <a:solidFill>
                              <a:srgbClr val="15803D"/>
                            </a:solidFill>
                            <a:latin typeface="Cambria Math" panose="02040503050406030204" pitchFamily="18" charset="0"/>
                          </a:rPr>
                          <m:t>4</m:t>
                        </m:r>
                      </m:den>
                    </m:f>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a:t>
                </a:r>
                <a:r>
                  <a:rPr lang="en-IN" sz="2800">
                    <a:solidFill>
                      <a:srgbClr val="15803D"/>
                    </a:solidFill>
                    <a:latin typeface="Cambria Math" panose="02040503050406030204" pitchFamily="18" charset="0"/>
                  </a:rPr>
                  <a:t>$\frac{27}{4}$</a:t>
                </a:r>
                <a:endParaRPr sz="2800">
                  <a:solidFill>
                    <a:srgbClr val="15803D"/>
                  </a:solidFill>
                </a:endParaRPr>
              </a:p>
            </p:txBody>
          </p:sp>
        </mc:Fallback>
      </mc:AlternateContent>
    </p:spTree>
  </p:cSld>
  <p:clrMapOvr>
    <a:masterClrMapping/>
  </p:clrMapOvr>
</p:sld>
</file>

<file path=ppt/slides/slide3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Write the cubic with a double root at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oMath>
                </a14:m>
                <a:r>
                  <a:rPr sz="2400" b="0">
                    <a:solidFill>
                      <a:srgbClr val="78350F"/>
                    </a:solidFill>
                    <a:latin typeface="Arial"/>
                  </a:rPr>
                  <a:t>: </a:t>
                </a:r>
                <a14:m>
                  <m:oMath xmlns:m="http://schemas.openxmlformats.org/officeDocument/2006/math">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𝑟</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which uses the touching condition directly.</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Write the cubic with a double root at </a:t>
                </a:r>
                <a:r>
                  <a:rPr lang="en-IN" sz="2400">
                    <a:solidFill>
                      <a:srgbClr val="78350F"/>
                    </a:solidFill>
                    <a:latin typeface="Cambria Math" panose="02040503050406030204" pitchFamily="18" charset="0"/>
                  </a:rPr>
                  <a:t>$-2$</a:t>
                </a:r>
                <a:r>
                  <a:rPr sz="2400" b="0">
                    <a:solidFill>
                      <a:srgbClr val="78350F"/>
                    </a:solidFill>
                    <a:latin typeface="Arial"/>
                  </a:rPr>
                  <a:t>: </a:t>
                </a:r>
                <a:r>
                  <a:rPr lang="en-IN" sz="2400">
                    <a:solidFill>
                      <a:srgbClr val="78350F"/>
                    </a:solidFill>
                    <a:latin typeface="Cambria Math" panose="02040503050406030204" pitchFamily="18" charset="0"/>
                  </a:rPr>
                  <a:t>$y=a(x+2)^2(x-r)$</a:t>
                </a:r>
                <a:r>
                  <a:rPr sz="2400" b="0">
                    <a:solidFill>
                      <a:srgbClr val="78350F"/>
                    </a:solidFill>
                    <a:latin typeface="Arial"/>
                  </a:rPr>
                  <a:t>, which uses the touching condition directly.</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Touching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means a double root there; let the third root be </a:t>
                </a:r>
                <a14:m>
                  <m:oMath xmlns:m="http://schemas.openxmlformats.org/officeDocument/2006/math">
                    <m:r>
                      <a:rPr lang="en-IN" sz="2400" i="1">
                        <a:solidFill>
                          <a:srgbClr val="111827"/>
                        </a:solidFill>
                        <a:latin typeface="Cambria Math" panose="02040503050406030204" pitchFamily="18" charset="0"/>
                      </a:rPr>
                      <m:t>𝑟</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Constant term: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Touching at </a:t>
                </a:r>
                <a:r>
                  <a:rPr lang="en-IN" sz="2400">
                    <a:solidFill>
                      <a:srgbClr val="111827"/>
                    </a:solidFill>
                    <a:latin typeface="Cambria Math" panose="02040503050406030204" pitchFamily="18" charset="0"/>
                  </a:rPr>
                  <a:t>$x=-2$</a:t>
                </a:r>
                <a:r>
                  <a:rPr sz="2400" b="0">
                    <a:solidFill>
                      <a:srgbClr val="111827"/>
                    </a:solidFill>
                    <a:latin typeface="Arial"/>
                  </a:rPr>
                  <a:t> means a double root there; let the third root be </a:t>
                </a:r>
                <a:r>
                  <a:rPr lang="en-IN" sz="2400">
                    <a:solidFill>
                      <a:srgbClr val="111827"/>
                    </a:solidFill>
                    <a:latin typeface="Cambria Math" panose="02040503050406030204" pitchFamily="18" charset="0"/>
                  </a:rPr>
                  <a:t>$r$</a:t>
                </a:r>
                <a:r>
                  <a:rPr sz="2400" b="0">
                    <a:solidFill>
                      <a:srgbClr val="111827"/>
                    </a:solidFill>
                    <a:latin typeface="Arial"/>
                  </a:rPr>
                  <a:t>: </a:t>
                </a:r>
                <a:r>
                  <a:rPr lang="en-IN" sz="2400">
                    <a:solidFill>
                      <a:srgbClr val="111827"/>
                    </a:solidFill>
                    <a:latin typeface="Cambria Math" panose="02040503050406030204" pitchFamily="18" charset="0"/>
                  </a:rPr>
                  <a:t>$y=a(x+2)^2(x-r)$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Constant term: </a:t>
                </a:r>
                <a:r>
                  <a:rPr lang="en-IN" sz="2400">
                    <a:solidFill>
                      <a:srgbClr val="111827"/>
                    </a:solidFill>
                    <a:latin typeface="Cambria Math" panose="02040503050406030204" pitchFamily="18" charset="0"/>
                  </a:rPr>
                  <a:t>$y(0)=4a(-r)=5$</a:t>
                </a:r>
                <a:r>
                  <a:rPr sz="2400" b="0">
                    <a:solidFill>
                      <a:srgbClr val="111827"/>
                    </a:solidFill>
                    <a:latin typeface="Arial"/>
                  </a:rPr>
                  <a:t>, so </a:t>
                </a:r>
                <a:r>
                  <a:rPr lang="en-IN" sz="2400">
                    <a:solidFill>
                      <a:srgbClr val="111827"/>
                    </a:solidFill>
                    <a:latin typeface="Cambria Math" panose="02040503050406030204" pitchFamily="18" charset="0"/>
                  </a:rPr>
                  <a:t>$ar=-\frac54$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$y'(0)$</a:t>
                </a:r>
                <a:r>
                  <a:rPr sz="2400" b="0">
                    <a:solidFill>
                      <a:srgbClr val="111827"/>
                    </a:solidFill>
                    <a:latin typeface="Arial"/>
                  </a:rPr>
                  <a:t>: </a:t>
                </a:r>
                <a:r>
                  <a:rPr lang="en-IN" sz="2400">
                    <a:solidFill>
                      <a:srgbClr val="111827"/>
                    </a:solidFill>
                    <a:latin typeface="Cambria Math" panose="02040503050406030204" pitchFamily="18" charset="0"/>
                  </a:rPr>
                  <a:t>$y'=2a(x+2)(x-r)+a(x+2)^2$</a:t>
                </a:r>
                <a:r>
                  <a:rPr sz="2400" b="0">
                    <a:solidFill>
                      <a:srgbClr val="111827"/>
                    </a:solidFill>
                    <a:latin typeface="Arial"/>
                  </a:rPr>
                  <a:t>, so </a:t>
                </a:r>
                <a:r>
                  <a:rPr lang="en-IN" sz="2400">
                    <a:solidFill>
                      <a:srgbClr val="111827"/>
                    </a:solidFill>
                    <a:latin typeface="Cambria Math" panose="02040503050406030204" pitchFamily="18" charset="0"/>
                  </a:rPr>
                  <a:t>$y'(0)=-4ar+4a=3$</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Substitute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2</m:t>
                            </m:r>
                          </m:den>
                        </m:f>
                      </m:e>
                    </m:d>
                  </m:oMath>
                </a14:m>
                <a:r>
                  <a:rPr sz="2400" b="0">
                    <a:solidFill>
                      <a:srgbClr val="111827"/>
                    </a:solidFill>
                    <a:latin typeface="Arial"/>
                  </a:rPr>
                  <a:t>; critical points are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(minimum, a double root) and where </a:t>
                </a:r>
                <a14:m>
                  <m:oMath xmlns:m="http://schemas.openxmlformats.org/officeDocument/2006/math">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27</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the local maximum.</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Substitute </a:t>
                </a:r>
                <a:r>
                  <a:rPr lang="en-IN" sz="2400">
                    <a:solidFill>
                      <a:srgbClr val="111827"/>
                    </a:solidFill>
                    <a:latin typeface="Cambria Math" panose="02040503050406030204" pitchFamily="18" charset="0"/>
                  </a:rPr>
                  <a:t>$ar=-\frac54$</a:t>
                </a:r>
                <a:r>
                  <a:rPr sz="2400" b="0">
                    <a:solidFill>
                      <a:srgbClr val="111827"/>
                    </a:solidFill>
                    <a:latin typeface="Arial"/>
                  </a:rPr>
                  <a:t>: </a:t>
                </a:r>
                <a:r>
                  <a:rPr lang="en-IN" sz="2400">
                    <a:solidFill>
                      <a:srgbClr val="111827"/>
                    </a:solidFill>
                    <a:latin typeface="Cambria Math" panose="02040503050406030204" pitchFamily="18" charset="0"/>
                  </a:rPr>
                  <a:t>$5+4a=3$</a:t>
                </a:r>
                <a:r>
                  <a:rPr sz="2400" b="0">
                    <a:solidFill>
                      <a:srgbClr val="111827"/>
                    </a:solidFill>
                    <a:latin typeface="Arial"/>
                  </a:rPr>
                  <a:t>, so </a:t>
                </a:r>
                <a:r>
                  <a:rPr lang="en-IN" sz="2400">
                    <a:solidFill>
                      <a:srgbClr val="111827"/>
                    </a:solidFill>
                    <a:latin typeface="Cambria Math" panose="02040503050406030204" pitchFamily="18" charset="0"/>
                  </a:rPr>
                  <a:t>$a=-\frac12$</a:t>
                </a:r>
                <a:r>
                  <a:rPr sz="2400" b="0">
                    <a:solidFill>
                      <a:srgbClr val="111827"/>
                    </a:solidFill>
                    <a:latin typeface="Arial"/>
                  </a:rPr>
                  <a:t> and </a:t>
                </a:r>
                <a:r>
                  <a:rPr lang="en-IN" sz="2400">
                    <a:solidFill>
                      <a:srgbClr val="111827"/>
                    </a:solidFill>
                    <a:latin typeface="Cambria Math" panose="02040503050406030204" pitchFamily="18" charset="0"/>
                  </a:rPr>
                  <a:t>$r=\frac52$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$y=-\frac12(x+2)^2\left(x-\frac52\right)$</a:t>
                </a:r>
                <a:r>
                  <a:rPr sz="2400" b="0">
                    <a:solidFill>
                      <a:srgbClr val="111827"/>
                    </a:solidFill>
                    <a:latin typeface="Arial"/>
                  </a:rPr>
                  <a:t>; critical points are </a:t>
                </a:r>
                <a:r>
                  <a:rPr lang="en-IN" sz="2400">
                    <a:solidFill>
                      <a:srgbClr val="111827"/>
                    </a:solidFill>
                    <a:latin typeface="Cambria Math" panose="02040503050406030204" pitchFamily="18" charset="0"/>
                  </a:rPr>
                  <a:t>$x=-2$</a:t>
                </a:r>
                <a:r>
                  <a:rPr sz="2400" b="0">
                    <a:solidFill>
                      <a:srgbClr val="111827"/>
                    </a:solidFill>
                    <a:latin typeface="Arial"/>
                  </a:rPr>
                  <a:t> (minimum, a double root) and where </a:t>
                </a:r>
                <a:r>
                  <a:rPr lang="en-IN" sz="2400">
                    <a:solidFill>
                      <a:srgbClr val="111827"/>
                    </a:solidFill>
                    <a:latin typeface="Cambria Math" panose="02040503050406030204" pitchFamily="18" charset="0"/>
                  </a:rPr>
                  <a:t>$y'=0$</a:t>
                </a:r>
                <a:r>
                  <a:rPr sz="2400" b="0">
                    <a:solidFill>
                      <a:srgbClr val="111827"/>
                    </a:solidFill>
                    <a:latin typeface="Arial"/>
                  </a:rPr>
                  <a:t> gives </a:t>
                </a:r>
                <a:r>
                  <a:rPr lang="en-IN" sz="2400">
                    <a:solidFill>
                      <a:srgbClr val="111827"/>
                    </a:solidFill>
                    <a:latin typeface="Cambria Math" panose="02040503050406030204" pitchFamily="18" charset="0"/>
                  </a:rPr>
                  <a:t>$x=1$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$y(1)=-\frac12\cdot9\cdot\left(-\frac32\right)=\frac{27}{4}$</a:t>
                </a:r>
                <a:r>
                  <a:rPr sz="2400" b="0">
                    <a:solidFill>
                      <a:srgbClr val="111827"/>
                    </a:solidFill>
                    <a:latin typeface="Arial"/>
                  </a:rPr>
                  <a:t>, the local maximum.</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27</m:t>
                        </m:r>
                      </m:num>
                      <m:den>
                        <m:r>
                          <a:rPr lang="en-IN" sz="2800" i="1">
                            <a:solidFill>
                              <a:srgbClr val="15803D"/>
                            </a:solidFill>
                            <a:latin typeface="Cambria Math" panose="02040503050406030204" pitchFamily="18" charset="0"/>
                          </a:rPr>
                          <m:t>4</m:t>
                        </m:r>
                      </m:den>
                    </m:f>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a:t>
                </a:r>
                <a:r>
                  <a:rPr lang="en-IN" sz="2800">
                    <a:solidFill>
                      <a:srgbClr val="15803D"/>
                    </a:solidFill>
                    <a:latin typeface="Cambria Math" panose="02040503050406030204" pitchFamily="18" charset="0"/>
                  </a:rPr>
                  <a:t>$\frac{27}{4}$</a:t>
                </a:r>
                <a:endParaRPr sz="2800">
                  <a:solidFill>
                    <a:srgbClr val="15803D"/>
                  </a:solidFill>
                </a:endParaRPr>
              </a:p>
            </p:txBody>
          </p:sp>
        </mc:Fallback>
      </mc:AlternateContent>
    </p:spTree>
  </p:cSld>
  <p:clrMapOvr>
    <a:masterClrMapping/>
  </p:clrMapOvr>
</p:sld>
</file>

<file path=ppt/slides/slide3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curve touches the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-axis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0</m:t>
                        </m:r>
                      </m:sub>
                    </m:sSub>
                  </m:oMath>
                </a14:m>
                <a:r>
                  <a:rPr sz="2400" b="0">
                    <a:solidFill>
                      <a:srgbClr val="111827"/>
                    </a:solidFill>
                    <a:latin typeface="Arial"/>
                  </a:rPr>
                  <a:t> exactly when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i.e.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0</m:t>
                        </m:r>
                      </m:sub>
                    </m:sSub>
                  </m:oMath>
                </a14:m>
                <a:r>
                  <a:rPr sz="2400" b="0">
                    <a:solidFill>
                      <a:srgbClr val="111827"/>
                    </a:solidFill>
                    <a:latin typeface="Arial"/>
                  </a:rPr>
                  <a:t> is a double root.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 cubic with positive leading coefficient the local maximum comes before the local minimum; with negative leading coefficient it is reversed.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Always verify which critical point is the maximum with </a:t>
                </a:r>
                <a14:m>
                  <m:oMath xmlns:m="http://schemas.openxmlformats.org/officeDocument/2006/math">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or the sign of </a:t>
                </a:r>
                <a14:m>
                  <m:oMath xmlns:m="http://schemas.openxmlformats.org/officeDocument/2006/math">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cubic with a double root at </a:t>
                </a:r>
                <a14:m>
                  <m:oMath xmlns:m="http://schemas.openxmlformats.org/officeDocument/2006/math">
                    <m:r>
                      <a:rPr lang="en-IN" sz="2400" i="1">
                        <a:solidFill>
                          <a:srgbClr val="111827"/>
                        </a:solidFill>
                        <a:latin typeface="Cambria Math" panose="02040503050406030204" pitchFamily="18" charset="0"/>
                      </a:rPr>
                      <m:t>𝑝</m:t>
                    </m:r>
                  </m:oMath>
                </a14:m>
                <a:r>
                  <a:rPr sz="2400" b="0">
                    <a:solidFill>
                      <a:srgbClr val="111827"/>
                    </a:solidFill>
                    <a:latin typeface="Arial"/>
                  </a:rPr>
                  <a:t> and simple root </a:t>
                </a:r>
                <a14:m>
                  <m:oMath xmlns:m="http://schemas.openxmlformats.org/officeDocument/2006/math">
                    <m:r>
                      <a:rPr lang="en-IN" sz="2400" i="1">
                        <a:solidFill>
                          <a:srgbClr val="111827"/>
                        </a:solidFill>
                        <a:latin typeface="Cambria Math" panose="02040503050406030204" pitchFamily="18" charset="0"/>
                      </a:rPr>
                      <m:t>𝑟</m:t>
                    </m:r>
                  </m:oMath>
                </a14:m>
                <a:r>
                  <a:rPr sz="2400" b="0">
                    <a:solidFill>
                      <a:srgbClr val="111827"/>
                    </a:solidFill>
                    <a:latin typeface="Arial"/>
                  </a:rPr>
                  <a:t> has its other critical point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𝑟</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(here </a:t>
                </a:r>
                <a14:m>
                  <m:oMath xmlns:m="http://schemas.openxmlformats.org/officeDocument/2006/math">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curve touches the </a:t>
                </a:r>
                <a:r>
                  <a:rPr lang="en-IN" sz="2400">
                    <a:solidFill>
                      <a:srgbClr val="111827"/>
                    </a:solidFill>
                    <a:latin typeface="Cambria Math" panose="02040503050406030204" pitchFamily="18" charset="0"/>
                  </a:rPr>
                  <a:t>$x$</a:t>
                </a:r>
                <a:r>
                  <a:rPr sz="2400" b="0">
                    <a:solidFill>
                      <a:srgbClr val="111827"/>
                    </a:solidFill>
                    <a:latin typeface="Arial"/>
                  </a:rPr>
                  <a:t>-axis at </a:t>
                </a:r>
                <a:r>
                  <a:rPr lang="en-IN" sz="2400">
                    <a:solidFill>
                      <a:srgbClr val="111827"/>
                    </a:solidFill>
                    <a:latin typeface="Cambria Math" panose="02040503050406030204" pitchFamily="18" charset="0"/>
                  </a:rPr>
                  <a:t>$x=x_0$</a:t>
                </a:r>
                <a:r>
                  <a:rPr sz="2400" b="0">
                    <a:solidFill>
                      <a:srgbClr val="111827"/>
                    </a:solidFill>
                    <a:latin typeface="Arial"/>
                  </a:rPr>
                  <a:t> exactly when </a:t>
                </a:r>
                <a:r>
                  <a:rPr lang="en-IN" sz="2400">
                    <a:solidFill>
                      <a:srgbClr val="111827"/>
                    </a:solidFill>
                    <a:latin typeface="Cambria Math" panose="02040503050406030204" pitchFamily="18" charset="0"/>
                  </a:rPr>
                  <a:t>$y(x_0)=0$</a:t>
                </a:r>
                <a:r>
                  <a:rPr sz="2400" b="0">
                    <a:solidFill>
                      <a:srgbClr val="111827"/>
                    </a:solidFill>
                    <a:latin typeface="Arial"/>
                  </a:rPr>
                  <a:t> and </a:t>
                </a:r>
                <a:r>
                  <a:rPr lang="en-IN" sz="2400">
                    <a:solidFill>
                      <a:srgbClr val="111827"/>
                    </a:solidFill>
                    <a:latin typeface="Cambria Math" panose="02040503050406030204" pitchFamily="18" charset="0"/>
                  </a:rPr>
                  <a:t>$y'(x_0)=0$</a:t>
                </a:r>
                <a:r>
                  <a:rPr sz="2400" b="0">
                    <a:solidFill>
                      <a:srgbClr val="111827"/>
                    </a:solidFill>
                    <a:latin typeface="Arial"/>
                  </a:rPr>
                  <a:t>, i.e. </a:t>
                </a:r>
                <a:r>
                  <a:rPr lang="en-IN" sz="2400">
                    <a:solidFill>
                      <a:srgbClr val="111827"/>
                    </a:solidFill>
                    <a:latin typeface="Cambria Math" panose="02040503050406030204" pitchFamily="18" charset="0"/>
                  </a:rPr>
                  <a:t>$x_0$</a:t>
                </a:r>
                <a:r>
                  <a:rPr sz="2400" b="0">
                    <a:solidFill>
                      <a:srgbClr val="111827"/>
                    </a:solidFill>
                    <a:latin typeface="Arial"/>
                  </a:rPr>
                  <a:t> is a double root.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 cubic with positive leading coefficient the local maximum comes before the local minimum; with negative leading coefficient it is reversed.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Always verify which critical point is the maximum with </a:t>
                </a:r>
                <a:r>
                  <a:rPr lang="en-IN" sz="2400">
                    <a:solidFill>
                      <a:srgbClr val="111827"/>
                    </a:solidFill>
                    <a:latin typeface="Cambria Math" panose="02040503050406030204" pitchFamily="18" charset="0"/>
                  </a:rPr>
                  <a:t>$y''$</a:t>
                </a:r>
                <a:r>
                  <a:rPr sz="2400" b="0">
                    <a:solidFill>
                      <a:srgbClr val="111827"/>
                    </a:solidFill>
                    <a:latin typeface="Arial"/>
                  </a:rPr>
                  <a:t> or the sign of </a:t>
                </a:r>
                <a:r>
                  <a:rPr lang="en-IN" sz="2400">
                    <a:solidFill>
                      <a:srgbClr val="111827"/>
                    </a:solidFill>
                    <a:latin typeface="Cambria Math" panose="02040503050406030204" pitchFamily="18" charset="0"/>
                  </a:rPr>
                  <a:t>$y'$</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cubic with a double root at </a:t>
                </a:r>
                <a:r>
                  <a:rPr lang="en-IN" sz="2400">
                    <a:solidFill>
                      <a:srgbClr val="111827"/>
                    </a:solidFill>
                    <a:latin typeface="Cambria Math" panose="02040503050406030204" pitchFamily="18" charset="0"/>
                  </a:rPr>
                  <a:t>$p$</a:t>
                </a:r>
                <a:r>
                  <a:rPr sz="2400" b="0">
                    <a:solidFill>
                      <a:srgbClr val="111827"/>
                    </a:solidFill>
                    <a:latin typeface="Arial"/>
                  </a:rPr>
                  <a:t> and simple root </a:t>
                </a:r>
                <a:r>
                  <a:rPr lang="en-IN" sz="2400">
                    <a:solidFill>
                      <a:srgbClr val="111827"/>
                    </a:solidFill>
                    <a:latin typeface="Cambria Math" panose="02040503050406030204" pitchFamily="18" charset="0"/>
                  </a:rPr>
                  <a:t>$r$</a:t>
                </a:r>
                <a:r>
                  <a:rPr sz="2400" b="0">
                    <a:solidFill>
                      <a:srgbClr val="111827"/>
                    </a:solidFill>
                    <a:latin typeface="Arial"/>
                  </a:rPr>
                  <a:t> has its other critical point at </a:t>
                </a:r>
                <a:r>
                  <a:rPr lang="en-IN" sz="2400">
                    <a:solidFill>
                      <a:srgbClr val="111827"/>
                    </a:solidFill>
                    <a:latin typeface="Cambria Math" panose="02040503050406030204" pitchFamily="18" charset="0"/>
                  </a:rPr>
                  <a:t>$\frac{p+2r}{3}$</a:t>
                </a:r>
                <a:r>
                  <a:rPr sz="2400" b="0">
                    <a:solidFill>
                      <a:srgbClr val="111827"/>
                    </a:solidFill>
                    <a:latin typeface="Arial"/>
                  </a:rPr>
                  <a:t> (here </a:t>
                </a:r>
                <a:r>
                  <a:rPr lang="en-IN" sz="2400">
                    <a:solidFill>
                      <a:srgbClr val="111827"/>
                    </a:solidFill>
                    <a:latin typeface="Cambria Math" panose="02040503050406030204" pitchFamily="18" charset="0"/>
                  </a:rPr>
                  <a:t>$\frac{-2+5}{3}=1$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4434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left"/>
                                </m:mcPr>
                              </m:mc>
                              <m:mc>
                                <m:mcPr>
                                  <m:count m:val="1"/>
                                  <m:mcJc m:val="left"/>
                                </m:mcPr>
                              </m:mc>
                            </m:mcs>
                            <m:ctrlPr>
                              <a:rPr lang="en-IN" sz="2400" i="1">
                                <a:solidFill>
                                  <a:srgbClr val="111827"/>
                                </a:solidFill>
                                <a:latin typeface="Cambria Math" panose="02040503050406030204" pitchFamily="18" charset="0"/>
                              </a:rPr>
                            </m:ctrlPr>
                          </m:mPr>
                          <m:mr>
                            <m:e>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e>
                            <m:e>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mr>
                          <m:mr>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b>
                                <m:e>
                                  <m:r>
                                    <m:rPr>
                                      <m:sty m:val="p"/>
                                    </m:rPr>
                                    <a:rPr lang="en-IN" sz="2400">
                                      <a:solidFill>
                                        <a:srgbClr val="111827"/>
                                      </a:solidFill>
                                      <a:latin typeface="Cambria Math" panose="02040503050406030204" pitchFamily="18" charset="0"/>
                                    </a:rPr>
                                    <m:t>log</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e>
                            <m:e>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1</m:t>
                              </m:r>
                            </m:e>
                          </m:mr>
                        </m:m>
                      </m:e>
                    </m:d>
                  </m:oMath>
                </a14:m>
                <a:r>
                  <a:rPr sz="2400" b="0">
                    <a:solidFill>
                      <a:srgbClr val="111827"/>
                    </a:solidFill>
                    <a:latin typeface="Arial"/>
                  </a:rPr>
                  <a:t>. Then the set of all values of </a:t>
                </a:r>
                <a14:m>
                  <m:oMath xmlns:m="http://schemas.openxmlformats.org/officeDocument/2006/math">
                    <m:r>
                      <a:rPr lang="en-IN" sz="2400" i="1">
                        <a:solidFill>
                          <a:srgbClr val="111827"/>
                        </a:solidFill>
                        <a:latin typeface="Cambria Math" panose="02040503050406030204" pitchFamily="18" charset="0"/>
                      </a:rPr>
                      <m:t>𝑏</m:t>
                    </m:r>
                  </m:oMath>
                </a14:m>
                <a:r>
                  <a:rPr sz="2400" b="0">
                    <a:solidFill>
                      <a:srgbClr val="111827"/>
                    </a:solidFill>
                    <a:latin typeface="Arial"/>
                  </a:rPr>
                  <a:t>, for which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has maximum value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(B)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(C)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(D)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6</m:t>
                            </m:r>
                          </m:e>
                        </m:ra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6</m:t>
                            </m:r>
                          </m:e>
                        </m:rad>
                      </m:e>
                    </m:d>
                  </m:oMath>
                </a14:m>
                <a:endParaRPr sz="2400">
                  <a:solidFill>
                    <a:srgbClr val="111827"/>
                  </a:solidFill>
                </a:endParaRPr>
              </a:p>
            </p:txBody>
          </p:sp>
        </mc:Choice>
        <mc:Fallback>
          <p:sp>
            <p:nvSpPr>
              <p:cNvPr id="4" name="Rounded Rectangle 3"/>
              <p:cNvSpPr/>
              <p:nvPr/>
            </p:nvSpPr>
            <p:spPr>
              <a:xfrm>
                <a:off x="731520" y="1280160"/>
                <a:ext cx="10725912" cy="24434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$f(x)=\begin{cases}x^3-x^2+10x-7, &amp; x\le1\\ -2x+\log_2(b^2-4), &amp; x&gt;1\end{cases}$</a:t>
                </a:r>
                <a:r>
                  <a:rPr sz="2400" b="0">
                    <a:solidFill>
                      <a:srgbClr val="111827"/>
                    </a:solidFill>
                    <a:latin typeface="Arial"/>
                  </a:rPr>
                  <a:t>. Then the set of all values of </a:t>
                </a:r>
                <a:r>
                  <a:rPr lang="en-IN" sz="2400">
                    <a:solidFill>
                      <a:srgbClr val="111827"/>
                    </a:solidFill>
                    <a:latin typeface="Cambria Math" panose="02040503050406030204" pitchFamily="18" charset="0"/>
                  </a:rPr>
                  <a:t>$b$</a:t>
                </a:r>
                <a:r>
                  <a:rPr sz="2400" b="0">
                    <a:solidFill>
                      <a:srgbClr val="111827"/>
                    </a:solidFill>
                    <a:latin typeface="Arial"/>
                  </a:rPr>
                  <a:t>, for which </a:t>
                </a:r>
                <a:r>
                  <a:rPr lang="en-IN" sz="2400">
                    <a:solidFill>
                      <a:srgbClr val="111827"/>
                    </a:solidFill>
                    <a:latin typeface="Cambria Math" panose="02040503050406030204" pitchFamily="18" charset="0"/>
                  </a:rPr>
                  <a:t>$f(x)$</a:t>
                </a:r>
                <a:r>
                  <a:rPr sz="2400" b="0">
                    <a:solidFill>
                      <a:srgbClr val="111827"/>
                    </a:solidFill>
                    <a:latin typeface="Arial"/>
                  </a:rPr>
                  <a:t> has maximum value at </a:t>
                </a:r>
                <a:r>
                  <a:rPr lang="en-IN" sz="2400">
                    <a:solidFill>
                      <a:srgbClr val="111827"/>
                    </a:solidFill>
                    <a:latin typeface="Cambria Math" panose="02040503050406030204" pitchFamily="18" charset="0"/>
                  </a:rPr>
                  <a:t>$x=1$</a:t>
                </a:r>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$(-6,-2)$</a:t>
                </a:r>
                <a:r>
                  <a:rPr sz="2400" b="0">
                    <a:solidFill>
                      <a:srgbClr val="111827"/>
                    </a:solidFill>
                    <a:latin typeface="Arial"/>
                  </a:rPr>
                  <a:t>   (B) </a:t>
                </a:r>
                <a:r>
                  <a:rPr lang="en-IN" sz="2400">
                    <a:solidFill>
                      <a:srgbClr val="111827"/>
                    </a:solidFill>
                    <a:latin typeface="Cambria Math" panose="02040503050406030204" pitchFamily="18" charset="0"/>
                  </a:rPr>
                  <a:t>$(2,6)$</a:t>
                </a:r>
                <a:r>
                  <a:rPr sz="2400" b="0">
                    <a:solidFill>
                      <a:srgbClr val="111827"/>
                    </a:solidFill>
                    <a:latin typeface="Arial"/>
                  </a:rPr>
                  <a:t>   (C) </a:t>
                </a:r>
                <a:r>
                  <a:rPr lang="en-IN" sz="2400">
                    <a:solidFill>
                      <a:srgbClr val="111827"/>
                    </a:solidFill>
                    <a:latin typeface="Cambria Math" panose="02040503050406030204" pitchFamily="18" charset="0"/>
                  </a:rPr>
                  <a:t>$[-6,-2)\cup(2,6]$</a:t>
                </a:r>
                <a:r>
                  <a:rPr sz="2400" b="0">
                    <a:solidFill>
                      <a:srgbClr val="111827"/>
                    </a:solidFill>
                    <a:latin typeface="Arial"/>
                  </a:rPr>
                  <a:t>   (D) </a:t>
                </a:r>
                <a:r>
                  <a:rPr lang="en-IN" sz="2400">
                    <a:solidFill>
                      <a:srgbClr val="111827"/>
                    </a:solidFill>
                    <a:latin typeface="Cambria Math" panose="02040503050406030204" pitchFamily="18" charset="0"/>
                  </a:rPr>
                  <a:t>$\left[-\sqrt6,-2\right)\cup\left(2,\sqrt6\right]$</a:t>
                </a:r>
                <a:endParaRPr sz="2400">
                  <a:solidFill>
                    <a:srgbClr val="111827"/>
                  </a:solidFill>
                </a:endParaRPr>
              </a:p>
            </p:txBody>
          </p:sp>
        </mc:Fallback>
      </mc:AlternateContent>
      <p:sp>
        <p:nvSpPr>
          <p:cNvPr id="5" name="Rectangle 4"/>
          <p:cNvSpPr/>
          <p:nvPr/>
        </p:nvSpPr>
        <p:spPr>
          <a:xfrm>
            <a:off x="731520" y="3952239"/>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Maxima and minima of a piecewise function, Logarithmic inequalities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3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Both pieces are monotonic, so the maximum is at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iff the left value at </a:t>
                </a:r>
                <a14:m>
                  <m:oMath xmlns:m="http://schemas.openxmlformats.org/officeDocument/2006/math">
                    <m:r>
                      <a:rPr lang="en-IN" sz="2400" i="1">
                        <a:solidFill>
                          <a:srgbClr val="78350F"/>
                        </a:solidFill>
                        <a:latin typeface="Cambria Math" panose="02040503050406030204" pitchFamily="18" charset="0"/>
                      </a:rPr>
                      <m:t>1</m:t>
                    </m:r>
                  </m:oMath>
                </a14:m>
                <a:r>
                  <a:rPr sz="2400" b="0">
                    <a:solidFill>
                      <a:srgbClr val="78350F"/>
                    </a:solidFill>
                    <a:latin typeface="Arial"/>
                  </a:rPr>
                  <a:t> is at least the right limit at </a:t>
                </a:r>
                <a14:m>
                  <m:oMath xmlns:m="http://schemas.openxmlformats.org/officeDocument/2006/math">
                    <m:r>
                      <a:rPr lang="en-IN" sz="2400" i="1">
                        <a:solidFill>
                          <a:srgbClr val="78350F"/>
                        </a:solidFill>
                        <a:latin typeface="Cambria Math" panose="02040503050406030204" pitchFamily="18" charset="0"/>
                      </a:rPr>
                      <m:t>1</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Both pieces are monotonic, so the maximum is at </a:t>
                </a:r>
                <a:r>
                  <a:rPr lang="en-IN" sz="2400">
                    <a:solidFill>
                      <a:srgbClr val="78350F"/>
                    </a:solidFill>
                    <a:latin typeface="Cambria Math" panose="02040503050406030204" pitchFamily="18" charset="0"/>
                  </a:rPr>
                  <a:t>$x=1$</a:t>
                </a:r>
                <a:r>
                  <a:rPr sz="2400" b="0">
                    <a:solidFill>
                      <a:srgbClr val="78350F"/>
                    </a:solidFill>
                    <a:latin typeface="Arial"/>
                  </a:rPr>
                  <a:t> iff the left value at </a:t>
                </a:r>
                <a:r>
                  <a:rPr lang="en-IN" sz="2400">
                    <a:solidFill>
                      <a:srgbClr val="78350F"/>
                    </a:solidFill>
                    <a:latin typeface="Cambria Math" panose="02040503050406030204" pitchFamily="18" charset="0"/>
                  </a:rPr>
                  <a:t>$1$</a:t>
                </a:r>
                <a:r>
                  <a:rPr sz="2400" b="0">
                    <a:solidFill>
                      <a:srgbClr val="78350F"/>
                    </a:solidFill>
                    <a:latin typeface="Arial"/>
                  </a:rPr>
                  <a:t> is at least the right limit at </a:t>
                </a:r>
                <a:r>
                  <a:rPr lang="en-IN" sz="2400">
                    <a:solidFill>
                      <a:srgbClr val="78350F"/>
                    </a:solidFill>
                    <a:latin typeface="Cambria Math" panose="02040503050406030204" pitchFamily="18" charset="0"/>
                  </a:rPr>
                  <a:t>$1$</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(discriminant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120</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is increasing and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3</m:t>
                    </m:r>
                  </m:oMath>
                </a14:m>
                <a:r>
                  <a:rPr sz="2400" b="0">
                    <a:solidFill>
                      <a:srgbClr val="111827"/>
                    </a:solidFill>
                    <a:latin typeface="Arial"/>
                  </a:rPr>
                  <a:t> on the left.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is decreasing and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&lt;</m:t>
                    </m:r>
                    <m:sSub>
                      <m:e>
                        <m:r>
                          <m:rPr>
                            <m:sty m:val="p"/>
                          </m:rPr>
                          <a:rPr lang="en-IN" sz="2400">
                            <a:solidFill>
                              <a:srgbClr val="111827"/>
                            </a:solidFill>
                            <a:latin typeface="Cambria Math" panose="02040503050406030204" pitchFamily="18" charset="0"/>
                          </a:rPr>
                          <m:t>lim</m:t>
                        </m:r>
                      </m:e>
                      <m:sub>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m:t>
                            </m:r>
                          </m:e>
                          <m:sup>
                            <m:r>
                              <m:rPr>
                                <m:sty m:val="p"/>
                              </m:rPr>
                              <a:rPr lang="en-IN" sz="2400">
                                <a:solidFill>
                                  <a:srgbClr val="111827"/>
                                </a:solidFill>
                                <a:latin typeface="Cambria Math" panose="02040503050406030204" pitchFamily="18" charset="0"/>
                              </a:rPr>
                              <m:t>+</m:t>
                            </m:r>
                          </m:sup>
                        </m:sSup>
                      </m:sub>
                    </m:sSub>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on the right.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r>
                          <m:rPr>
                            <m:sty m:val="p"/>
                          </m:rPr>
                          <a:rPr lang="en-IN" sz="2400">
                            <a:solidFill>
                              <a:srgbClr val="111827"/>
                            </a:solidFill>
                            <a:latin typeface="Cambria Math" panose="02040503050406030204" pitchFamily="18" charset="0"/>
                          </a:rPr>
                          <m:t>lim</m:t>
                        </m:r>
                      </m:e>
                      <m:sub>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m:t>
                            </m:r>
                          </m:e>
                          <m:sup>
                            <m:r>
                              <m:rPr>
                                <m:sty m:val="p"/>
                              </m:rPr>
                              <a:rPr lang="en-IN" sz="2400">
                                <a:solidFill>
                                  <a:srgbClr val="111827"/>
                                </a:solidFill>
                                <a:latin typeface="Cambria Math" panose="02040503050406030204" pitchFamily="18" charset="0"/>
                              </a:rPr>
                              <m:t>+</m:t>
                            </m:r>
                          </m:sup>
                        </m:sSup>
                      </m:sub>
                    </m:sSub>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sSub>
                      <m:e>
                        <m:r>
                          <m:rPr>
                            <m:sty m:val="p"/>
                          </m:rPr>
                          <a:rPr lang="en-IN" sz="2400">
                            <a:solidFill>
                              <a:srgbClr val="111827"/>
                            </a:solidFill>
                            <a:latin typeface="Cambria Math" panose="02040503050406030204" pitchFamily="18" charset="0"/>
                          </a:rPr>
                          <m:t>log</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$f(1)=1-1+10-7=3$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$x&lt;1$</a:t>
                </a:r>
                <a:r>
                  <a:rPr sz="2400" b="0">
                    <a:solidFill>
                      <a:srgbClr val="111827"/>
                    </a:solidFill>
                    <a:latin typeface="Arial"/>
                  </a:rPr>
                  <a:t>: </a:t>
                </a:r>
                <a:r>
                  <a:rPr lang="en-IN" sz="2400">
                    <a:solidFill>
                      <a:srgbClr val="111827"/>
                    </a:solidFill>
                    <a:latin typeface="Cambria Math" panose="02040503050406030204" pitchFamily="18" charset="0"/>
                  </a:rPr>
                  <a:t>$f'(x)=3x^2-2x+10&gt;0$</a:t>
                </a:r>
                <a:r>
                  <a:rPr sz="2400" b="0">
                    <a:solidFill>
                      <a:srgbClr val="111827"/>
                    </a:solidFill>
                    <a:latin typeface="Arial"/>
                  </a:rPr>
                  <a:t> (discriminant </a:t>
                </a:r>
                <a:r>
                  <a:rPr lang="en-IN" sz="2400">
                    <a:solidFill>
                      <a:srgbClr val="111827"/>
                    </a:solidFill>
                    <a:latin typeface="Cambria Math" panose="02040503050406030204" pitchFamily="18" charset="0"/>
                  </a:rPr>
                  <a:t>$4-120&lt;0$</a:t>
                </a:r>
                <a:r>
                  <a:rPr sz="2400" b="0">
                    <a:solidFill>
                      <a:srgbClr val="111827"/>
                    </a:solidFill>
                    <a:latin typeface="Arial"/>
                  </a:rPr>
                  <a:t>), so </a:t>
                </a:r>
                <a:r>
                  <a:rPr lang="en-IN" sz="2400">
                    <a:solidFill>
                      <a:srgbClr val="111827"/>
                    </a:solidFill>
                    <a:latin typeface="Cambria Math" panose="02040503050406030204" pitchFamily="18" charset="0"/>
                  </a:rPr>
                  <a:t>$f$</a:t>
                </a:r>
                <a:r>
                  <a:rPr sz="2400" b="0">
                    <a:solidFill>
                      <a:srgbClr val="111827"/>
                    </a:solidFill>
                    <a:latin typeface="Arial"/>
                  </a:rPr>
                  <a:t> is increasing and </a:t>
                </a:r>
                <a:r>
                  <a:rPr lang="en-IN" sz="2400">
                    <a:solidFill>
                      <a:srgbClr val="111827"/>
                    </a:solidFill>
                    <a:latin typeface="Cambria Math" panose="02040503050406030204" pitchFamily="18" charset="0"/>
                  </a:rPr>
                  <a:t>$f(x)&lt;3$</a:t>
                </a:r>
                <a:r>
                  <a:rPr sz="2400" b="0">
                    <a:solidFill>
                      <a:srgbClr val="111827"/>
                    </a:solidFill>
                    <a:latin typeface="Arial"/>
                  </a:rPr>
                  <a:t> on the left.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$x&gt;1$</a:t>
                </a:r>
                <a:r>
                  <a:rPr sz="2400" b="0">
                    <a:solidFill>
                      <a:srgbClr val="111827"/>
                    </a:solidFill>
                    <a:latin typeface="Arial"/>
                  </a:rPr>
                  <a:t>: </a:t>
                </a:r>
                <a:r>
                  <a:rPr lang="en-IN" sz="2400">
                    <a:solidFill>
                      <a:srgbClr val="111827"/>
                    </a:solidFill>
                    <a:latin typeface="Cambria Math" panose="02040503050406030204" pitchFamily="18" charset="0"/>
                  </a:rPr>
                  <a:t>$f'(x)=-2&lt;0$</a:t>
                </a:r>
                <a:r>
                  <a:rPr sz="2400" b="0">
                    <a:solidFill>
                      <a:srgbClr val="111827"/>
                    </a:solidFill>
                    <a:latin typeface="Arial"/>
                  </a:rPr>
                  <a:t>, so </a:t>
                </a:r>
                <a:r>
                  <a:rPr lang="en-IN" sz="2400">
                    <a:solidFill>
                      <a:srgbClr val="111827"/>
                    </a:solidFill>
                    <a:latin typeface="Cambria Math" panose="02040503050406030204" pitchFamily="18" charset="0"/>
                  </a:rPr>
                  <a:t>$f$</a:t>
                </a:r>
                <a:r>
                  <a:rPr sz="2400" b="0">
                    <a:solidFill>
                      <a:srgbClr val="111827"/>
                    </a:solidFill>
                    <a:latin typeface="Arial"/>
                  </a:rPr>
                  <a:t> is decreasing and </a:t>
                </a:r>
                <a:r>
                  <a:rPr lang="en-IN" sz="2400">
                    <a:solidFill>
                      <a:srgbClr val="111827"/>
                    </a:solidFill>
                    <a:latin typeface="Cambria Math" panose="02040503050406030204" pitchFamily="18" charset="0"/>
                  </a:rPr>
                  <a:t>$f(x)&lt;\lim_{x\to1^+}f(x)$</a:t>
                </a:r>
                <a:r>
                  <a:rPr sz="2400" b="0">
                    <a:solidFill>
                      <a:srgbClr val="111827"/>
                    </a:solidFill>
                    <a:latin typeface="Arial"/>
                  </a:rPr>
                  <a:t> on the right.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$\lim_{x\to1^+}f(x)=-2+\log_2(b^2-4)$</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the maximum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we need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sSub>
                      <m:e>
                        <m:r>
                          <m:rPr>
                            <m:sty m:val="p"/>
                          </m:rPr>
                          <a:rPr lang="en-IN" sz="2400">
                            <a:solidFill>
                              <a:srgbClr val="111827"/>
                            </a:solidFill>
                            <a:latin typeface="Cambria Math" panose="02040503050406030204" pitchFamily="18" charset="0"/>
                          </a:rPr>
                          <m:t>log</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i.e. </a:t>
                </a:r>
                <a14:m>
                  <m:oMath xmlns:m="http://schemas.openxmlformats.org/officeDocument/2006/math">
                    <m:sSub>
                      <m:e>
                        <m:r>
                          <m:rPr>
                            <m:sty m:val="p"/>
                          </m:rPr>
                          <a:rPr lang="en-IN" sz="2400">
                            <a:solidFill>
                              <a:srgbClr val="111827"/>
                            </a:solidFill>
                            <a:latin typeface="Cambria Math" panose="02040503050406030204" pitchFamily="18" charset="0"/>
                          </a:rPr>
                          <m:t>log</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Also the logarithm must be defined: </a:t>
                </a:r>
                <a14:m>
                  <m:oMath xmlns:m="http://schemas.openxmlformats.org/officeDocument/2006/math">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&lt;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32</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&lt;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which is option (C).</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the maximum at </a:t>
                </a:r>
                <a:r>
                  <a:rPr lang="en-IN" sz="2400">
                    <a:solidFill>
                      <a:srgbClr val="111827"/>
                    </a:solidFill>
                    <a:latin typeface="Cambria Math" panose="02040503050406030204" pitchFamily="18" charset="0"/>
                  </a:rPr>
                  <a:t>$x=1$</a:t>
                </a:r>
                <a:r>
                  <a:rPr sz="2400" b="0">
                    <a:solidFill>
                      <a:srgbClr val="111827"/>
                    </a:solidFill>
                    <a:latin typeface="Arial"/>
                  </a:rPr>
                  <a:t> we need </a:t>
                </a:r>
                <a:r>
                  <a:rPr lang="en-IN" sz="2400">
                    <a:solidFill>
                      <a:srgbClr val="111827"/>
                    </a:solidFill>
                    <a:latin typeface="Cambria Math" panose="02040503050406030204" pitchFamily="18" charset="0"/>
                  </a:rPr>
                  <a:t>$3\ge-2+\log_2(b^2-4)$</a:t>
                </a:r>
                <a:r>
                  <a:rPr sz="2400" b="0">
                    <a:solidFill>
                      <a:srgbClr val="111827"/>
                    </a:solidFill>
                    <a:latin typeface="Arial"/>
                  </a:rPr>
                  <a:t>, i.e. </a:t>
                </a:r>
                <a:r>
                  <a:rPr lang="en-IN" sz="2400">
                    <a:solidFill>
                      <a:srgbClr val="111827"/>
                    </a:solidFill>
                    <a:latin typeface="Cambria Math" panose="02040503050406030204" pitchFamily="18" charset="0"/>
                  </a:rPr>
                  <a:t>$\log_2(b^2-4)\le5$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Also the logarithm must be defined: </a:t>
                </a:r>
                <a:r>
                  <a:rPr lang="en-IN" sz="2400">
                    <a:solidFill>
                      <a:srgbClr val="111827"/>
                    </a:solidFill>
                    <a:latin typeface="Cambria Math" panose="02040503050406030204" pitchFamily="18" charset="0"/>
                  </a:rPr>
                  <a:t>$b^2-4&gt;0$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$0&lt;b^2-4\le32$</a:t>
                </a:r>
                <a:r>
                  <a:rPr sz="2400" b="0">
                    <a:solidFill>
                      <a:srgbClr val="111827"/>
                    </a:solidFill>
                    <a:latin typeface="Arial"/>
                  </a:rPr>
                  <a:t>, i.e. </a:t>
                </a:r>
                <a:r>
                  <a:rPr lang="en-IN" sz="2400">
                    <a:solidFill>
                      <a:srgbClr val="111827"/>
                    </a:solidFill>
                    <a:latin typeface="Cambria Math" panose="02040503050406030204" pitchFamily="18" charset="0"/>
                  </a:rPr>
                  <a:t>$4&lt;b^2\le36$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$b\in[-6,-2)\cup(2,6]$</a:t>
                </a:r>
                <a:r>
                  <a:rPr sz="2400" b="0">
                    <a:solidFill>
                      <a:srgbClr val="111827"/>
                    </a:solidFill>
                    <a:latin typeface="Arial"/>
                  </a:rPr>
                  <a:t>, which is option (C).</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14:m>
                  <m:oMath xmlns:m="http://schemas.openxmlformats.org/officeDocument/2006/math">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6</m:t>
                    </m:r>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2</m:t>
                    </m:r>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2</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6</m:t>
                    </m:r>
                    <m:r>
                      <m:rPr>
                        <m:sty m:val="p"/>
                      </m:rPr>
                      <a:rPr lang="en-IN" sz="2800">
                        <a:solidFill>
                          <a:srgbClr val="15803D"/>
                        </a:solidFill>
                        <a:latin typeface="Cambria Math" panose="02040503050406030204" pitchFamily="18" charset="0"/>
                      </a:rPr>
                      <m:t>]</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r>
                  <a:rPr lang="en-IN" sz="2800">
                    <a:solidFill>
                      <a:srgbClr val="15803D"/>
                    </a:solidFill>
                    <a:latin typeface="Cambria Math" panose="02040503050406030204" pitchFamily="18" charset="0"/>
                  </a:rPr>
                  <a:t>$[-6,-2)\cup(2,6]$</a:t>
                </a:r>
                <a:endParaRPr sz="2800">
                  <a:solidFill>
                    <a:srgbClr val="15803D"/>
                  </a:solidFill>
                </a:endParaRPr>
              </a:p>
            </p:txBody>
          </p:sp>
        </mc:Fallback>
      </mc:AlternateContent>
    </p:spTree>
  </p:cSld>
  <p:clrMapOvr>
    <a:masterClrMapping/>
  </p:clrMapOvr>
</p:sld>
</file>

<file path=ppt/slides/slide3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 piecewise function increasing on the left and decreasing on the right of a point, the maximum is at that point iff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right-hand limit.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r>
                          <m:rPr>
                            <m:sty m:val="p"/>
                          </m:rPr>
                          <a:rPr lang="en-IN" sz="2400">
                            <a:solidFill>
                              <a:srgbClr val="111827"/>
                            </a:solidFill>
                            <a:latin typeface="Cambria Math" panose="02040503050406030204" pitchFamily="18" charset="0"/>
                          </a:rPr>
                          <m:t>log</m:t>
                        </m:r>
                      </m:e>
                      <m:sub>
                        <m:r>
                          <a:rPr lang="en-IN" sz="2400" i="1">
                            <a:solidFill>
                              <a:srgbClr val="111827"/>
                            </a:solidFill>
                            <a:latin typeface="Cambria Math" panose="02040503050406030204" pitchFamily="18" charset="0"/>
                          </a:rPr>
                          <m:t>2</m:t>
                        </m:r>
                      </m:sub>
                    </m:sSub>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𝑘</m:t>
                        </m:r>
                      </m:sup>
                    </m:sSup>
                  </m:oMath>
                </a14:m>
                <a:r>
                  <a:rPr sz="2400" b="0">
                    <a:solidFill>
                      <a:srgbClr val="111827"/>
                    </a:solidFill>
                    <a:latin typeface="Arial"/>
                  </a:rPr>
                  <a:t>; remember the domain condition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always.</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gives two symmetric intervals in </a:t>
                </a:r>
                <a14:m>
                  <m:oMath xmlns:m="http://schemas.openxmlformats.org/officeDocument/2006/math">
                    <m:r>
                      <a:rPr lang="en-IN" sz="2400" i="1">
                        <a:solidFill>
                          <a:srgbClr val="111827"/>
                        </a:solidFill>
                        <a:latin typeface="Cambria Math" panose="02040503050406030204" pitchFamily="18" charset="0"/>
                      </a:rPr>
                      <m:t>𝑏</m:t>
                    </m:r>
                  </m:oMath>
                </a14:m>
                <a:r>
                  <a:rPr sz="2400" b="0">
                    <a:solidFill>
                      <a:srgbClr val="111827"/>
                    </a:solidFill>
                    <a:latin typeface="Arial"/>
                  </a:rPr>
                  <a:t>; don't forget the negative one.</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 piecewise function increasing on the left and decreasing on the right of a point, the maximum is at that point iff </a:t>
                </a:r>
                <a:r>
                  <a:rPr lang="en-IN" sz="2400">
                    <a:solidFill>
                      <a:srgbClr val="111827"/>
                    </a:solidFill>
                    <a:latin typeface="Cambria Math" panose="02040503050406030204" pitchFamily="18" charset="0"/>
                  </a:rPr>
                  <a:t>$f(c)\ge$</a:t>
                </a:r>
                <a:r>
                  <a:rPr sz="2400" b="0">
                    <a:solidFill>
                      <a:srgbClr val="111827"/>
                    </a:solidFill>
                    <a:latin typeface="Arial"/>
                  </a:rPr>
                  <a:t> the right-hand limit.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$\log_2 t\le k\iff0&lt;t\le2^k$</a:t>
                </a:r>
                <a:r>
                  <a:rPr sz="2400" b="0">
                    <a:solidFill>
                      <a:srgbClr val="111827"/>
                    </a:solidFill>
                    <a:latin typeface="Arial"/>
                  </a:rPr>
                  <a:t>; remember the domain condition </a:t>
                </a:r>
                <a:r>
                  <a:rPr lang="en-IN" sz="2400">
                    <a:solidFill>
                      <a:srgbClr val="111827"/>
                    </a:solidFill>
                    <a:latin typeface="Cambria Math" panose="02040503050406030204" pitchFamily="18" charset="0"/>
                  </a:rPr>
                  <a:t>$t&gt;0$</a:t>
                </a:r>
                <a:r>
                  <a:rPr sz="2400" b="0">
                    <a:solidFill>
                      <a:srgbClr val="111827"/>
                    </a:solidFill>
                    <a:latin typeface="Arial"/>
                  </a:rPr>
                  <a:t> always.</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$b^2\in(4,36]$</a:t>
                </a:r>
                <a:r>
                  <a:rPr sz="2400" b="0">
                    <a:solidFill>
                      <a:srgbClr val="111827"/>
                    </a:solidFill>
                    <a:latin typeface="Arial"/>
                  </a:rPr>
                  <a:t> gives two symmetric intervals in </a:t>
                </a:r>
                <a:r>
                  <a:rPr lang="en-IN" sz="2400">
                    <a:solidFill>
                      <a:srgbClr val="111827"/>
                    </a:solidFill>
                    <a:latin typeface="Cambria Math" panose="02040503050406030204" pitchFamily="18" charset="0"/>
                  </a:rPr>
                  <a:t>$b$</a:t>
                </a:r>
                <a:r>
                  <a:rPr sz="2400" b="0">
                    <a:solidFill>
                      <a:srgbClr val="111827"/>
                    </a:solidFill>
                    <a:latin typeface="Arial"/>
                  </a:rPr>
                  <a:t>; don't forget the negative one.</a:t>
                </a:r>
                <a:endParaRPr sz="2400">
                  <a:solidFill>
                    <a:srgbClr val="111827"/>
                  </a:solidFill>
                </a:endParaRPr>
              </a:p>
            </p:txBody>
          </p:sp>
        </mc:Fallback>
      </mc:AlternateContent>
    </p:spTree>
  </p:cSld>
  <p:clrMapOvr>
    <a:masterClrMapping/>
  </p:clrMapOvr>
</p:sld>
</file>

<file path=ppt/slides/slide3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14452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sum of the absolute maximum and absolute minimum values of the function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in the interval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(B) </a:t>
                </a:r>
                <a14:m>
                  <m:oMath xmlns:m="http://schemas.openxmlformats.org/officeDocument/2006/math">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den>
                        </m:f>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(C) </a:t>
                </a:r>
                <a14:m>
                  <m:oMath xmlns:m="http://schemas.openxmlformats.org/officeDocument/2006/math">
                    <m:sSup>
                      <m:e>
                        <m:r>
                          <m:rPr>
                            <m:sty m:val="p"/>
                          </m:rPr>
                          <a:rPr lang="en-IN" sz="2400">
                            <a:solidFill>
                              <a:srgbClr val="111827"/>
                            </a:solidFill>
                            <a:latin typeface="Cambria Math" panose="02040503050406030204" pitchFamily="18" charset="0"/>
                          </a:rPr>
                          <m:t>cos</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(D)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12</m:t>
                        </m:r>
                      </m:den>
                    </m:f>
                  </m:oMath>
                </a14:m>
                <a:endParaRPr sz="2400">
                  <a:solidFill>
                    <a:srgbClr val="111827"/>
                  </a:solidFill>
                </a:endParaRPr>
              </a:p>
            </p:txBody>
          </p:sp>
        </mc:Choice>
        <mc:Fallback>
          <p:sp>
            <p:nvSpPr>
              <p:cNvPr id="4" name="Rounded Rectangle 3"/>
              <p:cNvSpPr/>
              <p:nvPr/>
            </p:nvSpPr>
            <p:spPr>
              <a:xfrm>
                <a:off x="731520" y="1280160"/>
                <a:ext cx="10725912" cy="314452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sum of the absolute maximum and absolute minimum values of the function </a:t>
                </a:r>
                <a:r>
                  <a:rPr lang="en-IN" sz="2400">
                    <a:solidFill>
                      <a:srgbClr val="111827"/>
                    </a:solidFill>
                    <a:latin typeface="Cambria Math" panose="02040503050406030204" pitchFamily="18" charset="0"/>
                  </a:rPr>
                  <a:t>$f(x)=\tan^{-1}(\sin x-\cos x)$</a:t>
                </a:r>
                <a:r>
                  <a:rPr sz="2400" b="0">
                    <a:solidFill>
                      <a:srgbClr val="111827"/>
                    </a:solidFill>
                    <a:latin typeface="Arial"/>
                  </a:rPr>
                  <a:t> in the interval </a:t>
                </a:r>
                <a:r>
                  <a:rPr lang="en-IN" sz="2400">
                    <a:solidFill>
                      <a:srgbClr val="111827"/>
                    </a:solidFill>
                    <a:latin typeface="Cambria Math" panose="02040503050406030204" pitchFamily="18" charset="0"/>
                  </a:rPr>
                  <a:t>$[0,\pi]$</a:t>
                </a:r>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$0$</a:t>
                </a:r>
                <a:r>
                  <a:rPr sz="2400" b="0">
                    <a:solidFill>
                      <a:srgbClr val="111827"/>
                    </a:solidFill>
                    <a:latin typeface="Arial"/>
                  </a:rPr>
                  <a:t>   (B) </a:t>
                </a:r>
                <a:r>
                  <a:rPr lang="en-IN" sz="2400">
                    <a:solidFill>
                      <a:srgbClr val="111827"/>
                    </a:solidFill>
                    <a:latin typeface="Cambria Math" panose="02040503050406030204" pitchFamily="18" charset="0"/>
                  </a:rPr>
                  <a:t>$\tan^{-1}\left(\frac{1}{\sqrt2}\right)-\frac\pi4$</a:t>
                </a:r>
                <a:r>
                  <a:rPr sz="2400" b="0">
                    <a:solidFill>
                      <a:srgbClr val="111827"/>
                    </a:solidFill>
                    <a:latin typeface="Arial"/>
                  </a:rPr>
                  <a:t>   (C) </a:t>
                </a:r>
                <a:r>
                  <a:rPr lang="en-IN" sz="2400">
                    <a:solidFill>
                      <a:srgbClr val="111827"/>
                    </a:solidFill>
                    <a:latin typeface="Cambria Math" panose="02040503050406030204" pitchFamily="18" charset="0"/>
                  </a:rPr>
                  <a:t>$\cos^{-1}\left(\frac{1}{\sqrt3}\right)-\frac\pi4$</a:t>
                </a:r>
                <a:r>
                  <a:rPr sz="2400" b="0">
                    <a:solidFill>
                      <a:srgbClr val="111827"/>
                    </a:solidFill>
                    <a:latin typeface="Arial"/>
                  </a:rPr>
                  <a:t>   (D) </a:t>
                </a:r>
                <a:r>
                  <a:rPr lang="en-IN" sz="2400">
                    <a:solidFill>
                      <a:srgbClr val="111827"/>
                    </a:solidFill>
                    <a:latin typeface="Cambria Math" panose="02040503050406030204" pitchFamily="18" charset="0"/>
                  </a:rPr>
                  <a:t>$-\frac{\pi}{12}$</a:t>
                </a:r>
                <a:endParaRPr sz="2400">
                  <a:solidFill>
                    <a:srgbClr val="111827"/>
                  </a:solidFill>
                </a:endParaRPr>
              </a:p>
            </p:txBody>
          </p:sp>
        </mc:Fallback>
      </mc:AlternateContent>
      <p:sp>
        <p:nvSpPr>
          <p:cNvPr id="5" name="Rectangle 4"/>
          <p:cNvSpPr/>
          <p:nvPr/>
        </p:nvSpPr>
        <p:spPr>
          <a:xfrm>
            <a:off x="731520" y="4653280"/>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Inverse trigonometric functions, Absolute extrema</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3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sSup>
                      <m:e>
                        <m:r>
                          <m:rPr>
                            <m:sty m:val="p"/>
                          </m:rPr>
                          <a:rPr lang="en-IN" sz="2400">
                            <a:solidFill>
                              <a:srgbClr val="78350F"/>
                            </a:solidFill>
                            <a:latin typeface="Cambria Math" panose="02040503050406030204" pitchFamily="18" charset="0"/>
                          </a:rPr>
                          <m:t>tan</m:t>
                        </m:r>
                      </m:e>
                      <m: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up>
                    </m:sSup>
                  </m:oMath>
                </a14:m>
                <a:r>
                  <a:rPr sz="2400" b="0">
                    <a:solidFill>
                      <a:srgbClr val="78350F"/>
                    </a:solidFill>
                    <a:latin typeface="Arial"/>
                  </a:rPr>
                  <a:t> is increasing, so extrema of </a:t>
                </a:r>
                <a14:m>
                  <m:oMath xmlns:m="http://schemas.openxmlformats.org/officeDocument/2006/math">
                    <m:r>
                      <a:rPr lang="en-IN" sz="2400" i="1">
                        <a:solidFill>
                          <a:srgbClr val="78350F"/>
                        </a:solidFill>
                        <a:latin typeface="Cambria Math" panose="02040503050406030204" pitchFamily="18" charset="0"/>
                      </a:rPr>
                      <m:t>𝑓</m:t>
                    </m:r>
                  </m:oMath>
                </a14:m>
                <a:r>
                  <a:rPr sz="2400" b="0">
                    <a:solidFill>
                      <a:srgbClr val="78350F"/>
                    </a:solidFill>
                    <a:latin typeface="Arial"/>
                  </a:rPr>
                  <a:t> occur where </a:t>
                </a:r>
                <a14:m>
                  <m:oMath xmlns:m="http://schemas.openxmlformats.org/officeDocument/2006/math">
                    <m:r>
                      <m:rPr>
                        <m:sty m:val="p"/>
                      </m:rPr>
                      <a:rPr lang="en-IN" sz="2400">
                        <a:solidFill>
                          <a:srgbClr val="78350F"/>
                        </a:solidFill>
                        <a:latin typeface="Cambria Math" panose="02040503050406030204" pitchFamily="18" charset="0"/>
                      </a:rPr>
                      <m:t>sin</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cos</m:t>
                    </m:r>
                    <m:r>
                      <a:rPr lang="en-IN" sz="2400" i="1">
                        <a:solidFill>
                          <a:srgbClr val="78350F"/>
                        </a:solidFill>
                        <a:latin typeface="Cambria Math" panose="02040503050406030204" pitchFamily="18" charset="0"/>
                      </a:rPr>
                      <m:t>𝑥</m:t>
                    </m:r>
                  </m:oMath>
                </a14:m>
                <a:r>
                  <a:rPr sz="2400" b="0">
                    <a:solidFill>
                      <a:srgbClr val="78350F"/>
                    </a:solidFill>
                    <a:latin typeface="Arial"/>
                  </a:rPr>
                  <a:t> is extreme.</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$\tan^{-1}$</a:t>
                </a:r>
                <a:r>
                  <a:rPr sz="2400" b="0">
                    <a:solidFill>
                      <a:srgbClr val="78350F"/>
                    </a:solidFill>
                    <a:latin typeface="Arial"/>
                  </a:rPr>
                  <a:t> is increasing, so extrema of </a:t>
                </a:r>
                <a:r>
                  <a:rPr lang="en-IN" sz="2400">
                    <a:solidFill>
                      <a:srgbClr val="78350F"/>
                    </a:solidFill>
                    <a:latin typeface="Cambria Math" panose="02040503050406030204" pitchFamily="18" charset="0"/>
                  </a:rPr>
                  <a:t>$f$</a:t>
                </a:r>
                <a:r>
                  <a:rPr sz="2400" b="0">
                    <a:solidFill>
                      <a:srgbClr val="78350F"/>
                    </a:solidFill>
                    <a:latin typeface="Arial"/>
                  </a:rPr>
                  <a:t> occur where </a:t>
                </a:r>
                <a:r>
                  <a:rPr lang="en-IN" sz="2400">
                    <a:solidFill>
                      <a:srgbClr val="78350F"/>
                    </a:solidFill>
                    <a:latin typeface="Cambria Math" panose="02040503050406030204" pitchFamily="18" charset="0"/>
                  </a:rPr>
                  <a:t>$\sin x-\cos x$</a:t>
                </a:r>
                <a:r>
                  <a:rPr sz="2400" b="0">
                    <a:solidFill>
                      <a:srgbClr val="78350F"/>
                    </a:solidFill>
                    <a:latin typeface="Arial"/>
                  </a:rPr>
                  <a:t> is extreme.</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num>
                      <m:den>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tan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𝑓</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e>
                    </m:d>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den>
                        </m:f>
                      </m:e>
                    </m:d>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$f'(x)=\frac{\cos x+\sin x}{(\sin x-\cos x)^2+1}$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$f'(x)=0\Rightarrow\sin x+\cos x=0\Rightarrow\tan x=-1\Rightarrow x=\frac{3\pi}{4}$</a:t>
                </a:r>
                <a:r>
                  <a:rPr sz="2400" b="0">
                    <a:solidFill>
                      <a:srgbClr val="111827"/>
                    </a:solidFill>
                    <a:latin typeface="Arial"/>
                  </a:rPr>
                  <a:t> in </a:t>
                </a:r>
                <a:r>
                  <a:rPr lang="en-IN" sz="2400">
                    <a:solidFill>
                      <a:srgbClr val="111827"/>
                    </a:solidFill>
                    <a:latin typeface="Cambria Math" panose="02040503050406030204" pitchFamily="18" charset="0"/>
                  </a:rPr>
                  <a:t>$[0,\pi]$</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$f(0)=\tan^{-1}(-1)=-\frac\pi4$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$f\left(\frac{3\pi}{4}\right)=\tan^{-1}\left(\frac{1}{\sqrt2}+\frac{1}{\sqrt2}\right)=\tan^{-1}\sqrt2$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$f(\pi)=\tan^{-1}(0+1)=\frac\pi4$</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Absolute maximum </a:t>
                </a:r>
                <a14:m>
                  <m:oMath xmlns:m="http://schemas.openxmlformats.org/officeDocument/2006/math">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oMath>
                </a14:m>
                <a:r>
                  <a:rPr sz="2400" b="0">
                    <a:solidFill>
                      <a:srgbClr val="111827"/>
                    </a:solidFill>
                    <a:latin typeface="Arial"/>
                  </a:rPr>
                  <a:t>, absolute minimum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a:t>
                </a:r>
                <a14:m>
                  <m:oMath xmlns:m="http://schemas.openxmlformats.org/officeDocument/2006/math">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14:m>
                  <m:oMath xmlns:m="http://schemas.openxmlformats.org/officeDocument/2006/math">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oMath>
                </a14:m>
                <a:r>
                  <a:rPr sz="2400" b="0">
                    <a:solidFill>
                      <a:srgbClr val="111827"/>
                    </a:solidFill>
                    <a:latin typeface="Arial"/>
                  </a:rPr>
                  <a:t> then </a:t>
                </a:r>
                <a14:m>
                  <m:oMath xmlns:m="http://schemas.openxmlformats.org/officeDocument/2006/math">
                    <m:r>
                      <m:rPr>
                        <m:sty m:val="p"/>
                      </m:rPr>
                      <a:rPr lang="en-IN" sz="2400">
                        <a:solidFill>
                          <a:srgbClr val="111827"/>
                        </a:solidFill>
                        <a:latin typeface="Cambria Math" panose="02040503050406030204" pitchFamily="18" charset="0"/>
                      </a:rPr>
                      <m:t>tan</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cos</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a:t>
                </a:r>
                <a14:m>
                  <m:oMath xmlns:m="http://schemas.openxmlformats.org/officeDocument/2006/math">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cos</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option (C).</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Absolute maximum </a:t>
                </a:r>
                <a:r>
                  <a:rPr lang="en-IN" sz="2400">
                    <a:solidFill>
                      <a:srgbClr val="111827"/>
                    </a:solidFill>
                    <a:latin typeface="Cambria Math" panose="02040503050406030204" pitchFamily="18" charset="0"/>
                  </a:rPr>
                  <a:t>$=\tan^{-1}\sqrt2$</a:t>
                </a:r>
                <a:r>
                  <a:rPr sz="2400" b="0">
                    <a:solidFill>
                      <a:srgbClr val="111827"/>
                    </a:solidFill>
                    <a:latin typeface="Arial"/>
                  </a:rPr>
                  <a:t>, absolute minimum </a:t>
                </a:r>
                <a:r>
                  <a:rPr lang="en-IN" sz="2400">
                    <a:solidFill>
                      <a:srgbClr val="111827"/>
                    </a:solidFill>
                    <a:latin typeface="Cambria Math" panose="02040503050406030204" pitchFamily="18" charset="0"/>
                  </a:rPr>
                  <a:t>$=-\frac\pi4$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a:t>
                </a:r>
                <a:r>
                  <a:rPr lang="en-IN" sz="2400">
                    <a:solidFill>
                      <a:srgbClr val="111827"/>
                    </a:solidFill>
                    <a:latin typeface="Cambria Math" panose="02040503050406030204" pitchFamily="18" charset="0"/>
                  </a:rPr>
                  <a:t>$=\tan^{-1}\sqrt2-\frac\pi4$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$\theta=\tan^{-1}\sqrt2$</a:t>
                </a:r>
                <a:r>
                  <a:rPr sz="2400" b="0">
                    <a:solidFill>
                      <a:srgbClr val="111827"/>
                    </a:solidFill>
                    <a:latin typeface="Arial"/>
                  </a:rPr>
                  <a:t> then </a:t>
                </a:r>
                <a:r>
                  <a:rPr lang="en-IN" sz="2400">
                    <a:solidFill>
                      <a:srgbClr val="111827"/>
                    </a:solidFill>
                    <a:latin typeface="Cambria Math" panose="02040503050406030204" pitchFamily="18" charset="0"/>
                  </a:rPr>
                  <a:t>$\tan\theta=\sqrt2$</a:t>
                </a:r>
                <a:r>
                  <a:rPr sz="2400" b="0">
                    <a:solidFill>
                      <a:srgbClr val="111827"/>
                    </a:solidFill>
                    <a:latin typeface="Arial"/>
                  </a:rPr>
                  <a:t>, so </a:t>
                </a:r>
                <a:r>
                  <a:rPr lang="en-IN" sz="2400">
                    <a:solidFill>
                      <a:srgbClr val="111827"/>
                    </a:solidFill>
                    <a:latin typeface="Cambria Math" panose="02040503050406030204" pitchFamily="18" charset="0"/>
                  </a:rPr>
                  <a:t>$\cos\theta=\frac{1}{\sqrt3}$</a:t>
                </a:r>
                <a:r>
                  <a:rPr sz="2400" b="0">
                    <a:solidFill>
                      <a:srgbClr val="111827"/>
                    </a:solidFill>
                    <a:latin typeface="Arial"/>
                  </a:rPr>
                  <a:t> and </a:t>
                </a:r>
                <a:r>
                  <a:rPr lang="en-IN" sz="2400">
                    <a:solidFill>
                      <a:srgbClr val="111827"/>
                    </a:solidFill>
                    <a:latin typeface="Cambria Math" panose="02040503050406030204" pitchFamily="18" charset="0"/>
                  </a:rPr>
                  <a:t>$\theta=\cos^{-1}\frac{1}{\sqrt3}$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a:t>
                </a:r>
                <a:r>
                  <a:rPr lang="en-IN" sz="2400">
                    <a:solidFill>
                      <a:srgbClr val="111827"/>
                    </a:solidFill>
                    <a:latin typeface="Cambria Math" panose="02040503050406030204" pitchFamily="18" charset="0"/>
                  </a:rPr>
                  <a:t>$=\cos^{-1}\frac{1}{\sqrt3}-\frac\pi4$</a:t>
                </a:r>
                <a:r>
                  <a:rPr sz="2400" b="0">
                    <a:solidFill>
                      <a:srgbClr val="111827"/>
                    </a:solidFill>
                    <a:latin typeface="Arial"/>
                  </a:rPr>
                  <a:t>, option (C).</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14:m>
                  <m:oMath xmlns:m="http://schemas.openxmlformats.org/officeDocument/2006/math">
                    <m:sSup>
                      <m:e>
                        <m:r>
                          <m:rPr>
                            <m:sty m:val="p"/>
                          </m:rPr>
                          <a:rPr lang="en-IN" sz="2800">
                            <a:solidFill>
                              <a:srgbClr val="15803D"/>
                            </a:solidFill>
                            <a:latin typeface="Cambria Math" panose="02040503050406030204" pitchFamily="18" charset="0"/>
                          </a:rPr>
                          <m:t>cos</m:t>
                        </m:r>
                      </m:e>
                      <m:sup>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1</m:t>
                        </m:r>
                      </m:sup>
                    </m:sSup>
                    <m:d>
                      <m:dPr>
                        <m:begChr m:val="("/>
                        <m:sepChr m:val=""/>
                        <m:endChr m:val=")"/>
                        <m:grow/>
                        <m:ctrlPr>
                          <a:rPr lang="en-IN" sz="2800" i="1">
                            <a:solidFill>
                              <a:srgbClr val="15803D"/>
                            </a:solidFill>
                            <a:latin typeface="Cambria Math" panose="02040503050406030204" pitchFamily="18" charset="0"/>
                          </a:rPr>
                        </m:ctrlPr>
                      </m:dPr>
                      <m:e>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1</m:t>
                            </m:r>
                          </m:num>
                          <m:den>
                            <m:rad>
                              <m:radPr>
                                <m:degHide m:val="on"/>
                                <m:ctrlPr>
                                  <a:rPr lang="en-IN" sz="2800" i="1">
                                    <a:solidFill>
                                      <a:srgbClr val="15803D"/>
                                    </a:solidFill>
                                    <a:latin typeface="Cambria Math" panose="02040503050406030204" pitchFamily="18" charset="0"/>
                                  </a:rPr>
                                </m:ctrlPr>
                              </m:radPr>
                              <m:deg/>
                              <m:e>
                                <m:r>
                                  <a:rPr lang="en-IN" sz="2800" i="1">
                                    <a:solidFill>
                                      <a:srgbClr val="15803D"/>
                                    </a:solidFill>
                                    <a:latin typeface="Cambria Math" panose="02040503050406030204" pitchFamily="18" charset="0"/>
                                  </a:rPr>
                                  <m:t>3</m:t>
                                </m:r>
                              </m:e>
                            </m:rad>
                          </m:den>
                        </m:f>
                      </m:e>
                    </m:d>
                    <m:r>
                      <m:rPr>
                        <m:sty m:val="p"/>
                      </m:rPr>
                      <a:rPr lang="en-IN" sz="2800">
                        <a:solidFill>
                          <a:srgbClr val="15803D"/>
                        </a:solidFill>
                        <a:latin typeface="Cambria Math" panose="02040503050406030204" pitchFamily="18" charset="0"/>
                      </a:rPr>
                      <m:t>−</m:t>
                    </m:r>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π</m:t>
                        </m:r>
                      </m:num>
                      <m:den>
                        <m:r>
                          <a:rPr lang="en-IN" sz="2800" i="1">
                            <a:solidFill>
                              <a:srgbClr val="15803D"/>
                            </a:solidFill>
                            <a:latin typeface="Cambria Math" panose="02040503050406030204" pitchFamily="18" charset="0"/>
                          </a:rPr>
                          <m:t>4</m:t>
                        </m:r>
                      </m:den>
                    </m:f>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r>
                  <a:rPr lang="en-IN" sz="2800">
                    <a:solidFill>
                      <a:srgbClr val="15803D"/>
                    </a:solidFill>
                    <a:latin typeface="Cambria Math" panose="02040503050406030204" pitchFamily="18" charset="0"/>
                  </a:rPr>
                  <a:t>$\cos^{-1}\left(\frac{1}{\sqrt3}\right)-\frac\pi4$</a:t>
                </a:r>
                <a:endParaRPr sz="2800">
                  <a:solidFill>
                    <a:srgbClr val="15803D"/>
                  </a:solidFill>
                </a:endParaRPr>
              </a:p>
            </p:txBody>
          </p:sp>
        </mc:Fallback>
      </mc:AlternateContent>
    </p:spTree>
  </p:cSld>
  <p:clrMapOvr>
    <a:masterClrMapping/>
  </p:clrMapOvr>
</p:sld>
</file>

<file path=ppt/slides/slide3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Write </a:t>
                </a:r>
                <a14:m>
                  <m:oMath xmlns:m="http://schemas.openxmlformats.org/officeDocument/2006/math">
                    <m:r>
                      <m:rPr>
                        <m:sty m:val="p"/>
                      </m:rPr>
                      <a:rPr lang="en-IN" sz="2400">
                        <a:solidFill>
                          <a:srgbClr val="78350F"/>
                        </a:solidFill>
                        <a:latin typeface="Cambria Math" panose="02040503050406030204" pitchFamily="18" charset="0"/>
                      </a:rPr>
                      <m:t>sin</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cos</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ad>
                      <m:radPr>
                        <m:degHide m:val="on"/>
                        <m:ctrlPr>
                          <a:rPr lang="en-IN" sz="2400" i="1">
                            <a:solidFill>
                              <a:srgbClr val="78350F"/>
                            </a:solidFill>
                            <a:latin typeface="Cambria Math" panose="02040503050406030204" pitchFamily="18" charset="0"/>
                          </a:rPr>
                        </m:ctrlPr>
                      </m:radPr>
                      <m:deg/>
                      <m:e>
                        <m:r>
                          <a:rPr lang="en-IN" sz="2400" i="1">
                            <a:solidFill>
                              <a:srgbClr val="78350F"/>
                            </a:solidFill>
                            <a:latin typeface="Cambria Math" panose="02040503050406030204" pitchFamily="18" charset="0"/>
                          </a:rPr>
                          <m:t>2</m:t>
                        </m:r>
                      </m:e>
                    </m:rad>
                    <m:r>
                      <m:rPr>
                        <m:sty m:val="p"/>
                      </m:rPr>
                      <a:rPr lang="en-IN" sz="2400">
                        <a:solidFill>
                          <a:srgbClr val="78350F"/>
                        </a:solidFill>
                        <a:latin typeface="Cambria Math" panose="02040503050406030204" pitchFamily="18" charset="0"/>
                      </a:rPr>
                      <m:t>sin</m:t>
                    </m:r>
                    <m:d>
                      <m:dPr>
                        <m:begChr m:val="("/>
                        <m:sepChr m:val=""/>
                        <m:endChr m:val=")"/>
                        <m:grow/>
                        <m:ctrlPr>
                          <a:rPr lang="en-IN" sz="2400" i="1">
                            <a:solidFill>
                              <a:srgbClr val="78350F"/>
                            </a:solidFill>
                            <a:latin typeface="Cambria Math" panose="02040503050406030204" pitchFamily="18" charset="0"/>
                          </a:rPr>
                        </m:ctrlPr>
                      </m:dPr>
                      <m:e>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π</m:t>
                            </m:r>
                          </m:num>
                          <m:den>
                            <m:r>
                              <a:rPr lang="en-IN" sz="2400" i="1">
                                <a:solidFill>
                                  <a:srgbClr val="78350F"/>
                                </a:solidFill>
                                <a:latin typeface="Cambria Math" panose="02040503050406030204" pitchFamily="18" charset="0"/>
                              </a:rPr>
                              <m:t>4</m:t>
                            </m:r>
                          </m:den>
                        </m:f>
                      </m:e>
                    </m:d>
                  </m:oMath>
                </a14:m>
                <a:r>
                  <a:rPr sz="2400" b="0">
                    <a:solidFill>
                      <a:srgbClr val="78350F"/>
                    </a:solidFill>
                    <a:latin typeface="Arial"/>
                  </a:rPr>
                  <a:t> and use the range, with no differentiation.</a:t>
                </a:r>
                <a:endParaRPr sz="2400">
                  <a:solidFill>
                    <a:srgbClr val="78350F"/>
                  </a:solidFill>
                </a:endParaRPr>
              </a:p>
            </p:txBody>
          </p:sp>
        </mc:Choice>
        <mc:Fallback>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Write </a:t>
                </a:r>
                <a:r>
                  <a:rPr lang="en-IN" sz="2400">
                    <a:solidFill>
                      <a:srgbClr val="78350F"/>
                    </a:solidFill>
                    <a:latin typeface="Cambria Math" panose="02040503050406030204" pitchFamily="18" charset="0"/>
                  </a:rPr>
                  <a:t>$\sin x-\cos x=\sqrt2\sin\left(x-\frac\pi4\right)$</a:t>
                </a:r>
                <a:r>
                  <a:rPr sz="2400" b="0">
                    <a:solidFill>
                      <a:srgbClr val="78350F"/>
                    </a:solidFill>
                    <a:latin typeface="Arial"/>
                  </a:rPr>
                  <a:t> and use the range, with no differentiation.</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m:rPr>
                        <m:sty m:val="p"/>
                      </m:rPr>
                      <a:rPr lang="en-IN" sz="2400">
                        <a:solidFill>
                          <a:srgbClr val="111827"/>
                        </a:solidFill>
                        <a:latin typeface="Cambria Math" panose="02040503050406030204" pitchFamily="18" charset="0"/>
                      </a:rPr>
                      <m:t>sin</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e>
                    </m:d>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e>
                    </m:d>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On this range </a:t>
                </a:r>
                <a14:m>
                  <m:oMath xmlns:m="http://schemas.openxmlformats.org/officeDocument/2006/math">
                    <m:r>
                      <m:rPr>
                        <m:sty m:val="p"/>
                      </m:rPr>
                      <a:rPr lang="en-IN" sz="2400">
                        <a:solidFill>
                          <a:srgbClr val="111827"/>
                        </a:solidFill>
                        <a:latin typeface="Cambria Math" panose="02040503050406030204" pitchFamily="18" charset="0"/>
                      </a:rPr>
                      <m:t>sin</m:t>
                    </m:r>
                  </m:oMath>
                </a14:m>
                <a:r>
                  <a:rPr sz="2400" b="0">
                    <a:solidFill>
                      <a:srgbClr val="111827"/>
                    </a:solidFill>
                    <a:latin typeface="Arial"/>
                  </a:rPr>
                  <a:t> goes from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den>
                    </m:f>
                  </m:oMath>
                </a14:m>
                <a:r>
                  <a:rPr sz="2400" b="0">
                    <a:solidFill>
                      <a:srgbClr val="111827"/>
                    </a:solidFill>
                    <a:latin typeface="Arial"/>
                  </a:rPr>
                  <a:t> (at the left end) up to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and down to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den>
                    </m:f>
                  </m:oMath>
                </a14:m>
                <a:r>
                  <a:rPr sz="2400" b="0">
                    <a:solidFill>
                      <a:srgbClr val="111827"/>
                    </a:solidFill>
                    <a:latin typeface="Arial"/>
                  </a:rPr>
                  <a:t>, so the minimum is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den>
                    </m:f>
                  </m:oMath>
                </a14:m>
                <a:r>
                  <a:rPr sz="2400" b="0">
                    <a:solidFill>
                      <a:srgbClr val="111827"/>
                    </a:solidFill>
                    <a:latin typeface="Arial"/>
                  </a:rPr>
                  <a:t> and maximum is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oMath>
                </a14:m>
                <a:r>
                  <a:rPr sz="2400" b="0">
                    <a:solidFill>
                      <a:srgbClr val="111827"/>
                    </a:solidFill>
                    <a:latin typeface="Arial"/>
                  </a:rPr>
                  <a:t> ranges over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$\sin x-\cos x=\sqrt2\sin\left(x-\frac\pi4\right)$</a:t>
                </a:r>
                <a:r>
                  <a:rPr sz="2400" b="0">
                    <a:solidFill>
                      <a:srgbClr val="111827"/>
                    </a:solidFill>
                    <a:latin typeface="Arial"/>
                  </a:rPr>
                  <a:t> and </a:t>
                </a:r>
                <a:r>
                  <a:rPr lang="en-IN" sz="2400">
                    <a:solidFill>
                      <a:srgbClr val="111827"/>
                    </a:solidFill>
                    <a:latin typeface="Cambria Math" panose="02040503050406030204" pitchFamily="18" charset="0"/>
                  </a:rPr>
                  <a:t>$x-\frac\pi4\in\left[-\frac\pi4,\frac{3\pi}{4}\right]$</a:t>
                </a:r>
                <a:r>
                  <a:rPr sz="2400" b="0">
                    <a:solidFill>
                      <a:srgbClr val="111827"/>
                    </a:solidFill>
                    <a:latin typeface="Arial"/>
                  </a:rPr>
                  <a:t> for </a:t>
                </a:r>
                <a:r>
                  <a:rPr lang="en-IN" sz="2400">
                    <a:solidFill>
                      <a:srgbClr val="111827"/>
                    </a:solidFill>
                    <a:latin typeface="Cambria Math" panose="02040503050406030204" pitchFamily="18" charset="0"/>
                  </a:rPr>
                  <a:t>$x\in[0,\pi]$</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On this range </a:t>
                </a:r>
                <a:r>
                  <a:rPr lang="en-IN" sz="2400">
                    <a:solidFill>
                      <a:srgbClr val="111827"/>
                    </a:solidFill>
                    <a:latin typeface="Cambria Math" panose="02040503050406030204" pitchFamily="18" charset="0"/>
                  </a:rPr>
                  <a:t>$\sin$</a:t>
                </a:r>
                <a:r>
                  <a:rPr sz="2400" b="0">
                    <a:solidFill>
                      <a:srgbClr val="111827"/>
                    </a:solidFill>
                    <a:latin typeface="Arial"/>
                  </a:rPr>
                  <a:t> goes from </a:t>
                </a:r>
                <a:r>
                  <a:rPr lang="en-IN" sz="2400">
                    <a:solidFill>
                      <a:srgbClr val="111827"/>
                    </a:solidFill>
                    <a:latin typeface="Cambria Math" panose="02040503050406030204" pitchFamily="18" charset="0"/>
                  </a:rPr>
                  <a:t>$-\frac{1}{\sqrt2}$</a:t>
                </a:r>
                <a:r>
                  <a:rPr sz="2400" b="0">
                    <a:solidFill>
                      <a:srgbClr val="111827"/>
                    </a:solidFill>
                    <a:latin typeface="Arial"/>
                  </a:rPr>
                  <a:t> (at the left end) up to </a:t>
                </a:r>
                <a:r>
                  <a:rPr lang="en-IN" sz="2400">
                    <a:solidFill>
                      <a:srgbClr val="111827"/>
                    </a:solidFill>
                    <a:latin typeface="Cambria Math" panose="02040503050406030204" pitchFamily="18" charset="0"/>
                  </a:rPr>
                  <a:t>$1$</a:t>
                </a:r>
                <a:r>
                  <a:rPr sz="2400" b="0">
                    <a:solidFill>
                      <a:srgbClr val="111827"/>
                    </a:solidFill>
                    <a:latin typeface="Arial"/>
                  </a:rPr>
                  <a:t> (at </a:t>
                </a:r>
                <a:r>
                  <a:rPr lang="en-IN" sz="2400">
                    <a:solidFill>
                      <a:srgbClr val="111827"/>
                    </a:solidFill>
                    <a:latin typeface="Cambria Math" panose="02040503050406030204" pitchFamily="18" charset="0"/>
                  </a:rPr>
                  <a:t>$\frac\pi2$</a:t>
                </a:r>
                <a:r>
                  <a:rPr sz="2400" b="0">
                    <a:solidFill>
                      <a:srgbClr val="111827"/>
                    </a:solidFill>
                    <a:latin typeface="Arial"/>
                  </a:rPr>
                  <a:t>) and down to </a:t>
                </a:r>
                <a:r>
                  <a:rPr lang="en-IN" sz="2400">
                    <a:solidFill>
                      <a:srgbClr val="111827"/>
                    </a:solidFill>
                    <a:latin typeface="Cambria Math" panose="02040503050406030204" pitchFamily="18" charset="0"/>
                  </a:rPr>
                  <a:t>$\frac{1}{\sqrt2}$</a:t>
                </a:r>
                <a:r>
                  <a:rPr sz="2400" b="0">
                    <a:solidFill>
                      <a:srgbClr val="111827"/>
                    </a:solidFill>
                    <a:latin typeface="Arial"/>
                  </a:rPr>
                  <a:t>, so the minimum is </a:t>
                </a:r>
                <a:r>
                  <a:rPr lang="en-IN" sz="2400">
                    <a:solidFill>
                      <a:srgbClr val="111827"/>
                    </a:solidFill>
                    <a:latin typeface="Cambria Math" panose="02040503050406030204" pitchFamily="18" charset="0"/>
                  </a:rPr>
                  <a:t>$-\frac{1}{\sqrt2}$</a:t>
                </a:r>
                <a:r>
                  <a:rPr sz="2400" b="0">
                    <a:solidFill>
                      <a:srgbClr val="111827"/>
                    </a:solidFill>
                    <a:latin typeface="Arial"/>
                  </a:rPr>
                  <a:t> and maximum is </a:t>
                </a:r>
                <a:r>
                  <a:rPr lang="en-IN" sz="2400">
                    <a:solidFill>
                      <a:srgbClr val="111827"/>
                    </a:solidFill>
                    <a:latin typeface="Cambria Math" panose="02040503050406030204" pitchFamily="18" charset="0"/>
                  </a:rPr>
                  <a:t>$1$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$u=\sin x-\cos x$</a:t>
                </a:r>
                <a:r>
                  <a:rPr sz="2400" b="0">
                    <a:solidFill>
                      <a:srgbClr val="111827"/>
                    </a:solidFill>
                    <a:latin typeface="Arial"/>
                  </a:rPr>
                  <a:t> ranges over </a:t>
                </a:r>
                <a:r>
                  <a:rPr lang="en-IN" sz="2400">
                    <a:solidFill>
                      <a:srgbClr val="111827"/>
                    </a:solidFill>
                    <a:latin typeface="Cambria Math" panose="02040503050406030204" pitchFamily="18" charset="0"/>
                  </a:rPr>
                  <a:t>$[-1,\sqrt2]$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Since </a:t>
                </a:r>
                <a14:m>
                  <m:oMath xmlns:m="http://schemas.openxmlformats.org/officeDocument/2006/math">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oMath>
                </a14:m>
                <a:r>
                  <a:rPr sz="2400" b="0">
                    <a:solidFill>
                      <a:srgbClr val="111827"/>
                    </a:solidFill>
                    <a:latin typeface="Arial"/>
                  </a:rPr>
                  <a:t> is increasing, </a:t>
                </a:r>
                <a14:m>
                  <m:oMath xmlns:m="http://schemas.openxmlformats.org/officeDocument/2006/math">
                    <m:sSub>
                      <m:e>
                        <m:r>
                          <a:rPr lang="en-IN" sz="2400" i="1">
                            <a:solidFill>
                              <a:srgbClr val="111827"/>
                            </a:solidFill>
                            <a:latin typeface="Cambria Math" panose="02040503050406030204" pitchFamily="18" charset="0"/>
                          </a:rPr>
                          <m:t>𝑓</m:t>
                        </m:r>
                      </m:e>
                      <m:sub>
                        <m:r>
                          <m:rPr>
                            <m:sty m:val="p"/>
                          </m:rPr>
                          <a:rPr lang="en-IN" sz="2400">
                            <a:solidFill>
                              <a:srgbClr val="111827"/>
                            </a:solidFill>
                            <a:latin typeface="Cambria Math" panose="02040503050406030204" pitchFamily="18" charset="0"/>
                          </a:rPr>
                          <m:t>min</m:t>
                        </m:r>
                      </m:sub>
                    </m:sSub>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𝑓</m:t>
                        </m:r>
                      </m:e>
                      <m:sub>
                        <m:r>
                          <m:rPr>
                            <m:sty m:val="p"/>
                          </m:rPr>
                          <a:rPr lang="en-IN" sz="2400">
                            <a:solidFill>
                              <a:srgbClr val="111827"/>
                            </a:solidFill>
                            <a:latin typeface="Cambria Math" panose="02040503050406030204" pitchFamily="18" charset="0"/>
                          </a:rPr>
                          <m:t>max</m:t>
                        </m:r>
                      </m:sub>
                    </m:sSub>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a:t>
                </a:r>
                <a14:m>
                  <m:oMath xmlns:m="http://schemas.openxmlformats.org/officeDocument/2006/math">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cos</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option (C).</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Since </a:t>
                </a:r>
                <a:r>
                  <a:rPr lang="en-IN" sz="2400">
                    <a:solidFill>
                      <a:srgbClr val="111827"/>
                    </a:solidFill>
                    <a:latin typeface="Cambria Math" panose="02040503050406030204" pitchFamily="18" charset="0"/>
                  </a:rPr>
                  <a:t>$\tan^{-1}$</a:t>
                </a:r>
                <a:r>
                  <a:rPr sz="2400" b="0">
                    <a:solidFill>
                      <a:srgbClr val="111827"/>
                    </a:solidFill>
                    <a:latin typeface="Arial"/>
                  </a:rPr>
                  <a:t> is increasing, </a:t>
                </a:r>
                <a:r>
                  <a:rPr lang="en-IN" sz="2400">
                    <a:solidFill>
                      <a:srgbClr val="111827"/>
                    </a:solidFill>
                    <a:latin typeface="Cambria Math" panose="02040503050406030204" pitchFamily="18" charset="0"/>
                  </a:rPr>
                  <a:t>$f_{\min}=\tan^{-1}(-1)=-\frac\pi4$</a:t>
                </a:r>
                <a:r>
                  <a:rPr sz="2400" b="0">
                    <a:solidFill>
                      <a:srgbClr val="111827"/>
                    </a:solidFill>
                    <a:latin typeface="Arial"/>
                  </a:rPr>
                  <a:t> and </a:t>
                </a:r>
                <a:r>
                  <a:rPr lang="en-IN" sz="2400">
                    <a:solidFill>
                      <a:srgbClr val="111827"/>
                    </a:solidFill>
                    <a:latin typeface="Cambria Math" panose="02040503050406030204" pitchFamily="18" charset="0"/>
                  </a:rPr>
                  <a:t>$f_{\max}=\tan^{-1}\sqrt2$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a:t>
                </a:r>
                <a:r>
                  <a:rPr lang="en-IN" sz="2400">
                    <a:solidFill>
                      <a:srgbClr val="111827"/>
                    </a:solidFill>
                    <a:latin typeface="Cambria Math" panose="02040503050406030204" pitchFamily="18" charset="0"/>
                  </a:rPr>
                  <a:t>$=\tan^{-1}\sqrt2-\frac\pi4=\cos^{-1}\frac{1}{\sqrt3}-\frac\pi4$</a:t>
                </a:r>
                <a:r>
                  <a:rPr sz="2400" b="0">
                    <a:solidFill>
                      <a:srgbClr val="111827"/>
                    </a:solidFill>
                    <a:latin typeface="Arial"/>
                  </a:rPr>
                  <a:t>, option (C).</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a:t>
                </a:r>
                <a14:m>
                  <m:oMath xmlns:m="http://schemas.openxmlformats.org/officeDocument/2006/math">
                    <m:sSup>
                      <m:e>
                        <m:r>
                          <m:rPr>
                            <m:sty m:val="p"/>
                          </m:rPr>
                          <a:rPr lang="en-IN" sz="2800">
                            <a:solidFill>
                              <a:srgbClr val="15803D"/>
                            </a:solidFill>
                            <a:latin typeface="Cambria Math" panose="02040503050406030204" pitchFamily="18" charset="0"/>
                          </a:rPr>
                          <m:t>cos</m:t>
                        </m:r>
                      </m:e>
                      <m:sup>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1</m:t>
                        </m:r>
                      </m:sup>
                    </m:sSup>
                    <m:d>
                      <m:dPr>
                        <m:begChr m:val="("/>
                        <m:sepChr m:val=""/>
                        <m:endChr m:val=")"/>
                        <m:grow/>
                        <m:ctrlPr>
                          <a:rPr lang="en-IN" sz="2800" i="1">
                            <a:solidFill>
                              <a:srgbClr val="15803D"/>
                            </a:solidFill>
                            <a:latin typeface="Cambria Math" panose="02040503050406030204" pitchFamily="18" charset="0"/>
                          </a:rPr>
                        </m:ctrlPr>
                      </m:dPr>
                      <m:e>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1</m:t>
                            </m:r>
                          </m:num>
                          <m:den>
                            <m:rad>
                              <m:radPr>
                                <m:degHide m:val="on"/>
                                <m:ctrlPr>
                                  <a:rPr lang="en-IN" sz="2800" i="1">
                                    <a:solidFill>
                                      <a:srgbClr val="15803D"/>
                                    </a:solidFill>
                                    <a:latin typeface="Cambria Math" panose="02040503050406030204" pitchFamily="18" charset="0"/>
                                  </a:rPr>
                                </m:ctrlPr>
                              </m:radPr>
                              <m:deg/>
                              <m:e>
                                <m:r>
                                  <a:rPr lang="en-IN" sz="2800" i="1">
                                    <a:solidFill>
                                      <a:srgbClr val="15803D"/>
                                    </a:solidFill>
                                    <a:latin typeface="Cambria Math" panose="02040503050406030204" pitchFamily="18" charset="0"/>
                                  </a:rPr>
                                  <m:t>3</m:t>
                                </m:r>
                              </m:e>
                            </m:rad>
                          </m:den>
                        </m:f>
                      </m:e>
                    </m:d>
                    <m:r>
                      <m:rPr>
                        <m:sty m:val="p"/>
                      </m:rPr>
                      <a:rPr lang="en-IN" sz="2800">
                        <a:solidFill>
                          <a:srgbClr val="15803D"/>
                        </a:solidFill>
                        <a:latin typeface="Cambria Math" panose="02040503050406030204" pitchFamily="18" charset="0"/>
                      </a:rPr>
                      <m:t>−</m:t>
                    </m:r>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π</m:t>
                        </m:r>
                      </m:num>
                      <m:den>
                        <m:r>
                          <a:rPr lang="en-IN" sz="2800" i="1">
                            <a:solidFill>
                              <a:srgbClr val="15803D"/>
                            </a:solidFill>
                            <a:latin typeface="Cambria Math" panose="02040503050406030204" pitchFamily="18" charset="0"/>
                          </a:rPr>
                          <m:t>4</m:t>
                        </m:r>
                      </m:den>
                    </m:f>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a:t>
                </a:r>
                <a:r>
                  <a:rPr lang="en-IN" sz="2800">
                    <a:solidFill>
                      <a:srgbClr val="15803D"/>
                    </a:solidFill>
                    <a:latin typeface="Cambria Math" panose="02040503050406030204" pitchFamily="18" charset="0"/>
                  </a:rPr>
                  <a:t>$\cos^{-1}\left(\frac{1}{\sqrt3}\right)-\frac\pi4$</a:t>
                </a:r>
                <a:endParaRPr sz="2800">
                  <a:solidFill>
                    <a:srgbClr val="15803D"/>
                  </a:solidFill>
                </a:endParaRPr>
              </a:p>
            </p:txBody>
          </p:sp>
        </mc:Fallback>
      </mc:AlternateContent>
    </p:spTree>
  </p:cSld>
  <p:clrMapOvr>
    <a:masterClrMapping/>
  </p:clrMapOvr>
</p:sld>
</file>

<file path=ppt/slides/slide3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increasing </a:t>
                </a:r>
                <a14:m>
                  <m:oMath xmlns:m="http://schemas.openxmlformats.org/officeDocument/2006/math">
                    <m:r>
                      <a:rPr lang="en-IN" sz="2400" i="1">
                        <a:solidFill>
                          <a:srgbClr val="111827"/>
                        </a:solidFill>
                        <a:latin typeface="Cambria Math" panose="02040503050406030204" pitchFamily="18" charset="0"/>
                      </a:rPr>
                      <m:t>ℎ</m:t>
                    </m:r>
                  </m:oMath>
                </a14:m>
                <a:r>
                  <a:rPr sz="2400" b="0">
                    <a:solidFill>
                      <a:srgbClr val="111827"/>
                    </a:solidFill>
                    <a:latin typeface="Arial"/>
                  </a:rPr>
                  <a:t>, the extrema of </a:t>
                </a:r>
                <a14:m>
                  <m:oMath xmlns:m="http://schemas.openxmlformats.org/officeDocument/2006/math">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occur where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extreme.</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oMath>
                </a14:m>
                <a:r>
                  <a:rPr sz="2400" b="0">
                    <a:solidFill>
                      <a:srgbClr val="111827"/>
                    </a:solidFill>
                    <a:latin typeface="Arial"/>
                  </a:rPr>
                  <a:t> has range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e>
                    </m:rad>
                    <m:r>
                      <m:rPr>
                        <m:sty m:val="p"/>
                      </m:rPr>
                      <a:rPr lang="en-IN" sz="2400">
                        <a:solidFill>
                          <a:srgbClr val="111827"/>
                        </a:solidFill>
                        <a:latin typeface="Cambria Math" panose="02040503050406030204" pitchFamily="18" charset="0"/>
                      </a:rPr>
                      <m:t>]</m:t>
                    </m:r>
                  </m:oMath>
                </a14:m>
                <a:r>
                  <a:rPr sz="2400" b="0">
                    <a:solidFill>
                      <a:srgbClr val="111827"/>
                    </a:solidFill>
                    <a:latin typeface="Arial"/>
                  </a:rPr>
                  <a:t> over a full period; on a sub-interval, check end points.</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tan</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f>
                          <m:fPr>
                            <m:type m:val="lin"/>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e>
                    </m:rad>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increasing </a:t>
                </a:r>
                <a:r>
                  <a:rPr lang="en-IN" sz="2400">
                    <a:solidFill>
                      <a:srgbClr val="111827"/>
                    </a:solidFill>
                    <a:latin typeface="Cambria Math" panose="02040503050406030204" pitchFamily="18" charset="0"/>
                  </a:rPr>
                  <a:t>$h$</a:t>
                </a:r>
                <a:r>
                  <a:rPr sz="2400" b="0">
                    <a:solidFill>
                      <a:srgbClr val="111827"/>
                    </a:solidFill>
                    <a:latin typeface="Arial"/>
                  </a:rPr>
                  <a:t>, the extrema of </a:t>
                </a:r>
                <a:r>
                  <a:rPr lang="en-IN" sz="2400">
                    <a:solidFill>
                      <a:srgbClr val="111827"/>
                    </a:solidFill>
                    <a:latin typeface="Cambria Math" panose="02040503050406030204" pitchFamily="18" charset="0"/>
                  </a:rPr>
                  <a:t>$h(g(x))$</a:t>
                </a:r>
                <a:r>
                  <a:rPr sz="2400" b="0">
                    <a:solidFill>
                      <a:srgbClr val="111827"/>
                    </a:solidFill>
                    <a:latin typeface="Arial"/>
                  </a:rPr>
                  <a:t> occur where </a:t>
                </a:r>
                <a:r>
                  <a:rPr lang="en-IN" sz="2400">
                    <a:solidFill>
                      <a:srgbClr val="111827"/>
                    </a:solidFill>
                    <a:latin typeface="Cambria Math" panose="02040503050406030204" pitchFamily="18" charset="0"/>
                  </a:rPr>
                  <a:t>$g(x)$</a:t>
                </a:r>
                <a:r>
                  <a:rPr sz="2400" b="0">
                    <a:solidFill>
                      <a:srgbClr val="111827"/>
                    </a:solidFill>
                    <a:latin typeface="Arial"/>
                  </a:rPr>
                  <a:t> is extreme.</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$a\sin x+b\cos x$</a:t>
                </a:r>
                <a:r>
                  <a:rPr sz="2400" b="0">
                    <a:solidFill>
                      <a:srgbClr val="111827"/>
                    </a:solidFill>
                    <a:latin typeface="Arial"/>
                  </a:rPr>
                  <a:t> has range </a:t>
                </a:r>
                <a:r>
                  <a:rPr lang="en-IN" sz="2400">
                    <a:solidFill>
                      <a:srgbClr val="111827"/>
                    </a:solidFill>
                    <a:latin typeface="Cambria Math" panose="02040503050406030204" pitchFamily="18" charset="0"/>
                  </a:rPr>
                  <a:t>$[-\sqrt{a^2+b^2},\sqrt{a^2+b^2}]$</a:t>
                </a:r>
                <a:r>
                  <a:rPr sz="2400" b="0">
                    <a:solidFill>
                      <a:srgbClr val="111827"/>
                    </a:solidFill>
                    <a:latin typeface="Arial"/>
                  </a:rPr>
                  <a:t> over a full period; on a sub-interval, check end points.</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$\tan\theta=\sqrt2\Rightarrow\cos\theta=\frac1{\sqrt3}$</a:t>
                </a:r>
                <a:r>
                  <a:rPr sz="2400" b="0">
                    <a:solidFill>
                      <a:srgbClr val="111827"/>
                    </a:solidFill>
                    <a:latin typeface="Arial"/>
                  </a:rPr>
                  <a:t> and </a:t>
                </a:r>
                <a:r>
                  <a:rPr lang="en-IN" sz="2400">
                    <a:solidFill>
                      <a:srgbClr val="111827"/>
                    </a:solidFill>
                    <a:latin typeface="Cambria Math" panose="02040503050406030204" pitchFamily="18" charset="0"/>
                  </a:rPr>
                  <a:t>$\sin\theta=\sqrt{\tfrac23}$</a:t>
                </a:r>
                <a:r>
                  <a:rPr sz="2400" b="0">
                    <a:solidFill>
                      <a:srgbClr val="111827"/>
                    </a:solidFill>
                    <a:latin typeface="Arial"/>
                  </a:rPr>
                  <a:t> (for </a:t>
                </a:r>
                <a:r>
                  <a:rPr lang="en-IN" sz="2400">
                    <a:solidFill>
                      <a:srgbClr val="111827"/>
                    </a:solidFill>
                    <a:latin typeface="Cambria Math" panose="02040503050406030204" pitchFamily="18" charset="0"/>
                  </a:rPr>
                  <a:t>$\theta\in(0,\frac\pi2)$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37769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up>
                    </m:sSup>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R</m:t>
                    </m:r>
                  </m:oMath>
                </a14:m>
                <a:r>
                  <a:rPr sz="2400" b="0">
                    <a:solidFill>
                      <a:srgbClr val="111827"/>
                    </a:solidFill>
                    <a:latin typeface="Arial"/>
                  </a:rPr>
                  <a:t>. Then which of the following statements are true?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P: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is a point of local minima of </a:t>
                </a:r>
                <a14:m>
                  <m:oMath xmlns:m="http://schemas.openxmlformats.org/officeDocument/2006/math">
                    <m:r>
                      <a:rPr lang="en-IN" sz="2400" i="1">
                        <a:solidFill>
                          <a:srgbClr val="111827"/>
                        </a:solidFill>
                        <a:latin typeface="Cambria Math" panose="02040503050406030204" pitchFamily="18" charset="0"/>
                      </a:rPr>
                      <m:t>𝑓</m:t>
                    </m:r>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Q: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oMath>
                </a14:m>
                <a:r>
                  <a:rPr sz="2400" b="0">
                    <a:solidFill>
                      <a:srgbClr val="111827"/>
                    </a:solidFill>
                    <a:latin typeface="Arial"/>
                  </a:rPr>
                  <a:t> is a point of inflection of </a:t>
                </a:r>
                <a14:m>
                  <m:oMath xmlns:m="http://schemas.openxmlformats.org/officeDocument/2006/math">
                    <m:r>
                      <a:rPr lang="en-IN" sz="2400" i="1">
                        <a:solidFill>
                          <a:srgbClr val="111827"/>
                        </a:solidFill>
                        <a:latin typeface="Cambria Math" panose="02040503050406030204" pitchFamily="18" charset="0"/>
                      </a:rPr>
                      <m:t>𝑓</m:t>
                    </m:r>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R: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is increasing 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&gt;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(A) Only P and Q   (B) Only P and R   (C) Only Q and R   (D) All P, Q and R</a:t>
                </a:r>
                <a:endParaRPr sz="2400">
                  <a:solidFill>
                    <a:srgbClr val="111827"/>
                  </a:solidFill>
                </a:endParaRPr>
              </a:p>
            </p:txBody>
          </p:sp>
        </mc:Choice>
        <mc:Fallback>
          <p:sp>
            <p:nvSpPr>
              <p:cNvPr id="4" name="Rounded Rectangle 3"/>
              <p:cNvSpPr/>
              <p:nvPr/>
            </p:nvSpPr>
            <p:spPr>
              <a:xfrm>
                <a:off x="731520" y="1280160"/>
                <a:ext cx="10725912" cy="337769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$f(x)=3^{(x^2-2)^3+4}$</a:t>
                </a:r>
                <a:r>
                  <a:rPr sz="2400" b="0">
                    <a:solidFill>
                      <a:srgbClr val="111827"/>
                    </a:solidFill>
                    <a:latin typeface="Arial"/>
                  </a:rPr>
                  <a:t>, </a:t>
                </a:r>
                <a:r>
                  <a:rPr lang="en-IN" sz="2400">
                    <a:solidFill>
                      <a:srgbClr val="111827"/>
                    </a:solidFill>
                    <a:latin typeface="Cambria Math" panose="02040503050406030204" pitchFamily="18" charset="0"/>
                  </a:rPr>
                  <a:t>$x\in\mathbb{R}$</a:t>
                </a:r>
                <a:r>
                  <a:rPr sz="2400" b="0">
                    <a:solidFill>
                      <a:srgbClr val="111827"/>
                    </a:solidFill>
                    <a:latin typeface="Arial"/>
                  </a:rPr>
                  <a:t>. Then which of the following statements are true?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P: </a:t>
                </a:r>
                <a:r>
                  <a:rPr lang="en-IN" sz="2400">
                    <a:solidFill>
                      <a:srgbClr val="111827"/>
                    </a:solidFill>
                    <a:latin typeface="Cambria Math" panose="02040503050406030204" pitchFamily="18" charset="0"/>
                  </a:rPr>
                  <a:t>$x=0$</a:t>
                </a:r>
                <a:r>
                  <a:rPr sz="2400" b="0">
                    <a:solidFill>
                      <a:srgbClr val="111827"/>
                    </a:solidFill>
                    <a:latin typeface="Arial"/>
                  </a:rPr>
                  <a:t> is a point of local minima of </a:t>
                </a:r>
                <a:r>
                  <a:rPr lang="en-IN" sz="2400">
                    <a:solidFill>
                      <a:srgbClr val="111827"/>
                    </a:solidFill>
                    <a:latin typeface="Cambria Math" panose="02040503050406030204" pitchFamily="18" charset="0"/>
                  </a:rPr>
                  <a:t>$f$</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Q: </a:t>
                </a:r>
                <a:r>
                  <a:rPr lang="en-IN" sz="2400">
                    <a:solidFill>
                      <a:srgbClr val="111827"/>
                    </a:solidFill>
                    <a:latin typeface="Cambria Math" panose="02040503050406030204" pitchFamily="18" charset="0"/>
                  </a:rPr>
                  <a:t>$x=\sqrt2$</a:t>
                </a:r>
                <a:r>
                  <a:rPr sz="2400" b="0">
                    <a:solidFill>
                      <a:srgbClr val="111827"/>
                    </a:solidFill>
                    <a:latin typeface="Arial"/>
                  </a:rPr>
                  <a:t> is a point of inflection of </a:t>
                </a:r>
                <a:r>
                  <a:rPr lang="en-IN" sz="2400">
                    <a:solidFill>
                      <a:srgbClr val="111827"/>
                    </a:solidFill>
                    <a:latin typeface="Cambria Math" panose="02040503050406030204" pitchFamily="18" charset="0"/>
                  </a:rPr>
                  <a:t>$f$</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R: </a:t>
                </a:r>
                <a:r>
                  <a:rPr lang="en-IN" sz="2400">
                    <a:solidFill>
                      <a:srgbClr val="111827"/>
                    </a:solidFill>
                    <a:latin typeface="Cambria Math" panose="02040503050406030204" pitchFamily="18" charset="0"/>
                  </a:rPr>
                  <a:t>$f'$</a:t>
                </a:r>
                <a:r>
                  <a:rPr sz="2400" b="0">
                    <a:solidFill>
                      <a:srgbClr val="111827"/>
                    </a:solidFill>
                    <a:latin typeface="Arial"/>
                  </a:rPr>
                  <a:t> is increasing for </a:t>
                </a:r>
                <a:r>
                  <a:rPr lang="en-IN" sz="2400">
                    <a:solidFill>
                      <a:srgbClr val="111827"/>
                    </a:solidFill>
                    <a:latin typeface="Cambria Math" panose="02040503050406030204" pitchFamily="18" charset="0"/>
                  </a:rPr>
                  <a:t>$x&gt;\sqrt2$</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Only P and Q   (B) Only P and R   (C) Only Q and R   (D) All P, Q and R</a:t>
                </a:r>
                <a:endParaRPr sz="2400">
                  <a:solidFill>
                    <a:srgbClr val="111827"/>
                  </a:solidFill>
                </a:endParaRPr>
              </a:p>
            </p:txBody>
          </p:sp>
        </mc:Fallback>
      </mc:AlternateContent>
    </p:spTree>
  </p:cSld>
  <p:clrMapOvr>
    <a:masterClrMapping/>
  </p:clrMapOvr>
</p:sld>
</file>

<file path=ppt/slides/slide3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ectangle 3"/>
          <p:cNvSpPr/>
          <p:nvPr/>
        </p:nvSpPr>
        <p:spPr>
          <a:xfrm>
            <a:off x="731520" y="128016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Monotonicity, maxima-minima and points of inflection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3438144"/>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Write </a:t>
                </a:r>
                <a14:m>
                  <m:oMath xmlns:m="http://schemas.openxmlformats.org/officeDocument/2006/math">
                    <m:sSup>
                      <m:e>
                        <m:r>
                          <a:rPr lang="en-IN" sz="2400" i="1">
                            <a:solidFill>
                              <a:srgbClr val="78350F"/>
                            </a:solidFill>
                            <a:latin typeface="Cambria Math" panose="02040503050406030204" pitchFamily="18" charset="0"/>
                          </a:rPr>
                          <m:t>𝑓</m:t>
                        </m:r>
                      </m:e>
                      <m:sup>
                        <m:r>
                          <m:rPr>
                            <m:sty m:val="p"/>
                          </m:rPr>
                          <a:rPr lang="en-IN" sz="2400">
                            <a:solidFill>
                              <a:srgbClr val="78350F"/>
                            </a:solidFill>
                            <a:latin typeface="Cambria Math" panose="02040503050406030204" pitchFamily="18" charset="0"/>
                          </a:rPr>
                          <m:t>′</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𝑘</m:t>
                    </m:r>
                    <m:r>
                      <a:rPr lang="en-IN" sz="2400" i="1">
                        <a:solidFill>
                          <a:srgbClr val="78350F"/>
                        </a:solidFill>
                        <a:latin typeface="Cambria Math" panose="02040503050406030204" pitchFamily="18" charset="0"/>
                      </a:rPr>
                      <m:t> </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2</m:t>
                        </m:r>
                      </m:sup>
                    </m:sSup>
                    <m:r>
                      <a:rPr lang="en-IN" sz="2400" i="1">
                        <a:solidFill>
                          <a:srgbClr val="78350F"/>
                        </a:solidFill>
                        <a:latin typeface="Cambria Math" panose="02040503050406030204" pitchFamily="18" charset="0"/>
                      </a:rPr>
                      <m:t> </m:t>
                    </m:r>
                    <m:sSup>
                      <m:e>
                        <m:r>
                          <a:rPr lang="en-IN" sz="2400" i="1">
                            <a:solidFill>
                              <a:srgbClr val="78350F"/>
                            </a:solidFill>
                            <a:latin typeface="Cambria Math" panose="02040503050406030204" pitchFamily="18" charset="0"/>
                          </a:rPr>
                          <m:t>3</m:t>
                        </m:r>
                      </m:e>
                      <m:sup>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3</m:t>
                            </m:r>
                          </m:sup>
                        </m:sSup>
                      </m:sup>
                    </m:sSup>
                  </m:oMath>
                </a14:m>
                <a:r>
                  <a:rPr sz="2400" b="0">
                    <a:solidFill>
                      <a:srgbClr val="78350F"/>
                    </a:solidFill>
                    <a:latin typeface="Arial"/>
                  </a:rPr>
                  <a:t> and track its sign and its double zero at </a:t>
                </a:r>
                <a14:m>
                  <m:oMath xmlns:m="http://schemas.openxmlformats.org/officeDocument/2006/math">
                    <m:r>
                      <m:rPr>
                        <m:sty m:val="p"/>
                      </m:rPr>
                      <a:rPr lang="en-IN" sz="2400">
                        <a:solidFill>
                          <a:srgbClr val="78350F"/>
                        </a:solidFill>
                        <a:latin typeface="Cambria Math" panose="02040503050406030204" pitchFamily="18" charset="0"/>
                      </a:rPr>
                      <m:t>±</m:t>
                    </m:r>
                    <m:rad>
                      <m:radPr>
                        <m:degHide m:val="on"/>
                        <m:ctrlPr>
                          <a:rPr lang="en-IN" sz="2400" i="1">
                            <a:solidFill>
                              <a:srgbClr val="78350F"/>
                            </a:solidFill>
                            <a:latin typeface="Cambria Math" panose="02040503050406030204" pitchFamily="18" charset="0"/>
                          </a:rPr>
                        </m:ctrlPr>
                      </m:radPr>
                      <m:deg/>
                      <m:e>
                        <m:r>
                          <a:rPr lang="en-IN" sz="2400" i="1">
                            <a:solidFill>
                              <a:srgbClr val="78350F"/>
                            </a:solidFill>
                            <a:latin typeface="Cambria Math" panose="02040503050406030204" pitchFamily="18" charset="0"/>
                          </a:rPr>
                          <m:t>2</m:t>
                        </m:r>
                      </m:e>
                    </m:rad>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3438144"/>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Write </a:t>
                </a:r>
                <a:r>
                  <a:rPr lang="en-IN" sz="2400">
                    <a:solidFill>
                      <a:srgbClr val="78350F"/>
                    </a:solidFill>
                    <a:latin typeface="Cambria Math" panose="02040503050406030204" pitchFamily="18" charset="0"/>
                  </a:rPr>
                  <a:t>$f'=k\,x(x^2-2)^2\,3^{(x^2-2)^3}$</a:t>
                </a:r>
                <a:r>
                  <a:rPr sz="2400" b="0">
                    <a:solidFill>
                      <a:srgbClr val="78350F"/>
                    </a:solidFill>
                    <a:latin typeface="Arial"/>
                  </a:rPr>
                  <a:t> and track its sign and its double zero at </a:t>
                </a:r>
                <a:r>
                  <a:rPr lang="en-IN" sz="2400">
                    <a:solidFill>
                      <a:srgbClr val="78350F"/>
                    </a:solidFill>
                    <a:latin typeface="Cambria Math" panose="02040503050406030204" pitchFamily="18" charset="0"/>
                  </a:rPr>
                  <a:t>$\pm\sqrt2$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4684776"/>
                <a:ext cx="10725912" cy="199034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sup>
                    </m:sSup>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sup>
                    </m:sSup>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486</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sup>
                    </m:sSup>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let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486</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sup>
                    </m:sSup>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4684776"/>
                <a:ext cx="10725912" cy="199034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$f(x)=81\cdot3^{(x^2-2)^3}$</a:t>
                </a:r>
                <a:r>
                  <a:rPr sz="2400" b="0">
                    <a:solidFill>
                      <a:srgbClr val="111827"/>
                    </a:solidFill>
                    <a:latin typeface="Arial"/>
                  </a:rPr>
                  <a:t>, so </a:t>
                </a:r>
                <a:r>
                  <a:rPr lang="en-IN" sz="2400">
                    <a:solidFill>
                      <a:srgbClr val="111827"/>
                    </a:solidFill>
                    <a:latin typeface="Cambria Math" panose="02040503050406030204" pitchFamily="18" charset="0"/>
                  </a:rPr>
                  <a:t>$f'(x)=81\cdot3^{(x^2-2)^3}\ln3\cdot3(x^2-2)^2\cdot2x$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$f'(x)=486\ln3\cdot3^{(x^2-2)^3}\,x\,(x^2-2)^2$</a:t>
                </a:r>
                <a:r>
                  <a:rPr sz="2400" b="0">
                    <a:solidFill>
                      <a:srgbClr val="111827"/>
                    </a:solidFill>
                    <a:latin typeface="Arial"/>
                  </a:rPr>
                  <a:t>; let </a:t>
                </a:r>
                <a:r>
                  <a:rPr lang="en-IN" sz="2400">
                    <a:solidFill>
                      <a:srgbClr val="111827"/>
                    </a:solidFill>
                    <a:latin typeface="Cambria Math" panose="02040503050406030204" pitchFamily="18" charset="0"/>
                  </a:rPr>
                  <a:t>$k=486\ln3&gt;0$</a:t>
                </a:r>
                <a:r>
                  <a:rPr sz="2400" b="0">
                    <a:solidFill>
                      <a:srgbClr val="111827"/>
                    </a:solidFill>
                    <a:latin typeface="Arial"/>
                  </a:rPr>
                  <a:t> and </a:t>
                </a:r>
                <a:r>
                  <a:rPr lang="en-IN" sz="2400">
                    <a:solidFill>
                      <a:srgbClr val="111827"/>
                    </a:solidFill>
                    <a:latin typeface="Cambria Math" panose="02040503050406030204" pitchFamily="18" charset="0"/>
                  </a:rPr>
                  <a:t>$g(x)=3^{(x^2-2)^3}x(x^2-2)^2$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Sign of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is the sign of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(the factor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(except at </a:t>
                </a:r>
                <a14:m>
                  <m:oMath xmlns:m="http://schemas.openxmlformats.org/officeDocument/2006/math">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changes from negative to positive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is a point of local minimum. P is true.</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sup>
                    </m:sSup>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Simplify: </a:t>
                </a:r>
                <a14:m>
                  <m:oMath xmlns:m="http://schemas.openxmlformats.org/officeDocument/2006/math">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5</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oMath>
                </a14:m>
                <a:r>
                  <a:rPr sz="2400" b="0">
                    <a:solidFill>
                      <a:srgbClr val="111827"/>
                    </a:solidFill>
                    <a:latin typeface="Arial"/>
                  </a:rPr>
                  <a:t>: the bracket equals </a:t>
                </a:r>
                <a14:m>
                  <m:oMath xmlns:m="http://schemas.openxmlformats.org/officeDocument/2006/math">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so the sign of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is the sign of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just left of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just right: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oMath>
                </a14:m>
                <a:r>
                  <a:rPr sz="2400" b="0">
                    <a:solidFill>
                      <a:srgbClr val="111827"/>
                    </a:solidFill>
                    <a:latin typeface="Arial"/>
                  </a:rPr>
                  <a:t> is a point of inflection. Q is true.</a:t>
                </a:r>
                <a:endParaRPr sz="2400">
                  <a:solidFill>
                    <a:srgbClr val="111827"/>
                  </a:solidFill>
                </a:endParaRPr>
              </a:p>
            </p:txBody>
          </p:sp>
        </mc:Choice>
        <mc:Fallback>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Sign of </a:t>
                </a:r>
                <a:r>
                  <a:rPr lang="en-IN" sz="2400">
                    <a:solidFill>
                      <a:srgbClr val="111827"/>
                    </a:solidFill>
                    <a:latin typeface="Cambria Math" panose="02040503050406030204" pitchFamily="18" charset="0"/>
                  </a:rPr>
                  <a:t>$f'$</a:t>
                </a:r>
                <a:r>
                  <a:rPr sz="2400" b="0">
                    <a:solidFill>
                      <a:srgbClr val="111827"/>
                    </a:solidFill>
                    <a:latin typeface="Arial"/>
                  </a:rPr>
                  <a:t> is the sign of </a:t>
                </a:r>
                <a:r>
                  <a:rPr lang="en-IN" sz="2400">
                    <a:solidFill>
                      <a:srgbClr val="111827"/>
                    </a:solidFill>
                    <a:latin typeface="Cambria Math" panose="02040503050406030204" pitchFamily="18" charset="0"/>
                  </a:rPr>
                  <a:t>$x$</a:t>
                </a:r>
                <a:r>
                  <a:rPr sz="2400" b="0">
                    <a:solidFill>
                      <a:srgbClr val="111827"/>
                    </a:solidFill>
                    <a:latin typeface="Arial"/>
                  </a:rPr>
                  <a:t> (the factor </a:t>
                </a:r>
                <a:r>
                  <a:rPr lang="en-IN" sz="2400">
                    <a:solidFill>
                      <a:srgbClr val="111827"/>
                    </a:solidFill>
                    <a:latin typeface="Cambria Math" panose="02040503050406030204" pitchFamily="18" charset="0"/>
                  </a:rPr>
                  <a:t>$(x^2-2)^2\ge0$</a:t>
                </a:r>
                <a:r>
                  <a:rPr sz="2400" b="0">
                    <a:solidFill>
                      <a:srgbClr val="111827"/>
                    </a:solidFill>
                    <a:latin typeface="Arial"/>
                  </a:rPr>
                  <a:t>), so </a:t>
                </a:r>
                <a:r>
                  <a:rPr lang="en-IN" sz="2400">
                    <a:solidFill>
                      <a:srgbClr val="111827"/>
                    </a:solidFill>
                    <a:latin typeface="Cambria Math" panose="02040503050406030204" pitchFamily="18" charset="0"/>
                  </a:rPr>
                  <a:t>$f'&lt;0$</a:t>
                </a:r>
                <a:r>
                  <a:rPr sz="2400" b="0">
                    <a:solidFill>
                      <a:srgbClr val="111827"/>
                    </a:solidFill>
                    <a:latin typeface="Arial"/>
                  </a:rPr>
                  <a:t> for </a:t>
                </a:r>
                <a:r>
                  <a:rPr lang="en-IN" sz="2400">
                    <a:solidFill>
                      <a:srgbClr val="111827"/>
                    </a:solidFill>
                    <a:latin typeface="Cambria Math" panose="02040503050406030204" pitchFamily="18" charset="0"/>
                  </a:rPr>
                  <a:t>$x&lt;0$</a:t>
                </a:r>
                <a:r>
                  <a:rPr sz="2400" b="0">
                    <a:solidFill>
                      <a:srgbClr val="111827"/>
                    </a:solidFill>
                    <a:latin typeface="Arial"/>
                  </a:rPr>
                  <a:t> and </a:t>
                </a:r>
                <a:r>
                  <a:rPr lang="en-IN" sz="2400">
                    <a:solidFill>
                      <a:srgbClr val="111827"/>
                    </a:solidFill>
                    <a:latin typeface="Cambria Math" panose="02040503050406030204" pitchFamily="18" charset="0"/>
                  </a:rPr>
                  <a:t>$f'&gt;0$</a:t>
                </a:r>
                <a:r>
                  <a:rPr sz="2400" b="0">
                    <a:solidFill>
                      <a:srgbClr val="111827"/>
                    </a:solidFill>
                    <a:latin typeface="Arial"/>
                  </a:rPr>
                  <a:t> for </a:t>
                </a:r>
                <a:r>
                  <a:rPr lang="en-IN" sz="2400">
                    <a:solidFill>
                      <a:srgbClr val="111827"/>
                    </a:solidFill>
                    <a:latin typeface="Cambria Math" panose="02040503050406030204" pitchFamily="18" charset="0"/>
                  </a:rPr>
                  <a:t>$x&gt;0$</a:t>
                </a:r>
                <a:r>
                  <a:rPr sz="2400" b="0">
                    <a:solidFill>
                      <a:srgbClr val="111827"/>
                    </a:solidFill>
                    <a:latin typeface="Arial"/>
                  </a:rPr>
                  <a:t> (except at </a:t>
                </a:r>
                <a:r>
                  <a:rPr lang="en-IN" sz="2400">
                    <a:solidFill>
                      <a:srgbClr val="111827"/>
                    </a:solidFill>
                    <a:latin typeface="Cambria Math" panose="02040503050406030204" pitchFamily="18" charset="0"/>
                  </a:rPr>
                  <a:t>$\pm\sqrt2$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$f'$</a:t>
                </a:r>
                <a:r>
                  <a:rPr sz="2400" b="0">
                    <a:solidFill>
                      <a:srgbClr val="111827"/>
                    </a:solidFill>
                    <a:latin typeface="Arial"/>
                  </a:rPr>
                  <a:t> changes from negative to positive at </a:t>
                </a:r>
                <a:r>
                  <a:rPr lang="en-IN" sz="2400">
                    <a:solidFill>
                      <a:srgbClr val="111827"/>
                    </a:solidFill>
                    <a:latin typeface="Cambria Math" panose="02040503050406030204" pitchFamily="18" charset="0"/>
                  </a:rPr>
                  <a:t>$x=0$</a:t>
                </a:r>
                <a:r>
                  <a:rPr sz="2400" b="0">
                    <a:solidFill>
                      <a:srgbClr val="111827"/>
                    </a:solidFill>
                    <a:latin typeface="Arial"/>
                  </a:rPr>
                  <a:t>: </a:t>
                </a:r>
                <a:r>
                  <a:rPr lang="en-IN" sz="2400">
                    <a:solidFill>
                      <a:srgbClr val="111827"/>
                    </a:solidFill>
                    <a:latin typeface="Cambria Math" panose="02040503050406030204" pitchFamily="18" charset="0"/>
                  </a:rPr>
                  <a:t>$x=0$</a:t>
                </a:r>
                <a:r>
                  <a:rPr sz="2400" b="0">
                    <a:solidFill>
                      <a:srgbClr val="111827"/>
                    </a:solidFill>
                    <a:latin typeface="Arial"/>
                  </a:rPr>
                  <a:t> is a point of local minimum. P is true.</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$g'(x)=3^{(x^2-2)^3}(x^2-2)^2+x\cdot3^{(x^2-2)^3}\cdot4x(x^2-2)+x(x^2-2)^2\cdot3^{(x^2-2)^3}\ln3\cdot3(x^2-2)^2\cdot2x$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Simplify: </a:t>
                </a:r>
                <a:r>
                  <a:rPr lang="en-IN" sz="2400">
                    <a:solidFill>
                      <a:srgbClr val="111827"/>
                    </a:solidFill>
                    <a:latin typeface="Cambria Math" panose="02040503050406030204" pitchFamily="18" charset="0"/>
                  </a:rPr>
                  <a:t>$g'(x)=3^{(x^2-2)^3}(x^2-2)\left[5x^2-2+6x^2\ln3\,(x^2-2)^3\right]$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$f''(x)=k\,g'(x)$</a:t>
                </a:r>
                <a:r>
                  <a:rPr sz="2400" b="0">
                    <a:solidFill>
                      <a:srgbClr val="111827"/>
                    </a:solidFill>
                    <a:latin typeface="Arial"/>
                  </a:rPr>
                  <a:t>. At </a:t>
                </a:r>
                <a:r>
                  <a:rPr lang="en-IN" sz="2400">
                    <a:solidFill>
                      <a:srgbClr val="111827"/>
                    </a:solidFill>
                    <a:latin typeface="Cambria Math" panose="02040503050406030204" pitchFamily="18" charset="0"/>
                  </a:rPr>
                  <a:t>$x=\sqrt2$</a:t>
                </a:r>
                <a:r>
                  <a:rPr sz="2400" b="0">
                    <a:solidFill>
                      <a:srgbClr val="111827"/>
                    </a:solidFill>
                    <a:latin typeface="Arial"/>
                  </a:rPr>
                  <a:t>: the bracket equals </a:t>
                </a:r>
                <a:r>
                  <a:rPr lang="en-IN" sz="2400">
                    <a:solidFill>
                      <a:srgbClr val="111827"/>
                    </a:solidFill>
                    <a:latin typeface="Cambria Math" panose="02040503050406030204" pitchFamily="18" charset="0"/>
                  </a:rPr>
                  <a:t>$5\cdot2-2=8&gt;0$</a:t>
                </a:r>
                <a:r>
                  <a:rPr sz="2400" b="0">
                    <a:solidFill>
                      <a:srgbClr val="111827"/>
                    </a:solidFill>
                    <a:latin typeface="Arial"/>
                  </a:rPr>
                  <a:t>, so the sign of </a:t>
                </a:r>
                <a:r>
                  <a:rPr lang="en-IN" sz="2400">
                    <a:solidFill>
                      <a:srgbClr val="111827"/>
                    </a:solidFill>
                    <a:latin typeface="Cambria Math" panose="02040503050406030204" pitchFamily="18" charset="0"/>
                  </a:rPr>
                  <a:t>$f''$</a:t>
                </a:r>
                <a:r>
                  <a:rPr sz="2400" b="0">
                    <a:solidFill>
                      <a:srgbClr val="111827"/>
                    </a:solidFill>
                    <a:latin typeface="Arial"/>
                  </a:rPr>
                  <a:t> is the sign of </a:t>
                </a:r>
                <a:r>
                  <a:rPr lang="en-IN" sz="2400">
                    <a:solidFill>
                      <a:srgbClr val="111827"/>
                    </a:solidFill>
                    <a:latin typeface="Cambria Math" panose="02040503050406030204" pitchFamily="18" charset="0"/>
                  </a:rPr>
                  <a:t>$(x^2-2)$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$f''(\sqrt2)=0$</a:t>
                </a:r>
                <a:r>
                  <a:rPr sz="2400" b="0">
                    <a:solidFill>
                      <a:srgbClr val="111827"/>
                    </a:solidFill>
                    <a:latin typeface="Arial"/>
                  </a:rPr>
                  <a:t>, </a:t>
                </a:r>
                <a:r>
                  <a:rPr lang="en-IN" sz="2400">
                    <a:solidFill>
                      <a:srgbClr val="111827"/>
                    </a:solidFill>
                    <a:latin typeface="Cambria Math" panose="02040503050406030204" pitchFamily="18" charset="0"/>
                  </a:rPr>
                  <a:t>$f''&lt;0$</a:t>
                </a:r>
                <a:r>
                  <a:rPr sz="2400" b="0">
                    <a:solidFill>
                      <a:srgbClr val="111827"/>
                    </a:solidFill>
                    <a:latin typeface="Arial"/>
                  </a:rPr>
                  <a:t> just left of </a:t>
                </a:r>
                <a:r>
                  <a:rPr lang="en-IN" sz="2400">
                    <a:solidFill>
                      <a:srgbClr val="111827"/>
                    </a:solidFill>
                    <a:latin typeface="Cambria Math" panose="02040503050406030204" pitchFamily="18" charset="0"/>
                  </a:rPr>
                  <a:t>$\sqrt2$</a:t>
                </a:r>
                <a:r>
                  <a:rPr sz="2400" b="0">
                    <a:solidFill>
                      <a:srgbClr val="111827"/>
                    </a:solidFill>
                    <a:latin typeface="Arial"/>
                  </a:rPr>
                  <a:t> and </a:t>
                </a:r>
                <a:r>
                  <a:rPr lang="en-IN" sz="2400">
                    <a:solidFill>
                      <a:srgbClr val="111827"/>
                    </a:solidFill>
                    <a:latin typeface="Cambria Math" panose="02040503050406030204" pitchFamily="18" charset="0"/>
                  </a:rPr>
                  <a:t>$f''&gt;0$</a:t>
                </a:r>
                <a:r>
                  <a:rPr sz="2400" b="0">
                    <a:solidFill>
                      <a:srgbClr val="111827"/>
                    </a:solidFill>
                    <a:latin typeface="Arial"/>
                  </a:rPr>
                  <a:t> just right: </a:t>
                </a:r>
                <a:r>
                  <a:rPr lang="en-IN" sz="2400">
                    <a:solidFill>
                      <a:srgbClr val="111827"/>
                    </a:solidFill>
                    <a:latin typeface="Cambria Math" panose="02040503050406030204" pitchFamily="18" charset="0"/>
                  </a:rPr>
                  <a:t>$x=\sqrt2$</a:t>
                </a:r>
                <a:r>
                  <a:rPr sz="2400" b="0">
                    <a:solidFill>
                      <a:srgbClr val="111827"/>
                    </a:solidFill>
                    <a:latin typeface="Arial"/>
                  </a:rPr>
                  <a:t> is a point of inflection. Q is true.</a:t>
                </a:r>
                <a:endParaRPr sz="2400">
                  <a:solidFill>
                    <a:srgbClr val="111827"/>
                  </a:solidFill>
                </a:endParaRPr>
              </a:p>
            </p:txBody>
          </p:sp>
        </mc:Fallback>
      </mc:AlternateContent>
    </p:spTree>
  </p:cSld>
  <p:clrMapOvr>
    <a:masterClrMapping/>
  </p:clrMapOvr>
</p:sld>
</file>

<file path=ppt/slides/slide3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&gt;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and the bracket is positive, so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is increasing. R is true.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All of P, Q, R are true: option (D).</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$x&gt;\sqrt2$</a:t>
                </a:r>
                <a:r>
                  <a:rPr sz="2400" b="0">
                    <a:solidFill>
                      <a:srgbClr val="111827"/>
                    </a:solidFill>
                    <a:latin typeface="Arial"/>
                  </a:rPr>
                  <a:t>: </a:t>
                </a:r>
                <a:r>
                  <a:rPr lang="en-IN" sz="2400">
                    <a:solidFill>
                      <a:srgbClr val="111827"/>
                    </a:solidFill>
                    <a:latin typeface="Cambria Math" panose="02040503050406030204" pitchFamily="18" charset="0"/>
                  </a:rPr>
                  <a:t>$x^2-2&gt;0$</a:t>
                </a:r>
                <a:r>
                  <a:rPr sz="2400" b="0">
                    <a:solidFill>
                      <a:srgbClr val="111827"/>
                    </a:solidFill>
                    <a:latin typeface="Arial"/>
                  </a:rPr>
                  <a:t> and the bracket is positive, so </a:t>
                </a:r>
                <a:r>
                  <a:rPr lang="en-IN" sz="2400">
                    <a:solidFill>
                      <a:srgbClr val="111827"/>
                    </a:solidFill>
                    <a:latin typeface="Cambria Math" panose="02040503050406030204" pitchFamily="18" charset="0"/>
                  </a:rPr>
                  <a:t>$f''(x)&gt;0$</a:t>
                </a:r>
                <a:r>
                  <a:rPr sz="2400" b="0">
                    <a:solidFill>
                      <a:srgbClr val="111827"/>
                    </a:solidFill>
                    <a:latin typeface="Arial"/>
                  </a:rPr>
                  <a:t> and </a:t>
                </a:r>
                <a:r>
                  <a:rPr lang="en-IN" sz="2400">
                    <a:solidFill>
                      <a:srgbClr val="111827"/>
                    </a:solidFill>
                    <a:latin typeface="Cambria Math" panose="02040503050406030204" pitchFamily="18" charset="0"/>
                  </a:rPr>
                  <a:t>$f'$</a:t>
                </a:r>
                <a:r>
                  <a:rPr sz="2400" b="0">
                    <a:solidFill>
                      <a:srgbClr val="111827"/>
                    </a:solidFill>
                    <a:latin typeface="Arial"/>
                  </a:rPr>
                  <a:t> is increasing. R is true.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All of P, Q, R are true: option (D).</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All P, Q and R</a:t>
            </a:r>
            <a:endParaRPr sz="2800">
              <a:solidFill>
                <a:srgbClr val="15803D"/>
              </a:solidFill>
            </a:endParaRPr>
          </a:p>
        </p:txBody>
      </p:sp>
    </p:spTree>
  </p:cSld>
  <p:clrMapOvr>
    <a:masterClrMapping/>
  </p:clrMapOvr>
</p:sld>
</file>

<file path=ppt/slides/slide3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Treat </a:t>
                </a:r>
                <a14:m>
                  <m:oMath xmlns:m="http://schemas.openxmlformats.org/officeDocument/2006/math">
                    <m:sSup>
                      <m:e>
                        <m:r>
                          <a:rPr lang="en-IN" sz="2400" i="1">
                            <a:solidFill>
                              <a:srgbClr val="78350F"/>
                            </a:solidFill>
                            <a:latin typeface="Cambria Math" panose="02040503050406030204" pitchFamily="18" charset="0"/>
                          </a:rPr>
                          <m:t>𝑓</m:t>
                        </m:r>
                      </m:e>
                      <m:sup>
                        <m:r>
                          <m:rPr>
                            <m:sty m:val="p"/>
                          </m:rPr>
                          <a:rPr lang="en-IN" sz="2400">
                            <a:solidFill>
                              <a:srgbClr val="78350F"/>
                            </a:solidFill>
                            <a:latin typeface="Cambria Math" panose="02040503050406030204" pitchFamily="18" charset="0"/>
                          </a:rPr>
                          <m:t>′</m:t>
                        </m:r>
                      </m:sup>
                    </m:sSup>
                  </m:oMath>
                </a14:m>
                <a:r>
                  <a:rPr sz="2400" b="0">
                    <a:solidFill>
                      <a:srgbClr val="78350F"/>
                    </a:solidFill>
                    <a:latin typeface="Arial"/>
                  </a:rPr>
                  <a:t> as a product of positive increasing factors for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&gt;</m:t>
                    </m:r>
                    <m:rad>
                      <m:radPr>
                        <m:degHide m:val="on"/>
                        <m:ctrlPr>
                          <a:rPr lang="en-IN" sz="2400" i="1">
                            <a:solidFill>
                              <a:srgbClr val="78350F"/>
                            </a:solidFill>
                            <a:latin typeface="Cambria Math" panose="02040503050406030204" pitchFamily="18" charset="0"/>
                          </a:rPr>
                        </m:ctrlPr>
                      </m:radPr>
                      <m:deg/>
                      <m:e>
                        <m:r>
                          <a:rPr lang="en-IN" sz="2400" i="1">
                            <a:solidFill>
                              <a:srgbClr val="78350F"/>
                            </a:solidFill>
                            <a:latin typeface="Cambria Math" panose="02040503050406030204" pitchFamily="18" charset="0"/>
                          </a:rPr>
                          <m:t>2</m:t>
                        </m:r>
                      </m:e>
                    </m:rad>
                  </m:oMath>
                </a14:m>
                <a:r>
                  <a:rPr sz="2400" b="0">
                    <a:solidFill>
                      <a:srgbClr val="78350F"/>
                    </a:solidFill>
                    <a:latin typeface="Arial"/>
                  </a:rPr>
                  <a:t>, and use its double zero at </a:t>
                </a:r>
                <a14:m>
                  <m:oMath xmlns:m="http://schemas.openxmlformats.org/officeDocument/2006/math">
                    <m:rad>
                      <m:radPr>
                        <m:degHide m:val="on"/>
                        <m:ctrlPr>
                          <a:rPr lang="en-IN" sz="2400" i="1">
                            <a:solidFill>
                              <a:srgbClr val="78350F"/>
                            </a:solidFill>
                            <a:latin typeface="Cambria Math" panose="02040503050406030204" pitchFamily="18" charset="0"/>
                          </a:rPr>
                        </m:ctrlPr>
                      </m:radPr>
                      <m:deg/>
                      <m:e>
                        <m:r>
                          <a:rPr lang="en-IN" sz="2400" i="1">
                            <a:solidFill>
                              <a:srgbClr val="78350F"/>
                            </a:solidFill>
                            <a:latin typeface="Cambria Math" panose="02040503050406030204" pitchFamily="18" charset="0"/>
                          </a:rPr>
                          <m:t>2</m:t>
                        </m:r>
                      </m:e>
                    </m:rad>
                  </m:oMath>
                </a14:m>
                <a:r>
                  <a:rPr sz="2400" b="0">
                    <a:solidFill>
                      <a:srgbClr val="78350F"/>
                    </a:solidFill>
                    <a:latin typeface="Arial"/>
                  </a:rPr>
                  <a:t>, avoiding </a:t>
                </a:r>
                <a14:m>
                  <m:oMath xmlns:m="http://schemas.openxmlformats.org/officeDocument/2006/math">
                    <m:sSup>
                      <m:e>
                        <m:r>
                          <a:rPr lang="en-IN" sz="2400" i="1">
                            <a:solidFill>
                              <a:srgbClr val="78350F"/>
                            </a:solidFill>
                            <a:latin typeface="Cambria Math" panose="02040503050406030204" pitchFamily="18" charset="0"/>
                          </a:rPr>
                          <m:t>𝑓</m:t>
                        </m:r>
                      </m:e>
                      <m:sup>
                        <m:r>
                          <m:rPr>
                            <m:sty m:val="p"/>
                          </m:rPr>
                          <a:rPr lang="en-IN" sz="2400">
                            <a:solidFill>
                              <a:srgbClr val="78350F"/>
                            </a:solidFill>
                            <a:latin typeface="Cambria Math" panose="02040503050406030204" pitchFamily="18" charset="0"/>
                          </a:rPr>
                          <m:t>″</m:t>
                        </m:r>
                      </m:sup>
                    </m:sSup>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Treat </a:t>
                </a:r>
                <a:r>
                  <a:rPr lang="en-IN" sz="2400">
                    <a:solidFill>
                      <a:srgbClr val="78350F"/>
                    </a:solidFill>
                    <a:latin typeface="Cambria Math" panose="02040503050406030204" pitchFamily="18" charset="0"/>
                  </a:rPr>
                  <a:t>$f'$</a:t>
                </a:r>
                <a:r>
                  <a:rPr sz="2400" b="0">
                    <a:solidFill>
                      <a:srgbClr val="78350F"/>
                    </a:solidFill>
                    <a:latin typeface="Arial"/>
                  </a:rPr>
                  <a:t> as a product of positive increasing factors for </a:t>
                </a:r>
                <a:r>
                  <a:rPr lang="en-IN" sz="2400">
                    <a:solidFill>
                      <a:srgbClr val="78350F"/>
                    </a:solidFill>
                    <a:latin typeface="Cambria Math" panose="02040503050406030204" pitchFamily="18" charset="0"/>
                  </a:rPr>
                  <a:t>$x&gt;\sqrt2$</a:t>
                </a:r>
                <a:r>
                  <a:rPr sz="2400" b="0">
                    <a:solidFill>
                      <a:srgbClr val="78350F"/>
                    </a:solidFill>
                    <a:latin typeface="Arial"/>
                  </a:rPr>
                  <a:t>, and use its double zero at </a:t>
                </a:r>
                <a:r>
                  <a:rPr lang="en-IN" sz="2400">
                    <a:solidFill>
                      <a:srgbClr val="78350F"/>
                    </a:solidFill>
                    <a:latin typeface="Cambria Math" panose="02040503050406030204" pitchFamily="18" charset="0"/>
                  </a:rPr>
                  <a:t>$\sqrt2$</a:t>
                </a:r>
                <a:r>
                  <a:rPr sz="2400" b="0">
                    <a:solidFill>
                      <a:srgbClr val="78350F"/>
                    </a:solidFill>
                    <a:latin typeface="Arial"/>
                  </a:rPr>
                  <a:t>, avoiding </a:t>
                </a:r>
                <a:r>
                  <a:rPr lang="en-IN" sz="2400">
                    <a:solidFill>
                      <a:srgbClr val="78350F"/>
                    </a:solidFill>
                    <a:latin typeface="Cambria Math" panose="02040503050406030204" pitchFamily="18" charset="0"/>
                  </a:rPr>
                  <a:t>$f''$</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3</m:t>
                        </m:r>
                      </m:e>
                      <m: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sup>
                    </m:sSup>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has the same sign as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near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is a local minimum. True.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 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&gt;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oMath>
                </a14:m>
                <a:r>
                  <a:rPr sz="2400" b="0">
                    <a:solidFill>
                      <a:srgbClr val="111827"/>
                    </a:solidFill>
                    <a:latin typeface="Arial"/>
                  </a:rPr>
                  <a:t> each of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3</m:t>
                        </m:r>
                      </m:e>
                      <m: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sup>
                    </m:sSup>
                  </m:oMath>
                </a14:m>
                <a:r>
                  <a:rPr sz="2400" b="0">
                    <a:solidFill>
                      <a:srgbClr val="111827"/>
                    </a:solidFill>
                    <a:latin typeface="Arial"/>
                  </a:rPr>
                  <a:t> is positive and increasing, so their product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is increasing. True.</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$f'(x)=k\,x\,(x^2-2)^2\,3^{(x^2-2)^3}$</a:t>
                </a:r>
                <a:r>
                  <a:rPr sz="2400" b="0">
                    <a:solidFill>
                      <a:srgbClr val="111827"/>
                    </a:solidFill>
                    <a:latin typeface="Arial"/>
                  </a:rPr>
                  <a:t> with </a:t>
                </a:r>
                <a:r>
                  <a:rPr lang="en-IN" sz="2400">
                    <a:solidFill>
                      <a:srgbClr val="111827"/>
                    </a:solidFill>
                    <a:latin typeface="Cambria Math" panose="02040503050406030204" pitchFamily="18" charset="0"/>
                  </a:rPr>
                  <a:t>$k&gt;0$</a:t>
                </a:r>
                <a:r>
                  <a:rPr sz="2400" b="0">
                    <a:solidFill>
                      <a:srgbClr val="111827"/>
                    </a:solidFill>
                    <a:latin typeface="Arial"/>
                  </a:rPr>
                  <a:t>, and </a:t>
                </a:r>
                <a:r>
                  <a:rPr lang="en-IN" sz="2400">
                    <a:solidFill>
                      <a:srgbClr val="111827"/>
                    </a:solidFill>
                    <a:latin typeface="Cambria Math" panose="02040503050406030204" pitchFamily="18" charset="0"/>
                  </a:rPr>
                  <a:t>$f'$</a:t>
                </a:r>
                <a:r>
                  <a:rPr sz="2400" b="0">
                    <a:solidFill>
                      <a:srgbClr val="111827"/>
                    </a:solidFill>
                    <a:latin typeface="Arial"/>
                  </a:rPr>
                  <a:t> has the same sign as </a:t>
                </a:r>
                <a:r>
                  <a:rPr lang="en-IN" sz="2400">
                    <a:solidFill>
                      <a:srgbClr val="111827"/>
                    </a:solidFill>
                    <a:latin typeface="Cambria Math" panose="02040503050406030204" pitchFamily="18" charset="0"/>
                  </a:rPr>
                  <a:t>$x$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 </a:t>
                </a:r>
                <a:r>
                  <a:rPr lang="en-IN" sz="2400">
                    <a:solidFill>
                      <a:srgbClr val="111827"/>
                    </a:solidFill>
                    <a:latin typeface="Cambria Math" panose="02040503050406030204" pitchFamily="18" charset="0"/>
                  </a:rPr>
                  <a:t>$f'&lt;0$</a:t>
                </a:r>
                <a:r>
                  <a:rPr sz="2400" b="0">
                    <a:solidFill>
                      <a:srgbClr val="111827"/>
                    </a:solidFill>
                    <a:latin typeface="Arial"/>
                  </a:rPr>
                  <a:t> for </a:t>
                </a:r>
                <a:r>
                  <a:rPr lang="en-IN" sz="2400">
                    <a:solidFill>
                      <a:srgbClr val="111827"/>
                    </a:solidFill>
                    <a:latin typeface="Cambria Math" panose="02040503050406030204" pitchFamily="18" charset="0"/>
                  </a:rPr>
                  <a:t>$x&lt;0$</a:t>
                </a:r>
                <a:r>
                  <a:rPr sz="2400" b="0">
                    <a:solidFill>
                      <a:srgbClr val="111827"/>
                    </a:solidFill>
                    <a:latin typeface="Arial"/>
                  </a:rPr>
                  <a:t> and </a:t>
                </a:r>
                <a:r>
                  <a:rPr lang="en-IN" sz="2400">
                    <a:solidFill>
                      <a:srgbClr val="111827"/>
                    </a:solidFill>
                    <a:latin typeface="Cambria Math" panose="02040503050406030204" pitchFamily="18" charset="0"/>
                  </a:rPr>
                  <a:t>$f'&gt;0$</a:t>
                </a:r>
                <a:r>
                  <a:rPr sz="2400" b="0">
                    <a:solidFill>
                      <a:srgbClr val="111827"/>
                    </a:solidFill>
                    <a:latin typeface="Arial"/>
                  </a:rPr>
                  <a:t> for </a:t>
                </a:r>
                <a:r>
                  <a:rPr lang="en-IN" sz="2400">
                    <a:solidFill>
                      <a:srgbClr val="111827"/>
                    </a:solidFill>
                    <a:latin typeface="Cambria Math" panose="02040503050406030204" pitchFamily="18" charset="0"/>
                  </a:rPr>
                  <a:t>$x&gt;0$</a:t>
                </a:r>
                <a:r>
                  <a:rPr sz="2400" b="0">
                    <a:solidFill>
                      <a:srgbClr val="111827"/>
                    </a:solidFill>
                    <a:latin typeface="Arial"/>
                  </a:rPr>
                  <a:t> near </a:t>
                </a:r>
                <a:r>
                  <a:rPr lang="en-IN" sz="2400">
                    <a:solidFill>
                      <a:srgbClr val="111827"/>
                    </a:solidFill>
                    <a:latin typeface="Cambria Math" panose="02040503050406030204" pitchFamily="18" charset="0"/>
                  </a:rPr>
                  <a:t>$0$</a:t>
                </a:r>
                <a:r>
                  <a:rPr sz="2400" b="0">
                    <a:solidFill>
                      <a:srgbClr val="111827"/>
                    </a:solidFill>
                    <a:latin typeface="Arial"/>
                  </a:rPr>
                  <a:t>, so </a:t>
                </a:r>
                <a:r>
                  <a:rPr lang="en-IN" sz="2400">
                    <a:solidFill>
                      <a:srgbClr val="111827"/>
                    </a:solidFill>
                    <a:latin typeface="Cambria Math" panose="02040503050406030204" pitchFamily="18" charset="0"/>
                  </a:rPr>
                  <a:t>$0$</a:t>
                </a:r>
                <a:r>
                  <a:rPr sz="2400" b="0">
                    <a:solidFill>
                      <a:srgbClr val="111827"/>
                    </a:solidFill>
                    <a:latin typeface="Arial"/>
                  </a:rPr>
                  <a:t> is a local minimum. True.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 for </a:t>
                </a:r>
                <a:r>
                  <a:rPr lang="en-IN" sz="2400">
                    <a:solidFill>
                      <a:srgbClr val="111827"/>
                    </a:solidFill>
                    <a:latin typeface="Cambria Math" panose="02040503050406030204" pitchFamily="18" charset="0"/>
                  </a:rPr>
                  <a:t>$x&gt;\sqrt2$</a:t>
                </a:r>
                <a:r>
                  <a:rPr sz="2400" b="0">
                    <a:solidFill>
                      <a:srgbClr val="111827"/>
                    </a:solidFill>
                    <a:latin typeface="Arial"/>
                  </a:rPr>
                  <a:t> each of </a:t>
                </a:r>
                <a:r>
                  <a:rPr lang="en-IN" sz="2400">
                    <a:solidFill>
                      <a:srgbClr val="111827"/>
                    </a:solidFill>
                    <a:latin typeface="Cambria Math" panose="02040503050406030204" pitchFamily="18" charset="0"/>
                  </a:rPr>
                  <a:t>$x$</a:t>
                </a:r>
                <a:r>
                  <a:rPr sz="2400" b="0">
                    <a:solidFill>
                      <a:srgbClr val="111827"/>
                    </a:solidFill>
                    <a:latin typeface="Arial"/>
                  </a:rPr>
                  <a:t>, </a:t>
                </a:r>
                <a:r>
                  <a:rPr lang="en-IN" sz="2400">
                    <a:solidFill>
                      <a:srgbClr val="111827"/>
                    </a:solidFill>
                    <a:latin typeface="Cambria Math" panose="02040503050406030204" pitchFamily="18" charset="0"/>
                  </a:rPr>
                  <a:t>$(x^2-2)^2$</a:t>
                </a:r>
                <a:r>
                  <a:rPr sz="2400" b="0">
                    <a:solidFill>
                      <a:srgbClr val="111827"/>
                    </a:solidFill>
                    <a:latin typeface="Arial"/>
                  </a:rPr>
                  <a:t> and </a:t>
                </a:r>
                <a:r>
                  <a:rPr lang="en-IN" sz="2400">
                    <a:solidFill>
                      <a:srgbClr val="111827"/>
                    </a:solidFill>
                    <a:latin typeface="Cambria Math" panose="02040503050406030204" pitchFamily="18" charset="0"/>
                  </a:rPr>
                  <a:t>$3^{(x^2-2)^3}$</a:t>
                </a:r>
                <a:r>
                  <a:rPr sz="2400" b="0">
                    <a:solidFill>
                      <a:srgbClr val="111827"/>
                    </a:solidFill>
                    <a:latin typeface="Arial"/>
                  </a:rPr>
                  <a:t> is positive and increasing, so their product </a:t>
                </a:r>
                <a:r>
                  <a:rPr lang="en-IN" sz="2400">
                    <a:solidFill>
                      <a:srgbClr val="111827"/>
                    </a:solidFill>
                    <a:latin typeface="Cambria Math" panose="02040503050406030204" pitchFamily="18" charset="0"/>
                  </a:rPr>
                  <a:t>$f'$</a:t>
                </a:r>
                <a:r>
                  <a:rPr sz="2400" b="0">
                    <a:solidFill>
                      <a:srgbClr val="111827"/>
                    </a:solidFill>
                    <a:latin typeface="Arial"/>
                  </a:rPr>
                  <a:t> is increasing. True.</a:t>
                </a:r>
                <a:endParaRPr sz="2400">
                  <a:solidFill>
                    <a:srgbClr val="111827"/>
                  </a:solidFill>
                </a:endParaRPr>
              </a:p>
            </p:txBody>
          </p:sp>
        </mc:Fallback>
      </mc:AlternateContent>
    </p:spTree>
  </p:cSld>
  <p:clrMapOvr>
    <a:masterClrMapping/>
  </p:clrMapOvr>
</p:sld>
</file>

<file path=ppt/slides/slide3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Q: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on both sides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has a local minimum at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local minimum of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means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decreases just before and increases just after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changes sign there: inflection point. True.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all three are true: (D).</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Q: </a:t>
                </a:r>
                <a:r>
                  <a:rPr lang="en-IN" sz="2400">
                    <a:solidFill>
                      <a:srgbClr val="111827"/>
                    </a:solidFill>
                    <a:latin typeface="Cambria Math" panose="02040503050406030204" pitchFamily="18" charset="0"/>
                  </a:rPr>
                  <a:t>$f'(\sqrt2)=0$</a:t>
                </a:r>
                <a:r>
                  <a:rPr sz="2400" b="0">
                    <a:solidFill>
                      <a:srgbClr val="111827"/>
                    </a:solidFill>
                    <a:latin typeface="Arial"/>
                  </a:rPr>
                  <a:t> and </a:t>
                </a:r>
                <a:r>
                  <a:rPr lang="en-IN" sz="2400">
                    <a:solidFill>
                      <a:srgbClr val="111827"/>
                    </a:solidFill>
                    <a:latin typeface="Cambria Math" panose="02040503050406030204" pitchFamily="18" charset="0"/>
                  </a:rPr>
                  <a:t>$f'\ge0$</a:t>
                </a:r>
                <a:r>
                  <a:rPr sz="2400" b="0">
                    <a:solidFill>
                      <a:srgbClr val="111827"/>
                    </a:solidFill>
                    <a:latin typeface="Arial"/>
                  </a:rPr>
                  <a:t> on both sides (</a:t>
                </a:r>
                <a:r>
                  <a:rPr lang="en-IN" sz="2400">
                    <a:solidFill>
                      <a:srgbClr val="111827"/>
                    </a:solidFill>
                    <a:latin typeface="Cambria Math" panose="02040503050406030204" pitchFamily="18" charset="0"/>
                  </a:rPr>
                  <a:t>$x&gt;0$</a:t>
                </a:r>
                <a:r>
                  <a:rPr sz="2400" b="0">
                    <a:solidFill>
                      <a:srgbClr val="111827"/>
                    </a:solidFill>
                    <a:latin typeface="Arial"/>
                  </a:rPr>
                  <a:t>), so </a:t>
                </a:r>
                <a:r>
                  <a:rPr lang="en-IN" sz="2400">
                    <a:solidFill>
                      <a:srgbClr val="111827"/>
                    </a:solidFill>
                    <a:latin typeface="Cambria Math" panose="02040503050406030204" pitchFamily="18" charset="0"/>
                  </a:rPr>
                  <a:t>$f'$</a:t>
                </a:r>
                <a:r>
                  <a:rPr sz="2400" b="0">
                    <a:solidFill>
                      <a:srgbClr val="111827"/>
                    </a:solidFill>
                    <a:latin typeface="Arial"/>
                  </a:rPr>
                  <a:t> has a local minimum at </a:t>
                </a:r>
                <a:r>
                  <a:rPr lang="en-IN" sz="2400">
                    <a:solidFill>
                      <a:srgbClr val="111827"/>
                    </a:solidFill>
                    <a:latin typeface="Cambria Math" panose="02040503050406030204" pitchFamily="18" charset="0"/>
                  </a:rPr>
                  <a:t>$\sqrt2$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local minimum of </a:t>
                </a:r>
                <a:r>
                  <a:rPr lang="en-IN" sz="2400">
                    <a:solidFill>
                      <a:srgbClr val="111827"/>
                    </a:solidFill>
                    <a:latin typeface="Cambria Math" panose="02040503050406030204" pitchFamily="18" charset="0"/>
                  </a:rPr>
                  <a:t>$f'$</a:t>
                </a:r>
                <a:r>
                  <a:rPr sz="2400" b="0">
                    <a:solidFill>
                      <a:srgbClr val="111827"/>
                    </a:solidFill>
                    <a:latin typeface="Arial"/>
                  </a:rPr>
                  <a:t> means </a:t>
                </a:r>
                <a:r>
                  <a:rPr lang="en-IN" sz="2400">
                    <a:solidFill>
                      <a:srgbClr val="111827"/>
                    </a:solidFill>
                    <a:latin typeface="Cambria Math" panose="02040503050406030204" pitchFamily="18" charset="0"/>
                  </a:rPr>
                  <a:t>$f'$</a:t>
                </a:r>
                <a:r>
                  <a:rPr sz="2400" b="0">
                    <a:solidFill>
                      <a:srgbClr val="111827"/>
                    </a:solidFill>
                    <a:latin typeface="Arial"/>
                  </a:rPr>
                  <a:t> decreases just before and increases just after </a:t>
                </a:r>
                <a:r>
                  <a:rPr lang="en-IN" sz="2400">
                    <a:solidFill>
                      <a:srgbClr val="111827"/>
                    </a:solidFill>
                    <a:latin typeface="Cambria Math" panose="02040503050406030204" pitchFamily="18" charset="0"/>
                  </a:rPr>
                  <a:t>$\sqrt2$</a:t>
                </a:r>
                <a:r>
                  <a:rPr sz="2400" b="0">
                    <a:solidFill>
                      <a:srgbClr val="111827"/>
                    </a:solidFill>
                    <a:latin typeface="Arial"/>
                  </a:rPr>
                  <a:t>, so </a:t>
                </a:r>
                <a:r>
                  <a:rPr lang="en-IN" sz="2400">
                    <a:solidFill>
                      <a:srgbClr val="111827"/>
                    </a:solidFill>
                    <a:latin typeface="Cambria Math" panose="02040503050406030204" pitchFamily="18" charset="0"/>
                  </a:rPr>
                  <a:t>$f''$</a:t>
                </a:r>
                <a:r>
                  <a:rPr sz="2400" b="0">
                    <a:solidFill>
                      <a:srgbClr val="111827"/>
                    </a:solidFill>
                    <a:latin typeface="Arial"/>
                  </a:rPr>
                  <a:t> changes sign there: inflection point. True.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all three are true: (D).</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All P, Q and R</a:t>
            </a:r>
            <a:endParaRPr sz="2800">
              <a:solidFill>
                <a:srgbClr val="15803D"/>
              </a:solidFill>
            </a:endParaRPr>
          </a:p>
        </p:txBody>
      </p:sp>
    </p:spTree>
  </p:cSld>
  <p:clrMapOvr>
    <a:masterClrMapping/>
  </p:clrMapOvr>
</p:sld>
</file>

<file path=ppt/slides/slide3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0</m:t>
                        </m:r>
                      </m:sub>
                    </m:sSub>
                  </m:oMath>
                </a14:m>
                <a:r>
                  <a:rPr sz="2400" b="0">
                    <a:solidFill>
                      <a:srgbClr val="111827"/>
                    </a:solidFill>
                    <a:latin typeface="Arial"/>
                  </a:rPr>
                  <a:t> is a point of inflection of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iff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changes sign at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0</m:t>
                        </m:r>
                      </m:sub>
                    </m:sSub>
                  </m:oMath>
                </a14:m>
                <a:r>
                  <a:rPr sz="2400" b="0">
                    <a:solidFill>
                      <a:srgbClr val="111827"/>
                    </a:solidFill>
                    <a:latin typeface="Arial"/>
                  </a:rPr>
                  <a:t>, equivalently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has a local extremum at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0</m:t>
                        </m:r>
                      </m:sub>
                    </m:sSub>
                  </m:oMath>
                </a14:m>
                <a:r>
                  <a:rPr sz="2400" b="0">
                    <a:solidFill>
                      <a:srgbClr val="111827"/>
                    </a:solidFill>
                    <a:latin typeface="Arial"/>
                  </a:rPr>
                  <a:t> (not merely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keeps one sign but touches zero at a point (like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that point is an inflection with a horizontal tangent.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product of positive increasing functions is increasing, which proves monotonicity without differentiating.</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ℎ</m:t>
                    </m:r>
                  </m:oMath>
                </a14:m>
                <a:r>
                  <a:rPr sz="2400" b="0">
                    <a:solidFill>
                      <a:srgbClr val="111827"/>
                    </a:solidFill>
                    <a:latin typeface="Arial"/>
                  </a:rPr>
                  <a:t> have the same monotonicity, so extrema of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are those of </a:t>
                </a:r>
                <a14:m>
                  <m:oMath xmlns:m="http://schemas.openxmlformats.org/officeDocument/2006/math">
                    <m:r>
                      <a:rPr lang="en-IN" sz="2400" i="1">
                        <a:solidFill>
                          <a:srgbClr val="111827"/>
                        </a:solidFill>
                        <a:latin typeface="Cambria Math" panose="02040503050406030204" pitchFamily="18" charset="0"/>
                      </a:rPr>
                      <m:t>ℎ</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$x_0$</a:t>
                </a:r>
                <a:r>
                  <a:rPr sz="2400" b="0">
                    <a:solidFill>
                      <a:srgbClr val="111827"/>
                    </a:solidFill>
                    <a:latin typeface="Arial"/>
                  </a:rPr>
                  <a:t> is a point of inflection of </a:t>
                </a:r>
                <a:r>
                  <a:rPr lang="en-IN" sz="2400">
                    <a:solidFill>
                      <a:srgbClr val="111827"/>
                    </a:solidFill>
                    <a:latin typeface="Cambria Math" panose="02040503050406030204" pitchFamily="18" charset="0"/>
                  </a:rPr>
                  <a:t>$f$</a:t>
                </a:r>
                <a:r>
                  <a:rPr sz="2400" b="0">
                    <a:solidFill>
                      <a:srgbClr val="111827"/>
                    </a:solidFill>
                    <a:latin typeface="Arial"/>
                  </a:rPr>
                  <a:t> iff </a:t>
                </a:r>
                <a:r>
                  <a:rPr lang="en-IN" sz="2400">
                    <a:solidFill>
                      <a:srgbClr val="111827"/>
                    </a:solidFill>
                    <a:latin typeface="Cambria Math" panose="02040503050406030204" pitchFamily="18" charset="0"/>
                  </a:rPr>
                  <a:t>$f''$</a:t>
                </a:r>
                <a:r>
                  <a:rPr sz="2400" b="0">
                    <a:solidFill>
                      <a:srgbClr val="111827"/>
                    </a:solidFill>
                    <a:latin typeface="Arial"/>
                  </a:rPr>
                  <a:t> changes sign at </a:t>
                </a:r>
                <a:r>
                  <a:rPr lang="en-IN" sz="2400">
                    <a:solidFill>
                      <a:srgbClr val="111827"/>
                    </a:solidFill>
                    <a:latin typeface="Cambria Math" panose="02040503050406030204" pitchFamily="18" charset="0"/>
                  </a:rPr>
                  <a:t>$x_0$</a:t>
                </a:r>
                <a:r>
                  <a:rPr sz="2400" b="0">
                    <a:solidFill>
                      <a:srgbClr val="111827"/>
                    </a:solidFill>
                    <a:latin typeface="Arial"/>
                  </a:rPr>
                  <a:t>, equivalently </a:t>
                </a:r>
                <a:r>
                  <a:rPr lang="en-IN" sz="2400">
                    <a:solidFill>
                      <a:srgbClr val="111827"/>
                    </a:solidFill>
                    <a:latin typeface="Cambria Math" panose="02040503050406030204" pitchFamily="18" charset="0"/>
                  </a:rPr>
                  <a:t>$f'$</a:t>
                </a:r>
                <a:r>
                  <a:rPr sz="2400" b="0">
                    <a:solidFill>
                      <a:srgbClr val="111827"/>
                    </a:solidFill>
                    <a:latin typeface="Arial"/>
                  </a:rPr>
                  <a:t> has a local extremum at </a:t>
                </a:r>
                <a:r>
                  <a:rPr lang="en-IN" sz="2400">
                    <a:solidFill>
                      <a:srgbClr val="111827"/>
                    </a:solidFill>
                    <a:latin typeface="Cambria Math" panose="02040503050406030204" pitchFamily="18" charset="0"/>
                  </a:rPr>
                  <a:t>$x_0$</a:t>
                </a:r>
                <a:r>
                  <a:rPr sz="2400" b="0">
                    <a:solidFill>
                      <a:srgbClr val="111827"/>
                    </a:solidFill>
                    <a:latin typeface="Arial"/>
                  </a:rPr>
                  <a:t> (not merely </a:t>
                </a:r>
                <a:r>
                  <a:rPr lang="en-IN" sz="2400">
                    <a:solidFill>
                      <a:srgbClr val="111827"/>
                    </a:solidFill>
                    <a:latin typeface="Cambria Math" panose="02040503050406030204" pitchFamily="18" charset="0"/>
                  </a:rPr>
                  <a:t>$f''(x_0)=0$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$f'$</a:t>
                </a:r>
                <a:r>
                  <a:rPr sz="2400" b="0">
                    <a:solidFill>
                      <a:srgbClr val="111827"/>
                    </a:solidFill>
                    <a:latin typeface="Arial"/>
                  </a:rPr>
                  <a:t> keeps one sign but touches zero at a point (like </a:t>
                </a:r>
                <a:r>
                  <a:rPr lang="en-IN" sz="2400">
                    <a:solidFill>
                      <a:srgbClr val="111827"/>
                    </a:solidFill>
                    <a:latin typeface="Cambria Math" panose="02040503050406030204" pitchFamily="18" charset="0"/>
                  </a:rPr>
                  <a:t>$f'=(x-c)^2h(x)$</a:t>
                </a:r>
                <a:r>
                  <a:rPr sz="2400" b="0">
                    <a:solidFill>
                      <a:srgbClr val="111827"/>
                    </a:solidFill>
                    <a:latin typeface="Arial"/>
                  </a:rPr>
                  <a:t> with </a:t>
                </a:r>
                <a:r>
                  <a:rPr lang="en-IN" sz="2400">
                    <a:solidFill>
                      <a:srgbClr val="111827"/>
                    </a:solidFill>
                    <a:latin typeface="Cambria Math" panose="02040503050406030204" pitchFamily="18" charset="0"/>
                  </a:rPr>
                  <a:t>$h&gt;0$</a:t>
                </a:r>
                <a:r>
                  <a:rPr sz="2400" b="0">
                    <a:solidFill>
                      <a:srgbClr val="111827"/>
                    </a:solidFill>
                    <a:latin typeface="Arial"/>
                  </a:rPr>
                  <a:t>), that point is an inflection with a horizontal tangent.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product of positive increasing functions is increasing, which proves monotonicity without differentiating.</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$f=a^{h(x)}$</a:t>
                </a:r>
                <a:r>
                  <a:rPr sz="2400" b="0">
                    <a:solidFill>
                      <a:srgbClr val="111827"/>
                    </a:solidFill>
                    <a:latin typeface="Arial"/>
                  </a:rPr>
                  <a:t> with </a:t>
                </a:r>
                <a:r>
                  <a:rPr lang="en-IN" sz="2400">
                    <a:solidFill>
                      <a:srgbClr val="111827"/>
                    </a:solidFill>
                    <a:latin typeface="Cambria Math" panose="02040503050406030204" pitchFamily="18" charset="0"/>
                  </a:rPr>
                  <a:t>$a&gt;1$</a:t>
                </a:r>
                <a:r>
                  <a:rPr sz="2400" b="0">
                    <a:solidFill>
                      <a:srgbClr val="111827"/>
                    </a:solidFill>
                    <a:latin typeface="Arial"/>
                  </a:rPr>
                  <a:t>, </a:t>
                </a:r>
                <a:r>
                  <a:rPr lang="en-IN" sz="2400">
                    <a:solidFill>
                      <a:srgbClr val="111827"/>
                    </a:solidFill>
                    <a:latin typeface="Cambria Math" panose="02040503050406030204" pitchFamily="18" charset="0"/>
                  </a:rPr>
                  <a:t>$f$</a:t>
                </a:r>
                <a:r>
                  <a:rPr sz="2400" b="0">
                    <a:solidFill>
                      <a:srgbClr val="111827"/>
                    </a:solidFill>
                    <a:latin typeface="Arial"/>
                  </a:rPr>
                  <a:t> and </a:t>
                </a:r>
                <a:r>
                  <a:rPr lang="en-IN" sz="2400">
                    <a:solidFill>
                      <a:srgbClr val="111827"/>
                    </a:solidFill>
                    <a:latin typeface="Cambria Math" panose="02040503050406030204" pitchFamily="18" charset="0"/>
                  </a:rPr>
                  <a:t>$h$</a:t>
                </a:r>
                <a:r>
                  <a:rPr sz="2400" b="0">
                    <a:solidFill>
                      <a:srgbClr val="111827"/>
                    </a:solidFill>
                    <a:latin typeface="Arial"/>
                  </a:rPr>
                  <a:t> have the same monotonicity, so extrema of </a:t>
                </a:r>
                <a:r>
                  <a:rPr lang="en-IN" sz="2400">
                    <a:solidFill>
                      <a:srgbClr val="111827"/>
                    </a:solidFill>
                    <a:latin typeface="Cambria Math" panose="02040503050406030204" pitchFamily="18" charset="0"/>
                  </a:rPr>
                  <a:t>$f$</a:t>
                </a:r>
                <a:r>
                  <a:rPr sz="2400" b="0">
                    <a:solidFill>
                      <a:srgbClr val="111827"/>
                    </a:solidFill>
                    <a:latin typeface="Arial"/>
                  </a:rPr>
                  <a:t> are those of </a:t>
                </a:r>
                <a:r>
                  <a:rPr lang="en-IN" sz="2400">
                    <a:solidFill>
                      <a:srgbClr val="111827"/>
                    </a:solidFill>
                    <a:latin typeface="Cambria Math" panose="02040503050406030204" pitchFamily="18" charset="0"/>
                  </a:rPr>
                  <a:t>$h$</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4599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sum of the maximum and minimum values of the function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in the interval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e>
                    </m:d>
                  </m:oMath>
                </a14:m>
                <a:r>
                  <a:rPr sz="2400" b="0">
                    <a:solidFill>
                      <a:srgbClr val="111827"/>
                    </a:solidFill>
                    <a:latin typeface="Arial"/>
                  </a:rPr>
                  <a:t>, where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the greatest integer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oMath>
                </a14:m>
                <a:r>
                  <a:rPr sz="2400" b="0">
                    <a:solidFill>
                      <a:srgbClr val="111827"/>
                    </a:solidFill>
                    <a:latin typeface="Arial"/>
                  </a:rPr>
                  <a:t>, is ______.</a:t>
                </a:r>
                <a:endParaRPr sz="2400">
                  <a:solidFill>
                    <a:srgbClr val="111827"/>
                  </a:solidFill>
                </a:endParaRPr>
              </a:p>
            </p:txBody>
          </p:sp>
        </mc:Choice>
        <mc:Fallback>
          <p:sp>
            <p:nvSpPr>
              <p:cNvPr id="4" name="Rounded Rectangle 3"/>
              <p:cNvSpPr/>
              <p:nvPr/>
            </p:nvSpPr>
            <p:spPr>
              <a:xfrm>
                <a:off x="731520" y="1280160"/>
                <a:ext cx="10725912" cy="174599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sum of the maximum and minimum values of the function </a:t>
                </a:r>
                <a:r>
                  <a:rPr lang="en-IN" sz="2400">
                    <a:solidFill>
                      <a:srgbClr val="111827"/>
                    </a:solidFill>
                    <a:latin typeface="Cambria Math" panose="02040503050406030204" pitchFamily="18" charset="0"/>
                  </a:rPr>
                  <a:t>$f(x)=|5x-7|+[x^2+2x]$</a:t>
                </a:r>
                <a:r>
                  <a:rPr sz="2400" b="0">
                    <a:solidFill>
                      <a:srgbClr val="111827"/>
                    </a:solidFill>
                    <a:latin typeface="Arial"/>
                  </a:rPr>
                  <a:t> in the interval </a:t>
                </a:r>
                <a:r>
                  <a:rPr lang="en-IN" sz="2400">
                    <a:solidFill>
                      <a:srgbClr val="111827"/>
                    </a:solidFill>
                    <a:latin typeface="Cambria Math" panose="02040503050406030204" pitchFamily="18" charset="0"/>
                  </a:rPr>
                  <a:t>$\left[\frac54,2\right]$</a:t>
                </a:r>
                <a:r>
                  <a:rPr sz="2400" b="0">
                    <a:solidFill>
                      <a:srgbClr val="111827"/>
                    </a:solidFill>
                    <a:latin typeface="Arial"/>
                  </a:rPr>
                  <a:t>, where </a:t>
                </a:r>
                <a:r>
                  <a:rPr lang="en-IN" sz="2400">
                    <a:solidFill>
                      <a:srgbClr val="111827"/>
                    </a:solidFill>
                    <a:latin typeface="Cambria Math" panose="02040503050406030204" pitchFamily="18" charset="0"/>
                  </a:rPr>
                  <a:t>$[t]$</a:t>
                </a:r>
                <a:r>
                  <a:rPr sz="2400" b="0">
                    <a:solidFill>
                      <a:srgbClr val="111827"/>
                    </a:solidFill>
                    <a:latin typeface="Arial"/>
                  </a:rPr>
                  <a:t> is the greatest integer </a:t>
                </a:r>
                <a:r>
                  <a:rPr lang="en-IN" sz="2400">
                    <a:solidFill>
                      <a:srgbClr val="111827"/>
                    </a:solidFill>
                    <a:latin typeface="Cambria Math" panose="02040503050406030204" pitchFamily="18" charset="0"/>
                  </a:rPr>
                  <a:t>$\le t$</a:t>
                </a:r>
                <a:r>
                  <a:rPr sz="2400" b="0">
                    <a:solidFill>
                      <a:srgbClr val="111827"/>
                    </a:solidFill>
                    <a:latin typeface="Arial"/>
                  </a:rPr>
                  <a:t>, is ______.</a:t>
                </a:r>
                <a:endParaRPr sz="2400">
                  <a:solidFill>
                    <a:srgbClr val="111827"/>
                  </a:solidFill>
                </a:endParaRPr>
              </a:p>
            </p:txBody>
          </p:sp>
        </mc:Fallback>
      </mc:AlternateContent>
      <p:sp>
        <p:nvSpPr>
          <p:cNvPr id="5" name="Rectangle 4"/>
          <p:cNvSpPr/>
          <p:nvPr/>
        </p:nvSpPr>
        <p:spPr>
          <a:xfrm>
            <a:off x="731520" y="3254755"/>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Greatest integer function and absolute extrema</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3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Split at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7</m:t>
                        </m:r>
                      </m:num>
                      <m:den>
                        <m:r>
                          <a:rPr lang="en-IN" sz="2400" i="1">
                            <a:solidFill>
                              <a:srgbClr val="78350F"/>
                            </a:solidFill>
                            <a:latin typeface="Cambria Math" panose="02040503050406030204" pitchFamily="18" charset="0"/>
                          </a:rPr>
                          <m:t>5</m:t>
                        </m:r>
                      </m:den>
                    </m:f>
                  </m:oMath>
                </a14:m>
                <a:r>
                  <a:rPr sz="2400" b="0">
                    <a:solidFill>
                      <a:srgbClr val="78350F"/>
                    </a:solidFill>
                    <a:latin typeface="Arial"/>
                  </a:rPr>
                  <a:t>: both parts are non-decreasing to the right of it, and the floor is constant (</a:t>
                </a:r>
                <a14:m>
                  <m:oMath xmlns:m="http://schemas.openxmlformats.org/officeDocument/2006/math">
                    <m:r>
                      <a:rPr lang="en-IN" sz="2400" i="1">
                        <a:solidFill>
                          <a:srgbClr val="78350F"/>
                        </a:solidFill>
                        <a:latin typeface="Cambria Math" panose="02040503050406030204" pitchFamily="18" charset="0"/>
                      </a:rPr>
                      <m:t>4</m:t>
                    </m:r>
                  </m:oMath>
                </a14:m>
                <a:r>
                  <a:rPr sz="2400" b="0">
                    <a:solidFill>
                      <a:srgbClr val="78350F"/>
                    </a:solidFill>
                    <a:latin typeface="Arial"/>
                  </a:rPr>
                  <a:t>) to the left.</a:t>
                </a:r>
                <a:endParaRPr sz="2400">
                  <a:solidFill>
                    <a:srgbClr val="78350F"/>
                  </a:solidFill>
                </a:endParaRPr>
              </a:p>
            </p:txBody>
          </p:sp>
        </mc:Choice>
        <mc:Fallback>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Split at </a:t>
                </a:r>
                <a:r>
                  <a:rPr lang="en-IN" sz="2400">
                    <a:solidFill>
                      <a:srgbClr val="78350F"/>
                    </a:solidFill>
                    <a:latin typeface="Cambria Math" panose="02040503050406030204" pitchFamily="18" charset="0"/>
                  </a:rPr>
                  <a:t>$x=\frac75$</a:t>
                </a:r>
                <a:r>
                  <a:rPr sz="2400" b="0">
                    <a:solidFill>
                      <a:srgbClr val="78350F"/>
                    </a:solidFill>
                    <a:latin typeface="Arial"/>
                  </a:rPr>
                  <a:t>: both parts are non-decreasing to the right of it, and the floor is constant (</a:t>
                </a:r>
                <a:r>
                  <a:rPr lang="en-IN" sz="2400">
                    <a:solidFill>
                      <a:srgbClr val="78350F"/>
                    </a:solidFill>
                    <a:latin typeface="Cambria Math" panose="02040503050406030204" pitchFamily="18" charset="0"/>
                  </a:rPr>
                  <a:t>$4$</a:t>
                </a:r>
                <a:r>
                  <a:rPr sz="2400" b="0">
                    <a:solidFill>
                      <a:srgbClr val="78350F"/>
                    </a:solidFill>
                    <a:latin typeface="Arial"/>
                  </a:rPr>
                  <a:t>) to the left.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On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e>
                    </m:d>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oMath>
                </a14:m>
                <a:r>
                  <a:rPr sz="2400" b="0">
                    <a:solidFill>
                      <a:srgbClr val="111827"/>
                    </a:solidFill>
                    <a:latin typeface="Arial"/>
                  </a:rPr>
                  <a:t> is increasing from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65</m:t>
                        </m:r>
                      </m:num>
                      <m:den>
                        <m:r>
                          <a:rPr lang="en-IN" sz="2400" i="1">
                            <a:solidFill>
                              <a:srgbClr val="111827"/>
                            </a:solidFill>
                            <a:latin typeface="Cambria Math" panose="02040503050406030204" pitchFamily="18" charset="0"/>
                          </a:rPr>
                          <m:t>16</m:t>
                        </m:r>
                      </m:den>
                    </m:f>
                  </m:oMath>
                </a14:m>
                <a:r>
                  <a:rPr sz="2400" b="0">
                    <a:solidFill>
                      <a:srgbClr val="111827"/>
                    </a:solidFill>
                    <a:latin typeface="Arial"/>
                  </a:rPr>
                  <a:t> to </a:t>
                </a:r>
                <a14:m>
                  <m:oMath xmlns:m="http://schemas.openxmlformats.org/officeDocument/2006/math">
                    <m:r>
                      <a:rPr lang="en-IN" sz="2400" i="1">
                        <a:solidFill>
                          <a:srgbClr val="111827"/>
                        </a:solidFill>
                        <a:latin typeface="Cambria Math" panose="02040503050406030204" pitchFamily="18" charset="0"/>
                      </a:rPr>
                      <m:t>8</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non-decreasing from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to </a:t>
                </a:r>
                <a14:m>
                  <m:oMath xmlns:m="http://schemas.openxmlformats.org/officeDocument/2006/math">
                    <m:r>
                      <a:rPr lang="en-IN" sz="2400" i="1">
                        <a:solidFill>
                          <a:srgbClr val="111827"/>
                        </a:solidFill>
                        <a:latin typeface="Cambria Math" panose="02040503050406030204" pitchFamily="18" charset="0"/>
                      </a:rPr>
                      <m:t>8</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function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has its vertex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5</m:t>
                        </m:r>
                      </m:den>
                    </m:f>
                  </m:oMath>
                </a14:m>
                <a:r>
                  <a:rPr sz="2400" b="0">
                    <a:solidFill>
                      <a:srgbClr val="111827"/>
                    </a:solidFill>
                    <a:latin typeface="Arial"/>
                  </a:rPr>
                  <a:t>, decreasing before it and increasing after it.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5</m:t>
                        </m:r>
                      </m:den>
                    </m:f>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49</m:t>
                        </m:r>
                      </m:num>
                      <m:den>
                        <m:r>
                          <a:rPr lang="en-IN" sz="2400" i="1">
                            <a:solidFill>
                              <a:srgbClr val="111827"/>
                            </a:solidFill>
                            <a:latin typeface="Cambria Math" panose="02040503050406030204" pitchFamily="18" charset="0"/>
                          </a:rPr>
                          <m:t>25</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14</m:t>
                        </m:r>
                      </m:num>
                      <m:den>
                        <m:r>
                          <a:rPr lang="en-IN" sz="2400" i="1">
                            <a:solidFill>
                              <a:srgbClr val="111827"/>
                            </a:solidFill>
                            <a:latin typeface="Cambria Math" panose="02040503050406030204" pitchFamily="18" charset="0"/>
                          </a:rPr>
                          <m:t>5</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4.76</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5</m:t>
                            </m:r>
                          </m:den>
                        </m:f>
                      </m:e>
                    </m:d>
                  </m:oMath>
                </a14:m>
                <a:r>
                  <a:rPr sz="2400" b="0">
                    <a:solidFill>
                      <a:srgbClr val="111827"/>
                    </a:solidFill>
                    <a:latin typeface="Arial"/>
                  </a:rPr>
                  <a:t> (the next jump is at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5</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1.236</m:t>
                    </m:r>
                  </m:oMath>
                </a14:m>
                <a:r>
                  <a:rPr sz="2400" b="0">
                    <a:solidFill>
                      <a:srgbClr val="111827"/>
                    </a:solidFill>
                    <a:latin typeface="Arial"/>
                  </a:rPr>
                  <a:t>, outside).</a:t>
                </a:r>
                <a:endParaRPr sz="2400">
                  <a:solidFill>
                    <a:srgbClr val="111827"/>
                  </a:solidFill>
                </a:endParaRPr>
              </a:p>
            </p:txBody>
          </p:sp>
        </mc:Choice>
        <mc:Fallback>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On </a:t>
                </a:r>
                <a:r>
                  <a:rPr lang="en-IN" sz="2400">
                    <a:solidFill>
                      <a:srgbClr val="111827"/>
                    </a:solidFill>
                    <a:latin typeface="Cambria Math" panose="02040503050406030204" pitchFamily="18" charset="0"/>
                  </a:rPr>
                  <a:t>$\left[\frac54,2\right]$</a:t>
                </a:r>
                <a:r>
                  <a:rPr sz="2400" b="0">
                    <a:solidFill>
                      <a:srgbClr val="111827"/>
                    </a:solidFill>
                    <a:latin typeface="Arial"/>
                  </a:rPr>
                  <a:t>, </a:t>
                </a:r>
                <a:r>
                  <a:rPr lang="en-IN" sz="2400">
                    <a:solidFill>
                      <a:srgbClr val="111827"/>
                    </a:solidFill>
                    <a:latin typeface="Cambria Math" panose="02040503050406030204" pitchFamily="18" charset="0"/>
                  </a:rPr>
                  <a:t>$x^2+2x$</a:t>
                </a:r>
                <a:r>
                  <a:rPr sz="2400" b="0">
                    <a:solidFill>
                      <a:srgbClr val="111827"/>
                    </a:solidFill>
                    <a:latin typeface="Arial"/>
                  </a:rPr>
                  <a:t> is increasing from </a:t>
                </a:r>
                <a:r>
                  <a:rPr lang="en-IN" sz="2400">
                    <a:solidFill>
                      <a:srgbClr val="111827"/>
                    </a:solidFill>
                    <a:latin typeface="Cambria Math" panose="02040503050406030204" pitchFamily="18" charset="0"/>
                  </a:rPr>
                  <a:t>$\frac{65}{16}$</a:t>
                </a:r>
                <a:r>
                  <a:rPr sz="2400" b="0">
                    <a:solidFill>
                      <a:srgbClr val="111827"/>
                    </a:solidFill>
                    <a:latin typeface="Arial"/>
                  </a:rPr>
                  <a:t> to </a:t>
                </a:r>
                <a:r>
                  <a:rPr lang="en-IN" sz="2400">
                    <a:solidFill>
                      <a:srgbClr val="111827"/>
                    </a:solidFill>
                    <a:latin typeface="Cambria Math" panose="02040503050406030204" pitchFamily="18" charset="0"/>
                  </a:rPr>
                  <a:t>$8$</a:t>
                </a:r>
                <a:r>
                  <a:rPr sz="2400" b="0">
                    <a:solidFill>
                      <a:srgbClr val="111827"/>
                    </a:solidFill>
                    <a:latin typeface="Arial"/>
                  </a:rPr>
                  <a:t>, so </a:t>
                </a:r>
                <a:r>
                  <a:rPr lang="en-IN" sz="2400">
                    <a:solidFill>
                      <a:srgbClr val="111827"/>
                    </a:solidFill>
                    <a:latin typeface="Cambria Math" panose="02040503050406030204" pitchFamily="18" charset="0"/>
                  </a:rPr>
                  <a:t>$[x^2+2x]$</a:t>
                </a:r>
                <a:r>
                  <a:rPr sz="2400" b="0">
                    <a:solidFill>
                      <a:srgbClr val="111827"/>
                    </a:solidFill>
                    <a:latin typeface="Arial"/>
                  </a:rPr>
                  <a:t> is non-decreasing from </a:t>
                </a:r>
                <a:r>
                  <a:rPr lang="en-IN" sz="2400">
                    <a:solidFill>
                      <a:srgbClr val="111827"/>
                    </a:solidFill>
                    <a:latin typeface="Cambria Math" panose="02040503050406030204" pitchFamily="18" charset="0"/>
                  </a:rPr>
                  <a:t>$4$</a:t>
                </a:r>
                <a:r>
                  <a:rPr sz="2400" b="0">
                    <a:solidFill>
                      <a:srgbClr val="111827"/>
                    </a:solidFill>
                    <a:latin typeface="Arial"/>
                  </a:rPr>
                  <a:t> to </a:t>
                </a:r>
                <a:r>
                  <a:rPr lang="en-IN" sz="2400">
                    <a:solidFill>
                      <a:srgbClr val="111827"/>
                    </a:solidFill>
                    <a:latin typeface="Cambria Math" panose="02040503050406030204" pitchFamily="18" charset="0"/>
                  </a:rPr>
                  <a:t>$8$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function </a:t>
                </a:r>
                <a:r>
                  <a:rPr lang="en-IN" sz="2400">
                    <a:solidFill>
                      <a:srgbClr val="111827"/>
                    </a:solidFill>
                    <a:latin typeface="Cambria Math" panose="02040503050406030204" pitchFamily="18" charset="0"/>
                  </a:rPr>
                  <a:t>$|5x-7|$</a:t>
                </a:r>
                <a:r>
                  <a:rPr sz="2400" b="0">
                    <a:solidFill>
                      <a:srgbClr val="111827"/>
                    </a:solidFill>
                    <a:latin typeface="Arial"/>
                  </a:rPr>
                  <a:t> has its vertex at </a:t>
                </a:r>
                <a:r>
                  <a:rPr lang="en-IN" sz="2400">
                    <a:solidFill>
                      <a:srgbClr val="111827"/>
                    </a:solidFill>
                    <a:latin typeface="Cambria Math" panose="02040503050406030204" pitchFamily="18" charset="0"/>
                  </a:rPr>
                  <a:t>$x=\frac75$</a:t>
                </a:r>
                <a:r>
                  <a:rPr sz="2400" b="0">
                    <a:solidFill>
                      <a:srgbClr val="111827"/>
                    </a:solidFill>
                    <a:latin typeface="Arial"/>
                  </a:rPr>
                  <a:t>, decreasing before it and increasing after it.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At </a:t>
                </a:r>
                <a:r>
                  <a:rPr lang="en-IN" sz="2400">
                    <a:solidFill>
                      <a:srgbClr val="111827"/>
                    </a:solidFill>
                    <a:latin typeface="Cambria Math" panose="02040503050406030204" pitchFamily="18" charset="0"/>
                  </a:rPr>
                  <a:t>$x=\frac75$</a:t>
                </a:r>
                <a:r>
                  <a:rPr sz="2400" b="0">
                    <a:solidFill>
                      <a:srgbClr val="111827"/>
                    </a:solidFill>
                    <a:latin typeface="Arial"/>
                  </a:rPr>
                  <a:t>, </a:t>
                </a:r>
                <a:r>
                  <a:rPr lang="en-IN" sz="2400">
                    <a:solidFill>
                      <a:srgbClr val="111827"/>
                    </a:solidFill>
                    <a:latin typeface="Cambria Math" panose="02040503050406030204" pitchFamily="18" charset="0"/>
                  </a:rPr>
                  <a:t>$x^2+2x=\frac{49}{25}+\frac{14}{5}=4.76$</a:t>
                </a:r>
                <a:r>
                  <a:rPr sz="2400" b="0">
                    <a:solidFill>
                      <a:srgbClr val="111827"/>
                    </a:solidFill>
                    <a:latin typeface="Arial"/>
                  </a:rPr>
                  <a:t>, so </a:t>
                </a:r>
                <a:r>
                  <a:rPr lang="en-IN" sz="2400">
                    <a:solidFill>
                      <a:srgbClr val="111827"/>
                    </a:solidFill>
                    <a:latin typeface="Cambria Math" panose="02040503050406030204" pitchFamily="18" charset="0"/>
                  </a:rPr>
                  <a:t>$[x^2+2x]=4$</a:t>
                </a:r>
                <a:r>
                  <a:rPr sz="2400" b="0">
                    <a:solidFill>
                      <a:srgbClr val="111827"/>
                    </a:solidFill>
                    <a:latin typeface="Arial"/>
                  </a:rPr>
                  <a:t> for </a:t>
                </a:r>
                <a:r>
                  <a:rPr lang="en-IN" sz="2400">
                    <a:solidFill>
                      <a:srgbClr val="111827"/>
                    </a:solidFill>
                    <a:latin typeface="Cambria Math" panose="02040503050406030204" pitchFamily="18" charset="0"/>
                  </a:rPr>
                  <a:t>$x\in\left[\frac54,\frac75\right]$</a:t>
                </a:r>
                <a:r>
                  <a:rPr sz="2400" b="0">
                    <a:solidFill>
                      <a:srgbClr val="111827"/>
                    </a:solidFill>
                    <a:latin typeface="Arial"/>
                  </a:rPr>
                  <a:t> (the next jump is at </a:t>
                </a:r>
                <a:r>
                  <a:rPr lang="en-IN" sz="2400">
                    <a:solidFill>
                      <a:srgbClr val="111827"/>
                    </a:solidFill>
                    <a:latin typeface="Cambria Math" panose="02040503050406030204" pitchFamily="18" charset="0"/>
                  </a:rPr>
                  <a:t>$\sqrt5-1\approx1.236$</a:t>
                </a:r>
                <a:r>
                  <a:rPr sz="2400" b="0">
                    <a:solidFill>
                      <a:srgbClr val="111827"/>
                    </a:solidFill>
                    <a:latin typeface="Arial"/>
                  </a:rPr>
                  <a:t>, outside).</a:t>
                </a:r>
                <a:endParaRPr sz="2400">
                  <a:solidFill>
                    <a:srgbClr val="111827"/>
                  </a:solidFill>
                </a:endParaRPr>
              </a:p>
            </p:txBody>
          </p:sp>
        </mc:Fallback>
      </mc:AlternateContent>
    </p:spTree>
  </p:cSld>
  <p:clrMapOvr>
    <a:masterClrMapping/>
  </p:clrMapOvr>
</p:sld>
</file>

<file path=ppt/slides/slide3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On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5</m:t>
                            </m:r>
                          </m:den>
                        </m:f>
                      </m:e>
                    </m:d>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decreasing from </a:t>
                </a:r>
                <a14:m>
                  <m:oMath xmlns:m="http://schemas.openxmlformats.org/officeDocument/2006/math">
                    <m:r>
                      <a:rPr lang="en-IN" sz="2400" i="1">
                        <a:solidFill>
                          <a:srgbClr val="111827"/>
                        </a:solidFill>
                        <a:latin typeface="Cambria Math" panose="02040503050406030204" pitchFamily="18" charset="0"/>
                      </a:rPr>
                      <m:t>𝑓</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4</m:t>
                            </m:r>
                          </m:den>
                        </m:f>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19</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to </a:t>
                </a:r>
                <a14:m>
                  <m:oMath xmlns:m="http://schemas.openxmlformats.org/officeDocument/2006/math">
                    <m:r>
                      <a:rPr lang="en-IN" sz="2400" i="1">
                        <a:solidFill>
                          <a:srgbClr val="111827"/>
                        </a:solidFill>
                        <a:latin typeface="Cambria Math" panose="02040503050406030204" pitchFamily="18" charset="0"/>
                      </a:rPr>
                      <m:t>𝑓</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5</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On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5</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e>
                    </m:d>
                  </m:oMath>
                </a14:m>
                <a:r>
                  <a:rPr sz="2400" b="0">
                    <a:solidFill>
                      <a:srgbClr val="111827"/>
                    </a:solidFill>
                    <a:latin typeface="Arial"/>
                  </a:rPr>
                  <a:t> both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are non-decreasing, so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is non-decreasing.</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Therefore the minimum is </a:t>
                </a:r>
                <a14:m>
                  <m:oMath xmlns:m="http://schemas.openxmlformats.org/officeDocument/2006/math">
                    <m:r>
                      <a:rPr lang="en-IN" sz="2400" i="1">
                        <a:solidFill>
                          <a:srgbClr val="111827"/>
                        </a:solidFill>
                        <a:latin typeface="Cambria Math" panose="02040503050406030204" pitchFamily="18" charset="0"/>
                      </a:rPr>
                      <m:t>𝑓</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5</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Candidates for the maximum are the end points: </a:t>
                </a:r>
                <a14:m>
                  <m:oMath xmlns:m="http://schemas.openxmlformats.org/officeDocument/2006/math">
                    <m:r>
                      <a:rPr lang="en-IN" sz="2400" i="1">
                        <a:solidFill>
                          <a:srgbClr val="111827"/>
                        </a:solidFill>
                        <a:latin typeface="Cambria Math" panose="02040503050406030204" pitchFamily="18" charset="0"/>
                      </a:rPr>
                      <m:t>𝑓</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4</m:t>
                            </m:r>
                          </m:den>
                        </m:f>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19</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oMath>
                </a14:m>
                <a:r>
                  <a:rPr sz="2400" b="0">
                    <a:solidFill>
                      <a:srgbClr val="111827"/>
                    </a:solidFill>
                    <a:latin typeface="Arial"/>
                  </a:rPr>
                  <a:t>; so the maximum is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On </a:t>
                </a:r>
                <a:r>
                  <a:rPr lang="en-IN" sz="2400">
                    <a:solidFill>
                      <a:srgbClr val="111827"/>
                    </a:solidFill>
                    <a:latin typeface="Cambria Math" panose="02040503050406030204" pitchFamily="18" charset="0"/>
                  </a:rPr>
                  <a:t>$\left[\frac54,\frac75\right]$</a:t>
                </a:r>
                <a:r>
                  <a:rPr sz="2400" b="0">
                    <a:solidFill>
                      <a:srgbClr val="111827"/>
                    </a:solidFill>
                    <a:latin typeface="Arial"/>
                  </a:rPr>
                  <a:t>: </a:t>
                </a:r>
                <a:r>
                  <a:rPr lang="en-IN" sz="2400">
                    <a:solidFill>
                      <a:srgbClr val="111827"/>
                    </a:solidFill>
                    <a:latin typeface="Cambria Math" panose="02040503050406030204" pitchFamily="18" charset="0"/>
                  </a:rPr>
                  <a:t>$f=7-5x+4$</a:t>
                </a:r>
                <a:r>
                  <a:rPr sz="2400" b="0">
                    <a:solidFill>
                      <a:srgbClr val="111827"/>
                    </a:solidFill>
                    <a:latin typeface="Arial"/>
                  </a:rPr>
                  <a:t>, decreasing from </a:t>
                </a:r>
                <a:r>
                  <a:rPr lang="en-IN" sz="2400">
                    <a:solidFill>
                      <a:srgbClr val="111827"/>
                    </a:solidFill>
                    <a:latin typeface="Cambria Math" panose="02040503050406030204" pitchFamily="18" charset="0"/>
                  </a:rPr>
                  <a:t>$f\left(\frac54\right)=\frac34+4=\frac{19}{4}$</a:t>
                </a:r>
                <a:r>
                  <a:rPr sz="2400" b="0">
                    <a:solidFill>
                      <a:srgbClr val="111827"/>
                    </a:solidFill>
                    <a:latin typeface="Arial"/>
                  </a:rPr>
                  <a:t> to </a:t>
                </a:r>
                <a:r>
                  <a:rPr lang="en-IN" sz="2400">
                    <a:solidFill>
                      <a:srgbClr val="111827"/>
                    </a:solidFill>
                    <a:latin typeface="Cambria Math" panose="02040503050406030204" pitchFamily="18" charset="0"/>
                  </a:rPr>
                  <a:t>$f\left(\frac75\right)=0+4=4$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On </a:t>
                </a:r>
                <a:r>
                  <a:rPr lang="en-IN" sz="2400">
                    <a:solidFill>
                      <a:srgbClr val="111827"/>
                    </a:solidFill>
                    <a:latin typeface="Cambria Math" panose="02040503050406030204" pitchFamily="18" charset="0"/>
                  </a:rPr>
                  <a:t>$\left[\frac75,2\right]$</a:t>
                </a:r>
                <a:r>
                  <a:rPr sz="2400" b="0">
                    <a:solidFill>
                      <a:srgbClr val="111827"/>
                    </a:solidFill>
                    <a:latin typeface="Arial"/>
                  </a:rPr>
                  <a:t> both </a:t>
                </a:r>
                <a:r>
                  <a:rPr lang="en-IN" sz="2400">
                    <a:solidFill>
                      <a:srgbClr val="111827"/>
                    </a:solidFill>
                    <a:latin typeface="Cambria Math" panose="02040503050406030204" pitchFamily="18" charset="0"/>
                  </a:rPr>
                  <a:t>$|5x-7|$</a:t>
                </a:r>
                <a:r>
                  <a:rPr sz="2400" b="0">
                    <a:solidFill>
                      <a:srgbClr val="111827"/>
                    </a:solidFill>
                    <a:latin typeface="Arial"/>
                  </a:rPr>
                  <a:t> and </a:t>
                </a:r>
                <a:r>
                  <a:rPr lang="en-IN" sz="2400">
                    <a:solidFill>
                      <a:srgbClr val="111827"/>
                    </a:solidFill>
                    <a:latin typeface="Cambria Math" panose="02040503050406030204" pitchFamily="18" charset="0"/>
                  </a:rPr>
                  <a:t>$[x^2+2x]$</a:t>
                </a:r>
                <a:r>
                  <a:rPr sz="2400" b="0">
                    <a:solidFill>
                      <a:srgbClr val="111827"/>
                    </a:solidFill>
                    <a:latin typeface="Arial"/>
                  </a:rPr>
                  <a:t> are non-decreasing, so </a:t>
                </a:r>
                <a:r>
                  <a:rPr lang="en-IN" sz="2400">
                    <a:solidFill>
                      <a:srgbClr val="111827"/>
                    </a:solidFill>
                    <a:latin typeface="Cambria Math" panose="02040503050406030204" pitchFamily="18" charset="0"/>
                  </a:rPr>
                  <a:t>$f$</a:t>
                </a:r>
                <a:r>
                  <a:rPr sz="2400" b="0">
                    <a:solidFill>
                      <a:srgbClr val="111827"/>
                    </a:solidFill>
                    <a:latin typeface="Arial"/>
                  </a:rPr>
                  <a:t> is non-decreasing.</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Therefore the minimum is </a:t>
                </a:r>
                <a:r>
                  <a:rPr lang="en-IN" sz="2400">
                    <a:solidFill>
                      <a:srgbClr val="111827"/>
                    </a:solidFill>
                    <a:latin typeface="Cambria Math" panose="02040503050406030204" pitchFamily="18" charset="0"/>
                  </a:rPr>
                  <a:t>$f\left(\frac75\right)=4$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Candidates for the maximum are the end points: </a:t>
                </a:r>
                <a:r>
                  <a:rPr lang="en-IN" sz="2400">
                    <a:solidFill>
                      <a:srgbClr val="111827"/>
                    </a:solidFill>
                    <a:latin typeface="Cambria Math" panose="02040503050406030204" pitchFamily="18" charset="0"/>
                  </a:rPr>
                  <a:t>$f\left(\frac54\right)=\frac{19}{4}$</a:t>
                </a:r>
                <a:r>
                  <a:rPr sz="2400" b="0">
                    <a:solidFill>
                      <a:srgbClr val="111827"/>
                    </a:solidFill>
                    <a:latin typeface="Arial"/>
                  </a:rPr>
                  <a:t> and </a:t>
                </a:r>
                <a:r>
                  <a:rPr lang="en-IN" sz="2400">
                    <a:solidFill>
                      <a:srgbClr val="111827"/>
                    </a:solidFill>
                    <a:latin typeface="Cambria Math" panose="02040503050406030204" pitchFamily="18" charset="0"/>
                  </a:rPr>
                  <a:t>$f(2)=3+8=11$</a:t>
                </a:r>
                <a:r>
                  <a:rPr sz="2400" b="0">
                    <a:solidFill>
                      <a:srgbClr val="111827"/>
                    </a:solidFill>
                    <a:latin typeface="Arial"/>
                  </a:rPr>
                  <a:t>; so the maximum is </a:t>
                </a:r>
                <a:r>
                  <a:rPr lang="en-IN" sz="2400">
                    <a:solidFill>
                      <a:srgbClr val="111827"/>
                    </a:solidFill>
                    <a:latin typeface="Cambria Math" panose="02040503050406030204" pitchFamily="18" charset="0"/>
                  </a:rPr>
                  <a:t>$f(2)=11$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a:t>
                </a:r>
                <a:r>
                  <a:rPr lang="en-IN" sz="2400">
                    <a:solidFill>
                      <a:srgbClr val="111827"/>
                    </a:solidFill>
                    <a:latin typeface="Cambria Math" panose="02040503050406030204" pitchFamily="18" charset="0"/>
                  </a:rPr>
                  <a:t>$=4+11=15$</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15</a:t>
            </a:r>
            <a:endParaRPr sz="2800">
              <a:solidFill>
                <a:srgbClr val="15803D"/>
              </a:solidFill>
            </a:endParaRPr>
          </a:p>
        </p:txBody>
      </p:sp>
    </p:spTree>
  </p:cSld>
  <p:clrMapOvr>
    <a:masterClrMapping/>
  </p:clrMapOvr>
</p:sld>
</file>

<file path=ppt/slides/slide3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Bound each part separately: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5</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7</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and </a:t>
                </a:r>
                <a14:m>
                  <m:oMath xmlns:m="http://schemas.openxmlformats.org/officeDocument/2006/math">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4</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8</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and check both bounds are attained.</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Bound each part separately: </a:t>
                </a:r>
                <a:r>
                  <a:rPr lang="en-IN" sz="2400">
                    <a:solidFill>
                      <a:srgbClr val="78350F"/>
                    </a:solidFill>
                    <a:latin typeface="Cambria Math" panose="02040503050406030204" pitchFamily="18" charset="0"/>
                  </a:rPr>
                  <a:t>$|5x-7|\in[0,3]$</a:t>
                </a:r>
                <a:r>
                  <a:rPr sz="2400" b="0">
                    <a:solidFill>
                      <a:srgbClr val="78350F"/>
                    </a:solidFill>
                    <a:latin typeface="Arial"/>
                  </a:rPr>
                  <a:t> and </a:t>
                </a:r>
                <a:r>
                  <a:rPr lang="en-IN" sz="2400">
                    <a:solidFill>
                      <a:srgbClr val="78350F"/>
                    </a:solidFill>
                    <a:latin typeface="Cambria Math" panose="02040503050406030204" pitchFamily="18" charset="0"/>
                  </a:rPr>
                  <a:t>$[x^2+2x]\in[4,8]$</a:t>
                </a:r>
                <a:r>
                  <a:rPr sz="2400" b="0">
                    <a:solidFill>
                      <a:srgbClr val="78350F"/>
                    </a:solidFill>
                    <a:latin typeface="Arial"/>
                  </a:rPr>
                  <a:t>, and check both bounds are attained.</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On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e>
                    </m:d>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with equality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5</m:t>
                        </m:r>
                      </m:den>
                    </m:f>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since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oMath>
                </a14:m>
                <a:r>
                  <a:rPr sz="2400" b="0">
                    <a:solidFill>
                      <a:srgbClr val="111827"/>
                    </a:solidFill>
                    <a:latin typeface="Arial"/>
                  </a:rPr>
                  <a:t> increases from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65</m:t>
                        </m:r>
                      </m:num>
                      <m:den>
                        <m:r>
                          <a:rPr lang="en-IN" sz="2400" i="1">
                            <a:solidFill>
                              <a:srgbClr val="111827"/>
                            </a:solidFill>
                            <a:latin typeface="Cambria Math" panose="02040503050406030204" pitchFamily="18" charset="0"/>
                          </a:rPr>
                          <m:t>16</m:t>
                        </m:r>
                      </m:den>
                    </m:f>
                  </m:oMath>
                </a14:m>
                <a:r>
                  <a:rPr sz="2400" b="0">
                    <a:solidFill>
                      <a:srgbClr val="111827"/>
                    </a:solidFill>
                    <a:latin typeface="Arial"/>
                  </a:rPr>
                  <a:t> to </a:t>
                </a:r>
                <a14:m>
                  <m:oMath xmlns:m="http://schemas.openxmlformats.org/officeDocument/2006/math">
                    <m:r>
                      <a:rPr lang="en-IN" sz="2400" i="1">
                        <a:solidFill>
                          <a:srgbClr val="111827"/>
                        </a:solidFill>
                        <a:latin typeface="Cambria Math" panose="02040503050406030204" pitchFamily="18" charset="0"/>
                      </a:rPr>
                      <m:t>8</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8</m:t>
                    </m:r>
                  </m:oMath>
                </a14:m>
                <a:r>
                  <a:rPr sz="2400" b="0">
                    <a:solidFill>
                      <a:srgbClr val="111827"/>
                    </a:solidFill>
                    <a:latin typeface="Arial"/>
                  </a:rPr>
                  <a:t> attained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𝑓</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5</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4.76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the minimum is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On </a:t>
                </a:r>
                <a:r>
                  <a:rPr lang="en-IN" sz="2400">
                    <a:solidFill>
                      <a:srgbClr val="111827"/>
                    </a:solidFill>
                    <a:latin typeface="Cambria Math" panose="02040503050406030204" pitchFamily="18" charset="0"/>
                  </a:rPr>
                  <a:t>$\left[\frac54,2\right]$</a:t>
                </a:r>
                <a:r>
                  <a:rPr sz="2400" b="0">
                    <a:solidFill>
                      <a:srgbClr val="111827"/>
                    </a:solidFill>
                    <a:latin typeface="Arial"/>
                  </a:rPr>
                  <a:t>: </a:t>
                </a:r>
                <a:r>
                  <a:rPr lang="en-IN" sz="2400">
                    <a:solidFill>
                      <a:srgbClr val="111827"/>
                    </a:solidFill>
                    <a:latin typeface="Cambria Math" panose="02040503050406030204" pitchFamily="18" charset="0"/>
                  </a:rPr>
                  <a:t>$|5x-7|\ge0$</a:t>
                </a:r>
                <a:r>
                  <a:rPr sz="2400" b="0">
                    <a:solidFill>
                      <a:srgbClr val="111827"/>
                    </a:solidFill>
                    <a:latin typeface="Arial"/>
                  </a:rPr>
                  <a:t> with equality at </a:t>
                </a:r>
                <a:r>
                  <a:rPr lang="en-IN" sz="2400">
                    <a:solidFill>
                      <a:srgbClr val="111827"/>
                    </a:solidFill>
                    <a:latin typeface="Cambria Math" panose="02040503050406030204" pitchFamily="18" charset="0"/>
                  </a:rPr>
                  <a:t>$x=\frac75$</a:t>
                </a:r>
                <a:r>
                  <a:rPr sz="2400" b="0">
                    <a:solidFill>
                      <a:srgbClr val="111827"/>
                    </a:solidFill>
                    <a:latin typeface="Arial"/>
                  </a:rPr>
                  <a:t>, and </a:t>
                </a:r>
                <a:r>
                  <a:rPr lang="en-IN" sz="2400">
                    <a:solidFill>
                      <a:srgbClr val="111827"/>
                    </a:solidFill>
                    <a:latin typeface="Cambria Math" panose="02040503050406030204" pitchFamily="18" charset="0"/>
                  </a:rPr>
                  <a:t>$|5x-7|\le3$</a:t>
                </a:r>
                <a:r>
                  <a:rPr sz="2400" b="0">
                    <a:solidFill>
                      <a:srgbClr val="111827"/>
                    </a:solidFill>
                    <a:latin typeface="Arial"/>
                  </a:rPr>
                  <a:t> (at </a:t>
                </a:r>
                <a:r>
                  <a:rPr lang="en-IN" sz="2400">
                    <a:solidFill>
                      <a:srgbClr val="111827"/>
                    </a:solidFill>
                    <a:latin typeface="Cambria Math" panose="02040503050406030204" pitchFamily="18" charset="0"/>
                  </a:rPr>
                  <a:t>$x=2$</a:t>
                </a:r>
                <a:r>
                  <a:rPr sz="2400" b="0">
                    <a:solidFill>
                      <a:srgbClr val="111827"/>
                    </a:solidFill>
                    <a:latin typeface="Arial"/>
                  </a:rPr>
                  <a:t>, since </a:t>
                </a:r>
                <a:r>
                  <a:rPr lang="en-IN" sz="2400">
                    <a:solidFill>
                      <a:srgbClr val="111827"/>
                    </a:solidFill>
                    <a:latin typeface="Cambria Math" panose="02040503050406030204" pitchFamily="18" charset="0"/>
                  </a:rPr>
                  <a:t>$|5\cdot\frac54-7|=\frac34&lt;3$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$x^2+2x$</a:t>
                </a:r>
                <a:r>
                  <a:rPr sz="2400" b="0">
                    <a:solidFill>
                      <a:srgbClr val="111827"/>
                    </a:solidFill>
                    <a:latin typeface="Arial"/>
                  </a:rPr>
                  <a:t> increases from </a:t>
                </a:r>
                <a:r>
                  <a:rPr lang="en-IN" sz="2400">
                    <a:solidFill>
                      <a:srgbClr val="111827"/>
                    </a:solidFill>
                    <a:latin typeface="Cambria Math" panose="02040503050406030204" pitchFamily="18" charset="0"/>
                  </a:rPr>
                  <a:t>$\frac{65}{16}$</a:t>
                </a:r>
                <a:r>
                  <a:rPr sz="2400" b="0">
                    <a:solidFill>
                      <a:srgbClr val="111827"/>
                    </a:solidFill>
                    <a:latin typeface="Arial"/>
                  </a:rPr>
                  <a:t> to </a:t>
                </a:r>
                <a:r>
                  <a:rPr lang="en-IN" sz="2400">
                    <a:solidFill>
                      <a:srgbClr val="111827"/>
                    </a:solidFill>
                    <a:latin typeface="Cambria Math" panose="02040503050406030204" pitchFamily="18" charset="0"/>
                  </a:rPr>
                  <a:t>$8$</a:t>
                </a:r>
                <a:r>
                  <a:rPr sz="2400" b="0">
                    <a:solidFill>
                      <a:srgbClr val="111827"/>
                    </a:solidFill>
                    <a:latin typeface="Arial"/>
                  </a:rPr>
                  <a:t>, so </a:t>
                </a:r>
                <a:r>
                  <a:rPr lang="en-IN" sz="2400">
                    <a:solidFill>
                      <a:srgbClr val="111827"/>
                    </a:solidFill>
                    <a:latin typeface="Cambria Math" panose="02040503050406030204" pitchFamily="18" charset="0"/>
                  </a:rPr>
                  <a:t>$4\le[x^2+2x]\le8$</a:t>
                </a:r>
                <a:r>
                  <a:rPr sz="2400" b="0">
                    <a:solidFill>
                      <a:srgbClr val="111827"/>
                    </a:solidFill>
                    <a:latin typeface="Arial"/>
                  </a:rPr>
                  <a:t>, with </a:t>
                </a:r>
                <a:r>
                  <a:rPr lang="en-IN" sz="2400">
                    <a:solidFill>
                      <a:srgbClr val="111827"/>
                    </a:solidFill>
                    <a:latin typeface="Cambria Math" panose="02040503050406030204" pitchFamily="18" charset="0"/>
                  </a:rPr>
                  <a:t>$8$</a:t>
                </a:r>
                <a:r>
                  <a:rPr sz="2400" b="0">
                    <a:solidFill>
                      <a:srgbClr val="111827"/>
                    </a:solidFill>
                    <a:latin typeface="Arial"/>
                  </a:rPr>
                  <a:t> attained at </a:t>
                </a:r>
                <a:r>
                  <a:rPr lang="en-IN" sz="2400">
                    <a:solidFill>
                      <a:srgbClr val="111827"/>
                    </a:solidFill>
                    <a:latin typeface="Cambria Math" panose="02040503050406030204" pitchFamily="18" charset="0"/>
                  </a:rPr>
                  <a:t>$x=2$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$f\ge0+4=4$</a:t>
                </a:r>
                <a:r>
                  <a:rPr sz="2400" b="0">
                    <a:solidFill>
                      <a:srgbClr val="111827"/>
                    </a:solidFill>
                    <a:latin typeface="Arial"/>
                  </a:rPr>
                  <a:t>, and </a:t>
                </a:r>
                <a:r>
                  <a:rPr lang="en-IN" sz="2400">
                    <a:solidFill>
                      <a:srgbClr val="111827"/>
                    </a:solidFill>
                    <a:latin typeface="Cambria Math" panose="02040503050406030204" pitchFamily="18" charset="0"/>
                  </a:rPr>
                  <a:t>$f\left(\frac75\right)=0+[4.76]=4$</a:t>
                </a:r>
                <a:r>
                  <a:rPr sz="2400" b="0">
                    <a:solidFill>
                      <a:srgbClr val="111827"/>
                    </a:solidFill>
                    <a:latin typeface="Arial"/>
                  </a:rPr>
                  <a:t>: the minimum is </a:t>
                </a:r>
                <a:r>
                  <a:rPr lang="en-IN" sz="2400">
                    <a:solidFill>
                      <a:srgbClr val="111827"/>
                    </a:solidFill>
                    <a:latin typeface="Cambria Math" panose="02040503050406030204" pitchFamily="18" charset="0"/>
                  </a:rPr>
                  <a:t>$4$</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Also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oMath>
                </a14:m>
                <a:r>
                  <a:rPr sz="2400" b="0">
                    <a:solidFill>
                      <a:srgbClr val="111827"/>
                    </a:solidFill>
                    <a:latin typeface="Arial"/>
                  </a:rPr>
                  <a:t>: the maximum is </a:t>
                </a:r>
                <a14:m>
                  <m:oMath xmlns:m="http://schemas.openxmlformats.org/officeDocument/2006/math">
                    <m:r>
                      <a:rPr lang="en-IN" sz="2400" i="1">
                        <a:solidFill>
                          <a:srgbClr val="111827"/>
                        </a:solidFill>
                        <a:latin typeface="Cambria Math" panose="02040503050406030204" pitchFamily="18" charset="0"/>
                      </a:rPr>
                      <m:t>11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Also </a:t>
                </a:r>
                <a:r>
                  <a:rPr lang="en-IN" sz="2400">
                    <a:solidFill>
                      <a:srgbClr val="111827"/>
                    </a:solidFill>
                    <a:latin typeface="Cambria Math" panose="02040503050406030204" pitchFamily="18" charset="0"/>
                  </a:rPr>
                  <a:t>$f\le3+8=11$</a:t>
                </a:r>
                <a:r>
                  <a:rPr sz="2400" b="0">
                    <a:solidFill>
                      <a:srgbClr val="111827"/>
                    </a:solidFill>
                    <a:latin typeface="Arial"/>
                  </a:rPr>
                  <a:t>, and </a:t>
                </a:r>
                <a:r>
                  <a:rPr lang="en-IN" sz="2400">
                    <a:solidFill>
                      <a:srgbClr val="111827"/>
                    </a:solidFill>
                    <a:latin typeface="Cambria Math" panose="02040503050406030204" pitchFamily="18" charset="0"/>
                  </a:rPr>
                  <a:t>$f(2)=3+8=11$</a:t>
                </a:r>
                <a:r>
                  <a:rPr sz="2400" b="0">
                    <a:solidFill>
                      <a:srgbClr val="111827"/>
                    </a:solidFill>
                    <a:latin typeface="Arial"/>
                  </a:rPr>
                  <a:t>: the maximum is </a:t>
                </a:r>
                <a:r>
                  <a:rPr lang="en-IN" sz="2400">
                    <a:solidFill>
                      <a:srgbClr val="111827"/>
                    </a:solidFill>
                    <a:latin typeface="Cambria Math" panose="02040503050406030204" pitchFamily="18" charset="0"/>
                  </a:rPr>
                  <a:t>$11$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a:t>
                </a:r>
                <a:r>
                  <a:rPr lang="en-IN" sz="2400">
                    <a:solidFill>
                      <a:srgbClr val="111827"/>
                    </a:solidFill>
                    <a:latin typeface="Cambria Math" panose="02040503050406030204" pitchFamily="18" charset="0"/>
                  </a:rPr>
                  <a:t>$=4+11=15$</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15</a:t>
            </a:r>
            <a:endParaRPr sz="2800">
              <a:solidFill>
                <a:srgbClr val="15803D"/>
              </a:solidFill>
            </a:endParaRPr>
          </a:p>
        </p:txBody>
      </p:sp>
    </p:spTree>
  </p:cSld>
  <p:clrMapOvr>
    <a:masterClrMapping/>
  </p:clrMapOvr>
</p:sld>
</file>

<file path=ppt/slides/slide3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59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the floor jumps at points where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is an integer.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sums, bounding each term separately gives the extremum immediately when one point makes both bounds tight.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sum of non-decreasing functions is non-decreasing; the floor of an increasing function is non-decreasing.</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Extreme values of a function with jumps are at end points, at the minimum of the continuous part, or just after a jump - check them all.</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$x^2+2x=(x+1)^2-1$</a:t>
                </a:r>
                <a:r>
                  <a:rPr sz="2400" b="0">
                    <a:solidFill>
                      <a:srgbClr val="111827"/>
                    </a:solidFill>
                    <a:latin typeface="Arial"/>
                  </a:rPr>
                  <a:t>, so </a:t>
                </a:r>
                <a:r>
                  <a:rPr lang="en-IN" sz="2400">
                    <a:solidFill>
                      <a:srgbClr val="111827"/>
                    </a:solidFill>
                    <a:latin typeface="Cambria Math" panose="02040503050406030204" pitchFamily="18" charset="0"/>
                  </a:rPr>
                  <a:t>$[x^2+2x]=[(x+1)^2]-1$</a:t>
                </a:r>
                <a:r>
                  <a:rPr sz="2400" b="0">
                    <a:solidFill>
                      <a:srgbClr val="111827"/>
                    </a:solidFill>
                    <a:latin typeface="Arial"/>
                  </a:rPr>
                  <a:t>; the floor jumps at points where </a:t>
                </a:r>
                <a:r>
                  <a:rPr lang="en-IN" sz="2400">
                    <a:solidFill>
                      <a:srgbClr val="111827"/>
                    </a:solidFill>
                    <a:latin typeface="Cambria Math" panose="02040503050406030204" pitchFamily="18" charset="0"/>
                  </a:rPr>
                  <a:t>$(x+1)^2$</a:t>
                </a:r>
                <a:r>
                  <a:rPr sz="2400" b="0">
                    <a:solidFill>
                      <a:srgbClr val="111827"/>
                    </a:solidFill>
                    <a:latin typeface="Arial"/>
                  </a:rPr>
                  <a:t> is an integer.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sums, bounding each term separately gives the extremum immediately when one point makes both bounds tight.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sum of non-decreasing functions is non-decreasing; the floor of an increasing function is non-decreasing.</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Extreme values of a function with jumps are at end points, at the minimum of the continuous part, or just after a jump - check them all.</a:t>
                </a:r>
                <a:endParaRPr sz="2400">
                  <a:solidFill>
                    <a:srgbClr val="111827"/>
                  </a:solidFill>
                </a:endParaRPr>
              </a:p>
            </p:txBody>
          </p:sp>
        </mc:Fallback>
      </mc:AlternateContent>
    </p:spTree>
  </p:cSld>
  <p:clrMapOvr>
    <a:masterClrMapping/>
  </p:clrMapOvr>
</p:sld>
</file>

<file path=ppt/slides/slide3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(1/12)</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01</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02</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03</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04</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05</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bl>
          </a:graphicData>
        </a:graphic>
      </p:graphicFrame>
    </p:spTree>
  </p:cSld>
  <p:clrMapOvr>
    <a:masterClrMapping/>
  </p:clrMapOvr>
</p:sld>
</file>

<file path=ppt/slides/slide3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(2/12)</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06</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07</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08</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09</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10</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bl>
          </a:graphicData>
        </a:graphic>
      </p:graphicFrame>
    </p:spTree>
  </p:cSld>
  <p:clrMapOvr>
    <a:masterClrMapping/>
  </p:clrMapOvr>
</p:sld>
</file>

<file path=ppt/slides/slide3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(3/12)</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11</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12</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13</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14</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15</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bl>
          </a:graphicData>
        </a:graphic>
      </p:graphicFrame>
    </p:spTree>
  </p:cSld>
  <p:clrMapOvr>
    <a:masterClrMapping/>
  </p:clrMapOvr>
</p:sld>
</file>

<file path=ppt/slides/slide3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(4/12)</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16</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17</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18</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19</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20</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bl>
          </a:graphicData>
        </a:graphic>
      </p:graphicFrame>
    </p:spTree>
  </p:cSld>
  <p:clrMapOvr>
    <a:masterClrMapping/>
  </p:clrMapOvr>
</p:sld>
</file>

<file path=ppt/slides/slide3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(5/12)</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21</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22</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23</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24</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25</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bl>
          </a:graphicData>
        </a:graphic>
      </p:graphicFrame>
    </p:spTree>
  </p:cSld>
  <p:clrMapOvr>
    <a:masterClrMapping/>
  </p:clrMapOvr>
</p:sld>
</file>

<file path=ppt/slides/slide3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(6/12)</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26</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27</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28</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29</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30</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bl>
          </a:graphicData>
        </a:graphic>
      </p:graphicFrame>
    </p:spTree>
  </p:cSld>
  <p:clrMapOvr>
    <a:masterClrMapping/>
  </p:clrMapOvr>
</p:sld>
</file>

<file path=ppt/slides/slide3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(7/12)</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31</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32</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33</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34</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35</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bl>
          </a:graphicData>
        </a:graphic>
      </p:graphicFrame>
    </p:spTree>
  </p:cSld>
  <p:clrMapOvr>
    <a:masterClrMapping/>
  </p:clrMapOvr>
</p:sld>
</file>

<file path=ppt/slides/slide3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(8/12)</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36</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37</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38</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39</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40</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bl>
          </a:graphicData>
        </a:graphic>
      </p:graphicFrame>
    </p:spTree>
  </p:cSld>
  <p:clrMapOvr>
    <a:masterClrMapping/>
  </p:clrMapOvr>
</p:sld>
</file>

<file path=ppt/slides/slide3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(9/12)</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41</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42</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43</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44</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45</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bl>
          </a:graphicData>
        </a:graphic>
      </p:graphicFrame>
    </p:spTree>
  </p:cSld>
  <p:clrMapOvr>
    <a:masterClrMapping/>
  </p:clrMapOvr>
</p:sld>
</file>

<file path=ppt/slides/slide3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(10/12)</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46</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47</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48</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49</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50</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bl>
          </a:graphicData>
        </a:graphic>
      </p:graphicFrame>
    </p:spTree>
  </p:cSld>
  <p:clrMapOvr>
    <a:masterClrMapping/>
  </p:clrMapOvr>
</p:sld>
</file>

<file path=ppt/slides/slide3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(11/12)</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51</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52</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53</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54</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55</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bl>
          </a:graphicData>
        </a:graphic>
      </p:graphicFrame>
    </p:spTree>
  </p:cSld>
  <p:clrMapOvr>
    <a:masterClrMapping/>
  </p:clrMapOvr>
</p:sld>
</file>

<file path=ppt/slides/slide3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(12/12)</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416052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56</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57</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58</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59</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bl>
          </a:graphicData>
        </a:graphic>
      </p:graphicFrame>
    </p:spTree>
  </p:cSld>
  <p:clrMapOvr>
    <a:masterClrMapping/>
  </p:clrMapOvr>
</p:sld>
</file>

<file path=ppt/slides/slide3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a:t>
            </a:r>
            <a:endParaRPr sz="3200">
              <a:solidFill>
                <a:srgbClr val="FFFFFF"/>
              </a:solidFill>
            </a:endParaRPr>
          </a:p>
        </p:txBody>
      </p:sp>
      <p:sp>
        <p:nvSpPr>
          <p:cNvPr id="3" name="Rounded Rectangle 2"/>
          <p:cNvSpPr/>
          <p:nvPr/>
        </p:nvSpPr>
        <p:spPr>
          <a:xfrm>
            <a:off x="731520" y="1417320"/>
            <a:ext cx="4754880" cy="329184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37160" bIns="73152"/>
          <a:lstStyle>
            <a:lvl1pPr>
              <a:defRPr sz="3000">
                <a:solidFill>
                  <a:srgbClr val="0B1F3A"/>
                </a:solidFill>
              </a:defRPr>
            </a:lvl1pPr>
          </a:lstStyle>
          <a:p>
            <a:pPr algn="ctr">
              <a:defRPr sz="3000">
                <a:solidFill>
                  <a:srgbClr val="0B1F3A"/>
                </a:solidFill>
              </a:defRPr>
            </a:pPr>
            <a:r>
              <a:rPr sz="3000" b="1">
                <a:solidFill>
                  <a:srgbClr val="0B1F3A"/>
                </a:solidFill>
                <a:latin typeface="Arial"/>
              </a:rPr>
              <a:t>Difficulty Index</a:t>
            </a:r>
            <a:endParaRPr sz="3000">
              <a:solidFill>
                <a:srgbClr val="0B1F3A"/>
              </a:solidFill>
            </a:endParaRPr>
          </a:p>
          <a:p>
            <a:pPr algn="ctr">
              <a:defRPr sz="3000">
                <a:solidFill>
                  <a:srgbClr val="0B1F3A"/>
                </a:solidFill>
              </a:defRPr>
            </a:pPr>
            <a:r>
              <a:rPr sz="8800" b="1">
                <a:solidFill>
                  <a:srgbClr val="0B1F3A"/>
                </a:solidFill>
                <a:latin typeface="Arial"/>
              </a:rPr>
              <a:t>1.86</a:t>
            </a:r>
            <a:endParaRPr sz="3000">
              <a:solidFill>
                <a:srgbClr val="0B1F3A"/>
              </a:solidFill>
            </a:endParaRPr>
          </a:p>
          <a:p>
            <a:pPr algn="ctr">
              <a:defRPr sz="3000">
                <a:solidFill>
                  <a:srgbClr val="0B1F3A"/>
                </a:solidFill>
              </a:defRPr>
            </a:pPr>
            <a:r>
              <a:rPr sz="2400" b="0">
                <a:solidFill>
                  <a:srgbClr val="0B1F3A"/>
                </a:solidFill>
                <a:latin typeface="Arial"/>
              </a:rPr>
              <a:t>out of 5</a:t>
            </a:r>
            <a:endParaRPr sz="3000">
              <a:solidFill>
                <a:srgbClr val="0B1F3A"/>
              </a:solidFill>
            </a:endParaRPr>
          </a:p>
        </p:txBody>
      </p:sp>
      <p:sp>
        <p:nvSpPr>
          <p:cNvPr id="4" name="Rectangle 3"/>
          <p:cNvSpPr/>
          <p:nvPr/>
        </p:nvSpPr>
        <p:spPr>
          <a:xfrm>
            <a:off x="5852160" y="1417320"/>
            <a:ext cx="5605272" cy="603504"/>
          </a:xfrm>
          <a:prstGeom prst="rect">
            <a:avLst/>
          </a:prstGeom>
          <a:solidFill>
            <a:srgbClr val="93C47D"/>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73152"/>
          <a:lstStyle>
            <a:lvl1pPr>
              <a:defRPr sz="2400">
                <a:solidFill>
                  <a:srgbClr val="111827"/>
                </a:solidFill>
              </a:defRPr>
            </a:lvl1pPr>
          </a:lstStyle>
          <a:p>
            <a:pPr algn="l">
              <a:defRPr sz="2400">
                <a:solidFill>
                  <a:srgbClr val="111827"/>
                </a:solidFill>
              </a:defRPr>
            </a:pPr>
            <a:r>
              <a:rPr sz="2400" b="1">
                <a:solidFill>
                  <a:srgbClr val="111827"/>
                </a:solidFill>
                <a:latin typeface="Arial"/>
              </a:rPr>
              <a:t>JEE Main or easier:  16 questions</a:t>
            </a:r>
            <a:endParaRPr sz="2400">
              <a:solidFill>
                <a:srgbClr val="111827"/>
              </a:solidFill>
            </a:endParaRPr>
          </a:p>
        </p:txBody>
      </p:sp>
      <p:sp>
        <p:nvSpPr>
          <p:cNvPr id="5" name="Rectangle 4"/>
          <p:cNvSpPr/>
          <p:nvPr/>
        </p:nvSpPr>
        <p:spPr>
          <a:xfrm>
            <a:off x="5852160" y="2093976"/>
            <a:ext cx="5605272" cy="603504"/>
          </a:xfrm>
          <a:prstGeom prst="rect">
            <a:avLst/>
          </a:prstGeom>
          <a:solidFill>
            <a:srgbClr val="FFD966"/>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73152"/>
          <a:lstStyle>
            <a:lvl1pPr>
              <a:defRPr sz="2400">
                <a:solidFill>
                  <a:srgbClr val="111827"/>
                </a:solidFill>
              </a:defRPr>
            </a:lvl1pPr>
          </a:lstStyle>
          <a:p>
            <a:pPr algn="l">
              <a:defRPr sz="2400">
                <a:solidFill>
                  <a:srgbClr val="111827"/>
                </a:solidFill>
              </a:defRPr>
            </a:pPr>
            <a:r>
              <a:rPr sz="2400" b="1">
                <a:solidFill>
                  <a:srgbClr val="111827"/>
                </a:solidFill>
                <a:latin typeface="Arial"/>
              </a:rPr>
              <a:t>Below average:  35 questions</a:t>
            </a:r>
            <a:endParaRPr sz="2400">
              <a:solidFill>
                <a:srgbClr val="111827"/>
              </a:solidFill>
            </a:endParaRPr>
          </a:p>
        </p:txBody>
      </p:sp>
      <p:sp>
        <p:nvSpPr>
          <p:cNvPr id="6" name="Rectangle 5"/>
          <p:cNvSpPr/>
          <p:nvPr/>
        </p:nvSpPr>
        <p:spPr>
          <a:xfrm>
            <a:off x="5852160" y="2770632"/>
            <a:ext cx="5605272" cy="603504"/>
          </a:xfrm>
          <a:prstGeom prst="rect">
            <a:avLst/>
          </a:prstGeom>
          <a:solidFill>
            <a:srgbClr val="F6B26B"/>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73152"/>
          <a:lstStyle>
            <a:lvl1pPr>
              <a:defRPr sz="2400">
                <a:solidFill>
                  <a:srgbClr val="111827"/>
                </a:solidFill>
              </a:defRPr>
            </a:lvl1pPr>
          </a:lstStyle>
          <a:p>
            <a:pPr algn="l">
              <a:defRPr sz="2400">
                <a:solidFill>
                  <a:srgbClr val="111827"/>
                </a:solidFill>
              </a:defRPr>
            </a:pPr>
            <a:r>
              <a:rPr sz="2400" b="1">
                <a:solidFill>
                  <a:srgbClr val="111827"/>
                </a:solidFill>
                <a:latin typeface="Arial"/>
              </a:rPr>
              <a:t>Average Advanced:  8 questions</a:t>
            </a:r>
            <a:endParaRPr sz="2400">
              <a:solidFill>
                <a:srgbClr val="111827"/>
              </a:solidFill>
            </a:endParaRPr>
          </a:p>
        </p:txBody>
      </p:sp>
      <p:sp>
        <p:nvSpPr>
          <p:cNvPr id="7" name="Rectangle 6"/>
          <p:cNvSpPr/>
          <p:nvPr/>
        </p:nvSpPr>
        <p:spPr>
          <a:xfrm>
            <a:off x="5852160" y="3447288"/>
            <a:ext cx="5605272" cy="603504"/>
          </a:xfrm>
          <a:prstGeom prst="rect">
            <a:avLst/>
          </a:prstGeom>
          <a:solidFill>
            <a:srgbClr val="E88080"/>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73152"/>
          <a:lstStyle>
            <a:lvl1pPr>
              <a:defRPr sz="2400">
                <a:solidFill>
                  <a:srgbClr val="111827"/>
                </a:solidFill>
              </a:defRPr>
            </a:lvl1pPr>
          </a:lstStyle>
          <a:p>
            <a:pPr algn="l">
              <a:defRPr sz="2400">
                <a:solidFill>
                  <a:srgbClr val="111827"/>
                </a:solidFill>
              </a:defRPr>
            </a:pPr>
            <a:r>
              <a:rPr sz="2400" b="1">
                <a:solidFill>
                  <a:srgbClr val="111827"/>
                </a:solidFill>
                <a:latin typeface="Arial"/>
              </a:rPr>
              <a:t>Above average:  0 questions</a:t>
            </a:r>
            <a:endParaRPr sz="2400">
              <a:solidFill>
                <a:srgbClr val="111827"/>
              </a:solidFill>
            </a:endParaRPr>
          </a:p>
        </p:txBody>
      </p:sp>
      <p:sp>
        <p:nvSpPr>
          <p:cNvPr id="8" name="Rectangle 7"/>
          <p:cNvSpPr/>
          <p:nvPr/>
        </p:nvSpPr>
        <p:spPr>
          <a:xfrm>
            <a:off x="5852160" y="4123944"/>
            <a:ext cx="5605272" cy="603504"/>
          </a:xfrm>
          <a:prstGeom prst="rect">
            <a:avLst/>
          </a:prstGeom>
          <a:solidFill>
            <a:srgbClr val="CC4125"/>
          </a:solidFill>
          <a:ln w="19050">
            <a:solidFill>
              <a:srgbClr val="6B7280"/>
            </a:solidFill>
          </a:ln>
          <a:effectLst/>
        </p:spPr>
        <p:style>
          <a:lnRef idx="1">
            <a:schemeClr val="accent1"/>
          </a:lnRef>
          <a:fillRef idx="3">
            <a:schemeClr val="accent1"/>
          </a:fillRef>
          <a:effectRef idx="2">
            <a:schemeClr val="accent1"/>
          </a:effectRef>
          <a:fontRef idx="minor">
            <a:srgbClr val="FFFFFF"/>
          </a:fontRef>
        </p:style>
        <p:txBody>
          <a:bodyPr rtlCol="0" anchor="ctr" wrap="square" lIns="228600" rIns="228600" tIns="18288" bIns="73152"/>
          <a:lstStyle>
            <a:lvl1pPr>
              <a:defRPr sz="2400">
                <a:solidFill>
                  <a:srgbClr val="FFFFFF"/>
                </a:solidFill>
              </a:defRPr>
            </a:lvl1pPr>
          </a:lstStyle>
          <a:p>
            <a:pPr algn="l">
              <a:defRPr sz="2400">
                <a:solidFill>
                  <a:srgbClr val="FFFFFF"/>
                </a:solidFill>
              </a:defRPr>
            </a:pPr>
            <a:r>
              <a:rPr sz="2400" b="1">
                <a:solidFill>
                  <a:srgbClr val="FFFFFF"/>
                </a:solidFill>
                <a:latin typeface="Arial"/>
              </a:rPr>
              <a:t>Very difficult:  0 questions</a:t>
            </a:r>
            <a:endParaRPr sz="2400">
              <a:solidFill>
                <a:srgbClr val="FFFFFF"/>
              </a:solidFill>
            </a:endParaRPr>
          </a:p>
        </p:txBody>
      </p:sp>
      <p:sp>
        <p:nvSpPr>
          <p:cNvPr id="9" name="Rectangle 8"/>
          <p:cNvSpPr/>
          <p:nvPr/>
        </p:nvSpPr>
        <p:spPr>
          <a:xfrm>
            <a:off x="731520" y="5029200"/>
            <a:ext cx="10725912" cy="1097280"/>
          </a:xfrm>
          <a:prstGeom prst="rect">
            <a:avLst/>
          </a:prstGeom>
          <a:solidFill>
            <a:srgbClr val="FFFFFF"/>
          </a:solidFill>
          <a:ln w="19050">
            <a:no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ctr">
              <a:defRPr sz="2400">
                <a:solidFill>
                  <a:srgbClr val="111827"/>
                </a:solidFill>
              </a:defRPr>
            </a:pPr>
            <a:r>
              <a:rPr sz="2400" b="0">
                <a:solidFill>
                  <a:srgbClr val="111827"/>
                </a:solidFill>
                <a:latin typeface="Arial"/>
              </a:rPr>
              <a:t>Total: 59 questions, 236 marks.  Index = Σ(marks × level) ÷ Σ marks, on the 0-5 scale.</a:t>
            </a:r>
            <a:endParaRPr sz="2400">
              <a:solidFill>
                <a:srgbClr val="111827"/>
              </a:solidFill>
            </a:endParaRPr>
          </a:p>
        </p:txBody>
      </p:sp>
    </p:spTree>
  </p:cSld>
  <p:clrMapOvr>
    <a:masterClrMapping/>
  </p:clrMapOvr>
</p:sld>
</file>

<file path=ppt/slides/slide3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Difficulty Profile of the Paper</a:t>
            </a:r>
            <a:endParaRPr sz="3200">
              <a:solidFill>
                <a:srgbClr val="FFFFFF"/>
              </a:solidFill>
            </a:endParaRPr>
          </a:p>
        </p:txBody>
      </p:sp>
      <p:graphicFrame>
        <p:nvGraphicFramePr>
          <p:cNvPr id="3" name="Chart 2"/>
          <p:cNvGraphicFramePr>
            <a:graphicFrameLocks noGrp="1"/>
          </p:cNvGraphicFramePr>
          <p:nvPr/>
        </p:nvGraphicFramePr>
        <p:xfrm>
          <a:off x="457200" y="1280160"/>
          <a:ext cx="11274552" cy="5349240"/>
        </p:xfrm>
        <a:graphic>
          <a:graphicData uri="http://schemas.openxmlformats.org/drawingml/2006/chart">
            <c:chart xmlns:c="http://schemas.openxmlformats.org/drawingml/2006/chart" r:id="rId2"/>
          </a:graphicData>
        </a:graphic>
      </p:graphicFrame>
    </p:spTree>
  </p:cSld>
  <p:clrMapOvr>
    <a:masterClrMapping/>
  </p:clrMapOvr>
</p:sld>
</file>

<file path=ppt/slides/slide3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Comparison with JEE Advanced Papers</a:t>
            </a:r>
            <a:endParaRPr sz="3200">
              <a:solidFill>
                <a:srgbClr val="FFFFFF"/>
              </a:solidFill>
            </a:endParaRPr>
          </a:p>
        </p:txBody>
      </p:sp>
      <p:graphicFrame>
        <p:nvGraphicFramePr>
          <p:cNvPr id="3" name="Table 2"/>
          <p:cNvGraphicFramePr>
            <a:graphicFrameLocks noGrp="1"/>
          </p:cNvGraphicFramePr>
          <p:nvPr/>
        </p:nvGraphicFramePr>
        <p:xfrm>
          <a:off x="1661007" y="1371600"/>
          <a:ext cx="8869680" cy="4526280"/>
        </p:xfrm>
        <a:graphic>
          <a:graphicData uri="http://schemas.openxmlformats.org/drawingml/2006/table">
            <a:tbl>
              <a:tblPr firstRow="1" bandRow="1">
                <a:tableStyleId>{5C22544A-7EE6-4342-B048-85BDC9FD1C3A}</a:tableStyleId>
              </a:tblPr>
              <a:tblGrid>
                <a:gridCol w="5760720"/>
                <a:gridCol w="3108960"/>
              </a:tblGrid>
              <a:tr h="685800">
                <a:tc>
                  <a:txBody>
                    <a:bodyPr/>
                    <a:lstStyle/>
                    <a:p>
                      <a:pPr algn="ctr"/>
                      <a:r>
                        <a:rPr sz="2600" b="1">
                          <a:solidFill>
                            <a:srgbClr val="FFFFFF"/>
                          </a:solidFill>
                          <a:latin typeface="Arial"/>
                        </a:rPr>
                        <a:t>Paper</a:t>
                      </a:r>
                    </a:p>
                  </a:txBody>
                  <a:tcPr anchor="ctr" marL="137160" marR="137160">
                    <a:solidFill>
                      <a:srgbClr val="0B1F3A"/>
                    </a:solidFill>
                  </a:tcPr>
                </a:tc>
                <a:tc>
                  <a:txBody>
                    <a:bodyPr/>
                    <a:lstStyle/>
                    <a:p>
                      <a:pPr algn="ctr"/>
                      <a:r>
                        <a:rPr sz="2600" b="1">
                          <a:solidFill>
                            <a:srgbClr val="FFFFFF"/>
                          </a:solidFill>
                          <a:latin typeface="Arial"/>
                        </a:rPr>
                        <a:t>Difficulty Index</a:t>
                      </a:r>
                    </a:p>
                  </a:txBody>
                  <a:tcPr anchor="ctr" marL="137160" marR="137160">
                    <a:solidFill>
                      <a:srgbClr val="0B1F3A"/>
                    </a:solidFill>
                  </a:tcPr>
                </a:tc>
              </a:tr>
              <a:tr h="640080">
                <a:tc>
                  <a:txBody>
                    <a:bodyPr/>
                    <a:lstStyle/>
                    <a:p>
                      <a:pPr algn="l"/>
                      <a:r>
                        <a:rPr sz="2600" b="0">
                          <a:solidFill>
                            <a:srgbClr val="111827"/>
                          </a:solidFill>
                          <a:latin typeface="Arial"/>
                        </a:rPr>
                        <a:t>JEE Advanced 2021</a:t>
                      </a:r>
                    </a:p>
                  </a:txBody>
                  <a:tcPr anchor="ctr" marL="137160" marR="137160">
                    <a:solidFill>
                      <a:srgbClr val="FFFFFF"/>
                    </a:solidFill>
                  </a:tcPr>
                </a:tc>
                <a:tc>
                  <a:txBody>
                    <a:bodyPr/>
                    <a:lstStyle/>
                    <a:p>
                      <a:pPr algn="ctr"/>
                      <a:r>
                        <a:rPr sz="2600" b="1">
                          <a:solidFill>
                            <a:srgbClr val="111827"/>
                          </a:solidFill>
                          <a:latin typeface="Arial"/>
                        </a:rPr>
                        <a:t>2.76</a:t>
                      </a:r>
                    </a:p>
                  </a:txBody>
                  <a:tcPr anchor="ctr" marL="137160" marR="137160">
                    <a:solidFill>
                      <a:srgbClr val="FFFFFF"/>
                    </a:solidFill>
                  </a:tcPr>
                </a:tc>
              </a:tr>
              <a:tr h="640080">
                <a:tc>
                  <a:txBody>
                    <a:bodyPr/>
                    <a:lstStyle/>
                    <a:p>
                      <a:pPr algn="l"/>
                      <a:r>
                        <a:rPr sz="2600" b="0">
                          <a:solidFill>
                            <a:srgbClr val="111827"/>
                          </a:solidFill>
                          <a:latin typeface="Arial"/>
                        </a:rPr>
                        <a:t>JEE Advanced 2023</a:t>
                      </a:r>
                    </a:p>
                  </a:txBody>
                  <a:tcPr anchor="ctr" marL="137160" marR="137160">
                    <a:solidFill>
                      <a:srgbClr val="FFFFFF"/>
                    </a:solidFill>
                  </a:tcPr>
                </a:tc>
                <a:tc>
                  <a:txBody>
                    <a:bodyPr/>
                    <a:lstStyle/>
                    <a:p>
                      <a:pPr algn="ctr"/>
                      <a:r>
                        <a:rPr sz="2600" b="1">
                          <a:solidFill>
                            <a:srgbClr val="111827"/>
                          </a:solidFill>
                          <a:latin typeface="Arial"/>
                        </a:rPr>
                        <a:t>3.19</a:t>
                      </a:r>
                    </a:p>
                  </a:txBody>
                  <a:tcPr anchor="ctr" marL="137160" marR="137160">
                    <a:solidFill>
                      <a:srgbClr val="FFFFFF"/>
                    </a:solidFill>
                  </a:tcPr>
                </a:tc>
              </a:tr>
              <a:tr h="640080">
                <a:tc>
                  <a:txBody>
                    <a:bodyPr/>
                    <a:lstStyle/>
                    <a:p>
                      <a:pPr algn="l"/>
                      <a:r>
                        <a:rPr sz="2600" b="0">
                          <a:solidFill>
                            <a:srgbClr val="111827"/>
                          </a:solidFill>
                          <a:latin typeface="Arial"/>
                        </a:rPr>
                        <a:t>JEE Advanced 2024</a:t>
                      </a:r>
                    </a:p>
                  </a:txBody>
                  <a:tcPr anchor="ctr" marL="137160" marR="137160">
                    <a:solidFill>
                      <a:srgbClr val="FFFFFF"/>
                    </a:solidFill>
                  </a:tcPr>
                </a:tc>
                <a:tc>
                  <a:txBody>
                    <a:bodyPr/>
                    <a:lstStyle/>
                    <a:p>
                      <a:pPr algn="ctr"/>
                      <a:r>
                        <a:rPr sz="2600" b="1">
                          <a:solidFill>
                            <a:srgbClr val="111827"/>
                          </a:solidFill>
                          <a:latin typeface="Arial"/>
                        </a:rPr>
                        <a:t>2.59</a:t>
                      </a:r>
                    </a:p>
                  </a:txBody>
                  <a:tcPr anchor="ctr" marL="137160" marR="137160">
                    <a:solidFill>
                      <a:srgbClr val="FFFFFF"/>
                    </a:solidFill>
                  </a:tcPr>
                </a:tc>
              </a:tr>
              <a:tr h="640080">
                <a:tc>
                  <a:txBody>
                    <a:bodyPr/>
                    <a:lstStyle/>
                    <a:p>
                      <a:pPr algn="l"/>
                      <a:r>
                        <a:rPr sz="2600" b="0">
                          <a:solidFill>
                            <a:srgbClr val="111827"/>
                          </a:solidFill>
                          <a:latin typeface="Arial"/>
                        </a:rPr>
                        <a:t>JEE Advanced 2025</a:t>
                      </a:r>
                    </a:p>
                  </a:txBody>
                  <a:tcPr anchor="ctr" marL="137160" marR="137160">
                    <a:solidFill>
                      <a:srgbClr val="FFFFFF"/>
                    </a:solidFill>
                  </a:tcPr>
                </a:tc>
                <a:tc>
                  <a:txBody>
                    <a:bodyPr/>
                    <a:lstStyle/>
                    <a:p>
                      <a:pPr algn="ctr"/>
                      <a:r>
                        <a:rPr sz="2600" b="1">
                          <a:solidFill>
                            <a:srgbClr val="111827"/>
                          </a:solidFill>
                          <a:latin typeface="Arial"/>
                        </a:rPr>
                        <a:t>3.21</a:t>
                      </a:r>
                    </a:p>
                  </a:txBody>
                  <a:tcPr anchor="ctr" marL="137160" marR="137160">
                    <a:solidFill>
                      <a:srgbClr val="FFFFFF"/>
                    </a:solidFill>
                  </a:tcPr>
                </a:tc>
              </a:tr>
              <a:tr h="640080">
                <a:tc>
                  <a:txBody>
                    <a:bodyPr/>
                    <a:lstStyle/>
                    <a:p>
                      <a:pPr algn="l"/>
                      <a:r>
                        <a:rPr sz="2600" b="0">
                          <a:solidFill>
                            <a:srgbClr val="111827"/>
                          </a:solidFill>
                          <a:latin typeface="Arial"/>
                        </a:rPr>
                        <a:t>JEE Advanced 2026</a:t>
                      </a:r>
                    </a:p>
                  </a:txBody>
                  <a:tcPr anchor="ctr" marL="137160" marR="137160">
                    <a:solidFill>
                      <a:srgbClr val="FFFFFF"/>
                    </a:solidFill>
                  </a:tcPr>
                </a:tc>
                <a:tc>
                  <a:txBody>
                    <a:bodyPr/>
                    <a:lstStyle/>
                    <a:p>
                      <a:pPr algn="ctr"/>
                      <a:r>
                        <a:rPr sz="2600" b="1">
                          <a:solidFill>
                            <a:srgbClr val="111827"/>
                          </a:solidFill>
                          <a:latin typeface="Arial"/>
                        </a:rPr>
                        <a:t>3.02</a:t>
                      </a:r>
                    </a:p>
                  </a:txBody>
                  <a:tcPr anchor="ctr" marL="137160" marR="137160">
                    <a:solidFill>
                      <a:srgbClr val="FFFFFF"/>
                    </a:solidFill>
                  </a:tcPr>
                </a:tc>
              </a:tr>
              <a:tr h="640080">
                <a:tc>
                  <a:txBody>
                    <a:bodyPr/>
                    <a:lstStyle/>
                    <a:p>
                      <a:pPr algn="l"/>
                      <a:r>
                        <a:rPr sz="2600" b="1">
                          <a:solidFill>
                            <a:srgbClr val="0B1F3A"/>
                          </a:solidFill>
                          <a:latin typeface="Arial"/>
                        </a:rPr>
                        <a:t>Application of Derivatives (Exercise J-M) XII Sheet · Application of Derivative · detailed solutions</a:t>
                      </a:r>
                    </a:p>
                  </a:txBody>
                  <a:tcPr anchor="ctr" marL="137160" marR="137160">
                    <a:solidFill>
                      <a:srgbClr val="E0ECFF"/>
                    </a:solidFill>
                  </a:tcPr>
                </a:tc>
                <a:tc>
                  <a:txBody>
                    <a:bodyPr/>
                    <a:lstStyle/>
                    <a:p>
                      <a:pPr algn="ctr"/>
                      <a:r>
                        <a:rPr sz="2600" b="1">
                          <a:solidFill>
                            <a:srgbClr val="0B1F3A"/>
                          </a:solidFill>
                          <a:latin typeface="Arial"/>
                        </a:rPr>
                        <a:t>1.86</a:t>
                      </a:r>
                    </a:p>
                  </a:txBody>
                  <a:tcPr anchor="ctr" marL="137160" marR="137160">
                    <a:solidFill>
                      <a:srgbClr val="E0ECFF"/>
                    </a:solidFill>
                  </a:tcPr>
                </a:tc>
              </a:tr>
            </a:tbl>
          </a:graphicData>
        </a:graphic>
      </p:graphicFrame>
      <p:sp>
        <p:nvSpPr>
          <p:cNvPr id="4" name="TextBox 3"/>
          <p:cNvSpPr txBox="1"/>
          <p:nvPr/>
        </p:nvSpPr>
        <p:spPr>
          <a:xfrm>
            <a:off x="731520" y="6080759"/>
            <a:ext cx="10725912" cy="457200"/>
          </a:xfrm>
          <a:prstGeom prst="rect">
            <a:avLst/>
          </a:prstGeom>
          <a:noFill/>
        </p:spPr>
        <p:txBody>
          <a:bodyPr wrap="none">
            <a:spAutoFit/>
          </a:bodyPr>
          <a:lstStyle>
            <a:lvl1pPr>
              <a:defRPr sz="2000">
                <a:solidFill>
                  <a:srgbClr val="111827"/>
                </a:solidFill>
              </a:defRPr>
            </a:lvl1pPr>
          </a:lstStyle>
          <a:p>
            <a:pPr algn="ctr">
              <a:defRPr sz="2000">
                <a:solidFill>
                  <a:srgbClr val="111827"/>
                </a:solidFill>
              </a:defRPr>
            </a:pPr>
            <a:r>
              <a:rPr sz="2000" b="0">
                <a:solidFill>
                  <a:srgbClr val="111827"/>
                </a:solidFill>
                <a:latin typeface="Arial"/>
              </a:rPr>
              <a:t>Marks-weighted difficulty index on the 0-5 scale</a:t>
            </a:r>
            <a:endParaRPr sz="2000">
              <a:solidFill>
                <a:srgbClr val="111827"/>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