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B6D7A8"/>
              </a:solidFill>
              <a:ln w="9525">
                <a:solidFill>
                  <a:srgbClr val="111827"/>
                </a:solidFill>
              </a:ln>
            </c:spPr>
          </c:dPt>
          <c:dPt>
            <c:idx val="1"/>
            <c:spPr>
              <a:solidFill>
                <a:srgbClr val="FFD966"/>
              </a:solidFill>
              <a:ln w="9525">
                <a:solidFill>
                  <a:srgbClr val="111827"/>
                </a:solidFill>
              </a:ln>
            </c:spPr>
          </c:dPt>
          <c:dPt>
            <c:idx val="2"/>
            <c:spPr>
              <a:solidFill>
                <a:srgbClr val="F6B26B"/>
              </a:solidFill>
              <a:ln w="9525">
                <a:solidFill>
                  <a:srgbClr val="111827"/>
                </a:solidFill>
              </a:ln>
            </c:spPr>
          </c:dPt>
          <c:dPt>
            <c:idx val="3"/>
            <c:spPr>
              <a:solidFill>
                <a:srgbClr val="FFD966"/>
              </a:solidFill>
              <a:ln w="9525">
                <a:solidFill>
                  <a:srgbClr val="111827"/>
                </a:solidFill>
              </a:ln>
            </c:spPr>
          </c:dPt>
          <c:dPt>
            <c:idx val="4"/>
            <c:spPr>
              <a:solidFill>
                <a:srgbClr val="FFD966"/>
              </a:solidFill>
              <a:ln w="9525">
                <a:solidFill>
                  <a:srgbClr val="111827"/>
                </a:solidFill>
              </a:ln>
            </c:spPr>
          </c:dPt>
          <c:dPt>
            <c:idx val="5"/>
            <c:spPr>
              <a:solidFill>
                <a:srgbClr val="E88080"/>
              </a:solidFill>
              <a:ln w="9525">
                <a:solidFill>
                  <a:srgbClr val="111827"/>
                </a:solidFill>
              </a:ln>
            </c:spPr>
          </c:dPt>
          <c:dPt>
            <c:idx val="6"/>
            <c:spPr>
              <a:solidFill>
                <a:srgbClr val="FFD966"/>
              </a:solidFill>
              <a:ln w="9525">
                <a:solidFill>
                  <a:srgbClr val="111827"/>
                </a:solidFill>
              </a:ln>
            </c:spPr>
          </c:dPt>
          <c:dPt>
            <c:idx val="7"/>
            <c:spPr>
              <a:solidFill>
                <a:srgbClr val="F6B26B"/>
              </a:solidFill>
              <a:ln w="9525">
                <a:solidFill>
                  <a:srgbClr val="111827"/>
                </a:solidFill>
              </a:ln>
            </c:spPr>
          </c:dPt>
          <c:dPt>
            <c:idx val="8"/>
            <c:spPr>
              <a:solidFill>
                <a:srgbClr val="F6B26B"/>
              </a:solidFill>
              <a:ln w="9525">
                <a:solidFill>
                  <a:srgbClr val="111827"/>
                </a:solidFill>
              </a:ln>
            </c:spPr>
          </c:dPt>
          <c:dPt>
            <c:idx val="9"/>
            <c:spPr>
              <a:solidFill>
                <a:srgbClr val="B6D7A8"/>
              </a:solidFill>
              <a:ln w="9525">
                <a:solidFill>
                  <a:srgbClr val="111827"/>
                </a:solidFill>
              </a:ln>
            </c:spPr>
          </c:dPt>
          <c:dPt>
            <c:idx val="10"/>
            <c:spPr>
              <a:solidFill>
                <a:srgbClr val="FFD966"/>
              </a:solidFill>
              <a:ln w="9525">
                <a:solidFill>
                  <a:srgbClr val="111827"/>
                </a:solidFill>
              </a:ln>
            </c:spPr>
          </c:dPt>
          <c:dPt>
            <c:idx val="11"/>
            <c:spPr>
              <a:solidFill>
                <a:srgbClr val="F6B26B"/>
              </a:solidFill>
              <a:ln w="9525">
                <a:solidFill>
                  <a:srgbClr val="111827"/>
                </a:solidFill>
              </a:ln>
            </c:spPr>
          </c:dPt>
          <c:dPt>
            <c:idx val="12"/>
            <c:spPr>
              <a:solidFill>
                <a:srgbClr val="FFD966"/>
              </a:solidFill>
              <a:ln w="9525">
                <a:solidFill>
                  <a:srgbClr val="111827"/>
                </a:solidFill>
              </a:ln>
            </c:spPr>
          </c:dPt>
          <c:dPt>
            <c:idx val="13"/>
            <c:spPr>
              <a:solidFill>
                <a:srgbClr val="F6B26B"/>
              </a:solidFill>
              <a:ln w="9525">
                <a:solidFill>
                  <a:srgbClr val="111827"/>
                </a:solidFill>
              </a:ln>
            </c:spPr>
          </c:dPt>
          <c:dPt>
            <c:idx val="14"/>
            <c:spPr>
              <a:solidFill>
                <a:srgbClr val="FFD966"/>
              </a:solidFill>
              <a:ln w="9525">
                <a:solidFill>
                  <a:srgbClr val="111827"/>
                </a:solidFill>
              </a:ln>
            </c:spPr>
          </c:dPt>
          <c:dPt>
            <c:idx val="15"/>
            <c:spPr>
              <a:solidFill>
                <a:srgbClr val="FFD966"/>
              </a:solidFill>
              <a:ln w="9525">
                <a:solidFill>
                  <a:srgbClr val="111827"/>
                </a:solidFill>
              </a:ln>
            </c:spPr>
          </c:dPt>
          <c:dPt>
            <c:idx val="16"/>
            <c:spPr>
              <a:solidFill>
                <a:srgbClr val="F6B26B"/>
              </a:solidFill>
              <a:ln w="9525">
                <a:solidFill>
                  <a:srgbClr val="111827"/>
                </a:solidFill>
              </a:ln>
            </c:spPr>
          </c:dPt>
          <c:dPt>
            <c:idx val="17"/>
            <c:spPr>
              <a:solidFill>
                <a:srgbClr val="E88080"/>
              </a:solidFill>
              <a:ln w="9525">
                <a:solidFill>
                  <a:srgbClr val="111827"/>
                </a:solidFill>
              </a:ln>
            </c:spPr>
          </c:dPt>
          <c:dPt>
            <c:idx val="18"/>
            <c:spPr>
              <a:solidFill>
                <a:srgbClr val="F6B26B"/>
              </a:solidFill>
              <a:ln w="9525">
                <a:solidFill>
                  <a:srgbClr val="111827"/>
                </a:solidFill>
              </a:ln>
            </c:spPr>
          </c:dPt>
          <c:dPt>
            <c:idx val="19"/>
            <c:spPr>
              <a:solidFill>
                <a:srgbClr val="F6B26B"/>
              </a:solidFill>
              <a:ln w="9525">
                <a:solidFill>
                  <a:srgbClr val="111827"/>
                </a:solidFill>
              </a:ln>
            </c:spPr>
          </c:dPt>
          <c:dPt>
            <c:idx val="20"/>
            <c:spPr>
              <a:solidFill>
                <a:srgbClr val="F6B26B"/>
              </a:solidFill>
              <a:ln w="9525">
                <a:solidFill>
                  <a:srgbClr val="111827"/>
                </a:solidFill>
              </a:ln>
            </c:spPr>
          </c:dPt>
          <c:dPt>
            <c:idx val="21"/>
            <c:spPr>
              <a:solidFill>
                <a:srgbClr val="FFD966"/>
              </a:solidFill>
              <a:ln w="9525">
                <a:solidFill>
                  <a:srgbClr val="111827"/>
                </a:solidFill>
              </a:ln>
            </c:spPr>
          </c:dPt>
          <c:dPt>
            <c:idx val="22"/>
            <c:spPr>
              <a:solidFill>
                <a:srgbClr val="FFD966"/>
              </a:solidFill>
              <a:ln w="9525">
                <a:solidFill>
                  <a:srgbClr val="111827"/>
                </a:solidFill>
              </a:ln>
            </c:spPr>
          </c:dPt>
          <c:dPt>
            <c:idx val="23"/>
            <c:spPr>
              <a:solidFill>
                <a:srgbClr val="F6B26B"/>
              </a:solidFill>
              <a:ln w="9525">
                <a:solidFill>
                  <a:srgbClr val="111827"/>
                </a:solidFill>
              </a:ln>
            </c:spPr>
          </c:dPt>
          <c:dPt>
            <c:idx val="24"/>
            <c:spPr>
              <a:solidFill>
                <a:srgbClr val="B6D7A8"/>
              </a:solidFill>
              <a:ln w="9525">
                <a:solidFill>
                  <a:srgbClr val="111827"/>
                </a:solidFill>
              </a:ln>
            </c:spPr>
          </c:dPt>
          <c:dPt>
            <c:idx val="25"/>
            <c:spPr>
              <a:solidFill>
                <a:srgbClr val="F6B26B"/>
              </a:solidFill>
              <a:ln w="9525">
                <a:solidFill>
                  <a:srgbClr val="111827"/>
                </a:solidFill>
              </a:ln>
            </c:spPr>
          </c:dPt>
          <c:dPt>
            <c:idx val="26"/>
            <c:spPr>
              <a:solidFill>
                <a:srgbClr val="FFD966"/>
              </a:solidFill>
              <a:ln w="9525">
                <a:solidFill>
                  <a:srgbClr val="111827"/>
                </a:solidFill>
              </a:ln>
            </c:spPr>
          </c:dPt>
          <c:dPt>
            <c:idx val="27"/>
            <c:spPr>
              <a:solidFill>
                <a:srgbClr val="FFD966"/>
              </a:solidFill>
              <a:ln w="9525">
                <a:solidFill>
                  <a:srgbClr val="111827"/>
                </a:solidFill>
              </a:ln>
            </c:spPr>
          </c:dPt>
          <c:dPt>
            <c:idx val="28"/>
            <c:spPr>
              <a:solidFill>
                <a:srgbClr val="F6B26B"/>
              </a:solidFill>
              <a:ln w="9525">
                <a:solidFill>
                  <a:srgbClr val="111827"/>
                </a:solidFill>
              </a:ln>
            </c:spPr>
          </c:dPt>
          <c:dPt>
            <c:idx val="29"/>
            <c:spPr>
              <a:solidFill>
                <a:srgbClr val="E88080"/>
              </a:solidFill>
              <a:ln w="9525">
                <a:solidFill>
                  <a:srgbClr val="111827"/>
                </a:solidFill>
              </a:ln>
            </c:spPr>
          </c:dPt>
          <c:dPt>
            <c:idx val="30"/>
            <c:spPr>
              <a:solidFill>
                <a:srgbClr val="F6B26B"/>
              </a:solidFill>
              <a:ln w="9525">
                <a:solidFill>
                  <a:srgbClr val="111827"/>
                </a:solidFill>
              </a:ln>
            </c:spPr>
          </c:dPt>
          <c:cat>
            <c:strRef>
              <c:f>Sheet1!$A$2:$A$32</c:f>
              <c:strCache>
                <c:ptCount val="31"/>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pt idx="20">
                  <c:v>Q21</c:v>
                </c:pt>
                <c:pt idx="21">
                  <c:v>Q22</c:v>
                </c:pt>
                <c:pt idx="22">
                  <c:v>Q23</c:v>
                </c:pt>
                <c:pt idx="23">
                  <c:v>Q24</c:v>
                </c:pt>
                <c:pt idx="24">
                  <c:v>Q25</c:v>
                </c:pt>
                <c:pt idx="25">
                  <c:v>Q26</c:v>
                </c:pt>
                <c:pt idx="26">
                  <c:v>Q27</c:v>
                </c:pt>
                <c:pt idx="27">
                  <c:v>Q28</c:v>
                </c:pt>
                <c:pt idx="28">
                  <c:v>Q29</c:v>
                </c:pt>
                <c:pt idx="29">
                  <c:v>Q30</c:v>
                </c:pt>
                <c:pt idx="30">
                  <c:v>Q31</c:v>
                </c:pt>
              </c:strCache>
            </c:strRef>
          </c:cat>
          <c:val>
            <c:numRef>
              <c:f>Sheet1!$B$2:$B$32</c:f>
              <c:numCache>
                <c:formatCode>General</c:formatCode>
                <c:ptCount val="31"/>
                <c:pt idx="0">
                  <c:v>1.0</c:v>
                </c:pt>
                <c:pt idx="1">
                  <c:v>2.0</c:v>
                </c:pt>
                <c:pt idx="2">
                  <c:v>3.0</c:v>
                </c:pt>
                <c:pt idx="3">
                  <c:v>2.0</c:v>
                </c:pt>
                <c:pt idx="4">
                  <c:v>2.0</c:v>
                </c:pt>
                <c:pt idx="5">
                  <c:v>4.0</c:v>
                </c:pt>
                <c:pt idx="6">
                  <c:v>2.0</c:v>
                </c:pt>
                <c:pt idx="7">
                  <c:v>3.0</c:v>
                </c:pt>
                <c:pt idx="8">
                  <c:v>3.0</c:v>
                </c:pt>
                <c:pt idx="9">
                  <c:v>1.0</c:v>
                </c:pt>
                <c:pt idx="10">
                  <c:v>2.0</c:v>
                </c:pt>
                <c:pt idx="11">
                  <c:v>3.0</c:v>
                </c:pt>
                <c:pt idx="12">
                  <c:v>2.0</c:v>
                </c:pt>
                <c:pt idx="13">
                  <c:v>3.0</c:v>
                </c:pt>
                <c:pt idx="14">
                  <c:v>2.0</c:v>
                </c:pt>
                <c:pt idx="15">
                  <c:v>2.0</c:v>
                </c:pt>
                <c:pt idx="16">
                  <c:v>3.0</c:v>
                </c:pt>
                <c:pt idx="17">
                  <c:v>4.0</c:v>
                </c:pt>
                <c:pt idx="18">
                  <c:v>3.0</c:v>
                </c:pt>
                <c:pt idx="19">
                  <c:v>3.0</c:v>
                </c:pt>
                <c:pt idx="20">
                  <c:v>3.0</c:v>
                </c:pt>
                <c:pt idx="21">
                  <c:v>2.0</c:v>
                </c:pt>
                <c:pt idx="22">
                  <c:v>2.0</c:v>
                </c:pt>
                <c:pt idx="23">
                  <c:v>3.0</c:v>
                </c:pt>
                <c:pt idx="24">
                  <c:v>1.0</c:v>
                </c:pt>
                <c:pt idx="25">
                  <c:v>3.0</c:v>
                </c:pt>
                <c:pt idx="26">
                  <c:v>2.0</c:v>
                </c:pt>
                <c:pt idx="27">
                  <c:v>2.0</c:v>
                </c:pt>
                <c:pt idx="28">
                  <c:v>3.0</c:v>
                </c:pt>
                <c:pt idx="29">
                  <c:v>4.0</c:v>
                </c:pt>
                <c:pt idx="30">
                  <c:v>3.0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stops after writing the three cosine-rule formulas with the substituted squares; it never evaluates the cosines or forms the ratio that has to be proved. Steps 4-8 were added; the PDF's set-up (a = 7k, b = 6k, c = 5k)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cos A = (5 - a^2)/3. The denominator is 2bc = 4, so cos A = (5 - a^2)/4. With /3 the equation would give a^2 = 16/5, not the a^2 = 3 that the PDF uses next; the typo is corrected, the answer 9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angle C = 9*pi/7, which would make A + B + C = 12*pi/7. The correct value is C = 4*pi/7 (the PDF's later lines already use 4*pi/7 and 3*pi/7). Corrected; the answer 0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In the line 'cos A = 1 - 8 sin(B/2) sin^2(pi/4 - A/4)' the PDF has sin(B/2) where sin(A/2) is meant (the next lines use sin(A/2)). Corrected; the PDF's own steps after that (sin(A/2) = 2 - 2 sin(A/2) etc.) are written out in full in the clean form shown. Answer 9 unchanged.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For triangle ABD the PDF writes q/sin(theta_1) = 2R; the side opposite angle theta_1 in triangle ABD is BD = p (the PDF's next line p = 2R sin(theta_1) uses it correctly). Corrected to p/sin(theta_1) = 2R. All values and the answer 400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figure and working assume AB parallel to DC (a cyclic trapezoid), which the question does not give, and label an angle 30 degrees (it would be 60 degrees in an isosceles trapezoid); it finds only one arrangement (AB = 3, BC = 2). Rewritten using only the given data: opposite angles supplementary, area and the common diagonal. It shows that the other two sides are 3 and 2 in either order; the PDF's configuration is kept as the alternate (with the angle corrected). The answer 3 and 2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45R^2/64 for (7R/8)^2 (it is 49R^2/64; the PDF's next line, -56R^2/64, already uses 49), writes 'angle BDC = 120 deg' where angle CBD is meant, and gives the final arc as 7*pi*r/12 with a small r instead of R. Corrected; the answer 7*pi*R/12 is unchanged.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Two lines of the PDF are garbled: '2cos^2((A-B)/2) = a/5' (it should be 9/5, since 2cos^2((A-B)/2) = 1 + 4/5) and 'cos((A-B)/2) = 3/sqrt10 = A/K' (the last equality is meaningless). The cleaned lines are shown; the method, the value C = 90 degrees and the answer 9 are as in the PDF.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proves (i) =&gt; (ii) (via a = b, A = B), but its step for (ii) and for (iii) both start from the already derived A = B and C = pi - 2A instead of from (ii) itself, the working stops mid-line at an unsimplified expression, and the implication (iii) =&gt; (i) is not shown at all. A complete chain was written: (ii) =&gt; (iii) derives A = B from (ii); (iii) =&gt; (i) is added using xy + yz + zx = 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working ends at the two values of the third side; it never shows the area that its answer line quotes. The last step (area = 1/2 * 4 * a * sin 30 degrees = a) was added.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B_2 = 2nR^2 tan(2*pi/n); replacing n by 2n in B_1 = nR^2 tan(pi/n) gives 2nR^2 tan(pi/(2n)) (the PDF's last line already uses tan(pi/2n)). Corrected; the formulas for A_1 and B_1, which the PDF takes from its figure, are written out in one line each.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uses r = 4R sin(A/2) sin(B/2) sin(C/2), which is the INRADIUS, not the radius of the escribed circle to the hypotenuse (r_a = 4R sin(A/2) cos(B/2) cos(C/2)); its later sign steps then produce cos(B + pi/4) = -sqrt3/2. For the stated ratio the inradius version has no solution (it needs sin B + cos B = 2 + sqrt(3/2) &gt; sqrt2). The working was rewritten with the exradius. The PDF's final answer B = 5pi/12, C = pi/12, b/c = 2 + sqrt3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After 'Multiplying it throughout by 24r' the PDF has the middle term as (r - 9)(r - 9); it should be (r - 4)(r - 9) (from tan(B/2) tan(C/2)). It also prints '6r^2 = 72r + 66 = 0' for 6r^2 - 72r + 66 = 0. Corrected; the quadratic r^2 - 12r + 11 = 0 and the answer r = 11 are the PDF's.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figure and working place A directly above P (the symmetric position) without saying so; the question only fixes the distance of A from l. The value 3 holds for every position of A on the parallel line (proved in the alternate and checked numerically for several positions), so the answer is unchanged; the assumption is now stated.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stops at the equation 7/(4R^2) = 1 - 6/(8R^3) and states R = 3/2 in the answer line without solving the cubic 4R^3 - 7R - 3 = 0 (roots 3/2, -1/2, -1), and it does not give the numerical values of (a) and (b). These steps were added; the expressions 3/(14R) and 9/(8R^3) and R = 3/2 are the PDF's. A triangle with these data exists (angles about 66.1, 48.2 and 65.7 degrees, all acute).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proves (s-a)(s-b)(s-c) &lt;= abc/8 and stops there: it does not carry the result back to the required inequality through Heron's formula and does not treat the equality case that the question asks for. Those two parts (steps 5-8) were added; the Ravi substitution and the A.M.-G.M. product are the PDF's.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PDF has no usable solution for this question; the solution was written by Claude.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(A) The PDF writes cos A = (b^2+c^2-a^2)/(bc) = lambda - 2 (the factor 2 is missing; it is 2cos A) and then takes cos A = 1 'to get lambda = 3'; cos A = 1 is impossible in a triangle. Correct: 2cos A = lambda - 2 lies in (-2, 2), so 0 &lt; lambda &lt; 4 and the greatest integer lambda is 3 (answer unchanged). (B) The key B -&gt; Q is the A.M.-G.M. bound 9*3^(1/3) = 12.98, but it is NOT the least value of k: equality would need tan A = tan B = tan C = t with 3t = t^3 = 9, which is impossible. The stronger QM-AM bound gives k &gt;= 81/3 = 27, and the actual minimum (two equal tangents, 2t^3 - 9t^2 + 9 = 0, t = 4.251) is about 36.39, which is not in Column II. So the question itself is flawed; the keyed match B -&gt; Q is the bound the PDF derives. (D) The relation sign printed between tan((A-B)/2) and 1/sqrt63 in the PDF is garbled; it is an equality.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(B) The PDF replaces r1 + r2 by its minimum 2(sqrt2+1) inside r = [-(r1+r2) + sqrt((r1+r2)^2 + 4 r1 r2)]/2 and concludes r &gt;= 1. But r decreases as r1 + r2 grows, so the minimum of r1 + r2 gives the MAXIMUM of r: r &lt;= 1, with equality only when r1 = r2. The statement 'r &gt;= 1' (option P) is therefore false in general, and the key B -&gt; P is wrong (the correct statement would be r &lt;= 1; none of the listed options expresses it). (C) The PDF's circle-property step 'AE x AB = AD^2' is rewritten as the equal-tangent-length (radical axis) argument; same result. (D) is the PDF's result with the working shortened to the contact-point lengths. (A) is as in the PDF.</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SHEET Solution of Triangle (C2) — Paper Analysis</a:t>
            </a:r>
            <a:endParaRPr sz="4000">
              <a:solidFill>
                <a:srgbClr val="FFFFFF"/>
              </a:solidFill>
            </a:endParaRPr>
          </a:p>
          <a:p>
            <a:pPr algn="ctr"/>
            <a:r>
              <a:rPr sz="2200">
                <a:solidFill>
                  <a:srgbClr val="FFFFFF"/>
                </a:solidFill>
                <a:latin typeface="Arial"/>
              </a:rPr>
              <a:t>Exercise C-II (Solution of Triangle)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Subjective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(no marks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Prove / find; complete solution with alternate method and result</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96545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With usual notation, if in 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11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13</m:t>
                        </m:r>
                      </m:den>
                    </m:f>
                  </m:oMath>
                </a14:m>
                <a:r>
                  <a:rPr sz="2400" b="0">
                    <a:solidFill>
                      <a:srgbClr val="111827"/>
                    </a:solidFill>
                    <a:latin typeface="Arial"/>
                  </a:rPr>
                  <a:t>; then prove that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19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96545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With usual notation, if in a </a:t>
                </a:r>
                <a:r>
                  <a:rPr lang="en-IN" sz="2400">
                    <a:solidFill>
                      <a:srgbClr val="111827"/>
                    </a:solidFill>
                    <a:latin typeface="Cambria Math" panose="02040503050406030204" pitchFamily="18" charset="0"/>
                  </a:rPr>
                  <a:t>$\triangle ABC$</a:t>
                </a:r>
                <a:r>
                  <a:rPr sz="2400" b="0">
                    <a:solidFill>
                      <a:srgbClr val="111827"/>
                    </a:solidFill>
                    <a:latin typeface="Arial"/>
                  </a:rPr>
                  <a:t>, </a:t>
                </a:r>
                <a:r>
                  <a:rPr lang="en-IN" sz="2400">
                    <a:solidFill>
                      <a:srgbClr val="111827"/>
                    </a:solidFill>
                    <a:latin typeface="Cambria Math" panose="02040503050406030204" pitchFamily="18" charset="0"/>
                  </a:rPr>
                  <a:t>$\frac{b+c}{11}=\frac{c+a}{12}=\frac{a+b}{13}$</a:t>
                </a:r>
                <a:r>
                  <a:rPr sz="2400" b="0">
                    <a:solidFill>
                      <a:srgbClr val="111827"/>
                    </a:solidFill>
                    <a:latin typeface="Arial"/>
                  </a:rPr>
                  <a:t>; then prove that </a:t>
                </a:r>
                <a:r>
                  <a:rPr lang="en-IN" sz="2400">
                    <a:solidFill>
                      <a:srgbClr val="111827"/>
                    </a:solidFill>
                    <a:latin typeface="Cambria Math" panose="02040503050406030204" pitchFamily="18" charset="0"/>
                  </a:rPr>
                  <a:t>$\frac{\cos A}{7}=\frac{\cos B}{19}=\frac{\cos C}{25}$</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47421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Sine and cosine rules: sides, angles and ratios of cosines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Turn the three sums into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5</m:t>
                    </m:r>
                  </m:oMath>
                </a14:m>
                <a:r>
                  <a:rPr sz="2400" b="0">
                    <a:solidFill>
                      <a:srgbClr val="78350F"/>
                    </a:solidFill>
                    <a:latin typeface="Arial"/>
                  </a:rPr>
                  <a:t>, then evaluate each cosine with the cosine rule.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Turn the three sums into </a:t>
                </a:r>
                <a:r>
                  <a:rPr lang="en-IN" sz="2400">
                    <a:solidFill>
                      <a:srgbClr val="78350F"/>
                    </a:solidFill>
                    <a:latin typeface="Cambria Math" panose="02040503050406030204" pitchFamily="18" charset="0"/>
                  </a:rPr>
                  <a:t>$a:b:c=7:6:5$</a:t>
                </a:r>
                <a:r>
                  <a:rPr sz="2400" b="0">
                    <a:solidFill>
                      <a:srgbClr val="78350F"/>
                    </a:solidFill>
                    <a:latin typeface="Arial"/>
                  </a:rPr>
                  <a:t>, then evaluate each cosine with the cosine rule.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11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13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the three: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a:rPr lang="en-IN" sz="2400" i="1">
                        <a:solidFill>
                          <a:srgbClr val="111827"/>
                        </a:solidFill>
                        <a:latin typeface="Cambria Math" panose="02040503050406030204" pitchFamily="18" charset="0"/>
                      </a:rPr>
                      <m:t>𝑘</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Subtracting each given sum from </a:t>
                </a:r>
                <a14:m>
                  <m:oMath xmlns:m="http://schemas.openxmlformats.org/officeDocument/2006/math">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60</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$\frac{b+c}{11}=\frac{c+a}{12}=\frac{a+b}{13}=k$</a:t>
                </a:r>
                <a:r>
                  <a:rPr sz="2400" b="0">
                    <a:solidFill>
                      <a:srgbClr val="111827"/>
                    </a:solidFill>
                    <a:latin typeface="Arial"/>
                  </a:rPr>
                  <a:t>, so </a:t>
                </a:r>
                <a:r>
                  <a:rPr lang="en-IN" sz="2400">
                    <a:solidFill>
                      <a:srgbClr val="111827"/>
                    </a:solidFill>
                    <a:latin typeface="Cambria Math" panose="02040503050406030204" pitchFamily="18" charset="0"/>
                  </a:rPr>
                  <a:t>$b+c=11k$</a:t>
                </a:r>
                <a:r>
                  <a:rPr sz="2400" b="0">
                    <a:solidFill>
                      <a:srgbClr val="111827"/>
                    </a:solidFill>
                    <a:latin typeface="Arial"/>
                  </a:rPr>
                  <a:t>, </a:t>
                </a:r>
                <a:r>
                  <a:rPr lang="en-IN" sz="2400">
                    <a:solidFill>
                      <a:srgbClr val="111827"/>
                    </a:solidFill>
                    <a:latin typeface="Cambria Math" panose="02040503050406030204" pitchFamily="18" charset="0"/>
                  </a:rPr>
                  <a:t>$a+c=12k$</a:t>
                </a:r>
                <a:r>
                  <a:rPr sz="2400" b="0">
                    <a:solidFill>
                      <a:srgbClr val="111827"/>
                    </a:solidFill>
                    <a:latin typeface="Arial"/>
                  </a:rPr>
                  <a:t>, </a:t>
                </a:r>
                <a:r>
                  <a:rPr lang="en-IN" sz="2400">
                    <a:solidFill>
                      <a:srgbClr val="111827"/>
                    </a:solidFill>
                    <a:latin typeface="Cambria Math" panose="02040503050406030204" pitchFamily="18" charset="0"/>
                  </a:rPr>
                  <a:t>$a+b=13k$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the three: </a:t>
                </a:r>
                <a:r>
                  <a:rPr lang="en-IN" sz="2400">
                    <a:solidFill>
                      <a:srgbClr val="111827"/>
                    </a:solidFill>
                    <a:latin typeface="Cambria Math" panose="02040503050406030204" pitchFamily="18" charset="0"/>
                  </a:rPr>
                  <a:t>$2(a+b+c)=36k$</a:t>
                </a:r>
                <a:r>
                  <a:rPr sz="2400" b="0">
                    <a:solidFill>
                      <a:srgbClr val="111827"/>
                    </a:solidFill>
                    <a:latin typeface="Arial"/>
                  </a:rPr>
                  <a:t>, so </a:t>
                </a:r>
                <a:r>
                  <a:rPr lang="en-IN" sz="2400">
                    <a:solidFill>
                      <a:srgbClr val="111827"/>
                    </a:solidFill>
                    <a:latin typeface="Cambria Math" panose="02040503050406030204" pitchFamily="18" charset="0"/>
                  </a:rPr>
                  <a:t>$a+b+c=18k$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Subtracting each given sum from </a:t>
                </a:r>
                <a:r>
                  <a:rPr lang="en-IN" sz="2400">
                    <a:solidFill>
                      <a:srgbClr val="111827"/>
                    </a:solidFill>
                    <a:latin typeface="Cambria Math" panose="02040503050406030204" pitchFamily="18" charset="0"/>
                  </a:rPr>
                  <a:t>$18k$</a:t>
                </a:r>
                <a:r>
                  <a:rPr sz="2400" b="0">
                    <a:solidFill>
                      <a:srgbClr val="111827"/>
                    </a:solidFill>
                    <a:latin typeface="Arial"/>
                  </a:rPr>
                  <a:t>: </a:t>
                </a:r>
                <a:r>
                  <a:rPr lang="en-IN" sz="2400">
                    <a:solidFill>
                      <a:srgbClr val="111827"/>
                    </a:solidFill>
                    <a:latin typeface="Cambria Math" panose="02040503050406030204" pitchFamily="18" charset="0"/>
                  </a:rPr>
                  <a:t>$a=18k-11k=7k$</a:t>
                </a:r>
                <a:r>
                  <a:rPr sz="2400" b="0">
                    <a:solidFill>
                      <a:srgbClr val="111827"/>
                    </a:solidFill>
                    <a:latin typeface="Arial"/>
                  </a:rPr>
                  <a:t>, </a:t>
                </a:r>
                <a:r>
                  <a:rPr lang="en-IN" sz="2400">
                    <a:solidFill>
                      <a:srgbClr val="111827"/>
                    </a:solidFill>
                    <a:latin typeface="Cambria Math" panose="02040503050406030204" pitchFamily="18" charset="0"/>
                  </a:rPr>
                  <a:t>$b=18k-12k=6k$</a:t>
                </a:r>
                <a:r>
                  <a:rPr sz="2400" b="0">
                    <a:solidFill>
                      <a:srgbClr val="111827"/>
                    </a:solidFill>
                    <a:latin typeface="Arial"/>
                  </a:rPr>
                  <a:t>, </a:t>
                </a:r>
                <a:r>
                  <a:rPr lang="en-IN" sz="2400">
                    <a:solidFill>
                      <a:srgbClr val="111827"/>
                    </a:solidFill>
                    <a:latin typeface="Cambria Math" panose="02040503050406030204" pitchFamily="18" charset="0"/>
                  </a:rPr>
                  <a:t>$c=18k-13k=5k$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 A=\frac{b^2+c^2-a^2}{2bc}=\frac{36k^2+25k^2-49k^2}{2\cdot6k\cdot5k}=\frac{12k^2}{60k^2}=\frac15$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38</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70</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35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𝑘</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60</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84</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35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num>
                      <m:den>
                        <m:r>
                          <a:rPr lang="en-IN" sz="2400" i="1">
                            <a:solidFill>
                              <a:srgbClr val="111827"/>
                            </a:solidFill>
                            <a:latin typeface="Cambria Math" panose="02040503050406030204" pitchFamily="18" charset="0"/>
                          </a:rPr>
                          <m:t>35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35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19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25</m:t>
                        </m:r>
                      </m:den>
                    </m:f>
                    <m:r>
                      <a:rPr lang="en-IN" sz="2400" i="1">
                        <a:solidFill>
                          <a:srgbClr val="111827"/>
                        </a:solidFill>
                        <a:latin typeface="Cambria Math" panose="02040503050406030204" pitchFamily="18" charset="0"/>
                      </a:rPr>
                      <m:t> </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35</m:t>
                            </m:r>
                          </m:den>
                        </m:f>
                      </m:e>
                    </m: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 B=\frac{a^2+c^2-b^2}{2ac}=\frac{49k^2+25k^2-36k^2}{2\cdot7k\cdot5k}=\frac{38k^2}{70k^2}=\frac{19}{35}$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 C=\frac{a^2+b^2-c^2}{2ab}=\frac{49k^2+36k^2-25k^2}{2\cdot7k\cdot6k}=\frac{60k^2}{84k^2}=\frac57$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$\cos A:\cos B:\cos C=\frac15:\frac{19}{35}:\frac57=\frac7{35}:\frac{19}{35}:\frac{25}{35}=7:19:25$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$\frac{\cos A}{7}=\frac{\cos B}{19}=\frac{\cos C}{25}\ \left(=\frac1{35}\right)$</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a:t>
                </a:r>
                <a14:m>
                  <m:oMath xmlns:m="http://schemas.openxmlformats.org/officeDocument/2006/math">
                    <m:f>
                      <m:fPr>
                        <m:type m:val="bar"/>
                        <m:ctrlPr>
                          <a:rPr lang="en-IN" sz="2800" i="1">
                            <a:solidFill>
                              <a:srgbClr val="15803D"/>
                            </a:solidFill>
                            <a:latin typeface="Cambria Math" panose="02040503050406030204" pitchFamily="18" charset="0"/>
                          </a:rPr>
                        </m:ctrlPr>
                      </m:fPr>
                      <m:num>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𝐴</m:t>
                        </m:r>
                      </m:num>
                      <m:den>
                        <m:r>
                          <a:rPr lang="en-IN" sz="2800" i="1">
                            <a:solidFill>
                              <a:srgbClr val="15803D"/>
                            </a:solidFill>
                            <a:latin typeface="Cambria Math" panose="02040503050406030204" pitchFamily="18" charset="0"/>
                          </a:rPr>
                          <m:t>7</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𝐵</m:t>
                        </m:r>
                      </m:num>
                      <m:den>
                        <m:r>
                          <a:rPr lang="en-IN" sz="2800" i="1">
                            <a:solidFill>
                              <a:srgbClr val="15803D"/>
                            </a:solidFill>
                            <a:latin typeface="Cambria Math" panose="02040503050406030204" pitchFamily="18" charset="0"/>
                          </a:rPr>
                          <m:t>19</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𝐶</m:t>
                        </m:r>
                      </m:num>
                      <m:den>
                        <m:r>
                          <a:rPr lang="en-IN" sz="2800" i="1">
                            <a:solidFill>
                              <a:srgbClr val="15803D"/>
                            </a:solidFill>
                            <a:latin typeface="Cambria Math" panose="02040503050406030204" pitchFamily="18" charset="0"/>
                          </a:rPr>
                          <m:t>25</m:t>
                        </m:r>
                      </m:den>
                    </m:f>
                    <m:r>
                      <a:rPr lang="en-IN" sz="2800" i="1">
                        <a:solidFill>
                          <a:srgbClr val="15803D"/>
                        </a:solidFill>
                        <a:latin typeface="Cambria Math" panose="02040503050406030204" pitchFamily="18" charset="0"/>
                      </a:rPr>
                      <m:t> </m:t>
                    </m:r>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35</m:t>
                            </m:r>
                          </m:den>
                        </m:f>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a:t>
                </a:r>
                <a:r>
                  <a:rPr lang="en-IN" sz="2800">
                    <a:solidFill>
                      <a:srgbClr val="15803D"/>
                    </a:solidFill>
                    <a:latin typeface="Cambria Math" panose="02040503050406030204" pitchFamily="18" charset="0"/>
                  </a:rPr>
                  <a:t>$\frac{\cos A}{7}=\frac{\cos B}{19}=\frac{\cos C}{25}\ \left(=\frac1{35}\right)$</a:t>
                </a:r>
                <a:endParaRPr sz="2800">
                  <a:solidFill>
                    <a:srgbClr val="15803D"/>
                  </a:solidFill>
                </a:endParaRP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Projection formulas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𝐵</m:t>
                    </m:r>
                  </m:oMath>
                </a14:m>
                <a:r>
                  <a:rPr sz="2400" b="0">
                    <a:solidFill>
                      <a:srgbClr val="78350F"/>
                    </a:solidFill>
                    <a:latin typeface="Arial"/>
                  </a:rPr>
                  <a:t> etc. form a linear system in the cosines;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19</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25</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solves it up to a common factor.</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Projection formulas </a:t>
                </a:r>
                <a:r>
                  <a:rPr lang="en-IN" sz="2400">
                    <a:solidFill>
                      <a:srgbClr val="78350F"/>
                    </a:solidFill>
                    <a:latin typeface="Cambria Math" panose="02040503050406030204" pitchFamily="18" charset="0"/>
                  </a:rPr>
                  <a:t>$a=b\cos C+c\cos B$</a:t>
                </a:r>
                <a:r>
                  <a:rPr sz="2400" b="0">
                    <a:solidFill>
                      <a:srgbClr val="78350F"/>
                    </a:solidFill>
                    <a:latin typeface="Arial"/>
                  </a:rPr>
                  <a:t> etc. form a linear system in the cosines; </a:t>
                </a:r>
                <a:r>
                  <a:rPr lang="en-IN" sz="2400">
                    <a:solidFill>
                      <a:srgbClr val="78350F"/>
                    </a:solidFill>
                    <a:latin typeface="Cambria Math" panose="02040503050406030204" pitchFamily="18" charset="0"/>
                  </a:rPr>
                  <a:t>$(7,19,25)$</a:t>
                </a:r>
                <a:r>
                  <a:rPr sz="2400" b="0">
                    <a:solidFill>
                      <a:srgbClr val="78350F"/>
                    </a:solidFill>
                    <a:latin typeface="Arial"/>
                  </a:rPr>
                  <a:t> solves it up to a common factor.</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(scale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cancels) the projection formulas are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𝑡</m:t>
                    </m:r>
                  </m:oMath>
                </a14:m>
                <a:r>
                  <a:rPr sz="2400" b="0">
                    <a:solidFill>
                      <a:srgbClr val="111827"/>
                    </a:solidFill>
                    <a:latin typeface="Arial"/>
                  </a:rPr>
                  <a:t>. The first gives </a:t>
                </a:r>
                <a14:m>
                  <m:oMath xmlns:m="http://schemas.openxmlformats.org/officeDocument/2006/math">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150</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95</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245</m:t>
                    </m:r>
                    <m:r>
                      <a:rPr lang="en-IN" sz="2400" i="1">
                        <a:solidFill>
                          <a:srgbClr val="111827"/>
                        </a:solidFill>
                        <a:latin typeface="Cambria Math" panose="02040503050406030204" pitchFamily="18" charset="0"/>
                      </a:rPr>
                      <m:t>𝑡</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second gives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175</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210</m:t>
                    </m:r>
                    <m:r>
                      <a:rPr lang="en-IN" sz="2400" i="1">
                        <a:solidFill>
                          <a:srgbClr val="111827"/>
                        </a:solidFill>
                        <a:latin typeface="Cambria Math" panose="02040503050406030204" pitchFamily="18" charset="0"/>
                      </a:rPr>
                      <m:t>𝑡</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35</m:t>
                        </m:r>
                      </m:den>
                    </m:f>
                  </m:oMath>
                </a14:m>
                <a:r>
                  <a:rPr sz="2400" b="0">
                    <a:solidFill>
                      <a:srgbClr val="111827"/>
                    </a:solidFill>
                    <a:latin typeface="Arial"/>
                  </a:rPr>
                  <a:t>; the third gives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175</m:t>
                    </m:r>
                    <m:r>
                      <a:rPr lang="en-IN" sz="2400" i="1">
                        <a:solidFill>
                          <a:srgbClr val="111827"/>
                        </a:solidFill>
                        <a:latin typeface="Cambria Math" panose="02040503050406030204" pitchFamily="18" charset="0"/>
                      </a:rPr>
                      <m:t>𝑡</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35</m:t>
                        </m:r>
                      </m:den>
                    </m:f>
                  </m:oMath>
                </a14:m>
                <a:r>
                  <a:rPr sz="2400" b="0">
                    <a:solidFill>
                      <a:srgbClr val="111827"/>
                    </a:solidFill>
                    <a:latin typeface="Arial"/>
                  </a:rPr>
                  <a:t> - all three agree.</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$a=7,\ b=6,\ c=5$</a:t>
                </a:r>
                <a:r>
                  <a:rPr sz="2400" b="0">
                    <a:solidFill>
                      <a:srgbClr val="111827"/>
                    </a:solidFill>
                    <a:latin typeface="Arial"/>
                  </a:rPr>
                  <a:t> (scale </a:t>
                </a:r>
                <a:r>
                  <a:rPr lang="en-IN" sz="2400">
                    <a:solidFill>
                      <a:srgbClr val="111827"/>
                    </a:solidFill>
                    <a:latin typeface="Cambria Math" panose="02040503050406030204" pitchFamily="18" charset="0"/>
                  </a:rPr>
                  <a:t>$k$</a:t>
                </a:r>
                <a:r>
                  <a:rPr sz="2400" b="0">
                    <a:solidFill>
                      <a:srgbClr val="111827"/>
                    </a:solidFill>
                    <a:latin typeface="Arial"/>
                  </a:rPr>
                  <a:t> cancels) the projection formulas are </a:t>
                </a:r>
                <a:r>
                  <a:rPr lang="en-IN" sz="2400">
                    <a:solidFill>
                      <a:srgbClr val="111827"/>
                    </a:solidFill>
                    <a:latin typeface="Cambria Math" panose="02040503050406030204" pitchFamily="18" charset="0"/>
                  </a:rPr>
                  <a:t>$7=6\cos C+5\cos B$</a:t>
                </a:r>
                <a:r>
                  <a:rPr sz="2400" b="0">
                    <a:solidFill>
                      <a:srgbClr val="111827"/>
                    </a:solidFill>
                    <a:latin typeface="Arial"/>
                  </a:rPr>
                  <a:t>, </a:t>
                </a:r>
                <a:r>
                  <a:rPr lang="en-IN" sz="2400">
                    <a:solidFill>
                      <a:srgbClr val="111827"/>
                    </a:solidFill>
                    <a:latin typeface="Cambria Math" panose="02040503050406030204" pitchFamily="18" charset="0"/>
                  </a:rPr>
                  <a:t>$6=5\cos A+7\cos C$</a:t>
                </a:r>
                <a:r>
                  <a:rPr sz="2400" b="0">
                    <a:solidFill>
                      <a:srgbClr val="111827"/>
                    </a:solidFill>
                    <a:latin typeface="Arial"/>
                  </a:rPr>
                  <a:t>, </a:t>
                </a:r>
                <a:r>
                  <a:rPr lang="en-IN" sz="2400">
                    <a:solidFill>
                      <a:srgbClr val="111827"/>
                    </a:solidFill>
                    <a:latin typeface="Cambria Math" panose="02040503050406030204" pitchFamily="18" charset="0"/>
                  </a:rPr>
                  <a:t>$5=7\cos B+6\cos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$\cos A=7t$</a:t>
                </a:r>
                <a:r>
                  <a:rPr sz="2400" b="0">
                    <a:solidFill>
                      <a:srgbClr val="111827"/>
                    </a:solidFill>
                    <a:latin typeface="Arial"/>
                  </a:rPr>
                  <a:t>, </a:t>
                </a:r>
                <a:r>
                  <a:rPr lang="en-IN" sz="2400">
                    <a:solidFill>
                      <a:srgbClr val="111827"/>
                    </a:solidFill>
                    <a:latin typeface="Cambria Math" panose="02040503050406030204" pitchFamily="18" charset="0"/>
                  </a:rPr>
                  <a:t>$\cos B=19t$</a:t>
                </a:r>
                <a:r>
                  <a:rPr sz="2400" b="0">
                    <a:solidFill>
                      <a:srgbClr val="111827"/>
                    </a:solidFill>
                    <a:latin typeface="Arial"/>
                  </a:rPr>
                  <a:t>, </a:t>
                </a:r>
                <a:r>
                  <a:rPr lang="en-IN" sz="2400">
                    <a:solidFill>
                      <a:srgbClr val="111827"/>
                    </a:solidFill>
                    <a:latin typeface="Cambria Math" panose="02040503050406030204" pitchFamily="18" charset="0"/>
                  </a:rPr>
                  <a:t>$\cos C=25t$</a:t>
                </a:r>
                <a:r>
                  <a:rPr sz="2400" b="0">
                    <a:solidFill>
                      <a:srgbClr val="111827"/>
                    </a:solidFill>
                    <a:latin typeface="Arial"/>
                  </a:rPr>
                  <a:t>. The first gives </a:t>
                </a:r>
                <a:r>
                  <a:rPr lang="en-IN" sz="2400">
                    <a:solidFill>
                      <a:srgbClr val="111827"/>
                    </a:solidFill>
                    <a:latin typeface="Cambria Math" panose="02040503050406030204" pitchFamily="18" charset="0"/>
                  </a:rPr>
                  <a:t>$7=150t+95t=245t$</a:t>
                </a:r>
                <a:r>
                  <a:rPr sz="2400" b="0">
                    <a:solidFill>
                      <a:srgbClr val="111827"/>
                    </a:solidFill>
                    <a:latin typeface="Arial"/>
                  </a:rPr>
                  <a:t>, so </a:t>
                </a:r>
                <a:r>
                  <a:rPr lang="en-IN" sz="2400">
                    <a:solidFill>
                      <a:srgbClr val="111827"/>
                    </a:solidFill>
                    <a:latin typeface="Cambria Math" panose="02040503050406030204" pitchFamily="18" charset="0"/>
                  </a:rPr>
                  <a:t>$t=\frac1{35}$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second gives </a:t>
                </a:r>
                <a:r>
                  <a:rPr lang="en-IN" sz="2400">
                    <a:solidFill>
                      <a:srgbClr val="111827"/>
                    </a:solidFill>
                    <a:latin typeface="Cambria Math" panose="02040503050406030204" pitchFamily="18" charset="0"/>
                  </a:rPr>
                  <a:t>$6=35t+175t=210t$</a:t>
                </a:r>
                <a:r>
                  <a:rPr sz="2400" b="0">
                    <a:solidFill>
                      <a:srgbClr val="111827"/>
                    </a:solidFill>
                    <a:latin typeface="Arial"/>
                  </a:rPr>
                  <a:t>, so </a:t>
                </a:r>
                <a:r>
                  <a:rPr lang="en-IN" sz="2400">
                    <a:solidFill>
                      <a:srgbClr val="111827"/>
                    </a:solidFill>
                    <a:latin typeface="Cambria Math" panose="02040503050406030204" pitchFamily="18" charset="0"/>
                  </a:rPr>
                  <a:t>$t=\frac1{35}$</a:t>
                </a:r>
                <a:r>
                  <a:rPr sz="2400" b="0">
                    <a:solidFill>
                      <a:srgbClr val="111827"/>
                    </a:solidFill>
                    <a:latin typeface="Arial"/>
                  </a:rPr>
                  <a:t>; the third gives </a:t>
                </a:r>
                <a:r>
                  <a:rPr lang="en-IN" sz="2400">
                    <a:solidFill>
                      <a:srgbClr val="111827"/>
                    </a:solidFill>
                    <a:latin typeface="Cambria Math" panose="02040503050406030204" pitchFamily="18" charset="0"/>
                  </a:rPr>
                  <a:t>$5=133t+42t=175t$</a:t>
                </a:r>
                <a:r>
                  <a:rPr sz="2400" b="0">
                    <a:solidFill>
                      <a:srgbClr val="111827"/>
                    </a:solidFill>
                    <a:latin typeface="Arial"/>
                  </a:rPr>
                  <a:t>, so </a:t>
                </a:r>
                <a:r>
                  <a:rPr lang="en-IN" sz="2400">
                    <a:solidFill>
                      <a:srgbClr val="111827"/>
                    </a:solidFill>
                    <a:latin typeface="Cambria Math" panose="02040503050406030204" pitchFamily="18" charset="0"/>
                  </a:rPr>
                  <a:t>$t=\frac1{35}$</a:t>
                </a:r>
                <a:r>
                  <a:rPr sz="2400" b="0">
                    <a:solidFill>
                      <a:srgbClr val="111827"/>
                    </a:solidFill>
                    <a:latin typeface="Arial"/>
                  </a:rPr>
                  <a:t> - all three agree.</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 determinant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5</m:t>
                              </m:r>
                            </m:e>
                            <m:e>
                              <m:r>
                                <a:rPr lang="en-IN" sz="2400" i="1">
                                  <a:solidFill>
                                    <a:srgbClr val="111827"/>
                                  </a:solidFill>
                                  <a:latin typeface="Cambria Math" panose="02040503050406030204" pitchFamily="18" charset="0"/>
                                </a:rPr>
                                <m:t>6</m:t>
                              </m:r>
                            </m:e>
                          </m:mr>
                          <m:mr>
                            <m:e>
                              <m:r>
                                <a:rPr lang="en-IN" sz="2400" i="1">
                                  <a:solidFill>
                                    <a:srgbClr val="111827"/>
                                  </a:solidFill>
                                  <a:latin typeface="Cambria Math" panose="02040503050406030204" pitchFamily="18" charset="0"/>
                                </a:rPr>
                                <m:t>5</m:t>
                              </m:r>
                            </m:e>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7</m:t>
                              </m:r>
                            </m:e>
                          </m:mr>
                          <m:mr>
                            <m:e>
                              <m:r>
                                <a:rPr lang="en-IN" sz="2400" i="1">
                                  <a:solidFill>
                                    <a:srgbClr val="111827"/>
                                  </a:solidFill>
                                  <a:latin typeface="Cambria Math" panose="02040503050406030204" pitchFamily="18" charset="0"/>
                                </a:rPr>
                                <m:t>6</m:t>
                              </m:r>
                            </m:e>
                            <m:e>
                              <m:r>
                                <a:rPr lang="en-IN" sz="2400" i="1">
                                  <a:solidFill>
                                    <a:srgbClr val="111827"/>
                                  </a:solidFill>
                                  <a:latin typeface="Cambria Math" panose="02040503050406030204" pitchFamily="18" charset="0"/>
                                </a:rPr>
                                <m:t>7</m:t>
                              </m:r>
                            </m:e>
                            <m:e>
                              <m:r>
                                <a:rPr lang="en-IN" sz="2400" i="1">
                                  <a:solidFill>
                                    <a:srgbClr val="111827"/>
                                  </a:solidFill>
                                  <a:latin typeface="Cambria Math" panose="02040503050406030204" pitchFamily="18" charset="0"/>
                                </a:rPr>
                                <m:t>0</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the system has exactly one solution; hence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19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25</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coefficient determinant </a:t>
                </a:r>
                <a:r>
                  <a:rPr lang="en-IN" sz="2400">
                    <a:solidFill>
                      <a:srgbClr val="111827"/>
                    </a:solidFill>
                    <a:latin typeface="Cambria Math" panose="02040503050406030204" pitchFamily="18" charset="0"/>
                  </a:rPr>
                  <a:t>$\begin{vmatrix}0&amp;5&amp;6\\5&amp;0&amp;7\\6&amp;7&amp;0\end{vmatrix}=420\neq0$</a:t>
                </a:r>
                <a:r>
                  <a:rPr sz="2400" b="0">
                    <a:solidFill>
                      <a:srgbClr val="111827"/>
                    </a:solidFill>
                    <a:latin typeface="Arial"/>
                  </a:rPr>
                  <a:t>, so the system has exactly one solution; hence </a:t>
                </a:r>
                <a:r>
                  <a:rPr lang="en-IN" sz="2400">
                    <a:solidFill>
                      <a:srgbClr val="111827"/>
                    </a:solidFill>
                    <a:latin typeface="Cambria Math" panose="02040503050406030204" pitchFamily="18" charset="0"/>
                  </a:rPr>
                  <a:t>$(\cos A,\cos B,\cos C)=\frac1{35}(7,19,25)$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$\frac{\cos A}7=\frac{\cos B}{19}=\frac{\cos C}{25}$</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a:t>
                </a:r>
                <a14:m>
                  <m:oMath xmlns:m="http://schemas.openxmlformats.org/officeDocument/2006/math">
                    <m:f>
                      <m:fPr>
                        <m:type m:val="bar"/>
                        <m:ctrlPr>
                          <a:rPr lang="en-IN" sz="2800" i="1">
                            <a:solidFill>
                              <a:srgbClr val="15803D"/>
                            </a:solidFill>
                            <a:latin typeface="Cambria Math" panose="02040503050406030204" pitchFamily="18" charset="0"/>
                          </a:rPr>
                        </m:ctrlPr>
                      </m:fPr>
                      <m:num>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𝐴</m:t>
                        </m:r>
                      </m:num>
                      <m:den>
                        <m:r>
                          <a:rPr lang="en-IN" sz="2800" i="1">
                            <a:solidFill>
                              <a:srgbClr val="15803D"/>
                            </a:solidFill>
                            <a:latin typeface="Cambria Math" panose="02040503050406030204" pitchFamily="18" charset="0"/>
                          </a:rPr>
                          <m:t>7</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𝐵</m:t>
                        </m:r>
                      </m:num>
                      <m:den>
                        <m:r>
                          <a:rPr lang="en-IN" sz="2800" i="1">
                            <a:solidFill>
                              <a:srgbClr val="15803D"/>
                            </a:solidFill>
                            <a:latin typeface="Cambria Math" panose="02040503050406030204" pitchFamily="18" charset="0"/>
                          </a:rPr>
                          <m:t>19</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𝐶</m:t>
                        </m:r>
                      </m:num>
                      <m:den>
                        <m:r>
                          <a:rPr lang="en-IN" sz="2800" i="1">
                            <a:solidFill>
                              <a:srgbClr val="15803D"/>
                            </a:solidFill>
                            <a:latin typeface="Cambria Math" panose="02040503050406030204" pitchFamily="18" charset="0"/>
                          </a:rPr>
                          <m:t>25</m:t>
                        </m:r>
                      </m:den>
                    </m:f>
                    <m:r>
                      <a:rPr lang="en-IN" sz="2800" i="1">
                        <a:solidFill>
                          <a:srgbClr val="15803D"/>
                        </a:solidFill>
                        <a:latin typeface="Cambria Math" panose="02040503050406030204" pitchFamily="18" charset="0"/>
                      </a:rPr>
                      <m:t> </m:t>
                    </m:r>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35</m:t>
                            </m:r>
                          </m:den>
                        </m:f>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a:t>
                </a:r>
                <a:r>
                  <a:rPr lang="en-IN" sz="2800">
                    <a:solidFill>
                      <a:srgbClr val="15803D"/>
                    </a:solidFill>
                    <a:latin typeface="Cambria Math" panose="02040503050406030204" pitchFamily="18" charset="0"/>
                  </a:rPr>
                  <a:t>$\frac{\cos A}{7}=\frac{\cos B}{19}=\frac{\cos C}{25}\ \left(=\frac1{35}\right)$</a:t>
                </a:r>
                <a:endParaRPr sz="2800">
                  <a:solidFill>
                    <a:srgbClr val="15803D"/>
                  </a:solidFill>
                </a:endParaRP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𝑘</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e>
                    </m:d>
                  </m:oMath>
                </a14:m>
                <a:r>
                  <a:rPr sz="2400" b="0">
                    <a:solidFill>
                      <a:srgbClr val="111827"/>
                    </a:solidFill>
                    <a:latin typeface="Arial"/>
                  </a:rPr>
                  <a:t>, because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e>
                        </m:d>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Projection formulas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oMath>
                </a14:m>
                <a:r>
                  <a:rPr sz="2400" b="0">
                    <a:solidFill>
                      <a:srgbClr val="111827"/>
                    </a:solidFill>
                    <a:latin typeface="Arial"/>
                  </a:rPr>
                  <a:t> hold in every triangle and let you verify or solve for cosines without squares.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$\frac{b+c}p=\frac{c+a}q=\frac{a+b}r=k$</a:t>
                </a:r>
                <a:r>
                  <a:rPr sz="2400" b="0">
                    <a:solidFill>
                      <a:srgbClr val="111827"/>
                    </a:solidFill>
                    <a:latin typeface="Arial"/>
                  </a:rPr>
                  <a:t> then </a:t>
                </a:r>
                <a:r>
                  <a:rPr lang="en-IN" sz="2400">
                    <a:solidFill>
                      <a:srgbClr val="111827"/>
                    </a:solidFill>
                    <a:latin typeface="Cambria Math" panose="02040503050406030204" pitchFamily="18" charset="0"/>
                  </a:rPr>
                  <a:t>$a=\frac{q+r-p}2k$</a:t>
                </a:r>
                <a:r>
                  <a:rPr sz="2400" b="0">
                    <a:solidFill>
                      <a:srgbClr val="111827"/>
                    </a:solidFill>
                    <a:latin typeface="Arial"/>
                  </a:rPr>
                  <a:t>, </a:t>
                </a:r>
                <a:r>
                  <a:rPr lang="en-IN" sz="2400">
                    <a:solidFill>
                      <a:srgbClr val="111827"/>
                    </a:solidFill>
                    <a:latin typeface="Cambria Math" panose="02040503050406030204" pitchFamily="18" charset="0"/>
                  </a:rPr>
                  <a:t>$b=\frac{p+r-q}2k$</a:t>
                </a:r>
                <a:r>
                  <a:rPr sz="2400" b="0">
                    <a:solidFill>
                      <a:srgbClr val="111827"/>
                    </a:solidFill>
                    <a:latin typeface="Arial"/>
                  </a:rPr>
                  <a:t>, </a:t>
                </a:r>
                <a:r>
                  <a:rPr lang="en-IN" sz="2400">
                    <a:solidFill>
                      <a:srgbClr val="111827"/>
                    </a:solidFill>
                    <a:latin typeface="Cambria Math" panose="02040503050406030204" pitchFamily="18" charset="0"/>
                  </a:rPr>
                  <a:t>$c=\frac{p+q-r}2k$</a:t>
                </a:r>
                <a:r>
                  <a:rPr sz="2400" b="0">
                    <a:solidFill>
                      <a:srgbClr val="111827"/>
                    </a:solidFill>
                    <a:latin typeface="Arial"/>
                  </a:rPr>
                  <a:t> (here </a:t>
                </a:r>
                <a:r>
                  <a:rPr lang="en-IN" sz="2400">
                    <a:solidFill>
                      <a:srgbClr val="111827"/>
                    </a:solidFill>
                    <a:latin typeface="Cambria Math" panose="02040503050406030204" pitchFamily="18" charset="0"/>
                  </a:rPr>
                  <a:t>$p,q,r=11,12,13$</a:t>
                </a:r>
                <a:r>
                  <a:rPr sz="2400" b="0">
                    <a:solidFill>
                      <a:srgbClr val="111827"/>
                    </a:solidFill>
                    <a:latin typeface="Arial"/>
                  </a:rPr>
                  <a:t> give </a:t>
                </a:r>
                <a:r>
                  <a:rPr lang="en-IN" sz="2400">
                    <a:solidFill>
                      <a:srgbClr val="111827"/>
                    </a:solidFill>
                    <a:latin typeface="Cambria Math" panose="02040503050406030204" pitchFamily="18" charset="0"/>
                  </a:rPr>
                  <a:t>$7k,6k,5k$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 A:\cos B:\cos C=a\left(b^2+c^2-a^2\right):b\left(c^2+a^2-b^2\right):c\left(a^2+b^2-c^2\right)$</a:t>
                </a:r>
                <a:r>
                  <a:rPr sz="2400" b="0">
                    <a:solidFill>
                      <a:srgbClr val="111827"/>
                    </a:solidFill>
                    <a:latin typeface="Arial"/>
                  </a:rPr>
                  <a:t>, because </a:t>
                </a:r>
                <a:r>
                  <a:rPr lang="en-IN" sz="2400">
                    <a:solidFill>
                      <a:srgbClr val="111827"/>
                    </a:solidFill>
                    <a:latin typeface="Cambria Math" panose="02040503050406030204" pitchFamily="18" charset="0"/>
                  </a:rPr>
                  <a:t>$\cos A=\frac{a\left(b^2+c^2-a^2\right)}{2abc}$</a:t>
                </a:r>
                <a:r>
                  <a:rPr sz="2400" b="0">
                    <a:solidFill>
                      <a:srgbClr val="111827"/>
                    </a:solidFill>
                    <a:latin typeface="Arial"/>
                  </a:rPr>
                  <a:t>; here </a:t>
                </a:r>
                <a:r>
                  <a:rPr lang="en-IN" sz="2400">
                    <a:solidFill>
                      <a:srgbClr val="111827"/>
                    </a:solidFill>
                    <a:latin typeface="Cambria Math" panose="02040503050406030204" pitchFamily="18" charset="0"/>
                  </a:rPr>
                  <a:t>$84:228:300=7:19:25$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Projection formulas </a:t>
                </a:r>
                <a:r>
                  <a:rPr lang="en-IN" sz="2400">
                    <a:solidFill>
                      <a:srgbClr val="111827"/>
                    </a:solidFill>
                    <a:latin typeface="Cambria Math" panose="02040503050406030204" pitchFamily="18" charset="0"/>
                  </a:rPr>
                  <a:t>$a=b\cos C+c\cos B$</a:t>
                </a:r>
                <a:r>
                  <a:rPr sz="2400" b="0">
                    <a:solidFill>
                      <a:srgbClr val="111827"/>
                    </a:solidFill>
                    <a:latin typeface="Arial"/>
                  </a:rPr>
                  <a:t>, </a:t>
                </a:r>
                <a:r>
                  <a:rPr lang="en-IN" sz="2400">
                    <a:solidFill>
                      <a:srgbClr val="111827"/>
                    </a:solidFill>
                    <a:latin typeface="Cambria Math" panose="02040503050406030204" pitchFamily="18" charset="0"/>
                  </a:rPr>
                  <a:t>$b=c\cos A+a\cos C$</a:t>
                </a:r>
                <a:r>
                  <a:rPr sz="2400" b="0">
                    <a:solidFill>
                      <a:srgbClr val="111827"/>
                    </a:solidFill>
                    <a:latin typeface="Arial"/>
                  </a:rPr>
                  <a:t>, </a:t>
                </a:r>
                <a:r>
                  <a:rPr lang="en-IN" sz="2400">
                    <a:solidFill>
                      <a:srgbClr val="111827"/>
                    </a:solidFill>
                    <a:latin typeface="Cambria Math" panose="02040503050406030204" pitchFamily="18" charset="0"/>
                  </a:rPr>
                  <a:t>$c=a\cos B+b\cos A$</a:t>
                </a:r>
                <a:r>
                  <a:rPr sz="2400" b="0">
                    <a:solidFill>
                      <a:srgbClr val="111827"/>
                    </a:solidFill>
                    <a:latin typeface="Arial"/>
                  </a:rPr>
                  <a:t> hold in every triangle and let you verify or solve for cosines without squares.</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Q02 – Q03</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value answer; complete solution with alternate method and result</a:t>
            </a:r>
            <a:endParaRPr sz="2800">
              <a:solidFill>
                <a:srgbClr val="FFFFFF"/>
              </a:solidFill>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a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internal bisector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meets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Δ</m:t>
                    </m:r>
                  </m:oMath>
                </a14:m>
                <a:r>
                  <a:rPr sz="2400" b="0">
                    <a:solidFill>
                      <a:srgbClr val="111827"/>
                    </a:solidFill>
                    <a:latin typeface="Arial"/>
                  </a:rPr>
                  <a:t> is the area of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then find the value of </a:t>
                </a:r>
                <a14:m>
                  <m:oMath xmlns:m="http://schemas.openxmlformats.org/officeDocument/2006/math">
                    <m:r>
                      <a:rPr lang="en-IN" sz="2400" i="1">
                        <a:solidFill>
                          <a:srgbClr val="111827"/>
                        </a:solidFill>
                        <a:latin typeface="Cambria Math" panose="02040503050406030204" pitchFamily="18" charset="0"/>
                      </a:rPr>
                      <m:t>12</m:t>
                    </m:r>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a triangle </a:t>
                </a:r>
                <a:r>
                  <a:rPr lang="en-IN" sz="2400">
                    <a:solidFill>
                      <a:srgbClr val="111827"/>
                    </a:solidFill>
                    <a:latin typeface="Cambria Math" panose="02040503050406030204" pitchFamily="18" charset="0"/>
                  </a:rPr>
                  <a:t>$ABC$</a:t>
                </a:r>
                <a:r>
                  <a:rPr sz="2400" b="0">
                    <a:solidFill>
                      <a:srgbClr val="111827"/>
                    </a:solidFill>
                    <a:latin typeface="Arial"/>
                  </a:rPr>
                  <a:t> with </a:t>
                </a:r>
                <a:r>
                  <a:rPr lang="en-IN" sz="2400">
                    <a:solidFill>
                      <a:srgbClr val="111827"/>
                    </a:solidFill>
                    <a:latin typeface="Cambria Math" panose="02040503050406030204" pitchFamily="18" charset="0"/>
                  </a:rPr>
                  <a:t>$AB=2$</a:t>
                </a:r>
                <a:r>
                  <a:rPr sz="2400" b="0">
                    <a:solidFill>
                      <a:srgbClr val="111827"/>
                    </a:solidFill>
                    <a:latin typeface="Arial"/>
                  </a:rPr>
                  <a:t> and </a:t>
                </a:r>
                <a:r>
                  <a:rPr lang="en-IN" sz="2400">
                    <a:solidFill>
                      <a:srgbClr val="111827"/>
                    </a:solidFill>
                    <a:latin typeface="Cambria Math" panose="02040503050406030204" pitchFamily="18" charset="0"/>
                  </a:rPr>
                  <a:t>$AC=1$</a:t>
                </a:r>
                <a:r>
                  <a:rPr sz="2400" b="0">
                    <a:solidFill>
                      <a:srgbClr val="111827"/>
                    </a:solidFill>
                    <a:latin typeface="Arial"/>
                  </a:rPr>
                  <a:t>. The internal bisector of </a:t>
                </a:r>
                <a:r>
                  <a:rPr lang="en-IN" sz="2400">
                    <a:solidFill>
                      <a:srgbClr val="111827"/>
                    </a:solidFill>
                    <a:latin typeface="Cambria Math" panose="02040503050406030204" pitchFamily="18" charset="0"/>
                  </a:rPr>
                  <a:t>$\angle BAC$</a:t>
                </a:r>
                <a:r>
                  <a:rPr sz="2400" b="0">
                    <a:solidFill>
                      <a:srgbClr val="111827"/>
                    </a:solidFill>
                    <a:latin typeface="Arial"/>
                  </a:rPr>
                  <a:t> meets </a:t>
                </a:r>
                <a:r>
                  <a:rPr lang="en-IN" sz="2400">
                    <a:solidFill>
                      <a:srgbClr val="111827"/>
                    </a:solidFill>
                    <a:latin typeface="Cambria Math" panose="02040503050406030204" pitchFamily="18" charset="0"/>
                  </a:rPr>
                  <a:t>$BC$</a:t>
                </a:r>
                <a:r>
                  <a:rPr sz="2400" b="0">
                    <a:solidFill>
                      <a:srgbClr val="111827"/>
                    </a:solidFill>
                    <a:latin typeface="Arial"/>
                  </a:rPr>
                  <a:t> at </a:t>
                </a:r>
                <a:r>
                  <a:rPr lang="en-IN" sz="2400">
                    <a:solidFill>
                      <a:srgbClr val="111827"/>
                    </a:solidFill>
                    <a:latin typeface="Cambria Math" panose="02040503050406030204" pitchFamily="18" charset="0"/>
                  </a:rPr>
                  <a:t>$D$</a:t>
                </a:r>
                <a:r>
                  <a:rPr sz="2400" b="0">
                    <a:solidFill>
                      <a:srgbClr val="111827"/>
                    </a:solidFill>
                    <a:latin typeface="Arial"/>
                  </a:rPr>
                  <a:t>. If </a:t>
                </a:r>
                <a:r>
                  <a:rPr lang="en-IN" sz="2400">
                    <a:solidFill>
                      <a:srgbClr val="111827"/>
                    </a:solidFill>
                    <a:latin typeface="Cambria Math" panose="02040503050406030204" pitchFamily="18" charset="0"/>
                  </a:rPr>
                  <a:t>$AD=BD$</a:t>
                </a:r>
                <a:r>
                  <a:rPr sz="2400" b="0">
                    <a:solidFill>
                      <a:srgbClr val="111827"/>
                    </a:solidFill>
                    <a:latin typeface="Arial"/>
                  </a:rPr>
                  <a:t> and </a:t>
                </a:r>
                <a:r>
                  <a:rPr lang="en-IN" sz="2400">
                    <a:solidFill>
                      <a:srgbClr val="111827"/>
                    </a:solidFill>
                    <a:latin typeface="Cambria Math" panose="02040503050406030204" pitchFamily="18" charset="0"/>
                  </a:rPr>
                  <a:t>$\Delta$</a:t>
                </a:r>
                <a:r>
                  <a:rPr sz="2400" b="0">
                    <a:solidFill>
                      <a:srgbClr val="111827"/>
                    </a:solidFill>
                    <a:latin typeface="Arial"/>
                  </a:rPr>
                  <a:t> is the area of triangle </a:t>
                </a:r>
                <a:r>
                  <a:rPr lang="en-IN" sz="2400">
                    <a:solidFill>
                      <a:srgbClr val="111827"/>
                    </a:solidFill>
                    <a:latin typeface="Cambria Math" panose="02040503050406030204" pitchFamily="18" charset="0"/>
                  </a:rPr>
                  <a:t>$ABC$</a:t>
                </a:r>
                <a:r>
                  <a:rPr sz="2400" b="0">
                    <a:solidFill>
                      <a:srgbClr val="111827"/>
                    </a:solidFill>
                    <a:latin typeface="Arial"/>
                  </a:rPr>
                  <a:t>, then find the value of </a:t>
                </a:r>
                <a:r>
                  <a:rPr lang="en-IN" sz="2400">
                    <a:solidFill>
                      <a:srgbClr val="111827"/>
                    </a:solidFill>
                    <a:latin typeface="Cambria Math" panose="02040503050406030204" pitchFamily="18" charset="0"/>
                  </a:rPr>
                  <a:t>$12\Delta^2$</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bisector theorem and length of an angle bisector, Cosine rule and area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oMath>
                </a14:m>
                <a:r>
                  <a:rPr sz="2400" b="0">
                    <a:solidFill>
                      <a:srgbClr val="78350F"/>
                    </a:solidFill>
                    <a:latin typeface="Arial"/>
                  </a:rPr>
                  <a:t> turns the bisector-length formula into </a:t>
                </a:r>
                <a14:m>
                  <m:oMath xmlns:m="http://schemas.openxmlformats.org/officeDocument/2006/math">
                    <m:r>
                      <m:rPr>
                        <m:sty m:val="p"/>
                      </m:rPr>
                      <a:rPr lang="en-IN" sz="2400">
                        <a:solidFill>
                          <a:srgbClr val="78350F"/>
                        </a:solidFill>
                        <a:latin typeface="Cambria Math" panose="02040503050406030204" pitchFamily="18" charset="0"/>
                      </a:rPr>
                      <m:t>cos</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𝐴</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𝑎</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comparing with the cosine rule gives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$AD=BD$</a:t>
                </a:r>
                <a:r>
                  <a:rPr sz="2400" b="0">
                    <a:solidFill>
                      <a:srgbClr val="78350F"/>
                    </a:solidFill>
                    <a:latin typeface="Arial"/>
                  </a:rPr>
                  <a:t> turns the bisector-length formula into </a:t>
                </a:r>
                <a:r>
                  <a:rPr lang="en-IN" sz="2400">
                    <a:solidFill>
                      <a:srgbClr val="78350F"/>
                    </a:solidFill>
                    <a:latin typeface="Cambria Math" panose="02040503050406030204" pitchFamily="18" charset="0"/>
                  </a:rPr>
                  <a:t>$\cos\frac A2=\frac a2$</a:t>
                </a:r>
                <a:r>
                  <a:rPr sz="2400" b="0">
                    <a:solidFill>
                      <a:srgbClr val="78350F"/>
                    </a:solidFill>
                    <a:latin typeface="Arial"/>
                  </a:rPr>
                  <a:t>; comparing with the cosine rule gives </a:t>
                </a:r>
                <a:r>
                  <a:rPr lang="en-IN" sz="2400">
                    <a:solidFill>
                      <a:srgbClr val="78350F"/>
                    </a:solidFill>
                    <a:latin typeface="Cambria Math" panose="02040503050406030204" pitchFamily="18" charset="0"/>
                  </a:rPr>
                  <a:t>$a^2=3$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By the angle bisector theorem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num>
                      <m:den>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Length of the bisector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num>
                      <m:den>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$AB=2$</a:t>
                </a:r>
                <a:r>
                  <a:rPr sz="2400" b="0">
                    <a:solidFill>
                      <a:srgbClr val="111827"/>
                    </a:solidFill>
                    <a:latin typeface="Arial"/>
                  </a:rPr>
                  <a:t>, </a:t>
                </a:r>
                <a:r>
                  <a:rPr lang="en-IN" sz="2400">
                    <a:solidFill>
                      <a:srgbClr val="111827"/>
                    </a:solidFill>
                    <a:latin typeface="Cambria Math" panose="02040503050406030204" pitchFamily="18" charset="0"/>
                  </a:rPr>
                  <a:t>$AC=1$</a:t>
                </a:r>
                <a:r>
                  <a:rPr sz="2400" b="0">
                    <a:solidFill>
                      <a:srgbClr val="111827"/>
                    </a:solidFill>
                    <a:latin typeface="Arial"/>
                  </a:rPr>
                  <a:t>, </a:t>
                </a:r>
                <a:r>
                  <a:rPr lang="en-IN" sz="2400">
                    <a:solidFill>
                      <a:srgbClr val="111827"/>
                    </a:solidFill>
                    <a:latin typeface="Cambria Math" panose="02040503050406030204" pitchFamily="18" charset="0"/>
                  </a:rPr>
                  <a:t>$BC=a$</a:t>
                </a:r>
                <a:r>
                  <a:rPr sz="2400" b="0">
                    <a:solidFill>
                      <a:srgbClr val="111827"/>
                    </a:solidFill>
                    <a:latin typeface="Arial"/>
                  </a:rPr>
                  <a:t>. By the angle bisector theorem </a:t>
                </a:r>
                <a:r>
                  <a:rPr lang="en-IN" sz="2400">
                    <a:solidFill>
                      <a:srgbClr val="111827"/>
                    </a:solidFill>
                    <a:latin typeface="Cambria Math" panose="02040503050406030204" pitchFamily="18" charset="0"/>
                  </a:rPr>
                  <a:t>$\frac{CD}{DB}=\frac{AC}{AB}=\frac12$</a:t>
                </a:r>
                <a:r>
                  <a:rPr sz="2400" b="0">
                    <a:solidFill>
                      <a:srgbClr val="111827"/>
                    </a:solidFill>
                    <a:latin typeface="Arial"/>
                  </a:rPr>
                  <a:t>, so </a:t>
                </a:r>
                <a:r>
                  <a:rPr lang="en-IN" sz="2400">
                    <a:solidFill>
                      <a:srgbClr val="111827"/>
                    </a:solidFill>
                    <a:latin typeface="Cambria Math" panose="02040503050406030204" pitchFamily="18" charset="0"/>
                  </a:rPr>
                  <a:t>$CD=\frac a3$</a:t>
                </a:r>
                <a:r>
                  <a:rPr sz="2400" b="0">
                    <a:solidFill>
                      <a:srgbClr val="111827"/>
                    </a:solidFill>
                    <a:latin typeface="Arial"/>
                  </a:rPr>
                  <a:t> and </a:t>
                </a:r>
                <a:r>
                  <a:rPr lang="en-IN" sz="2400">
                    <a:solidFill>
                      <a:srgbClr val="111827"/>
                    </a:solidFill>
                    <a:latin typeface="Cambria Math" panose="02040503050406030204" pitchFamily="18" charset="0"/>
                  </a:rPr>
                  <a:t>$BD=\frac{2a}3$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Length of the bisector from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$AD=\frac{2bc\cos\frac A2}{b+c}=\frac{2\cdot2\cdot1}{3}\cos\frac A2=\frac43\cos\frac 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$AD=BD$</a:t>
                </a:r>
                <a:r>
                  <a:rPr sz="2400" b="0">
                    <a:solidFill>
                      <a:srgbClr val="111827"/>
                    </a:solidFill>
                    <a:latin typeface="Arial"/>
                  </a:rPr>
                  <a:t>: </a:t>
                </a:r>
                <a:r>
                  <a:rPr lang="en-IN" sz="2400">
                    <a:solidFill>
                      <a:srgbClr val="111827"/>
                    </a:solidFill>
                    <a:latin typeface="Cambria Math" panose="02040503050406030204" pitchFamily="18" charset="0"/>
                  </a:rPr>
                  <a:t>$\frac43\cos\frac A2=\frac{2a}3$</a:t>
                </a:r>
                <a:r>
                  <a:rPr sz="2400" b="0">
                    <a:solidFill>
                      <a:srgbClr val="111827"/>
                    </a:solidFill>
                    <a:latin typeface="Arial"/>
                  </a:rPr>
                  <a:t>, so </a:t>
                </a:r>
                <a:r>
                  <a:rPr lang="en-IN" sz="2400">
                    <a:solidFill>
                      <a:srgbClr val="111827"/>
                    </a:solidFill>
                    <a:latin typeface="Cambria Math" panose="02040503050406030204" pitchFamily="18" charset="0"/>
                  </a:rPr>
                  <a:t>$\cos\frac A2=\frac 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$\cos A=2\cos^2\frac A2-1=\frac{a^2}2-1$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cosine rule,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12</m:t>
                    </m:r>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the cosine rule, </a:t>
                </a:r>
                <a:r>
                  <a:rPr lang="en-IN" sz="2400">
                    <a:solidFill>
                      <a:srgbClr val="111827"/>
                    </a:solidFill>
                    <a:latin typeface="Cambria Math" panose="02040503050406030204" pitchFamily="18" charset="0"/>
                  </a:rPr>
                  <a:t>$\cos A=\frac{b^2+c^2-a^2}{2bc}=\frac{1+4-a^2}{4}=\frac{5-a^2}4$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Equate: </a:t>
                </a:r>
                <a:r>
                  <a:rPr lang="en-IN" sz="2400">
                    <a:solidFill>
                      <a:srgbClr val="111827"/>
                    </a:solidFill>
                    <a:latin typeface="Cambria Math" panose="02040503050406030204" pitchFamily="18" charset="0"/>
                  </a:rPr>
                  <a:t>$\frac{a^2}2-1=\frac{5-a^2}4\Rightarrow2a^2-4=5-a^2\Rightarrow a^2=3$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$\cos A=\frac{5-3}4=\frac12$</a:t>
                </a:r>
                <a:r>
                  <a:rPr sz="2400" b="0">
                    <a:solidFill>
                      <a:srgbClr val="111827"/>
                    </a:solidFill>
                    <a:latin typeface="Arial"/>
                  </a:rPr>
                  <a:t>, so </a:t>
                </a:r>
                <a:r>
                  <a:rPr lang="en-IN" sz="2400">
                    <a:solidFill>
                      <a:srgbClr val="111827"/>
                    </a:solidFill>
                    <a:latin typeface="Cambria Math" panose="02040503050406030204" pitchFamily="18" charset="0"/>
                  </a:rPr>
                  <a:t>$A=60^\circ$</a:t>
                </a:r>
                <a:r>
                  <a:rPr sz="2400" b="0">
                    <a:solidFill>
                      <a:srgbClr val="111827"/>
                    </a:solidFill>
                    <a:latin typeface="Arial"/>
                  </a:rPr>
                  <a:t> and </a:t>
                </a:r>
                <a:r>
                  <a:rPr lang="en-IN" sz="2400">
                    <a:solidFill>
                      <a:srgbClr val="111827"/>
                    </a:solidFill>
                    <a:latin typeface="Cambria Math" panose="02040503050406030204" pitchFamily="18" charset="0"/>
                  </a:rPr>
                  <a:t>$\sin A=\frac{\sqrt3}2$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$\Delta=\frac12bc\sin A=\frac12\cdot2\cdot1\cdot\frac{\sqrt3}2=\frac{\sqrt3}2$</a:t>
                </a:r>
                <a:r>
                  <a:rPr sz="2400" b="0">
                    <a:solidFill>
                      <a:srgbClr val="111827"/>
                    </a:solidFill>
                    <a:latin typeface="Arial"/>
                  </a:rPr>
                  <a:t>, so </a:t>
                </a:r>
                <a:r>
                  <a:rPr lang="en-IN" sz="2400">
                    <a:solidFill>
                      <a:srgbClr val="111827"/>
                    </a:solidFill>
                    <a:latin typeface="Cambria Math" panose="02040503050406030204" pitchFamily="18" charset="0"/>
                  </a:rPr>
                  <a:t>$12\Delta^2=12\cdot\frac34=9$</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9</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$9$</a:t>
                </a:r>
                <a:endParaRPr sz="2800">
                  <a:solidFill>
                    <a:srgbClr val="15803D"/>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oMath>
                </a14:m>
                <a:r>
                  <a:rPr sz="2400" b="0">
                    <a:solidFill>
                      <a:srgbClr val="78350F"/>
                    </a:solidFill>
                    <a:latin typeface="Arial"/>
                  </a:rPr>
                  <a:t> makes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oMath>
                </a14:m>
                <a:r>
                  <a:rPr sz="2400" b="0">
                    <a:solidFill>
                      <a:srgbClr val="78350F"/>
                    </a:solidFill>
                    <a:latin typeface="Arial"/>
                  </a:rPr>
                  <a:t> isosceles, so </a:t>
                </a:r>
                <a14:m>
                  <m:oMath xmlns:m="http://schemas.openxmlformats.org/officeDocument/2006/math">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𝐴</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the sine rule then gives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directly.</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$AD=BD$</a:t>
                </a:r>
                <a:r>
                  <a:rPr sz="2400" b="0">
                    <a:solidFill>
                      <a:srgbClr val="78350F"/>
                    </a:solidFill>
                    <a:latin typeface="Arial"/>
                  </a:rPr>
                  <a:t> makes </a:t>
                </a:r>
                <a:r>
                  <a:rPr lang="en-IN" sz="2400">
                    <a:solidFill>
                      <a:srgbClr val="78350F"/>
                    </a:solidFill>
                    <a:latin typeface="Cambria Math" panose="02040503050406030204" pitchFamily="18" charset="0"/>
                  </a:rPr>
                  <a:t>$\triangle ABD$</a:t>
                </a:r>
                <a:r>
                  <a:rPr sz="2400" b="0">
                    <a:solidFill>
                      <a:srgbClr val="78350F"/>
                    </a:solidFill>
                    <a:latin typeface="Arial"/>
                  </a:rPr>
                  <a:t> isosceles, so </a:t>
                </a:r>
                <a:r>
                  <a:rPr lang="en-IN" sz="2400">
                    <a:solidFill>
                      <a:srgbClr val="78350F"/>
                    </a:solidFill>
                    <a:latin typeface="Cambria Math" panose="02040503050406030204" pitchFamily="18" charset="0"/>
                  </a:rPr>
                  <a:t>$B=\frac A2$</a:t>
                </a:r>
                <a:r>
                  <a:rPr sz="2400" b="0">
                    <a:solidFill>
                      <a:srgbClr val="78350F"/>
                    </a:solidFill>
                    <a:latin typeface="Arial"/>
                  </a:rPr>
                  <a:t>; the sine rule then gives </a:t>
                </a:r>
                <a:r>
                  <a:rPr lang="en-IN" sz="2400">
                    <a:solidFill>
                      <a:srgbClr val="78350F"/>
                    </a:solidFill>
                    <a:latin typeface="Cambria Math" panose="02040503050406030204" pitchFamily="18" charset="0"/>
                  </a:rPr>
                  <a:t>$A$</a:t>
                </a:r>
                <a:r>
                  <a:rPr sz="2400" b="0">
                    <a:solidFill>
                      <a:srgbClr val="78350F"/>
                    </a:solidFill>
                    <a:latin typeface="Arial"/>
                  </a:rPr>
                  <a:t>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Sine rule: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ABD$</a:t>
                </a:r>
                <a:r>
                  <a:rPr sz="2400" b="0">
                    <a:solidFill>
                      <a:srgbClr val="111827"/>
                    </a:solidFill>
                    <a:latin typeface="Arial"/>
                  </a:rPr>
                  <a:t>, </a:t>
                </a:r>
                <a:r>
                  <a:rPr lang="en-IN" sz="2400">
                    <a:solidFill>
                      <a:srgbClr val="111827"/>
                    </a:solidFill>
                    <a:latin typeface="Cambria Math" panose="02040503050406030204" pitchFamily="18" charset="0"/>
                  </a:rPr>
                  <a:t>$AD=BD$</a:t>
                </a:r>
                <a:r>
                  <a:rPr sz="2400" b="0">
                    <a:solidFill>
                      <a:srgbClr val="111827"/>
                    </a:solidFill>
                    <a:latin typeface="Arial"/>
                  </a:rPr>
                  <a:t> gives </a:t>
                </a:r>
                <a:r>
                  <a:rPr lang="en-IN" sz="2400">
                    <a:solidFill>
                      <a:srgbClr val="111827"/>
                    </a:solidFill>
                    <a:latin typeface="Cambria Math" panose="02040503050406030204" pitchFamily="18" charset="0"/>
                  </a:rPr>
                  <a:t>$\angle DBA=\angle DAB=\frac A2$</a:t>
                </a:r>
                <a:r>
                  <a:rPr sz="2400" b="0">
                    <a:solidFill>
                      <a:srgbClr val="111827"/>
                    </a:solidFill>
                    <a:latin typeface="Arial"/>
                  </a:rPr>
                  <a:t>, so </a:t>
                </a:r>
                <a:r>
                  <a:rPr lang="en-IN" sz="2400">
                    <a:solidFill>
                      <a:srgbClr val="111827"/>
                    </a:solidFill>
                    <a:latin typeface="Cambria Math" panose="02040503050406030204" pitchFamily="18" charset="0"/>
                  </a:rPr>
                  <a:t>$B=\frac A2$</a:t>
                </a:r>
                <a:r>
                  <a:rPr sz="2400" b="0">
                    <a:solidFill>
                      <a:srgbClr val="111827"/>
                    </a:solidFill>
                    <a:latin typeface="Arial"/>
                  </a:rPr>
                  <a:t> and </a:t>
                </a:r>
                <a:r>
                  <a:rPr lang="en-IN" sz="2400">
                    <a:solidFill>
                      <a:srgbClr val="111827"/>
                    </a:solidFill>
                    <a:latin typeface="Cambria Math" panose="02040503050406030204" pitchFamily="18" charset="0"/>
                  </a:rPr>
                  <a:t>$C=\pi-\frac{3A}2$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Sine rule: </a:t>
                </a:r>
                <a:r>
                  <a:rPr lang="en-IN" sz="2400">
                    <a:solidFill>
                      <a:srgbClr val="111827"/>
                    </a:solidFill>
                    <a:latin typeface="Cambria Math" panose="02040503050406030204" pitchFamily="18" charset="0"/>
                  </a:rPr>
                  <a:t>$\frac c{\sin C}=\frac b{\sin B}$</a:t>
                </a:r>
                <a:r>
                  <a:rPr sz="2400" b="0">
                    <a:solidFill>
                      <a:srgbClr val="111827"/>
                    </a:solidFill>
                    <a:latin typeface="Arial"/>
                  </a:rPr>
                  <a:t>, so </a:t>
                </a:r>
                <a:r>
                  <a:rPr lang="en-IN" sz="2400">
                    <a:solidFill>
                      <a:srgbClr val="111827"/>
                    </a:solidFill>
                    <a:latin typeface="Cambria Math" panose="02040503050406030204" pitchFamily="18" charset="0"/>
                  </a:rPr>
                  <a:t>$\frac2{\sin\frac{3A}2}=\frac1{\sin\frac 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$\sin\frac{3A}2=2\sin\frac A2\Rightarrow3-4\sin^2\frac A2=2\Rightarrow\sin^2\frac A2=\frac14$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12</m:t>
                    </m:r>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 A2=30^\circ$</a:t>
                </a:r>
                <a:r>
                  <a:rPr sz="2400" b="0">
                    <a:solidFill>
                      <a:srgbClr val="111827"/>
                    </a:solidFill>
                    <a:latin typeface="Arial"/>
                  </a:rPr>
                  <a:t> (as </a:t>
                </a:r>
                <a:r>
                  <a:rPr lang="en-IN" sz="2400">
                    <a:solidFill>
                      <a:srgbClr val="111827"/>
                    </a:solidFill>
                    <a:latin typeface="Cambria Math" panose="02040503050406030204" pitchFamily="18" charset="0"/>
                  </a:rPr>
                  <a:t>$\frac A2&lt;90^\circ$</a:t>
                </a:r>
                <a:r>
                  <a:rPr sz="2400" b="0">
                    <a:solidFill>
                      <a:srgbClr val="111827"/>
                    </a:solidFill>
                    <a:latin typeface="Arial"/>
                  </a:rPr>
                  <a:t>), so </a:t>
                </a:r>
                <a:r>
                  <a:rPr lang="en-IN" sz="2400">
                    <a:solidFill>
                      <a:srgbClr val="111827"/>
                    </a:solidFill>
                    <a:latin typeface="Cambria Math" panose="02040503050406030204" pitchFamily="18" charset="0"/>
                  </a:rPr>
                  <a:t>$A=60^\circ$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$\Delta=\frac12\cdot2\cdot1\cdot\sin60^\circ=\frac{\sqrt3}2$</a:t>
                </a:r>
                <a:r>
                  <a:rPr sz="2400" b="0">
                    <a:solidFill>
                      <a:srgbClr val="111827"/>
                    </a:solidFill>
                    <a:latin typeface="Arial"/>
                  </a:rPr>
                  <a:t> and </a:t>
                </a:r>
                <a:r>
                  <a:rPr lang="en-IN" sz="2400">
                    <a:solidFill>
                      <a:srgbClr val="111827"/>
                    </a:solidFill>
                    <a:latin typeface="Cambria Math" panose="02040503050406030204" pitchFamily="18" charset="0"/>
                  </a:rPr>
                  <a:t>$12\Delta^2=9$</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9</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$9$</a:t>
                </a:r>
                <a:endParaRPr sz="2800">
                  <a:solidFill>
                    <a:srgbClr val="15803D"/>
                  </a:solidFill>
                </a:endParaRPr>
              </a:p>
            </p:txBody>
          </p:sp>
        </mc:Fallback>
      </mc:AlternateContent>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forces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 equal-segment condition becomes an angle relation, after which the sine rule finishes the question.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bisector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length </a:t>
                </a:r>
                <a14:m>
                  <m:oMath xmlns:m="http://schemas.openxmlformats.org/officeDocument/2006/math">
                    <m:sSub>
                      <m:e>
                        <m:r>
                          <a:rPr lang="en-IN" sz="2400" i="1">
                            <a:solidFill>
                              <a:srgbClr val="111827"/>
                            </a:solidFill>
                            <a:latin typeface="Cambria Math" panose="02040503050406030204" pitchFamily="18" charset="0"/>
                          </a:rPr>
                          <m:t>𝑙</m:t>
                        </m:r>
                      </m:e>
                      <m:sub>
                        <m:r>
                          <a:rPr lang="en-IN" sz="2400" i="1">
                            <a:solidFill>
                              <a:srgbClr val="111827"/>
                            </a:solidFill>
                            <a:latin typeface="Cambria Math" panose="02040503050406030204" pitchFamily="18" charset="0"/>
                          </a:rPr>
                          <m:t>𝐴</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num>
                      <m:den>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agrees with the answer.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$AD=BD$</a:t>
                </a:r>
                <a:r>
                  <a:rPr sz="2400" b="0">
                    <a:solidFill>
                      <a:srgbClr val="111827"/>
                    </a:solidFill>
                    <a:latin typeface="Arial"/>
                  </a:rPr>
                  <a:t> with </a:t>
                </a:r>
                <a:r>
                  <a:rPr lang="en-IN" sz="2400">
                    <a:solidFill>
                      <a:srgbClr val="111827"/>
                    </a:solidFill>
                    <a:latin typeface="Cambria Math" panose="02040503050406030204" pitchFamily="18" charset="0"/>
                  </a:rPr>
                  <a:t>$D$</a:t>
                </a:r>
                <a:r>
                  <a:rPr sz="2400" b="0">
                    <a:solidFill>
                      <a:srgbClr val="111827"/>
                    </a:solidFill>
                    <a:latin typeface="Arial"/>
                  </a:rPr>
                  <a:t> on </a:t>
                </a:r>
                <a:r>
                  <a:rPr lang="en-IN" sz="2400">
                    <a:solidFill>
                      <a:srgbClr val="111827"/>
                    </a:solidFill>
                    <a:latin typeface="Cambria Math" panose="02040503050406030204" pitchFamily="18" charset="0"/>
                  </a:rPr>
                  <a:t>$BC$</a:t>
                </a:r>
                <a:r>
                  <a:rPr sz="2400" b="0">
                    <a:solidFill>
                      <a:srgbClr val="111827"/>
                    </a:solidFill>
                    <a:latin typeface="Arial"/>
                  </a:rPr>
                  <a:t> forces </a:t>
                </a:r>
                <a:r>
                  <a:rPr lang="en-IN" sz="2400">
                    <a:solidFill>
                      <a:srgbClr val="111827"/>
                    </a:solidFill>
                    <a:latin typeface="Cambria Math" panose="02040503050406030204" pitchFamily="18" charset="0"/>
                  </a:rPr>
                  <a:t>$\angle B=\frac A2$</a:t>
                </a:r>
                <a:r>
                  <a:rPr sz="2400" b="0">
                    <a:solidFill>
                      <a:srgbClr val="111827"/>
                    </a:solidFill>
                    <a:latin typeface="Arial"/>
                  </a:rPr>
                  <a:t>: an equal-segment condition becomes an angle relation, after which the sine rule finishes the question.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bisector from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$BD:DC=c:b$</a:t>
                </a:r>
                <a:r>
                  <a:rPr sz="2400" b="0">
                    <a:solidFill>
                      <a:srgbClr val="111827"/>
                    </a:solidFill>
                    <a:latin typeface="Arial"/>
                  </a:rPr>
                  <a:t> and length </a:t>
                </a:r>
                <a:r>
                  <a:rPr lang="en-IN" sz="2400">
                    <a:solidFill>
                      <a:srgbClr val="111827"/>
                    </a:solidFill>
                    <a:latin typeface="Cambria Math" panose="02040503050406030204" pitchFamily="18" charset="0"/>
                  </a:rPr>
                  <a:t>$l_A=\frac{2bc\cos\frac A2}{b+c}$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$A=2B\iff a^2=b(b+c)$</a:t>
                </a:r>
                <a:r>
                  <a:rPr sz="2400" b="0">
                    <a:solidFill>
                      <a:srgbClr val="111827"/>
                    </a:solidFill>
                    <a:latin typeface="Arial"/>
                  </a:rPr>
                  <a:t>; here </a:t>
                </a:r>
                <a:r>
                  <a:rPr lang="en-IN" sz="2400">
                    <a:solidFill>
                      <a:srgbClr val="111827"/>
                    </a:solidFill>
                    <a:latin typeface="Cambria Math" panose="02040503050406030204" pitchFamily="18" charset="0"/>
                  </a:rPr>
                  <a:t>$a^2=1\cdot(1+2)=3$</a:t>
                </a:r>
                <a:r>
                  <a:rPr sz="2400" b="0">
                    <a:solidFill>
                      <a:srgbClr val="111827"/>
                    </a:solidFill>
                    <a:latin typeface="Arial"/>
                  </a:rPr>
                  <a:t> agrees with the answer.</a:t>
                </a:r>
                <a:endParaRPr sz="2400">
                  <a:solidFill>
                    <a:srgbClr val="111827"/>
                  </a:solidFill>
                </a:endParaRP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let the angles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be in G.P. with common ratio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If the circumradius of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then find the value of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𝑏</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e>
                    </m:d>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triangle </a:t>
                </a:r>
                <a:r>
                  <a:rPr lang="en-IN" sz="2400">
                    <a:solidFill>
                      <a:srgbClr val="111827"/>
                    </a:solidFill>
                    <a:latin typeface="Cambria Math" panose="02040503050406030204" pitchFamily="18" charset="0"/>
                  </a:rPr>
                  <a:t>$ABC$</a:t>
                </a:r>
                <a:r>
                  <a:rPr sz="2400" b="0">
                    <a:solidFill>
                      <a:srgbClr val="111827"/>
                    </a:solidFill>
                    <a:latin typeface="Arial"/>
                  </a:rPr>
                  <a:t>, let the angles </a:t>
                </a:r>
                <a:r>
                  <a:rPr lang="en-IN" sz="2400">
                    <a:solidFill>
                      <a:srgbClr val="111827"/>
                    </a:solidFill>
                    <a:latin typeface="Cambria Math" panose="02040503050406030204" pitchFamily="18" charset="0"/>
                  </a:rPr>
                  <a:t>$A,B,C$</a:t>
                </a:r>
                <a:r>
                  <a:rPr sz="2400" b="0">
                    <a:solidFill>
                      <a:srgbClr val="111827"/>
                    </a:solidFill>
                    <a:latin typeface="Arial"/>
                  </a:rPr>
                  <a:t> be in G.P. with common ratio </a:t>
                </a:r>
                <a:r>
                  <a:rPr lang="en-IN" sz="2400">
                    <a:solidFill>
                      <a:srgbClr val="111827"/>
                    </a:solidFill>
                    <a:latin typeface="Cambria Math" panose="02040503050406030204" pitchFamily="18" charset="0"/>
                  </a:rPr>
                  <a:t>$2$</a:t>
                </a:r>
                <a:r>
                  <a:rPr sz="2400" b="0">
                    <a:solidFill>
                      <a:srgbClr val="111827"/>
                    </a:solidFill>
                    <a:latin typeface="Arial"/>
                  </a:rPr>
                  <a:t>. If the circumradius of triangle </a:t>
                </a:r>
                <a:r>
                  <a:rPr lang="en-IN" sz="2400">
                    <a:solidFill>
                      <a:srgbClr val="111827"/>
                    </a:solidFill>
                    <a:latin typeface="Cambria Math" panose="02040503050406030204" pitchFamily="18" charset="0"/>
                  </a:rPr>
                  <a:t>$ABC$</a:t>
                </a:r>
                <a:r>
                  <a:rPr sz="2400" b="0">
                    <a:solidFill>
                      <a:srgbClr val="111827"/>
                    </a:solidFill>
                    <a:latin typeface="Arial"/>
                  </a:rPr>
                  <a:t> is </a:t>
                </a:r>
                <a:r>
                  <a:rPr lang="en-IN" sz="2400">
                    <a:solidFill>
                      <a:srgbClr val="111827"/>
                    </a:solidFill>
                    <a:latin typeface="Cambria Math" panose="02040503050406030204" pitchFamily="18" charset="0"/>
                  </a:rPr>
                  <a:t>$2$</a:t>
                </a:r>
                <a:r>
                  <a:rPr sz="2400" b="0">
                    <a:solidFill>
                      <a:srgbClr val="111827"/>
                    </a:solidFill>
                    <a:latin typeface="Arial"/>
                  </a:rPr>
                  <a:t>, then find the value of </a:t>
                </a:r>
                <a:r>
                  <a:rPr lang="en-IN" sz="2400">
                    <a:solidFill>
                      <a:srgbClr val="111827"/>
                    </a:solidFill>
                    <a:latin typeface="Cambria Math" panose="02040503050406030204" pitchFamily="18" charset="0"/>
                  </a:rPr>
                  <a:t>$\left(b^{-1}+c^{-1}-a^{-1}\right)$</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Sine rule and circumradius, Sum and difference of sines: sum to product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sides as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sin</m:t>
                    </m:r>
                  </m:oMath>
                </a14:m>
                <a:r>
                  <a:rPr sz="2400" b="0">
                    <a:solidFill>
                      <a:srgbClr val="78350F"/>
                    </a:solidFill>
                    <a:latin typeface="Arial"/>
                  </a:rPr>
                  <a:t> of the angles; with </a:t>
                </a:r>
                <a14:m>
                  <m:oMath xmlns:m="http://schemas.openxmlformats.org/officeDocument/2006/math">
                    <m:r>
                      <m:rPr>
                        <m:sty m:val="p"/>
                      </m:rPr>
                      <a:rPr lang="en-IN" sz="2400">
                        <a:solidFill>
                          <a:srgbClr val="78350F"/>
                        </a:solidFill>
                        <a:latin typeface="Cambria Math" panose="02040503050406030204" pitchFamily="18" charset="0"/>
                      </a:rPr>
                      <m:t>sin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7</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7</m:t>
                        </m:r>
                      </m:den>
                    </m:f>
                  </m:oMath>
                </a14:m>
                <a:r>
                  <a:rPr sz="2400" b="0">
                    <a:solidFill>
                      <a:srgbClr val="78350F"/>
                    </a:solidFill>
                    <a:latin typeface="Arial"/>
                  </a:rPr>
                  <a:t> the sum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𝐵</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𝐶</m:t>
                        </m:r>
                      </m:den>
                    </m:f>
                  </m:oMath>
                </a14:m>
                <a:r>
                  <a:rPr sz="2400" b="0">
                    <a:solidFill>
                      <a:srgbClr val="78350F"/>
                    </a:solidFill>
                    <a:latin typeface="Arial"/>
                  </a:rPr>
                  <a:t> collapses to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𝐴</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sides as </a:t>
                </a:r>
                <a:r>
                  <a:rPr lang="en-IN" sz="2400">
                    <a:solidFill>
                      <a:srgbClr val="78350F"/>
                    </a:solidFill>
                    <a:latin typeface="Cambria Math" panose="02040503050406030204" pitchFamily="18" charset="0"/>
                  </a:rPr>
                  <a:t>$2R\sin$</a:t>
                </a:r>
                <a:r>
                  <a:rPr sz="2400" b="0">
                    <a:solidFill>
                      <a:srgbClr val="78350F"/>
                    </a:solidFill>
                    <a:latin typeface="Arial"/>
                  </a:rPr>
                  <a:t> of the angles; with </a:t>
                </a:r>
                <a:r>
                  <a:rPr lang="en-IN" sz="2400">
                    <a:solidFill>
                      <a:srgbClr val="78350F"/>
                    </a:solidFill>
                    <a:latin typeface="Cambria Math" panose="02040503050406030204" pitchFamily="18" charset="0"/>
                  </a:rPr>
                  <a:t>$\sin\frac{4\pi}7=\sin\frac{3\pi}7$</a:t>
                </a:r>
                <a:r>
                  <a:rPr sz="2400" b="0">
                    <a:solidFill>
                      <a:srgbClr val="78350F"/>
                    </a:solidFill>
                    <a:latin typeface="Arial"/>
                  </a:rPr>
                  <a:t> the sum </a:t>
                </a:r>
                <a:r>
                  <a:rPr lang="en-IN" sz="2400">
                    <a:solidFill>
                      <a:srgbClr val="78350F"/>
                    </a:solidFill>
                    <a:latin typeface="Cambria Math" panose="02040503050406030204" pitchFamily="18" charset="0"/>
                  </a:rPr>
                  <a:t>$\frac1{\sin B}+\frac1{\sin C}$</a:t>
                </a:r>
                <a:r>
                  <a:rPr sz="2400" b="0">
                    <a:solidFill>
                      <a:srgbClr val="78350F"/>
                    </a:solidFill>
                    <a:latin typeface="Arial"/>
                  </a:rPr>
                  <a:t> collapses to </a:t>
                </a:r>
                <a:r>
                  <a:rPr lang="en-IN" sz="2400">
                    <a:solidFill>
                      <a:srgbClr val="78350F"/>
                    </a:solidFill>
                    <a:latin typeface="Cambria Math" panose="02040503050406030204" pitchFamily="18" charset="0"/>
                  </a:rPr>
                  <a:t>$\frac1{\sin 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Sine rule: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$A=\alpha$</a:t>
                </a:r>
                <a:r>
                  <a:rPr sz="2400" b="0">
                    <a:solidFill>
                      <a:srgbClr val="111827"/>
                    </a:solidFill>
                    <a:latin typeface="Arial"/>
                  </a:rPr>
                  <a:t>, </a:t>
                </a:r>
                <a:r>
                  <a:rPr lang="en-IN" sz="2400">
                    <a:solidFill>
                      <a:srgbClr val="111827"/>
                    </a:solidFill>
                    <a:latin typeface="Cambria Math" panose="02040503050406030204" pitchFamily="18" charset="0"/>
                  </a:rPr>
                  <a:t>$B=2\alpha$</a:t>
                </a:r>
                <a:r>
                  <a:rPr sz="2400" b="0">
                    <a:solidFill>
                      <a:srgbClr val="111827"/>
                    </a:solidFill>
                    <a:latin typeface="Arial"/>
                  </a:rPr>
                  <a:t>, </a:t>
                </a:r>
                <a:r>
                  <a:rPr lang="en-IN" sz="2400">
                    <a:solidFill>
                      <a:srgbClr val="111827"/>
                    </a:solidFill>
                    <a:latin typeface="Cambria Math" panose="02040503050406030204" pitchFamily="18" charset="0"/>
                  </a:rPr>
                  <a:t>$C=4\alpha$</a:t>
                </a:r>
                <a:r>
                  <a:rPr sz="2400" b="0">
                    <a:solidFill>
                      <a:srgbClr val="111827"/>
                    </a:solidFill>
                    <a:latin typeface="Arial"/>
                  </a:rPr>
                  <a:t> and </a:t>
                </a:r>
                <a:r>
                  <a:rPr lang="en-IN" sz="2400">
                    <a:solidFill>
                      <a:srgbClr val="111827"/>
                    </a:solidFill>
                    <a:latin typeface="Cambria Math" panose="02040503050406030204" pitchFamily="18" charset="0"/>
                  </a:rPr>
                  <a:t>$R=2$</a:t>
                </a:r>
                <a:r>
                  <a:rPr sz="2400" b="0">
                    <a:solidFill>
                      <a:srgbClr val="111827"/>
                    </a:solidFill>
                    <a:latin typeface="Arial"/>
                  </a:rPr>
                  <a:t>. </a:t>
                </a:r>
                <a:r>
                  <a:rPr lang="en-IN" sz="2400">
                    <a:solidFill>
                      <a:srgbClr val="111827"/>
                    </a:solidFill>
                    <a:latin typeface="Cambria Math" panose="02040503050406030204" pitchFamily="18" charset="0"/>
                  </a:rPr>
                  <a:t>$A+B+C=\pi\Rightarrow7\alpha=\pi$</a:t>
                </a:r>
                <a:r>
                  <a:rPr sz="2400" b="0">
                    <a:solidFill>
                      <a:srgbClr val="111827"/>
                    </a:solidFill>
                    <a:latin typeface="Arial"/>
                  </a:rPr>
                  <a:t>, so </a:t>
                </a:r>
                <a:r>
                  <a:rPr lang="en-IN" sz="2400">
                    <a:solidFill>
                      <a:srgbClr val="111827"/>
                    </a:solidFill>
                    <a:latin typeface="Cambria Math" panose="02040503050406030204" pitchFamily="18" charset="0"/>
                  </a:rPr>
                  <a:t>$\alpha=\frac\pi7$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$\angle A=\frac\pi7$</a:t>
                </a:r>
                <a:r>
                  <a:rPr sz="2400" b="0">
                    <a:solidFill>
                      <a:srgbClr val="111827"/>
                    </a:solidFill>
                    <a:latin typeface="Arial"/>
                  </a:rPr>
                  <a:t>, </a:t>
                </a:r>
                <a:r>
                  <a:rPr lang="en-IN" sz="2400">
                    <a:solidFill>
                      <a:srgbClr val="111827"/>
                    </a:solidFill>
                    <a:latin typeface="Cambria Math" panose="02040503050406030204" pitchFamily="18" charset="0"/>
                  </a:rPr>
                  <a:t>$\angle B=\frac{2\pi}7$</a:t>
                </a:r>
                <a:r>
                  <a:rPr sz="2400" b="0">
                    <a:solidFill>
                      <a:srgbClr val="111827"/>
                    </a:solidFill>
                    <a:latin typeface="Arial"/>
                  </a:rPr>
                  <a:t> and </a:t>
                </a:r>
                <a:r>
                  <a:rPr lang="en-IN" sz="2400">
                    <a:solidFill>
                      <a:srgbClr val="111827"/>
                    </a:solidFill>
                    <a:latin typeface="Cambria Math" panose="02040503050406030204" pitchFamily="18" charset="0"/>
                  </a:rPr>
                  <a:t>$\angle C=\frac{4\pi}7$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Sine rule: </a:t>
                </a:r>
                <a:r>
                  <a:rPr lang="en-IN" sz="2400">
                    <a:solidFill>
                      <a:srgbClr val="111827"/>
                    </a:solidFill>
                    <a:latin typeface="Cambria Math" panose="02040503050406030204" pitchFamily="18" charset="0"/>
                  </a:rPr>
                  <a:t>$\frac a{\sin A}=\frac b{\sin B}=\frac c{\sin C}=2R$</a:t>
                </a:r>
                <a:r>
                  <a:rPr sz="2400" b="0">
                    <a:solidFill>
                      <a:srgbClr val="111827"/>
                    </a:solidFill>
                    <a:latin typeface="Arial"/>
                  </a:rPr>
                  <a:t>, so </a:t>
                </a:r>
                <a:r>
                  <a:rPr lang="en-IN" sz="2400">
                    <a:solidFill>
                      <a:srgbClr val="111827"/>
                    </a:solidFill>
                    <a:latin typeface="Cambria Math" panose="02040503050406030204" pitchFamily="18" charset="0"/>
                  </a:rPr>
                  <a:t>$\frac1b+\frac1c-\frac1a=\frac1{2R}\left[\frac1{\sin B}+\frac1{\sin C}-\frac1{\sin A}\right]$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$\frac1{\sin B}+\frac1{\sin C}=\frac{\sin B+\sin C}{\sin B\sin C}=\frac{2\sin\frac{B+C}2\cos\frac{B-C}2}{\sin B\sin 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so the expression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cancels: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$\frac{B+C}2=\frac{3\pi}7$</a:t>
                </a:r>
                <a:r>
                  <a:rPr sz="2400" b="0">
                    <a:solidFill>
                      <a:srgbClr val="111827"/>
                    </a:solidFill>
                    <a:latin typeface="Arial"/>
                  </a:rPr>
                  <a:t> and </a:t>
                </a:r>
                <a:r>
                  <a:rPr lang="en-IN" sz="2400">
                    <a:solidFill>
                      <a:srgbClr val="111827"/>
                    </a:solidFill>
                    <a:latin typeface="Cambria Math" panose="02040503050406030204" pitchFamily="18" charset="0"/>
                  </a:rPr>
                  <a:t>$\cos\frac{B-C}2=\cos\frac\pi7$</a:t>
                </a:r>
                <a:r>
                  <a:rPr sz="2400" b="0">
                    <a:solidFill>
                      <a:srgbClr val="111827"/>
                    </a:solidFill>
                    <a:latin typeface="Arial"/>
                  </a:rPr>
                  <a:t>, so the expression is </a:t>
                </a:r>
                <a:r>
                  <a:rPr lang="en-IN" sz="2400">
                    <a:solidFill>
                      <a:srgbClr val="111827"/>
                    </a:solidFill>
                    <a:latin typeface="Cambria Math" panose="02040503050406030204" pitchFamily="18" charset="0"/>
                  </a:rPr>
                  <a:t>$\frac{2\sin\frac{3\pi}7\cos\frac\pi7}{\sin\frac{2\pi}7\sin\frac{4\pi}7}$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$\sin\frac{4\pi}7=\sin\frac{3\pi}7$</a:t>
                </a:r>
                <a:r>
                  <a:rPr sz="2400" b="0">
                    <a:solidFill>
                      <a:srgbClr val="111827"/>
                    </a:solidFill>
                    <a:latin typeface="Arial"/>
                  </a:rPr>
                  <a:t>, so </a:t>
                </a:r>
                <a:r>
                  <a:rPr lang="en-IN" sz="2400">
                    <a:solidFill>
                      <a:srgbClr val="111827"/>
                    </a:solidFill>
                    <a:latin typeface="Cambria Math" panose="02040503050406030204" pitchFamily="18" charset="0"/>
                  </a:rPr>
                  <a:t>$\sin\frac{3\pi}7$</a:t>
                </a:r>
                <a:r>
                  <a:rPr sz="2400" b="0">
                    <a:solidFill>
                      <a:srgbClr val="111827"/>
                    </a:solidFill>
                    <a:latin typeface="Arial"/>
                  </a:rPr>
                  <a:t> cancels: </a:t>
                </a:r>
                <a:r>
                  <a:rPr lang="en-IN" sz="2400">
                    <a:solidFill>
                      <a:srgbClr val="111827"/>
                    </a:solidFill>
                    <a:latin typeface="Cambria Math" panose="02040503050406030204" pitchFamily="18" charset="0"/>
                  </a:rPr>
                  <a:t>$\frac{2\cos\frac\pi7}{\sin\frac{2\pi}7}=\frac{2\cos\frac\pi7}{2\sin\frac\pi7\cos\frac\pi7}=\frac1{\sin\frac\pi7}$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$\frac1b+\frac1c-\frac1a=\frac1{2R}\left[\frac1{\sin\frac\pi7}-\frac1{\sin\frac\pi7}\right]=0$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$0$</a:t>
                </a:r>
                <a:endParaRPr sz="2800">
                  <a:solidFill>
                    <a:srgbClr val="15803D"/>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sides are the side and the two diagonals of a regular heptagon, and Ptolemy's theorem gives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𝑎</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𝑏</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𝑐</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sides are the side and the two diagonals of a regular heptagon, and Ptolemy's theorem gives </a:t>
                </a:r>
                <a:r>
                  <a:rPr lang="en-IN" sz="2400">
                    <a:solidFill>
                      <a:srgbClr val="78350F"/>
                    </a:solidFill>
                    <a:latin typeface="Cambria Math" panose="02040503050406030204" pitchFamily="18" charset="0"/>
                  </a:rPr>
                  <a:t>$\frac1a=\frac1b+\frac1c$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regular heptagon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7</m:t>
                        </m:r>
                      </m:sub>
                    </m:sSub>
                  </m:oMath>
                </a14:m>
                <a:r>
                  <a:rPr sz="2400" b="0">
                    <a:solidFill>
                      <a:srgbClr val="111827"/>
                    </a:solidFill>
                    <a:latin typeface="Arial"/>
                  </a:rPr>
                  <a:t> inscribed in a circle of radius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the side is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the short diagonal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and the long diagonal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triangle's sides are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regular heptagon </a:t>
                </a:r>
                <a:r>
                  <a:rPr lang="en-IN" sz="2400">
                    <a:solidFill>
                      <a:srgbClr val="111827"/>
                    </a:solidFill>
                    <a:latin typeface="Cambria Math" panose="02040503050406030204" pitchFamily="18" charset="0"/>
                  </a:rPr>
                  <a:t>$P_1P_2\dots P_7$</a:t>
                </a:r>
                <a:r>
                  <a:rPr sz="2400" b="0">
                    <a:solidFill>
                      <a:srgbClr val="111827"/>
                    </a:solidFill>
                    <a:latin typeface="Arial"/>
                  </a:rPr>
                  <a:t> inscribed in a circle of radius </a:t>
                </a:r>
                <a:r>
                  <a:rPr lang="en-IN" sz="2400">
                    <a:solidFill>
                      <a:srgbClr val="111827"/>
                    </a:solidFill>
                    <a:latin typeface="Cambria Math" panose="02040503050406030204" pitchFamily="18" charset="0"/>
                  </a:rPr>
                  <a:t>$R$</a:t>
                </a:r>
                <a:r>
                  <a:rPr sz="2400" b="0">
                    <a:solidFill>
                      <a:srgbClr val="111827"/>
                    </a:solidFill>
                    <a:latin typeface="Arial"/>
                  </a:rPr>
                  <a:t>: the side is </a:t>
                </a:r>
                <a:r>
                  <a:rPr lang="en-IN" sz="2400">
                    <a:solidFill>
                      <a:srgbClr val="111827"/>
                    </a:solidFill>
                    <a:latin typeface="Cambria Math" panose="02040503050406030204" pitchFamily="18" charset="0"/>
                  </a:rPr>
                  <a:t>$p=2R\sin\frac\pi7$</a:t>
                </a:r>
                <a:r>
                  <a:rPr sz="2400" b="0">
                    <a:solidFill>
                      <a:srgbClr val="111827"/>
                    </a:solidFill>
                    <a:latin typeface="Arial"/>
                  </a:rPr>
                  <a:t>, the short diagonal </a:t>
                </a:r>
                <a:r>
                  <a:rPr lang="en-IN" sz="2400">
                    <a:solidFill>
                      <a:srgbClr val="111827"/>
                    </a:solidFill>
                    <a:latin typeface="Cambria Math" panose="02040503050406030204" pitchFamily="18" charset="0"/>
                  </a:rPr>
                  <a:t>$P_1P_3=q=2R\sin\frac{2\pi}7$</a:t>
                </a:r>
                <a:r>
                  <a:rPr sz="2400" b="0">
                    <a:solidFill>
                      <a:srgbClr val="111827"/>
                    </a:solidFill>
                    <a:latin typeface="Arial"/>
                  </a:rPr>
                  <a:t> and the long diagonal </a:t>
                </a:r>
                <a:r>
                  <a:rPr lang="en-IN" sz="2400">
                    <a:solidFill>
                      <a:srgbClr val="111827"/>
                    </a:solidFill>
                    <a:latin typeface="Cambria Math" panose="02040503050406030204" pitchFamily="18" charset="0"/>
                  </a:rPr>
                  <a:t>$P_1P_4=r=2R\sin\frac{3\pi}7$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triangle's sides are </a:t>
                </a:r>
                <a:r>
                  <a:rPr lang="en-IN" sz="2400">
                    <a:solidFill>
                      <a:srgbClr val="111827"/>
                    </a:solidFill>
                    <a:latin typeface="Cambria Math" panose="02040503050406030204" pitchFamily="18" charset="0"/>
                  </a:rPr>
                  <a:t>$a=2R\sin\frac\pi7=p$</a:t>
                </a:r>
                <a:r>
                  <a:rPr sz="2400" b="0">
                    <a:solidFill>
                      <a:srgbClr val="111827"/>
                    </a:solidFill>
                    <a:latin typeface="Arial"/>
                  </a:rPr>
                  <a:t>, </a:t>
                </a:r>
                <a:r>
                  <a:rPr lang="en-IN" sz="2400">
                    <a:solidFill>
                      <a:srgbClr val="111827"/>
                    </a:solidFill>
                    <a:latin typeface="Cambria Math" panose="02040503050406030204" pitchFamily="18" charset="0"/>
                  </a:rPr>
                  <a:t>$b=2R\sin\frac{2\pi}7=q$</a:t>
                </a:r>
                <a:r>
                  <a:rPr sz="2400" b="0">
                    <a:solidFill>
                      <a:srgbClr val="111827"/>
                    </a:solidFill>
                    <a:latin typeface="Arial"/>
                  </a:rPr>
                  <a:t> and </a:t>
                </a:r>
                <a:r>
                  <a:rPr lang="en-IN" sz="2400">
                    <a:solidFill>
                      <a:srgbClr val="111827"/>
                    </a:solidFill>
                    <a:latin typeface="Cambria Math" panose="02040503050406030204" pitchFamily="18" charset="0"/>
                  </a:rPr>
                  <a:t>$c=2R\sin\frac{4\pi}7=2R\sin\frac{3\pi}7=r$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Ptolemy on the cyclic quadrilateral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5</m:t>
                        </m:r>
                      </m:sub>
                    </m:sSub>
                  </m:oMath>
                </a14:m>
                <a:r>
                  <a:rPr sz="2400" b="0">
                    <a:solidFill>
                      <a:srgbClr val="111827"/>
                    </a:solidFill>
                    <a:latin typeface="Arial"/>
                  </a:rPr>
                  <a:t>: diagonals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sides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5</m:t>
                        </m:r>
                      </m:sub>
                    </m:sSub>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14:m>
                  <m:oMath xmlns:m="http://schemas.openxmlformats.org/officeDocument/2006/math">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𝑞</m:t>
                        </m:r>
                      </m:den>
                    </m:f>
                  </m:oMath>
                </a14:m>
                <a:r>
                  <a:rPr sz="2400" b="0">
                    <a:solidFill>
                      <a:srgbClr val="111827"/>
                    </a:solidFill>
                    <a:latin typeface="Arial"/>
                  </a:rPr>
                  <a:t>, that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whatever the circumradius is (in particular for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Ptolemy on the cyclic quadrilateral </a:t>
                </a:r>
                <a:r>
                  <a:rPr lang="en-IN" sz="2400">
                    <a:solidFill>
                      <a:srgbClr val="111827"/>
                    </a:solidFill>
                    <a:latin typeface="Cambria Math" panose="02040503050406030204" pitchFamily="18" charset="0"/>
                  </a:rPr>
                  <a:t>$P_1P_2P_3P_5$</a:t>
                </a:r>
                <a:r>
                  <a:rPr sz="2400" b="0">
                    <a:solidFill>
                      <a:srgbClr val="111827"/>
                    </a:solidFill>
                    <a:latin typeface="Arial"/>
                  </a:rPr>
                  <a:t>: diagonals </a:t>
                </a:r>
                <a:r>
                  <a:rPr lang="en-IN" sz="2400">
                    <a:solidFill>
                      <a:srgbClr val="111827"/>
                    </a:solidFill>
                    <a:latin typeface="Cambria Math" panose="02040503050406030204" pitchFamily="18" charset="0"/>
                  </a:rPr>
                  <a:t>$P_1P_3=q$</a:t>
                </a:r>
                <a:r>
                  <a:rPr sz="2400" b="0">
                    <a:solidFill>
                      <a:srgbClr val="111827"/>
                    </a:solidFill>
                    <a:latin typeface="Arial"/>
                  </a:rPr>
                  <a:t> and </a:t>
                </a:r>
                <a:r>
                  <a:rPr lang="en-IN" sz="2400">
                    <a:solidFill>
                      <a:srgbClr val="111827"/>
                    </a:solidFill>
                    <a:latin typeface="Cambria Math" panose="02040503050406030204" pitchFamily="18" charset="0"/>
                  </a:rPr>
                  <a:t>$P_2P_5=r$</a:t>
                </a:r>
                <a:r>
                  <a:rPr sz="2400" b="0">
                    <a:solidFill>
                      <a:srgbClr val="111827"/>
                    </a:solidFill>
                    <a:latin typeface="Arial"/>
                  </a:rPr>
                  <a:t>; sides </a:t>
                </a:r>
                <a:r>
                  <a:rPr lang="en-IN" sz="2400">
                    <a:solidFill>
                      <a:srgbClr val="111827"/>
                    </a:solidFill>
                    <a:latin typeface="Cambria Math" panose="02040503050406030204" pitchFamily="18" charset="0"/>
                  </a:rPr>
                  <a:t>$P_1P_2=p$</a:t>
                </a:r>
                <a:r>
                  <a:rPr sz="2400" b="0">
                    <a:solidFill>
                      <a:srgbClr val="111827"/>
                    </a:solidFill>
                    <a:latin typeface="Arial"/>
                  </a:rPr>
                  <a:t>, </a:t>
                </a:r>
                <a:r>
                  <a:rPr lang="en-IN" sz="2400">
                    <a:solidFill>
                      <a:srgbClr val="111827"/>
                    </a:solidFill>
                    <a:latin typeface="Cambria Math" panose="02040503050406030204" pitchFamily="18" charset="0"/>
                  </a:rPr>
                  <a:t>$P_2P_3=p$</a:t>
                </a:r>
                <a:r>
                  <a:rPr sz="2400" b="0">
                    <a:solidFill>
                      <a:srgbClr val="111827"/>
                    </a:solidFill>
                    <a:latin typeface="Arial"/>
                  </a:rPr>
                  <a:t>, </a:t>
                </a:r>
                <a:r>
                  <a:rPr lang="en-IN" sz="2400">
                    <a:solidFill>
                      <a:srgbClr val="111827"/>
                    </a:solidFill>
                    <a:latin typeface="Cambria Math" panose="02040503050406030204" pitchFamily="18" charset="0"/>
                  </a:rPr>
                  <a:t>$P_3P_5=q$</a:t>
                </a:r>
                <a:r>
                  <a:rPr sz="2400" b="0">
                    <a:solidFill>
                      <a:srgbClr val="111827"/>
                    </a:solidFill>
                    <a:latin typeface="Arial"/>
                  </a:rPr>
                  <a:t>, </a:t>
                </a:r>
                <a:r>
                  <a:rPr lang="en-IN" sz="2400">
                    <a:solidFill>
                      <a:srgbClr val="111827"/>
                    </a:solidFill>
                    <a:latin typeface="Cambria Math" panose="02040503050406030204" pitchFamily="18" charset="0"/>
                  </a:rPr>
                  <a:t>$P_5P_1=r$</a:t>
                </a:r>
                <a:r>
                  <a:rPr sz="2400" b="0">
                    <a:solidFill>
                      <a:srgbClr val="111827"/>
                    </a:solidFill>
                    <a:latin typeface="Arial"/>
                  </a:rPr>
                  <a:t>. So </a:t>
                </a:r>
                <a:r>
                  <a:rPr lang="en-IN" sz="2400">
                    <a:solidFill>
                      <a:srgbClr val="111827"/>
                    </a:solidFill>
                    <a:latin typeface="Cambria Math" panose="02040503050406030204" pitchFamily="18" charset="0"/>
                  </a:rPr>
                  <a:t>$qr=pq+pr$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r>
                  <a:rPr lang="en-IN" sz="2400">
                    <a:solidFill>
                      <a:srgbClr val="111827"/>
                    </a:solidFill>
                    <a:latin typeface="Cambria Math" panose="02040503050406030204" pitchFamily="18" charset="0"/>
                  </a:rPr>
                  <a:t>$pqr$</a:t>
                </a:r>
                <a:r>
                  <a:rPr sz="2400" b="0">
                    <a:solidFill>
                      <a:srgbClr val="111827"/>
                    </a:solidFill>
                    <a:latin typeface="Arial"/>
                  </a:rPr>
                  <a:t>: </a:t>
                </a:r>
                <a:r>
                  <a:rPr lang="en-IN" sz="2400">
                    <a:solidFill>
                      <a:srgbClr val="111827"/>
                    </a:solidFill>
                    <a:latin typeface="Cambria Math" panose="02040503050406030204" pitchFamily="18" charset="0"/>
                  </a:rPr>
                  <a:t>$\frac1p=\frac1r+\frac1q$</a:t>
                </a:r>
                <a:r>
                  <a:rPr sz="2400" b="0">
                    <a:solidFill>
                      <a:srgbClr val="111827"/>
                    </a:solidFill>
                    <a:latin typeface="Arial"/>
                  </a:rPr>
                  <a:t>, that is </a:t>
                </a:r>
                <a:r>
                  <a:rPr lang="en-IN" sz="2400">
                    <a:solidFill>
                      <a:srgbClr val="111827"/>
                    </a:solidFill>
                    <a:latin typeface="Cambria Math" panose="02040503050406030204" pitchFamily="18" charset="0"/>
                  </a:rPr>
                  <a:t>$\frac1a=\frac1b+\frac1c$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$\frac1b+\frac1c-\frac1a=0$</a:t>
                </a:r>
                <a:r>
                  <a:rPr sz="2400" b="0">
                    <a:solidFill>
                      <a:srgbClr val="111827"/>
                    </a:solidFill>
                    <a:latin typeface="Arial"/>
                  </a:rPr>
                  <a:t>, whatever the circumradius is (in particular for </a:t>
                </a:r>
                <a:r>
                  <a:rPr lang="en-IN" sz="2400">
                    <a:solidFill>
                      <a:srgbClr val="111827"/>
                    </a:solidFill>
                    <a:latin typeface="Cambria Math" panose="02040503050406030204" pitchFamily="18" charset="0"/>
                  </a:rPr>
                  <a:t>$R=2$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0</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$0$</a:t>
                </a:r>
                <a:endParaRPr sz="2800">
                  <a:solidFill>
                    <a:srgbClr val="15803D"/>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den>
                    </m:f>
                  </m:oMath>
                </a14:m>
                <a:r>
                  <a:rPr sz="2400" b="0">
                    <a:solidFill>
                      <a:srgbClr val="111827"/>
                    </a:solidFill>
                    <a:latin typeface="Arial"/>
                  </a:rPr>
                  <a:t>; geometrically, in a regular heptagon with side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and diagonals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𝑟</m:t>
                    </m:r>
                  </m:oMath>
                </a14:m>
                <a:r>
                  <a:rPr sz="2400" b="0">
                    <a:solidFill>
                      <a:srgbClr val="111827"/>
                    </a:solidFill>
                    <a:latin typeface="Arial"/>
                  </a:rPr>
                  <a:t> we have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𝑝</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oMath>
                </a14:m>
                <a:r>
                  <a:rPr sz="2400" b="0">
                    <a:solidFill>
                      <a:srgbClr val="111827"/>
                    </a:solidFill>
                    <a:latin typeface="Arial"/>
                  </a:rPr>
                  <a:t> (Ptolemy).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triangle with angles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is the 'heptagonal triangle'; its sides satisfy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 for every circumradius, so the value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in the question is a distractor.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angles add to </a:t>
                </a:r>
                <a14:m>
                  <m:oMath xmlns:m="http://schemas.openxmlformats.org/officeDocument/2006/math">
                    <m:r>
                      <a:rPr lang="en-IN" sz="2400" i="1">
                        <a:solidFill>
                          <a:srgbClr val="111827"/>
                        </a:solidFill>
                        <a:latin typeface="Cambria Math" panose="02040503050406030204" pitchFamily="18" charset="0"/>
                      </a:rPr>
                      <m:t>π</m:t>
                    </m:r>
                  </m:oMath>
                </a14:m>
                <a:r>
                  <a:rPr sz="2400" b="0">
                    <a:solidFill>
                      <a:srgbClr val="111827"/>
                    </a:solidFill>
                    <a:latin typeface="Arial"/>
                  </a:rPr>
                  <a:t>, use </a:t>
                </a:r>
                <a14:m>
                  <m:oMath xmlns:m="http://schemas.openxmlformats.org/officeDocument/2006/math">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oMath>
                </a14:m>
                <a:r>
                  <a:rPr sz="2400" b="0">
                    <a:solidFill>
                      <a:srgbClr val="111827"/>
                    </a:solidFill>
                    <a:latin typeface="Arial"/>
                  </a:rPr>
                  <a:t> to make sines coincide: </a:t>
                </a: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$\frac1{\sin\frac\pi7}=\frac1{\sin\frac{2\pi}7}+\frac1{\sin\frac{3\pi}7}$</a:t>
                </a:r>
                <a:r>
                  <a:rPr sz="2400" b="0">
                    <a:solidFill>
                      <a:srgbClr val="111827"/>
                    </a:solidFill>
                    <a:latin typeface="Arial"/>
                  </a:rPr>
                  <a:t>; geometrically, in a regular heptagon with side </a:t>
                </a:r>
                <a:r>
                  <a:rPr lang="en-IN" sz="2400">
                    <a:solidFill>
                      <a:srgbClr val="111827"/>
                    </a:solidFill>
                    <a:latin typeface="Cambria Math" panose="02040503050406030204" pitchFamily="18" charset="0"/>
                  </a:rPr>
                  <a:t>$p$</a:t>
                </a:r>
                <a:r>
                  <a:rPr sz="2400" b="0">
                    <a:solidFill>
                      <a:srgbClr val="111827"/>
                    </a:solidFill>
                    <a:latin typeface="Arial"/>
                  </a:rPr>
                  <a:t> and diagonals </a:t>
                </a:r>
                <a:r>
                  <a:rPr lang="en-IN" sz="2400">
                    <a:solidFill>
                      <a:srgbClr val="111827"/>
                    </a:solidFill>
                    <a:latin typeface="Cambria Math" panose="02040503050406030204" pitchFamily="18" charset="0"/>
                  </a:rPr>
                  <a:t>$q&lt;r$</a:t>
                </a:r>
                <a:r>
                  <a:rPr sz="2400" b="0">
                    <a:solidFill>
                      <a:srgbClr val="111827"/>
                    </a:solidFill>
                    <a:latin typeface="Arial"/>
                  </a:rPr>
                  <a:t> we have </a:t>
                </a:r>
                <a:r>
                  <a:rPr lang="en-IN" sz="2400">
                    <a:solidFill>
                      <a:srgbClr val="111827"/>
                    </a:solidFill>
                    <a:latin typeface="Cambria Math" panose="02040503050406030204" pitchFamily="18" charset="0"/>
                  </a:rPr>
                  <a:t>$\frac1p=\frac1q+\frac1r$</a:t>
                </a:r>
                <a:r>
                  <a:rPr sz="2400" b="0">
                    <a:solidFill>
                      <a:srgbClr val="111827"/>
                    </a:solidFill>
                    <a:latin typeface="Arial"/>
                  </a:rPr>
                  <a:t> (Ptolemy).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triangle with angles </a:t>
                </a:r>
                <a:r>
                  <a:rPr lang="en-IN" sz="2400">
                    <a:solidFill>
                      <a:srgbClr val="111827"/>
                    </a:solidFill>
                    <a:latin typeface="Cambria Math" panose="02040503050406030204" pitchFamily="18" charset="0"/>
                  </a:rPr>
                  <a:t>$\frac\pi7,\frac{2\pi}7,\frac{4\pi}7$</a:t>
                </a:r>
                <a:r>
                  <a:rPr sz="2400" b="0">
                    <a:solidFill>
                      <a:srgbClr val="111827"/>
                    </a:solidFill>
                    <a:latin typeface="Arial"/>
                  </a:rPr>
                  <a:t> is the 'heptagonal triangle'; its sides satisfy </a:t>
                </a:r>
                <a:r>
                  <a:rPr lang="en-IN" sz="2400">
                    <a:solidFill>
                      <a:srgbClr val="111827"/>
                    </a:solidFill>
                    <a:latin typeface="Cambria Math" panose="02040503050406030204" pitchFamily="18" charset="0"/>
                  </a:rPr>
                  <a:t>$\frac1a=\frac1b+\frac1c$</a:t>
                </a:r>
                <a:r>
                  <a:rPr sz="2400" b="0">
                    <a:solidFill>
                      <a:srgbClr val="111827"/>
                    </a:solidFill>
                    <a:latin typeface="Arial"/>
                  </a:rPr>
                  <a:t> for every circumradius, so the value </a:t>
                </a:r>
                <a:r>
                  <a:rPr lang="en-IN" sz="2400">
                    <a:solidFill>
                      <a:srgbClr val="111827"/>
                    </a:solidFill>
                    <a:latin typeface="Cambria Math" panose="02040503050406030204" pitchFamily="18" charset="0"/>
                  </a:rPr>
                  <a:t>$R=2$</a:t>
                </a:r>
                <a:r>
                  <a:rPr sz="2400" b="0">
                    <a:solidFill>
                      <a:srgbClr val="111827"/>
                    </a:solidFill>
                    <a:latin typeface="Arial"/>
                  </a:rPr>
                  <a:t> in the question is a distractor.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angles add to </a:t>
                </a:r>
                <a:r>
                  <a:rPr lang="en-IN" sz="2400">
                    <a:solidFill>
                      <a:srgbClr val="111827"/>
                    </a:solidFill>
                    <a:latin typeface="Cambria Math" panose="02040503050406030204" pitchFamily="18" charset="0"/>
                  </a:rPr>
                  <a:t>$\pi$</a:t>
                </a:r>
                <a:r>
                  <a:rPr sz="2400" b="0">
                    <a:solidFill>
                      <a:srgbClr val="111827"/>
                    </a:solidFill>
                    <a:latin typeface="Arial"/>
                  </a:rPr>
                  <a:t>, use </a:t>
                </a:r>
                <a:r>
                  <a:rPr lang="en-IN" sz="2400">
                    <a:solidFill>
                      <a:srgbClr val="111827"/>
                    </a:solidFill>
                    <a:latin typeface="Cambria Math" panose="02040503050406030204" pitchFamily="18" charset="0"/>
                  </a:rPr>
                  <a:t>$\sin(\pi-x)=\sin x$</a:t>
                </a:r>
                <a:r>
                  <a:rPr sz="2400" b="0">
                    <a:solidFill>
                      <a:srgbClr val="111827"/>
                    </a:solidFill>
                    <a:latin typeface="Arial"/>
                  </a:rPr>
                  <a:t> to make sines coincide: </a:t>
                </a:r>
                <a:r>
                  <a:rPr lang="en-IN" sz="2400">
                    <a:solidFill>
                      <a:srgbClr val="111827"/>
                    </a:solidFill>
                    <a:latin typeface="Cambria Math" panose="02040503050406030204" pitchFamily="18" charset="0"/>
                  </a:rPr>
                  <a:t>$\sin\frac{4\pi}7=\sin\frac{3\pi}7$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Subjective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Q04 – Q05</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Prove / find; complete solution with alternate method and result</a:t>
            </a:r>
            <a:endParaRPr sz="2800">
              <a:solidFill>
                <a:srgbClr val="FFFFFF"/>
              </a:solidFill>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any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𝐶</m:t>
                    </m:r>
                  </m:oMath>
                </a14:m>
                <a:r>
                  <a:rPr sz="2400" b="0">
                    <a:solidFill>
                      <a:srgbClr val="111827"/>
                    </a:solidFill>
                    <a:latin typeface="Arial"/>
                  </a:rPr>
                  <a:t>, show that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𝑐</m:t>
                            </m:r>
                          </m:den>
                        </m:f>
                      </m:e>
                    </m:rad>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den>
                    </m:f>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For any triangle </a:t>
                </a:r>
                <a:r>
                  <a:rPr lang="en-IN" sz="2400">
                    <a:solidFill>
                      <a:srgbClr val="111827"/>
                    </a:solidFill>
                    <a:latin typeface="Cambria Math" panose="02040503050406030204" pitchFamily="18" charset="0"/>
                  </a:rPr>
                  <a:t>$ABC$</a:t>
                </a:r>
                <a:r>
                  <a:rPr sz="2400" b="0">
                    <a:solidFill>
                      <a:srgbClr val="111827"/>
                    </a:solidFill>
                    <a:latin typeface="Arial"/>
                  </a:rPr>
                  <a:t>, if </a:t>
                </a:r>
                <a:r>
                  <a:rPr lang="en-IN" sz="2400">
                    <a:solidFill>
                      <a:srgbClr val="111827"/>
                    </a:solidFill>
                    <a:latin typeface="Cambria Math" panose="02040503050406030204" pitchFamily="18" charset="0"/>
                  </a:rPr>
                  <a:t>$B=3C$</a:t>
                </a:r>
                <a:r>
                  <a:rPr sz="2400" b="0">
                    <a:solidFill>
                      <a:srgbClr val="111827"/>
                    </a:solidFill>
                    <a:latin typeface="Arial"/>
                  </a:rPr>
                  <a:t>, show that </a:t>
                </a:r>
                <a:r>
                  <a:rPr lang="en-IN" sz="2400">
                    <a:solidFill>
                      <a:srgbClr val="111827"/>
                    </a:solidFill>
                    <a:latin typeface="Cambria Math" panose="02040503050406030204" pitchFamily="18" charset="0"/>
                  </a:rPr>
                  <a:t>$\cos C=\sqrt{\frac{b+c}{4c}}$</a:t>
                </a:r>
                <a:r>
                  <a:rPr sz="2400" b="0">
                    <a:solidFill>
                      <a:srgbClr val="111827"/>
                    </a:solidFill>
                    <a:latin typeface="Arial"/>
                  </a:rPr>
                  <a:t> and </a:t>
                </a:r>
                <a:r>
                  <a:rPr lang="en-IN" sz="2400">
                    <a:solidFill>
                      <a:srgbClr val="111827"/>
                    </a:solidFill>
                    <a:latin typeface="Cambria Math" panose="02040503050406030204" pitchFamily="18" charset="0"/>
                  </a:rPr>
                  <a:t>$\sin\frac A2=\frac{b-c}{2c}$</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Sine rule with multiple-angle identity, Half-angle relations in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𝑏</m:t>
                        </m:r>
                      </m:num>
                      <m:den>
                        <m:r>
                          <a:rPr lang="en-IN" sz="2400" i="1">
                            <a:solidFill>
                              <a:srgbClr val="78350F"/>
                            </a:solidFill>
                            <a:latin typeface="Cambria Math" panose="02040503050406030204" pitchFamily="18" charset="0"/>
                          </a:rPr>
                          <m:t>𝑐</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𝐶</m:t>
                        </m:r>
                      </m:num>
                      <m:den>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𝐶</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sSup>
                      <m:e>
                        <m:r>
                          <m:rPr>
                            <m:sty m:val="p"/>
                          </m:rPr>
                          <a:rPr lang="en-IN" sz="2400">
                            <a:solidFill>
                              <a:srgbClr val="78350F"/>
                            </a:solidFill>
                            <a:latin typeface="Cambria Math" panose="02040503050406030204" pitchFamily="18" charset="0"/>
                          </a:rPr>
                          <m:t>cos</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𝐴</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𝐶</m:t>
                    </m:r>
                  </m:oMath>
                </a14:m>
                <a:r>
                  <a:rPr sz="2400" b="0">
                    <a:solidFill>
                      <a:srgbClr val="78350F"/>
                    </a:solidFill>
                    <a:latin typeface="Arial"/>
                  </a:rPr>
                  <a:t> makes </a:t>
                </a:r>
                <a14:m>
                  <m:oMath xmlns:m="http://schemas.openxmlformats.org/officeDocument/2006/math">
                    <m:r>
                      <m:rPr>
                        <m:sty m:val="p"/>
                      </m:rPr>
                      <a:rPr lang="en-IN" sz="2400">
                        <a:solidFill>
                          <a:srgbClr val="78350F"/>
                        </a:solidFill>
                        <a:latin typeface="Cambria Math" panose="02040503050406030204" pitchFamily="18" charset="0"/>
                      </a:rPr>
                      <m:t>sin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𝐴</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𝐶</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$\frac bc=\frac{\sin3C}{\sin C}=4\cos^2C-1$</a:t>
                </a:r>
                <a:r>
                  <a:rPr sz="2400" b="0">
                    <a:solidFill>
                      <a:srgbClr val="78350F"/>
                    </a:solidFill>
                    <a:latin typeface="Arial"/>
                  </a:rPr>
                  <a:t>, and </a:t>
                </a:r>
                <a:r>
                  <a:rPr lang="en-IN" sz="2400">
                    <a:solidFill>
                      <a:srgbClr val="78350F"/>
                    </a:solidFill>
                    <a:latin typeface="Cambria Math" panose="02040503050406030204" pitchFamily="18" charset="0"/>
                  </a:rPr>
                  <a:t>$\frac A2=\frac\pi2-2C$</a:t>
                </a:r>
                <a:r>
                  <a:rPr sz="2400" b="0">
                    <a:solidFill>
                      <a:srgbClr val="78350F"/>
                    </a:solidFill>
                    <a:latin typeface="Arial"/>
                  </a:rPr>
                  <a:t> makes </a:t>
                </a:r>
                <a:r>
                  <a:rPr lang="en-IN" sz="2400">
                    <a:solidFill>
                      <a:srgbClr val="78350F"/>
                    </a:solidFill>
                    <a:latin typeface="Cambria Math" panose="02040503050406030204" pitchFamily="18" charset="0"/>
                  </a:rPr>
                  <a:t>$\sin\frac A2=\cos2C$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𝐶</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oMath>
                </a14:m>
                <a:r>
                  <a:rPr sz="2400" b="0">
                    <a:solidFill>
                      <a:srgbClr val="111827"/>
                    </a:solidFill>
                    <a:latin typeface="Arial"/>
                  </a:rPr>
                  <a:t>, and by the sine rule this equals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$B=3C\Rightarrow\sin B=\sin3C$</a:t>
                </a:r>
                <a:r>
                  <a:rPr sz="2400" b="0">
                    <a:solidFill>
                      <a:srgbClr val="111827"/>
                    </a:solidFill>
                    <a:latin typeface="Arial"/>
                  </a:rPr>
                  <a:t>, so </a:t>
                </a:r>
                <a:r>
                  <a:rPr lang="en-IN" sz="2400">
                    <a:solidFill>
                      <a:srgbClr val="111827"/>
                    </a:solidFill>
                    <a:latin typeface="Cambria Math" panose="02040503050406030204" pitchFamily="18" charset="0"/>
                  </a:rPr>
                  <a:t>$\frac{\sin B}{\sin C}=\frac{\sin3C}{\sin C}=3-4\sin^2C$</a:t>
                </a:r>
                <a:r>
                  <a:rPr sz="2400" b="0">
                    <a:solidFill>
                      <a:srgbClr val="111827"/>
                    </a:solidFill>
                    <a:latin typeface="Arial"/>
                  </a:rPr>
                  <a:t>, and by the sine rule this equals </a:t>
                </a:r>
                <a:r>
                  <a:rPr lang="en-IN" sz="2400">
                    <a:solidFill>
                      <a:srgbClr val="111827"/>
                    </a:solidFill>
                    <a:latin typeface="Cambria Math" panose="02040503050406030204" pitchFamily="18" charset="0"/>
                  </a:rPr>
                  <a:t>$\frac 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$3-4\sin^2C=\frac bc\Rightarrow3-4\left(1-\cos^2C\right)=\frac 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$4\cos^2C-1=\frac bc\Rightarrow4\cos^2C=\frac{b+c}c$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𝑐</m:t>
                            </m:r>
                          </m:den>
                        </m:f>
                      </m:e>
                    </m:rad>
                  </m:oMath>
                </a14:m>
                <a:r>
                  <a:rPr sz="2400" b="0">
                    <a:solidFill>
                      <a:srgbClr val="111827"/>
                    </a:solidFill>
                    <a:latin typeface="Arial"/>
                  </a:rPr>
                  <a:t> (positive: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 C=\sqrt{\frac{b+c}{4c}}$</a:t>
                </a:r>
                <a:r>
                  <a:rPr sz="2400" b="0">
                    <a:solidFill>
                      <a:srgbClr val="111827"/>
                    </a:solidFill>
                    <a:latin typeface="Arial"/>
                  </a:rPr>
                  <a:t> (positive: </a:t>
                </a:r>
                <a:r>
                  <a:rPr lang="en-IN" sz="2400">
                    <a:solidFill>
                      <a:srgbClr val="111827"/>
                    </a:solidFill>
                    <a:latin typeface="Cambria Math" panose="02040503050406030204" pitchFamily="18" charset="0"/>
                  </a:rPr>
                  <a:t>$A=\pi-4C&gt;0$</a:t>
                </a:r>
                <a:r>
                  <a:rPr sz="2400" b="0">
                    <a:solidFill>
                      <a:srgbClr val="111827"/>
                    </a:solidFill>
                    <a:latin typeface="Arial"/>
                  </a:rPr>
                  <a:t> gives </a:t>
                </a:r>
                <a:r>
                  <a:rPr lang="en-IN" sz="2400">
                    <a:solidFill>
                      <a:srgbClr val="111827"/>
                    </a:solidFill>
                    <a:latin typeface="Cambria Math" panose="02040503050406030204" pitchFamily="18" charset="0"/>
                  </a:rPr>
                  <a:t>$C&lt;\frac\pi4$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$A+B+C=\pi\Rightarrow A=\pi-4C\Rightarrow\frac A2=\frac\pi2-2C$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$\sin\frac A2=\cos2C=2\cos^2C-1=\frac{2(b+c)}{4c}-1=\frac{b+c-2c}{2c}=\frac{b-c}{2c}$</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Shown: </a:t>
                </a:r>
                <a14:m>
                  <m:oMath xmlns:m="http://schemas.openxmlformats.org/officeDocument/2006/math">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𝐶</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num>
                          <m:den>
                            <m:r>
                              <a:rPr lang="en-IN" sz="2800" i="1">
                                <a:solidFill>
                                  <a:srgbClr val="15803D"/>
                                </a:solidFill>
                                <a:latin typeface="Cambria Math" panose="02040503050406030204" pitchFamily="18" charset="0"/>
                              </a:rPr>
                              <m:t>4</m:t>
                            </m:r>
                            <m:r>
                              <a:rPr lang="en-IN" sz="2800" i="1">
                                <a:solidFill>
                                  <a:srgbClr val="15803D"/>
                                </a:solidFill>
                                <a:latin typeface="Cambria Math" panose="02040503050406030204" pitchFamily="18" charset="0"/>
                              </a:rPr>
                              <m:t>𝑐</m:t>
                            </m:r>
                          </m:den>
                        </m:f>
                      </m:e>
                    </m:rad>
                  </m:oMath>
                </a14:m>
                <a:r>
                  <a:rPr sz="2800" b="1">
                    <a:solidFill>
                      <a:srgbClr val="15803D"/>
                    </a:solidFill>
                    <a:latin typeface="Arial"/>
                  </a:rPr>
                  <a:t> and </a:t>
                </a:r>
                <a14:m>
                  <m:oMath xmlns:m="http://schemas.openxmlformats.org/officeDocument/2006/math">
                    <m:r>
                      <m:rPr>
                        <m:sty m:val="p"/>
                      </m:rPr>
                      <a:rPr lang="en-IN" sz="2800">
                        <a:solidFill>
                          <a:srgbClr val="15803D"/>
                        </a:solidFill>
                        <a:latin typeface="Cambria Math" panose="02040503050406030204" pitchFamily="18" charset="0"/>
                      </a:rPr>
                      <m:t>sin</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𝐴</m:t>
                        </m:r>
                      </m:num>
                      <m:den>
                        <m:r>
                          <a:rPr lang="en-IN" sz="2800" i="1">
                            <a:solidFill>
                              <a:srgbClr val="15803D"/>
                            </a:solidFill>
                            <a:latin typeface="Cambria Math" panose="02040503050406030204" pitchFamily="18" charset="0"/>
                          </a:rPr>
                          <m:t>2</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num>
                      <m:den>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𝑐</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Shown: </a:t>
                </a:r>
                <a:r>
                  <a:rPr lang="en-IN" sz="2800">
                    <a:solidFill>
                      <a:srgbClr val="15803D"/>
                    </a:solidFill>
                    <a:latin typeface="Cambria Math" panose="02040503050406030204" pitchFamily="18" charset="0"/>
                  </a:rPr>
                  <a:t>$\cos C=\sqrt{\frac{b+c}{4c}}$</a:t>
                </a:r>
                <a:r>
                  <a:rPr sz="2800" b="1">
                    <a:solidFill>
                      <a:srgbClr val="15803D"/>
                    </a:solidFill>
                    <a:latin typeface="Arial"/>
                  </a:rPr>
                  <a:t> and </a:t>
                </a:r>
                <a:r>
                  <a:rPr lang="en-IN" sz="2800">
                    <a:solidFill>
                      <a:srgbClr val="15803D"/>
                    </a:solidFill>
                    <a:latin typeface="Cambria Math" panose="02040503050406030204" pitchFamily="18" charset="0"/>
                  </a:rPr>
                  <a:t>$\sin\frac A2=\frac{b-c}{2c}$</a:t>
                </a:r>
                <a:endParaRPr sz="2800">
                  <a:solidFill>
                    <a:srgbClr val="15803D"/>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𝐵</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𝐶</m:t>
                    </m:r>
                  </m:oMath>
                </a14:m>
                <a:r>
                  <a:rPr sz="2400" b="0">
                    <a:solidFill>
                      <a:srgbClr val="78350F"/>
                    </a:solidFill>
                    <a:latin typeface="Arial"/>
                  </a:rPr>
                  <a:t> and convert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with sum-to-product formulas.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$b=2R\sin B$</a:t>
                </a:r>
                <a:r>
                  <a:rPr sz="2400" b="0">
                    <a:solidFill>
                      <a:srgbClr val="78350F"/>
                    </a:solidFill>
                    <a:latin typeface="Arial"/>
                  </a:rPr>
                  <a:t>, </a:t>
                </a:r>
                <a:r>
                  <a:rPr lang="en-IN" sz="2400">
                    <a:solidFill>
                      <a:srgbClr val="78350F"/>
                    </a:solidFill>
                    <a:latin typeface="Cambria Math" panose="02040503050406030204" pitchFamily="18" charset="0"/>
                  </a:rPr>
                  <a:t>$c=2R\sin C$</a:t>
                </a:r>
                <a:r>
                  <a:rPr sz="2400" b="0">
                    <a:solidFill>
                      <a:srgbClr val="78350F"/>
                    </a:solidFill>
                    <a:latin typeface="Arial"/>
                  </a:rPr>
                  <a:t> and convert </a:t>
                </a:r>
                <a:r>
                  <a:rPr lang="en-IN" sz="2400">
                    <a:solidFill>
                      <a:srgbClr val="78350F"/>
                    </a:solidFill>
                    <a:latin typeface="Cambria Math" panose="02040503050406030204" pitchFamily="18" charset="0"/>
                  </a:rPr>
                  <a:t>$b+c$</a:t>
                </a:r>
                <a:r>
                  <a:rPr sz="2400" b="0">
                    <a:solidFill>
                      <a:srgbClr val="78350F"/>
                    </a:solidFill>
                    <a:latin typeface="Arial"/>
                  </a:rPr>
                  <a:t> and </a:t>
                </a:r>
                <a:r>
                  <a:rPr lang="en-IN" sz="2400">
                    <a:solidFill>
                      <a:srgbClr val="78350F"/>
                    </a:solidFill>
                    <a:latin typeface="Cambria Math" panose="02040503050406030204" pitchFamily="18" charset="0"/>
                  </a:rPr>
                  <a:t>$b-c$</a:t>
                </a:r>
                <a:r>
                  <a:rPr sz="2400" b="0">
                    <a:solidFill>
                      <a:srgbClr val="78350F"/>
                    </a:solidFill>
                    <a:latin typeface="Arial"/>
                  </a:rPr>
                  <a:t> with sum-to-product formulas.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oMath>
                </a14:m>
                <a:r>
                  <a:rPr sz="2400" b="0">
                    <a:solidFill>
                      <a:srgbClr val="111827"/>
                    </a:solidFill>
                    <a:latin typeface="Arial"/>
                  </a:rPr>
                  <a:t>, this is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𝑐</m:t>
                            </m:r>
                          </m:den>
                        </m:f>
                      </m:e>
                    </m:rad>
                  </m:oMath>
                </a14:m>
                <a:r>
                  <a:rPr sz="2400" b="0">
                    <a:solidFill>
                      <a:srgbClr val="111827"/>
                    </a:solidFill>
                    <a:latin typeface="Arial"/>
                  </a:rPr>
                  <a:t> (positive because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𝑐</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$b+c=2R(\sin3C+\sin C)=2R\cdot2\sin2C\cos C=8R\sin C\cos^2C$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$c=2R\sin C$</a:t>
                </a:r>
                <a:r>
                  <a:rPr sz="2400" b="0">
                    <a:solidFill>
                      <a:srgbClr val="111827"/>
                    </a:solidFill>
                    <a:latin typeface="Arial"/>
                  </a:rPr>
                  <a:t>, this is </a:t>
                </a:r>
                <a:r>
                  <a:rPr lang="en-IN" sz="2400">
                    <a:solidFill>
                      <a:srgbClr val="111827"/>
                    </a:solidFill>
                    <a:latin typeface="Cambria Math" panose="02040503050406030204" pitchFamily="18" charset="0"/>
                  </a:rPr>
                  <a:t>$b+c=4c\cos^2C$</a:t>
                </a:r>
                <a:r>
                  <a:rPr sz="2400" b="0">
                    <a:solidFill>
                      <a:srgbClr val="111827"/>
                    </a:solidFill>
                    <a:latin typeface="Arial"/>
                  </a:rPr>
                  <a:t>, so </a:t>
                </a:r>
                <a:r>
                  <a:rPr lang="en-IN" sz="2400">
                    <a:solidFill>
                      <a:srgbClr val="111827"/>
                    </a:solidFill>
                    <a:latin typeface="Cambria Math" panose="02040503050406030204" pitchFamily="18" charset="0"/>
                  </a:rPr>
                  <a:t>$\cos C=\sqrt{\frac{b+c}{4c}}$</a:t>
                </a:r>
                <a:r>
                  <a:rPr sz="2400" b="0">
                    <a:solidFill>
                      <a:srgbClr val="111827"/>
                    </a:solidFill>
                    <a:latin typeface="Arial"/>
                  </a:rPr>
                  <a:t> (positive because </a:t>
                </a:r>
                <a:r>
                  <a:rPr lang="en-IN" sz="2400">
                    <a:solidFill>
                      <a:srgbClr val="111827"/>
                    </a:solidFill>
                    <a:latin typeface="Cambria Math" panose="02040503050406030204" pitchFamily="18" charset="0"/>
                  </a:rPr>
                  <a:t>$C&lt;\frac\pi4$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$b-c=2R(\sin3C-\sin C)=2R\cdot2\cos2C\sin C=2c\cos2C$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$\frac A2=\frac\pi2-2C$</a:t>
                </a:r>
                <a:r>
                  <a:rPr sz="2400" b="0">
                    <a:solidFill>
                      <a:srgbClr val="111827"/>
                    </a:solidFill>
                    <a:latin typeface="Arial"/>
                  </a:rPr>
                  <a:t>, </a:t>
                </a:r>
                <a:r>
                  <a:rPr lang="en-IN" sz="2400">
                    <a:solidFill>
                      <a:srgbClr val="111827"/>
                    </a:solidFill>
                    <a:latin typeface="Cambria Math" panose="02040503050406030204" pitchFamily="18" charset="0"/>
                  </a:rPr>
                  <a:t>$\sin\frac A2=\cos2C=\frac{b-c}{2c}$</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Shown: </a:t>
                </a:r>
                <a14:m>
                  <m:oMath xmlns:m="http://schemas.openxmlformats.org/officeDocument/2006/math">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𝐶</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num>
                          <m:den>
                            <m:r>
                              <a:rPr lang="en-IN" sz="2800" i="1">
                                <a:solidFill>
                                  <a:srgbClr val="15803D"/>
                                </a:solidFill>
                                <a:latin typeface="Cambria Math" panose="02040503050406030204" pitchFamily="18" charset="0"/>
                              </a:rPr>
                              <m:t>4</m:t>
                            </m:r>
                            <m:r>
                              <a:rPr lang="en-IN" sz="2800" i="1">
                                <a:solidFill>
                                  <a:srgbClr val="15803D"/>
                                </a:solidFill>
                                <a:latin typeface="Cambria Math" panose="02040503050406030204" pitchFamily="18" charset="0"/>
                              </a:rPr>
                              <m:t>𝑐</m:t>
                            </m:r>
                          </m:den>
                        </m:f>
                      </m:e>
                    </m:rad>
                  </m:oMath>
                </a14:m>
                <a:r>
                  <a:rPr sz="2800" b="1">
                    <a:solidFill>
                      <a:srgbClr val="15803D"/>
                    </a:solidFill>
                    <a:latin typeface="Arial"/>
                  </a:rPr>
                  <a:t> and </a:t>
                </a:r>
                <a14:m>
                  <m:oMath xmlns:m="http://schemas.openxmlformats.org/officeDocument/2006/math">
                    <m:r>
                      <m:rPr>
                        <m:sty m:val="p"/>
                      </m:rPr>
                      <a:rPr lang="en-IN" sz="2800">
                        <a:solidFill>
                          <a:srgbClr val="15803D"/>
                        </a:solidFill>
                        <a:latin typeface="Cambria Math" panose="02040503050406030204" pitchFamily="18" charset="0"/>
                      </a:rPr>
                      <m:t>sin</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𝐴</m:t>
                        </m:r>
                      </m:num>
                      <m:den>
                        <m:r>
                          <a:rPr lang="en-IN" sz="2800" i="1">
                            <a:solidFill>
                              <a:srgbClr val="15803D"/>
                            </a:solidFill>
                            <a:latin typeface="Cambria Math" panose="02040503050406030204" pitchFamily="18" charset="0"/>
                          </a:rPr>
                          <m:t>2</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num>
                      <m:den>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𝑐</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Shown: </a:t>
                </a:r>
                <a:r>
                  <a:rPr lang="en-IN" sz="2800">
                    <a:solidFill>
                      <a:srgbClr val="15803D"/>
                    </a:solidFill>
                    <a:latin typeface="Cambria Math" panose="02040503050406030204" pitchFamily="18" charset="0"/>
                  </a:rPr>
                  <a:t>$\cos C=\sqrt{\frac{b+c}{4c}}$</a:t>
                </a:r>
                <a:r>
                  <a:rPr sz="2800" b="1">
                    <a:solidFill>
                      <a:srgbClr val="15803D"/>
                    </a:solidFill>
                    <a:latin typeface="Arial"/>
                  </a:rPr>
                  <a:t> and </a:t>
                </a:r>
                <a:r>
                  <a:rPr lang="en-IN" sz="2800">
                    <a:solidFill>
                      <a:srgbClr val="15803D"/>
                    </a:solidFill>
                    <a:latin typeface="Cambria Math" panose="02040503050406030204" pitchFamily="18" charset="0"/>
                  </a:rPr>
                  <a:t>$\sin\frac A2=\frac{b-c}{2c}$</a:t>
                </a:r>
                <a:endParaRPr sz="2800">
                  <a:solidFill>
                    <a:srgbClr val="15803D"/>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θ</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𝐶</m:t>
                    </m:r>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𝐶</m:t>
                    </m:r>
                  </m:oMath>
                </a14:m>
                <a:r>
                  <a:rPr sz="2400" b="0">
                    <a:solidFill>
                      <a:srgbClr val="111827"/>
                    </a:solidFill>
                    <a:latin typeface="Arial"/>
                  </a:rPr>
                  <a:t> conditions are best handled with the sine rule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den>
                    </m:f>
                  </m:oMath>
                </a14:m>
                <a:r>
                  <a:rPr sz="2400" b="0">
                    <a:solidFill>
                      <a:srgbClr val="111827"/>
                    </a:solidFill>
                    <a:latin typeface="Arial"/>
                  </a:rPr>
                  <a:t> and a multiple-angle identity.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Related standard fact: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$\frac{\sin3\theta}{\sin\theta}=3-4\sin^2\theta=4\cos^2\theta-1$</a:t>
                </a:r>
                <a:r>
                  <a:rPr sz="2400" b="0">
                    <a:solidFill>
                      <a:srgbClr val="111827"/>
                    </a:solidFill>
                    <a:latin typeface="Arial"/>
                  </a:rPr>
                  <a:t>: if </a:t>
                </a:r>
                <a:r>
                  <a:rPr lang="en-IN" sz="2400">
                    <a:solidFill>
                      <a:srgbClr val="111827"/>
                    </a:solidFill>
                    <a:latin typeface="Cambria Math" panose="02040503050406030204" pitchFamily="18" charset="0"/>
                  </a:rPr>
                  <a:t>$B=3C$</a:t>
                </a:r>
                <a:r>
                  <a:rPr sz="2400" b="0">
                    <a:solidFill>
                      <a:srgbClr val="111827"/>
                    </a:solidFill>
                    <a:latin typeface="Arial"/>
                  </a:rPr>
                  <a:t> then </a:t>
                </a:r>
                <a:r>
                  <a:rPr lang="en-IN" sz="2400">
                    <a:solidFill>
                      <a:srgbClr val="111827"/>
                    </a:solidFill>
                    <a:latin typeface="Cambria Math" panose="02040503050406030204" pitchFamily="18" charset="0"/>
                  </a:rPr>
                  <a:t>$\frac bc=4\cos^2C-1$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$B=nC$</a:t>
                </a:r>
                <a:r>
                  <a:rPr sz="2400" b="0">
                    <a:solidFill>
                      <a:srgbClr val="111827"/>
                    </a:solidFill>
                    <a:latin typeface="Arial"/>
                  </a:rPr>
                  <a:t> conditions are best handled with the sine rule </a:t>
                </a:r>
                <a:r>
                  <a:rPr lang="en-IN" sz="2400">
                    <a:solidFill>
                      <a:srgbClr val="111827"/>
                    </a:solidFill>
                    <a:latin typeface="Cambria Math" panose="02040503050406030204" pitchFamily="18" charset="0"/>
                  </a:rPr>
                  <a:t>$\frac bc=\frac{\sin B}{\sin C}$</a:t>
                </a:r>
                <a:r>
                  <a:rPr sz="2400" b="0">
                    <a:solidFill>
                      <a:srgbClr val="111827"/>
                    </a:solidFill>
                    <a:latin typeface="Arial"/>
                  </a:rPr>
                  <a:t> and a multiple-angle identity.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Related standard fact: </a:t>
                </a:r>
                <a:r>
                  <a:rPr lang="en-IN" sz="2400">
                    <a:solidFill>
                      <a:srgbClr val="111827"/>
                    </a:solidFill>
                    <a:latin typeface="Cambria Math" panose="02040503050406030204" pitchFamily="18" charset="0"/>
                  </a:rPr>
                  <a:t>$B=2C\iff b^2=c(a+c)$</a:t>
                </a:r>
                <a:r>
                  <a:rPr sz="2400" b="0">
                    <a:solidFill>
                      <a:srgbClr val="111827"/>
                    </a:solidFill>
                    <a:latin typeface="Arial"/>
                  </a:rPr>
                  <a:t> (and </a:t>
                </a:r>
                <a:r>
                  <a:rPr lang="en-IN" sz="2400">
                    <a:solidFill>
                      <a:srgbClr val="111827"/>
                    </a:solidFill>
                    <a:latin typeface="Cambria Math" panose="02040503050406030204" pitchFamily="18" charset="0"/>
                  </a:rPr>
                  <a:t>$\frac bc=2\cos 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is a median. If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determine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triangle </a:t>
                </a:r>
                <a:r>
                  <a:rPr lang="en-IN" sz="2400">
                    <a:solidFill>
                      <a:srgbClr val="111827"/>
                    </a:solidFill>
                    <a:latin typeface="Cambria Math" panose="02040503050406030204" pitchFamily="18" charset="0"/>
                  </a:rPr>
                  <a:t>$ABC$</a:t>
                </a:r>
                <a:r>
                  <a:rPr sz="2400" b="0">
                    <a:solidFill>
                      <a:srgbClr val="111827"/>
                    </a:solidFill>
                    <a:latin typeface="Arial"/>
                  </a:rPr>
                  <a:t>, </a:t>
                </a:r>
                <a:r>
                  <a:rPr lang="en-IN" sz="2400">
                    <a:solidFill>
                      <a:srgbClr val="111827"/>
                    </a:solidFill>
                    <a:latin typeface="Cambria Math" panose="02040503050406030204" pitchFamily="18" charset="0"/>
                  </a:rPr>
                  <a:t>$BD$</a:t>
                </a:r>
                <a:r>
                  <a:rPr sz="2400" b="0">
                    <a:solidFill>
                      <a:srgbClr val="111827"/>
                    </a:solidFill>
                    <a:latin typeface="Arial"/>
                  </a:rPr>
                  <a:t> is a median. If </a:t>
                </a:r>
                <a:r>
                  <a:rPr lang="en-IN" sz="2400">
                    <a:solidFill>
                      <a:srgbClr val="111827"/>
                    </a:solidFill>
                    <a:latin typeface="Cambria Math" panose="02040503050406030204" pitchFamily="18" charset="0"/>
                  </a:rPr>
                  <a:t>$l(BD)=\frac{\sqrt3}4\cdot l(AB)$</a:t>
                </a:r>
                <a:r>
                  <a:rPr sz="2400" b="0">
                    <a:solidFill>
                      <a:srgbClr val="111827"/>
                    </a:solidFill>
                    <a:latin typeface="Arial"/>
                  </a:rPr>
                  <a:t> and </a:t>
                </a:r>
                <a:r>
                  <a:rPr lang="en-IN" sz="2400">
                    <a:solidFill>
                      <a:srgbClr val="111827"/>
                    </a:solidFill>
                    <a:latin typeface="Cambria Math" panose="02040503050406030204" pitchFamily="18" charset="0"/>
                  </a:rPr>
                  <a:t>$\angle DBC=\frac\pi2$</a:t>
                </a:r>
                <a:r>
                  <a:rPr sz="2400" b="0">
                    <a:solidFill>
                      <a:srgbClr val="111827"/>
                    </a:solidFill>
                    <a:latin typeface="Arial"/>
                  </a:rPr>
                  <a:t>, determine </a:t>
                </a:r>
                <a:r>
                  <a:rPr lang="en-IN" sz="2400">
                    <a:solidFill>
                      <a:srgbClr val="111827"/>
                    </a:solidFill>
                    <a:latin typeface="Cambria Math" panose="02040503050406030204" pitchFamily="18" charset="0"/>
                  </a:rPr>
                  <a:t>$\angle ABC$</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Median length (Apollonius) and cosine rule, Right triangle inside a triangle: perpendicular median and side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right angle at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𝐷</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 links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with the median formula it gives </a:t>
                </a:r>
                <a14:m>
                  <m:oMath xmlns:m="http://schemas.openxmlformats.org/officeDocument/2006/math">
                    <m:r>
                      <a:rPr lang="en-IN" sz="2400" i="1">
                        <a:solidFill>
                          <a:srgbClr val="78350F"/>
                        </a:solidFill>
                        <a:latin typeface="Cambria Math" panose="02040503050406030204" pitchFamily="18" charset="0"/>
                      </a:rPr>
                      <m:t>4</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sSup>
                      <m:e>
                        <m:r>
                          <a:rPr lang="en-IN" sz="2400" i="1">
                            <a:solidFill>
                              <a:srgbClr val="78350F"/>
                            </a:solidFill>
                            <a:latin typeface="Cambria Math" panose="02040503050406030204" pitchFamily="18" charset="0"/>
                          </a:rPr>
                          <m:t>𝑐</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then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right angle at </a:t>
                </a:r>
                <a:r>
                  <a:rPr lang="en-IN" sz="2400">
                    <a:solidFill>
                      <a:srgbClr val="78350F"/>
                    </a:solidFill>
                    <a:latin typeface="Cambria Math" panose="02040503050406030204" pitchFamily="18" charset="0"/>
                  </a:rPr>
                  <a:t>$B$</a:t>
                </a:r>
                <a:r>
                  <a:rPr sz="2400" b="0">
                    <a:solidFill>
                      <a:srgbClr val="78350F"/>
                    </a:solidFill>
                    <a:latin typeface="Arial"/>
                  </a:rPr>
                  <a:t> in </a:t>
                </a:r>
                <a:r>
                  <a:rPr lang="en-IN" sz="2400">
                    <a:solidFill>
                      <a:srgbClr val="78350F"/>
                    </a:solidFill>
                    <a:latin typeface="Cambria Math" panose="02040503050406030204" pitchFamily="18" charset="0"/>
                  </a:rPr>
                  <a:t>$\triangle DBC$</a:t>
                </a:r>
                <a:r>
                  <a:rPr sz="2400" b="0">
                    <a:solidFill>
                      <a:srgbClr val="78350F"/>
                    </a:solidFill>
                    <a:latin typeface="Arial"/>
                  </a:rPr>
                  <a:t> links </a:t>
                </a:r>
                <a:r>
                  <a:rPr lang="en-IN" sz="2400">
                    <a:solidFill>
                      <a:srgbClr val="78350F"/>
                    </a:solidFill>
                    <a:latin typeface="Cambria Math" panose="02040503050406030204" pitchFamily="18" charset="0"/>
                  </a:rPr>
                  <a:t>$a,b,c$</a:t>
                </a:r>
                <a:r>
                  <a:rPr sz="2400" b="0">
                    <a:solidFill>
                      <a:srgbClr val="78350F"/>
                    </a:solidFill>
                    <a:latin typeface="Arial"/>
                  </a:rPr>
                  <a:t>; with the median formula it gives </a:t>
                </a:r>
                <a:r>
                  <a:rPr lang="en-IN" sz="2400">
                    <a:solidFill>
                      <a:srgbClr val="78350F"/>
                    </a:solidFill>
                    <a:latin typeface="Cambria Math" panose="02040503050406030204" pitchFamily="18" charset="0"/>
                  </a:rPr>
                  <a:t>$4b^2=7c^2$</a:t>
                </a:r>
                <a:r>
                  <a:rPr sz="2400" b="0">
                    <a:solidFill>
                      <a:srgbClr val="78350F"/>
                    </a:solidFill>
                    <a:latin typeface="Arial"/>
                  </a:rPr>
                  <a:t> and then </a:t>
                </a:r>
                <a:r>
                  <a:rPr lang="en-IN" sz="2400">
                    <a:solidFill>
                      <a:srgbClr val="78350F"/>
                    </a:solidFill>
                    <a:latin typeface="Cambria Math" panose="02040503050406030204" pitchFamily="18" charset="0"/>
                  </a:rPr>
                  <a:t>$\angle ABD$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is the midpoint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Median formula: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r>
                      <a:rPr lang="en-IN" sz="2400" i="1">
                        <a:solidFill>
                          <a:srgbClr val="111827"/>
                        </a:solidFill>
                        <a:latin typeface="Cambria Math" panose="02040503050406030204" pitchFamily="18" charset="0"/>
                      </a:rPr>
                      <m:t>𝑐</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the angle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this in (1):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$AB=c$</a:t>
                </a:r>
                <a:r>
                  <a:rPr sz="2400" b="0">
                    <a:solidFill>
                      <a:srgbClr val="111827"/>
                    </a:solidFill>
                    <a:latin typeface="Arial"/>
                  </a:rPr>
                  <a:t>, </a:t>
                </a:r>
                <a:r>
                  <a:rPr lang="en-IN" sz="2400">
                    <a:solidFill>
                      <a:srgbClr val="111827"/>
                    </a:solidFill>
                    <a:latin typeface="Cambria Math" panose="02040503050406030204" pitchFamily="18" charset="0"/>
                  </a:rPr>
                  <a:t>$BC=a$</a:t>
                </a:r>
                <a:r>
                  <a:rPr sz="2400" b="0">
                    <a:solidFill>
                      <a:srgbClr val="111827"/>
                    </a:solidFill>
                    <a:latin typeface="Arial"/>
                  </a:rPr>
                  <a:t>, </a:t>
                </a:r>
                <a:r>
                  <a:rPr lang="en-IN" sz="2400">
                    <a:solidFill>
                      <a:srgbClr val="111827"/>
                    </a:solidFill>
                    <a:latin typeface="Cambria Math" panose="02040503050406030204" pitchFamily="18" charset="0"/>
                  </a:rPr>
                  <a:t>$CA=b$</a:t>
                </a:r>
                <a:r>
                  <a:rPr sz="2400" b="0">
                    <a:solidFill>
                      <a:srgbClr val="111827"/>
                    </a:solidFill>
                    <a:latin typeface="Arial"/>
                  </a:rPr>
                  <a:t>; </a:t>
                </a:r>
                <a:r>
                  <a:rPr lang="en-IN" sz="2400">
                    <a:solidFill>
                      <a:srgbClr val="111827"/>
                    </a:solidFill>
                    <a:latin typeface="Cambria Math" panose="02040503050406030204" pitchFamily="18" charset="0"/>
                  </a:rPr>
                  <a:t>$D$</a:t>
                </a:r>
                <a:r>
                  <a:rPr sz="2400" b="0">
                    <a:solidFill>
                      <a:srgbClr val="111827"/>
                    </a:solidFill>
                    <a:latin typeface="Arial"/>
                  </a:rPr>
                  <a:t> is the midpoint of </a:t>
                </a:r>
                <a:r>
                  <a:rPr lang="en-IN" sz="2400">
                    <a:solidFill>
                      <a:srgbClr val="111827"/>
                    </a:solidFill>
                    <a:latin typeface="Cambria Math" panose="02040503050406030204" pitchFamily="18" charset="0"/>
                  </a:rPr>
                  <a:t>$AC$</a:t>
                </a:r>
                <a:r>
                  <a:rPr sz="2400" b="0">
                    <a:solidFill>
                      <a:srgbClr val="111827"/>
                    </a:solidFill>
                    <a:latin typeface="Arial"/>
                  </a:rPr>
                  <a:t> and </a:t>
                </a:r>
                <a:r>
                  <a:rPr lang="en-IN" sz="2400">
                    <a:solidFill>
                      <a:srgbClr val="111827"/>
                    </a:solidFill>
                    <a:latin typeface="Cambria Math" panose="02040503050406030204" pitchFamily="18" charset="0"/>
                  </a:rPr>
                  <a:t>$BD=\frac{\sqrt3}4c$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Median formula: </a:t>
                </a:r>
                <a:r>
                  <a:rPr lang="en-IN" sz="2400">
                    <a:solidFill>
                      <a:srgbClr val="111827"/>
                    </a:solidFill>
                    <a:latin typeface="Cambria Math" panose="02040503050406030204" pitchFamily="18" charset="0"/>
                  </a:rPr>
                  <a:t>$BD=\frac12\sqrt{2a^2+2c^2-b^2}=\frac{\sqrt3}4c$</a:t>
                </a:r>
                <a:r>
                  <a:rPr sz="2400" b="0">
                    <a:solidFill>
                      <a:srgbClr val="111827"/>
                    </a:solidFill>
                    <a:latin typeface="Arial"/>
                  </a:rPr>
                  <a:t>, so </a:t>
                </a:r>
                <a:r>
                  <a:rPr lang="en-IN" sz="2400">
                    <a:solidFill>
                      <a:srgbClr val="111827"/>
                    </a:solidFill>
                    <a:latin typeface="Cambria Math" panose="02040503050406030204" pitchFamily="18" charset="0"/>
                  </a:rPr>
                  <a:t>$2a^2+2c^2-b^2=\frac{3c^2}4$</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DBC$</a:t>
                </a:r>
                <a:r>
                  <a:rPr sz="2400" b="0">
                    <a:solidFill>
                      <a:srgbClr val="111827"/>
                    </a:solidFill>
                    <a:latin typeface="Arial"/>
                  </a:rPr>
                  <a:t> the angle at </a:t>
                </a:r>
                <a:r>
                  <a:rPr lang="en-IN" sz="2400">
                    <a:solidFill>
                      <a:srgbClr val="111827"/>
                    </a:solidFill>
                    <a:latin typeface="Cambria Math" panose="02040503050406030204" pitchFamily="18" charset="0"/>
                  </a:rPr>
                  <a:t>$B$</a:t>
                </a:r>
                <a:r>
                  <a:rPr sz="2400" b="0">
                    <a:solidFill>
                      <a:srgbClr val="111827"/>
                    </a:solidFill>
                    <a:latin typeface="Arial"/>
                  </a:rPr>
                  <a:t> is </a:t>
                </a:r>
                <a:r>
                  <a:rPr lang="en-IN" sz="2400">
                    <a:solidFill>
                      <a:srgbClr val="111827"/>
                    </a:solidFill>
                    <a:latin typeface="Cambria Math" panose="02040503050406030204" pitchFamily="18" charset="0"/>
                  </a:rPr>
                  <a:t>$90^\circ$</a:t>
                </a:r>
                <a:r>
                  <a:rPr sz="2400" b="0">
                    <a:solidFill>
                      <a:srgbClr val="111827"/>
                    </a:solidFill>
                    <a:latin typeface="Arial"/>
                  </a:rPr>
                  <a:t>, with </a:t>
                </a:r>
                <a:r>
                  <a:rPr lang="en-IN" sz="2400">
                    <a:solidFill>
                      <a:srgbClr val="111827"/>
                    </a:solidFill>
                    <a:latin typeface="Cambria Math" panose="02040503050406030204" pitchFamily="18" charset="0"/>
                  </a:rPr>
                  <a:t>$DC=\frac b2$</a:t>
                </a:r>
                <a:r>
                  <a:rPr sz="2400" b="0">
                    <a:solidFill>
                      <a:srgbClr val="111827"/>
                    </a:solidFill>
                    <a:latin typeface="Arial"/>
                  </a:rPr>
                  <a:t>: </a:t>
                </a:r>
                <a:r>
                  <a:rPr lang="en-IN" sz="2400">
                    <a:solidFill>
                      <a:srgbClr val="111827"/>
                    </a:solidFill>
                    <a:latin typeface="Cambria Math" panose="02040503050406030204" pitchFamily="18" charset="0"/>
                  </a:rPr>
                  <a:t>$a^2=\frac{b^2}4-\frac{3c^2}{16}$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this in (1): </a:t>
                </a:r>
                <a:r>
                  <a:rPr lang="en-IN" sz="2400">
                    <a:solidFill>
                      <a:srgbClr val="111827"/>
                    </a:solidFill>
                    <a:latin typeface="Cambria Math" panose="02040503050406030204" pitchFamily="18" charset="0"/>
                  </a:rPr>
                  <a:t>$2\left(\frac{b^2}4-\frac{3c^2}{16}\right)+2c^2-b^2=\frac{3c^2}4$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4</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19</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$\frac{b^2}2-\frac{3c^2}8+2c^2-b^2-\frac{3c^2}4=0\Rightarrow-\frac{b^2}2+\frac{7c^2}8=0\Rightarrow4b^2=7c^2$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$\theta=\angle ABD$</a:t>
                </a:r>
                <a:r>
                  <a:rPr sz="2400" b="0">
                    <a:solidFill>
                      <a:srgbClr val="111827"/>
                    </a:solidFill>
                    <a:latin typeface="Arial"/>
                  </a:rPr>
                  <a:t>. In </a:t>
                </a:r>
                <a:r>
                  <a:rPr lang="en-IN" sz="2400">
                    <a:solidFill>
                      <a:srgbClr val="111827"/>
                    </a:solidFill>
                    <a:latin typeface="Cambria Math" panose="02040503050406030204" pitchFamily="18" charset="0"/>
                  </a:rPr>
                  <a:t>$\triangle ABD$</a:t>
                </a:r>
                <a:r>
                  <a:rPr sz="2400" b="0">
                    <a:solidFill>
                      <a:srgbClr val="111827"/>
                    </a:solidFill>
                    <a:latin typeface="Arial"/>
                  </a:rPr>
                  <a:t> (with </a:t>
                </a:r>
                <a:r>
                  <a:rPr lang="en-IN" sz="2400">
                    <a:solidFill>
                      <a:srgbClr val="111827"/>
                    </a:solidFill>
                    <a:latin typeface="Cambria Math" panose="02040503050406030204" pitchFamily="18" charset="0"/>
                  </a:rPr>
                  <a:t>$AD=\frac b2$</a:t>
                </a:r>
                <a:r>
                  <a:rPr sz="2400" b="0">
                    <a:solidFill>
                      <a:srgbClr val="111827"/>
                    </a:solidFill>
                    <a:latin typeface="Arial"/>
                  </a:rPr>
                  <a:t>): </a:t>
                </a:r>
                <a:r>
                  <a:rPr lang="en-IN" sz="2400">
                    <a:solidFill>
                      <a:srgbClr val="111827"/>
                    </a:solidFill>
                    <a:latin typeface="Cambria Math" panose="02040503050406030204" pitchFamily="18" charset="0"/>
                  </a:rPr>
                  <a:t>$\cos\theta=\frac{c^2+\frac{3c^2}{16}-\frac{b^2}4}{2\cdot c\cdot\frac{\sqrt3c}4}=\frac{19c^2-4b^2}{8\sqrt3c^2}$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$4b^2=7c^2$</a:t>
                </a:r>
                <a:r>
                  <a:rPr sz="2400" b="0">
                    <a:solidFill>
                      <a:srgbClr val="111827"/>
                    </a:solidFill>
                    <a:latin typeface="Arial"/>
                  </a:rPr>
                  <a:t>: </a:t>
                </a:r>
                <a:r>
                  <a:rPr lang="en-IN" sz="2400">
                    <a:solidFill>
                      <a:srgbClr val="111827"/>
                    </a:solidFill>
                    <a:latin typeface="Cambria Math" panose="02040503050406030204" pitchFamily="18" charset="0"/>
                  </a:rPr>
                  <a:t>$\cos\theta=\frac{12c^2}{8\sqrt3c^2}=\frac{\sqrt3}2$</a:t>
                </a:r>
                <a:r>
                  <a:rPr sz="2400" b="0">
                    <a:solidFill>
                      <a:srgbClr val="111827"/>
                    </a:solidFill>
                    <a:latin typeface="Arial"/>
                  </a:rPr>
                  <a:t>, so </a:t>
                </a:r>
                <a:r>
                  <a:rPr lang="en-IN" sz="2400">
                    <a:solidFill>
                      <a:srgbClr val="111827"/>
                    </a:solidFill>
                    <a:latin typeface="Cambria Math" panose="02040503050406030204" pitchFamily="18" charset="0"/>
                  </a:rPr>
                  <a:t>$\theta=30^\circ$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$\angle ABC=\angle ABD+\angle DBC=30^\circ+90^\circ=120^\circ$</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𝐴</m:t>
                    </m:r>
                    <m:r>
                      <a:rPr lang="en-IN" sz="2800" i="1">
                        <a:solidFill>
                          <a:srgbClr val="15803D"/>
                        </a:solidFill>
                        <a:latin typeface="Cambria Math" panose="02040503050406030204" pitchFamily="18" charset="0"/>
                      </a:rPr>
                      <m:t>𝐵</m:t>
                    </m:r>
                    <m:r>
                      <a:rPr lang="en-IN" sz="2800" i="1">
                        <a:solidFill>
                          <a:srgbClr val="15803D"/>
                        </a:solidFill>
                        <a:latin typeface="Cambria Math" panose="02040503050406030204" pitchFamily="18" charset="0"/>
                      </a:rPr>
                      <m:t>𝐶</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120</m:t>
                        </m:r>
                      </m:e>
                      <m:sup>
                        <m:r>
                          <m:rPr>
                            <m:sty m:val="p"/>
                          </m:rPr>
                          <a:rPr lang="en-IN" sz="2800">
                            <a:solidFill>
                              <a:srgbClr val="15803D"/>
                            </a:solidFill>
                            <a:latin typeface="Cambria Math" panose="02040503050406030204" pitchFamily="18" charset="0"/>
                          </a:rPr>
                          <m:t>∘</m:t>
                        </m:r>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$\angle ABC=120^\circ$</a:t>
                </a:r>
                <a:endParaRPr sz="2800">
                  <a:solidFill>
                    <a:srgbClr val="15803D"/>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Double the median: extend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oMath>
                </a14:m>
                <a:r>
                  <a:rPr sz="2400" b="0">
                    <a:solidFill>
                      <a:srgbClr val="78350F"/>
                    </a:solidFill>
                    <a:latin typeface="Arial"/>
                  </a:rPr>
                  <a:t> to </a:t>
                </a:r>
                <a14:m>
                  <m:oMath xmlns:m="http://schemas.openxmlformats.org/officeDocument/2006/math">
                    <m:r>
                      <a:rPr lang="en-IN" sz="2400" i="1">
                        <a:solidFill>
                          <a:srgbClr val="78350F"/>
                        </a:solidFill>
                        <a:latin typeface="Cambria Math" panose="02040503050406030204" pitchFamily="18" charset="0"/>
                      </a:rPr>
                      <m:t>𝐸</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𝐷</m:t>
                    </m:r>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𝐸</m:t>
                    </m:r>
                  </m:oMath>
                </a14:m>
                <a:r>
                  <a:rPr sz="2400" b="0">
                    <a:solidFill>
                      <a:srgbClr val="78350F"/>
                    </a:solidFill>
                    <a:latin typeface="Arial"/>
                  </a:rPr>
                  <a:t> is a parallelogram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𝐸</m:t>
                    </m:r>
                  </m:oMath>
                </a14:m>
                <a:r>
                  <a:rPr sz="2400" b="0">
                    <a:solidFill>
                      <a:srgbClr val="78350F"/>
                    </a:solidFill>
                    <a:latin typeface="Arial"/>
                  </a:rPr>
                  <a:t> is right-angled at </a:t>
                </a:r>
                <a14:m>
                  <m:oMath xmlns:m="http://schemas.openxmlformats.org/officeDocument/2006/math">
                    <m:r>
                      <a:rPr lang="en-IN" sz="2400" i="1">
                        <a:solidFill>
                          <a:srgbClr val="78350F"/>
                        </a:solidFill>
                        <a:latin typeface="Cambria Math" panose="02040503050406030204" pitchFamily="18" charset="0"/>
                      </a:rPr>
                      <m:t>𝐸</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Double the median: extend </a:t>
                </a:r>
                <a:r>
                  <a:rPr lang="en-IN" sz="2400">
                    <a:solidFill>
                      <a:srgbClr val="78350F"/>
                    </a:solidFill>
                    <a:latin typeface="Cambria Math" panose="02040503050406030204" pitchFamily="18" charset="0"/>
                  </a:rPr>
                  <a:t>$BD$</a:t>
                </a:r>
                <a:r>
                  <a:rPr sz="2400" b="0">
                    <a:solidFill>
                      <a:srgbClr val="78350F"/>
                    </a:solidFill>
                    <a:latin typeface="Arial"/>
                  </a:rPr>
                  <a:t> to </a:t>
                </a:r>
                <a:r>
                  <a:rPr lang="en-IN" sz="2400">
                    <a:solidFill>
                      <a:srgbClr val="78350F"/>
                    </a:solidFill>
                    <a:latin typeface="Cambria Math" panose="02040503050406030204" pitchFamily="18" charset="0"/>
                  </a:rPr>
                  <a:t>$E$</a:t>
                </a:r>
                <a:r>
                  <a:rPr sz="2400" b="0">
                    <a:solidFill>
                      <a:srgbClr val="78350F"/>
                    </a:solidFill>
                    <a:latin typeface="Arial"/>
                  </a:rPr>
                  <a:t> with </a:t>
                </a:r>
                <a:r>
                  <a:rPr lang="en-IN" sz="2400">
                    <a:solidFill>
                      <a:srgbClr val="78350F"/>
                    </a:solidFill>
                    <a:latin typeface="Cambria Math" panose="02040503050406030204" pitchFamily="18" charset="0"/>
                  </a:rPr>
                  <a:t>$DE=BD$</a:t>
                </a:r>
                <a:r>
                  <a:rPr sz="2400" b="0">
                    <a:solidFill>
                      <a:srgbClr val="78350F"/>
                    </a:solidFill>
                    <a:latin typeface="Arial"/>
                  </a:rPr>
                  <a:t>; </a:t>
                </a:r>
                <a:r>
                  <a:rPr lang="en-IN" sz="2400">
                    <a:solidFill>
                      <a:srgbClr val="78350F"/>
                    </a:solidFill>
                    <a:latin typeface="Cambria Math" panose="02040503050406030204" pitchFamily="18" charset="0"/>
                  </a:rPr>
                  <a:t>$ABCE$</a:t>
                </a:r>
                <a:r>
                  <a:rPr sz="2400" b="0">
                    <a:solidFill>
                      <a:srgbClr val="78350F"/>
                    </a:solidFill>
                    <a:latin typeface="Arial"/>
                  </a:rPr>
                  <a:t> is a parallelogram and </a:t>
                </a:r>
                <a:r>
                  <a:rPr lang="en-IN" sz="2400">
                    <a:solidFill>
                      <a:srgbClr val="78350F"/>
                    </a:solidFill>
                    <a:latin typeface="Cambria Math" panose="02040503050406030204" pitchFamily="18" charset="0"/>
                  </a:rPr>
                  <a:t>$\triangle ABE$</a:t>
                </a:r>
                <a:r>
                  <a:rPr sz="2400" b="0">
                    <a:solidFill>
                      <a:srgbClr val="78350F"/>
                    </a:solidFill>
                    <a:latin typeface="Arial"/>
                  </a:rPr>
                  <a:t> is right-angled at </a:t>
                </a:r>
                <a:r>
                  <a:rPr lang="en-IN" sz="2400">
                    <a:solidFill>
                      <a:srgbClr val="78350F"/>
                    </a:solidFill>
                    <a:latin typeface="Cambria Math" panose="02040503050406030204" pitchFamily="18" charset="0"/>
                  </a:rPr>
                  <a:t>$E$</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Extend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so that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The diagonals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oMath>
                </a14:m>
                <a:r>
                  <a:rPr sz="2400" b="0">
                    <a:solidFill>
                      <a:srgbClr val="111827"/>
                    </a:solidFill>
                    <a:latin typeface="Arial"/>
                  </a:rPr>
                  <a:t> bisect each other at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oMath>
                </a14:m>
                <a:r>
                  <a:rPr sz="2400" b="0">
                    <a:solidFill>
                      <a:srgbClr val="111827"/>
                    </a:solidFill>
                    <a:latin typeface="Arial"/>
                  </a:rPr>
                  <a:t> is a parallelogram: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is a transversal,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Extend </a:t>
                </a:r>
                <a:r>
                  <a:rPr lang="en-IN" sz="2400">
                    <a:solidFill>
                      <a:srgbClr val="111827"/>
                    </a:solidFill>
                    <a:latin typeface="Cambria Math" panose="02040503050406030204" pitchFamily="18" charset="0"/>
                  </a:rPr>
                  <a:t>$BD$</a:t>
                </a:r>
                <a:r>
                  <a:rPr sz="2400" b="0">
                    <a:solidFill>
                      <a:srgbClr val="111827"/>
                    </a:solidFill>
                    <a:latin typeface="Arial"/>
                  </a:rPr>
                  <a:t> to </a:t>
                </a:r>
                <a:r>
                  <a:rPr lang="en-IN" sz="2400">
                    <a:solidFill>
                      <a:srgbClr val="111827"/>
                    </a:solidFill>
                    <a:latin typeface="Cambria Math" panose="02040503050406030204" pitchFamily="18" charset="0"/>
                  </a:rPr>
                  <a:t>$E$</a:t>
                </a:r>
                <a:r>
                  <a:rPr sz="2400" b="0">
                    <a:solidFill>
                      <a:srgbClr val="111827"/>
                    </a:solidFill>
                    <a:latin typeface="Arial"/>
                  </a:rPr>
                  <a:t> so that </a:t>
                </a:r>
                <a:r>
                  <a:rPr lang="en-IN" sz="2400">
                    <a:solidFill>
                      <a:srgbClr val="111827"/>
                    </a:solidFill>
                    <a:latin typeface="Cambria Math" panose="02040503050406030204" pitchFamily="18" charset="0"/>
                  </a:rPr>
                  <a:t>$DE=BD$</a:t>
                </a:r>
                <a:r>
                  <a:rPr sz="2400" b="0">
                    <a:solidFill>
                      <a:srgbClr val="111827"/>
                    </a:solidFill>
                    <a:latin typeface="Arial"/>
                  </a:rPr>
                  <a:t>. The diagonals </a:t>
                </a:r>
                <a:r>
                  <a:rPr lang="en-IN" sz="2400">
                    <a:solidFill>
                      <a:srgbClr val="111827"/>
                    </a:solidFill>
                    <a:latin typeface="Cambria Math" panose="02040503050406030204" pitchFamily="18" charset="0"/>
                  </a:rPr>
                  <a:t>$AC$</a:t>
                </a:r>
                <a:r>
                  <a:rPr sz="2400" b="0">
                    <a:solidFill>
                      <a:srgbClr val="111827"/>
                    </a:solidFill>
                    <a:latin typeface="Arial"/>
                  </a:rPr>
                  <a:t> and </a:t>
                </a:r>
                <a:r>
                  <a:rPr lang="en-IN" sz="2400">
                    <a:solidFill>
                      <a:srgbClr val="111827"/>
                    </a:solidFill>
                    <a:latin typeface="Cambria Math" panose="02040503050406030204" pitchFamily="18" charset="0"/>
                  </a:rPr>
                  <a:t>$BE$</a:t>
                </a:r>
                <a:r>
                  <a:rPr sz="2400" b="0">
                    <a:solidFill>
                      <a:srgbClr val="111827"/>
                    </a:solidFill>
                    <a:latin typeface="Arial"/>
                  </a:rPr>
                  <a:t> of </a:t>
                </a:r>
                <a:r>
                  <a:rPr lang="en-IN" sz="2400">
                    <a:solidFill>
                      <a:srgbClr val="111827"/>
                    </a:solidFill>
                    <a:latin typeface="Cambria Math" panose="02040503050406030204" pitchFamily="18" charset="0"/>
                  </a:rPr>
                  <a:t>$ABCE$</a:t>
                </a:r>
                <a:r>
                  <a:rPr sz="2400" b="0">
                    <a:solidFill>
                      <a:srgbClr val="111827"/>
                    </a:solidFill>
                    <a:latin typeface="Arial"/>
                  </a:rPr>
                  <a:t> bisect each other at </a:t>
                </a:r>
                <a:r>
                  <a:rPr lang="en-IN" sz="2400">
                    <a:solidFill>
                      <a:srgbClr val="111827"/>
                    </a:solidFill>
                    <a:latin typeface="Cambria Math" panose="02040503050406030204" pitchFamily="18" charset="0"/>
                  </a:rPr>
                  <a:t>$D$</a:t>
                </a:r>
                <a:r>
                  <a:rPr sz="2400" b="0">
                    <a:solidFill>
                      <a:srgbClr val="111827"/>
                    </a:solidFill>
                    <a:latin typeface="Arial"/>
                  </a:rPr>
                  <a:t>, so </a:t>
                </a:r>
                <a:r>
                  <a:rPr lang="en-IN" sz="2400">
                    <a:solidFill>
                      <a:srgbClr val="111827"/>
                    </a:solidFill>
                    <a:latin typeface="Cambria Math" panose="02040503050406030204" pitchFamily="18" charset="0"/>
                  </a:rPr>
                  <a:t>$ABCE$</a:t>
                </a:r>
                <a:r>
                  <a:rPr sz="2400" b="0">
                    <a:solidFill>
                      <a:srgbClr val="111827"/>
                    </a:solidFill>
                    <a:latin typeface="Arial"/>
                  </a:rPr>
                  <a:t> is a parallelogram: </a:t>
                </a:r>
                <a:r>
                  <a:rPr lang="en-IN" sz="2400">
                    <a:solidFill>
                      <a:srgbClr val="111827"/>
                    </a:solidFill>
                    <a:latin typeface="Cambria Math" panose="02040503050406030204" pitchFamily="18" charset="0"/>
                  </a:rPr>
                  <a:t>$AE\parallel BC$</a:t>
                </a:r>
                <a:r>
                  <a:rPr sz="2400" b="0">
                    <a:solidFill>
                      <a:srgbClr val="111827"/>
                    </a:solidFill>
                    <a:latin typeface="Arial"/>
                  </a:rPr>
                  <a:t> and </a:t>
                </a:r>
                <a:r>
                  <a:rPr lang="en-IN" sz="2400">
                    <a:solidFill>
                      <a:srgbClr val="111827"/>
                    </a:solidFill>
                    <a:latin typeface="Cambria Math" panose="02040503050406030204" pitchFamily="18" charset="0"/>
                  </a:rPr>
                  <a:t>$BE=2BD=\frac{\sqrt3}2c$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$AE\parallel BC$</a:t>
                </a:r>
                <a:r>
                  <a:rPr sz="2400" b="0">
                    <a:solidFill>
                      <a:srgbClr val="111827"/>
                    </a:solidFill>
                    <a:latin typeface="Arial"/>
                  </a:rPr>
                  <a:t> and </a:t>
                </a:r>
                <a:r>
                  <a:rPr lang="en-IN" sz="2400">
                    <a:solidFill>
                      <a:srgbClr val="111827"/>
                    </a:solidFill>
                    <a:latin typeface="Cambria Math" panose="02040503050406030204" pitchFamily="18" charset="0"/>
                  </a:rPr>
                  <a:t>$BE$</a:t>
                </a:r>
                <a:r>
                  <a:rPr sz="2400" b="0">
                    <a:solidFill>
                      <a:srgbClr val="111827"/>
                    </a:solidFill>
                    <a:latin typeface="Arial"/>
                  </a:rPr>
                  <a:t> is a transversal, so </a:t>
                </a:r>
                <a:r>
                  <a:rPr lang="en-IN" sz="2400">
                    <a:solidFill>
                      <a:srgbClr val="111827"/>
                    </a:solidFill>
                    <a:latin typeface="Cambria Math" panose="02040503050406030204" pitchFamily="18" charset="0"/>
                  </a:rPr>
                  <a:t>$\angle AEB=\angle EBC=\angle DBC=90^\circ$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r>
                  <a:rPr lang="en-IN" sz="2400">
                    <a:solidFill>
                      <a:srgbClr val="111827"/>
                    </a:solidFill>
                    <a:latin typeface="Cambria Math" panose="02040503050406030204" pitchFamily="18" charset="0"/>
                  </a:rPr>
                  <a:t>$AEB$</a:t>
                </a:r>
                <a:r>
                  <a:rPr sz="2400" b="0">
                    <a:solidFill>
                      <a:srgbClr val="111827"/>
                    </a:solidFill>
                    <a:latin typeface="Arial"/>
                  </a:rPr>
                  <a:t>: </a:t>
                </a:r>
                <a:r>
                  <a:rPr lang="en-IN" sz="2400">
                    <a:solidFill>
                      <a:srgbClr val="111827"/>
                    </a:solidFill>
                    <a:latin typeface="Cambria Math" panose="02040503050406030204" pitchFamily="18" charset="0"/>
                  </a:rPr>
                  <a:t>$\cos\angle ABE=\frac{BE}{AB}=\frac{\frac{\sqrt3}2c}c=\frac{\sqrt3}2$</a:t>
                </a:r>
                <a:r>
                  <a:rPr sz="2400" b="0">
                    <a:solidFill>
                      <a:srgbClr val="111827"/>
                    </a:solidFill>
                    <a:latin typeface="Arial"/>
                  </a:rPr>
                  <a:t>, so </a:t>
                </a:r>
                <a:r>
                  <a:rPr lang="en-IN" sz="2400">
                    <a:solidFill>
                      <a:srgbClr val="111827"/>
                    </a:solidFill>
                    <a:latin typeface="Cambria Math" panose="02040503050406030204" pitchFamily="18" charset="0"/>
                  </a:rPr>
                  <a:t>$\angle ABE=30^\circ$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$\angle ABC=\angle ABE+\angle EBC=30^\circ+90^\circ=120^\circ$</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𝐴</m:t>
                    </m:r>
                    <m:r>
                      <a:rPr lang="en-IN" sz="2800" i="1">
                        <a:solidFill>
                          <a:srgbClr val="15803D"/>
                        </a:solidFill>
                        <a:latin typeface="Cambria Math" panose="02040503050406030204" pitchFamily="18" charset="0"/>
                      </a:rPr>
                      <m:t>𝐵</m:t>
                    </m:r>
                    <m:r>
                      <a:rPr lang="en-IN" sz="2800" i="1">
                        <a:solidFill>
                          <a:srgbClr val="15803D"/>
                        </a:solidFill>
                        <a:latin typeface="Cambria Math" panose="02040503050406030204" pitchFamily="18" charset="0"/>
                      </a:rPr>
                      <m:t>𝐶</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120</m:t>
                        </m:r>
                      </m:e>
                      <m:sup>
                        <m:r>
                          <m:rPr>
                            <m:sty m:val="p"/>
                          </m:rPr>
                          <a:rPr lang="en-IN" sz="2800">
                            <a:solidFill>
                              <a:srgbClr val="15803D"/>
                            </a:solidFill>
                            <a:latin typeface="Cambria Math" panose="02040503050406030204" pitchFamily="18" charset="0"/>
                          </a:rPr>
                          <m:t>∘</m:t>
                        </m:r>
                      </m:sup>
                    </m:sSup>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$\angle ABC=120^\circ$</a:t>
                </a:r>
                <a:endParaRPr sz="2800">
                  <a:solidFill>
                    <a:srgbClr val="15803D"/>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Doubling a median: extending the median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makes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oMath>
                </a14:m>
                <a:r>
                  <a:rPr sz="2400" b="0">
                    <a:solidFill>
                      <a:srgbClr val="111827"/>
                    </a:solidFill>
                    <a:latin typeface="Arial"/>
                  </a:rPr>
                  <a:t> a parallelogram with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Median length: </a:t>
                </a:r>
                <a14:m>
                  <m:oMath xmlns:m="http://schemas.openxmlformats.org/officeDocument/2006/math">
                    <m:sSub>
                      <m:e>
                        <m:r>
                          <a:rPr lang="en-IN" sz="2400" i="1">
                            <a:solidFill>
                              <a:srgbClr val="111827"/>
                            </a:solidFill>
                            <a:latin typeface="Cambria Math" panose="02040503050406030204" pitchFamily="18" charset="0"/>
                          </a:rPr>
                          <m:t>𝑚</m:t>
                        </m:r>
                      </m:e>
                      <m:sub>
                        <m:r>
                          <a:rPr lang="en-IN" sz="2400" i="1">
                            <a:solidFill>
                              <a:srgbClr val="111827"/>
                            </a:solidFill>
                            <a:latin typeface="Cambria Math" panose="02040503050406030204" pitchFamily="18" charset="0"/>
                          </a:rPr>
                          <m:t>𝑏</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(Apollonius).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right angle between a median and a side turns into a right angle of the parallelogram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oMath>
                </a14:m>
                <a:r>
                  <a:rPr sz="2400" b="0">
                    <a:solidFill>
                      <a:srgbClr val="111827"/>
                    </a:solidFill>
                    <a:latin typeface="Arial"/>
                  </a:rPr>
                  <a:t>, so the angle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arccos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Doubling a median: extending the median </a:t>
                </a:r>
                <a:r>
                  <a:rPr lang="en-IN" sz="2400">
                    <a:solidFill>
                      <a:srgbClr val="111827"/>
                    </a:solidFill>
                    <a:latin typeface="Cambria Math" panose="02040503050406030204" pitchFamily="18" charset="0"/>
                  </a:rPr>
                  <a:t>$BD$</a:t>
                </a:r>
                <a:r>
                  <a:rPr sz="2400" b="0">
                    <a:solidFill>
                      <a:srgbClr val="111827"/>
                    </a:solidFill>
                    <a:latin typeface="Arial"/>
                  </a:rPr>
                  <a:t> to </a:t>
                </a:r>
                <a:r>
                  <a:rPr lang="en-IN" sz="2400">
                    <a:solidFill>
                      <a:srgbClr val="111827"/>
                    </a:solidFill>
                    <a:latin typeface="Cambria Math" panose="02040503050406030204" pitchFamily="18" charset="0"/>
                  </a:rPr>
                  <a:t>$E$</a:t>
                </a:r>
                <a:r>
                  <a:rPr sz="2400" b="0">
                    <a:solidFill>
                      <a:srgbClr val="111827"/>
                    </a:solidFill>
                    <a:latin typeface="Arial"/>
                  </a:rPr>
                  <a:t> with </a:t>
                </a:r>
                <a:r>
                  <a:rPr lang="en-IN" sz="2400">
                    <a:solidFill>
                      <a:srgbClr val="111827"/>
                    </a:solidFill>
                    <a:latin typeface="Cambria Math" panose="02040503050406030204" pitchFamily="18" charset="0"/>
                  </a:rPr>
                  <a:t>$DE=BD$</a:t>
                </a:r>
                <a:r>
                  <a:rPr sz="2400" b="0">
                    <a:solidFill>
                      <a:srgbClr val="111827"/>
                    </a:solidFill>
                    <a:latin typeface="Arial"/>
                  </a:rPr>
                  <a:t> makes </a:t>
                </a:r>
                <a:r>
                  <a:rPr lang="en-IN" sz="2400">
                    <a:solidFill>
                      <a:srgbClr val="111827"/>
                    </a:solidFill>
                    <a:latin typeface="Cambria Math" panose="02040503050406030204" pitchFamily="18" charset="0"/>
                  </a:rPr>
                  <a:t>$ABCE$</a:t>
                </a:r>
                <a:r>
                  <a:rPr sz="2400" b="0">
                    <a:solidFill>
                      <a:srgbClr val="111827"/>
                    </a:solidFill>
                    <a:latin typeface="Arial"/>
                  </a:rPr>
                  <a:t> a parallelogram with </a:t>
                </a:r>
                <a:r>
                  <a:rPr lang="en-IN" sz="2400">
                    <a:solidFill>
                      <a:srgbClr val="111827"/>
                    </a:solidFill>
                    <a:latin typeface="Cambria Math" panose="02040503050406030204" pitchFamily="18" charset="0"/>
                  </a:rPr>
                  <a:t>$BE=2BD$</a:t>
                </a:r>
                <a:r>
                  <a:rPr sz="2400" b="0">
                    <a:solidFill>
                      <a:srgbClr val="111827"/>
                    </a:solidFill>
                    <a:latin typeface="Arial"/>
                  </a:rPr>
                  <a:t> and </a:t>
                </a:r>
                <a:r>
                  <a:rPr lang="en-IN" sz="2400">
                    <a:solidFill>
                      <a:srgbClr val="111827"/>
                    </a:solidFill>
                    <a:latin typeface="Cambria Math" panose="02040503050406030204" pitchFamily="18" charset="0"/>
                  </a:rPr>
                  <a:t>$AE=BC$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Median length: </a:t>
                </a:r>
                <a:r>
                  <a:rPr lang="en-IN" sz="2400">
                    <a:solidFill>
                      <a:srgbClr val="111827"/>
                    </a:solidFill>
                    <a:latin typeface="Cambria Math" panose="02040503050406030204" pitchFamily="18" charset="0"/>
                  </a:rPr>
                  <a:t>$m_b=\frac12\sqrt{2a^2+2c^2-b^2}$</a:t>
                </a:r>
                <a:r>
                  <a:rPr sz="2400" b="0">
                    <a:solidFill>
                      <a:srgbClr val="111827"/>
                    </a:solidFill>
                    <a:latin typeface="Arial"/>
                  </a:rPr>
                  <a:t> (Apollonius).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right angle between a median and a side turns into a right angle of the parallelogram </a:t>
                </a:r>
                <a:r>
                  <a:rPr lang="en-IN" sz="2400">
                    <a:solidFill>
                      <a:srgbClr val="111827"/>
                    </a:solidFill>
                    <a:latin typeface="Cambria Math" panose="02040503050406030204" pitchFamily="18" charset="0"/>
                  </a:rPr>
                  <a:t>$ABCE$</a:t>
                </a:r>
                <a:r>
                  <a:rPr sz="2400" b="0">
                    <a:solidFill>
                      <a:srgbClr val="111827"/>
                    </a:solidFill>
                    <a:latin typeface="Arial"/>
                  </a:rPr>
                  <a:t>, so the angle at </a:t>
                </a:r>
                <a:r>
                  <a:rPr lang="en-IN" sz="2400">
                    <a:solidFill>
                      <a:srgbClr val="111827"/>
                    </a:solidFill>
                    <a:latin typeface="Cambria Math" panose="02040503050406030204" pitchFamily="18" charset="0"/>
                  </a:rPr>
                  <a:t>$B$</a:t>
                </a:r>
                <a:r>
                  <a:rPr sz="2400" b="0">
                    <a:solidFill>
                      <a:srgbClr val="111827"/>
                    </a:solidFill>
                    <a:latin typeface="Arial"/>
                  </a:rPr>
                  <a:t> is </a:t>
                </a:r>
                <a:r>
                  <a:rPr lang="en-IN" sz="2400">
                    <a:solidFill>
                      <a:srgbClr val="111827"/>
                    </a:solidFill>
                    <a:latin typeface="Cambria Math" panose="02040503050406030204" pitchFamily="18" charset="0"/>
                  </a:rPr>
                  <a:t>$90^\circ+\arccos\frac{BE}{AB}$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4</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Q06</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(no marks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value answer; complete solution with alternate method and result</a:t>
            </a:r>
            <a:endParaRPr sz="2800">
              <a:solidFill>
                <a:srgbClr val="FFFFFF"/>
              </a:solidFill>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an isosceles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if the altitudes intersect on the inscribed circle, then find the secant of the vertical angle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an isosceles </a:t>
                </a:r>
                <a:r>
                  <a:rPr lang="en-IN" sz="2400">
                    <a:solidFill>
                      <a:srgbClr val="111827"/>
                    </a:solidFill>
                    <a:latin typeface="Cambria Math" panose="02040503050406030204" pitchFamily="18" charset="0"/>
                  </a:rPr>
                  <a:t>$\triangle ABC$</a:t>
                </a:r>
                <a:r>
                  <a:rPr sz="2400" b="0">
                    <a:solidFill>
                      <a:srgbClr val="111827"/>
                    </a:solidFill>
                    <a:latin typeface="Arial"/>
                  </a:rPr>
                  <a:t> (</a:t>
                </a:r>
                <a:r>
                  <a:rPr lang="en-IN" sz="2400">
                    <a:solidFill>
                      <a:srgbClr val="111827"/>
                    </a:solidFill>
                    <a:latin typeface="Cambria Math" panose="02040503050406030204" pitchFamily="18" charset="0"/>
                  </a:rPr>
                  <a:t>$AB=AC$</a:t>
                </a:r>
                <a:r>
                  <a:rPr sz="2400" b="0">
                    <a:solidFill>
                      <a:srgbClr val="111827"/>
                    </a:solidFill>
                    <a:latin typeface="Arial"/>
                  </a:rPr>
                  <a:t>), if the altitudes intersect on the inscribed circle, then find the secant of the vertical angle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Orthocentre, inradius and circumradius formulas of a triangle, Isosceles triangle and half-angle trigonometry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orthocentre on the axis lies on the incircle at distance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𝑟</m:t>
                    </m:r>
                  </m:oMath>
                </a14:m>
                <a:r>
                  <a:rPr sz="2400" b="0">
                    <a:solidFill>
                      <a:srgbClr val="78350F"/>
                    </a:solidFill>
                    <a:latin typeface="Arial"/>
                  </a:rPr>
                  <a:t> from </a:t>
                </a:r>
                <a14:m>
                  <m:oMath xmlns:m="http://schemas.openxmlformats.org/officeDocument/2006/math">
                    <m:r>
                      <a:rPr lang="en-IN" sz="2400" i="1">
                        <a:solidFill>
                          <a:srgbClr val="78350F"/>
                        </a:solidFill>
                        <a:latin typeface="Cambria Math" panose="02040503050406030204" pitchFamily="18" charset="0"/>
                      </a:rPr>
                      <m:t>𝐷</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𝐷</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𝐴</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orthocentre on the axis lies on the incircle at distance </a:t>
                </a:r>
                <a:r>
                  <a:rPr lang="en-IN" sz="2400">
                    <a:solidFill>
                      <a:srgbClr val="78350F"/>
                    </a:solidFill>
                    <a:latin typeface="Cambria Math" panose="02040503050406030204" pitchFamily="18" charset="0"/>
                  </a:rPr>
                  <a:t>$2r$</a:t>
                </a:r>
                <a:r>
                  <a:rPr sz="2400" b="0">
                    <a:solidFill>
                      <a:srgbClr val="78350F"/>
                    </a:solidFill>
                    <a:latin typeface="Arial"/>
                  </a:rPr>
                  <a:t> from </a:t>
                </a:r>
                <a:r>
                  <a:rPr lang="en-IN" sz="2400">
                    <a:solidFill>
                      <a:srgbClr val="78350F"/>
                    </a:solidFill>
                    <a:latin typeface="Cambria Math" panose="02040503050406030204" pitchFamily="18" charset="0"/>
                  </a:rPr>
                  <a:t>$D$</a:t>
                </a:r>
                <a:r>
                  <a:rPr sz="2400" b="0">
                    <a:solidFill>
                      <a:srgbClr val="78350F"/>
                    </a:solidFill>
                    <a:latin typeface="Arial"/>
                  </a:rPr>
                  <a:t>, so </a:t>
                </a:r>
                <a:r>
                  <a:rPr lang="en-IN" sz="2400">
                    <a:solidFill>
                      <a:srgbClr val="78350F"/>
                    </a:solidFill>
                    <a:latin typeface="Cambria Math" panose="02040503050406030204" pitchFamily="18" charset="0"/>
                  </a:rPr>
                  <a:t>$AH+2r=AD$</a:t>
                </a:r>
                <a:r>
                  <a:rPr sz="2400" b="0">
                    <a:solidFill>
                      <a:srgbClr val="78350F"/>
                    </a:solidFill>
                    <a:latin typeface="Arial"/>
                  </a:rPr>
                  <a:t> with </a:t>
                </a:r>
                <a:r>
                  <a:rPr lang="en-IN" sz="2400">
                    <a:solidFill>
                      <a:srgbClr val="78350F"/>
                    </a:solidFill>
                    <a:latin typeface="Cambria Math" panose="02040503050406030204" pitchFamily="18" charset="0"/>
                  </a:rPr>
                  <a:t>$AH=2R\cos 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be the orthocentre and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the foot of the altitude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which is also the point where the incircle touches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lies 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and on the incircle, 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$O$</a:t>
                </a:r>
                <a:r>
                  <a:rPr sz="2400" b="0">
                    <a:solidFill>
                      <a:srgbClr val="111827"/>
                    </a:solidFill>
                    <a:latin typeface="Arial"/>
                  </a:rPr>
                  <a:t> be the orthocentre and </a:t>
                </a:r>
                <a:r>
                  <a:rPr lang="en-IN" sz="2400">
                    <a:solidFill>
                      <a:srgbClr val="111827"/>
                    </a:solidFill>
                    <a:latin typeface="Cambria Math" panose="02040503050406030204" pitchFamily="18" charset="0"/>
                  </a:rPr>
                  <a:t>$D$</a:t>
                </a:r>
                <a:r>
                  <a:rPr sz="2400" b="0">
                    <a:solidFill>
                      <a:srgbClr val="111827"/>
                    </a:solidFill>
                    <a:latin typeface="Arial"/>
                  </a:rPr>
                  <a:t> the foot of the altitude from </a:t>
                </a:r>
                <a:r>
                  <a:rPr lang="en-IN" sz="2400">
                    <a:solidFill>
                      <a:srgbClr val="111827"/>
                    </a:solidFill>
                    <a:latin typeface="Cambria Math" panose="02040503050406030204" pitchFamily="18" charset="0"/>
                  </a:rPr>
                  <a:t>$A$</a:t>
                </a:r>
                <a:r>
                  <a:rPr sz="2400" b="0">
                    <a:solidFill>
                      <a:srgbClr val="111827"/>
                    </a:solidFill>
                    <a:latin typeface="Arial"/>
                  </a:rPr>
                  <a:t>, which is also the point where the incircle touches </a:t>
                </a:r>
                <a:r>
                  <a:rPr lang="en-IN" sz="2400">
                    <a:solidFill>
                      <a:srgbClr val="111827"/>
                    </a:solidFill>
                    <a:latin typeface="Cambria Math" panose="02040503050406030204" pitchFamily="18" charset="0"/>
                  </a:rPr>
                  <a:t>$BC$</a:t>
                </a:r>
                <a:r>
                  <a:rPr sz="2400" b="0">
                    <a:solidFill>
                      <a:srgbClr val="111827"/>
                    </a:solidFill>
                    <a:latin typeface="Arial"/>
                  </a:rPr>
                  <a:t>. </a:t>
                </a:r>
                <a:r>
                  <a:rPr lang="en-IN" sz="2400">
                    <a:solidFill>
                      <a:srgbClr val="111827"/>
                    </a:solidFill>
                    <a:latin typeface="Cambria Math" panose="02040503050406030204" pitchFamily="18" charset="0"/>
                  </a:rPr>
                  <a:t>$O$</a:t>
                </a:r>
                <a:r>
                  <a:rPr sz="2400" b="0">
                    <a:solidFill>
                      <a:srgbClr val="111827"/>
                    </a:solidFill>
                    <a:latin typeface="Arial"/>
                  </a:rPr>
                  <a:t> lies on </a:t>
                </a:r>
                <a:r>
                  <a:rPr lang="en-IN" sz="2400">
                    <a:solidFill>
                      <a:srgbClr val="111827"/>
                    </a:solidFill>
                    <a:latin typeface="Cambria Math" panose="02040503050406030204" pitchFamily="18" charset="0"/>
                  </a:rPr>
                  <a:t>$AD$</a:t>
                </a:r>
                <a:r>
                  <a:rPr sz="2400" b="0">
                    <a:solidFill>
                      <a:srgbClr val="111827"/>
                    </a:solidFill>
                    <a:latin typeface="Arial"/>
                  </a:rPr>
                  <a:t> and on the incircle, so </a:t>
                </a:r>
                <a:r>
                  <a:rPr lang="en-IN" sz="2400">
                    <a:solidFill>
                      <a:srgbClr val="111827"/>
                    </a:solidFill>
                    <a:latin typeface="Cambria Math" panose="02040503050406030204" pitchFamily="18" charset="0"/>
                  </a:rPr>
                  <a:t>$OD=2r$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$OA=2R\cos A$</a:t>
                </a:r>
                <a:r>
                  <a:rPr sz="2400" b="0">
                    <a:solidFill>
                      <a:srgbClr val="111827"/>
                    </a:solidFill>
                    <a:latin typeface="Arial"/>
                  </a:rPr>
                  <a:t> and </a:t>
                </a:r>
                <a:r>
                  <a:rPr lang="en-IN" sz="2400">
                    <a:solidFill>
                      <a:srgbClr val="111827"/>
                    </a:solidFill>
                    <a:latin typeface="Cambria Math" panose="02040503050406030204" pitchFamily="18" charset="0"/>
                  </a:rPr>
                  <a:t>$AD=\frac a2\cot\frac A2$</a:t>
                </a:r>
                <a:r>
                  <a:rPr sz="2400" b="0">
                    <a:solidFill>
                      <a:srgbClr val="111827"/>
                    </a:solidFill>
                    <a:latin typeface="Arial"/>
                  </a:rPr>
                  <a:t>; since </a:t>
                </a:r>
                <a:r>
                  <a:rPr lang="en-IN" sz="2400">
                    <a:solidFill>
                      <a:srgbClr val="111827"/>
                    </a:solidFill>
                    <a:latin typeface="Cambria Math" panose="02040503050406030204" pitchFamily="18" charset="0"/>
                  </a:rPr>
                  <a:t>$OA+OD=AD$</a:t>
                </a:r>
                <a:r>
                  <a:rPr sz="2400" b="0">
                    <a:solidFill>
                      <a:srgbClr val="111827"/>
                    </a:solidFill>
                    <a:latin typeface="Arial"/>
                  </a:rPr>
                  <a:t>: </a:t>
                </a:r>
                <a:r>
                  <a:rPr lang="en-IN" sz="2400">
                    <a:solidFill>
                      <a:srgbClr val="111827"/>
                    </a:solidFill>
                    <a:latin typeface="Cambria Math" panose="02040503050406030204" pitchFamily="18" charset="0"/>
                  </a:rPr>
                  <a:t>$2r+2R\cos A=\frac a2\cot\frac 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$r=4R\sin\frac A2\sin\frac B2\sin\frac C2$</a:t>
                </a:r>
                <a:r>
                  <a:rPr sz="2400" b="0">
                    <a:solidFill>
                      <a:srgbClr val="111827"/>
                    </a:solidFill>
                    <a:latin typeface="Arial"/>
                  </a:rPr>
                  <a:t> and </a:t>
                </a:r>
                <a:r>
                  <a:rPr lang="en-IN" sz="2400">
                    <a:solidFill>
                      <a:srgbClr val="111827"/>
                    </a:solidFill>
                    <a:latin typeface="Cambria Math" panose="02040503050406030204" pitchFamily="18" charset="0"/>
                  </a:rPr>
                  <a:t>$a=2R\sin A$</a:t>
                </a:r>
                <a:r>
                  <a:rPr sz="2400" b="0">
                    <a:solidFill>
                      <a:srgbClr val="111827"/>
                    </a:solidFill>
                    <a:latin typeface="Arial"/>
                  </a:rPr>
                  <a:t>: </a:t>
                </a:r>
                <a:r>
                  <a:rPr lang="en-IN" sz="2400">
                    <a:solidFill>
                      <a:srgbClr val="111827"/>
                    </a:solidFill>
                    <a:latin typeface="Cambria Math" panose="02040503050406030204" pitchFamily="18" charset="0"/>
                  </a:rPr>
                  <a:t>$8\sin\frac A2\sin\frac B2\sin\frac C2+2\cos A=\sin A\cot\frac A2=2\cos^2\frac 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$2\cos^2\frac A2=\cos A+1$</a:t>
                </a:r>
                <a:r>
                  <a:rPr sz="2400" b="0">
                    <a:solidFill>
                      <a:srgbClr val="111827"/>
                    </a:solidFill>
                    <a:latin typeface="Arial"/>
                  </a:rPr>
                  <a:t>, so </a:t>
                </a:r>
                <a:r>
                  <a:rPr lang="en-IN" sz="2400">
                    <a:solidFill>
                      <a:srgbClr val="111827"/>
                    </a:solidFill>
                    <a:latin typeface="Cambria Math" panose="02040503050406030204" pitchFamily="18" charset="0"/>
                  </a:rPr>
                  <a:t>$\cos A=1-8\sin\frac A2\sin\frac B2\sin\frac C2$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4</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sec</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$B=C$</a:t>
                </a:r>
                <a:r>
                  <a:rPr sz="2400" b="0">
                    <a:solidFill>
                      <a:srgbClr val="111827"/>
                    </a:solidFill>
                    <a:latin typeface="Arial"/>
                  </a:rPr>
                  <a:t> and </a:t>
                </a:r>
                <a:r>
                  <a:rPr lang="en-IN" sz="2400">
                    <a:solidFill>
                      <a:srgbClr val="111827"/>
                    </a:solidFill>
                    <a:latin typeface="Cambria Math" panose="02040503050406030204" pitchFamily="18" charset="0"/>
                  </a:rPr>
                  <a:t>$A+B+C=\pi$</a:t>
                </a:r>
                <a:r>
                  <a:rPr sz="2400" b="0">
                    <a:solidFill>
                      <a:srgbClr val="111827"/>
                    </a:solidFill>
                    <a:latin typeface="Arial"/>
                  </a:rPr>
                  <a:t>, </a:t>
                </a:r>
                <a:r>
                  <a:rPr lang="en-IN" sz="2400">
                    <a:solidFill>
                      <a:srgbClr val="111827"/>
                    </a:solidFill>
                    <a:latin typeface="Cambria Math" panose="02040503050406030204" pitchFamily="18" charset="0"/>
                  </a:rPr>
                  <a:t>$\frac B2=\frac C2=\frac\pi4-\frac A4$</a:t>
                </a:r>
                <a:r>
                  <a:rPr sz="2400" b="0">
                    <a:solidFill>
                      <a:srgbClr val="111827"/>
                    </a:solidFill>
                    <a:latin typeface="Arial"/>
                  </a:rPr>
                  <a:t>, so </a:t>
                </a:r>
                <a:r>
                  <a:rPr lang="en-IN" sz="2400">
                    <a:solidFill>
                      <a:srgbClr val="111827"/>
                    </a:solidFill>
                    <a:latin typeface="Cambria Math" panose="02040503050406030204" pitchFamily="18" charset="0"/>
                  </a:rPr>
                  <a:t>$\cos A=1-8\sin\frac A2\sin^2\left(\frac\pi4-\frac A4\right)$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$\sin^2\left(\frac\pi4-\frac A4\right)=\frac12\left(\cos\frac A4-\sin\frac A4\right)^2=\frac12\left(1-\sin\frac A2\right)$</a:t>
                </a:r>
                <a:r>
                  <a:rPr sz="2400" b="0">
                    <a:solidFill>
                      <a:srgbClr val="111827"/>
                    </a:solidFill>
                    <a:latin typeface="Arial"/>
                  </a:rPr>
                  <a:t>, so </a:t>
                </a:r>
                <a:r>
                  <a:rPr lang="en-IN" sz="2400">
                    <a:solidFill>
                      <a:srgbClr val="111827"/>
                    </a:solidFill>
                    <a:latin typeface="Cambria Math" panose="02040503050406030204" pitchFamily="18" charset="0"/>
                  </a:rPr>
                  <a:t>$1-2\sin^2\frac A2=1-4\sin\frac A2\left(1-\sin\frac A2\right)$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$-2\sin^2\frac A2=-4\sin\frac A2+4\sin^2\frac A2\Rightarrow6\sin\frac A2=4$</a:t>
                </a:r>
                <a:r>
                  <a:rPr sz="2400" b="0">
                    <a:solidFill>
                      <a:srgbClr val="111827"/>
                    </a:solidFill>
                    <a:latin typeface="Arial"/>
                  </a:rPr>
                  <a:t>, so </a:t>
                </a:r>
                <a:r>
                  <a:rPr lang="en-IN" sz="2400">
                    <a:solidFill>
                      <a:srgbClr val="111827"/>
                    </a:solidFill>
                    <a:latin typeface="Cambria Math" panose="02040503050406030204" pitchFamily="18" charset="0"/>
                  </a:rPr>
                  <a:t>$\sin\frac A2=\frac23$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 A=1-2\sin^2\frac A2=1-2\cdot\frac49=\frac19$</a:t>
                </a:r>
                <a:r>
                  <a:rPr sz="2400" b="0">
                    <a:solidFill>
                      <a:srgbClr val="111827"/>
                    </a:solidFill>
                    <a:latin typeface="Arial"/>
                  </a:rPr>
                  <a:t>, so </a:t>
                </a:r>
                <a:r>
                  <a:rPr lang="en-IN" sz="2400">
                    <a:solidFill>
                      <a:srgbClr val="111827"/>
                    </a:solidFill>
                    <a:latin typeface="Cambria Math" panose="02040503050406030204" pitchFamily="18" charset="0"/>
                  </a:rPr>
                  <a:t>$\sec A=9$</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9</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$9$</a:t>
                </a:r>
                <a:endParaRPr sz="2800">
                  <a:solidFill>
                    <a:srgbClr val="15803D"/>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Coordinates with the axis as the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-axis: put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tan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𝐴</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the orthocentre height </a:t>
                </a:r>
                <a14:m>
                  <m:oMath xmlns:m="http://schemas.openxmlformats.org/officeDocument/2006/math">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must equal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𝑟</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Coordinates with the axis as the </a:t>
                </a:r>
                <a:r>
                  <a:rPr lang="en-IN" sz="2400">
                    <a:solidFill>
                      <a:srgbClr val="78350F"/>
                    </a:solidFill>
                    <a:latin typeface="Cambria Math" panose="02040503050406030204" pitchFamily="18" charset="0"/>
                  </a:rPr>
                  <a:t>$y$</a:t>
                </a:r>
                <a:r>
                  <a:rPr sz="2400" b="0">
                    <a:solidFill>
                      <a:srgbClr val="78350F"/>
                    </a:solidFill>
                    <a:latin typeface="Arial"/>
                  </a:rPr>
                  <a:t>-axis: put </a:t>
                </a:r>
                <a:r>
                  <a:rPr lang="en-IN" sz="2400">
                    <a:solidFill>
                      <a:srgbClr val="78350F"/>
                    </a:solidFill>
                    <a:latin typeface="Cambria Math" panose="02040503050406030204" pitchFamily="18" charset="0"/>
                  </a:rPr>
                  <a:t>$t=\tan\frac A2$</a:t>
                </a:r>
                <a:r>
                  <a:rPr sz="2400" b="0">
                    <a:solidFill>
                      <a:srgbClr val="78350F"/>
                    </a:solidFill>
                    <a:latin typeface="Arial"/>
                  </a:rPr>
                  <a:t>; the orthocentre height </a:t>
                </a:r>
                <a:r>
                  <a:rPr lang="en-IN" sz="2400">
                    <a:solidFill>
                      <a:srgbClr val="78350F"/>
                    </a:solidFill>
                    <a:latin typeface="Cambria Math" panose="02040503050406030204" pitchFamily="18" charset="0"/>
                  </a:rPr>
                  <a:t>$t^2$</a:t>
                </a:r>
                <a:r>
                  <a:rPr sz="2400" b="0">
                    <a:solidFill>
                      <a:srgbClr val="78350F"/>
                    </a:solidFill>
                    <a:latin typeface="Arial"/>
                  </a:rPr>
                  <a:t> must equal </a:t>
                </a:r>
                <a:r>
                  <a:rPr lang="en-IN" sz="2400">
                    <a:solidFill>
                      <a:srgbClr val="78350F"/>
                    </a:solidFill>
                    <a:latin typeface="Cambria Math" panose="02040503050406030204" pitchFamily="18" charset="0"/>
                  </a:rPr>
                  <a:t>$2r$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 orthocentre lies on the axis.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is perpendicular to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which has direction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its equation is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it meets the axis at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and semi-perimeter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the incircle meets the axis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$D=(0,0)$</a:t>
                </a:r>
                <a:r>
                  <a:rPr sz="2400" b="0">
                    <a:solidFill>
                      <a:srgbClr val="111827"/>
                    </a:solidFill>
                    <a:latin typeface="Arial"/>
                  </a:rPr>
                  <a:t>, </a:t>
                </a:r>
                <a:r>
                  <a:rPr lang="en-IN" sz="2400">
                    <a:solidFill>
                      <a:srgbClr val="111827"/>
                    </a:solidFill>
                    <a:latin typeface="Cambria Math" panose="02040503050406030204" pitchFamily="18" charset="0"/>
                  </a:rPr>
                  <a:t>$A=(0,1)$</a:t>
                </a:r>
                <a:r>
                  <a:rPr sz="2400" b="0">
                    <a:solidFill>
                      <a:srgbClr val="111827"/>
                    </a:solidFill>
                    <a:latin typeface="Arial"/>
                  </a:rPr>
                  <a:t>, </a:t>
                </a:r>
                <a:r>
                  <a:rPr lang="en-IN" sz="2400">
                    <a:solidFill>
                      <a:srgbClr val="111827"/>
                    </a:solidFill>
                    <a:latin typeface="Cambria Math" panose="02040503050406030204" pitchFamily="18" charset="0"/>
                  </a:rPr>
                  <a:t>$B=(-t,0)$</a:t>
                </a:r>
                <a:r>
                  <a:rPr sz="2400" b="0">
                    <a:solidFill>
                      <a:srgbClr val="111827"/>
                    </a:solidFill>
                    <a:latin typeface="Arial"/>
                  </a:rPr>
                  <a:t>, </a:t>
                </a:r>
                <a:r>
                  <a:rPr lang="en-IN" sz="2400">
                    <a:solidFill>
                      <a:srgbClr val="111827"/>
                    </a:solidFill>
                    <a:latin typeface="Cambria Math" panose="02040503050406030204" pitchFamily="18" charset="0"/>
                  </a:rPr>
                  <a:t>$C=(t,0)$</a:t>
                </a:r>
                <a:r>
                  <a:rPr sz="2400" b="0">
                    <a:solidFill>
                      <a:srgbClr val="111827"/>
                    </a:solidFill>
                    <a:latin typeface="Arial"/>
                  </a:rPr>
                  <a:t> where </a:t>
                </a:r>
                <a:r>
                  <a:rPr lang="en-IN" sz="2400">
                    <a:solidFill>
                      <a:srgbClr val="111827"/>
                    </a:solidFill>
                    <a:latin typeface="Cambria Math" panose="02040503050406030204" pitchFamily="18" charset="0"/>
                  </a:rPr>
                  <a:t>$t=\tan\frac A2$</a:t>
                </a:r>
                <a:r>
                  <a:rPr sz="2400" b="0">
                    <a:solidFill>
                      <a:srgbClr val="111827"/>
                    </a:solidFill>
                    <a:latin typeface="Arial"/>
                  </a:rPr>
                  <a:t>. The orthocentre lies on the axis.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t>
                </a:r>
                <a:r>
                  <a:rPr lang="en-IN" sz="2400">
                    <a:solidFill>
                      <a:srgbClr val="111827"/>
                    </a:solidFill>
                    <a:latin typeface="Cambria Math" panose="02040503050406030204" pitchFamily="18" charset="0"/>
                  </a:rPr>
                  <a:t>$B$</a:t>
                </a:r>
                <a:r>
                  <a:rPr sz="2400" b="0">
                    <a:solidFill>
                      <a:srgbClr val="111827"/>
                    </a:solidFill>
                    <a:latin typeface="Arial"/>
                  </a:rPr>
                  <a:t> is perpendicular to </a:t>
                </a:r>
                <a:r>
                  <a:rPr lang="en-IN" sz="2400">
                    <a:solidFill>
                      <a:srgbClr val="111827"/>
                    </a:solidFill>
                    <a:latin typeface="Cambria Math" panose="02040503050406030204" pitchFamily="18" charset="0"/>
                  </a:rPr>
                  <a:t>$AC$</a:t>
                </a:r>
                <a:r>
                  <a:rPr sz="2400" b="0">
                    <a:solidFill>
                      <a:srgbClr val="111827"/>
                    </a:solidFill>
                    <a:latin typeface="Arial"/>
                  </a:rPr>
                  <a:t>, which has direction </a:t>
                </a:r>
                <a:r>
                  <a:rPr lang="en-IN" sz="2400">
                    <a:solidFill>
                      <a:srgbClr val="111827"/>
                    </a:solidFill>
                    <a:latin typeface="Cambria Math" panose="02040503050406030204" pitchFamily="18" charset="0"/>
                  </a:rPr>
                  <a:t>$(t,-1)$</a:t>
                </a:r>
                <a:r>
                  <a:rPr sz="2400" b="0">
                    <a:solidFill>
                      <a:srgbClr val="111827"/>
                    </a:solidFill>
                    <a:latin typeface="Arial"/>
                  </a:rPr>
                  <a:t>: its equation is </a:t>
                </a:r>
                <a:r>
                  <a:rPr lang="en-IN" sz="2400">
                    <a:solidFill>
                      <a:srgbClr val="111827"/>
                    </a:solidFill>
                    <a:latin typeface="Cambria Math" panose="02040503050406030204" pitchFamily="18" charset="0"/>
                  </a:rPr>
                  <a:t>$t(x+t)-y=0$</a:t>
                </a:r>
                <a:r>
                  <a:rPr sz="2400" b="0">
                    <a:solidFill>
                      <a:srgbClr val="111827"/>
                    </a:solidFill>
                    <a:latin typeface="Arial"/>
                  </a:rPr>
                  <a:t>, so it meets the axis at </a:t>
                </a:r>
                <a:r>
                  <a:rPr lang="en-IN" sz="2400">
                    <a:solidFill>
                      <a:srgbClr val="111827"/>
                    </a:solidFill>
                    <a:latin typeface="Cambria Math" panose="02040503050406030204" pitchFamily="18" charset="0"/>
                  </a:rPr>
                  <a:t>$H=(0,t^2)$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$=t$</a:t>
                </a:r>
                <a:r>
                  <a:rPr sz="2400" b="0">
                    <a:solidFill>
                      <a:srgbClr val="111827"/>
                    </a:solidFill>
                    <a:latin typeface="Arial"/>
                  </a:rPr>
                  <a:t> and semi-perimeter </a:t>
                </a:r>
                <a:r>
                  <a:rPr lang="en-IN" sz="2400">
                    <a:solidFill>
                      <a:srgbClr val="111827"/>
                    </a:solidFill>
                    <a:latin typeface="Cambria Math" panose="02040503050406030204" pitchFamily="18" charset="0"/>
                  </a:rPr>
                  <a:t>$s=t+\sqrt{1+t^2}$</a:t>
                </a:r>
                <a:r>
                  <a:rPr sz="2400" b="0">
                    <a:solidFill>
                      <a:srgbClr val="111827"/>
                    </a:solidFill>
                    <a:latin typeface="Arial"/>
                  </a:rPr>
                  <a:t>, so </a:t>
                </a:r>
                <a:r>
                  <a:rPr lang="en-IN" sz="2400">
                    <a:solidFill>
                      <a:srgbClr val="111827"/>
                    </a:solidFill>
                    <a:latin typeface="Cambria Math" panose="02040503050406030204" pitchFamily="18" charset="0"/>
                  </a:rPr>
                  <a:t>$r=\frac{t}{t+\sqrt{1+t^2}}$</a:t>
                </a:r>
                <a:r>
                  <a:rPr sz="2400" b="0">
                    <a:solidFill>
                      <a:srgbClr val="111827"/>
                    </a:solidFill>
                    <a:latin typeface="Arial"/>
                  </a:rPr>
                  <a:t>; the incircle meets the axis at </a:t>
                </a:r>
                <a:r>
                  <a:rPr lang="en-IN" sz="2400">
                    <a:solidFill>
                      <a:srgbClr val="111827"/>
                    </a:solidFill>
                    <a:latin typeface="Cambria Math" panose="02040503050406030204" pitchFamily="18" charset="0"/>
                  </a:rPr>
                  <a:t>$(0,0)$</a:t>
                </a:r>
                <a:r>
                  <a:rPr sz="2400" b="0">
                    <a:solidFill>
                      <a:srgbClr val="111827"/>
                    </a:solidFill>
                    <a:latin typeface="Arial"/>
                  </a:rPr>
                  <a:t> and </a:t>
                </a:r>
                <a:r>
                  <a:rPr lang="en-IN" sz="2400">
                    <a:solidFill>
                      <a:srgbClr val="111827"/>
                    </a:solidFill>
                    <a:latin typeface="Cambria Math" panose="02040503050406030204" pitchFamily="18" charset="0"/>
                  </a:rPr>
                  <a:t>$(0,2r)$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oMath>
                </a14:m>
                <a:r>
                  <a:rPr sz="2400" b="0">
                    <a:solidFill>
                      <a:srgbClr val="111827"/>
                    </a:solidFill>
                    <a:latin typeface="Arial"/>
                  </a:rPr>
                  <a:t> (as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𝑡</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squaring,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holds).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sec</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$H\neq D$</a:t>
                </a:r>
                <a:r>
                  <a:rPr sz="2400" b="0">
                    <a:solidFill>
                      <a:srgbClr val="111827"/>
                    </a:solidFill>
                    <a:latin typeface="Arial"/>
                  </a:rPr>
                  <a:t> (as </a:t>
                </a:r>
                <a:r>
                  <a:rPr lang="en-IN" sz="2400">
                    <a:solidFill>
                      <a:srgbClr val="111827"/>
                    </a:solidFill>
                    <a:latin typeface="Cambria Math" panose="02040503050406030204" pitchFamily="18" charset="0"/>
                  </a:rPr>
                  <a:t>$t^2&gt;0$</a:t>
                </a:r>
                <a:r>
                  <a:rPr sz="2400" b="0">
                    <a:solidFill>
                      <a:srgbClr val="111827"/>
                    </a:solidFill>
                    <a:latin typeface="Arial"/>
                  </a:rPr>
                  <a:t>), so </a:t>
                </a:r>
                <a:r>
                  <a:rPr lang="en-IN" sz="2400">
                    <a:solidFill>
                      <a:srgbClr val="111827"/>
                    </a:solidFill>
                    <a:latin typeface="Cambria Math" panose="02040503050406030204" pitchFamily="18" charset="0"/>
                  </a:rPr>
                  <a:t>$H=(0,2r)$</a:t>
                </a:r>
                <a:r>
                  <a:rPr sz="2400" b="0">
                    <a:solidFill>
                      <a:srgbClr val="111827"/>
                    </a:solidFill>
                    <a:latin typeface="Arial"/>
                  </a:rPr>
                  <a:t> and </a:t>
                </a:r>
                <a:r>
                  <a:rPr lang="en-IN" sz="2400">
                    <a:solidFill>
                      <a:srgbClr val="111827"/>
                    </a:solidFill>
                    <a:latin typeface="Cambria Math" panose="02040503050406030204" pitchFamily="18" charset="0"/>
                  </a:rPr>
                  <a:t>$t^2=\frac{2t}{t+\sqrt{1+t^2}}$</a:t>
                </a:r>
                <a:r>
                  <a:rPr sz="2400" b="0">
                    <a:solidFill>
                      <a:srgbClr val="111827"/>
                    </a:solidFill>
                    <a:latin typeface="Arial"/>
                  </a:rPr>
                  <a:t>, i.e. </a:t>
                </a:r>
                <a:r>
                  <a:rPr lang="en-IN" sz="2400">
                    <a:solidFill>
                      <a:srgbClr val="111827"/>
                    </a:solidFill>
                    <a:latin typeface="Cambria Math" panose="02040503050406030204" pitchFamily="18" charset="0"/>
                  </a:rPr>
                  <a:t>$t^2+t\sqrt{1+t^2}=2$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$t\sqrt{1+t^2}=2-t^2$</a:t>
                </a:r>
                <a:r>
                  <a:rPr sz="2400" b="0">
                    <a:solidFill>
                      <a:srgbClr val="111827"/>
                    </a:solidFill>
                    <a:latin typeface="Arial"/>
                  </a:rPr>
                  <a:t>; squaring, </a:t>
                </a:r>
                <a:r>
                  <a:rPr lang="en-IN" sz="2400">
                    <a:solidFill>
                      <a:srgbClr val="111827"/>
                    </a:solidFill>
                    <a:latin typeface="Cambria Math" panose="02040503050406030204" pitchFamily="18" charset="0"/>
                  </a:rPr>
                  <a:t>$t^2+t^4=4-4t^2+t^4$</a:t>
                </a:r>
                <a:r>
                  <a:rPr sz="2400" b="0">
                    <a:solidFill>
                      <a:srgbClr val="111827"/>
                    </a:solidFill>
                    <a:latin typeface="Arial"/>
                  </a:rPr>
                  <a:t>, so </a:t>
                </a:r>
                <a:r>
                  <a:rPr lang="en-IN" sz="2400">
                    <a:solidFill>
                      <a:srgbClr val="111827"/>
                    </a:solidFill>
                    <a:latin typeface="Cambria Math" panose="02040503050406030204" pitchFamily="18" charset="0"/>
                  </a:rPr>
                  <a:t>$t^2=\frac45$</a:t>
                </a:r>
                <a:r>
                  <a:rPr sz="2400" b="0">
                    <a:solidFill>
                      <a:srgbClr val="111827"/>
                    </a:solidFill>
                    <a:latin typeface="Arial"/>
                  </a:rPr>
                  <a:t> (and </a:t>
                </a:r>
                <a:r>
                  <a:rPr lang="en-IN" sz="2400">
                    <a:solidFill>
                      <a:srgbClr val="111827"/>
                    </a:solidFill>
                    <a:latin typeface="Cambria Math" panose="02040503050406030204" pitchFamily="18" charset="0"/>
                  </a:rPr>
                  <a:t>$2-t^2&gt;0$</a:t>
                </a:r>
                <a:r>
                  <a:rPr sz="2400" b="0">
                    <a:solidFill>
                      <a:srgbClr val="111827"/>
                    </a:solidFill>
                    <a:latin typeface="Arial"/>
                  </a:rPr>
                  <a:t> holds).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 A=\frac{1-t^2}{1+t^2}=\frac{1/5}{9/5}=\frac19$</a:t>
                </a:r>
                <a:r>
                  <a:rPr sz="2400" b="0">
                    <a:solidFill>
                      <a:srgbClr val="111827"/>
                    </a:solidFill>
                    <a:latin typeface="Arial"/>
                  </a:rPr>
                  <a:t>, so </a:t>
                </a:r>
                <a:r>
                  <a:rPr lang="en-IN" sz="2400">
                    <a:solidFill>
                      <a:srgbClr val="111827"/>
                    </a:solidFill>
                    <a:latin typeface="Cambria Math" panose="02040503050406030204" pitchFamily="18" charset="0"/>
                  </a:rPr>
                  <a:t>$\sec A=9$</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9</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$9$</a:t>
                </a:r>
                <a:endParaRPr sz="2800">
                  <a:solidFill>
                    <a:srgbClr val="15803D"/>
                  </a:solidFill>
                </a:endParaRPr>
              </a:p>
            </p:txBody>
          </p:sp>
        </mc:Fallback>
      </mc:AlternateContent>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Distances from the orthocentre: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oMath>
                </a14:m>
                <a:r>
                  <a:rPr sz="2400" b="0">
                    <a:solidFill>
                      <a:srgbClr val="111827"/>
                    </a:solidFill>
                    <a:latin typeface="Arial"/>
                  </a:rPr>
                  <a:t> (acute triangle); inradius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an isosceles triangle the orthocentre, incentre and circumcentre all lie on the axis; the incircle meets the axis at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and at the point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oMath>
                </a14:m>
                <a:r>
                  <a:rPr sz="2400" b="0">
                    <a:solidFill>
                      <a:srgbClr val="111827"/>
                    </a:solidFill>
                    <a:latin typeface="Arial"/>
                  </a:rPr>
                  <a:t> above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with altitude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makes every length rational in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r>
                      <m:rPr>
                        <m:nor/>
                      </m:rPr>
                      <a:rPr lang="en-IN" sz="2400" i="1">
                        <a:solidFill>
                          <a:srgbClr val="111827"/>
                        </a:solidFill>
                        <a:latin typeface="Cambria Math" panose="02040503050406030204" pitchFamily="18" charset="0"/>
                      </a:rPr>
                      <m:t>𝑙𝑒𝑔</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condition 'orthocentre on the incircle' holds exactly when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83.6</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Distances from the orthocentre: </a:t>
                </a:r>
                <a:r>
                  <a:rPr lang="en-IN" sz="2400">
                    <a:solidFill>
                      <a:srgbClr val="111827"/>
                    </a:solidFill>
                    <a:latin typeface="Cambria Math" panose="02040503050406030204" pitchFamily="18" charset="0"/>
                  </a:rPr>
                  <a:t>$AH=2R\cos A$</a:t>
                </a:r>
                <a:r>
                  <a:rPr sz="2400" b="0">
                    <a:solidFill>
                      <a:srgbClr val="111827"/>
                    </a:solidFill>
                    <a:latin typeface="Arial"/>
                  </a:rPr>
                  <a:t> and </a:t>
                </a:r>
                <a:r>
                  <a:rPr lang="en-IN" sz="2400">
                    <a:solidFill>
                      <a:srgbClr val="111827"/>
                    </a:solidFill>
                    <a:latin typeface="Cambria Math" panose="02040503050406030204" pitchFamily="18" charset="0"/>
                  </a:rPr>
                  <a:t>$HD=2R\cos B\cos C$</a:t>
                </a:r>
                <a:r>
                  <a:rPr sz="2400" b="0">
                    <a:solidFill>
                      <a:srgbClr val="111827"/>
                    </a:solidFill>
                    <a:latin typeface="Arial"/>
                  </a:rPr>
                  <a:t> (acute triangle); inradius </a:t>
                </a:r>
                <a:r>
                  <a:rPr lang="en-IN" sz="2400">
                    <a:solidFill>
                      <a:srgbClr val="111827"/>
                    </a:solidFill>
                    <a:latin typeface="Cambria Math" panose="02040503050406030204" pitchFamily="18" charset="0"/>
                  </a:rPr>
                  <a:t>$r=4R\sin\frac A2\sin\frac B2\sin\frac 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an isosceles triangle the orthocentre, incentre and circumcentre all lie on the axis; the incircle meets the axis at </a:t>
                </a:r>
                <a:r>
                  <a:rPr lang="en-IN" sz="2400">
                    <a:solidFill>
                      <a:srgbClr val="111827"/>
                    </a:solidFill>
                    <a:latin typeface="Cambria Math" panose="02040503050406030204" pitchFamily="18" charset="0"/>
                  </a:rPr>
                  <a:t>$D$</a:t>
                </a:r>
                <a:r>
                  <a:rPr sz="2400" b="0">
                    <a:solidFill>
                      <a:srgbClr val="111827"/>
                    </a:solidFill>
                    <a:latin typeface="Arial"/>
                  </a:rPr>
                  <a:t> and at the point </a:t>
                </a:r>
                <a:r>
                  <a:rPr lang="en-IN" sz="2400">
                    <a:solidFill>
                      <a:srgbClr val="111827"/>
                    </a:solidFill>
                    <a:latin typeface="Cambria Math" panose="02040503050406030204" pitchFamily="18" charset="0"/>
                  </a:rPr>
                  <a:t>$2r$</a:t>
                </a:r>
                <a:r>
                  <a:rPr sz="2400" b="0">
                    <a:solidFill>
                      <a:srgbClr val="111827"/>
                    </a:solidFill>
                    <a:latin typeface="Arial"/>
                  </a:rPr>
                  <a:t> above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$t=\tan\frac A2$</a:t>
                </a:r>
                <a:r>
                  <a:rPr sz="2400" b="0">
                    <a:solidFill>
                      <a:srgbClr val="111827"/>
                    </a:solidFill>
                    <a:latin typeface="Arial"/>
                  </a:rPr>
                  <a:t> with altitude </a:t>
                </a:r>
                <a:r>
                  <a:rPr lang="en-IN" sz="2400">
                    <a:solidFill>
                      <a:srgbClr val="111827"/>
                    </a:solidFill>
                    <a:latin typeface="Cambria Math" panose="02040503050406030204" pitchFamily="18" charset="0"/>
                  </a:rPr>
                  <a:t>$1$</a:t>
                </a:r>
                <a:r>
                  <a:rPr sz="2400" b="0">
                    <a:solidFill>
                      <a:srgbClr val="111827"/>
                    </a:solidFill>
                    <a:latin typeface="Arial"/>
                  </a:rPr>
                  <a:t> makes every length rational in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$a=2t$</a:t>
                </a:r>
                <a:r>
                  <a:rPr sz="2400" b="0">
                    <a:solidFill>
                      <a:srgbClr val="111827"/>
                    </a:solidFill>
                    <a:latin typeface="Arial"/>
                  </a:rPr>
                  <a:t>, </a:t>
                </a:r>
                <a:r>
                  <a:rPr lang="en-IN" sz="2400">
                    <a:solidFill>
                      <a:srgbClr val="111827"/>
                    </a:solidFill>
                    <a:latin typeface="Cambria Math" panose="02040503050406030204" pitchFamily="18" charset="0"/>
                  </a:rPr>
                  <a:t>$\text{leg}=\sqrt{1+t^2}$</a:t>
                </a:r>
                <a:r>
                  <a:rPr sz="2400" b="0">
                    <a:solidFill>
                      <a:srgbClr val="111827"/>
                    </a:solidFill>
                    <a:latin typeface="Arial"/>
                  </a:rPr>
                  <a:t>, </a:t>
                </a:r>
                <a:r>
                  <a:rPr lang="en-IN" sz="2400">
                    <a:solidFill>
                      <a:srgbClr val="111827"/>
                    </a:solidFill>
                    <a:latin typeface="Cambria Math" panose="02040503050406030204" pitchFamily="18" charset="0"/>
                  </a:rPr>
                  <a:t>$H=t^2$</a:t>
                </a:r>
                <a:r>
                  <a:rPr sz="2400" b="0">
                    <a:solidFill>
                      <a:srgbClr val="111827"/>
                    </a:solidFill>
                    <a:latin typeface="Arial"/>
                  </a:rPr>
                  <a:t>. The condition 'orthocentre on the incircle' holds exactly when </a:t>
                </a:r>
                <a:r>
                  <a:rPr lang="en-IN" sz="2400">
                    <a:solidFill>
                      <a:srgbClr val="111827"/>
                    </a:solidFill>
                    <a:latin typeface="Cambria Math" panose="02040503050406030204" pitchFamily="18" charset="0"/>
                  </a:rPr>
                  <a:t>$\cos A=\frac19$</a:t>
                </a:r>
                <a:r>
                  <a:rPr sz="2400" b="0">
                    <a:solidFill>
                      <a:srgbClr val="111827"/>
                    </a:solidFill>
                    <a:latin typeface="Arial"/>
                  </a:rPr>
                  <a:t> (</a:t>
                </a:r>
                <a:r>
                  <a:rPr lang="en-IN" sz="2400">
                    <a:solidFill>
                      <a:srgbClr val="111827"/>
                    </a:solidFill>
                    <a:latin typeface="Cambria Math" panose="02040503050406030204" pitchFamily="18" charset="0"/>
                  </a:rPr>
                  <a:t>$A\approx83.6^\circ$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5</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Subjective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(no marks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Prove / find; complete solution with alternate method and result</a:t>
            </a:r>
            <a:endParaRPr sz="2800">
              <a:solidFill>
                <a:srgbClr val="FFFFFF"/>
              </a:solidFill>
            </a:endParaR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angles of a triangle in which the altitude and the median drawn from the same vertex divide the angle at that vertex into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equal parts.</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angles of a triangle in which the altitude and the median drawn from the same vertex divide the angle at that vertex into </a:t>
                </a:r>
                <a:r>
                  <a:rPr lang="en-IN" sz="2400">
                    <a:solidFill>
                      <a:srgbClr val="111827"/>
                    </a:solidFill>
                    <a:latin typeface="Cambria Math" panose="02040503050406030204" pitchFamily="18" charset="0"/>
                  </a:rPr>
                  <a:t>$3$</a:t>
                </a:r>
                <a:r>
                  <a:rPr sz="2400" b="0">
                    <a:solidFill>
                      <a:srgbClr val="111827"/>
                    </a:solidFill>
                    <a:latin typeface="Arial"/>
                  </a:rPr>
                  <a:t> equal parts.</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Altitude and median from a vertex: sine rule in sub-triangles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α</m:t>
                    </m:r>
                  </m:oMath>
                </a14:m>
                <a:r>
                  <a:rPr sz="2400" b="0">
                    <a:solidFill>
                      <a:srgbClr val="78350F"/>
                    </a:solidFill>
                    <a:latin typeface="Arial"/>
                  </a:rPr>
                  <a:t>, apply the sine rule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𝐸</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𝐸</m:t>
                    </m:r>
                    <m:r>
                      <a:rPr lang="en-IN" sz="2400" i="1">
                        <a:solidFill>
                          <a:srgbClr val="78350F"/>
                        </a:solidFill>
                        <a:latin typeface="Cambria Math" panose="02040503050406030204" pitchFamily="18" charset="0"/>
                      </a:rPr>
                      <m:t>𝐶</m:t>
                    </m:r>
                  </m:oMath>
                </a14:m>
                <a:r>
                  <a:rPr sz="2400" b="0">
                    <a:solidFill>
                      <a:srgbClr val="78350F"/>
                    </a:solidFill>
                    <a:latin typeface="Arial"/>
                  </a:rPr>
                  <a:t> to get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𝐸</m:t>
                    </m:r>
                  </m:oMath>
                </a14:m>
                <a:r>
                  <a:rPr sz="2400" b="0">
                    <a:solidFill>
                      <a:srgbClr val="78350F"/>
                    </a:solidFill>
                    <a:latin typeface="Arial"/>
                  </a:rPr>
                  <a:t> two ways, and equate.</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a:t>
                </a:r>
                <a:r>
                  <a:rPr lang="en-IN" sz="2400">
                    <a:solidFill>
                      <a:srgbClr val="78350F"/>
                    </a:solidFill>
                    <a:latin typeface="Cambria Math" panose="02040503050406030204" pitchFamily="18" charset="0"/>
                  </a:rPr>
                  <a:t>$A=3\alpha$</a:t>
                </a:r>
                <a:r>
                  <a:rPr sz="2400" b="0">
                    <a:solidFill>
                      <a:srgbClr val="78350F"/>
                    </a:solidFill>
                    <a:latin typeface="Arial"/>
                  </a:rPr>
                  <a:t>, apply the sine rule in </a:t>
                </a:r>
                <a:r>
                  <a:rPr lang="en-IN" sz="2400">
                    <a:solidFill>
                      <a:srgbClr val="78350F"/>
                    </a:solidFill>
                    <a:latin typeface="Cambria Math" panose="02040503050406030204" pitchFamily="18" charset="0"/>
                  </a:rPr>
                  <a:t>$\triangle ABE$</a:t>
                </a:r>
                <a:r>
                  <a:rPr sz="2400" b="0">
                    <a:solidFill>
                      <a:srgbClr val="78350F"/>
                    </a:solidFill>
                    <a:latin typeface="Arial"/>
                  </a:rPr>
                  <a:t> and </a:t>
                </a:r>
                <a:r>
                  <a:rPr lang="en-IN" sz="2400">
                    <a:solidFill>
                      <a:srgbClr val="78350F"/>
                    </a:solidFill>
                    <a:latin typeface="Cambria Math" panose="02040503050406030204" pitchFamily="18" charset="0"/>
                  </a:rPr>
                  <a:t>$\triangle AEC$</a:t>
                </a:r>
                <a:r>
                  <a:rPr sz="2400" b="0">
                    <a:solidFill>
                      <a:srgbClr val="78350F"/>
                    </a:solidFill>
                    <a:latin typeface="Arial"/>
                  </a:rPr>
                  <a:t> to get </a:t>
                </a:r>
                <a:r>
                  <a:rPr lang="en-IN" sz="2400">
                    <a:solidFill>
                      <a:srgbClr val="78350F"/>
                    </a:solidFill>
                    <a:latin typeface="Cambria Math" panose="02040503050406030204" pitchFamily="18" charset="0"/>
                  </a:rPr>
                  <a:t>$AE$</a:t>
                </a:r>
                <a:r>
                  <a:rPr sz="2400" b="0">
                    <a:solidFill>
                      <a:srgbClr val="78350F"/>
                    </a:solidFill>
                    <a:latin typeface="Arial"/>
                  </a:rPr>
                  <a:t> two ways, and equate.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is the midpoint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num>
                      <m:den>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den>
                    </m:f>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num>
                      <m:den>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$A=3\alpha$</a:t>
                </a:r>
                <a:r>
                  <a:rPr sz="2400" b="0">
                    <a:solidFill>
                      <a:srgbClr val="111827"/>
                    </a:solidFill>
                    <a:latin typeface="Arial"/>
                  </a:rPr>
                  <a:t> with </a:t>
                </a:r>
                <a:r>
                  <a:rPr lang="en-IN" sz="2400">
                    <a:solidFill>
                      <a:srgbClr val="111827"/>
                    </a:solidFill>
                    <a:latin typeface="Cambria Math" panose="02040503050406030204" pitchFamily="18" charset="0"/>
                  </a:rPr>
                  <a:t>$\angle BAD=\angle DAE=\angle EAC=\alpha$</a:t>
                </a:r>
                <a:r>
                  <a:rPr sz="2400" b="0">
                    <a:solidFill>
                      <a:srgbClr val="111827"/>
                    </a:solidFill>
                    <a:latin typeface="Arial"/>
                  </a:rPr>
                  <a:t>, where </a:t>
                </a:r>
                <a:r>
                  <a:rPr lang="en-IN" sz="2400">
                    <a:solidFill>
                      <a:srgbClr val="111827"/>
                    </a:solidFill>
                    <a:latin typeface="Cambria Math" panose="02040503050406030204" pitchFamily="18" charset="0"/>
                  </a:rPr>
                  <a:t>$AD\perp BC$</a:t>
                </a:r>
                <a:r>
                  <a:rPr sz="2400" b="0">
                    <a:solidFill>
                      <a:srgbClr val="111827"/>
                    </a:solidFill>
                    <a:latin typeface="Arial"/>
                  </a:rPr>
                  <a:t> and </a:t>
                </a:r>
                <a:r>
                  <a:rPr lang="en-IN" sz="2400">
                    <a:solidFill>
                      <a:srgbClr val="111827"/>
                    </a:solidFill>
                    <a:latin typeface="Cambria Math" panose="02040503050406030204" pitchFamily="18" charset="0"/>
                  </a:rPr>
                  <a:t>$E$</a:t>
                </a:r>
                <a:r>
                  <a:rPr sz="2400" b="0">
                    <a:solidFill>
                      <a:srgbClr val="111827"/>
                    </a:solidFill>
                    <a:latin typeface="Arial"/>
                  </a:rPr>
                  <a:t> is the midpoint of </a:t>
                </a:r>
                <a:r>
                  <a:rPr lang="en-IN" sz="2400">
                    <a:solidFill>
                      <a:srgbClr val="111827"/>
                    </a:solidFill>
                    <a:latin typeface="Cambria Math" panose="02040503050406030204" pitchFamily="18" charset="0"/>
                  </a:rPr>
                  <a:t>$BC$</a:t>
                </a:r>
                <a:r>
                  <a:rPr sz="2400" b="0">
                    <a:solidFill>
                      <a:srgbClr val="111827"/>
                    </a:solidFill>
                    <a:latin typeface="Arial"/>
                  </a:rPr>
                  <a:t>, so </a:t>
                </a:r>
                <a:r>
                  <a:rPr lang="en-IN" sz="2400">
                    <a:solidFill>
                      <a:srgbClr val="111827"/>
                    </a:solidFill>
                    <a:latin typeface="Cambria Math" panose="02040503050406030204" pitchFamily="18" charset="0"/>
                  </a:rPr>
                  <a:t>$BE=EC=\frac 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ABE$</a:t>
                </a:r>
                <a:r>
                  <a:rPr sz="2400" b="0">
                    <a:solidFill>
                      <a:srgbClr val="111827"/>
                    </a:solidFill>
                    <a:latin typeface="Arial"/>
                  </a:rPr>
                  <a:t>: </a:t>
                </a:r>
                <a:r>
                  <a:rPr lang="en-IN" sz="2400">
                    <a:solidFill>
                      <a:srgbClr val="111827"/>
                    </a:solidFill>
                    <a:latin typeface="Cambria Math" panose="02040503050406030204" pitchFamily="18" charset="0"/>
                  </a:rPr>
                  <a:t>$\angle BAE=2\alpha$</a:t>
                </a:r>
                <a:r>
                  <a:rPr sz="2400" b="0">
                    <a:solidFill>
                      <a:srgbClr val="111827"/>
                    </a:solidFill>
                    <a:latin typeface="Arial"/>
                  </a:rPr>
                  <a:t> and </a:t>
                </a:r>
                <a:r>
                  <a:rPr lang="en-IN" sz="2400">
                    <a:solidFill>
                      <a:srgbClr val="111827"/>
                    </a:solidFill>
                    <a:latin typeface="Cambria Math" panose="02040503050406030204" pitchFamily="18" charset="0"/>
                  </a:rPr>
                  <a:t>$\angle ABE=90^\circ-\alpha$</a:t>
                </a:r>
                <a:r>
                  <a:rPr sz="2400" b="0">
                    <a:solidFill>
                      <a:srgbClr val="111827"/>
                    </a:solidFill>
                    <a:latin typeface="Arial"/>
                  </a:rPr>
                  <a:t>, so </a:t>
                </a:r>
                <a:r>
                  <a:rPr lang="en-IN" sz="2400">
                    <a:solidFill>
                      <a:srgbClr val="111827"/>
                    </a:solidFill>
                    <a:latin typeface="Cambria Math" panose="02040503050406030204" pitchFamily="18" charset="0"/>
                  </a:rPr>
                  <a:t>$\frac{a/2}{\sin2\alpha}=\frac{AE}{\sin(90^\circ-\alpha)}$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$AE=\frac{a\cos\alpha}{2\sin2\alpha}=\frac a{4\sin\alpha}$</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AEC$</a:t>
                </a:r>
                <a:r>
                  <a:rPr sz="2400" b="0">
                    <a:solidFill>
                      <a:srgbClr val="111827"/>
                    </a:solidFill>
                    <a:latin typeface="Arial"/>
                  </a:rPr>
                  <a:t>: </a:t>
                </a:r>
                <a:r>
                  <a:rPr lang="en-IN" sz="2400">
                    <a:solidFill>
                      <a:srgbClr val="111827"/>
                    </a:solidFill>
                    <a:latin typeface="Cambria Math" panose="02040503050406030204" pitchFamily="18" charset="0"/>
                  </a:rPr>
                  <a:t>$\angle EAC=\alpha$</a:t>
                </a:r>
                <a:r>
                  <a:rPr sz="2400" b="0">
                    <a:solidFill>
                      <a:srgbClr val="111827"/>
                    </a:solidFill>
                    <a:latin typeface="Arial"/>
                  </a:rPr>
                  <a:t> and </a:t>
                </a:r>
                <a:r>
                  <a:rPr lang="en-IN" sz="2400">
                    <a:solidFill>
                      <a:srgbClr val="111827"/>
                    </a:solidFill>
                    <a:latin typeface="Cambria Math" panose="02040503050406030204" pitchFamily="18" charset="0"/>
                  </a:rPr>
                  <a:t>$\angle ACE=90^\circ-2\alpha$</a:t>
                </a:r>
                <a:r>
                  <a:rPr sz="2400" b="0">
                    <a:solidFill>
                      <a:srgbClr val="111827"/>
                    </a:solidFill>
                    <a:latin typeface="Arial"/>
                  </a:rPr>
                  <a:t>, so </a:t>
                </a:r>
                <a:r>
                  <a:rPr lang="en-IN" sz="2400">
                    <a:solidFill>
                      <a:srgbClr val="111827"/>
                    </a:solidFill>
                    <a:latin typeface="Cambria Math" panose="02040503050406030204" pitchFamily="18" charset="0"/>
                  </a:rPr>
                  <a:t>$\frac{a/2}{\sin\alpha}=\frac{AE}{\sin(90^\circ-2\alpha)}$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den>
                    </m:f>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π</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$AE=\frac{a\cos2\alpha}{2\sin\alpha}$</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and (2): </a:t>
                </a:r>
                <a:r>
                  <a:rPr lang="en-IN" sz="2400">
                    <a:solidFill>
                      <a:srgbClr val="111827"/>
                    </a:solidFill>
                    <a:latin typeface="Cambria Math" panose="02040503050406030204" pitchFamily="18" charset="0"/>
                  </a:rPr>
                  <a:t>$\frac a{4\sin\alpha}=\frac{a\cos2\alpha}{2\sin\alpha}\Rightarrow\cos2\alpha=\frac12$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$2\alpha=\frac\pi3$</a:t>
                </a:r>
                <a:r>
                  <a:rPr sz="2400" b="0">
                    <a:solidFill>
                      <a:srgbClr val="111827"/>
                    </a:solidFill>
                    <a:latin typeface="Arial"/>
                  </a:rPr>
                  <a:t> (</a:t>
                </a:r>
                <a:r>
                  <a:rPr lang="en-IN" sz="2400">
                    <a:solidFill>
                      <a:srgbClr val="111827"/>
                    </a:solidFill>
                    <a:latin typeface="Cambria Math" panose="02040503050406030204" pitchFamily="18" charset="0"/>
                  </a:rPr>
                  <a:t>$0&lt;2\alpha&lt;\pi$</a:t>
                </a:r>
                <a:r>
                  <a:rPr sz="2400" b="0">
                    <a:solidFill>
                      <a:srgbClr val="111827"/>
                    </a:solidFill>
                    <a:latin typeface="Arial"/>
                  </a:rPr>
                  <a:t>), so </a:t>
                </a:r>
                <a:r>
                  <a:rPr lang="en-IN" sz="2400">
                    <a:solidFill>
                      <a:srgbClr val="111827"/>
                    </a:solidFill>
                    <a:latin typeface="Cambria Math" panose="02040503050406030204" pitchFamily="18" charset="0"/>
                  </a:rPr>
                  <a:t>$\alpha=\frac\pi6$</a:t>
                </a:r>
                <a:r>
                  <a:rPr sz="2400" b="0">
                    <a:solidFill>
                      <a:srgbClr val="111827"/>
                    </a:solidFill>
                    <a:latin typeface="Arial"/>
                  </a:rPr>
                  <a:t> and </a:t>
                </a:r>
                <a:r>
                  <a:rPr lang="en-IN" sz="2400">
                    <a:solidFill>
                      <a:srgbClr val="111827"/>
                    </a:solidFill>
                    <a:latin typeface="Cambria Math" panose="02040503050406030204" pitchFamily="18" charset="0"/>
                  </a:rPr>
                  <a:t>$A=3\alpha=\frac\pi2$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$B=90^\circ-\alpha=60^\circ$</a:t>
                </a:r>
                <a:r>
                  <a:rPr sz="2400" b="0">
                    <a:solidFill>
                      <a:srgbClr val="111827"/>
                    </a:solidFill>
                    <a:latin typeface="Arial"/>
                  </a:rPr>
                  <a:t> and </a:t>
                </a:r>
                <a:r>
                  <a:rPr lang="en-IN" sz="2400">
                    <a:solidFill>
                      <a:srgbClr val="111827"/>
                    </a:solidFill>
                    <a:latin typeface="Cambria Math" panose="02040503050406030204" pitchFamily="18" charset="0"/>
                  </a:rPr>
                  <a:t>$C=90^\circ-2\alpha=30^\circ$</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sSup>
                      <m:e>
                        <m:r>
                          <a:rPr lang="en-IN" sz="2800" i="1">
                            <a:solidFill>
                              <a:srgbClr val="15803D"/>
                            </a:solidFill>
                            <a:latin typeface="Cambria Math" panose="02040503050406030204" pitchFamily="18" charset="0"/>
                          </a:rPr>
                          <m:t>30</m:t>
                        </m:r>
                      </m:e>
                      <m:sup>
                        <m:r>
                          <m:rPr>
                            <m:sty m:val="p"/>
                          </m:rPr>
                          <a:rPr lang="en-IN" sz="2800">
                            <a:solidFill>
                              <a:srgbClr val="15803D"/>
                            </a:solidFill>
                            <a:latin typeface="Cambria Math" panose="02040503050406030204" pitchFamily="18" charset="0"/>
                          </a:rPr>
                          <m:t>∘</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sSup>
                      <m:e>
                        <m:r>
                          <a:rPr lang="en-IN" sz="2800" i="1">
                            <a:solidFill>
                              <a:srgbClr val="15803D"/>
                            </a:solidFill>
                            <a:latin typeface="Cambria Math" panose="02040503050406030204" pitchFamily="18" charset="0"/>
                          </a:rPr>
                          <m:t>60</m:t>
                        </m:r>
                      </m:e>
                      <m:sup>
                        <m:r>
                          <m:rPr>
                            <m:sty m:val="p"/>
                          </m:rPr>
                          <a:rPr lang="en-IN" sz="2800">
                            <a:solidFill>
                              <a:srgbClr val="15803D"/>
                            </a:solidFill>
                            <a:latin typeface="Cambria Math" panose="02040503050406030204" pitchFamily="18" charset="0"/>
                          </a:rPr>
                          <m:t>∘</m:t>
                        </m:r>
                      </m:sup>
                    </m:sSup>
                  </m:oMath>
                </a14:m>
                <a:r>
                  <a:rPr sz="2800" b="1">
                    <a:solidFill>
                      <a:srgbClr val="15803D"/>
                    </a:solidFill>
                    <a:latin typeface="Arial"/>
                  </a:rPr>
                  <a:t> and </a:t>
                </a:r>
                <a14:m>
                  <m:oMath xmlns:m="http://schemas.openxmlformats.org/officeDocument/2006/math">
                    <m:sSup>
                      <m:e>
                        <m:r>
                          <a:rPr lang="en-IN" sz="2800" i="1">
                            <a:solidFill>
                              <a:srgbClr val="15803D"/>
                            </a:solidFill>
                            <a:latin typeface="Cambria Math" panose="02040503050406030204" pitchFamily="18" charset="0"/>
                          </a:rPr>
                          <m:t>90</m:t>
                        </m:r>
                      </m:e>
                      <m:sup>
                        <m:r>
                          <m:rPr>
                            <m:sty m:val="p"/>
                          </m:rPr>
                          <a:rPr lang="en-IN" sz="2800">
                            <a:solidFill>
                              <a:srgbClr val="15803D"/>
                            </a:solidFill>
                            <a:latin typeface="Cambria Math" panose="02040503050406030204" pitchFamily="18" charset="0"/>
                          </a:rPr>
                          <m:t>∘</m:t>
                        </m:r>
                      </m:sup>
                    </m:sSup>
                  </m:oMath>
                </a14:m>
                <a:r>
                  <a:rPr sz="2800" b="1">
                    <a:solidFill>
                      <a:srgbClr val="15803D"/>
                    </a:solidFill>
                    <a:latin typeface="Arial"/>
                  </a:rPr>
                  <a:t> (the angle at the vertex is </a:t>
                </a:r>
                <a14:m>
                  <m:oMath xmlns:m="http://schemas.openxmlformats.org/officeDocument/2006/math">
                    <m:sSup>
                      <m:e>
                        <m:r>
                          <a:rPr lang="en-IN" sz="2800" i="1">
                            <a:solidFill>
                              <a:srgbClr val="15803D"/>
                            </a:solidFill>
                            <a:latin typeface="Cambria Math" panose="02040503050406030204" pitchFamily="18" charset="0"/>
                          </a:rPr>
                          <m:t>90</m:t>
                        </m:r>
                      </m:e>
                      <m:sup>
                        <m:r>
                          <m:rPr>
                            <m:sty m:val="p"/>
                          </m:rPr>
                          <a:rPr lang="en-IN" sz="2800">
                            <a:solidFill>
                              <a:srgbClr val="15803D"/>
                            </a:solidFill>
                            <a:latin typeface="Cambria Math" panose="02040503050406030204" pitchFamily="18" charset="0"/>
                          </a:rPr>
                          <m:t>∘</m:t>
                        </m:r>
                      </m:sup>
                    </m:sSup>
                  </m:oMath>
                </a14:m>
                <a:r>
                  <a:rPr sz="2800" b="1">
                    <a:solidFill>
                      <a:srgbClr val="15803D"/>
                    </a:solidFill>
                    <a:latin typeface="Arial"/>
                  </a:rPr>
                  <a:t>)</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$30^\circ,\ 60^\circ$</a:t>
                </a:r>
                <a:r>
                  <a:rPr sz="2800" b="1">
                    <a:solidFill>
                      <a:srgbClr val="15803D"/>
                    </a:solidFill>
                    <a:latin typeface="Arial"/>
                  </a:rPr>
                  <a:t> and </a:t>
                </a:r>
                <a:r>
                  <a:rPr lang="en-IN" sz="2800">
                    <a:solidFill>
                      <a:srgbClr val="15803D"/>
                    </a:solidFill>
                    <a:latin typeface="Cambria Math" panose="02040503050406030204" pitchFamily="18" charset="0"/>
                  </a:rPr>
                  <a:t>$90^\circ$</a:t>
                </a:r>
                <a:r>
                  <a:rPr sz="2800" b="1">
                    <a:solidFill>
                      <a:srgbClr val="15803D"/>
                    </a:solidFill>
                    <a:latin typeface="Arial"/>
                  </a:rPr>
                  <a:t> (the angle at the vertex is </a:t>
                </a:r>
                <a:r>
                  <a:rPr lang="en-IN" sz="2800">
                    <a:solidFill>
                      <a:srgbClr val="15803D"/>
                    </a:solidFill>
                    <a:latin typeface="Cambria Math" panose="02040503050406030204" pitchFamily="18" charset="0"/>
                  </a:rPr>
                  <a:t>$90^\circ$</a:t>
                </a:r>
                <a:r>
                  <a:rPr sz="2800" b="1">
                    <a:solidFill>
                      <a:srgbClr val="15803D"/>
                    </a:solidFill>
                    <a:latin typeface="Arial"/>
                  </a:rPr>
                  <a:t>)</a:t>
                </a:r>
                <a:endParaRPr sz="2800">
                  <a:solidFill>
                    <a:srgbClr val="15803D"/>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altitude bisects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𝐸</m:t>
                    </m:r>
                  </m:oMath>
                </a14:m>
                <a:r>
                  <a:rPr sz="2400" b="0">
                    <a:solidFill>
                      <a:srgbClr val="78350F"/>
                    </a:solidFill>
                    <a:latin typeface="Arial"/>
                  </a:rPr>
                  <a:t>, so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𝐸</m:t>
                    </m:r>
                  </m:oMath>
                </a14:m>
                <a:r>
                  <a:rPr sz="2400" b="0">
                    <a:solidFill>
                      <a:srgbClr val="78350F"/>
                    </a:solidFill>
                    <a:latin typeface="Arial"/>
                  </a:rPr>
                  <a:t> is isosceles with </a:t>
                </a:r>
                <a14:m>
                  <m:oMath xmlns:m="http://schemas.openxmlformats.org/officeDocument/2006/math">
                    <m:r>
                      <a:rPr lang="en-IN" sz="2400" i="1">
                        <a:solidFill>
                          <a:srgbClr val="78350F"/>
                        </a:solidFill>
                        <a:latin typeface="Cambria Math" panose="02040503050406030204" pitchFamily="18" charset="0"/>
                      </a:rPr>
                      <m:t>𝐷</m:t>
                    </m:r>
                  </m:oMath>
                </a14:m>
                <a:r>
                  <a:rPr sz="2400" b="0">
                    <a:solidFill>
                      <a:srgbClr val="78350F"/>
                    </a:solidFill>
                    <a:latin typeface="Arial"/>
                  </a:rPr>
                  <a:t> the midpoint of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𝐸</m:t>
                    </m:r>
                  </m:oMath>
                </a14:m>
                <a:r>
                  <a:rPr sz="2400" b="0">
                    <a:solidFill>
                      <a:srgbClr val="78350F"/>
                    </a:solidFill>
                    <a:latin typeface="Arial"/>
                  </a:rPr>
                  <a:t>; the angle bisector theorem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𝐷</m:t>
                    </m:r>
                    <m:r>
                      <a:rPr lang="en-IN" sz="2400" i="1">
                        <a:solidFill>
                          <a:srgbClr val="78350F"/>
                        </a:solidFill>
                        <a:latin typeface="Cambria Math" panose="02040503050406030204" pitchFamily="18" charset="0"/>
                      </a:rPr>
                      <m:t>𝐶</m:t>
                    </m:r>
                  </m:oMath>
                </a14:m>
                <a:r>
                  <a:rPr sz="2400" b="0">
                    <a:solidFill>
                      <a:srgbClr val="78350F"/>
                    </a:solidFill>
                    <a:latin typeface="Arial"/>
                  </a:rPr>
                  <a:t> then gives </a:t>
                </a:r>
                <a14:m>
                  <m:oMath xmlns:m="http://schemas.openxmlformats.org/officeDocument/2006/math">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α</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altitude bisects </a:t>
                </a:r>
                <a:r>
                  <a:rPr lang="en-IN" sz="2400">
                    <a:solidFill>
                      <a:srgbClr val="78350F"/>
                    </a:solidFill>
                    <a:latin typeface="Cambria Math" panose="02040503050406030204" pitchFamily="18" charset="0"/>
                  </a:rPr>
                  <a:t>$\angle BAE$</a:t>
                </a:r>
                <a:r>
                  <a:rPr sz="2400" b="0">
                    <a:solidFill>
                      <a:srgbClr val="78350F"/>
                    </a:solidFill>
                    <a:latin typeface="Arial"/>
                  </a:rPr>
                  <a:t>, so </a:t>
                </a:r>
                <a:r>
                  <a:rPr lang="en-IN" sz="2400">
                    <a:solidFill>
                      <a:srgbClr val="78350F"/>
                    </a:solidFill>
                    <a:latin typeface="Cambria Math" panose="02040503050406030204" pitchFamily="18" charset="0"/>
                  </a:rPr>
                  <a:t>$\triangle ABE$</a:t>
                </a:r>
                <a:r>
                  <a:rPr sz="2400" b="0">
                    <a:solidFill>
                      <a:srgbClr val="78350F"/>
                    </a:solidFill>
                    <a:latin typeface="Arial"/>
                  </a:rPr>
                  <a:t> is isosceles with </a:t>
                </a:r>
                <a:r>
                  <a:rPr lang="en-IN" sz="2400">
                    <a:solidFill>
                      <a:srgbClr val="78350F"/>
                    </a:solidFill>
                    <a:latin typeface="Cambria Math" panose="02040503050406030204" pitchFamily="18" charset="0"/>
                  </a:rPr>
                  <a:t>$D$</a:t>
                </a:r>
                <a:r>
                  <a:rPr sz="2400" b="0">
                    <a:solidFill>
                      <a:srgbClr val="78350F"/>
                    </a:solidFill>
                    <a:latin typeface="Arial"/>
                  </a:rPr>
                  <a:t> the midpoint of </a:t>
                </a:r>
                <a:r>
                  <a:rPr lang="en-IN" sz="2400">
                    <a:solidFill>
                      <a:srgbClr val="78350F"/>
                    </a:solidFill>
                    <a:latin typeface="Cambria Math" panose="02040503050406030204" pitchFamily="18" charset="0"/>
                  </a:rPr>
                  <a:t>$BE$</a:t>
                </a:r>
                <a:r>
                  <a:rPr sz="2400" b="0">
                    <a:solidFill>
                      <a:srgbClr val="78350F"/>
                    </a:solidFill>
                    <a:latin typeface="Arial"/>
                  </a:rPr>
                  <a:t>; the angle bisector theorem in </a:t>
                </a:r>
                <a:r>
                  <a:rPr lang="en-IN" sz="2400">
                    <a:solidFill>
                      <a:srgbClr val="78350F"/>
                    </a:solidFill>
                    <a:latin typeface="Cambria Math" panose="02040503050406030204" pitchFamily="18" charset="0"/>
                  </a:rPr>
                  <a:t>$\triangle ADC$</a:t>
                </a:r>
                <a:r>
                  <a:rPr sz="2400" b="0">
                    <a:solidFill>
                      <a:srgbClr val="78350F"/>
                    </a:solidFill>
                    <a:latin typeface="Arial"/>
                  </a:rPr>
                  <a:t> then gives </a:t>
                </a:r>
                <a:r>
                  <a:rPr lang="en-IN" sz="2400">
                    <a:solidFill>
                      <a:srgbClr val="78350F"/>
                    </a:solidFill>
                    <a:latin typeface="Cambria Math" panose="02040503050406030204" pitchFamily="18" charset="0"/>
                  </a:rPr>
                  <a:t>$\cos2\alpha$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bisects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is isosceles with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is the midpoint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oMath>
                </a14:m>
                <a:r>
                  <a:rPr sz="2400" b="0">
                    <a:solidFill>
                      <a:srgbClr val="111827"/>
                    </a:solidFill>
                    <a:latin typeface="Arial"/>
                  </a:rPr>
                  <a:t> bisects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oMath>
                </a14:m>
                <a:r>
                  <a:rPr sz="2400" b="0">
                    <a:solidFill>
                      <a:srgbClr val="111827"/>
                    </a:solidFill>
                    <a:latin typeface="Arial"/>
                  </a:rPr>
                  <a:t>, so by the angle bisector theorem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num>
                      <m:den>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$AD$</a:t>
                </a:r>
                <a:r>
                  <a:rPr sz="2400" b="0">
                    <a:solidFill>
                      <a:srgbClr val="111827"/>
                    </a:solidFill>
                    <a:latin typeface="Arial"/>
                  </a:rPr>
                  <a:t> bisects </a:t>
                </a:r>
                <a:r>
                  <a:rPr lang="en-IN" sz="2400">
                    <a:solidFill>
                      <a:srgbClr val="111827"/>
                    </a:solidFill>
                    <a:latin typeface="Cambria Math" panose="02040503050406030204" pitchFamily="18" charset="0"/>
                  </a:rPr>
                  <a:t>$\angle BAE$</a:t>
                </a:r>
                <a:r>
                  <a:rPr sz="2400" b="0">
                    <a:solidFill>
                      <a:srgbClr val="111827"/>
                    </a:solidFill>
                    <a:latin typeface="Arial"/>
                  </a:rPr>
                  <a:t> and </a:t>
                </a:r>
                <a:r>
                  <a:rPr lang="en-IN" sz="2400">
                    <a:solidFill>
                      <a:srgbClr val="111827"/>
                    </a:solidFill>
                    <a:latin typeface="Cambria Math" panose="02040503050406030204" pitchFamily="18" charset="0"/>
                  </a:rPr>
                  <a:t>$AD\perp BE$</a:t>
                </a:r>
                <a:r>
                  <a:rPr sz="2400" b="0">
                    <a:solidFill>
                      <a:srgbClr val="111827"/>
                    </a:solidFill>
                    <a:latin typeface="Arial"/>
                  </a:rPr>
                  <a:t>, so </a:t>
                </a:r>
                <a:r>
                  <a:rPr lang="en-IN" sz="2400">
                    <a:solidFill>
                      <a:srgbClr val="111827"/>
                    </a:solidFill>
                    <a:latin typeface="Cambria Math" panose="02040503050406030204" pitchFamily="18" charset="0"/>
                  </a:rPr>
                  <a:t>$\triangle ABE$</a:t>
                </a:r>
                <a:r>
                  <a:rPr sz="2400" b="0">
                    <a:solidFill>
                      <a:srgbClr val="111827"/>
                    </a:solidFill>
                    <a:latin typeface="Arial"/>
                  </a:rPr>
                  <a:t> is isosceles with </a:t>
                </a:r>
                <a:r>
                  <a:rPr lang="en-IN" sz="2400">
                    <a:solidFill>
                      <a:srgbClr val="111827"/>
                    </a:solidFill>
                    <a:latin typeface="Cambria Math" panose="02040503050406030204" pitchFamily="18" charset="0"/>
                  </a:rPr>
                  <a:t>$AB=AE$</a:t>
                </a:r>
                <a:r>
                  <a:rPr sz="2400" b="0">
                    <a:solidFill>
                      <a:srgbClr val="111827"/>
                    </a:solidFill>
                    <a:latin typeface="Arial"/>
                  </a:rPr>
                  <a:t> and </a:t>
                </a:r>
                <a:r>
                  <a:rPr lang="en-IN" sz="2400">
                    <a:solidFill>
                      <a:srgbClr val="111827"/>
                    </a:solidFill>
                    <a:latin typeface="Cambria Math" panose="02040503050406030204" pitchFamily="18" charset="0"/>
                  </a:rPr>
                  <a:t>$BD=DE=x$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a:t>
                </a:r>
                <a:r>
                  <a:rPr sz="2400" b="0">
                    <a:solidFill>
                      <a:srgbClr val="111827"/>
                    </a:solidFill>
                    <a:latin typeface="Arial"/>
                  </a:rPr>
                  <a:t> is the midpoint of </a:t>
                </a:r>
                <a:r>
                  <a:rPr lang="en-IN" sz="2400">
                    <a:solidFill>
                      <a:srgbClr val="111827"/>
                    </a:solidFill>
                    <a:latin typeface="Cambria Math" panose="02040503050406030204" pitchFamily="18" charset="0"/>
                  </a:rPr>
                  <a:t>$BC$</a:t>
                </a:r>
                <a:r>
                  <a:rPr sz="2400" b="0">
                    <a:solidFill>
                      <a:srgbClr val="111827"/>
                    </a:solidFill>
                    <a:latin typeface="Arial"/>
                  </a:rPr>
                  <a:t>, so </a:t>
                </a:r>
                <a:r>
                  <a:rPr lang="en-IN" sz="2400">
                    <a:solidFill>
                      <a:srgbClr val="111827"/>
                    </a:solidFill>
                    <a:latin typeface="Cambria Math" panose="02040503050406030204" pitchFamily="18" charset="0"/>
                  </a:rPr>
                  <a:t>$EC=BE=2x$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r>
                  <a:rPr lang="en-IN" sz="2400">
                    <a:solidFill>
                      <a:srgbClr val="111827"/>
                    </a:solidFill>
                    <a:latin typeface="Cambria Math" panose="02040503050406030204" pitchFamily="18" charset="0"/>
                  </a:rPr>
                  <a:t>$ADC$</a:t>
                </a:r>
                <a:r>
                  <a:rPr sz="2400" b="0">
                    <a:solidFill>
                      <a:srgbClr val="111827"/>
                    </a:solidFill>
                    <a:latin typeface="Arial"/>
                  </a:rPr>
                  <a:t>, </a:t>
                </a:r>
                <a:r>
                  <a:rPr lang="en-IN" sz="2400">
                    <a:solidFill>
                      <a:srgbClr val="111827"/>
                    </a:solidFill>
                    <a:latin typeface="Cambria Math" panose="02040503050406030204" pitchFamily="18" charset="0"/>
                  </a:rPr>
                  <a:t>$AE$</a:t>
                </a:r>
                <a:r>
                  <a:rPr sz="2400" b="0">
                    <a:solidFill>
                      <a:srgbClr val="111827"/>
                    </a:solidFill>
                    <a:latin typeface="Arial"/>
                  </a:rPr>
                  <a:t> bisects </a:t>
                </a:r>
                <a:r>
                  <a:rPr lang="en-IN" sz="2400">
                    <a:solidFill>
                      <a:srgbClr val="111827"/>
                    </a:solidFill>
                    <a:latin typeface="Cambria Math" panose="02040503050406030204" pitchFamily="18" charset="0"/>
                  </a:rPr>
                  <a:t>$\angle DAC=2\alpha$</a:t>
                </a:r>
                <a:r>
                  <a:rPr sz="2400" b="0">
                    <a:solidFill>
                      <a:srgbClr val="111827"/>
                    </a:solidFill>
                    <a:latin typeface="Arial"/>
                  </a:rPr>
                  <a:t>, so by the angle bisector theorem </a:t>
                </a:r>
                <a:r>
                  <a:rPr lang="en-IN" sz="2400">
                    <a:solidFill>
                      <a:srgbClr val="111827"/>
                    </a:solidFill>
                    <a:latin typeface="Cambria Math" panose="02040503050406030204" pitchFamily="18" charset="0"/>
                  </a:rPr>
                  <a:t>$\frac{AD}{AC}=\frac{DE}{EC}=\frac x{2x}=\frac12$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But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But </a:t>
                </a:r>
                <a:r>
                  <a:rPr lang="en-IN" sz="2400">
                    <a:solidFill>
                      <a:srgbClr val="111827"/>
                    </a:solidFill>
                    <a:latin typeface="Cambria Math" panose="02040503050406030204" pitchFamily="18" charset="0"/>
                  </a:rPr>
                  <a:t>$\frac{AD}{AC}=\cos\angle DAC=\cos2\alpha$</a:t>
                </a:r>
                <a:r>
                  <a:rPr sz="2400" b="0">
                    <a:solidFill>
                      <a:srgbClr val="111827"/>
                    </a:solidFill>
                    <a:latin typeface="Arial"/>
                  </a:rPr>
                  <a:t>, so </a:t>
                </a:r>
                <a:r>
                  <a:rPr lang="en-IN" sz="2400">
                    <a:solidFill>
                      <a:srgbClr val="111827"/>
                    </a:solidFill>
                    <a:latin typeface="Cambria Math" panose="02040503050406030204" pitchFamily="18" charset="0"/>
                  </a:rPr>
                  <a:t>$\cos2\alpha=\frac12$</a:t>
                </a:r>
                <a:r>
                  <a:rPr sz="2400" b="0">
                    <a:solidFill>
                      <a:srgbClr val="111827"/>
                    </a:solidFill>
                    <a:latin typeface="Arial"/>
                  </a:rPr>
                  <a:t>, </a:t>
                </a:r>
                <a:r>
                  <a:rPr lang="en-IN" sz="2400">
                    <a:solidFill>
                      <a:srgbClr val="111827"/>
                    </a:solidFill>
                    <a:latin typeface="Cambria Math" panose="02040503050406030204" pitchFamily="18" charset="0"/>
                  </a:rPr>
                  <a:t>$2\alpha=60^\circ$</a:t>
                </a:r>
                <a:r>
                  <a:rPr sz="2400" b="0">
                    <a:solidFill>
                      <a:srgbClr val="111827"/>
                    </a:solidFill>
                    <a:latin typeface="Arial"/>
                  </a:rPr>
                  <a:t>, </a:t>
                </a:r>
                <a:r>
                  <a:rPr lang="en-IN" sz="2400">
                    <a:solidFill>
                      <a:srgbClr val="111827"/>
                    </a:solidFill>
                    <a:latin typeface="Cambria Math" panose="02040503050406030204" pitchFamily="18" charset="0"/>
                  </a:rPr>
                  <a:t>$\alpha=30^\circ$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$A=90^\circ$</a:t>
                </a:r>
                <a:r>
                  <a:rPr sz="2400" b="0">
                    <a:solidFill>
                      <a:srgbClr val="111827"/>
                    </a:solidFill>
                    <a:latin typeface="Arial"/>
                  </a:rPr>
                  <a:t>, </a:t>
                </a:r>
                <a:r>
                  <a:rPr lang="en-IN" sz="2400">
                    <a:solidFill>
                      <a:srgbClr val="111827"/>
                    </a:solidFill>
                    <a:latin typeface="Cambria Math" panose="02040503050406030204" pitchFamily="18" charset="0"/>
                  </a:rPr>
                  <a:t>$B=90^\circ-\alpha=60^\circ$</a:t>
                </a:r>
                <a:r>
                  <a:rPr sz="2400" b="0">
                    <a:solidFill>
                      <a:srgbClr val="111827"/>
                    </a:solidFill>
                    <a:latin typeface="Arial"/>
                  </a:rPr>
                  <a:t> and </a:t>
                </a:r>
                <a:r>
                  <a:rPr lang="en-IN" sz="2400">
                    <a:solidFill>
                      <a:srgbClr val="111827"/>
                    </a:solidFill>
                    <a:latin typeface="Cambria Math" panose="02040503050406030204" pitchFamily="18" charset="0"/>
                  </a:rPr>
                  <a:t>$C=90^\circ-2\alpha=30^\circ$</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sSup>
                      <m:e>
                        <m:r>
                          <a:rPr lang="en-IN" sz="2800" i="1">
                            <a:solidFill>
                              <a:srgbClr val="15803D"/>
                            </a:solidFill>
                            <a:latin typeface="Cambria Math" panose="02040503050406030204" pitchFamily="18" charset="0"/>
                          </a:rPr>
                          <m:t>30</m:t>
                        </m:r>
                      </m:e>
                      <m:sup>
                        <m:r>
                          <m:rPr>
                            <m:sty m:val="p"/>
                          </m:rPr>
                          <a:rPr lang="en-IN" sz="2800">
                            <a:solidFill>
                              <a:srgbClr val="15803D"/>
                            </a:solidFill>
                            <a:latin typeface="Cambria Math" panose="02040503050406030204" pitchFamily="18" charset="0"/>
                          </a:rPr>
                          <m:t>∘</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sSup>
                      <m:e>
                        <m:r>
                          <a:rPr lang="en-IN" sz="2800" i="1">
                            <a:solidFill>
                              <a:srgbClr val="15803D"/>
                            </a:solidFill>
                            <a:latin typeface="Cambria Math" panose="02040503050406030204" pitchFamily="18" charset="0"/>
                          </a:rPr>
                          <m:t>60</m:t>
                        </m:r>
                      </m:e>
                      <m:sup>
                        <m:r>
                          <m:rPr>
                            <m:sty m:val="p"/>
                          </m:rPr>
                          <a:rPr lang="en-IN" sz="2800">
                            <a:solidFill>
                              <a:srgbClr val="15803D"/>
                            </a:solidFill>
                            <a:latin typeface="Cambria Math" panose="02040503050406030204" pitchFamily="18" charset="0"/>
                          </a:rPr>
                          <m:t>∘</m:t>
                        </m:r>
                      </m:sup>
                    </m:sSup>
                  </m:oMath>
                </a14:m>
                <a:r>
                  <a:rPr sz="2800" b="1">
                    <a:solidFill>
                      <a:srgbClr val="15803D"/>
                    </a:solidFill>
                    <a:latin typeface="Arial"/>
                  </a:rPr>
                  <a:t> and </a:t>
                </a:r>
                <a14:m>
                  <m:oMath xmlns:m="http://schemas.openxmlformats.org/officeDocument/2006/math">
                    <m:sSup>
                      <m:e>
                        <m:r>
                          <a:rPr lang="en-IN" sz="2800" i="1">
                            <a:solidFill>
                              <a:srgbClr val="15803D"/>
                            </a:solidFill>
                            <a:latin typeface="Cambria Math" panose="02040503050406030204" pitchFamily="18" charset="0"/>
                          </a:rPr>
                          <m:t>90</m:t>
                        </m:r>
                      </m:e>
                      <m:sup>
                        <m:r>
                          <m:rPr>
                            <m:sty m:val="p"/>
                          </m:rPr>
                          <a:rPr lang="en-IN" sz="2800">
                            <a:solidFill>
                              <a:srgbClr val="15803D"/>
                            </a:solidFill>
                            <a:latin typeface="Cambria Math" panose="02040503050406030204" pitchFamily="18" charset="0"/>
                          </a:rPr>
                          <m:t>∘</m:t>
                        </m:r>
                      </m:sup>
                    </m:sSup>
                  </m:oMath>
                </a14:m>
                <a:r>
                  <a:rPr sz="2800" b="1">
                    <a:solidFill>
                      <a:srgbClr val="15803D"/>
                    </a:solidFill>
                    <a:latin typeface="Arial"/>
                  </a:rPr>
                  <a:t> (the angle at the vertex is </a:t>
                </a:r>
                <a14:m>
                  <m:oMath xmlns:m="http://schemas.openxmlformats.org/officeDocument/2006/math">
                    <m:sSup>
                      <m:e>
                        <m:r>
                          <a:rPr lang="en-IN" sz="2800" i="1">
                            <a:solidFill>
                              <a:srgbClr val="15803D"/>
                            </a:solidFill>
                            <a:latin typeface="Cambria Math" panose="02040503050406030204" pitchFamily="18" charset="0"/>
                          </a:rPr>
                          <m:t>90</m:t>
                        </m:r>
                      </m:e>
                      <m:sup>
                        <m:r>
                          <m:rPr>
                            <m:sty m:val="p"/>
                          </m:rPr>
                          <a:rPr lang="en-IN" sz="2800">
                            <a:solidFill>
                              <a:srgbClr val="15803D"/>
                            </a:solidFill>
                            <a:latin typeface="Cambria Math" panose="02040503050406030204" pitchFamily="18" charset="0"/>
                          </a:rPr>
                          <m:t>∘</m:t>
                        </m:r>
                      </m:sup>
                    </m:sSup>
                  </m:oMath>
                </a14:m>
                <a:r>
                  <a:rPr sz="2800" b="1">
                    <a:solidFill>
                      <a:srgbClr val="15803D"/>
                    </a:solidFill>
                    <a:latin typeface="Arial"/>
                  </a:rPr>
                  <a:t>)</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$30^\circ,\ 60^\circ$</a:t>
                </a:r>
                <a:r>
                  <a:rPr sz="2800" b="1">
                    <a:solidFill>
                      <a:srgbClr val="15803D"/>
                    </a:solidFill>
                    <a:latin typeface="Arial"/>
                  </a:rPr>
                  <a:t> and </a:t>
                </a:r>
                <a:r>
                  <a:rPr lang="en-IN" sz="2800">
                    <a:solidFill>
                      <a:srgbClr val="15803D"/>
                    </a:solidFill>
                    <a:latin typeface="Cambria Math" panose="02040503050406030204" pitchFamily="18" charset="0"/>
                  </a:rPr>
                  <a:t>$90^\circ$</a:t>
                </a:r>
                <a:r>
                  <a:rPr sz="2800" b="1">
                    <a:solidFill>
                      <a:srgbClr val="15803D"/>
                    </a:solidFill>
                    <a:latin typeface="Arial"/>
                  </a:rPr>
                  <a:t> (the angle at the vertex is </a:t>
                </a:r>
                <a:r>
                  <a:rPr lang="en-IN" sz="2800">
                    <a:solidFill>
                      <a:srgbClr val="15803D"/>
                    </a:solidFill>
                    <a:latin typeface="Cambria Math" panose="02040503050406030204" pitchFamily="18" charset="0"/>
                  </a:rPr>
                  <a:t>$90^\circ$</a:t>
                </a:r>
                <a:r>
                  <a:rPr sz="2800" b="1">
                    <a:solidFill>
                      <a:srgbClr val="15803D"/>
                    </a:solidFill>
                    <a:latin typeface="Arial"/>
                  </a:rPr>
                  <a:t>)</a:t>
                </a:r>
                <a:endParaRPr sz="2800">
                  <a:solidFill>
                    <a:srgbClr val="15803D"/>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altitude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also bisects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oMath>
                </a14:m>
                <a:r>
                  <a:rPr sz="2400" b="0">
                    <a:solidFill>
                      <a:srgbClr val="111827"/>
                    </a:solidFill>
                    <a:latin typeface="Arial"/>
                  </a:rPr>
                  <a:t> and the altitude is the perpendicular bisector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bisector theorem in a right triangle: if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oMath>
                </a14:m>
                <a:r>
                  <a:rPr sz="2400" b="0">
                    <a:solidFill>
                      <a:srgbClr val="111827"/>
                    </a:solidFill>
                    <a:latin typeface="Arial"/>
                  </a:rPr>
                  <a:t> bisects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in the right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num>
                      <m:den>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right triangle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median to the hypotenuse equals half of it, so the median and altitude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automatically make equal angles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the trisection fixes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the altitude from </a:t>
                </a:r>
                <a:r>
                  <a:rPr lang="en-IN" sz="2400">
                    <a:solidFill>
                      <a:srgbClr val="111827"/>
                    </a:solidFill>
                    <a:latin typeface="Cambria Math" panose="02040503050406030204" pitchFamily="18" charset="0"/>
                  </a:rPr>
                  <a:t>$A$</a:t>
                </a:r>
                <a:r>
                  <a:rPr sz="2400" b="0">
                    <a:solidFill>
                      <a:srgbClr val="111827"/>
                    </a:solidFill>
                    <a:latin typeface="Arial"/>
                  </a:rPr>
                  <a:t> also bisects </a:t>
                </a:r>
                <a:r>
                  <a:rPr lang="en-IN" sz="2400">
                    <a:solidFill>
                      <a:srgbClr val="111827"/>
                    </a:solidFill>
                    <a:latin typeface="Cambria Math" panose="02040503050406030204" pitchFamily="18" charset="0"/>
                  </a:rPr>
                  <a:t>$\angle BAE$</a:t>
                </a:r>
                <a:r>
                  <a:rPr sz="2400" b="0">
                    <a:solidFill>
                      <a:srgbClr val="111827"/>
                    </a:solidFill>
                    <a:latin typeface="Arial"/>
                  </a:rPr>
                  <a:t>, then </a:t>
                </a:r>
                <a:r>
                  <a:rPr lang="en-IN" sz="2400">
                    <a:solidFill>
                      <a:srgbClr val="111827"/>
                    </a:solidFill>
                    <a:latin typeface="Cambria Math" panose="02040503050406030204" pitchFamily="18" charset="0"/>
                  </a:rPr>
                  <a:t>$AB=AE$</a:t>
                </a:r>
                <a:r>
                  <a:rPr sz="2400" b="0">
                    <a:solidFill>
                      <a:srgbClr val="111827"/>
                    </a:solidFill>
                    <a:latin typeface="Arial"/>
                  </a:rPr>
                  <a:t> and the altitude is the perpendicular bisector of </a:t>
                </a:r>
                <a:r>
                  <a:rPr lang="en-IN" sz="2400">
                    <a:solidFill>
                      <a:srgbClr val="111827"/>
                    </a:solidFill>
                    <a:latin typeface="Cambria Math" panose="02040503050406030204" pitchFamily="18" charset="0"/>
                  </a:rPr>
                  <a:t>$BE$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bisector theorem in a right triangle: if </a:t>
                </a:r>
                <a:r>
                  <a:rPr lang="en-IN" sz="2400">
                    <a:solidFill>
                      <a:srgbClr val="111827"/>
                    </a:solidFill>
                    <a:latin typeface="Cambria Math" panose="02040503050406030204" pitchFamily="18" charset="0"/>
                  </a:rPr>
                  <a:t>$AE$</a:t>
                </a:r>
                <a:r>
                  <a:rPr sz="2400" b="0">
                    <a:solidFill>
                      <a:srgbClr val="111827"/>
                    </a:solidFill>
                    <a:latin typeface="Arial"/>
                  </a:rPr>
                  <a:t> bisects </a:t>
                </a:r>
                <a:r>
                  <a:rPr lang="en-IN" sz="2400">
                    <a:solidFill>
                      <a:srgbClr val="111827"/>
                    </a:solidFill>
                    <a:latin typeface="Cambria Math" panose="02040503050406030204" pitchFamily="18" charset="0"/>
                  </a:rPr>
                  <a:t>$\angle DAC$</a:t>
                </a:r>
                <a:r>
                  <a:rPr sz="2400" b="0">
                    <a:solidFill>
                      <a:srgbClr val="111827"/>
                    </a:solidFill>
                    <a:latin typeface="Arial"/>
                  </a:rPr>
                  <a:t> in the right triangle </a:t>
                </a:r>
                <a:r>
                  <a:rPr lang="en-IN" sz="2400">
                    <a:solidFill>
                      <a:srgbClr val="111827"/>
                    </a:solidFill>
                    <a:latin typeface="Cambria Math" panose="02040503050406030204" pitchFamily="18" charset="0"/>
                  </a:rPr>
                  <a:t>$ADC$</a:t>
                </a:r>
                <a:r>
                  <a:rPr sz="2400" b="0">
                    <a:solidFill>
                      <a:srgbClr val="111827"/>
                    </a:solidFill>
                    <a:latin typeface="Arial"/>
                  </a:rPr>
                  <a:t>, then </a:t>
                </a:r>
                <a:r>
                  <a:rPr lang="en-IN" sz="2400">
                    <a:solidFill>
                      <a:srgbClr val="111827"/>
                    </a:solidFill>
                    <a:latin typeface="Cambria Math" panose="02040503050406030204" pitchFamily="18" charset="0"/>
                  </a:rPr>
                  <a:t>$\frac{DE}{EC}=\frac{AD}{AC}=\cos\angle DAC$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right triangle (</a:t>
                </a:r>
                <a:r>
                  <a:rPr lang="en-IN" sz="2400">
                    <a:solidFill>
                      <a:srgbClr val="111827"/>
                    </a:solidFill>
                    <a:latin typeface="Cambria Math" panose="02040503050406030204" pitchFamily="18" charset="0"/>
                  </a:rPr>
                  <a:t>$A=90^\circ$</a:t>
                </a:r>
                <a:r>
                  <a:rPr sz="2400" b="0">
                    <a:solidFill>
                      <a:srgbClr val="111827"/>
                    </a:solidFill>
                    <a:latin typeface="Arial"/>
                  </a:rPr>
                  <a:t>) the median to the hypotenuse equals half of it, so the median and altitude from </a:t>
                </a:r>
                <a:r>
                  <a:rPr lang="en-IN" sz="2400">
                    <a:solidFill>
                      <a:srgbClr val="111827"/>
                    </a:solidFill>
                    <a:latin typeface="Cambria Math" panose="02040503050406030204" pitchFamily="18" charset="0"/>
                  </a:rPr>
                  <a:t>$A$</a:t>
                </a:r>
                <a:r>
                  <a:rPr sz="2400" b="0">
                    <a:solidFill>
                      <a:srgbClr val="111827"/>
                    </a:solidFill>
                    <a:latin typeface="Arial"/>
                  </a:rPr>
                  <a:t> automatically make equal angles </a:t>
                </a:r>
                <a:r>
                  <a:rPr lang="en-IN" sz="2400">
                    <a:solidFill>
                      <a:srgbClr val="111827"/>
                    </a:solidFill>
                    <a:latin typeface="Cambria Math" panose="02040503050406030204" pitchFamily="18" charset="0"/>
                  </a:rPr>
                  <a:t>$\angle BAD=\angle EAC$</a:t>
                </a:r>
                <a:r>
                  <a:rPr sz="2400" b="0">
                    <a:solidFill>
                      <a:srgbClr val="111827"/>
                    </a:solidFill>
                    <a:latin typeface="Arial"/>
                  </a:rPr>
                  <a:t>; the trisection fixes </a:t>
                </a:r>
                <a:r>
                  <a:rPr lang="en-IN" sz="2400">
                    <a:solidFill>
                      <a:srgbClr val="111827"/>
                    </a:solidFill>
                    <a:latin typeface="Cambria Math" panose="02040503050406030204" pitchFamily="18" charset="0"/>
                  </a:rPr>
                  <a:t>$B=60^\circ$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6</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Q08 – Q10</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value answer; complete solution with alternate method and result</a:t>
            </a:r>
            <a:endParaRPr sz="2800">
              <a:solidFill>
                <a:srgbClr val="FFFFFF"/>
              </a:solidFill>
            </a:endParaR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712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ratios of the lengths of the sides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to the radius of the circumscribed circle are equal to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respectively. If the ratio of the lengths of the bisectors of the interior angles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α</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num>
                      <m:den>
                        <m:r>
                          <a:rPr lang="en-IN" sz="2400" i="1">
                            <a:solidFill>
                              <a:srgbClr val="111827"/>
                            </a:solidFill>
                            <a:latin typeface="Cambria Math" panose="02040503050406030204" pitchFamily="18" charset="0"/>
                          </a:rPr>
                          <m:t>β</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γ</m:t>
                            </m:r>
                          </m:e>
                        </m:rad>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then find the value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9712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ratios of the lengths of the sides </a:t>
                </a:r>
                <a:r>
                  <a:rPr lang="en-IN" sz="2400">
                    <a:solidFill>
                      <a:srgbClr val="111827"/>
                    </a:solidFill>
                    <a:latin typeface="Cambria Math" panose="02040503050406030204" pitchFamily="18" charset="0"/>
                  </a:rPr>
                  <a:t>$BC$</a:t>
                </a:r>
                <a:r>
                  <a:rPr sz="2400" b="0">
                    <a:solidFill>
                      <a:srgbClr val="111827"/>
                    </a:solidFill>
                    <a:latin typeface="Arial"/>
                  </a:rPr>
                  <a:t> and </a:t>
                </a:r>
                <a:r>
                  <a:rPr lang="en-IN" sz="2400">
                    <a:solidFill>
                      <a:srgbClr val="111827"/>
                    </a:solidFill>
                    <a:latin typeface="Cambria Math" panose="02040503050406030204" pitchFamily="18" charset="0"/>
                  </a:rPr>
                  <a:t>$AC$</a:t>
                </a:r>
                <a:r>
                  <a:rPr sz="2400" b="0">
                    <a:solidFill>
                      <a:srgbClr val="111827"/>
                    </a:solidFill>
                    <a:latin typeface="Arial"/>
                  </a:rPr>
                  <a:t> of </a:t>
                </a:r>
                <a:r>
                  <a:rPr lang="en-IN" sz="2400">
                    <a:solidFill>
                      <a:srgbClr val="111827"/>
                    </a:solidFill>
                    <a:latin typeface="Cambria Math" panose="02040503050406030204" pitchFamily="18" charset="0"/>
                  </a:rPr>
                  <a:t>$\triangle ABC$</a:t>
                </a:r>
                <a:r>
                  <a:rPr sz="2400" b="0">
                    <a:solidFill>
                      <a:srgbClr val="111827"/>
                    </a:solidFill>
                    <a:latin typeface="Arial"/>
                  </a:rPr>
                  <a:t> to the radius of the circumscribed circle are equal to </a:t>
                </a:r>
                <a:r>
                  <a:rPr lang="en-IN" sz="2400">
                    <a:solidFill>
                      <a:srgbClr val="111827"/>
                    </a:solidFill>
                    <a:latin typeface="Cambria Math" panose="02040503050406030204" pitchFamily="18" charset="0"/>
                  </a:rPr>
                  <a:t>$2$</a:t>
                </a:r>
                <a:r>
                  <a:rPr sz="2400" b="0">
                    <a:solidFill>
                      <a:srgbClr val="111827"/>
                    </a:solidFill>
                    <a:latin typeface="Arial"/>
                  </a:rPr>
                  <a:t> and </a:t>
                </a:r>
                <a:r>
                  <a:rPr lang="en-IN" sz="2400">
                    <a:solidFill>
                      <a:srgbClr val="111827"/>
                    </a:solidFill>
                    <a:latin typeface="Cambria Math" panose="02040503050406030204" pitchFamily="18" charset="0"/>
                  </a:rPr>
                  <a:t>$\frac32$</a:t>
                </a:r>
                <a:r>
                  <a:rPr sz="2400" b="0">
                    <a:solidFill>
                      <a:srgbClr val="111827"/>
                    </a:solidFill>
                    <a:latin typeface="Arial"/>
                  </a:rPr>
                  <a:t> respectively. If the ratio of the lengths of the bisectors of the interior angles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is </a:t>
                </a:r>
                <a:r>
                  <a:rPr lang="en-IN" sz="2400">
                    <a:solidFill>
                      <a:srgbClr val="111827"/>
                    </a:solidFill>
                    <a:latin typeface="Cambria Math" panose="02040503050406030204" pitchFamily="18" charset="0"/>
                  </a:rPr>
                  <a:t>$\frac{\alpha\left(\sqrt\alpha-1\right)}{\beta\sqrt\gamma}$</a:t>
                </a:r>
                <a:r>
                  <a:rPr sz="2400" b="0">
                    <a:solidFill>
                      <a:srgbClr val="111827"/>
                    </a:solidFill>
                    <a:latin typeface="Arial"/>
                  </a:rPr>
                  <a:t> where </a:t>
                </a:r>
                <a:r>
                  <a:rPr lang="en-IN" sz="2400">
                    <a:solidFill>
                      <a:srgbClr val="111827"/>
                    </a:solidFill>
                    <a:latin typeface="Cambria Math" panose="02040503050406030204" pitchFamily="18" charset="0"/>
                  </a:rPr>
                  <a:t>$\alpha,\beta,\gamma\in N$</a:t>
                </a:r>
                <a:r>
                  <a:rPr sz="2400" b="0">
                    <a:solidFill>
                      <a:srgbClr val="111827"/>
                    </a:solidFill>
                    <a:latin typeface="Arial"/>
                  </a:rPr>
                  <a:t>, then find the value of </a:t>
                </a:r>
                <a:r>
                  <a:rPr lang="en-IN" sz="2400">
                    <a:solidFill>
                      <a:srgbClr val="111827"/>
                    </a:solidFill>
                    <a:latin typeface="Cambria Math" panose="02040503050406030204" pitchFamily="18" charset="0"/>
                  </a:rPr>
                  <a:t>$(\alpha+\beta+\gamma)$</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448005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Sine rule, circumradius and right triangle, Length of internal angle bisectors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𝑎</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𝑅</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makes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90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each bisector is then the hypotenuse of a right triangle with leg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$\sin A=\frac a{2R}=1$</a:t>
                </a:r>
                <a:r>
                  <a:rPr sz="2400" b="0">
                    <a:solidFill>
                      <a:srgbClr val="78350F"/>
                    </a:solidFill>
                    <a:latin typeface="Arial"/>
                  </a:rPr>
                  <a:t> makes </a:t>
                </a:r>
                <a:r>
                  <a:rPr lang="en-IN" sz="2400">
                    <a:solidFill>
                      <a:srgbClr val="78350F"/>
                    </a:solidFill>
                    <a:latin typeface="Cambria Math" panose="02040503050406030204" pitchFamily="18" charset="0"/>
                  </a:rPr>
                  <a:t>$A=90^\circ$</a:t>
                </a:r>
                <a:r>
                  <a:rPr sz="2400" b="0">
                    <a:solidFill>
                      <a:srgbClr val="78350F"/>
                    </a:solidFill>
                    <a:latin typeface="Arial"/>
                  </a:rPr>
                  <a:t>; each bisector is then the hypotenuse of a right triangle with leg </a:t>
                </a:r>
                <a:r>
                  <a:rPr lang="en-IN" sz="2400">
                    <a:solidFill>
                      <a:srgbClr val="78350F"/>
                    </a:solidFill>
                    <a:latin typeface="Cambria Math" panose="02040503050406030204" pitchFamily="18" charset="0"/>
                  </a:rPr>
                  <a:t>$AB$</a:t>
                </a:r>
                <a:r>
                  <a:rPr sz="2400" b="0">
                    <a:solidFill>
                      <a:srgbClr val="78350F"/>
                    </a:solidFill>
                    <a:latin typeface="Arial"/>
                  </a:rPr>
                  <a:t> or </a:t>
                </a:r>
                <a:r>
                  <a:rPr lang="en-IN" sz="2400">
                    <a:solidFill>
                      <a:srgbClr val="78350F"/>
                    </a:solidFill>
                    <a:latin typeface="Cambria Math" panose="02040503050406030204" pitchFamily="18" charset="0"/>
                  </a:rPr>
                  <a:t>$AC$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with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𝑅</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𝑅</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Sine rule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oMath>
                </a14:m>
                <a:r>
                  <a:rPr sz="2400" b="0">
                    <a:solidFill>
                      <a:srgbClr val="111827"/>
                    </a:solidFill>
                    <a:latin typeface="Arial"/>
                  </a:rPr>
                  <a:t> is the hypotenuse,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bisector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meets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e>
                        </m: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$BC=a$</a:t>
                </a:r>
                <a:r>
                  <a:rPr sz="2400" b="0">
                    <a:solidFill>
                      <a:srgbClr val="111827"/>
                    </a:solidFill>
                    <a:latin typeface="Arial"/>
                  </a:rPr>
                  <a:t>, </a:t>
                </a:r>
                <a:r>
                  <a:rPr lang="en-IN" sz="2400">
                    <a:solidFill>
                      <a:srgbClr val="111827"/>
                    </a:solidFill>
                    <a:latin typeface="Cambria Math" panose="02040503050406030204" pitchFamily="18" charset="0"/>
                  </a:rPr>
                  <a:t>$AC=b$</a:t>
                </a:r>
                <a:r>
                  <a:rPr sz="2400" b="0">
                    <a:solidFill>
                      <a:srgbClr val="111827"/>
                    </a:solidFill>
                    <a:latin typeface="Arial"/>
                  </a:rPr>
                  <a:t> with </a:t>
                </a:r>
                <a:r>
                  <a:rPr lang="en-IN" sz="2400">
                    <a:solidFill>
                      <a:srgbClr val="111827"/>
                    </a:solidFill>
                    <a:latin typeface="Cambria Math" panose="02040503050406030204" pitchFamily="18" charset="0"/>
                  </a:rPr>
                  <a:t>$\frac aR=2$</a:t>
                </a:r>
                <a:r>
                  <a:rPr sz="2400" b="0">
                    <a:solidFill>
                      <a:srgbClr val="111827"/>
                    </a:solidFill>
                    <a:latin typeface="Arial"/>
                  </a:rPr>
                  <a:t> and </a:t>
                </a:r>
                <a:r>
                  <a:rPr lang="en-IN" sz="2400">
                    <a:solidFill>
                      <a:srgbClr val="111827"/>
                    </a:solidFill>
                    <a:latin typeface="Cambria Math" panose="02040503050406030204" pitchFamily="18" charset="0"/>
                  </a:rPr>
                  <a:t>$\frac bR=\frac32$</a:t>
                </a:r>
                <a:r>
                  <a:rPr sz="2400" b="0">
                    <a:solidFill>
                      <a:srgbClr val="111827"/>
                    </a:solidFill>
                    <a:latin typeface="Arial"/>
                  </a:rPr>
                  <a:t>. Sine rule </a:t>
                </a:r>
                <a:r>
                  <a:rPr lang="en-IN" sz="2400">
                    <a:solidFill>
                      <a:srgbClr val="111827"/>
                    </a:solidFill>
                    <a:latin typeface="Cambria Math" panose="02040503050406030204" pitchFamily="18" charset="0"/>
                  </a:rPr>
                  <a:t>$a=2R\sin A$</a:t>
                </a:r>
                <a:r>
                  <a:rPr sz="2400" b="0">
                    <a:solidFill>
                      <a:srgbClr val="111827"/>
                    </a:solidFill>
                    <a:latin typeface="Arial"/>
                  </a:rPr>
                  <a:t> gives </a:t>
                </a:r>
                <a:r>
                  <a:rPr lang="en-IN" sz="2400">
                    <a:solidFill>
                      <a:srgbClr val="111827"/>
                    </a:solidFill>
                    <a:latin typeface="Cambria Math" panose="02040503050406030204" pitchFamily="18" charset="0"/>
                  </a:rPr>
                  <a:t>$2\sin A=2$</a:t>
                </a:r>
                <a:r>
                  <a:rPr sz="2400" b="0">
                    <a:solidFill>
                      <a:srgbClr val="111827"/>
                    </a:solidFill>
                    <a:latin typeface="Arial"/>
                  </a:rPr>
                  <a:t>, so </a:t>
                </a:r>
                <a:r>
                  <a:rPr lang="en-IN" sz="2400">
                    <a:solidFill>
                      <a:srgbClr val="111827"/>
                    </a:solidFill>
                    <a:latin typeface="Cambria Math" panose="02040503050406030204" pitchFamily="18" charset="0"/>
                  </a:rPr>
                  <a:t>$\sin A=1$</a:t>
                </a:r>
                <a:r>
                  <a:rPr sz="2400" b="0">
                    <a:solidFill>
                      <a:srgbClr val="111827"/>
                    </a:solidFill>
                    <a:latin typeface="Arial"/>
                  </a:rPr>
                  <a:t> and </a:t>
                </a:r>
                <a:r>
                  <a:rPr lang="en-IN" sz="2400">
                    <a:solidFill>
                      <a:srgbClr val="111827"/>
                    </a:solidFill>
                    <a:latin typeface="Cambria Math" panose="02040503050406030204" pitchFamily="18" charset="0"/>
                  </a:rPr>
                  <a:t>$A=\frac\pi2$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 B=\frac b{2R}=\frac34$</a:t>
                </a:r>
                <a:r>
                  <a:rPr sz="2400" b="0">
                    <a:solidFill>
                      <a:srgbClr val="111827"/>
                    </a:solidFill>
                    <a:latin typeface="Arial"/>
                  </a:rPr>
                  <a:t>. With </a:t>
                </a:r>
                <a:r>
                  <a:rPr lang="en-IN" sz="2400">
                    <a:solidFill>
                      <a:srgbClr val="111827"/>
                    </a:solidFill>
                    <a:latin typeface="Cambria Math" panose="02040503050406030204" pitchFamily="18" charset="0"/>
                  </a:rPr>
                  <a:t>$A=90^\circ$</a:t>
                </a:r>
                <a:r>
                  <a:rPr sz="2400" b="0">
                    <a:solidFill>
                      <a:srgbClr val="111827"/>
                    </a:solidFill>
                    <a:latin typeface="Arial"/>
                  </a:rPr>
                  <a:t>: </a:t>
                </a:r>
                <a:r>
                  <a:rPr lang="en-IN" sz="2400">
                    <a:solidFill>
                      <a:srgbClr val="111827"/>
                    </a:solidFill>
                    <a:latin typeface="Cambria Math" panose="02040503050406030204" pitchFamily="18" charset="0"/>
                  </a:rPr>
                  <a:t>$a=2R$</a:t>
                </a:r>
                <a:r>
                  <a:rPr sz="2400" b="0">
                    <a:solidFill>
                      <a:srgbClr val="111827"/>
                    </a:solidFill>
                    <a:latin typeface="Arial"/>
                  </a:rPr>
                  <a:t> is the hypotenuse, </a:t>
                </a:r>
                <a:r>
                  <a:rPr lang="en-IN" sz="2400">
                    <a:solidFill>
                      <a:srgbClr val="111827"/>
                    </a:solidFill>
                    <a:latin typeface="Cambria Math" panose="02040503050406030204" pitchFamily="18" charset="0"/>
                  </a:rPr>
                  <a:t>$b=\frac{3R}2$</a:t>
                </a:r>
                <a:r>
                  <a:rPr sz="2400" b="0">
                    <a:solidFill>
                      <a:srgbClr val="111827"/>
                    </a:solidFill>
                    <a:latin typeface="Arial"/>
                  </a:rPr>
                  <a:t> and </a:t>
                </a:r>
                <a:r>
                  <a:rPr lang="en-IN" sz="2400">
                    <a:solidFill>
                      <a:srgbClr val="111827"/>
                    </a:solidFill>
                    <a:latin typeface="Cambria Math" panose="02040503050406030204" pitchFamily="18" charset="0"/>
                  </a:rPr>
                  <a:t>$c=\sqrt{a^2-b^2}=\sqrt{4R^2-\frac{9R^2}4}=\frac{\sqrt7}2R$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bisector from </a:t>
                </a:r>
                <a:r>
                  <a:rPr lang="en-IN" sz="2400">
                    <a:solidFill>
                      <a:srgbClr val="111827"/>
                    </a:solidFill>
                    <a:latin typeface="Cambria Math" panose="02040503050406030204" pitchFamily="18" charset="0"/>
                  </a:rPr>
                  <a:t>$B$</a:t>
                </a:r>
                <a:r>
                  <a:rPr sz="2400" b="0">
                    <a:solidFill>
                      <a:srgbClr val="111827"/>
                    </a:solidFill>
                    <a:latin typeface="Arial"/>
                  </a:rPr>
                  <a:t> meets </a:t>
                </a:r>
                <a:r>
                  <a:rPr lang="en-IN" sz="2400">
                    <a:solidFill>
                      <a:srgbClr val="111827"/>
                    </a:solidFill>
                    <a:latin typeface="Cambria Math" panose="02040503050406030204" pitchFamily="18" charset="0"/>
                  </a:rPr>
                  <a:t>$AC$</a:t>
                </a:r>
                <a:r>
                  <a:rPr sz="2400" b="0">
                    <a:solidFill>
                      <a:srgbClr val="111827"/>
                    </a:solidFill>
                    <a:latin typeface="Arial"/>
                  </a:rPr>
                  <a:t> at </a:t>
                </a:r>
                <a:r>
                  <a:rPr lang="en-IN" sz="2400">
                    <a:solidFill>
                      <a:srgbClr val="111827"/>
                    </a:solidFill>
                    <a:latin typeface="Cambria Math" panose="02040503050406030204" pitchFamily="18" charset="0"/>
                  </a:rPr>
                  <a:t>$D$</a:t>
                </a:r>
                <a:r>
                  <a:rPr sz="2400" b="0">
                    <a:solidFill>
                      <a:srgbClr val="111827"/>
                    </a:solidFill>
                    <a:latin typeface="Arial"/>
                  </a:rPr>
                  <a:t> with </a:t>
                </a:r>
                <a:r>
                  <a:rPr lang="en-IN" sz="2400">
                    <a:solidFill>
                      <a:srgbClr val="111827"/>
                    </a:solidFill>
                    <a:latin typeface="Cambria Math" panose="02040503050406030204" pitchFamily="18" charset="0"/>
                  </a:rPr>
                  <a:t>$AD=AC\cdot\frac{AB}{AB+BC}=\frac{bc}{a+c}=\frac{3\sqrt7R}{2\left(4+\sqrt7\right)}$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bisector from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meets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14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Right angle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𝐷</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𝑅</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𝐸</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𝑅</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num>
                      <m:den>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14</m:t>
                        </m:r>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num>
                      <m:den>
                        <m:r>
                          <a:rPr lang="en-IN" sz="2400" i="1">
                            <a:solidFill>
                              <a:srgbClr val="111827"/>
                            </a:solidFill>
                            <a:latin typeface="Cambria Math" panose="02040503050406030204" pitchFamily="18" charset="0"/>
                          </a:rPr>
                          <m:t>9</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bisector from </a:t>
                </a:r>
                <a:r>
                  <a:rPr lang="en-IN" sz="2400">
                    <a:solidFill>
                      <a:srgbClr val="111827"/>
                    </a:solidFill>
                    <a:latin typeface="Cambria Math" panose="02040503050406030204" pitchFamily="18" charset="0"/>
                  </a:rPr>
                  <a:t>$C$</a:t>
                </a:r>
                <a:r>
                  <a:rPr sz="2400" b="0">
                    <a:solidFill>
                      <a:srgbClr val="111827"/>
                    </a:solidFill>
                    <a:latin typeface="Arial"/>
                  </a:rPr>
                  <a:t> meets </a:t>
                </a:r>
                <a:r>
                  <a:rPr lang="en-IN" sz="2400">
                    <a:solidFill>
                      <a:srgbClr val="111827"/>
                    </a:solidFill>
                    <a:latin typeface="Cambria Math" panose="02040503050406030204" pitchFamily="18" charset="0"/>
                  </a:rPr>
                  <a:t>$AB$</a:t>
                </a:r>
                <a:r>
                  <a:rPr sz="2400" b="0">
                    <a:solidFill>
                      <a:srgbClr val="111827"/>
                    </a:solidFill>
                    <a:latin typeface="Arial"/>
                  </a:rPr>
                  <a:t> at </a:t>
                </a:r>
                <a:r>
                  <a:rPr lang="en-IN" sz="2400">
                    <a:solidFill>
                      <a:srgbClr val="111827"/>
                    </a:solidFill>
                    <a:latin typeface="Cambria Math" panose="02040503050406030204" pitchFamily="18" charset="0"/>
                  </a:rPr>
                  <a:t>$E$</a:t>
                </a:r>
                <a:r>
                  <a:rPr sz="2400" b="0">
                    <a:solidFill>
                      <a:srgbClr val="111827"/>
                    </a:solidFill>
                    <a:latin typeface="Arial"/>
                  </a:rPr>
                  <a:t> with </a:t>
                </a:r>
                <a:r>
                  <a:rPr lang="en-IN" sz="2400">
                    <a:solidFill>
                      <a:srgbClr val="111827"/>
                    </a:solidFill>
                    <a:latin typeface="Cambria Math" panose="02040503050406030204" pitchFamily="18" charset="0"/>
                  </a:rPr>
                  <a:t>$AE=\frac{bc}{a+b}=\frac{3\sqrt7R}{14}$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Right angle at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$BD=\sqrt{AB^2+AD^2}=\frac{2\sqrt7R}{\sqrt7+1}$</a:t>
                </a:r>
                <a:r>
                  <a:rPr sz="2400" b="0">
                    <a:solidFill>
                      <a:srgbClr val="111827"/>
                    </a:solidFill>
                    <a:latin typeface="Arial"/>
                  </a:rPr>
                  <a:t> and </a:t>
                </a:r>
                <a:r>
                  <a:rPr lang="en-IN" sz="2400">
                    <a:solidFill>
                      <a:srgbClr val="111827"/>
                    </a:solidFill>
                    <a:latin typeface="Cambria Math" panose="02040503050406030204" pitchFamily="18" charset="0"/>
                  </a:rPr>
                  <a:t>$CE=\sqrt{AC^2+AE^2}=\frac{3\sqrt2R}{\sqrt7}$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$\frac{BD}{CE}=\frac{2\sqrt7}{\sqrt7+1}\cdot\frac{\sqrt7}{3\sqrt2}=\frac{14}{3\sqrt2\left(\sqrt7+1\right)}=\frac{14\left(\sqrt7-1\right)}{3\sqrt2\cdot6}=\frac{7\left(\sqrt7-1\right)}{9\sqrt2}$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$\alpha=7$</a:t>
                </a:r>
                <a:r>
                  <a:rPr sz="2400" b="0">
                    <a:solidFill>
                      <a:srgbClr val="111827"/>
                    </a:solidFill>
                    <a:latin typeface="Arial"/>
                  </a:rPr>
                  <a:t>, </a:t>
                </a:r>
                <a:r>
                  <a:rPr lang="en-IN" sz="2400">
                    <a:solidFill>
                      <a:srgbClr val="111827"/>
                    </a:solidFill>
                    <a:latin typeface="Cambria Math" panose="02040503050406030204" pitchFamily="18" charset="0"/>
                  </a:rPr>
                  <a:t>$\beta=9$</a:t>
                </a:r>
                <a:r>
                  <a:rPr sz="2400" b="0">
                    <a:solidFill>
                      <a:srgbClr val="111827"/>
                    </a:solidFill>
                    <a:latin typeface="Arial"/>
                  </a:rPr>
                  <a:t>, </a:t>
                </a:r>
                <a:r>
                  <a:rPr lang="en-IN" sz="2400">
                    <a:solidFill>
                      <a:srgbClr val="111827"/>
                    </a:solidFill>
                    <a:latin typeface="Cambria Math" panose="02040503050406030204" pitchFamily="18" charset="0"/>
                  </a:rPr>
                  <a:t>$\gamma=2$</a:t>
                </a:r>
                <a:r>
                  <a:rPr sz="2400" b="0">
                    <a:solidFill>
                      <a:srgbClr val="111827"/>
                    </a:solidFill>
                    <a:latin typeface="Arial"/>
                  </a:rPr>
                  <a:t> and </a:t>
                </a:r>
                <a:r>
                  <a:rPr lang="en-IN" sz="2400">
                    <a:solidFill>
                      <a:srgbClr val="111827"/>
                    </a:solidFill>
                    <a:latin typeface="Cambria Math" panose="02040503050406030204" pitchFamily="18" charset="0"/>
                  </a:rPr>
                  <a:t>$\alpha+\beta+\gamma=18$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18</m:t>
                    </m:r>
                  </m:oMath>
                </a14:m>
                <a:r>
                  <a:rPr sz="2800" b="1">
                    <a:solidFill>
                      <a:srgbClr val="15803D"/>
                    </a:solidFill>
                    <a:latin typeface="Arial"/>
                  </a:rPr>
                  <a:t> (</a:t>
                </a:r>
                <a14:m>
                  <m:oMath xmlns:m="http://schemas.openxmlformats.org/officeDocument/2006/math">
                    <m:r>
                      <a:rPr lang="en-IN" sz="2800" i="1">
                        <a:solidFill>
                          <a:srgbClr val="15803D"/>
                        </a:solidFill>
                        <a:latin typeface="Cambria Math" panose="02040503050406030204" pitchFamily="18" charset="0"/>
                      </a:rPr>
                      <m:t>α</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β</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9</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γ</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r>
                  <a:rPr sz="2800" b="1">
                    <a:solidFill>
                      <a:srgbClr val="15803D"/>
                    </a:solidFill>
                    <a:latin typeface="Arial"/>
                  </a:rPr>
                  <a:t>)</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$18$</a:t>
                </a:r>
                <a:r>
                  <a:rPr sz="2800" b="1">
                    <a:solidFill>
                      <a:srgbClr val="15803D"/>
                    </a:solidFill>
                    <a:latin typeface="Arial"/>
                  </a:rPr>
                  <a:t> (</a:t>
                </a:r>
                <a:r>
                  <a:rPr lang="en-IN" sz="2800">
                    <a:solidFill>
                      <a:srgbClr val="15803D"/>
                    </a:solidFill>
                    <a:latin typeface="Cambria Math" panose="02040503050406030204" pitchFamily="18" charset="0"/>
                  </a:rPr>
                  <a:t>$\alpha=7,\ \beta=9,\ \gamma=2$</a:t>
                </a:r>
                <a:r>
                  <a:rPr sz="2800" b="1">
                    <a:solidFill>
                      <a:srgbClr val="15803D"/>
                    </a:solidFill>
                    <a:latin typeface="Arial"/>
                  </a:rPr>
                  <a:t>)</a:t>
                </a:r>
                <a:endParaRPr sz="2800">
                  <a:solidFill>
                    <a:srgbClr val="15803D"/>
                  </a:solidFill>
                </a:endParaRPr>
              </a:p>
            </p:txBody>
          </p:sp>
        </mc:Fallback>
      </mc:AlternateContent>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 a right triangle the bisector from an acute vertex is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nor/>
                          </m:rPr>
                          <a:rPr lang="en-IN" sz="2400" i="1">
                            <a:solidFill>
                              <a:srgbClr val="78350F"/>
                            </a:solidFill>
                            <a:latin typeface="Cambria Math" panose="02040503050406030204" pitchFamily="18" charset="0"/>
                          </a:rPr>
                          <m:t>𝑎𝑑𝑗𝑎𝑐𝑒𝑛𝑡 𝑙𝑒𝑔</m:t>
                        </m:r>
                      </m:num>
                      <m:den>
                        <m:r>
                          <m:rPr>
                            <m:sty m:val="p"/>
                          </m:rPr>
                          <a:rPr lang="en-IN" sz="2400">
                            <a:solidFill>
                              <a:srgbClr val="78350F"/>
                            </a:solidFill>
                            <a:latin typeface="Cambria Math" panose="02040503050406030204" pitchFamily="18" charset="0"/>
                          </a:rPr>
                          <m:t>cos</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ℎ𝑎𝑙𝑓-𝑎𝑛𝑔𝑙𝑒</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so the ratio comes from half-angle cosines.</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 a right triangle the bisector from an acute vertex is </a:t>
                </a:r>
                <a:r>
                  <a:rPr lang="en-IN" sz="2400">
                    <a:solidFill>
                      <a:srgbClr val="78350F"/>
                    </a:solidFill>
                    <a:latin typeface="Cambria Math" panose="02040503050406030204" pitchFamily="18" charset="0"/>
                  </a:rPr>
                  <a:t>$\frac{\text{adjacent leg}}{\cos(\text{half-angle})}$</a:t>
                </a:r>
                <a:r>
                  <a:rPr sz="2400" b="0">
                    <a:solidFill>
                      <a:srgbClr val="78350F"/>
                    </a:solidFill>
                    <a:latin typeface="Arial"/>
                  </a:rPr>
                  <a:t>, so the ratio comes from half-angle cosines.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(right angle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num>
                      <m:den>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den>
                    </m:f>
                  </m:oMath>
                </a14:m>
                <a:r>
                  <a:rPr sz="2400" b="0">
                    <a:solidFill>
                      <a:srgbClr val="111827"/>
                    </a:solidFill>
                    <a:latin typeface="Arial"/>
                  </a:rPr>
                  <a:t>; likewise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num>
                      <m:den>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num>
                      <m:den>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4</m:t>
                                </m:r>
                              </m:den>
                            </m:f>
                          </m:den>
                        </m:f>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den>
                        </m:f>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e>
                        </m:rad>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$R=2$</a:t>
                </a:r>
                <a:r>
                  <a:rPr sz="2400" b="0">
                    <a:solidFill>
                      <a:srgbClr val="111827"/>
                    </a:solidFill>
                    <a:latin typeface="Arial"/>
                  </a:rPr>
                  <a:t>: </a:t>
                </a:r>
                <a:r>
                  <a:rPr lang="en-IN" sz="2400">
                    <a:solidFill>
                      <a:srgbClr val="111827"/>
                    </a:solidFill>
                    <a:latin typeface="Cambria Math" panose="02040503050406030204" pitchFamily="18" charset="0"/>
                  </a:rPr>
                  <a:t>$a=4$</a:t>
                </a:r>
                <a:r>
                  <a:rPr sz="2400" b="0">
                    <a:solidFill>
                      <a:srgbClr val="111827"/>
                    </a:solidFill>
                    <a:latin typeface="Arial"/>
                  </a:rPr>
                  <a:t>, </a:t>
                </a:r>
                <a:r>
                  <a:rPr lang="en-IN" sz="2400">
                    <a:solidFill>
                      <a:srgbClr val="111827"/>
                    </a:solidFill>
                    <a:latin typeface="Cambria Math" panose="02040503050406030204" pitchFamily="18" charset="0"/>
                  </a:rPr>
                  <a:t>$b=3$</a:t>
                </a:r>
                <a:r>
                  <a:rPr sz="2400" b="0">
                    <a:solidFill>
                      <a:srgbClr val="111827"/>
                    </a:solidFill>
                    <a:latin typeface="Arial"/>
                  </a:rPr>
                  <a:t>, </a:t>
                </a:r>
                <a:r>
                  <a:rPr lang="en-IN" sz="2400">
                    <a:solidFill>
                      <a:srgbClr val="111827"/>
                    </a:solidFill>
                    <a:latin typeface="Cambria Math" panose="02040503050406030204" pitchFamily="18" charset="0"/>
                  </a:rPr>
                  <a:t>$c=\sqrt7$</a:t>
                </a:r>
                <a:r>
                  <a:rPr sz="2400" b="0">
                    <a:solidFill>
                      <a:srgbClr val="111827"/>
                    </a:solidFill>
                    <a:latin typeface="Arial"/>
                  </a:rPr>
                  <a:t> with </a:t>
                </a:r>
                <a:r>
                  <a:rPr lang="en-IN" sz="2400">
                    <a:solidFill>
                      <a:srgbClr val="111827"/>
                    </a:solidFill>
                    <a:latin typeface="Cambria Math" panose="02040503050406030204" pitchFamily="18" charset="0"/>
                  </a:rPr>
                  <a:t>$A=90^\circ$</a:t>
                </a:r>
                <a:r>
                  <a:rPr sz="2400" b="0">
                    <a:solidFill>
                      <a:srgbClr val="111827"/>
                    </a:solidFill>
                    <a:latin typeface="Arial"/>
                  </a:rPr>
                  <a:t>; </a:t>
                </a:r>
                <a:r>
                  <a:rPr lang="en-IN" sz="2400">
                    <a:solidFill>
                      <a:srgbClr val="111827"/>
                    </a:solidFill>
                    <a:latin typeface="Cambria Math" panose="02040503050406030204" pitchFamily="18" charset="0"/>
                  </a:rPr>
                  <a:t>$\cos B=\frac ca=\frac{\sqrt7}4$</a:t>
                </a:r>
                <a:r>
                  <a:rPr sz="2400" b="0">
                    <a:solidFill>
                      <a:srgbClr val="111827"/>
                    </a:solidFill>
                    <a:latin typeface="Arial"/>
                  </a:rPr>
                  <a:t> and </a:t>
                </a:r>
                <a:r>
                  <a:rPr lang="en-IN" sz="2400">
                    <a:solidFill>
                      <a:srgbClr val="111827"/>
                    </a:solidFill>
                    <a:latin typeface="Cambria Math" panose="02040503050406030204" pitchFamily="18" charset="0"/>
                  </a:rPr>
                  <a:t>$\cos C=\frac ba=\frac34$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r>
                  <a:rPr lang="en-IN" sz="2400">
                    <a:solidFill>
                      <a:srgbClr val="111827"/>
                    </a:solidFill>
                    <a:latin typeface="Cambria Math" panose="02040503050406030204" pitchFamily="18" charset="0"/>
                  </a:rPr>
                  <a:t>$ABD$</a:t>
                </a:r>
                <a:r>
                  <a:rPr sz="2400" b="0">
                    <a:solidFill>
                      <a:srgbClr val="111827"/>
                    </a:solidFill>
                    <a:latin typeface="Arial"/>
                  </a:rPr>
                  <a:t> (right angle at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$BD=\frac{AB}{\cos\frac B2}=\frac c{\cos\frac B2}$</a:t>
                </a:r>
                <a:r>
                  <a:rPr sz="2400" b="0">
                    <a:solidFill>
                      <a:srgbClr val="111827"/>
                    </a:solidFill>
                    <a:latin typeface="Arial"/>
                  </a:rPr>
                  <a:t>; likewise </a:t>
                </a:r>
                <a:r>
                  <a:rPr lang="en-IN" sz="2400">
                    <a:solidFill>
                      <a:srgbClr val="111827"/>
                    </a:solidFill>
                    <a:latin typeface="Cambria Math" panose="02040503050406030204" pitchFamily="18" charset="0"/>
                  </a:rPr>
                  <a:t>$CE=\frac b{\cos\frac 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$\frac{BD}{CE}=\frac cb\cdot\frac{\cos\frac C2}{\cos\frac B2}=\frac{\sqrt7}3\sqrt{\frac{1+\frac34}{1+\frac{\sqrt7}4}}=\frac{\sqrt7}3\sqrt{\frac7{4+\sqrt7}}=\frac7{3\sqrt{4+\sqrt7}}$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e>
                    </m:d>
                  </m:oMath>
                </a14:m>
                <a:r>
                  <a:rPr sz="2400" b="0">
                    <a:solidFill>
                      <a:srgbClr val="111827"/>
                    </a:solidFill>
                    <a:latin typeface="Arial"/>
                  </a:rPr>
                  <a:t>, so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and the ratio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num>
                      <m:den>
                        <m:r>
                          <a:rPr lang="en-IN" sz="2400" i="1">
                            <a:solidFill>
                              <a:srgbClr val="111827"/>
                            </a:solidFill>
                            <a:latin typeface="Cambria Math" panose="02040503050406030204" pitchFamily="18" charset="0"/>
                          </a:rPr>
                          <m:t>9</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sum is </a:t>
                </a:r>
                <a14:m>
                  <m:oMath xmlns:m="http://schemas.openxmlformats.org/officeDocument/2006/math">
                    <m:r>
                      <a:rPr lang="en-IN" sz="2400" i="1">
                        <a:solidFill>
                          <a:srgbClr val="111827"/>
                        </a:solidFill>
                        <a:latin typeface="Cambria Math" panose="02040503050406030204" pitchFamily="18" charset="0"/>
                      </a:rPr>
                      <m:t>18</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$\left(\sqrt7+1\right)^2=2\left(4+\sqrt7\right)$</a:t>
                </a:r>
                <a:r>
                  <a:rPr sz="2400" b="0">
                    <a:solidFill>
                      <a:srgbClr val="111827"/>
                    </a:solidFill>
                    <a:latin typeface="Arial"/>
                  </a:rPr>
                  <a:t>, so </a:t>
                </a:r>
                <a:r>
                  <a:rPr lang="en-IN" sz="2400">
                    <a:solidFill>
                      <a:srgbClr val="111827"/>
                    </a:solidFill>
                    <a:latin typeface="Cambria Math" panose="02040503050406030204" pitchFamily="18" charset="0"/>
                  </a:rPr>
                  <a:t>$\sqrt{4+\sqrt7}=\frac{\sqrt7+1}{\sqrt2}$</a:t>
                </a:r>
                <a:r>
                  <a:rPr sz="2400" b="0">
                    <a:solidFill>
                      <a:srgbClr val="111827"/>
                    </a:solidFill>
                    <a:latin typeface="Arial"/>
                  </a:rPr>
                  <a:t> and the ratio is </a:t>
                </a:r>
                <a:r>
                  <a:rPr lang="en-IN" sz="2400">
                    <a:solidFill>
                      <a:srgbClr val="111827"/>
                    </a:solidFill>
                    <a:latin typeface="Cambria Math" panose="02040503050406030204" pitchFamily="18" charset="0"/>
                  </a:rPr>
                  <a:t>$\frac{7\sqrt2}{3\left(\sqrt7+1\right)}=\frac{7\sqrt2\left(\sqrt7-1\right)}{18}=\frac{7\left(\sqrt7-1\right)}{9\sqrt2}$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$(\alpha,\beta,\gamma)=(7,9,2)$</a:t>
                </a:r>
                <a:r>
                  <a:rPr sz="2400" b="0">
                    <a:solidFill>
                      <a:srgbClr val="111827"/>
                    </a:solidFill>
                    <a:latin typeface="Arial"/>
                  </a:rPr>
                  <a:t> and the sum is </a:t>
                </a:r>
                <a:r>
                  <a:rPr lang="en-IN" sz="2400">
                    <a:solidFill>
                      <a:srgbClr val="111827"/>
                    </a:solidFill>
                    <a:latin typeface="Cambria Math" panose="02040503050406030204" pitchFamily="18" charset="0"/>
                  </a:rPr>
                  <a:t>$18$</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18</m:t>
                    </m:r>
                  </m:oMath>
                </a14:m>
                <a:r>
                  <a:rPr sz="2800" b="1">
                    <a:solidFill>
                      <a:srgbClr val="15803D"/>
                    </a:solidFill>
                    <a:latin typeface="Arial"/>
                  </a:rPr>
                  <a:t> (</a:t>
                </a:r>
                <a14:m>
                  <m:oMath xmlns:m="http://schemas.openxmlformats.org/officeDocument/2006/math">
                    <m:r>
                      <a:rPr lang="en-IN" sz="2800" i="1">
                        <a:solidFill>
                          <a:srgbClr val="15803D"/>
                        </a:solidFill>
                        <a:latin typeface="Cambria Math" panose="02040503050406030204" pitchFamily="18" charset="0"/>
                      </a:rPr>
                      <m:t>α</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β</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9</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γ</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r>
                  <a:rPr sz="2800" b="1">
                    <a:solidFill>
                      <a:srgbClr val="15803D"/>
                    </a:solidFill>
                    <a:latin typeface="Arial"/>
                  </a:rPr>
                  <a:t>)</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$18$</a:t>
                </a:r>
                <a:r>
                  <a:rPr sz="2800" b="1">
                    <a:solidFill>
                      <a:srgbClr val="15803D"/>
                    </a:solidFill>
                    <a:latin typeface="Arial"/>
                  </a:rPr>
                  <a:t> (</a:t>
                </a:r>
                <a:r>
                  <a:rPr lang="en-IN" sz="2800">
                    <a:solidFill>
                      <a:srgbClr val="15803D"/>
                    </a:solidFill>
                    <a:latin typeface="Cambria Math" panose="02040503050406030204" pitchFamily="18" charset="0"/>
                  </a:rPr>
                  <a:t>$\alpha=7,\ \beta=9,\ \gamma=2$</a:t>
                </a:r>
                <a:r>
                  <a:rPr sz="2800" b="1">
                    <a:solidFill>
                      <a:srgbClr val="15803D"/>
                    </a:solidFill>
                    <a:latin typeface="Arial"/>
                  </a:rPr>
                  <a:t>)</a:t>
                </a:r>
                <a:endParaRPr sz="2800">
                  <a:solidFill>
                    <a:srgbClr val="15803D"/>
                  </a:solidFill>
                </a:endParaRP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is a diameter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 side equal to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oMath>
                </a14:m>
                <a:r>
                  <a:rPr sz="2400" b="0">
                    <a:solidFill>
                      <a:srgbClr val="111827"/>
                    </a:solidFill>
                    <a:latin typeface="Arial"/>
                  </a:rPr>
                  <a:t> signals a right angle opposite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triangle right-angled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 bisector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has length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num>
                      <m:den>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den>
                    </m:f>
                  </m:oMath>
                </a14:m>
                <a:r>
                  <a:rPr sz="2400" b="0">
                    <a:solidFill>
                      <a:srgbClr val="111827"/>
                    </a:solidFill>
                    <a:latin typeface="Arial"/>
                  </a:rPr>
                  <a:t> and the bisector of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has length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num>
                      <m:den>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bisector foot: the bisector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meets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Denesting: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𝑞</m:t>
                            </m:r>
                          </m:e>
                        </m:rad>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num>
                          <m:den>
                            <m:r>
                              <a:rPr lang="en-IN" sz="2400" i="1">
                                <a:solidFill>
                                  <a:srgbClr val="111827"/>
                                </a:solidFill>
                                <a:latin typeface="Cambria Math" panose="02040503050406030204" pitchFamily="18" charset="0"/>
                              </a:rPr>
                              <m:t>2</m:t>
                            </m:r>
                          </m:den>
                        </m:f>
                      </m:e>
                    </m:rad>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e>
                    </m:rad>
                  </m:oMath>
                </a14:m>
                <a:r>
                  <a:rPr sz="2400" b="0">
                    <a:solidFill>
                      <a:srgbClr val="111827"/>
                    </a:solidFill>
                    <a:latin typeface="Arial"/>
                  </a:rPr>
                  <a:t>; here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 a{2R}=\sin A=1$</a:t>
                </a:r>
                <a:r>
                  <a:rPr sz="2400" b="0">
                    <a:solidFill>
                      <a:srgbClr val="111827"/>
                    </a:solidFill>
                    <a:latin typeface="Arial"/>
                  </a:rPr>
                  <a:t> means </a:t>
                </a:r>
                <a:r>
                  <a:rPr lang="en-IN" sz="2400">
                    <a:solidFill>
                      <a:srgbClr val="111827"/>
                    </a:solidFill>
                    <a:latin typeface="Cambria Math" panose="02040503050406030204" pitchFamily="18" charset="0"/>
                  </a:rPr>
                  <a:t>$a$</a:t>
                </a:r>
                <a:r>
                  <a:rPr sz="2400" b="0">
                    <a:solidFill>
                      <a:srgbClr val="111827"/>
                    </a:solidFill>
                    <a:latin typeface="Arial"/>
                  </a:rPr>
                  <a:t> is a diameter and </a:t>
                </a:r>
                <a:r>
                  <a:rPr lang="en-IN" sz="2400">
                    <a:solidFill>
                      <a:srgbClr val="111827"/>
                    </a:solidFill>
                    <a:latin typeface="Cambria Math" panose="02040503050406030204" pitchFamily="18" charset="0"/>
                  </a:rPr>
                  <a:t>$A=90^\circ$</a:t>
                </a:r>
                <a:r>
                  <a:rPr sz="2400" b="0">
                    <a:solidFill>
                      <a:srgbClr val="111827"/>
                    </a:solidFill>
                    <a:latin typeface="Arial"/>
                  </a:rPr>
                  <a:t>: a side equal to </a:t>
                </a:r>
                <a:r>
                  <a:rPr lang="en-IN" sz="2400">
                    <a:solidFill>
                      <a:srgbClr val="111827"/>
                    </a:solidFill>
                    <a:latin typeface="Cambria Math" panose="02040503050406030204" pitchFamily="18" charset="0"/>
                  </a:rPr>
                  <a:t>$2R$</a:t>
                </a:r>
                <a:r>
                  <a:rPr sz="2400" b="0">
                    <a:solidFill>
                      <a:srgbClr val="111827"/>
                    </a:solidFill>
                    <a:latin typeface="Arial"/>
                  </a:rPr>
                  <a:t> signals a right angle opposite 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triangle right-angled at </a:t>
                </a:r>
                <a:r>
                  <a:rPr lang="en-IN" sz="2400">
                    <a:solidFill>
                      <a:srgbClr val="111827"/>
                    </a:solidFill>
                    <a:latin typeface="Cambria Math" panose="02040503050406030204" pitchFamily="18" charset="0"/>
                  </a:rPr>
                  <a:t>$A$</a:t>
                </a:r>
                <a:r>
                  <a:rPr sz="2400" b="0">
                    <a:solidFill>
                      <a:srgbClr val="111827"/>
                    </a:solidFill>
                    <a:latin typeface="Arial"/>
                  </a:rPr>
                  <a:t>, the bisector of </a:t>
                </a:r>
                <a:r>
                  <a:rPr lang="en-IN" sz="2400">
                    <a:solidFill>
                      <a:srgbClr val="111827"/>
                    </a:solidFill>
                    <a:latin typeface="Cambria Math" panose="02040503050406030204" pitchFamily="18" charset="0"/>
                  </a:rPr>
                  <a:t>$B$</a:t>
                </a:r>
                <a:r>
                  <a:rPr sz="2400" b="0">
                    <a:solidFill>
                      <a:srgbClr val="111827"/>
                    </a:solidFill>
                    <a:latin typeface="Arial"/>
                  </a:rPr>
                  <a:t> has length </a:t>
                </a:r>
                <a:r>
                  <a:rPr lang="en-IN" sz="2400">
                    <a:solidFill>
                      <a:srgbClr val="111827"/>
                    </a:solidFill>
                    <a:latin typeface="Cambria Math" panose="02040503050406030204" pitchFamily="18" charset="0"/>
                  </a:rPr>
                  <a:t>$\frac{AB}{\cos\frac B2}$</a:t>
                </a:r>
                <a:r>
                  <a:rPr sz="2400" b="0">
                    <a:solidFill>
                      <a:srgbClr val="111827"/>
                    </a:solidFill>
                    <a:latin typeface="Arial"/>
                  </a:rPr>
                  <a:t> and the bisector of </a:t>
                </a:r>
                <a:r>
                  <a:rPr lang="en-IN" sz="2400">
                    <a:solidFill>
                      <a:srgbClr val="111827"/>
                    </a:solidFill>
                    <a:latin typeface="Cambria Math" panose="02040503050406030204" pitchFamily="18" charset="0"/>
                  </a:rPr>
                  <a:t>$C$</a:t>
                </a:r>
                <a:r>
                  <a:rPr sz="2400" b="0">
                    <a:solidFill>
                      <a:srgbClr val="111827"/>
                    </a:solidFill>
                    <a:latin typeface="Arial"/>
                  </a:rPr>
                  <a:t> has length </a:t>
                </a:r>
                <a:r>
                  <a:rPr lang="en-IN" sz="2400">
                    <a:solidFill>
                      <a:srgbClr val="111827"/>
                    </a:solidFill>
                    <a:latin typeface="Cambria Math" panose="02040503050406030204" pitchFamily="18" charset="0"/>
                  </a:rPr>
                  <a:t>$\frac{AC}{\cos\frac 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bisector foot: the bisector from </a:t>
                </a:r>
                <a:r>
                  <a:rPr lang="en-IN" sz="2400">
                    <a:solidFill>
                      <a:srgbClr val="111827"/>
                    </a:solidFill>
                    <a:latin typeface="Cambria Math" panose="02040503050406030204" pitchFamily="18" charset="0"/>
                  </a:rPr>
                  <a:t>$B$</a:t>
                </a:r>
                <a:r>
                  <a:rPr sz="2400" b="0">
                    <a:solidFill>
                      <a:srgbClr val="111827"/>
                    </a:solidFill>
                    <a:latin typeface="Arial"/>
                  </a:rPr>
                  <a:t> meets </a:t>
                </a:r>
                <a:r>
                  <a:rPr lang="en-IN" sz="2400">
                    <a:solidFill>
                      <a:srgbClr val="111827"/>
                    </a:solidFill>
                    <a:latin typeface="Cambria Math" panose="02040503050406030204" pitchFamily="18" charset="0"/>
                  </a:rPr>
                  <a:t>$AC$</a:t>
                </a:r>
                <a:r>
                  <a:rPr sz="2400" b="0">
                    <a:solidFill>
                      <a:srgbClr val="111827"/>
                    </a:solidFill>
                    <a:latin typeface="Arial"/>
                  </a:rPr>
                  <a:t> at </a:t>
                </a:r>
                <a:r>
                  <a:rPr lang="en-IN" sz="2400">
                    <a:solidFill>
                      <a:srgbClr val="111827"/>
                    </a:solidFill>
                    <a:latin typeface="Cambria Math" panose="02040503050406030204" pitchFamily="18" charset="0"/>
                  </a:rPr>
                  <a:t>$D$</a:t>
                </a:r>
                <a:r>
                  <a:rPr sz="2400" b="0">
                    <a:solidFill>
                      <a:srgbClr val="111827"/>
                    </a:solidFill>
                    <a:latin typeface="Arial"/>
                  </a:rPr>
                  <a:t> with </a:t>
                </a:r>
                <a:r>
                  <a:rPr lang="en-IN" sz="2400">
                    <a:solidFill>
                      <a:srgbClr val="111827"/>
                    </a:solidFill>
                    <a:latin typeface="Cambria Math" panose="02040503050406030204" pitchFamily="18" charset="0"/>
                  </a:rPr>
                  <a:t>$AD=\frac{bc}{a+c}$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Denesting: </a:t>
                </a:r>
                <a:r>
                  <a:rPr lang="en-IN" sz="2400">
                    <a:solidFill>
                      <a:srgbClr val="111827"/>
                    </a:solidFill>
                    <a:latin typeface="Cambria Math" panose="02040503050406030204" pitchFamily="18" charset="0"/>
                  </a:rPr>
                  <a:t>$\sqrt{p+\sqrt q}=\sqrt{\frac{p+d}2}+\sqrt{\frac{p-d}2}$</a:t>
                </a:r>
                <a:r>
                  <a:rPr sz="2400" b="0">
                    <a:solidFill>
                      <a:srgbClr val="111827"/>
                    </a:solidFill>
                    <a:latin typeface="Arial"/>
                  </a:rPr>
                  <a:t> with </a:t>
                </a:r>
                <a:r>
                  <a:rPr lang="en-IN" sz="2400">
                    <a:solidFill>
                      <a:srgbClr val="111827"/>
                    </a:solidFill>
                    <a:latin typeface="Cambria Math" panose="02040503050406030204" pitchFamily="18" charset="0"/>
                  </a:rPr>
                  <a:t>$d=\sqrt{p^2-q}$</a:t>
                </a:r>
                <a:r>
                  <a:rPr sz="2400" b="0">
                    <a:solidFill>
                      <a:srgbClr val="111827"/>
                    </a:solidFill>
                    <a:latin typeface="Arial"/>
                  </a:rPr>
                  <a:t>; here </a:t>
                </a:r>
                <a:r>
                  <a:rPr lang="en-IN" sz="2400">
                    <a:solidFill>
                      <a:srgbClr val="111827"/>
                    </a:solidFill>
                    <a:latin typeface="Cambria Math" panose="02040503050406030204" pitchFamily="18" charset="0"/>
                  </a:rPr>
                  <a:t>$\sqrt{4+\sqrt7}=\frac{\sqrt7+1}{\sqrt2}$</a:t>
                </a:r>
                <a:r>
                  <a:rPr sz="2400" b="0">
                    <a:solidFill>
                      <a:srgbClr val="111827"/>
                    </a:solidFill>
                    <a:latin typeface="Arial"/>
                  </a:rPr>
                  <a:t> (</a:t>
                </a:r>
                <a:r>
                  <a:rPr lang="en-IN" sz="2400">
                    <a:solidFill>
                      <a:srgbClr val="111827"/>
                    </a:solidFill>
                    <a:latin typeface="Cambria Math" panose="02040503050406030204" pitchFamily="18" charset="0"/>
                  </a:rPr>
                  <a:t>$d=3$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is a rhombus. The circumradii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12.5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25</m:t>
                    </m:r>
                  </m:oMath>
                </a14:m>
                <a:r>
                  <a:rPr sz="2400" b="0">
                    <a:solidFill>
                      <a:srgbClr val="111827"/>
                    </a:solidFill>
                    <a:latin typeface="Arial"/>
                  </a:rPr>
                  <a:t> respectively. Find the area of the rhombus.</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$ABCD$</a:t>
                </a:r>
                <a:r>
                  <a:rPr sz="2400" b="0">
                    <a:solidFill>
                      <a:srgbClr val="111827"/>
                    </a:solidFill>
                    <a:latin typeface="Arial"/>
                  </a:rPr>
                  <a:t> is a rhombus. The circumradii of </a:t>
                </a:r>
                <a:r>
                  <a:rPr lang="en-IN" sz="2400">
                    <a:solidFill>
                      <a:srgbClr val="111827"/>
                    </a:solidFill>
                    <a:latin typeface="Cambria Math" panose="02040503050406030204" pitchFamily="18" charset="0"/>
                  </a:rPr>
                  <a:t>$\triangle ABD$</a:t>
                </a:r>
                <a:r>
                  <a:rPr sz="2400" b="0">
                    <a:solidFill>
                      <a:srgbClr val="111827"/>
                    </a:solidFill>
                    <a:latin typeface="Arial"/>
                  </a:rPr>
                  <a:t> and </a:t>
                </a:r>
                <a:r>
                  <a:rPr lang="en-IN" sz="2400">
                    <a:solidFill>
                      <a:srgbClr val="111827"/>
                    </a:solidFill>
                    <a:latin typeface="Cambria Math" panose="02040503050406030204" pitchFamily="18" charset="0"/>
                  </a:rPr>
                  <a:t>$\triangle ACD$</a:t>
                </a:r>
                <a:r>
                  <a:rPr sz="2400" b="0">
                    <a:solidFill>
                      <a:srgbClr val="111827"/>
                    </a:solidFill>
                    <a:latin typeface="Arial"/>
                  </a:rPr>
                  <a:t> are </a:t>
                </a:r>
                <a:r>
                  <a:rPr lang="en-IN" sz="2400">
                    <a:solidFill>
                      <a:srgbClr val="111827"/>
                    </a:solidFill>
                    <a:latin typeface="Cambria Math" panose="02040503050406030204" pitchFamily="18" charset="0"/>
                  </a:rPr>
                  <a:t>$12.5$</a:t>
                </a:r>
                <a:r>
                  <a:rPr sz="2400" b="0">
                    <a:solidFill>
                      <a:srgbClr val="111827"/>
                    </a:solidFill>
                    <a:latin typeface="Arial"/>
                  </a:rPr>
                  <a:t> and </a:t>
                </a:r>
                <a:r>
                  <a:rPr lang="en-IN" sz="2400">
                    <a:solidFill>
                      <a:srgbClr val="111827"/>
                    </a:solidFill>
                    <a:latin typeface="Cambria Math" panose="02040503050406030204" pitchFamily="18" charset="0"/>
                  </a:rPr>
                  <a:t>$25$</a:t>
                </a:r>
                <a:r>
                  <a:rPr sz="2400" b="0">
                    <a:solidFill>
                      <a:srgbClr val="111827"/>
                    </a:solidFill>
                    <a:latin typeface="Arial"/>
                  </a:rPr>
                  <a:t> respectively. Find the area of the rhombus.</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Circumradius of triangles formed by the diagonals of a rhombus, Properties of a rhombus and half-angle formulas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sine rule in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𝐷</m:t>
                    </m:r>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then </a:t>
                </a:r>
                <a14:m>
                  <m:oMath xmlns:m="http://schemas.openxmlformats.org/officeDocument/2006/math">
                    <m:r>
                      <m:rPr>
                        <m:sty m:val="p"/>
                      </m:rPr>
                      <a:rPr lang="en-IN" sz="2400">
                        <a:solidFill>
                          <a:srgbClr val="78350F"/>
                        </a:solidFill>
                        <a:latin typeface="Cambria Math" panose="02040503050406030204" pitchFamily="18" charset="0"/>
                      </a:rPr>
                      <m:t>tan</m:t>
                    </m:r>
                    <m:f>
                      <m:fPr>
                        <m:type m:val="bar"/>
                        <m:ctrlPr>
                          <a:rPr lang="en-IN" sz="2400" i="1">
                            <a:solidFill>
                              <a:srgbClr val="78350F"/>
                            </a:solidFill>
                            <a:latin typeface="Cambria Math" panose="02040503050406030204" pitchFamily="18" charset="0"/>
                          </a:rPr>
                        </m:ctrlPr>
                      </m:fPr>
                      <m:num>
                        <m:sSub>
                          <m:e>
                            <m:r>
                              <a:rPr lang="en-IN" sz="2400" i="1">
                                <a:solidFill>
                                  <a:srgbClr val="78350F"/>
                                </a:solidFill>
                                <a:latin typeface="Cambria Math" panose="02040503050406030204" pitchFamily="18" charset="0"/>
                              </a:rPr>
                              <m:t>θ</m:t>
                            </m:r>
                          </m:e>
                          <m:sub>
                            <m:r>
                              <a:rPr lang="en-IN" sz="2400" i="1">
                                <a:solidFill>
                                  <a:srgbClr val="78350F"/>
                                </a:solidFill>
                                <a:latin typeface="Cambria Math" panose="02040503050406030204" pitchFamily="18" charset="0"/>
                              </a:rPr>
                              <m:t>1</m:t>
                            </m:r>
                          </m:sub>
                        </m:sSub>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num>
                      <m:den>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den>
                    </m:f>
                  </m:oMath>
                </a14:m>
                <a:r>
                  <a:rPr sz="2400" b="0">
                    <a:solidFill>
                      <a:srgbClr val="78350F"/>
                    </a:solidFill>
                    <a:latin typeface="Arial"/>
                  </a:rPr>
                  <a:t> fixes </a:t>
                </a:r>
                <a14:m>
                  <m:oMath xmlns:m="http://schemas.openxmlformats.org/officeDocument/2006/math">
                    <m:r>
                      <m:rPr>
                        <m:sty m:val="p"/>
                      </m:rPr>
                      <a:rPr lang="en-IN" sz="2400">
                        <a:solidFill>
                          <a:srgbClr val="78350F"/>
                        </a:solidFill>
                        <a:latin typeface="Cambria Math" panose="02040503050406030204" pitchFamily="18" charset="0"/>
                      </a:rPr>
                      <m:t>sin</m:t>
                    </m:r>
                    <m:sSub>
                      <m:e>
                        <m:r>
                          <a:rPr lang="en-IN" sz="2400" i="1">
                            <a:solidFill>
                              <a:srgbClr val="78350F"/>
                            </a:solidFill>
                            <a:latin typeface="Cambria Math" panose="02040503050406030204" pitchFamily="18" charset="0"/>
                          </a:rPr>
                          <m:t>θ</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sine rule in </a:t>
                </a:r>
                <a:r>
                  <a:rPr lang="en-IN" sz="2400">
                    <a:solidFill>
                      <a:srgbClr val="78350F"/>
                    </a:solidFill>
                    <a:latin typeface="Cambria Math" panose="02040503050406030204" pitchFamily="18" charset="0"/>
                  </a:rPr>
                  <a:t>$\triangle ABD$</a:t>
                </a:r>
                <a:r>
                  <a:rPr sz="2400" b="0">
                    <a:solidFill>
                      <a:srgbClr val="78350F"/>
                    </a:solidFill>
                    <a:latin typeface="Arial"/>
                  </a:rPr>
                  <a:t> and </a:t>
                </a:r>
                <a:r>
                  <a:rPr lang="en-IN" sz="2400">
                    <a:solidFill>
                      <a:srgbClr val="78350F"/>
                    </a:solidFill>
                    <a:latin typeface="Cambria Math" panose="02040503050406030204" pitchFamily="18" charset="0"/>
                  </a:rPr>
                  <a:t>$\triangle ACD$</a:t>
                </a:r>
                <a:r>
                  <a:rPr sz="2400" b="0">
                    <a:solidFill>
                      <a:srgbClr val="78350F"/>
                    </a:solidFill>
                    <a:latin typeface="Arial"/>
                  </a:rPr>
                  <a:t> gives </a:t>
                </a:r>
                <a:r>
                  <a:rPr lang="en-IN" sz="2400">
                    <a:solidFill>
                      <a:srgbClr val="78350F"/>
                    </a:solidFill>
                    <a:latin typeface="Cambria Math" panose="02040503050406030204" pitchFamily="18" charset="0"/>
                  </a:rPr>
                  <a:t>$BD:AC=1:2$</a:t>
                </a:r>
                <a:r>
                  <a:rPr sz="2400" b="0">
                    <a:solidFill>
                      <a:srgbClr val="78350F"/>
                    </a:solidFill>
                    <a:latin typeface="Arial"/>
                  </a:rPr>
                  <a:t>; then </a:t>
                </a:r>
                <a:r>
                  <a:rPr lang="en-IN" sz="2400">
                    <a:solidFill>
                      <a:srgbClr val="78350F"/>
                    </a:solidFill>
                    <a:latin typeface="Cambria Math" panose="02040503050406030204" pitchFamily="18" charset="0"/>
                  </a:rPr>
                  <a:t>$\tan\frac{\theta_1}2=\frac{BD}{AC}$</a:t>
                </a:r>
                <a:r>
                  <a:rPr sz="2400" b="0">
                    <a:solidFill>
                      <a:srgbClr val="78350F"/>
                    </a:solidFill>
                    <a:latin typeface="Arial"/>
                  </a:rPr>
                  <a:t> fixes </a:t>
                </a:r>
                <a:r>
                  <a:rPr lang="en-IN" sz="2400">
                    <a:solidFill>
                      <a:srgbClr val="78350F"/>
                    </a:solidFill>
                    <a:latin typeface="Cambria Math" panose="02040503050406030204" pitchFamily="18" charset="0"/>
                  </a:rPr>
                  <a:t>$\sin\theta_1$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oMath>
                </a14:m>
                <a:r>
                  <a:rPr sz="2400" b="0">
                    <a:solidFill>
                      <a:srgbClr val="111827"/>
                    </a:solidFill>
                    <a:latin typeface="Arial"/>
                  </a:rPr>
                  <a:t>; adjacent angles of a rhombus satisfy </a:t>
                </a:r>
                <a14:m>
                  <m:oMath xmlns:m="http://schemas.openxmlformats.org/officeDocument/2006/math">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m:rPr>
                            <m:sty m:val="p"/>
                          </m:rPr>
                          <a:rPr lang="en-IN" sz="2400">
                            <a:solidFill>
                              <a:srgbClr val="111827"/>
                            </a:solidFill>
                            <a:latin typeface="Cambria Math" panose="02040503050406030204" pitchFamily="18" charset="0"/>
                          </a:rPr>
                          <m:t>sin</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sin</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num>
                      <m:den>
                        <m:r>
                          <m:rPr>
                            <m:sty m:val="p"/>
                          </m:rPr>
                          <a:rPr lang="en-IN" sz="2400">
                            <a:solidFill>
                              <a:srgbClr val="111827"/>
                            </a:solidFill>
                            <a:latin typeface="Cambria Math" panose="02040503050406030204" pitchFamily="18" charset="0"/>
                          </a:rPr>
                          <m:t>sin</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r>
                      <m:rPr>
                        <m:sty m:val="p"/>
                      </m:rPr>
                      <a:rPr lang="en-IN" sz="2400">
                        <a:solidFill>
                          <a:srgbClr val="111827"/>
                        </a:solidFill>
                        <a:latin typeface="Cambria Math" panose="02040503050406030204" pitchFamily="18" charset="0"/>
                      </a:rPr>
                      <m:t>sin</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50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$BD=p$</a:t>
                </a:r>
                <a:r>
                  <a:rPr sz="2400" b="0">
                    <a:solidFill>
                      <a:srgbClr val="111827"/>
                    </a:solidFill>
                    <a:latin typeface="Arial"/>
                  </a:rPr>
                  <a:t>, </a:t>
                </a:r>
                <a:r>
                  <a:rPr lang="en-IN" sz="2400">
                    <a:solidFill>
                      <a:srgbClr val="111827"/>
                    </a:solidFill>
                    <a:latin typeface="Cambria Math" panose="02040503050406030204" pitchFamily="18" charset="0"/>
                  </a:rPr>
                  <a:t>$AC=q$</a:t>
                </a:r>
                <a:r>
                  <a:rPr sz="2400" b="0">
                    <a:solidFill>
                      <a:srgbClr val="111827"/>
                    </a:solidFill>
                    <a:latin typeface="Arial"/>
                  </a:rPr>
                  <a:t>, </a:t>
                </a:r>
                <a:r>
                  <a:rPr lang="en-IN" sz="2400">
                    <a:solidFill>
                      <a:srgbClr val="111827"/>
                    </a:solidFill>
                    <a:latin typeface="Cambria Math" panose="02040503050406030204" pitchFamily="18" charset="0"/>
                  </a:rPr>
                  <a:t>$\theta_1=\angle BAD$</a:t>
                </a:r>
                <a:r>
                  <a:rPr sz="2400" b="0">
                    <a:solidFill>
                      <a:srgbClr val="111827"/>
                    </a:solidFill>
                    <a:latin typeface="Arial"/>
                  </a:rPr>
                  <a:t> and </a:t>
                </a:r>
                <a:r>
                  <a:rPr lang="en-IN" sz="2400">
                    <a:solidFill>
                      <a:srgbClr val="111827"/>
                    </a:solidFill>
                    <a:latin typeface="Cambria Math" panose="02040503050406030204" pitchFamily="18" charset="0"/>
                  </a:rPr>
                  <a:t>$\theta_2=\angle ADC$</a:t>
                </a:r>
                <a:r>
                  <a:rPr sz="2400" b="0">
                    <a:solidFill>
                      <a:srgbClr val="111827"/>
                    </a:solidFill>
                    <a:latin typeface="Arial"/>
                  </a:rPr>
                  <a:t>; adjacent angles of a rhombus satisfy </a:t>
                </a:r>
                <a:r>
                  <a:rPr lang="en-IN" sz="2400">
                    <a:solidFill>
                      <a:srgbClr val="111827"/>
                    </a:solidFill>
                    <a:latin typeface="Cambria Math" panose="02040503050406030204" pitchFamily="18" charset="0"/>
                  </a:rPr>
                  <a:t>$\theta_1+\theta_2=\pi$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ABD$</a:t>
                </a:r>
                <a:r>
                  <a:rPr sz="2400" b="0">
                    <a:solidFill>
                      <a:srgbClr val="111827"/>
                    </a:solidFill>
                    <a:latin typeface="Arial"/>
                  </a:rPr>
                  <a:t>: </a:t>
                </a:r>
                <a:r>
                  <a:rPr lang="en-IN" sz="2400">
                    <a:solidFill>
                      <a:srgbClr val="111827"/>
                    </a:solidFill>
                    <a:latin typeface="Cambria Math" panose="02040503050406030204" pitchFamily="18" charset="0"/>
                  </a:rPr>
                  <a:t>$\frac p{\sin\theta_1}=2R_1=25$</a:t>
                </a:r>
                <a:r>
                  <a:rPr sz="2400" b="0">
                    <a:solidFill>
                      <a:srgbClr val="111827"/>
                    </a:solidFill>
                    <a:latin typeface="Arial"/>
                  </a:rPr>
                  <a:t>, so </a:t>
                </a:r>
                <a:r>
                  <a:rPr lang="en-IN" sz="2400">
                    <a:solidFill>
                      <a:srgbClr val="111827"/>
                    </a:solidFill>
                    <a:latin typeface="Cambria Math" panose="02040503050406030204" pitchFamily="18" charset="0"/>
                  </a:rPr>
                  <a:t>$p=25\sin\theta_1$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ACD$</a:t>
                </a:r>
                <a:r>
                  <a:rPr sz="2400" b="0">
                    <a:solidFill>
                      <a:srgbClr val="111827"/>
                    </a:solidFill>
                    <a:latin typeface="Arial"/>
                  </a:rPr>
                  <a:t>: </a:t>
                </a:r>
                <a:r>
                  <a:rPr lang="en-IN" sz="2400">
                    <a:solidFill>
                      <a:srgbClr val="111827"/>
                    </a:solidFill>
                    <a:latin typeface="Cambria Math" panose="02040503050406030204" pitchFamily="18" charset="0"/>
                  </a:rPr>
                  <a:t>$\frac q{\sin\theta_2}=2R_2=50$</a:t>
                </a:r>
                <a:r>
                  <a:rPr sz="2400" b="0">
                    <a:solidFill>
                      <a:srgbClr val="111827"/>
                    </a:solidFill>
                    <a:latin typeface="Arial"/>
                  </a:rPr>
                  <a:t>, so </a:t>
                </a:r>
                <a:r>
                  <a:rPr lang="en-IN" sz="2400">
                    <a:solidFill>
                      <a:srgbClr val="111827"/>
                    </a:solidFill>
                    <a:latin typeface="Cambria Math" panose="02040503050406030204" pitchFamily="18" charset="0"/>
                  </a:rPr>
                  <a:t>$q=50\sin\theta_2$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$\sin\theta_2=\sin(\pi-\theta_1)=\sin\theta_1$</a:t>
                </a:r>
                <a:r>
                  <a:rPr sz="2400" b="0">
                    <a:solidFill>
                      <a:srgbClr val="111827"/>
                    </a:solidFill>
                    <a:latin typeface="Arial"/>
                  </a:rPr>
                  <a:t>, so </a:t>
                </a:r>
                <a:r>
                  <a:rPr lang="en-IN" sz="2400">
                    <a:solidFill>
                      <a:srgbClr val="111827"/>
                    </a:solidFill>
                    <a:latin typeface="Cambria Math" panose="02040503050406030204" pitchFamily="18" charset="0"/>
                  </a:rPr>
                  <a:t>$\frac pq=\frac{25}{50}=\frac12$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diagonals meet at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at right angles.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𝑀</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𝑀</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2</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the rhombus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oMath>
                </a14:m>
                <a:r>
                  <a:rPr sz="2400" b="0">
                    <a:solidFill>
                      <a:srgbClr val="111827"/>
                    </a:solidFill>
                    <a:latin typeface="Arial"/>
                  </a:rPr>
                  <a:t> sq. units.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diagonals meet at </a:t>
                </a:r>
                <a:r>
                  <a:rPr lang="en-IN" sz="2400">
                    <a:solidFill>
                      <a:srgbClr val="111827"/>
                    </a:solidFill>
                    <a:latin typeface="Cambria Math" panose="02040503050406030204" pitchFamily="18" charset="0"/>
                  </a:rPr>
                  <a:t>$M$</a:t>
                </a:r>
                <a:r>
                  <a:rPr sz="2400" b="0">
                    <a:solidFill>
                      <a:srgbClr val="111827"/>
                    </a:solidFill>
                    <a:latin typeface="Arial"/>
                  </a:rPr>
                  <a:t> at right angles. In </a:t>
                </a:r>
                <a:r>
                  <a:rPr lang="en-IN" sz="2400">
                    <a:solidFill>
                      <a:srgbClr val="111827"/>
                    </a:solidFill>
                    <a:latin typeface="Cambria Math" panose="02040503050406030204" pitchFamily="18" charset="0"/>
                  </a:rPr>
                  <a:t>$\triangle AMD$</a:t>
                </a:r>
                <a:r>
                  <a:rPr sz="2400" b="0">
                    <a:solidFill>
                      <a:srgbClr val="111827"/>
                    </a:solidFill>
                    <a:latin typeface="Arial"/>
                  </a:rPr>
                  <a:t>: </a:t>
                </a:r>
                <a:r>
                  <a:rPr lang="en-IN" sz="2400">
                    <a:solidFill>
                      <a:srgbClr val="111827"/>
                    </a:solidFill>
                    <a:latin typeface="Cambria Math" panose="02040503050406030204" pitchFamily="18" charset="0"/>
                  </a:rPr>
                  <a:t>$\frac{\theta_1}2+\frac{\theta_2}2=\frac\pi2$</a:t>
                </a:r>
                <a:r>
                  <a:rPr sz="2400" b="0">
                    <a:solidFill>
                      <a:srgbClr val="111827"/>
                    </a:solidFill>
                    <a:latin typeface="Arial"/>
                  </a:rPr>
                  <a:t> and </a:t>
                </a:r>
                <a:r>
                  <a:rPr lang="en-IN" sz="2400">
                    <a:solidFill>
                      <a:srgbClr val="111827"/>
                    </a:solidFill>
                    <a:latin typeface="Cambria Math" panose="02040503050406030204" pitchFamily="18" charset="0"/>
                  </a:rPr>
                  <a:t>$\tan\frac{\theta_1}2=\frac{DM}{AM}=\frac{p/2}{q/2}=\frac pq=\frac12$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$\sin\theta_1=\frac{2\tan\frac{\theta_1}2}{1+\tan^2\frac{\theta_1}2}=\frac{1}{1+\frac14}=\frac45$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$p=25\cdot\frac45=20$</a:t>
                </a:r>
                <a:r>
                  <a:rPr sz="2400" b="0">
                    <a:solidFill>
                      <a:srgbClr val="111827"/>
                    </a:solidFill>
                    <a:latin typeface="Arial"/>
                  </a:rPr>
                  <a:t> and </a:t>
                </a:r>
                <a:r>
                  <a:rPr lang="en-IN" sz="2400">
                    <a:solidFill>
                      <a:srgbClr val="111827"/>
                    </a:solidFill>
                    <a:latin typeface="Cambria Math" panose="02040503050406030204" pitchFamily="18" charset="0"/>
                  </a:rPr>
                  <a:t>$q=2p=40$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the rhombus </a:t>
                </a:r>
                <a:r>
                  <a:rPr lang="en-IN" sz="2400">
                    <a:solidFill>
                      <a:srgbClr val="111827"/>
                    </a:solidFill>
                    <a:latin typeface="Cambria Math" panose="02040503050406030204" pitchFamily="18" charset="0"/>
                  </a:rPr>
                  <a:t>$=\frac12pq=\frac12\cdot20\cdot40=400$</a:t>
                </a:r>
                <a:r>
                  <a:rPr sz="2400" b="0">
                    <a:solidFill>
                      <a:srgbClr val="111827"/>
                    </a:solidFill>
                    <a:latin typeface="Arial"/>
                  </a:rPr>
                  <a:t> sq. units.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400</m:t>
                    </m:r>
                  </m:oMath>
                </a14:m>
                <a:r>
                  <a:rPr sz="2800" b="1">
                    <a:solidFill>
                      <a:srgbClr val="15803D"/>
                    </a:solidFill>
                    <a:latin typeface="Arial"/>
                  </a:rPr>
                  <a:t> sq. units</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$400$</a:t>
                </a:r>
                <a:r>
                  <a:rPr sz="2800" b="1">
                    <a:solidFill>
                      <a:srgbClr val="15803D"/>
                    </a:solidFill>
                    <a:latin typeface="Arial"/>
                  </a:rPr>
                  <a:t> sq. units</a:t>
                </a:r>
                <a:endParaRPr sz="2800">
                  <a:solidFill>
                    <a:srgbClr val="15803D"/>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 an isosceles triangle </a:t>
                </a:r>
                <a14:m>
                  <m:oMath xmlns:m="http://schemas.openxmlformats.org/officeDocument/2006/math">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m:rPr>
                                <m:nor/>
                              </m:rPr>
                              <a:rPr lang="en-IN" sz="2400" i="1">
                                <a:solidFill>
                                  <a:srgbClr val="78350F"/>
                                </a:solidFill>
                                <a:latin typeface="Cambria Math" panose="02040503050406030204" pitchFamily="18" charset="0"/>
                              </a:rPr>
                              <m:t>𝑒𝑞𝑢𝑎𝑙 𝑠𝑖𝑑𝑒</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nor/>
                          </m:rPr>
                          <a:rPr lang="en-IN" sz="2400" i="1">
                            <a:solidFill>
                              <a:srgbClr val="78350F"/>
                            </a:solidFill>
                            <a:latin typeface="Cambria Math" panose="02040503050406030204" pitchFamily="18" charset="0"/>
                          </a:rPr>
                          <m:t>𝑎𝑙𝑡𝑖𝑡𝑢𝑑𝑒</m:t>
                        </m:r>
                      </m:den>
                    </m:f>
                  </m:oMath>
                </a14:m>
                <a:r>
                  <a:rPr sz="2400" b="0">
                    <a:solidFill>
                      <a:srgbClr val="78350F"/>
                    </a:solidFill>
                    <a:latin typeface="Arial"/>
                  </a:rPr>
                  <a:t>; both circumradii then share the same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 an isosceles triangle </a:t>
                </a:r>
                <a:r>
                  <a:rPr lang="en-IN" sz="2400">
                    <a:solidFill>
                      <a:srgbClr val="78350F"/>
                    </a:solidFill>
                    <a:latin typeface="Cambria Math" panose="02040503050406030204" pitchFamily="18" charset="0"/>
                  </a:rPr>
                  <a:t>$R=\frac{\text{equal side}^2}{2\times\text{altitude}}$</a:t>
                </a:r>
                <a:r>
                  <a:rPr sz="2400" b="0">
                    <a:solidFill>
                      <a:srgbClr val="78350F"/>
                    </a:solidFill>
                    <a:latin typeface="Arial"/>
                  </a:rPr>
                  <a:t>; both circumradii then share the same </a:t>
                </a:r>
                <a:r>
                  <a:rPr lang="en-IN" sz="2400">
                    <a:solidFill>
                      <a:srgbClr val="78350F"/>
                    </a:solidFill>
                    <a:latin typeface="Cambria Math" panose="02040503050406030204" pitchFamily="18" charset="0"/>
                  </a:rPr>
                  <a:t>$a^2$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half-diagonals be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𝑀</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𝑀</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𝑢</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𝑣</m:t>
                    </m:r>
                  </m:oMath>
                </a14:m>
                <a:r>
                  <a:rPr sz="2400" b="0">
                    <a:solidFill>
                      <a:srgbClr val="111827"/>
                    </a:solidFill>
                    <a:latin typeface="Arial"/>
                  </a:rPr>
                  <a:t> and the side is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with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is isosceles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with base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𝑣</m:t>
                    </m:r>
                  </m:oMath>
                </a14:m>
                <a:r>
                  <a:rPr sz="2400" b="0">
                    <a:solidFill>
                      <a:srgbClr val="111827"/>
                    </a:solidFill>
                    <a:latin typeface="Arial"/>
                  </a:rPr>
                  <a:t> and altitude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𝑣</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𝑢</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is isosceles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with base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𝑢</m:t>
                    </m:r>
                  </m:oMath>
                </a14:m>
                <a:r>
                  <a:rPr sz="2400" b="0">
                    <a:solidFill>
                      <a:srgbClr val="111827"/>
                    </a:solidFill>
                    <a:latin typeface="Arial"/>
                  </a:rPr>
                  <a:t> and altitude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𝑣</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half-diagonals be </a:t>
                </a:r>
                <a:r>
                  <a:rPr lang="en-IN" sz="2400">
                    <a:solidFill>
                      <a:srgbClr val="111827"/>
                    </a:solidFill>
                    <a:latin typeface="Cambria Math" panose="02040503050406030204" pitchFamily="18" charset="0"/>
                  </a:rPr>
                  <a:t>$u=AM$</a:t>
                </a:r>
                <a:r>
                  <a:rPr sz="2400" b="0">
                    <a:solidFill>
                      <a:srgbClr val="111827"/>
                    </a:solidFill>
                    <a:latin typeface="Arial"/>
                  </a:rPr>
                  <a:t> and </a:t>
                </a:r>
                <a:r>
                  <a:rPr lang="en-IN" sz="2400">
                    <a:solidFill>
                      <a:srgbClr val="111827"/>
                    </a:solidFill>
                    <a:latin typeface="Cambria Math" panose="02040503050406030204" pitchFamily="18" charset="0"/>
                  </a:rPr>
                  <a:t>$v=DM$</a:t>
                </a:r>
                <a:r>
                  <a:rPr sz="2400" b="0">
                    <a:solidFill>
                      <a:srgbClr val="111827"/>
                    </a:solidFill>
                    <a:latin typeface="Arial"/>
                  </a:rPr>
                  <a:t>, so </a:t>
                </a:r>
                <a:r>
                  <a:rPr lang="en-IN" sz="2400">
                    <a:solidFill>
                      <a:srgbClr val="111827"/>
                    </a:solidFill>
                    <a:latin typeface="Cambria Math" panose="02040503050406030204" pitchFamily="18" charset="0"/>
                  </a:rPr>
                  <a:t>$AC=2u$</a:t>
                </a:r>
                <a:r>
                  <a:rPr sz="2400" b="0">
                    <a:solidFill>
                      <a:srgbClr val="111827"/>
                    </a:solidFill>
                    <a:latin typeface="Arial"/>
                  </a:rPr>
                  <a:t>, </a:t>
                </a:r>
                <a:r>
                  <a:rPr lang="en-IN" sz="2400">
                    <a:solidFill>
                      <a:srgbClr val="111827"/>
                    </a:solidFill>
                    <a:latin typeface="Cambria Math" panose="02040503050406030204" pitchFamily="18" charset="0"/>
                  </a:rPr>
                  <a:t>$BD=2v$</a:t>
                </a:r>
                <a:r>
                  <a:rPr sz="2400" b="0">
                    <a:solidFill>
                      <a:srgbClr val="111827"/>
                    </a:solidFill>
                    <a:latin typeface="Arial"/>
                  </a:rPr>
                  <a:t> and the side is </a:t>
                </a:r>
                <a:r>
                  <a:rPr lang="en-IN" sz="2400">
                    <a:solidFill>
                      <a:srgbClr val="111827"/>
                    </a:solidFill>
                    <a:latin typeface="Cambria Math" panose="02040503050406030204" pitchFamily="18" charset="0"/>
                  </a:rPr>
                  <a:t>$a$</a:t>
                </a:r>
                <a:r>
                  <a:rPr sz="2400" b="0">
                    <a:solidFill>
                      <a:srgbClr val="111827"/>
                    </a:solidFill>
                    <a:latin typeface="Arial"/>
                  </a:rPr>
                  <a:t> with </a:t>
                </a:r>
                <a:r>
                  <a:rPr lang="en-IN" sz="2400">
                    <a:solidFill>
                      <a:srgbClr val="111827"/>
                    </a:solidFill>
                    <a:latin typeface="Cambria Math" panose="02040503050406030204" pitchFamily="18" charset="0"/>
                  </a:rPr>
                  <a:t>$a^2=u^2+v^2$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$\triangle ABD$</a:t>
                </a:r>
                <a:r>
                  <a:rPr sz="2400" b="0">
                    <a:solidFill>
                      <a:srgbClr val="111827"/>
                    </a:solidFill>
                    <a:latin typeface="Arial"/>
                  </a:rPr>
                  <a:t> is isosceles (</a:t>
                </a:r>
                <a:r>
                  <a:rPr lang="en-IN" sz="2400">
                    <a:solidFill>
                      <a:srgbClr val="111827"/>
                    </a:solidFill>
                    <a:latin typeface="Cambria Math" panose="02040503050406030204" pitchFamily="18" charset="0"/>
                  </a:rPr>
                  <a:t>$AB=AD=a$</a:t>
                </a:r>
                <a:r>
                  <a:rPr sz="2400" b="0">
                    <a:solidFill>
                      <a:srgbClr val="111827"/>
                    </a:solidFill>
                    <a:latin typeface="Arial"/>
                  </a:rPr>
                  <a:t>) with base </a:t>
                </a:r>
                <a:r>
                  <a:rPr lang="en-IN" sz="2400">
                    <a:solidFill>
                      <a:srgbClr val="111827"/>
                    </a:solidFill>
                    <a:latin typeface="Cambria Math" panose="02040503050406030204" pitchFamily="18" charset="0"/>
                  </a:rPr>
                  <a:t>$2v$</a:t>
                </a:r>
                <a:r>
                  <a:rPr sz="2400" b="0">
                    <a:solidFill>
                      <a:srgbClr val="111827"/>
                    </a:solidFill>
                    <a:latin typeface="Arial"/>
                  </a:rPr>
                  <a:t> and altitude </a:t>
                </a:r>
                <a:r>
                  <a:rPr lang="en-IN" sz="2400">
                    <a:solidFill>
                      <a:srgbClr val="111827"/>
                    </a:solidFill>
                    <a:latin typeface="Cambria Math" panose="02040503050406030204" pitchFamily="18" charset="0"/>
                  </a:rPr>
                  <a:t>$AM=u$</a:t>
                </a:r>
                <a:r>
                  <a:rPr sz="2400" b="0">
                    <a:solidFill>
                      <a:srgbClr val="111827"/>
                    </a:solidFill>
                    <a:latin typeface="Arial"/>
                  </a:rPr>
                  <a:t>: </a:t>
                </a:r>
                <a:r>
                  <a:rPr lang="en-IN" sz="2400">
                    <a:solidFill>
                      <a:srgbClr val="111827"/>
                    </a:solidFill>
                    <a:latin typeface="Cambria Math" panose="02040503050406030204" pitchFamily="18" charset="0"/>
                  </a:rPr>
                  <a:t>$R_1=\frac{abc}{4\Delta}=\frac{a\cdot a\cdot2v}{4uv}=\frac{a^2}{2u}$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$\triangle ACD$</a:t>
                </a:r>
                <a:r>
                  <a:rPr sz="2400" b="0">
                    <a:solidFill>
                      <a:srgbClr val="111827"/>
                    </a:solidFill>
                    <a:latin typeface="Arial"/>
                  </a:rPr>
                  <a:t> is isosceles (</a:t>
                </a:r>
                <a:r>
                  <a:rPr lang="en-IN" sz="2400">
                    <a:solidFill>
                      <a:srgbClr val="111827"/>
                    </a:solidFill>
                    <a:latin typeface="Cambria Math" panose="02040503050406030204" pitchFamily="18" charset="0"/>
                  </a:rPr>
                  <a:t>$DA=DC=a$</a:t>
                </a:r>
                <a:r>
                  <a:rPr sz="2400" b="0">
                    <a:solidFill>
                      <a:srgbClr val="111827"/>
                    </a:solidFill>
                    <a:latin typeface="Arial"/>
                  </a:rPr>
                  <a:t>) with base </a:t>
                </a:r>
                <a:r>
                  <a:rPr lang="en-IN" sz="2400">
                    <a:solidFill>
                      <a:srgbClr val="111827"/>
                    </a:solidFill>
                    <a:latin typeface="Cambria Math" panose="02040503050406030204" pitchFamily="18" charset="0"/>
                  </a:rPr>
                  <a:t>$2u$</a:t>
                </a:r>
                <a:r>
                  <a:rPr sz="2400" b="0">
                    <a:solidFill>
                      <a:srgbClr val="111827"/>
                    </a:solidFill>
                    <a:latin typeface="Arial"/>
                  </a:rPr>
                  <a:t> and altitude </a:t>
                </a:r>
                <a:r>
                  <a:rPr lang="en-IN" sz="2400">
                    <a:solidFill>
                      <a:srgbClr val="111827"/>
                    </a:solidFill>
                    <a:latin typeface="Cambria Math" panose="02040503050406030204" pitchFamily="18" charset="0"/>
                  </a:rPr>
                  <a:t>$DM=v$</a:t>
                </a:r>
                <a:r>
                  <a:rPr sz="2400" b="0">
                    <a:solidFill>
                      <a:srgbClr val="111827"/>
                    </a:solidFill>
                    <a:latin typeface="Arial"/>
                  </a:rPr>
                  <a:t>: </a:t>
                </a:r>
                <a:r>
                  <a:rPr lang="en-IN" sz="2400">
                    <a:solidFill>
                      <a:srgbClr val="111827"/>
                    </a:solidFill>
                    <a:latin typeface="Cambria Math" panose="02040503050406030204" pitchFamily="18" charset="0"/>
                  </a:rPr>
                  <a:t>$R_2=\frac{a^2}{2v}$</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𝑢</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𝑣</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25</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50</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𝑣</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50</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𝑣</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50</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$\frac{a^2}{2u}=\frac{25}2$</a:t>
                </a:r>
                <a:r>
                  <a:rPr sz="2400" b="0">
                    <a:solidFill>
                      <a:srgbClr val="111827"/>
                    </a:solidFill>
                    <a:latin typeface="Arial"/>
                  </a:rPr>
                  <a:t> and </a:t>
                </a:r>
                <a:r>
                  <a:rPr lang="en-IN" sz="2400">
                    <a:solidFill>
                      <a:srgbClr val="111827"/>
                    </a:solidFill>
                    <a:latin typeface="Cambria Math" panose="02040503050406030204" pitchFamily="18" charset="0"/>
                  </a:rPr>
                  <a:t>$\frac{a^2}{2v}=25$</a:t>
                </a:r>
                <a:r>
                  <a:rPr sz="2400" b="0">
                    <a:solidFill>
                      <a:srgbClr val="111827"/>
                    </a:solidFill>
                    <a:latin typeface="Arial"/>
                  </a:rPr>
                  <a:t> give </a:t>
                </a:r>
                <a:r>
                  <a:rPr lang="en-IN" sz="2400">
                    <a:solidFill>
                      <a:srgbClr val="111827"/>
                    </a:solidFill>
                    <a:latin typeface="Cambria Math" panose="02040503050406030204" pitchFamily="18" charset="0"/>
                  </a:rPr>
                  <a:t>$u=\frac{a^2}{25}$</a:t>
                </a:r>
                <a:r>
                  <a:rPr sz="2400" b="0">
                    <a:solidFill>
                      <a:srgbClr val="111827"/>
                    </a:solidFill>
                    <a:latin typeface="Arial"/>
                  </a:rPr>
                  <a:t>, </a:t>
                </a:r>
                <a:r>
                  <a:rPr lang="en-IN" sz="2400">
                    <a:solidFill>
                      <a:srgbClr val="111827"/>
                    </a:solidFill>
                    <a:latin typeface="Cambria Math" panose="02040503050406030204" pitchFamily="18" charset="0"/>
                  </a:rPr>
                  <a:t>$v=\frac{a^2}{50}$</a:t>
                </a:r>
                <a:r>
                  <a:rPr sz="2400" b="0">
                    <a:solidFill>
                      <a:srgbClr val="111827"/>
                    </a:solidFill>
                    <a:latin typeface="Arial"/>
                  </a:rPr>
                  <a:t>, so </a:t>
                </a:r>
                <a:r>
                  <a:rPr lang="en-IN" sz="2400">
                    <a:solidFill>
                      <a:srgbClr val="111827"/>
                    </a:solidFill>
                    <a:latin typeface="Cambria Math" panose="02040503050406030204" pitchFamily="18" charset="0"/>
                  </a:rPr>
                  <a:t>$u=2v$</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$a^2=u^2+v^2=5v^2$</a:t>
                </a:r>
                <a:r>
                  <a:rPr sz="2400" b="0">
                    <a:solidFill>
                      <a:srgbClr val="111827"/>
                    </a:solidFill>
                    <a:latin typeface="Arial"/>
                  </a:rPr>
                  <a:t> and </a:t>
                </a:r>
                <a:r>
                  <a:rPr lang="en-IN" sz="2400">
                    <a:solidFill>
                      <a:srgbClr val="111827"/>
                    </a:solidFill>
                    <a:latin typeface="Cambria Math" panose="02040503050406030204" pitchFamily="18" charset="0"/>
                  </a:rPr>
                  <a:t>$v=\frac{a^2}{50}=\frac{5v^2}{50}$</a:t>
                </a:r>
                <a:r>
                  <a:rPr sz="2400" b="0">
                    <a:solidFill>
                      <a:srgbClr val="111827"/>
                    </a:solidFill>
                    <a:latin typeface="Arial"/>
                  </a:rPr>
                  <a:t>, so </a:t>
                </a:r>
                <a:r>
                  <a:rPr lang="en-IN" sz="2400">
                    <a:solidFill>
                      <a:srgbClr val="111827"/>
                    </a:solidFill>
                    <a:latin typeface="Cambria Math" panose="02040503050406030204" pitchFamily="18" charset="0"/>
                  </a:rPr>
                  <a:t>$v=10$</a:t>
                </a:r>
                <a:r>
                  <a:rPr sz="2400" b="0">
                    <a:solidFill>
                      <a:srgbClr val="111827"/>
                    </a:solidFill>
                    <a:latin typeface="Arial"/>
                  </a:rPr>
                  <a:t>, </a:t>
                </a:r>
                <a:r>
                  <a:rPr lang="en-IN" sz="2400">
                    <a:solidFill>
                      <a:srgbClr val="111827"/>
                    </a:solidFill>
                    <a:latin typeface="Cambria Math" panose="02040503050406030204" pitchFamily="18" charset="0"/>
                  </a:rPr>
                  <a:t>$u=20$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$=\frac12(2u)(2v)=2uv=2\cdot20\cdot10=400$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400</m:t>
                    </m:r>
                  </m:oMath>
                </a14:m>
                <a:r>
                  <a:rPr sz="2800" b="1">
                    <a:solidFill>
                      <a:srgbClr val="15803D"/>
                    </a:solidFill>
                    <a:latin typeface="Arial"/>
                  </a:rPr>
                  <a:t> sq. units</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$400$</a:t>
                </a:r>
                <a:r>
                  <a:rPr sz="2800" b="1">
                    <a:solidFill>
                      <a:srgbClr val="15803D"/>
                    </a:solidFill>
                    <a:latin typeface="Arial"/>
                  </a:rPr>
                  <a:t> sq. units</a:t>
                </a:r>
                <a:endParaRPr sz="2800">
                  <a:solidFill>
                    <a:srgbClr val="15803D"/>
                  </a:solidFill>
                </a:endParaRPr>
              </a:p>
            </p:txBody>
          </p:sp>
        </mc:Fallback>
      </mc:AlternateContent>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Isosceles triangle with equal sides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altitude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to the base: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ℎ</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rhombus of side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den>
                    </m:f>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sub>
                        </m:sSub>
                      </m:num>
                      <m:den>
                        <m:sSub>
                          <m:e>
                            <m:r>
                              <a:rPr lang="en-IN" sz="2400" i="1">
                                <a:solidFill>
                                  <a:srgbClr val="111827"/>
                                </a:solidFill>
                                <a:latin typeface="Cambria Math" panose="02040503050406030204" pitchFamily="18" charset="0"/>
                              </a:rPr>
                              <m:t>𝑅</m:t>
                            </m:r>
                          </m:e>
                          <m:sub>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den>
                    </m:f>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12.5</m:t>
                        </m:r>
                      </m:num>
                      <m:den>
                        <m:r>
                          <a:rPr lang="en-IN" sz="2400" i="1">
                            <a:solidFill>
                              <a:srgbClr val="111827"/>
                            </a:solidFill>
                            <a:latin typeface="Cambria Math" panose="02040503050406030204" pitchFamily="18" charset="0"/>
                          </a:rPr>
                          <m:t>25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𝐷</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here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Isosceles triangle with equal sides </a:t>
                </a:r>
                <a:r>
                  <a:rPr lang="en-IN" sz="2400">
                    <a:solidFill>
                      <a:srgbClr val="111827"/>
                    </a:solidFill>
                    <a:latin typeface="Cambria Math" panose="02040503050406030204" pitchFamily="18" charset="0"/>
                  </a:rPr>
                  <a:t>$a$</a:t>
                </a:r>
                <a:r>
                  <a:rPr sz="2400" b="0">
                    <a:solidFill>
                      <a:srgbClr val="111827"/>
                    </a:solidFill>
                    <a:latin typeface="Arial"/>
                  </a:rPr>
                  <a:t> and altitude </a:t>
                </a:r>
                <a:r>
                  <a:rPr lang="en-IN" sz="2400">
                    <a:solidFill>
                      <a:srgbClr val="111827"/>
                    </a:solidFill>
                    <a:latin typeface="Cambria Math" panose="02040503050406030204" pitchFamily="18" charset="0"/>
                  </a:rPr>
                  <a:t>$h$</a:t>
                </a:r>
                <a:r>
                  <a:rPr sz="2400" b="0">
                    <a:solidFill>
                      <a:srgbClr val="111827"/>
                    </a:solidFill>
                    <a:latin typeface="Arial"/>
                  </a:rPr>
                  <a:t> to the base: </a:t>
                </a:r>
                <a:r>
                  <a:rPr lang="en-IN" sz="2400">
                    <a:solidFill>
                      <a:srgbClr val="111827"/>
                    </a:solidFill>
                    <a:latin typeface="Cambria Math" panose="02040503050406030204" pitchFamily="18" charset="0"/>
                  </a:rPr>
                  <a:t>$R=\frac{a^2}{2h}$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rhombus of side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$R_{ABD}=\frac{a^2}{AC}$</a:t>
                </a:r>
                <a:r>
                  <a:rPr sz="2400" b="0">
                    <a:solidFill>
                      <a:srgbClr val="111827"/>
                    </a:solidFill>
                    <a:latin typeface="Arial"/>
                  </a:rPr>
                  <a:t> and </a:t>
                </a:r>
                <a:r>
                  <a:rPr lang="en-IN" sz="2400">
                    <a:solidFill>
                      <a:srgbClr val="111827"/>
                    </a:solidFill>
                    <a:latin typeface="Cambria Math" panose="02040503050406030204" pitchFamily="18" charset="0"/>
                  </a:rPr>
                  <a:t>$R_{ACD}=\frac{a^2}{BD}$</a:t>
                </a:r>
                <a:r>
                  <a:rPr sz="2400" b="0">
                    <a:solidFill>
                      <a:srgbClr val="111827"/>
                    </a:solidFill>
                    <a:latin typeface="Arial"/>
                  </a:rPr>
                  <a:t>, so </a:t>
                </a:r>
                <a:r>
                  <a:rPr lang="en-IN" sz="2400">
                    <a:solidFill>
                      <a:srgbClr val="111827"/>
                    </a:solidFill>
                    <a:latin typeface="Cambria Math" panose="02040503050406030204" pitchFamily="18" charset="0"/>
                  </a:rPr>
                  <a:t>$\frac{R_{ABD}}{R_{ACD}}=\frac{BD}{AC}$</a:t>
                </a:r>
                <a:r>
                  <a:rPr sz="2400" b="0">
                    <a:solidFill>
                      <a:srgbClr val="111827"/>
                    </a:solidFill>
                    <a:latin typeface="Arial"/>
                  </a:rPr>
                  <a:t> (here </a:t>
                </a:r>
                <a:r>
                  <a:rPr lang="en-IN" sz="2400">
                    <a:solidFill>
                      <a:srgbClr val="111827"/>
                    </a:solidFill>
                    <a:latin typeface="Cambria Math" panose="02040503050406030204" pitchFamily="18" charset="0"/>
                  </a:rPr>
                  <a:t>$\frac{12.5}{25}=\frac12$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$a^2=\frac{AC^2+BD^2}4$</a:t>
                </a:r>
                <a:r>
                  <a:rPr sz="2400" b="0">
                    <a:solidFill>
                      <a:srgbClr val="111827"/>
                    </a:solidFill>
                    <a:latin typeface="Arial"/>
                  </a:rPr>
                  <a:t> and area </a:t>
                </a:r>
                <a:r>
                  <a:rPr lang="en-IN" sz="2400">
                    <a:solidFill>
                      <a:srgbClr val="111827"/>
                    </a:solidFill>
                    <a:latin typeface="Cambria Math" panose="02040503050406030204" pitchFamily="18" charset="0"/>
                  </a:rPr>
                  <a:t>$=\frac12AC\cdot BD$</a:t>
                </a:r>
                <a:r>
                  <a:rPr sz="2400" b="0">
                    <a:solidFill>
                      <a:srgbClr val="111827"/>
                    </a:solidFill>
                    <a:latin typeface="Arial"/>
                  </a:rPr>
                  <a:t>; here </a:t>
                </a:r>
                <a:r>
                  <a:rPr lang="en-IN" sz="2400">
                    <a:solidFill>
                      <a:srgbClr val="111827"/>
                    </a:solidFill>
                    <a:latin typeface="Cambria Math" panose="02040503050406030204" pitchFamily="18" charset="0"/>
                  </a:rPr>
                  <a:t>$a^2=500$</a:t>
                </a:r>
                <a:r>
                  <a:rPr sz="2400" b="0">
                    <a:solidFill>
                      <a:srgbClr val="111827"/>
                    </a:solidFill>
                    <a:latin typeface="Arial"/>
                  </a:rPr>
                  <a:t>, </a:t>
                </a:r>
                <a:r>
                  <a:rPr lang="en-IN" sz="2400">
                    <a:solidFill>
                      <a:srgbClr val="111827"/>
                    </a:solidFill>
                    <a:latin typeface="Cambria Math" panose="02040503050406030204" pitchFamily="18" charset="0"/>
                  </a:rPr>
                  <a:t>$AC=40$</a:t>
                </a:r>
                <a:r>
                  <a:rPr sz="2400" b="0">
                    <a:solidFill>
                      <a:srgbClr val="111827"/>
                    </a:solidFill>
                    <a:latin typeface="Arial"/>
                  </a:rPr>
                  <a:t>, </a:t>
                </a:r>
                <a:r>
                  <a:rPr lang="en-IN" sz="2400">
                    <a:solidFill>
                      <a:srgbClr val="111827"/>
                    </a:solidFill>
                    <a:latin typeface="Cambria Math" panose="02040503050406030204" pitchFamily="18" charset="0"/>
                  </a:rPr>
                  <a:t>$BD=20$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if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then find the value of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𝐶</m:t>
                        </m:r>
                      </m:num>
                      <m:den>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𝐵</m:t>
                        </m:r>
                      </m:den>
                    </m:f>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triangle </a:t>
                </a:r>
                <a:r>
                  <a:rPr lang="en-IN" sz="2400">
                    <a:solidFill>
                      <a:srgbClr val="111827"/>
                    </a:solidFill>
                    <a:latin typeface="Cambria Math" panose="02040503050406030204" pitchFamily="18" charset="0"/>
                  </a:rPr>
                  <a:t>$ABC$</a:t>
                </a:r>
                <a:r>
                  <a:rPr sz="2400" b="0">
                    <a:solidFill>
                      <a:srgbClr val="111827"/>
                    </a:solidFill>
                    <a:latin typeface="Arial"/>
                  </a:rPr>
                  <a:t>, if </a:t>
                </a:r>
                <a:r>
                  <a:rPr lang="en-IN" sz="2400">
                    <a:solidFill>
                      <a:srgbClr val="111827"/>
                    </a:solidFill>
                    <a:latin typeface="Cambria Math" panose="02040503050406030204" pitchFamily="18" charset="0"/>
                  </a:rPr>
                  <a:t>$a^2+b^2=101c^2$</a:t>
                </a:r>
                <a:r>
                  <a:rPr sz="2400" b="0">
                    <a:solidFill>
                      <a:srgbClr val="111827"/>
                    </a:solidFill>
                    <a:latin typeface="Arial"/>
                  </a:rPr>
                  <a:t>, then find the value of </a:t>
                </a:r>
                <a:r>
                  <a:rPr lang="en-IN" sz="2400">
                    <a:solidFill>
                      <a:srgbClr val="111827"/>
                    </a:solidFill>
                    <a:latin typeface="Cambria Math" panose="02040503050406030204" pitchFamily="18" charset="0"/>
                  </a:rPr>
                  <a:t>$\frac{\cot C}{\cot A+\cot B}$</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Cotangent ratio identity: cot C/(cot A + cot B) in terms of sides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𝐶</m:t>
                        </m:r>
                      </m:num>
                      <m:den>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𝐵</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𝑐</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𝑐</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 in every triangle.</a:t>
                </a:r>
                <a:endParaRPr sz="2400">
                  <a:solidFill>
                    <a:srgbClr val="78350F"/>
                  </a:solidFill>
                </a:endParaRPr>
              </a:p>
            </p:txBody>
          </p:sp>
        </mc:Choice>
        <mc:Fallback>
          <p:sp>
            <p:nvSpPr>
              <p:cNvPr id="4" name="Rounded Rectangle 3"/>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$\frac{\cot C}{\cot A+\cot B}=\frac{a^2+b^2-c^2}{2c^2}$</a:t>
                </a:r>
                <a:r>
                  <a:rPr sz="2400" b="0">
                    <a:solidFill>
                      <a:srgbClr val="78350F"/>
                    </a:solidFill>
                    <a:latin typeface="Arial"/>
                  </a:rPr>
                  <a:t> in every triangle.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𝐶</m:t>
                        </m:r>
                      </m:num>
                      <m:den>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num>
                      <m:den>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den>
                    </m:f>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264664"/>
                <a:ext cx="10725912" cy="441045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$a^2+b^2=101c^2\Rightarrow a^2+b^2-c^2=100c^2$</a:t>
                </a:r>
                <a:r>
                  <a:rPr sz="2400" b="0">
                    <a:solidFill>
                      <a:srgbClr val="111827"/>
                    </a:solidFill>
                    <a:latin typeface="Arial"/>
                  </a:rPr>
                  <a:t>, so </a:t>
                </a:r>
                <a:r>
                  <a:rPr lang="en-IN" sz="2400">
                    <a:solidFill>
                      <a:srgbClr val="111827"/>
                    </a:solidFill>
                    <a:latin typeface="Cambria Math" panose="02040503050406030204" pitchFamily="18" charset="0"/>
                  </a:rPr>
                  <a:t>$\frac{a^2+b^2-c^2}{c^2}=100$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$\frac{\cot C}{\cot A+\cot B}=\frac{\cos C}{\sin C}\cdot\frac{\sin A\sin B}{\cos A\sin B+\cos B\sin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$=\frac{\cos C\sin A\sin B}{\sin C\sin(A+B)}=\frac{\cos C\sin A\sin B}{\sin^2C}$</a:t>
                </a:r>
                <a:r>
                  <a:rPr sz="2400" b="0">
                    <a:solidFill>
                      <a:srgbClr val="111827"/>
                    </a:solidFill>
                    <a:latin typeface="Arial"/>
                  </a:rPr>
                  <a:t>, since </a:t>
                </a:r>
                <a:r>
                  <a:rPr lang="en-IN" sz="2400">
                    <a:solidFill>
                      <a:srgbClr val="111827"/>
                    </a:solidFill>
                    <a:latin typeface="Cambria Math" panose="02040503050406030204" pitchFamily="18" charset="0"/>
                  </a:rPr>
                  <a:t>$\sin(A+B)=\sin 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Cosine rule and sine rule: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𝐶</m:t>
                        </m:r>
                      </m:num>
                      <m:den>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Cosine rule and sine rule: </a:t>
                </a:r>
                <a:r>
                  <a:rPr lang="en-IN" sz="2400">
                    <a:solidFill>
                      <a:srgbClr val="111827"/>
                    </a:solidFill>
                    <a:latin typeface="Cambria Math" panose="02040503050406030204" pitchFamily="18" charset="0"/>
                  </a:rPr>
                  <a:t>$\cos C=\frac{a^2+b^2-c^2}{2ab}$</a:t>
                </a:r>
                <a:r>
                  <a:rPr sz="2400" b="0">
                    <a:solidFill>
                      <a:srgbClr val="111827"/>
                    </a:solidFill>
                    <a:latin typeface="Arial"/>
                  </a:rPr>
                  <a:t>, </a:t>
                </a:r>
                <a:r>
                  <a:rPr lang="en-IN" sz="2400">
                    <a:solidFill>
                      <a:srgbClr val="111827"/>
                    </a:solidFill>
                    <a:latin typeface="Cambria Math" panose="02040503050406030204" pitchFamily="18" charset="0"/>
                  </a:rPr>
                  <a:t>$\sin A\sin B=\frac{ab}{4R^2}$</a:t>
                </a:r>
                <a:r>
                  <a:rPr sz="2400" b="0">
                    <a:solidFill>
                      <a:srgbClr val="111827"/>
                    </a:solidFill>
                    <a:latin typeface="Arial"/>
                  </a:rPr>
                  <a:t>, </a:t>
                </a:r>
                <a:r>
                  <a:rPr lang="en-IN" sz="2400">
                    <a:solidFill>
                      <a:srgbClr val="111827"/>
                    </a:solidFill>
                    <a:latin typeface="Cambria Math" panose="02040503050406030204" pitchFamily="18" charset="0"/>
                  </a:rPr>
                  <a:t>$\sin^2C=\frac{c^2}{4R^2}$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$\frac{\cot C}{\cot A+\cot B}=\frac{a^2+b^2-c^2}{2ab}\cdot\frac{ab}{4R^2}\cdot\frac{4R^2}{c^2}=\frac{a^2+b^2-c^2}{2c^2}$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$=\frac{100c^2}{2c^2}=50$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50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$50$</a:t>
                </a:r>
                <a:endParaRPr sz="2800">
                  <a:solidFill>
                    <a:srgbClr val="15803D"/>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𝑐</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Δ</m:t>
                        </m:r>
                      </m:den>
                    </m:f>
                  </m:oMath>
                </a14:m>
                <a:r>
                  <a:rPr sz="2400" b="0">
                    <a:solidFill>
                      <a:srgbClr val="78350F"/>
                    </a:solidFill>
                    <a:latin typeface="Arial"/>
                  </a:rPr>
                  <a:t> for each angle; the common factor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Δ</m:t>
                    </m:r>
                  </m:oMath>
                </a14:m>
                <a:r>
                  <a:rPr sz="2400" b="0">
                    <a:solidFill>
                      <a:srgbClr val="78350F"/>
                    </a:solidFill>
                    <a:latin typeface="Arial"/>
                  </a:rPr>
                  <a:t> cancels at once.</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$\cot A=\frac{b^2+c^2-a^2}{4\Delta}$</a:t>
                </a:r>
                <a:r>
                  <a:rPr sz="2400" b="0">
                    <a:solidFill>
                      <a:srgbClr val="78350F"/>
                    </a:solidFill>
                    <a:latin typeface="Arial"/>
                  </a:rPr>
                  <a:t> for each angle; the common factor </a:t>
                </a:r>
                <a:r>
                  <a:rPr lang="en-IN" sz="2400">
                    <a:solidFill>
                      <a:srgbClr val="78350F"/>
                    </a:solidFill>
                    <a:latin typeface="Cambria Math" panose="02040503050406030204" pitchFamily="18" charset="0"/>
                  </a:rPr>
                  <a:t>$4\Delta$</a:t>
                </a:r>
                <a:r>
                  <a:rPr sz="2400" b="0">
                    <a:solidFill>
                      <a:srgbClr val="78350F"/>
                    </a:solidFill>
                    <a:latin typeface="Arial"/>
                  </a:rPr>
                  <a:t> cancels at once.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any triangle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Δ</m:t>
                        </m:r>
                      </m:den>
                    </m:f>
                  </m:oMath>
                </a14:m>
                <a:r>
                  <a:rPr sz="2400" b="0">
                    <a:solidFill>
                      <a:srgbClr val="111827"/>
                    </a:solidFill>
                    <a:latin typeface="Arial"/>
                  </a:rPr>
                  <a:t>, and similarly for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Δ</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Δ</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𝐶</m:t>
                        </m:r>
                      </m:num>
                      <m:den>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this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100</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any triangle </a:t>
                </a:r>
                <a:r>
                  <a:rPr lang="en-IN" sz="2400">
                    <a:solidFill>
                      <a:srgbClr val="111827"/>
                    </a:solidFill>
                    <a:latin typeface="Cambria Math" panose="02040503050406030204" pitchFamily="18" charset="0"/>
                  </a:rPr>
                  <a:t>$\cot A=\frac{\cos A}{\sin A}=\frac{b^2+c^2-a^2}{2bc}\cdot\frac{bc}{2\Delta}=\frac{b^2+c^2-a^2}{4\Delta}$</a:t>
                </a:r>
                <a:r>
                  <a:rPr sz="2400" b="0">
                    <a:solidFill>
                      <a:srgbClr val="111827"/>
                    </a:solidFill>
                    <a:latin typeface="Arial"/>
                  </a:rPr>
                  <a:t>, and similarly for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$\cot A+\cot B=\frac{(b^2+c^2-a^2)+(c^2+a^2-b^2)}{4\Delta}=\frac{2c^2}{4\Delta}$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$\cot C=\frac{a^2+b^2-c^2}{4\Delta}$</a:t>
                </a:r>
                <a:r>
                  <a:rPr sz="2400" b="0">
                    <a:solidFill>
                      <a:srgbClr val="111827"/>
                    </a:solidFill>
                    <a:latin typeface="Arial"/>
                  </a:rPr>
                  <a:t>, so </a:t>
                </a:r>
                <a:r>
                  <a:rPr lang="en-IN" sz="2400">
                    <a:solidFill>
                      <a:srgbClr val="111827"/>
                    </a:solidFill>
                    <a:latin typeface="Cambria Math" panose="02040503050406030204" pitchFamily="18" charset="0"/>
                  </a:rPr>
                  <a:t>$\frac{\cot C}{\cot A+\cot B}=\frac{a^2+b^2-c^2}{2c^2}$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$a^2+b^2=101c^2$</a:t>
                </a:r>
                <a:r>
                  <a:rPr sz="2400" b="0">
                    <a:solidFill>
                      <a:srgbClr val="111827"/>
                    </a:solidFill>
                    <a:latin typeface="Arial"/>
                  </a:rPr>
                  <a:t> this is </a:t>
                </a:r>
                <a:r>
                  <a:rPr lang="en-IN" sz="2400">
                    <a:solidFill>
                      <a:srgbClr val="111827"/>
                    </a:solidFill>
                    <a:latin typeface="Cambria Math" panose="02040503050406030204" pitchFamily="18" charset="0"/>
                  </a:rPr>
                  <a:t>$\frac{100c^2}{2c^2}=50$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50</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$50$</a:t>
                </a:r>
                <a:endParaRPr sz="2800">
                  <a:solidFill>
                    <a:srgbClr val="15803D"/>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any triangle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Δ</m:t>
                        </m:r>
                      </m:den>
                    </m:f>
                  </m:oMath>
                </a14:m>
                <a:r>
                  <a:rPr sz="2400" b="0">
                    <a:solidFill>
                      <a:srgbClr val="111827"/>
                    </a:solidFill>
                    <a:latin typeface="Arial"/>
                  </a:rPr>
                  <a:t>, hence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Δ</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Δ</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𝐶</m:t>
                        </m:r>
                      </m:num>
                      <m:den>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so if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ratio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in every triangle.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any triangle </a:t>
                </a:r>
                <a:r>
                  <a:rPr lang="en-IN" sz="2400">
                    <a:solidFill>
                      <a:srgbClr val="111827"/>
                    </a:solidFill>
                    <a:latin typeface="Cambria Math" panose="02040503050406030204" pitchFamily="18" charset="0"/>
                  </a:rPr>
                  <a:t>$\cot A=\frac{b^2+c^2-a^2}{4\Delta}$</a:t>
                </a:r>
                <a:r>
                  <a:rPr sz="2400" b="0">
                    <a:solidFill>
                      <a:srgbClr val="111827"/>
                    </a:solidFill>
                    <a:latin typeface="Arial"/>
                  </a:rPr>
                  <a:t>, hence </a:t>
                </a:r>
                <a:r>
                  <a:rPr lang="en-IN" sz="2400">
                    <a:solidFill>
                      <a:srgbClr val="111827"/>
                    </a:solidFill>
                    <a:latin typeface="Cambria Math" panose="02040503050406030204" pitchFamily="18" charset="0"/>
                  </a:rPr>
                  <a:t>$\cot A+\cot B+\cot C=\frac{a^2+b^2+c^2}{4\Delta}$</a:t>
                </a:r>
                <a:r>
                  <a:rPr sz="2400" b="0">
                    <a:solidFill>
                      <a:srgbClr val="111827"/>
                    </a:solidFill>
                    <a:latin typeface="Arial"/>
                  </a:rPr>
                  <a:t> and </a:t>
                </a:r>
                <a:r>
                  <a:rPr lang="en-IN" sz="2400">
                    <a:solidFill>
                      <a:srgbClr val="111827"/>
                    </a:solidFill>
                    <a:latin typeface="Cambria Math" panose="02040503050406030204" pitchFamily="18" charset="0"/>
                  </a:rPr>
                  <a:t>$\cot A+\cot B=\frac{c^2}{2\Delta}$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$\frac{\cot C}{\cot A+\cot B}=\frac{a^2+b^2-c^2}{2c^2}$</a:t>
                </a:r>
                <a:r>
                  <a:rPr sz="2400" b="0">
                    <a:solidFill>
                      <a:srgbClr val="111827"/>
                    </a:solidFill>
                    <a:latin typeface="Arial"/>
                  </a:rPr>
                  <a:t>; so if </a:t>
                </a:r>
                <a:r>
                  <a:rPr lang="en-IN" sz="2400">
                    <a:solidFill>
                      <a:srgbClr val="111827"/>
                    </a:solidFill>
                    <a:latin typeface="Cambria Math" panose="02040503050406030204" pitchFamily="18" charset="0"/>
                  </a:rPr>
                  <a:t>$a^2+b^2=kc^2$</a:t>
                </a:r>
                <a:r>
                  <a:rPr sz="2400" b="0">
                    <a:solidFill>
                      <a:srgbClr val="111827"/>
                    </a:solidFill>
                    <a:latin typeface="Arial"/>
                  </a:rPr>
                  <a:t> the ratio is </a:t>
                </a:r>
                <a:r>
                  <a:rPr lang="en-IN" sz="2400">
                    <a:solidFill>
                      <a:srgbClr val="111827"/>
                    </a:solidFill>
                    <a:latin typeface="Cambria Math" panose="02040503050406030204" pitchFamily="18" charset="0"/>
                  </a:rPr>
                  <a:t>$\frac{k-1}2$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$\cot A\cot B+\cot B\cot C+\cot C\cot A=1$</a:t>
                </a:r>
                <a:r>
                  <a:rPr sz="2400" b="0">
                    <a:solidFill>
                      <a:srgbClr val="111827"/>
                    </a:solidFill>
                    <a:latin typeface="Arial"/>
                  </a:rPr>
                  <a:t> in every triangle.</a:t>
                </a:r>
                <a:endParaRPr sz="2400">
                  <a:solidFill>
                    <a:srgbClr val="111827"/>
                  </a:solidFill>
                </a:endParaRPr>
              </a:p>
            </p:txBody>
          </p:sp>
        </mc:Fallback>
      </mc:AlternateContent>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7</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Subjective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Q11 – Q12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Prove / find; complete solution with alternate method and result</a:t>
            </a:r>
            <a:endParaRPr sz="2800">
              <a:solidFill>
                <a:srgbClr val="FFFFFF"/>
              </a:solidFill>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two adjacent sides of a cyclic quadrilateral are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and the angle between them is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If the area of the quadrilateral is </a:t>
                </a:r>
                <a14:m>
                  <m:oMath xmlns:m="http://schemas.openxmlformats.org/officeDocument/2006/math">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find the remaining two sides.</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two adjacent sides of a cyclic quadrilateral are </a:t>
                </a:r>
                <a:r>
                  <a:rPr lang="en-IN" sz="2400">
                    <a:solidFill>
                      <a:srgbClr val="111827"/>
                    </a:solidFill>
                    <a:latin typeface="Cambria Math" panose="02040503050406030204" pitchFamily="18" charset="0"/>
                  </a:rPr>
                  <a:t>$2$</a:t>
                </a:r>
                <a:r>
                  <a:rPr sz="2400" b="0">
                    <a:solidFill>
                      <a:srgbClr val="111827"/>
                    </a:solidFill>
                    <a:latin typeface="Arial"/>
                  </a:rPr>
                  <a:t> and </a:t>
                </a:r>
                <a:r>
                  <a:rPr lang="en-IN" sz="2400">
                    <a:solidFill>
                      <a:srgbClr val="111827"/>
                    </a:solidFill>
                    <a:latin typeface="Cambria Math" panose="02040503050406030204" pitchFamily="18" charset="0"/>
                  </a:rPr>
                  <a:t>$5$</a:t>
                </a:r>
                <a:r>
                  <a:rPr sz="2400" b="0">
                    <a:solidFill>
                      <a:srgbClr val="111827"/>
                    </a:solidFill>
                    <a:latin typeface="Arial"/>
                  </a:rPr>
                  <a:t> and the angle between them is </a:t>
                </a:r>
                <a:r>
                  <a:rPr lang="en-IN" sz="2400">
                    <a:solidFill>
                      <a:srgbClr val="111827"/>
                    </a:solidFill>
                    <a:latin typeface="Cambria Math" panose="02040503050406030204" pitchFamily="18" charset="0"/>
                  </a:rPr>
                  <a:t>$60^\circ$</a:t>
                </a:r>
                <a:r>
                  <a:rPr sz="2400" b="0">
                    <a:solidFill>
                      <a:srgbClr val="111827"/>
                    </a:solidFill>
                    <a:latin typeface="Arial"/>
                  </a:rPr>
                  <a:t>. If the area of the quadrilateral is </a:t>
                </a:r>
                <a:r>
                  <a:rPr lang="en-IN" sz="2400">
                    <a:solidFill>
                      <a:srgbClr val="111827"/>
                    </a:solidFill>
                    <a:latin typeface="Cambria Math" panose="02040503050406030204" pitchFamily="18" charset="0"/>
                  </a:rPr>
                  <a:t>$4\sqrt3$</a:t>
                </a:r>
                <a:r>
                  <a:rPr sz="2400" b="0">
                    <a:solidFill>
                      <a:srgbClr val="111827"/>
                    </a:solidFill>
                    <a:latin typeface="Arial"/>
                  </a:rPr>
                  <a:t>, find the remaining two sides.</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Cyclic quadrilateral: opposite angles, area and cosine rule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Opposite angles of a cyclic quadrilateral add to </a:t>
                </a:r>
                <a14:m>
                  <m:oMath xmlns:m="http://schemas.openxmlformats.org/officeDocument/2006/math">
                    <m:sSup>
                      <m:e>
                        <m:r>
                          <a:rPr lang="en-IN" sz="2400" i="1">
                            <a:solidFill>
                              <a:srgbClr val="78350F"/>
                            </a:solidFill>
                            <a:latin typeface="Cambria Math" panose="02040503050406030204" pitchFamily="18" charset="0"/>
                          </a:rPr>
                          <m:t>180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area and the common diagonal give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13</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Opposite angles of a cyclic quadrilateral add to </a:t>
                </a:r>
                <a:r>
                  <a:rPr lang="en-IN" sz="2400">
                    <a:solidFill>
                      <a:srgbClr val="78350F"/>
                    </a:solidFill>
                    <a:latin typeface="Cambria Math" panose="02040503050406030204" pitchFamily="18" charset="0"/>
                  </a:rPr>
                  <a:t>$180^\circ$</a:t>
                </a:r>
                <a:r>
                  <a:rPr sz="2400" b="0">
                    <a:solidFill>
                      <a:srgbClr val="78350F"/>
                    </a:solidFill>
                    <a:latin typeface="Arial"/>
                  </a:rPr>
                  <a:t>; area and the common diagonal give </a:t>
                </a:r>
                <a:r>
                  <a:rPr lang="en-IN" sz="2400">
                    <a:solidFill>
                      <a:srgbClr val="78350F"/>
                    </a:solidFill>
                    <a:latin typeface="Cambria Math" panose="02040503050406030204" pitchFamily="18" charset="0"/>
                  </a:rPr>
                  <a:t>$ab=6$</a:t>
                </a:r>
                <a:r>
                  <a:rPr sz="2400" b="0">
                    <a:solidFill>
                      <a:srgbClr val="78350F"/>
                    </a:solidFill>
                    <a:latin typeface="Arial"/>
                  </a:rPr>
                  <a:t> and </a:t>
                </a:r>
                <a:r>
                  <a:rPr lang="en-IN" sz="2400">
                    <a:solidFill>
                      <a:srgbClr val="78350F"/>
                    </a:solidFill>
                    <a:latin typeface="Cambria Math" panose="02040503050406030204" pitchFamily="18" charset="0"/>
                  </a:rPr>
                  <a:t>$a^2+b^2=13$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be cyclic with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unknown sides are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Opposite angles of a cyclic quadrilateral are supplementary: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180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$ABCD$</a:t>
                </a:r>
                <a:r>
                  <a:rPr sz="2400" b="0">
                    <a:solidFill>
                      <a:srgbClr val="111827"/>
                    </a:solidFill>
                    <a:latin typeface="Arial"/>
                  </a:rPr>
                  <a:t> be cyclic with </a:t>
                </a:r>
                <a:r>
                  <a:rPr lang="en-IN" sz="2400">
                    <a:solidFill>
                      <a:srgbClr val="111827"/>
                    </a:solidFill>
                    <a:latin typeface="Cambria Math" panose="02040503050406030204" pitchFamily="18" charset="0"/>
                  </a:rPr>
                  <a:t>$DA=2$</a:t>
                </a:r>
                <a:r>
                  <a:rPr sz="2400" b="0">
                    <a:solidFill>
                      <a:srgbClr val="111827"/>
                    </a:solidFill>
                    <a:latin typeface="Arial"/>
                  </a:rPr>
                  <a:t>, </a:t>
                </a:r>
                <a:r>
                  <a:rPr lang="en-IN" sz="2400">
                    <a:solidFill>
                      <a:srgbClr val="111827"/>
                    </a:solidFill>
                    <a:latin typeface="Cambria Math" panose="02040503050406030204" pitchFamily="18" charset="0"/>
                  </a:rPr>
                  <a:t>$DC=5$</a:t>
                </a:r>
                <a:r>
                  <a:rPr sz="2400" b="0">
                    <a:solidFill>
                      <a:srgbClr val="111827"/>
                    </a:solidFill>
                    <a:latin typeface="Arial"/>
                  </a:rPr>
                  <a:t>, </a:t>
                </a:r>
                <a:r>
                  <a:rPr lang="en-IN" sz="2400">
                    <a:solidFill>
                      <a:srgbClr val="111827"/>
                    </a:solidFill>
                    <a:latin typeface="Cambria Math" panose="02040503050406030204" pitchFamily="18" charset="0"/>
                  </a:rPr>
                  <a:t>$\angle ADC=60^\circ$</a:t>
                </a:r>
                <a:r>
                  <a:rPr sz="2400" b="0">
                    <a:solidFill>
                      <a:srgbClr val="111827"/>
                    </a:solidFill>
                    <a:latin typeface="Arial"/>
                  </a:rPr>
                  <a:t>; the unknown sides are </a:t>
                </a:r>
                <a:r>
                  <a:rPr lang="en-IN" sz="2400">
                    <a:solidFill>
                      <a:srgbClr val="111827"/>
                    </a:solidFill>
                    <a:latin typeface="Cambria Math" panose="02040503050406030204" pitchFamily="18" charset="0"/>
                  </a:rPr>
                  <a:t>$AB=a$</a:t>
                </a:r>
                <a:r>
                  <a:rPr sz="2400" b="0">
                    <a:solidFill>
                      <a:srgbClr val="111827"/>
                    </a:solidFill>
                    <a:latin typeface="Arial"/>
                  </a:rPr>
                  <a:t> and </a:t>
                </a:r>
                <a:r>
                  <a:rPr lang="en-IN" sz="2400">
                    <a:solidFill>
                      <a:srgbClr val="111827"/>
                    </a:solidFill>
                    <a:latin typeface="Cambria Math" panose="02040503050406030204" pitchFamily="18" charset="0"/>
                  </a:rPr>
                  <a:t>$BC=b$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Opposite angles of a cyclic quadrilateral are supplementary: </a:t>
                </a:r>
                <a:r>
                  <a:rPr lang="en-IN" sz="2400">
                    <a:solidFill>
                      <a:srgbClr val="111827"/>
                    </a:solidFill>
                    <a:latin typeface="Cambria Math" panose="02040503050406030204" pitchFamily="18" charset="0"/>
                  </a:rPr>
                  <a:t>$\angle ABC=180^\circ-60^\circ=120^\circ$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$=[ADC]+[ABC]=\frac12\cdot2\cdot5\sin60^\circ+\frac12ab\sin120^\circ=\frac{5\sqrt3}2+\frac{\sqrt3}4ab=4\sqrt3$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$\frac{\sqrt3}4ab=\frac{3\sqrt3}2\Rightarrow ab=6$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Diagonal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remaining sides are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(in either order):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Diagonal </a:t>
                </a:r>
                <a:r>
                  <a:rPr lang="en-IN" sz="2400">
                    <a:solidFill>
                      <a:srgbClr val="111827"/>
                    </a:solidFill>
                    <a:latin typeface="Cambria Math" panose="02040503050406030204" pitchFamily="18" charset="0"/>
                  </a:rPr>
                  <a:t>$AC$</a:t>
                </a:r>
                <a:r>
                  <a:rPr sz="2400" b="0">
                    <a:solidFill>
                      <a:srgbClr val="111827"/>
                    </a:solidFill>
                    <a:latin typeface="Arial"/>
                  </a:rPr>
                  <a:t> from </a:t>
                </a:r>
                <a:r>
                  <a:rPr lang="en-IN" sz="2400">
                    <a:solidFill>
                      <a:srgbClr val="111827"/>
                    </a:solidFill>
                    <a:latin typeface="Cambria Math" panose="02040503050406030204" pitchFamily="18" charset="0"/>
                  </a:rPr>
                  <a:t>$\triangle ADC$</a:t>
                </a:r>
                <a:r>
                  <a:rPr sz="2400" b="0">
                    <a:solidFill>
                      <a:srgbClr val="111827"/>
                    </a:solidFill>
                    <a:latin typeface="Arial"/>
                  </a:rPr>
                  <a:t>: </a:t>
                </a:r>
                <a:r>
                  <a:rPr lang="en-IN" sz="2400">
                    <a:solidFill>
                      <a:srgbClr val="111827"/>
                    </a:solidFill>
                    <a:latin typeface="Cambria Math" panose="02040503050406030204" pitchFamily="18" charset="0"/>
                  </a:rPr>
                  <a:t>$AC^2=2^2+5^2-2\cdot2\cdot5\cos60^\circ=19$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$\triangle ABC$</a:t>
                </a:r>
                <a:r>
                  <a:rPr sz="2400" b="0">
                    <a:solidFill>
                      <a:srgbClr val="111827"/>
                    </a:solidFill>
                    <a:latin typeface="Arial"/>
                  </a:rPr>
                  <a:t>: </a:t>
                </a:r>
                <a:r>
                  <a:rPr lang="en-IN" sz="2400">
                    <a:solidFill>
                      <a:srgbClr val="111827"/>
                    </a:solidFill>
                    <a:latin typeface="Cambria Math" panose="02040503050406030204" pitchFamily="18" charset="0"/>
                  </a:rPr>
                  <a:t>$AC^2=a^2+b^2-2ab\cos120^\circ=a^2+b^2+ab$</a:t>
                </a:r>
                <a:r>
                  <a:rPr sz="2400" b="0">
                    <a:solidFill>
                      <a:srgbClr val="111827"/>
                    </a:solidFill>
                    <a:latin typeface="Arial"/>
                  </a:rPr>
                  <a:t>, so </a:t>
                </a:r>
                <a:r>
                  <a:rPr lang="en-IN" sz="2400">
                    <a:solidFill>
                      <a:srgbClr val="111827"/>
                    </a:solidFill>
                    <a:latin typeface="Cambria Math" panose="02040503050406030204" pitchFamily="18" charset="0"/>
                  </a:rPr>
                  <a:t>$a^2+b^2=19-6=13$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$(a+b)^2=13+12=25$</a:t>
                </a:r>
                <a:r>
                  <a:rPr sz="2400" b="0">
                    <a:solidFill>
                      <a:srgbClr val="111827"/>
                    </a:solidFill>
                    <a:latin typeface="Arial"/>
                  </a:rPr>
                  <a:t> and </a:t>
                </a:r>
                <a:r>
                  <a:rPr lang="en-IN" sz="2400">
                    <a:solidFill>
                      <a:srgbClr val="111827"/>
                    </a:solidFill>
                    <a:latin typeface="Cambria Math" panose="02040503050406030204" pitchFamily="18" charset="0"/>
                  </a:rPr>
                  <a:t>$(a-b)^2=13-12=1$</a:t>
                </a:r>
                <a:r>
                  <a:rPr sz="2400" b="0">
                    <a:solidFill>
                      <a:srgbClr val="111827"/>
                    </a:solidFill>
                    <a:latin typeface="Arial"/>
                  </a:rPr>
                  <a:t>, so </a:t>
                </a:r>
                <a:r>
                  <a:rPr lang="en-IN" sz="2400">
                    <a:solidFill>
                      <a:srgbClr val="111827"/>
                    </a:solidFill>
                    <a:latin typeface="Cambria Math" panose="02040503050406030204" pitchFamily="18" charset="0"/>
                  </a:rPr>
                  <a:t>$a+b=5$</a:t>
                </a:r>
                <a:r>
                  <a:rPr sz="2400" b="0">
                    <a:solidFill>
                      <a:srgbClr val="111827"/>
                    </a:solidFill>
                    <a:latin typeface="Arial"/>
                  </a:rPr>
                  <a:t> and </a:t>
                </a:r>
                <a:r>
                  <a:rPr lang="en-IN" sz="2400">
                    <a:solidFill>
                      <a:srgbClr val="111827"/>
                    </a:solidFill>
                    <a:latin typeface="Cambria Math" panose="02040503050406030204" pitchFamily="18" charset="0"/>
                  </a:rPr>
                  <a:t>$a-b=\pm1$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remaining sides are </a:t>
                </a:r>
                <a:r>
                  <a:rPr lang="en-IN" sz="2400">
                    <a:solidFill>
                      <a:srgbClr val="111827"/>
                    </a:solidFill>
                    <a:latin typeface="Cambria Math" panose="02040503050406030204" pitchFamily="18" charset="0"/>
                  </a:rPr>
                  <a:t>$3$</a:t>
                </a:r>
                <a:r>
                  <a:rPr sz="2400" b="0">
                    <a:solidFill>
                      <a:srgbClr val="111827"/>
                    </a:solidFill>
                    <a:latin typeface="Arial"/>
                  </a:rPr>
                  <a:t> and </a:t>
                </a:r>
                <a:r>
                  <a:rPr lang="en-IN" sz="2400">
                    <a:solidFill>
                      <a:srgbClr val="111827"/>
                    </a:solidFill>
                    <a:latin typeface="Cambria Math" panose="02040503050406030204" pitchFamily="18" charset="0"/>
                  </a:rPr>
                  <a:t>$2$</a:t>
                </a:r>
                <a:r>
                  <a:rPr sz="2400" b="0">
                    <a:solidFill>
                      <a:srgbClr val="111827"/>
                    </a:solidFill>
                    <a:latin typeface="Arial"/>
                  </a:rPr>
                  <a:t> (in either order): </a:t>
                </a:r>
                <a:r>
                  <a:rPr lang="en-IN" sz="2400">
                    <a:solidFill>
                      <a:srgbClr val="111827"/>
                    </a:solidFill>
                    <a:latin typeface="Cambria Math" panose="02040503050406030204" pitchFamily="18" charset="0"/>
                  </a:rPr>
                  <a:t>$\{a,b\}=\{3,2\}$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3</m:t>
                    </m:r>
                  </m:oMath>
                </a14:m>
                <a:r>
                  <a:rPr sz="2800" b="1">
                    <a:solidFill>
                      <a:srgbClr val="15803D"/>
                    </a:solidFill>
                    <a:latin typeface="Arial"/>
                  </a:rPr>
                  <a:t> and </a:t>
                </a:r>
                <a14:m>
                  <m:oMath xmlns:m="http://schemas.openxmlformats.org/officeDocument/2006/math">
                    <m:r>
                      <a:rPr lang="en-IN" sz="2800" i="1">
                        <a:solidFill>
                          <a:srgbClr val="15803D"/>
                        </a:solidFill>
                        <a:latin typeface="Cambria Math" panose="02040503050406030204" pitchFamily="18" charset="0"/>
                      </a:rPr>
                      <m:t>2</m:t>
                    </m:r>
                  </m:oMath>
                </a14:m>
                <a:r>
                  <a:rPr sz="2800" b="1">
                    <a:solidFill>
                      <a:srgbClr val="15803D"/>
                    </a:solidFill>
                    <a:latin typeface="Arial"/>
                  </a:rPr>
                  <a:t> (cm)</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$3$</a:t>
                </a:r>
                <a:r>
                  <a:rPr sz="2800" b="1">
                    <a:solidFill>
                      <a:srgbClr val="15803D"/>
                    </a:solidFill>
                    <a:latin typeface="Arial"/>
                  </a:rPr>
                  <a:t> and </a:t>
                </a:r>
                <a:r>
                  <a:rPr lang="en-IN" sz="2800">
                    <a:solidFill>
                      <a:srgbClr val="15803D"/>
                    </a:solidFill>
                    <a:latin typeface="Cambria Math" panose="02040503050406030204" pitchFamily="18" charset="0"/>
                  </a:rPr>
                  <a:t>$2$</a:t>
                </a:r>
                <a:r>
                  <a:rPr sz="2800" b="1">
                    <a:solidFill>
                      <a:srgbClr val="15803D"/>
                    </a:solidFill>
                    <a:latin typeface="Arial"/>
                  </a:rPr>
                  <a:t> (cm)</a:t>
                </a:r>
                <a:endParaRPr sz="2800">
                  <a:solidFill>
                    <a:srgbClr val="15803D"/>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cyclic trapezoid is isosceles: build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𝐷</m:t>
                    </m:r>
                    <m:r>
                      <a:rPr lang="en-IN" sz="2400" i="1">
                        <a:solidFill>
                          <a:srgbClr val="78350F"/>
                        </a:solidFill>
                        <a:latin typeface="Cambria Math" panose="02040503050406030204" pitchFamily="18" charset="0"/>
                      </a:rPr>
                      <m:t>𝐶</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the data fit it exactly (the PDF's picture, with the angle corrected).</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cyclic trapezoid is isosceles: build </a:t>
                </a:r>
                <a:r>
                  <a:rPr lang="en-IN" sz="2400">
                    <a:solidFill>
                      <a:srgbClr val="78350F"/>
                    </a:solidFill>
                    <a:latin typeface="Cambria Math" panose="02040503050406030204" pitchFamily="18" charset="0"/>
                  </a:rPr>
                  <a:t>$AB\parallel DC$</a:t>
                </a:r>
                <a:r>
                  <a:rPr sz="2400" b="0">
                    <a:solidFill>
                      <a:srgbClr val="78350F"/>
                    </a:solidFill>
                    <a:latin typeface="Arial"/>
                  </a:rPr>
                  <a:t> with </a:t>
                </a:r>
                <a:r>
                  <a:rPr lang="en-IN" sz="2400">
                    <a:solidFill>
                      <a:srgbClr val="78350F"/>
                    </a:solidFill>
                    <a:latin typeface="Cambria Math" panose="02040503050406030204" pitchFamily="18" charset="0"/>
                  </a:rPr>
                  <a:t>$AD=BC=2$</a:t>
                </a:r>
                <a:r>
                  <a:rPr sz="2400" b="0">
                    <a:solidFill>
                      <a:srgbClr val="78350F"/>
                    </a:solidFill>
                    <a:latin typeface="Arial"/>
                  </a:rPr>
                  <a:t>; the data fit it exactly (the PDF's picture, with the angle corrected).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 cyclic trapezoid is isosceles,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Drop perpendiculars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𝑀</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𝑁</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height is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$ABCD$</a:t>
                </a:r>
                <a:r>
                  <a:rPr sz="2400" b="0">
                    <a:solidFill>
                      <a:srgbClr val="111827"/>
                    </a:solidFill>
                    <a:latin typeface="Arial"/>
                  </a:rPr>
                  <a:t> with </a:t>
                </a:r>
                <a:r>
                  <a:rPr lang="en-IN" sz="2400">
                    <a:solidFill>
                      <a:srgbClr val="111827"/>
                    </a:solidFill>
                    <a:latin typeface="Cambria Math" panose="02040503050406030204" pitchFamily="18" charset="0"/>
                  </a:rPr>
                  <a:t>$AB\parallel DC$</a:t>
                </a:r>
                <a:r>
                  <a:rPr sz="2400" b="0">
                    <a:solidFill>
                      <a:srgbClr val="111827"/>
                    </a:solidFill>
                    <a:latin typeface="Arial"/>
                  </a:rPr>
                  <a:t>, </a:t>
                </a:r>
                <a:r>
                  <a:rPr lang="en-IN" sz="2400">
                    <a:solidFill>
                      <a:srgbClr val="111827"/>
                    </a:solidFill>
                    <a:latin typeface="Cambria Math" panose="02040503050406030204" pitchFamily="18" charset="0"/>
                  </a:rPr>
                  <a:t>$DC=5$</a:t>
                </a:r>
                <a:r>
                  <a:rPr sz="2400" b="0">
                    <a:solidFill>
                      <a:srgbClr val="111827"/>
                    </a:solidFill>
                    <a:latin typeface="Arial"/>
                  </a:rPr>
                  <a:t>, </a:t>
                </a:r>
                <a:r>
                  <a:rPr lang="en-IN" sz="2400">
                    <a:solidFill>
                      <a:srgbClr val="111827"/>
                    </a:solidFill>
                    <a:latin typeface="Cambria Math" panose="02040503050406030204" pitchFamily="18" charset="0"/>
                  </a:rPr>
                  <a:t>$AD=2$</a:t>
                </a:r>
                <a:r>
                  <a:rPr sz="2400" b="0">
                    <a:solidFill>
                      <a:srgbClr val="111827"/>
                    </a:solidFill>
                    <a:latin typeface="Arial"/>
                  </a:rPr>
                  <a:t> and </a:t>
                </a:r>
                <a:r>
                  <a:rPr lang="en-IN" sz="2400">
                    <a:solidFill>
                      <a:srgbClr val="111827"/>
                    </a:solidFill>
                    <a:latin typeface="Cambria Math" panose="02040503050406030204" pitchFamily="18" charset="0"/>
                  </a:rPr>
                  <a:t>$\angle D=60^\circ$</a:t>
                </a:r>
                <a:r>
                  <a:rPr sz="2400" b="0">
                    <a:solidFill>
                      <a:srgbClr val="111827"/>
                    </a:solidFill>
                    <a:latin typeface="Arial"/>
                  </a:rPr>
                  <a:t>. A cyclic trapezoid is isosceles, so </a:t>
                </a:r>
                <a:r>
                  <a:rPr lang="en-IN" sz="2400">
                    <a:solidFill>
                      <a:srgbClr val="111827"/>
                    </a:solidFill>
                    <a:latin typeface="Cambria Math" panose="02040503050406030204" pitchFamily="18" charset="0"/>
                  </a:rPr>
                  <a:t>$BC=AD=2$</a:t>
                </a:r>
                <a:r>
                  <a:rPr sz="2400" b="0">
                    <a:solidFill>
                      <a:srgbClr val="111827"/>
                    </a:solidFill>
                    <a:latin typeface="Arial"/>
                  </a:rPr>
                  <a:t> and </a:t>
                </a:r>
                <a:r>
                  <a:rPr lang="en-IN" sz="2400">
                    <a:solidFill>
                      <a:srgbClr val="111827"/>
                    </a:solidFill>
                    <a:latin typeface="Cambria Math" panose="02040503050406030204" pitchFamily="18" charset="0"/>
                  </a:rPr>
                  <a:t>$\angle C=60^\circ$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Drop perpendiculars </a:t>
                </a:r>
                <a:r>
                  <a:rPr lang="en-IN" sz="2400">
                    <a:solidFill>
                      <a:srgbClr val="111827"/>
                    </a:solidFill>
                    <a:latin typeface="Cambria Math" panose="02040503050406030204" pitchFamily="18" charset="0"/>
                  </a:rPr>
                  <a:t>$AM$</a:t>
                </a:r>
                <a:r>
                  <a:rPr sz="2400" b="0">
                    <a:solidFill>
                      <a:srgbClr val="111827"/>
                    </a:solidFill>
                    <a:latin typeface="Arial"/>
                  </a:rPr>
                  <a:t> and </a:t>
                </a:r>
                <a:r>
                  <a:rPr lang="en-IN" sz="2400">
                    <a:solidFill>
                      <a:srgbClr val="111827"/>
                    </a:solidFill>
                    <a:latin typeface="Cambria Math" panose="02040503050406030204" pitchFamily="18" charset="0"/>
                  </a:rPr>
                  <a:t>$BN$</a:t>
                </a:r>
                <a:r>
                  <a:rPr sz="2400" b="0">
                    <a:solidFill>
                      <a:srgbClr val="111827"/>
                    </a:solidFill>
                    <a:latin typeface="Arial"/>
                  </a:rPr>
                  <a:t> on </a:t>
                </a:r>
                <a:r>
                  <a:rPr lang="en-IN" sz="2400">
                    <a:solidFill>
                      <a:srgbClr val="111827"/>
                    </a:solidFill>
                    <a:latin typeface="Cambria Math" panose="02040503050406030204" pitchFamily="18" charset="0"/>
                  </a:rPr>
                  <a:t>$DC$</a:t>
                </a:r>
                <a:r>
                  <a:rPr sz="2400" b="0">
                    <a:solidFill>
                      <a:srgbClr val="111827"/>
                    </a:solidFill>
                    <a:latin typeface="Arial"/>
                  </a:rPr>
                  <a:t>: </a:t>
                </a:r>
                <a:r>
                  <a:rPr lang="en-IN" sz="2400">
                    <a:solidFill>
                      <a:srgbClr val="111827"/>
                    </a:solidFill>
                    <a:latin typeface="Cambria Math" panose="02040503050406030204" pitchFamily="18" charset="0"/>
                  </a:rPr>
                  <a:t>$DM=NC=2\cos60^\circ=1$</a:t>
                </a:r>
                <a:r>
                  <a:rPr sz="2400" b="0">
                    <a:solidFill>
                      <a:srgbClr val="111827"/>
                    </a:solidFill>
                    <a:latin typeface="Arial"/>
                  </a:rPr>
                  <a:t> and the height is </a:t>
                </a:r>
                <a:r>
                  <a:rPr lang="en-IN" sz="2400">
                    <a:solidFill>
                      <a:srgbClr val="111827"/>
                    </a:solidFill>
                    <a:latin typeface="Cambria Math" panose="02040503050406030204" pitchFamily="18" charset="0"/>
                  </a:rPr>
                  <a:t>$AM=2\sin60^\circ=\sqrt3$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$AB=MN=5-1-1=3$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exactly the given area.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remaining sides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realise the data (and the main solution shows they are the only possible pair of lengths).</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$=\frac12(AB+DC)\cdot AM=\frac12(3+5)\sqrt3=4\sqrt3$</a:t>
                </a:r>
                <a:r>
                  <a:rPr sz="2400" b="0">
                    <a:solidFill>
                      <a:srgbClr val="111827"/>
                    </a:solidFill>
                    <a:latin typeface="Arial"/>
                  </a:rPr>
                  <a:t>, exactly the given area.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remaining sides </a:t>
                </a:r>
                <a:r>
                  <a:rPr lang="en-IN" sz="2400">
                    <a:solidFill>
                      <a:srgbClr val="111827"/>
                    </a:solidFill>
                    <a:latin typeface="Cambria Math" panose="02040503050406030204" pitchFamily="18" charset="0"/>
                  </a:rPr>
                  <a:t>$3$</a:t>
                </a:r>
                <a:r>
                  <a:rPr sz="2400" b="0">
                    <a:solidFill>
                      <a:srgbClr val="111827"/>
                    </a:solidFill>
                    <a:latin typeface="Arial"/>
                  </a:rPr>
                  <a:t> and </a:t>
                </a:r>
                <a:r>
                  <a:rPr lang="en-IN" sz="2400">
                    <a:solidFill>
                      <a:srgbClr val="111827"/>
                    </a:solidFill>
                    <a:latin typeface="Cambria Math" panose="02040503050406030204" pitchFamily="18" charset="0"/>
                  </a:rPr>
                  <a:t>$2$</a:t>
                </a:r>
                <a:r>
                  <a:rPr sz="2400" b="0">
                    <a:solidFill>
                      <a:srgbClr val="111827"/>
                    </a:solidFill>
                    <a:latin typeface="Arial"/>
                  </a:rPr>
                  <a:t> realise the data (and the main solution shows they are the only possible pair of lengths).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3</m:t>
                    </m:r>
                  </m:oMath>
                </a14:m>
                <a:r>
                  <a:rPr sz="2800" b="1">
                    <a:solidFill>
                      <a:srgbClr val="15803D"/>
                    </a:solidFill>
                    <a:latin typeface="Arial"/>
                  </a:rPr>
                  <a:t> and </a:t>
                </a:r>
                <a14:m>
                  <m:oMath xmlns:m="http://schemas.openxmlformats.org/officeDocument/2006/math">
                    <m:r>
                      <a:rPr lang="en-IN" sz="2800" i="1">
                        <a:solidFill>
                          <a:srgbClr val="15803D"/>
                        </a:solidFill>
                        <a:latin typeface="Cambria Math" panose="02040503050406030204" pitchFamily="18" charset="0"/>
                      </a:rPr>
                      <m:t>2</m:t>
                    </m:r>
                  </m:oMath>
                </a14:m>
                <a:r>
                  <a:rPr sz="2800" b="1">
                    <a:solidFill>
                      <a:srgbClr val="15803D"/>
                    </a:solidFill>
                    <a:latin typeface="Arial"/>
                  </a:rPr>
                  <a:t> (cm)</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$3$</a:t>
                </a:r>
                <a:r>
                  <a:rPr sz="2800" b="1">
                    <a:solidFill>
                      <a:srgbClr val="15803D"/>
                    </a:solidFill>
                    <a:latin typeface="Arial"/>
                  </a:rPr>
                  <a:t> and </a:t>
                </a:r>
                <a:r>
                  <a:rPr lang="en-IN" sz="2800">
                    <a:solidFill>
                      <a:srgbClr val="15803D"/>
                    </a:solidFill>
                    <a:latin typeface="Cambria Math" panose="02040503050406030204" pitchFamily="18" charset="0"/>
                  </a:rPr>
                  <a:t>$2$</a:t>
                </a:r>
                <a:r>
                  <a:rPr sz="2800" b="1">
                    <a:solidFill>
                      <a:srgbClr val="15803D"/>
                    </a:solidFill>
                    <a:latin typeface="Arial"/>
                  </a:rPr>
                  <a:t> (cm)</a:t>
                </a:r>
                <a:endParaRPr sz="2800">
                  <a:solidFill>
                    <a:srgbClr val="15803D"/>
                  </a:solidFill>
                </a:endParaRPr>
              </a:p>
            </p:txBody>
          </p:sp>
        </mc:Fallback>
      </mc:AlternateContent>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cyclic quadrilateral opposite angles add to </a:t>
                </a:r>
                <a14:m>
                  <m:oMath xmlns:m="http://schemas.openxmlformats.org/officeDocument/2006/math">
                    <m:sSup>
                      <m:e>
                        <m:r>
                          <a:rPr lang="en-IN" sz="2400" i="1">
                            <a:solidFill>
                              <a:srgbClr val="111827"/>
                            </a:solidFill>
                            <a:latin typeface="Cambria Math" panose="02040503050406030204" pitchFamily="18" charset="0"/>
                          </a:rPr>
                          <m:t>180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the area splits as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𝑧</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with the same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Equate the two expressions for the common diagonal: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𝑤</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a:rPr lang="en-IN" sz="2400" i="1">
                        <a:solidFill>
                          <a:srgbClr val="111827"/>
                        </a:solidFill>
                        <a:latin typeface="Cambria Math" panose="02040503050406030204" pitchFamily="18" charset="0"/>
                      </a:rPr>
                      <m:t>𝑤</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Brahmagupta's formula: area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e>
                    </m:rad>
                  </m:oMath>
                </a14:m>
                <a:r>
                  <a:rPr sz="2400" b="0">
                    <a:solidFill>
                      <a:srgbClr val="111827"/>
                    </a:solidFill>
                    <a:latin typeface="Arial"/>
                  </a:rPr>
                  <a:t>; check: sides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cyclic quadrilateral opposite angles add to </a:t>
                </a:r>
                <a:r>
                  <a:rPr lang="en-IN" sz="2400">
                    <a:solidFill>
                      <a:srgbClr val="111827"/>
                    </a:solidFill>
                    <a:latin typeface="Cambria Math" panose="02040503050406030204" pitchFamily="18" charset="0"/>
                  </a:rPr>
                  <a:t>$180^\circ$</a:t>
                </a:r>
                <a:r>
                  <a:rPr sz="2400" b="0">
                    <a:solidFill>
                      <a:srgbClr val="111827"/>
                    </a:solidFill>
                    <a:latin typeface="Arial"/>
                  </a:rPr>
                  <a:t>, so the area splits as </a:t>
                </a:r>
                <a:r>
                  <a:rPr lang="en-IN" sz="2400">
                    <a:solidFill>
                      <a:srgbClr val="111827"/>
                    </a:solidFill>
                    <a:latin typeface="Cambria Math" panose="02040503050406030204" pitchFamily="18" charset="0"/>
                  </a:rPr>
                  <a:t>$\frac12xy\sin\theta+\frac12zw\sin\theta$</a:t>
                </a:r>
                <a:r>
                  <a:rPr sz="2400" b="0">
                    <a:solidFill>
                      <a:srgbClr val="111827"/>
                    </a:solidFill>
                    <a:latin typeface="Arial"/>
                  </a:rPr>
                  <a:t> with the same </a:t>
                </a:r>
                <a:r>
                  <a:rPr lang="en-IN" sz="2400">
                    <a:solidFill>
                      <a:srgbClr val="111827"/>
                    </a:solidFill>
                    <a:latin typeface="Cambria Math" panose="02040503050406030204" pitchFamily="18" charset="0"/>
                  </a:rPr>
                  <a:t>$\sin\theta$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Equate the two expressions for the common diagonal: </a:t>
                </a:r>
                <a:r>
                  <a:rPr lang="en-IN" sz="2400">
                    <a:solidFill>
                      <a:srgbClr val="111827"/>
                    </a:solidFill>
                    <a:latin typeface="Cambria Math" panose="02040503050406030204" pitchFamily="18" charset="0"/>
                  </a:rPr>
                  <a:t>$x^2+y^2-2xy\cos\theta=z^2+w^2+2zw\cos\theta$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Brahmagupta's formula: area </a:t>
                </a:r>
                <a:r>
                  <a:rPr lang="en-IN" sz="2400">
                    <a:solidFill>
                      <a:srgbClr val="111827"/>
                    </a:solidFill>
                    <a:latin typeface="Cambria Math" panose="02040503050406030204" pitchFamily="18" charset="0"/>
                  </a:rPr>
                  <a:t>$=\sqrt{(s-a)(s-b)(s-c)(s-d)}$</a:t>
                </a:r>
                <a:r>
                  <a:rPr sz="2400" b="0">
                    <a:solidFill>
                      <a:srgbClr val="111827"/>
                    </a:solidFill>
                    <a:latin typeface="Arial"/>
                  </a:rPr>
                  <a:t>; check: sides </a:t>
                </a:r>
                <a:r>
                  <a:rPr lang="en-IN" sz="2400">
                    <a:solidFill>
                      <a:srgbClr val="111827"/>
                    </a:solidFill>
                    <a:latin typeface="Cambria Math" panose="02040503050406030204" pitchFamily="18" charset="0"/>
                  </a:rPr>
                  <a:t>$2,5,3,2$</a:t>
                </a:r>
                <a:r>
                  <a:rPr sz="2400" b="0">
                    <a:solidFill>
                      <a:srgbClr val="111827"/>
                    </a:solidFill>
                    <a:latin typeface="Arial"/>
                  </a:rPr>
                  <a:t> give </a:t>
                </a:r>
                <a:r>
                  <a:rPr lang="en-IN" sz="2400">
                    <a:solidFill>
                      <a:srgbClr val="111827"/>
                    </a:solidFill>
                    <a:latin typeface="Cambria Math" panose="02040503050406030204" pitchFamily="18" charset="0"/>
                  </a:rPr>
                  <a:t>$s=6$</a:t>
                </a:r>
                <a:r>
                  <a:rPr sz="2400" b="0">
                    <a:solidFill>
                      <a:srgbClr val="111827"/>
                    </a:solidFill>
                    <a:latin typeface="Arial"/>
                  </a:rPr>
                  <a:t> and </a:t>
                </a:r>
                <a:r>
                  <a:rPr lang="en-IN" sz="2400">
                    <a:solidFill>
                      <a:srgbClr val="111827"/>
                    </a:solidFill>
                    <a:latin typeface="Cambria Math" panose="02040503050406030204" pitchFamily="18" charset="0"/>
                  </a:rPr>
                  <a:t>$\sqrt{4\cdot1\cdot3\cdot4}=4\sqrt3$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4314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point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is situated on a circle of radius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and with centre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another circle of radius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is described. Inside the crescent shaped area intercepted between these circles, a circle of radius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is placed. If the same circle moves in contact with the original circle of radius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then find the length of the arc described by its centre in moving from one extreme position to the other.</a:t>
                </a:r>
                <a:endParaRPr sz="2400">
                  <a:solidFill>
                    <a:srgbClr val="111827"/>
                  </a:solidFill>
                </a:endParaRPr>
              </a:p>
            </p:txBody>
          </p:sp>
        </mc:Choice>
        <mc:Fallback>
          <p:sp>
            <p:nvSpPr>
              <p:cNvPr id="4" name="Rounded Rectangle 3"/>
              <p:cNvSpPr/>
              <p:nvPr/>
            </p:nvSpPr>
            <p:spPr>
              <a:xfrm>
                <a:off x="731520" y="1280160"/>
                <a:ext cx="10725912" cy="334314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point </a:t>
                </a:r>
                <a:r>
                  <a:rPr lang="en-IN" sz="2400">
                    <a:solidFill>
                      <a:srgbClr val="111827"/>
                    </a:solidFill>
                    <a:latin typeface="Cambria Math" panose="02040503050406030204" pitchFamily="18" charset="0"/>
                  </a:rPr>
                  <a:t>$O$</a:t>
                </a:r>
                <a:r>
                  <a:rPr sz="2400" b="0">
                    <a:solidFill>
                      <a:srgbClr val="111827"/>
                    </a:solidFill>
                    <a:latin typeface="Arial"/>
                  </a:rPr>
                  <a:t> is situated on a circle of radius </a:t>
                </a:r>
                <a:r>
                  <a:rPr lang="en-IN" sz="2400">
                    <a:solidFill>
                      <a:srgbClr val="111827"/>
                    </a:solidFill>
                    <a:latin typeface="Cambria Math" panose="02040503050406030204" pitchFamily="18" charset="0"/>
                  </a:rPr>
                  <a:t>$R$</a:t>
                </a:r>
                <a:r>
                  <a:rPr sz="2400" b="0">
                    <a:solidFill>
                      <a:srgbClr val="111827"/>
                    </a:solidFill>
                    <a:latin typeface="Arial"/>
                  </a:rPr>
                  <a:t> and with centre </a:t>
                </a:r>
                <a:r>
                  <a:rPr lang="en-IN" sz="2400">
                    <a:solidFill>
                      <a:srgbClr val="111827"/>
                    </a:solidFill>
                    <a:latin typeface="Cambria Math" panose="02040503050406030204" pitchFamily="18" charset="0"/>
                  </a:rPr>
                  <a:t>$O$</a:t>
                </a:r>
                <a:r>
                  <a:rPr sz="2400" b="0">
                    <a:solidFill>
                      <a:srgbClr val="111827"/>
                    </a:solidFill>
                    <a:latin typeface="Arial"/>
                  </a:rPr>
                  <a:t>, another circle of radius </a:t>
                </a:r>
                <a:r>
                  <a:rPr lang="en-IN" sz="2400">
                    <a:solidFill>
                      <a:srgbClr val="111827"/>
                    </a:solidFill>
                    <a:latin typeface="Cambria Math" panose="02040503050406030204" pitchFamily="18" charset="0"/>
                  </a:rPr>
                  <a:t>$\frac{3R}2$</a:t>
                </a:r>
                <a:r>
                  <a:rPr sz="2400" b="0">
                    <a:solidFill>
                      <a:srgbClr val="111827"/>
                    </a:solidFill>
                    <a:latin typeface="Arial"/>
                  </a:rPr>
                  <a:t> is described. Inside the crescent shaped area intercepted between these circles, a circle of radius </a:t>
                </a:r>
                <a:r>
                  <a:rPr lang="en-IN" sz="2400">
                    <a:solidFill>
                      <a:srgbClr val="111827"/>
                    </a:solidFill>
                    <a:latin typeface="Cambria Math" panose="02040503050406030204" pitchFamily="18" charset="0"/>
                  </a:rPr>
                  <a:t>$\frac R8$</a:t>
                </a:r>
                <a:r>
                  <a:rPr sz="2400" b="0">
                    <a:solidFill>
                      <a:srgbClr val="111827"/>
                    </a:solidFill>
                    <a:latin typeface="Arial"/>
                  </a:rPr>
                  <a:t> is placed. If the same circle moves in contact with the original circle of radius </a:t>
                </a:r>
                <a:r>
                  <a:rPr lang="en-IN" sz="2400">
                    <a:solidFill>
                      <a:srgbClr val="111827"/>
                    </a:solidFill>
                    <a:latin typeface="Cambria Math" panose="02040503050406030204" pitchFamily="18" charset="0"/>
                  </a:rPr>
                  <a:t>$R$</a:t>
                </a:r>
                <a:r>
                  <a:rPr sz="2400" b="0">
                    <a:solidFill>
                      <a:srgbClr val="111827"/>
                    </a:solidFill>
                    <a:latin typeface="Arial"/>
                  </a:rPr>
                  <a:t>, then find the length of the arc described by its centre in moving from one extreme position to the other.</a:t>
                </a:r>
                <a:endParaRPr sz="2400">
                  <a:solidFill>
                    <a:srgbClr val="111827"/>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Tangent circles: distances between centres and the cosine rule, Arc length of the locus of a centre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small circle's centre stays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7</m:t>
                        </m:r>
                        <m:r>
                          <a:rPr lang="en-IN" sz="2400" i="1">
                            <a:solidFill>
                              <a:srgbClr val="78350F"/>
                            </a:solidFill>
                            <a:latin typeface="Cambria Math" panose="02040503050406030204" pitchFamily="18" charset="0"/>
                          </a:rPr>
                          <m:t>𝑅</m:t>
                        </m:r>
                      </m:num>
                      <m:den>
                        <m:r>
                          <a:rPr lang="en-IN" sz="2400" i="1">
                            <a:solidFill>
                              <a:srgbClr val="78350F"/>
                            </a:solidFill>
                            <a:latin typeface="Cambria Math" panose="02040503050406030204" pitchFamily="18" charset="0"/>
                          </a:rPr>
                          <m:t>8</m:t>
                        </m:r>
                      </m:den>
                    </m:f>
                  </m:oMath>
                </a14:m>
                <a:r>
                  <a:rPr sz="2400" b="0">
                    <a:solidFill>
                      <a:srgbClr val="78350F"/>
                    </a:solidFill>
                    <a:latin typeface="Arial"/>
                  </a:rPr>
                  <a:t> from the centre of the original circle; the extreme positions touch the big circle, fixed by the cosine rule.</a:t>
                </a:r>
                <a:endParaRPr sz="2400">
                  <a:solidFill>
                    <a:srgbClr val="78350F"/>
                  </a:solidFill>
                </a:endParaRPr>
              </a:p>
            </p:txBody>
          </p:sp>
        </mc:Choice>
        <mc:Fallback>
          <p:sp>
            <p:nvSpPr>
              <p:cNvPr id="5" name="Rounded Rectangle 4"/>
              <p:cNvSpPr/>
              <p:nvPr/>
            </p:nvSpPr>
            <p:spPr>
              <a:xfrm>
                <a:off x="731520" y="3438144"/>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small circle's centre stays </a:t>
                </a:r>
                <a:r>
                  <a:rPr lang="en-IN" sz="2400">
                    <a:solidFill>
                      <a:srgbClr val="78350F"/>
                    </a:solidFill>
                    <a:latin typeface="Cambria Math" panose="02040503050406030204" pitchFamily="18" charset="0"/>
                  </a:rPr>
                  <a:t>$\frac{7R}8$</a:t>
                </a:r>
                <a:r>
                  <a:rPr sz="2400" b="0">
                    <a:solidFill>
                      <a:srgbClr val="78350F"/>
                    </a:solidFill>
                    <a:latin typeface="Arial"/>
                  </a:rPr>
                  <a:t> from the centre of the original circle; the extreme positions touch the big circle, fixed by the cosine rule.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166360"/>
                <a:ext cx="10725912" cy="15087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be the centre of the original circle </a:t>
                </a:r>
                <a14:m>
                  <m:oMath xmlns:m="http://schemas.openxmlformats.org/officeDocument/2006/math">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(radius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 point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on it (the centre of </a:t>
                </a:r>
                <a14:m>
                  <m:oMath xmlns:m="http://schemas.openxmlformats.org/officeDocument/2006/math">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of radius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be the centre of the small circle in one extreme position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166360"/>
                <a:ext cx="10725912" cy="15087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a:t>
                </a:r>
                <a:r>
                  <a:rPr sz="2400" b="0">
                    <a:solidFill>
                      <a:srgbClr val="111827"/>
                    </a:solidFill>
                    <a:latin typeface="Arial"/>
                  </a:rPr>
                  <a:t> be the centre of the original circle </a:t>
                </a:r>
                <a:r>
                  <a:rPr lang="en-IN" sz="2400">
                    <a:solidFill>
                      <a:srgbClr val="111827"/>
                    </a:solidFill>
                    <a:latin typeface="Cambria Math" panose="02040503050406030204" pitchFamily="18" charset="0"/>
                  </a:rPr>
                  <a:t>$C_2$</a:t>
                </a:r>
                <a:r>
                  <a:rPr sz="2400" b="0">
                    <a:solidFill>
                      <a:srgbClr val="111827"/>
                    </a:solidFill>
                    <a:latin typeface="Arial"/>
                  </a:rPr>
                  <a:t> (radius </a:t>
                </a:r>
                <a:r>
                  <a:rPr lang="en-IN" sz="2400">
                    <a:solidFill>
                      <a:srgbClr val="111827"/>
                    </a:solidFill>
                    <a:latin typeface="Cambria Math" panose="02040503050406030204" pitchFamily="18" charset="0"/>
                  </a:rPr>
                  <a:t>$R$</a:t>
                </a:r>
                <a:r>
                  <a:rPr sz="2400" b="0">
                    <a:solidFill>
                      <a:srgbClr val="111827"/>
                    </a:solidFill>
                    <a:latin typeface="Arial"/>
                  </a:rPr>
                  <a:t>), </a:t>
                </a:r>
                <a:r>
                  <a:rPr lang="en-IN" sz="2400">
                    <a:solidFill>
                      <a:srgbClr val="111827"/>
                    </a:solidFill>
                    <a:latin typeface="Cambria Math" panose="02040503050406030204" pitchFamily="18" charset="0"/>
                  </a:rPr>
                  <a:t>$A$</a:t>
                </a:r>
                <a:r>
                  <a:rPr sz="2400" b="0">
                    <a:solidFill>
                      <a:srgbClr val="111827"/>
                    </a:solidFill>
                    <a:latin typeface="Arial"/>
                  </a:rPr>
                  <a:t> the point </a:t>
                </a:r>
                <a:r>
                  <a:rPr lang="en-IN" sz="2400">
                    <a:solidFill>
                      <a:srgbClr val="111827"/>
                    </a:solidFill>
                    <a:latin typeface="Cambria Math" panose="02040503050406030204" pitchFamily="18" charset="0"/>
                  </a:rPr>
                  <a:t>$O$</a:t>
                </a:r>
                <a:r>
                  <a:rPr sz="2400" b="0">
                    <a:solidFill>
                      <a:srgbClr val="111827"/>
                    </a:solidFill>
                    <a:latin typeface="Arial"/>
                  </a:rPr>
                  <a:t> on it (the centre of </a:t>
                </a:r>
                <a:r>
                  <a:rPr lang="en-IN" sz="2400">
                    <a:solidFill>
                      <a:srgbClr val="111827"/>
                    </a:solidFill>
                    <a:latin typeface="Cambria Math" panose="02040503050406030204" pitchFamily="18" charset="0"/>
                  </a:rPr>
                  <a:t>$C_1$</a:t>
                </a:r>
                <a:r>
                  <a:rPr sz="2400" b="0">
                    <a:solidFill>
                      <a:srgbClr val="111827"/>
                    </a:solidFill>
                    <a:latin typeface="Arial"/>
                  </a:rPr>
                  <a:t> of radius </a:t>
                </a:r>
                <a:r>
                  <a:rPr lang="en-IN" sz="2400">
                    <a:solidFill>
                      <a:srgbClr val="111827"/>
                    </a:solidFill>
                    <a:latin typeface="Cambria Math" panose="02040503050406030204" pitchFamily="18" charset="0"/>
                  </a:rPr>
                  <a:t>$\frac{3R}2$</a:t>
                </a:r>
                <a:r>
                  <a:rPr sz="2400" b="0">
                    <a:solidFill>
                      <a:srgbClr val="111827"/>
                    </a:solidFill>
                    <a:latin typeface="Arial"/>
                  </a:rPr>
                  <a:t>), so </a:t>
                </a:r>
                <a:r>
                  <a:rPr lang="en-IN" sz="2400">
                    <a:solidFill>
                      <a:srgbClr val="111827"/>
                    </a:solidFill>
                    <a:latin typeface="Cambria Math" panose="02040503050406030204" pitchFamily="18" charset="0"/>
                  </a:rPr>
                  <a:t>$AB=R$</a:t>
                </a:r>
                <a:r>
                  <a:rPr sz="2400" b="0">
                    <a:solidFill>
                      <a:srgbClr val="111827"/>
                    </a:solidFill>
                    <a:latin typeface="Arial"/>
                  </a:rPr>
                  <a:t>. Let </a:t>
                </a:r>
                <a:r>
                  <a:rPr lang="en-IN" sz="2400">
                    <a:solidFill>
                      <a:srgbClr val="111827"/>
                    </a:solidFill>
                    <a:latin typeface="Cambria Math" panose="02040503050406030204" pitchFamily="18" charset="0"/>
                  </a:rPr>
                  <a:t>$C$</a:t>
                </a:r>
                <a:r>
                  <a:rPr sz="2400" b="0">
                    <a:solidFill>
                      <a:srgbClr val="111827"/>
                    </a:solidFill>
                    <a:latin typeface="Arial"/>
                  </a:rPr>
                  <a:t> be the centre of the small circle in one extreme position and </a:t>
                </a:r>
                <a:r>
                  <a:rPr lang="en-IN" sz="2400">
                    <a:solidFill>
                      <a:srgbClr val="111827"/>
                    </a:solidFill>
                    <a:latin typeface="Cambria Math" panose="02040503050406030204" pitchFamily="18" charset="0"/>
                  </a:rPr>
                  <a:t>$\angle ABC=\theta$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small circle touches </a:t>
                </a:r>
                <a14:m>
                  <m:oMath xmlns:m="http://schemas.openxmlformats.org/officeDocument/2006/math">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externally: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It touches </a:t>
                </a:r>
                <a14:m>
                  <m:oMath xmlns:m="http://schemas.openxmlformats.org/officeDocument/2006/math">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internally: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169</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64</m:t>
                            </m:r>
                          </m:den>
                        </m:f>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8</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56</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64</m:t>
                            </m:r>
                          </m:den>
                        </m:f>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the other extreme position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has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on the other side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small circle touches </a:t>
                </a:r>
                <a:r>
                  <a:rPr lang="en-IN" sz="2400">
                    <a:solidFill>
                      <a:srgbClr val="111827"/>
                    </a:solidFill>
                    <a:latin typeface="Cambria Math" panose="02040503050406030204" pitchFamily="18" charset="0"/>
                  </a:rPr>
                  <a:t>$C_1$</a:t>
                </a:r>
                <a:r>
                  <a:rPr sz="2400" b="0">
                    <a:solidFill>
                      <a:srgbClr val="111827"/>
                    </a:solidFill>
                    <a:latin typeface="Arial"/>
                  </a:rPr>
                  <a:t> externally: </a:t>
                </a:r>
                <a:r>
                  <a:rPr lang="en-IN" sz="2400">
                    <a:solidFill>
                      <a:srgbClr val="111827"/>
                    </a:solidFill>
                    <a:latin typeface="Cambria Math" panose="02040503050406030204" pitchFamily="18" charset="0"/>
                  </a:rPr>
                  <a:t>$AC=\frac{3R}2+\frac R8=\frac{13R}8$</a:t>
                </a:r>
                <a:r>
                  <a:rPr sz="2400" b="0">
                    <a:solidFill>
                      <a:srgbClr val="111827"/>
                    </a:solidFill>
                    <a:latin typeface="Arial"/>
                  </a:rPr>
                  <a:t>. It touches </a:t>
                </a:r>
                <a:r>
                  <a:rPr lang="en-IN" sz="2400">
                    <a:solidFill>
                      <a:srgbClr val="111827"/>
                    </a:solidFill>
                    <a:latin typeface="Cambria Math" panose="02040503050406030204" pitchFamily="18" charset="0"/>
                  </a:rPr>
                  <a:t>$C_2$</a:t>
                </a:r>
                <a:r>
                  <a:rPr sz="2400" b="0">
                    <a:solidFill>
                      <a:srgbClr val="111827"/>
                    </a:solidFill>
                    <a:latin typeface="Arial"/>
                  </a:rPr>
                  <a:t> internally: </a:t>
                </a:r>
                <a:r>
                  <a:rPr lang="en-IN" sz="2400">
                    <a:solidFill>
                      <a:srgbClr val="111827"/>
                    </a:solidFill>
                    <a:latin typeface="Cambria Math" panose="02040503050406030204" pitchFamily="18" charset="0"/>
                  </a:rPr>
                  <a:t>$BC=R-\frac R8=\frac{7R}8$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ABC$</a:t>
                </a:r>
                <a:r>
                  <a:rPr sz="2400" b="0">
                    <a:solidFill>
                      <a:srgbClr val="111827"/>
                    </a:solidFill>
                    <a:latin typeface="Arial"/>
                  </a:rPr>
                  <a:t>: </a:t>
                </a:r>
                <a:r>
                  <a:rPr lang="en-IN" sz="2400">
                    <a:solidFill>
                      <a:srgbClr val="111827"/>
                    </a:solidFill>
                    <a:latin typeface="Cambria Math" panose="02040503050406030204" pitchFamily="18" charset="0"/>
                  </a:rPr>
                  <a:t>$\cos\theta=\frac{AB^2+BC^2-AC^2}{2\cdot AB\cdot BC}=\frac{R^2+\frac{49R^2}{64}-\frac{169R^2}{64}}{2\cdot R\cdot\frac{7R}8}$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$\cos\theta=\frac{-\frac{56R^2}{64}}{\frac{7R^2}4}=-\frac12$</a:t>
                </a:r>
                <a:r>
                  <a:rPr sz="2400" b="0">
                    <a:solidFill>
                      <a:srgbClr val="111827"/>
                    </a:solidFill>
                    <a:latin typeface="Arial"/>
                  </a:rPr>
                  <a:t>, so </a:t>
                </a:r>
                <a:r>
                  <a:rPr lang="en-IN" sz="2400">
                    <a:solidFill>
                      <a:srgbClr val="111827"/>
                    </a:solidFill>
                    <a:latin typeface="Cambria Math" panose="02040503050406030204" pitchFamily="18" charset="0"/>
                  </a:rPr>
                  <a:t>$\theta=120^\circ$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symmetry the other extreme position </a:t>
                </a:r>
                <a:r>
                  <a:rPr lang="en-IN" sz="2400">
                    <a:solidFill>
                      <a:srgbClr val="111827"/>
                    </a:solidFill>
                    <a:latin typeface="Cambria Math" panose="02040503050406030204" pitchFamily="18" charset="0"/>
                  </a:rPr>
                  <a:t>$D$</a:t>
                </a:r>
                <a:r>
                  <a:rPr sz="2400" b="0">
                    <a:solidFill>
                      <a:srgbClr val="111827"/>
                    </a:solidFill>
                    <a:latin typeface="Arial"/>
                  </a:rPr>
                  <a:t> has </a:t>
                </a:r>
                <a:r>
                  <a:rPr lang="en-IN" sz="2400">
                    <a:solidFill>
                      <a:srgbClr val="111827"/>
                    </a:solidFill>
                    <a:latin typeface="Cambria Math" panose="02040503050406030204" pitchFamily="18" charset="0"/>
                  </a:rPr>
                  <a:t>$\angle ABD=120^\circ$</a:t>
                </a:r>
                <a:r>
                  <a:rPr sz="2400" b="0">
                    <a:solidFill>
                      <a:srgbClr val="111827"/>
                    </a:solidFill>
                    <a:latin typeface="Arial"/>
                  </a:rPr>
                  <a:t>, on the other side of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$\angle CBD=360^\circ-120^\circ-120^\circ=120^\circ=\frac{2\pi}3$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centre moves on the circle of radius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about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so the arc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centre moves on the circle of radius </a:t>
                </a:r>
                <a:r>
                  <a:rPr lang="en-IN" sz="2400">
                    <a:solidFill>
                      <a:srgbClr val="111827"/>
                    </a:solidFill>
                    <a:latin typeface="Cambria Math" panose="02040503050406030204" pitchFamily="18" charset="0"/>
                  </a:rPr>
                  <a:t>$BC=\frac{7R}8$</a:t>
                </a:r>
                <a:r>
                  <a:rPr sz="2400" b="0">
                    <a:solidFill>
                      <a:srgbClr val="111827"/>
                    </a:solidFill>
                    <a:latin typeface="Arial"/>
                  </a:rPr>
                  <a:t> about </a:t>
                </a:r>
                <a:r>
                  <a:rPr lang="en-IN" sz="2400">
                    <a:solidFill>
                      <a:srgbClr val="111827"/>
                    </a:solidFill>
                    <a:latin typeface="Cambria Math" panose="02040503050406030204" pitchFamily="18" charset="0"/>
                  </a:rPr>
                  <a:t>$B$</a:t>
                </a:r>
                <a:r>
                  <a:rPr sz="2400" b="0">
                    <a:solidFill>
                      <a:srgbClr val="111827"/>
                    </a:solidFill>
                    <a:latin typeface="Arial"/>
                  </a:rPr>
                  <a:t>, so the arc </a:t>
                </a:r>
                <a:r>
                  <a:rPr lang="en-IN" sz="2400">
                    <a:solidFill>
                      <a:srgbClr val="111827"/>
                    </a:solidFill>
                    <a:latin typeface="Cambria Math" panose="02040503050406030204" pitchFamily="18" charset="0"/>
                  </a:rPr>
                  <a:t>$CD=\frac{7R}8\cdot\frac{2\pi}3=\frac{7\pi R}{12}$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7</m:t>
                        </m:r>
                        <m:r>
                          <a:rPr lang="en-IN" sz="2800" i="1">
                            <a:solidFill>
                              <a:srgbClr val="15803D"/>
                            </a:solidFill>
                            <a:latin typeface="Cambria Math" panose="02040503050406030204" pitchFamily="18" charset="0"/>
                          </a:rPr>
                          <m:t>π</m:t>
                        </m:r>
                        <m:r>
                          <a:rPr lang="en-IN" sz="2800" i="1">
                            <a:solidFill>
                              <a:srgbClr val="15803D"/>
                            </a:solidFill>
                            <a:latin typeface="Cambria Math" panose="02040503050406030204" pitchFamily="18" charset="0"/>
                          </a:rPr>
                          <m:t>𝑅</m:t>
                        </m:r>
                      </m:num>
                      <m:den>
                        <m:r>
                          <a:rPr lang="en-IN" sz="2800" i="1">
                            <a:solidFill>
                              <a:srgbClr val="15803D"/>
                            </a:solidFill>
                            <a:latin typeface="Cambria Math" panose="02040503050406030204" pitchFamily="18" charset="0"/>
                          </a:rPr>
                          <m:t>12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$\frac{7\pi R}{12}$</a:t>
                </a:r>
                <a:endParaRPr sz="2800">
                  <a:solidFill>
                    <a:srgbClr val="15803D"/>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Coordinates: subtracting the two circle equations (radical axis of the two centre-loci) gives the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-coordinate of the centre at once.</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Coordinates: subtracting the two circle equations (radical axis of the two centre-loci) gives the </a:t>
                </a:r>
                <a:r>
                  <a:rPr lang="en-IN" sz="2400">
                    <a:solidFill>
                      <a:srgbClr val="78350F"/>
                    </a:solidFill>
                    <a:latin typeface="Cambria Math" panose="02040503050406030204" pitchFamily="18" charset="0"/>
                  </a:rPr>
                  <a:t>$x$</a:t>
                </a:r>
                <a:r>
                  <a:rPr sz="2400" b="0">
                    <a:solidFill>
                      <a:srgbClr val="78350F"/>
                    </a:solidFill>
                    <a:latin typeface="Arial"/>
                  </a:rPr>
                  <a:t>-coordinate of the centre at once.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centre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satisfies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8</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(internal contact with </a:t>
                </a:r>
                <a14:m>
                  <m:oMath xmlns:m="http://schemas.openxmlformats.org/officeDocument/2006/math">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8</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(external contact with </a:t>
                </a:r>
                <a14:m>
                  <m:oMath xmlns:m="http://schemas.openxmlformats.org/officeDocument/2006/math">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169</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64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lies in the direction </a:t>
                </a:r>
                <a14:m>
                  <m:oMath xmlns:m="http://schemas.openxmlformats.org/officeDocument/2006/math">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oMath>
                </a14:m>
                <a:r>
                  <a:rPr sz="2400" b="0">
                    <a:solidFill>
                      <a:srgbClr val="111827"/>
                    </a:solidFill>
                    <a:latin typeface="Arial"/>
                  </a:rPr>
                  <a:t>; the other extreme position is the mirror image at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$B=(0,0)$</a:t>
                </a:r>
                <a:r>
                  <a:rPr sz="2400" b="0">
                    <a:solidFill>
                      <a:srgbClr val="111827"/>
                    </a:solidFill>
                    <a:latin typeface="Arial"/>
                  </a:rPr>
                  <a:t> and </a:t>
                </a:r>
                <a:r>
                  <a:rPr lang="en-IN" sz="2400">
                    <a:solidFill>
                      <a:srgbClr val="111827"/>
                    </a:solidFill>
                    <a:latin typeface="Cambria Math" panose="02040503050406030204" pitchFamily="18" charset="0"/>
                  </a:rPr>
                  <a:t>$A=(R,0)$</a:t>
                </a:r>
                <a:r>
                  <a:rPr sz="2400" b="0">
                    <a:solidFill>
                      <a:srgbClr val="111827"/>
                    </a:solidFill>
                    <a:latin typeface="Arial"/>
                  </a:rPr>
                  <a:t>. The centre </a:t>
                </a:r>
                <a:r>
                  <a:rPr lang="en-IN" sz="2400">
                    <a:solidFill>
                      <a:srgbClr val="111827"/>
                    </a:solidFill>
                    <a:latin typeface="Cambria Math" panose="02040503050406030204" pitchFamily="18" charset="0"/>
                  </a:rPr>
                  <a:t>$C=(x,y)$</a:t>
                </a:r>
                <a:r>
                  <a:rPr sz="2400" b="0">
                    <a:solidFill>
                      <a:srgbClr val="111827"/>
                    </a:solidFill>
                    <a:latin typeface="Arial"/>
                  </a:rPr>
                  <a:t> satisfies </a:t>
                </a:r>
                <a:r>
                  <a:rPr lang="en-IN" sz="2400">
                    <a:solidFill>
                      <a:srgbClr val="111827"/>
                    </a:solidFill>
                    <a:latin typeface="Cambria Math" panose="02040503050406030204" pitchFamily="18" charset="0"/>
                  </a:rPr>
                  <a:t>$x^2+y^2=\left(\frac{7R}8\right)^2$</a:t>
                </a:r>
                <a:r>
                  <a:rPr sz="2400" b="0">
                    <a:solidFill>
                      <a:srgbClr val="111827"/>
                    </a:solidFill>
                    <a:latin typeface="Arial"/>
                  </a:rPr>
                  <a:t> (internal contact with </a:t>
                </a:r>
                <a:r>
                  <a:rPr lang="en-IN" sz="2400">
                    <a:solidFill>
                      <a:srgbClr val="111827"/>
                    </a:solidFill>
                    <a:latin typeface="Cambria Math" panose="02040503050406030204" pitchFamily="18" charset="0"/>
                  </a:rPr>
                  <a:t>$C_2$</a:t>
                </a:r>
                <a:r>
                  <a:rPr sz="2400" b="0">
                    <a:solidFill>
                      <a:srgbClr val="111827"/>
                    </a:solidFill>
                    <a:latin typeface="Arial"/>
                  </a:rPr>
                  <a:t>) and </a:t>
                </a:r>
                <a:r>
                  <a:rPr lang="en-IN" sz="2400">
                    <a:solidFill>
                      <a:srgbClr val="111827"/>
                    </a:solidFill>
                    <a:latin typeface="Cambria Math" panose="02040503050406030204" pitchFamily="18" charset="0"/>
                  </a:rPr>
                  <a:t>$(x-R)^2+y^2=\left(\frac{13R}8\right)^2$</a:t>
                </a:r>
                <a:r>
                  <a:rPr sz="2400" b="0">
                    <a:solidFill>
                      <a:srgbClr val="111827"/>
                    </a:solidFill>
                    <a:latin typeface="Arial"/>
                  </a:rPr>
                  <a:t> (external contact with </a:t>
                </a:r>
                <a:r>
                  <a:rPr lang="en-IN" sz="2400">
                    <a:solidFill>
                      <a:srgbClr val="111827"/>
                    </a:solidFill>
                    <a:latin typeface="Cambria Math" panose="02040503050406030204" pitchFamily="18" charset="0"/>
                  </a:rPr>
                  <a:t>$C_1$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 </a:t>
                </a:r>
                <a:r>
                  <a:rPr lang="en-IN" sz="2400">
                    <a:solidFill>
                      <a:srgbClr val="111827"/>
                    </a:solidFill>
                    <a:latin typeface="Cambria Math" panose="02040503050406030204" pitchFamily="18" charset="0"/>
                  </a:rPr>
                  <a:t>$-2Rx+R^2=\frac{169R^2-49R^2}{64}=\frac{15R^2}8$</a:t>
                </a:r>
                <a:r>
                  <a:rPr sz="2400" b="0">
                    <a:solidFill>
                      <a:srgbClr val="111827"/>
                    </a:solidFill>
                    <a:latin typeface="Arial"/>
                  </a:rPr>
                  <a:t>, so </a:t>
                </a:r>
                <a:r>
                  <a:rPr lang="en-IN" sz="2400">
                    <a:solidFill>
                      <a:srgbClr val="111827"/>
                    </a:solidFill>
                    <a:latin typeface="Cambria Math" panose="02040503050406030204" pitchFamily="18" charset="0"/>
                  </a:rPr>
                  <a:t>$x=-\frac{7R}{16}$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$\cos\angle ABC=\frac{x}{7R/8}=-\frac12$</a:t>
                </a:r>
                <a:r>
                  <a:rPr sz="2400" b="0">
                    <a:solidFill>
                      <a:srgbClr val="111827"/>
                    </a:solidFill>
                    <a:latin typeface="Arial"/>
                  </a:rPr>
                  <a:t>, so </a:t>
                </a:r>
                <a:r>
                  <a:rPr lang="en-IN" sz="2400">
                    <a:solidFill>
                      <a:srgbClr val="111827"/>
                    </a:solidFill>
                    <a:latin typeface="Cambria Math" panose="02040503050406030204" pitchFamily="18" charset="0"/>
                  </a:rPr>
                  <a:t>$C$</a:t>
                </a:r>
                <a:r>
                  <a:rPr sz="2400" b="0">
                    <a:solidFill>
                      <a:srgbClr val="111827"/>
                    </a:solidFill>
                    <a:latin typeface="Arial"/>
                  </a:rPr>
                  <a:t> lies in the direction </a:t>
                </a:r>
                <a:r>
                  <a:rPr lang="en-IN" sz="2400">
                    <a:solidFill>
                      <a:srgbClr val="111827"/>
                    </a:solidFill>
                    <a:latin typeface="Cambria Math" panose="02040503050406030204" pitchFamily="18" charset="0"/>
                  </a:rPr>
                  <a:t>$120^\circ$</a:t>
                </a:r>
                <a:r>
                  <a:rPr sz="2400" b="0">
                    <a:solidFill>
                      <a:srgbClr val="111827"/>
                    </a:solidFill>
                    <a:latin typeface="Arial"/>
                  </a:rPr>
                  <a:t> from </a:t>
                </a:r>
                <a:r>
                  <a:rPr lang="en-IN" sz="2400">
                    <a:solidFill>
                      <a:srgbClr val="111827"/>
                    </a:solidFill>
                    <a:latin typeface="Cambria Math" panose="02040503050406030204" pitchFamily="18" charset="0"/>
                  </a:rPr>
                  <a:t>$BA$</a:t>
                </a:r>
                <a:r>
                  <a:rPr sz="2400" b="0">
                    <a:solidFill>
                      <a:srgbClr val="111827"/>
                    </a:solidFill>
                    <a:latin typeface="Arial"/>
                  </a:rPr>
                  <a:t>; the other extreme position is the mirror image at </a:t>
                </a:r>
                <a:r>
                  <a:rPr lang="en-IN" sz="2400">
                    <a:solidFill>
                      <a:srgbClr val="111827"/>
                    </a:solidFill>
                    <a:latin typeface="Cambria Math" panose="02040503050406030204" pitchFamily="18" charset="0"/>
                  </a:rPr>
                  <a:t>$-120^\circ$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two extreme directions differ by </a:t>
                </a:r>
                <a14:m>
                  <m:oMath xmlns:m="http://schemas.openxmlformats.org/officeDocument/2006/math">
                    <m:sSup>
                      <m:e>
                        <m:r>
                          <a:rPr lang="en-IN" sz="2400" i="1">
                            <a:solidFill>
                              <a:srgbClr val="111827"/>
                            </a:solidFill>
                            <a:latin typeface="Cambria Math" panose="02040503050406030204" pitchFamily="18" charset="0"/>
                          </a:rPr>
                          <m:t>360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240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through the side away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which is the part of the circle of radius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lying in the crescent.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Arc length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π</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two extreme directions differ by </a:t>
                </a:r>
                <a:r>
                  <a:rPr lang="en-IN" sz="2400">
                    <a:solidFill>
                      <a:srgbClr val="111827"/>
                    </a:solidFill>
                    <a:latin typeface="Cambria Math" panose="02040503050406030204" pitchFamily="18" charset="0"/>
                  </a:rPr>
                  <a:t>$360^\circ-240^\circ=120^\circ$</a:t>
                </a:r>
                <a:r>
                  <a:rPr sz="2400" b="0">
                    <a:solidFill>
                      <a:srgbClr val="111827"/>
                    </a:solidFill>
                    <a:latin typeface="Arial"/>
                  </a:rPr>
                  <a:t> through the side away from </a:t>
                </a:r>
                <a:r>
                  <a:rPr lang="en-IN" sz="2400">
                    <a:solidFill>
                      <a:srgbClr val="111827"/>
                    </a:solidFill>
                    <a:latin typeface="Cambria Math" panose="02040503050406030204" pitchFamily="18" charset="0"/>
                  </a:rPr>
                  <a:t>$A$</a:t>
                </a:r>
                <a:r>
                  <a:rPr sz="2400" b="0">
                    <a:solidFill>
                      <a:srgbClr val="111827"/>
                    </a:solidFill>
                    <a:latin typeface="Arial"/>
                  </a:rPr>
                  <a:t>, which is the part of the circle of radius </a:t>
                </a:r>
                <a:r>
                  <a:rPr lang="en-IN" sz="2400">
                    <a:solidFill>
                      <a:srgbClr val="111827"/>
                    </a:solidFill>
                    <a:latin typeface="Cambria Math" panose="02040503050406030204" pitchFamily="18" charset="0"/>
                  </a:rPr>
                  <a:t>$\frac{7R}8$</a:t>
                </a:r>
                <a:r>
                  <a:rPr sz="2400" b="0">
                    <a:solidFill>
                      <a:srgbClr val="111827"/>
                    </a:solidFill>
                    <a:latin typeface="Arial"/>
                  </a:rPr>
                  <a:t> lying in the crescent.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Arc length </a:t>
                </a:r>
                <a:r>
                  <a:rPr lang="en-IN" sz="2400">
                    <a:solidFill>
                      <a:srgbClr val="111827"/>
                    </a:solidFill>
                    <a:latin typeface="Cambria Math" panose="02040503050406030204" pitchFamily="18" charset="0"/>
                  </a:rPr>
                  <a:t>$=\frac{7R}8\cdot\frac{2\pi}3=\frac{7\pi R}{12}$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7</m:t>
                        </m:r>
                        <m:r>
                          <a:rPr lang="en-IN" sz="2800" i="1">
                            <a:solidFill>
                              <a:srgbClr val="15803D"/>
                            </a:solidFill>
                            <a:latin typeface="Cambria Math" panose="02040503050406030204" pitchFamily="18" charset="0"/>
                          </a:rPr>
                          <m:t>π</m:t>
                        </m:r>
                        <m:r>
                          <a:rPr lang="en-IN" sz="2800" i="1">
                            <a:solidFill>
                              <a:srgbClr val="15803D"/>
                            </a:solidFill>
                            <a:latin typeface="Cambria Math" panose="02040503050406030204" pitchFamily="18" charset="0"/>
                          </a:rPr>
                          <m:t>𝑅</m:t>
                        </m:r>
                      </m:num>
                      <m:den>
                        <m:r>
                          <a:rPr lang="en-IN" sz="2800" i="1">
                            <a:solidFill>
                              <a:srgbClr val="15803D"/>
                            </a:solidFill>
                            <a:latin typeface="Cambria Math" panose="02040503050406030204" pitchFamily="18" charset="0"/>
                          </a:rPr>
                          <m:t>12</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$\frac{7\pi R}{12}$</a:t>
                </a:r>
                <a:endParaRPr sz="2800">
                  <a:solidFill>
                    <a:srgbClr val="15803D"/>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circle of radius </a:t>
                </a:r>
                <a14:m>
                  <m:oMath xmlns:m="http://schemas.openxmlformats.org/officeDocument/2006/math">
                    <m:r>
                      <a:rPr lang="en-IN" sz="2400" i="1">
                        <a:solidFill>
                          <a:srgbClr val="111827"/>
                        </a:solidFill>
                        <a:latin typeface="Cambria Math" panose="02040503050406030204" pitchFamily="18" charset="0"/>
                      </a:rPr>
                      <m:t>ρ</m:t>
                    </m:r>
                  </m:oMath>
                </a14:m>
                <a:r>
                  <a:rPr sz="2400" b="0">
                    <a:solidFill>
                      <a:srgbClr val="111827"/>
                    </a:solidFill>
                    <a:latin typeface="Arial"/>
                  </a:rPr>
                  <a:t> touching a fixed circle of radius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internally has its centre at distance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ρ</m:t>
                    </m:r>
                  </m:oMath>
                </a14:m>
                <a:r>
                  <a:rPr sz="2400" b="0">
                    <a:solidFill>
                      <a:srgbClr val="111827"/>
                    </a:solidFill>
                    <a:latin typeface="Arial"/>
                  </a:rPr>
                  <a:t> from the fixed centre; touching another circle (radius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externally puts it at distance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ρ</m:t>
                    </m:r>
                  </m:oMath>
                </a14:m>
                <a:r>
                  <a:rPr sz="2400" b="0">
                    <a:solidFill>
                      <a:srgbClr val="111827"/>
                    </a:solidFill>
                    <a:latin typeface="Arial"/>
                  </a:rPr>
                  <a:t> from that centre.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extreme positions of a circle moving inside a region occur when it just touches the second boundary; the three centres form a triangle whose sides are all known, so the cosine rule gives the angle.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Arc length of the locus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radius of the locus circle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angle subtended at its centre: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circle of radius </a:t>
                </a:r>
                <a:r>
                  <a:rPr lang="en-IN" sz="2400">
                    <a:solidFill>
                      <a:srgbClr val="111827"/>
                    </a:solidFill>
                    <a:latin typeface="Cambria Math" panose="02040503050406030204" pitchFamily="18" charset="0"/>
                  </a:rPr>
                  <a:t>$\rho$</a:t>
                </a:r>
                <a:r>
                  <a:rPr sz="2400" b="0">
                    <a:solidFill>
                      <a:srgbClr val="111827"/>
                    </a:solidFill>
                    <a:latin typeface="Arial"/>
                  </a:rPr>
                  <a:t> touching a fixed circle of radius </a:t>
                </a:r>
                <a:r>
                  <a:rPr lang="en-IN" sz="2400">
                    <a:solidFill>
                      <a:srgbClr val="111827"/>
                    </a:solidFill>
                    <a:latin typeface="Cambria Math" panose="02040503050406030204" pitchFamily="18" charset="0"/>
                  </a:rPr>
                  <a:t>$R$</a:t>
                </a:r>
                <a:r>
                  <a:rPr sz="2400" b="0">
                    <a:solidFill>
                      <a:srgbClr val="111827"/>
                    </a:solidFill>
                    <a:latin typeface="Arial"/>
                  </a:rPr>
                  <a:t> internally has its centre at distance </a:t>
                </a:r>
                <a:r>
                  <a:rPr lang="en-IN" sz="2400">
                    <a:solidFill>
                      <a:srgbClr val="111827"/>
                    </a:solidFill>
                    <a:latin typeface="Cambria Math" panose="02040503050406030204" pitchFamily="18" charset="0"/>
                  </a:rPr>
                  <a:t>$R-\rho$</a:t>
                </a:r>
                <a:r>
                  <a:rPr sz="2400" b="0">
                    <a:solidFill>
                      <a:srgbClr val="111827"/>
                    </a:solidFill>
                    <a:latin typeface="Arial"/>
                  </a:rPr>
                  <a:t> from the fixed centre; touching another circle (radius </a:t>
                </a:r>
                <a:r>
                  <a:rPr lang="en-IN" sz="2400">
                    <a:solidFill>
                      <a:srgbClr val="111827"/>
                    </a:solidFill>
                    <a:latin typeface="Cambria Math" panose="02040503050406030204" pitchFamily="18" charset="0"/>
                  </a:rPr>
                  <a:t>$r_1$</a:t>
                </a:r>
                <a:r>
                  <a:rPr sz="2400" b="0">
                    <a:solidFill>
                      <a:srgbClr val="111827"/>
                    </a:solidFill>
                    <a:latin typeface="Arial"/>
                  </a:rPr>
                  <a:t>) externally puts it at distance </a:t>
                </a:r>
                <a:r>
                  <a:rPr lang="en-IN" sz="2400">
                    <a:solidFill>
                      <a:srgbClr val="111827"/>
                    </a:solidFill>
                    <a:latin typeface="Cambria Math" panose="02040503050406030204" pitchFamily="18" charset="0"/>
                  </a:rPr>
                  <a:t>$r_1+\rho$</a:t>
                </a:r>
                <a:r>
                  <a:rPr sz="2400" b="0">
                    <a:solidFill>
                      <a:srgbClr val="111827"/>
                    </a:solidFill>
                    <a:latin typeface="Arial"/>
                  </a:rPr>
                  <a:t> from that centre.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extreme positions of a circle moving inside a region occur when it just touches the second boundary; the three centres form a triangle whose sides are all known, so the cosine rule gives the angle.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Arc length of the locus </a:t>
                </a:r>
                <a:r>
                  <a:rPr lang="en-IN" sz="2400">
                    <a:solidFill>
                      <a:srgbClr val="111827"/>
                    </a:solidFill>
                    <a:latin typeface="Cambria Math" panose="02040503050406030204" pitchFamily="18" charset="0"/>
                  </a:rPr>
                  <a:t>$=$</a:t>
                </a:r>
                <a:r>
                  <a:rPr sz="2400" b="0">
                    <a:solidFill>
                      <a:srgbClr val="111827"/>
                    </a:solidFill>
                    <a:latin typeface="Arial"/>
                  </a:rPr>
                  <a:t> radius of the locus circle </a:t>
                </a:r>
                <a:r>
                  <a:rPr lang="en-IN" sz="2400">
                    <a:solidFill>
                      <a:srgbClr val="111827"/>
                    </a:solidFill>
                    <a:latin typeface="Cambria Math" panose="02040503050406030204" pitchFamily="18" charset="0"/>
                  </a:rPr>
                  <a:t>$\times$</a:t>
                </a:r>
                <a:r>
                  <a:rPr sz="2400" b="0">
                    <a:solidFill>
                      <a:srgbClr val="111827"/>
                    </a:solidFill>
                    <a:latin typeface="Arial"/>
                  </a:rPr>
                  <a:t> the angle subtended at its centre: here </a:t>
                </a:r>
                <a:r>
                  <a:rPr lang="en-IN" sz="2400">
                    <a:solidFill>
                      <a:srgbClr val="111827"/>
                    </a:solidFill>
                    <a:latin typeface="Cambria Math" panose="02040503050406030204" pitchFamily="18" charset="0"/>
                  </a:rPr>
                  <a:t>$\frac{7R}8\times\frac{2\pi}3$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8</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Q13</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(no marks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value answer; complete solution with alternate method and result</a:t>
            </a:r>
            <a:endParaRPr sz="2800">
              <a:solidFill>
                <a:srgbClr val="FFFFFF"/>
              </a:solidFill>
            </a:endParaRP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in 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then find its area.</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in a </a:t>
                </a:r>
                <a:r>
                  <a:rPr lang="en-IN" sz="2400">
                    <a:solidFill>
                      <a:srgbClr val="111827"/>
                    </a:solidFill>
                    <a:latin typeface="Cambria Math" panose="02040503050406030204" pitchFamily="18" charset="0"/>
                  </a:rPr>
                  <a:t>$\triangle ABC$</a:t>
                </a:r>
                <a:r>
                  <a:rPr sz="2400" b="0">
                    <a:solidFill>
                      <a:srgbClr val="111827"/>
                    </a:solidFill>
                    <a:latin typeface="Arial"/>
                  </a:rPr>
                  <a:t>, </a:t>
                </a:r>
                <a:r>
                  <a:rPr lang="en-IN" sz="2400">
                    <a:solidFill>
                      <a:srgbClr val="111827"/>
                    </a:solidFill>
                    <a:latin typeface="Cambria Math" panose="02040503050406030204" pitchFamily="18" charset="0"/>
                  </a:rPr>
                  <a:t>$a=6$</a:t>
                </a:r>
                <a:r>
                  <a:rPr sz="2400" b="0">
                    <a:solidFill>
                      <a:srgbClr val="111827"/>
                    </a:solidFill>
                    <a:latin typeface="Arial"/>
                  </a:rPr>
                  <a:t>, </a:t>
                </a:r>
                <a:r>
                  <a:rPr lang="en-IN" sz="2400">
                    <a:solidFill>
                      <a:srgbClr val="111827"/>
                    </a:solidFill>
                    <a:latin typeface="Cambria Math" panose="02040503050406030204" pitchFamily="18" charset="0"/>
                  </a:rPr>
                  <a:t>$b=3$</a:t>
                </a:r>
                <a:r>
                  <a:rPr sz="2400" b="0">
                    <a:solidFill>
                      <a:srgbClr val="111827"/>
                    </a:solidFill>
                    <a:latin typeface="Arial"/>
                  </a:rPr>
                  <a:t> and </a:t>
                </a:r>
                <a:r>
                  <a:rPr lang="en-IN" sz="2400">
                    <a:solidFill>
                      <a:srgbClr val="111827"/>
                    </a:solidFill>
                    <a:latin typeface="Cambria Math" panose="02040503050406030204" pitchFamily="18" charset="0"/>
                  </a:rPr>
                  <a:t>$\cos(A-B)=\frac45$</a:t>
                </a:r>
                <a:r>
                  <a:rPr sz="2400" b="0">
                    <a:solidFill>
                      <a:srgbClr val="111827"/>
                    </a:solidFill>
                    <a:latin typeface="Arial"/>
                  </a:rPr>
                  <a:t>, then find its area.</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Napier's analogy (tangent rule) and half-angle formulas, Area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cos</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num>
                      <m:den>
                        <m:r>
                          <a:rPr lang="en-IN" sz="2400" i="1">
                            <a:solidFill>
                              <a:srgbClr val="78350F"/>
                            </a:solidFill>
                            <a:latin typeface="Cambria Math" panose="02040503050406030204" pitchFamily="18" charset="0"/>
                          </a:rPr>
                          <m:t>5</m:t>
                        </m:r>
                      </m:den>
                    </m:f>
                  </m:oMath>
                </a14:m>
                <a:r>
                  <a:rPr sz="2400" b="0">
                    <a:solidFill>
                      <a:srgbClr val="78350F"/>
                    </a:solidFill>
                    <a:latin typeface="Arial"/>
                  </a:rPr>
                  <a:t> gives </a:t>
                </a:r>
                <a14:m>
                  <m:oMath xmlns:m="http://schemas.openxmlformats.org/officeDocument/2006/math">
                    <m:r>
                      <m:rPr>
                        <m:sty m:val="p"/>
                      </m:rPr>
                      <a:rPr lang="en-IN" sz="2400">
                        <a:solidFill>
                          <a:srgbClr val="78350F"/>
                        </a:solidFill>
                        <a:latin typeface="Cambria Math" panose="02040503050406030204" pitchFamily="18" charset="0"/>
                      </a:rPr>
                      <m:t>tan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 Napier's analogy then gives </a:t>
                </a:r>
                <a14:m>
                  <m:oMath xmlns:m="http://schemas.openxmlformats.org/officeDocument/2006/math">
                    <m:r>
                      <m:rPr>
                        <m:sty m:val="p"/>
                      </m:rPr>
                      <a:rPr lang="en-IN" sz="2400">
                        <a:solidFill>
                          <a:srgbClr val="78350F"/>
                        </a:solidFill>
                        <a:latin typeface="Cambria Math" panose="02040503050406030204" pitchFamily="18" charset="0"/>
                      </a:rPr>
                      <m:t>cot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𝐶</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90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$\cos(A-B)=\frac45$</a:t>
                </a:r>
                <a:r>
                  <a:rPr sz="2400" b="0">
                    <a:solidFill>
                      <a:srgbClr val="78350F"/>
                    </a:solidFill>
                    <a:latin typeface="Arial"/>
                  </a:rPr>
                  <a:t> gives </a:t>
                </a:r>
                <a:r>
                  <a:rPr lang="en-IN" sz="2400">
                    <a:solidFill>
                      <a:srgbClr val="78350F"/>
                    </a:solidFill>
                    <a:latin typeface="Cambria Math" panose="02040503050406030204" pitchFamily="18" charset="0"/>
                  </a:rPr>
                  <a:t>$\tan\frac{A-B}2=\frac13$</a:t>
                </a:r>
                <a:r>
                  <a:rPr sz="2400" b="0">
                    <a:solidFill>
                      <a:srgbClr val="78350F"/>
                    </a:solidFill>
                    <a:latin typeface="Arial"/>
                  </a:rPr>
                  <a:t>; Napier's analogy then gives </a:t>
                </a:r>
                <a:r>
                  <a:rPr lang="en-IN" sz="2400">
                    <a:solidFill>
                      <a:srgbClr val="78350F"/>
                    </a:solidFill>
                    <a:latin typeface="Cambria Math" panose="02040503050406030204" pitchFamily="18" charset="0"/>
                  </a:rPr>
                  <a:t>$\cot\frac C2=1$</a:t>
                </a:r>
                <a:r>
                  <a:rPr sz="2400" b="0">
                    <a:solidFill>
                      <a:srgbClr val="78350F"/>
                    </a:solidFill>
                    <a:latin typeface="Arial"/>
                  </a:rPr>
                  <a:t>, so </a:t>
                </a:r>
                <a:r>
                  <a:rPr lang="en-IN" sz="2400">
                    <a:solidFill>
                      <a:srgbClr val="78350F"/>
                    </a:solidFill>
                    <a:latin typeface="Cambria Math" panose="02040503050406030204" pitchFamily="18" charset="0"/>
                  </a:rPr>
                  <a:t>$C=90^\circ$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Napier's analogy: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$a=6$</a:t>
                </a:r>
                <a:r>
                  <a:rPr sz="2400" b="0">
                    <a:solidFill>
                      <a:srgbClr val="111827"/>
                    </a:solidFill>
                    <a:latin typeface="Arial"/>
                  </a:rPr>
                  <a:t>, </a:t>
                </a:r>
                <a:r>
                  <a:rPr lang="en-IN" sz="2400">
                    <a:solidFill>
                      <a:srgbClr val="111827"/>
                    </a:solidFill>
                    <a:latin typeface="Cambria Math" panose="02040503050406030204" pitchFamily="18" charset="0"/>
                  </a:rPr>
                  <a:t>$b=3$</a:t>
                </a:r>
                <a:r>
                  <a:rPr sz="2400" b="0">
                    <a:solidFill>
                      <a:srgbClr val="111827"/>
                    </a:solidFill>
                    <a:latin typeface="Arial"/>
                  </a:rPr>
                  <a:t> and </a:t>
                </a:r>
                <a:r>
                  <a:rPr lang="en-IN" sz="2400">
                    <a:solidFill>
                      <a:srgbClr val="111827"/>
                    </a:solidFill>
                    <a:latin typeface="Cambria Math" panose="02040503050406030204" pitchFamily="18" charset="0"/>
                  </a:rPr>
                  <a:t>$\cos(A-B)=\frac45$</a:t>
                </a:r>
                <a:r>
                  <a:rPr sz="2400" b="0">
                    <a:solidFill>
                      <a:srgbClr val="111827"/>
                    </a:solidFill>
                    <a:latin typeface="Arial"/>
                  </a:rPr>
                  <a:t>. Since </a:t>
                </a:r>
                <a:r>
                  <a:rPr lang="en-IN" sz="2400">
                    <a:solidFill>
                      <a:srgbClr val="111827"/>
                    </a:solidFill>
                    <a:latin typeface="Cambria Math" panose="02040503050406030204" pitchFamily="18" charset="0"/>
                  </a:rPr>
                  <a:t>$a&gt;b$</a:t>
                </a:r>
                <a:r>
                  <a:rPr sz="2400" b="0">
                    <a:solidFill>
                      <a:srgbClr val="111827"/>
                    </a:solidFill>
                    <a:latin typeface="Arial"/>
                  </a:rPr>
                  <a:t>, </a:t>
                </a:r>
                <a:r>
                  <a:rPr lang="en-IN" sz="2400">
                    <a:solidFill>
                      <a:srgbClr val="111827"/>
                    </a:solidFill>
                    <a:latin typeface="Cambria Math" panose="02040503050406030204" pitchFamily="18" charset="0"/>
                  </a:rPr>
                  <a:t>$A&gt;B$</a:t>
                </a:r>
                <a:r>
                  <a:rPr sz="2400" b="0">
                    <a:solidFill>
                      <a:srgbClr val="111827"/>
                    </a:solidFill>
                    <a:latin typeface="Arial"/>
                  </a:rPr>
                  <a:t> and </a:t>
                </a:r>
                <a:r>
                  <a:rPr lang="en-IN" sz="2400">
                    <a:solidFill>
                      <a:srgbClr val="111827"/>
                    </a:solidFill>
                    <a:latin typeface="Cambria Math" panose="02040503050406030204" pitchFamily="18" charset="0"/>
                  </a:rPr>
                  <a:t>$0&lt;\frac{A-B}2&lt;\frac\pi2$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$2\cos^2\frac{A-B}2-1=\frac45\Rightarrow\cos^2\frac{A-B}2=\frac9{10}$</a:t>
                </a:r>
                <a:r>
                  <a:rPr sz="2400" b="0">
                    <a:solidFill>
                      <a:srgbClr val="111827"/>
                    </a:solidFill>
                    <a:latin typeface="Arial"/>
                  </a:rPr>
                  <a:t>, so </a:t>
                </a:r>
                <a:r>
                  <a:rPr lang="en-IN" sz="2400">
                    <a:solidFill>
                      <a:srgbClr val="111827"/>
                    </a:solidFill>
                    <a:latin typeface="Cambria Math" panose="02040503050406030204" pitchFamily="18" charset="0"/>
                  </a:rPr>
                  <a:t>$\cos\frac{A-B}2=\frac3{\sqrt{10}}$</a:t>
                </a:r>
                <a:r>
                  <a:rPr sz="2400" b="0">
                    <a:solidFill>
                      <a:srgbClr val="111827"/>
                    </a:solidFill>
                    <a:latin typeface="Arial"/>
                  </a:rPr>
                  <a:t> and </a:t>
                </a:r>
                <a:r>
                  <a:rPr lang="en-IN" sz="2400">
                    <a:solidFill>
                      <a:srgbClr val="111827"/>
                    </a:solidFill>
                    <a:latin typeface="Cambria Math" panose="02040503050406030204" pitchFamily="18" charset="0"/>
                  </a:rPr>
                  <a:t>$\tan\frac{A-B}2=\frac13$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Napier's analogy: </a:t>
                </a:r>
                <a:r>
                  <a:rPr lang="en-IN" sz="2400">
                    <a:solidFill>
                      <a:srgbClr val="111827"/>
                    </a:solidFill>
                    <a:latin typeface="Cambria Math" panose="02040503050406030204" pitchFamily="18" charset="0"/>
                  </a:rPr>
                  <a:t>$\tan\frac{A-B}2=\frac{a-b}{a+b}\cot\frac C2$</a:t>
                </a:r>
                <a:r>
                  <a:rPr sz="2400" b="0">
                    <a:solidFill>
                      <a:srgbClr val="111827"/>
                    </a:solidFill>
                    <a:latin typeface="Arial"/>
                  </a:rPr>
                  <a:t>, so </a:t>
                </a:r>
                <a:r>
                  <a:rPr lang="en-IN" sz="2400">
                    <a:solidFill>
                      <a:srgbClr val="111827"/>
                    </a:solidFill>
                    <a:latin typeface="Cambria Math" panose="02040503050406030204" pitchFamily="18" charset="0"/>
                  </a:rPr>
                  <a:t>$\frac13=\frac{6-3}{6+3}\cot\frac C2=\frac13\cot\frac C2$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sq. unit.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$\cot\frac C2=1\Rightarrow\frac C2=45^\circ$</a:t>
                </a:r>
                <a:r>
                  <a:rPr sz="2400" b="0">
                    <a:solidFill>
                      <a:srgbClr val="111827"/>
                    </a:solidFill>
                    <a:latin typeface="Arial"/>
                  </a:rPr>
                  <a:t>, so </a:t>
                </a:r>
                <a:r>
                  <a:rPr lang="en-IN" sz="2400">
                    <a:solidFill>
                      <a:srgbClr val="111827"/>
                    </a:solidFill>
                    <a:latin typeface="Cambria Math" panose="02040503050406030204" pitchFamily="18" charset="0"/>
                  </a:rPr>
                  <a:t>$C=90^\circ$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$=\frac12ab\sin C=\frac12\cdot6\cdot3=9$</a:t>
                </a:r>
                <a:r>
                  <a:rPr sz="2400" b="0">
                    <a:solidFill>
                      <a:srgbClr val="111827"/>
                    </a:solidFill>
                    <a:latin typeface="Arial"/>
                  </a:rPr>
                  <a:t> sq. unit.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9</m:t>
                    </m:r>
                  </m:oMath>
                </a14:m>
                <a:r>
                  <a:rPr sz="2800" b="1">
                    <a:solidFill>
                      <a:srgbClr val="15803D"/>
                    </a:solidFill>
                    <a:latin typeface="Arial"/>
                  </a:rPr>
                  <a:t> sq. unit</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$9$</a:t>
                </a:r>
                <a:r>
                  <a:rPr sz="2800" b="1">
                    <a:solidFill>
                      <a:srgbClr val="15803D"/>
                    </a:solidFill>
                    <a:latin typeface="Arial"/>
                  </a:rPr>
                  <a:t> sq. unit</a:t>
                </a:r>
                <a:endParaRPr sz="2800">
                  <a:solidFill>
                    <a:srgbClr val="15803D"/>
                  </a:solidFill>
                </a:endParaRPr>
              </a:p>
            </p:txBody>
          </p:sp>
        </mc:Fallback>
      </mc:AlternateContent>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δ</m:t>
                    </m:r>
                  </m:oMath>
                </a14:m>
                <a:r>
                  <a:rPr sz="2400" b="0">
                    <a:solidFill>
                      <a:srgbClr val="78350F"/>
                    </a:solidFill>
                    <a:latin typeface="Arial"/>
                  </a:rPr>
                  <a:t> and use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𝐵</m:t>
                    </m:r>
                  </m:oMath>
                </a14:m>
                <a:r>
                  <a:rPr sz="2400" b="0">
                    <a:solidFill>
                      <a:srgbClr val="78350F"/>
                    </a:solidFill>
                    <a:latin typeface="Arial"/>
                  </a:rPr>
                  <a:t> (from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𝑏</m:t>
                    </m:r>
                  </m:oMath>
                </a14:m>
                <a:r>
                  <a:rPr sz="2400" b="0">
                    <a:solidFill>
                      <a:srgbClr val="78350F"/>
                    </a:solidFill>
                    <a:latin typeface="Arial"/>
                  </a:rPr>
                  <a:t>): the equation reduces to </a:t>
                </a:r>
                <a14:m>
                  <m:oMath xmlns:m="http://schemas.openxmlformats.org/officeDocument/2006/math">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so </a:t>
                </a:r>
                <a14:m>
                  <m:oMath xmlns:m="http://schemas.openxmlformats.org/officeDocument/2006/math">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Put </a:t>
                </a:r>
                <a:r>
                  <a:rPr lang="en-IN" sz="2400">
                    <a:solidFill>
                      <a:srgbClr val="78350F"/>
                    </a:solidFill>
                    <a:latin typeface="Cambria Math" panose="02040503050406030204" pitchFamily="18" charset="0"/>
                  </a:rPr>
                  <a:t>$A=B+\delta$</a:t>
                </a:r>
                <a:r>
                  <a:rPr sz="2400" b="0">
                    <a:solidFill>
                      <a:srgbClr val="78350F"/>
                    </a:solidFill>
                    <a:latin typeface="Arial"/>
                  </a:rPr>
                  <a:t> and use </a:t>
                </a:r>
                <a:r>
                  <a:rPr lang="en-IN" sz="2400">
                    <a:solidFill>
                      <a:srgbClr val="78350F"/>
                    </a:solidFill>
                    <a:latin typeface="Cambria Math" panose="02040503050406030204" pitchFamily="18" charset="0"/>
                  </a:rPr>
                  <a:t>$\sin A=2\sin B$</a:t>
                </a:r>
                <a:r>
                  <a:rPr sz="2400" b="0">
                    <a:solidFill>
                      <a:srgbClr val="78350F"/>
                    </a:solidFill>
                    <a:latin typeface="Arial"/>
                  </a:rPr>
                  <a:t> (from </a:t>
                </a:r>
                <a:r>
                  <a:rPr lang="en-IN" sz="2400">
                    <a:solidFill>
                      <a:srgbClr val="78350F"/>
                    </a:solidFill>
                    <a:latin typeface="Cambria Math" panose="02040503050406030204" pitchFamily="18" charset="0"/>
                  </a:rPr>
                  <a:t>$a=2b$</a:t>
                </a:r>
                <a:r>
                  <a:rPr sz="2400" b="0">
                    <a:solidFill>
                      <a:srgbClr val="78350F"/>
                    </a:solidFill>
                    <a:latin typeface="Arial"/>
                  </a:rPr>
                  <a:t>): the equation reduces to </a:t>
                </a:r>
                <a:r>
                  <a:rPr lang="en-IN" sz="2400">
                    <a:solidFill>
                      <a:srgbClr val="78350F"/>
                    </a:solidFill>
                    <a:latin typeface="Cambria Math" panose="02040503050406030204" pitchFamily="18" charset="0"/>
                  </a:rPr>
                  <a:t>$\tan B=\frac12$</a:t>
                </a:r>
                <a:r>
                  <a:rPr sz="2400" b="0">
                    <a:solidFill>
                      <a:srgbClr val="78350F"/>
                    </a:solidFill>
                    <a:latin typeface="Arial"/>
                  </a:rPr>
                  <a:t>, so </a:t>
                </a:r>
                <a:r>
                  <a:rPr lang="en-IN" sz="2400">
                    <a:solidFill>
                      <a:srgbClr val="78350F"/>
                    </a:solidFill>
                    <a:latin typeface="Cambria Math" panose="02040503050406030204" pitchFamily="18" charset="0"/>
                  </a:rPr>
                  <a:t>$\tan A\tan B=1$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𝐵</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The sine rule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$A&gt;B$</a:t>
                </a:r>
                <a:r>
                  <a:rPr sz="2400" b="0">
                    <a:solidFill>
                      <a:srgbClr val="111827"/>
                    </a:solidFill>
                    <a:latin typeface="Arial"/>
                  </a:rPr>
                  <a:t>; let </a:t>
                </a:r>
                <a:r>
                  <a:rPr lang="en-IN" sz="2400">
                    <a:solidFill>
                      <a:srgbClr val="111827"/>
                    </a:solidFill>
                    <a:latin typeface="Cambria Math" panose="02040503050406030204" pitchFamily="18" charset="0"/>
                  </a:rPr>
                  <a:t>$\delta=A-B$</a:t>
                </a:r>
                <a:r>
                  <a:rPr sz="2400" b="0">
                    <a:solidFill>
                      <a:srgbClr val="111827"/>
                    </a:solidFill>
                    <a:latin typeface="Arial"/>
                  </a:rPr>
                  <a:t> with </a:t>
                </a:r>
                <a:r>
                  <a:rPr lang="en-IN" sz="2400">
                    <a:solidFill>
                      <a:srgbClr val="111827"/>
                    </a:solidFill>
                    <a:latin typeface="Cambria Math" panose="02040503050406030204" pitchFamily="18" charset="0"/>
                  </a:rPr>
                  <a:t>$\cos\delta=\frac45$</a:t>
                </a:r>
                <a:r>
                  <a:rPr sz="2400" b="0">
                    <a:solidFill>
                      <a:srgbClr val="111827"/>
                    </a:solidFill>
                    <a:latin typeface="Arial"/>
                  </a:rPr>
                  <a:t>, </a:t>
                </a:r>
                <a:r>
                  <a:rPr lang="en-IN" sz="2400">
                    <a:solidFill>
                      <a:srgbClr val="111827"/>
                    </a:solidFill>
                    <a:latin typeface="Cambria Math" panose="02040503050406030204" pitchFamily="18" charset="0"/>
                  </a:rPr>
                  <a:t>$\sin\delta=\frac35$</a:t>
                </a:r>
                <a:r>
                  <a:rPr sz="2400" b="0">
                    <a:solidFill>
                      <a:srgbClr val="111827"/>
                    </a:solidFill>
                    <a:latin typeface="Arial"/>
                  </a:rPr>
                  <a:t>. The sine rule with </a:t>
                </a:r>
                <a:r>
                  <a:rPr lang="en-IN" sz="2400">
                    <a:solidFill>
                      <a:srgbClr val="111827"/>
                    </a:solidFill>
                    <a:latin typeface="Cambria Math" panose="02040503050406030204" pitchFamily="18" charset="0"/>
                  </a:rPr>
                  <a:t>$a=2b$</a:t>
                </a:r>
                <a:r>
                  <a:rPr sz="2400" b="0">
                    <a:solidFill>
                      <a:srgbClr val="111827"/>
                    </a:solidFill>
                    <a:latin typeface="Arial"/>
                  </a:rPr>
                  <a:t> gives </a:t>
                </a:r>
                <a:r>
                  <a:rPr lang="en-IN" sz="2400">
                    <a:solidFill>
                      <a:srgbClr val="111827"/>
                    </a:solidFill>
                    <a:latin typeface="Cambria Math" panose="02040503050406030204" pitchFamily="18" charset="0"/>
                  </a:rPr>
                  <a:t>$\sin A=2\sin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$\sin(B+\delta)=2\sin B\Rightarrow\frac45\sin B+\frac35\cos B=2\sin B\Rightarrow3\cos B=6\sin B$</a:t>
                </a:r>
                <a:r>
                  <a:rPr sz="2400" b="0">
                    <a:solidFill>
                      <a:srgbClr val="111827"/>
                    </a:solidFill>
                    <a:latin typeface="Arial"/>
                  </a:rPr>
                  <a:t>, so </a:t>
                </a:r>
                <a:r>
                  <a:rPr lang="en-IN" sz="2400">
                    <a:solidFill>
                      <a:srgbClr val="111827"/>
                    </a:solidFill>
                    <a:latin typeface="Cambria Math" panose="02040503050406030204" pitchFamily="18" charset="0"/>
                  </a:rPr>
                  <a:t>$\tan B=\frac12$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$\tan\delta=\frac34$</a:t>
                </a:r>
                <a:r>
                  <a:rPr sz="2400" b="0">
                    <a:solidFill>
                      <a:srgbClr val="111827"/>
                    </a:solidFill>
                    <a:latin typeface="Arial"/>
                  </a:rPr>
                  <a:t>, so </a:t>
                </a:r>
                <a:r>
                  <a:rPr lang="en-IN" sz="2400">
                    <a:solidFill>
                      <a:srgbClr val="111827"/>
                    </a:solidFill>
                    <a:latin typeface="Cambria Math" panose="02040503050406030204" pitchFamily="18" charset="0"/>
                  </a:rPr>
                  <a:t>$\tan A=\frac{\frac12+\frac34}{1-\frac12\cdot\frac34}=\frac{5/4}{5/8}=2$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acute gives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 A\tan B=1$</a:t>
                </a:r>
                <a:r>
                  <a:rPr sz="2400" b="0">
                    <a:solidFill>
                      <a:srgbClr val="111827"/>
                    </a:solidFill>
                    <a:latin typeface="Arial"/>
                  </a:rPr>
                  <a:t> with </a:t>
                </a:r>
                <a:r>
                  <a:rPr lang="en-IN" sz="2400">
                    <a:solidFill>
                      <a:srgbClr val="111827"/>
                    </a:solidFill>
                    <a:latin typeface="Cambria Math" panose="02040503050406030204" pitchFamily="18" charset="0"/>
                  </a:rPr>
                  <a:t>$A,B$</a:t>
                </a:r>
                <a:r>
                  <a:rPr sz="2400" b="0">
                    <a:solidFill>
                      <a:srgbClr val="111827"/>
                    </a:solidFill>
                    <a:latin typeface="Arial"/>
                  </a:rPr>
                  <a:t> acute gives </a:t>
                </a:r>
                <a:r>
                  <a:rPr lang="en-IN" sz="2400">
                    <a:solidFill>
                      <a:srgbClr val="111827"/>
                    </a:solidFill>
                    <a:latin typeface="Cambria Math" panose="02040503050406030204" pitchFamily="18" charset="0"/>
                  </a:rPr>
                  <a:t>$A+B=90^\circ$</a:t>
                </a:r>
                <a:r>
                  <a:rPr sz="2400" b="0">
                    <a:solidFill>
                      <a:srgbClr val="111827"/>
                    </a:solidFill>
                    <a:latin typeface="Arial"/>
                  </a:rPr>
                  <a:t>, so </a:t>
                </a:r>
                <a:r>
                  <a:rPr lang="en-IN" sz="2400">
                    <a:solidFill>
                      <a:srgbClr val="111827"/>
                    </a:solidFill>
                    <a:latin typeface="Cambria Math" panose="02040503050406030204" pitchFamily="18" charset="0"/>
                  </a:rPr>
                  <a:t>$C=90^\circ$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$=\frac12ab=\frac12\cdot6\cdot3=9$</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9</m:t>
                    </m:r>
                  </m:oMath>
                </a14:m>
                <a:r>
                  <a:rPr sz="2800" b="1">
                    <a:solidFill>
                      <a:srgbClr val="15803D"/>
                    </a:solidFill>
                    <a:latin typeface="Arial"/>
                  </a:rPr>
                  <a:t> sq. unit</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$9$</a:t>
                </a:r>
                <a:r>
                  <a:rPr sz="2800" b="1">
                    <a:solidFill>
                      <a:srgbClr val="15803D"/>
                    </a:solidFill>
                    <a:latin typeface="Arial"/>
                  </a:rPr>
                  <a:t> sq. unit</a:t>
                </a:r>
                <a:endParaRPr sz="2800">
                  <a:solidFill>
                    <a:srgbClr val="15803D"/>
                  </a:solidFill>
                </a:endParaRPr>
              </a:p>
            </p:txBody>
          </p:sp>
        </mc:Fallback>
      </mc:AlternateContent>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Napier's analogy: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given two sides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it yields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without finding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are acute and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the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-type configuration: the triangle is right-angled with legs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Napier's analogy: </a:t>
                </a:r>
                <a:r>
                  <a:rPr lang="en-IN" sz="2400">
                    <a:solidFill>
                      <a:srgbClr val="111827"/>
                    </a:solidFill>
                    <a:latin typeface="Cambria Math" panose="02040503050406030204" pitchFamily="18" charset="0"/>
                  </a:rPr>
                  <a:t>$\tan\frac{A-B}2=\frac{a-b}{a+b}\cot\frac C2$</a:t>
                </a:r>
                <a:r>
                  <a:rPr sz="2400" b="0">
                    <a:solidFill>
                      <a:srgbClr val="111827"/>
                    </a:solidFill>
                    <a:latin typeface="Arial"/>
                  </a:rPr>
                  <a:t>; given two sides and </a:t>
                </a:r>
                <a:r>
                  <a:rPr lang="en-IN" sz="2400">
                    <a:solidFill>
                      <a:srgbClr val="111827"/>
                    </a:solidFill>
                    <a:latin typeface="Cambria Math" panose="02040503050406030204" pitchFamily="18" charset="0"/>
                  </a:rPr>
                  <a:t>$A-B$</a:t>
                </a:r>
                <a:r>
                  <a:rPr sz="2400" b="0">
                    <a:solidFill>
                      <a:srgbClr val="111827"/>
                    </a:solidFill>
                    <a:latin typeface="Arial"/>
                  </a:rPr>
                  <a:t> it yields </a:t>
                </a:r>
                <a:r>
                  <a:rPr lang="en-IN" sz="2400">
                    <a:solidFill>
                      <a:srgbClr val="111827"/>
                    </a:solidFill>
                    <a:latin typeface="Cambria Math" panose="02040503050406030204" pitchFamily="18" charset="0"/>
                  </a:rPr>
                  <a:t>$C$</a:t>
                </a:r>
                <a:r>
                  <a:rPr sz="2400" b="0">
                    <a:solidFill>
                      <a:srgbClr val="111827"/>
                    </a:solidFill>
                    <a:latin typeface="Arial"/>
                  </a:rPr>
                  <a:t> without finding </a:t>
                </a:r>
                <a:r>
                  <a:rPr lang="en-IN" sz="2400">
                    <a:solidFill>
                      <a:srgbClr val="111827"/>
                    </a:solidFill>
                    <a:latin typeface="Cambria Math" panose="02040503050406030204" pitchFamily="18" charset="0"/>
                  </a:rPr>
                  <a:t>$A$</a:t>
                </a:r>
                <a:r>
                  <a:rPr sz="2400" b="0">
                    <a:solidFill>
                      <a:srgbClr val="111827"/>
                    </a:solidFill>
                    <a:latin typeface="Arial"/>
                  </a:rPr>
                  <a:t> or </a:t>
                </a:r>
                <a:r>
                  <a:rPr lang="en-IN" sz="2400">
                    <a:solidFill>
                      <a:srgbClr val="111827"/>
                    </a:solidFill>
                    <a:latin typeface="Cambria Math" panose="02040503050406030204" pitchFamily="18" charset="0"/>
                  </a:rPr>
                  <a:t>$B$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$A,B$</a:t>
                </a:r>
                <a:r>
                  <a:rPr sz="2400" b="0">
                    <a:solidFill>
                      <a:srgbClr val="111827"/>
                    </a:solidFill>
                    <a:latin typeface="Arial"/>
                  </a:rPr>
                  <a:t> are acute and </a:t>
                </a:r>
                <a:r>
                  <a:rPr lang="en-IN" sz="2400">
                    <a:solidFill>
                      <a:srgbClr val="111827"/>
                    </a:solidFill>
                    <a:latin typeface="Cambria Math" panose="02040503050406030204" pitchFamily="18" charset="0"/>
                  </a:rPr>
                  <a:t>$\tan A\tan B=1$</a:t>
                </a:r>
                <a:r>
                  <a:rPr sz="2400" b="0">
                    <a:solidFill>
                      <a:srgbClr val="111827"/>
                    </a:solidFill>
                    <a:latin typeface="Arial"/>
                  </a:rPr>
                  <a:t> then </a:t>
                </a:r>
                <a:r>
                  <a:rPr lang="en-IN" sz="2400">
                    <a:solidFill>
                      <a:srgbClr val="111827"/>
                    </a:solidFill>
                    <a:latin typeface="Cambria Math" panose="02040503050406030204" pitchFamily="18" charset="0"/>
                  </a:rPr>
                  <a:t>$A+B=90^\circ$</a:t>
                </a:r>
                <a:r>
                  <a:rPr sz="2400" b="0">
                    <a:solidFill>
                      <a:srgbClr val="111827"/>
                    </a:solidFill>
                    <a:latin typeface="Arial"/>
                  </a:rPr>
                  <a:t>, i.e. </a:t>
                </a:r>
                <a:r>
                  <a:rPr lang="en-IN" sz="2400">
                    <a:solidFill>
                      <a:srgbClr val="111827"/>
                    </a:solidFill>
                    <a:latin typeface="Cambria Math" panose="02040503050406030204" pitchFamily="18" charset="0"/>
                  </a:rPr>
                  <a:t>$C=90^\circ$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$\cos(A-B)=\frac45$</a:t>
                </a:r>
                <a:r>
                  <a:rPr sz="2400" b="0">
                    <a:solidFill>
                      <a:srgbClr val="111827"/>
                    </a:solidFill>
                    <a:latin typeface="Arial"/>
                  </a:rPr>
                  <a:t> with </a:t>
                </a:r>
                <a:r>
                  <a:rPr lang="en-IN" sz="2400">
                    <a:solidFill>
                      <a:srgbClr val="111827"/>
                    </a:solidFill>
                    <a:latin typeface="Cambria Math" panose="02040503050406030204" pitchFamily="18" charset="0"/>
                  </a:rPr>
                  <a:t>$a:b=2:1$</a:t>
                </a:r>
                <a:r>
                  <a:rPr sz="2400" b="0">
                    <a:solidFill>
                      <a:srgbClr val="111827"/>
                    </a:solidFill>
                    <a:latin typeface="Arial"/>
                  </a:rPr>
                  <a:t> is the </a:t>
                </a:r>
                <a:r>
                  <a:rPr lang="en-IN" sz="2400">
                    <a:solidFill>
                      <a:srgbClr val="111827"/>
                    </a:solidFill>
                    <a:latin typeface="Cambria Math" panose="02040503050406030204" pitchFamily="18" charset="0"/>
                  </a:rPr>
                  <a:t>$3:4:5$</a:t>
                </a:r>
                <a:r>
                  <a:rPr sz="2400" b="0">
                    <a:solidFill>
                      <a:srgbClr val="111827"/>
                    </a:solidFill>
                    <a:latin typeface="Arial"/>
                  </a:rPr>
                  <a:t>-type configuration: the triangle is right-angled with legs </a:t>
                </a:r>
                <a:r>
                  <a:rPr lang="en-IN" sz="2400">
                    <a:solidFill>
                      <a:srgbClr val="111827"/>
                    </a:solidFill>
                    <a:latin typeface="Cambria Math" panose="02040503050406030204" pitchFamily="18" charset="0"/>
                  </a:rPr>
                  <a:t>$6$</a:t>
                </a:r>
                <a:r>
                  <a:rPr sz="2400" b="0">
                    <a:solidFill>
                      <a:srgbClr val="111827"/>
                    </a:solidFill>
                    <a:latin typeface="Arial"/>
                  </a:rPr>
                  <a:t> and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$\tan A=2$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9</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Subjective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Q14 – Q17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Prove / find; complete solution with alternate method and result</a:t>
            </a:r>
            <a:endParaRPr sz="2800">
              <a:solidFill>
                <a:srgbClr val="FFFFFF"/>
              </a:solidFill>
            </a:endParaRP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70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den>
                    </m:f>
                  </m:oMath>
                </a14:m>
                <a:r>
                  <a:rPr sz="2400" b="0">
                    <a:solidFill>
                      <a:srgbClr val="111827"/>
                    </a:solidFill>
                    <a:latin typeface="Arial"/>
                  </a:rPr>
                  <a:t> (ii)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oMath>
                </a14:m>
                <a:r>
                  <a:rPr sz="2400" b="0">
                    <a:solidFill>
                      <a:srgbClr val="111827"/>
                    </a:solidFill>
                    <a:latin typeface="Arial"/>
                  </a:rPr>
                  <a:t> (iii) </a:t>
                </a:r>
                <a14:m>
                  <m:oMath xmlns:m="http://schemas.openxmlformats.org/officeDocument/2006/math">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Prove that (i)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(ii)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(iii)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a:t>
                </a:r>
                <a:endParaRPr sz="2400">
                  <a:solidFill>
                    <a:srgbClr val="111827"/>
                  </a:solidFill>
                </a:endParaRPr>
              </a:p>
            </p:txBody>
          </p:sp>
        </mc:Choice>
        <mc:Fallback>
          <p:sp>
            <p:nvSpPr>
              <p:cNvPr id="4" name="Rounded Rectangle 3"/>
              <p:cNvSpPr/>
              <p:nvPr/>
            </p:nvSpPr>
            <p:spPr>
              <a:xfrm>
                <a:off x="731520" y="1280160"/>
                <a:ext cx="10725912" cy="24470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In a </a:t>
                </a:r>
                <a:r>
                  <a:rPr lang="en-IN" sz="2400">
                    <a:solidFill>
                      <a:srgbClr val="111827"/>
                    </a:solidFill>
                    <a:latin typeface="Cambria Math" panose="02040503050406030204" pitchFamily="18" charset="0"/>
                  </a:rPr>
                  <a:t>$\triangle ABC$</a:t>
                </a:r>
                <a:r>
                  <a:rPr sz="2400" b="0">
                    <a:solidFill>
                      <a:srgbClr val="111827"/>
                    </a:solidFill>
                    <a:latin typeface="Arial"/>
                  </a:rPr>
                  <a:t>, (i) </a:t>
                </a:r>
                <a:r>
                  <a:rPr lang="en-IN" sz="2400">
                    <a:solidFill>
                      <a:srgbClr val="111827"/>
                    </a:solidFill>
                    <a:latin typeface="Cambria Math" panose="02040503050406030204" pitchFamily="18" charset="0"/>
                  </a:rPr>
                  <a:t>$\frac a{\cos A}=\frac b{\cos B}$</a:t>
                </a:r>
                <a:r>
                  <a:rPr sz="2400" b="0">
                    <a:solidFill>
                      <a:srgbClr val="111827"/>
                    </a:solidFill>
                    <a:latin typeface="Arial"/>
                  </a:rPr>
                  <a:t> (ii) </a:t>
                </a:r>
                <a:r>
                  <a:rPr lang="en-IN" sz="2400">
                    <a:solidFill>
                      <a:srgbClr val="111827"/>
                    </a:solidFill>
                    <a:latin typeface="Cambria Math" panose="02040503050406030204" pitchFamily="18" charset="0"/>
                  </a:rPr>
                  <a:t>$2\sin A\cos B=\sin C$</a:t>
                </a:r>
                <a:r>
                  <a:rPr sz="2400" b="0">
                    <a:solidFill>
                      <a:srgbClr val="111827"/>
                    </a:solidFill>
                    <a:latin typeface="Arial"/>
                  </a:rPr>
                  <a:t> (iii) </a:t>
                </a:r>
                <a:r>
                  <a:rPr lang="en-IN" sz="2400">
                    <a:solidFill>
                      <a:srgbClr val="111827"/>
                    </a:solidFill>
                    <a:latin typeface="Cambria Math" panose="02040503050406030204" pitchFamily="18" charset="0"/>
                  </a:rPr>
                  <a:t>$\tan^2\frac A2+2\tan\frac A2\tan\frac C2-1=0$</a:t>
                </a:r>
                <a:r>
                  <a:rPr sz="2400" b="0">
                    <a:solidFill>
                      <a:srgbClr val="111827"/>
                    </a:solidFill>
                    <a:latin typeface="Arial"/>
                  </a:rPr>
                  <a:t>. Prove that (i) </a:t>
                </a:r>
                <a:r>
                  <a:rPr lang="en-IN" sz="2400">
                    <a:solidFill>
                      <a:srgbClr val="111827"/>
                    </a:solidFill>
                    <a:latin typeface="Cambria Math" panose="02040503050406030204" pitchFamily="18" charset="0"/>
                  </a:rPr>
                  <a:t>$\Rightarrow$</a:t>
                </a:r>
                <a:r>
                  <a:rPr sz="2400" b="0">
                    <a:solidFill>
                      <a:srgbClr val="111827"/>
                    </a:solidFill>
                    <a:latin typeface="Arial"/>
                  </a:rPr>
                  <a:t> (ii) </a:t>
                </a:r>
                <a:r>
                  <a:rPr lang="en-IN" sz="2400">
                    <a:solidFill>
                      <a:srgbClr val="111827"/>
                    </a:solidFill>
                    <a:latin typeface="Cambria Math" panose="02040503050406030204" pitchFamily="18" charset="0"/>
                  </a:rPr>
                  <a:t>$\Rightarrow$</a:t>
                </a:r>
                <a:r>
                  <a:rPr sz="2400" b="0">
                    <a:solidFill>
                      <a:srgbClr val="111827"/>
                    </a:solidFill>
                    <a:latin typeface="Arial"/>
                  </a:rPr>
                  <a:t> (iii) </a:t>
                </a:r>
                <a:r>
                  <a:rPr lang="en-IN" sz="2400">
                    <a:solidFill>
                      <a:srgbClr val="111827"/>
                    </a:solidFill>
                    <a:latin typeface="Cambria Math" panose="02040503050406030204" pitchFamily="18" charset="0"/>
                  </a:rPr>
                  <a:t>$\Rightarrow$</a:t>
                </a:r>
                <a:r>
                  <a:rPr sz="2400" b="0">
                    <a:solidFill>
                      <a:srgbClr val="111827"/>
                    </a:solidFill>
                    <a:latin typeface="Arial"/>
                  </a:rPr>
                  <a:t> (i).</a:t>
                </a:r>
                <a:endParaRPr sz="2400">
                  <a:solidFill>
                    <a:srgbClr val="111827"/>
                  </a:solidFill>
                </a:endParaRPr>
              </a:p>
            </p:txBody>
          </p:sp>
        </mc:Fallback>
      </mc:AlternateContent>
      <p:sp>
        <p:nvSpPr>
          <p:cNvPr id="5" name="Rectangle 4"/>
          <p:cNvSpPr/>
          <p:nvPr/>
        </p:nvSpPr>
        <p:spPr>
          <a:xfrm>
            <a:off x="731520" y="39557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Isosceles-triangle conditions: cosine rule, sine rule and half-angle tangents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Every condition reduces to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 for (iii) use </a:t>
                </a:r>
                <a14:m>
                  <m:oMath xmlns:m="http://schemas.openxmlformats.org/officeDocument/2006/math">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for the half-angle tangents, which makes (iii) factor as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Every condition reduces to </a:t>
                </a:r>
                <a:r>
                  <a:rPr lang="en-IN" sz="2400">
                    <a:solidFill>
                      <a:srgbClr val="78350F"/>
                    </a:solidFill>
                    <a:latin typeface="Cambria Math" panose="02040503050406030204" pitchFamily="18" charset="0"/>
                  </a:rPr>
                  <a:t>$A=B$</a:t>
                </a:r>
                <a:r>
                  <a:rPr sz="2400" b="0">
                    <a:solidFill>
                      <a:srgbClr val="78350F"/>
                    </a:solidFill>
                    <a:latin typeface="Arial"/>
                  </a:rPr>
                  <a:t>; for (iii) use </a:t>
                </a:r>
                <a:r>
                  <a:rPr lang="en-IN" sz="2400">
                    <a:solidFill>
                      <a:srgbClr val="78350F"/>
                    </a:solidFill>
                    <a:latin typeface="Cambria Math" panose="02040503050406030204" pitchFamily="18" charset="0"/>
                  </a:rPr>
                  <a:t>$xy+yz+zx=1$</a:t>
                </a:r>
                <a:r>
                  <a:rPr sz="2400" b="0">
                    <a:solidFill>
                      <a:srgbClr val="78350F"/>
                    </a:solidFill>
                    <a:latin typeface="Arial"/>
                  </a:rPr>
                  <a:t> for the half-angle tangents, which makes (iii) factor as </a:t>
                </a:r>
                <a:r>
                  <a:rPr lang="en-IN" sz="2400">
                    <a:solidFill>
                      <a:srgbClr val="78350F"/>
                    </a:solidFill>
                    <a:latin typeface="Cambria Math" panose="02040503050406030204" pitchFamily="18" charset="0"/>
                  </a:rPr>
                  <a:t>$(x-y)(x+z)=0$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(ii):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Cosine rule: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oMath>
                </a14:m>
                <a:r>
                  <a:rPr sz="2400" b="0">
                    <a:solidFill>
                      <a:srgbClr val="111827"/>
                    </a:solidFill>
                    <a:latin typeface="Arial"/>
                  </a:rPr>
                  <a:t>: (ii) holds.</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 </a:t>
                </a:r>
                <a:r>
                  <a:rPr lang="en-IN" sz="2400">
                    <a:solidFill>
                      <a:srgbClr val="111827"/>
                    </a:solidFill>
                    <a:latin typeface="Cambria Math" panose="02040503050406030204" pitchFamily="18" charset="0"/>
                  </a:rPr>
                  <a:t>$\Rightarrow$</a:t>
                </a:r>
                <a:r>
                  <a:rPr sz="2400" b="0">
                    <a:solidFill>
                      <a:srgbClr val="111827"/>
                    </a:solidFill>
                    <a:latin typeface="Arial"/>
                  </a:rPr>
                  <a:t> (ii): </a:t>
                </a:r>
                <a:r>
                  <a:rPr lang="en-IN" sz="2400">
                    <a:solidFill>
                      <a:srgbClr val="111827"/>
                    </a:solidFill>
                    <a:latin typeface="Cambria Math" panose="02040503050406030204" pitchFamily="18" charset="0"/>
                  </a:rPr>
                  <a:t>$\frac a{\cos A}=\frac b{\cos B}\Rightarrow a\cos B=b\cos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Cosine rule: </a:t>
                </a:r>
                <a:r>
                  <a:rPr lang="en-IN" sz="2400">
                    <a:solidFill>
                      <a:srgbClr val="111827"/>
                    </a:solidFill>
                    <a:latin typeface="Cambria Math" panose="02040503050406030204" pitchFamily="18" charset="0"/>
                  </a:rPr>
                  <a:t>$a\cdot\frac{a^2+c^2-b^2}{2ac}=b\cdot\frac{b^2+c^2-a^2}{2bc}\Rightarrow a^2+c^2-b^2=b^2+c^2-a^2$</a:t>
                </a:r>
                <a:r>
                  <a:rPr sz="2400" b="0">
                    <a:solidFill>
                      <a:srgbClr val="111827"/>
                    </a:solidFill>
                    <a:latin typeface="Arial"/>
                  </a:rPr>
                  <a:t>, so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$C=\pi-2A$</a:t>
                </a:r>
                <a:r>
                  <a:rPr sz="2400" b="0">
                    <a:solidFill>
                      <a:srgbClr val="111827"/>
                    </a:solidFill>
                    <a:latin typeface="Arial"/>
                  </a:rPr>
                  <a:t> and </a:t>
                </a:r>
                <a:r>
                  <a:rPr lang="en-IN" sz="2400">
                    <a:solidFill>
                      <a:srgbClr val="111827"/>
                    </a:solidFill>
                    <a:latin typeface="Cambria Math" panose="02040503050406030204" pitchFamily="18" charset="0"/>
                  </a:rPr>
                  <a:t>$2\sin A\cos B=2\sin A\cos A=\sin2A=\sin(\pi-2A)=\sin C$</a:t>
                </a:r>
                <a:r>
                  <a:rPr sz="2400" b="0">
                    <a:solidFill>
                      <a:srgbClr val="111827"/>
                    </a:solidFill>
                    <a:latin typeface="Arial"/>
                  </a:rPr>
                  <a:t>: (ii) holds.</a:t>
                </a:r>
                <a:endParaRPr sz="2400">
                  <a:solidFill>
                    <a:srgbClr val="111827"/>
                  </a:solidFill>
                </a:endParaRPr>
              </a:p>
            </p:txBody>
          </p:sp>
        </mc:Fallback>
      </mc:AlternateContent>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(ii)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(iii):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oMath>
                </a14:m>
                <a:r>
                  <a:rPr sz="2400" b="0">
                    <a:solidFill>
                      <a:srgbClr val="111827"/>
                    </a:solidFill>
                    <a:latin typeface="Arial"/>
                  </a:rPr>
                  <a:t>, so (ii) gives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π</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14:m>
                  <m:oMath xmlns:m="http://schemas.openxmlformats.org/officeDocument/2006/math">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(iii) holds.</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(ii) </a:t>
                </a:r>
                <a:r>
                  <a:rPr lang="en-IN" sz="2400">
                    <a:solidFill>
                      <a:srgbClr val="111827"/>
                    </a:solidFill>
                    <a:latin typeface="Cambria Math" panose="02040503050406030204" pitchFamily="18" charset="0"/>
                  </a:rPr>
                  <a:t>$\Rightarrow$</a:t>
                </a:r>
                <a:r>
                  <a:rPr sz="2400" b="0">
                    <a:solidFill>
                      <a:srgbClr val="111827"/>
                    </a:solidFill>
                    <a:latin typeface="Arial"/>
                  </a:rPr>
                  <a:t> (iii): </a:t>
                </a:r>
                <a:r>
                  <a:rPr lang="en-IN" sz="2400">
                    <a:solidFill>
                      <a:srgbClr val="111827"/>
                    </a:solidFill>
                    <a:latin typeface="Cambria Math" panose="02040503050406030204" pitchFamily="18" charset="0"/>
                  </a:rPr>
                  <a:t>$\sin C=\sin(A+B)=\sin A\cos B+\cos A\sin B$</a:t>
                </a:r>
                <a:r>
                  <a:rPr sz="2400" b="0">
                    <a:solidFill>
                      <a:srgbClr val="111827"/>
                    </a:solidFill>
                    <a:latin typeface="Arial"/>
                  </a:rPr>
                  <a:t>, so (ii) gives </a:t>
                </a:r>
                <a:r>
                  <a:rPr lang="en-IN" sz="2400">
                    <a:solidFill>
                      <a:srgbClr val="111827"/>
                    </a:solidFill>
                    <a:latin typeface="Cambria Math" panose="02040503050406030204" pitchFamily="18" charset="0"/>
                  </a:rPr>
                  <a:t>$\sin A\cos B=\cos A\sin B$</a:t>
                </a:r>
                <a:r>
                  <a:rPr sz="2400" b="0">
                    <a:solidFill>
                      <a:srgbClr val="111827"/>
                    </a:solidFill>
                    <a:latin typeface="Arial"/>
                  </a:rPr>
                  <a:t>, i.e. </a:t>
                </a:r>
                <a:r>
                  <a:rPr lang="en-IN" sz="2400">
                    <a:solidFill>
                      <a:srgbClr val="111827"/>
                    </a:solidFill>
                    <a:latin typeface="Cambria Math" panose="02040503050406030204" pitchFamily="18" charset="0"/>
                  </a:rPr>
                  <a:t>$\sin(A-B)=0$</a:t>
                </a:r>
                <a:r>
                  <a:rPr sz="2400" b="0">
                    <a:solidFill>
                      <a:srgbClr val="111827"/>
                    </a:solidFill>
                    <a:latin typeface="Arial"/>
                  </a:rPr>
                  <a:t>; as </a:t>
                </a:r>
                <a:r>
                  <a:rPr lang="en-IN" sz="2400">
                    <a:solidFill>
                      <a:srgbClr val="111827"/>
                    </a:solidFill>
                    <a:latin typeface="Cambria Math" panose="02040503050406030204" pitchFamily="18" charset="0"/>
                  </a:rPr>
                  <a:t>$|A-B|&lt;\pi$</a:t>
                </a:r>
                <a:r>
                  <a:rPr sz="2400" b="0">
                    <a:solidFill>
                      <a:srgbClr val="111827"/>
                    </a:solidFill>
                    <a:latin typeface="Arial"/>
                  </a:rPr>
                  <a:t>,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$C=\pi-2A$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$\frac C2=\frac\pi2-A$</a:t>
                </a:r>
                <a:r>
                  <a:rPr sz="2400" b="0">
                    <a:solidFill>
                      <a:srgbClr val="111827"/>
                    </a:solidFill>
                    <a:latin typeface="Arial"/>
                  </a:rPr>
                  <a:t> and </a:t>
                </a:r>
                <a:r>
                  <a:rPr lang="en-IN" sz="2400">
                    <a:solidFill>
                      <a:srgbClr val="111827"/>
                    </a:solidFill>
                    <a:latin typeface="Cambria Math" panose="02040503050406030204" pitchFamily="18" charset="0"/>
                  </a:rPr>
                  <a:t>$\tan\frac C2=\cot A=\frac{1-\tan^2\frac A2}{2\tan\frac 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a:t>
                </a:r>
                <a:r>
                  <a:rPr lang="en-IN" sz="2400">
                    <a:solidFill>
                      <a:srgbClr val="111827"/>
                    </a:solidFill>
                    <a:latin typeface="Cambria Math" panose="02040503050406030204" pitchFamily="18" charset="0"/>
                  </a:rPr>
                  <a:t>$\tan^2\frac A2+2\tan\frac A2\cdot\frac{1-\tan^2\frac A2}{2\tan\frac A2}-1=\tan^2\frac A2+1-\tan^2\frac A2-1=0$</a:t>
                </a:r>
                <a:r>
                  <a:rPr sz="2400" b="0">
                    <a:solidFill>
                      <a:srgbClr val="111827"/>
                    </a:solidFill>
                    <a:latin typeface="Arial"/>
                  </a:rPr>
                  <a:t>: (iii) holds.</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(iii)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 let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in every triangle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(iii) reads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(sine rule) and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oMath>
                </a14:m>
                <a:r>
                  <a:rPr sz="2400" b="0">
                    <a:solidFill>
                      <a:srgbClr val="111827"/>
                    </a:solidFill>
                    <a:latin typeface="Arial"/>
                  </a:rPr>
                  <a:t>, hence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den>
                    </m:f>
                  </m:oMath>
                </a14:m>
                <a:r>
                  <a:rPr sz="2400" b="0">
                    <a:solidFill>
                      <a:srgbClr val="111827"/>
                    </a:solidFill>
                    <a:latin typeface="Arial"/>
                  </a:rPr>
                  <a:t>: (i) holds. So (i)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(ii)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(iii)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(iii) </a:t>
                </a:r>
                <a:r>
                  <a:rPr lang="en-IN" sz="2400">
                    <a:solidFill>
                      <a:srgbClr val="111827"/>
                    </a:solidFill>
                    <a:latin typeface="Cambria Math" panose="02040503050406030204" pitchFamily="18" charset="0"/>
                  </a:rPr>
                  <a:t>$\Rightarrow$</a:t>
                </a:r>
                <a:r>
                  <a:rPr sz="2400" b="0">
                    <a:solidFill>
                      <a:srgbClr val="111827"/>
                    </a:solidFill>
                    <a:latin typeface="Arial"/>
                  </a:rPr>
                  <a:t> (i): let </a:t>
                </a:r>
                <a:r>
                  <a:rPr lang="en-IN" sz="2400">
                    <a:solidFill>
                      <a:srgbClr val="111827"/>
                    </a:solidFill>
                    <a:latin typeface="Cambria Math" panose="02040503050406030204" pitchFamily="18" charset="0"/>
                  </a:rPr>
                  <a:t>$x=\tan\frac A2$</a:t>
                </a:r>
                <a:r>
                  <a:rPr sz="2400" b="0">
                    <a:solidFill>
                      <a:srgbClr val="111827"/>
                    </a:solidFill>
                    <a:latin typeface="Arial"/>
                  </a:rPr>
                  <a:t>, </a:t>
                </a:r>
                <a:r>
                  <a:rPr lang="en-IN" sz="2400">
                    <a:solidFill>
                      <a:srgbClr val="111827"/>
                    </a:solidFill>
                    <a:latin typeface="Cambria Math" panose="02040503050406030204" pitchFamily="18" charset="0"/>
                  </a:rPr>
                  <a:t>$y=\tan\frac B2$</a:t>
                </a:r>
                <a:r>
                  <a:rPr sz="2400" b="0">
                    <a:solidFill>
                      <a:srgbClr val="111827"/>
                    </a:solidFill>
                    <a:latin typeface="Arial"/>
                  </a:rPr>
                  <a:t>, </a:t>
                </a:r>
                <a:r>
                  <a:rPr lang="en-IN" sz="2400">
                    <a:solidFill>
                      <a:srgbClr val="111827"/>
                    </a:solidFill>
                    <a:latin typeface="Cambria Math" panose="02040503050406030204" pitchFamily="18" charset="0"/>
                  </a:rPr>
                  <a:t>$z=\tan\frac C2$</a:t>
                </a:r>
                <a:r>
                  <a:rPr sz="2400" b="0">
                    <a:solidFill>
                      <a:srgbClr val="111827"/>
                    </a:solidFill>
                    <a:latin typeface="Arial"/>
                  </a:rPr>
                  <a:t>; in every triangle </a:t>
                </a:r>
                <a:r>
                  <a:rPr lang="en-IN" sz="2400">
                    <a:solidFill>
                      <a:srgbClr val="111827"/>
                    </a:solidFill>
                    <a:latin typeface="Cambria Math" panose="02040503050406030204" pitchFamily="18" charset="0"/>
                  </a:rPr>
                  <a:t>$xy+yz+zx=1$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(iii) reads </a:t>
                </a:r>
                <a:r>
                  <a:rPr lang="en-IN" sz="2400">
                    <a:solidFill>
                      <a:srgbClr val="111827"/>
                    </a:solidFill>
                    <a:latin typeface="Cambria Math" panose="02040503050406030204" pitchFamily="18" charset="0"/>
                  </a:rPr>
                  <a:t>$x^2+2xz=1=xy+yz+zx$</a:t>
                </a:r>
                <a:r>
                  <a:rPr sz="2400" b="0">
                    <a:solidFill>
                      <a:srgbClr val="111827"/>
                    </a:solidFill>
                    <a:latin typeface="Arial"/>
                  </a:rPr>
                  <a:t>, so </a:t>
                </a:r>
                <a:r>
                  <a:rPr lang="en-IN" sz="2400">
                    <a:solidFill>
                      <a:srgbClr val="111827"/>
                    </a:solidFill>
                    <a:latin typeface="Cambria Math" panose="02040503050406030204" pitchFamily="18" charset="0"/>
                  </a:rPr>
                  <a:t>$x^2+xz-xy-yz=0$</a:t>
                </a:r>
                <a:r>
                  <a:rPr sz="2400" b="0">
                    <a:solidFill>
                      <a:srgbClr val="111827"/>
                    </a:solidFill>
                    <a:latin typeface="Arial"/>
                  </a:rPr>
                  <a:t>, i.e. </a:t>
                </a:r>
                <a:r>
                  <a:rPr lang="en-IN" sz="2400">
                    <a:solidFill>
                      <a:srgbClr val="111827"/>
                    </a:solidFill>
                    <a:latin typeface="Cambria Math" panose="02040503050406030204" pitchFamily="18" charset="0"/>
                  </a:rPr>
                  <a:t>$(x-y)(x+z)=0$</a:t>
                </a:r>
                <a:r>
                  <a:rPr sz="2400" b="0">
                    <a:solidFill>
                      <a:srgbClr val="111827"/>
                    </a:solidFill>
                    <a:latin typeface="Arial"/>
                  </a:rPr>
                  <a:t>. As </a:t>
                </a:r>
                <a:r>
                  <a:rPr lang="en-IN" sz="2400">
                    <a:solidFill>
                      <a:srgbClr val="111827"/>
                    </a:solidFill>
                    <a:latin typeface="Cambria Math" panose="02040503050406030204" pitchFamily="18" charset="0"/>
                  </a:rPr>
                  <a:t>$x+z&gt;0$</a:t>
                </a:r>
                <a:r>
                  <a:rPr sz="2400" b="0">
                    <a:solidFill>
                      <a:srgbClr val="111827"/>
                    </a:solidFill>
                    <a:latin typeface="Arial"/>
                  </a:rPr>
                  <a:t>, </a:t>
                </a:r>
                <a:r>
                  <a:rPr lang="en-IN" sz="2400">
                    <a:solidFill>
                      <a:srgbClr val="111827"/>
                    </a:solidFill>
                    <a:latin typeface="Cambria Math" panose="02040503050406030204" pitchFamily="18" charset="0"/>
                  </a:rPr>
                  <a:t>$x=y$</a:t>
                </a:r>
                <a:r>
                  <a:rPr sz="2400" b="0">
                    <a:solidFill>
                      <a:srgbClr val="111827"/>
                    </a:solidFill>
                    <a:latin typeface="Arial"/>
                  </a:rPr>
                  <a:t>, so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$a=b$</a:t>
                </a:r>
                <a:r>
                  <a:rPr sz="2400" b="0">
                    <a:solidFill>
                      <a:srgbClr val="111827"/>
                    </a:solidFill>
                    <a:latin typeface="Arial"/>
                  </a:rPr>
                  <a:t> (sine rule) and </a:t>
                </a:r>
                <a:r>
                  <a:rPr lang="en-IN" sz="2400">
                    <a:solidFill>
                      <a:srgbClr val="111827"/>
                    </a:solidFill>
                    <a:latin typeface="Cambria Math" panose="02040503050406030204" pitchFamily="18" charset="0"/>
                  </a:rPr>
                  <a:t>$\cos A=\cos B$</a:t>
                </a:r>
                <a:r>
                  <a:rPr sz="2400" b="0">
                    <a:solidFill>
                      <a:srgbClr val="111827"/>
                    </a:solidFill>
                    <a:latin typeface="Arial"/>
                  </a:rPr>
                  <a:t>, hence </a:t>
                </a:r>
                <a:r>
                  <a:rPr lang="en-IN" sz="2400">
                    <a:solidFill>
                      <a:srgbClr val="111827"/>
                    </a:solidFill>
                    <a:latin typeface="Cambria Math" panose="02040503050406030204" pitchFamily="18" charset="0"/>
                  </a:rPr>
                  <a:t>$\frac a{\cos A}=\frac b{\cos B}$</a:t>
                </a:r>
                <a:r>
                  <a:rPr sz="2400" b="0">
                    <a:solidFill>
                      <a:srgbClr val="111827"/>
                    </a:solidFill>
                    <a:latin typeface="Arial"/>
                  </a:rPr>
                  <a:t>: (i) holds. So (i) </a:t>
                </a:r>
                <a:r>
                  <a:rPr lang="en-IN" sz="2400">
                    <a:solidFill>
                      <a:srgbClr val="111827"/>
                    </a:solidFill>
                    <a:latin typeface="Cambria Math" panose="02040503050406030204" pitchFamily="18" charset="0"/>
                  </a:rPr>
                  <a:t>$\Rightarrow$</a:t>
                </a:r>
                <a:r>
                  <a:rPr sz="2400" b="0">
                    <a:solidFill>
                      <a:srgbClr val="111827"/>
                    </a:solidFill>
                    <a:latin typeface="Arial"/>
                  </a:rPr>
                  <a:t> (ii) </a:t>
                </a:r>
                <a:r>
                  <a:rPr lang="en-IN" sz="2400">
                    <a:solidFill>
                      <a:srgbClr val="111827"/>
                    </a:solidFill>
                    <a:latin typeface="Cambria Math" panose="02040503050406030204" pitchFamily="18" charset="0"/>
                  </a:rPr>
                  <a:t>$\Rightarrow$</a:t>
                </a:r>
                <a:r>
                  <a:rPr sz="2400" b="0">
                    <a:solidFill>
                      <a:srgbClr val="111827"/>
                    </a:solidFill>
                    <a:latin typeface="Arial"/>
                  </a:rPr>
                  <a:t> (iii) </a:t>
                </a:r>
                <a:r>
                  <a:rPr lang="en-IN" sz="2400">
                    <a:solidFill>
                      <a:srgbClr val="111827"/>
                    </a:solidFill>
                    <a:latin typeface="Cambria Math" panose="02040503050406030204" pitchFamily="18" charset="0"/>
                  </a:rPr>
                  <a:t>$\Rightarrow$</a:t>
                </a:r>
                <a:r>
                  <a:rPr sz="2400" b="0">
                    <a:solidFill>
                      <a:srgbClr val="111827"/>
                    </a:solidFill>
                    <a:latin typeface="Arial"/>
                  </a:rPr>
                  <a:t> (i).</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each of (i), (ii), (iii) is equivalent to </a:t>
                </a:r>
                <a14:m>
                  <m:oMath xmlns:m="http://schemas.openxmlformats.org/officeDocument/2006/math">
                    <m:r>
                      <a:rPr lang="en-IN" sz="2800" i="1">
                        <a:solidFill>
                          <a:srgbClr val="15803D"/>
                        </a:solidFill>
                        <a:latin typeface="Cambria Math" panose="02040503050406030204" pitchFamily="18" charset="0"/>
                      </a:rPr>
                      <m:t>𝐴</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𝐵</m:t>
                    </m:r>
                  </m:oMath>
                </a14:m>
                <a:r>
                  <a:rPr sz="2800" b="1">
                    <a:solidFill>
                      <a:srgbClr val="15803D"/>
                    </a:solidFill>
                    <a:latin typeface="Arial"/>
                  </a:rPr>
                  <a:t>, so (i)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(ii)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(iii)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(i)</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each of (i), (ii), (iii) is equivalent to </a:t>
                </a:r>
                <a:r>
                  <a:rPr lang="en-IN" sz="2800">
                    <a:solidFill>
                      <a:srgbClr val="15803D"/>
                    </a:solidFill>
                    <a:latin typeface="Cambria Math" panose="02040503050406030204" pitchFamily="18" charset="0"/>
                  </a:rPr>
                  <a:t>$A=B$</a:t>
                </a:r>
                <a:r>
                  <a:rPr sz="2800" b="1">
                    <a:solidFill>
                      <a:srgbClr val="15803D"/>
                    </a:solidFill>
                    <a:latin typeface="Arial"/>
                  </a:rPr>
                  <a:t>, so (i) </a:t>
                </a:r>
                <a:r>
                  <a:rPr lang="en-IN" sz="2800">
                    <a:solidFill>
                      <a:srgbClr val="15803D"/>
                    </a:solidFill>
                    <a:latin typeface="Cambria Math" panose="02040503050406030204" pitchFamily="18" charset="0"/>
                  </a:rPr>
                  <a:t>$\Rightarrow$</a:t>
                </a:r>
                <a:r>
                  <a:rPr sz="2800" b="1">
                    <a:solidFill>
                      <a:srgbClr val="15803D"/>
                    </a:solidFill>
                    <a:latin typeface="Arial"/>
                  </a:rPr>
                  <a:t> (ii) </a:t>
                </a:r>
                <a:r>
                  <a:rPr lang="en-IN" sz="2800">
                    <a:solidFill>
                      <a:srgbClr val="15803D"/>
                    </a:solidFill>
                    <a:latin typeface="Cambria Math" panose="02040503050406030204" pitchFamily="18" charset="0"/>
                  </a:rPr>
                  <a:t>$\Rightarrow$</a:t>
                </a:r>
                <a:r>
                  <a:rPr sz="2800" b="1">
                    <a:solidFill>
                      <a:srgbClr val="15803D"/>
                    </a:solidFill>
                    <a:latin typeface="Arial"/>
                  </a:rPr>
                  <a:t> (iii) </a:t>
                </a:r>
                <a:r>
                  <a:rPr lang="en-IN" sz="2800">
                    <a:solidFill>
                      <a:srgbClr val="15803D"/>
                    </a:solidFill>
                    <a:latin typeface="Cambria Math" panose="02040503050406030204" pitchFamily="18" charset="0"/>
                  </a:rPr>
                  <a:t>$\Rightarrow$</a:t>
                </a:r>
                <a:r>
                  <a:rPr sz="2800" b="1">
                    <a:solidFill>
                      <a:srgbClr val="15803D"/>
                    </a:solidFill>
                    <a:latin typeface="Arial"/>
                  </a:rPr>
                  <a:t> (i)</a:t>
                </a:r>
                <a:endParaRPr sz="2800">
                  <a:solidFill>
                    <a:srgbClr val="15803D"/>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Show each of (i), (ii), (iii) is separately equivalent to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oMath>
                </a14:m>
                <a:r>
                  <a:rPr sz="2400" b="0">
                    <a:solidFill>
                      <a:srgbClr val="78350F"/>
                    </a:solidFill>
                    <a:latin typeface="Arial"/>
                  </a:rPr>
                  <a:t>; then the cycle of implications follows at once.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Show each of (i), (ii), (iii) is separately equivalent to </a:t>
                </a:r>
                <a:r>
                  <a:rPr lang="en-IN" sz="2400">
                    <a:solidFill>
                      <a:srgbClr val="78350F"/>
                    </a:solidFill>
                    <a:latin typeface="Cambria Math" panose="02040503050406030204" pitchFamily="18" charset="0"/>
                  </a:rPr>
                  <a:t>$A=B$</a:t>
                </a:r>
                <a:r>
                  <a:rPr sz="2400" b="0">
                    <a:solidFill>
                      <a:srgbClr val="78350F"/>
                    </a:solidFill>
                    <a:latin typeface="Arial"/>
                  </a:rPr>
                  <a:t>; then the cycle of implications follows at once.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 by the sine rule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num>
                      <m:den>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𝐵</m:t>
                    </m:r>
                  </m:oMath>
                </a14:m>
                <a:r>
                  <a:rPr sz="2400" b="0">
                    <a:solidFill>
                      <a:srgbClr val="111827"/>
                    </a:solidFill>
                    <a:latin typeface="Arial"/>
                  </a:rPr>
                  <a:t>. Two angles of a triangle with the same tangent are equal, so (i)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both are acute, so (i) is defined and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 by the sine rule </a:t>
                </a:r>
                <a:r>
                  <a:rPr lang="en-IN" sz="2400">
                    <a:solidFill>
                      <a:srgbClr val="111827"/>
                    </a:solidFill>
                    <a:latin typeface="Cambria Math" panose="02040503050406030204" pitchFamily="18" charset="0"/>
                  </a:rPr>
                  <a:t>$\frac a{\cos A}=\frac b{\cos B}\iff\frac{\sin A}{\cos A}=\frac{\sin B}{\cos B}\iff\tan A=\tan B$</a:t>
                </a:r>
                <a:r>
                  <a:rPr sz="2400" b="0">
                    <a:solidFill>
                      <a:srgbClr val="111827"/>
                    </a:solidFill>
                    <a:latin typeface="Arial"/>
                  </a:rPr>
                  <a:t>. Two angles of a triangle with the same tangent are equal, so (i) </a:t>
                </a:r>
                <a:r>
                  <a:rPr lang="en-IN" sz="2400">
                    <a:solidFill>
                      <a:srgbClr val="111827"/>
                    </a:solidFill>
                    <a:latin typeface="Cambria Math" panose="02040503050406030204" pitchFamily="18" charset="0"/>
                  </a:rPr>
                  <a:t>$\iff A=B$</a:t>
                </a:r>
                <a:r>
                  <a:rPr sz="2400" b="0">
                    <a:solidFill>
                      <a:srgbClr val="111827"/>
                    </a:solidFill>
                    <a:latin typeface="Arial"/>
                  </a:rPr>
                  <a:t> (if </a:t>
                </a:r>
                <a:r>
                  <a:rPr lang="en-IN" sz="2400">
                    <a:solidFill>
                      <a:srgbClr val="111827"/>
                    </a:solidFill>
                    <a:latin typeface="Cambria Math" panose="02040503050406030204" pitchFamily="18" charset="0"/>
                  </a:rPr>
                  <a:t>$A=B$</a:t>
                </a:r>
                <a:r>
                  <a:rPr sz="2400" b="0">
                    <a:solidFill>
                      <a:srgbClr val="111827"/>
                    </a:solidFill>
                    <a:latin typeface="Arial"/>
                  </a:rPr>
                  <a:t> both are acute, so (i) is defined and true).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a:t>
                </a:r>
                <a:r>
                  <a:rPr lang="en-IN" sz="2400">
                    <a:solidFill>
                      <a:srgbClr val="111827"/>
                    </a:solidFill>
                    <a:latin typeface="Cambria Math" panose="02040503050406030204" pitchFamily="18" charset="0"/>
                  </a:rPr>
                  <a:t>$2\sin A\cos B=\sin(A+B)=\sin A\cos B+\cos A\sin B\iff\sin(A-B)=0\iff 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(iii):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the half-angle tangents,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turns (iii) into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(i)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(ii)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(iii)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which contains (i)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(ii)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(iii)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(iii): with </a:t>
                </a:r>
                <a:r>
                  <a:rPr lang="en-IN" sz="2400">
                    <a:solidFill>
                      <a:srgbClr val="111827"/>
                    </a:solidFill>
                    <a:latin typeface="Cambria Math" panose="02040503050406030204" pitchFamily="18" charset="0"/>
                  </a:rPr>
                  <a:t>$x,y,z$</a:t>
                </a:r>
                <a:r>
                  <a:rPr sz="2400" b="0">
                    <a:solidFill>
                      <a:srgbClr val="111827"/>
                    </a:solidFill>
                    <a:latin typeface="Arial"/>
                  </a:rPr>
                  <a:t> the half-angle tangents, </a:t>
                </a:r>
                <a:r>
                  <a:rPr lang="en-IN" sz="2400">
                    <a:solidFill>
                      <a:srgbClr val="111827"/>
                    </a:solidFill>
                    <a:latin typeface="Cambria Math" panose="02040503050406030204" pitchFamily="18" charset="0"/>
                  </a:rPr>
                  <a:t>$xy+yz+zx=1$</a:t>
                </a:r>
                <a:r>
                  <a:rPr sz="2400" b="0">
                    <a:solidFill>
                      <a:srgbClr val="111827"/>
                    </a:solidFill>
                    <a:latin typeface="Arial"/>
                  </a:rPr>
                  <a:t> turns (iii) into </a:t>
                </a:r>
                <a:r>
                  <a:rPr lang="en-IN" sz="2400">
                    <a:solidFill>
                      <a:srgbClr val="111827"/>
                    </a:solidFill>
                    <a:latin typeface="Cambria Math" panose="02040503050406030204" pitchFamily="18" charset="0"/>
                  </a:rPr>
                  <a:t>$(x-y)(x+z)=0\iff x=y\iff 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(i) </a:t>
                </a:r>
                <a:r>
                  <a:rPr lang="en-IN" sz="2400">
                    <a:solidFill>
                      <a:srgbClr val="111827"/>
                    </a:solidFill>
                    <a:latin typeface="Cambria Math" panose="02040503050406030204" pitchFamily="18" charset="0"/>
                  </a:rPr>
                  <a:t>$\iff$</a:t>
                </a:r>
                <a:r>
                  <a:rPr sz="2400" b="0">
                    <a:solidFill>
                      <a:srgbClr val="111827"/>
                    </a:solidFill>
                    <a:latin typeface="Arial"/>
                  </a:rPr>
                  <a:t> (ii) </a:t>
                </a:r>
                <a:r>
                  <a:rPr lang="en-IN" sz="2400">
                    <a:solidFill>
                      <a:srgbClr val="111827"/>
                    </a:solidFill>
                    <a:latin typeface="Cambria Math" panose="02040503050406030204" pitchFamily="18" charset="0"/>
                  </a:rPr>
                  <a:t>$\iff$</a:t>
                </a:r>
                <a:r>
                  <a:rPr sz="2400" b="0">
                    <a:solidFill>
                      <a:srgbClr val="111827"/>
                    </a:solidFill>
                    <a:latin typeface="Arial"/>
                  </a:rPr>
                  <a:t> (iii) </a:t>
                </a:r>
                <a:r>
                  <a:rPr lang="en-IN" sz="2400">
                    <a:solidFill>
                      <a:srgbClr val="111827"/>
                    </a:solidFill>
                    <a:latin typeface="Cambria Math" panose="02040503050406030204" pitchFamily="18" charset="0"/>
                  </a:rPr>
                  <a:t>$\iff A=B$</a:t>
                </a:r>
                <a:r>
                  <a:rPr sz="2400" b="0">
                    <a:solidFill>
                      <a:srgbClr val="111827"/>
                    </a:solidFill>
                    <a:latin typeface="Arial"/>
                  </a:rPr>
                  <a:t>, which contains (i) </a:t>
                </a:r>
                <a:r>
                  <a:rPr lang="en-IN" sz="2400">
                    <a:solidFill>
                      <a:srgbClr val="111827"/>
                    </a:solidFill>
                    <a:latin typeface="Cambria Math" panose="02040503050406030204" pitchFamily="18" charset="0"/>
                  </a:rPr>
                  <a:t>$\Rightarrow$</a:t>
                </a:r>
                <a:r>
                  <a:rPr sz="2400" b="0">
                    <a:solidFill>
                      <a:srgbClr val="111827"/>
                    </a:solidFill>
                    <a:latin typeface="Arial"/>
                  </a:rPr>
                  <a:t> (ii) </a:t>
                </a:r>
                <a:r>
                  <a:rPr lang="en-IN" sz="2400">
                    <a:solidFill>
                      <a:srgbClr val="111827"/>
                    </a:solidFill>
                    <a:latin typeface="Cambria Math" panose="02040503050406030204" pitchFamily="18" charset="0"/>
                  </a:rPr>
                  <a:t>$\Rightarrow$</a:t>
                </a:r>
                <a:r>
                  <a:rPr sz="2400" b="0">
                    <a:solidFill>
                      <a:srgbClr val="111827"/>
                    </a:solidFill>
                    <a:latin typeface="Arial"/>
                  </a:rPr>
                  <a:t> (iii) </a:t>
                </a:r>
                <a:r>
                  <a:rPr lang="en-IN" sz="2400">
                    <a:solidFill>
                      <a:srgbClr val="111827"/>
                    </a:solidFill>
                    <a:latin typeface="Cambria Math" panose="02040503050406030204" pitchFamily="18" charset="0"/>
                  </a:rPr>
                  <a:t>$\Rightarrow$</a:t>
                </a:r>
                <a:r>
                  <a:rPr sz="2400" b="0">
                    <a:solidFill>
                      <a:srgbClr val="111827"/>
                    </a:solidFill>
                    <a:latin typeface="Arial"/>
                  </a:rPr>
                  <a:t> (i).</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each of (i), (ii), (iii) is equivalent to </a:t>
                </a:r>
                <a14:m>
                  <m:oMath xmlns:m="http://schemas.openxmlformats.org/officeDocument/2006/math">
                    <m:r>
                      <a:rPr lang="en-IN" sz="2800" i="1">
                        <a:solidFill>
                          <a:srgbClr val="15803D"/>
                        </a:solidFill>
                        <a:latin typeface="Cambria Math" panose="02040503050406030204" pitchFamily="18" charset="0"/>
                      </a:rPr>
                      <m:t>𝐴</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𝐵</m:t>
                    </m:r>
                  </m:oMath>
                </a14:m>
                <a:r>
                  <a:rPr sz="2800" b="1">
                    <a:solidFill>
                      <a:srgbClr val="15803D"/>
                    </a:solidFill>
                    <a:latin typeface="Arial"/>
                  </a:rPr>
                  <a:t>, so (i)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(ii)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(iii)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(i)</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each of (i), (ii), (iii) is equivalent to </a:t>
                </a:r>
                <a:r>
                  <a:rPr lang="en-IN" sz="2800">
                    <a:solidFill>
                      <a:srgbClr val="15803D"/>
                    </a:solidFill>
                    <a:latin typeface="Cambria Math" panose="02040503050406030204" pitchFamily="18" charset="0"/>
                  </a:rPr>
                  <a:t>$A=B$</a:t>
                </a:r>
                <a:r>
                  <a:rPr sz="2800" b="1">
                    <a:solidFill>
                      <a:srgbClr val="15803D"/>
                    </a:solidFill>
                    <a:latin typeface="Arial"/>
                  </a:rPr>
                  <a:t>, so (i) </a:t>
                </a:r>
                <a:r>
                  <a:rPr lang="en-IN" sz="2800">
                    <a:solidFill>
                      <a:srgbClr val="15803D"/>
                    </a:solidFill>
                    <a:latin typeface="Cambria Math" panose="02040503050406030204" pitchFamily="18" charset="0"/>
                  </a:rPr>
                  <a:t>$\Rightarrow$</a:t>
                </a:r>
                <a:r>
                  <a:rPr sz="2800" b="1">
                    <a:solidFill>
                      <a:srgbClr val="15803D"/>
                    </a:solidFill>
                    <a:latin typeface="Arial"/>
                  </a:rPr>
                  <a:t> (ii) </a:t>
                </a:r>
                <a:r>
                  <a:rPr lang="en-IN" sz="2800">
                    <a:solidFill>
                      <a:srgbClr val="15803D"/>
                    </a:solidFill>
                    <a:latin typeface="Cambria Math" panose="02040503050406030204" pitchFamily="18" charset="0"/>
                  </a:rPr>
                  <a:t>$\Rightarrow$</a:t>
                </a:r>
                <a:r>
                  <a:rPr sz="2800" b="1">
                    <a:solidFill>
                      <a:srgbClr val="15803D"/>
                    </a:solidFill>
                    <a:latin typeface="Arial"/>
                  </a:rPr>
                  <a:t> (iii) </a:t>
                </a:r>
                <a:r>
                  <a:rPr lang="en-IN" sz="2800">
                    <a:solidFill>
                      <a:srgbClr val="15803D"/>
                    </a:solidFill>
                    <a:latin typeface="Cambria Math" panose="02040503050406030204" pitchFamily="18" charset="0"/>
                  </a:rPr>
                  <a:t>$\Rightarrow$</a:t>
                </a:r>
                <a:r>
                  <a:rPr sz="2800" b="1">
                    <a:solidFill>
                      <a:srgbClr val="15803D"/>
                    </a:solidFill>
                    <a:latin typeface="Arial"/>
                  </a:rPr>
                  <a:t> (i)</a:t>
                </a:r>
                <a:endParaRPr sz="2800">
                  <a:solidFill>
                    <a:srgbClr val="15803D"/>
                  </a:solidFill>
                </a:endParaRPr>
              </a:p>
            </p:txBody>
          </p:sp>
        </mc:Fallback>
      </mc:AlternateContent>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every triangle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conditions such as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factor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 a one-line test for an isosceles triangle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more generally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oMath>
                </a14:m>
                <a:r>
                  <a:rPr sz="2400" b="0">
                    <a:solidFill>
                      <a:srgbClr val="111827"/>
                    </a:solidFill>
                    <a:latin typeface="Arial"/>
                  </a:rPr>
                  <a:t> holds iff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every triangle </a:t>
                </a:r>
                <a:r>
                  <a:rPr lang="en-IN" sz="2400">
                    <a:solidFill>
                      <a:srgbClr val="111827"/>
                    </a:solidFill>
                    <a:latin typeface="Cambria Math" panose="02040503050406030204" pitchFamily="18" charset="0"/>
                  </a:rPr>
                  <a:t>$\tan\frac A2\tan\frac B2+\tan\frac B2\tan\frac C2+\tan\frac C2\tan\frac A2=1$</a:t>
                </a:r>
                <a:r>
                  <a:rPr sz="2400" b="0">
                    <a:solidFill>
                      <a:srgbClr val="111827"/>
                    </a:solidFill>
                    <a:latin typeface="Arial"/>
                  </a:rPr>
                  <a:t>; conditions such as </a:t>
                </a:r>
                <a:r>
                  <a:rPr lang="en-IN" sz="2400">
                    <a:solidFill>
                      <a:srgbClr val="111827"/>
                    </a:solidFill>
                    <a:latin typeface="Cambria Math" panose="02040503050406030204" pitchFamily="18" charset="0"/>
                  </a:rPr>
                  <a:t>$x^2+2xz=1$</a:t>
                </a:r>
                <a:r>
                  <a:rPr sz="2400" b="0">
                    <a:solidFill>
                      <a:srgbClr val="111827"/>
                    </a:solidFill>
                    <a:latin typeface="Arial"/>
                  </a:rPr>
                  <a:t> then factor as </a:t>
                </a:r>
                <a:r>
                  <a:rPr lang="en-IN" sz="2400">
                    <a:solidFill>
                      <a:srgbClr val="111827"/>
                    </a:solidFill>
                    <a:latin typeface="Cambria Math" panose="02040503050406030204" pitchFamily="18" charset="0"/>
                  </a:rPr>
                  <a:t>$(x-y)(x+z)=0$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$2\sin A\cos B=\sin C\iff\sin(A-B)=0\iff A=B$</a:t>
                </a:r>
                <a:r>
                  <a:rPr sz="2400" b="0">
                    <a:solidFill>
                      <a:srgbClr val="111827"/>
                    </a:solidFill>
                    <a:latin typeface="Arial"/>
                  </a:rPr>
                  <a:t> - a one-line test for an isosceles triangle with </a:t>
                </a:r>
                <a:r>
                  <a:rPr lang="en-IN" sz="2400">
                    <a:solidFill>
                      <a:srgbClr val="111827"/>
                    </a:solidFill>
                    <a:latin typeface="Cambria Math" panose="02040503050406030204" pitchFamily="18" charset="0"/>
                  </a:rPr>
                  <a: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$a\cos B=b\cos A\iff\sin(A-B)=0\iff a=b$</a:t>
                </a:r>
                <a:r>
                  <a:rPr sz="2400" b="0">
                    <a:solidFill>
                      <a:srgbClr val="111827"/>
                    </a:solidFill>
                    <a:latin typeface="Arial"/>
                  </a:rPr>
                  <a:t>; more generally </a:t>
                </a:r>
                <a:r>
                  <a:rPr lang="en-IN" sz="2400">
                    <a:solidFill>
                      <a:srgbClr val="111827"/>
                    </a:solidFill>
                    <a:latin typeface="Cambria Math" panose="02040503050406030204" pitchFamily="18" charset="0"/>
                  </a:rPr>
                  <a:t>$a\cos A=b\cos B$</a:t>
                </a:r>
                <a:r>
                  <a:rPr sz="2400" b="0">
                    <a:solidFill>
                      <a:srgbClr val="111827"/>
                    </a:solidFill>
                    <a:latin typeface="Arial"/>
                  </a:rPr>
                  <a:t> holds iff </a:t>
                </a:r>
                <a:r>
                  <a:rPr lang="en-IN" sz="2400">
                    <a:solidFill>
                      <a:srgbClr val="111827"/>
                    </a:solidFill>
                    <a:latin typeface="Cambria Math" panose="02040503050406030204" pitchFamily="18" charset="0"/>
                  </a:rPr>
                  <a:t>$a=b$</a:t>
                </a:r>
                <a:r>
                  <a:rPr sz="2400" b="0">
                    <a:solidFill>
                      <a:srgbClr val="111827"/>
                    </a:solidFill>
                    <a:latin typeface="Arial"/>
                  </a:rPr>
                  <a:t> or </a:t>
                </a:r>
                <a:r>
                  <a:rPr lang="en-IN" sz="2400">
                    <a:solidFill>
                      <a:srgbClr val="111827"/>
                    </a:solidFill>
                    <a:latin typeface="Cambria Math" panose="02040503050406030204" pitchFamily="18" charset="0"/>
                  </a:rPr>
                  <a:t>$C=90^\circ$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sides of a triangle are of lengths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and the angle opposite to the smaller side is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How many such triangles are possible? Find the length of their third side and area.</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sides of a triangle are of lengths </a:t>
                </a:r>
                <a:r>
                  <a:rPr lang="en-IN" sz="2400">
                    <a:solidFill>
                      <a:srgbClr val="111827"/>
                    </a:solidFill>
                    <a:latin typeface="Cambria Math" panose="02040503050406030204" pitchFamily="18" charset="0"/>
                  </a:rPr>
                  <a:t>$\sqrt6$</a:t>
                </a:r>
                <a:r>
                  <a:rPr sz="2400" b="0">
                    <a:solidFill>
                      <a:srgbClr val="111827"/>
                    </a:solidFill>
                    <a:latin typeface="Arial"/>
                  </a:rPr>
                  <a:t> and </a:t>
                </a:r>
                <a:r>
                  <a:rPr lang="en-IN" sz="2400">
                    <a:solidFill>
                      <a:srgbClr val="111827"/>
                    </a:solidFill>
                    <a:latin typeface="Cambria Math" panose="02040503050406030204" pitchFamily="18" charset="0"/>
                  </a:rPr>
                  <a:t>$4$</a:t>
                </a:r>
                <a:r>
                  <a:rPr sz="2400" b="0">
                    <a:solidFill>
                      <a:srgbClr val="111827"/>
                    </a:solidFill>
                    <a:latin typeface="Arial"/>
                  </a:rPr>
                  <a:t> and the angle opposite to the smaller side is </a:t>
                </a:r>
                <a:r>
                  <a:rPr lang="en-IN" sz="2400">
                    <a:solidFill>
                      <a:srgbClr val="111827"/>
                    </a:solidFill>
                    <a:latin typeface="Cambria Math" panose="02040503050406030204" pitchFamily="18" charset="0"/>
                  </a:rPr>
                  <a:t>$30^\circ$</a:t>
                </a:r>
                <a:r>
                  <a:rPr sz="2400" b="0">
                    <a:solidFill>
                      <a:srgbClr val="111827"/>
                    </a:solidFill>
                    <a:latin typeface="Arial"/>
                  </a:rPr>
                  <a:t>. How many such triangles are possible? Find the length of their third side and area.</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Ambiguous case (SSA): cosine rule and number of triangles, Area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cosine rule on the </a:t>
                </a:r>
                <a14:m>
                  <m:oMath xmlns:m="http://schemas.openxmlformats.org/officeDocument/2006/math">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angle gives a quadratic for the third side; two positive roots mean two triangles.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cosine rule on the </a:t>
                </a:r>
                <a:r>
                  <a:rPr lang="en-IN" sz="2400">
                    <a:solidFill>
                      <a:srgbClr val="78350F"/>
                    </a:solidFill>
                    <a:latin typeface="Cambria Math" panose="02040503050406030204" pitchFamily="18" charset="0"/>
                  </a:rPr>
                  <a:t>$30^\circ$</a:t>
                </a:r>
                <a:r>
                  <a:rPr sz="2400" b="0">
                    <a:solidFill>
                      <a:srgbClr val="78350F"/>
                    </a:solidFill>
                    <a:latin typeface="Arial"/>
                  </a:rPr>
                  <a:t> angle gives a quadratic for the third side; two positive roots mean two triangles.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sides are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with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the angle opposite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 Let the third side be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Cosine rule: </a:t>
                </a:r>
                <a14:m>
                  <m:oMath xmlns:m="http://schemas.openxmlformats.org/officeDocument/2006/math">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𝑎</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sides are </a:t>
                </a:r>
                <a:r>
                  <a:rPr lang="en-IN" sz="2400">
                    <a:solidFill>
                      <a:srgbClr val="111827"/>
                    </a:solidFill>
                    <a:latin typeface="Cambria Math" panose="02040503050406030204" pitchFamily="18" charset="0"/>
                  </a:rPr>
                  <a:t>$\sqrt6$</a:t>
                </a:r>
                <a:r>
                  <a:rPr sz="2400" b="0">
                    <a:solidFill>
                      <a:srgbClr val="111827"/>
                    </a:solidFill>
                    <a:latin typeface="Arial"/>
                  </a:rPr>
                  <a:t> and </a:t>
                </a:r>
                <a:r>
                  <a:rPr lang="en-IN" sz="2400">
                    <a:solidFill>
                      <a:srgbClr val="111827"/>
                    </a:solidFill>
                    <a:latin typeface="Cambria Math" panose="02040503050406030204" pitchFamily="18" charset="0"/>
                  </a:rPr>
                  <a:t>$4$</a:t>
                </a:r>
                <a:r>
                  <a:rPr sz="2400" b="0">
                    <a:solidFill>
                      <a:srgbClr val="111827"/>
                    </a:solidFill>
                    <a:latin typeface="Arial"/>
                  </a:rPr>
                  <a:t> with </a:t>
                </a:r>
                <a:r>
                  <a:rPr lang="en-IN" sz="2400">
                    <a:solidFill>
                      <a:srgbClr val="111827"/>
                    </a:solidFill>
                    <a:latin typeface="Cambria Math" panose="02040503050406030204" pitchFamily="18" charset="0"/>
                  </a:rPr>
                  <a:t>$\sqrt6&lt;4$</a:t>
                </a:r>
                <a:r>
                  <a:rPr sz="2400" b="0">
                    <a:solidFill>
                      <a:srgbClr val="111827"/>
                    </a:solidFill>
                    <a:latin typeface="Arial"/>
                  </a:rPr>
                  <a:t>, so </a:t>
                </a:r>
                <a:r>
                  <a:rPr lang="en-IN" sz="2400">
                    <a:solidFill>
                      <a:srgbClr val="111827"/>
                    </a:solidFill>
                    <a:latin typeface="Cambria Math" panose="02040503050406030204" pitchFamily="18" charset="0"/>
                  </a:rPr>
                  <a:t>$30^\circ$</a:t>
                </a:r>
                <a:r>
                  <a:rPr sz="2400" b="0">
                    <a:solidFill>
                      <a:srgbClr val="111827"/>
                    </a:solidFill>
                    <a:latin typeface="Arial"/>
                  </a:rPr>
                  <a:t> is the angle opposite </a:t>
                </a:r>
                <a:r>
                  <a:rPr lang="en-IN" sz="2400">
                    <a:solidFill>
                      <a:srgbClr val="111827"/>
                    </a:solidFill>
                    <a:latin typeface="Cambria Math" panose="02040503050406030204" pitchFamily="18" charset="0"/>
                  </a:rPr>
                  <a:t>$\sqrt6$</a:t>
                </a:r>
                <a:r>
                  <a:rPr sz="2400" b="0">
                    <a:solidFill>
                      <a:srgbClr val="111827"/>
                    </a:solidFill>
                    <a:latin typeface="Arial"/>
                  </a:rPr>
                  <a:t>. Let the third side be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Cosine rule: </a:t>
                </a:r>
                <a:r>
                  <a:rPr lang="en-IN" sz="2400">
                    <a:solidFill>
                      <a:srgbClr val="111827"/>
                    </a:solidFill>
                    <a:latin typeface="Cambria Math" panose="02040503050406030204" pitchFamily="18" charset="0"/>
                  </a:rPr>
                  <a:t>$\cos30^\circ=\frac{a^2+16-6}{2a\cdot4}=\frac{\sqrt3}2$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$a^2+10=4\sqrt3a$</a:t>
                </a:r>
                <a:r>
                  <a:rPr sz="2400" b="0">
                    <a:solidFill>
                      <a:srgbClr val="111827"/>
                    </a:solidFill>
                    <a:latin typeface="Arial"/>
                  </a:rPr>
                  <a:t>, so </a:t>
                </a:r>
                <a:r>
                  <a:rPr lang="en-IN" sz="2400">
                    <a:solidFill>
                      <a:srgbClr val="111827"/>
                    </a:solidFill>
                    <a:latin typeface="Cambria Math" panose="02040503050406030204" pitchFamily="18" charset="0"/>
                  </a:rPr>
                  <a:t>$a^2-4\sqrt3a+10=0$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roots are positive, so two triangles are possible, with third side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angle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lies between the sides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so 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the areas are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sq. units.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$a=\frac{4\sqrt3\pm\sqrt{48-4\cdot1\cdot10}}2=\frac{4\sqrt3\pm2\sqrt2}2=2\sqrt3\pm\sqrt2$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roots are positive, so two triangles are possible, with third side </a:t>
                </a:r>
                <a:r>
                  <a:rPr lang="en-IN" sz="2400">
                    <a:solidFill>
                      <a:srgbClr val="111827"/>
                    </a:solidFill>
                    <a:latin typeface="Cambria Math" panose="02040503050406030204" pitchFamily="18" charset="0"/>
                  </a:rPr>
                  <a:t>$2\sqrt3+\sqrt2$</a:t>
                </a:r>
                <a:r>
                  <a:rPr sz="2400" b="0">
                    <a:solidFill>
                      <a:srgbClr val="111827"/>
                    </a:solidFill>
                    <a:latin typeface="Arial"/>
                  </a:rPr>
                  <a:t> or </a:t>
                </a:r>
                <a:r>
                  <a:rPr lang="en-IN" sz="2400">
                    <a:solidFill>
                      <a:srgbClr val="111827"/>
                    </a:solidFill>
                    <a:latin typeface="Cambria Math" panose="02040503050406030204" pitchFamily="18" charset="0"/>
                  </a:rPr>
                  <a:t>$2\sqrt3-\sqrt2$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angle </a:t>
                </a:r>
                <a:r>
                  <a:rPr lang="en-IN" sz="2400">
                    <a:solidFill>
                      <a:srgbClr val="111827"/>
                    </a:solidFill>
                    <a:latin typeface="Cambria Math" panose="02040503050406030204" pitchFamily="18" charset="0"/>
                  </a:rPr>
                  <a:t>$30^\circ$</a:t>
                </a:r>
                <a:r>
                  <a:rPr sz="2400" b="0">
                    <a:solidFill>
                      <a:srgbClr val="111827"/>
                    </a:solidFill>
                    <a:latin typeface="Arial"/>
                  </a:rPr>
                  <a:t> lies between the sides </a:t>
                </a:r>
                <a:r>
                  <a:rPr lang="en-IN" sz="2400">
                    <a:solidFill>
                      <a:srgbClr val="111827"/>
                    </a:solidFill>
                    <a:latin typeface="Cambria Math" panose="02040503050406030204" pitchFamily="18" charset="0"/>
                  </a:rPr>
                  <a:t>$4$</a:t>
                </a:r>
                <a:r>
                  <a:rPr sz="2400" b="0">
                    <a:solidFill>
                      <a:srgbClr val="111827"/>
                    </a:solidFill>
                    <a:latin typeface="Arial"/>
                  </a:rPr>
                  <a:t> and </a:t>
                </a:r>
                <a:r>
                  <a:rPr lang="en-IN" sz="2400">
                    <a:solidFill>
                      <a:srgbClr val="111827"/>
                    </a:solidFill>
                    <a:latin typeface="Cambria Math" panose="02040503050406030204" pitchFamily="18" charset="0"/>
                  </a:rPr>
                  <a:t>$a$</a:t>
                </a:r>
                <a:r>
                  <a:rPr sz="2400" b="0">
                    <a:solidFill>
                      <a:srgbClr val="111827"/>
                    </a:solidFill>
                    <a:latin typeface="Arial"/>
                  </a:rPr>
                  <a:t>, so area </a:t>
                </a:r>
                <a:r>
                  <a:rPr lang="en-IN" sz="2400">
                    <a:solidFill>
                      <a:srgbClr val="111827"/>
                    </a:solidFill>
                    <a:latin typeface="Cambria Math" panose="02040503050406030204" pitchFamily="18" charset="0"/>
                  </a:rPr>
                  <a:t>$=\frac12\cdot4\cdot a\sin30^\circ=a$</a:t>
                </a:r>
                <a:r>
                  <a:rPr sz="2400" b="0">
                    <a:solidFill>
                      <a:srgbClr val="111827"/>
                    </a:solidFill>
                    <a:latin typeface="Arial"/>
                  </a:rPr>
                  <a:t>: the areas are </a:t>
                </a:r>
                <a:r>
                  <a:rPr lang="en-IN" sz="2400">
                    <a:solidFill>
                      <a:srgbClr val="111827"/>
                    </a:solidFill>
                    <a:latin typeface="Cambria Math" panose="02040503050406030204" pitchFamily="18" charset="0"/>
                  </a:rPr>
                  <a:t>$2\sqrt3+\sqrt2$</a:t>
                </a:r>
                <a:r>
                  <a:rPr sz="2400" b="0">
                    <a:solidFill>
                      <a:srgbClr val="111827"/>
                    </a:solidFill>
                    <a:latin typeface="Arial"/>
                  </a:rPr>
                  <a:t> and </a:t>
                </a:r>
                <a:r>
                  <a:rPr lang="en-IN" sz="2400">
                    <a:solidFill>
                      <a:srgbClr val="111827"/>
                    </a:solidFill>
                    <a:latin typeface="Cambria Math" panose="02040503050406030204" pitchFamily="18" charset="0"/>
                  </a:rPr>
                  <a:t>$2\sqrt3-\sqrt2$</a:t>
                </a:r>
                <a:r>
                  <a:rPr sz="2400" b="0">
                    <a:solidFill>
                      <a:srgbClr val="111827"/>
                    </a:solidFill>
                    <a:latin typeface="Arial"/>
                  </a:rPr>
                  <a:t> sq. units.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Two triangles: third side </a:t>
                </a:r>
                <a14:m>
                  <m:oMath xmlns:m="http://schemas.openxmlformats.org/officeDocument/2006/math">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oMath>
                </a14:m>
                <a:r>
                  <a:rPr sz="2800" b="1">
                    <a:solidFill>
                      <a:srgbClr val="15803D"/>
                    </a:solidFill>
                    <a:latin typeface="Arial"/>
                  </a:rPr>
                  <a:t> or </a:t>
                </a:r>
                <a14:m>
                  <m:oMath xmlns:m="http://schemas.openxmlformats.org/officeDocument/2006/math">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oMath>
                </a14:m>
                <a:r>
                  <a:rPr sz="2800" b="1">
                    <a:solidFill>
                      <a:srgbClr val="15803D"/>
                    </a:solidFill>
                    <a:latin typeface="Arial"/>
                  </a:rPr>
                  <a:t>; areas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e>
                    </m:d>
                  </m:oMath>
                </a14:m>
                <a:r>
                  <a:rPr sz="2800" b="1">
                    <a:solidFill>
                      <a:srgbClr val="15803D"/>
                    </a:solidFill>
                    <a:latin typeface="Arial"/>
                  </a:rPr>
                  <a:t> and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e>
                    </m:d>
                  </m:oMath>
                </a14:m>
                <a:r>
                  <a:rPr sz="2800" b="1">
                    <a:solidFill>
                      <a:srgbClr val="15803D"/>
                    </a:solidFill>
                    <a:latin typeface="Arial"/>
                  </a:rPr>
                  <a:t> sq. units respectively</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Two triangles: third side </a:t>
                </a:r>
                <a:r>
                  <a:rPr lang="en-IN" sz="2800">
                    <a:solidFill>
                      <a:srgbClr val="15803D"/>
                    </a:solidFill>
                    <a:latin typeface="Cambria Math" panose="02040503050406030204" pitchFamily="18" charset="0"/>
                  </a:rPr>
                  <a:t>$2\sqrt3+\sqrt2$</a:t>
                </a:r>
                <a:r>
                  <a:rPr sz="2800" b="1">
                    <a:solidFill>
                      <a:srgbClr val="15803D"/>
                    </a:solidFill>
                    <a:latin typeface="Arial"/>
                  </a:rPr>
                  <a:t> or </a:t>
                </a:r>
                <a:r>
                  <a:rPr lang="en-IN" sz="2800">
                    <a:solidFill>
                      <a:srgbClr val="15803D"/>
                    </a:solidFill>
                    <a:latin typeface="Cambria Math" panose="02040503050406030204" pitchFamily="18" charset="0"/>
                  </a:rPr>
                  <a:t>$2\sqrt3-\sqrt2$</a:t>
                </a:r>
                <a:r>
                  <a:rPr sz="2800" b="1">
                    <a:solidFill>
                      <a:srgbClr val="15803D"/>
                    </a:solidFill>
                    <a:latin typeface="Arial"/>
                  </a:rPr>
                  <a:t>; areas </a:t>
                </a:r>
                <a:r>
                  <a:rPr lang="en-IN" sz="2800">
                    <a:solidFill>
                      <a:srgbClr val="15803D"/>
                    </a:solidFill>
                    <a:latin typeface="Cambria Math" panose="02040503050406030204" pitchFamily="18" charset="0"/>
                  </a:rPr>
                  <a:t>$\left(2\sqrt3+\sqrt2\right)$</a:t>
                </a:r>
                <a:r>
                  <a:rPr sz="2800" b="1">
                    <a:solidFill>
                      <a:srgbClr val="15803D"/>
                    </a:solidFill>
                    <a:latin typeface="Arial"/>
                  </a:rPr>
                  <a:t> and </a:t>
                </a:r>
                <a:r>
                  <a:rPr lang="en-IN" sz="2800">
                    <a:solidFill>
                      <a:srgbClr val="15803D"/>
                    </a:solidFill>
                    <a:latin typeface="Cambria Math" panose="02040503050406030204" pitchFamily="18" charset="0"/>
                  </a:rPr>
                  <a:t>$\left(2\sqrt3-\sqrt2\right)$</a:t>
                </a:r>
                <a:r>
                  <a:rPr sz="2800" b="1">
                    <a:solidFill>
                      <a:srgbClr val="15803D"/>
                    </a:solidFill>
                    <a:latin typeface="Arial"/>
                  </a:rPr>
                  <a:t> sq. units respectively</a:t>
                </a:r>
                <a:endParaRPr sz="2800">
                  <a:solidFill>
                    <a:srgbClr val="15803D"/>
                  </a:solidFill>
                </a:endParaRPr>
              </a:p>
            </p:txBody>
          </p:sp>
        </mc:Fallback>
      </mc:AlternateContent>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Sine rule first: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num>
                          <m:den>
                            <m:r>
                              <a:rPr lang="en-IN" sz="2400" i="1">
                                <a:solidFill>
                                  <a:srgbClr val="78350F"/>
                                </a:solidFill>
                                <a:latin typeface="Cambria Math" panose="02040503050406030204" pitchFamily="18" charset="0"/>
                              </a:rPr>
                              <m:t>3</m:t>
                            </m:r>
                          </m:den>
                        </m:f>
                      </m:e>
                    </m:rad>
                    <m:r>
                      <m:rPr>
                        <m:sty m:val="p"/>
                      </m:rPr>
                      <a:rPr lang="en-IN" sz="2400">
                        <a:solidFill>
                          <a:srgbClr val="78350F"/>
                        </a:solidFill>
                        <a:latin typeface="Cambria Math" panose="02040503050406030204" pitchFamily="18" charset="0"/>
                      </a:rPr>
                      <m:t>&lt;</m:t>
                    </m:r>
                    <m:r>
                      <a:rPr lang="en-IN" sz="2400" i="1">
                        <a:solidFill>
                          <a:srgbClr val="78350F"/>
                        </a:solidFill>
                        <a:latin typeface="Cambria Math" panose="02040503050406030204" pitchFamily="18" charset="0"/>
                      </a:rPr>
                      <m:t>1</m:t>
                    </m:r>
                  </m:oMath>
                </a14:m>
                <a:r>
                  <a:rPr sz="2400" b="0">
                    <a:solidFill>
                      <a:srgbClr val="78350F"/>
                    </a:solidFill>
                    <a:latin typeface="Arial"/>
                  </a:rPr>
                  <a:t> gives an acute and an obtuse </a:t>
                </a:r>
                <a14:m>
                  <m:oMath xmlns:m="http://schemas.openxmlformats.org/officeDocument/2006/math">
                    <m:r>
                      <a:rPr lang="en-IN" sz="2400" i="1">
                        <a:solidFill>
                          <a:srgbClr val="78350F"/>
                        </a:solidFill>
                        <a:latin typeface="Cambria Math" panose="02040503050406030204" pitchFamily="18" charset="0"/>
                      </a:rPr>
                      <m:t>𝐶</m:t>
                    </m:r>
                  </m:oMath>
                </a14:m>
                <a:r>
                  <a:rPr sz="2400" b="0">
                    <a:solidFill>
                      <a:srgbClr val="78350F"/>
                    </a:solidFill>
                    <a:latin typeface="Arial"/>
                  </a:rPr>
                  <a:t>, hence two triangles; the third side follows from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𝐵</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Sine rule first: </a:t>
                </a:r>
                <a:r>
                  <a:rPr lang="en-IN" sz="2400">
                    <a:solidFill>
                      <a:srgbClr val="78350F"/>
                    </a:solidFill>
                    <a:latin typeface="Cambria Math" panose="02040503050406030204" pitchFamily="18" charset="0"/>
                  </a:rPr>
                  <a:t>$\sin C=\sqrt{\frac23}&lt;1$</a:t>
                </a:r>
                <a:r>
                  <a:rPr sz="2400" b="0">
                    <a:solidFill>
                      <a:srgbClr val="78350F"/>
                    </a:solidFill>
                    <a:latin typeface="Arial"/>
                  </a:rPr>
                  <a:t> gives an acute and an obtuse </a:t>
                </a:r>
                <a:r>
                  <a:rPr lang="en-IN" sz="2400">
                    <a:solidFill>
                      <a:srgbClr val="78350F"/>
                    </a:solidFill>
                    <a:latin typeface="Cambria Math" panose="02040503050406030204" pitchFamily="18" charset="0"/>
                  </a:rPr>
                  <a:t>$C$</a:t>
                </a:r>
                <a:r>
                  <a:rPr sz="2400" b="0">
                    <a:solidFill>
                      <a:srgbClr val="78350F"/>
                    </a:solidFill>
                    <a:latin typeface="Arial"/>
                  </a:rPr>
                  <a:t>, hence two triangles; the third side follows from </a:t>
                </a:r>
                <a:r>
                  <a:rPr lang="en-IN" sz="2400">
                    <a:solidFill>
                      <a:srgbClr val="78350F"/>
                    </a:solidFill>
                    <a:latin typeface="Cambria Math" panose="02040503050406030204" pitchFamily="18" charset="0"/>
                  </a:rPr>
                  <a:t>$b=2R\sin B$</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opposite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opposite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num>
                      <m:den>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&gt;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allowed in both forms: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(acute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54.7</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or obtuse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125.3</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&lt;</m:t>
                    </m:r>
                    <m:sSup>
                      <m:e>
                        <m:r>
                          <a:rPr lang="en-IN" sz="2400" i="1">
                            <a:solidFill>
                              <a:srgbClr val="111827"/>
                            </a:solidFill>
                            <a:latin typeface="Cambria Math" panose="02040503050406030204" pitchFamily="18" charset="0"/>
                          </a:rPr>
                          <m:t>180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in both). Two triangles.</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$A=30^\circ$</a:t>
                </a:r>
                <a:r>
                  <a:rPr sz="2400" b="0">
                    <a:solidFill>
                      <a:srgbClr val="111827"/>
                    </a:solidFill>
                    <a:latin typeface="Arial"/>
                  </a:rPr>
                  <a:t> opposite </a:t>
                </a:r>
                <a:r>
                  <a:rPr lang="en-IN" sz="2400">
                    <a:solidFill>
                      <a:srgbClr val="111827"/>
                    </a:solidFill>
                    <a:latin typeface="Cambria Math" panose="02040503050406030204" pitchFamily="18" charset="0"/>
                  </a:rPr>
                  <a:t>$\sqrt6$</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opposite </a:t>
                </a:r>
                <a:r>
                  <a:rPr lang="en-IN" sz="2400">
                    <a:solidFill>
                      <a:srgbClr val="111827"/>
                    </a:solidFill>
                    <a:latin typeface="Cambria Math" panose="02040503050406030204" pitchFamily="18" charset="0"/>
                  </a:rPr>
                  <a:t>$4$</a:t>
                </a:r>
                <a:r>
                  <a:rPr sz="2400" b="0">
                    <a:solidFill>
                      <a:srgbClr val="111827"/>
                    </a:solidFill>
                    <a:latin typeface="Arial"/>
                  </a:rPr>
                  <a:t>: </a:t>
                </a:r>
                <a:r>
                  <a:rPr lang="en-IN" sz="2400">
                    <a:solidFill>
                      <a:srgbClr val="111827"/>
                    </a:solidFill>
                    <a:latin typeface="Cambria Math" panose="02040503050406030204" pitchFamily="18" charset="0"/>
                  </a:rPr>
                  <a:t>$\frac{\sqrt6}{\sin30^\circ}=\frac4{\sin C}\Rightarrow\sin C=\frac{2}{\sqrt6}=\sqrt{\frac23}$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 C&lt;1$</a:t>
                </a:r>
                <a:r>
                  <a:rPr sz="2400" b="0">
                    <a:solidFill>
                      <a:srgbClr val="111827"/>
                    </a:solidFill>
                    <a:latin typeface="Arial"/>
                  </a:rPr>
                  <a:t>, and </a:t>
                </a:r>
                <a:r>
                  <a:rPr lang="en-IN" sz="2400">
                    <a:solidFill>
                      <a:srgbClr val="111827"/>
                    </a:solidFill>
                    <a:latin typeface="Cambria Math" panose="02040503050406030204" pitchFamily="18" charset="0"/>
                  </a:rPr>
                  <a:t>$4&gt;\sqrt6$</a:t>
                </a:r>
                <a:r>
                  <a:rPr sz="2400" b="0">
                    <a:solidFill>
                      <a:srgbClr val="111827"/>
                    </a:solidFill>
                    <a:latin typeface="Arial"/>
                  </a:rPr>
                  <a:t> so </a:t>
                </a:r>
                <a:r>
                  <a:rPr lang="en-IN" sz="2400">
                    <a:solidFill>
                      <a:srgbClr val="111827"/>
                    </a:solidFill>
                    <a:latin typeface="Cambria Math" panose="02040503050406030204" pitchFamily="18" charset="0"/>
                  </a:rPr>
                  <a:t>$C&gt;30^\circ$</a:t>
                </a:r>
                <a:r>
                  <a:rPr sz="2400" b="0">
                    <a:solidFill>
                      <a:srgbClr val="111827"/>
                    </a:solidFill>
                    <a:latin typeface="Arial"/>
                  </a:rPr>
                  <a:t> is allowed in both forms: </a:t>
                </a:r>
                <a:r>
                  <a:rPr lang="en-IN" sz="2400">
                    <a:solidFill>
                      <a:srgbClr val="111827"/>
                    </a:solidFill>
                    <a:latin typeface="Cambria Math" panose="02040503050406030204" pitchFamily="18" charset="0"/>
                  </a:rPr>
                  <a:t>$\cos C=\pm\frac1{\sqrt3}$</a:t>
                </a:r>
                <a:r>
                  <a:rPr sz="2400" b="0">
                    <a:solidFill>
                      <a:srgbClr val="111827"/>
                    </a:solidFill>
                    <a:latin typeface="Arial"/>
                  </a:rPr>
                  <a:t> (acute </a:t>
                </a:r>
                <a:r>
                  <a:rPr lang="en-IN" sz="2400">
                    <a:solidFill>
                      <a:srgbClr val="111827"/>
                    </a:solidFill>
                    <a:latin typeface="Cambria Math" panose="02040503050406030204" pitchFamily="18" charset="0"/>
                  </a:rPr>
                  <a:t>$C\approx54.7^\circ$</a:t>
                </a:r>
                <a:r>
                  <a:rPr sz="2400" b="0">
                    <a:solidFill>
                      <a:srgbClr val="111827"/>
                    </a:solidFill>
                    <a:latin typeface="Arial"/>
                  </a:rPr>
                  <a:t> or obtuse </a:t>
                </a:r>
                <a:r>
                  <a:rPr lang="en-IN" sz="2400">
                    <a:solidFill>
                      <a:srgbClr val="111827"/>
                    </a:solidFill>
                    <a:latin typeface="Cambria Math" panose="02040503050406030204" pitchFamily="18" charset="0"/>
                  </a:rPr>
                  <a:t>$C\approx125.3^\circ$</a:t>
                </a:r>
                <a:r>
                  <a:rPr sz="2400" b="0">
                    <a:solidFill>
                      <a:srgbClr val="111827"/>
                    </a:solidFill>
                    <a:latin typeface="Arial"/>
                  </a:rPr>
                  <a:t>, and </a:t>
                </a:r>
                <a:r>
                  <a:rPr lang="en-IN" sz="2400">
                    <a:solidFill>
                      <a:srgbClr val="111827"/>
                    </a:solidFill>
                    <a:latin typeface="Cambria Math" panose="02040503050406030204" pitchFamily="18" charset="0"/>
                  </a:rPr>
                  <a:t>$A+C&lt;180^\circ$</a:t>
                </a:r>
                <a:r>
                  <a:rPr sz="2400" b="0">
                    <a:solidFill>
                      <a:srgbClr val="111827"/>
                    </a:solidFill>
                    <a:latin typeface="Arial"/>
                  </a:rPr>
                  <a:t> in both). Two triangles.</a:t>
                </a:r>
                <a:endParaRPr sz="2400">
                  <a:solidFill>
                    <a:srgbClr val="111827"/>
                  </a:solidFill>
                </a:endParaRPr>
              </a:p>
            </p:txBody>
          </p:sp>
        </mc:Fallback>
      </mc:AlternateContent>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num>
                      <m:den>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Third side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𝑡ℎ𝑖𝑟𝑑 𝑠𝑖𝑑𝑒</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$2R=\frac{\sqrt6}{\sin30^\circ}=2\sqrt6$</a:t>
                </a:r>
                <a:r>
                  <a:rPr sz="2400" b="0">
                    <a:solidFill>
                      <a:srgbClr val="111827"/>
                    </a:solidFill>
                    <a:latin typeface="Arial"/>
                  </a:rPr>
                  <a:t> and </a:t>
                </a:r>
                <a:r>
                  <a:rPr lang="en-IN" sz="2400">
                    <a:solidFill>
                      <a:srgbClr val="111827"/>
                    </a:solidFill>
                    <a:latin typeface="Cambria Math" panose="02040503050406030204" pitchFamily="18" charset="0"/>
                  </a:rPr>
                  <a:t>$\sin B=\sin(A+C)=\frac12\cos C+\frac{\sqrt3}2\sin C=\pm\frac1{2\sqrt3}+\frac{\sqrt2}2$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Third side </a:t>
                </a:r>
                <a:r>
                  <a:rPr lang="en-IN" sz="2400">
                    <a:solidFill>
                      <a:srgbClr val="111827"/>
                    </a:solidFill>
                    <a:latin typeface="Cambria Math" panose="02040503050406030204" pitchFamily="18" charset="0"/>
                  </a:rPr>
                  <a:t>$=2R\sin B=2\sqrt6\left(\frac{\sqrt2}2\pm\frac1{2\sqrt3}\right)=2\sqrt3\pm\sqrt2$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$=\frac12\cdot4\cdot(\text{third side})\cdot\sin30^\circ=2\sqrt3\pm\sqrt2$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Two triangles: third side </a:t>
                </a:r>
                <a14:m>
                  <m:oMath xmlns:m="http://schemas.openxmlformats.org/officeDocument/2006/math">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oMath>
                </a14:m>
                <a:r>
                  <a:rPr sz="2800" b="1">
                    <a:solidFill>
                      <a:srgbClr val="15803D"/>
                    </a:solidFill>
                    <a:latin typeface="Arial"/>
                  </a:rPr>
                  <a:t> or </a:t>
                </a:r>
                <a14:m>
                  <m:oMath xmlns:m="http://schemas.openxmlformats.org/officeDocument/2006/math">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oMath>
                </a14:m>
                <a:r>
                  <a:rPr sz="2800" b="1">
                    <a:solidFill>
                      <a:srgbClr val="15803D"/>
                    </a:solidFill>
                    <a:latin typeface="Arial"/>
                  </a:rPr>
                  <a:t>; areas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e>
                    </m:d>
                  </m:oMath>
                </a14:m>
                <a:r>
                  <a:rPr sz="2800" b="1">
                    <a:solidFill>
                      <a:srgbClr val="15803D"/>
                    </a:solidFill>
                    <a:latin typeface="Arial"/>
                  </a:rPr>
                  <a:t> and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e>
                    </m:d>
                  </m:oMath>
                </a14:m>
                <a:r>
                  <a:rPr sz="2800" b="1">
                    <a:solidFill>
                      <a:srgbClr val="15803D"/>
                    </a:solidFill>
                    <a:latin typeface="Arial"/>
                  </a:rPr>
                  <a:t> sq. units respectively</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Two triangles: third side </a:t>
                </a:r>
                <a:r>
                  <a:rPr lang="en-IN" sz="2800">
                    <a:solidFill>
                      <a:srgbClr val="15803D"/>
                    </a:solidFill>
                    <a:latin typeface="Cambria Math" panose="02040503050406030204" pitchFamily="18" charset="0"/>
                  </a:rPr>
                  <a:t>$2\sqrt3+\sqrt2$</a:t>
                </a:r>
                <a:r>
                  <a:rPr sz="2800" b="1">
                    <a:solidFill>
                      <a:srgbClr val="15803D"/>
                    </a:solidFill>
                    <a:latin typeface="Arial"/>
                  </a:rPr>
                  <a:t> or </a:t>
                </a:r>
                <a:r>
                  <a:rPr lang="en-IN" sz="2800">
                    <a:solidFill>
                      <a:srgbClr val="15803D"/>
                    </a:solidFill>
                    <a:latin typeface="Cambria Math" panose="02040503050406030204" pitchFamily="18" charset="0"/>
                  </a:rPr>
                  <a:t>$2\sqrt3-\sqrt2$</a:t>
                </a:r>
                <a:r>
                  <a:rPr sz="2800" b="1">
                    <a:solidFill>
                      <a:srgbClr val="15803D"/>
                    </a:solidFill>
                    <a:latin typeface="Arial"/>
                  </a:rPr>
                  <a:t>; areas </a:t>
                </a:r>
                <a:r>
                  <a:rPr lang="en-IN" sz="2800">
                    <a:solidFill>
                      <a:srgbClr val="15803D"/>
                    </a:solidFill>
                    <a:latin typeface="Cambria Math" panose="02040503050406030204" pitchFamily="18" charset="0"/>
                  </a:rPr>
                  <a:t>$\left(2\sqrt3+\sqrt2\right)$</a:t>
                </a:r>
                <a:r>
                  <a:rPr sz="2800" b="1">
                    <a:solidFill>
                      <a:srgbClr val="15803D"/>
                    </a:solidFill>
                    <a:latin typeface="Arial"/>
                  </a:rPr>
                  <a:t> and </a:t>
                </a:r>
                <a:r>
                  <a:rPr lang="en-IN" sz="2800">
                    <a:solidFill>
                      <a:srgbClr val="15803D"/>
                    </a:solidFill>
                    <a:latin typeface="Cambria Math" panose="02040503050406030204" pitchFamily="18" charset="0"/>
                  </a:rPr>
                  <a:t>$\left(2\sqrt3-\sqrt2\right)$</a:t>
                </a:r>
                <a:r>
                  <a:rPr sz="2800" b="1">
                    <a:solidFill>
                      <a:srgbClr val="15803D"/>
                    </a:solidFill>
                    <a:latin typeface="Arial"/>
                  </a:rPr>
                  <a:t> sq. units respectively</a:t>
                </a:r>
                <a:endParaRPr sz="2800">
                  <a:solidFill>
                    <a:srgbClr val="15803D"/>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SSA: given angle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opposite side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another side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two triangles exist iff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𝑦</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&lt;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third side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satisfies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its two roots are positive when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𝑦</m:t>
                    </m:r>
                  </m:oMath>
                </a14:m>
                <a:r>
                  <a:rPr sz="2400" b="0">
                    <a:solidFill>
                      <a:srgbClr val="111827"/>
                    </a:solidFill>
                    <a:latin typeface="Arial"/>
                  </a:rPr>
                  <a:t> (product </a:t>
                </a:r>
                <a14:m>
                  <m:oMath xmlns:m="http://schemas.openxmlformats.org/officeDocument/2006/math">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the discriminant </a:t>
                </a:r>
                <a14:m>
                  <m:oMath xmlns:m="http://schemas.openxmlformats.org/officeDocument/2006/math">
                    <m:r>
                      <a:rPr lang="en-IN" sz="2400" i="1">
                        <a:solidFill>
                          <a:srgbClr val="111827"/>
                        </a:solidFill>
                        <a:latin typeface="Cambria Math" panose="02040503050406030204" pitchFamily="18" charset="0"/>
                      </a:rPr>
                      <m:t>4</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e>
                    </m:d>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the angle lies between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oMath>
                </a14:m>
                <a:r>
                  <a:rPr sz="2400" b="0">
                    <a:solidFill>
                      <a:srgbClr val="111827"/>
                    </a:solidFill>
                    <a:latin typeface="Arial"/>
                  </a:rPr>
                  <a:t> so area equals the third side.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SSA: given angle </a:t>
                </a:r>
                <a:r>
                  <a:rPr lang="en-IN" sz="2400">
                    <a:solidFill>
                      <a:srgbClr val="111827"/>
                    </a:solidFill>
                    <a:latin typeface="Cambria Math" panose="02040503050406030204" pitchFamily="18" charset="0"/>
                  </a:rPr>
                  <a:t>$\theta$</a:t>
                </a:r>
                <a:r>
                  <a:rPr sz="2400" b="0">
                    <a:solidFill>
                      <a:srgbClr val="111827"/>
                    </a:solidFill>
                    <a:latin typeface="Arial"/>
                  </a:rPr>
                  <a:t> opposite side </a:t>
                </a:r>
                <a:r>
                  <a:rPr lang="en-IN" sz="2400">
                    <a:solidFill>
                      <a:srgbClr val="111827"/>
                    </a:solidFill>
                    <a:latin typeface="Cambria Math" panose="02040503050406030204" pitchFamily="18" charset="0"/>
                  </a:rPr>
                  <a:t>$x$</a:t>
                </a:r>
                <a:r>
                  <a:rPr sz="2400" b="0">
                    <a:solidFill>
                      <a:srgbClr val="111827"/>
                    </a:solidFill>
                    <a:latin typeface="Arial"/>
                  </a:rPr>
                  <a:t> and another side </a:t>
                </a:r>
                <a:r>
                  <a:rPr lang="en-IN" sz="2400">
                    <a:solidFill>
                      <a:srgbClr val="111827"/>
                    </a:solidFill>
                    <a:latin typeface="Cambria Math" panose="02040503050406030204" pitchFamily="18" charset="0"/>
                  </a:rPr>
                  <a:t>$y$</a:t>
                </a:r>
                <a:r>
                  <a:rPr sz="2400" b="0">
                    <a:solidFill>
                      <a:srgbClr val="111827"/>
                    </a:solidFill>
                    <a:latin typeface="Arial"/>
                  </a:rPr>
                  <a:t>, two triangles exist iff </a:t>
                </a:r>
                <a:r>
                  <a:rPr lang="en-IN" sz="2400">
                    <a:solidFill>
                      <a:srgbClr val="111827"/>
                    </a:solidFill>
                    <a:latin typeface="Cambria Math" panose="02040503050406030204" pitchFamily="18" charset="0"/>
                  </a:rPr>
                  <a:t>$y\sin\theta&lt;x&lt;y$</a:t>
                </a:r>
                <a:r>
                  <a:rPr sz="2400" b="0">
                    <a:solidFill>
                      <a:srgbClr val="111827"/>
                    </a:solidFill>
                    <a:latin typeface="Arial"/>
                  </a:rPr>
                  <a:t>; here </a:t>
                </a:r>
                <a:r>
                  <a:rPr lang="en-IN" sz="2400">
                    <a:solidFill>
                      <a:srgbClr val="111827"/>
                    </a:solidFill>
                    <a:latin typeface="Cambria Math" panose="02040503050406030204" pitchFamily="18" charset="0"/>
                  </a:rPr>
                  <a:t>$4\sin30^\circ=2&lt;\sqrt6&lt;4$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third side </a:t>
                </a:r>
                <a:r>
                  <a:rPr lang="en-IN" sz="2400">
                    <a:solidFill>
                      <a:srgbClr val="111827"/>
                    </a:solidFill>
                    <a:latin typeface="Cambria Math" panose="02040503050406030204" pitchFamily="18" charset="0"/>
                  </a:rPr>
                  <a:t>$t$</a:t>
                </a:r>
                <a:r>
                  <a:rPr sz="2400" b="0">
                    <a:solidFill>
                      <a:srgbClr val="111827"/>
                    </a:solidFill>
                    <a:latin typeface="Arial"/>
                  </a:rPr>
                  <a:t> satisfies </a:t>
                </a:r>
                <a:r>
                  <a:rPr lang="en-IN" sz="2400">
                    <a:solidFill>
                      <a:srgbClr val="111827"/>
                    </a:solidFill>
                    <a:latin typeface="Cambria Math" panose="02040503050406030204" pitchFamily="18" charset="0"/>
                  </a:rPr>
                  <a:t>$t^2-2yt\cos\theta+y^2-x^2=0$</a:t>
                </a:r>
                <a:r>
                  <a:rPr sz="2400" b="0">
                    <a:solidFill>
                      <a:srgbClr val="111827"/>
                    </a:solidFill>
                    <a:latin typeface="Arial"/>
                  </a:rPr>
                  <a:t>; its two roots are positive when </a:t>
                </a:r>
                <a:r>
                  <a:rPr lang="en-IN" sz="2400">
                    <a:solidFill>
                      <a:srgbClr val="111827"/>
                    </a:solidFill>
                    <a:latin typeface="Cambria Math" panose="02040503050406030204" pitchFamily="18" charset="0"/>
                  </a:rPr>
                  <a:t>$x&lt;y$</a:t>
                </a:r>
                <a:r>
                  <a:rPr sz="2400" b="0">
                    <a:solidFill>
                      <a:srgbClr val="111827"/>
                    </a:solidFill>
                    <a:latin typeface="Arial"/>
                  </a:rPr>
                  <a:t> (product </a:t>
                </a:r>
                <a:r>
                  <a:rPr lang="en-IN" sz="2400">
                    <a:solidFill>
                      <a:srgbClr val="111827"/>
                    </a:solidFill>
                    <a:latin typeface="Cambria Math" panose="02040503050406030204" pitchFamily="18" charset="0"/>
                  </a:rPr>
                  <a:t>$y^2-x^2&gt;0$</a:t>
                </a:r>
                <a:r>
                  <a:rPr sz="2400" b="0">
                    <a:solidFill>
                      <a:srgbClr val="111827"/>
                    </a:solidFill>
                    <a:latin typeface="Arial"/>
                  </a:rPr>
                  <a:t>) and the discriminant </a:t>
                </a:r>
                <a:r>
                  <a:rPr lang="en-IN" sz="2400">
                    <a:solidFill>
                      <a:srgbClr val="111827"/>
                    </a:solidFill>
                    <a:latin typeface="Cambria Math" panose="02040503050406030204" pitchFamily="18" charset="0"/>
                  </a:rPr>
                  <a:t>$4\left(x^2-y^2\sin^2\theta\right)&gt;0$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the angle lies between </a:t>
                </a:r>
                <a:r>
                  <a:rPr lang="en-IN" sz="2400">
                    <a:solidFill>
                      <a:srgbClr val="111827"/>
                    </a:solidFill>
                    <a:latin typeface="Cambria Math" panose="02040503050406030204" pitchFamily="18" charset="0"/>
                  </a:rPr>
                  <a:t>$y$</a:t>
                </a:r>
                <a:r>
                  <a:rPr sz="2400" b="0">
                    <a:solidFill>
                      <a:srgbClr val="111827"/>
                    </a:solidFill>
                    <a:latin typeface="Arial"/>
                  </a:rPr>
                  <a:t> and </a:t>
                </a:r>
                <a:r>
                  <a:rPr lang="en-IN" sz="2400">
                    <a:solidFill>
                      <a:srgbClr val="111827"/>
                    </a:solidFill>
                    <a:latin typeface="Cambria Math" panose="02040503050406030204" pitchFamily="18" charset="0"/>
                  </a:rPr>
                  <a:t>$t$</a:t>
                </a:r>
                <a:r>
                  <a:rPr sz="2400" b="0">
                    <a:solidFill>
                      <a:srgbClr val="111827"/>
                    </a:solidFill>
                    <a:latin typeface="Arial"/>
                  </a:rPr>
                  <a:t>, area </a:t>
                </a:r>
                <a:r>
                  <a:rPr lang="en-IN" sz="2400">
                    <a:solidFill>
                      <a:srgbClr val="111827"/>
                    </a:solidFill>
                    <a:latin typeface="Cambria Math" panose="02040503050406030204" pitchFamily="18" charset="0"/>
                  </a:rPr>
                  <a:t>$=\frac12yt\sin\theta$</a:t>
                </a:r>
                <a:r>
                  <a:rPr sz="2400" b="0">
                    <a:solidFill>
                      <a:srgbClr val="111827"/>
                    </a:solidFill>
                    <a:latin typeface="Arial"/>
                  </a:rPr>
                  <a:t>; here </a:t>
                </a:r>
                <a:r>
                  <a:rPr lang="en-IN" sz="2400">
                    <a:solidFill>
                      <a:srgbClr val="111827"/>
                    </a:solidFill>
                    <a:latin typeface="Cambria Math" panose="02040503050406030204" pitchFamily="18" charset="0"/>
                  </a:rPr>
                  <a:t>$\frac12\cdot4\cdot\frac12\cdot t=t$</a:t>
                </a:r>
                <a:r>
                  <a:rPr sz="2400" b="0">
                    <a:solidFill>
                      <a:srgbClr val="111827"/>
                    </a:solidFill>
                    <a:latin typeface="Arial"/>
                  </a:rPr>
                  <a:t> so area equals the third side.</a:t>
                </a:r>
                <a:endParaRPr sz="2400">
                  <a:solidFill>
                    <a:srgbClr val="111827"/>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With reference to a given circle,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are the areas of the inscribed and circumscribed regular polygons of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sides,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corresponding quantities for regular polygons of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sides. Prove that: (1)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 geometric mean between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(2)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a harmonic mean between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With reference to a given circle, </a:t>
                </a:r>
                <a:r>
                  <a:rPr lang="en-IN" sz="2400">
                    <a:solidFill>
                      <a:srgbClr val="111827"/>
                    </a:solidFill>
                    <a:latin typeface="Cambria Math" panose="02040503050406030204" pitchFamily="18" charset="0"/>
                  </a:rPr>
                  <a:t>$A_1$</a:t>
                </a:r>
                <a:r>
                  <a:rPr sz="2400" b="0">
                    <a:solidFill>
                      <a:srgbClr val="111827"/>
                    </a:solidFill>
                    <a:latin typeface="Arial"/>
                  </a:rPr>
                  <a:t> and </a:t>
                </a:r>
                <a:r>
                  <a:rPr lang="en-IN" sz="2400">
                    <a:solidFill>
                      <a:srgbClr val="111827"/>
                    </a:solidFill>
                    <a:latin typeface="Cambria Math" panose="02040503050406030204" pitchFamily="18" charset="0"/>
                  </a:rPr>
                  <a:t>$B_1$</a:t>
                </a:r>
                <a:r>
                  <a:rPr sz="2400" b="0">
                    <a:solidFill>
                      <a:srgbClr val="111827"/>
                    </a:solidFill>
                    <a:latin typeface="Arial"/>
                  </a:rPr>
                  <a:t> are the areas of the inscribed and circumscribed regular polygons of </a:t>
                </a:r>
                <a:r>
                  <a:rPr lang="en-IN" sz="2400">
                    <a:solidFill>
                      <a:srgbClr val="111827"/>
                    </a:solidFill>
                    <a:latin typeface="Cambria Math" panose="02040503050406030204" pitchFamily="18" charset="0"/>
                  </a:rPr>
                  <a:t>$n$</a:t>
                </a:r>
                <a:r>
                  <a:rPr sz="2400" b="0">
                    <a:solidFill>
                      <a:srgbClr val="111827"/>
                    </a:solidFill>
                    <a:latin typeface="Arial"/>
                  </a:rPr>
                  <a:t> sides, </a:t>
                </a:r>
                <a:r>
                  <a:rPr lang="en-IN" sz="2400">
                    <a:solidFill>
                      <a:srgbClr val="111827"/>
                    </a:solidFill>
                    <a:latin typeface="Cambria Math" panose="02040503050406030204" pitchFamily="18" charset="0"/>
                  </a:rPr>
                  <a:t>$A_2$</a:t>
                </a:r>
                <a:r>
                  <a:rPr sz="2400" b="0">
                    <a:solidFill>
                      <a:srgbClr val="111827"/>
                    </a:solidFill>
                    <a:latin typeface="Arial"/>
                  </a:rPr>
                  <a:t> and </a:t>
                </a:r>
                <a:r>
                  <a:rPr lang="en-IN" sz="2400">
                    <a:solidFill>
                      <a:srgbClr val="111827"/>
                    </a:solidFill>
                    <a:latin typeface="Cambria Math" panose="02040503050406030204" pitchFamily="18" charset="0"/>
                  </a:rPr>
                  <a:t>$B_2$</a:t>
                </a:r>
                <a:r>
                  <a:rPr sz="2400" b="0">
                    <a:solidFill>
                      <a:srgbClr val="111827"/>
                    </a:solidFill>
                    <a:latin typeface="Arial"/>
                  </a:rPr>
                  <a:t> are corresponding quantities for regular polygons of </a:t>
                </a:r>
                <a:r>
                  <a:rPr lang="en-IN" sz="2400">
                    <a:solidFill>
                      <a:srgbClr val="111827"/>
                    </a:solidFill>
                    <a:latin typeface="Cambria Math" panose="02040503050406030204" pitchFamily="18" charset="0"/>
                  </a:rPr>
                  <a:t>$2n$</a:t>
                </a:r>
                <a:r>
                  <a:rPr sz="2400" b="0">
                    <a:solidFill>
                      <a:srgbClr val="111827"/>
                    </a:solidFill>
                    <a:latin typeface="Arial"/>
                  </a:rPr>
                  <a:t> sides. Prove that: (1) </a:t>
                </a:r>
                <a:r>
                  <a:rPr lang="en-IN" sz="2400">
                    <a:solidFill>
                      <a:srgbClr val="111827"/>
                    </a:solidFill>
                    <a:latin typeface="Cambria Math" panose="02040503050406030204" pitchFamily="18" charset="0"/>
                  </a:rPr>
                  <a:t>$A_2$</a:t>
                </a:r>
                <a:r>
                  <a:rPr sz="2400" b="0">
                    <a:solidFill>
                      <a:srgbClr val="111827"/>
                    </a:solidFill>
                    <a:latin typeface="Arial"/>
                  </a:rPr>
                  <a:t> is a geometric mean between </a:t>
                </a:r>
                <a:r>
                  <a:rPr lang="en-IN" sz="2400">
                    <a:solidFill>
                      <a:srgbClr val="111827"/>
                    </a:solidFill>
                    <a:latin typeface="Cambria Math" panose="02040503050406030204" pitchFamily="18" charset="0"/>
                  </a:rPr>
                  <a:t>$A_1$</a:t>
                </a:r>
                <a:r>
                  <a:rPr sz="2400" b="0">
                    <a:solidFill>
                      <a:srgbClr val="111827"/>
                    </a:solidFill>
                    <a:latin typeface="Arial"/>
                  </a:rPr>
                  <a:t> and </a:t>
                </a:r>
                <a:r>
                  <a:rPr lang="en-IN" sz="2400">
                    <a:solidFill>
                      <a:srgbClr val="111827"/>
                    </a:solidFill>
                    <a:latin typeface="Cambria Math" panose="02040503050406030204" pitchFamily="18" charset="0"/>
                  </a:rPr>
                  <a:t>$B_1$</a:t>
                </a:r>
                <a:r>
                  <a:rPr sz="2400" b="0">
                    <a:solidFill>
                      <a:srgbClr val="111827"/>
                    </a:solidFill>
                    <a:latin typeface="Arial"/>
                  </a:rPr>
                  <a:t>; (2) </a:t>
                </a:r>
                <a:r>
                  <a:rPr lang="en-IN" sz="2400">
                    <a:solidFill>
                      <a:srgbClr val="111827"/>
                    </a:solidFill>
                    <a:latin typeface="Cambria Math" panose="02040503050406030204" pitchFamily="18" charset="0"/>
                  </a:rPr>
                  <a:t>$B_2$</a:t>
                </a:r>
                <a:r>
                  <a:rPr sz="2400" b="0">
                    <a:solidFill>
                      <a:srgbClr val="111827"/>
                    </a:solidFill>
                    <a:latin typeface="Arial"/>
                  </a:rPr>
                  <a:t> is a harmonic mean between </a:t>
                </a:r>
                <a:r>
                  <a:rPr lang="en-IN" sz="2400">
                    <a:solidFill>
                      <a:srgbClr val="111827"/>
                    </a:solidFill>
                    <a:latin typeface="Cambria Math" panose="02040503050406030204" pitchFamily="18" charset="0"/>
                  </a:rPr>
                  <a:t>$A_2$</a:t>
                </a:r>
                <a:r>
                  <a:rPr sz="2400" b="0">
                    <a:solidFill>
                      <a:srgbClr val="111827"/>
                    </a:solidFill>
                    <a:latin typeface="Arial"/>
                  </a:rPr>
                  <a:t> and </a:t>
                </a:r>
                <a:r>
                  <a:rPr lang="en-IN" sz="2400">
                    <a:solidFill>
                      <a:srgbClr val="111827"/>
                    </a:solidFill>
                    <a:latin typeface="Cambria Math" panose="02040503050406030204" pitchFamily="18" charset="0"/>
                  </a:rPr>
                  <a:t>$B_1$</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4260596"/>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Areas of inscribed and circumscribed regular polygons, G.M. and H.M. relations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14:m>
                  <m:oMath xmlns:m="http://schemas.openxmlformats.org/officeDocument/2006/math">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𝑛</m:t>
                        </m:r>
                      </m:den>
                    </m:f>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2</m:t>
                        </m:r>
                      </m:den>
                    </m:f>
                    <m:sSup>
                      <m:e>
                        <m:r>
                          <a:rPr lang="en-IN" sz="2400" i="1">
                            <a:solidFill>
                              <a:srgbClr val="78350F"/>
                            </a:solidFill>
                            <a:latin typeface="Cambria Math" panose="02040503050406030204" pitchFamily="18" charset="0"/>
                          </a:rPr>
                          <m:t>𝑅</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θ</m:t>
                    </m:r>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sSup>
                      <m:e>
                        <m:r>
                          <a:rPr lang="en-IN" sz="2400" i="1">
                            <a:solidFill>
                              <a:srgbClr val="78350F"/>
                            </a:solidFill>
                            <a:latin typeface="Cambria Math" panose="02040503050406030204" pitchFamily="18" charset="0"/>
                          </a:rPr>
                          <m:t>𝑅</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θ</m:t>
                    </m:r>
                  </m:oMath>
                </a14:m>
                <a:r>
                  <a:rPr sz="2400" b="0">
                    <a:solidFill>
                      <a:srgbClr val="78350F"/>
                    </a:solidFill>
                    <a:latin typeface="Arial"/>
                  </a:rPr>
                  <a:t>, and halving </a:t>
                </a:r>
                <a14:m>
                  <m:oMath xmlns:m="http://schemas.openxmlformats.org/officeDocument/2006/math">
                    <m:r>
                      <a:rPr lang="en-IN" sz="2400" i="1">
                        <a:solidFill>
                          <a:srgbClr val="78350F"/>
                        </a:solidFill>
                        <a:latin typeface="Cambria Math" panose="02040503050406030204" pitchFamily="18" charset="0"/>
                      </a:rPr>
                      <m:t>θ</m:t>
                    </m:r>
                  </m:oMath>
                </a14:m>
                <a:r>
                  <a:rPr sz="2400" b="0">
                    <a:solidFill>
                      <a:srgbClr val="78350F"/>
                    </a:solidFill>
                    <a:latin typeface="Arial"/>
                  </a:rPr>
                  <a:t> gives </a:t>
                </a:r>
                <a14:m>
                  <m:oMath xmlns:m="http://schemas.openxmlformats.org/officeDocument/2006/math">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r>
                  <a:rPr lang="en-IN" sz="2400">
                    <a:solidFill>
                      <a:srgbClr val="78350F"/>
                    </a:solidFill>
                    <a:latin typeface="Cambria Math" panose="02040503050406030204" pitchFamily="18" charset="0"/>
                  </a:rPr>
                  <a:t>$\theta=\frac\pi n$</a:t>
                </a:r>
                <a:r>
                  <a:rPr sz="2400" b="0">
                    <a:solidFill>
                      <a:srgbClr val="78350F"/>
                    </a:solidFill>
                    <a:latin typeface="Arial"/>
                  </a:rPr>
                  <a:t>: </a:t>
                </a:r>
                <a:r>
                  <a:rPr lang="en-IN" sz="2400">
                    <a:solidFill>
                      <a:srgbClr val="78350F"/>
                    </a:solidFill>
                    <a:latin typeface="Cambria Math" panose="02040503050406030204" pitchFamily="18" charset="0"/>
                  </a:rPr>
                  <a:t>$A_1=\frac n2R^2\sin2\theta$</a:t>
                </a:r>
                <a:r>
                  <a:rPr sz="2400" b="0">
                    <a:solidFill>
                      <a:srgbClr val="78350F"/>
                    </a:solidFill>
                    <a:latin typeface="Arial"/>
                  </a:rPr>
                  <a:t>, </a:t>
                </a:r>
                <a:r>
                  <a:rPr lang="en-IN" sz="2400">
                    <a:solidFill>
                      <a:srgbClr val="78350F"/>
                    </a:solidFill>
                    <a:latin typeface="Cambria Math" panose="02040503050406030204" pitchFamily="18" charset="0"/>
                  </a:rPr>
                  <a:t>$B_1=nR^2\tan\theta$</a:t>
                </a:r>
                <a:r>
                  <a:rPr sz="2400" b="0">
                    <a:solidFill>
                      <a:srgbClr val="78350F"/>
                    </a:solidFill>
                    <a:latin typeface="Arial"/>
                  </a:rPr>
                  <a:t>, and halving </a:t>
                </a:r>
                <a:r>
                  <a:rPr lang="en-IN" sz="2400">
                    <a:solidFill>
                      <a:srgbClr val="78350F"/>
                    </a:solidFill>
                    <a:latin typeface="Cambria Math" panose="02040503050406030204" pitchFamily="18" charset="0"/>
                  </a:rPr>
                  <a:t>$\theta$</a:t>
                </a:r>
                <a:r>
                  <a:rPr sz="2400" b="0">
                    <a:solidFill>
                      <a:srgbClr val="78350F"/>
                    </a:solidFill>
                    <a:latin typeface="Arial"/>
                  </a:rPr>
                  <a:t> gives </a:t>
                </a:r>
                <a:r>
                  <a:rPr lang="en-IN" sz="2400">
                    <a:solidFill>
                      <a:srgbClr val="78350F"/>
                    </a:solidFill>
                    <a:latin typeface="Cambria Math" panose="02040503050406030204" pitchFamily="18" charset="0"/>
                  </a:rPr>
                  <a:t>$A_2,B_2$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circle have radius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Each side of the inscribed regular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-gon subtends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at the centre: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circumscribed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-gon splits into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right triangles with legs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Replacing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circle have radius </a:t>
                </a:r>
                <a:r>
                  <a:rPr lang="en-IN" sz="2400">
                    <a:solidFill>
                      <a:srgbClr val="111827"/>
                    </a:solidFill>
                    <a:latin typeface="Cambria Math" panose="02040503050406030204" pitchFamily="18" charset="0"/>
                  </a:rPr>
                  <a:t>$R$</a:t>
                </a:r>
                <a:r>
                  <a:rPr sz="2400" b="0">
                    <a:solidFill>
                      <a:srgbClr val="111827"/>
                    </a:solidFill>
                    <a:latin typeface="Arial"/>
                  </a:rPr>
                  <a:t>. Each side of the inscribed regular </a:t>
                </a:r>
                <a:r>
                  <a:rPr lang="en-IN" sz="2400">
                    <a:solidFill>
                      <a:srgbClr val="111827"/>
                    </a:solidFill>
                    <a:latin typeface="Cambria Math" panose="02040503050406030204" pitchFamily="18" charset="0"/>
                  </a:rPr>
                  <a:t>$n$</a:t>
                </a:r>
                <a:r>
                  <a:rPr sz="2400" b="0">
                    <a:solidFill>
                      <a:srgbClr val="111827"/>
                    </a:solidFill>
                    <a:latin typeface="Arial"/>
                  </a:rPr>
                  <a:t>-gon subtends </a:t>
                </a:r>
                <a:r>
                  <a:rPr lang="en-IN" sz="2400">
                    <a:solidFill>
                      <a:srgbClr val="111827"/>
                    </a:solidFill>
                    <a:latin typeface="Cambria Math" panose="02040503050406030204" pitchFamily="18" charset="0"/>
                  </a:rPr>
                  <a:t>$\frac{2\pi}n$</a:t>
                </a:r>
                <a:r>
                  <a:rPr sz="2400" b="0">
                    <a:solidFill>
                      <a:srgbClr val="111827"/>
                    </a:solidFill>
                    <a:latin typeface="Arial"/>
                  </a:rPr>
                  <a:t> at the centre: </a:t>
                </a:r>
                <a:r>
                  <a:rPr lang="en-IN" sz="2400">
                    <a:solidFill>
                      <a:srgbClr val="111827"/>
                    </a:solidFill>
                    <a:latin typeface="Cambria Math" panose="02040503050406030204" pitchFamily="18" charset="0"/>
                  </a:rPr>
                  <a:t>$A_1=\frac n2R^2\sin\frac{2\pi}n$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circumscribed </a:t>
                </a:r>
                <a:r>
                  <a:rPr lang="en-IN" sz="2400">
                    <a:solidFill>
                      <a:srgbClr val="111827"/>
                    </a:solidFill>
                    <a:latin typeface="Cambria Math" panose="02040503050406030204" pitchFamily="18" charset="0"/>
                  </a:rPr>
                  <a:t>$n$</a:t>
                </a:r>
                <a:r>
                  <a:rPr sz="2400" b="0">
                    <a:solidFill>
                      <a:srgbClr val="111827"/>
                    </a:solidFill>
                    <a:latin typeface="Arial"/>
                  </a:rPr>
                  <a:t>-gon splits into </a:t>
                </a:r>
                <a:r>
                  <a:rPr lang="en-IN" sz="2400">
                    <a:solidFill>
                      <a:srgbClr val="111827"/>
                    </a:solidFill>
                    <a:latin typeface="Cambria Math" panose="02040503050406030204" pitchFamily="18" charset="0"/>
                  </a:rPr>
                  <a:t>$2n$</a:t>
                </a:r>
                <a:r>
                  <a:rPr sz="2400" b="0">
                    <a:solidFill>
                      <a:srgbClr val="111827"/>
                    </a:solidFill>
                    <a:latin typeface="Arial"/>
                  </a:rPr>
                  <a:t> right triangles with legs </a:t>
                </a:r>
                <a:r>
                  <a:rPr lang="en-IN" sz="2400">
                    <a:solidFill>
                      <a:srgbClr val="111827"/>
                    </a:solidFill>
                    <a:latin typeface="Cambria Math" panose="02040503050406030204" pitchFamily="18" charset="0"/>
                  </a:rPr>
                  <a:t>$R$</a:t>
                </a:r>
                <a:r>
                  <a:rPr sz="2400" b="0">
                    <a:solidFill>
                      <a:srgbClr val="111827"/>
                    </a:solidFill>
                    <a:latin typeface="Arial"/>
                  </a:rPr>
                  <a:t> and </a:t>
                </a:r>
                <a:r>
                  <a:rPr lang="en-IN" sz="2400">
                    <a:solidFill>
                      <a:srgbClr val="111827"/>
                    </a:solidFill>
                    <a:latin typeface="Cambria Math" panose="02040503050406030204" pitchFamily="18" charset="0"/>
                  </a:rPr>
                  <a:t>$R\tan\frac\pi n$</a:t>
                </a:r>
                <a:r>
                  <a:rPr sz="2400" b="0">
                    <a:solidFill>
                      <a:srgbClr val="111827"/>
                    </a:solidFill>
                    <a:latin typeface="Arial"/>
                  </a:rPr>
                  <a:t>: </a:t>
                </a:r>
                <a:r>
                  <a:rPr lang="en-IN" sz="2400">
                    <a:solidFill>
                      <a:srgbClr val="111827"/>
                    </a:solidFill>
                    <a:latin typeface="Cambria Math" panose="02040503050406030204" pitchFamily="18" charset="0"/>
                  </a:rPr>
                  <a:t>$B_1=nR^2\tan\frac\pi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Replacing </a:t>
                </a:r>
                <a:r>
                  <a:rPr lang="en-IN" sz="2400">
                    <a:solidFill>
                      <a:srgbClr val="111827"/>
                    </a:solidFill>
                    <a:latin typeface="Cambria Math" panose="02040503050406030204" pitchFamily="18" charset="0"/>
                  </a:rPr>
                  <a:t>$n$</a:t>
                </a:r>
                <a:r>
                  <a:rPr sz="2400" b="0">
                    <a:solidFill>
                      <a:srgbClr val="111827"/>
                    </a:solidFill>
                    <a:latin typeface="Arial"/>
                  </a:rPr>
                  <a:t> by </a:t>
                </a:r>
                <a:r>
                  <a:rPr lang="en-IN" sz="2400">
                    <a:solidFill>
                      <a:srgbClr val="111827"/>
                    </a:solidFill>
                    <a:latin typeface="Cambria Math" panose="02040503050406030204" pitchFamily="18" charset="0"/>
                  </a:rPr>
                  <a:t>$2n$</a:t>
                </a:r>
                <a:r>
                  <a:rPr sz="2400" b="0">
                    <a:solidFill>
                      <a:srgbClr val="111827"/>
                    </a:solidFill>
                    <a:latin typeface="Arial"/>
                  </a:rPr>
                  <a:t>: </a:t>
                </a:r>
                <a:r>
                  <a:rPr lang="en-IN" sz="2400">
                    <a:solidFill>
                      <a:srgbClr val="111827"/>
                    </a:solidFill>
                    <a:latin typeface="Cambria Math" panose="02040503050406030204" pitchFamily="18" charset="0"/>
                  </a:rPr>
                  <a:t>$A_2=nR^2\sin\frac\pi n$</a:t>
                </a:r>
                <a:r>
                  <a:rPr sz="2400" b="0">
                    <a:solidFill>
                      <a:srgbClr val="111827"/>
                    </a:solidFill>
                    <a:latin typeface="Arial"/>
                  </a:rPr>
                  <a:t> and </a:t>
                </a:r>
                <a:r>
                  <a:rPr lang="en-IN" sz="2400">
                    <a:solidFill>
                      <a:srgbClr val="111827"/>
                    </a:solidFill>
                    <a:latin typeface="Cambria Math" panose="02040503050406030204" pitchFamily="18" charset="0"/>
                  </a:rPr>
                  <a:t>$B_2=2nR^2\tan\frac\pi{2n}$</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(1)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4</m:t>
                        </m:r>
                      </m:sup>
                    </m:sSup>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e>
                    </m:rad>
                  </m:oMath>
                </a14:m>
                <a:r>
                  <a:rPr sz="2400" b="0">
                    <a:solidFill>
                      <a:srgbClr val="111827"/>
                    </a:solidFill>
                    <a:latin typeface="Arial"/>
                  </a:rPr>
                  <a:t> is the G.M. of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(2)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num>
                      <m:den>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num>
                      <m:den>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den>
                        </m:f>
                      </m:num>
                      <m:den>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den>
                    </m:f>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the harmonic mean of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(1) </a:t>
                </a:r>
                <a:r>
                  <a:rPr lang="en-IN" sz="2400">
                    <a:solidFill>
                      <a:srgbClr val="111827"/>
                    </a:solidFill>
                    <a:latin typeface="Cambria Math" panose="02040503050406030204" pitchFamily="18" charset="0"/>
                  </a:rPr>
                  <a:t>$A_1B_1=\frac n2R^2\sin\frac{2\pi}n\cdot nR^2\tan\frac\pi n=n^2R^4\sin^2\frac\pi n=A_2^2$</a:t>
                </a:r>
                <a:r>
                  <a:rPr sz="2400" b="0">
                    <a:solidFill>
                      <a:srgbClr val="111827"/>
                    </a:solidFill>
                    <a:latin typeface="Arial"/>
                  </a:rPr>
                  <a:t>, so </a:t>
                </a:r>
                <a:r>
                  <a:rPr lang="en-IN" sz="2400">
                    <a:solidFill>
                      <a:srgbClr val="111827"/>
                    </a:solidFill>
                    <a:latin typeface="Cambria Math" panose="02040503050406030204" pitchFamily="18" charset="0"/>
                  </a:rPr>
                  <a:t>$A_2=\sqrt{A_1B_1}$</a:t>
                </a:r>
                <a:r>
                  <a:rPr sz="2400" b="0">
                    <a:solidFill>
                      <a:srgbClr val="111827"/>
                    </a:solidFill>
                    <a:latin typeface="Arial"/>
                  </a:rPr>
                  <a:t> is the G.M. of </a:t>
                </a:r>
                <a:r>
                  <a:rPr lang="en-IN" sz="2400">
                    <a:solidFill>
                      <a:srgbClr val="111827"/>
                    </a:solidFill>
                    <a:latin typeface="Cambria Math" panose="02040503050406030204" pitchFamily="18" charset="0"/>
                  </a:rPr>
                  <a:t>$A_1$</a:t>
                </a:r>
                <a:r>
                  <a:rPr sz="2400" b="0">
                    <a:solidFill>
                      <a:srgbClr val="111827"/>
                    </a:solidFill>
                    <a:latin typeface="Arial"/>
                  </a:rPr>
                  <a:t> and </a:t>
                </a:r>
                <a:r>
                  <a:rPr lang="en-IN" sz="2400">
                    <a:solidFill>
                      <a:srgbClr val="111827"/>
                    </a:solidFill>
                    <a:latin typeface="Cambria Math" panose="02040503050406030204" pitchFamily="18" charset="0"/>
                  </a:rPr>
                  <a:t>$B_1$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(2) </a:t>
                </a:r>
                <a:r>
                  <a:rPr lang="en-IN" sz="2400">
                    <a:solidFill>
                      <a:srgbClr val="111827"/>
                    </a:solidFill>
                    <a:latin typeface="Cambria Math" panose="02040503050406030204" pitchFamily="18" charset="0"/>
                  </a:rPr>
                  <a:t>$\frac1{A_2}+\frac1{B_1}=\frac1{nR^2\sin\frac\pi n}+\frac{\cos\frac\pi n}{nR^2\sin\frac\pi n}=\frac{1+\cos\frac\pi n}{nR^2\sin\frac\pi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$=\frac{2\cos^2\frac\pi{2n}}{nR^2\cdot2\sin\frac\pi{2n}\cos\frac\pi{2n}}=\frac1{nR^2\tan\frac\pi{2n}}=\frac2{B_2}$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$\frac2{B_2}=\frac1{A_2}+\frac1{B_1}$</a:t>
                </a:r>
                <a:r>
                  <a:rPr sz="2400" b="0">
                    <a:solidFill>
                      <a:srgbClr val="111827"/>
                    </a:solidFill>
                    <a:latin typeface="Arial"/>
                  </a:rPr>
                  <a:t>: </a:t>
                </a:r>
                <a:r>
                  <a:rPr lang="en-IN" sz="2400">
                    <a:solidFill>
                      <a:srgbClr val="111827"/>
                    </a:solidFill>
                    <a:latin typeface="Cambria Math" panose="02040503050406030204" pitchFamily="18" charset="0"/>
                  </a:rPr>
                  <a:t>$B_2$</a:t>
                </a:r>
                <a:r>
                  <a:rPr sz="2400" b="0">
                    <a:solidFill>
                      <a:srgbClr val="111827"/>
                    </a:solidFill>
                    <a:latin typeface="Arial"/>
                  </a:rPr>
                  <a:t> is the harmonic mean of </a:t>
                </a:r>
                <a:r>
                  <a:rPr lang="en-IN" sz="2400">
                    <a:solidFill>
                      <a:srgbClr val="111827"/>
                    </a:solidFill>
                    <a:latin typeface="Cambria Math" panose="02040503050406030204" pitchFamily="18" charset="0"/>
                  </a:rPr>
                  <a:t>$A_2$</a:t>
                </a:r>
                <a:r>
                  <a:rPr sz="2400" b="0">
                    <a:solidFill>
                      <a:srgbClr val="111827"/>
                    </a:solidFill>
                    <a:latin typeface="Arial"/>
                  </a:rPr>
                  <a:t> and </a:t>
                </a:r>
                <a:r>
                  <a:rPr lang="en-IN" sz="2400">
                    <a:solidFill>
                      <a:srgbClr val="111827"/>
                    </a:solidFill>
                    <a:latin typeface="Cambria Math" panose="02040503050406030204" pitchFamily="18" charset="0"/>
                  </a:rPr>
                  <a:t>$B_1$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a:t>
                </a:r>
                <a14:m>
                  <m:oMath xmlns:m="http://schemas.openxmlformats.org/officeDocument/2006/math">
                    <m:sSubSup>
                      <m:e>
                        <m:r>
                          <a:rPr lang="en-IN" sz="2800" i="1">
                            <a:solidFill>
                              <a:srgbClr val="15803D"/>
                            </a:solidFill>
                            <a:latin typeface="Cambria Math" panose="02040503050406030204" pitchFamily="18" charset="0"/>
                          </a:rPr>
                          <m:t>𝐴</m:t>
                        </m:r>
                      </m:e>
                      <m:sub>
                        <m:r>
                          <a:rPr lang="en-IN" sz="2800" i="1">
                            <a:solidFill>
                              <a:srgbClr val="15803D"/>
                            </a:solidFill>
                            <a:latin typeface="Cambria Math" panose="02040503050406030204" pitchFamily="18" charset="0"/>
                          </a:rPr>
                          <m:t>2</m:t>
                        </m:r>
                      </m:sub>
                      <m:sup>
                        <m:r>
                          <a:rPr lang="en-IN" sz="2800" i="1">
                            <a:solidFill>
                              <a:srgbClr val="15803D"/>
                            </a:solidFill>
                            <a:latin typeface="Cambria Math" panose="02040503050406030204" pitchFamily="18" charset="0"/>
                          </a:rPr>
                          <m:t>2</m:t>
                        </m:r>
                      </m:sup>
                    </m:sSubSup>
                    <m:r>
                      <m:rPr>
                        <m:sty m:val="p"/>
                      </m:rPr>
                      <a:rPr lang="en-IN" sz="2800">
                        <a:solidFill>
                          <a:srgbClr val="15803D"/>
                        </a:solidFill>
                        <a:latin typeface="Cambria Math" panose="02040503050406030204" pitchFamily="18" charset="0"/>
                      </a:rPr>
                      <m:t>=</m:t>
                    </m:r>
                    <m:sSub>
                      <m:e>
                        <m:r>
                          <a:rPr lang="en-IN" sz="2800" i="1">
                            <a:solidFill>
                              <a:srgbClr val="15803D"/>
                            </a:solidFill>
                            <a:latin typeface="Cambria Math" panose="02040503050406030204" pitchFamily="18" charset="0"/>
                          </a:rPr>
                          <m:t>𝐴</m:t>
                        </m:r>
                      </m:e>
                      <m:sub>
                        <m:r>
                          <a:rPr lang="en-IN" sz="2800" i="1">
                            <a:solidFill>
                              <a:srgbClr val="15803D"/>
                            </a:solidFill>
                            <a:latin typeface="Cambria Math" panose="02040503050406030204" pitchFamily="18" charset="0"/>
                          </a:rPr>
                          <m:t>1</m:t>
                        </m:r>
                      </m:sub>
                    </m:sSub>
                    <m:sSub>
                      <m:e>
                        <m:r>
                          <a:rPr lang="en-IN" sz="2800" i="1">
                            <a:solidFill>
                              <a:srgbClr val="15803D"/>
                            </a:solidFill>
                            <a:latin typeface="Cambria Math" panose="02040503050406030204" pitchFamily="18" charset="0"/>
                          </a:rPr>
                          <m:t>𝐵</m:t>
                        </m:r>
                      </m:e>
                      <m:sub>
                        <m:r>
                          <a:rPr lang="en-IN" sz="2800" i="1">
                            <a:solidFill>
                              <a:srgbClr val="15803D"/>
                            </a:solidFill>
                            <a:latin typeface="Cambria Math" panose="02040503050406030204" pitchFamily="18" charset="0"/>
                          </a:rPr>
                          <m:t>1</m:t>
                        </m:r>
                      </m:sub>
                    </m:sSub>
                  </m:oMath>
                </a14:m>
                <a:r>
                  <a:rPr sz="2800" b="1">
                    <a:solidFill>
                      <a:srgbClr val="15803D"/>
                    </a:solidFill>
                    <a:latin typeface="Arial"/>
                  </a:rPr>
                  <a:t> and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sSub>
                          <m:e>
                            <m:r>
                              <a:rPr lang="en-IN" sz="2800" i="1">
                                <a:solidFill>
                                  <a:srgbClr val="15803D"/>
                                </a:solidFill>
                                <a:latin typeface="Cambria Math" panose="02040503050406030204" pitchFamily="18" charset="0"/>
                              </a:rPr>
                              <m:t>𝐵</m:t>
                            </m:r>
                          </m:e>
                          <m:sub>
                            <m:r>
                              <a:rPr lang="en-IN" sz="2800" i="1">
                                <a:solidFill>
                                  <a:srgbClr val="15803D"/>
                                </a:solidFill>
                                <a:latin typeface="Cambria Math" panose="02040503050406030204" pitchFamily="18" charset="0"/>
                              </a:rPr>
                              <m:t>2</m:t>
                            </m:r>
                          </m:sub>
                        </m:sSub>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sSub>
                          <m:e>
                            <m:r>
                              <a:rPr lang="en-IN" sz="2800" i="1">
                                <a:solidFill>
                                  <a:srgbClr val="15803D"/>
                                </a:solidFill>
                                <a:latin typeface="Cambria Math" panose="02040503050406030204" pitchFamily="18" charset="0"/>
                              </a:rPr>
                              <m:t>𝐴</m:t>
                            </m:r>
                          </m:e>
                          <m:sub>
                            <m:r>
                              <a:rPr lang="en-IN" sz="2800" i="1">
                                <a:solidFill>
                                  <a:srgbClr val="15803D"/>
                                </a:solidFill>
                                <a:latin typeface="Cambria Math" panose="02040503050406030204" pitchFamily="18" charset="0"/>
                              </a:rPr>
                              <m:t>2</m:t>
                            </m:r>
                          </m:sub>
                        </m:sSub>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sSub>
                          <m:e>
                            <m:r>
                              <a:rPr lang="en-IN" sz="2800" i="1">
                                <a:solidFill>
                                  <a:srgbClr val="15803D"/>
                                </a:solidFill>
                                <a:latin typeface="Cambria Math" panose="02040503050406030204" pitchFamily="18" charset="0"/>
                              </a:rPr>
                              <m:t>𝐵</m:t>
                            </m:r>
                          </m:e>
                          <m:sub>
                            <m:r>
                              <a:rPr lang="en-IN" sz="2800" i="1">
                                <a:solidFill>
                                  <a:srgbClr val="15803D"/>
                                </a:solidFill>
                                <a:latin typeface="Cambria Math" panose="02040503050406030204" pitchFamily="18" charset="0"/>
                              </a:rPr>
                              <m:t>1</m:t>
                            </m:r>
                          </m:sub>
                        </m:sSub>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a:t>
                </a:r>
                <a:r>
                  <a:rPr lang="en-IN" sz="2800">
                    <a:solidFill>
                      <a:srgbClr val="15803D"/>
                    </a:solidFill>
                    <a:latin typeface="Cambria Math" panose="02040503050406030204" pitchFamily="18" charset="0"/>
                  </a:rPr>
                  <a:t>$A_2^2=A_1B_1$</a:t>
                </a:r>
                <a:r>
                  <a:rPr sz="2800" b="1">
                    <a:solidFill>
                      <a:srgbClr val="15803D"/>
                    </a:solidFill>
                    <a:latin typeface="Arial"/>
                  </a:rPr>
                  <a:t> and </a:t>
                </a:r>
                <a:r>
                  <a:rPr lang="en-IN" sz="2800">
                    <a:solidFill>
                      <a:srgbClr val="15803D"/>
                    </a:solidFill>
                    <a:latin typeface="Cambria Math" panose="02040503050406030204" pitchFamily="18" charset="0"/>
                  </a:rPr>
                  <a:t>$\frac2{B_2}=\frac1{A_2}+\frac1{B_1}$</a:t>
                </a:r>
                <a:endParaRPr sz="2800">
                  <a:solidFill>
                    <a:srgbClr val="15803D"/>
                  </a:solidFill>
                </a:endParaRPr>
              </a:p>
            </p:txBody>
          </p:sp>
        </mc:Fallback>
      </mc:AlternateContent>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Express everything through </a:t>
                </a:r>
                <a14:m>
                  <m:oMath xmlns:m="http://schemas.openxmlformats.org/officeDocument/2006/math">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oMath>
                </a14:m>
                <a:r>
                  <a:rPr sz="2400" b="0">
                    <a:solidFill>
                      <a:srgbClr val="78350F"/>
                    </a:solidFill>
                    <a:latin typeface="Arial"/>
                  </a:rPr>
                  <a:t> and </a:t>
                </a:r>
                <a14:m>
                  <m:oMath xmlns:m="http://schemas.openxmlformats.org/officeDocument/2006/math">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𝐵</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𝑡</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𝑡</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tan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θ</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Express everything through </a:t>
                </a:r>
                <a:r>
                  <a:rPr lang="en-IN" sz="2400">
                    <a:solidFill>
                      <a:srgbClr val="78350F"/>
                    </a:solidFill>
                    <a:latin typeface="Cambria Math" panose="02040503050406030204" pitchFamily="18" charset="0"/>
                  </a:rPr>
                  <a:t>$B_1$</a:t>
                </a:r>
                <a:r>
                  <a:rPr sz="2400" b="0">
                    <a:solidFill>
                      <a:srgbClr val="78350F"/>
                    </a:solidFill>
                    <a:latin typeface="Arial"/>
                  </a:rPr>
                  <a:t> and </a:t>
                </a:r>
                <a:r>
                  <a:rPr lang="en-IN" sz="2400">
                    <a:solidFill>
                      <a:srgbClr val="78350F"/>
                    </a:solidFill>
                    <a:latin typeface="Cambria Math" panose="02040503050406030204" pitchFamily="18" charset="0"/>
                  </a:rPr>
                  <a:t>$\cos\theta$</a:t>
                </a:r>
                <a:r>
                  <a:rPr sz="2400" b="0">
                    <a:solidFill>
                      <a:srgbClr val="78350F"/>
                    </a:solidFill>
                    <a:latin typeface="Arial"/>
                  </a:rPr>
                  <a:t>: </a:t>
                </a:r>
                <a:r>
                  <a:rPr lang="en-IN" sz="2400">
                    <a:solidFill>
                      <a:srgbClr val="78350F"/>
                    </a:solidFill>
                    <a:latin typeface="Cambria Math" panose="02040503050406030204" pitchFamily="18" charset="0"/>
                  </a:rPr>
                  <a:t>$A_2=B_1\cos\theta$</a:t>
                </a:r>
                <a:r>
                  <a:rPr sz="2400" b="0">
                    <a:solidFill>
                      <a:srgbClr val="78350F"/>
                    </a:solidFill>
                    <a:latin typeface="Arial"/>
                  </a:rPr>
                  <a:t>, </a:t>
                </a:r>
                <a:r>
                  <a:rPr lang="en-IN" sz="2400">
                    <a:solidFill>
                      <a:srgbClr val="78350F"/>
                    </a:solidFill>
                    <a:latin typeface="Cambria Math" panose="02040503050406030204" pitchFamily="18" charset="0"/>
                  </a:rPr>
                  <a:t>$A_1=A_2\cos\theta$</a:t>
                </a:r>
                <a:r>
                  <a:rPr sz="2400" b="0">
                    <a:solidFill>
                      <a:srgbClr val="78350F"/>
                    </a:solidFill>
                    <a:latin typeface="Arial"/>
                  </a:rPr>
                  <a:t> and </a:t>
                </a:r>
                <a:r>
                  <a:rPr lang="en-IN" sz="2400">
                    <a:solidFill>
                      <a:srgbClr val="78350F"/>
                    </a:solidFill>
                    <a:latin typeface="Cambria Math" panose="02040503050406030204" pitchFamily="18" charset="0"/>
                  </a:rPr>
                  <a:t>$B_2=B_1(1-t^2)$</a:t>
                </a:r>
                <a:r>
                  <a:rPr sz="2400" b="0">
                    <a:solidFill>
                      <a:srgbClr val="78350F"/>
                    </a:solidFill>
                    <a:latin typeface="Arial"/>
                  </a:rPr>
                  <a:t> with </a:t>
                </a:r>
                <a:r>
                  <a:rPr lang="en-IN" sz="2400">
                    <a:solidFill>
                      <a:srgbClr val="78350F"/>
                    </a:solidFill>
                    <a:latin typeface="Cambria Math" panose="02040503050406030204" pitchFamily="18" charset="0"/>
                  </a:rPr>
                  <a:t>$t=\tan\frac\theta2$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(1)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num>
                      <m:den>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den>
                    </m:f>
                  </m:oMath>
                </a14:m>
                <a:r>
                  <a:rPr sz="2400" b="0">
                    <a:solidFill>
                      <a:srgbClr val="111827"/>
                    </a:solidFill>
                    <a:latin typeface="Arial"/>
                  </a:rPr>
                  <a:t>, so </a:t>
                </a:r>
                <a14:m>
                  <m:oMath xmlns:m="http://schemas.openxmlformats.org/officeDocument/2006/math">
                    <m:sSubSup>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$\theta=\frac\pi n$</a:t>
                </a:r>
                <a:r>
                  <a:rPr sz="2400" b="0">
                    <a:solidFill>
                      <a:srgbClr val="111827"/>
                    </a:solidFill>
                    <a:latin typeface="Arial"/>
                  </a:rPr>
                  <a:t>. </a:t>
                </a:r>
                <a:r>
                  <a:rPr lang="en-IN" sz="2400">
                    <a:solidFill>
                      <a:srgbClr val="111827"/>
                    </a:solidFill>
                    <a:latin typeface="Cambria Math" panose="02040503050406030204" pitchFamily="18" charset="0"/>
                  </a:rPr>
                  <a:t>$B_1=nR^2\tan\theta$</a:t>
                </a:r>
                <a:r>
                  <a:rPr sz="2400" b="0">
                    <a:solidFill>
                      <a:srgbClr val="111827"/>
                    </a:solidFill>
                    <a:latin typeface="Arial"/>
                  </a:rPr>
                  <a:t>, </a:t>
                </a:r>
                <a:r>
                  <a:rPr lang="en-IN" sz="2400">
                    <a:solidFill>
                      <a:srgbClr val="111827"/>
                    </a:solidFill>
                    <a:latin typeface="Cambria Math" panose="02040503050406030204" pitchFamily="18" charset="0"/>
                  </a:rPr>
                  <a:t>$A_2=nR^2\sin\theta=B_1\cos\theta$</a:t>
                </a:r>
                <a:r>
                  <a:rPr sz="2400" b="0">
                    <a:solidFill>
                      <a:srgbClr val="111827"/>
                    </a:solidFill>
                    <a:latin typeface="Arial"/>
                  </a:rPr>
                  <a:t> and </a:t>
                </a:r>
                <a:r>
                  <a:rPr lang="en-IN" sz="2400">
                    <a:solidFill>
                      <a:srgbClr val="111827"/>
                    </a:solidFill>
                    <a:latin typeface="Cambria Math" panose="02040503050406030204" pitchFamily="18" charset="0"/>
                  </a:rPr>
                  <a:t>$A_1=nR^2\sin\theta\cos\theta=A_2\cos\theta$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(1) </a:t>
                </a:r>
                <a:r>
                  <a:rPr lang="en-IN" sz="2400">
                    <a:solidFill>
                      <a:srgbClr val="111827"/>
                    </a:solidFill>
                    <a:latin typeface="Cambria Math" panose="02040503050406030204" pitchFamily="18" charset="0"/>
                  </a:rPr>
                  <a:t>$\frac{A_1}{A_2}=\cos\theta=\frac{A_2}{B_1}$</a:t>
                </a:r>
                <a:r>
                  <a:rPr sz="2400" b="0">
                    <a:solidFill>
                      <a:srgbClr val="111827"/>
                    </a:solidFill>
                    <a:latin typeface="Arial"/>
                  </a:rPr>
                  <a:t>, so </a:t>
                </a:r>
                <a:r>
                  <a:rPr lang="en-IN" sz="2400">
                    <a:solidFill>
                      <a:srgbClr val="111827"/>
                    </a:solidFill>
                    <a:latin typeface="Cambria Math" panose="02040503050406030204" pitchFamily="18" charset="0"/>
                  </a:rPr>
                  <a:t>$A_2^2=A_1B_1$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num>
                      <m:den>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num>
                      <m:den>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(2) H.M. of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den>
                    </m:f>
                  </m:oMath>
                </a14:m>
                <a:r>
                  <a:rPr sz="2400" b="0">
                    <a:solidFill>
                      <a:srgbClr val="111827"/>
                    </a:solidFill>
                    <a:latin typeface="Arial"/>
                  </a:rPr>
                  <a:t>, and with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this equals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$B_2=2nR^2\tan\frac\theta2$</a:t>
                </a:r>
                <a:r>
                  <a:rPr sz="2400" b="0">
                    <a:solidFill>
                      <a:srgbClr val="111827"/>
                    </a:solidFill>
                    <a:latin typeface="Arial"/>
                  </a:rPr>
                  <a:t>; with </a:t>
                </a:r>
                <a:r>
                  <a:rPr lang="en-IN" sz="2400">
                    <a:solidFill>
                      <a:srgbClr val="111827"/>
                    </a:solidFill>
                    <a:latin typeface="Cambria Math" panose="02040503050406030204" pitchFamily="18" charset="0"/>
                  </a:rPr>
                  <a:t>$t=\tan\frac\theta2$</a:t>
                </a:r>
                <a:r>
                  <a:rPr sz="2400" b="0">
                    <a:solidFill>
                      <a:srgbClr val="111827"/>
                    </a:solidFill>
                    <a:latin typeface="Arial"/>
                  </a:rPr>
                  <a:t>, </a:t>
                </a:r>
                <a:r>
                  <a:rPr lang="en-IN" sz="2400">
                    <a:solidFill>
                      <a:srgbClr val="111827"/>
                    </a:solidFill>
                    <a:latin typeface="Cambria Math" panose="02040503050406030204" pitchFamily="18" charset="0"/>
                  </a:rPr>
                  <a:t>$\tan\theta=\frac{2t}{1-t^2}$</a:t>
                </a:r>
                <a:r>
                  <a:rPr sz="2400" b="0">
                    <a:solidFill>
                      <a:srgbClr val="111827"/>
                    </a:solidFill>
                    <a:latin typeface="Arial"/>
                  </a:rPr>
                  <a:t>, so </a:t>
                </a:r>
                <a:r>
                  <a:rPr lang="en-IN" sz="2400">
                    <a:solidFill>
                      <a:srgbClr val="111827"/>
                    </a:solidFill>
                    <a:latin typeface="Cambria Math" panose="02040503050406030204" pitchFamily="18" charset="0"/>
                  </a:rPr>
                  <a:t>$\frac{B_2}{B_1}=\frac{2t}{\tan\theta}=1-t^2$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(2) H.M. of </a:t>
                </a:r>
                <a:r>
                  <a:rPr lang="en-IN" sz="2400">
                    <a:solidFill>
                      <a:srgbClr val="111827"/>
                    </a:solidFill>
                    <a:latin typeface="Cambria Math" panose="02040503050406030204" pitchFamily="18" charset="0"/>
                  </a:rPr>
                  <a:t>$A_2$</a:t>
                </a:r>
                <a:r>
                  <a:rPr sz="2400" b="0">
                    <a:solidFill>
                      <a:srgbClr val="111827"/>
                    </a:solidFill>
                    <a:latin typeface="Arial"/>
                  </a:rPr>
                  <a:t> and </a:t>
                </a:r>
                <a:r>
                  <a:rPr lang="en-IN" sz="2400">
                    <a:solidFill>
                      <a:srgbClr val="111827"/>
                    </a:solidFill>
                    <a:latin typeface="Cambria Math" panose="02040503050406030204" pitchFamily="18" charset="0"/>
                  </a:rPr>
                  <a:t>$B_1$</a:t>
                </a:r>
                <a:r>
                  <a:rPr sz="2400" b="0">
                    <a:solidFill>
                      <a:srgbClr val="111827"/>
                    </a:solidFill>
                    <a:latin typeface="Arial"/>
                  </a:rPr>
                  <a:t> </a:t>
                </a:r>
                <a:r>
                  <a:rPr lang="en-IN" sz="2400">
                    <a:solidFill>
                      <a:srgbClr val="111827"/>
                    </a:solidFill>
                    <a:latin typeface="Cambria Math" panose="02040503050406030204" pitchFamily="18" charset="0"/>
                  </a:rPr>
                  <a:t>$=\frac{2A_2B_1}{A_2+B_1}=\frac{2B_1\cos\theta}{1+\cos\theta}$</a:t>
                </a:r>
                <a:r>
                  <a:rPr sz="2400" b="0">
                    <a:solidFill>
                      <a:srgbClr val="111827"/>
                    </a:solidFill>
                    <a:latin typeface="Arial"/>
                  </a:rPr>
                  <a:t>, and with </a:t>
                </a:r>
                <a:r>
                  <a:rPr lang="en-IN" sz="2400">
                    <a:solidFill>
                      <a:srgbClr val="111827"/>
                    </a:solidFill>
                    <a:latin typeface="Cambria Math" panose="02040503050406030204" pitchFamily="18" charset="0"/>
                  </a:rPr>
                  <a:t>$\cos\theta=\frac{1-t^2}{1+t^2}$</a:t>
                </a:r>
                <a:r>
                  <a:rPr sz="2400" b="0">
                    <a:solidFill>
                      <a:srgbClr val="111827"/>
                    </a:solidFill>
                    <a:latin typeface="Arial"/>
                  </a:rPr>
                  <a:t>, </a:t>
                </a:r>
                <a:r>
                  <a:rPr lang="en-IN" sz="2400">
                    <a:solidFill>
                      <a:srgbClr val="111827"/>
                    </a:solidFill>
                    <a:latin typeface="Cambria Math" panose="02040503050406030204" pitchFamily="18" charset="0"/>
                  </a:rPr>
                  <a:t>$1+\cos\theta=\frac2{1+t^2}$</a:t>
                </a:r>
                <a:r>
                  <a:rPr sz="2400" b="0">
                    <a:solidFill>
                      <a:srgbClr val="111827"/>
                    </a:solidFill>
                    <a:latin typeface="Arial"/>
                  </a:rPr>
                  <a:t> this equals </a:t>
                </a:r>
                <a:r>
                  <a:rPr lang="en-IN" sz="2400">
                    <a:solidFill>
                      <a:srgbClr val="111827"/>
                    </a:solidFill>
                    <a:latin typeface="Cambria Math" panose="02040503050406030204" pitchFamily="18" charset="0"/>
                  </a:rPr>
                  <a:t>$B_1(1-t^2)=B_2$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a:t>
                </a:r>
                <a14:m>
                  <m:oMath xmlns:m="http://schemas.openxmlformats.org/officeDocument/2006/math">
                    <m:sSubSup>
                      <m:e>
                        <m:r>
                          <a:rPr lang="en-IN" sz="2800" i="1">
                            <a:solidFill>
                              <a:srgbClr val="15803D"/>
                            </a:solidFill>
                            <a:latin typeface="Cambria Math" panose="02040503050406030204" pitchFamily="18" charset="0"/>
                          </a:rPr>
                          <m:t>𝐴</m:t>
                        </m:r>
                      </m:e>
                      <m:sub>
                        <m:r>
                          <a:rPr lang="en-IN" sz="2800" i="1">
                            <a:solidFill>
                              <a:srgbClr val="15803D"/>
                            </a:solidFill>
                            <a:latin typeface="Cambria Math" panose="02040503050406030204" pitchFamily="18" charset="0"/>
                          </a:rPr>
                          <m:t>2</m:t>
                        </m:r>
                      </m:sub>
                      <m:sup>
                        <m:r>
                          <a:rPr lang="en-IN" sz="2800" i="1">
                            <a:solidFill>
                              <a:srgbClr val="15803D"/>
                            </a:solidFill>
                            <a:latin typeface="Cambria Math" panose="02040503050406030204" pitchFamily="18" charset="0"/>
                          </a:rPr>
                          <m:t>2</m:t>
                        </m:r>
                      </m:sup>
                    </m:sSubSup>
                    <m:r>
                      <m:rPr>
                        <m:sty m:val="p"/>
                      </m:rPr>
                      <a:rPr lang="en-IN" sz="2800">
                        <a:solidFill>
                          <a:srgbClr val="15803D"/>
                        </a:solidFill>
                        <a:latin typeface="Cambria Math" panose="02040503050406030204" pitchFamily="18" charset="0"/>
                      </a:rPr>
                      <m:t>=</m:t>
                    </m:r>
                    <m:sSub>
                      <m:e>
                        <m:r>
                          <a:rPr lang="en-IN" sz="2800" i="1">
                            <a:solidFill>
                              <a:srgbClr val="15803D"/>
                            </a:solidFill>
                            <a:latin typeface="Cambria Math" panose="02040503050406030204" pitchFamily="18" charset="0"/>
                          </a:rPr>
                          <m:t>𝐴</m:t>
                        </m:r>
                      </m:e>
                      <m:sub>
                        <m:r>
                          <a:rPr lang="en-IN" sz="2800" i="1">
                            <a:solidFill>
                              <a:srgbClr val="15803D"/>
                            </a:solidFill>
                            <a:latin typeface="Cambria Math" panose="02040503050406030204" pitchFamily="18" charset="0"/>
                          </a:rPr>
                          <m:t>1</m:t>
                        </m:r>
                      </m:sub>
                    </m:sSub>
                    <m:sSub>
                      <m:e>
                        <m:r>
                          <a:rPr lang="en-IN" sz="2800" i="1">
                            <a:solidFill>
                              <a:srgbClr val="15803D"/>
                            </a:solidFill>
                            <a:latin typeface="Cambria Math" panose="02040503050406030204" pitchFamily="18" charset="0"/>
                          </a:rPr>
                          <m:t>𝐵</m:t>
                        </m:r>
                      </m:e>
                      <m:sub>
                        <m:r>
                          <a:rPr lang="en-IN" sz="2800" i="1">
                            <a:solidFill>
                              <a:srgbClr val="15803D"/>
                            </a:solidFill>
                            <a:latin typeface="Cambria Math" panose="02040503050406030204" pitchFamily="18" charset="0"/>
                          </a:rPr>
                          <m:t>1</m:t>
                        </m:r>
                      </m:sub>
                    </m:sSub>
                  </m:oMath>
                </a14:m>
                <a:r>
                  <a:rPr sz="2800" b="1">
                    <a:solidFill>
                      <a:srgbClr val="15803D"/>
                    </a:solidFill>
                    <a:latin typeface="Arial"/>
                  </a:rPr>
                  <a:t> and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sSub>
                          <m:e>
                            <m:r>
                              <a:rPr lang="en-IN" sz="2800" i="1">
                                <a:solidFill>
                                  <a:srgbClr val="15803D"/>
                                </a:solidFill>
                                <a:latin typeface="Cambria Math" panose="02040503050406030204" pitchFamily="18" charset="0"/>
                              </a:rPr>
                              <m:t>𝐵</m:t>
                            </m:r>
                          </m:e>
                          <m:sub>
                            <m:r>
                              <a:rPr lang="en-IN" sz="2800" i="1">
                                <a:solidFill>
                                  <a:srgbClr val="15803D"/>
                                </a:solidFill>
                                <a:latin typeface="Cambria Math" panose="02040503050406030204" pitchFamily="18" charset="0"/>
                              </a:rPr>
                              <m:t>2</m:t>
                            </m:r>
                          </m:sub>
                        </m:sSub>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sSub>
                          <m:e>
                            <m:r>
                              <a:rPr lang="en-IN" sz="2800" i="1">
                                <a:solidFill>
                                  <a:srgbClr val="15803D"/>
                                </a:solidFill>
                                <a:latin typeface="Cambria Math" panose="02040503050406030204" pitchFamily="18" charset="0"/>
                              </a:rPr>
                              <m:t>𝐴</m:t>
                            </m:r>
                          </m:e>
                          <m:sub>
                            <m:r>
                              <a:rPr lang="en-IN" sz="2800" i="1">
                                <a:solidFill>
                                  <a:srgbClr val="15803D"/>
                                </a:solidFill>
                                <a:latin typeface="Cambria Math" panose="02040503050406030204" pitchFamily="18" charset="0"/>
                              </a:rPr>
                              <m:t>2</m:t>
                            </m:r>
                          </m:sub>
                        </m:sSub>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sSub>
                          <m:e>
                            <m:r>
                              <a:rPr lang="en-IN" sz="2800" i="1">
                                <a:solidFill>
                                  <a:srgbClr val="15803D"/>
                                </a:solidFill>
                                <a:latin typeface="Cambria Math" panose="02040503050406030204" pitchFamily="18" charset="0"/>
                              </a:rPr>
                              <m:t>𝐵</m:t>
                            </m:r>
                          </m:e>
                          <m:sub>
                            <m:r>
                              <a:rPr lang="en-IN" sz="2800" i="1">
                                <a:solidFill>
                                  <a:srgbClr val="15803D"/>
                                </a:solidFill>
                                <a:latin typeface="Cambria Math" panose="02040503050406030204" pitchFamily="18" charset="0"/>
                              </a:rPr>
                              <m:t>1</m:t>
                            </m:r>
                          </m:sub>
                        </m:sSub>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a:t>
                </a:r>
                <a:r>
                  <a:rPr lang="en-IN" sz="2800">
                    <a:solidFill>
                      <a:srgbClr val="15803D"/>
                    </a:solidFill>
                    <a:latin typeface="Cambria Math" panose="02040503050406030204" pitchFamily="18" charset="0"/>
                  </a:rPr>
                  <a:t>$A_2^2=A_1B_1$</a:t>
                </a:r>
                <a:r>
                  <a:rPr sz="2800" b="1">
                    <a:solidFill>
                      <a:srgbClr val="15803D"/>
                    </a:solidFill>
                    <a:latin typeface="Arial"/>
                  </a:rPr>
                  <a:t> and </a:t>
                </a:r>
                <a:r>
                  <a:rPr lang="en-IN" sz="2800">
                    <a:solidFill>
                      <a:srgbClr val="15803D"/>
                    </a:solidFill>
                    <a:latin typeface="Cambria Math" panose="02040503050406030204" pitchFamily="18" charset="0"/>
                  </a:rPr>
                  <a:t>$\frac2{B_2}=\frac1{A_2}+\frac1{B_1}$</a:t>
                </a:r>
                <a:endParaRPr sz="2800">
                  <a:solidFill>
                    <a:srgbClr val="15803D"/>
                  </a:solidFill>
                </a:endParaRPr>
              </a:p>
            </p:txBody>
          </p:sp>
        </mc:Fallback>
      </mc:AlternateContent>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circle of radius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inscribed regular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-gon area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circumscribed </a:t>
                </a:r>
                <a14:m>
                  <m:oMath xmlns:m="http://schemas.openxmlformats.org/officeDocument/2006/math">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their ratio is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Doubling the number of sides: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𝑛</m:t>
                            </m:r>
                          </m:sub>
                        </m:sSub>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𝑛</m:t>
                            </m:r>
                          </m:sub>
                        </m:sSub>
                      </m:e>
                    </m:rad>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b>
                        </m:sSub>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𝑛</m:t>
                            </m:r>
                          </m:sub>
                        </m:sSub>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𝑛</m:t>
                            </m:r>
                          </m:sub>
                        </m:sSub>
                      </m:den>
                    </m:f>
                  </m:oMath>
                </a14:m>
                <a:r>
                  <a:rPr sz="2400" b="0">
                    <a:solidFill>
                      <a:srgbClr val="111827"/>
                    </a:solidFill>
                    <a:latin typeface="Arial"/>
                  </a:rPr>
                  <a:t> - Archimedes' recurrences for approximating </a:t>
                </a:r>
                <a14:m>
                  <m:oMath xmlns:m="http://schemas.openxmlformats.org/officeDocument/2006/math">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Numerical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8</m:t>
                        </m:r>
                      </m:e>
                    </m:rad>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𝐵</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22.5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3.3137</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2.8284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2.8284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 circle of radius </a:t>
                </a:r>
                <a:r>
                  <a:rPr lang="en-IN" sz="2400">
                    <a:solidFill>
                      <a:srgbClr val="111827"/>
                    </a:solidFill>
                    <a:latin typeface="Cambria Math" panose="02040503050406030204" pitchFamily="18" charset="0"/>
                  </a:rPr>
                  <a:t>$R$</a:t>
                </a:r>
                <a:r>
                  <a:rPr sz="2400" b="0">
                    <a:solidFill>
                      <a:srgbClr val="111827"/>
                    </a:solidFill>
                    <a:latin typeface="Arial"/>
                  </a:rPr>
                  <a:t>: inscribed regular </a:t>
                </a:r>
                <a:r>
                  <a:rPr lang="en-IN" sz="2400">
                    <a:solidFill>
                      <a:srgbClr val="111827"/>
                    </a:solidFill>
                    <a:latin typeface="Cambria Math" panose="02040503050406030204" pitchFamily="18" charset="0"/>
                  </a:rPr>
                  <a:t>$n$</a:t>
                </a:r>
                <a:r>
                  <a:rPr sz="2400" b="0">
                    <a:solidFill>
                      <a:srgbClr val="111827"/>
                    </a:solidFill>
                    <a:latin typeface="Arial"/>
                  </a:rPr>
                  <a:t>-gon area </a:t>
                </a:r>
                <a:r>
                  <a:rPr lang="en-IN" sz="2400">
                    <a:solidFill>
                      <a:srgbClr val="111827"/>
                    </a:solidFill>
                    <a:latin typeface="Cambria Math" panose="02040503050406030204" pitchFamily="18" charset="0"/>
                  </a:rPr>
                  <a:t>$\frac n2R^2\sin\frac{2\pi}n$</a:t>
                </a:r>
                <a:r>
                  <a:rPr sz="2400" b="0">
                    <a:solidFill>
                      <a:srgbClr val="111827"/>
                    </a:solidFill>
                    <a:latin typeface="Arial"/>
                  </a:rPr>
                  <a:t>, circumscribed </a:t>
                </a:r>
                <a:r>
                  <a:rPr lang="en-IN" sz="2400">
                    <a:solidFill>
                      <a:srgbClr val="111827"/>
                    </a:solidFill>
                    <a:latin typeface="Cambria Math" panose="02040503050406030204" pitchFamily="18" charset="0"/>
                  </a:rPr>
                  <a:t>$nR^2\tan\frac\pi n$</a:t>
                </a:r>
                <a:r>
                  <a:rPr sz="2400" b="0">
                    <a:solidFill>
                      <a:srgbClr val="111827"/>
                    </a:solidFill>
                    <a:latin typeface="Arial"/>
                  </a:rPr>
                  <a:t>; their ratio is </a:t>
                </a:r>
                <a:r>
                  <a:rPr lang="en-IN" sz="2400">
                    <a:solidFill>
                      <a:srgbClr val="111827"/>
                    </a:solidFill>
                    <a:latin typeface="Cambria Math" panose="02040503050406030204" pitchFamily="18" charset="0"/>
                  </a:rPr>
                  <a:t>$\cos^2\frac\pi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Doubling the number of sides: </a:t>
                </a:r>
                <a:r>
                  <a:rPr lang="en-IN" sz="2400">
                    <a:solidFill>
                      <a:srgbClr val="111827"/>
                    </a:solidFill>
                    <a:latin typeface="Cambria Math" panose="02040503050406030204" pitchFamily="18" charset="0"/>
                  </a:rPr>
                  <a:t>$A_{2n}=\sqrt{A_nB_n}$</a:t>
                </a:r>
                <a:r>
                  <a:rPr sz="2400" b="0">
                    <a:solidFill>
                      <a:srgbClr val="111827"/>
                    </a:solidFill>
                    <a:latin typeface="Arial"/>
                  </a:rPr>
                  <a:t> and </a:t>
                </a:r>
                <a:r>
                  <a:rPr lang="en-IN" sz="2400">
                    <a:solidFill>
                      <a:srgbClr val="111827"/>
                    </a:solidFill>
                    <a:latin typeface="Cambria Math" panose="02040503050406030204" pitchFamily="18" charset="0"/>
                  </a:rPr>
                  <a:t>$B_{2n}=\frac{2A_{2n}B_n}{A_{2n}+B_n}$</a:t>
                </a:r>
                <a:r>
                  <a:rPr sz="2400" b="0">
                    <a:solidFill>
                      <a:srgbClr val="111827"/>
                    </a:solidFill>
                    <a:latin typeface="Arial"/>
                  </a:rPr>
                  <a:t> - Archimedes' recurrences for approximating </a:t>
                </a:r>
                <a:r>
                  <a:rPr lang="en-IN" sz="2400">
                    <a:solidFill>
                      <a:srgbClr val="111827"/>
                    </a:solidFill>
                    <a:latin typeface="Cambria Math" panose="02040503050406030204" pitchFamily="18" charset="0"/>
                  </a:rPr>
                  <a:t>$\pi$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Numerical check (</a:t>
                </a:r>
                <a:r>
                  <a:rPr lang="en-IN" sz="2400">
                    <a:solidFill>
                      <a:srgbClr val="111827"/>
                    </a:solidFill>
                    <a:latin typeface="Cambria Math" panose="02040503050406030204" pitchFamily="18" charset="0"/>
                  </a:rPr>
                  <a:t>$n=4$</a:t>
                </a:r>
                <a:r>
                  <a:rPr sz="2400" b="0">
                    <a:solidFill>
                      <a:srgbClr val="111827"/>
                    </a:solidFill>
                    <a:latin typeface="Arial"/>
                  </a:rPr>
                  <a:t>, </a:t>
                </a:r>
                <a:r>
                  <a:rPr lang="en-IN" sz="2400">
                    <a:solidFill>
                      <a:srgbClr val="111827"/>
                    </a:solidFill>
                    <a:latin typeface="Cambria Math" panose="02040503050406030204" pitchFamily="18" charset="0"/>
                  </a:rPr>
                  <a:t>$R=1$</a:t>
                </a:r>
                <a:r>
                  <a:rPr sz="2400" b="0">
                    <a:solidFill>
                      <a:srgbClr val="111827"/>
                    </a:solidFill>
                    <a:latin typeface="Arial"/>
                  </a:rPr>
                  <a:t>): </a:t>
                </a:r>
                <a:r>
                  <a:rPr lang="en-IN" sz="2400">
                    <a:solidFill>
                      <a:srgbClr val="111827"/>
                    </a:solidFill>
                    <a:latin typeface="Cambria Math" panose="02040503050406030204" pitchFamily="18" charset="0"/>
                  </a:rPr>
                  <a:t>$A_1=2$</a:t>
                </a:r>
                <a:r>
                  <a:rPr sz="2400" b="0">
                    <a:solidFill>
                      <a:srgbClr val="111827"/>
                    </a:solidFill>
                    <a:latin typeface="Arial"/>
                  </a:rPr>
                  <a:t>, </a:t>
                </a:r>
                <a:r>
                  <a:rPr lang="en-IN" sz="2400">
                    <a:solidFill>
                      <a:srgbClr val="111827"/>
                    </a:solidFill>
                    <a:latin typeface="Cambria Math" panose="02040503050406030204" pitchFamily="18" charset="0"/>
                  </a:rPr>
                  <a:t>$B_1=4$</a:t>
                </a:r>
                <a:r>
                  <a:rPr sz="2400" b="0">
                    <a:solidFill>
                      <a:srgbClr val="111827"/>
                    </a:solidFill>
                    <a:latin typeface="Arial"/>
                  </a:rPr>
                  <a:t>, </a:t>
                </a:r>
                <a:r>
                  <a:rPr lang="en-IN" sz="2400">
                    <a:solidFill>
                      <a:srgbClr val="111827"/>
                    </a:solidFill>
                    <a:latin typeface="Cambria Math" panose="02040503050406030204" pitchFamily="18" charset="0"/>
                  </a:rPr>
                  <a:t>$A_2=2\sqrt2=\sqrt8$</a:t>
                </a:r>
                <a:r>
                  <a:rPr sz="2400" b="0">
                    <a:solidFill>
                      <a:srgbClr val="111827"/>
                    </a:solidFill>
                    <a:latin typeface="Arial"/>
                  </a:rPr>
                  <a:t> and </a:t>
                </a:r>
                <a:r>
                  <a:rPr lang="en-IN" sz="2400">
                    <a:solidFill>
                      <a:srgbClr val="111827"/>
                    </a:solidFill>
                    <a:latin typeface="Cambria Math" panose="02040503050406030204" pitchFamily="18" charset="0"/>
                  </a:rPr>
                  <a:t>$B_2=8\tan22.5^\circ\approx3.3137=\frac{2\cdot2.8284\cdot4}{2.8284+4}$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a right angled triangle, right angle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 ratio of the radius of the circle circumscribed to the radius of the circle escribed to the hypotenuse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e>
                    </m:d>
                  </m:oMath>
                </a14:m>
                <a:r>
                  <a:rPr sz="2400" b="0">
                    <a:solidFill>
                      <a:srgbClr val="111827"/>
                    </a:solidFill>
                    <a:latin typeface="Arial"/>
                  </a:rPr>
                  <a:t>. Find the acute angles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Also find the ratio of the two sides of the triangle other than the hypotenuse.</a:t>
                </a:r>
                <a:endParaRPr sz="2400">
                  <a:solidFill>
                    <a:srgbClr val="111827"/>
                  </a:solidFill>
                </a:endParaRPr>
              </a:p>
            </p:txBody>
          </p:sp>
        </mc:Choice>
        <mc:Fallback>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triangle </a:t>
                </a:r>
                <a:r>
                  <a:rPr lang="en-IN" sz="2400">
                    <a:solidFill>
                      <a:srgbClr val="111827"/>
                    </a:solidFill>
                    <a:latin typeface="Cambria Math" panose="02040503050406030204" pitchFamily="18" charset="0"/>
                  </a:rPr>
                  <a:t>$ABC$</a:t>
                </a:r>
                <a:r>
                  <a:rPr sz="2400" b="0">
                    <a:solidFill>
                      <a:srgbClr val="111827"/>
                    </a:solidFill>
                    <a:latin typeface="Arial"/>
                  </a:rPr>
                  <a:t> is a right angled triangle, right angle at </a:t>
                </a:r>
                <a:r>
                  <a:rPr lang="en-IN" sz="2400">
                    <a:solidFill>
                      <a:srgbClr val="111827"/>
                    </a:solidFill>
                    <a:latin typeface="Cambria Math" panose="02040503050406030204" pitchFamily="18" charset="0"/>
                  </a:rPr>
                  <a:t>$A$</a:t>
                </a:r>
                <a:r>
                  <a:rPr sz="2400" b="0">
                    <a:solidFill>
                      <a:srgbClr val="111827"/>
                    </a:solidFill>
                    <a:latin typeface="Arial"/>
                  </a:rPr>
                  <a:t>. The ratio of the radius of the circle circumscribed to the radius of the circle escribed to the hypotenuse is </a:t>
                </a:r>
                <a:r>
                  <a:rPr lang="en-IN" sz="2400">
                    <a:solidFill>
                      <a:srgbClr val="111827"/>
                    </a:solidFill>
                    <a:latin typeface="Cambria Math" panose="02040503050406030204" pitchFamily="18" charset="0"/>
                  </a:rPr>
                  <a:t>$\sqrt2:\left(\sqrt3+\sqrt2\right)$</a:t>
                </a:r>
                <a:r>
                  <a:rPr sz="2400" b="0">
                    <a:solidFill>
                      <a:srgbClr val="111827"/>
                    </a:solidFill>
                    <a:latin typeface="Arial"/>
                  </a:rPr>
                  <a:t>. Find the acute angles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Also find the ratio of the two sides of the triangle other than the hypotenuse.</a:t>
                </a:r>
                <a:endParaRPr sz="2400">
                  <a:solidFill>
                    <a:srgbClr val="111827"/>
                  </a:solidFill>
                </a:endParaRPr>
              </a:p>
            </p:txBody>
          </p:sp>
        </mc:Fallback>
      </mc:AlternateContent>
      <p:sp>
        <p:nvSpPr>
          <p:cNvPr id="5" name="Rectangle 4"/>
          <p:cNvSpPr/>
          <p:nvPr/>
        </p:nvSpPr>
        <p:spPr>
          <a:xfrm>
            <a:off x="731520" y="4260596"/>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Right triangle: circumradius, exradius and half-angle trigonometry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 right angle at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𝑎</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 the given ratio fixes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2</m:t>
                            </m:r>
                          </m:den>
                        </m:f>
                      </m:e>
                    </m:ra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For a right angle at </a:t>
                </a:r>
                <a:r>
                  <a:rPr lang="en-IN" sz="2400">
                    <a:solidFill>
                      <a:srgbClr val="78350F"/>
                    </a:solidFill>
                    <a:latin typeface="Cambria Math" panose="02040503050406030204" pitchFamily="18" charset="0"/>
                  </a:rPr>
                  <a:t>$A$</a:t>
                </a:r>
                <a:r>
                  <a:rPr sz="2400" b="0">
                    <a:solidFill>
                      <a:srgbClr val="78350F"/>
                    </a:solidFill>
                    <a:latin typeface="Arial"/>
                  </a:rPr>
                  <a:t>: </a:t>
                </a:r>
                <a:r>
                  <a:rPr lang="en-IN" sz="2400">
                    <a:solidFill>
                      <a:srgbClr val="78350F"/>
                    </a:solidFill>
                    <a:latin typeface="Cambria Math" panose="02040503050406030204" pitchFamily="18" charset="0"/>
                  </a:rPr>
                  <a:t>$r_a=R(1+\sin B+\cos B)$</a:t>
                </a:r>
                <a:r>
                  <a:rPr sz="2400" b="0">
                    <a:solidFill>
                      <a:srgbClr val="78350F"/>
                    </a:solidFill>
                    <a:latin typeface="Arial"/>
                  </a:rPr>
                  <a:t>, so the given ratio fixes </a:t>
                </a:r>
                <a:r>
                  <a:rPr lang="en-IN" sz="2400">
                    <a:solidFill>
                      <a:srgbClr val="78350F"/>
                    </a:solidFill>
                    <a:latin typeface="Cambria Math" panose="02040503050406030204" pitchFamily="18" charset="0"/>
                  </a:rPr>
                  <a:t>$\sin B+\cos B=\sqrt{\frac32}$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Right angle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 hypotenuse is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Exradius to the hypotenuse: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𝑎</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Δ</m:t>
                        </m:r>
                      </m:num>
                      <m:den>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en>
                    </m:f>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𝑎</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Right angle at </a:t>
                </a:r>
                <a:r>
                  <a:rPr lang="en-IN" sz="2400">
                    <a:solidFill>
                      <a:srgbClr val="111827"/>
                    </a:solidFill>
                    <a:latin typeface="Cambria Math" panose="02040503050406030204" pitchFamily="18" charset="0"/>
                  </a:rPr>
                  <a:t>$A$</a:t>
                </a:r>
                <a:r>
                  <a:rPr sz="2400" b="0">
                    <a:solidFill>
                      <a:srgbClr val="111827"/>
                    </a:solidFill>
                    <a:latin typeface="Arial"/>
                  </a:rPr>
                  <a:t>: the hypotenuse is </a:t>
                </a:r>
                <a:r>
                  <a:rPr lang="en-IN" sz="2400">
                    <a:solidFill>
                      <a:srgbClr val="111827"/>
                    </a:solidFill>
                    <a:latin typeface="Cambria Math" panose="02040503050406030204" pitchFamily="18" charset="0"/>
                  </a:rPr>
                  <a:t>$a=2R$</a:t>
                </a:r>
                <a:r>
                  <a:rPr sz="2400" b="0">
                    <a:solidFill>
                      <a:srgbClr val="111827"/>
                    </a:solidFill>
                    <a:latin typeface="Arial"/>
                  </a:rPr>
                  <a:t>, </a:t>
                </a:r>
                <a:r>
                  <a:rPr lang="en-IN" sz="2400">
                    <a:solidFill>
                      <a:srgbClr val="111827"/>
                    </a:solidFill>
                    <a:latin typeface="Cambria Math" panose="02040503050406030204" pitchFamily="18" charset="0"/>
                  </a:rPr>
                  <a:t>$b=2R\sin B$</a:t>
                </a:r>
                <a:r>
                  <a:rPr sz="2400" b="0">
                    <a:solidFill>
                      <a:srgbClr val="111827"/>
                    </a:solidFill>
                    <a:latin typeface="Arial"/>
                  </a:rPr>
                  <a:t> and </a:t>
                </a:r>
                <a:r>
                  <a:rPr lang="en-IN" sz="2400">
                    <a:solidFill>
                      <a:srgbClr val="111827"/>
                    </a:solidFill>
                    <a:latin typeface="Cambria Math" panose="02040503050406030204" pitchFamily="18" charset="0"/>
                  </a:rPr>
                  <a:t>$c=2R\sin C=2R\cos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Exradius to the hypotenuse: </a:t>
                </a:r>
                <a:r>
                  <a:rPr lang="en-IN" sz="2400">
                    <a:solidFill>
                      <a:srgbClr val="111827"/>
                    </a:solidFill>
                    <a:latin typeface="Cambria Math" panose="02040503050406030204" pitchFamily="18" charset="0"/>
                  </a:rPr>
                  <a:t>$r_a=\frac{\Delta}{s-a}$</a:t>
                </a:r>
                <a:r>
                  <a:rPr sz="2400" b="0">
                    <a:solidFill>
                      <a:srgbClr val="111827"/>
                    </a:solidFill>
                    <a:latin typeface="Arial"/>
                  </a:rPr>
                  <a:t> with </a:t>
                </a:r>
                <a:r>
                  <a:rPr lang="en-IN" sz="2400">
                    <a:solidFill>
                      <a:srgbClr val="111827"/>
                    </a:solidFill>
                    <a:latin typeface="Cambria Math" panose="02040503050406030204" pitchFamily="18" charset="0"/>
                  </a:rPr>
                  <a:t>$\Delta=\frac12bc=2R^2\sin B\cos B$</a:t>
                </a:r>
                <a:r>
                  <a:rPr sz="2400" b="0">
                    <a:solidFill>
                      <a:srgbClr val="111827"/>
                    </a:solidFill>
                    <a:latin typeface="Arial"/>
                  </a:rPr>
                  <a:t> and </a:t>
                </a:r>
                <a:r>
                  <a:rPr lang="en-IN" sz="2400">
                    <a:solidFill>
                      <a:srgbClr val="111827"/>
                    </a:solidFill>
                    <a:latin typeface="Cambria Math" panose="02040503050406030204" pitchFamily="18" charset="0"/>
                  </a:rPr>
                  <a:t>$s-a=R(\sin B+\cos B-1)$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$r_a=\frac{2R^2\sin B\cos B}{R(\sin B+\cos B-1)}=R\cdot\frac{(\sin B+\cos B)^2-1}{\sin B+\cos B-1}=R(\sin B+\cos B+1)$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𝑎</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rad>
                  </m:oMath>
                </a14:m>
                <a:r>
                  <a:rPr sz="2400" b="0">
                    <a:solidFill>
                      <a:srgbClr val="111827"/>
                    </a:solidFill>
                    <a:latin typeface="Arial"/>
                  </a:rPr>
                  <a:t>, i.e.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sin</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sin</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$\frac R{r_a}=\frac{\sqrt2}{\sqrt3+\sqrt2}$</a:t>
                </a:r>
                <a:r>
                  <a:rPr sz="2400" b="0">
                    <a:solidFill>
                      <a:srgbClr val="111827"/>
                    </a:solidFill>
                    <a:latin typeface="Arial"/>
                  </a:rPr>
                  <a:t>: </a:t>
                </a:r>
                <a:r>
                  <a:rPr lang="en-IN" sz="2400">
                    <a:solidFill>
                      <a:srgbClr val="111827"/>
                    </a:solidFill>
                    <a:latin typeface="Cambria Math" panose="02040503050406030204" pitchFamily="18" charset="0"/>
                  </a:rPr>
                  <a:t>$\sin B+\cos B+1=\frac{\sqrt3+\sqrt2}{\sqrt2}=\sqrt{\frac32}+1$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 B+\cos B=\sqrt{\frac32}$</a:t>
                </a:r>
                <a:r>
                  <a:rPr sz="2400" b="0">
                    <a:solidFill>
                      <a:srgbClr val="111827"/>
                    </a:solidFill>
                    <a:latin typeface="Arial"/>
                  </a:rPr>
                  <a:t>, i.e. </a:t>
                </a:r>
                <a:r>
                  <a:rPr lang="en-IN" sz="2400">
                    <a:solidFill>
                      <a:srgbClr val="111827"/>
                    </a:solidFill>
                    <a:latin typeface="Cambria Math" panose="02040503050406030204" pitchFamily="18" charset="0"/>
                  </a:rPr>
                  <a:t>$\sqrt2\sin\left(B+\frac\pi4\right)=\frac{\sqrt6}2$</a:t>
                </a:r>
                <a:r>
                  <a:rPr sz="2400" b="0">
                    <a:solidFill>
                      <a:srgbClr val="111827"/>
                    </a:solidFill>
                    <a:latin typeface="Arial"/>
                  </a:rPr>
                  <a:t>, so </a:t>
                </a:r>
                <a:r>
                  <a:rPr lang="en-IN" sz="2400">
                    <a:solidFill>
                      <a:srgbClr val="111827"/>
                    </a:solidFill>
                    <a:latin typeface="Cambria Math" panose="02040503050406030204" pitchFamily="18" charset="0"/>
                  </a:rPr>
                  <a:t>$\sin\left(B+\frac\pi4\right)=\frac{\sqrt3}2$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$B+\frac\pi4=\frac\pi3$</a:t>
                </a:r>
                <a:r>
                  <a:rPr sz="2400" b="0">
                    <a:solidFill>
                      <a:srgbClr val="111827"/>
                    </a:solidFill>
                    <a:latin typeface="Arial"/>
                  </a:rPr>
                  <a:t> or </a:t>
                </a:r>
                <a:r>
                  <a:rPr lang="en-IN" sz="2400">
                    <a:solidFill>
                      <a:srgbClr val="111827"/>
                    </a:solidFill>
                    <a:latin typeface="Cambria Math" panose="02040503050406030204" pitchFamily="18" charset="0"/>
                  </a:rPr>
                  <a:t>$\frac{2\pi}3$</a:t>
                </a:r>
                <a:r>
                  <a:rPr sz="2400" b="0">
                    <a:solidFill>
                      <a:srgbClr val="111827"/>
                    </a:solidFill>
                    <a:latin typeface="Arial"/>
                  </a:rPr>
                  <a:t> (as </a:t>
                </a:r>
                <a:r>
                  <a:rPr lang="en-IN" sz="2400">
                    <a:solidFill>
                      <a:srgbClr val="111827"/>
                    </a:solidFill>
                    <a:latin typeface="Cambria Math" panose="02040503050406030204" pitchFamily="18" charset="0"/>
                  </a:rPr>
                  <a:t>$0&lt;B&lt;\frac\pi2$</a:t>
                </a:r>
                <a:r>
                  <a:rPr sz="2400" b="0">
                    <a:solidFill>
                      <a:srgbClr val="111827"/>
                    </a:solidFill>
                    <a:latin typeface="Arial"/>
                  </a:rPr>
                  <a:t>): </a:t>
                </a:r>
                <a:r>
                  <a:rPr lang="en-IN" sz="2400">
                    <a:solidFill>
                      <a:srgbClr val="111827"/>
                    </a:solidFill>
                    <a:latin typeface="Cambria Math" panose="02040503050406030204" pitchFamily="18" charset="0"/>
                  </a:rPr>
                  <a:t>$B=\frac\pi{12}$</a:t>
                </a:r>
                <a:r>
                  <a:rPr sz="2400" b="0">
                    <a:solidFill>
                      <a:srgbClr val="111827"/>
                    </a:solidFill>
                    <a:latin typeface="Arial"/>
                  </a:rPr>
                  <a:t> or </a:t>
                </a:r>
                <a:r>
                  <a:rPr lang="en-IN" sz="2400">
                    <a:solidFill>
                      <a:srgbClr val="111827"/>
                    </a:solidFill>
                    <a:latin typeface="Cambria Math" panose="02040503050406030204" pitchFamily="18" charset="0"/>
                  </a:rPr>
                  <a:t>$B=\frac{5\pi}{12}$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(the other choice just swaps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num>
                      <m:den>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15</m:t>
                            </m:r>
                          </m:e>
                          <m:sup>
                            <m:r>
                              <m:rPr>
                                <m:sty m:val="p"/>
                              </m:rPr>
                              <a:rPr lang="en-IN" sz="2400">
                                <a:solidFill>
                                  <a:srgbClr val="111827"/>
                                </a:solidFill>
                                <a:latin typeface="Cambria Math" panose="02040503050406030204" pitchFamily="18" charset="0"/>
                              </a:rPr>
                              <m:t>∘</m:t>
                            </m:r>
                          </m:sup>
                        </m:sSup>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$B=\frac{5\pi}{12}$</a:t>
                </a:r>
                <a:r>
                  <a:rPr sz="2400" b="0">
                    <a:solidFill>
                      <a:srgbClr val="111827"/>
                    </a:solidFill>
                    <a:latin typeface="Arial"/>
                  </a:rPr>
                  <a:t>; then </a:t>
                </a:r>
                <a:r>
                  <a:rPr lang="en-IN" sz="2400">
                    <a:solidFill>
                      <a:srgbClr val="111827"/>
                    </a:solidFill>
                    <a:latin typeface="Cambria Math" panose="02040503050406030204" pitchFamily="18" charset="0"/>
                  </a:rPr>
                  <a:t>$C=\frac\pi2-B=\frac\pi{12}$</a:t>
                </a:r>
                <a:r>
                  <a:rPr sz="2400" b="0">
                    <a:solidFill>
                      <a:srgbClr val="111827"/>
                    </a:solidFill>
                    <a:latin typeface="Arial"/>
                  </a:rPr>
                  <a:t> (the other choice just swaps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 bc=\frac{\sin B}{\sin C}=\frac{\sin75^\circ}{\sin15^\circ}=\tan75^\circ=2+\sqrt3$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𝐵</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m:t>
                        </m:r>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12</m:t>
                        </m:r>
                      </m:den>
                    </m:f>
                  </m:oMath>
                </a14:m>
                <a:r>
                  <a:rPr sz="2800" b="1">
                    <a:solidFill>
                      <a:srgbClr val="15803D"/>
                    </a:solidFill>
                    <a:latin typeface="Arial"/>
                  </a:rPr>
                  <a:t>, </a:t>
                </a:r>
                <a14:m>
                  <m:oMath xmlns:m="http://schemas.openxmlformats.org/officeDocument/2006/math">
                    <m:r>
                      <a:rPr lang="en-IN" sz="2800" i="1">
                        <a:solidFill>
                          <a:srgbClr val="15803D"/>
                        </a:solidFill>
                        <a:latin typeface="Cambria Math" panose="02040503050406030204" pitchFamily="18" charset="0"/>
                      </a:rPr>
                      <m:t>𝐶</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12</m:t>
                        </m:r>
                      </m:den>
                    </m:f>
                  </m:oMath>
                </a14:m>
                <a:r>
                  <a:rPr sz="2800" b="1">
                    <a:solidFill>
                      <a:srgbClr val="15803D"/>
                    </a:solidFill>
                    <a:latin typeface="Arial"/>
                  </a:rPr>
                  <a:t> (or the other way round);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𝑏</m:t>
                        </m:r>
                      </m:num>
                      <m:den>
                        <m:r>
                          <a:rPr lang="en-IN" sz="2800" i="1">
                            <a:solidFill>
                              <a:srgbClr val="15803D"/>
                            </a:solidFill>
                            <a:latin typeface="Cambria Math" panose="02040503050406030204" pitchFamily="18" charset="0"/>
                          </a:rPr>
                          <m:t>𝑐</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$B=\frac{5\pi}{12}$</a:t>
                </a:r>
                <a:r>
                  <a:rPr sz="2800" b="1">
                    <a:solidFill>
                      <a:srgbClr val="15803D"/>
                    </a:solidFill>
                    <a:latin typeface="Arial"/>
                  </a:rPr>
                  <a:t>, </a:t>
                </a:r>
                <a:r>
                  <a:rPr lang="en-IN" sz="2800">
                    <a:solidFill>
                      <a:srgbClr val="15803D"/>
                    </a:solidFill>
                    <a:latin typeface="Cambria Math" panose="02040503050406030204" pitchFamily="18" charset="0"/>
                  </a:rPr>
                  <a:t>$C=\frac\pi{12}$</a:t>
                </a:r>
                <a:r>
                  <a:rPr sz="2800" b="1">
                    <a:solidFill>
                      <a:srgbClr val="15803D"/>
                    </a:solidFill>
                    <a:latin typeface="Arial"/>
                  </a:rPr>
                  <a:t> (or the other way round); </a:t>
                </a:r>
                <a:r>
                  <a:rPr lang="en-IN" sz="2800">
                    <a:solidFill>
                      <a:srgbClr val="15803D"/>
                    </a:solidFill>
                    <a:latin typeface="Cambria Math" panose="02040503050406030204" pitchFamily="18" charset="0"/>
                  </a:rPr>
                  <a:t>$\frac bc=2+\sqrt3$</a:t>
                </a:r>
                <a:endParaRPr sz="2800">
                  <a:solidFill>
                    <a:srgbClr val="15803D"/>
                  </a:solidFill>
                </a:endParaRPr>
              </a:p>
            </p:txBody>
          </p:sp>
        </mc:Fallback>
      </mc:AlternateContent>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a right angle at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𝑎</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oMath>
                </a14:m>
                <a:r>
                  <a:rPr sz="2400" b="0">
                    <a:solidFill>
                      <a:srgbClr val="78350F"/>
                    </a:solidFill>
                    <a:latin typeface="Arial"/>
                  </a:rPr>
                  <a:t>; the given ratio gives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and then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are the roots of a quadratic.</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a right angle at </a:t>
                </a:r>
                <a:r>
                  <a:rPr lang="en-IN" sz="2400">
                    <a:solidFill>
                      <a:srgbClr val="78350F"/>
                    </a:solidFill>
                    <a:latin typeface="Cambria Math" panose="02040503050406030204" pitchFamily="18" charset="0"/>
                  </a:rPr>
                  <a:t>$A$</a:t>
                </a:r>
                <a:r>
                  <a:rPr sz="2400" b="0">
                    <a:solidFill>
                      <a:srgbClr val="78350F"/>
                    </a:solidFill>
                    <a:latin typeface="Arial"/>
                  </a:rPr>
                  <a:t>, </a:t>
                </a:r>
                <a:r>
                  <a:rPr lang="en-IN" sz="2400">
                    <a:solidFill>
                      <a:srgbClr val="78350F"/>
                    </a:solidFill>
                    <a:latin typeface="Cambria Math" panose="02040503050406030204" pitchFamily="18" charset="0"/>
                  </a:rPr>
                  <a:t>$r_a=s$</a:t>
                </a:r>
                <a:r>
                  <a:rPr sz="2400" b="0">
                    <a:solidFill>
                      <a:srgbClr val="78350F"/>
                    </a:solidFill>
                    <a:latin typeface="Arial"/>
                  </a:rPr>
                  <a:t>; the given ratio gives </a:t>
                </a:r>
                <a:r>
                  <a:rPr lang="en-IN" sz="2400">
                    <a:solidFill>
                      <a:srgbClr val="78350F"/>
                    </a:solidFill>
                    <a:latin typeface="Cambria Math" panose="02040503050406030204" pitchFamily="18" charset="0"/>
                  </a:rPr>
                  <a:t>$b+c$</a:t>
                </a:r>
                <a:r>
                  <a:rPr sz="2400" b="0">
                    <a:solidFill>
                      <a:srgbClr val="78350F"/>
                    </a:solidFill>
                    <a:latin typeface="Arial"/>
                  </a:rPr>
                  <a:t>, and then </a:t>
                </a:r>
                <a:r>
                  <a:rPr lang="en-IN" sz="2400">
                    <a:solidFill>
                      <a:srgbClr val="78350F"/>
                    </a:solidFill>
                    <a:latin typeface="Cambria Math" panose="02040503050406030204" pitchFamily="18" charset="0"/>
                  </a:rPr>
                  <a:t>$b,c$</a:t>
                </a:r>
                <a:r>
                  <a:rPr sz="2400" b="0">
                    <a:solidFill>
                      <a:srgbClr val="78350F"/>
                    </a:solidFill>
                    <a:latin typeface="Arial"/>
                  </a:rPr>
                  <a:t> are the roots of a quadratic.</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hypotenuse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For a right angle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Δ</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𝑎</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Δ</m:t>
                        </m:r>
                      </m:num>
                      <m:den>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𝑎</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𝑠</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are roots of </a:t>
                </a:r>
                <a14:m>
                  <m:oMath xmlns:m="http://schemas.openxmlformats.org/officeDocument/2006/math">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$R=1$</a:t>
                </a:r>
                <a:r>
                  <a:rPr sz="2400" b="0">
                    <a:solidFill>
                      <a:srgbClr val="111827"/>
                    </a:solidFill>
                    <a:latin typeface="Arial"/>
                  </a:rPr>
                  <a:t>: hypotenuse </a:t>
                </a:r>
                <a:r>
                  <a:rPr lang="en-IN" sz="2400">
                    <a:solidFill>
                      <a:srgbClr val="111827"/>
                    </a:solidFill>
                    <a:latin typeface="Cambria Math" panose="02040503050406030204" pitchFamily="18" charset="0"/>
                  </a:rPr>
                  <a:t>$a=2$</a:t>
                </a:r>
                <a:r>
                  <a:rPr sz="2400" b="0">
                    <a:solidFill>
                      <a:srgbClr val="111827"/>
                    </a:solidFill>
                    <a:latin typeface="Arial"/>
                  </a:rPr>
                  <a:t> and </a:t>
                </a:r>
                <a:r>
                  <a:rPr lang="en-IN" sz="2400">
                    <a:solidFill>
                      <a:srgbClr val="111827"/>
                    </a:solidFill>
                    <a:latin typeface="Cambria Math" panose="02040503050406030204" pitchFamily="18" charset="0"/>
                  </a:rPr>
                  <a:t>$b^2+c^2=4$</a:t>
                </a:r>
                <a:r>
                  <a:rPr sz="2400" b="0">
                    <a:solidFill>
                      <a:srgbClr val="111827"/>
                    </a:solidFill>
                    <a:latin typeface="Arial"/>
                  </a:rPr>
                  <a:t>. For a right angle at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$s(s-a)=\frac{(b+c)^2-a^2}4=\frac{bc}2=\Delta$</a:t>
                </a:r>
                <a:r>
                  <a:rPr sz="2400" b="0">
                    <a:solidFill>
                      <a:srgbClr val="111827"/>
                    </a:solidFill>
                    <a:latin typeface="Arial"/>
                  </a:rPr>
                  <a:t>, so </a:t>
                </a:r>
                <a:r>
                  <a:rPr lang="en-IN" sz="2400">
                    <a:solidFill>
                      <a:srgbClr val="111827"/>
                    </a:solidFill>
                    <a:latin typeface="Cambria Math" panose="02040503050406030204" pitchFamily="18" charset="0"/>
                  </a:rPr>
                  <a:t>$r_a=\frac\Delta{s-a}=s$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 R{r_a}=\frac1s=\frac{\sqrt2}{\sqrt3+\sqrt2}$</a:t>
                </a:r>
                <a:r>
                  <a:rPr sz="2400" b="0">
                    <a:solidFill>
                      <a:srgbClr val="111827"/>
                    </a:solidFill>
                    <a:latin typeface="Arial"/>
                  </a:rPr>
                  <a:t> gives </a:t>
                </a:r>
                <a:r>
                  <a:rPr lang="en-IN" sz="2400">
                    <a:solidFill>
                      <a:srgbClr val="111827"/>
                    </a:solidFill>
                    <a:latin typeface="Cambria Math" panose="02040503050406030204" pitchFamily="18" charset="0"/>
                  </a:rPr>
                  <a:t>$s=\sqrt{\frac32}+1$</a:t>
                </a:r>
                <a:r>
                  <a:rPr sz="2400" b="0">
                    <a:solidFill>
                      <a:srgbClr val="111827"/>
                    </a:solidFill>
                    <a:latin typeface="Arial"/>
                  </a:rPr>
                  <a:t>, so </a:t>
                </a:r>
                <a:r>
                  <a:rPr lang="en-IN" sz="2400">
                    <a:solidFill>
                      <a:srgbClr val="111827"/>
                    </a:solidFill>
                    <a:latin typeface="Cambria Math" panose="02040503050406030204" pitchFamily="18" charset="0"/>
                  </a:rPr>
                  <a:t>$b+c=2s-a=\sqrt6$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$bc=\frac{(b+c)^2-(b^2+c^2)}2=\frac{6-4}2=1$</a:t>
                </a:r>
                <a:r>
                  <a:rPr sz="2400" b="0">
                    <a:solidFill>
                      <a:srgbClr val="111827"/>
                    </a:solidFill>
                    <a:latin typeface="Arial"/>
                  </a:rPr>
                  <a:t>, so </a:t>
                </a:r>
                <a:r>
                  <a:rPr lang="en-IN" sz="2400">
                    <a:solidFill>
                      <a:srgbClr val="111827"/>
                    </a:solidFill>
                    <a:latin typeface="Cambria Math" panose="02040503050406030204" pitchFamily="18" charset="0"/>
                  </a:rPr>
                  <a:t>$b,c$</a:t>
                </a:r>
                <a:r>
                  <a:rPr sz="2400" b="0">
                    <a:solidFill>
                      <a:srgbClr val="111827"/>
                    </a:solidFill>
                    <a:latin typeface="Arial"/>
                  </a:rPr>
                  <a:t> are roots of </a:t>
                </a:r>
                <a:r>
                  <a:rPr lang="en-IN" sz="2400">
                    <a:solidFill>
                      <a:srgbClr val="111827"/>
                    </a:solidFill>
                    <a:latin typeface="Cambria Math" panose="02040503050406030204" pitchFamily="18" charset="0"/>
                  </a:rPr>
                  <a:t>$t^2-\sqrt6t+1=0$</a:t>
                </a:r>
                <a:r>
                  <a:rPr sz="2400" b="0">
                    <a:solidFill>
                      <a:srgbClr val="111827"/>
                    </a:solidFill>
                    <a:latin typeface="Arial"/>
                  </a:rPr>
                  <a:t>: </a:t>
                </a:r>
                <a:r>
                  <a:rPr lang="en-IN" sz="2400">
                    <a:solidFill>
                      <a:srgbClr val="111827"/>
                    </a:solidFill>
                    <a:latin typeface="Cambria Math" panose="02040503050406030204" pitchFamily="18" charset="0"/>
                  </a:rPr>
                  <a:t>$t=\frac{\sqrt6\pm\sqrt2}2$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12</m:t>
                            </m:r>
                          </m:e>
                        </m:rad>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75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 bc=\frac{\sqrt6+\sqrt2}{\sqrt6-\sqrt2}=\frac{(\sqrt6+\sqrt2)^2}4=\frac{8+2\sqrt{12}}4=2+\sqrt3$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 B=\frac b2=\frac{\sqrt6+\sqrt2}4=\sin75^\circ$</a:t>
                </a:r>
                <a:r>
                  <a:rPr sz="2400" b="0">
                    <a:solidFill>
                      <a:srgbClr val="111827"/>
                    </a:solidFill>
                    <a:latin typeface="Arial"/>
                  </a:rPr>
                  <a:t>, so </a:t>
                </a:r>
                <a:r>
                  <a:rPr lang="en-IN" sz="2400">
                    <a:solidFill>
                      <a:srgbClr val="111827"/>
                    </a:solidFill>
                    <a:latin typeface="Cambria Math" panose="02040503050406030204" pitchFamily="18" charset="0"/>
                  </a:rPr>
                  <a:t>$B=\frac{5\pi}{12}$</a:t>
                </a:r>
                <a:r>
                  <a:rPr sz="2400" b="0">
                    <a:solidFill>
                      <a:srgbClr val="111827"/>
                    </a:solidFill>
                    <a:latin typeface="Arial"/>
                  </a:rPr>
                  <a:t> and </a:t>
                </a:r>
                <a:r>
                  <a:rPr lang="en-IN" sz="2400">
                    <a:solidFill>
                      <a:srgbClr val="111827"/>
                    </a:solidFill>
                    <a:latin typeface="Cambria Math" panose="02040503050406030204" pitchFamily="18" charset="0"/>
                  </a:rPr>
                  <a:t>$C=\frac\pi{12}$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𝐵</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m:t>
                        </m:r>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12</m:t>
                        </m:r>
                      </m:den>
                    </m:f>
                  </m:oMath>
                </a14:m>
                <a:r>
                  <a:rPr sz="2800" b="1">
                    <a:solidFill>
                      <a:srgbClr val="15803D"/>
                    </a:solidFill>
                    <a:latin typeface="Arial"/>
                  </a:rPr>
                  <a:t>, </a:t>
                </a:r>
                <a14:m>
                  <m:oMath xmlns:m="http://schemas.openxmlformats.org/officeDocument/2006/math">
                    <m:r>
                      <a:rPr lang="en-IN" sz="2800" i="1">
                        <a:solidFill>
                          <a:srgbClr val="15803D"/>
                        </a:solidFill>
                        <a:latin typeface="Cambria Math" panose="02040503050406030204" pitchFamily="18" charset="0"/>
                      </a:rPr>
                      <m:t>𝐶</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12</m:t>
                        </m:r>
                      </m:den>
                    </m:f>
                  </m:oMath>
                </a14:m>
                <a:r>
                  <a:rPr sz="2800" b="1">
                    <a:solidFill>
                      <a:srgbClr val="15803D"/>
                    </a:solidFill>
                    <a:latin typeface="Arial"/>
                  </a:rPr>
                  <a:t> (or the other way round);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𝑏</m:t>
                        </m:r>
                      </m:num>
                      <m:den>
                        <m:r>
                          <a:rPr lang="en-IN" sz="2800" i="1">
                            <a:solidFill>
                              <a:srgbClr val="15803D"/>
                            </a:solidFill>
                            <a:latin typeface="Cambria Math" panose="02040503050406030204" pitchFamily="18" charset="0"/>
                          </a:rPr>
                          <m:t>𝑐</m:t>
                        </m:r>
                      </m:den>
                    </m:f>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$B=\frac{5\pi}{12}$</a:t>
                </a:r>
                <a:r>
                  <a:rPr sz="2800" b="1">
                    <a:solidFill>
                      <a:srgbClr val="15803D"/>
                    </a:solidFill>
                    <a:latin typeface="Arial"/>
                  </a:rPr>
                  <a:t>, </a:t>
                </a:r>
                <a:r>
                  <a:rPr lang="en-IN" sz="2800">
                    <a:solidFill>
                      <a:srgbClr val="15803D"/>
                    </a:solidFill>
                    <a:latin typeface="Cambria Math" panose="02040503050406030204" pitchFamily="18" charset="0"/>
                  </a:rPr>
                  <a:t>$C=\frac\pi{12}$</a:t>
                </a:r>
                <a:r>
                  <a:rPr sz="2800" b="1">
                    <a:solidFill>
                      <a:srgbClr val="15803D"/>
                    </a:solidFill>
                    <a:latin typeface="Arial"/>
                  </a:rPr>
                  <a:t> (or the other way round); </a:t>
                </a:r>
                <a:r>
                  <a:rPr lang="en-IN" sz="2800">
                    <a:solidFill>
                      <a:srgbClr val="15803D"/>
                    </a:solidFill>
                    <a:latin typeface="Cambria Math" panose="02040503050406030204" pitchFamily="18" charset="0"/>
                  </a:rPr>
                  <a:t>$\frac bc=2+\sqrt3$</a:t>
                </a:r>
                <a:endParaRPr sz="2800">
                  <a:solidFill>
                    <a:srgbClr val="15803D"/>
                  </a:solidFill>
                </a:endParaRPr>
              </a:p>
            </p:txBody>
          </p:sp>
        </mc:Fallback>
      </mc:AlternateContent>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Right angle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𝑎</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Exradius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𝑎</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versus inradius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 read which circle the question names.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right triangle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𝑎</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𝑠</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Right angle at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$r_a=s$</a:t>
                </a:r>
                <a:r>
                  <a:rPr sz="2400" b="0">
                    <a:solidFill>
                      <a:srgbClr val="111827"/>
                    </a:solidFill>
                    <a:latin typeface="Arial"/>
                  </a:rPr>
                  <a:t>, </a:t>
                </a:r>
                <a:r>
                  <a:rPr lang="en-IN" sz="2400">
                    <a:solidFill>
                      <a:srgbClr val="111827"/>
                    </a:solidFill>
                    <a:latin typeface="Cambria Math" panose="02040503050406030204" pitchFamily="18" charset="0"/>
                  </a:rPr>
                  <a:t>$r=s-a$</a:t>
                </a:r>
                <a:r>
                  <a:rPr sz="2400" b="0">
                    <a:solidFill>
                      <a:srgbClr val="111827"/>
                    </a:solidFill>
                    <a:latin typeface="Arial"/>
                  </a:rPr>
                  <a:t> and </a:t>
                </a:r>
                <a:r>
                  <a:rPr lang="en-IN" sz="2400">
                    <a:solidFill>
                      <a:srgbClr val="111827"/>
                    </a:solidFill>
                    <a:latin typeface="Cambria Math" panose="02040503050406030204" pitchFamily="18" charset="0"/>
                  </a:rPr>
                  <a:t>$\Delta=s(s-a)=(s-b)(s-c)$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Exradius </a:t>
                </a:r>
                <a:r>
                  <a:rPr lang="en-IN" sz="2400">
                    <a:solidFill>
                      <a:srgbClr val="111827"/>
                    </a:solidFill>
                    <a:latin typeface="Cambria Math" panose="02040503050406030204" pitchFamily="18" charset="0"/>
                  </a:rPr>
                  <a:t>$r_a=4R\sin\frac A2\cos\frac B2\cos\frac C2$</a:t>
                </a:r>
                <a:r>
                  <a:rPr sz="2400" b="0">
                    <a:solidFill>
                      <a:srgbClr val="111827"/>
                    </a:solidFill>
                    <a:latin typeface="Arial"/>
                  </a:rPr>
                  <a:t> versus inradius </a:t>
                </a:r>
                <a:r>
                  <a:rPr lang="en-IN" sz="2400">
                    <a:solidFill>
                      <a:srgbClr val="111827"/>
                    </a:solidFill>
                    <a:latin typeface="Cambria Math" panose="02040503050406030204" pitchFamily="18" charset="0"/>
                  </a:rPr>
                  <a:t>$r=4R\sin\frac A2\sin\frac B2\sin\frac C2$</a:t>
                </a:r>
                <a:r>
                  <a:rPr sz="2400" b="0">
                    <a:solidFill>
                      <a:srgbClr val="111827"/>
                    </a:solidFill>
                    <a:latin typeface="Arial"/>
                  </a:rPr>
                  <a:t> - read which circle the question names.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right triangle </a:t>
                </a:r>
                <a:r>
                  <a:rPr lang="en-IN" sz="2400">
                    <a:solidFill>
                      <a:srgbClr val="111827"/>
                    </a:solidFill>
                    <a:latin typeface="Cambria Math" panose="02040503050406030204" pitchFamily="18" charset="0"/>
                  </a:rPr>
                  <a:t>$\frac R{r_a}=\frac a{2s}=\frac1{1+\sin B+\cos B}$</a:t>
                </a:r>
                <a:r>
                  <a:rPr sz="2400" b="0">
                    <a:solidFill>
                      <a:srgbClr val="111827"/>
                    </a:solidFill>
                    <a:latin typeface="Arial"/>
                  </a:rPr>
                  <a:t>, and </a:t>
                </a:r>
                <a:r>
                  <a:rPr lang="en-IN" sz="2400">
                    <a:solidFill>
                      <a:srgbClr val="111827"/>
                    </a:solidFill>
                    <a:latin typeface="Cambria Math" panose="02040503050406030204" pitchFamily="18" charset="0"/>
                  </a:rPr>
                  <a:t>$\sin B+\cos B=\frac{b+c}a$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10</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Q18 – Q19</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Numerical value answer; complete solution with alternate method and result</a:t>
            </a:r>
            <a:endParaRPr sz="2800">
              <a:solidFill>
                <a:srgbClr val="FFFFFF"/>
              </a:solidFill>
            </a:endParaRP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a triangle. Circles are drawn inside the triangle at the vertices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with radii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respectively, each touching two sides of the triangle and the incircle. Find the radius of the incircle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$ABC$</a:t>
                </a:r>
                <a:r>
                  <a:rPr sz="2400" b="0">
                    <a:solidFill>
                      <a:srgbClr val="111827"/>
                    </a:solidFill>
                    <a:latin typeface="Arial"/>
                  </a:rPr>
                  <a:t> is a triangle. Circles are drawn inside the triangle at the vertices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 with radii </a:t>
                </a:r>
                <a:r>
                  <a:rPr lang="en-IN" sz="2400">
                    <a:solidFill>
                      <a:srgbClr val="111827"/>
                    </a:solidFill>
                    <a:latin typeface="Cambria Math" panose="02040503050406030204" pitchFamily="18" charset="0"/>
                  </a:rPr>
                  <a:t>$r_1=1$</a:t>
                </a:r>
                <a:r>
                  <a:rPr sz="2400" b="0">
                    <a:solidFill>
                      <a:srgbClr val="111827"/>
                    </a:solidFill>
                    <a:latin typeface="Arial"/>
                  </a:rPr>
                  <a:t>, </a:t>
                </a:r>
                <a:r>
                  <a:rPr lang="en-IN" sz="2400">
                    <a:solidFill>
                      <a:srgbClr val="111827"/>
                    </a:solidFill>
                    <a:latin typeface="Cambria Math" panose="02040503050406030204" pitchFamily="18" charset="0"/>
                  </a:rPr>
                  <a:t>$r_2=4$</a:t>
                </a:r>
                <a:r>
                  <a:rPr sz="2400" b="0">
                    <a:solidFill>
                      <a:srgbClr val="111827"/>
                    </a:solidFill>
                    <a:latin typeface="Arial"/>
                  </a:rPr>
                  <a:t>, </a:t>
                </a:r>
                <a:r>
                  <a:rPr lang="en-IN" sz="2400">
                    <a:solidFill>
                      <a:srgbClr val="111827"/>
                    </a:solidFill>
                    <a:latin typeface="Cambria Math" panose="02040503050406030204" pitchFamily="18" charset="0"/>
                  </a:rPr>
                  <a:t>$r_3=9$</a:t>
                </a:r>
                <a:r>
                  <a:rPr sz="2400" b="0">
                    <a:solidFill>
                      <a:srgbClr val="111827"/>
                    </a:solidFill>
                    <a:latin typeface="Arial"/>
                  </a:rPr>
                  <a:t> respectively, each touching two sides of the triangle and the incircle. Find the radius of the incircle of </a:t>
                </a:r>
                <a:r>
                  <a:rPr lang="en-IN" sz="2400">
                    <a:solidFill>
                      <a:srgbClr val="111827"/>
                    </a:solidFill>
                    <a:latin typeface="Cambria Math" panose="02040503050406030204" pitchFamily="18" charset="0"/>
                  </a:rPr>
                  <a:t>$\triangle ABC$</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Circles touching two sides and the incircle: tangent lengths and half-angle tangents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circle of radius </a:t>
                </a:r>
                <a14:m>
                  <m:oMath xmlns:m="http://schemas.openxmlformats.org/officeDocument/2006/math">
                    <m:r>
                      <a:rPr lang="en-IN" sz="2400" i="1">
                        <a:solidFill>
                          <a:srgbClr val="78350F"/>
                        </a:solidFill>
                        <a:latin typeface="Cambria Math" panose="02040503050406030204" pitchFamily="18" charset="0"/>
                      </a:rPr>
                      <m:t>ρ</m:t>
                    </m:r>
                  </m:oMath>
                </a14:m>
                <a:r>
                  <a:rPr sz="2400" b="0">
                    <a:solidFill>
                      <a:srgbClr val="78350F"/>
                    </a:solidFill>
                    <a:latin typeface="Arial"/>
                  </a:rPr>
                  <a:t> in the angle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touching both sides and the incircle gives </a:t>
                </a:r>
                <a14:m>
                  <m:oMath xmlns:m="http://schemas.openxmlformats.org/officeDocument/2006/math">
                    <m:r>
                      <m:rPr>
                        <m:sty m:val="p"/>
                      </m:rPr>
                      <a:rPr lang="en-IN" sz="2400">
                        <a:solidFill>
                          <a:srgbClr val="78350F"/>
                        </a:solidFill>
                        <a:latin typeface="Cambria Math" panose="02040503050406030204" pitchFamily="18" charset="0"/>
                      </a:rPr>
                      <m:t>tan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𝐴</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ρ</m:t>
                        </m:r>
                      </m:num>
                      <m:den>
                        <m:r>
                          <a:rPr lang="en-IN" sz="2400" i="1">
                            <a:solidFill>
                              <a:srgbClr val="78350F"/>
                            </a:solidFill>
                            <a:latin typeface="Cambria Math" panose="02040503050406030204" pitchFamily="18" charset="0"/>
                          </a:rPr>
                          <m:t>2</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𝑟</m:t>
                            </m:r>
                            <m:r>
                              <a:rPr lang="en-IN" sz="2400" i="1">
                                <a:solidFill>
                                  <a:srgbClr val="78350F"/>
                                </a:solidFill>
                                <a:latin typeface="Cambria Math" panose="02040503050406030204" pitchFamily="18" charset="0"/>
                              </a:rPr>
                              <m:t>ρ</m:t>
                            </m:r>
                          </m:e>
                        </m:rad>
                      </m:den>
                    </m:f>
                  </m:oMath>
                </a14:m>
                <a:r>
                  <a:rPr sz="2400" b="0">
                    <a:solidFill>
                      <a:srgbClr val="78350F"/>
                    </a:solidFill>
                    <a:latin typeface="Arial"/>
                  </a:rPr>
                  <a:t>; then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tan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𝐴</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tan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𝐵</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circle of radius </a:t>
                </a:r>
                <a:r>
                  <a:rPr lang="en-IN" sz="2400">
                    <a:solidFill>
                      <a:srgbClr val="78350F"/>
                    </a:solidFill>
                    <a:latin typeface="Cambria Math" panose="02040503050406030204" pitchFamily="18" charset="0"/>
                  </a:rPr>
                  <a:t>$\rho$</a:t>
                </a:r>
                <a:r>
                  <a:rPr sz="2400" b="0">
                    <a:solidFill>
                      <a:srgbClr val="78350F"/>
                    </a:solidFill>
                    <a:latin typeface="Arial"/>
                  </a:rPr>
                  <a:t> in the angle </a:t>
                </a:r>
                <a:r>
                  <a:rPr lang="en-IN" sz="2400">
                    <a:solidFill>
                      <a:srgbClr val="78350F"/>
                    </a:solidFill>
                    <a:latin typeface="Cambria Math" panose="02040503050406030204" pitchFamily="18" charset="0"/>
                  </a:rPr>
                  <a:t>$A$</a:t>
                </a:r>
                <a:r>
                  <a:rPr sz="2400" b="0">
                    <a:solidFill>
                      <a:srgbClr val="78350F"/>
                    </a:solidFill>
                    <a:latin typeface="Arial"/>
                  </a:rPr>
                  <a:t> touching both sides and the incircle gives </a:t>
                </a:r>
                <a:r>
                  <a:rPr lang="en-IN" sz="2400">
                    <a:solidFill>
                      <a:srgbClr val="78350F"/>
                    </a:solidFill>
                    <a:latin typeface="Cambria Math" panose="02040503050406030204" pitchFamily="18" charset="0"/>
                  </a:rPr>
                  <a:t>$\tan\frac A2=\frac{r-\rho}{2\sqrt{r\rho}}$</a:t>
                </a:r>
                <a:r>
                  <a:rPr sz="2400" b="0">
                    <a:solidFill>
                      <a:srgbClr val="78350F"/>
                    </a:solidFill>
                    <a:latin typeface="Arial"/>
                  </a:rPr>
                  <a:t>; then </a:t>
                </a:r>
                <a:r>
                  <a:rPr lang="en-IN" sz="2400">
                    <a:solidFill>
                      <a:srgbClr val="78350F"/>
                    </a:solidFill>
                    <a:latin typeface="Cambria Math" panose="02040503050406030204" pitchFamily="18" charset="0"/>
                  </a:rPr>
                  <a:t>$\sum\tan\frac A2\tan\frac B2=1$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be the inradius. The incircle and the circle of radius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touch side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and each other externally, so the segment between their points of contact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𝐹</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𝑋</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for radius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oMath>
                </a14:m>
                <a:r>
                  <a:rPr sz="2400" b="0">
                    <a:solidFill>
                      <a:srgbClr val="111827"/>
                    </a:solidFill>
                    <a:latin typeface="Arial"/>
                  </a:rPr>
                  <a:t>, and for radius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the segment is </a:t>
                </a:r>
                <a14:m>
                  <m:oMath xmlns:m="http://schemas.openxmlformats.org/officeDocument/2006/math">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$r$</a:t>
                </a:r>
                <a:r>
                  <a:rPr sz="2400" b="0">
                    <a:solidFill>
                      <a:srgbClr val="111827"/>
                    </a:solidFill>
                    <a:latin typeface="Arial"/>
                  </a:rPr>
                  <a:t> be the inradius. The incircle and the circle of radius </a:t>
                </a:r>
                <a:r>
                  <a:rPr lang="en-IN" sz="2400">
                    <a:solidFill>
                      <a:srgbClr val="111827"/>
                    </a:solidFill>
                    <a:latin typeface="Cambria Math" panose="02040503050406030204" pitchFamily="18" charset="0"/>
                  </a:rPr>
                  <a:t>$1$</a:t>
                </a:r>
                <a:r>
                  <a:rPr sz="2400" b="0">
                    <a:solidFill>
                      <a:srgbClr val="111827"/>
                    </a:solidFill>
                    <a:latin typeface="Arial"/>
                  </a:rPr>
                  <a:t> at </a:t>
                </a:r>
                <a:r>
                  <a:rPr lang="en-IN" sz="2400">
                    <a:solidFill>
                      <a:srgbClr val="111827"/>
                    </a:solidFill>
                    <a:latin typeface="Cambria Math" panose="02040503050406030204" pitchFamily="18" charset="0"/>
                  </a:rPr>
                  <a:t>$A$</a:t>
                </a:r>
                <a:r>
                  <a:rPr sz="2400" b="0">
                    <a:solidFill>
                      <a:srgbClr val="111827"/>
                    </a:solidFill>
                    <a:latin typeface="Arial"/>
                  </a:rPr>
                  <a:t> touch side </a:t>
                </a:r>
                <a:r>
                  <a:rPr lang="en-IN" sz="2400">
                    <a:solidFill>
                      <a:srgbClr val="111827"/>
                    </a:solidFill>
                    <a:latin typeface="Cambria Math" panose="02040503050406030204" pitchFamily="18" charset="0"/>
                  </a:rPr>
                  <a:t>$AB$</a:t>
                </a:r>
                <a:r>
                  <a:rPr sz="2400" b="0">
                    <a:solidFill>
                      <a:srgbClr val="111827"/>
                    </a:solidFill>
                    <a:latin typeface="Arial"/>
                  </a:rPr>
                  <a:t> and each other externally, so the segment between their points of contact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$F$</a:t>
                </a:r>
                <a:r>
                  <a:rPr sz="2400" b="0">
                    <a:solidFill>
                      <a:srgbClr val="111827"/>
                    </a:solidFill>
                    <a:latin typeface="Arial"/>
                  </a:rPr>
                  <a:t> on </a:t>
                </a:r>
                <a:r>
                  <a:rPr lang="en-IN" sz="2400">
                    <a:solidFill>
                      <a:srgbClr val="111827"/>
                    </a:solidFill>
                    <a:latin typeface="Cambria Math" panose="02040503050406030204" pitchFamily="18" charset="0"/>
                  </a:rPr>
                  <a:t>$AB$</a:t>
                </a:r>
                <a:r>
                  <a:rPr sz="2400" b="0">
                    <a:solidFill>
                      <a:srgbClr val="111827"/>
                    </a:solidFill>
                    <a:latin typeface="Arial"/>
                  </a:rPr>
                  <a:t> is </a:t>
                </a:r>
                <a:r>
                  <a:rPr lang="en-IN" sz="2400">
                    <a:solidFill>
                      <a:srgbClr val="111827"/>
                    </a:solidFill>
                    <a:latin typeface="Cambria Math" panose="02040503050406030204" pitchFamily="18" charset="0"/>
                  </a:rPr>
                  <a:t>$XF=\sqrt{(r+1)^2-(r-1)^2}=2\sqrt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for radius </a:t>
                </a:r>
                <a:r>
                  <a:rPr lang="en-IN" sz="2400">
                    <a:solidFill>
                      <a:srgbClr val="111827"/>
                    </a:solidFill>
                    <a:latin typeface="Cambria Math" panose="02040503050406030204" pitchFamily="18" charset="0"/>
                  </a:rPr>
                  <a:t>$4$</a:t>
                </a:r>
                <a:r>
                  <a:rPr sz="2400" b="0">
                    <a:solidFill>
                      <a:srgbClr val="111827"/>
                    </a:solidFill>
                    <a:latin typeface="Arial"/>
                  </a:rPr>
                  <a:t> at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$YF=\sqrt{(r+4)^2-(r-4)^2}=4\sqrt r$</a:t>
                </a:r>
                <a:r>
                  <a:rPr sz="2400" b="0">
                    <a:solidFill>
                      <a:srgbClr val="111827"/>
                    </a:solidFill>
                    <a:latin typeface="Arial"/>
                  </a:rPr>
                  <a:t>, and for radius </a:t>
                </a:r>
                <a:r>
                  <a:rPr lang="en-IN" sz="2400">
                    <a:solidFill>
                      <a:srgbClr val="111827"/>
                    </a:solidFill>
                    <a:latin typeface="Cambria Math" panose="02040503050406030204" pitchFamily="18" charset="0"/>
                  </a:rPr>
                  <a:t>$9$</a:t>
                </a:r>
                <a:r>
                  <a:rPr sz="2400" b="0">
                    <a:solidFill>
                      <a:srgbClr val="111827"/>
                    </a:solidFill>
                    <a:latin typeface="Arial"/>
                  </a:rPr>
                  <a:t> at </a:t>
                </a:r>
                <a:r>
                  <a:rPr lang="en-IN" sz="2400">
                    <a:solidFill>
                      <a:srgbClr val="111827"/>
                    </a:solidFill>
                    <a:latin typeface="Cambria Math" panose="02040503050406030204" pitchFamily="18" charset="0"/>
                  </a:rPr>
                  <a:t>$C$</a:t>
                </a:r>
                <a:r>
                  <a:rPr sz="2400" b="0">
                    <a:solidFill>
                      <a:srgbClr val="111827"/>
                    </a:solidFill>
                    <a:latin typeface="Arial"/>
                  </a:rPr>
                  <a:t> the segment is </a:t>
                </a:r>
                <a:r>
                  <a:rPr lang="en-IN" sz="2400">
                    <a:solidFill>
                      <a:srgbClr val="111827"/>
                    </a:solidFill>
                    <a:latin typeface="Cambria Math" panose="02040503050406030204" pitchFamily="18" charset="0"/>
                  </a:rPr>
                  <a:t>$6\sqrt 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of centres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the bisector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inclined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the right triangle with legs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14:m>
                  <m:oMath xmlns:m="http://schemas.openxmlformats.org/officeDocument/2006/math">
                    <m:r>
                      <a:rPr lang="en-IN" sz="2400" i="1">
                        <a:solidFill>
                          <a:srgbClr val="111827"/>
                        </a:solidFill>
                        <a:latin typeface="Cambria Math" panose="02040503050406030204" pitchFamily="18" charset="0"/>
                      </a:rPr>
                      <m:t>24</m:t>
                    </m:r>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line of centres at </a:t>
                </a:r>
                <a:r>
                  <a:rPr lang="en-IN" sz="2400">
                    <a:solidFill>
                      <a:srgbClr val="111827"/>
                    </a:solidFill>
                    <a:latin typeface="Cambria Math" panose="02040503050406030204" pitchFamily="18" charset="0"/>
                  </a:rPr>
                  <a:t>$A$</a:t>
                </a:r>
                <a:r>
                  <a:rPr sz="2400" b="0">
                    <a:solidFill>
                      <a:srgbClr val="111827"/>
                    </a:solidFill>
                    <a:latin typeface="Arial"/>
                  </a:rPr>
                  <a:t> is the bisector of </a:t>
                </a:r>
                <a:r>
                  <a:rPr lang="en-IN" sz="2400">
                    <a:solidFill>
                      <a:srgbClr val="111827"/>
                    </a:solidFill>
                    <a:latin typeface="Cambria Math" panose="02040503050406030204" pitchFamily="18" charset="0"/>
                  </a:rPr>
                  <a:t>$\angle A$</a:t>
                </a:r>
                <a:r>
                  <a:rPr sz="2400" b="0">
                    <a:solidFill>
                      <a:srgbClr val="111827"/>
                    </a:solidFill>
                    <a:latin typeface="Arial"/>
                  </a:rPr>
                  <a:t>, inclined at </a:t>
                </a:r>
                <a:r>
                  <a:rPr lang="en-IN" sz="2400">
                    <a:solidFill>
                      <a:srgbClr val="111827"/>
                    </a:solidFill>
                    <a:latin typeface="Cambria Math" panose="02040503050406030204" pitchFamily="18" charset="0"/>
                  </a:rPr>
                  <a:t>$\frac A2$</a:t>
                </a:r>
                <a:r>
                  <a:rPr sz="2400" b="0">
                    <a:solidFill>
                      <a:srgbClr val="111827"/>
                    </a:solidFill>
                    <a:latin typeface="Arial"/>
                  </a:rPr>
                  <a:t> to </a:t>
                </a:r>
                <a:r>
                  <a:rPr lang="en-IN" sz="2400">
                    <a:solidFill>
                      <a:srgbClr val="111827"/>
                    </a:solidFill>
                    <a:latin typeface="Cambria Math" panose="02040503050406030204" pitchFamily="18" charset="0"/>
                  </a:rPr>
                  <a:t>$AB$</a:t>
                </a:r>
                <a:r>
                  <a:rPr sz="2400" b="0">
                    <a:solidFill>
                      <a:srgbClr val="111827"/>
                    </a:solidFill>
                    <a:latin typeface="Arial"/>
                  </a:rPr>
                  <a:t>; the right triangle with legs </a:t>
                </a:r>
                <a:r>
                  <a:rPr lang="en-IN" sz="2400">
                    <a:solidFill>
                      <a:srgbClr val="111827"/>
                    </a:solidFill>
                    <a:latin typeface="Cambria Math" panose="02040503050406030204" pitchFamily="18" charset="0"/>
                  </a:rPr>
                  <a:t>$r-1$</a:t>
                </a:r>
                <a:r>
                  <a:rPr sz="2400" b="0">
                    <a:solidFill>
                      <a:srgbClr val="111827"/>
                    </a:solidFill>
                    <a:latin typeface="Arial"/>
                  </a:rPr>
                  <a:t> and </a:t>
                </a:r>
                <a:r>
                  <a:rPr lang="en-IN" sz="2400">
                    <a:solidFill>
                      <a:srgbClr val="111827"/>
                    </a:solidFill>
                    <a:latin typeface="Cambria Math" panose="02040503050406030204" pitchFamily="18" charset="0"/>
                  </a:rPr>
                  <a:t>$2\sqrt r$</a:t>
                </a:r>
                <a:r>
                  <a:rPr sz="2400" b="0">
                    <a:solidFill>
                      <a:srgbClr val="111827"/>
                    </a:solidFill>
                    <a:latin typeface="Arial"/>
                  </a:rPr>
                  <a:t> gives </a:t>
                </a:r>
                <a:r>
                  <a:rPr lang="en-IN" sz="2400">
                    <a:solidFill>
                      <a:srgbClr val="111827"/>
                    </a:solidFill>
                    <a:latin typeface="Cambria Math" panose="02040503050406030204" pitchFamily="18" charset="0"/>
                  </a:rPr>
                  <a:t>$\tan\frac A2=\frac{r-1}{2\sqrt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$\tan\frac B2=\frac{r-4}{4\sqrt r}$</a:t>
                </a:r>
                <a:r>
                  <a:rPr sz="2400" b="0">
                    <a:solidFill>
                      <a:srgbClr val="111827"/>
                    </a:solidFill>
                    <a:latin typeface="Arial"/>
                  </a:rPr>
                  <a:t> and </a:t>
                </a:r>
                <a:r>
                  <a:rPr lang="en-IN" sz="2400">
                    <a:solidFill>
                      <a:srgbClr val="111827"/>
                    </a:solidFill>
                    <a:latin typeface="Cambria Math" panose="02040503050406030204" pitchFamily="18" charset="0"/>
                  </a:rPr>
                  <a:t>$\tan\frac C2=\frac{r-9}{6\sqrt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$\frac A2+\frac B2+\frac C2=\frac\pi2$</a:t>
                </a:r>
                <a:r>
                  <a:rPr sz="2400" b="0">
                    <a:solidFill>
                      <a:srgbClr val="111827"/>
                    </a:solidFill>
                    <a:latin typeface="Arial"/>
                  </a:rPr>
                  <a:t>: </a:t>
                </a:r>
                <a:r>
                  <a:rPr lang="en-IN" sz="2400">
                    <a:solidFill>
                      <a:srgbClr val="111827"/>
                    </a:solidFill>
                    <a:latin typeface="Cambria Math" panose="02040503050406030204" pitchFamily="18" charset="0"/>
                  </a:rPr>
                  <a:t>$\tan\frac A2\tan\frac B2+\tan\frac B2\tan\frac C2+\tan\frac C2\tan\frac A2=1$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$\frac{(r-1)(r-4)}{2\sqrt r\cdot4\sqrt r}+\frac{(r-4)(r-9)}{4\sqrt r\cdot6\sqrt r}+\frac{(r-9)(r-1)}{6\sqrt r\cdot2\sqrt r}=1$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r>
                  <a:rPr lang="en-IN" sz="2400">
                    <a:solidFill>
                      <a:srgbClr val="111827"/>
                    </a:solidFill>
                    <a:latin typeface="Cambria Math" panose="02040503050406030204" pitchFamily="18" charset="0"/>
                  </a:rPr>
                  <a:t>$24r$</a:t>
                </a:r>
                <a:r>
                  <a:rPr sz="2400" b="0">
                    <a:solidFill>
                      <a:srgbClr val="111827"/>
                    </a:solidFill>
                    <a:latin typeface="Arial"/>
                  </a:rPr>
                  <a:t>: </a:t>
                </a:r>
                <a:r>
                  <a:rPr lang="en-IN" sz="2400">
                    <a:solidFill>
                      <a:srgbClr val="111827"/>
                    </a:solidFill>
                    <a:latin typeface="Cambria Math" panose="02040503050406030204" pitchFamily="18" charset="0"/>
                  </a:rPr>
                  <a:t>$3(r-1)(r-4)+(r-4)(r-9)+2(r-9)(r-1)=24r$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incircle must be larger than the circles at the vertices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rejected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$3r^2-15r+12+r^2-13r+36+2r^2-20r+18=24r\Rightarrow6r^2-72r+66=0$</a:t>
                </a:r>
                <a:r>
                  <a:rPr sz="2400" b="0">
                    <a:solidFill>
                      <a:srgbClr val="111827"/>
                    </a:solidFill>
                    <a:latin typeface="Arial"/>
                  </a:rPr>
                  <a:t>, i.e. </a:t>
                </a:r>
                <a:r>
                  <a:rPr lang="en-IN" sz="2400">
                    <a:solidFill>
                      <a:srgbClr val="111827"/>
                    </a:solidFill>
                    <a:latin typeface="Cambria Math" panose="02040503050406030204" pitchFamily="18" charset="0"/>
                  </a:rPr>
                  <a:t>$r^2-12r+11=0$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$(r-11)(r-1)=0$</a:t>
                </a:r>
                <a:r>
                  <a:rPr sz="2400" b="0">
                    <a:solidFill>
                      <a:srgbClr val="111827"/>
                    </a:solidFill>
                    <a:latin typeface="Arial"/>
                  </a:rPr>
                  <a:t>. The incircle must be larger than the circles at the vertices (</a:t>
                </a:r>
                <a:r>
                  <a:rPr lang="en-IN" sz="2400">
                    <a:solidFill>
                      <a:srgbClr val="111827"/>
                    </a:solidFill>
                    <a:latin typeface="Cambria Math" panose="02040503050406030204" pitchFamily="18" charset="0"/>
                  </a:rPr>
                  <a:t>$r&gt;9$</a:t>
                </a:r>
                <a:r>
                  <a:rPr sz="2400" b="0">
                    <a:solidFill>
                      <a:srgbClr val="111827"/>
                    </a:solidFill>
                    <a:latin typeface="Arial"/>
                  </a:rPr>
                  <a:t>), so </a:t>
                </a:r>
                <a:r>
                  <a:rPr lang="en-IN" sz="2400">
                    <a:solidFill>
                      <a:srgbClr val="111827"/>
                    </a:solidFill>
                    <a:latin typeface="Cambria Math" panose="02040503050406030204" pitchFamily="18" charset="0"/>
                  </a:rPr>
                  <a:t>$r=1$</a:t>
                </a:r>
                <a:r>
                  <a:rPr sz="2400" b="0">
                    <a:solidFill>
                      <a:srgbClr val="111827"/>
                    </a:solidFill>
                    <a:latin typeface="Arial"/>
                  </a:rPr>
                  <a:t> is rejected and </a:t>
                </a:r>
                <a:r>
                  <a:rPr lang="en-IN" sz="2400">
                    <a:solidFill>
                      <a:srgbClr val="111827"/>
                    </a:solidFill>
                    <a:latin typeface="Cambria Math" panose="02040503050406030204" pitchFamily="18" charset="0"/>
                  </a:rPr>
                  <a:t>$r=11$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𝑟</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$r=11$</a:t>
                </a:r>
                <a:endParaRPr sz="2800">
                  <a:solidFill>
                    <a:srgbClr val="15803D"/>
                  </a:solidFill>
                </a:endParaRPr>
              </a:p>
            </p:txBody>
          </p:sp>
        </mc:Fallback>
      </mc:AlternateContent>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Heron's formula in the form </a:t>
                </a:r>
                <a14:m>
                  <m:oMath xmlns:m="http://schemas.openxmlformats.org/officeDocument/2006/math">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𝑦</m:t>
                    </m:r>
                    <m:r>
                      <a:rPr lang="en-IN" sz="2400" i="1">
                        <a:solidFill>
                          <a:srgbClr val="78350F"/>
                        </a:solidFill>
                        <a:latin typeface="Cambria Math" panose="02040503050406030204" pitchFamily="18" charset="0"/>
                      </a:rPr>
                      <m:t>𝑧</m:t>
                    </m:r>
                  </m:oMath>
                </a14:m>
                <a:r>
                  <a:rPr sz="2400" b="0">
                    <a:solidFill>
                      <a:srgbClr val="78350F"/>
                    </a:solidFill>
                    <a:latin typeface="Arial"/>
                  </a:rPr>
                  <a:t> for the tangent lengths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cot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𝐴</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cot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𝐵</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cot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𝐶</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Heron's formula in the form </a:t>
                </a:r>
                <a:r>
                  <a:rPr lang="en-IN" sz="2400">
                    <a:solidFill>
                      <a:srgbClr val="78350F"/>
                    </a:solidFill>
                    <a:latin typeface="Cambria Math" panose="02040503050406030204" pitchFamily="18" charset="0"/>
                  </a:rPr>
                  <a:t>$r^2(x+y+z)=xyz$</a:t>
                </a:r>
                <a:r>
                  <a:rPr sz="2400" b="0">
                    <a:solidFill>
                      <a:srgbClr val="78350F"/>
                    </a:solidFill>
                    <a:latin typeface="Arial"/>
                  </a:rPr>
                  <a:t> for the tangent lengths </a:t>
                </a:r>
                <a:r>
                  <a:rPr lang="en-IN" sz="2400">
                    <a:solidFill>
                      <a:srgbClr val="78350F"/>
                    </a:solidFill>
                    <a:latin typeface="Cambria Math" panose="02040503050406030204" pitchFamily="18" charset="0"/>
                  </a:rPr>
                  <a:t>$x=r\cot\frac A2$</a:t>
                </a:r>
                <a:r>
                  <a:rPr sz="2400" b="0">
                    <a:solidFill>
                      <a:srgbClr val="78350F"/>
                    </a:solidFill>
                    <a:latin typeface="Arial"/>
                  </a:rPr>
                  <a:t>, </a:t>
                </a:r>
                <a:r>
                  <a:rPr lang="en-IN" sz="2400">
                    <a:solidFill>
                      <a:srgbClr val="78350F"/>
                    </a:solidFill>
                    <a:latin typeface="Cambria Math" panose="02040503050406030204" pitchFamily="18" charset="0"/>
                  </a:rPr>
                  <a:t>$y=r\cot\frac B2$</a:t>
                </a:r>
                <a:r>
                  <a:rPr sz="2400" b="0">
                    <a:solidFill>
                      <a:srgbClr val="78350F"/>
                    </a:solidFill>
                    <a:latin typeface="Arial"/>
                  </a:rPr>
                  <a:t>, </a:t>
                </a:r>
                <a:r>
                  <a:rPr lang="en-IN" sz="2400">
                    <a:solidFill>
                      <a:srgbClr val="78350F"/>
                    </a:solidFill>
                    <a:latin typeface="Cambria Math" panose="02040503050406030204" pitchFamily="18" charset="0"/>
                  </a:rPr>
                  <a:t>$z=r\cot\frac C2$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be the tangent lengths from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to the incircle.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𝑠</m:t>
                    </m:r>
                  </m:oMath>
                </a14:m>
                <a:r>
                  <a:rPr sz="2400" b="0">
                    <a:solidFill>
                      <a:srgbClr val="111827"/>
                    </a:solidFill>
                    <a:latin typeface="Arial"/>
                  </a:rPr>
                  <a:t>, so Heron's formula </a:t>
                </a:r>
                <a14:m>
                  <m:oMath xmlns:m="http://schemas.openxmlformats.org/officeDocument/2006/math">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oMath>
                </a14:m>
                <a:r>
                  <a:rPr sz="2400" b="0">
                    <a:solidFill>
                      <a:srgbClr val="111827"/>
                    </a:solidFill>
                    <a:latin typeface="Arial"/>
                  </a:rPr>
                  <a:t> becomes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den>
                    </m:f>
                  </m:oMath>
                </a14:m>
                <a:r>
                  <a:rPr sz="2400" b="0">
                    <a:solidFill>
                      <a:srgbClr val="111827"/>
                    </a:solidFill>
                    <a:latin typeface="Arial"/>
                  </a:rPr>
                  <a:t> etc.: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𝑟</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𝑟</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oMath>
                </a14:m>
                <a:r>
                  <a:rPr sz="2400" b="0">
                    <a:solidFill>
                      <a:srgbClr val="111827"/>
                    </a:solidFill>
                    <a:latin typeface="Arial"/>
                  </a:rPr>
                  <a:t> becomes, after dividing by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m:t>
                        </m:r>
                        <m:r>
                          <a:rPr lang="en-IN" sz="2400" i="1">
                            <a:solidFill>
                              <a:srgbClr val="111827"/>
                            </a:solidFill>
                            <a:latin typeface="Cambria Math" panose="02040503050406030204" pitchFamily="18" charset="0"/>
                          </a:rPr>
                          <m:t>𝑟</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$x=s-a$</a:t>
                </a:r>
                <a:r>
                  <a:rPr sz="2400" b="0">
                    <a:solidFill>
                      <a:srgbClr val="111827"/>
                    </a:solidFill>
                    <a:latin typeface="Arial"/>
                  </a:rPr>
                  <a:t>, </a:t>
                </a:r>
                <a:r>
                  <a:rPr lang="en-IN" sz="2400">
                    <a:solidFill>
                      <a:srgbClr val="111827"/>
                    </a:solidFill>
                    <a:latin typeface="Cambria Math" panose="02040503050406030204" pitchFamily="18" charset="0"/>
                  </a:rPr>
                  <a:t>$y=s-b$</a:t>
                </a:r>
                <a:r>
                  <a:rPr sz="2400" b="0">
                    <a:solidFill>
                      <a:srgbClr val="111827"/>
                    </a:solidFill>
                    <a:latin typeface="Arial"/>
                  </a:rPr>
                  <a:t>, </a:t>
                </a:r>
                <a:r>
                  <a:rPr lang="en-IN" sz="2400">
                    <a:solidFill>
                      <a:srgbClr val="111827"/>
                    </a:solidFill>
                    <a:latin typeface="Cambria Math" panose="02040503050406030204" pitchFamily="18" charset="0"/>
                  </a:rPr>
                  <a:t>$z=s-c$</a:t>
                </a:r>
                <a:r>
                  <a:rPr sz="2400" b="0">
                    <a:solidFill>
                      <a:srgbClr val="111827"/>
                    </a:solidFill>
                    <a:latin typeface="Arial"/>
                  </a:rPr>
                  <a:t> be the tangent lengths from </a:t>
                </a:r>
                <a:r>
                  <a:rPr lang="en-IN" sz="2400">
                    <a:solidFill>
                      <a:srgbClr val="111827"/>
                    </a:solidFill>
                    <a:latin typeface="Cambria Math" panose="02040503050406030204" pitchFamily="18" charset="0"/>
                  </a:rPr>
                  <a:t>$A,B,C$</a:t>
                </a:r>
                <a:r>
                  <a:rPr sz="2400" b="0">
                    <a:solidFill>
                      <a:srgbClr val="111827"/>
                    </a:solidFill>
                    <a:latin typeface="Arial"/>
                  </a:rPr>
                  <a:t> to the incircle. Then </a:t>
                </a:r>
                <a:r>
                  <a:rPr lang="en-IN" sz="2400">
                    <a:solidFill>
                      <a:srgbClr val="111827"/>
                    </a:solidFill>
                    <a:latin typeface="Cambria Math" panose="02040503050406030204" pitchFamily="18" charset="0"/>
                  </a:rPr>
                  <a:t>$x+y+z=s$</a:t>
                </a:r>
                <a:r>
                  <a:rPr sz="2400" b="0">
                    <a:solidFill>
                      <a:srgbClr val="111827"/>
                    </a:solidFill>
                    <a:latin typeface="Arial"/>
                  </a:rPr>
                  <a:t> and </a:t>
                </a:r>
                <a:r>
                  <a:rPr lang="en-IN" sz="2400">
                    <a:solidFill>
                      <a:srgbClr val="111827"/>
                    </a:solidFill>
                    <a:latin typeface="Cambria Math" panose="02040503050406030204" pitchFamily="18" charset="0"/>
                  </a:rPr>
                  <a:t>$\Delta=rs$</a:t>
                </a:r>
                <a:r>
                  <a:rPr sz="2400" b="0">
                    <a:solidFill>
                      <a:srgbClr val="111827"/>
                    </a:solidFill>
                    <a:latin typeface="Arial"/>
                  </a:rPr>
                  <a:t>, so Heron's formula </a:t>
                </a:r>
                <a:r>
                  <a:rPr lang="en-IN" sz="2400">
                    <a:solidFill>
                      <a:srgbClr val="111827"/>
                    </a:solidFill>
                    <a:latin typeface="Cambria Math" panose="02040503050406030204" pitchFamily="18" charset="0"/>
                  </a:rPr>
                  <a:t>$\Delta^2=s\,xyz$</a:t>
                </a:r>
                <a:r>
                  <a:rPr sz="2400" b="0">
                    <a:solidFill>
                      <a:srgbClr val="111827"/>
                    </a:solidFill>
                    <a:latin typeface="Arial"/>
                  </a:rPr>
                  <a:t> becomes </a:t>
                </a:r>
                <a:r>
                  <a:rPr lang="en-IN" sz="2400">
                    <a:solidFill>
                      <a:srgbClr val="111827"/>
                    </a:solidFill>
                    <a:latin typeface="Cambria Math" panose="02040503050406030204" pitchFamily="18" charset="0"/>
                  </a:rPr>
                  <a:t>$r^2(x+y+z)=xyz$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$\tan\frac A2=\frac{r-1}{2\sqrt r}$</a:t>
                </a:r>
                <a:r>
                  <a:rPr sz="2400" b="0">
                    <a:solidFill>
                      <a:srgbClr val="111827"/>
                    </a:solidFill>
                    <a:latin typeface="Arial"/>
                  </a:rPr>
                  <a:t> etc.: </a:t>
                </a:r>
                <a:r>
                  <a:rPr lang="en-IN" sz="2400">
                    <a:solidFill>
                      <a:srgbClr val="111827"/>
                    </a:solidFill>
                    <a:latin typeface="Cambria Math" panose="02040503050406030204" pitchFamily="18" charset="0"/>
                  </a:rPr>
                  <a:t>$x=r\cot\frac A2=\frac{2r\sqrt r}{r-1}$</a:t>
                </a:r>
                <a:r>
                  <a:rPr sz="2400" b="0">
                    <a:solidFill>
                      <a:srgbClr val="111827"/>
                    </a:solidFill>
                    <a:latin typeface="Arial"/>
                  </a:rPr>
                  <a:t>, </a:t>
                </a:r>
                <a:r>
                  <a:rPr lang="en-IN" sz="2400">
                    <a:solidFill>
                      <a:srgbClr val="111827"/>
                    </a:solidFill>
                    <a:latin typeface="Cambria Math" panose="02040503050406030204" pitchFamily="18" charset="0"/>
                  </a:rPr>
                  <a:t>$y=\frac{4r\sqrt r}{r-4}$</a:t>
                </a:r>
                <a:r>
                  <a:rPr sz="2400" b="0">
                    <a:solidFill>
                      <a:srgbClr val="111827"/>
                    </a:solidFill>
                    <a:latin typeface="Arial"/>
                  </a:rPr>
                  <a:t>, </a:t>
                </a:r>
                <a:r>
                  <a:rPr lang="en-IN" sz="2400">
                    <a:solidFill>
                      <a:srgbClr val="111827"/>
                    </a:solidFill>
                    <a:latin typeface="Cambria Math" panose="02040503050406030204" pitchFamily="18" charset="0"/>
                  </a:rPr>
                  <a:t>$z=\frac{6r\sqrt r}{r-9}$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$r^2(x+y+z)=xyz$</a:t>
                </a:r>
                <a:r>
                  <a:rPr sz="2400" b="0">
                    <a:solidFill>
                      <a:srgbClr val="111827"/>
                    </a:solidFill>
                    <a:latin typeface="Arial"/>
                  </a:rPr>
                  <a:t> becomes, after dividing by </a:t>
                </a:r>
                <a:r>
                  <a:rPr lang="en-IN" sz="2400">
                    <a:solidFill>
                      <a:srgbClr val="111827"/>
                    </a:solidFill>
                    <a:latin typeface="Cambria Math" panose="02040503050406030204" pitchFamily="18" charset="0"/>
                  </a:rPr>
                  <a:t>$2r^{7/2}$</a:t>
                </a:r>
                <a:r>
                  <a:rPr sz="2400" b="0">
                    <a:solidFill>
                      <a:srgbClr val="111827"/>
                    </a:solidFill>
                    <a:latin typeface="Arial"/>
                  </a:rPr>
                  <a:t>: </a:t>
                </a:r>
                <a:r>
                  <a:rPr lang="en-IN" sz="2400">
                    <a:solidFill>
                      <a:srgbClr val="111827"/>
                    </a:solidFill>
                    <a:latin typeface="Cambria Math" panose="02040503050406030204" pitchFamily="18" charset="0"/>
                  </a:rPr>
                  <a:t>$\frac1{r-1}+\frac2{r-4}+\frac3{r-9}=\frac{24r}{(r-1)(r-4)(r-9)}$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 out: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a:rPr lang="en-IN" sz="2400" i="1">
                        <a:solidFill>
                          <a:srgbClr val="111827"/>
                        </a:solidFill>
                        <a:latin typeface="Cambria Math" panose="02040503050406030204" pitchFamily="18" charset="0"/>
                      </a:rPr>
                      <m:t>𝑟</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6</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with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9</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 out: </a:t>
                </a:r>
                <a:r>
                  <a:rPr lang="en-IN" sz="2400">
                    <a:solidFill>
                      <a:srgbClr val="111827"/>
                    </a:solidFill>
                    <a:latin typeface="Cambria Math" panose="02040503050406030204" pitchFamily="18" charset="0"/>
                  </a:rPr>
                  <a:t>$(r-4)(r-9)+2(r-1)(r-9)+3(r-1)(r-4)=24r$</a:t>
                </a:r>
                <a:r>
                  <a:rPr sz="2400" b="0">
                    <a:solidFill>
                      <a:srgbClr val="111827"/>
                    </a:solidFill>
                    <a:latin typeface="Arial"/>
                  </a:rPr>
                  <a:t>, i.e. </a:t>
                </a:r>
                <a:r>
                  <a:rPr lang="en-IN" sz="2400">
                    <a:solidFill>
                      <a:srgbClr val="111827"/>
                    </a:solidFill>
                    <a:latin typeface="Cambria Math" panose="02040503050406030204" pitchFamily="18" charset="0"/>
                  </a:rPr>
                  <a:t>$6r^2-72r+66=0$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$r^2-12r+11=0$</a:t>
                </a:r>
                <a:r>
                  <a:rPr sz="2400" b="0">
                    <a:solidFill>
                      <a:srgbClr val="111827"/>
                    </a:solidFill>
                    <a:latin typeface="Arial"/>
                  </a:rPr>
                  <a:t> and, with </a:t>
                </a:r>
                <a:r>
                  <a:rPr lang="en-IN" sz="2400">
                    <a:solidFill>
                      <a:srgbClr val="111827"/>
                    </a:solidFill>
                    <a:latin typeface="Cambria Math" panose="02040503050406030204" pitchFamily="18" charset="0"/>
                  </a:rPr>
                  <a:t>$r&gt;9$</a:t>
                </a:r>
                <a:r>
                  <a:rPr sz="2400" b="0">
                    <a:solidFill>
                      <a:srgbClr val="111827"/>
                    </a:solidFill>
                    <a:latin typeface="Arial"/>
                  </a:rPr>
                  <a:t>, </a:t>
                </a:r>
                <a:r>
                  <a:rPr lang="en-IN" sz="2400">
                    <a:solidFill>
                      <a:srgbClr val="111827"/>
                    </a:solidFill>
                    <a:latin typeface="Cambria Math" panose="02040503050406030204" pitchFamily="18" charset="0"/>
                  </a:rPr>
                  <a:t>$r=11$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𝑟</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11</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$r=11$</a:t>
                </a:r>
                <a:endParaRPr sz="2800">
                  <a:solidFill>
                    <a:srgbClr val="15803D"/>
                  </a:solidFill>
                </a:endParaRPr>
              </a:p>
            </p:txBody>
          </p:sp>
        </mc:Fallback>
      </mc:AlternateContent>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circle of radius </a:t>
                </a:r>
                <a14:m>
                  <m:oMath xmlns:m="http://schemas.openxmlformats.org/officeDocument/2006/math">
                    <m:r>
                      <a:rPr lang="en-IN" sz="2400" i="1">
                        <a:solidFill>
                          <a:srgbClr val="111827"/>
                        </a:solidFill>
                        <a:latin typeface="Cambria Math" panose="02040503050406030204" pitchFamily="18" charset="0"/>
                      </a:rPr>
                      <m:t>ρ</m:t>
                    </m:r>
                  </m:oMath>
                </a14:m>
                <a:r>
                  <a:rPr sz="2400" b="0">
                    <a:solidFill>
                      <a:srgbClr val="111827"/>
                    </a:solidFill>
                    <a:latin typeface="Arial"/>
                  </a:rPr>
                  <a:t> placed in the angle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touching both sides and the incircle (radius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satisfies </a:t>
                </a: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ρ</m:t>
                        </m:r>
                      </m:num>
                      <m:den>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ρ</m:t>
                        </m:r>
                      </m:den>
                    </m:f>
                  </m:oMath>
                </a14:m>
                <a:r>
                  <a:rPr sz="2400" b="0">
                    <a:solidFill>
                      <a:srgbClr val="111827"/>
                    </a:solidFill>
                    <a:latin typeface="Arial"/>
                  </a:rPr>
                  <a:t>, hence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ρ</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ρ</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every triangle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 half-angles add to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15</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circle of radius </a:t>
                </a:r>
                <a:r>
                  <a:rPr lang="en-IN" sz="2400">
                    <a:solidFill>
                      <a:srgbClr val="111827"/>
                    </a:solidFill>
                    <a:latin typeface="Cambria Math" panose="02040503050406030204" pitchFamily="18" charset="0"/>
                  </a:rPr>
                  <a:t>$\rho$</a:t>
                </a:r>
                <a:r>
                  <a:rPr sz="2400" b="0">
                    <a:solidFill>
                      <a:srgbClr val="111827"/>
                    </a:solidFill>
                    <a:latin typeface="Arial"/>
                  </a:rPr>
                  <a:t> placed in the angle </a:t>
                </a:r>
                <a:r>
                  <a:rPr lang="en-IN" sz="2400">
                    <a:solidFill>
                      <a:srgbClr val="111827"/>
                    </a:solidFill>
                    <a:latin typeface="Cambria Math" panose="02040503050406030204" pitchFamily="18" charset="0"/>
                  </a:rPr>
                  <a:t>$A$</a:t>
                </a:r>
                <a:r>
                  <a:rPr sz="2400" b="0">
                    <a:solidFill>
                      <a:srgbClr val="111827"/>
                    </a:solidFill>
                    <a:latin typeface="Arial"/>
                  </a:rPr>
                  <a:t> touching both sides and the incircle (radius </a:t>
                </a:r>
                <a:r>
                  <a:rPr lang="en-IN" sz="2400">
                    <a:solidFill>
                      <a:srgbClr val="111827"/>
                    </a:solidFill>
                    <a:latin typeface="Cambria Math" panose="02040503050406030204" pitchFamily="18" charset="0"/>
                  </a:rPr>
                  <a:t>$r$</a:t>
                </a:r>
                <a:r>
                  <a:rPr sz="2400" b="0">
                    <a:solidFill>
                      <a:srgbClr val="111827"/>
                    </a:solidFill>
                    <a:latin typeface="Arial"/>
                  </a:rPr>
                  <a:t>) satisfies </a:t>
                </a:r>
                <a:r>
                  <a:rPr lang="en-IN" sz="2400">
                    <a:solidFill>
                      <a:srgbClr val="111827"/>
                    </a:solidFill>
                    <a:latin typeface="Cambria Math" panose="02040503050406030204" pitchFamily="18" charset="0"/>
                  </a:rPr>
                  <a:t>$\sin\frac A2=\frac{r-\rho}{r+\rho}$</a:t>
                </a:r>
                <a:r>
                  <a:rPr sz="2400" b="0">
                    <a:solidFill>
                      <a:srgbClr val="111827"/>
                    </a:solidFill>
                    <a:latin typeface="Arial"/>
                  </a:rPr>
                  <a:t>, hence </a:t>
                </a:r>
                <a:r>
                  <a:rPr lang="en-IN" sz="2400">
                    <a:solidFill>
                      <a:srgbClr val="111827"/>
                    </a:solidFill>
                    <a:latin typeface="Cambria Math" panose="02040503050406030204" pitchFamily="18" charset="0"/>
                  </a:rPr>
                  <a:t>$\tan\frac A2=\frac{r-\rho}{2\sqrt{r\rho}}$</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every triangle </a:t>
                </a:r>
                <a:r>
                  <a:rPr lang="en-IN" sz="2400">
                    <a:solidFill>
                      <a:srgbClr val="111827"/>
                    </a:solidFill>
                    <a:latin typeface="Cambria Math" panose="02040503050406030204" pitchFamily="18" charset="0"/>
                  </a:rPr>
                  <a:t>$\sum\tan\frac A2\tan\frac B2=1$</a:t>
                </a:r>
                <a:r>
                  <a:rPr sz="2400" b="0">
                    <a:solidFill>
                      <a:srgbClr val="111827"/>
                    </a:solidFill>
                    <a:latin typeface="Arial"/>
                  </a:rPr>
                  <a:t> and </a:t>
                </a:r>
                <a:r>
                  <a:rPr lang="en-IN" sz="2400">
                    <a:solidFill>
                      <a:srgbClr val="111827"/>
                    </a:solidFill>
                    <a:latin typeface="Cambria Math" panose="02040503050406030204" pitchFamily="18" charset="0"/>
                  </a:rPr>
                  <a:t>$\sum\cot\frac A2=\prod\cot\frac A2$</a:t>
                </a:r>
                <a:r>
                  <a:rPr sz="2400" b="0">
                    <a:solidFill>
                      <a:srgbClr val="111827"/>
                    </a:solidFill>
                    <a:latin typeface="Arial"/>
                  </a:rPr>
                  <a:t>; the half-angles add to </a:t>
                </a:r>
                <a:r>
                  <a:rPr lang="en-IN" sz="2400">
                    <a:solidFill>
                      <a:srgbClr val="111827"/>
                    </a:solidFill>
                    <a:latin typeface="Cambria Math" panose="02040503050406030204" pitchFamily="18" charset="0"/>
                  </a:rPr>
                  <a:t>$\frac\pi2$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$r=11$</a:t>
                </a:r>
                <a:r>
                  <a:rPr sz="2400" b="0">
                    <a:solidFill>
                      <a:srgbClr val="111827"/>
                    </a:solidFill>
                    <a:latin typeface="Arial"/>
                  </a:rPr>
                  <a:t> gives </a:t>
                </a:r>
                <a:r>
                  <a:rPr lang="en-IN" sz="2400">
                    <a:solidFill>
                      <a:srgbClr val="111827"/>
                    </a:solidFill>
                    <a:latin typeface="Cambria Math" panose="02040503050406030204" pitchFamily="18" charset="0"/>
                  </a:rPr>
                  <a:t>$\sin\frac A2=\frac56$</a:t>
                </a:r>
                <a:r>
                  <a:rPr sz="2400" b="0">
                    <a:solidFill>
                      <a:srgbClr val="111827"/>
                    </a:solidFill>
                    <a:latin typeface="Arial"/>
                  </a:rPr>
                  <a:t>, </a:t>
                </a:r>
                <a:r>
                  <a:rPr lang="en-IN" sz="2400">
                    <a:solidFill>
                      <a:srgbClr val="111827"/>
                    </a:solidFill>
                    <a:latin typeface="Cambria Math" panose="02040503050406030204" pitchFamily="18" charset="0"/>
                  </a:rPr>
                  <a:t>$\sin\frac B2=\frac7{15}$</a:t>
                </a:r>
                <a:r>
                  <a:rPr sz="2400" b="0">
                    <a:solidFill>
                      <a:srgbClr val="111827"/>
                    </a:solidFill>
                    <a:latin typeface="Arial"/>
                  </a:rPr>
                  <a:t>, </a:t>
                </a:r>
                <a:r>
                  <a:rPr lang="en-IN" sz="2400">
                    <a:solidFill>
                      <a:srgbClr val="111827"/>
                    </a:solidFill>
                    <a:latin typeface="Cambria Math" panose="02040503050406030204" pitchFamily="18" charset="0"/>
                  </a:rPr>
                  <a:t>$\sin\frac C2=\frac1{10}$</a:t>
                </a:r>
                <a:r>
                  <a:rPr sz="2400" b="0">
                    <a:solidFill>
                      <a:srgbClr val="111827"/>
                    </a:solidFill>
                    <a:latin typeface="Arial"/>
                  </a:rPr>
                  <a:t>, and </a:t>
                </a:r>
                <a:r>
                  <a:rPr lang="en-IN" sz="2400">
                    <a:solidFill>
                      <a:srgbClr val="111827"/>
                    </a:solidFill>
                    <a:latin typeface="Cambria Math" panose="02040503050406030204" pitchFamily="18" charset="0"/>
                  </a:rPr>
                  <a:t>$\sin^2\frac A2+\sin^2\frac B2+\sin^2\frac C2+2\prod\sin\frac A2=1$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Line </a:t>
                </a:r>
                <a14:m>
                  <m:oMath xmlns:m="http://schemas.openxmlformats.org/officeDocument/2006/math">
                    <m:r>
                      <a:rPr lang="en-IN" sz="2400" i="1">
                        <a:solidFill>
                          <a:srgbClr val="111827"/>
                        </a:solidFill>
                        <a:latin typeface="Cambria Math" panose="02040503050406030204" pitchFamily="18" charset="0"/>
                      </a:rPr>
                      <m:t>𝑙</m:t>
                    </m:r>
                  </m:oMath>
                </a14:m>
                <a:r>
                  <a:rPr sz="2400" b="0">
                    <a:solidFill>
                      <a:srgbClr val="111827"/>
                    </a:solidFill>
                    <a:latin typeface="Arial"/>
                  </a:rPr>
                  <a:t> is a tangent to a unit circle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at a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Point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the circle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are on the same side of </a:t>
                </a:r>
                <a14:m>
                  <m:oMath xmlns:m="http://schemas.openxmlformats.org/officeDocument/2006/math">
                    <m:r>
                      <a:rPr lang="en-IN" sz="2400" i="1">
                        <a:solidFill>
                          <a:srgbClr val="111827"/>
                        </a:solidFill>
                        <a:latin typeface="Cambria Math" panose="02040503050406030204" pitchFamily="18" charset="0"/>
                      </a:rPr>
                      <m:t>𝑙</m:t>
                    </m:r>
                  </m:oMath>
                </a14:m>
                <a:r>
                  <a:rPr sz="2400" b="0">
                    <a:solidFill>
                      <a:srgbClr val="111827"/>
                    </a:solidFill>
                    <a:latin typeface="Arial"/>
                  </a:rPr>
                  <a:t>, and the distance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𝑙</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Two tangents from point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intersect line </a:t>
                </a:r>
                <a14:m>
                  <m:oMath xmlns:m="http://schemas.openxmlformats.org/officeDocument/2006/math">
                    <m:r>
                      <a:rPr lang="en-IN" sz="2400" i="1">
                        <a:solidFill>
                          <a:srgbClr val="111827"/>
                        </a:solidFill>
                        <a:latin typeface="Cambria Math" panose="02040503050406030204" pitchFamily="18" charset="0"/>
                      </a:rPr>
                      <m:t>𝑙</m:t>
                    </m:r>
                  </m:oMath>
                </a14:m>
                <a:r>
                  <a:rPr sz="2400" b="0">
                    <a:solidFill>
                      <a:srgbClr val="111827"/>
                    </a:solidFill>
                    <a:latin typeface="Arial"/>
                  </a:rPr>
                  <a:t> at the points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respectively. Find the value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Line </a:t>
                </a:r>
                <a:r>
                  <a:rPr lang="en-IN" sz="2400">
                    <a:solidFill>
                      <a:srgbClr val="111827"/>
                    </a:solidFill>
                    <a:latin typeface="Cambria Math" panose="02040503050406030204" pitchFamily="18" charset="0"/>
                  </a:rPr>
                  <a:t>$l$</a:t>
                </a:r>
                <a:r>
                  <a:rPr sz="2400" b="0">
                    <a:solidFill>
                      <a:srgbClr val="111827"/>
                    </a:solidFill>
                    <a:latin typeface="Arial"/>
                  </a:rPr>
                  <a:t> is a tangent to a unit circle </a:t>
                </a:r>
                <a:r>
                  <a:rPr lang="en-IN" sz="2400">
                    <a:solidFill>
                      <a:srgbClr val="111827"/>
                    </a:solidFill>
                    <a:latin typeface="Cambria Math" panose="02040503050406030204" pitchFamily="18" charset="0"/>
                  </a:rPr>
                  <a:t>$S$</a:t>
                </a:r>
                <a:r>
                  <a:rPr sz="2400" b="0">
                    <a:solidFill>
                      <a:srgbClr val="111827"/>
                    </a:solidFill>
                    <a:latin typeface="Arial"/>
                  </a:rPr>
                  <a:t> at a point </a:t>
                </a:r>
                <a:r>
                  <a:rPr lang="en-IN" sz="2400">
                    <a:solidFill>
                      <a:srgbClr val="111827"/>
                    </a:solidFill>
                    <a:latin typeface="Cambria Math" panose="02040503050406030204" pitchFamily="18" charset="0"/>
                  </a:rPr>
                  <a:t>$P$</a:t>
                </a:r>
                <a:r>
                  <a:rPr sz="2400" b="0">
                    <a:solidFill>
                      <a:srgbClr val="111827"/>
                    </a:solidFill>
                    <a:latin typeface="Arial"/>
                  </a:rPr>
                  <a:t>. Point </a:t>
                </a:r>
                <a:r>
                  <a:rPr lang="en-IN" sz="2400">
                    <a:solidFill>
                      <a:srgbClr val="111827"/>
                    </a:solidFill>
                    <a:latin typeface="Cambria Math" panose="02040503050406030204" pitchFamily="18" charset="0"/>
                  </a:rPr>
                  <a:t>$A$</a:t>
                </a:r>
                <a:r>
                  <a:rPr sz="2400" b="0">
                    <a:solidFill>
                      <a:srgbClr val="111827"/>
                    </a:solidFill>
                    <a:latin typeface="Arial"/>
                  </a:rPr>
                  <a:t> and the circle </a:t>
                </a:r>
                <a:r>
                  <a:rPr lang="en-IN" sz="2400">
                    <a:solidFill>
                      <a:srgbClr val="111827"/>
                    </a:solidFill>
                    <a:latin typeface="Cambria Math" panose="02040503050406030204" pitchFamily="18" charset="0"/>
                  </a:rPr>
                  <a:t>$S$</a:t>
                </a:r>
                <a:r>
                  <a:rPr sz="2400" b="0">
                    <a:solidFill>
                      <a:srgbClr val="111827"/>
                    </a:solidFill>
                    <a:latin typeface="Arial"/>
                  </a:rPr>
                  <a:t> are on the same side of </a:t>
                </a:r>
                <a:r>
                  <a:rPr lang="en-IN" sz="2400">
                    <a:solidFill>
                      <a:srgbClr val="111827"/>
                    </a:solidFill>
                    <a:latin typeface="Cambria Math" panose="02040503050406030204" pitchFamily="18" charset="0"/>
                  </a:rPr>
                  <a:t>$l$</a:t>
                </a:r>
                <a:r>
                  <a:rPr sz="2400" b="0">
                    <a:solidFill>
                      <a:srgbClr val="111827"/>
                    </a:solidFill>
                    <a:latin typeface="Arial"/>
                  </a:rPr>
                  <a:t>, and the distance from </a:t>
                </a:r>
                <a:r>
                  <a:rPr lang="en-IN" sz="2400">
                    <a:solidFill>
                      <a:srgbClr val="111827"/>
                    </a:solidFill>
                    <a:latin typeface="Cambria Math" panose="02040503050406030204" pitchFamily="18" charset="0"/>
                  </a:rPr>
                  <a:t>$A$</a:t>
                </a:r>
                <a:r>
                  <a:rPr sz="2400" b="0">
                    <a:solidFill>
                      <a:srgbClr val="111827"/>
                    </a:solidFill>
                    <a:latin typeface="Arial"/>
                  </a:rPr>
                  <a:t> to </a:t>
                </a:r>
                <a:r>
                  <a:rPr lang="en-IN" sz="2400">
                    <a:solidFill>
                      <a:srgbClr val="111827"/>
                    </a:solidFill>
                    <a:latin typeface="Cambria Math" panose="02040503050406030204" pitchFamily="18" charset="0"/>
                  </a:rPr>
                  <a:t>$l$</a:t>
                </a:r>
                <a:r>
                  <a:rPr sz="2400" b="0">
                    <a:solidFill>
                      <a:srgbClr val="111827"/>
                    </a:solidFill>
                    <a:latin typeface="Arial"/>
                  </a:rPr>
                  <a:t> is </a:t>
                </a:r>
                <a:r>
                  <a:rPr lang="en-IN" sz="2400">
                    <a:solidFill>
                      <a:srgbClr val="111827"/>
                    </a:solidFill>
                    <a:latin typeface="Cambria Math" panose="02040503050406030204" pitchFamily="18" charset="0"/>
                  </a:rPr>
                  <a:t>$3$</a:t>
                </a:r>
                <a:r>
                  <a:rPr sz="2400" b="0">
                    <a:solidFill>
                      <a:srgbClr val="111827"/>
                    </a:solidFill>
                    <a:latin typeface="Arial"/>
                  </a:rPr>
                  <a:t>. Two tangents from point </a:t>
                </a:r>
                <a:r>
                  <a:rPr lang="en-IN" sz="2400">
                    <a:solidFill>
                      <a:srgbClr val="111827"/>
                    </a:solidFill>
                    <a:latin typeface="Cambria Math" panose="02040503050406030204" pitchFamily="18" charset="0"/>
                  </a:rPr>
                  <a:t>$A$</a:t>
                </a:r>
                <a:r>
                  <a:rPr sz="2400" b="0">
                    <a:solidFill>
                      <a:srgbClr val="111827"/>
                    </a:solidFill>
                    <a:latin typeface="Arial"/>
                  </a:rPr>
                  <a:t> intersect line </a:t>
                </a:r>
                <a:r>
                  <a:rPr lang="en-IN" sz="2400">
                    <a:solidFill>
                      <a:srgbClr val="111827"/>
                    </a:solidFill>
                    <a:latin typeface="Cambria Math" panose="02040503050406030204" pitchFamily="18" charset="0"/>
                  </a:rPr>
                  <a:t>$l$</a:t>
                </a:r>
                <a:r>
                  <a:rPr sz="2400" b="0">
                    <a:solidFill>
                      <a:srgbClr val="111827"/>
                    </a:solidFill>
                    <a:latin typeface="Arial"/>
                  </a:rPr>
                  <a:t> at the points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respectively. Find the value of </a:t>
                </a:r>
                <a:r>
                  <a:rPr lang="en-IN" sz="2400">
                    <a:solidFill>
                      <a:srgbClr val="111827"/>
                    </a:solidFill>
                    <a:latin typeface="Cambria Math" panose="02040503050406030204" pitchFamily="18" charset="0"/>
                  </a:rPr>
                  <a:t>$(PB)(PC)$</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Incircle and tangent lengths: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Power of a point and tangents to a circle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Incircle and tangent lengths: </a:t>
                </a:r>
                <a:r>
                  <a:rPr lang="en-IN" sz="2400">
                    <a:solidFill>
                      <a:srgbClr val="111827"/>
                    </a:solidFill>
                    <a:latin typeface="Cambria Math" panose="02040503050406030204" pitchFamily="18" charset="0"/>
                  </a:rPr>
                  <a:t>$PB\cdot PC=(s-b)(s-c)$</a:t>
                </a:r>
                <a:r>
                  <a:rPr sz="2400" b="0">
                    <a:solidFill>
                      <a:srgbClr val="111827"/>
                    </a:solidFill>
                    <a:latin typeface="Arial"/>
                  </a:rPr>
                  <a:t>, Power of a point and tangents to a circle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 is the incircle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altitude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𝑟</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𝑠</m:t>
                        </m:r>
                      </m:num>
                      <m:den>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whatever the position of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$S$</a:t>
                </a:r>
                <a:r>
                  <a:rPr sz="2400" b="0">
                    <a:solidFill>
                      <a:srgbClr val="78350F"/>
                    </a:solidFill>
                    <a:latin typeface="Arial"/>
                  </a:rPr>
                  <a:t> is the incircle of </a:t>
                </a:r>
                <a:r>
                  <a:rPr lang="en-IN" sz="2400">
                    <a:solidFill>
                      <a:srgbClr val="78350F"/>
                    </a:solidFill>
                    <a:latin typeface="Cambria Math" panose="02040503050406030204" pitchFamily="18" charset="0"/>
                  </a:rPr>
                  <a:t>$\triangle ABC$</a:t>
                </a:r>
                <a:r>
                  <a:rPr sz="2400" b="0">
                    <a:solidFill>
                      <a:srgbClr val="78350F"/>
                    </a:solidFill>
                    <a:latin typeface="Arial"/>
                  </a:rPr>
                  <a:t> (</a:t>
                </a:r>
                <a:r>
                  <a:rPr lang="en-IN" sz="2400">
                    <a:solidFill>
                      <a:srgbClr val="78350F"/>
                    </a:solidFill>
                    <a:latin typeface="Cambria Math" panose="02040503050406030204" pitchFamily="18" charset="0"/>
                  </a:rPr>
                  <a:t>$r=1$</a:t>
                </a:r>
                <a:r>
                  <a:rPr sz="2400" b="0">
                    <a:solidFill>
                      <a:srgbClr val="78350F"/>
                    </a:solidFill>
                    <a:latin typeface="Arial"/>
                  </a:rPr>
                  <a:t>, altitude </a:t>
                </a:r>
                <a:r>
                  <a:rPr lang="en-IN" sz="2400">
                    <a:solidFill>
                      <a:srgbClr val="78350F"/>
                    </a:solidFill>
                    <a:latin typeface="Cambria Math" panose="02040503050406030204" pitchFamily="18" charset="0"/>
                  </a:rPr>
                  <a:t>$3$</a:t>
                </a:r>
                <a:r>
                  <a:rPr sz="2400" b="0">
                    <a:solidFill>
                      <a:srgbClr val="78350F"/>
                    </a:solidFill>
                    <a:latin typeface="Arial"/>
                  </a:rPr>
                  <a:t>), so </a:t>
                </a:r>
                <a:r>
                  <a:rPr lang="en-IN" sz="2400">
                    <a:solidFill>
                      <a:srgbClr val="78350F"/>
                    </a:solidFill>
                    <a:latin typeface="Cambria Math" panose="02040503050406030204" pitchFamily="18" charset="0"/>
                  </a:rPr>
                  <a:t>$PB\cdot PC=(s-b)(s-c)=\frac{r^2s}{s-a}=3$</a:t>
                </a:r>
                <a:r>
                  <a:rPr sz="2400" b="0">
                    <a:solidFill>
                      <a:srgbClr val="78350F"/>
                    </a:solidFill>
                    <a:latin typeface="Arial"/>
                  </a:rPr>
                  <a:t>, whatever the position of </a:t>
                </a:r>
                <a:r>
                  <a:rPr lang="en-IN" sz="2400">
                    <a:solidFill>
                      <a:srgbClr val="78350F"/>
                    </a:solidFill>
                    <a:latin typeface="Cambria Math" panose="02040503050406030204" pitchFamily="18" charset="0"/>
                  </a:rPr>
                  <a: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in the PDF's figure take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on the line through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perpendicular to </a:t>
                </a:r>
                <a14:m>
                  <m:oMath xmlns:m="http://schemas.openxmlformats.org/officeDocument/2006/math">
                    <m:r>
                      <a:rPr lang="en-IN" sz="2400" i="1">
                        <a:solidFill>
                          <a:srgbClr val="111827"/>
                        </a:solidFill>
                        <a:latin typeface="Cambria Math" panose="02040503050406030204" pitchFamily="18" charset="0"/>
                      </a:rPr>
                      <m:t>𝑙</m:t>
                    </m:r>
                  </m:oMath>
                </a14:m>
                <a:r>
                  <a:rPr sz="2400" b="0">
                    <a:solidFill>
                      <a:srgbClr val="111827"/>
                    </a:solidFill>
                    <a:latin typeface="Arial"/>
                  </a:rPr>
                  <a:t> (the symmetric position; the alternate shows the answer does not depend on this). Then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the diameter through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ends at </a:t>
                </a:r>
                <a14:m>
                  <m:oMath xmlns:m="http://schemas.openxmlformats.org/officeDocument/2006/math">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Power of the point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b>
                      <m:e>
                        <m:r>
                          <a:rPr lang="en-IN" sz="2400" i="1">
                            <a:solidFill>
                              <a:srgbClr val="111827"/>
                            </a:solidFill>
                            <a:latin typeface="Cambria Math" panose="02040503050406030204" pitchFamily="18" charset="0"/>
                          </a:rPr>
                          <m:t>𝑃</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the point of contact of a tangent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formed by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 centre and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(radius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tangent length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in the PDF's figure take </a:t>
                </a:r>
                <a:r>
                  <a:rPr lang="en-IN" sz="2400">
                    <a:solidFill>
                      <a:srgbClr val="111827"/>
                    </a:solidFill>
                    <a:latin typeface="Cambria Math" panose="02040503050406030204" pitchFamily="18" charset="0"/>
                  </a:rPr>
                  <a:t>$A$</a:t>
                </a:r>
                <a:r>
                  <a:rPr sz="2400" b="0">
                    <a:solidFill>
                      <a:srgbClr val="111827"/>
                    </a:solidFill>
                    <a:latin typeface="Arial"/>
                  </a:rPr>
                  <a:t> on the line through </a:t>
                </a:r>
                <a:r>
                  <a:rPr lang="en-IN" sz="2400">
                    <a:solidFill>
                      <a:srgbClr val="111827"/>
                    </a:solidFill>
                    <a:latin typeface="Cambria Math" panose="02040503050406030204" pitchFamily="18" charset="0"/>
                  </a:rPr>
                  <a:t>$P$</a:t>
                </a:r>
                <a:r>
                  <a:rPr sz="2400" b="0">
                    <a:solidFill>
                      <a:srgbClr val="111827"/>
                    </a:solidFill>
                    <a:latin typeface="Arial"/>
                  </a:rPr>
                  <a:t> perpendicular to </a:t>
                </a:r>
                <a:r>
                  <a:rPr lang="en-IN" sz="2400">
                    <a:solidFill>
                      <a:srgbClr val="111827"/>
                    </a:solidFill>
                    <a:latin typeface="Cambria Math" panose="02040503050406030204" pitchFamily="18" charset="0"/>
                  </a:rPr>
                  <a:t>$l$</a:t>
                </a:r>
                <a:r>
                  <a:rPr sz="2400" b="0">
                    <a:solidFill>
                      <a:srgbClr val="111827"/>
                    </a:solidFill>
                    <a:latin typeface="Arial"/>
                  </a:rPr>
                  <a:t> (the symmetric position; the alternate shows the answer does not depend on this). Then </a:t>
                </a:r>
                <a:r>
                  <a:rPr lang="en-IN" sz="2400">
                    <a:solidFill>
                      <a:srgbClr val="111827"/>
                    </a:solidFill>
                    <a:latin typeface="Cambria Math" panose="02040503050406030204" pitchFamily="18" charset="0"/>
                  </a:rPr>
                  <a:t>$AP=3$</a:t>
                </a:r>
                <a:r>
                  <a:rPr sz="2400" b="0">
                    <a:solidFill>
                      <a:srgbClr val="111827"/>
                    </a:solidFill>
                    <a:latin typeface="Arial"/>
                  </a:rPr>
                  <a:t> and the diameter through </a:t>
                </a:r>
                <a:r>
                  <a:rPr lang="en-IN" sz="2400">
                    <a:solidFill>
                      <a:srgbClr val="111827"/>
                    </a:solidFill>
                    <a:latin typeface="Cambria Math" panose="02040503050406030204" pitchFamily="18" charset="0"/>
                  </a:rPr>
                  <a:t>$P$</a:t>
                </a:r>
                <a:r>
                  <a:rPr sz="2400" b="0">
                    <a:solidFill>
                      <a:srgbClr val="111827"/>
                    </a:solidFill>
                    <a:latin typeface="Arial"/>
                  </a:rPr>
                  <a:t> ends at </a:t>
                </a:r>
                <a:r>
                  <a:rPr lang="en-IN" sz="2400">
                    <a:solidFill>
                      <a:srgbClr val="111827"/>
                    </a:solidFill>
                    <a:latin typeface="Cambria Math" panose="02040503050406030204" pitchFamily="18" charset="0"/>
                  </a:rPr>
                  <a:t>$P_1$</a:t>
                </a:r>
                <a:r>
                  <a:rPr sz="2400" b="0">
                    <a:solidFill>
                      <a:srgbClr val="111827"/>
                    </a:solidFill>
                    <a:latin typeface="Arial"/>
                  </a:rPr>
                  <a:t> with </a:t>
                </a:r>
                <a:r>
                  <a:rPr lang="en-IN" sz="2400">
                    <a:solidFill>
                      <a:srgbClr val="111827"/>
                    </a:solidFill>
                    <a:latin typeface="Cambria Math" panose="02040503050406030204" pitchFamily="18" charset="0"/>
                  </a:rPr>
                  <a:t>$AP_1=3-2=1$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Power of the point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$AP\times AP_1=AR^2$</a:t>
                </a:r>
                <a:r>
                  <a:rPr sz="2400" b="0">
                    <a:solidFill>
                      <a:srgbClr val="111827"/>
                    </a:solidFill>
                    <a:latin typeface="Arial"/>
                  </a:rPr>
                  <a:t>, where </a:t>
                </a:r>
                <a:r>
                  <a:rPr lang="en-IN" sz="2400">
                    <a:solidFill>
                      <a:srgbClr val="111827"/>
                    </a:solidFill>
                    <a:latin typeface="Cambria Math" panose="02040503050406030204" pitchFamily="18" charset="0"/>
                  </a:rPr>
                  <a:t>$R$</a:t>
                </a:r>
                <a:r>
                  <a:rPr sz="2400" b="0">
                    <a:solidFill>
                      <a:srgbClr val="111827"/>
                    </a:solidFill>
                    <a:latin typeface="Arial"/>
                  </a:rPr>
                  <a:t> is the point of contact of a tangent from </a:t>
                </a:r>
                <a:r>
                  <a:rPr lang="en-IN" sz="2400">
                    <a:solidFill>
                      <a:srgbClr val="111827"/>
                    </a:solidFill>
                    <a:latin typeface="Cambria Math" panose="02040503050406030204" pitchFamily="18" charset="0"/>
                  </a:rPr>
                  <a:t>$A$</a:t>
                </a:r>
                <a:r>
                  <a:rPr sz="2400" b="0">
                    <a:solidFill>
                      <a:srgbClr val="111827"/>
                    </a:solidFill>
                    <a:latin typeface="Arial"/>
                  </a:rPr>
                  <a:t>. So </a:t>
                </a:r>
                <a:r>
                  <a:rPr lang="en-IN" sz="2400">
                    <a:solidFill>
                      <a:srgbClr val="111827"/>
                    </a:solidFill>
                    <a:latin typeface="Cambria Math" panose="02040503050406030204" pitchFamily="18" charset="0"/>
                  </a:rPr>
                  <a:t>$3\times1=AR^2$</a:t>
                </a:r>
                <a:r>
                  <a:rPr sz="2400" b="0">
                    <a:solidFill>
                      <a:srgbClr val="111827"/>
                    </a:solidFill>
                    <a:latin typeface="Arial"/>
                  </a:rPr>
                  <a:t> and </a:t>
                </a:r>
                <a:r>
                  <a:rPr lang="en-IN" sz="2400">
                    <a:solidFill>
                      <a:srgbClr val="111827"/>
                    </a:solidFill>
                    <a:latin typeface="Cambria Math" panose="02040503050406030204" pitchFamily="18" charset="0"/>
                  </a:rPr>
                  <a:t>$AR=\sqrt3$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formed by </a:t>
                </a:r>
                <a:r>
                  <a:rPr lang="en-IN" sz="2400">
                    <a:solidFill>
                      <a:srgbClr val="111827"/>
                    </a:solidFill>
                    <a:latin typeface="Cambria Math" panose="02040503050406030204" pitchFamily="18" charset="0"/>
                  </a:rPr>
                  <a:t>$A$</a:t>
                </a:r>
                <a:r>
                  <a:rPr sz="2400" b="0">
                    <a:solidFill>
                      <a:srgbClr val="111827"/>
                    </a:solidFill>
                    <a:latin typeface="Arial"/>
                  </a:rPr>
                  <a:t>, the centre and </a:t>
                </a:r>
                <a:r>
                  <a:rPr lang="en-IN" sz="2400">
                    <a:solidFill>
                      <a:srgbClr val="111827"/>
                    </a:solidFill>
                    <a:latin typeface="Cambria Math" panose="02040503050406030204" pitchFamily="18" charset="0"/>
                  </a:rPr>
                  <a:t>$R$</a:t>
                </a:r>
                <a:r>
                  <a:rPr sz="2400" b="0">
                    <a:solidFill>
                      <a:srgbClr val="111827"/>
                    </a:solidFill>
                    <a:latin typeface="Arial"/>
                  </a:rPr>
                  <a:t> (radius </a:t>
                </a:r>
                <a:r>
                  <a:rPr lang="en-IN" sz="2400">
                    <a:solidFill>
                      <a:srgbClr val="111827"/>
                    </a:solidFill>
                    <a:latin typeface="Cambria Math" panose="02040503050406030204" pitchFamily="18" charset="0"/>
                  </a:rPr>
                  <a:t>$1$</a:t>
                </a:r>
                <a:r>
                  <a:rPr sz="2400" b="0">
                    <a:solidFill>
                      <a:srgbClr val="111827"/>
                    </a:solidFill>
                    <a:latin typeface="Arial"/>
                  </a:rPr>
                  <a:t>, tangent length </a:t>
                </a:r>
                <a:r>
                  <a:rPr lang="en-IN" sz="2400">
                    <a:solidFill>
                      <a:srgbClr val="111827"/>
                    </a:solidFill>
                    <a:latin typeface="Cambria Math" panose="02040503050406030204" pitchFamily="18" charset="0"/>
                  </a:rPr>
                  <a:t>$\sqrt3$</a:t>
                </a:r>
                <a:r>
                  <a:rPr sz="2400" b="0">
                    <a:solidFill>
                      <a:srgbClr val="111827"/>
                    </a:solidFill>
                    <a:latin typeface="Arial"/>
                  </a:rPr>
                  <a:t>): </a:t>
                </a:r>
                <a:r>
                  <a:rPr lang="en-IN" sz="2400">
                    <a:solidFill>
                      <a:srgbClr val="111827"/>
                    </a:solidFill>
                    <a:latin typeface="Cambria Math" panose="02040503050406030204" pitchFamily="18" charset="0"/>
                  </a:rPr>
                  <a:t>$\tan\theta=\frac1{\sqrt3}$</a:t>
                </a:r>
                <a:r>
                  <a:rPr sz="2400" b="0">
                    <a:solidFill>
                      <a:srgbClr val="111827"/>
                    </a:solidFill>
                    <a:latin typeface="Arial"/>
                  </a:rPr>
                  <a:t>, so </a:t>
                </a:r>
                <a:r>
                  <a:rPr lang="en-IN" sz="2400">
                    <a:solidFill>
                      <a:srgbClr val="111827"/>
                    </a:solidFill>
                    <a:latin typeface="Cambria Math" panose="02040503050406030204" pitchFamily="18" charset="0"/>
                  </a:rPr>
                  <a:t>$\theta=30^\circ$</a:t>
                </a:r>
                <a:r>
                  <a:rPr sz="2400" b="0">
                    <a:solidFill>
                      <a:srgbClr val="111827"/>
                    </a:solidFill>
                    <a:latin typeface="Arial"/>
                  </a:rPr>
                  <a:t> and </a:t>
                </a:r>
                <a:r>
                  <a:rPr lang="en-IN" sz="2400">
                    <a:solidFill>
                      <a:srgbClr val="111827"/>
                    </a:solidFill>
                    <a:latin typeface="Cambria Math" panose="02040503050406030204" pitchFamily="18" charset="0"/>
                  </a:rPr>
                  <a:t>$\angle A=2\theta=60^\circ$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oMath>
                </a14:m>
                <a:r>
                  <a:rPr sz="2400" b="0">
                    <a:solidFill>
                      <a:srgbClr val="111827"/>
                    </a:solidFill>
                    <a:latin typeface="Arial"/>
                  </a:rPr>
                  <a:t> (right angle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tan</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by symmetry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r>
                  <a:rPr lang="en-IN" sz="2400">
                    <a:solidFill>
                      <a:srgbClr val="111827"/>
                    </a:solidFill>
                    <a:latin typeface="Cambria Math" panose="02040503050406030204" pitchFamily="18" charset="0"/>
                  </a:rPr>
                  <a:t>$APB$</a:t>
                </a:r>
                <a:r>
                  <a:rPr sz="2400" b="0">
                    <a:solidFill>
                      <a:srgbClr val="111827"/>
                    </a:solidFill>
                    <a:latin typeface="Arial"/>
                  </a:rPr>
                  <a:t> (right angle at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$PB=AP\tan30^\circ=3\cdot\frac1{\sqrt3}=\sqrt3$</a:t>
                </a:r>
                <a:r>
                  <a:rPr sz="2400" b="0">
                    <a:solidFill>
                      <a:srgbClr val="111827"/>
                    </a:solidFill>
                    <a:latin typeface="Arial"/>
                  </a:rPr>
                  <a:t>; by symmetry </a:t>
                </a:r>
                <a:r>
                  <a:rPr lang="en-IN" sz="2400">
                    <a:solidFill>
                      <a:srgbClr val="111827"/>
                    </a:solidFill>
                    <a:latin typeface="Cambria Math" panose="02040503050406030204" pitchFamily="18" charset="0"/>
                  </a:rPr>
                  <a:t>$PC=\sqrt3$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$(PB)(PC)=\left(\sqrt3\right)^2=3$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3</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$3$</a:t>
                </a:r>
                <a:endParaRPr sz="2800">
                  <a:solidFill>
                    <a:srgbClr val="15803D"/>
                  </a:solidFill>
                </a:endParaRPr>
              </a:p>
            </p:txBody>
          </p:sp>
        </mc:Fallback>
      </mc:AlternateContent>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14:m>
                  <m:oMath xmlns:m="http://schemas.openxmlformats.org/officeDocument/2006/math">
                    <m:r>
                      <a:rPr lang="en-IN" sz="2400" i="1">
                        <a:solidFill>
                          <a:srgbClr val="78350F"/>
                        </a:solidFill>
                        <a:latin typeface="Cambria Math" panose="02040503050406030204" pitchFamily="18" charset="0"/>
                      </a:rPr>
                      <m:t>𝑆</m:t>
                    </m:r>
                  </m:oMath>
                </a14:m>
                <a:r>
                  <a:rPr sz="2400" b="0">
                    <a:solidFill>
                      <a:srgbClr val="78350F"/>
                    </a:solidFill>
                    <a:latin typeface="Arial"/>
                  </a:rPr>
                  <a:t> is the incircle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altitude </a:t>
                </a:r>
                <a14:m>
                  <m:oMath xmlns:m="http://schemas.openxmlformats.org/officeDocument/2006/math">
                    <m:sSub>
                      <m:e>
                        <m:r>
                          <a:rPr lang="en-IN" sz="2400" i="1">
                            <a:solidFill>
                              <a:srgbClr val="78350F"/>
                            </a:solidFill>
                            <a:latin typeface="Cambria Math" panose="02040503050406030204" pitchFamily="18" charset="0"/>
                          </a:rPr>
                          <m:t>ℎ</m:t>
                        </m:r>
                      </m:e>
                      <m:sub>
                        <m:r>
                          <a:rPr lang="en-IN" sz="2400" i="1">
                            <a:solidFill>
                              <a:srgbClr val="78350F"/>
                            </a:solidFill>
                            <a:latin typeface="Cambria Math" panose="02040503050406030204" pitchFamily="18" charset="0"/>
                          </a:rPr>
                          <m:t>𝑎</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and Heron's formula give the product for any position of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lang="en-IN" sz="2400">
                    <a:solidFill>
                      <a:srgbClr val="78350F"/>
                    </a:solidFill>
                    <a:latin typeface="Cambria Math" panose="02040503050406030204" pitchFamily="18" charset="0"/>
                  </a:rPr>
                  <a:t>$S$</a:t>
                </a:r>
                <a:r>
                  <a:rPr sz="2400" b="0">
                    <a:solidFill>
                      <a:srgbClr val="78350F"/>
                    </a:solidFill>
                    <a:latin typeface="Arial"/>
                  </a:rPr>
                  <a:t> is the incircle of </a:t>
                </a:r>
                <a:r>
                  <a:rPr lang="en-IN" sz="2400">
                    <a:solidFill>
                      <a:srgbClr val="78350F"/>
                    </a:solidFill>
                    <a:latin typeface="Cambria Math" panose="02040503050406030204" pitchFamily="18" charset="0"/>
                  </a:rPr>
                  <a:t>$\triangle ABC$</a:t>
                </a:r>
                <a:r>
                  <a:rPr sz="2400" b="0">
                    <a:solidFill>
                      <a:srgbClr val="78350F"/>
                    </a:solidFill>
                    <a:latin typeface="Arial"/>
                  </a:rPr>
                  <a:t> with </a:t>
                </a:r>
                <a:r>
                  <a:rPr lang="en-IN" sz="2400">
                    <a:solidFill>
                      <a:srgbClr val="78350F"/>
                    </a:solidFill>
                    <a:latin typeface="Cambria Math" panose="02040503050406030204" pitchFamily="18" charset="0"/>
                  </a:rPr>
                  <a:t>$r=1$</a:t>
                </a:r>
                <a:r>
                  <a:rPr sz="2400" b="0">
                    <a:solidFill>
                      <a:srgbClr val="78350F"/>
                    </a:solidFill>
                    <a:latin typeface="Arial"/>
                  </a:rPr>
                  <a:t> and altitude </a:t>
                </a:r>
                <a:r>
                  <a:rPr lang="en-IN" sz="2400">
                    <a:solidFill>
                      <a:srgbClr val="78350F"/>
                    </a:solidFill>
                    <a:latin typeface="Cambria Math" panose="02040503050406030204" pitchFamily="18" charset="0"/>
                  </a:rPr>
                  <a:t>$h_a=3$</a:t>
                </a:r>
                <a:r>
                  <a:rPr sz="2400" b="0">
                    <a:solidFill>
                      <a:srgbClr val="78350F"/>
                    </a:solidFill>
                    <a:latin typeface="Arial"/>
                  </a:rPr>
                  <a:t>; </a:t>
                </a:r>
                <a:r>
                  <a:rPr lang="en-IN" sz="2400">
                    <a:solidFill>
                      <a:srgbClr val="78350F"/>
                    </a:solidFill>
                    <a:latin typeface="Cambria Math" panose="02040503050406030204" pitchFamily="18" charset="0"/>
                  </a:rPr>
                  <a:t>$PB=s-b$</a:t>
                </a:r>
                <a:r>
                  <a:rPr sz="2400" b="0">
                    <a:solidFill>
                      <a:srgbClr val="78350F"/>
                    </a:solidFill>
                    <a:latin typeface="Arial"/>
                  </a:rPr>
                  <a:t>, </a:t>
                </a:r>
                <a:r>
                  <a:rPr lang="en-IN" sz="2400">
                    <a:solidFill>
                      <a:srgbClr val="78350F"/>
                    </a:solidFill>
                    <a:latin typeface="Cambria Math" panose="02040503050406030204" pitchFamily="18" charset="0"/>
                  </a:rPr>
                  <a:t>$PC=s-c$</a:t>
                </a:r>
                <a:r>
                  <a:rPr sz="2400" b="0">
                    <a:solidFill>
                      <a:srgbClr val="78350F"/>
                    </a:solidFill>
                    <a:latin typeface="Arial"/>
                  </a:rPr>
                  <a:t> and Heron's formula give the product for any position of </a:t>
                </a:r>
                <a:r>
                  <a:rPr lang="en-IN" sz="2400">
                    <a:solidFill>
                      <a:srgbClr val="78350F"/>
                    </a:solidFill>
                    <a:latin typeface="Cambria Math" panose="02040503050406030204" pitchFamily="18" charset="0"/>
                  </a:rPr>
                  <a: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touches the line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and the lines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and lies on the same side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it is the incircle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contact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lengths: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a:t>
                </a:r>
                <a:r>
                  <a:rPr sz="2400" b="0">
                    <a:solidFill>
                      <a:srgbClr val="111827"/>
                    </a:solidFill>
                    <a:latin typeface="Arial"/>
                  </a:rPr>
                  <a:t> touches the line </a:t>
                </a:r>
                <a:r>
                  <a:rPr lang="en-IN" sz="2400">
                    <a:solidFill>
                      <a:srgbClr val="111827"/>
                    </a:solidFill>
                    <a:latin typeface="Cambria Math" panose="02040503050406030204" pitchFamily="18" charset="0"/>
                  </a:rPr>
                  <a:t>$BC=l$</a:t>
                </a:r>
                <a:r>
                  <a:rPr sz="2400" b="0">
                    <a:solidFill>
                      <a:srgbClr val="111827"/>
                    </a:solidFill>
                    <a:latin typeface="Arial"/>
                  </a:rPr>
                  <a:t> at </a:t>
                </a:r>
                <a:r>
                  <a:rPr lang="en-IN" sz="2400">
                    <a:solidFill>
                      <a:srgbClr val="111827"/>
                    </a:solidFill>
                    <a:latin typeface="Cambria Math" panose="02040503050406030204" pitchFamily="18" charset="0"/>
                  </a:rPr>
                  <a:t>$P$</a:t>
                </a:r>
                <a:r>
                  <a:rPr sz="2400" b="0">
                    <a:solidFill>
                      <a:srgbClr val="111827"/>
                    </a:solidFill>
                    <a:latin typeface="Arial"/>
                  </a:rPr>
                  <a:t> and the lines </a:t>
                </a:r>
                <a:r>
                  <a:rPr lang="en-IN" sz="2400">
                    <a:solidFill>
                      <a:srgbClr val="111827"/>
                    </a:solidFill>
                    <a:latin typeface="Cambria Math" panose="02040503050406030204" pitchFamily="18" charset="0"/>
                  </a:rPr>
                  <a:t>$AB$</a:t>
                </a:r>
                <a:r>
                  <a:rPr sz="2400" b="0">
                    <a:solidFill>
                      <a:srgbClr val="111827"/>
                    </a:solidFill>
                    <a:latin typeface="Arial"/>
                  </a:rPr>
                  <a:t>, </a:t>
                </a:r>
                <a:r>
                  <a:rPr lang="en-IN" sz="2400">
                    <a:solidFill>
                      <a:srgbClr val="111827"/>
                    </a:solidFill>
                    <a:latin typeface="Cambria Math" panose="02040503050406030204" pitchFamily="18" charset="0"/>
                  </a:rPr>
                  <a:t>$AC$</a:t>
                </a:r>
                <a:r>
                  <a:rPr sz="2400" b="0">
                    <a:solidFill>
                      <a:srgbClr val="111827"/>
                    </a:solidFill>
                    <a:latin typeface="Arial"/>
                  </a:rPr>
                  <a:t>, and lies on the same side of </a:t>
                </a:r>
                <a:r>
                  <a:rPr lang="en-IN" sz="2400">
                    <a:solidFill>
                      <a:srgbClr val="111827"/>
                    </a:solidFill>
                    <a:latin typeface="Cambria Math" panose="02040503050406030204" pitchFamily="18" charset="0"/>
                  </a:rPr>
                  <a:t>$BC$</a:t>
                </a:r>
                <a:r>
                  <a:rPr sz="2400" b="0">
                    <a:solidFill>
                      <a:srgbClr val="111827"/>
                    </a:solidFill>
                    <a:latin typeface="Arial"/>
                  </a:rPr>
                  <a:t> as </a:t>
                </a:r>
                <a:r>
                  <a:rPr lang="en-IN" sz="2400">
                    <a:solidFill>
                      <a:srgbClr val="111827"/>
                    </a:solidFill>
                    <a:latin typeface="Cambria Math" panose="02040503050406030204" pitchFamily="18" charset="0"/>
                  </a:rPr>
                  <a:t>$A$</a:t>
                </a:r>
                <a:r>
                  <a:rPr sz="2400" b="0">
                    <a:solidFill>
                      <a:srgbClr val="111827"/>
                    </a:solidFill>
                    <a:latin typeface="Arial"/>
                  </a:rPr>
                  <a:t>: it is the incircle of </a:t>
                </a:r>
                <a:r>
                  <a:rPr lang="en-IN" sz="2400">
                    <a:solidFill>
                      <a:srgbClr val="111827"/>
                    </a:solidFill>
                    <a:latin typeface="Cambria Math" panose="02040503050406030204" pitchFamily="18" charset="0"/>
                  </a:rPr>
                  <a:t>$\triangle ABC$</a:t>
                </a:r>
                <a:r>
                  <a:rPr sz="2400" b="0">
                    <a:solidFill>
                      <a:srgbClr val="111827"/>
                    </a:solidFill>
                    <a:latin typeface="Arial"/>
                  </a:rPr>
                  <a:t>, with </a:t>
                </a:r>
                <a:r>
                  <a:rPr lang="en-IN" sz="2400">
                    <a:solidFill>
                      <a:srgbClr val="111827"/>
                    </a:solidFill>
                    <a:latin typeface="Cambria Math" panose="02040503050406030204" pitchFamily="18" charset="0"/>
                  </a:rPr>
                  <a:t>$r=1$</a:t>
                </a:r>
                <a:r>
                  <a:rPr sz="2400" b="0">
                    <a:solidFill>
                      <a:srgbClr val="111827"/>
                    </a:solidFill>
                    <a:latin typeface="Arial"/>
                  </a:rPr>
                  <a:t> and contact point </a:t>
                </a:r>
                <a:r>
                  <a:rPr lang="en-IN" sz="2400">
                    <a:solidFill>
                      <a:srgbClr val="111827"/>
                    </a:solidFill>
                    <a:latin typeface="Cambria Math" panose="02040503050406030204" pitchFamily="18" charset="0"/>
                  </a:rPr>
                  <a:t>$P$</a:t>
                </a:r>
                <a:r>
                  <a:rPr sz="2400" b="0">
                    <a:solidFill>
                      <a:srgbClr val="111827"/>
                    </a:solidFill>
                    <a:latin typeface="Arial"/>
                  </a:rPr>
                  <a:t> on </a:t>
                </a:r>
                <a:r>
                  <a:rPr lang="en-IN" sz="2400">
                    <a:solidFill>
                      <a:srgbClr val="111827"/>
                    </a:solidFill>
                    <a:latin typeface="Cambria Math" panose="02040503050406030204" pitchFamily="18" charset="0"/>
                  </a:rPr>
                  <a:t>$BC$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Tangent lengths: </a:t>
                </a:r>
                <a:r>
                  <a:rPr lang="en-IN" sz="2400">
                    <a:solidFill>
                      <a:srgbClr val="111827"/>
                    </a:solidFill>
                    <a:latin typeface="Cambria Math" panose="02040503050406030204" pitchFamily="18" charset="0"/>
                  </a:rPr>
                  <a:t>$PB=s-b$</a:t>
                </a:r>
                <a:r>
                  <a:rPr sz="2400" b="0">
                    <a:solidFill>
                      <a:srgbClr val="111827"/>
                    </a:solidFill>
                    <a:latin typeface="Arial"/>
                  </a:rPr>
                  <a:t> and </a:t>
                </a:r>
                <a:r>
                  <a:rPr lang="en-IN" sz="2400">
                    <a:solidFill>
                      <a:srgbClr val="111827"/>
                    </a:solidFill>
                    <a:latin typeface="Cambria Math" panose="02040503050406030204" pitchFamily="18" charset="0"/>
                  </a:rPr>
                  <a:t>$PC=s-c$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$\Delta=rs=s$</a:t>
                </a:r>
                <a:r>
                  <a:rPr sz="2400" b="0">
                    <a:solidFill>
                      <a:srgbClr val="111827"/>
                    </a:solidFill>
                    <a:latin typeface="Arial"/>
                  </a:rPr>
                  <a:t> and </a:t>
                </a:r>
                <a:r>
                  <a:rPr lang="en-IN" sz="2400">
                    <a:solidFill>
                      <a:srgbClr val="111827"/>
                    </a:solidFill>
                    <a:latin typeface="Cambria Math" panose="02040503050406030204" pitchFamily="18" charset="0"/>
                  </a:rPr>
                  <a:t>$\Delta=\frac12a\cdot3$</a:t>
                </a:r>
                <a:r>
                  <a:rPr sz="2400" b="0">
                    <a:solidFill>
                      <a:srgbClr val="111827"/>
                    </a:solidFill>
                    <a:latin typeface="Arial"/>
                  </a:rPr>
                  <a:t>, so </a:t>
                </a:r>
                <a:r>
                  <a:rPr lang="en-IN" sz="2400">
                    <a:solidFill>
                      <a:srgbClr val="111827"/>
                    </a:solidFill>
                    <a:latin typeface="Cambria Math" panose="02040503050406030204" pitchFamily="18" charset="0"/>
                  </a:rPr>
                  <a:t>$a=\frac{2s}3$</a:t>
                </a:r>
                <a:r>
                  <a:rPr sz="2400" b="0">
                    <a:solidFill>
                      <a:srgbClr val="111827"/>
                    </a:solidFill>
                    <a:latin typeface="Arial"/>
                  </a:rPr>
                  <a:t> and </a:t>
                </a:r>
                <a:r>
                  <a:rPr lang="en-IN" sz="2400">
                    <a:solidFill>
                      <a:srgbClr val="111827"/>
                    </a:solidFill>
                    <a:latin typeface="Cambria Math" panose="02040503050406030204" pitchFamily="18" charset="0"/>
                  </a:rPr>
                  <a:t>$s-a=\frac s3$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Heron: </a:t>
                </a:r>
                <a14:m>
                  <m:oMath xmlns:m="http://schemas.openxmlformats.org/officeDocument/2006/math">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for every position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on the line parallel to </a:t>
                </a:r>
                <a14:m>
                  <m:oMath xmlns:m="http://schemas.openxmlformats.org/officeDocument/2006/math">
                    <m:r>
                      <a:rPr lang="en-IN" sz="2400" i="1">
                        <a:solidFill>
                          <a:srgbClr val="111827"/>
                        </a:solidFill>
                        <a:latin typeface="Cambria Math" panose="02040503050406030204" pitchFamily="18" charset="0"/>
                      </a:rPr>
                      <m:t>𝑙</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Heron: </a:t>
                </a:r>
                <a:r>
                  <a:rPr lang="en-IN" sz="2400">
                    <a:solidFill>
                      <a:srgbClr val="111827"/>
                    </a:solidFill>
                    <a:latin typeface="Cambria Math" panose="02040503050406030204" pitchFamily="18" charset="0"/>
                  </a:rPr>
                  <a:t>$\Delta^2=s(s-a)(s-b)(s-c)$</a:t>
                </a:r>
                <a:r>
                  <a:rPr sz="2400" b="0">
                    <a:solidFill>
                      <a:srgbClr val="111827"/>
                    </a:solidFill>
                    <a:latin typeface="Arial"/>
                  </a:rPr>
                  <a:t>, so </a:t>
                </a:r>
                <a:r>
                  <a:rPr lang="en-IN" sz="2400">
                    <a:solidFill>
                      <a:srgbClr val="111827"/>
                    </a:solidFill>
                    <a:latin typeface="Cambria Math" panose="02040503050406030204" pitchFamily="18" charset="0"/>
                  </a:rPr>
                  <a:t>$s^2=s\cdot\frac s3\cdot(s-b)(s-c)$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$(PB)(PC)=(s-b)(s-c)=3$</a:t>
                </a:r>
                <a:r>
                  <a:rPr sz="2400" b="0">
                    <a:solidFill>
                      <a:srgbClr val="111827"/>
                    </a:solidFill>
                    <a:latin typeface="Arial"/>
                  </a:rPr>
                  <a:t>, for every position of </a:t>
                </a:r>
                <a:r>
                  <a:rPr lang="en-IN" sz="2400">
                    <a:solidFill>
                      <a:srgbClr val="111827"/>
                    </a:solidFill>
                    <a:latin typeface="Cambria Math" panose="02040503050406030204" pitchFamily="18" charset="0"/>
                  </a:rPr>
                  <a:t>$A$</a:t>
                </a:r>
                <a:r>
                  <a:rPr sz="2400" b="0">
                    <a:solidFill>
                      <a:srgbClr val="111827"/>
                    </a:solidFill>
                    <a:latin typeface="Arial"/>
                  </a:rPr>
                  <a:t> on the line parallel to </a:t>
                </a:r>
                <a:r>
                  <a:rPr lang="en-IN" sz="2400">
                    <a:solidFill>
                      <a:srgbClr val="111827"/>
                    </a:solidFill>
                    <a:latin typeface="Cambria Math" panose="02040503050406030204" pitchFamily="18" charset="0"/>
                  </a:rPr>
                  <a:t>$l$</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3</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$3$</a:t>
                </a:r>
                <a:endParaRPr sz="2800">
                  <a:solidFill>
                    <a:srgbClr val="15803D"/>
                  </a:solidFill>
                </a:endParaRPr>
              </a:p>
            </p:txBody>
          </p:sp>
        </mc:Fallback>
      </mc:AlternateContent>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incircle touches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therefore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en>
                    </m:f>
                  </m:oMath>
                </a14:m>
                <a:r>
                  <a:rPr sz="2400" b="0">
                    <a:solidFill>
                      <a:srgbClr val="111827"/>
                    </a:solidFill>
                    <a:latin typeface="Arial"/>
                  </a:rPr>
                  <a:t> (from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𝑠</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form: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𝑠</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the radius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and the altitude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fixed,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ℎ</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ℎ</m:t>
                            </m:r>
                          </m:den>
                        </m:f>
                      </m:e>
                    </m:d>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ℎ</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ℎ</m:t>
                        </m:r>
                      </m:num>
                      <m:den>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den>
                    </m:f>
                  </m:oMath>
                </a14:m>
                <a:r>
                  <a:rPr sz="2400" b="0">
                    <a:solidFill>
                      <a:srgbClr val="111827"/>
                    </a:solidFill>
                    <a:latin typeface="Arial"/>
                  </a:rPr>
                  <a:t> -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 independent of where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moves along the parallel line.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incircle touches </a:t>
                </a:r>
                <a:r>
                  <a:rPr lang="en-IN" sz="2400">
                    <a:solidFill>
                      <a:srgbClr val="111827"/>
                    </a:solidFill>
                    <a:latin typeface="Cambria Math" panose="02040503050406030204" pitchFamily="18" charset="0"/>
                  </a:rPr>
                  <a:t>$BC$</a:t>
                </a:r>
                <a:r>
                  <a:rPr sz="2400" b="0">
                    <a:solidFill>
                      <a:srgbClr val="111827"/>
                    </a:solidFill>
                    <a:latin typeface="Arial"/>
                  </a:rPr>
                  <a:t> at </a:t>
                </a:r>
                <a:r>
                  <a:rPr lang="en-IN" sz="2400">
                    <a:solidFill>
                      <a:srgbClr val="111827"/>
                    </a:solidFill>
                    <a:latin typeface="Cambria Math" panose="02040503050406030204" pitchFamily="18" charset="0"/>
                  </a:rPr>
                  <a:t>$P$</a:t>
                </a:r>
                <a:r>
                  <a:rPr sz="2400" b="0">
                    <a:solidFill>
                      <a:srgbClr val="111827"/>
                    </a:solidFill>
                    <a:latin typeface="Arial"/>
                  </a:rPr>
                  <a:t> with </a:t>
                </a:r>
                <a:r>
                  <a:rPr lang="en-IN" sz="2400">
                    <a:solidFill>
                      <a:srgbClr val="111827"/>
                    </a:solidFill>
                    <a:latin typeface="Cambria Math" panose="02040503050406030204" pitchFamily="18" charset="0"/>
                  </a:rPr>
                  <a:t>$BP=s-b$</a:t>
                </a:r>
                <a:r>
                  <a:rPr sz="2400" b="0">
                    <a:solidFill>
                      <a:srgbClr val="111827"/>
                    </a:solidFill>
                    <a:latin typeface="Arial"/>
                  </a:rPr>
                  <a:t>, </a:t>
                </a:r>
                <a:r>
                  <a:rPr lang="en-IN" sz="2400">
                    <a:solidFill>
                      <a:srgbClr val="111827"/>
                    </a:solidFill>
                    <a:latin typeface="Cambria Math" panose="02040503050406030204" pitchFamily="18" charset="0"/>
                  </a:rPr>
                  <a:t>$PC=s-c$</a:t>
                </a:r>
                <a:r>
                  <a:rPr sz="2400" b="0">
                    <a:solidFill>
                      <a:srgbClr val="111827"/>
                    </a:solidFill>
                    <a:latin typeface="Arial"/>
                  </a:rPr>
                  <a:t>; therefore </a:t>
                </a:r>
                <a:r>
                  <a:rPr lang="en-IN" sz="2400">
                    <a:solidFill>
                      <a:srgbClr val="111827"/>
                    </a:solidFill>
                    <a:latin typeface="Cambria Math" panose="02040503050406030204" pitchFamily="18" charset="0"/>
                  </a:rPr>
                  <a:t>$PB\cdot PC=(s-b)(s-c)=\frac{r^2s}{s-a}$</a:t>
                </a:r>
                <a:r>
                  <a:rPr sz="2400" b="0">
                    <a:solidFill>
                      <a:srgbClr val="111827"/>
                    </a:solidFill>
                    <a:latin typeface="Arial"/>
                  </a:rPr>
                  <a:t> (from </a:t>
                </a:r>
                <a:r>
                  <a:rPr lang="en-IN" sz="2400">
                    <a:solidFill>
                      <a:srgbClr val="111827"/>
                    </a:solidFill>
                    <a:latin typeface="Cambria Math" panose="02040503050406030204" pitchFamily="18" charset="0"/>
                  </a:rPr>
                  <a:t>$r^2=\frac{(s-a)(s-b)(s-c)}s$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form: </a:t>
                </a:r>
                <a:r>
                  <a:rPr lang="en-IN" sz="2400">
                    <a:solidFill>
                      <a:srgbClr val="111827"/>
                    </a:solidFill>
                    <a:latin typeface="Cambria Math" panose="02040503050406030204" pitchFamily="18" charset="0"/>
                  </a:rPr>
                  <a:t>$(s-b)(s-c)=\Delta\tan\frac A2$</a:t>
                </a:r>
                <a:r>
                  <a:rPr sz="2400" b="0">
                    <a:solidFill>
                      <a:srgbClr val="111827"/>
                    </a:solidFill>
                    <a:latin typeface="Arial"/>
                  </a:rPr>
                  <a:t>; here </a:t>
                </a:r>
                <a:r>
                  <a:rPr lang="en-IN" sz="2400">
                    <a:solidFill>
                      <a:srgbClr val="111827"/>
                    </a:solidFill>
                    <a:latin typeface="Cambria Math" panose="02040503050406030204" pitchFamily="18" charset="0"/>
                  </a:rPr>
                  <a:t>$\Delta=s$</a:t>
                </a:r>
                <a:r>
                  <a:rPr sz="2400" b="0">
                    <a:solidFill>
                      <a:srgbClr val="111827"/>
                    </a:solidFill>
                    <a:latin typeface="Arial"/>
                  </a:rPr>
                  <a:t> and </a:t>
                </a:r>
                <a:r>
                  <a:rPr lang="en-IN" sz="2400">
                    <a:solidFill>
                      <a:srgbClr val="111827"/>
                    </a:solidFill>
                    <a:latin typeface="Cambria Math" panose="02040503050406030204" pitchFamily="18" charset="0"/>
                  </a:rPr>
                  <a:t>$\tan\frac A2=\frac3s$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the radius </a:t>
                </a:r>
                <a:r>
                  <a:rPr lang="en-IN" sz="2400">
                    <a:solidFill>
                      <a:srgbClr val="111827"/>
                    </a:solidFill>
                    <a:latin typeface="Cambria Math" panose="02040503050406030204" pitchFamily="18" charset="0"/>
                  </a:rPr>
                  <a:t>$r$</a:t>
                </a:r>
                <a:r>
                  <a:rPr sz="2400" b="0">
                    <a:solidFill>
                      <a:srgbClr val="111827"/>
                    </a:solidFill>
                    <a:latin typeface="Arial"/>
                  </a:rPr>
                  <a:t> and the altitude </a:t>
                </a:r>
                <a:r>
                  <a:rPr lang="en-IN" sz="2400">
                    <a:solidFill>
                      <a:srgbClr val="111827"/>
                    </a:solidFill>
                    <a:latin typeface="Cambria Math" panose="02040503050406030204" pitchFamily="18" charset="0"/>
                  </a:rPr>
                  <a:t>$h$</a:t>
                </a:r>
                <a:r>
                  <a:rPr sz="2400" b="0">
                    <a:solidFill>
                      <a:srgbClr val="111827"/>
                    </a:solidFill>
                    <a:latin typeface="Arial"/>
                  </a:rPr>
                  <a:t> from </a:t>
                </a:r>
                <a:r>
                  <a:rPr lang="en-IN" sz="2400">
                    <a:solidFill>
                      <a:srgbClr val="111827"/>
                    </a:solidFill>
                    <a:latin typeface="Cambria Math" panose="02040503050406030204" pitchFamily="18" charset="0"/>
                  </a:rPr>
                  <a:t>$A$</a:t>
                </a:r>
                <a:r>
                  <a:rPr sz="2400" b="0">
                    <a:solidFill>
                      <a:srgbClr val="111827"/>
                    </a:solidFill>
                    <a:latin typeface="Arial"/>
                  </a:rPr>
                  <a:t> fixed, </a:t>
                </a:r>
                <a:r>
                  <a:rPr lang="en-IN" sz="2400">
                    <a:solidFill>
                      <a:srgbClr val="111827"/>
                    </a:solidFill>
                    <a:latin typeface="Cambria Math" panose="02040503050406030204" pitchFamily="18" charset="0"/>
                  </a:rPr>
                  <a:t>$a=\frac{2rs}h$</a:t>
                </a:r>
                <a:r>
                  <a:rPr sz="2400" b="0">
                    <a:solidFill>
                      <a:srgbClr val="111827"/>
                    </a:solidFill>
                    <a:latin typeface="Arial"/>
                  </a:rPr>
                  <a:t>, so </a:t>
                </a:r>
                <a:r>
                  <a:rPr lang="en-IN" sz="2400">
                    <a:solidFill>
                      <a:srgbClr val="111827"/>
                    </a:solidFill>
                    <a:latin typeface="Cambria Math" panose="02040503050406030204" pitchFamily="18" charset="0"/>
                  </a:rPr>
                  <a:t>$s-a=s\left(1-\frac{2r}h\right)$</a:t>
                </a:r>
                <a:r>
                  <a:rPr sz="2400" b="0">
                    <a:solidFill>
                      <a:srgbClr val="111827"/>
                    </a:solidFill>
                    <a:latin typeface="Arial"/>
                  </a:rPr>
                  <a:t> and </a:t>
                </a:r>
                <a:r>
                  <a:rPr lang="en-IN" sz="2400">
                    <a:solidFill>
                      <a:srgbClr val="111827"/>
                    </a:solidFill>
                    <a:latin typeface="Cambria Math" panose="02040503050406030204" pitchFamily="18" charset="0"/>
                  </a:rPr>
                  <a:t>$(s-b)(s-c)=\frac{r^2}{1-\frac{2r}h}=\frac{r^2h}{h-2r}$</a:t>
                </a:r>
                <a:r>
                  <a:rPr sz="2400" b="0">
                    <a:solidFill>
                      <a:srgbClr val="111827"/>
                    </a:solidFill>
                    <a:latin typeface="Arial"/>
                  </a:rPr>
                  <a:t> - here </a:t>
                </a:r>
                <a:r>
                  <a:rPr lang="en-IN" sz="2400">
                    <a:solidFill>
                      <a:srgbClr val="111827"/>
                    </a:solidFill>
                    <a:latin typeface="Cambria Math" panose="02040503050406030204" pitchFamily="18" charset="0"/>
                  </a:rPr>
                  <a:t>$\frac{3}{3-2}=3$</a:t>
                </a:r>
                <a:r>
                  <a:rPr sz="2400" b="0">
                    <a:solidFill>
                      <a:srgbClr val="111827"/>
                    </a:solidFill>
                    <a:latin typeface="Arial"/>
                  </a:rPr>
                  <a:t> - independent of where </a:t>
                </a:r>
                <a:r>
                  <a:rPr lang="en-IN" sz="2400">
                    <a:solidFill>
                      <a:srgbClr val="111827"/>
                    </a:solidFill>
                    <a:latin typeface="Cambria Math" panose="02040503050406030204" pitchFamily="18" charset="0"/>
                  </a:rPr>
                  <a:t>$A$</a:t>
                </a:r>
                <a:r>
                  <a:rPr sz="2400" b="0">
                    <a:solidFill>
                      <a:srgbClr val="111827"/>
                    </a:solidFill>
                    <a:latin typeface="Arial"/>
                  </a:rPr>
                  <a:t> moves along the parallel line.</a:t>
                </a:r>
                <a:endParaRPr sz="2400">
                  <a:solidFill>
                    <a:srgbClr val="111827"/>
                  </a:solidFill>
                </a:endParaRPr>
              </a:p>
            </p:txBody>
          </p:sp>
        </mc:Fallback>
      </mc:AlternateContent>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Subjective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Q20 – Q22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Prove / find; complete solution with alternate method and result</a:t>
            </a:r>
            <a:endParaRPr sz="2800">
              <a:solidFill>
                <a:srgbClr val="FFFFFF"/>
              </a:solidFill>
            </a:endParaRP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be an acute triangle with orthocentre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𝐹</m:t>
                    </m:r>
                  </m:oMath>
                </a14:m>
                <a:r>
                  <a:rPr sz="2400" b="0">
                    <a:solidFill>
                      <a:srgbClr val="111827"/>
                    </a:solidFill>
                    <a:latin typeface="Arial"/>
                  </a:rPr>
                  <a:t> are the feet of the perpendiculars from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on the opposite sides.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is the circumradius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Given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𝐻</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𝐻</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find (a) the ratio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num>
                      <m:den>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den>
                    </m:f>
                  </m:oMath>
                </a14:m>
                <a:r>
                  <a:rPr sz="2400" b="0">
                    <a:solidFill>
                      <a:srgbClr val="111827"/>
                    </a:solidFill>
                    <a:latin typeface="Arial"/>
                  </a:rPr>
                  <a:t>, (b) the product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 the value of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$ABC$</a:t>
                </a:r>
                <a:r>
                  <a:rPr sz="2400" b="0">
                    <a:solidFill>
                      <a:srgbClr val="111827"/>
                    </a:solidFill>
                    <a:latin typeface="Arial"/>
                  </a:rPr>
                  <a:t> be an acute triangle with orthocentre </a:t>
                </a:r>
                <a:r>
                  <a:rPr lang="en-IN" sz="2400">
                    <a:solidFill>
                      <a:srgbClr val="111827"/>
                    </a:solidFill>
                    <a:latin typeface="Cambria Math" panose="02040503050406030204" pitchFamily="18" charset="0"/>
                  </a:rPr>
                  <a:t>$H$</a:t>
                </a:r>
                <a:r>
                  <a:rPr sz="2400" b="0">
                    <a:solidFill>
                      <a:srgbClr val="111827"/>
                    </a:solidFill>
                    <a:latin typeface="Arial"/>
                  </a:rPr>
                  <a:t>. </a:t>
                </a:r>
                <a:r>
                  <a:rPr lang="en-IN" sz="2400">
                    <a:solidFill>
                      <a:srgbClr val="111827"/>
                    </a:solidFill>
                    <a:latin typeface="Cambria Math" panose="02040503050406030204" pitchFamily="18" charset="0"/>
                  </a:rPr>
                  <a:t>$D,E,F$</a:t>
                </a:r>
                <a:r>
                  <a:rPr sz="2400" b="0">
                    <a:solidFill>
                      <a:srgbClr val="111827"/>
                    </a:solidFill>
                    <a:latin typeface="Arial"/>
                  </a:rPr>
                  <a:t> are the feet of the perpendiculars from </a:t>
                </a:r>
                <a:r>
                  <a:rPr lang="en-IN" sz="2400">
                    <a:solidFill>
                      <a:srgbClr val="111827"/>
                    </a:solidFill>
                    <a:latin typeface="Cambria Math" panose="02040503050406030204" pitchFamily="18" charset="0"/>
                  </a:rPr>
                  <a:t>$A,B,C$</a:t>
                </a:r>
                <a:r>
                  <a:rPr sz="2400" b="0">
                    <a:solidFill>
                      <a:srgbClr val="111827"/>
                    </a:solidFill>
                    <a:latin typeface="Arial"/>
                  </a:rPr>
                  <a:t> on the opposite sides. </a:t>
                </a:r>
                <a:r>
                  <a:rPr lang="en-IN" sz="2400">
                    <a:solidFill>
                      <a:srgbClr val="111827"/>
                    </a:solidFill>
                    <a:latin typeface="Cambria Math" panose="02040503050406030204" pitchFamily="18" charset="0"/>
                  </a:rPr>
                  <a:t>$R$</a:t>
                </a:r>
                <a:r>
                  <a:rPr sz="2400" b="0">
                    <a:solidFill>
                      <a:srgbClr val="111827"/>
                    </a:solidFill>
                    <a:latin typeface="Arial"/>
                  </a:rPr>
                  <a:t> is the circumradius of </a:t>
                </a:r>
                <a:r>
                  <a:rPr lang="en-IN" sz="2400">
                    <a:solidFill>
                      <a:srgbClr val="111827"/>
                    </a:solidFill>
                    <a:latin typeface="Cambria Math" panose="02040503050406030204" pitchFamily="18" charset="0"/>
                  </a:rPr>
                  <a:t>$\triangle ABC$</a:t>
                </a:r>
                <a:r>
                  <a:rPr sz="2400" b="0">
                    <a:solidFill>
                      <a:srgbClr val="111827"/>
                    </a:solidFill>
                    <a:latin typeface="Arial"/>
                  </a:rPr>
                  <a:t>. Given </a:t>
                </a:r>
                <a:r>
                  <a:rPr lang="en-IN" sz="2400">
                    <a:solidFill>
                      <a:srgbClr val="111827"/>
                    </a:solidFill>
                    <a:latin typeface="Cambria Math" panose="02040503050406030204" pitchFamily="18" charset="0"/>
                  </a:rPr>
                  <a:t>$(AH)(BH)(CH)=3$</a:t>
                </a:r>
                <a:r>
                  <a:rPr sz="2400" b="0">
                    <a:solidFill>
                      <a:srgbClr val="111827"/>
                    </a:solidFill>
                    <a:latin typeface="Arial"/>
                  </a:rPr>
                  <a:t> and </a:t>
                </a:r>
                <a:r>
                  <a:rPr lang="en-IN" sz="2400">
                    <a:solidFill>
                      <a:srgbClr val="111827"/>
                    </a:solidFill>
                    <a:latin typeface="Cambria Math" panose="02040503050406030204" pitchFamily="18" charset="0"/>
                  </a:rPr>
                  <a:t>$(AH)^2+(BH)^2+(CH)^2=7$</a:t>
                </a:r>
                <a:r>
                  <a:rPr sz="2400" b="0">
                    <a:solidFill>
                      <a:srgbClr val="111827"/>
                    </a:solidFill>
                    <a:latin typeface="Arial"/>
                  </a:rPr>
                  <a:t>, find (a) the ratio </a:t>
                </a:r>
                <a:r>
                  <a:rPr lang="en-IN" sz="2400">
                    <a:solidFill>
                      <a:srgbClr val="111827"/>
                    </a:solidFill>
                    <a:latin typeface="Cambria Math" panose="02040503050406030204" pitchFamily="18" charset="0"/>
                  </a:rPr>
                  <a:t>$\frac{\prod\cos A}{\sum\cos^2A}$</a:t>
                </a:r>
                <a:r>
                  <a:rPr sz="2400" b="0">
                    <a:solidFill>
                      <a:srgbClr val="111827"/>
                    </a:solidFill>
                    <a:latin typeface="Arial"/>
                  </a:rPr>
                  <a:t>, (b) the product </a:t>
                </a:r>
                <a:r>
                  <a:rPr lang="en-IN" sz="2400">
                    <a:solidFill>
                      <a:srgbClr val="111827"/>
                    </a:solidFill>
                    <a:latin typeface="Cambria Math" panose="02040503050406030204" pitchFamily="18" charset="0"/>
                  </a:rPr>
                  <a:t>$(HD)(HE)(HF)$</a:t>
                </a:r>
                <a:r>
                  <a:rPr sz="2400" b="0">
                    <a:solidFill>
                      <a:srgbClr val="111827"/>
                    </a:solidFill>
                    <a:latin typeface="Arial"/>
                  </a:rPr>
                  <a:t>, (c) the value of </a:t>
                </a:r>
                <a:r>
                  <a:rPr lang="en-IN" sz="2400">
                    <a:solidFill>
                      <a:srgbClr val="111827"/>
                    </a:solidFill>
                    <a:latin typeface="Cambria Math" panose="02040503050406030204" pitchFamily="18" charset="0"/>
                  </a:rPr>
                  <a:t>$R$</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43703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Orthocentre distances: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oMath>
                </a14:m>
                <a:r>
                  <a:rPr sz="2400" b="0">
                    <a:solidFill>
                      <a:srgbClr val="111827"/>
                    </a:solidFill>
                    <a:latin typeface="Arial"/>
                  </a:rPr>
                  <a:t>, Identity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oMath>
                </a14:m>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5" name="Rectangle 4"/>
              <p:cNvSpPr/>
              <p:nvPr/>
            </p:nvSpPr>
            <p:spPr>
              <a:xfrm>
                <a:off x="731520" y="43703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Orthocentre distances: </a:t>
                </a:r>
                <a:r>
                  <a:rPr lang="en-IN" sz="2400">
                    <a:solidFill>
                      <a:srgbClr val="111827"/>
                    </a:solidFill>
                    <a:latin typeface="Cambria Math" panose="02040503050406030204" pitchFamily="18" charset="0"/>
                  </a:rPr>
                  <a:t>$AH=2R\cos A$</a:t>
                </a:r>
                <a:r>
                  <a:rPr sz="2400" b="0">
                    <a:solidFill>
                      <a:srgbClr val="111827"/>
                    </a:solidFill>
                    <a:latin typeface="Arial"/>
                  </a:rPr>
                  <a:t>, </a:t>
                </a:r>
                <a:r>
                  <a:rPr lang="en-IN" sz="2400">
                    <a:solidFill>
                      <a:srgbClr val="111827"/>
                    </a:solidFill>
                    <a:latin typeface="Cambria Math" panose="02040503050406030204" pitchFamily="18" charset="0"/>
                  </a:rPr>
                  <a:t>$HD=2R\cos B\cos C$</a:t>
                </a:r>
                <a:r>
                  <a:rPr sz="2400" b="0">
                    <a:solidFill>
                      <a:srgbClr val="111827"/>
                    </a:solidFill>
                    <a:latin typeface="Arial"/>
                  </a:rPr>
                  <a:t>, Identity </a:t>
                </a:r>
                <a:r>
                  <a:rPr lang="en-IN" sz="2400">
                    <a:solidFill>
                      <a:srgbClr val="111827"/>
                    </a:solidFill>
                    <a:latin typeface="Cambria Math" panose="02040503050406030204" pitchFamily="18" charset="0"/>
                  </a:rPr>
                  <a:t>$\cos^2A+\cos^2B+\cos^2C=1-2\cos A\cos B\cos 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𝐴</m:t>
                    </m:r>
                  </m:oMath>
                </a14:m>
                <a:r>
                  <a:rPr sz="2400" b="0">
                    <a:solidFill>
                      <a:srgbClr val="78350F"/>
                    </a:solidFill>
                    <a:latin typeface="Arial"/>
                  </a:rPr>
                  <a:t> turns both given conditions into </a:t>
                </a:r>
                <a14:m>
                  <m:oMath xmlns:m="http://schemas.openxmlformats.org/officeDocument/2006/math">
                    <m:r>
                      <a:rPr lang="en-IN" sz="2400" i="1">
                        <a:solidFill>
                          <a:srgbClr val="78350F"/>
                        </a:solidFill>
                        <a:latin typeface="Cambria Math" panose="02040503050406030204" pitchFamily="18" charset="0"/>
                      </a:rPr>
                      <m:t>8</m:t>
                    </m:r>
                    <m:sSup>
                      <m:e>
                        <m:r>
                          <a:rPr lang="en-IN" sz="2400" i="1">
                            <a:solidFill>
                              <a:srgbClr val="78350F"/>
                            </a:solidFill>
                            <a:latin typeface="Cambria Math" panose="02040503050406030204" pitchFamily="18" charset="0"/>
                          </a:rPr>
                          <m:t>𝑅</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4</m:t>
                    </m:r>
                    <m:sSup>
                      <m:e>
                        <m:r>
                          <a:rPr lang="en-IN" sz="2400" i="1">
                            <a:solidFill>
                              <a:srgbClr val="78350F"/>
                            </a:solidFill>
                            <a:latin typeface="Cambria Math" panose="02040503050406030204" pitchFamily="18" charset="0"/>
                          </a:rPr>
                          <m:t>𝑅</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cos</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7</m:t>
                    </m:r>
                  </m:oMath>
                </a14:m>
                <a:r>
                  <a:rPr sz="2400" b="0">
                    <a:solidFill>
                      <a:srgbClr val="78350F"/>
                    </a:solidFill>
                    <a:latin typeface="Arial"/>
                  </a:rPr>
                  <a:t>; the identity </a:t>
                </a:r>
                <a14:m>
                  <m:oMath xmlns:m="http://schemas.openxmlformats.org/officeDocument/2006/math">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cos</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𝐴</m:t>
                    </m:r>
                  </m:oMath>
                </a14:m>
                <a:r>
                  <a:rPr sz="2400" b="0">
                    <a:solidFill>
                      <a:srgbClr val="78350F"/>
                    </a:solidFill>
                    <a:latin typeface="Arial"/>
                  </a:rPr>
                  <a:t> then gives </a:t>
                </a:r>
                <a14:m>
                  <m:oMath xmlns:m="http://schemas.openxmlformats.org/officeDocument/2006/math">
                    <m:r>
                      <a:rPr lang="en-IN" sz="2400" i="1">
                        <a:solidFill>
                          <a:srgbClr val="78350F"/>
                        </a:solidFill>
                        <a:latin typeface="Cambria Math" panose="02040503050406030204" pitchFamily="18" charset="0"/>
                      </a:rPr>
                      <m:t>𝑅</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$AH=2R\cos A$</a:t>
                </a:r>
                <a:r>
                  <a:rPr sz="2400" b="0">
                    <a:solidFill>
                      <a:srgbClr val="78350F"/>
                    </a:solidFill>
                    <a:latin typeface="Arial"/>
                  </a:rPr>
                  <a:t> turns both given conditions into </a:t>
                </a:r>
                <a:r>
                  <a:rPr lang="en-IN" sz="2400">
                    <a:solidFill>
                      <a:srgbClr val="78350F"/>
                    </a:solidFill>
                    <a:latin typeface="Cambria Math" panose="02040503050406030204" pitchFamily="18" charset="0"/>
                  </a:rPr>
                  <a:t>$8R^3\prod\cos A=3$</a:t>
                </a:r>
                <a:r>
                  <a:rPr sz="2400" b="0">
                    <a:solidFill>
                      <a:srgbClr val="78350F"/>
                    </a:solidFill>
                    <a:latin typeface="Arial"/>
                  </a:rPr>
                  <a:t> and </a:t>
                </a:r>
                <a:r>
                  <a:rPr lang="en-IN" sz="2400">
                    <a:solidFill>
                      <a:srgbClr val="78350F"/>
                    </a:solidFill>
                    <a:latin typeface="Cambria Math" panose="02040503050406030204" pitchFamily="18" charset="0"/>
                  </a:rPr>
                  <a:t>$4R^2\sum\cos^2A=7$</a:t>
                </a:r>
                <a:r>
                  <a:rPr sz="2400" b="0">
                    <a:solidFill>
                      <a:srgbClr val="78350F"/>
                    </a:solidFill>
                    <a:latin typeface="Arial"/>
                  </a:rPr>
                  <a:t>; the identity </a:t>
                </a:r>
                <a:r>
                  <a:rPr lang="en-IN" sz="2400">
                    <a:solidFill>
                      <a:srgbClr val="78350F"/>
                    </a:solidFill>
                    <a:latin typeface="Cambria Math" panose="02040503050406030204" pitchFamily="18" charset="0"/>
                  </a:rPr>
                  <a:t>$\sum\cos^2A=1-2\prod\cos A$</a:t>
                </a:r>
                <a:r>
                  <a:rPr sz="2400" b="0">
                    <a:solidFill>
                      <a:srgbClr val="78350F"/>
                    </a:solidFill>
                    <a:latin typeface="Arial"/>
                  </a:rPr>
                  <a:t> then gives </a:t>
                </a:r>
                <a:r>
                  <a:rPr lang="en-IN" sz="2400">
                    <a:solidFill>
                      <a:srgbClr val="78350F"/>
                    </a:solidFill>
                    <a:latin typeface="Cambria Math" panose="02040503050406030204" pitchFamily="18" charset="0"/>
                  </a:rPr>
                  <a:t>$R$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right triangle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𝐻</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oMath>
                </a14:m>
                <a:r>
                  <a:rPr sz="2400" b="0">
                    <a:solidFill>
                      <a:srgbClr val="111827"/>
                    </a:solidFill>
                    <a:latin typeface="Arial"/>
                  </a:rPr>
                  <a:t>; similarly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(1)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(2):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num>
                      <m:den>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14</m:t>
                        </m:r>
                        <m:r>
                          <a:rPr lang="en-IN" sz="2400" i="1">
                            <a:solidFill>
                              <a:srgbClr val="111827"/>
                            </a:solidFill>
                            <a:latin typeface="Cambria Math" panose="02040503050406030204" pitchFamily="18" charset="0"/>
                          </a:rPr>
                          <m:t>𝑅</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oMath>
                </a14:m>
                <a:r>
                  <a:rPr sz="2400" b="0">
                    <a:solidFill>
                      <a:srgbClr val="111827"/>
                    </a:solidFill>
                    <a:latin typeface="Arial"/>
                  </a:rPr>
                  <a:t>; similarly </a:t>
                </a:r>
                <a14:m>
                  <m:oMath xmlns:m="http://schemas.openxmlformats.org/officeDocument/2006/math">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right triangle </a:t>
                </a:r>
                <a:r>
                  <a:rPr lang="en-IN" sz="2400">
                    <a:solidFill>
                      <a:srgbClr val="111827"/>
                    </a:solidFill>
                    <a:latin typeface="Cambria Math" panose="02040503050406030204" pitchFamily="18" charset="0"/>
                  </a:rPr>
                  <a:t>$BDH$</a:t>
                </a:r>
                <a:r>
                  <a:rPr sz="2400" b="0">
                    <a:solidFill>
                      <a:srgbClr val="111827"/>
                    </a:solidFill>
                    <a:latin typeface="Arial"/>
                  </a:rPr>
                  <a:t>: </a:t>
                </a:r>
                <a:r>
                  <a:rPr lang="en-IN" sz="2400">
                    <a:solidFill>
                      <a:srgbClr val="111827"/>
                    </a:solidFill>
                    <a:latin typeface="Cambria Math" panose="02040503050406030204" pitchFamily="18" charset="0"/>
                  </a:rPr>
                  <a:t>$BD=c\cos B$</a:t>
                </a:r>
                <a:r>
                  <a:rPr sz="2400" b="0">
                    <a:solidFill>
                      <a:srgbClr val="111827"/>
                    </a:solidFill>
                    <a:latin typeface="Arial"/>
                  </a:rPr>
                  <a:t> and </a:t>
                </a:r>
                <a:r>
                  <a:rPr lang="en-IN" sz="2400">
                    <a:solidFill>
                      <a:srgbClr val="111827"/>
                    </a:solidFill>
                    <a:latin typeface="Cambria Math" panose="02040503050406030204" pitchFamily="18" charset="0"/>
                  </a:rPr>
                  <a:t>$\angle BHD=C$</a:t>
                </a:r>
                <a:r>
                  <a:rPr sz="2400" b="0">
                    <a:solidFill>
                      <a:srgbClr val="111827"/>
                    </a:solidFill>
                    <a:latin typeface="Arial"/>
                  </a:rPr>
                  <a:t>, so </a:t>
                </a:r>
                <a:r>
                  <a:rPr lang="en-IN" sz="2400">
                    <a:solidFill>
                      <a:srgbClr val="111827"/>
                    </a:solidFill>
                    <a:latin typeface="Cambria Math" panose="02040503050406030204" pitchFamily="18" charset="0"/>
                  </a:rPr>
                  <a:t>$BH=\frac{c\cos B}{\sin C}=2R\cos B$</a:t>
                </a:r>
                <a:r>
                  <a:rPr sz="2400" b="0">
                    <a:solidFill>
                      <a:srgbClr val="111827"/>
                    </a:solidFill>
                    <a:latin typeface="Arial"/>
                  </a:rPr>
                  <a:t>; similarly </a:t>
                </a:r>
                <a:r>
                  <a:rPr lang="en-IN" sz="2400">
                    <a:solidFill>
                      <a:srgbClr val="111827"/>
                    </a:solidFill>
                    <a:latin typeface="Cambria Math" panose="02040503050406030204" pitchFamily="18" charset="0"/>
                  </a:rPr>
                  <a:t>$AH=2R\cos A$</a:t>
                </a:r>
                <a:r>
                  <a:rPr sz="2400" b="0">
                    <a:solidFill>
                      <a:srgbClr val="111827"/>
                    </a:solidFill>
                    <a:latin typeface="Arial"/>
                  </a:rPr>
                  <a:t> and </a:t>
                </a:r>
                <a:r>
                  <a:rPr lang="en-IN" sz="2400">
                    <a:solidFill>
                      <a:srgbClr val="111827"/>
                    </a:solidFill>
                    <a:latin typeface="Cambria Math" panose="02040503050406030204" pitchFamily="18" charset="0"/>
                  </a:rPr>
                  <a:t>$CH=2R\cos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$(AH)(BH)(CH)=3\Rightarrow(2R)^3\cos A\cos B\cos C=3$</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$AH^2+BH^2+CH^2=7\Rightarrow4R^2\left[\cos^2A+\cos^2B+\cos^2C\right]=7$</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(1) </a:t>
                </a:r>
                <a:r>
                  <a:rPr lang="en-IN" sz="2400">
                    <a:solidFill>
                      <a:srgbClr val="111827"/>
                    </a:solidFill>
                    <a:latin typeface="Cambria Math" panose="02040503050406030204" pitchFamily="18" charset="0"/>
                  </a:rPr>
                  <a:t>$\div$</a:t>
                </a:r>
                <a:r>
                  <a:rPr sz="2400" b="0">
                    <a:solidFill>
                      <a:srgbClr val="111827"/>
                    </a:solidFill>
                    <a:latin typeface="Arial"/>
                  </a:rPr>
                  <a:t> (2): </a:t>
                </a:r>
                <a:r>
                  <a:rPr lang="en-IN" sz="2400">
                    <a:solidFill>
                      <a:srgbClr val="111827"/>
                    </a:solidFill>
                    <a:latin typeface="Cambria Math" panose="02040503050406030204" pitchFamily="18" charset="0"/>
                  </a:rPr>
                  <a:t>$\frac{8R^3\prod\cos A}{4R^2\sum\cos^2A}=\frac37$</a:t>
                </a:r>
                <a:r>
                  <a:rPr sz="2400" b="0">
                    <a:solidFill>
                      <a:srgbClr val="111827"/>
                    </a:solidFill>
                    <a:latin typeface="Arial"/>
                  </a:rPr>
                  <a:t>, so </a:t>
                </a:r>
                <a:r>
                  <a:rPr lang="en-IN" sz="2400">
                    <a:solidFill>
                      <a:srgbClr val="111827"/>
                    </a:solidFill>
                    <a:latin typeface="Cambria Math" panose="02040503050406030204" pitchFamily="18" charset="0"/>
                  </a:rPr>
                  <a:t>$\frac{\prod\cos A}{\sum\cos^2A}=\frac3{14R}$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$HD=BD\cot C=\frac{c\cos B\cos C}{\sin C}=2R\cos B\cos C$</a:t>
                </a:r>
                <a:r>
                  <a:rPr sz="2400" b="0">
                    <a:solidFill>
                      <a:srgbClr val="111827"/>
                    </a:solidFill>
                    <a:latin typeface="Arial"/>
                  </a:rPr>
                  <a:t>; similarly </a:t>
                </a:r>
                <a:r>
                  <a:rPr lang="en-IN" sz="2400">
                    <a:solidFill>
                      <a:srgbClr val="111827"/>
                    </a:solidFill>
                    <a:latin typeface="Cambria Math" panose="02040503050406030204" pitchFamily="18" charset="0"/>
                  </a:rPr>
                  <a:t>$HE=2R\cos C\cos A$</a:t>
                </a:r>
                <a:r>
                  <a:rPr sz="2400" b="0">
                    <a:solidFill>
                      <a:srgbClr val="111827"/>
                    </a:solidFill>
                    <a:latin typeface="Arial"/>
                  </a:rPr>
                  <a:t> and </a:t>
                </a:r>
                <a:r>
                  <a:rPr lang="en-IN" sz="2400">
                    <a:solidFill>
                      <a:srgbClr val="111827"/>
                    </a:solidFill>
                    <a:latin typeface="Cambria Math" panose="02040503050406030204" pitchFamily="18" charset="0"/>
                  </a:rPr>
                  <a:t>$HF=2R\cos A\cos 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3</m:t>
                        </m:r>
                      </m:sup>
                    </m:sSup>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3</m:t>
                        </m:r>
                      </m:sup>
                    </m:sSup>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3</m:t>
                                    </m:r>
                                  </m:sup>
                                </m:sSup>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 using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(2) and (1):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and (b)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8</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$(HD)(HE)(HF)=8R^3\cos^2A\cos^2B\cos^2C=8R^3\left[\frac3{8R^3}\right]^2=\frac9{8R^3}$</a:t>
                </a:r>
                <a:r>
                  <a:rPr sz="2400" b="0">
                    <a:solidFill>
                      <a:srgbClr val="111827"/>
                    </a:solidFill>
                    <a:latin typeface="Arial"/>
                  </a:rPr>
                  <a:t>, using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$\cos^2A+\cos^2B=1+\cos(A+B)\cos(A-B)$</a:t>
                </a:r>
                <a:r>
                  <a:rPr sz="2400" b="0">
                    <a:solidFill>
                      <a:srgbClr val="111827"/>
                    </a:solidFill>
                    <a:latin typeface="Arial"/>
                  </a:rPr>
                  <a:t> and </a:t>
                </a:r>
                <a:r>
                  <a:rPr lang="en-IN" sz="2400">
                    <a:solidFill>
                      <a:srgbClr val="111827"/>
                    </a:solidFill>
                    <a:latin typeface="Cambria Math" panose="02040503050406030204" pitchFamily="18" charset="0"/>
                  </a:rPr>
                  <a:t>$\cos C=-\cos(A+B)$</a:t>
                </a:r>
                <a:r>
                  <a:rPr sz="2400" b="0">
                    <a:solidFill>
                      <a:srgbClr val="111827"/>
                    </a:solidFill>
                    <a:latin typeface="Arial"/>
                  </a:rPr>
                  <a:t>, so </a:t>
                </a:r>
                <a:r>
                  <a:rPr lang="en-IN" sz="2400">
                    <a:solidFill>
                      <a:srgbClr val="111827"/>
                    </a:solidFill>
                    <a:latin typeface="Cambria Math" panose="02040503050406030204" pitchFamily="18" charset="0"/>
                  </a:rPr>
                  <a:t>$\sum\cos^2A=1+\cos(A+B)\left[\cos(A-B)+\cos(A+B)\right]=1-2\cos A\cos B\cos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(2) and (1): </a:t>
                </a:r>
                <a:r>
                  <a:rPr lang="en-IN" sz="2400">
                    <a:solidFill>
                      <a:srgbClr val="111827"/>
                    </a:solidFill>
                    <a:latin typeface="Cambria Math" panose="02040503050406030204" pitchFamily="18" charset="0"/>
                  </a:rPr>
                  <a:t>$\frac7{4R^2}=1-2\cdot\frac3{8R^3}=1-\frac3{4R^3}$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r>
                  <a:rPr lang="en-IN" sz="2400">
                    <a:solidFill>
                      <a:srgbClr val="111827"/>
                    </a:solidFill>
                    <a:latin typeface="Cambria Math" panose="02040503050406030204" pitchFamily="18" charset="0"/>
                  </a:rPr>
                  <a:t>$4R^3$</a:t>
                </a:r>
                <a:r>
                  <a:rPr sz="2400" b="0">
                    <a:solidFill>
                      <a:srgbClr val="111827"/>
                    </a:solidFill>
                    <a:latin typeface="Arial"/>
                  </a:rPr>
                  <a:t>: </a:t>
                </a:r>
                <a:r>
                  <a:rPr lang="en-IN" sz="2400">
                    <a:solidFill>
                      <a:srgbClr val="111827"/>
                    </a:solidFill>
                    <a:latin typeface="Cambria Math" panose="02040503050406030204" pitchFamily="18" charset="0"/>
                  </a:rPr>
                  <a:t>$7R=4R^3-3$</a:t>
                </a:r>
                <a:r>
                  <a:rPr sz="2400" b="0">
                    <a:solidFill>
                      <a:srgbClr val="111827"/>
                    </a:solidFill>
                    <a:latin typeface="Arial"/>
                  </a:rPr>
                  <a:t>, so </a:t>
                </a:r>
                <a:r>
                  <a:rPr lang="en-IN" sz="2400">
                    <a:solidFill>
                      <a:srgbClr val="111827"/>
                    </a:solidFill>
                    <a:latin typeface="Cambria Math" panose="02040503050406030204" pitchFamily="18" charset="0"/>
                  </a:rPr>
                  <a:t>$4R^3-7R-3=(2R-3)(2R+1)(R+1)=0$</a:t>
                </a:r>
                <a:r>
                  <a:rPr sz="2400" b="0">
                    <a:solidFill>
                      <a:srgbClr val="111827"/>
                    </a:solidFill>
                    <a:latin typeface="Arial"/>
                  </a:rPr>
                  <a:t>; as </a:t>
                </a:r>
                <a:r>
                  <a:rPr lang="en-IN" sz="2400">
                    <a:solidFill>
                      <a:srgbClr val="111827"/>
                    </a:solidFill>
                    <a:latin typeface="Cambria Math" panose="02040503050406030204" pitchFamily="18" charset="0"/>
                  </a:rPr>
                  <a:t>$R&gt;0$</a:t>
                </a:r>
                <a:r>
                  <a:rPr sz="2400" b="0">
                    <a:solidFill>
                      <a:srgbClr val="111827"/>
                    </a:solidFill>
                    <a:latin typeface="Arial"/>
                  </a:rPr>
                  <a:t>, </a:t>
                </a:r>
                <a:r>
                  <a:rPr lang="en-IN" sz="2400">
                    <a:solidFill>
                      <a:srgbClr val="111827"/>
                    </a:solidFill>
                    <a:latin typeface="Cambria Math" panose="02040503050406030204" pitchFamily="18" charset="0"/>
                  </a:rPr>
                  <a:t>$R=\frac32$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 </a:t>
                </a:r>
                <a:r>
                  <a:rPr lang="en-IN" sz="2400">
                    <a:solidFill>
                      <a:srgbClr val="111827"/>
                    </a:solidFill>
                    <a:latin typeface="Cambria Math" panose="02040503050406030204" pitchFamily="18" charset="0"/>
                  </a:rPr>
                  <a:t>$=\frac3{14\cdot\frac32}=\frac17$</a:t>
                </a:r>
                <a:r>
                  <a:rPr sz="2400" b="0">
                    <a:solidFill>
                      <a:srgbClr val="111827"/>
                    </a:solidFill>
                    <a:latin typeface="Arial"/>
                  </a:rPr>
                  <a:t> and (b) </a:t>
                </a:r>
                <a:r>
                  <a:rPr lang="en-IN" sz="2400">
                    <a:solidFill>
                      <a:srgbClr val="111827"/>
                    </a:solidFill>
                    <a:latin typeface="Cambria Math" panose="02040503050406030204" pitchFamily="18" charset="0"/>
                  </a:rPr>
                  <a:t>$=\frac9{8\cdot\frac{27}8}=\frac13$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14</m:t>
                        </m:r>
                        <m:r>
                          <a:rPr lang="en-IN" sz="2800" i="1">
                            <a:solidFill>
                              <a:srgbClr val="15803D"/>
                            </a:solidFill>
                            <a:latin typeface="Cambria Math" panose="02040503050406030204" pitchFamily="18" charset="0"/>
                          </a:rPr>
                          <m:t>𝑅</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7</m:t>
                        </m:r>
                      </m:den>
                    </m:f>
                  </m:oMath>
                </a14:m>
                <a:r>
                  <a:rPr sz="2800" b="1">
                    <a:solidFill>
                      <a:srgbClr val="15803D"/>
                    </a:solidFill>
                    <a:latin typeface="Arial"/>
                  </a:rPr>
                  <a:t>;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9</m:t>
                        </m:r>
                      </m:num>
                      <m:den>
                        <m:r>
                          <a:rPr lang="en-IN" sz="2800" i="1">
                            <a:solidFill>
                              <a:srgbClr val="15803D"/>
                            </a:solidFill>
                            <a:latin typeface="Cambria Math" panose="02040503050406030204" pitchFamily="18" charset="0"/>
                          </a:rPr>
                          <m:t>8</m:t>
                        </m:r>
                        <m:sSup>
                          <m:e>
                            <m:r>
                              <a:rPr lang="en-IN" sz="2800" i="1">
                                <a:solidFill>
                                  <a:srgbClr val="15803D"/>
                                </a:solidFill>
                                <a:latin typeface="Cambria Math" panose="02040503050406030204" pitchFamily="18" charset="0"/>
                              </a:rPr>
                              <m:t>𝑅</m:t>
                            </m:r>
                          </m:e>
                          <m:sup>
                            <m:r>
                              <a:rPr lang="en-IN" sz="2800" i="1">
                                <a:solidFill>
                                  <a:srgbClr val="15803D"/>
                                </a:solidFill>
                                <a:latin typeface="Cambria Math" panose="02040503050406030204" pitchFamily="18" charset="0"/>
                              </a:rPr>
                              <m:t>3</m:t>
                            </m:r>
                          </m:sup>
                        </m:sSup>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oMath>
                </a14:m>
                <a:r>
                  <a:rPr sz="2800" b="1">
                    <a:solidFill>
                      <a:srgbClr val="15803D"/>
                    </a:solidFill>
                    <a:latin typeface="Arial"/>
                  </a:rPr>
                  <a:t>; (c) </a:t>
                </a:r>
                <a14:m>
                  <m:oMath xmlns:m="http://schemas.openxmlformats.org/officeDocument/2006/math">
                    <m:r>
                      <a:rPr lang="en-IN" sz="2800" i="1">
                        <a:solidFill>
                          <a:srgbClr val="15803D"/>
                        </a:solidFill>
                        <a:latin typeface="Cambria Math" panose="02040503050406030204" pitchFamily="18" charset="0"/>
                      </a:rPr>
                      <m:t>𝑅</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$\frac3{14R}=\frac17$</a:t>
                </a:r>
                <a:r>
                  <a:rPr sz="2800" b="1">
                    <a:solidFill>
                      <a:srgbClr val="15803D"/>
                    </a:solidFill>
                    <a:latin typeface="Arial"/>
                  </a:rPr>
                  <a:t>; (b) </a:t>
                </a:r>
                <a:r>
                  <a:rPr lang="en-IN" sz="2800">
                    <a:solidFill>
                      <a:srgbClr val="15803D"/>
                    </a:solidFill>
                    <a:latin typeface="Cambria Math" panose="02040503050406030204" pitchFamily="18" charset="0"/>
                  </a:rPr>
                  <a:t>$\frac9{8R^3}=\frac13$</a:t>
                </a:r>
                <a:r>
                  <a:rPr sz="2800" b="1">
                    <a:solidFill>
                      <a:srgbClr val="15803D"/>
                    </a:solidFill>
                    <a:latin typeface="Arial"/>
                  </a:rPr>
                  <a:t>; (c) </a:t>
                </a:r>
                <a:r>
                  <a:rPr lang="en-IN" sz="2800">
                    <a:solidFill>
                      <a:srgbClr val="15803D"/>
                    </a:solidFill>
                    <a:latin typeface="Cambria Math" panose="02040503050406030204" pitchFamily="18" charset="0"/>
                  </a:rPr>
                  <a:t>$R=\frac32$</a:t>
                </a:r>
                <a:endParaRPr sz="2800">
                  <a:solidFill>
                    <a:srgbClr val="15803D"/>
                  </a:solidFill>
                </a:endParaRPr>
              </a:p>
            </p:txBody>
          </p:sp>
        </mc:Fallback>
      </mc:AlternateContent>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(b): </a:t>
                </a:r>
                <a14:m>
                  <m:oMath xmlns:m="http://schemas.openxmlformats.org/officeDocument/2006/math">
                    <m:r>
                      <a:rPr lang="en-IN" sz="2400" i="1">
                        <a:solidFill>
                          <a:srgbClr val="78350F"/>
                        </a:solidFill>
                        <a:latin typeface="Cambria Math" panose="02040503050406030204" pitchFamily="18" charset="0"/>
                      </a:rPr>
                      <m:t>𝐻</m:t>
                    </m:r>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𝐻</m:t>
                        </m:r>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𝑅</m:t>
                        </m:r>
                      </m:den>
                    </m:f>
                  </m:oMath>
                </a14:m>
                <a:r>
                  <a:rPr sz="2400" b="0">
                    <a:solidFill>
                      <a:srgbClr val="78350F"/>
                    </a:solidFill>
                    <a:latin typeface="Arial"/>
                  </a:rPr>
                  <a:t>, so the product of the three small segments follows from the given product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𝐻</m:t>
                    </m:r>
                  </m:oMath>
                </a14:m>
                <a:r>
                  <a:rPr sz="2400" b="0">
                    <a:solidFill>
                      <a:srgbClr val="78350F"/>
                    </a:solidFill>
                    <a:latin typeface="Arial"/>
                  </a:rPr>
                  <a:t> without any cosines.</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For (b): </a:t>
                </a:r>
                <a:r>
                  <a:rPr lang="en-IN" sz="2400">
                    <a:solidFill>
                      <a:srgbClr val="78350F"/>
                    </a:solidFill>
                    <a:latin typeface="Cambria Math" panose="02040503050406030204" pitchFamily="18" charset="0"/>
                  </a:rPr>
                  <a:t>$HD=\frac{BH\cdot CH}{2R}$</a:t>
                </a:r>
                <a:r>
                  <a:rPr sz="2400" b="0">
                    <a:solidFill>
                      <a:srgbClr val="78350F"/>
                    </a:solidFill>
                    <a:latin typeface="Arial"/>
                  </a:rPr>
                  <a:t>, so the product of the three small segments follows from the given product </a:t>
                </a:r>
                <a:r>
                  <a:rPr lang="en-IN" sz="2400">
                    <a:solidFill>
                      <a:srgbClr val="78350F"/>
                    </a:solidFill>
                    <a:latin typeface="Cambria Math" panose="02040503050406030204" pitchFamily="18" charset="0"/>
                  </a:rPr>
                  <a:t>$AH\cdot BH\cdot CH$</a:t>
                </a:r>
                <a:r>
                  <a:rPr sz="2400" b="0">
                    <a:solidFill>
                      <a:srgbClr val="78350F"/>
                    </a:solidFill>
                    <a:latin typeface="Arial"/>
                  </a:rPr>
                  <a:t> without any cosines.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𝐻</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oMath>
                </a14:m>
                <a:r>
                  <a:rPr sz="2400" b="0">
                    <a:solidFill>
                      <a:srgbClr val="111827"/>
                    </a:solidFill>
                    <a:latin typeface="Arial"/>
                  </a:rPr>
                  <a:t>; likewise </a:t>
                </a:r>
                <a14:m>
                  <m:oMath xmlns:m="http://schemas.openxmlformats.org/officeDocument/2006/math">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𝐻</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𝐻</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3</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3</m:t>
                            </m:r>
                          </m:sup>
                        </m:sSup>
                      </m:den>
                    </m:f>
                  </m:oMath>
                </a14:m>
                <a:r>
                  <a:rPr sz="2400" b="0">
                    <a:solidFill>
                      <a:srgbClr val="111827"/>
                    </a:solidFill>
                    <a:latin typeface="Arial"/>
                  </a:rPr>
                  <a:t> directly from the given product.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$BH=2R\cos B$</a:t>
                </a:r>
                <a:r>
                  <a:rPr sz="2400" b="0">
                    <a:solidFill>
                      <a:srgbClr val="111827"/>
                    </a:solidFill>
                    <a:latin typeface="Arial"/>
                  </a:rPr>
                  <a:t> and </a:t>
                </a:r>
                <a:r>
                  <a:rPr lang="en-IN" sz="2400">
                    <a:solidFill>
                      <a:srgbClr val="111827"/>
                    </a:solidFill>
                    <a:latin typeface="Cambria Math" panose="02040503050406030204" pitchFamily="18" charset="0"/>
                  </a:rPr>
                  <a:t>$CH=2R\cos C$</a:t>
                </a:r>
                <a:r>
                  <a:rPr sz="2400" b="0">
                    <a:solidFill>
                      <a:srgbClr val="111827"/>
                    </a:solidFill>
                    <a:latin typeface="Arial"/>
                  </a:rPr>
                  <a:t>, so </a:t>
                </a:r>
                <a:r>
                  <a:rPr lang="en-IN" sz="2400">
                    <a:solidFill>
                      <a:srgbClr val="111827"/>
                    </a:solidFill>
                    <a:latin typeface="Cambria Math" panose="02040503050406030204" pitchFamily="18" charset="0"/>
                  </a:rPr>
                  <a:t>$HD=2R\cos B\cos C=\frac{BH\cdot CH}{2R}$</a:t>
                </a:r>
                <a:r>
                  <a:rPr sz="2400" b="0">
                    <a:solidFill>
                      <a:srgbClr val="111827"/>
                    </a:solidFill>
                    <a:latin typeface="Arial"/>
                  </a:rPr>
                  <a:t>; likewise </a:t>
                </a:r>
                <a:r>
                  <a:rPr lang="en-IN" sz="2400">
                    <a:solidFill>
                      <a:srgbClr val="111827"/>
                    </a:solidFill>
                    <a:latin typeface="Cambria Math" panose="02040503050406030204" pitchFamily="18" charset="0"/>
                  </a:rPr>
                  <a:t>$HE=\frac{CH\cdot AH}{2R}$</a:t>
                </a:r>
                <a:r>
                  <a:rPr sz="2400" b="0">
                    <a:solidFill>
                      <a:srgbClr val="111827"/>
                    </a:solidFill>
                    <a:latin typeface="Arial"/>
                  </a:rPr>
                  <a:t> and </a:t>
                </a:r>
                <a:r>
                  <a:rPr lang="en-IN" sz="2400">
                    <a:solidFill>
                      <a:srgbClr val="111827"/>
                    </a:solidFill>
                    <a:latin typeface="Cambria Math" panose="02040503050406030204" pitchFamily="18" charset="0"/>
                  </a:rPr>
                  <a:t>$HF=\frac{AH\cdot BH}{2R}$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$(HD)(HE)(HF)=\frac{(AH\cdot BH\cdot CH)^2}{(2R)^3}=\frac{3^2}{8R^3}=\frac9{8R^3}$</a:t>
                </a:r>
                <a:r>
                  <a:rPr sz="2400" b="0">
                    <a:solidFill>
                      <a:srgbClr val="111827"/>
                    </a:solidFill>
                    <a:latin typeface="Arial"/>
                  </a:rPr>
                  <a:t> directly from the given product.</a:t>
                </a:r>
                <a:endParaRPr sz="2400">
                  <a:solidFill>
                    <a:srgbClr val="111827"/>
                  </a:solidFill>
                </a:endParaRPr>
              </a:p>
            </p:txBody>
          </p:sp>
        </mc:Fallback>
      </mc:AlternateContent>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(from the main solution) this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27</m:t>
                            </m:r>
                          </m:num>
                          <m:den>
                            <m:r>
                              <a:rPr lang="en-IN" sz="2400" i="1">
                                <a:solidFill>
                                  <a:srgbClr val="111827"/>
                                </a:solidFill>
                                <a:latin typeface="Cambria Math" panose="02040503050406030204" pitchFamily="18" charset="0"/>
                              </a:rPr>
                              <m:t>8</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$R=\frac32$</a:t>
                </a:r>
                <a:r>
                  <a:rPr sz="2400" b="0">
                    <a:solidFill>
                      <a:srgbClr val="111827"/>
                    </a:solidFill>
                    <a:latin typeface="Arial"/>
                  </a:rPr>
                  <a:t> (from the main solution) this is </a:t>
                </a:r>
                <a:r>
                  <a:rPr lang="en-IN" sz="2400">
                    <a:solidFill>
                      <a:srgbClr val="111827"/>
                    </a:solidFill>
                    <a:latin typeface="Cambria Math" panose="02040503050406030204" pitchFamily="18" charset="0"/>
                  </a:rPr>
                  <a:t>$\frac{9}{8\cdot\frac{27}8}=\frac13$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14</m:t>
                        </m:r>
                        <m:r>
                          <a:rPr lang="en-IN" sz="2800" i="1">
                            <a:solidFill>
                              <a:srgbClr val="15803D"/>
                            </a:solidFill>
                            <a:latin typeface="Cambria Math" panose="02040503050406030204" pitchFamily="18" charset="0"/>
                          </a:rPr>
                          <m:t>𝑅</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7</m:t>
                        </m:r>
                      </m:den>
                    </m:f>
                  </m:oMath>
                </a14:m>
                <a:r>
                  <a:rPr sz="2800" b="1">
                    <a:solidFill>
                      <a:srgbClr val="15803D"/>
                    </a:solidFill>
                    <a:latin typeface="Arial"/>
                  </a:rPr>
                  <a:t>;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9</m:t>
                        </m:r>
                      </m:num>
                      <m:den>
                        <m:r>
                          <a:rPr lang="en-IN" sz="2800" i="1">
                            <a:solidFill>
                              <a:srgbClr val="15803D"/>
                            </a:solidFill>
                            <a:latin typeface="Cambria Math" panose="02040503050406030204" pitchFamily="18" charset="0"/>
                          </a:rPr>
                          <m:t>8</m:t>
                        </m:r>
                        <m:sSup>
                          <m:e>
                            <m:r>
                              <a:rPr lang="en-IN" sz="2800" i="1">
                                <a:solidFill>
                                  <a:srgbClr val="15803D"/>
                                </a:solidFill>
                                <a:latin typeface="Cambria Math" panose="02040503050406030204" pitchFamily="18" charset="0"/>
                              </a:rPr>
                              <m:t>𝑅</m:t>
                            </m:r>
                          </m:e>
                          <m:sup>
                            <m:r>
                              <a:rPr lang="en-IN" sz="2800" i="1">
                                <a:solidFill>
                                  <a:srgbClr val="15803D"/>
                                </a:solidFill>
                                <a:latin typeface="Cambria Math" panose="02040503050406030204" pitchFamily="18" charset="0"/>
                              </a:rPr>
                              <m:t>3</m:t>
                            </m:r>
                          </m:sup>
                        </m:sSup>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3</m:t>
                        </m:r>
                      </m:den>
                    </m:f>
                  </m:oMath>
                </a14:m>
                <a:r>
                  <a:rPr sz="2800" b="1">
                    <a:solidFill>
                      <a:srgbClr val="15803D"/>
                    </a:solidFill>
                    <a:latin typeface="Arial"/>
                  </a:rPr>
                  <a:t>; (c) </a:t>
                </a:r>
                <a14:m>
                  <m:oMath xmlns:m="http://schemas.openxmlformats.org/officeDocument/2006/math">
                    <m:r>
                      <a:rPr lang="en-IN" sz="2800" i="1">
                        <a:solidFill>
                          <a:srgbClr val="15803D"/>
                        </a:solidFill>
                        <a:latin typeface="Cambria Math" panose="02040503050406030204" pitchFamily="18" charset="0"/>
                      </a:rPr>
                      <m:t>𝑅</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$\frac3{14R}=\frac17$</a:t>
                </a:r>
                <a:r>
                  <a:rPr sz="2800" b="1">
                    <a:solidFill>
                      <a:srgbClr val="15803D"/>
                    </a:solidFill>
                    <a:latin typeface="Arial"/>
                  </a:rPr>
                  <a:t>; (b) </a:t>
                </a:r>
                <a:r>
                  <a:rPr lang="en-IN" sz="2800">
                    <a:solidFill>
                      <a:srgbClr val="15803D"/>
                    </a:solidFill>
                    <a:latin typeface="Cambria Math" panose="02040503050406030204" pitchFamily="18" charset="0"/>
                  </a:rPr>
                  <a:t>$\frac9{8R^3}=\frac13$</a:t>
                </a:r>
                <a:r>
                  <a:rPr sz="2800" b="1">
                    <a:solidFill>
                      <a:srgbClr val="15803D"/>
                    </a:solidFill>
                    <a:latin typeface="Arial"/>
                  </a:rPr>
                  <a:t>; (c) </a:t>
                </a:r>
                <a:r>
                  <a:rPr lang="en-IN" sz="2800">
                    <a:solidFill>
                      <a:srgbClr val="15803D"/>
                    </a:solidFill>
                    <a:latin typeface="Cambria Math" panose="02040503050406030204" pitchFamily="18" charset="0"/>
                  </a:rPr>
                  <a:t>$R=\frac32$</a:t>
                </a:r>
                <a:endParaRPr sz="2800">
                  <a:solidFill>
                    <a:srgbClr val="15803D"/>
                  </a:solidFill>
                </a:endParaRPr>
              </a:p>
            </p:txBody>
          </p:sp>
        </mc:Fallback>
      </mc:AlternateContent>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Orthocentre distances in an acute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𝐻</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oMath>
                </a14:m>
                <a:r>
                  <a:rPr sz="2400" b="0">
                    <a:solidFill>
                      <a:srgbClr val="111827"/>
                    </a:solidFill>
                    <a:latin typeface="Arial"/>
                  </a:rPr>
                  <a:t> (power of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oMath>
                </a14:m>
                <a:r>
                  <a:rPr sz="2400" b="0">
                    <a:solidFill>
                      <a:srgbClr val="111827"/>
                    </a:solidFill>
                    <a:latin typeface="Arial"/>
                  </a:rPr>
                  <a:t> whenever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e>
                    </m:d>
                  </m:oMath>
                </a14:m>
                <a:r>
                  <a:rPr sz="2400" b="0">
                    <a:solidFill>
                      <a:srgbClr val="111827"/>
                    </a:solidFill>
                    <a:latin typeface="Arial"/>
                  </a:rPr>
                  <a:t>; check with a unit equilateral triangle: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Orthocentre distances in an acute triangle: </a:t>
                </a:r>
                <a:r>
                  <a:rPr lang="en-IN" sz="2400">
                    <a:solidFill>
                      <a:srgbClr val="111827"/>
                    </a:solidFill>
                    <a:latin typeface="Cambria Math" panose="02040503050406030204" pitchFamily="18" charset="0"/>
                  </a:rPr>
                  <a:t>$AH=2R\cos A$</a:t>
                </a:r>
                <a:r>
                  <a:rPr sz="2400" b="0">
                    <a:solidFill>
                      <a:srgbClr val="111827"/>
                    </a:solidFill>
                    <a:latin typeface="Arial"/>
                  </a:rPr>
                  <a:t>, </a:t>
                </a:r>
                <a:r>
                  <a:rPr lang="en-IN" sz="2400">
                    <a:solidFill>
                      <a:srgbClr val="111827"/>
                    </a:solidFill>
                    <a:latin typeface="Cambria Math" panose="02040503050406030204" pitchFamily="18" charset="0"/>
                  </a:rPr>
                  <a:t>$HD=2R\cos B\cos C$</a:t>
                </a:r>
                <a:r>
                  <a:rPr sz="2400" b="0">
                    <a:solidFill>
                      <a:srgbClr val="111827"/>
                    </a:solidFill>
                    <a:latin typeface="Arial"/>
                  </a:rPr>
                  <a:t>, and </a:t>
                </a:r>
                <a:r>
                  <a:rPr lang="en-IN" sz="2400">
                    <a:solidFill>
                      <a:srgbClr val="111827"/>
                    </a:solidFill>
                    <a:latin typeface="Cambria Math" panose="02040503050406030204" pitchFamily="18" charset="0"/>
                  </a:rPr>
                  <a:t>$AH\cdot HD=BH\cdot HE=CH\cdot HF=4R^2\cos A\cos B\cos C$</a:t>
                </a:r>
                <a:r>
                  <a:rPr sz="2400" b="0">
                    <a:solidFill>
                      <a:srgbClr val="111827"/>
                    </a:solidFill>
                    <a:latin typeface="Arial"/>
                  </a:rPr>
                  <a:t> (power of </a:t>
                </a:r>
                <a:r>
                  <a:rPr lang="en-IN" sz="2400">
                    <a:solidFill>
                      <a:srgbClr val="111827"/>
                    </a:solidFill>
                    <a:latin typeface="Cambria Math" panose="02040503050406030204" pitchFamily="18" charset="0"/>
                  </a:rPr>
                  <a:t>$H$</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$\cos^2A+\cos^2B+\cos^2C=1-2\cos A\cos B\cos C$</a:t>
                </a:r>
                <a:r>
                  <a:rPr sz="2400" b="0">
                    <a:solidFill>
                      <a:srgbClr val="111827"/>
                    </a:solidFill>
                    <a:latin typeface="Arial"/>
                  </a:rPr>
                  <a:t> whenever </a:t>
                </a:r>
                <a:r>
                  <a:rPr lang="en-IN" sz="2400">
                    <a:solidFill>
                      <a:srgbClr val="111827"/>
                    </a:solidFill>
                    <a:latin typeface="Cambria Math" panose="02040503050406030204" pitchFamily="18" charset="0"/>
                  </a:rPr>
                  <a:t>$A+B+C=\pi$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$AH^2+BH^2+CH^2=12R^2-\left(a^2+b^2+c^2\right)$</a:t>
                </a:r>
                <a:r>
                  <a:rPr sz="2400" b="0">
                    <a:solidFill>
                      <a:srgbClr val="111827"/>
                    </a:solidFill>
                    <a:latin typeface="Arial"/>
                  </a:rPr>
                  <a:t>; check with a unit equilateral triangle: </a:t>
                </a:r>
                <a:r>
                  <a:rPr lang="en-IN" sz="2400">
                    <a:solidFill>
                      <a:srgbClr val="111827"/>
                    </a:solidFill>
                    <a:latin typeface="Cambria Math" panose="02040503050406030204" pitchFamily="18" charset="0"/>
                  </a:rPr>
                  <a:t>$R=\frac1{\sqrt3}$</a:t>
                </a:r>
                <a:r>
                  <a:rPr sz="2400" b="0">
                    <a:solidFill>
                      <a:srgbClr val="111827"/>
                    </a:solidFill>
                    <a:latin typeface="Arial"/>
                  </a:rPr>
                  <a:t>, sum </a:t>
                </a:r>
                <a:r>
                  <a:rPr lang="en-IN" sz="2400">
                    <a:solidFill>
                      <a:srgbClr val="111827"/>
                    </a:solidFill>
                    <a:latin typeface="Cambria Math" panose="02040503050406030204" pitchFamily="18" charset="0"/>
                  </a:rPr>
                  <a:t>$=1=4-3$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178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m:rPr>
                        <m:sty m:val="p"/>
                      </m:rPr>
                      <a:rPr lang="en-IN" sz="2400">
                        <a:solidFill>
                          <a:srgbClr val="111827"/>
                        </a:solidFill>
                        <a:latin typeface="Cambria Math" panose="02040503050406030204" pitchFamily="18" charset="0"/>
                      </a:rPr>
                      <m:t>Δ</m:t>
                    </m:r>
                  </m:oMath>
                </a14:m>
                <a:r>
                  <a:rPr sz="2400" b="0">
                    <a:solidFill>
                      <a:srgbClr val="111827"/>
                    </a:solidFill>
                    <a:latin typeface="Arial"/>
                  </a:rPr>
                  <a:t> is the area of a triangle with side lengths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then show that </a:t>
                </a: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e>
                    </m:rad>
                  </m:oMath>
                </a14:m>
                <a:r>
                  <a:rPr sz="2400" b="0">
                    <a:solidFill>
                      <a:srgbClr val="111827"/>
                    </a:solidFill>
                    <a:latin typeface="Arial"/>
                  </a:rPr>
                  <a:t>. Also show that equality occurs in the above inequality if and only 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1178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$\Delta$</a:t>
                </a:r>
                <a:r>
                  <a:rPr sz="2400" b="0">
                    <a:solidFill>
                      <a:srgbClr val="111827"/>
                    </a:solidFill>
                    <a:latin typeface="Arial"/>
                  </a:rPr>
                  <a:t> is the area of a triangle with side lengths </a:t>
                </a:r>
                <a:r>
                  <a:rPr lang="en-IN" sz="2400">
                    <a:solidFill>
                      <a:srgbClr val="111827"/>
                    </a:solidFill>
                    <a:latin typeface="Cambria Math" panose="02040503050406030204" pitchFamily="18" charset="0"/>
                  </a:rPr>
                  <a:t>$a,b,c$</a:t>
                </a:r>
                <a:r>
                  <a:rPr sz="2400" b="0">
                    <a:solidFill>
                      <a:srgbClr val="111827"/>
                    </a:solidFill>
                    <a:latin typeface="Arial"/>
                  </a:rPr>
                  <a:t>, then show that </a:t>
                </a:r>
                <a:r>
                  <a:rPr lang="en-IN" sz="2400">
                    <a:solidFill>
                      <a:srgbClr val="111827"/>
                    </a:solidFill>
                    <a:latin typeface="Cambria Math" panose="02040503050406030204" pitchFamily="18" charset="0"/>
                  </a:rPr>
                  <a:t>$\Delta\le\frac14\sqrt{(a+b+c)abc}$</a:t>
                </a:r>
                <a:r>
                  <a:rPr sz="2400" b="0">
                    <a:solidFill>
                      <a:srgbClr val="111827"/>
                    </a:solidFill>
                    <a:latin typeface="Arial"/>
                  </a:rPr>
                  <a:t>. Also show that equality occurs in the above inequality if and only if </a:t>
                </a:r>
                <a:r>
                  <a:rPr lang="en-IN" sz="2400">
                    <a:solidFill>
                      <a:srgbClr val="111827"/>
                    </a:solidFill>
                    <a:latin typeface="Cambria Math" panose="02040503050406030204" pitchFamily="18" charset="0"/>
                  </a:rPr>
                  <a:t>$a=b=c$</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62661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Heron's formula and A.M.-G.M. inequality (Ravi substitution)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Heron's formula reduces the claim to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𝑐</m:t>
                        </m:r>
                      </m:num>
                      <m:den>
                        <m:r>
                          <a:rPr lang="en-IN" sz="2400" i="1">
                            <a:solidFill>
                              <a:srgbClr val="78350F"/>
                            </a:solidFill>
                            <a:latin typeface="Cambria Math" panose="02040503050406030204" pitchFamily="18" charset="0"/>
                          </a:rPr>
                          <m:t>8</m:t>
                        </m:r>
                      </m:den>
                    </m:f>
                  </m:oMath>
                </a14:m>
                <a:r>
                  <a:rPr sz="2400" b="0">
                    <a:solidFill>
                      <a:srgbClr val="78350F"/>
                    </a:solidFill>
                    <a:latin typeface="Arial"/>
                  </a:rPr>
                  <a:t>, which is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r>
                      <a:rPr lang="en-IN" sz="2400" i="1">
                        <a:solidFill>
                          <a:srgbClr val="78350F"/>
                        </a:solidFill>
                        <a:latin typeface="Cambria Math" panose="02040503050406030204" pitchFamily="18" charset="0"/>
                      </a:rPr>
                      <m:t>𝑥</m:t>
                    </m:r>
                    <m:r>
                      <a:rPr lang="en-IN" sz="2400" i="1">
                        <a:solidFill>
                          <a:srgbClr val="78350F"/>
                        </a:solidFill>
                        <a:latin typeface="Cambria Math" panose="02040503050406030204" pitchFamily="18" charset="0"/>
                      </a:rPr>
                      <m:t>𝑦</m:t>
                    </m:r>
                    <m:r>
                      <a:rPr lang="en-IN" sz="2400" i="1">
                        <a:solidFill>
                          <a:srgbClr val="78350F"/>
                        </a:solidFill>
                        <a:latin typeface="Cambria Math" panose="02040503050406030204" pitchFamily="18" charset="0"/>
                      </a:rPr>
                      <m:t>𝑧</m:t>
                    </m:r>
                  </m:oMath>
                </a14:m>
                <a:r>
                  <a:rPr sz="2400" b="0">
                    <a:solidFill>
                      <a:srgbClr val="78350F"/>
                    </a:solidFill>
                    <a:latin typeface="Arial"/>
                  </a:rPr>
                  <a:t> for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oMath>
                </a14:m>
                <a:r>
                  <a:rPr sz="2400" b="0">
                    <a:solidFill>
                      <a:srgbClr val="78350F"/>
                    </a:solidFill>
                    <a:latin typeface="Arial"/>
                  </a:rPr>
                  <a:t> etc.</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Heron's formula reduces the claim to </a:t>
                </a:r>
                <a:r>
                  <a:rPr lang="en-IN" sz="2400">
                    <a:solidFill>
                      <a:srgbClr val="78350F"/>
                    </a:solidFill>
                    <a:latin typeface="Cambria Math" panose="02040503050406030204" pitchFamily="18" charset="0"/>
                  </a:rPr>
                  <a:t>$(s-a)(s-b)(s-c)\le\frac{abc}8$</a:t>
                </a:r>
                <a:r>
                  <a:rPr sz="2400" b="0">
                    <a:solidFill>
                      <a:srgbClr val="78350F"/>
                    </a:solidFill>
                    <a:latin typeface="Arial"/>
                  </a:rPr>
                  <a:t>, which is </a:t>
                </a:r>
                <a:r>
                  <a:rPr lang="en-IN" sz="2400">
                    <a:solidFill>
                      <a:srgbClr val="78350F"/>
                    </a:solidFill>
                    <a:latin typeface="Cambria Math" panose="02040503050406030204" pitchFamily="18" charset="0"/>
                  </a:rPr>
                  <a:t>$(x+y)(y+z)(z+x)\ge8xyz$</a:t>
                </a:r>
                <a:r>
                  <a:rPr sz="2400" b="0">
                    <a:solidFill>
                      <a:srgbClr val="78350F"/>
                    </a:solidFill>
                    <a:latin typeface="Arial"/>
                  </a:rPr>
                  <a:t> for </a:t>
                </a:r>
                <a:r>
                  <a:rPr lang="en-IN" sz="2400">
                    <a:solidFill>
                      <a:srgbClr val="78350F"/>
                    </a:solidFill>
                    <a:latin typeface="Cambria Math" panose="02040503050406030204" pitchFamily="18" charset="0"/>
                  </a:rPr>
                  <a:t>$x=s-a$</a:t>
                </a:r>
                <a:r>
                  <a:rPr sz="2400" b="0">
                    <a:solidFill>
                      <a:srgbClr val="78350F"/>
                    </a:solidFill>
                    <a:latin typeface="Arial"/>
                  </a:rPr>
                  <a:t> etc.</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prove: </a:t>
                </a:r>
                <a14:m>
                  <m:oMath xmlns:m="http://schemas.openxmlformats.org/officeDocument/2006/math">
                    <m:r>
                      <a:rPr lang="en-IN" sz="2400" i="1">
                        <a:solidFill>
                          <a:srgbClr val="111827"/>
                        </a:solidFill>
                        <a:latin typeface="Cambria Math" panose="02040503050406030204" pitchFamily="18" charset="0"/>
                      </a:rPr>
                      <m:t>16</m:t>
                    </m:r>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By Heron, </a:t>
                </a:r>
                <a14:m>
                  <m:oMath xmlns:m="http://schemas.openxmlformats.org/officeDocument/2006/math">
                    <m:r>
                      <a:rPr lang="en-IN" sz="2400" i="1">
                        <a:solidFill>
                          <a:srgbClr val="111827"/>
                        </a:solidFill>
                        <a:latin typeface="Cambria Math" panose="02040503050406030204" pitchFamily="18" charset="0"/>
                      </a:rPr>
                      <m:t>16</m:t>
                    </m:r>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it suffices to show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(all positive).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G.M.: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e>
                    </m:rad>
                  </m:oMath>
                </a14:m>
                <a:r>
                  <a:rPr sz="2400" b="0">
                    <a:solidFill>
                      <a:srgbClr val="111827"/>
                    </a:solidFill>
                    <a:latin typeface="Arial"/>
                  </a:rPr>
                  <a:t> ...(i),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e>
                    </m:rad>
                  </m:oMath>
                </a14:m>
                <a:r>
                  <a:rPr sz="2400" b="0">
                    <a:solidFill>
                      <a:srgbClr val="111827"/>
                    </a:solidFill>
                    <a:latin typeface="Arial"/>
                  </a:rPr>
                  <a:t> ...(ii),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𝑧</m:t>
                        </m:r>
                        <m:r>
                          <a:rPr lang="en-IN" sz="2400" i="1">
                            <a:solidFill>
                              <a:srgbClr val="111827"/>
                            </a:solidFill>
                            <a:latin typeface="Cambria Math" panose="02040503050406030204" pitchFamily="18" charset="0"/>
                          </a:rPr>
                          <m:t>𝑥</m:t>
                        </m:r>
                      </m:e>
                    </m:rad>
                  </m:oMath>
                </a14:m>
                <a:r>
                  <a:rPr sz="2400" b="0">
                    <a:solidFill>
                      <a:srgbClr val="111827"/>
                    </a:solidFill>
                    <a:latin typeface="Arial"/>
                  </a:rPr>
                  <a:t> ...(iii).</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prove: </a:t>
                </a:r>
                <a:r>
                  <a:rPr lang="en-IN" sz="2400">
                    <a:solidFill>
                      <a:srgbClr val="111827"/>
                    </a:solidFill>
                    <a:latin typeface="Cambria Math" panose="02040503050406030204" pitchFamily="18" charset="0"/>
                  </a:rPr>
                  <a:t>$16\Delta^2\le2s\cdot abc$</a:t>
                </a:r>
                <a:r>
                  <a:rPr sz="2400" b="0">
                    <a:solidFill>
                      <a:srgbClr val="111827"/>
                    </a:solidFill>
                    <a:latin typeface="Arial"/>
                  </a:rPr>
                  <a:t>, where </a:t>
                </a:r>
                <a:r>
                  <a:rPr lang="en-IN" sz="2400">
                    <a:solidFill>
                      <a:srgbClr val="111827"/>
                    </a:solidFill>
                    <a:latin typeface="Cambria Math" panose="02040503050406030204" pitchFamily="18" charset="0"/>
                  </a:rPr>
                  <a:t>$2s=a+b+c$</a:t>
                </a:r>
                <a:r>
                  <a:rPr sz="2400" b="0">
                    <a:solidFill>
                      <a:srgbClr val="111827"/>
                    </a:solidFill>
                    <a:latin typeface="Arial"/>
                  </a:rPr>
                  <a:t>. By Heron, </a:t>
                </a:r>
                <a:r>
                  <a:rPr lang="en-IN" sz="2400">
                    <a:solidFill>
                      <a:srgbClr val="111827"/>
                    </a:solidFill>
                    <a:latin typeface="Cambria Math" panose="02040503050406030204" pitchFamily="18" charset="0"/>
                  </a:rPr>
                  <a:t>$16\Delta^2=16s(s-a)(s-b)(s-c)$</a:t>
                </a:r>
                <a:r>
                  <a:rPr sz="2400" b="0">
                    <a:solidFill>
                      <a:srgbClr val="111827"/>
                    </a:solidFill>
                    <a:latin typeface="Arial"/>
                  </a:rPr>
                  <a:t>, so it suffices to show </a:t>
                </a:r>
                <a:r>
                  <a:rPr lang="en-IN" sz="2400">
                    <a:solidFill>
                      <a:srgbClr val="111827"/>
                    </a:solidFill>
                    <a:latin typeface="Cambria Math" panose="02040503050406030204" pitchFamily="18" charset="0"/>
                  </a:rPr>
                  <a:t>$(s-a)(s-b)(s-c)\le\frac{abc}8$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$s-a=x$</a:t>
                </a:r>
                <a:r>
                  <a:rPr sz="2400" b="0">
                    <a:solidFill>
                      <a:srgbClr val="111827"/>
                    </a:solidFill>
                    <a:latin typeface="Arial"/>
                  </a:rPr>
                  <a:t>, </a:t>
                </a:r>
                <a:r>
                  <a:rPr lang="en-IN" sz="2400">
                    <a:solidFill>
                      <a:srgbClr val="111827"/>
                    </a:solidFill>
                    <a:latin typeface="Cambria Math" panose="02040503050406030204" pitchFamily="18" charset="0"/>
                  </a:rPr>
                  <a:t>$s-b=y$</a:t>
                </a:r>
                <a:r>
                  <a:rPr sz="2400" b="0">
                    <a:solidFill>
                      <a:srgbClr val="111827"/>
                    </a:solidFill>
                    <a:latin typeface="Arial"/>
                  </a:rPr>
                  <a:t>, </a:t>
                </a:r>
                <a:r>
                  <a:rPr lang="en-IN" sz="2400">
                    <a:solidFill>
                      <a:srgbClr val="111827"/>
                    </a:solidFill>
                    <a:latin typeface="Cambria Math" panose="02040503050406030204" pitchFamily="18" charset="0"/>
                  </a:rPr>
                  <a:t>$s-c=z$</a:t>
                </a:r>
                <a:r>
                  <a:rPr sz="2400" b="0">
                    <a:solidFill>
                      <a:srgbClr val="111827"/>
                    </a:solidFill>
                    <a:latin typeface="Arial"/>
                  </a:rPr>
                  <a:t> (all positive). Then </a:t>
                </a:r>
                <a:r>
                  <a:rPr lang="en-IN" sz="2400">
                    <a:solidFill>
                      <a:srgbClr val="111827"/>
                    </a:solidFill>
                    <a:latin typeface="Cambria Math" panose="02040503050406030204" pitchFamily="18" charset="0"/>
                  </a:rPr>
                  <a:t>$x+y=c$</a:t>
                </a:r>
                <a:r>
                  <a:rPr sz="2400" b="0">
                    <a:solidFill>
                      <a:srgbClr val="111827"/>
                    </a:solidFill>
                    <a:latin typeface="Arial"/>
                  </a:rPr>
                  <a:t>, </a:t>
                </a:r>
                <a:r>
                  <a:rPr lang="en-IN" sz="2400">
                    <a:solidFill>
                      <a:srgbClr val="111827"/>
                    </a:solidFill>
                    <a:latin typeface="Cambria Math" panose="02040503050406030204" pitchFamily="18" charset="0"/>
                  </a:rPr>
                  <a:t>$y+z=a$</a:t>
                </a:r>
                <a:r>
                  <a:rPr sz="2400" b="0">
                    <a:solidFill>
                      <a:srgbClr val="111827"/>
                    </a:solidFill>
                    <a:latin typeface="Arial"/>
                  </a:rPr>
                  <a:t>, </a:t>
                </a:r>
                <a:r>
                  <a:rPr lang="en-IN" sz="2400">
                    <a:solidFill>
                      <a:srgbClr val="111827"/>
                    </a:solidFill>
                    <a:latin typeface="Cambria Math" panose="02040503050406030204" pitchFamily="18" charset="0"/>
                  </a:rPr>
                  <a:t>$z+x=b$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 </a:t>
                </a:r>
                <a:r>
                  <a:rPr lang="en-IN" sz="2400">
                    <a:solidFill>
                      <a:srgbClr val="111827"/>
                    </a:solidFill>
                    <a:latin typeface="Cambria Math" panose="02040503050406030204" pitchFamily="18" charset="0"/>
                  </a:rPr>
                  <a:t>$\ge$</a:t>
                </a:r>
                <a:r>
                  <a:rPr sz="2400" b="0">
                    <a:solidFill>
                      <a:srgbClr val="111827"/>
                    </a:solidFill>
                    <a:latin typeface="Arial"/>
                  </a:rPr>
                  <a:t> G.M.: </a:t>
                </a:r>
                <a:r>
                  <a:rPr lang="en-IN" sz="2400">
                    <a:solidFill>
                      <a:srgbClr val="111827"/>
                    </a:solidFill>
                    <a:latin typeface="Cambria Math" panose="02040503050406030204" pitchFamily="18" charset="0"/>
                  </a:rPr>
                  <a:t>$x+y\ge2\sqrt{xy}$</a:t>
                </a:r>
                <a:r>
                  <a:rPr sz="2400" b="0">
                    <a:solidFill>
                      <a:srgbClr val="111827"/>
                    </a:solidFill>
                    <a:latin typeface="Arial"/>
                  </a:rPr>
                  <a:t> ...(i), </a:t>
                </a:r>
                <a:r>
                  <a:rPr lang="en-IN" sz="2400">
                    <a:solidFill>
                      <a:srgbClr val="111827"/>
                    </a:solidFill>
                    <a:latin typeface="Cambria Math" panose="02040503050406030204" pitchFamily="18" charset="0"/>
                  </a:rPr>
                  <a:t>$y+z\ge2\sqrt{yz}$</a:t>
                </a:r>
                <a:r>
                  <a:rPr sz="2400" b="0">
                    <a:solidFill>
                      <a:srgbClr val="111827"/>
                    </a:solidFill>
                    <a:latin typeface="Arial"/>
                  </a:rPr>
                  <a:t> ...(ii), </a:t>
                </a:r>
                <a:r>
                  <a:rPr lang="en-IN" sz="2400">
                    <a:solidFill>
                      <a:srgbClr val="111827"/>
                    </a:solidFill>
                    <a:latin typeface="Cambria Math" panose="02040503050406030204" pitchFamily="18" charset="0"/>
                  </a:rPr>
                  <a:t>$z+x\ge2\sqrt{zx}$</a:t>
                </a:r>
                <a:r>
                  <a:rPr sz="2400" b="0">
                    <a:solidFill>
                      <a:srgbClr val="111827"/>
                    </a:solidFill>
                    <a:latin typeface="Arial"/>
                  </a:rPr>
                  <a:t> ...(iii).</a:t>
                </a:r>
                <a:endParaRPr sz="2400">
                  <a:solidFill>
                    <a:srgbClr val="111827"/>
                  </a:solidFill>
                </a:endParaRPr>
              </a:p>
            </p:txBody>
          </p:sp>
        </mc:Fallback>
      </mc:AlternateContent>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Multiplying (i), (ii), (iii) (all sides positive):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16</m:t>
                    </m:r>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Taking square roots, </a:t>
                </a: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e>
                    </m:ra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Multiplying (i), (ii), (iii) (all sides positive): </a:t>
                </a:r>
                <a:r>
                  <a:rPr lang="en-IN" sz="2400">
                    <a:solidFill>
                      <a:srgbClr val="111827"/>
                    </a:solidFill>
                    <a:latin typeface="Cambria Math" panose="02040503050406030204" pitchFamily="18" charset="0"/>
                  </a:rPr>
                  <a:t>$(x+y)(y+z)(z+x)\ge8xyz$</a:t>
                </a:r>
                <a:r>
                  <a:rPr sz="2400" b="0">
                    <a:solidFill>
                      <a:srgbClr val="111827"/>
                    </a:solidFill>
                    <a:latin typeface="Arial"/>
                  </a:rPr>
                  <a:t>, i.e. </a:t>
                </a:r>
                <a:r>
                  <a:rPr lang="en-IN" sz="2400">
                    <a:solidFill>
                      <a:srgbClr val="111827"/>
                    </a:solidFill>
                    <a:latin typeface="Cambria Math" panose="02040503050406030204" pitchFamily="18" charset="0"/>
                  </a:rPr>
                  <a:t>$abc\ge8(s-a)(s-b)(s-c)$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$(s-a)(s-b)(s-c)\le\frac{abc}8$</a:t>
                </a:r>
                <a:r>
                  <a:rPr sz="2400" b="0">
                    <a:solidFill>
                      <a:srgbClr val="111827"/>
                    </a:solidFill>
                    <a:latin typeface="Arial"/>
                  </a:rPr>
                  <a:t> and </a:t>
                </a:r>
                <a:r>
                  <a:rPr lang="en-IN" sz="2400">
                    <a:solidFill>
                      <a:srgbClr val="111827"/>
                    </a:solidFill>
                    <a:latin typeface="Cambria Math" panose="02040503050406030204" pitchFamily="18" charset="0"/>
                  </a:rPr>
                  <a:t>$16\Delta^2=16s(s-a)(s-b)(s-c)\le16s\cdot\frac{abc}8=2s\cdot abc=(a+b+c)abc$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Taking square roots, </a:t>
                </a:r>
                <a:r>
                  <a:rPr lang="en-IN" sz="2400">
                    <a:solidFill>
                      <a:srgbClr val="111827"/>
                    </a:solidFill>
                    <a:latin typeface="Cambria Math" panose="02040503050406030204" pitchFamily="18" charset="0"/>
                  </a:rPr>
                  <a:t>$\Delta\le\frac14\sqrt{(a+b+c)abc}$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Equality holds iff equality holds in each of (i)-(iii),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which means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Conversely for an equilateral triangle of side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3</m:t>
                            </m:r>
                          </m:sup>
                        </m:sSup>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equality holds.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Equality holds iff equality holds in each of (i)-(iii), i.e. </a:t>
                </a:r>
                <a:r>
                  <a:rPr lang="en-IN" sz="2400">
                    <a:solidFill>
                      <a:srgbClr val="111827"/>
                    </a:solidFill>
                    <a:latin typeface="Cambria Math" panose="02040503050406030204" pitchFamily="18" charset="0"/>
                  </a:rPr>
                  <a:t>$x=y=z$</a:t>
                </a:r>
                <a:r>
                  <a:rPr sz="2400" b="0">
                    <a:solidFill>
                      <a:srgbClr val="111827"/>
                    </a:solidFill>
                    <a:latin typeface="Arial"/>
                  </a:rPr>
                  <a:t>, i.e. </a:t>
                </a:r>
                <a:r>
                  <a:rPr lang="en-IN" sz="2400">
                    <a:solidFill>
                      <a:srgbClr val="111827"/>
                    </a:solidFill>
                    <a:latin typeface="Cambria Math" panose="02040503050406030204" pitchFamily="18" charset="0"/>
                  </a:rPr>
                  <a:t>$s-a=s-b=s-c$</a:t>
                </a:r>
                <a:r>
                  <a:rPr sz="2400" b="0">
                    <a:solidFill>
                      <a:srgbClr val="111827"/>
                    </a:solidFill>
                    <a:latin typeface="Arial"/>
                  </a:rPr>
                  <a:t>, which means </a:t>
                </a:r>
                <a:r>
                  <a:rPr lang="en-IN" sz="2400">
                    <a:solidFill>
                      <a:srgbClr val="111827"/>
                    </a:solidFill>
                    <a:latin typeface="Cambria Math" panose="02040503050406030204" pitchFamily="18" charset="0"/>
                  </a:rPr>
                  <a:t>$a=b=c$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Conversely for an equilateral triangle of side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$\Delta=\frac{\sqrt3}4a^2$</a:t>
                </a:r>
                <a:r>
                  <a:rPr sz="2400" b="0">
                    <a:solidFill>
                      <a:srgbClr val="111827"/>
                    </a:solidFill>
                    <a:latin typeface="Arial"/>
                  </a:rPr>
                  <a:t> and </a:t>
                </a:r>
                <a:r>
                  <a:rPr lang="en-IN" sz="2400">
                    <a:solidFill>
                      <a:srgbClr val="111827"/>
                    </a:solidFill>
                    <a:latin typeface="Cambria Math" panose="02040503050406030204" pitchFamily="18" charset="0"/>
                  </a:rPr>
                  <a:t>$\frac14\sqrt{3a\cdot a^3}=\frac{\sqrt3}4a^2$</a:t>
                </a:r>
                <a:r>
                  <a:rPr sz="2400" b="0">
                    <a:solidFill>
                      <a:srgbClr val="111827"/>
                    </a:solidFill>
                    <a:latin typeface="Arial"/>
                  </a:rPr>
                  <a:t>, so equality holds.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Shown: </a:t>
                </a:r>
                <a14:m>
                  <m:oMath xmlns:m="http://schemas.openxmlformats.org/officeDocument/2006/math">
                    <m:r>
                      <a:rPr lang="en-IN" sz="2800" i="1">
                        <a:solidFill>
                          <a:srgbClr val="15803D"/>
                        </a:solidFill>
                        <a:latin typeface="Cambria Math" panose="02040503050406030204" pitchFamily="18" charset="0"/>
                      </a:rPr>
                      <m:t>16</m:t>
                    </m:r>
                    <m:sSup>
                      <m:e>
                        <m:r>
                          <m:rPr>
                            <m:sty m:val="p"/>
                          </m:rPr>
                          <a:rPr lang="en-IN" sz="2800">
                            <a:solidFill>
                              <a:srgbClr val="15803D"/>
                            </a:solidFill>
                            <a:latin typeface="Cambria Math" panose="02040503050406030204" pitchFamily="18" charset="0"/>
                          </a:rPr>
                          <m:t>Δ</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𝑎</m:t>
                    </m:r>
                    <m:r>
                      <a:rPr lang="en-IN" sz="2800" i="1">
                        <a:solidFill>
                          <a:srgbClr val="15803D"/>
                        </a:solidFill>
                        <a:latin typeface="Cambria Math" panose="02040503050406030204" pitchFamily="18" charset="0"/>
                      </a:rPr>
                      <m:t>𝑏</m:t>
                    </m:r>
                    <m:r>
                      <a:rPr lang="en-IN" sz="2800" i="1">
                        <a:solidFill>
                          <a:srgbClr val="15803D"/>
                        </a:solidFill>
                        <a:latin typeface="Cambria Math" panose="02040503050406030204" pitchFamily="18" charset="0"/>
                      </a:rPr>
                      <m:t>𝑐</m:t>
                    </m:r>
                  </m:oMath>
                </a14:m>
                <a:r>
                  <a:rPr sz="2800" b="1">
                    <a:solidFill>
                      <a:srgbClr val="15803D"/>
                    </a:solidFill>
                    <a:latin typeface="Arial"/>
                  </a:rPr>
                  <a:t>, with equality iff </a:t>
                </a:r>
                <a14:m>
                  <m:oMath xmlns:m="http://schemas.openxmlformats.org/officeDocument/2006/math">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Shown: </a:t>
                </a:r>
                <a:r>
                  <a:rPr lang="en-IN" sz="2800">
                    <a:solidFill>
                      <a:srgbClr val="15803D"/>
                    </a:solidFill>
                    <a:latin typeface="Cambria Math" panose="02040503050406030204" pitchFamily="18" charset="0"/>
                  </a:rPr>
                  <a:t>$16\Delta^2\le(a+b+c)abc$</a:t>
                </a:r>
                <a:r>
                  <a:rPr sz="2800" b="1">
                    <a:solidFill>
                      <a:srgbClr val="15803D"/>
                    </a:solidFill>
                    <a:latin typeface="Arial"/>
                  </a:rPr>
                  <a:t>, with equality iff </a:t>
                </a:r>
                <a:r>
                  <a:rPr lang="en-IN" sz="2800">
                    <a:solidFill>
                      <a:srgbClr val="15803D"/>
                    </a:solidFill>
                    <a:latin typeface="Cambria Math" panose="02040503050406030204" pitchFamily="18" charset="0"/>
                  </a:rPr>
                  <a:t>$a=b=c$</a:t>
                </a:r>
                <a:endParaRPr sz="2800">
                  <a:solidFill>
                    <a:srgbClr val="15803D"/>
                  </a:solidFill>
                </a:endParaRPr>
              </a:p>
            </p:txBody>
          </p:sp>
        </mc:Fallback>
      </mc:AlternateContent>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With </a:t>
                </a:r>
                <a14:m>
                  <m:oMath xmlns:m="http://schemas.openxmlformats.org/officeDocument/2006/math">
                    <m:r>
                      <m:rPr>
                        <m:sty m:val="p"/>
                      </m:rPr>
                      <a:rPr lang="en-IN" sz="2400">
                        <a:solidFill>
                          <a:srgbClr val="78350F"/>
                        </a:solidFill>
                        <a:latin typeface="Cambria Math" panose="02040503050406030204" pitchFamily="18" charset="0"/>
                      </a:rPr>
                      <m:t>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a:rPr lang="en-IN" sz="2400" i="1">
                        <a:solidFill>
                          <a:srgbClr val="78350F"/>
                        </a:solidFill>
                        <a:latin typeface="Cambria Math" panose="02040503050406030204" pitchFamily="18" charset="0"/>
                      </a:rPr>
                      <m:t>𝑠</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Δ</m:t>
                    </m:r>
                  </m:oMath>
                </a14:m>
                <a:r>
                  <a:rPr sz="2400" b="0">
                    <a:solidFill>
                      <a:srgbClr val="78350F"/>
                    </a:solidFill>
                    <a:latin typeface="Arial"/>
                  </a:rPr>
                  <a:t> the inequality is exactly Euler's </a:t>
                </a:r>
                <a14:m>
                  <m:oMath xmlns:m="http://schemas.openxmlformats.org/officeDocument/2006/math">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𝑟</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With </a:t>
                </a:r>
                <a:r>
                  <a:rPr lang="en-IN" sz="2400">
                    <a:solidFill>
                      <a:srgbClr val="78350F"/>
                    </a:solidFill>
                    <a:latin typeface="Cambria Math" panose="02040503050406030204" pitchFamily="18" charset="0"/>
                  </a:rPr>
                  <a:t>$\Delta=rs$</a:t>
                </a:r>
                <a:r>
                  <a:rPr sz="2400" b="0">
                    <a:solidFill>
                      <a:srgbClr val="78350F"/>
                    </a:solidFill>
                    <a:latin typeface="Arial"/>
                  </a:rPr>
                  <a:t> and </a:t>
                </a:r>
                <a:r>
                  <a:rPr lang="en-IN" sz="2400">
                    <a:solidFill>
                      <a:srgbClr val="78350F"/>
                    </a:solidFill>
                    <a:latin typeface="Cambria Math" panose="02040503050406030204" pitchFamily="18" charset="0"/>
                  </a:rPr>
                  <a:t>$abc=4R\Delta$</a:t>
                </a:r>
                <a:r>
                  <a:rPr sz="2400" b="0">
                    <a:solidFill>
                      <a:srgbClr val="78350F"/>
                    </a:solidFill>
                    <a:latin typeface="Arial"/>
                  </a:rPr>
                  <a:t> the inequality is exactly Euler's </a:t>
                </a:r>
                <a:r>
                  <a:rPr lang="en-IN" sz="2400">
                    <a:solidFill>
                      <a:srgbClr val="78350F"/>
                    </a:solidFill>
                    <a:latin typeface="Cambria Math" panose="02040503050406030204" pitchFamily="18" charset="0"/>
                  </a:rPr>
                  <a:t>$R\ge2r$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𝑠</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16</m:t>
                    </m:r>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oMath>
                </a14:m>
                <a:r>
                  <a:rPr sz="2400" b="0">
                    <a:solidFill>
                      <a:srgbClr val="111827"/>
                    </a:solidFill>
                    <a:latin typeface="Arial"/>
                  </a:rPr>
                  <a:t>, using </a:t>
                </a: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𝑠</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Euler: </a:t>
                </a:r>
                <a14:m>
                  <m:oMath xmlns:m="http://schemas.openxmlformats.org/officeDocument/2006/math">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𝐼</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oMath>
                </a14:m>
                <a:r>
                  <a:rPr sz="2400" b="0">
                    <a:solidFill>
                      <a:srgbClr val="111827"/>
                    </a:solidFill>
                    <a:latin typeface="Arial"/>
                  </a:rPr>
                  <a:t>, so the inequality holds.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iff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the incentre coincides with the circumcentre, which happens exactly for the equilateral triangle: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$abc=4R\Delta$</a:t>
                </a:r>
                <a:r>
                  <a:rPr sz="2400" b="0">
                    <a:solidFill>
                      <a:srgbClr val="111827"/>
                    </a:solidFill>
                    <a:latin typeface="Arial"/>
                  </a:rPr>
                  <a:t> and </a:t>
                </a:r>
                <a:r>
                  <a:rPr lang="en-IN" sz="2400">
                    <a:solidFill>
                      <a:srgbClr val="111827"/>
                    </a:solidFill>
                    <a:latin typeface="Cambria Math" panose="02040503050406030204" pitchFamily="18" charset="0"/>
                  </a:rPr>
                  <a:t>$a+b+c=2s$</a:t>
                </a:r>
                <a:r>
                  <a:rPr sz="2400" b="0">
                    <a:solidFill>
                      <a:srgbClr val="111827"/>
                    </a:solidFill>
                    <a:latin typeface="Arial"/>
                  </a:rPr>
                  <a:t>, so </a:t>
                </a:r>
                <a:r>
                  <a:rPr lang="en-IN" sz="2400">
                    <a:solidFill>
                      <a:srgbClr val="111827"/>
                    </a:solidFill>
                    <a:latin typeface="Cambria Math" panose="02040503050406030204" pitchFamily="18" charset="0"/>
                  </a:rPr>
                  <a:t>$(a+b+c)abc=8Rs\Delta$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$16\Delta^2\le8Rs\Delta\iff2\Delta\le Rs\iff2rs\le Rs\iff R\ge2r$</a:t>
                </a:r>
                <a:r>
                  <a:rPr sz="2400" b="0">
                    <a:solidFill>
                      <a:srgbClr val="111827"/>
                    </a:solidFill>
                    <a:latin typeface="Arial"/>
                  </a:rPr>
                  <a:t>, using </a:t>
                </a:r>
                <a:r>
                  <a:rPr lang="en-IN" sz="2400">
                    <a:solidFill>
                      <a:srgbClr val="111827"/>
                    </a:solidFill>
                    <a:latin typeface="Cambria Math" panose="02040503050406030204" pitchFamily="18" charset="0"/>
                  </a:rPr>
                  <a:t>$\Delta=rs$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Euler: </a:t>
                </a:r>
                <a:r>
                  <a:rPr lang="en-IN" sz="2400">
                    <a:solidFill>
                      <a:srgbClr val="111827"/>
                    </a:solidFill>
                    <a:latin typeface="Cambria Math" panose="02040503050406030204" pitchFamily="18" charset="0"/>
                  </a:rPr>
                  <a:t>$OI^2=R^2-2Rr\ge0$</a:t>
                </a:r>
                <a:r>
                  <a:rPr sz="2400" b="0">
                    <a:solidFill>
                      <a:srgbClr val="111827"/>
                    </a:solidFill>
                    <a:latin typeface="Arial"/>
                  </a:rPr>
                  <a:t>, hence </a:t>
                </a:r>
                <a:r>
                  <a:rPr lang="en-IN" sz="2400">
                    <a:solidFill>
                      <a:srgbClr val="111827"/>
                    </a:solidFill>
                    <a:latin typeface="Cambria Math" panose="02040503050406030204" pitchFamily="18" charset="0"/>
                  </a:rPr>
                  <a:t>$R\ge2r$</a:t>
                </a:r>
                <a:r>
                  <a:rPr sz="2400" b="0">
                    <a:solidFill>
                      <a:srgbClr val="111827"/>
                    </a:solidFill>
                    <a:latin typeface="Arial"/>
                  </a:rPr>
                  <a:t>, so the inequality holds.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iff </a:t>
                </a:r>
                <a:r>
                  <a:rPr lang="en-IN" sz="2400">
                    <a:solidFill>
                      <a:srgbClr val="111827"/>
                    </a:solidFill>
                    <a:latin typeface="Cambria Math" panose="02040503050406030204" pitchFamily="18" charset="0"/>
                  </a:rPr>
                  <a:t>$OI=0$</a:t>
                </a:r>
                <a:r>
                  <a:rPr sz="2400" b="0">
                    <a:solidFill>
                      <a:srgbClr val="111827"/>
                    </a:solidFill>
                    <a:latin typeface="Arial"/>
                  </a:rPr>
                  <a:t>, i.e. the incentre coincides with the circumcentre, which happens exactly for the equilateral triangle: </a:t>
                </a:r>
                <a:r>
                  <a:rPr lang="en-IN" sz="2400">
                    <a:solidFill>
                      <a:srgbClr val="111827"/>
                    </a:solidFill>
                    <a:latin typeface="Cambria Math" panose="02040503050406030204" pitchFamily="18" charset="0"/>
                  </a:rPr>
                  <a:t>$a=b=c$</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Shown: </a:t>
                </a:r>
                <a14:m>
                  <m:oMath xmlns:m="http://schemas.openxmlformats.org/officeDocument/2006/math">
                    <m:r>
                      <a:rPr lang="en-IN" sz="2800" i="1">
                        <a:solidFill>
                          <a:srgbClr val="15803D"/>
                        </a:solidFill>
                        <a:latin typeface="Cambria Math" panose="02040503050406030204" pitchFamily="18" charset="0"/>
                      </a:rPr>
                      <m:t>16</m:t>
                    </m:r>
                    <m:sSup>
                      <m:e>
                        <m:r>
                          <m:rPr>
                            <m:sty m:val="p"/>
                          </m:rPr>
                          <a:rPr lang="en-IN" sz="2800">
                            <a:solidFill>
                              <a:srgbClr val="15803D"/>
                            </a:solidFill>
                            <a:latin typeface="Cambria Math" panose="02040503050406030204" pitchFamily="18" charset="0"/>
                          </a:rPr>
                          <m:t>Δ</m:t>
                        </m:r>
                      </m:e>
                      <m:sup>
                        <m:r>
                          <a:rPr lang="en-IN" sz="2800" i="1">
                            <a:solidFill>
                              <a:srgbClr val="15803D"/>
                            </a:solidFill>
                            <a:latin typeface="Cambria Math" panose="02040503050406030204" pitchFamily="18" charset="0"/>
                          </a:rPr>
                          <m:t>2</m:t>
                        </m:r>
                      </m:sup>
                    </m:sSup>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𝑎</m:t>
                    </m:r>
                    <m:r>
                      <a:rPr lang="en-IN" sz="2800" i="1">
                        <a:solidFill>
                          <a:srgbClr val="15803D"/>
                        </a:solidFill>
                        <a:latin typeface="Cambria Math" panose="02040503050406030204" pitchFamily="18" charset="0"/>
                      </a:rPr>
                      <m:t>𝑏</m:t>
                    </m:r>
                    <m:r>
                      <a:rPr lang="en-IN" sz="2800" i="1">
                        <a:solidFill>
                          <a:srgbClr val="15803D"/>
                        </a:solidFill>
                        <a:latin typeface="Cambria Math" panose="02040503050406030204" pitchFamily="18" charset="0"/>
                      </a:rPr>
                      <m:t>𝑐</m:t>
                    </m:r>
                  </m:oMath>
                </a14:m>
                <a:r>
                  <a:rPr sz="2800" b="1">
                    <a:solidFill>
                      <a:srgbClr val="15803D"/>
                    </a:solidFill>
                    <a:latin typeface="Arial"/>
                  </a:rPr>
                  <a:t>, with equality iff </a:t>
                </a:r>
                <a14:m>
                  <m:oMath xmlns:m="http://schemas.openxmlformats.org/officeDocument/2006/math">
                    <m:r>
                      <a:rPr lang="en-IN" sz="2800" i="1">
                        <a:solidFill>
                          <a:srgbClr val="15803D"/>
                        </a:solidFill>
                        <a:latin typeface="Cambria Math" panose="02040503050406030204" pitchFamily="18" charset="0"/>
                      </a:rPr>
                      <m:t>𝑎</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𝑏</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𝑐</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Shown: </a:t>
                </a:r>
                <a:r>
                  <a:rPr lang="en-IN" sz="2800">
                    <a:solidFill>
                      <a:srgbClr val="15803D"/>
                    </a:solidFill>
                    <a:latin typeface="Cambria Math" panose="02040503050406030204" pitchFamily="18" charset="0"/>
                  </a:rPr>
                  <a:t>$16\Delta^2\le(a+b+c)abc$</a:t>
                </a:r>
                <a:r>
                  <a:rPr sz="2800" b="1">
                    <a:solidFill>
                      <a:srgbClr val="15803D"/>
                    </a:solidFill>
                    <a:latin typeface="Arial"/>
                  </a:rPr>
                  <a:t>, with equality iff </a:t>
                </a:r>
                <a:r>
                  <a:rPr lang="en-IN" sz="2800">
                    <a:solidFill>
                      <a:srgbClr val="15803D"/>
                    </a:solidFill>
                    <a:latin typeface="Cambria Math" panose="02040503050406030204" pitchFamily="18" charset="0"/>
                  </a:rPr>
                  <a:t>$a=b=c$</a:t>
                </a:r>
                <a:endParaRPr sz="2800">
                  <a:solidFill>
                    <a:srgbClr val="15803D"/>
                  </a:solidFill>
                </a:endParaRPr>
              </a:p>
            </p:txBody>
          </p:sp>
        </mc:Fallback>
      </mc:AlternateContent>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Ravi substitution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etc.) turns triangle problems into inequalities in positive reals;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oMath>
                </a14:m>
                <a:r>
                  <a:rPr sz="2400" b="0">
                    <a:solidFill>
                      <a:srgbClr val="111827"/>
                    </a:solidFill>
                    <a:latin typeface="Arial"/>
                  </a:rPr>
                  <a:t> is the one used here.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oMath>
                </a14:m>
                <a:r>
                  <a:rPr sz="2400" b="0">
                    <a:solidFill>
                      <a:srgbClr val="111827"/>
                    </a:solidFill>
                    <a:latin typeface="Arial"/>
                  </a:rPr>
                  <a:t> (Euler), since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𝑠</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Δ</m:t>
                    </m:r>
                  </m:oMath>
                </a14:m>
                <a:r>
                  <a:rPr sz="2400" b="0">
                    <a:solidFill>
                      <a:srgbClr val="111827"/>
                    </a:solidFill>
                    <a:latin typeface="Arial"/>
                  </a:rPr>
                  <a:t>; equality iff equilateral.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Related bound: </a:t>
                </a: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(isoperimetric inequality for triangles), equality for the equilateral triangle.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Ravi substitution </a:t>
                </a:r>
                <a:r>
                  <a:rPr lang="en-IN" sz="2400">
                    <a:solidFill>
                      <a:srgbClr val="111827"/>
                    </a:solidFill>
                    <a:latin typeface="Cambria Math" panose="02040503050406030204" pitchFamily="18" charset="0"/>
                  </a:rPr>
                  <a:t>$x=s-a$</a:t>
                </a:r>
                <a:r>
                  <a:rPr sz="2400" b="0">
                    <a:solidFill>
                      <a:srgbClr val="111827"/>
                    </a:solidFill>
                    <a:latin typeface="Arial"/>
                  </a:rPr>
                  <a:t>, </a:t>
                </a:r>
                <a:r>
                  <a:rPr lang="en-IN" sz="2400">
                    <a:solidFill>
                      <a:srgbClr val="111827"/>
                    </a:solidFill>
                    <a:latin typeface="Cambria Math" panose="02040503050406030204" pitchFamily="18" charset="0"/>
                  </a:rPr>
                  <a:t>$y=s-b$</a:t>
                </a:r>
                <a:r>
                  <a:rPr sz="2400" b="0">
                    <a:solidFill>
                      <a:srgbClr val="111827"/>
                    </a:solidFill>
                    <a:latin typeface="Arial"/>
                  </a:rPr>
                  <a:t>, </a:t>
                </a:r>
                <a:r>
                  <a:rPr lang="en-IN" sz="2400">
                    <a:solidFill>
                      <a:srgbClr val="111827"/>
                    </a:solidFill>
                    <a:latin typeface="Cambria Math" panose="02040503050406030204" pitchFamily="18" charset="0"/>
                  </a:rPr>
                  <a:t>$z=s-c$</a:t>
                </a:r>
                <a:r>
                  <a:rPr sz="2400" b="0">
                    <a:solidFill>
                      <a:srgbClr val="111827"/>
                    </a:solidFill>
                    <a:latin typeface="Arial"/>
                  </a:rPr>
                  <a:t> (</a:t>
                </a:r>
                <a:r>
                  <a:rPr lang="en-IN" sz="2400">
                    <a:solidFill>
                      <a:srgbClr val="111827"/>
                    </a:solidFill>
                    <a:latin typeface="Cambria Math" panose="02040503050406030204" pitchFamily="18" charset="0"/>
                  </a:rPr>
                  <a:t>$a=y+z$</a:t>
                </a:r>
                <a:r>
                  <a:rPr sz="2400" b="0">
                    <a:solidFill>
                      <a:srgbClr val="111827"/>
                    </a:solidFill>
                    <a:latin typeface="Arial"/>
                  </a:rPr>
                  <a:t>, etc.) turns triangle problems into inequalities in positive reals; </a:t>
                </a:r>
                <a:r>
                  <a:rPr lang="en-IN" sz="2400">
                    <a:solidFill>
                      <a:srgbClr val="111827"/>
                    </a:solidFill>
                    <a:latin typeface="Cambria Math" panose="02040503050406030204" pitchFamily="18" charset="0"/>
                  </a:rPr>
                  <a:t>$(x+y)(y+z)(z+x)\ge8xyz$</a:t>
                </a:r>
                <a:r>
                  <a:rPr sz="2400" b="0">
                    <a:solidFill>
                      <a:srgbClr val="111827"/>
                    </a:solidFill>
                    <a:latin typeface="Arial"/>
                  </a:rPr>
                  <a:t> is the one used here.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$abc\ge8(s-a)(s-b)(s-c)\iff R\ge2r$</a:t>
                </a:r>
                <a:r>
                  <a:rPr sz="2400" b="0">
                    <a:solidFill>
                      <a:srgbClr val="111827"/>
                    </a:solidFill>
                    <a:latin typeface="Arial"/>
                  </a:rPr>
                  <a:t> (Euler), since </a:t>
                </a:r>
                <a:r>
                  <a:rPr lang="en-IN" sz="2400">
                    <a:solidFill>
                      <a:srgbClr val="111827"/>
                    </a:solidFill>
                    <a:latin typeface="Cambria Math" panose="02040503050406030204" pitchFamily="18" charset="0"/>
                  </a:rPr>
                  <a:t>$(s-a)(s-b)(s-c)=\frac{\Delta^2}s$</a:t>
                </a:r>
                <a:r>
                  <a:rPr sz="2400" b="0">
                    <a:solidFill>
                      <a:srgbClr val="111827"/>
                    </a:solidFill>
                    <a:latin typeface="Arial"/>
                  </a:rPr>
                  <a:t> and </a:t>
                </a:r>
                <a:r>
                  <a:rPr lang="en-IN" sz="2400">
                    <a:solidFill>
                      <a:srgbClr val="111827"/>
                    </a:solidFill>
                    <a:latin typeface="Cambria Math" panose="02040503050406030204" pitchFamily="18" charset="0"/>
                  </a:rPr>
                  <a:t>$abc=4R\Delta$</a:t>
                </a:r>
                <a:r>
                  <a:rPr sz="2400" b="0">
                    <a:solidFill>
                      <a:srgbClr val="111827"/>
                    </a:solidFill>
                    <a:latin typeface="Arial"/>
                  </a:rPr>
                  <a:t>; equality iff equilateral.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Related bound: </a:t>
                </a:r>
                <a:r>
                  <a:rPr lang="en-IN" sz="2400">
                    <a:solidFill>
                      <a:srgbClr val="111827"/>
                    </a:solidFill>
                    <a:latin typeface="Cambria Math" panose="02040503050406030204" pitchFamily="18" charset="0"/>
                  </a:rPr>
                  <a:t>$\Delta\le\frac{(a+b+c)^2}{12\sqrt3}$</a:t>
                </a:r>
                <a:r>
                  <a:rPr sz="2400" b="0">
                    <a:solidFill>
                      <a:srgbClr val="111827"/>
                    </a:solidFill>
                    <a:latin typeface="Arial"/>
                  </a:rPr>
                  <a:t> (isoperimetric inequality for triangles), equality for the equilateral triangle.</a:t>
                </a:r>
                <a:endParaRPr sz="2400">
                  <a:solidFill>
                    <a:srgbClr val="111827"/>
                  </a:solidFill>
                </a:endParaRPr>
              </a:p>
            </p:txBody>
          </p:sp>
        </mc:Fallback>
      </mc:AlternateContent>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is the area of the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-sided regular polygon inscribed in a circle of unit radius and </a:t>
                </a:r>
                <a14:m>
                  <m:oMath xmlns:m="http://schemas.openxmlformats.org/officeDocument/2006/math">
                    <m:sSub>
                      <m:e>
                        <m:r>
                          <a:rPr lang="en-IN" sz="2400" i="1">
                            <a:solidFill>
                              <a:srgbClr val="111827"/>
                            </a:solidFill>
                            <a:latin typeface="Cambria Math" panose="02040503050406030204" pitchFamily="18" charset="0"/>
                          </a:rPr>
                          <m:t>𝑂</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is the area of the polygon circumscribing the given circle, prove that </a:t>
                </a:r>
                <a14:m>
                  <m:oMath xmlns:m="http://schemas.openxmlformats.org/officeDocument/2006/math">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𝑂</m:t>
                            </m:r>
                          </m:e>
                          <m:sub>
                            <m:r>
                              <a:rPr lang="en-IN" sz="2400" i="1">
                                <a:solidFill>
                                  <a:srgbClr val="111827"/>
                                </a:solidFill>
                                <a:latin typeface="Cambria Math" panose="02040503050406030204" pitchFamily="18" charset="0"/>
                              </a:rPr>
                              <m:t>𝑛</m:t>
                            </m:r>
                          </m:sub>
                        </m:sSub>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e>
                        </m:rad>
                      </m:e>
                    </m:d>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2275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$I_n$</a:t>
                </a:r>
                <a:r>
                  <a:rPr sz="2400" b="0">
                    <a:solidFill>
                      <a:srgbClr val="111827"/>
                    </a:solidFill>
                    <a:latin typeface="Arial"/>
                  </a:rPr>
                  <a:t> is the area of the </a:t>
                </a:r>
                <a:r>
                  <a:rPr lang="en-IN" sz="2400">
                    <a:solidFill>
                      <a:srgbClr val="111827"/>
                    </a:solidFill>
                    <a:latin typeface="Cambria Math" panose="02040503050406030204" pitchFamily="18" charset="0"/>
                  </a:rPr>
                  <a:t>$n$</a:t>
                </a:r>
                <a:r>
                  <a:rPr sz="2400" b="0">
                    <a:solidFill>
                      <a:srgbClr val="111827"/>
                    </a:solidFill>
                    <a:latin typeface="Arial"/>
                  </a:rPr>
                  <a:t>-sided regular polygon inscribed in a circle of unit radius and </a:t>
                </a:r>
                <a:r>
                  <a:rPr lang="en-IN" sz="2400">
                    <a:solidFill>
                      <a:srgbClr val="111827"/>
                    </a:solidFill>
                    <a:latin typeface="Cambria Math" panose="02040503050406030204" pitchFamily="18" charset="0"/>
                  </a:rPr>
                  <a:t>$O_n$</a:t>
                </a:r>
                <a:r>
                  <a:rPr sz="2400" b="0">
                    <a:solidFill>
                      <a:srgbClr val="111827"/>
                    </a:solidFill>
                    <a:latin typeface="Arial"/>
                  </a:rPr>
                  <a:t> is the area of the polygon circumscribing the given circle, prove that </a:t>
                </a:r>
                <a:r>
                  <a:rPr lang="en-IN" sz="2400">
                    <a:solidFill>
                      <a:srgbClr val="111827"/>
                    </a:solidFill>
                    <a:latin typeface="Cambria Math" panose="02040503050406030204" pitchFamily="18" charset="0"/>
                  </a:rPr>
                  <a:t>$I_n=\frac{O_n}2\left(1+\sqrt{1-\left(\frac{2I_n}n\right)^2}\right)$</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7363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Areas of inscribed and circumscribed regular polygons, Double-angle identities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14:m>
                  <m:oMath xmlns:m="http://schemas.openxmlformats.org/officeDocument/2006/math">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𝑛</m:t>
                        </m:r>
                      </m:den>
                    </m:f>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𝐼</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𝑛</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θ</m:t>
                    </m:r>
                  </m:oMath>
                </a14:m>
                <a:r>
                  <a:rPr sz="2400" b="0">
                    <a:solidFill>
                      <a:srgbClr val="78350F"/>
                    </a:solidFill>
                    <a:latin typeface="Arial"/>
                  </a:rPr>
                  <a:t> and </a:t>
                </a:r>
                <a14:m>
                  <m:oMath xmlns:m="http://schemas.openxmlformats.org/officeDocument/2006/math">
                    <m:sSub>
                      <m:e>
                        <m:r>
                          <a:rPr lang="en-IN" sz="2400" i="1">
                            <a:solidFill>
                              <a:srgbClr val="78350F"/>
                            </a:solidFill>
                            <a:latin typeface="Cambria Math" panose="02040503050406030204" pitchFamily="18" charset="0"/>
                          </a:rPr>
                          <m:t>𝑂</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θ</m:t>
                    </m:r>
                  </m:oMath>
                </a14:m>
                <a:r>
                  <a:rPr sz="2400" b="0">
                    <a:solidFill>
                      <a:srgbClr val="78350F"/>
                    </a:solidFill>
                    <a:latin typeface="Arial"/>
                  </a:rPr>
                  <a:t>, so </a:t>
                </a:r>
                <a14:m>
                  <m:oMath xmlns:m="http://schemas.openxmlformats.org/officeDocument/2006/math">
                    <m:f>
                      <m:fPr>
                        <m:type m:val="bar"/>
                        <m:ctrlPr>
                          <a:rPr lang="en-IN" sz="2400" i="1">
                            <a:solidFill>
                              <a:srgbClr val="78350F"/>
                            </a:solidFill>
                            <a:latin typeface="Cambria Math" panose="02040503050406030204" pitchFamily="18" charset="0"/>
                          </a:rPr>
                        </m:ctrlPr>
                      </m:fPr>
                      <m:num>
                        <m:sSub>
                          <m:e>
                            <m:r>
                              <a:rPr lang="en-IN" sz="2400" i="1">
                                <a:solidFill>
                                  <a:srgbClr val="78350F"/>
                                </a:solidFill>
                                <a:latin typeface="Cambria Math" panose="02040503050406030204" pitchFamily="18" charset="0"/>
                              </a:rPr>
                              <m:t>𝐼</m:t>
                            </m:r>
                          </m:e>
                          <m:sub>
                            <m:r>
                              <a:rPr lang="en-IN" sz="2400" i="1">
                                <a:solidFill>
                                  <a:srgbClr val="78350F"/>
                                </a:solidFill>
                                <a:latin typeface="Cambria Math" panose="02040503050406030204" pitchFamily="18" charset="0"/>
                              </a:rPr>
                              <m:t>𝑛</m:t>
                            </m:r>
                          </m:sub>
                        </m:sSub>
                      </m:num>
                      <m:den>
                        <m:sSub>
                          <m:e>
                            <m:r>
                              <a:rPr lang="en-IN" sz="2400" i="1">
                                <a:solidFill>
                                  <a:srgbClr val="78350F"/>
                                </a:solidFill>
                                <a:latin typeface="Cambria Math" panose="02040503050406030204" pitchFamily="18" charset="0"/>
                              </a:rPr>
                              <m:t>𝑂</m:t>
                            </m:r>
                          </m:e>
                          <m:sub>
                            <m:r>
                              <a:rPr lang="en-IN" sz="2400" i="1">
                                <a:solidFill>
                                  <a:srgbClr val="78350F"/>
                                </a:solidFill>
                                <a:latin typeface="Cambria Math" panose="02040503050406030204" pitchFamily="18" charset="0"/>
                              </a:rPr>
                              <m:t>𝑛</m:t>
                            </m:r>
                          </m:sub>
                        </m:sSub>
                      </m:den>
                    </m:f>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cos</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θ</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θ</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With </a:t>
                </a:r>
                <a:r>
                  <a:rPr lang="en-IN" sz="2400">
                    <a:solidFill>
                      <a:srgbClr val="78350F"/>
                    </a:solidFill>
                    <a:latin typeface="Cambria Math" panose="02040503050406030204" pitchFamily="18" charset="0"/>
                  </a:rPr>
                  <a:t>$\theta=\frac\pi n$</a:t>
                </a:r>
                <a:r>
                  <a:rPr sz="2400" b="0">
                    <a:solidFill>
                      <a:srgbClr val="78350F"/>
                    </a:solidFill>
                    <a:latin typeface="Arial"/>
                  </a:rPr>
                  <a:t>: </a:t>
                </a:r>
                <a:r>
                  <a:rPr lang="en-IN" sz="2400">
                    <a:solidFill>
                      <a:srgbClr val="78350F"/>
                    </a:solidFill>
                    <a:latin typeface="Cambria Math" panose="02040503050406030204" pitchFamily="18" charset="0"/>
                  </a:rPr>
                  <a:t>$I_n=\frac n2\sin2\theta$</a:t>
                </a:r>
                <a:r>
                  <a:rPr sz="2400" b="0">
                    <a:solidFill>
                      <a:srgbClr val="78350F"/>
                    </a:solidFill>
                    <a:latin typeface="Arial"/>
                  </a:rPr>
                  <a:t> and </a:t>
                </a:r>
                <a:r>
                  <a:rPr lang="en-IN" sz="2400">
                    <a:solidFill>
                      <a:srgbClr val="78350F"/>
                    </a:solidFill>
                    <a:latin typeface="Cambria Math" panose="02040503050406030204" pitchFamily="18" charset="0"/>
                  </a:rPr>
                  <a:t>$O_n=n\tan\theta$</a:t>
                </a:r>
                <a:r>
                  <a:rPr sz="2400" b="0">
                    <a:solidFill>
                      <a:srgbClr val="78350F"/>
                    </a:solidFill>
                    <a:latin typeface="Arial"/>
                  </a:rPr>
                  <a:t>, so </a:t>
                </a:r>
                <a:r>
                  <a:rPr lang="en-IN" sz="2400">
                    <a:solidFill>
                      <a:srgbClr val="78350F"/>
                    </a:solidFill>
                    <a:latin typeface="Cambria Math" panose="02040503050406030204" pitchFamily="18" charset="0"/>
                  </a:rPr>
                  <a:t>$\frac{I_n}{O_n}=\cos^2\theta=\frac{1+\cos2\theta}2$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The inscribed regular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-gon in the unit circle splits into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isosceles triangles with equal sides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apex angle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oMath>
                </a14:m>
                <a:r>
                  <a:rPr sz="2400" b="0">
                    <a:solidFill>
                      <a:srgbClr val="111827"/>
                    </a:solidFill>
                    <a:latin typeface="Arial"/>
                  </a:rPr>
                  <a:t> (the PDF's hint).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circumscribed regular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-gon has apothem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splits into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oMath>
                </a14:m>
                <a:r>
                  <a:rPr sz="2400" b="0">
                    <a:solidFill>
                      <a:srgbClr val="111827"/>
                    </a:solidFill>
                    <a:latin typeface="Arial"/>
                  </a:rPr>
                  <a:t> right triangles with legs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𝑂</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oMath>
                </a14:m>
                <a:r>
                  <a:rPr sz="2400" b="0">
                    <a:solidFill>
                      <a:srgbClr val="111827"/>
                    </a:solidFill>
                    <a:latin typeface="Arial"/>
                  </a:rPr>
                  <a:t> (the PDF's hint).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$\theta=\frac\pi n$</a:t>
                </a:r>
                <a:r>
                  <a:rPr sz="2400" b="0">
                    <a:solidFill>
                      <a:srgbClr val="111827"/>
                    </a:solidFill>
                    <a:latin typeface="Arial"/>
                  </a:rPr>
                  <a:t>. The inscribed regular </a:t>
                </a:r>
                <a:r>
                  <a:rPr lang="en-IN" sz="2400">
                    <a:solidFill>
                      <a:srgbClr val="111827"/>
                    </a:solidFill>
                    <a:latin typeface="Cambria Math" panose="02040503050406030204" pitchFamily="18" charset="0"/>
                  </a:rPr>
                  <a:t>$n$</a:t>
                </a:r>
                <a:r>
                  <a:rPr sz="2400" b="0">
                    <a:solidFill>
                      <a:srgbClr val="111827"/>
                    </a:solidFill>
                    <a:latin typeface="Arial"/>
                  </a:rPr>
                  <a:t>-gon in the unit circle splits into </a:t>
                </a:r>
                <a:r>
                  <a:rPr lang="en-IN" sz="2400">
                    <a:solidFill>
                      <a:srgbClr val="111827"/>
                    </a:solidFill>
                    <a:latin typeface="Cambria Math" panose="02040503050406030204" pitchFamily="18" charset="0"/>
                  </a:rPr>
                  <a:t>$n$</a:t>
                </a:r>
                <a:r>
                  <a:rPr sz="2400" b="0">
                    <a:solidFill>
                      <a:srgbClr val="111827"/>
                    </a:solidFill>
                    <a:latin typeface="Arial"/>
                  </a:rPr>
                  <a:t> isosceles triangles with equal sides </a:t>
                </a:r>
                <a:r>
                  <a:rPr lang="en-IN" sz="2400">
                    <a:solidFill>
                      <a:srgbClr val="111827"/>
                    </a:solidFill>
                    <a:latin typeface="Cambria Math" panose="02040503050406030204" pitchFamily="18" charset="0"/>
                  </a:rPr>
                  <a:t>$1$</a:t>
                </a:r>
                <a:r>
                  <a:rPr sz="2400" b="0">
                    <a:solidFill>
                      <a:srgbClr val="111827"/>
                    </a:solidFill>
                    <a:latin typeface="Arial"/>
                  </a:rPr>
                  <a:t> and apex angle </a:t>
                </a:r>
                <a:r>
                  <a:rPr lang="en-IN" sz="2400">
                    <a:solidFill>
                      <a:srgbClr val="111827"/>
                    </a:solidFill>
                    <a:latin typeface="Cambria Math" panose="02040503050406030204" pitchFamily="18" charset="0"/>
                  </a:rPr>
                  <a:t>$2\theta$</a:t>
                </a:r>
                <a:r>
                  <a:rPr sz="2400" b="0">
                    <a:solidFill>
                      <a:srgbClr val="111827"/>
                    </a:solidFill>
                    <a:latin typeface="Arial"/>
                  </a:rPr>
                  <a:t>: </a:t>
                </a:r>
                <a:r>
                  <a:rPr lang="en-IN" sz="2400">
                    <a:solidFill>
                      <a:srgbClr val="111827"/>
                    </a:solidFill>
                    <a:latin typeface="Cambria Math" panose="02040503050406030204" pitchFamily="18" charset="0"/>
                  </a:rPr>
                  <a:t>$I_n=\frac n2\sin2\theta$</a:t>
                </a:r>
                <a:r>
                  <a:rPr sz="2400" b="0">
                    <a:solidFill>
                      <a:srgbClr val="111827"/>
                    </a:solidFill>
                    <a:latin typeface="Arial"/>
                  </a:rPr>
                  <a:t> (the PDF's hint).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circumscribed regular </a:t>
                </a:r>
                <a:r>
                  <a:rPr lang="en-IN" sz="2400">
                    <a:solidFill>
                      <a:srgbClr val="111827"/>
                    </a:solidFill>
                    <a:latin typeface="Cambria Math" panose="02040503050406030204" pitchFamily="18" charset="0"/>
                  </a:rPr>
                  <a:t>$n$</a:t>
                </a:r>
                <a:r>
                  <a:rPr sz="2400" b="0">
                    <a:solidFill>
                      <a:srgbClr val="111827"/>
                    </a:solidFill>
                    <a:latin typeface="Arial"/>
                  </a:rPr>
                  <a:t>-gon has apothem </a:t>
                </a:r>
                <a:r>
                  <a:rPr lang="en-IN" sz="2400">
                    <a:solidFill>
                      <a:srgbClr val="111827"/>
                    </a:solidFill>
                    <a:latin typeface="Cambria Math" panose="02040503050406030204" pitchFamily="18" charset="0"/>
                  </a:rPr>
                  <a:t>$1$</a:t>
                </a:r>
                <a:r>
                  <a:rPr sz="2400" b="0">
                    <a:solidFill>
                      <a:srgbClr val="111827"/>
                    </a:solidFill>
                    <a:latin typeface="Arial"/>
                  </a:rPr>
                  <a:t> and splits into </a:t>
                </a:r>
                <a:r>
                  <a:rPr lang="en-IN" sz="2400">
                    <a:solidFill>
                      <a:srgbClr val="111827"/>
                    </a:solidFill>
                    <a:latin typeface="Cambria Math" panose="02040503050406030204" pitchFamily="18" charset="0"/>
                  </a:rPr>
                  <a:t>$2n$</a:t>
                </a:r>
                <a:r>
                  <a:rPr sz="2400" b="0">
                    <a:solidFill>
                      <a:srgbClr val="111827"/>
                    </a:solidFill>
                    <a:latin typeface="Arial"/>
                  </a:rPr>
                  <a:t> right triangles with legs </a:t>
                </a:r>
                <a:r>
                  <a:rPr lang="en-IN" sz="2400">
                    <a:solidFill>
                      <a:srgbClr val="111827"/>
                    </a:solidFill>
                    <a:latin typeface="Cambria Math" panose="02040503050406030204" pitchFamily="18" charset="0"/>
                  </a:rPr>
                  <a:t>$1$</a:t>
                </a:r>
                <a:r>
                  <a:rPr sz="2400" b="0">
                    <a:solidFill>
                      <a:srgbClr val="111827"/>
                    </a:solidFill>
                    <a:latin typeface="Arial"/>
                  </a:rPr>
                  <a:t> and </a:t>
                </a:r>
                <a:r>
                  <a:rPr lang="en-IN" sz="2400">
                    <a:solidFill>
                      <a:srgbClr val="111827"/>
                    </a:solidFill>
                    <a:latin typeface="Cambria Math" panose="02040503050406030204" pitchFamily="18" charset="0"/>
                  </a:rPr>
                  <a:t>$\tan\theta$</a:t>
                </a:r>
                <a:r>
                  <a:rPr sz="2400" b="0">
                    <a:solidFill>
                      <a:srgbClr val="111827"/>
                    </a:solidFill>
                    <a:latin typeface="Arial"/>
                  </a:rPr>
                  <a:t>: </a:t>
                </a:r>
                <a:r>
                  <a:rPr lang="en-IN" sz="2400">
                    <a:solidFill>
                      <a:srgbClr val="111827"/>
                    </a:solidFill>
                    <a:latin typeface="Cambria Math" panose="02040503050406030204" pitchFamily="18" charset="0"/>
                  </a:rPr>
                  <a:t>$O_n=n\tan\theta$</a:t>
                </a:r>
                <a:r>
                  <a:rPr sz="2400" b="0">
                    <a:solidFill>
                      <a:srgbClr val="111827"/>
                    </a:solidFill>
                    <a:latin typeface="Arial"/>
                  </a:rPr>
                  <a:t> (the PDF's hint).</a:t>
                </a:r>
                <a:endParaRPr sz="2400">
                  <a:solidFill>
                    <a:srgbClr val="111827"/>
                  </a:solidFill>
                </a:endParaRPr>
              </a:p>
            </p:txBody>
          </p:sp>
        </mc:Fallback>
      </mc:AlternateContent>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first,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oMath>
                </a14:m>
                <a:r>
                  <a:rPr sz="2400" b="0">
                    <a:solidFill>
                      <a:srgbClr val="111827"/>
                    </a:solidFill>
                    <a:latin typeface="Arial"/>
                  </a:rPr>
                  <a:t>, so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22</m:t>
                            </m:r>
                          </m:sup>
                        </m:sSup>
                        <m:r>
                          <a:rPr lang="en-IN" sz="2400" i="1">
                            <a:solidFill>
                              <a:srgbClr val="111827"/>
                            </a:solidFill>
                            <a:latin typeface="Cambria Math" panose="02040503050406030204" pitchFamily="18" charset="0"/>
                          </a:rPr>
                          <m:t>θ</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Right side: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𝑂</m:t>
                            </m:r>
                          </m:e>
                          <m:sub>
                            <m:r>
                              <a:rPr lang="en-IN" sz="2400" i="1">
                                <a:solidFill>
                                  <a:srgbClr val="111827"/>
                                </a:solidFill>
                                <a:latin typeface="Cambria Math" panose="02040503050406030204" pitchFamily="18" charset="0"/>
                              </a:rPr>
                              <m:t>𝑛</m:t>
                            </m:r>
                          </m:sub>
                        </m:sSub>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𝑂</m:t>
                            </m:r>
                          </m:e>
                          <m:sub>
                            <m:r>
                              <a:rPr lang="en-IN" sz="2400" i="1">
                                <a:solidFill>
                                  <a:srgbClr val="111827"/>
                                </a:solidFill>
                                <a:latin typeface="Cambria Math" panose="02040503050406030204" pitchFamily="18" charset="0"/>
                              </a:rPr>
                              <m:t>𝑛</m:t>
                            </m:r>
                          </m:sub>
                        </m:sSub>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e>
                        </m:rad>
                      </m:e>
                    </m:d>
                  </m:oMath>
                </a14:m>
                <a:r>
                  <a:rPr sz="2400" b="0">
                    <a:solidFill>
                      <a:srgbClr val="111827"/>
                    </a:solidFill>
                    <a:latin typeface="Arial"/>
                  </a:rPr>
                  <a:t>, valid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and the square root equals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oMath>
                </a14:m>
                <a:r>
                  <a:rPr sz="2400" b="0">
                    <a:solidFill>
                      <a:srgbClr val="111827"/>
                    </a:solidFill>
                    <a:latin typeface="Arial"/>
                  </a:rPr>
                  <a:t>, so the formula fails: </a:t>
                </a:r>
                <a14:m>
                  <m:oMath xmlns:m="http://schemas.openxmlformats.org/officeDocument/2006/math">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1.299</m:t>
                    </m:r>
                  </m:oMath>
                </a14:m>
                <a:r>
                  <a:rPr sz="2400" b="0">
                    <a:solidFill>
                      <a:srgbClr val="111827"/>
                    </a:solidFill>
                    <a:latin typeface="Arial"/>
                  </a:rPr>
                  <a:t> but the right side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3.897</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first, </a:t>
                </a:r>
                <a:r>
                  <a:rPr lang="en-IN" sz="2400">
                    <a:solidFill>
                      <a:srgbClr val="111827"/>
                    </a:solidFill>
                    <a:latin typeface="Cambria Math" panose="02040503050406030204" pitchFamily="18" charset="0"/>
                  </a:rPr>
                  <a:t>$\frac{2I_n}n=\sin2\theta$</a:t>
                </a:r>
                <a:r>
                  <a:rPr sz="2400" b="0">
                    <a:solidFill>
                      <a:srgbClr val="111827"/>
                    </a:solidFill>
                    <a:latin typeface="Arial"/>
                  </a:rPr>
                  <a:t>, so </a:t>
                </a:r>
                <a:r>
                  <a:rPr lang="en-IN" sz="2400">
                    <a:solidFill>
                      <a:srgbClr val="111827"/>
                    </a:solidFill>
                    <a:latin typeface="Cambria Math" panose="02040503050406030204" pitchFamily="18" charset="0"/>
                  </a:rPr>
                  <a:t>$\sqrt{1-\left(\frac{2I_n}n\right)^2}=\sqrt{1-\sin^22\theta}=|\cos2\theta|=\cos2\theta$</a:t>
                </a:r>
                <a:r>
                  <a:rPr sz="2400" b="0">
                    <a:solidFill>
                      <a:srgbClr val="111827"/>
                    </a:solidFill>
                    <a:latin typeface="Arial"/>
                  </a:rPr>
                  <a:t> for </a:t>
                </a:r>
                <a:r>
                  <a:rPr lang="en-IN" sz="2400">
                    <a:solidFill>
                      <a:srgbClr val="111827"/>
                    </a:solidFill>
                    <a:latin typeface="Cambria Math" panose="02040503050406030204" pitchFamily="18" charset="0"/>
                  </a:rPr>
                  <a:t>$n\ge4$</a:t>
                </a:r>
                <a:r>
                  <a:rPr sz="2400" b="0">
                    <a:solidFill>
                      <a:srgbClr val="111827"/>
                    </a:solidFill>
                    <a:latin typeface="Arial"/>
                  </a:rPr>
                  <a:t> (then </a:t>
                </a:r>
                <a:r>
                  <a:rPr lang="en-IN" sz="2400">
                    <a:solidFill>
                      <a:srgbClr val="111827"/>
                    </a:solidFill>
                    <a:latin typeface="Cambria Math" panose="02040503050406030204" pitchFamily="18" charset="0"/>
                  </a:rPr>
                  <a:t>$2\theta\le\frac\pi2$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Right side: </a:t>
                </a:r>
                <a:r>
                  <a:rPr lang="en-IN" sz="2400">
                    <a:solidFill>
                      <a:srgbClr val="111827"/>
                    </a:solidFill>
                    <a:latin typeface="Cambria Math" panose="02040503050406030204" pitchFamily="18" charset="0"/>
                  </a:rPr>
                  <a:t>$\frac{O_n}2(1+\cos2\theta)=\frac n2\tan\theta\cdot2\cos^2\theta=n\sin\theta\cos\theta=\frac n2\sin2\theta=I_n$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$I_n=\frac{O_n}2\left(1+\sqrt{1-\left(\frac{2I_n}n\right)^2}\right)$</a:t>
                </a:r>
                <a:r>
                  <a:rPr sz="2400" b="0">
                    <a:solidFill>
                      <a:srgbClr val="111827"/>
                    </a:solidFill>
                    <a:latin typeface="Arial"/>
                  </a:rPr>
                  <a:t>, valid for </a:t>
                </a:r>
                <a:r>
                  <a:rPr lang="en-IN" sz="2400">
                    <a:solidFill>
                      <a:srgbClr val="111827"/>
                    </a:solidFill>
                    <a:latin typeface="Cambria Math" panose="02040503050406030204" pitchFamily="18" charset="0"/>
                  </a:rPr>
                  <a:t>$n\ge4$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$n=3$</a:t>
                </a:r>
                <a:r>
                  <a:rPr sz="2400" b="0">
                    <a:solidFill>
                      <a:srgbClr val="111827"/>
                    </a:solidFill>
                    <a:latin typeface="Arial"/>
                  </a:rPr>
                  <a:t>, </a:t>
                </a:r>
                <a:r>
                  <a:rPr lang="en-IN" sz="2400">
                    <a:solidFill>
                      <a:srgbClr val="111827"/>
                    </a:solidFill>
                    <a:latin typeface="Cambria Math" panose="02040503050406030204" pitchFamily="18" charset="0"/>
                  </a:rPr>
                  <a:t>$\cos2\theta=-\frac12&lt;0$</a:t>
                </a:r>
                <a:r>
                  <a:rPr sz="2400" b="0">
                    <a:solidFill>
                      <a:srgbClr val="111827"/>
                    </a:solidFill>
                    <a:latin typeface="Arial"/>
                  </a:rPr>
                  <a:t> and the square root equals </a:t>
                </a:r>
                <a:r>
                  <a:rPr lang="en-IN" sz="2400">
                    <a:solidFill>
                      <a:srgbClr val="111827"/>
                    </a:solidFill>
                    <a:latin typeface="Cambria Math" panose="02040503050406030204" pitchFamily="18" charset="0"/>
                  </a:rPr>
                  <a:t>$-\cos2\theta$</a:t>
                </a:r>
                <a:r>
                  <a:rPr sz="2400" b="0">
                    <a:solidFill>
                      <a:srgbClr val="111827"/>
                    </a:solidFill>
                    <a:latin typeface="Arial"/>
                  </a:rPr>
                  <a:t>, so the formula fails: </a:t>
                </a:r>
                <a:r>
                  <a:rPr lang="en-IN" sz="2400">
                    <a:solidFill>
                      <a:srgbClr val="111827"/>
                    </a:solidFill>
                    <a:latin typeface="Cambria Math" panose="02040503050406030204" pitchFamily="18" charset="0"/>
                  </a:rPr>
                  <a:t>$I_3\approx1.299$</a:t>
                </a:r>
                <a:r>
                  <a:rPr sz="2400" b="0">
                    <a:solidFill>
                      <a:srgbClr val="111827"/>
                    </a:solidFill>
                    <a:latin typeface="Arial"/>
                  </a:rPr>
                  <a:t> but the right side is </a:t>
                </a:r>
                <a:r>
                  <a:rPr lang="en-IN" sz="2400">
                    <a:solidFill>
                      <a:srgbClr val="111827"/>
                    </a:solidFill>
                    <a:latin typeface="Cambria Math" panose="02040503050406030204" pitchFamily="18" charset="0"/>
                  </a:rPr>
                  <a:t>$\approx3.897$</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(for </a:t>
                </a:r>
                <a14:m>
                  <m:oMath xmlns:m="http://schemas.openxmlformats.org/officeDocument/2006/math">
                    <m:r>
                      <a:rPr lang="en-IN" sz="2800" i="1">
                        <a:solidFill>
                          <a:srgbClr val="15803D"/>
                        </a:solidFill>
                        <a:latin typeface="Cambria Math" panose="02040503050406030204" pitchFamily="18" charset="0"/>
                      </a:rPr>
                      <m:t>𝑛</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m:t>
                    </m:r>
                  </m:oMath>
                </a14:m>
                <a:r>
                  <a:rPr sz="2800" b="1">
                    <a:solidFill>
                      <a:srgbClr val="15803D"/>
                    </a:solidFill>
                    <a:latin typeface="Arial"/>
                  </a:rPr>
                  <a:t>)</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(for </a:t>
                </a:r>
                <a:r>
                  <a:rPr lang="en-IN" sz="2800">
                    <a:solidFill>
                      <a:srgbClr val="15803D"/>
                    </a:solidFill>
                    <a:latin typeface="Cambria Math" panose="02040503050406030204" pitchFamily="18" charset="0"/>
                  </a:rPr>
                  <a:t>$n\ge4$</a:t>
                </a:r>
                <a:r>
                  <a:rPr sz="2800" b="1">
                    <a:solidFill>
                      <a:srgbClr val="15803D"/>
                    </a:solidFill>
                    <a:latin typeface="Arial"/>
                  </a:rPr>
                  <a:t>)</a:t>
                </a:r>
                <a:endParaRPr sz="2800">
                  <a:solidFill>
                    <a:srgbClr val="15803D"/>
                  </a:solidFill>
                </a:endParaRPr>
              </a:p>
            </p:txBody>
          </p:sp>
        </mc:Fallback>
      </mc:AlternateContent>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two regular </a:t>
                </a:r>
                <a14:m>
                  <m:oMath xmlns:m="http://schemas.openxmlformats.org/officeDocument/2006/math">
                    <m:r>
                      <a:rPr lang="en-IN" sz="2400" i="1">
                        <a:solidFill>
                          <a:srgbClr val="78350F"/>
                        </a:solidFill>
                        <a:latin typeface="Cambria Math" panose="02040503050406030204" pitchFamily="18" charset="0"/>
                      </a:rPr>
                      <m:t>𝑛</m:t>
                    </m:r>
                  </m:oMath>
                </a14:m>
                <a:r>
                  <a:rPr sz="2400" b="0">
                    <a:solidFill>
                      <a:srgbClr val="78350F"/>
                    </a:solidFill>
                    <a:latin typeface="Arial"/>
                  </a:rPr>
                  <a:t>-gons are similar, so the ratio of their areas is the square of the ratio of their circumradii: </a:t>
                </a:r>
                <a14:m>
                  <m:oMath xmlns:m="http://schemas.openxmlformats.org/officeDocument/2006/math">
                    <m:sSub>
                      <m:e>
                        <m:r>
                          <a:rPr lang="en-IN" sz="2400" i="1">
                            <a:solidFill>
                              <a:srgbClr val="78350F"/>
                            </a:solidFill>
                            <a:latin typeface="Cambria Math" panose="02040503050406030204" pitchFamily="18" charset="0"/>
                          </a:rPr>
                          <m:t>𝐼</m:t>
                        </m:r>
                      </m:e>
                      <m:sub>
                        <m:r>
                          <a:rPr lang="en-IN" sz="2400" i="1">
                            <a:solidFill>
                              <a:srgbClr val="78350F"/>
                            </a:solidFill>
                            <a:latin typeface="Cambria Math" panose="02040503050406030204" pitchFamily="18" charset="0"/>
                          </a:rPr>
                          <m:t>𝑛</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𝑂</m:t>
                        </m:r>
                      </m:e>
                      <m:sub>
                        <m:r>
                          <a:rPr lang="en-IN" sz="2400" i="1">
                            <a:solidFill>
                              <a:srgbClr val="78350F"/>
                            </a:solidFill>
                            <a:latin typeface="Cambria Math" panose="02040503050406030204" pitchFamily="18" charset="0"/>
                          </a:rPr>
                          <m:t>𝑛</m:t>
                        </m:r>
                      </m:sub>
                    </m:sSub>
                    <m:sSup>
                      <m:e>
                        <m:r>
                          <m:rPr>
                            <m:sty m:val="p"/>
                          </m:rPr>
                          <a:rPr lang="en-IN" sz="2400">
                            <a:solidFill>
                              <a:srgbClr val="78350F"/>
                            </a:solidFill>
                            <a:latin typeface="Cambria Math" panose="02040503050406030204" pitchFamily="18" charset="0"/>
                          </a:rPr>
                          <m:t>cos</m:t>
                        </m:r>
                      </m:e>
                      <m:sup>
                        <m:r>
                          <a:rPr lang="en-IN" sz="2400" i="1">
                            <a:solidFill>
                              <a:srgbClr val="78350F"/>
                            </a:solidFill>
                            <a:latin typeface="Cambria Math" panose="02040503050406030204" pitchFamily="18" charset="0"/>
                          </a:rPr>
                          <m:t>2</m:t>
                        </m:r>
                      </m:sup>
                    </m:sSup>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π</m:t>
                        </m:r>
                      </m:num>
                      <m:den>
                        <m:r>
                          <a:rPr lang="en-IN" sz="2400" i="1">
                            <a:solidFill>
                              <a:srgbClr val="78350F"/>
                            </a:solidFill>
                            <a:latin typeface="Cambria Math" panose="02040503050406030204" pitchFamily="18" charset="0"/>
                          </a:rPr>
                          <m:t>𝑛</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two regular </a:t>
                </a:r>
                <a:r>
                  <a:rPr lang="en-IN" sz="2400">
                    <a:solidFill>
                      <a:srgbClr val="78350F"/>
                    </a:solidFill>
                    <a:latin typeface="Cambria Math" panose="02040503050406030204" pitchFamily="18" charset="0"/>
                  </a:rPr>
                  <a:t>$n$</a:t>
                </a:r>
                <a:r>
                  <a:rPr sz="2400" b="0">
                    <a:solidFill>
                      <a:srgbClr val="78350F"/>
                    </a:solidFill>
                    <a:latin typeface="Arial"/>
                  </a:rPr>
                  <a:t>-gons are similar, so the ratio of their areas is the square of the ratio of their circumradii: </a:t>
                </a:r>
                <a:r>
                  <a:rPr lang="en-IN" sz="2400">
                    <a:solidFill>
                      <a:srgbClr val="78350F"/>
                    </a:solidFill>
                    <a:latin typeface="Cambria Math" panose="02040503050406030204" pitchFamily="18" charset="0"/>
                  </a:rPr>
                  <a:t>$I_n=O_n\cos^2\frac\pi n$</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inscribed polygon has circumradius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the circumscribed polygon has apothem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hence circumradius </a:t>
                </a:r>
                <a14:m>
                  <m:oMath xmlns:m="http://schemas.openxmlformats.org/officeDocument/2006/math">
                    <m:r>
                      <m:rPr>
                        <m:sty m:val="p"/>
                      </m:rPr>
                      <a:rPr lang="en-IN" sz="2400">
                        <a:solidFill>
                          <a:srgbClr val="111827"/>
                        </a:solidFill>
                        <a:latin typeface="Cambria Math" panose="02040503050406030204" pitchFamily="18" charset="0"/>
                      </a:rPr>
                      <m:t>sec</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 polygons: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num>
                      <m:den>
                        <m:sSub>
                          <m:e>
                            <m:r>
                              <a:rPr lang="en-IN" sz="2400" i="1">
                                <a:solidFill>
                                  <a:srgbClr val="111827"/>
                                </a:solidFill>
                                <a:latin typeface="Cambria Math" panose="02040503050406030204" pitchFamily="18" charset="0"/>
                              </a:rPr>
                              <m:t>𝑂</m:t>
                            </m:r>
                          </m:e>
                          <m:sub>
                            <m:r>
                              <a:rPr lang="en-IN" sz="2400" i="1">
                                <a:solidFill>
                                  <a:srgbClr val="111827"/>
                                </a:solidFill>
                                <a:latin typeface="Cambria Math" panose="02040503050406030204" pitchFamily="18" charset="0"/>
                              </a:rPr>
                              <m:t>𝑛</m:t>
                            </m:r>
                          </m:sub>
                        </m:sSub>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sec</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inscribed polygon has circumradius </a:t>
                </a:r>
                <a:r>
                  <a:rPr lang="en-IN" sz="2400">
                    <a:solidFill>
                      <a:srgbClr val="111827"/>
                    </a:solidFill>
                    <a:latin typeface="Cambria Math" panose="02040503050406030204" pitchFamily="18" charset="0"/>
                  </a:rPr>
                  <a:t>$1$</a:t>
                </a:r>
                <a:r>
                  <a:rPr sz="2400" b="0">
                    <a:solidFill>
                      <a:srgbClr val="111827"/>
                    </a:solidFill>
                    <a:latin typeface="Arial"/>
                  </a:rPr>
                  <a:t>; the circumscribed polygon has apothem </a:t>
                </a:r>
                <a:r>
                  <a:rPr lang="en-IN" sz="2400">
                    <a:solidFill>
                      <a:srgbClr val="111827"/>
                    </a:solidFill>
                    <a:latin typeface="Cambria Math" panose="02040503050406030204" pitchFamily="18" charset="0"/>
                  </a:rPr>
                  <a:t>$1$</a:t>
                </a:r>
                <a:r>
                  <a:rPr sz="2400" b="0">
                    <a:solidFill>
                      <a:srgbClr val="111827"/>
                    </a:solidFill>
                    <a:latin typeface="Arial"/>
                  </a:rPr>
                  <a:t>, hence circumradius </a:t>
                </a:r>
                <a:r>
                  <a:rPr lang="en-IN" sz="2400">
                    <a:solidFill>
                      <a:srgbClr val="111827"/>
                    </a:solidFill>
                    <a:latin typeface="Cambria Math" panose="02040503050406030204" pitchFamily="18" charset="0"/>
                  </a:rPr>
                  <a:t>$\sec\frac\pi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 polygons: </a:t>
                </a:r>
                <a:r>
                  <a:rPr lang="en-IN" sz="2400">
                    <a:solidFill>
                      <a:srgbClr val="111827"/>
                    </a:solidFill>
                    <a:latin typeface="Cambria Math" panose="02040503050406030204" pitchFamily="18" charset="0"/>
                  </a:rPr>
                  <a:t>$\frac{I_n}{O_n}=\left(\frac1{\sec\frac\pi n}\right)^2=\cos^2\frac\pi n=\frac{1+\cos\frac{2\pi}n}2$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inscribed area is </a:t>
                </a:r>
                <a14:m>
                  <m:oMath xmlns:m="http://schemas.openxmlformats.org/officeDocument/2006/math">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and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𝑂</m:t>
                            </m:r>
                          </m:e>
                          <m:sub>
                            <m:r>
                              <a:rPr lang="en-IN" sz="2400" i="1">
                                <a:solidFill>
                                  <a:srgbClr val="111827"/>
                                </a:solidFill>
                                <a:latin typeface="Cambria Math" panose="02040503050406030204" pitchFamily="18" charset="0"/>
                              </a:rPr>
                              <m:t>𝑛</m:t>
                            </m:r>
                          </m:sub>
                        </m:sSub>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𝑛</m:t>
                                            </m:r>
                                          </m:sub>
                                        </m:sSub>
                                      </m:num>
                                      <m:den>
                                        <m:r>
                                          <a:rPr lang="en-IN" sz="2400" i="1">
                                            <a:solidFill>
                                              <a:srgbClr val="111827"/>
                                            </a:solidFill>
                                            <a:latin typeface="Cambria Math" panose="02040503050406030204" pitchFamily="18" charset="0"/>
                                          </a:rPr>
                                          <m:t>𝑛</m:t>
                                        </m:r>
                                      </m:den>
                                    </m:f>
                                  </m:e>
                                </m:d>
                              </m:e>
                              <m:sup>
                                <m:r>
                                  <a:rPr lang="en-IN" sz="2400" i="1">
                                    <a:solidFill>
                                      <a:srgbClr val="111827"/>
                                    </a:solidFill>
                                    <a:latin typeface="Cambria Math" panose="02040503050406030204" pitchFamily="18" charset="0"/>
                                  </a:rPr>
                                  <m:t>2</m:t>
                                </m:r>
                              </m:sup>
                            </m:sSup>
                          </m:e>
                        </m:rad>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inscribed area is </a:t>
                </a:r>
                <a:r>
                  <a:rPr lang="en-IN" sz="2400">
                    <a:solidFill>
                      <a:srgbClr val="111827"/>
                    </a:solidFill>
                    <a:latin typeface="Cambria Math" panose="02040503050406030204" pitchFamily="18" charset="0"/>
                  </a:rPr>
                  <a:t>$I_n=\frac n2\sin\frac{2\pi}n$</a:t>
                </a:r>
                <a:r>
                  <a:rPr sz="2400" b="0">
                    <a:solidFill>
                      <a:srgbClr val="111827"/>
                    </a:solidFill>
                    <a:latin typeface="Arial"/>
                  </a:rPr>
                  <a:t>, so </a:t>
                </a:r>
                <a:r>
                  <a:rPr lang="en-IN" sz="2400">
                    <a:solidFill>
                      <a:srgbClr val="111827"/>
                    </a:solidFill>
                    <a:latin typeface="Cambria Math" panose="02040503050406030204" pitchFamily="18" charset="0"/>
                  </a:rPr>
                  <a:t>$\sin\frac{2\pi}n=\frac{2I_n}n$</a:t>
                </a:r>
                <a:r>
                  <a:rPr sz="2400" b="0">
                    <a:solidFill>
                      <a:srgbClr val="111827"/>
                    </a:solidFill>
                    <a:latin typeface="Arial"/>
                  </a:rPr>
                  <a:t> and (for </a:t>
                </a:r>
                <a:r>
                  <a:rPr lang="en-IN" sz="2400">
                    <a:solidFill>
                      <a:srgbClr val="111827"/>
                    </a:solidFill>
                    <a:latin typeface="Cambria Math" panose="02040503050406030204" pitchFamily="18" charset="0"/>
                  </a:rPr>
                  <a:t>$n\ge4$</a:t>
                </a:r>
                <a:r>
                  <a:rPr sz="2400" b="0">
                    <a:solidFill>
                      <a:srgbClr val="111827"/>
                    </a:solidFill>
                    <a:latin typeface="Arial"/>
                  </a:rPr>
                  <a:t>, </a:t>
                </a:r>
                <a:r>
                  <a:rPr lang="en-IN" sz="2400">
                    <a:solidFill>
                      <a:srgbClr val="111827"/>
                    </a:solidFill>
                    <a:latin typeface="Cambria Math" panose="02040503050406030204" pitchFamily="18" charset="0"/>
                  </a:rPr>
                  <a:t>$\cos\frac{2\pi}n\ge0$</a:t>
                </a:r>
                <a:r>
                  <a:rPr sz="2400" b="0">
                    <a:solidFill>
                      <a:srgbClr val="111827"/>
                    </a:solidFill>
                    <a:latin typeface="Arial"/>
                  </a:rPr>
                  <a:t>) </a:t>
                </a:r>
                <a:r>
                  <a:rPr lang="en-IN" sz="2400">
                    <a:solidFill>
                      <a:srgbClr val="111827"/>
                    </a:solidFill>
                    <a:latin typeface="Cambria Math" panose="02040503050406030204" pitchFamily="18" charset="0"/>
                  </a:rPr>
                  <a:t>$\cos\frac{2\pi}n=\sqrt{1-\left(\frac{2I_n}n\right)^2}$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$I_n=\frac{O_n}2\left(1+\sqrt{1-\left(\frac{2I_n}n\right)^2}\right)$</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(for </a:t>
                </a:r>
                <a14:m>
                  <m:oMath xmlns:m="http://schemas.openxmlformats.org/officeDocument/2006/math">
                    <m:r>
                      <a:rPr lang="en-IN" sz="2800" i="1">
                        <a:solidFill>
                          <a:srgbClr val="15803D"/>
                        </a:solidFill>
                        <a:latin typeface="Cambria Math" panose="02040503050406030204" pitchFamily="18" charset="0"/>
                      </a:rPr>
                      <m:t>𝑛</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m:t>
                    </m:r>
                  </m:oMath>
                </a14:m>
                <a:r>
                  <a:rPr sz="2800" b="1">
                    <a:solidFill>
                      <a:srgbClr val="15803D"/>
                    </a:solidFill>
                    <a:latin typeface="Arial"/>
                  </a:rPr>
                  <a:t>)</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(for </a:t>
                </a:r>
                <a:r>
                  <a:rPr lang="en-IN" sz="2800">
                    <a:solidFill>
                      <a:srgbClr val="15803D"/>
                    </a:solidFill>
                    <a:latin typeface="Cambria Math" panose="02040503050406030204" pitchFamily="18" charset="0"/>
                  </a:rPr>
                  <a:t>$n\ge4$</a:t>
                </a:r>
                <a:r>
                  <a:rPr sz="2800" b="1">
                    <a:solidFill>
                      <a:srgbClr val="15803D"/>
                    </a:solidFill>
                    <a:latin typeface="Arial"/>
                  </a:rPr>
                  <a:t>)</a:t>
                </a:r>
                <a:endParaRPr sz="2800">
                  <a:solidFill>
                    <a:srgbClr val="15803D"/>
                  </a:solidFill>
                </a:endParaRPr>
              </a:p>
            </p:txBody>
          </p:sp>
        </mc:Fallback>
      </mc:AlternateContent>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Regular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-gon of circumradius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area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den>
                    </m:f>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of inradius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area </a:t>
                </a:r>
                <a14:m>
                  <m:oMath xmlns:m="http://schemas.openxmlformats.org/officeDocument/2006/math">
                    <m:r>
                      <a:rPr lang="en-IN" sz="2400" i="1">
                        <a:solidFill>
                          <a:srgbClr val="111827"/>
                        </a:solidFill>
                        <a:latin typeface="Cambria Math" panose="02040503050406030204" pitchFamily="18" charset="0"/>
                      </a:rPr>
                      <m:t>𝑛</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Inscribed-to-circumscribed area ratio for the same circle is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(similar polygons with circumradius ratio </a:t>
                </a:r>
                <a14:m>
                  <m:oMath xmlns:m="http://schemas.openxmlformats.org/officeDocument/2006/math">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check: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write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oMath>
                </a14:m>
                <a:r>
                  <a:rPr sz="2400" b="0">
                    <a:solidFill>
                      <a:srgbClr val="111827"/>
                    </a:solidFill>
                    <a:latin typeface="Arial"/>
                  </a:rPr>
                  <a:t> only after confirming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 here this requires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Regular </a:t>
                </a:r>
                <a:r>
                  <a:rPr lang="en-IN" sz="2400">
                    <a:solidFill>
                      <a:srgbClr val="111827"/>
                    </a:solidFill>
                    <a:latin typeface="Cambria Math" panose="02040503050406030204" pitchFamily="18" charset="0"/>
                  </a:rPr>
                  <a:t>$n$</a:t>
                </a:r>
                <a:r>
                  <a:rPr sz="2400" b="0">
                    <a:solidFill>
                      <a:srgbClr val="111827"/>
                    </a:solidFill>
                    <a:latin typeface="Arial"/>
                  </a:rPr>
                  <a:t>-gon of circumradius </a:t>
                </a:r>
                <a:r>
                  <a:rPr lang="en-IN" sz="2400">
                    <a:solidFill>
                      <a:srgbClr val="111827"/>
                    </a:solidFill>
                    <a:latin typeface="Cambria Math" panose="02040503050406030204" pitchFamily="18" charset="0"/>
                  </a:rPr>
                  <a:t>$R$</a:t>
                </a:r>
                <a:r>
                  <a:rPr sz="2400" b="0">
                    <a:solidFill>
                      <a:srgbClr val="111827"/>
                    </a:solidFill>
                    <a:latin typeface="Arial"/>
                  </a:rPr>
                  <a:t>: area </a:t>
                </a:r>
                <a:r>
                  <a:rPr lang="en-IN" sz="2400">
                    <a:solidFill>
                      <a:srgbClr val="111827"/>
                    </a:solidFill>
                    <a:latin typeface="Cambria Math" panose="02040503050406030204" pitchFamily="18" charset="0"/>
                  </a:rPr>
                  <a:t>$\frac n2R^2\sin\frac{2\pi}n$</a:t>
                </a:r>
                <a:r>
                  <a:rPr sz="2400" b="0">
                    <a:solidFill>
                      <a:srgbClr val="111827"/>
                    </a:solidFill>
                    <a:latin typeface="Arial"/>
                  </a:rPr>
                  <a:t>; of inradius </a:t>
                </a:r>
                <a:r>
                  <a:rPr lang="en-IN" sz="2400">
                    <a:solidFill>
                      <a:srgbClr val="111827"/>
                    </a:solidFill>
                    <a:latin typeface="Cambria Math" panose="02040503050406030204" pitchFamily="18" charset="0"/>
                  </a:rPr>
                  <a:t>$r$</a:t>
                </a:r>
                <a:r>
                  <a:rPr sz="2400" b="0">
                    <a:solidFill>
                      <a:srgbClr val="111827"/>
                    </a:solidFill>
                    <a:latin typeface="Arial"/>
                  </a:rPr>
                  <a:t>: area </a:t>
                </a:r>
                <a:r>
                  <a:rPr lang="en-IN" sz="2400">
                    <a:solidFill>
                      <a:srgbClr val="111827"/>
                    </a:solidFill>
                    <a:latin typeface="Cambria Math" panose="02040503050406030204" pitchFamily="18" charset="0"/>
                  </a:rPr>
                  <a:t>$nr^2\tan\frac\pi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Inscribed-to-circumscribed area ratio for the same circle is </a:t>
                </a:r>
                <a:r>
                  <a:rPr lang="en-IN" sz="2400">
                    <a:solidFill>
                      <a:srgbClr val="111827"/>
                    </a:solidFill>
                    <a:latin typeface="Cambria Math" panose="02040503050406030204" pitchFamily="18" charset="0"/>
                  </a:rPr>
                  <a:t>$\cos^2\frac\pi n$</a:t>
                </a:r>
                <a:r>
                  <a:rPr sz="2400" b="0">
                    <a:solidFill>
                      <a:srgbClr val="111827"/>
                    </a:solidFill>
                    <a:latin typeface="Arial"/>
                  </a:rPr>
                  <a:t> (similar polygons with circumradius ratio </a:t>
                </a:r>
                <a:r>
                  <a:rPr lang="en-IN" sz="2400">
                    <a:solidFill>
                      <a:srgbClr val="111827"/>
                    </a:solidFill>
                    <a:latin typeface="Cambria Math" panose="02040503050406030204" pitchFamily="18" charset="0"/>
                  </a:rPr>
                  <a:t>$\cos\frac\pi n$</a:t>
                </a:r>
                <a:r>
                  <a:rPr sz="2400" b="0">
                    <a:solidFill>
                      <a:srgbClr val="111827"/>
                    </a:solidFill>
                    <a:latin typeface="Arial"/>
                  </a:rPr>
                  <a:t>); for </a:t>
                </a:r>
                <a:r>
                  <a:rPr lang="en-IN" sz="2400">
                    <a:solidFill>
                      <a:srgbClr val="111827"/>
                    </a:solidFill>
                    <a:latin typeface="Cambria Math" panose="02040503050406030204" pitchFamily="18" charset="0"/>
                  </a:rPr>
                  <a:t>$n=4$</a:t>
                </a:r>
                <a:r>
                  <a:rPr sz="2400" b="0">
                    <a:solidFill>
                      <a:srgbClr val="111827"/>
                    </a:solidFill>
                    <a:latin typeface="Arial"/>
                  </a:rPr>
                  <a:t> it is </a:t>
                </a:r>
                <a:r>
                  <a:rPr lang="en-IN" sz="2400">
                    <a:solidFill>
                      <a:srgbClr val="111827"/>
                    </a:solidFill>
                    <a:latin typeface="Cambria Math" panose="02040503050406030204" pitchFamily="18" charset="0"/>
                  </a:rPr>
                  <a:t>$\frac12$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Sign check: </a:t>
                </a:r>
                <a:r>
                  <a:rPr lang="en-IN" sz="2400">
                    <a:solidFill>
                      <a:srgbClr val="111827"/>
                    </a:solidFill>
                    <a:latin typeface="Cambria Math" panose="02040503050406030204" pitchFamily="18" charset="0"/>
                  </a:rPr>
                  <a:t>$\sqrt{1-\sin^2x}=|\cos x|$</a:t>
                </a:r>
                <a:r>
                  <a:rPr sz="2400" b="0">
                    <a:solidFill>
                      <a:srgbClr val="111827"/>
                    </a:solidFill>
                    <a:latin typeface="Arial"/>
                  </a:rPr>
                  <a:t>, so write </a:t>
                </a:r>
                <a:r>
                  <a:rPr lang="en-IN" sz="2400">
                    <a:solidFill>
                      <a:srgbClr val="111827"/>
                    </a:solidFill>
                    <a:latin typeface="Cambria Math" panose="02040503050406030204" pitchFamily="18" charset="0"/>
                  </a:rPr>
                  <a:t>$\cos x$</a:t>
                </a:r>
                <a:r>
                  <a:rPr sz="2400" b="0">
                    <a:solidFill>
                      <a:srgbClr val="111827"/>
                    </a:solidFill>
                    <a:latin typeface="Arial"/>
                  </a:rPr>
                  <a:t> only after confirming </a:t>
                </a:r>
                <a:r>
                  <a:rPr lang="en-IN" sz="2400">
                    <a:solidFill>
                      <a:srgbClr val="111827"/>
                    </a:solidFill>
                    <a:latin typeface="Cambria Math" panose="02040503050406030204" pitchFamily="18" charset="0"/>
                  </a:rPr>
                  <a:t>$\cos x\ge0$</a:t>
                </a:r>
                <a:r>
                  <a:rPr sz="2400" b="0">
                    <a:solidFill>
                      <a:srgbClr val="111827"/>
                    </a:solidFill>
                    <a:latin typeface="Arial"/>
                  </a:rPr>
                  <a:t> - here this requires </a:t>
                </a:r>
                <a:r>
                  <a:rPr lang="en-IN" sz="2400">
                    <a:solidFill>
                      <a:srgbClr val="111827"/>
                    </a:solidFill>
                    <a:latin typeface="Cambria Math" panose="02040503050406030204" pitchFamily="18" charset="0"/>
                  </a:rPr>
                  <a:t>$n\ge4$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Paragraph Based Single Correct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Q23 – Q28</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3 marks each (no marks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Two paragraphs: Q23-25 and Q26-28; single correct option</a:t>
            </a:r>
            <a:endParaRPr sz="2800">
              <a:solidFill>
                <a:srgbClr val="FFFFFF"/>
              </a:solidFill>
            </a:endParaRP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4701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are the lengths of the perpendiculars drawn from the vertices of the triangle to the opposite sides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respectively; let the letters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Δ</m:t>
                    </m:r>
                  </m:oMath>
                </a14:m>
                <a:r>
                  <a:rPr sz="2400" b="0">
                    <a:solidFill>
                      <a:srgbClr val="111827"/>
                    </a:solidFill>
                    <a:latin typeface="Arial"/>
                  </a:rPr>
                  <a:t> denote the circumradius, inradius, semi-perimeter and area of the triangle respectively.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𝑘</m:t>
                        </m:r>
                      </m:den>
                    </m:f>
                  </m:oMath>
                </a14:m>
                <a:r>
                  <a:rPr sz="2400" b="0">
                    <a:solidFill>
                      <a:srgbClr val="111827"/>
                    </a:solidFill>
                    <a:latin typeface="Arial"/>
                  </a:rPr>
                  <a:t>, then the value of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𝑅</m:t>
                    </m:r>
                  </m:oMath>
                </a14:m>
                <a:endParaRPr sz="2400">
                  <a:solidFill>
                    <a:srgbClr val="111827"/>
                  </a:solidFill>
                </a:endParaRPr>
              </a:p>
            </p:txBody>
          </p:sp>
        </mc:Choice>
        <mc:Fallback>
          <p:sp>
            <p:nvSpPr>
              <p:cNvPr id="4" name="Rounded Rectangle 3"/>
              <p:cNvSpPr/>
              <p:nvPr/>
            </p:nvSpPr>
            <p:spPr>
              <a:xfrm>
                <a:off x="731520" y="1280160"/>
                <a:ext cx="10725912" cy="34701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triangle </a:t>
                </a:r>
                <a:r>
                  <a:rPr lang="en-IN" sz="2400">
                    <a:solidFill>
                      <a:srgbClr val="111827"/>
                    </a:solidFill>
                    <a:latin typeface="Cambria Math" panose="02040503050406030204" pitchFamily="18" charset="0"/>
                  </a:rPr>
                  <a:t>$ABC$</a:t>
                </a:r>
                <a:r>
                  <a:rPr sz="2400" b="0">
                    <a:solidFill>
                      <a:srgbClr val="111827"/>
                    </a:solidFill>
                    <a:latin typeface="Arial"/>
                  </a:rPr>
                  <a:t>, where </a:t>
                </a:r>
                <a:r>
                  <a:rPr lang="en-IN" sz="2400">
                    <a:solidFill>
                      <a:srgbClr val="111827"/>
                    </a:solidFill>
                    <a:latin typeface="Cambria Math" panose="02040503050406030204" pitchFamily="18" charset="0"/>
                  </a:rPr>
                  <a:t>$x,y,z$</a:t>
                </a:r>
                <a:r>
                  <a:rPr sz="2400" b="0">
                    <a:solidFill>
                      <a:srgbClr val="111827"/>
                    </a:solidFill>
                    <a:latin typeface="Arial"/>
                  </a:rPr>
                  <a:t> are the lengths of the perpendiculars drawn from the vertices of the triangle to the opposite sides </a:t>
                </a:r>
                <a:r>
                  <a:rPr lang="en-IN" sz="2400">
                    <a:solidFill>
                      <a:srgbClr val="111827"/>
                    </a:solidFill>
                    <a:latin typeface="Cambria Math" panose="02040503050406030204" pitchFamily="18" charset="0"/>
                  </a:rPr>
                  <a:t>$a,b,c$</a:t>
                </a:r>
                <a:r>
                  <a:rPr sz="2400" b="0">
                    <a:solidFill>
                      <a:srgbClr val="111827"/>
                    </a:solidFill>
                    <a:latin typeface="Arial"/>
                  </a:rPr>
                  <a:t> respectively; let the letters </a:t>
                </a:r>
                <a:r>
                  <a:rPr lang="en-IN" sz="2400">
                    <a:solidFill>
                      <a:srgbClr val="111827"/>
                    </a:solidFill>
                    <a:latin typeface="Cambria Math" panose="02040503050406030204" pitchFamily="18" charset="0"/>
                  </a:rPr>
                  <a:t>$R,r,s,\Delta$</a:t>
                </a:r>
                <a:r>
                  <a:rPr sz="2400" b="0">
                    <a:solidFill>
                      <a:srgbClr val="111827"/>
                    </a:solidFill>
                    <a:latin typeface="Arial"/>
                  </a:rPr>
                  <a:t> denote the circumradius, inradius, semi-perimeter and area of the triangle respectively.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$\frac{bx}c+\frac{cy}a+\frac{az}b=\frac{a^2+b^2+c^2}k$</a:t>
                </a:r>
                <a:r>
                  <a:rPr sz="2400" b="0">
                    <a:solidFill>
                      <a:srgbClr val="111827"/>
                    </a:solidFill>
                    <a:latin typeface="Arial"/>
                  </a:rPr>
                  <a:t>, then the value of </a:t>
                </a:r>
                <a:r>
                  <a:rPr lang="en-IN" sz="2400">
                    <a:solidFill>
                      <a:srgbClr val="111827"/>
                    </a:solidFill>
                    <a:latin typeface="Cambria Math" panose="02040503050406030204" pitchFamily="18" charset="0"/>
                  </a:rPr>
                  <a:t>$k$</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$R$</a:t>
                </a:r>
                <a:r>
                  <a:rPr sz="2400" b="0">
                    <a:solidFill>
                      <a:srgbClr val="111827"/>
                    </a:solidFill>
                    <a:latin typeface="Arial"/>
                  </a:rPr>
                  <a:t>   (B) </a:t>
                </a:r>
                <a:r>
                  <a:rPr lang="en-IN" sz="2400">
                    <a:solidFill>
                      <a:srgbClr val="111827"/>
                    </a:solidFill>
                    <a:latin typeface="Cambria Math" panose="02040503050406030204" pitchFamily="18" charset="0"/>
                  </a:rPr>
                  <a:t>$s$</a:t>
                </a:r>
                <a:r>
                  <a:rPr sz="2400" b="0">
                    <a:solidFill>
                      <a:srgbClr val="111827"/>
                    </a:solidFill>
                    <a:latin typeface="Arial"/>
                  </a:rPr>
                  <a:t>   (C) </a:t>
                </a:r>
                <a:r>
                  <a:rPr lang="en-IN" sz="2400">
                    <a:solidFill>
                      <a:srgbClr val="111827"/>
                    </a:solidFill>
                    <a:latin typeface="Cambria Math" panose="02040503050406030204" pitchFamily="18" charset="0"/>
                  </a:rPr>
                  <a:t>$2R$</a:t>
                </a:r>
                <a:r>
                  <a:rPr sz="2400" b="0">
                    <a:solidFill>
                      <a:srgbClr val="111827"/>
                    </a:solidFill>
                    <a:latin typeface="Arial"/>
                  </a:rPr>
                  <a:t>   (D) </a:t>
                </a:r>
                <a:r>
                  <a:rPr lang="en-IN" sz="2400">
                    <a:solidFill>
                      <a:srgbClr val="111827"/>
                    </a:solidFill>
                    <a:latin typeface="Cambria Math" panose="02040503050406030204" pitchFamily="18" charset="0"/>
                  </a:rPr>
                  <a:t>$\frac32R$</a:t>
                </a:r>
                <a:endParaRPr sz="2400">
                  <a:solidFill>
                    <a:srgbClr val="111827"/>
                  </a:solidFill>
                </a:endParaRPr>
              </a:p>
            </p:txBody>
          </p:sp>
        </mc:Fallback>
      </mc:AlternateContent>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Altitudes of a triangle and the sine rule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An altitude is a side times a sine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num>
                      <m:den>
                        <m:r>
                          <a:rPr lang="en-IN" sz="2400" i="1">
                            <a:solidFill>
                              <a:srgbClr val="78350F"/>
                            </a:solidFill>
                            <a:latin typeface="Cambria Math" panose="02040503050406030204" pitchFamily="18" charset="0"/>
                          </a:rPr>
                          <m:t>𝑐</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𝐵</m:t>
                    </m:r>
                  </m:oMath>
                </a14:m>
                <a:r>
                  <a:rPr sz="2400" b="0">
                    <a:solidFill>
                      <a:srgbClr val="78350F"/>
                    </a:solidFill>
                    <a:latin typeface="Arial"/>
                  </a:rPr>
                  <a:t> etc.), so the sum becomes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𝑐</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𝑅</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An altitude is a side times a sine (</a:t>
                </a:r>
                <a:r>
                  <a:rPr lang="en-IN" sz="2400">
                    <a:solidFill>
                      <a:srgbClr val="78350F"/>
                    </a:solidFill>
                    <a:latin typeface="Cambria Math" panose="02040503050406030204" pitchFamily="18" charset="0"/>
                  </a:rPr>
                  <a:t>$\frac xc=\sin B$</a:t>
                </a:r>
                <a:r>
                  <a:rPr sz="2400" b="0">
                    <a:solidFill>
                      <a:srgbClr val="78350F"/>
                    </a:solidFill>
                    <a:latin typeface="Arial"/>
                  </a:rPr>
                  <a:t> etc.), so the sum becomes </a:t>
                </a:r>
                <a:r>
                  <a:rPr lang="en-IN" sz="2400">
                    <a:solidFill>
                      <a:srgbClr val="78350F"/>
                    </a:solidFill>
                    <a:latin typeface="Cambria Math" panose="02040503050406030204" pitchFamily="18" charset="0"/>
                  </a:rPr>
                  <a:t>$\sum a\sin A=\frac{a^2+b^2+c^2}{2R}$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$\frac{bx}c+\frac{cy}a+\frac{az}b=b\cdot\frac xc+c\cdot\frac ya+a\cdot\frac zb$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is the perpendicular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so in the right triangle on side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 Similarly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sum is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Sine rule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oMath>
                </a14:m>
                <a:r>
                  <a:rPr sz="2400" b="0">
                    <a:solidFill>
                      <a:srgbClr val="111827"/>
                    </a:solidFill>
                    <a:latin typeface="Arial"/>
                  </a:rPr>
                  <a:t>: the sum is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𝑘</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a:t>
                </a:r>
                <a:r>
                  <a:rPr sz="2400" b="0">
                    <a:solidFill>
                      <a:srgbClr val="111827"/>
                    </a:solidFill>
                    <a:latin typeface="Arial"/>
                  </a:rPr>
                  <a:t> is the perpendicular from </a:t>
                </a:r>
                <a:r>
                  <a:rPr lang="en-IN" sz="2400">
                    <a:solidFill>
                      <a:srgbClr val="111827"/>
                    </a:solidFill>
                    <a:latin typeface="Cambria Math" panose="02040503050406030204" pitchFamily="18" charset="0"/>
                  </a:rPr>
                  <a:t>$A$</a:t>
                </a:r>
                <a:r>
                  <a:rPr sz="2400" b="0">
                    <a:solidFill>
                      <a:srgbClr val="111827"/>
                    </a:solidFill>
                    <a:latin typeface="Arial"/>
                  </a:rPr>
                  <a:t> on </a:t>
                </a:r>
                <a:r>
                  <a:rPr lang="en-IN" sz="2400">
                    <a:solidFill>
                      <a:srgbClr val="111827"/>
                    </a:solidFill>
                    <a:latin typeface="Cambria Math" panose="02040503050406030204" pitchFamily="18" charset="0"/>
                  </a:rPr>
                  <a:t>$BC$</a:t>
                </a:r>
                <a:r>
                  <a:rPr sz="2400" b="0">
                    <a:solidFill>
                      <a:srgbClr val="111827"/>
                    </a:solidFill>
                    <a:latin typeface="Arial"/>
                  </a:rPr>
                  <a:t>, so in the right triangle on side </a:t>
                </a: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$\sin B=\frac xc$</a:t>
                </a:r>
                <a:r>
                  <a:rPr sz="2400" b="0">
                    <a:solidFill>
                      <a:srgbClr val="111827"/>
                    </a:solidFill>
                    <a:latin typeface="Arial"/>
                  </a:rPr>
                  <a:t>. Similarly </a:t>
                </a:r>
                <a:r>
                  <a:rPr lang="en-IN" sz="2400">
                    <a:solidFill>
                      <a:srgbClr val="111827"/>
                    </a:solidFill>
                    <a:latin typeface="Cambria Math" panose="02040503050406030204" pitchFamily="18" charset="0"/>
                  </a:rPr>
                  <a:t>$\sin C=\frac ya$</a:t>
                </a:r>
                <a:r>
                  <a:rPr sz="2400" b="0">
                    <a:solidFill>
                      <a:srgbClr val="111827"/>
                    </a:solidFill>
                    <a:latin typeface="Arial"/>
                  </a:rPr>
                  <a:t> and </a:t>
                </a:r>
                <a:r>
                  <a:rPr lang="en-IN" sz="2400">
                    <a:solidFill>
                      <a:srgbClr val="111827"/>
                    </a:solidFill>
                    <a:latin typeface="Cambria Math" panose="02040503050406030204" pitchFamily="18" charset="0"/>
                  </a:rPr>
                  <a:t>$\sin A=\frac zb$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sum is </a:t>
                </a:r>
                <a:r>
                  <a:rPr lang="en-IN" sz="2400">
                    <a:solidFill>
                      <a:srgbClr val="111827"/>
                    </a:solidFill>
                    <a:latin typeface="Cambria Math" panose="02040503050406030204" pitchFamily="18" charset="0"/>
                  </a:rPr>
                  <a:t>$b\sin B+c\sin C+a\sin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Sine rule </a:t>
                </a:r>
                <a:r>
                  <a:rPr lang="en-IN" sz="2400">
                    <a:solidFill>
                      <a:srgbClr val="111827"/>
                    </a:solidFill>
                    <a:latin typeface="Cambria Math" panose="02040503050406030204" pitchFamily="18" charset="0"/>
                  </a:rPr>
                  <a:t>$\sin A=\frac a{2R}$</a:t>
                </a:r>
                <a:r>
                  <a:rPr sz="2400" b="0">
                    <a:solidFill>
                      <a:srgbClr val="111827"/>
                    </a:solidFill>
                    <a:latin typeface="Arial"/>
                  </a:rPr>
                  <a:t>, </a:t>
                </a:r>
                <a:r>
                  <a:rPr lang="en-IN" sz="2400">
                    <a:solidFill>
                      <a:srgbClr val="111827"/>
                    </a:solidFill>
                    <a:latin typeface="Cambria Math" panose="02040503050406030204" pitchFamily="18" charset="0"/>
                  </a:rPr>
                  <a:t>$\sin B=\frac b{2R}$</a:t>
                </a:r>
                <a:r>
                  <a:rPr sz="2400" b="0">
                    <a:solidFill>
                      <a:srgbClr val="111827"/>
                    </a:solidFill>
                    <a:latin typeface="Arial"/>
                  </a:rPr>
                  <a:t>, </a:t>
                </a:r>
                <a:r>
                  <a:rPr lang="en-IN" sz="2400">
                    <a:solidFill>
                      <a:srgbClr val="111827"/>
                    </a:solidFill>
                    <a:latin typeface="Cambria Math" panose="02040503050406030204" pitchFamily="18" charset="0"/>
                  </a:rPr>
                  <a:t>$\sin C=\frac c{2R}$</a:t>
                </a:r>
                <a:r>
                  <a:rPr sz="2400" b="0">
                    <a:solidFill>
                      <a:srgbClr val="111827"/>
                    </a:solidFill>
                    <a:latin typeface="Arial"/>
                  </a:rPr>
                  <a:t>: the sum is </a:t>
                </a:r>
                <a:r>
                  <a:rPr lang="en-IN" sz="2400">
                    <a:solidFill>
                      <a:srgbClr val="111827"/>
                    </a:solidFill>
                    <a:latin typeface="Cambria Math" panose="02040503050406030204" pitchFamily="18" charset="0"/>
                  </a:rPr>
                  <a:t>$b\cdot\frac b{2R}+c\cdot\frac c{2R}+a\cdot\frac a{2R}=\frac{a^2+b^2+c^2}{2R}$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r>
                  <a:rPr lang="en-IN" sz="2400">
                    <a:solidFill>
                      <a:srgbClr val="111827"/>
                    </a:solidFill>
                    <a:latin typeface="Cambria Math" panose="02040503050406030204" pitchFamily="18" charset="0"/>
                  </a:rPr>
                  <a:t>$\frac{a^2+b^2+c^2}k$</a:t>
                </a:r>
                <a:r>
                  <a:rPr sz="2400" b="0">
                    <a:solidFill>
                      <a:srgbClr val="111827"/>
                    </a:solidFill>
                    <a:latin typeface="Arial"/>
                  </a:rPr>
                  <a:t>: </a:t>
                </a:r>
                <a:r>
                  <a:rPr lang="en-IN" sz="2400">
                    <a:solidFill>
                      <a:srgbClr val="111827"/>
                    </a:solidFill>
                    <a:latin typeface="Cambria Math" panose="02040503050406030204" pitchFamily="18" charset="0"/>
                  </a:rPr>
                  <a:t>$k=2R$</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𝑅</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$2R$</a:t>
                </a:r>
                <a:endParaRPr sz="2800">
                  <a:solidFill>
                    <a:srgbClr val="15803D"/>
                  </a:solidFill>
                </a:endParaRPr>
              </a:p>
            </p:txBody>
          </p:sp>
        </mc:Fallback>
      </mc:AlternateContent>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Replace each altitude by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Δ</m:t>
                        </m:r>
                      </m:num>
                      <m:den>
                        <m:r>
                          <m:rPr>
                            <m:nor/>
                          </m:rPr>
                          <a:rPr lang="en-IN" sz="2400" i="1">
                            <a:solidFill>
                              <a:srgbClr val="78350F"/>
                            </a:solidFill>
                            <a:latin typeface="Cambria Math" panose="02040503050406030204" pitchFamily="18" charset="0"/>
                          </a:rPr>
                          <m:t>𝑠𝑖𝑑𝑒</m:t>
                        </m:r>
                      </m:den>
                    </m:f>
                  </m:oMath>
                </a14:m>
                <a:r>
                  <a:rPr sz="2400" b="0">
                    <a:solidFill>
                      <a:srgbClr val="78350F"/>
                    </a:solidFill>
                    <a:latin typeface="Arial"/>
                  </a:rPr>
                  <a:t> and use </a:t>
                </a:r>
                <a14:m>
                  <m:oMath xmlns:m="http://schemas.openxmlformats.org/officeDocument/2006/math">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Δ</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84734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Replace each altitude by </a:t>
                </a:r>
                <a:r>
                  <a:rPr lang="en-IN" sz="2400">
                    <a:solidFill>
                      <a:srgbClr val="78350F"/>
                    </a:solidFill>
                    <a:latin typeface="Cambria Math" panose="02040503050406030204" pitchFamily="18" charset="0"/>
                  </a:rPr>
                  <a:t>$\frac{2\Delta}{\text{side}}$</a:t>
                </a:r>
                <a:r>
                  <a:rPr sz="2400" b="0">
                    <a:solidFill>
                      <a:srgbClr val="78350F"/>
                    </a:solidFill>
                    <a:latin typeface="Arial"/>
                  </a:rPr>
                  <a:t> and use </a:t>
                </a:r>
                <a:r>
                  <a:rPr lang="en-IN" sz="2400">
                    <a:solidFill>
                      <a:srgbClr val="78350F"/>
                    </a:solidFill>
                    <a:latin typeface="Cambria Math" panose="02040503050406030204" pitchFamily="18" charset="0"/>
                  </a:rPr>
                  <a:t>$abc=4R\Delta$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Δ</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Δ</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Δ</m:t>
                        </m:r>
                      </m:num>
                      <m:den>
                        <m:r>
                          <a:rPr lang="en-IN" sz="2400" i="1">
                            <a:solidFill>
                              <a:srgbClr val="111827"/>
                            </a:solidFill>
                            <a:latin typeface="Cambria Math" panose="02040503050406030204" pitchFamily="18" charset="0"/>
                          </a:rPr>
                          <m:t>𝑐</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Δ</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Δ</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oMath>
                </a14:m>
                <a:r>
                  <a:rPr sz="2400" b="0">
                    <a:solidFill>
                      <a:srgbClr val="111827"/>
                    </a:solidFill>
                    <a:latin typeface="Arial"/>
                  </a:rPr>
                  <a:t>, and similarly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Δ</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Δ</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Δ</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e>
                        </m:d>
                      </m:num>
                      <m:den>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Δ</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264664"/>
                <a:ext cx="10725912" cy="35234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$x=\frac{2\Delta}a$</a:t>
                </a:r>
                <a:r>
                  <a:rPr sz="2400" b="0">
                    <a:solidFill>
                      <a:srgbClr val="111827"/>
                    </a:solidFill>
                    <a:latin typeface="Arial"/>
                  </a:rPr>
                  <a:t>, </a:t>
                </a:r>
                <a:r>
                  <a:rPr lang="en-IN" sz="2400">
                    <a:solidFill>
                      <a:srgbClr val="111827"/>
                    </a:solidFill>
                    <a:latin typeface="Cambria Math" panose="02040503050406030204" pitchFamily="18" charset="0"/>
                  </a:rPr>
                  <a:t>$y=\frac{2\Delta}b$</a:t>
                </a:r>
                <a:r>
                  <a:rPr sz="2400" b="0">
                    <a:solidFill>
                      <a:srgbClr val="111827"/>
                    </a:solidFill>
                    <a:latin typeface="Arial"/>
                  </a:rPr>
                  <a:t>, </a:t>
                </a:r>
                <a:r>
                  <a:rPr lang="en-IN" sz="2400">
                    <a:solidFill>
                      <a:srgbClr val="111827"/>
                    </a:solidFill>
                    <a:latin typeface="Cambria Math" panose="02040503050406030204" pitchFamily="18" charset="0"/>
                  </a:rPr>
                  <a:t>$z=\frac{2\Delta}c$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$\frac{bx}c=\frac{2\Delta b}{ac}=\frac{2\Delta b^2}{abc}$</a:t>
                </a:r>
                <a:r>
                  <a:rPr sz="2400" b="0">
                    <a:solidFill>
                      <a:srgbClr val="111827"/>
                    </a:solidFill>
                    <a:latin typeface="Arial"/>
                  </a:rPr>
                  <a:t>, and similarly </a:t>
                </a:r>
                <a:r>
                  <a:rPr lang="en-IN" sz="2400">
                    <a:solidFill>
                      <a:srgbClr val="111827"/>
                    </a:solidFill>
                    <a:latin typeface="Cambria Math" panose="02040503050406030204" pitchFamily="18" charset="0"/>
                  </a:rPr>
                  <a:t>$\frac{cy}a=\frac{2\Delta c^2}{abc}$</a:t>
                </a:r>
                <a:r>
                  <a:rPr sz="2400" b="0">
                    <a:solidFill>
                      <a:srgbClr val="111827"/>
                    </a:solidFill>
                    <a:latin typeface="Arial"/>
                  </a:rPr>
                  <a:t>, </a:t>
                </a:r>
                <a:r>
                  <a:rPr lang="en-IN" sz="2400">
                    <a:solidFill>
                      <a:srgbClr val="111827"/>
                    </a:solidFill>
                    <a:latin typeface="Cambria Math" panose="02040503050406030204" pitchFamily="18" charset="0"/>
                  </a:rPr>
                  <a:t>$\frac{az}b=\frac{2\Delta a^2}{abc}$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a:t>
                </a:r>
                <a:r>
                  <a:rPr lang="en-IN" sz="2400">
                    <a:solidFill>
                      <a:srgbClr val="111827"/>
                    </a:solidFill>
                    <a:latin typeface="Cambria Math" panose="02040503050406030204" pitchFamily="18" charset="0"/>
                  </a:rPr>
                  <a:t>$=\frac{2\Delta\left(a^2+b^2+c^2\right)}{abc}=\frac{a^2+b^2+c^2}{2R}$</a:t>
                </a:r>
                <a:r>
                  <a:rPr sz="2400" b="0">
                    <a:solidFill>
                      <a:srgbClr val="111827"/>
                    </a:solidFill>
                    <a:latin typeface="Arial"/>
                  </a:rPr>
                  <a:t>, since </a:t>
                </a:r>
                <a:r>
                  <a:rPr lang="en-IN" sz="2400">
                    <a:solidFill>
                      <a:srgbClr val="111827"/>
                    </a:solidFill>
                    <a:latin typeface="Cambria Math" panose="02040503050406030204" pitchFamily="18" charset="0"/>
                  </a:rPr>
                  <a:t>$abc=4R\Delta$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$k=2R$</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𝑅</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$2R$</a:t>
                </a:r>
                <a:endParaRPr sz="2800">
                  <a:solidFill>
                    <a:srgbClr val="15803D"/>
                  </a:solidFill>
                </a:endParaRPr>
              </a:p>
            </p:txBody>
          </p:sp>
        </mc:Fallback>
      </mc:AlternateContent>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Δ</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each altitude has two expressions through sines and one through the area.</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oMath>
                </a14:m>
                <a:r>
                  <a:rPr sz="2400" b="0">
                    <a:solidFill>
                      <a:srgbClr val="111827"/>
                    </a:solidFill>
                    <a:latin typeface="Arial"/>
                  </a:rPr>
                  <a:t> (sine rule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Δ</m:t>
                    </m:r>
                  </m:oMath>
                </a14:m>
                <a:r>
                  <a:rPr sz="2400" b="0">
                    <a:solidFill>
                      <a:srgbClr val="111827"/>
                    </a:solidFill>
                    <a:latin typeface="Arial"/>
                  </a:rPr>
                  <a:t> turns any expression symmetric in the sides into one in </a:t>
                </a:r>
                <a14:m>
                  <m:oMath xmlns:m="http://schemas.openxmlformats.org/officeDocument/2006/math">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Δ</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t>
                </a:r>
                <a:r>
                  <a:rPr lang="en-IN" sz="2400">
                    <a:solidFill>
                      <a:srgbClr val="111827"/>
                    </a:solidFill>
                    <a:latin typeface="Cambria Math" panose="02040503050406030204" pitchFamily="18" charset="0"/>
                  </a:rPr>
                  <a:t>$A$</a:t>
                </a:r>
                <a:r>
                  <a:rPr sz="2400" b="0">
                    <a:solidFill>
                      <a:srgbClr val="111827"/>
                    </a:solidFill>
                    <a:latin typeface="Arial"/>
                  </a:rPr>
                  <a:t> is </a:t>
                </a:r>
                <a:r>
                  <a:rPr lang="en-IN" sz="2400">
                    <a:solidFill>
                      <a:srgbClr val="111827"/>
                    </a:solidFill>
                    <a:latin typeface="Cambria Math" panose="02040503050406030204" pitchFamily="18" charset="0"/>
                  </a:rPr>
                  <a:t>$x=b\sin C=c\sin B=\frac{2\Delta}a$</a:t>
                </a:r>
                <a:r>
                  <a:rPr sz="2400" b="0">
                    <a:solidFill>
                      <a:srgbClr val="111827"/>
                    </a:solidFill>
                    <a:latin typeface="Arial"/>
                  </a:rPr>
                  <a:t>; each altitude has two expressions through sines and one through the area.</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 a\sin A=\frac{a^2+b^2+c^2}{2R}$</a:t>
                </a:r>
                <a:r>
                  <a:rPr sz="2400" b="0">
                    <a:solidFill>
                      <a:srgbClr val="111827"/>
                    </a:solidFill>
                    <a:latin typeface="Arial"/>
                  </a:rPr>
                  <a:t> (sine rule </a:t>
                </a:r>
                <a:r>
                  <a:rPr lang="en-IN" sz="2400">
                    <a:solidFill>
                      <a:srgbClr val="111827"/>
                    </a:solidFill>
                    <a:latin typeface="Cambria Math" panose="02040503050406030204" pitchFamily="18" charset="0"/>
                  </a:rPr>
                  <a:t>$\sin A=\frac a{2R}$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$abc=4R\Delta$</a:t>
                </a:r>
                <a:r>
                  <a:rPr sz="2400" b="0">
                    <a:solidFill>
                      <a:srgbClr val="111827"/>
                    </a:solidFill>
                    <a:latin typeface="Arial"/>
                  </a:rPr>
                  <a:t> turns any expression symmetric in the sides into one in </a:t>
                </a:r>
                <a:r>
                  <a:rPr lang="en-IN" sz="2400">
                    <a:solidFill>
                      <a:srgbClr val="111827"/>
                    </a:solidFill>
                    <a:latin typeface="Cambria Math" panose="02040503050406030204" pitchFamily="18" charset="0"/>
                  </a:rPr>
                  <a:t>$R$</a:t>
                </a:r>
                <a:r>
                  <a:rPr sz="2400" b="0">
                    <a:solidFill>
                      <a:srgbClr val="111827"/>
                    </a:solidFill>
                    <a:latin typeface="Arial"/>
                  </a:rPr>
                  <a:t> and </a:t>
                </a:r>
                <a:r>
                  <a:rPr lang="en-IN" sz="2400">
                    <a:solidFill>
                      <a:srgbClr val="111827"/>
                    </a:solidFill>
                    <a:latin typeface="Cambria Math" panose="02040503050406030204" pitchFamily="18" charset="0"/>
                  </a:rPr>
                  <a:t>$\Delta$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84200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are the lengths of the perpendiculars drawn from the vertices of the triangle to the opposite sides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respectively; let the letters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Δ</m:t>
                    </m:r>
                  </m:oMath>
                </a14:m>
                <a:r>
                  <a:rPr sz="2400" b="0">
                    <a:solidFill>
                      <a:srgbClr val="111827"/>
                    </a:solidFill>
                    <a:latin typeface="Arial"/>
                  </a:rPr>
                  <a:t> denote the circumradius, inradius, semi-perimeter and area of the triangle respectively.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den>
                        </m:f>
                      </m:e>
                    </m:d>
                  </m:oMath>
                </a14:m>
                <a:r>
                  <a:rPr sz="2400" b="0">
                    <a:solidFill>
                      <a:srgbClr val="111827"/>
                    </a:solidFill>
                    <a:latin typeface="Arial"/>
                  </a:rPr>
                  <a:t>, then the value of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𝑅</m:t>
                    </m:r>
                  </m:oMath>
                </a14:m>
                <a:r>
                  <a:rPr sz="2400" b="0">
                    <a:solidFill>
                      <a:srgbClr val="111827"/>
                    </a:solidFill>
                    <a:latin typeface="Arial"/>
                  </a:rPr>
                  <a:t>   (C) </a:t>
                </a:r>
                <a14:m>
                  <m:oMath xmlns:m="http://schemas.openxmlformats.org/officeDocument/2006/math">
                    <m:r>
                      <m:rPr>
                        <m:sty m:val="p"/>
                      </m:rPr>
                      <a:rPr lang="en-IN" sz="2400">
                        <a:solidFill>
                          <a:srgbClr val="111827"/>
                        </a:solidFill>
                        <a:latin typeface="Cambria Math" panose="02040503050406030204" pitchFamily="18" charset="0"/>
                      </a:rPr>
                      <m:t>Δ</m:t>
                    </m:r>
                  </m:oMath>
                </a14:m>
                <a:r>
                  <a:rPr sz="2400" b="0">
                    <a:solidFill>
                      <a:srgbClr val="111827"/>
                    </a:solidFill>
                    <a:latin typeface="Arial"/>
                  </a:rPr>
                  <a:t>   (D)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endParaRPr sz="2400">
                  <a:solidFill>
                    <a:srgbClr val="111827"/>
                  </a:solidFill>
                </a:endParaRPr>
              </a:p>
            </p:txBody>
          </p:sp>
        </mc:Choice>
        <mc:Fallback>
          <p:sp>
            <p:nvSpPr>
              <p:cNvPr id="4" name="Rounded Rectangle 3"/>
              <p:cNvSpPr/>
              <p:nvPr/>
            </p:nvSpPr>
            <p:spPr>
              <a:xfrm>
                <a:off x="731520" y="1280160"/>
                <a:ext cx="10725912" cy="3842003"/>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triangle </a:t>
                </a:r>
                <a:r>
                  <a:rPr lang="en-IN" sz="2400">
                    <a:solidFill>
                      <a:srgbClr val="111827"/>
                    </a:solidFill>
                    <a:latin typeface="Cambria Math" panose="02040503050406030204" pitchFamily="18" charset="0"/>
                  </a:rPr>
                  <a:t>$ABC$</a:t>
                </a:r>
                <a:r>
                  <a:rPr sz="2400" b="0">
                    <a:solidFill>
                      <a:srgbClr val="111827"/>
                    </a:solidFill>
                    <a:latin typeface="Arial"/>
                  </a:rPr>
                  <a:t>, where </a:t>
                </a:r>
                <a:r>
                  <a:rPr lang="en-IN" sz="2400">
                    <a:solidFill>
                      <a:srgbClr val="111827"/>
                    </a:solidFill>
                    <a:latin typeface="Cambria Math" panose="02040503050406030204" pitchFamily="18" charset="0"/>
                  </a:rPr>
                  <a:t>$x,y,z$</a:t>
                </a:r>
                <a:r>
                  <a:rPr sz="2400" b="0">
                    <a:solidFill>
                      <a:srgbClr val="111827"/>
                    </a:solidFill>
                    <a:latin typeface="Arial"/>
                  </a:rPr>
                  <a:t> are the lengths of the perpendiculars drawn from the vertices of the triangle to the opposite sides </a:t>
                </a:r>
                <a:r>
                  <a:rPr lang="en-IN" sz="2400">
                    <a:solidFill>
                      <a:srgbClr val="111827"/>
                    </a:solidFill>
                    <a:latin typeface="Cambria Math" panose="02040503050406030204" pitchFamily="18" charset="0"/>
                  </a:rPr>
                  <a:t>$a,b,c$</a:t>
                </a:r>
                <a:r>
                  <a:rPr sz="2400" b="0">
                    <a:solidFill>
                      <a:srgbClr val="111827"/>
                    </a:solidFill>
                    <a:latin typeface="Arial"/>
                  </a:rPr>
                  <a:t> respectively; let the letters </a:t>
                </a:r>
                <a:r>
                  <a:rPr lang="en-IN" sz="2400">
                    <a:solidFill>
                      <a:srgbClr val="111827"/>
                    </a:solidFill>
                    <a:latin typeface="Cambria Math" panose="02040503050406030204" pitchFamily="18" charset="0"/>
                  </a:rPr>
                  <a:t>$R,r,s,\Delta$</a:t>
                </a:r>
                <a:r>
                  <a:rPr sz="2400" b="0">
                    <a:solidFill>
                      <a:srgbClr val="111827"/>
                    </a:solidFill>
                    <a:latin typeface="Arial"/>
                  </a:rPr>
                  <a:t> denote the circumradius, inradius, semi-perimeter and area of the triangle respectively.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$\cot A+\cot B+\cot C=k\left(\frac1{x^2}+\frac1{y^2}+\frac1{z^2}\right)$</a:t>
                </a:r>
                <a:r>
                  <a:rPr sz="2400" b="0">
                    <a:solidFill>
                      <a:srgbClr val="111827"/>
                    </a:solidFill>
                    <a:latin typeface="Arial"/>
                  </a:rPr>
                  <a:t>, then the value of </a:t>
                </a:r>
                <a:r>
                  <a:rPr lang="en-IN" sz="2400">
                    <a:solidFill>
                      <a:srgbClr val="111827"/>
                    </a:solidFill>
                    <a:latin typeface="Cambria Math" panose="02040503050406030204" pitchFamily="18" charset="0"/>
                  </a:rPr>
                  <a:t>$k$</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$R^2$</a:t>
                </a:r>
                <a:r>
                  <a:rPr sz="2400" b="0">
                    <a:solidFill>
                      <a:srgbClr val="111827"/>
                    </a:solidFill>
                    <a:latin typeface="Arial"/>
                  </a:rPr>
                  <a:t>   (B) </a:t>
                </a:r>
                <a:r>
                  <a:rPr lang="en-IN" sz="2400">
                    <a:solidFill>
                      <a:srgbClr val="111827"/>
                    </a:solidFill>
                    <a:latin typeface="Cambria Math" panose="02040503050406030204" pitchFamily="18" charset="0"/>
                  </a:rPr>
                  <a:t>$rR$</a:t>
                </a:r>
                <a:r>
                  <a:rPr sz="2400" b="0">
                    <a:solidFill>
                      <a:srgbClr val="111827"/>
                    </a:solidFill>
                    <a:latin typeface="Arial"/>
                  </a:rPr>
                  <a:t>   (C) </a:t>
                </a:r>
                <a:r>
                  <a:rPr lang="en-IN" sz="2400">
                    <a:solidFill>
                      <a:srgbClr val="111827"/>
                    </a:solidFill>
                    <a:latin typeface="Cambria Math" panose="02040503050406030204" pitchFamily="18" charset="0"/>
                  </a:rPr>
                  <a:t>$\Delta$</a:t>
                </a:r>
                <a:r>
                  <a:rPr sz="2400" b="0">
                    <a:solidFill>
                      <a:srgbClr val="111827"/>
                    </a:solidFill>
                    <a:latin typeface="Arial"/>
                  </a:rPr>
                  <a:t>   (D) </a:t>
                </a:r>
                <a:r>
                  <a:rPr lang="en-IN" sz="2400">
                    <a:solidFill>
                      <a:srgbClr val="111827"/>
                    </a:solidFill>
                    <a:latin typeface="Cambria Math" panose="02040503050406030204" pitchFamily="18" charset="0"/>
                  </a:rPr>
                  <a:t>$a^2+b^2+c^2$</a:t>
                </a:r>
                <a:endParaRPr sz="2400">
                  <a:solidFill>
                    <a:srgbClr val="111827"/>
                  </a:solidFill>
                </a:endParaRPr>
              </a:p>
            </p:txBody>
          </p:sp>
        </mc:Fallback>
      </mc:AlternateContent>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ectangle 3"/>
          <p:cNvSpPr/>
          <p:nvPr/>
        </p:nvSpPr>
        <p:spPr>
          <a:xfrm>
            <a:off x="731520" y="128016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Cotangent sum and altitudes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066288"/>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sums reduce to a multiple of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𝑐</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𝑅</m:t>
                        </m:r>
                      </m:num>
                      <m:den>
                        <m:r>
                          <a:rPr lang="en-IN" sz="2400" i="1">
                            <a:solidFill>
                              <a:srgbClr val="78350F"/>
                            </a:solidFill>
                            <a:latin typeface="Cambria Math" panose="02040503050406030204" pitchFamily="18" charset="0"/>
                          </a:rPr>
                          <m:t>𝑎</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𝑐</m:t>
                        </m:r>
                      </m:den>
                    </m:f>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4</m:t>
                        </m:r>
                        <m:sSup>
                          <m:e>
                            <m:r>
                              <a:rPr lang="en-IN" sz="2400" i="1">
                                <a:solidFill>
                                  <a:srgbClr val="78350F"/>
                                </a:solidFill>
                                <a:latin typeface="Cambria Math" panose="02040503050406030204" pitchFamily="18" charset="0"/>
                              </a:rPr>
                              <m:t>𝑅</m:t>
                            </m:r>
                          </m:e>
                          <m:sup>
                            <m:r>
                              <a:rPr lang="en-IN" sz="2400" i="1">
                                <a:solidFill>
                                  <a:srgbClr val="78350F"/>
                                </a:solidFill>
                                <a:latin typeface="Cambria Math" panose="02040503050406030204" pitchFamily="18" charset="0"/>
                              </a:rPr>
                              <m:t>2</m:t>
                            </m:r>
                          </m:sup>
                        </m:sSup>
                      </m:num>
                      <m:den>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sSup>
                          <m:e>
                            <m:r>
                              <a:rPr lang="en-IN" sz="2400" i="1">
                                <a:solidFill>
                                  <a:srgbClr val="78350F"/>
                                </a:solidFill>
                                <a:latin typeface="Cambria Math" panose="02040503050406030204" pitchFamily="18" charset="0"/>
                              </a:rPr>
                              <m:t>𝑐</m:t>
                            </m:r>
                          </m:e>
                          <m:sup>
                            <m:r>
                              <a:rPr lang="en-IN" sz="2400" i="1">
                                <a:solidFill>
                                  <a:srgbClr val="78350F"/>
                                </a:solidFill>
                                <a:latin typeface="Cambria Math" panose="02040503050406030204" pitchFamily="18" charset="0"/>
                              </a:rPr>
                              <m:t>2</m:t>
                            </m:r>
                          </m:sup>
                        </m:sSup>
                      </m:den>
                    </m:f>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066288"/>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sums reduce to a multiple of </a:t>
                </a:r>
                <a:r>
                  <a:rPr lang="en-IN" sz="2400">
                    <a:solidFill>
                      <a:srgbClr val="78350F"/>
                    </a:solidFill>
                    <a:latin typeface="Cambria Math" panose="02040503050406030204" pitchFamily="18" charset="0"/>
                  </a:rPr>
                  <a:t>$a^2+b^2+c^2$</a:t>
                </a:r>
                <a:r>
                  <a:rPr sz="2400" b="0">
                    <a:solidFill>
                      <a:srgbClr val="78350F"/>
                    </a:solidFill>
                    <a:latin typeface="Arial"/>
                  </a:rPr>
                  <a:t>: </a:t>
                </a:r>
                <a:r>
                  <a:rPr lang="en-IN" sz="2400">
                    <a:solidFill>
                      <a:srgbClr val="78350F"/>
                    </a:solidFill>
                    <a:latin typeface="Cambria Math" panose="02040503050406030204" pitchFamily="18" charset="0"/>
                  </a:rPr>
                  <a:t>$\sum\cot A=\frac R{abc}\sum a^2$</a:t>
                </a:r>
                <a:r>
                  <a:rPr sz="2400" b="0">
                    <a:solidFill>
                      <a:srgbClr val="78350F"/>
                    </a:solidFill>
                    <a:latin typeface="Arial"/>
                  </a:rPr>
                  <a:t> and </a:t>
                </a:r>
                <a:r>
                  <a:rPr lang="en-IN" sz="2400">
                    <a:solidFill>
                      <a:srgbClr val="78350F"/>
                    </a:solidFill>
                    <a:latin typeface="Cambria Math" panose="02040503050406030204" pitchFamily="18" charset="0"/>
                  </a:rPr>
                  <a:t>$\sum\frac1{x^2}=\frac{4R^2}{a^2b^2c^2}\sum a^2$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532376"/>
                <a:ext cx="10725912" cy="214274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𝑐</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532376"/>
                <a:ext cx="10725912" cy="214274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$\cot A=\frac{\cos A}{\sin A}=\frac{2R\cos A}a$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$\cot A+\cot B+\cot C=2R\left[\frac{\cos A}a+\frac{\cos B}b+\frac{\cos C}c\right]=2R\left[\frac{b^2+c^2-a^2}{2abc}+\frac{a^2+c^2-b^2}{2abc}+\frac{a^2+b^2-c^2}{2abc}\right]=\frac R{abc}\left(a^2+b^2+c^2\right)$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oMath>
                </a14:m>
                <a:r>
                  <a:rPr sz="2400" b="0">
                    <a:solidFill>
                      <a:srgbClr val="111827"/>
                    </a:solidFill>
                    <a:latin typeface="Arial"/>
                  </a:rPr>
                  <a:t>. Similarly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𝑐</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𝑅</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Δ</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 B=\frac xc=\frac b{2R}\Rightarrow x=\frac{bc}{2R}$</a:t>
                </a:r>
                <a:r>
                  <a:rPr sz="2400" b="0">
                    <a:solidFill>
                      <a:srgbClr val="111827"/>
                    </a:solidFill>
                    <a:latin typeface="Arial"/>
                  </a:rPr>
                  <a:t>, so </a:t>
                </a:r>
                <a:r>
                  <a:rPr lang="en-IN" sz="2400">
                    <a:solidFill>
                      <a:srgbClr val="111827"/>
                    </a:solidFill>
                    <a:latin typeface="Cambria Math" panose="02040503050406030204" pitchFamily="18" charset="0"/>
                  </a:rPr>
                  <a:t>$\frac1x=\frac{2R}{bc}$</a:t>
                </a:r>
                <a:r>
                  <a:rPr sz="2400" b="0">
                    <a:solidFill>
                      <a:srgbClr val="111827"/>
                    </a:solidFill>
                    <a:latin typeface="Arial"/>
                  </a:rPr>
                  <a:t>. Similarly </a:t>
                </a:r>
                <a:r>
                  <a:rPr lang="en-IN" sz="2400">
                    <a:solidFill>
                      <a:srgbClr val="111827"/>
                    </a:solidFill>
                    <a:latin typeface="Cambria Math" panose="02040503050406030204" pitchFamily="18" charset="0"/>
                  </a:rPr>
                  <a:t>$\frac1y=\frac{2R}{ac}$</a:t>
                </a:r>
                <a:r>
                  <a:rPr sz="2400" b="0">
                    <a:solidFill>
                      <a:srgbClr val="111827"/>
                    </a:solidFill>
                    <a:latin typeface="Arial"/>
                  </a:rPr>
                  <a:t> and </a:t>
                </a:r>
                <a:r>
                  <a:rPr lang="en-IN" sz="2400">
                    <a:solidFill>
                      <a:srgbClr val="111827"/>
                    </a:solidFill>
                    <a:latin typeface="Cambria Math" panose="02040503050406030204" pitchFamily="18" charset="0"/>
                  </a:rPr>
                  <a:t>$\frac1z=\frac{2R}{ab}$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$\frac1{x^2}+\frac1{y^2}+\frac1{z^2}=\frac{4R^2}{a^2b^2c^2}\left(a^2+b^2+c^2\right)$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 R{abc}\left(a^2+b^2+c^2\right)=k\cdot\frac{4R^2}{a^2b^2c^2}\left(a^2+b^2+c^2\right)$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$k=\frac{abc}{4R}=\Delta$</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14:m>
                  <m:oMath xmlns:m="http://schemas.openxmlformats.org/officeDocument/2006/math">
                    <m:r>
                      <m:rPr>
                        <m:sty m:val="p"/>
                      </m:rPr>
                      <a:rPr lang="en-IN" sz="2800">
                        <a:solidFill>
                          <a:srgbClr val="15803D"/>
                        </a:solidFill>
                        <a:latin typeface="Cambria Math" panose="02040503050406030204" pitchFamily="18" charset="0"/>
                      </a:rPr>
                      <m:t>Δ</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a:t>
                </a:r>
                <a:r>
                  <a:rPr lang="en-IN" sz="2800">
                    <a:solidFill>
                      <a:srgbClr val="15803D"/>
                    </a:solidFill>
                    <a:latin typeface="Cambria Math" panose="02040503050406030204" pitchFamily="18" charset="0"/>
                  </a:rPr>
                  <a:t>$\Delta$</a:t>
                </a:r>
                <a:endParaRPr sz="2800">
                  <a:solidFill>
                    <a:srgbClr val="15803D"/>
                  </a:solidFill>
                </a:endParaRPr>
              </a:p>
            </p:txBody>
          </p:sp>
        </mc:Fallback>
      </mc:AlternateContent>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areas: </a:t>
                </a:r>
                <a14:m>
                  <m:oMath xmlns:m="http://schemas.openxmlformats.org/officeDocument/2006/math">
                    <m:r>
                      <m:rPr>
                        <m:sty m:val="p"/>
                      </m:rPr>
                      <a:rPr lang="en-IN" sz="2400">
                        <a:solidFill>
                          <a:srgbClr val="78350F"/>
                        </a:solidFill>
                        <a:latin typeface="Cambria Math" panose="02040503050406030204" pitchFamily="18" charset="0"/>
                      </a:rPr>
                      <m:t>cot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𝑐</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Δ</m:t>
                        </m:r>
                      </m:den>
                    </m:f>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Δ</m:t>
                        </m:r>
                      </m:num>
                      <m:den>
                        <m:r>
                          <a:rPr lang="en-IN" sz="2400" i="1">
                            <a:solidFill>
                              <a:srgbClr val="78350F"/>
                            </a:solidFill>
                            <a:latin typeface="Cambria Math" panose="02040503050406030204" pitchFamily="18" charset="0"/>
                          </a:rPr>
                          <m:t>𝑎</m:t>
                        </m:r>
                      </m:den>
                    </m:f>
                  </m:oMath>
                </a14:m>
                <a:r>
                  <a:rPr sz="2400" b="0">
                    <a:solidFill>
                      <a:srgbClr val="78350F"/>
                    </a:solidFill>
                    <a:latin typeface="Arial"/>
                  </a:rPr>
                  <a:t>, so both sides share the factor </a:t>
                </a:r>
                <a14:m>
                  <m:oMath xmlns:m="http://schemas.openxmlformats.org/officeDocument/2006/math">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𝑏</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𝑐</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areas: </a:t>
                </a:r>
                <a:r>
                  <a:rPr lang="en-IN" sz="2400">
                    <a:solidFill>
                      <a:srgbClr val="78350F"/>
                    </a:solidFill>
                    <a:latin typeface="Cambria Math" panose="02040503050406030204" pitchFamily="18" charset="0"/>
                  </a:rPr>
                  <a:t>$\cot A=\frac{b^2+c^2-a^2}{4\Delta}$</a:t>
                </a:r>
                <a:r>
                  <a:rPr sz="2400" b="0">
                    <a:solidFill>
                      <a:srgbClr val="78350F"/>
                    </a:solidFill>
                    <a:latin typeface="Arial"/>
                  </a:rPr>
                  <a:t> and </a:t>
                </a:r>
                <a:r>
                  <a:rPr lang="en-IN" sz="2400">
                    <a:solidFill>
                      <a:srgbClr val="78350F"/>
                    </a:solidFill>
                    <a:latin typeface="Cambria Math" panose="02040503050406030204" pitchFamily="18" charset="0"/>
                  </a:rPr>
                  <a:t>$x=\frac{2\Delta}a$</a:t>
                </a:r>
                <a:r>
                  <a:rPr sz="2400" b="0">
                    <a:solidFill>
                      <a:srgbClr val="78350F"/>
                    </a:solidFill>
                    <a:latin typeface="Arial"/>
                  </a:rPr>
                  <a:t>, so both sides share the factor </a:t>
                </a:r>
                <a:r>
                  <a:rPr lang="en-IN" sz="2400">
                    <a:solidFill>
                      <a:srgbClr val="78350F"/>
                    </a:solidFill>
                    <a:latin typeface="Cambria Math" panose="02040503050406030204" pitchFamily="18" charset="0"/>
                  </a:rPr>
                  <a:t>$a^2+b^2+c^2$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Δ</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Δ</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Δ</m:t>
                            </m:r>
                          </m:den>
                        </m:f>
                      </m:num>
                      <m:den>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2</m:t>
                                </m:r>
                              </m:sup>
                            </m:sSup>
                          </m:den>
                        </m:f>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Δ</m:t>
                    </m:r>
                  </m:oMath>
                </a14:m>
                <a:r>
                  <a:rPr sz="2400" b="0">
                    <a:solidFill>
                      <a:srgbClr val="111827"/>
                    </a:solidFill>
                    <a:latin typeface="Arial"/>
                  </a:rPr>
                  <a:t>, option (C).</a:t>
                </a:r>
                <a:endParaRPr sz="2400">
                  <a:solidFill>
                    <a:srgbClr val="111827"/>
                  </a:solidFill>
                </a:endParaRPr>
              </a:p>
            </p:txBody>
          </p:sp>
        </mc:Choice>
        <mc:Fallback>
          <p:sp>
            <p:nvSpPr>
              <p:cNvPr id="6" name="Rectangle 5"/>
              <p:cNvSpPr/>
              <p:nvPr/>
            </p:nvSpPr>
            <p:spPr>
              <a:xfrm>
                <a:off x="731520" y="2746248"/>
                <a:ext cx="10725912" cy="304190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$\cot A+\cot B+\cot C=\frac{(b^2+c^2-a^2)+(c^2+a^2-b^2)+(a^2+b^2-c^2)}{4\Delta}=\frac{a^2+b^2+c^2}{4\Delta}$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$\frac1{x^2}=\frac{a^2}{4\Delta^2}$</a:t>
                </a:r>
                <a:r>
                  <a:rPr sz="2400" b="0">
                    <a:solidFill>
                      <a:srgbClr val="111827"/>
                    </a:solidFill>
                    <a:latin typeface="Arial"/>
                  </a:rPr>
                  <a:t>, so </a:t>
                </a:r>
                <a:r>
                  <a:rPr lang="en-IN" sz="2400">
                    <a:solidFill>
                      <a:srgbClr val="111827"/>
                    </a:solidFill>
                    <a:latin typeface="Cambria Math" panose="02040503050406030204" pitchFamily="18" charset="0"/>
                  </a:rPr>
                  <a:t>$\frac1{x^2}+\frac1{y^2}+\frac1{z^2}=\frac{a^2+b^2+c^2}{4\Delta^2}$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a:t>
                </a:r>
                <a:r>
                  <a:rPr lang="en-IN" sz="2400">
                    <a:solidFill>
                      <a:srgbClr val="111827"/>
                    </a:solidFill>
                    <a:latin typeface="Cambria Math" panose="02040503050406030204" pitchFamily="18" charset="0"/>
                  </a:rPr>
                  <a:t>$k=\frac{\frac{a^2+b^2+c^2}{4\Delta}}{\frac{a^2+b^2+c^2}{4\Delta^2}}=\Delta$</a:t>
                </a:r>
                <a:r>
                  <a:rPr sz="2400" b="0">
                    <a:solidFill>
                      <a:srgbClr val="111827"/>
                    </a:solidFill>
                    <a:latin typeface="Arial"/>
                  </a:rPr>
                  <a:t>, option (C).</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14:m>
                  <m:oMath xmlns:m="http://schemas.openxmlformats.org/officeDocument/2006/math">
                    <m:r>
                      <m:rPr>
                        <m:sty m:val="p"/>
                      </m:rPr>
                      <a:rPr lang="en-IN" sz="2800">
                        <a:solidFill>
                          <a:srgbClr val="15803D"/>
                        </a:solidFill>
                        <a:latin typeface="Cambria Math" panose="02040503050406030204" pitchFamily="18" charset="0"/>
                      </a:rPr>
                      <m:t>Δ</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a:t>
                </a:r>
                <a:r>
                  <a:rPr lang="en-IN" sz="2800">
                    <a:solidFill>
                      <a:srgbClr val="15803D"/>
                    </a:solidFill>
                    <a:latin typeface="Cambria Math" panose="02040503050406030204" pitchFamily="18" charset="0"/>
                  </a:rPr>
                  <a:t>$\Delta$</a:t>
                </a:r>
                <a:endParaRPr sz="2800">
                  <a:solidFill>
                    <a:srgbClr val="15803D"/>
                  </a:solidFill>
                </a:endParaRPr>
              </a:p>
            </p:txBody>
          </p:sp>
        </mc:Fallback>
      </mc:AlternateContent>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Δ</m:t>
                        </m:r>
                      </m:den>
                    </m:f>
                  </m:oMath>
                </a14:m>
                <a:r>
                  <a:rPr sz="2400" b="0">
                    <a:solidFill>
                      <a:srgbClr val="111827"/>
                    </a:solidFill>
                    <a:latin typeface="Arial"/>
                  </a:rPr>
                  <a:t> in every triangle.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Altitudes: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Δ</m:t>
                        </m:r>
                      </m:num>
                      <m:den>
                        <m:r>
                          <a:rPr lang="en-IN" sz="2400" i="1">
                            <a:solidFill>
                              <a:srgbClr val="111827"/>
                            </a:solidFill>
                            <a:latin typeface="Cambria Math" panose="02040503050406030204" pitchFamily="18" charset="0"/>
                          </a:rPr>
                          <m:t>𝑎</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Δ</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num>
                      <m:den>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Δ</m:t>
                    </m:r>
                  </m:oMath>
                </a14:m>
                <a:r>
                  <a:rPr sz="2400" b="0">
                    <a:solidFill>
                      <a:srgbClr val="111827"/>
                    </a:solidFill>
                    <a:latin typeface="Arial"/>
                  </a:rPr>
                  <a:t> for every triangle; check on an equilateral triangle of side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each altitude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$\cot A+\cot B+\cot C=\frac{a^2+b^2+c^2}{4\Delta}$</a:t>
                </a:r>
                <a:r>
                  <a:rPr sz="2400" b="0">
                    <a:solidFill>
                      <a:srgbClr val="111827"/>
                    </a:solidFill>
                    <a:latin typeface="Arial"/>
                  </a:rPr>
                  <a:t> in every triangle.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Altitudes: </a:t>
                </a:r>
                <a:r>
                  <a:rPr lang="en-IN" sz="2400">
                    <a:solidFill>
                      <a:srgbClr val="111827"/>
                    </a:solidFill>
                    <a:latin typeface="Cambria Math" panose="02040503050406030204" pitchFamily="18" charset="0"/>
                  </a:rPr>
                  <a:t>$x=\frac{2\Delta}a$</a:t>
                </a:r>
                <a:r>
                  <a:rPr sz="2400" b="0">
                    <a:solidFill>
                      <a:srgbClr val="111827"/>
                    </a:solidFill>
                    <a:latin typeface="Arial"/>
                  </a:rPr>
                  <a:t>, so </a:t>
                </a:r>
                <a:r>
                  <a:rPr lang="en-IN" sz="2400">
                    <a:solidFill>
                      <a:srgbClr val="111827"/>
                    </a:solidFill>
                    <a:latin typeface="Cambria Math" panose="02040503050406030204" pitchFamily="18" charset="0"/>
                  </a:rPr>
                  <a:t>$\frac1x:\frac1y:\frac1z=a:b:c$</a:t>
                </a:r>
                <a:r>
                  <a:rPr sz="2400" b="0">
                    <a:solidFill>
                      <a:srgbClr val="111827"/>
                    </a:solidFill>
                    <a:latin typeface="Arial"/>
                  </a:rPr>
                  <a:t> and </a:t>
                </a:r>
                <a:r>
                  <a:rPr lang="en-IN" sz="2400">
                    <a:solidFill>
                      <a:srgbClr val="111827"/>
                    </a:solidFill>
                    <a:latin typeface="Cambria Math" panose="02040503050406030204" pitchFamily="18" charset="0"/>
                  </a:rPr>
                  <a:t>$\sum\frac1{x^2}=\frac{a^2+b^2+c^2}{4\Delta^2}$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$\frac{\sum\cot A}{\sum\frac1{x^2}}=\Delta$</a:t>
                </a:r>
                <a:r>
                  <a:rPr sz="2400" b="0">
                    <a:solidFill>
                      <a:srgbClr val="111827"/>
                    </a:solidFill>
                    <a:latin typeface="Arial"/>
                  </a:rPr>
                  <a:t> for every triangle; check on an equilateral triangle of side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$\sum\cot A=3\cdot\frac1{\sqrt3}=\sqrt3$</a:t>
                </a:r>
                <a:r>
                  <a:rPr sz="2400" b="0">
                    <a:solidFill>
                      <a:srgbClr val="111827"/>
                    </a:solidFill>
                    <a:latin typeface="Arial"/>
                  </a:rPr>
                  <a:t>, each altitude is </a:t>
                </a:r>
                <a:r>
                  <a:rPr lang="en-IN" sz="2400">
                    <a:solidFill>
                      <a:srgbClr val="111827"/>
                    </a:solidFill>
                    <a:latin typeface="Cambria Math" panose="02040503050406030204" pitchFamily="18" charset="0"/>
                  </a:rPr>
                  <a:t>$\sqrt3$</a:t>
                </a:r>
                <a:r>
                  <a:rPr sz="2400" b="0">
                    <a:solidFill>
                      <a:srgbClr val="111827"/>
                    </a:solidFill>
                    <a:latin typeface="Arial"/>
                  </a:rPr>
                  <a:t> so </a:t>
                </a:r>
                <a:r>
                  <a:rPr lang="en-IN" sz="2400">
                    <a:solidFill>
                      <a:srgbClr val="111827"/>
                    </a:solidFill>
                    <a:latin typeface="Cambria Math" panose="02040503050406030204" pitchFamily="18" charset="0"/>
                  </a:rPr>
                  <a:t>$\sum\frac1{x^2}=1$</a:t>
                </a:r>
                <a:r>
                  <a:rPr sz="2400" b="0">
                    <a:solidFill>
                      <a:srgbClr val="111827"/>
                    </a:solidFill>
                    <a:latin typeface="Arial"/>
                  </a:rPr>
                  <a:t>, and </a:t>
                </a:r>
                <a:r>
                  <a:rPr lang="en-IN" sz="2400">
                    <a:solidFill>
                      <a:srgbClr val="111827"/>
                    </a:solidFill>
                    <a:latin typeface="Cambria Math" panose="02040503050406030204" pitchFamily="18" charset="0"/>
                  </a:rPr>
                  <a:t>$\Delta=\sqrt3$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95173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are the lengths of the perpendiculars drawn from the vertices of the triangle to the opposite sides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respectively; let the letters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Δ</m:t>
                    </m:r>
                  </m:oMath>
                </a14:m>
                <a:r>
                  <a:rPr sz="2400" b="0">
                    <a:solidFill>
                      <a:srgbClr val="111827"/>
                    </a:solidFill>
                    <a:latin typeface="Arial"/>
                  </a:rPr>
                  <a:t> denote the circumradius, inradius, semi-perimeter and area of the triangle respectively.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value of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𝑧</m:t>
                        </m:r>
                      </m:den>
                    </m:f>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𝑟</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num>
                      <m:den>
                        <m:r>
                          <a:rPr lang="en-IN" sz="2400" i="1">
                            <a:solidFill>
                              <a:srgbClr val="111827"/>
                            </a:solidFill>
                            <a:latin typeface="Cambria Math" panose="02040503050406030204" pitchFamily="18" charset="0"/>
                          </a:rPr>
                          <m:t>𝑅</m:t>
                        </m:r>
                      </m:den>
                    </m:f>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m:t>
                    </m:r>
                  </m:oMath>
                </a14:m>
                <a:endParaRPr sz="2400">
                  <a:solidFill>
                    <a:srgbClr val="111827"/>
                  </a:solidFill>
                </a:endParaRPr>
              </a:p>
            </p:txBody>
          </p:sp>
        </mc:Choice>
        <mc:Fallback>
          <p:sp>
            <p:nvSpPr>
              <p:cNvPr id="4" name="Rounded Rectangle 3"/>
              <p:cNvSpPr/>
              <p:nvPr/>
            </p:nvSpPr>
            <p:spPr>
              <a:xfrm>
                <a:off x="731520" y="1280160"/>
                <a:ext cx="10725912" cy="395173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triangle </a:t>
                </a:r>
                <a:r>
                  <a:rPr lang="en-IN" sz="2400">
                    <a:solidFill>
                      <a:srgbClr val="111827"/>
                    </a:solidFill>
                    <a:latin typeface="Cambria Math" panose="02040503050406030204" pitchFamily="18" charset="0"/>
                  </a:rPr>
                  <a:t>$ABC$</a:t>
                </a:r>
                <a:r>
                  <a:rPr sz="2400" b="0">
                    <a:solidFill>
                      <a:srgbClr val="111827"/>
                    </a:solidFill>
                    <a:latin typeface="Arial"/>
                  </a:rPr>
                  <a:t>, where </a:t>
                </a:r>
                <a:r>
                  <a:rPr lang="en-IN" sz="2400">
                    <a:solidFill>
                      <a:srgbClr val="111827"/>
                    </a:solidFill>
                    <a:latin typeface="Cambria Math" panose="02040503050406030204" pitchFamily="18" charset="0"/>
                  </a:rPr>
                  <a:t>$x,y,z$</a:t>
                </a:r>
                <a:r>
                  <a:rPr sz="2400" b="0">
                    <a:solidFill>
                      <a:srgbClr val="111827"/>
                    </a:solidFill>
                    <a:latin typeface="Arial"/>
                  </a:rPr>
                  <a:t> are the lengths of the perpendiculars drawn from the vertices of the triangle to the opposite sides </a:t>
                </a:r>
                <a:r>
                  <a:rPr lang="en-IN" sz="2400">
                    <a:solidFill>
                      <a:srgbClr val="111827"/>
                    </a:solidFill>
                    <a:latin typeface="Cambria Math" panose="02040503050406030204" pitchFamily="18" charset="0"/>
                  </a:rPr>
                  <a:t>$a,b,c$</a:t>
                </a:r>
                <a:r>
                  <a:rPr sz="2400" b="0">
                    <a:solidFill>
                      <a:srgbClr val="111827"/>
                    </a:solidFill>
                    <a:latin typeface="Arial"/>
                  </a:rPr>
                  <a:t> respectively; let the letters </a:t>
                </a:r>
                <a:r>
                  <a:rPr lang="en-IN" sz="2400">
                    <a:solidFill>
                      <a:srgbClr val="111827"/>
                    </a:solidFill>
                    <a:latin typeface="Cambria Math" panose="02040503050406030204" pitchFamily="18" charset="0"/>
                  </a:rPr>
                  <a:t>$R,r,s,\Delta$</a:t>
                </a:r>
                <a:r>
                  <a:rPr sz="2400" b="0">
                    <a:solidFill>
                      <a:srgbClr val="111827"/>
                    </a:solidFill>
                    <a:latin typeface="Arial"/>
                  </a:rPr>
                  <a:t> denote the circumradius, inradius, semi-perimeter and area of the triangle respectively.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value of </a:t>
                </a:r>
                <a:r>
                  <a:rPr lang="en-IN" sz="2400">
                    <a:solidFill>
                      <a:srgbClr val="111827"/>
                    </a:solidFill>
                    <a:latin typeface="Cambria Math" panose="02040503050406030204" pitchFamily="18" charset="0"/>
                  </a:rPr>
                  <a:t>$\frac{c\sin B+b\sin C}x+\frac{a\sin C+c\sin A}y+\frac{b\sin A+a\sin B}z$</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 Rr$</a:t>
                </a:r>
                <a:r>
                  <a:rPr sz="2400" b="0">
                    <a:solidFill>
                      <a:srgbClr val="111827"/>
                    </a:solidFill>
                    <a:latin typeface="Arial"/>
                  </a:rPr>
                  <a:t>   (B) </a:t>
                </a:r>
                <a:r>
                  <a:rPr lang="en-IN" sz="2400">
                    <a:solidFill>
                      <a:srgbClr val="111827"/>
                    </a:solidFill>
                    <a:latin typeface="Cambria Math" panose="02040503050406030204" pitchFamily="18" charset="0"/>
                  </a:rPr>
                  <a:t>$\frac sR$</a:t>
                </a:r>
                <a:r>
                  <a:rPr sz="2400" b="0">
                    <a:solidFill>
                      <a:srgbClr val="111827"/>
                    </a:solidFill>
                    <a:latin typeface="Arial"/>
                  </a:rPr>
                  <a:t>   (C) </a:t>
                </a:r>
                <a:r>
                  <a:rPr lang="en-IN" sz="2400">
                    <a:solidFill>
                      <a:srgbClr val="111827"/>
                    </a:solidFill>
                    <a:latin typeface="Cambria Math" panose="02040503050406030204" pitchFamily="18" charset="0"/>
                  </a:rPr>
                  <a:t>$2$</a:t>
                </a:r>
                <a:r>
                  <a:rPr sz="2400" b="0">
                    <a:solidFill>
                      <a:srgbClr val="111827"/>
                    </a:solidFill>
                    <a:latin typeface="Arial"/>
                  </a:rPr>
                  <a:t>   (D) </a:t>
                </a:r>
                <a:r>
                  <a:rPr lang="en-IN" sz="2400">
                    <a:solidFill>
                      <a:srgbClr val="111827"/>
                    </a:solidFill>
                    <a:latin typeface="Cambria Math" panose="02040503050406030204" pitchFamily="18" charset="0"/>
                  </a:rPr>
                  <a:t>$6$</a:t>
                </a:r>
                <a:endParaRPr sz="2400">
                  <a:solidFill>
                    <a:srgbClr val="111827"/>
                  </a:solidFill>
                </a:endParaRPr>
              </a:p>
            </p:txBody>
          </p:sp>
        </mc:Fallback>
      </mc:AlternateContent>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Altitudes of a triangle: two expressions for each altitude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altitude equals a side times a sine in two ways: </a:t>
                </a:r>
                <a14:m>
                  <m:oMath xmlns:m="http://schemas.openxmlformats.org/officeDocument/2006/math">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so every fraction equals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altitude equals a side times a sine in two ways: </a:t>
                </a:r>
                <a:r>
                  <a:rPr lang="en-IN" sz="2400">
                    <a:solidFill>
                      <a:srgbClr val="78350F"/>
                    </a:solidFill>
                    <a:latin typeface="Cambria Math" panose="02040503050406030204" pitchFamily="18" charset="0"/>
                  </a:rPr>
                  <a:t>$c\sin B=b\sin C=x$</a:t>
                </a:r>
                <a:r>
                  <a:rPr sz="2400" b="0">
                    <a:solidFill>
                      <a:srgbClr val="78350F"/>
                    </a:solidFill>
                    <a:latin typeface="Arial"/>
                  </a:rPr>
                  <a:t>, so every fraction equals </a:t>
                </a:r>
                <a:r>
                  <a:rPr lang="en-IN" sz="2400">
                    <a:solidFill>
                      <a:srgbClr val="78350F"/>
                    </a:solidFill>
                    <a:latin typeface="Cambria Math" panose="02040503050406030204" pitchFamily="18" charset="0"/>
                  </a:rPr>
                  <a:t>$2$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perpendicular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...(ii)</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perpendicular from </a:t>
                </a:r>
                <a:r>
                  <a:rPr lang="en-IN" sz="2400">
                    <a:solidFill>
                      <a:srgbClr val="111827"/>
                    </a:solidFill>
                    <a:latin typeface="Cambria Math" panose="02040503050406030204" pitchFamily="18" charset="0"/>
                  </a:rPr>
                  <a:t>$A$</a:t>
                </a:r>
                <a:r>
                  <a:rPr sz="2400" b="0">
                    <a:solidFill>
                      <a:srgbClr val="111827"/>
                    </a:solidFill>
                    <a:latin typeface="Arial"/>
                  </a:rPr>
                  <a:t> on </a:t>
                </a:r>
                <a:r>
                  <a:rPr lang="en-IN" sz="2400">
                    <a:solidFill>
                      <a:srgbClr val="111827"/>
                    </a:solidFill>
                    <a:latin typeface="Cambria Math" panose="02040503050406030204" pitchFamily="18" charset="0"/>
                  </a:rPr>
                  <a:t>$BC$</a:t>
                </a:r>
                <a:r>
                  <a:rPr sz="2400" b="0">
                    <a:solidFill>
                      <a:srgbClr val="111827"/>
                    </a:solidFill>
                    <a:latin typeface="Arial"/>
                  </a:rPr>
                  <a:t> is </a:t>
                </a:r>
                <a:r>
                  <a:rPr lang="en-IN" sz="2400">
                    <a:solidFill>
                      <a:srgbClr val="111827"/>
                    </a:solidFill>
                    <a:latin typeface="Cambria Math" panose="02040503050406030204" pitchFamily="18" charset="0"/>
                  </a:rPr>
                  <a:t>$x=c\sin B=b\sin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r>
                  <a:rPr lang="en-IN" sz="2400">
                    <a:solidFill>
                      <a:srgbClr val="111827"/>
                    </a:solidFill>
                    <a:latin typeface="Cambria Math" panose="02040503050406030204" pitchFamily="18" charset="0"/>
                  </a:rPr>
                  <a:t>$\frac{c\sin B+b\sin C}x=\frac{2x}x=2$</a:t>
                </a:r>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a:t>
                </a:r>
                <a:r>
                  <a:rPr lang="en-IN" sz="2400">
                    <a:solidFill>
                      <a:srgbClr val="111827"/>
                    </a:solidFill>
                    <a:latin typeface="Cambria Math" panose="02040503050406030204" pitchFamily="18" charset="0"/>
                  </a:rPr>
                  <a:t>$a\sin C=c\sin A=y$</a:t>
                </a:r>
                <a:r>
                  <a:rPr sz="2400" b="0">
                    <a:solidFill>
                      <a:srgbClr val="111827"/>
                    </a:solidFill>
                    <a:latin typeface="Arial"/>
                  </a:rPr>
                  <a:t>, so </a:t>
                </a:r>
                <a:r>
                  <a:rPr lang="en-IN" sz="2400">
                    <a:solidFill>
                      <a:srgbClr val="111827"/>
                    </a:solidFill>
                    <a:latin typeface="Cambria Math" panose="02040503050406030204" pitchFamily="18" charset="0"/>
                  </a:rPr>
                  <a:t>$\frac{a\sin C+c\sin A}y=2$</a:t>
                </a:r>
                <a:r>
                  <a:rPr sz="2400" b="0">
                    <a:solidFill>
                      <a:srgbClr val="111827"/>
                    </a:solidFill>
                    <a:latin typeface="Arial"/>
                  </a:rPr>
                  <a:t> ...(ii)</a:t>
                </a:r>
                <a:endParaRPr sz="2400">
                  <a:solidFill>
                    <a:srgbClr val="111827"/>
                  </a:solidFill>
                </a:endParaRPr>
              </a:p>
            </p:txBody>
          </p:sp>
        </mc:Fallback>
      </mc:AlternateContent>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And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(i), (ii) and (iii): the value is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And </a:t>
                </a:r>
                <a:r>
                  <a:rPr lang="en-IN" sz="2400">
                    <a:solidFill>
                      <a:srgbClr val="111827"/>
                    </a:solidFill>
                    <a:latin typeface="Cambria Math" panose="02040503050406030204" pitchFamily="18" charset="0"/>
                  </a:rPr>
                  <a:t>$b\sin A=a\sin B=z$</a:t>
                </a:r>
                <a:r>
                  <a:rPr sz="2400" b="0">
                    <a:solidFill>
                      <a:srgbClr val="111827"/>
                    </a:solidFill>
                    <a:latin typeface="Arial"/>
                  </a:rPr>
                  <a:t>, so </a:t>
                </a:r>
                <a:r>
                  <a:rPr lang="en-IN" sz="2400">
                    <a:solidFill>
                      <a:srgbClr val="111827"/>
                    </a:solidFill>
                    <a:latin typeface="Cambria Math" panose="02040503050406030204" pitchFamily="18" charset="0"/>
                  </a:rPr>
                  <a:t>$\frac{b\sin A+a\sin B}z=2$</a:t>
                </a:r>
                <a:r>
                  <a:rPr sz="2400" b="0">
                    <a:solidFill>
                      <a:srgbClr val="111827"/>
                    </a:solidFill>
                    <a:latin typeface="Arial"/>
                  </a:rPr>
                  <a:t> ...(iii)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(i), (ii) and (iii): the value is </a:t>
                </a:r>
                <a:r>
                  <a:rPr lang="en-IN" sz="2400">
                    <a:solidFill>
                      <a:srgbClr val="111827"/>
                    </a:solidFill>
                    <a:latin typeface="Cambria Math" panose="02040503050406030204" pitchFamily="18" charset="0"/>
                  </a:rPr>
                  <a:t>$6$</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a:rPr lang="en-IN" sz="2800" i="1">
                        <a:solidFill>
                          <a:srgbClr val="15803D"/>
                        </a:solidFill>
                        <a:latin typeface="Cambria Math" panose="02040503050406030204" pitchFamily="18" charset="0"/>
                      </a:rPr>
                      <m:t>6</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$6$</a:t>
                </a:r>
                <a:endParaRPr sz="2800">
                  <a:solidFill>
                    <a:srgbClr val="15803D"/>
                  </a:solidFill>
                </a:endParaRPr>
              </a:p>
            </p:txBody>
          </p:sp>
        </mc:Fallback>
      </mc:AlternateContent>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altitude has two side-times-sine expressions: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oMath>
                </a14:m>
                <a:r>
                  <a:rPr sz="2400" b="0">
                    <a:solidFill>
                      <a:srgbClr val="111827"/>
                    </a:solidFill>
                    <a:latin typeface="Arial"/>
                  </a:rPr>
                  <a:t> (the sine rule in disguise).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identically; recognise such sums as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before computing anything.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on an equilateral triangle of side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num>
                      <m:den>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for each term, total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Each altitude has two side-times-sine expressions: </a:t>
                </a:r>
                <a:r>
                  <a:rPr lang="en-IN" sz="2400">
                    <a:solidFill>
                      <a:srgbClr val="111827"/>
                    </a:solidFill>
                    <a:latin typeface="Cambria Math" panose="02040503050406030204" pitchFamily="18" charset="0"/>
                  </a:rPr>
                  <a:t>$x=b\sin C=c\sin B$</a:t>
                </a:r>
                <a:r>
                  <a:rPr sz="2400" b="0">
                    <a:solidFill>
                      <a:srgbClr val="111827"/>
                    </a:solidFill>
                    <a:latin typeface="Arial"/>
                  </a:rPr>
                  <a:t>, </a:t>
                </a:r>
                <a:r>
                  <a:rPr lang="en-IN" sz="2400">
                    <a:solidFill>
                      <a:srgbClr val="111827"/>
                    </a:solidFill>
                    <a:latin typeface="Cambria Math" panose="02040503050406030204" pitchFamily="18" charset="0"/>
                  </a:rPr>
                  <a:t>$y=c\sin A=a\sin C$</a:t>
                </a:r>
                <a:r>
                  <a:rPr sz="2400" b="0">
                    <a:solidFill>
                      <a:srgbClr val="111827"/>
                    </a:solidFill>
                    <a:latin typeface="Arial"/>
                  </a:rPr>
                  <a:t>, </a:t>
                </a:r>
                <a:r>
                  <a:rPr lang="en-IN" sz="2400">
                    <a:solidFill>
                      <a:srgbClr val="111827"/>
                    </a:solidFill>
                    <a:latin typeface="Cambria Math" panose="02040503050406030204" pitchFamily="18" charset="0"/>
                  </a:rPr>
                  <a:t>$z=a\sin B=b\sin A$</a:t>
                </a:r>
                <a:r>
                  <a:rPr sz="2400" b="0">
                    <a:solidFill>
                      <a:srgbClr val="111827"/>
                    </a:solidFill>
                    <a:latin typeface="Arial"/>
                  </a:rPr>
                  <a:t> (the sine rule in disguise).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$\frac{c\sin B+b\sin C}x=2$</a:t>
                </a:r>
                <a:r>
                  <a:rPr sz="2400" b="0">
                    <a:solidFill>
                      <a:srgbClr val="111827"/>
                    </a:solidFill>
                    <a:latin typeface="Arial"/>
                  </a:rPr>
                  <a:t> identically; recognise such sums as </a:t>
                </a:r>
                <a:r>
                  <a:rPr lang="en-IN" sz="2400">
                    <a:solidFill>
                      <a:srgbClr val="111827"/>
                    </a:solidFill>
                    <a:latin typeface="Cambria Math" panose="02040503050406030204" pitchFamily="18" charset="0"/>
                  </a:rPr>
                  <a:t>$2$</a:t>
                </a:r>
                <a:r>
                  <a:rPr sz="2400" b="0">
                    <a:solidFill>
                      <a:srgbClr val="111827"/>
                    </a:solidFill>
                    <a:latin typeface="Arial"/>
                  </a:rPr>
                  <a:t> before computing anything.</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Quick check on an equilateral triangle of side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$x=\frac{\sqrt3}2a$</a:t>
                </a:r>
                <a:r>
                  <a:rPr sz="2400" b="0">
                    <a:solidFill>
                      <a:srgbClr val="111827"/>
                    </a:solidFill>
                    <a:latin typeface="Arial"/>
                  </a:rPr>
                  <a:t> and </a:t>
                </a:r>
                <a:r>
                  <a:rPr lang="en-IN" sz="2400">
                    <a:solidFill>
                      <a:srgbClr val="111827"/>
                    </a:solidFill>
                    <a:latin typeface="Cambria Math" panose="02040503050406030204" pitchFamily="18" charset="0"/>
                  </a:rPr>
                  <a:t>$\frac{2a\cdot\frac{\sqrt3}2}{\frac{\sqrt3}2a}=2$</a:t>
                </a:r>
                <a:r>
                  <a:rPr sz="2400" b="0">
                    <a:solidFill>
                      <a:srgbClr val="111827"/>
                    </a:solidFill>
                    <a:latin typeface="Arial"/>
                  </a:rPr>
                  <a:t> for each term, total </a:t>
                </a:r>
                <a:r>
                  <a:rPr lang="en-IN" sz="2400">
                    <a:solidFill>
                      <a:srgbClr val="111827"/>
                    </a:solidFill>
                    <a:latin typeface="Cambria Math" panose="02040503050406030204" pitchFamily="18" charset="0"/>
                  </a:rPr>
                  <a:t>$6$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988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altitude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and a bisector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are drawn in the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from the vertex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It is known that the length of side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magnitudes of the angles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form an arithmetic progression.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area of the circle circumscribing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π</m:t>
                    </m:r>
                  </m:oMath>
                </a14:m>
                <a:endParaRPr sz="2400">
                  <a:solidFill>
                    <a:srgbClr val="111827"/>
                  </a:solidFill>
                </a:endParaRPr>
              </a:p>
            </p:txBody>
          </p:sp>
        </mc:Choice>
        <mc:Fallback>
          <p:sp>
            <p:nvSpPr>
              <p:cNvPr id="4" name="Rounded Rectangle 3"/>
              <p:cNvSpPr/>
              <p:nvPr/>
            </p:nvSpPr>
            <p:spPr>
              <a:xfrm>
                <a:off x="731520" y="1280160"/>
                <a:ext cx="10725912" cy="2988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altitude </a:t>
                </a:r>
                <a:r>
                  <a:rPr lang="en-IN" sz="2400">
                    <a:solidFill>
                      <a:srgbClr val="111827"/>
                    </a:solidFill>
                    <a:latin typeface="Cambria Math" panose="02040503050406030204" pitchFamily="18" charset="0"/>
                  </a:rPr>
                  <a:t>$BD$</a:t>
                </a:r>
                <a:r>
                  <a:rPr sz="2400" b="0">
                    <a:solidFill>
                      <a:srgbClr val="111827"/>
                    </a:solidFill>
                    <a:latin typeface="Arial"/>
                  </a:rPr>
                  <a:t> and a bisector </a:t>
                </a:r>
                <a:r>
                  <a:rPr lang="en-IN" sz="2400">
                    <a:solidFill>
                      <a:srgbClr val="111827"/>
                    </a:solidFill>
                    <a:latin typeface="Cambria Math" panose="02040503050406030204" pitchFamily="18" charset="0"/>
                  </a:rPr>
                  <a:t>$BE$</a:t>
                </a:r>
                <a:r>
                  <a:rPr sz="2400" b="0">
                    <a:solidFill>
                      <a:srgbClr val="111827"/>
                    </a:solidFill>
                    <a:latin typeface="Arial"/>
                  </a:rPr>
                  <a:t> are drawn in the triangle </a:t>
                </a:r>
                <a:r>
                  <a:rPr lang="en-IN" sz="2400">
                    <a:solidFill>
                      <a:srgbClr val="111827"/>
                    </a:solidFill>
                    <a:latin typeface="Cambria Math" panose="02040503050406030204" pitchFamily="18" charset="0"/>
                  </a:rPr>
                  <a:t>$ABC$</a:t>
                </a:r>
                <a:r>
                  <a:rPr sz="2400" b="0">
                    <a:solidFill>
                      <a:srgbClr val="111827"/>
                    </a:solidFill>
                    <a:latin typeface="Arial"/>
                  </a:rPr>
                  <a:t> from the vertex </a:t>
                </a:r>
                <a:r>
                  <a:rPr lang="en-IN" sz="2400">
                    <a:solidFill>
                      <a:srgbClr val="111827"/>
                    </a:solidFill>
                    <a:latin typeface="Cambria Math" panose="02040503050406030204" pitchFamily="18" charset="0"/>
                  </a:rPr>
                  <a:t>$B$</a:t>
                </a:r>
                <a:r>
                  <a:rPr sz="2400" b="0">
                    <a:solidFill>
                      <a:srgbClr val="111827"/>
                    </a:solidFill>
                    <a:latin typeface="Arial"/>
                  </a:rPr>
                  <a:t>. It is known that the length of side </a:t>
                </a:r>
                <a:r>
                  <a:rPr lang="en-IN" sz="2400">
                    <a:solidFill>
                      <a:srgbClr val="111827"/>
                    </a:solidFill>
                    <a:latin typeface="Cambria Math" panose="02040503050406030204" pitchFamily="18" charset="0"/>
                  </a:rPr>
                  <a:t>$AC=1$</a:t>
                </a:r>
                <a:r>
                  <a:rPr sz="2400" b="0">
                    <a:solidFill>
                      <a:srgbClr val="111827"/>
                    </a:solidFill>
                    <a:latin typeface="Arial"/>
                  </a:rPr>
                  <a:t>, and the magnitudes of the angles </a:t>
                </a:r>
                <a:r>
                  <a:rPr lang="en-IN" sz="2400">
                    <a:solidFill>
                      <a:srgbClr val="111827"/>
                    </a:solidFill>
                    <a:latin typeface="Cambria Math" panose="02040503050406030204" pitchFamily="18" charset="0"/>
                  </a:rPr>
                  <a:t>$BEC$</a:t>
                </a:r>
                <a:r>
                  <a:rPr sz="2400" b="0">
                    <a:solidFill>
                      <a:srgbClr val="111827"/>
                    </a:solidFill>
                    <a:latin typeface="Arial"/>
                  </a:rPr>
                  <a:t>, </a:t>
                </a:r>
                <a:r>
                  <a:rPr lang="en-IN" sz="2400">
                    <a:solidFill>
                      <a:srgbClr val="111827"/>
                    </a:solidFill>
                    <a:latin typeface="Cambria Math" panose="02040503050406030204" pitchFamily="18" charset="0"/>
                  </a:rPr>
                  <a:t>$ABD$</a:t>
                </a:r>
                <a:r>
                  <a:rPr sz="2400" b="0">
                    <a:solidFill>
                      <a:srgbClr val="111827"/>
                    </a:solidFill>
                    <a:latin typeface="Arial"/>
                  </a:rPr>
                  <a:t>, </a:t>
                </a:r>
                <a:r>
                  <a:rPr lang="en-IN" sz="2400">
                    <a:solidFill>
                      <a:srgbClr val="111827"/>
                    </a:solidFill>
                    <a:latin typeface="Cambria Math" panose="02040503050406030204" pitchFamily="18" charset="0"/>
                  </a:rPr>
                  <a:t>$ABE$</a:t>
                </a:r>
                <a:r>
                  <a:rPr sz="2400" b="0">
                    <a:solidFill>
                      <a:srgbClr val="111827"/>
                    </a:solidFill>
                    <a:latin typeface="Arial"/>
                  </a:rPr>
                  <a:t>, </a:t>
                </a:r>
                <a:r>
                  <a:rPr lang="en-IN" sz="2400">
                    <a:solidFill>
                      <a:srgbClr val="111827"/>
                    </a:solidFill>
                    <a:latin typeface="Cambria Math" panose="02040503050406030204" pitchFamily="18" charset="0"/>
                  </a:rPr>
                  <a:t>$BAC$</a:t>
                </a:r>
                <a:r>
                  <a:rPr sz="2400" b="0">
                    <a:solidFill>
                      <a:srgbClr val="111827"/>
                    </a:solidFill>
                    <a:latin typeface="Arial"/>
                  </a:rPr>
                  <a:t> form an arithmetic progression.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area of the circle circumscribing </a:t>
                </a:r>
                <a:r>
                  <a:rPr lang="en-IN" sz="2400">
                    <a:solidFill>
                      <a:srgbClr val="111827"/>
                    </a:solidFill>
                    <a:latin typeface="Cambria Math" panose="02040503050406030204" pitchFamily="18" charset="0"/>
                  </a:rPr>
                  <a:t>$\triangle ABC$</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$\frac\pi8$</a:t>
                </a:r>
                <a:r>
                  <a:rPr sz="2400" b="0">
                    <a:solidFill>
                      <a:srgbClr val="111827"/>
                    </a:solidFill>
                    <a:latin typeface="Arial"/>
                  </a:rPr>
                  <a:t>   (B) </a:t>
                </a:r>
                <a:r>
                  <a:rPr lang="en-IN" sz="2400">
                    <a:solidFill>
                      <a:srgbClr val="111827"/>
                    </a:solidFill>
                    <a:latin typeface="Cambria Math" panose="02040503050406030204" pitchFamily="18" charset="0"/>
                  </a:rPr>
                  <a:t>$\frac\pi4$</a:t>
                </a:r>
                <a:r>
                  <a:rPr sz="2400" b="0">
                    <a:solidFill>
                      <a:srgbClr val="111827"/>
                    </a:solidFill>
                    <a:latin typeface="Arial"/>
                  </a:rPr>
                  <a:t>   (C) </a:t>
                </a:r>
                <a:r>
                  <a:rPr lang="en-IN" sz="2400">
                    <a:solidFill>
                      <a:srgbClr val="111827"/>
                    </a:solidFill>
                    <a:latin typeface="Cambria Math" panose="02040503050406030204" pitchFamily="18" charset="0"/>
                  </a:rPr>
                  <a:t>$\frac\pi2$</a:t>
                </a:r>
                <a:r>
                  <a:rPr sz="2400" b="0">
                    <a:solidFill>
                      <a:srgbClr val="111827"/>
                    </a:solidFill>
                    <a:latin typeface="Arial"/>
                  </a:rPr>
                  <a:t>   (D) </a:t>
                </a:r>
                <a:r>
                  <a:rPr lang="en-IN" sz="2400">
                    <a:solidFill>
                      <a:srgbClr val="111827"/>
                    </a:solidFill>
                    <a:latin typeface="Cambria Math" panose="02040503050406030204" pitchFamily="18" charset="0"/>
                  </a:rPr>
                  <a:t>$\pi$</a:t>
                </a:r>
                <a:endParaRPr sz="2400">
                  <a:solidFill>
                    <a:srgbClr val="111827"/>
                  </a:solidFill>
                </a:endParaRPr>
              </a:p>
            </p:txBody>
          </p:sp>
        </mc:Fallback>
      </mc:AlternateContent>
      <p:sp>
        <p:nvSpPr>
          <p:cNvPr id="5" name="Rectangle 4"/>
          <p:cNvSpPr/>
          <p:nvPr/>
        </p:nvSpPr>
        <p:spPr>
          <a:xfrm>
            <a:off x="731520" y="449732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Angles in A.P. and exterior-angle theorem, Circumcircle of a right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four A.P. angles symmetrically, use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𝐸</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𝐸</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90</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oMath>
                </a14:m>
                <a:r>
                  <a:rPr sz="2400" b="0">
                    <a:solidFill>
                      <a:srgbClr val="78350F"/>
                    </a:solidFill>
                    <a:latin typeface="Arial"/>
                  </a:rPr>
                  <a:t> to find the triangle: </a:t>
                </a:r>
                <a14:m>
                  <m:oMath xmlns:m="http://schemas.openxmlformats.org/officeDocument/2006/math">
                    <m:sSup>
                      <m:e>
                        <m:r>
                          <a:rPr lang="en-IN" sz="2400" i="1">
                            <a:solidFill>
                              <a:srgbClr val="78350F"/>
                            </a:solidFill>
                            <a:latin typeface="Cambria Math" panose="02040503050406030204" pitchFamily="18" charset="0"/>
                          </a:rPr>
                          <m:t>30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14:m>
                  <m:oMath xmlns:m="http://schemas.openxmlformats.org/officeDocument/2006/math">
                    <m:sSup>
                      <m:e>
                        <m:r>
                          <a:rPr lang="en-IN" sz="2400" i="1">
                            <a:solidFill>
                              <a:srgbClr val="78350F"/>
                            </a:solidFill>
                            <a:latin typeface="Cambria Math" panose="02040503050406030204" pitchFamily="18" charset="0"/>
                          </a:rPr>
                          <m:t>90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14:m>
                  <m:oMath xmlns:m="http://schemas.openxmlformats.org/officeDocument/2006/math">
                    <m:sSup>
                      <m:e>
                        <m:r>
                          <a:rPr lang="en-IN" sz="2400" i="1">
                            <a:solidFill>
                              <a:srgbClr val="78350F"/>
                            </a:solidFill>
                            <a:latin typeface="Cambria Math" panose="02040503050406030204" pitchFamily="18" charset="0"/>
                          </a:rPr>
                          <m:t>60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Write the four A.P. angles symmetrically, use </a:t>
                </a:r>
                <a:r>
                  <a:rPr lang="en-IN" sz="2400">
                    <a:solidFill>
                      <a:srgbClr val="78350F"/>
                    </a:solidFill>
                    <a:latin typeface="Cambria Math" panose="02040503050406030204" pitchFamily="18" charset="0"/>
                  </a:rPr>
                  <a:t>$\angle BEC=\angle BAE+\angle ABE$</a:t>
                </a:r>
                <a:r>
                  <a:rPr sz="2400" b="0">
                    <a:solidFill>
                      <a:srgbClr val="78350F"/>
                    </a:solidFill>
                    <a:latin typeface="Arial"/>
                  </a:rPr>
                  <a:t> and </a:t>
                </a:r>
                <a:r>
                  <a:rPr lang="en-IN" sz="2400">
                    <a:solidFill>
                      <a:srgbClr val="78350F"/>
                    </a:solidFill>
                    <a:latin typeface="Cambria Math" panose="02040503050406030204" pitchFamily="18" charset="0"/>
                  </a:rPr>
                  <a:t>$\angle ABD=90^\circ-A$</a:t>
                </a:r>
                <a:r>
                  <a:rPr sz="2400" b="0">
                    <a:solidFill>
                      <a:srgbClr val="78350F"/>
                    </a:solidFill>
                    <a:latin typeface="Arial"/>
                  </a:rPr>
                  <a:t> to find the triangle: </a:t>
                </a:r>
                <a:r>
                  <a:rPr lang="en-IN" sz="2400">
                    <a:solidFill>
                      <a:srgbClr val="78350F"/>
                    </a:solidFill>
                    <a:latin typeface="Cambria Math" panose="02040503050406030204" pitchFamily="18" charset="0"/>
                  </a:rPr>
                  <a:t>$30^\circ$</a:t>
                </a:r>
                <a:r>
                  <a:rPr sz="2400" b="0">
                    <a:solidFill>
                      <a:srgbClr val="78350F"/>
                    </a:solidFill>
                    <a:latin typeface="Arial"/>
                  </a:rPr>
                  <a:t>-</a:t>
                </a:r>
                <a:r>
                  <a:rPr lang="en-IN" sz="2400">
                    <a:solidFill>
                      <a:srgbClr val="78350F"/>
                    </a:solidFill>
                    <a:latin typeface="Cambria Math" panose="02040503050406030204" pitchFamily="18" charset="0"/>
                  </a:rPr>
                  <a:t>$90^\circ$</a:t>
                </a:r>
                <a:r>
                  <a:rPr sz="2400" b="0">
                    <a:solidFill>
                      <a:srgbClr val="78350F"/>
                    </a:solidFill>
                    <a:latin typeface="Arial"/>
                  </a:rPr>
                  <a:t>-</a:t>
                </a:r>
                <a:r>
                  <a:rPr lang="en-IN" sz="2400">
                    <a:solidFill>
                      <a:srgbClr val="78350F"/>
                    </a:solidFill>
                    <a:latin typeface="Cambria Math" panose="02040503050406030204" pitchFamily="18" charset="0"/>
                  </a:rPr>
                  <a:t>$60^\circ$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angles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are in A.P. Let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Exterior angle theorem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gives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angles </a:t>
                </a:r>
                <a:r>
                  <a:rPr lang="en-IN" sz="2400">
                    <a:solidFill>
                      <a:srgbClr val="111827"/>
                    </a:solidFill>
                    <a:latin typeface="Cambria Math" panose="02040503050406030204" pitchFamily="18" charset="0"/>
                  </a:rPr>
                  <a:t>$\angle BEC$</a:t>
                </a:r>
                <a:r>
                  <a:rPr sz="2400" b="0">
                    <a:solidFill>
                      <a:srgbClr val="111827"/>
                    </a:solidFill>
                    <a:latin typeface="Arial"/>
                  </a:rPr>
                  <a:t>, </a:t>
                </a:r>
                <a:r>
                  <a:rPr lang="en-IN" sz="2400">
                    <a:solidFill>
                      <a:srgbClr val="111827"/>
                    </a:solidFill>
                    <a:latin typeface="Cambria Math" panose="02040503050406030204" pitchFamily="18" charset="0"/>
                  </a:rPr>
                  <a:t>$\angle ABD$</a:t>
                </a:r>
                <a:r>
                  <a:rPr sz="2400" b="0">
                    <a:solidFill>
                      <a:srgbClr val="111827"/>
                    </a:solidFill>
                    <a:latin typeface="Arial"/>
                  </a:rPr>
                  <a:t>, </a:t>
                </a:r>
                <a:r>
                  <a:rPr lang="en-IN" sz="2400">
                    <a:solidFill>
                      <a:srgbClr val="111827"/>
                    </a:solidFill>
                    <a:latin typeface="Cambria Math" panose="02040503050406030204" pitchFamily="18" charset="0"/>
                  </a:rPr>
                  <a:t>$\angle ABE$</a:t>
                </a:r>
                <a:r>
                  <a:rPr sz="2400" b="0">
                    <a:solidFill>
                      <a:srgbClr val="111827"/>
                    </a:solidFill>
                    <a:latin typeface="Arial"/>
                  </a:rPr>
                  <a:t>, </a:t>
                </a:r>
                <a:r>
                  <a:rPr lang="en-IN" sz="2400">
                    <a:solidFill>
                      <a:srgbClr val="111827"/>
                    </a:solidFill>
                    <a:latin typeface="Cambria Math" panose="02040503050406030204" pitchFamily="18" charset="0"/>
                  </a:rPr>
                  <a:t>$\angle BAC$</a:t>
                </a:r>
                <a:r>
                  <a:rPr sz="2400" b="0">
                    <a:solidFill>
                      <a:srgbClr val="111827"/>
                    </a:solidFill>
                    <a:latin typeface="Arial"/>
                  </a:rPr>
                  <a:t> are in A.P. Let </a:t>
                </a:r>
                <a:r>
                  <a:rPr lang="en-IN" sz="2400">
                    <a:solidFill>
                      <a:srgbClr val="111827"/>
                    </a:solidFill>
                    <a:latin typeface="Cambria Math" panose="02040503050406030204" pitchFamily="18" charset="0"/>
                  </a:rPr>
                  <a:t>$\angle BEC=\alpha-3\beta$</a:t>
                </a:r>
                <a:r>
                  <a:rPr sz="2400" b="0">
                    <a:solidFill>
                      <a:srgbClr val="111827"/>
                    </a:solidFill>
                    <a:latin typeface="Arial"/>
                  </a:rPr>
                  <a:t>, </a:t>
                </a:r>
                <a:r>
                  <a:rPr lang="en-IN" sz="2400">
                    <a:solidFill>
                      <a:srgbClr val="111827"/>
                    </a:solidFill>
                    <a:latin typeface="Cambria Math" panose="02040503050406030204" pitchFamily="18" charset="0"/>
                  </a:rPr>
                  <a:t>$\angle ABD=\alpha-\beta$</a:t>
                </a:r>
                <a:r>
                  <a:rPr sz="2400" b="0">
                    <a:solidFill>
                      <a:srgbClr val="111827"/>
                    </a:solidFill>
                    <a:latin typeface="Arial"/>
                  </a:rPr>
                  <a:t>, </a:t>
                </a:r>
                <a:r>
                  <a:rPr lang="en-IN" sz="2400">
                    <a:solidFill>
                      <a:srgbClr val="111827"/>
                    </a:solidFill>
                    <a:latin typeface="Cambria Math" panose="02040503050406030204" pitchFamily="18" charset="0"/>
                  </a:rPr>
                  <a:t>$\angle ABE=\alpha+\beta$</a:t>
                </a:r>
                <a:r>
                  <a:rPr sz="2400" b="0">
                    <a:solidFill>
                      <a:srgbClr val="111827"/>
                    </a:solidFill>
                    <a:latin typeface="Arial"/>
                  </a:rPr>
                  <a:t>, </a:t>
                </a:r>
                <a:r>
                  <a:rPr lang="en-IN" sz="2400">
                    <a:solidFill>
                      <a:srgbClr val="111827"/>
                    </a:solidFill>
                    <a:latin typeface="Cambria Math" panose="02040503050406030204" pitchFamily="18" charset="0"/>
                  </a:rPr>
                  <a:t>$\angle BAC=\alpha+3\beta$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Exterior angle theorem in </a:t>
                </a:r>
                <a:r>
                  <a:rPr lang="en-IN" sz="2400">
                    <a:solidFill>
                      <a:srgbClr val="111827"/>
                    </a:solidFill>
                    <a:latin typeface="Cambria Math" panose="02040503050406030204" pitchFamily="18" charset="0"/>
                  </a:rPr>
                  <a:t>$\triangle ABE$</a:t>
                </a:r>
                <a:r>
                  <a:rPr sz="2400" b="0">
                    <a:solidFill>
                      <a:srgbClr val="111827"/>
                    </a:solidFill>
                    <a:latin typeface="Arial"/>
                  </a:rPr>
                  <a:t>: </a:t>
                </a:r>
                <a:r>
                  <a:rPr lang="en-IN" sz="2400">
                    <a:solidFill>
                      <a:srgbClr val="111827"/>
                    </a:solidFill>
                    <a:latin typeface="Cambria Math" panose="02040503050406030204" pitchFamily="18" charset="0"/>
                  </a:rPr>
                  <a:t>$\angle BEC=\angle BAE+\angle ABE$</a:t>
                </a:r>
                <a:r>
                  <a:rPr sz="2400" b="0">
                    <a:solidFill>
                      <a:srgbClr val="111827"/>
                    </a:solidFill>
                    <a:latin typeface="Arial"/>
                  </a:rPr>
                  <a:t>, so </a:t>
                </a:r>
                <a:r>
                  <a:rPr lang="en-IN" sz="2400">
                    <a:solidFill>
                      <a:srgbClr val="111827"/>
                    </a:solidFill>
                    <a:latin typeface="Cambria Math" panose="02040503050406030204" pitchFamily="18" charset="0"/>
                  </a:rPr>
                  <a:t>$\alpha-3\beta=(\alpha+3\beta)+(\alpha+\beta)$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gives </a:t>
                </a:r>
                <a:r>
                  <a:rPr lang="en-IN" sz="2400">
                    <a:solidFill>
                      <a:srgbClr val="111827"/>
                    </a:solidFill>
                    <a:latin typeface="Cambria Math" panose="02040503050406030204" pitchFamily="18" charset="0"/>
                  </a:rPr>
                  <a:t>$\alpha=-7\beta$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β</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24</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24</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r>
                  <a:rPr lang="en-IN" sz="2400">
                    <a:solidFill>
                      <a:srgbClr val="111827"/>
                    </a:solidFill>
                    <a:latin typeface="Cambria Math" panose="02040503050406030204" pitchFamily="18" charset="0"/>
                  </a:rPr>
                  <a:t>$ABD$</a:t>
                </a:r>
                <a:r>
                  <a:rPr sz="2400" b="0">
                    <a:solidFill>
                      <a:srgbClr val="111827"/>
                    </a:solidFill>
                    <a:latin typeface="Arial"/>
                  </a:rPr>
                  <a:t> (</a:t>
                </a:r>
                <a:r>
                  <a:rPr lang="en-IN" sz="2400">
                    <a:solidFill>
                      <a:srgbClr val="111827"/>
                    </a:solidFill>
                    <a:latin typeface="Cambria Math" panose="02040503050406030204" pitchFamily="18" charset="0"/>
                  </a:rPr>
                  <a:t>$\angle ADB=90^\circ$</a:t>
                </a:r>
                <a:r>
                  <a:rPr sz="2400" b="0">
                    <a:solidFill>
                      <a:srgbClr val="111827"/>
                    </a:solidFill>
                    <a:latin typeface="Arial"/>
                  </a:rPr>
                  <a:t>): </a:t>
                </a:r>
                <a:r>
                  <a:rPr lang="en-IN" sz="2400">
                    <a:solidFill>
                      <a:srgbClr val="111827"/>
                    </a:solidFill>
                    <a:latin typeface="Cambria Math" panose="02040503050406030204" pitchFamily="18" charset="0"/>
                  </a:rPr>
                  <a:t>$\angle ABD+\angle BAD=\frac\pi2$</a:t>
                </a:r>
                <a:r>
                  <a:rPr sz="2400" b="0">
                    <a:solidFill>
                      <a:srgbClr val="111827"/>
                    </a:solidFill>
                    <a:latin typeface="Arial"/>
                  </a:rPr>
                  <a:t>, so </a:t>
                </a:r>
                <a:r>
                  <a:rPr lang="en-IN" sz="2400">
                    <a:solidFill>
                      <a:srgbClr val="111827"/>
                    </a:solidFill>
                    <a:latin typeface="Cambria Math" panose="02040503050406030204" pitchFamily="18" charset="0"/>
                  </a:rPr>
                  <a:t>$(\alpha-\beta)+(\alpha+3\beta)=\frac\pi2$</a:t>
                </a:r>
                <a:r>
                  <a:rPr sz="2400" b="0">
                    <a:solidFill>
                      <a:srgbClr val="111827"/>
                    </a:solidFill>
                    <a:latin typeface="Arial"/>
                  </a:rPr>
                  <a:t>, i.e. </a:t>
                </a:r>
                <a:r>
                  <a:rPr lang="en-IN" sz="2400">
                    <a:solidFill>
                      <a:srgbClr val="111827"/>
                    </a:solidFill>
                    <a:latin typeface="Cambria Math" panose="02040503050406030204" pitchFamily="18" charset="0"/>
                  </a:rPr>
                  <a:t>$2\alpha+2\beta=\frac\pi2$</a:t>
                </a:r>
                <a:r>
                  <a:rPr sz="2400" b="0">
                    <a:solidFill>
                      <a:srgbClr val="111827"/>
                    </a:solidFill>
                    <a:latin typeface="Arial"/>
                  </a:rPr>
                  <a:t> and </a:t>
                </a:r>
                <a:r>
                  <a:rPr lang="en-IN" sz="2400">
                    <a:solidFill>
                      <a:srgbClr val="111827"/>
                    </a:solidFill>
                    <a:latin typeface="Cambria Math" panose="02040503050406030204" pitchFamily="18" charset="0"/>
                  </a:rPr>
                  <a:t>$\alpha+\beta=\frac\pi4$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$\alpha=-7\beta$</a:t>
                </a:r>
                <a:r>
                  <a:rPr sz="2400" b="0">
                    <a:solidFill>
                      <a:srgbClr val="111827"/>
                    </a:solidFill>
                    <a:latin typeface="Arial"/>
                  </a:rPr>
                  <a:t>: </a:t>
                </a:r>
                <a:r>
                  <a:rPr lang="en-IN" sz="2400">
                    <a:solidFill>
                      <a:srgbClr val="111827"/>
                    </a:solidFill>
                    <a:latin typeface="Cambria Math" panose="02040503050406030204" pitchFamily="18" charset="0"/>
                  </a:rPr>
                  <a:t>$-6\beta=\frac\pi4$</a:t>
                </a:r>
                <a:r>
                  <a:rPr sz="2400" b="0">
                    <a:solidFill>
                      <a:srgbClr val="111827"/>
                    </a:solidFill>
                    <a:latin typeface="Arial"/>
                  </a:rPr>
                  <a:t>, so </a:t>
                </a:r>
                <a:r>
                  <a:rPr lang="en-IN" sz="2400">
                    <a:solidFill>
                      <a:srgbClr val="111827"/>
                    </a:solidFill>
                    <a:latin typeface="Cambria Math" panose="02040503050406030204" pitchFamily="18" charset="0"/>
                  </a:rPr>
                  <a:t>$\beta=-\frac\pi{24}$</a:t>
                </a:r>
                <a:r>
                  <a:rPr sz="2400" b="0">
                    <a:solidFill>
                      <a:srgbClr val="111827"/>
                    </a:solidFill>
                    <a:latin typeface="Arial"/>
                  </a:rPr>
                  <a:t> and </a:t>
                </a:r>
                <a:r>
                  <a:rPr lang="en-IN" sz="2400">
                    <a:solidFill>
                      <a:srgbClr val="111827"/>
                    </a:solidFill>
                    <a:latin typeface="Cambria Math" panose="02040503050406030204" pitchFamily="18" charset="0"/>
                  </a:rPr>
                  <a:t>$\alpha=\frac{7\pi}{24}$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bisects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a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14:m>
                  <m:oMath xmlns:m="http://schemas.openxmlformats.org/officeDocument/2006/math">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triangle.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a diameter of the circumcircle: radius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area </a:t>
                </a:r>
                <a14:m>
                  <m:oMath xmlns:m="http://schemas.openxmlformats.org/officeDocument/2006/math">
                    <m:r>
                      <a:rPr lang="en-IN" sz="2400" i="1">
                        <a:solidFill>
                          <a:srgbClr val="111827"/>
                        </a:solidFill>
                        <a:latin typeface="Cambria Math" panose="02040503050406030204" pitchFamily="18" charset="0"/>
                      </a:rPr>
                      <m:t>π</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$\angle B=2\angle ABE=2(\alpha+\beta)=\frac\pi2$</a:t>
                </a:r>
                <a:r>
                  <a:rPr sz="2400" b="0">
                    <a:solidFill>
                      <a:srgbClr val="111827"/>
                    </a:solidFill>
                    <a:latin typeface="Arial"/>
                  </a:rPr>
                  <a:t> (as </a:t>
                </a:r>
                <a:r>
                  <a:rPr lang="en-IN" sz="2400">
                    <a:solidFill>
                      <a:srgbClr val="111827"/>
                    </a:solidFill>
                    <a:latin typeface="Cambria Math" panose="02040503050406030204" pitchFamily="18" charset="0"/>
                  </a:rPr>
                  <a:t>$BE$</a:t>
                </a:r>
                <a:r>
                  <a:rPr sz="2400" b="0">
                    <a:solidFill>
                      <a:srgbClr val="111827"/>
                    </a:solidFill>
                    <a:latin typeface="Arial"/>
                  </a:rPr>
                  <a:t> bisects </a:t>
                </a:r>
                <a:r>
                  <a:rPr lang="en-IN" sz="2400">
                    <a:solidFill>
                      <a:srgbClr val="111827"/>
                    </a:solidFill>
                    <a:latin typeface="Cambria Math" panose="02040503050406030204" pitchFamily="18" charset="0"/>
                  </a:rPr>
                  <a:t>$\angle B$</a:t>
                </a:r>
                <a:r>
                  <a:rPr sz="2400" b="0">
                    <a:solidFill>
                      <a:srgbClr val="111827"/>
                    </a:solidFill>
                    <a:latin typeface="Arial"/>
                  </a:rPr>
                  <a:t>), </a:t>
                </a:r>
                <a:r>
                  <a:rPr lang="en-IN" sz="2400">
                    <a:solidFill>
                      <a:srgbClr val="111827"/>
                    </a:solidFill>
                    <a:latin typeface="Cambria Math" panose="02040503050406030204" pitchFamily="18" charset="0"/>
                  </a:rPr>
                  <a:t>$\angle A=\alpha+3\beta=\frac\pi6$</a:t>
                </a:r>
                <a:r>
                  <a:rPr sz="2400" b="0">
                    <a:solidFill>
                      <a:srgbClr val="111827"/>
                    </a:solidFill>
                    <a:latin typeface="Arial"/>
                  </a:rPr>
                  <a:t> and </a:t>
                </a:r>
                <a:r>
                  <a:rPr lang="en-IN" sz="2400">
                    <a:solidFill>
                      <a:srgbClr val="111827"/>
                    </a:solidFill>
                    <a:latin typeface="Cambria Math" panose="02040503050406030204" pitchFamily="18" charset="0"/>
                  </a:rPr>
                  <a:t>$\angle C=\frac\pi3$</a:t>
                </a:r>
                <a:r>
                  <a:rPr sz="2400" b="0">
                    <a:solidFill>
                      <a:srgbClr val="111827"/>
                    </a:solidFill>
                    <a:latin typeface="Arial"/>
                  </a:rPr>
                  <a:t>: </a:t>
                </a:r>
                <a:r>
                  <a:rPr lang="en-IN" sz="2400">
                    <a:solidFill>
                      <a:srgbClr val="111827"/>
                    </a:solidFill>
                    <a:latin typeface="Cambria Math" panose="02040503050406030204" pitchFamily="18" charset="0"/>
                  </a:rPr>
                  <a:t>$\triangle ABC$</a:t>
                </a:r>
                <a:r>
                  <a:rPr sz="2400" b="0">
                    <a:solidFill>
                      <a:srgbClr val="111827"/>
                    </a:solidFill>
                    <a:latin typeface="Arial"/>
                  </a:rPr>
                  <a:t> is a </a:t>
                </a:r>
                <a:r>
                  <a:rPr lang="en-IN" sz="2400">
                    <a:solidFill>
                      <a:srgbClr val="111827"/>
                    </a:solidFill>
                    <a:latin typeface="Cambria Math" panose="02040503050406030204" pitchFamily="18" charset="0"/>
                  </a:rPr>
                  <a:t>$30^\circ$</a:t>
                </a:r>
                <a:r>
                  <a:rPr sz="2400" b="0">
                    <a:solidFill>
                      <a:srgbClr val="111827"/>
                    </a:solidFill>
                    <a:latin typeface="Arial"/>
                  </a:rPr>
                  <a:t>-</a:t>
                </a:r>
                <a:r>
                  <a:rPr lang="en-IN" sz="2400">
                    <a:solidFill>
                      <a:srgbClr val="111827"/>
                    </a:solidFill>
                    <a:latin typeface="Cambria Math" panose="02040503050406030204" pitchFamily="18" charset="0"/>
                  </a:rPr>
                  <a:t>$90^\circ$</a:t>
                </a:r>
                <a:r>
                  <a:rPr sz="2400" b="0">
                    <a:solidFill>
                      <a:srgbClr val="111827"/>
                    </a:solidFill>
                    <a:latin typeface="Arial"/>
                  </a:rPr>
                  <a:t>-</a:t>
                </a:r>
                <a:r>
                  <a:rPr lang="en-IN" sz="2400">
                    <a:solidFill>
                      <a:srgbClr val="111827"/>
                    </a:solidFill>
                    <a:latin typeface="Cambria Math" panose="02040503050406030204" pitchFamily="18" charset="0"/>
                  </a:rPr>
                  <a:t>$60^\circ$</a:t>
                </a:r>
                <a:r>
                  <a:rPr sz="2400" b="0">
                    <a:solidFill>
                      <a:srgbClr val="111827"/>
                    </a:solidFill>
                    <a:latin typeface="Arial"/>
                  </a:rPr>
                  <a:t> triangle.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$\angle B=90^\circ$</a:t>
                </a:r>
                <a:r>
                  <a:rPr sz="2400" b="0">
                    <a:solidFill>
                      <a:srgbClr val="111827"/>
                    </a:solidFill>
                    <a:latin typeface="Arial"/>
                  </a:rPr>
                  <a:t>, so </a:t>
                </a:r>
                <a:r>
                  <a:rPr lang="en-IN" sz="2400">
                    <a:solidFill>
                      <a:srgbClr val="111827"/>
                    </a:solidFill>
                    <a:latin typeface="Cambria Math" panose="02040503050406030204" pitchFamily="18" charset="0"/>
                  </a:rPr>
                  <a:t>$AC=1$</a:t>
                </a:r>
                <a:r>
                  <a:rPr sz="2400" b="0">
                    <a:solidFill>
                      <a:srgbClr val="111827"/>
                    </a:solidFill>
                    <a:latin typeface="Arial"/>
                  </a:rPr>
                  <a:t> is a diameter of the circumcircle: radius </a:t>
                </a:r>
                <a:r>
                  <a:rPr lang="en-IN" sz="2400">
                    <a:solidFill>
                      <a:srgbClr val="111827"/>
                    </a:solidFill>
                    <a:latin typeface="Cambria Math" panose="02040503050406030204" pitchFamily="18" charset="0"/>
                  </a:rPr>
                  <a:t>$\frac12$</a:t>
                </a:r>
                <a:r>
                  <a:rPr sz="2400" b="0">
                    <a:solidFill>
                      <a:srgbClr val="111827"/>
                    </a:solidFill>
                    <a:latin typeface="Arial"/>
                  </a:rPr>
                  <a:t> and area </a:t>
                </a:r>
                <a:r>
                  <a:rPr lang="en-IN" sz="2400">
                    <a:solidFill>
                      <a:srgbClr val="111827"/>
                    </a:solidFill>
                    <a:latin typeface="Cambria Math" panose="02040503050406030204" pitchFamily="18" charset="0"/>
                  </a:rPr>
                  <a:t>$\pi\left(\frac12\right)^2=\frac\pi4$</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$\frac\pi4$</a:t>
                </a:r>
                <a:endParaRPr sz="2800">
                  <a:solidFill>
                    <a:srgbClr val="15803D"/>
                  </a:solidFill>
                </a:endParaRPr>
              </a:p>
            </p:txBody>
          </p:sp>
        </mc:Fallback>
      </mc:AlternateContent>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90</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oMath>
                </a14:m>
                <a:r>
                  <a:rPr sz="2400" b="0">
                    <a:solidFill>
                      <a:srgbClr val="78350F"/>
                    </a:solidFill>
                    <a:latin typeface="Arial"/>
                  </a:rPr>
                  <a:t> directly: with </a:t>
                </a:r>
                <a14:m>
                  <m:oMath xmlns:m="http://schemas.openxmlformats.org/officeDocument/2006/math">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the four angles are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sSup>
                      <m:e>
                        <m:r>
                          <a:rPr lang="en-IN" sz="2400" i="1">
                            <a:solidFill>
                              <a:srgbClr val="78350F"/>
                            </a:solidFill>
                            <a:latin typeface="Cambria Math" panose="02040503050406030204" pitchFamily="18" charset="0"/>
                          </a:rPr>
                          <m:t>90</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𝑥</m:t>
                    </m:r>
                  </m:oMath>
                </a14:m>
                <a:r>
                  <a:rPr sz="2400" b="0">
                    <a:solidFill>
                      <a:srgbClr val="78350F"/>
                    </a:solidFill>
                    <a:latin typeface="Arial"/>
                  </a:rPr>
                  <a:t>, and the A.P. conditions are two linear equations.</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t>
                </a:r>
                <a:r>
                  <a:rPr lang="en-IN" sz="2400">
                    <a:solidFill>
                      <a:srgbClr val="78350F"/>
                    </a:solidFill>
                    <a:latin typeface="Cambria Math" panose="02040503050406030204" pitchFamily="18" charset="0"/>
                  </a:rPr>
                  <a:t>$\angle ABD=90^\circ-A$</a:t>
                </a:r>
                <a:r>
                  <a:rPr sz="2400" b="0">
                    <a:solidFill>
                      <a:srgbClr val="78350F"/>
                    </a:solidFill>
                    <a:latin typeface="Arial"/>
                  </a:rPr>
                  <a:t> directly: with </a:t>
                </a:r>
                <a:r>
                  <a:rPr lang="en-IN" sz="2400">
                    <a:solidFill>
                      <a:srgbClr val="78350F"/>
                    </a:solidFill>
                    <a:latin typeface="Cambria Math" panose="02040503050406030204" pitchFamily="18" charset="0"/>
                  </a:rPr>
                  <a:t>$A=x$</a:t>
                </a:r>
                <a:r>
                  <a:rPr sz="2400" b="0">
                    <a:solidFill>
                      <a:srgbClr val="78350F"/>
                    </a:solidFill>
                    <a:latin typeface="Arial"/>
                  </a:rPr>
                  <a:t> and </a:t>
                </a:r>
                <a:r>
                  <a:rPr lang="en-IN" sz="2400">
                    <a:solidFill>
                      <a:srgbClr val="78350F"/>
                    </a:solidFill>
                    <a:latin typeface="Cambria Math" panose="02040503050406030204" pitchFamily="18" charset="0"/>
                  </a:rPr>
                  <a:t>$\angle ABE=y$</a:t>
                </a:r>
                <a:r>
                  <a:rPr sz="2400" b="0">
                    <a:solidFill>
                      <a:srgbClr val="78350F"/>
                    </a:solidFill>
                    <a:latin typeface="Arial"/>
                  </a:rPr>
                  <a:t> the four angles are </a:t>
                </a:r>
                <a:r>
                  <a:rPr lang="en-IN" sz="2400">
                    <a:solidFill>
                      <a:srgbClr val="78350F"/>
                    </a:solidFill>
                    <a:latin typeface="Cambria Math" panose="02040503050406030204" pitchFamily="18" charset="0"/>
                  </a:rPr>
                  <a:t>$x+y,\ 90^\circ-x,\ y,\ x$</a:t>
                </a:r>
                <a:r>
                  <a:rPr sz="2400" b="0">
                    <a:solidFill>
                      <a:srgbClr val="78350F"/>
                    </a:solidFill>
                    <a:latin typeface="Arial"/>
                  </a:rPr>
                  <a:t>, and the A.P. conditions are two linear equations.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In the right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the exterior angle at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stated order the angles are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oMath>
                </a14:m>
                <a:r>
                  <a:rPr sz="2400" b="0">
                    <a:solidFill>
                      <a:srgbClr val="111827"/>
                    </a:solidFill>
                    <a:latin typeface="Arial"/>
                  </a:rPr>
                  <a:t>, in 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last three terms: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$\angle BAC=x$</a:t>
                </a:r>
                <a:r>
                  <a:rPr sz="2400" b="0">
                    <a:solidFill>
                      <a:srgbClr val="111827"/>
                    </a:solidFill>
                    <a:latin typeface="Arial"/>
                  </a:rPr>
                  <a:t> and </a:t>
                </a:r>
                <a:r>
                  <a:rPr lang="en-IN" sz="2400">
                    <a:solidFill>
                      <a:srgbClr val="111827"/>
                    </a:solidFill>
                    <a:latin typeface="Cambria Math" panose="02040503050406030204" pitchFamily="18" charset="0"/>
                  </a:rPr>
                  <a:t>$\angle ABE=y$</a:t>
                </a:r>
                <a:r>
                  <a:rPr sz="2400" b="0">
                    <a:solidFill>
                      <a:srgbClr val="111827"/>
                    </a:solidFill>
                    <a:latin typeface="Arial"/>
                  </a:rPr>
                  <a:t>. In the right triangle </a:t>
                </a:r>
                <a:r>
                  <a:rPr lang="en-IN" sz="2400">
                    <a:solidFill>
                      <a:srgbClr val="111827"/>
                    </a:solidFill>
                    <a:latin typeface="Cambria Math" panose="02040503050406030204" pitchFamily="18" charset="0"/>
                  </a:rPr>
                  <a:t>$ABD$</a:t>
                </a:r>
                <a:r>
                  <a:rPr sz="2400" b="0">
                    <a:solidFill>
                      <a:srgbClr val="111827"/>
                    </a:solidFill>
                    <a:latin typeface="Arial"/>
                  </a:rPr>
                  <a:t>, </a:t>
                </a:r>
                <a:r>
                  <a:rPr lang="en-IN" sz="2400">
                    <a:solidFill>
                      <a:srgbClr val="111827"/>
                    </a:solidFill>
                    <a:latin typeface="Cambria Math" panose="02040503050406030204" pitchFamily="18" charset="0"/>
                  </a:rPr>
                  <a:t>$\angle ABD=90^\circ-x$</a:t>
                </a:r>
                <a:r>
                  <a:rPr sz="2400" b="0">
                    <a:solidFill>
                      <a:srgbClr val="111827"/>
                    </a:solidFill>
                    <a:latin typeface="Arial"/>
                  </a:rPr>
                  <a:t>; the exterior angle at </a:t>
                </a:r>
                <a:r>
                  <a:rPr lang="en-IN" sz="2400">
                    <a:solidFill>
                      <a:srgbClr val="111827"/>
                    </a:solidFill>
                    <a:latin typeface="Cambria Math" panose="02040503050406030204" pitchFamily="18" charset="0"/>
                  </a:rPr>
                  <a:t>$E$</a:t>
                </a:r>
                <a:r>
                  <a:rPr sz="2400" b="0">
                    <a:solidFill>
                      <a:srgbClr val="111827"/>
                    </a:solidFill>
                    <a:latin typeface="Arial"/>
                  </a:rPr>
                  <a:t> gives </a:t>
                </a:r>
                <a:r>
                  <a:rPr lang="en-IN" sz="2400">
                    <a:solidFill>
                      <a:srgbClr val="111827"/>
                    </a:solidFill>
                    <a:latin typeface="Cambria Math" panose="02040503050406030204" pitchFamily="18" charset="0"/>
                  </a:rPr>
                  <a:t>$\angle BEC=x+y$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stated order the angles are </a:t>
                </a:r>
                <a:r>
                  <a:rPr lang="en-IN" sz="2400">
                    <a:solidFill>
                      <a:srgbClr val="111827"/>
                    </a:solidFill>
                    <a:latin typeface="Cambria Math" panose="02040503050406030204" pitchFamily="18" charset="0"/>
                  </a:rPr>
                  <a:t>$x+y,\ 90^\circ-x,\ y,\ x$</a:t>
                </a:r>
                <a:r>
                  <a:rPr sz="2400" b="0">
                    <a:solidFill>
                      <a:srgbClr val="111827"/>
                    </a:solidFill>
                    <a:latin typeface="Arial"/>
                  </a:rPr>
                  <a:t>, in A.P.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last three terms: </a:t>
                </a:r>
                <a:r>
                  <a:rPr lang="en-IN" sz="2400">
                    <a:solidFill>
                      <a:srgbClr val="111827"/>
                    </a:solidFill>
                    <a:latin typeface="Cambria Math" panose="02040503050406030204" pitchFamily="18" charset="0"/>
                  </a:rPr>
                  <a:t>$2y=(90^\circ-x)+x=90^\circ$</a:t>
                </a:r>
                <a:r>
                  <a:rPr sz="2400" b="0">
                    <a:solidFill>
                      <a:srgbClr val="111827"/>
                    </a:solidFill>
                    <a:latin typeface="Arial"/>
                  </a:rPr>
                  <a:t>, so </a:t>
                </a:r>
                <a:r>
                  <a:rPr lang="en-IN" sz="2400">
                    <a:solidFill>
                      <a:srgbClr val="111827"/>
                    </a:solidFill>
                    <a:latin typeface="Cambria Math" panose="02040503050406030204" pitchFamily="18" charset="0"/>
                  </a:rPr>
                  <a:t>$y=45^\circ$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three terms: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180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hypotenuse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the circumdiameter, so the area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first three terms: </a:t>
                </a:r>
                <a:r>
                  <a:rPr lang="en-IN" sz="2400">
                    <a:solidFill>
                      <a:srgbClr val="111827"/>
                    </a:solidFill>
                    <a:latin typeface="Cambria Math" panose="02040503050406030204" pitchFamily="18" charset="0"/>
                  </a:rPr>
                  <a:t>$2(90^\circ-x)=(x+y)+y=x+90^\circ$</a:t>
                </a:r>
                <a:r>
                  <a:rPr sz="2400" b="0">
                    <a:solidFill>
                      <a:srgbClr val="111827"/>
                    </a:solidFill>
                    <a:latin typeface="Arial"/>
                  </a:rPr>
                  <a:t>, so </a:t>
                </a:r>
                <a:r>
                  <a:rPr lang="en-IN" sz="2400">
                    <a:solidFill>
                      <a:srgbClr val="111827"/>
                    </a:solidFill>
                    <a:latin typeface="Cambria Math" panose="02040503050406030204" pitchFamily="18" charset="0"/>
                  </a:rPr>
                  <a:t>$180^\circ-2x=x+90^\circ$</a:t>
                </a:r>
                <a:r>
                  <a:rPr sz="2400" b="0">
                    <a:solidFill>
                      <a:srgbClr val="111827"/>
                    </a:solidFill>
                    <a:latin typeface="Arial"/>
                  </a:rPr>
                  <a:t> and </a:t>
                </a:r>
                <a:r>
                  <a:rPr lang="en-IN" sz="2400">
                    <a:solidFill>
                      <a:srgbClr val="111827"/>
                    </a:solidFill>
                    <a:latin typeface="Cambria Math" panose="02040503050406030204" pitchFamily="18" charset="0"/>
                  </a:rPr>
                  <a:t>$x=30^\circ$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$\angle B=2y=90^\circ$</a:t>
                </a:r>
                <a:r>
                  <a:rPr sz="2400" b="0">
                    <a:solidFill>
                      <a:srgbClr val="111827"/>
                    </a:solidFill>
                    <a:latin typeface="Arial"/>
                  </a:rPr>
                  <a:t>, </a:t>
                </a:r>
                <a:r>
                  <a:rPr lang="en-IN" sz="2400">
                    <a:solidFill>
                      <a:srgbClr val="111827"/>
                    </a:solidFill>
                    <a:latin typeface="Cambria Math" panose="02040503050406030204" pitchFamily="18" charset="0"/>
                  </a:rPr>
                  <a:t>$\angle A=30^\circ$</a:t>
                </a:r>
                <a:r>
                  <a:rPr sz="2400" b="0">
                    <a:solidFill>
                      <a:srgbClr val="111827"/>
                    </a:solidFill>
                    <a:latin typeface="Arial"/>
                  </a:rPr>
                  <a:t>, </a:t>
                </a:r>
                <a:r>
                  <a:rPr lang="en-IN" sz="2400">
                    <a:solidFill>
                      <a:srgbClr val="111827"/>
                    </a:solidFill>
                    <a:latin typeface="Cambria Math" panose="02040503050406030204" pitchFamily="18" charset="0"/>
                  </a:rPr>
                  <a:t>$\angle C=60^\circ$</a:t>
                </a:r>
                <a:r>
                  <a:rPr sz="2400" b="0">
                    <a:solidFill>
                      <a:srgbClr val="111827"/>
                    </a:solidFill>
                    <a:latin typeface="Arial"/>
                  </a:rPr>
                  <a:t>; the hypotenuse </a:t>
                </a:r>
                <a:r>
                  <a:rPr lang="en-IN" sz="2400">
                    <a:solidFill>
                      <a:srgbClr val="111827"/>
                    </a:solidFill>
                    <a:latin typeface="Cambria Math" panose="02040503050406030204" pitchFamily="18" charset="0"/>
                  </a:rPr>
                  <a:t>$AC=1$</a:t>
                </a:r>
                <a:r>
                  <a:rPr sz="2400" b="0">
                    <a:solidFill>
                      <a:srgbClr val="111827"/>
                    </a:solidFill>
                    <a:latin typeface="Arial"/>
                  </a:rPr>
                  <a:t> is the circumdiameter, so the area is </a:t>
                </a:r>
                <a:r>
                  <a:rPr lang="en-IN" sz="2400">
                    <a:solidFill>
                      <a:srgbClr val="111827"/>
                    </a:solidFill>
                    <a:latin typeface="Cambria Math" panose="02040503050406030204" pitchFamily="18" charset="0"/>
                  </a:rPr>
                  <a:t>$\frac\pi4$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4</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$\frac\pi4$</a:t>
                </a:r>
                <a:endParaRPr sz="2800">
                  <a:solidFill>
                    <a:srgbClr val="15803D"/>
                  </a:solidFill>
                </a:endParaRPr>
              </a:p>
            </p:txBody>
          </p:sp>
        </mc:Fallback>
      </mc:AlternateContent>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Angles in A.P.: use the symmetric form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oMath>
                </a14:m>
                <a:r>
                  <a:rPr sz="2400" b="0">
                    <a:solidFill>
                      <a:srgbClr val="111827"/>
                    </a:solidFill>
                    <a:latin typeface="Arial"/>
                  </a:rPr>
                  <a:t> (common difference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oMath>
                </a14:m>
                <a:r>
                  <a:rPr sz="2400" b="0">
                    <a:solidFill>
                      <a:srgbClr val="111827"/>
                    </a:solidFill>
                    <a:latin typeface="Arial"/>
                  </a:rPr>
                  <a:t>), or equivalently two 'twice the middle' equations.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the exterior angle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right angle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makes the hypotenuse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the circumdiameter: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Angles in A.P.: use the symmetric form </a:t>
                </a:r>
                <a:r>
                  <a:rPr lang="en-IN" sz="2400">
                    <a:solidFill>
                      <a:srgbClr val="111827"/>
                    </a:solidFill>
                    <a:latin typeface="Cambria Math" panose="02040503050406030204" pitchFamily="18" charset="0"/>
                  </a:rPr>
                  <a:t>$\alpha-3\beta,\alpha-\beta,\alpha+\beta,\alpha+3\beta$</a:t>
                </a:r>
                <a:r>
                  <a:rPr sz="2400" b="0">
                    <a:solidFill>
                      <a:srgbClr val="111827"/>
                    </a:solidFill>
                    <a:latin typeface="Arial"/>
                  </a:rPr>
                  <a:t> (common difference </a:t>
                </a:r>
                <a:r>
                  <a:rPr lang="en-IN" sz="2400">
                    <a:solidFill>
                      <a:srgbClr val="111827"/>
                    </a:solidFill>
                    <a:latin typeface="Cambria Math" panose="02040503050406030204" pitchFamily="18" charset="0"/>
                  </a:rPr>
                  <a:t>$2\beta$</a:t>
                </a:r>
                <a:r>
                  <a:rPr sz="2400" b="0">
                    <a:solidFill>
                      <a:srgbClr val="111827"/>
                    </a:solidFill>
                    <a:latin typeface="Arial"/>
                  </a:rPr>
                  <a:t>), or equivalently two 'twice the middle' equations.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$\triangle ABD$</a:t>
                </a:r>
                <a:r>
                  <a:rPr sz="2400" b="0">
                    <a:solidFill>
                      <a:srgbClr val="111827"/>
                    </a:solidFill>
                    <a:latin typeface="Arial"/>
                  </a:rPr>
                  <a:t> with </a:t>
                </a:r>
                <a:r>
                  <a:rPr lang="en-IN" sz="2400">
                    <a:solidFill>
                      <a:srgbClr val="111827"/>
                    </a:solidFill>
                    <a:latin typeface="Cambria Math" panose="02040503050406030204" pitchFamily="18" charset="0"/>
                  </a:rPr>
                  <a:t>$BD\perp AC$</a:t>
                </a:r>
                <a:r>
                  <a:rPr sz="2400" b="0">
                    <a:solidFill>
                      <a:srgbClr val="111827"/>
                    </a:solidFill>
                    <a:latin typeface="Arial"/>
                  </a:rPr>
                  <a:t>: </a:t>
                </a:r>
                <a:r>
                  <a:rPr lang="en-IN" sz="2400">
                    <a:solidFill>
                      <a:srgbClr val="111827"/>
                    </a:solidFill>
                    <a:latin typeface="Cambria Math" panose="02040503050406030204" pitchFamily="18" charset="0"/>
                  </a:rPr>
                  <a:t>$\angle ABD=90^\circ-\angle A$</a:t>
                </a:r>
                <a:r>
                  <a:rPr sz="2400" b="0">
                    <a:solidFill>
                      <a:srgbClr val="111827"/>
                    </a:solidFill>
                    <a:latin typeface="Arial"/>
                  </a:rPr>
                  <a:t>; the exterior angle of </a:t>
                </a:r>
                <a:r>
                  <a:rPr lang="en-IN" sz="2400">
                    <a:solidFill>
                      <a:srgbClr val="111827"/>
                    </a:solidFill>
                    <a:latin typeface="Cambria Math" panose="02040503050406030204" pitchFamily="18" charset="0"/>
                  </a:rPr>
                  <a:t>$\triangle ABE$</a:t>
                </a:r>
                <a:r>
                  <a:rPr sz="2400" b="0">
                    <a:solidFill>
                      <a:srgbClr val="111827"/>
                    </a:solidFill>
                    <a:latin typeface="Arial"/>
                  </a:rPr>
                  <a:t> at </a:t>
                </a:r>
                <a:r>
                  <a:rPr lang="en-IN" sz="2400">
                    <a:solidFill>
                      <a:srgbClr val="111827"/>
                    </a:solidFill>
                    <a:latin typeface="Cambria Math" panose="02040503050406030204" pitchFamily="18" charset="0"/>
                  </a:rPr>
                  <a:t>$E$</a:t>
                </a:r>
                <a:r>
                  <a:rPr sz="2400" b="0">
                    <a:solidFill>
                      <a:srgbClr val="111827"/>
                    </a:solidFill>
                    <a:latin typeface="Arial"/>
                  </a:rPr>
                  <a:t> is </a:t>
                </a:r>
                <a:r>
                  <a:rPr lang="en-IN" sz="2400">
                    <a:solidFill>
                      <a:srgbClr val="111827"/>
                    </a:solidFill>
                    <a:latin typeface="Cambria Math" panose="02040503050406030204" pitchFamily="18" charset="0"/>
                  </a:rPr>
                  <a:t>$\angle A+\angle ABE$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right angle at </a:t>
                </a:r>
                <a:r>
                  <a:rPr lang="en-IN" sz="2400">
                    <a:solidFill>
                      <a:srgbClr val="111827"/>
                    </a:solidFill>
                    <a:latin typeface="Cambria Math" panose="02040503050406030204" pitchFamily="18" charset="0"/>
                  </a:rPr>
                  <a:t>$B$</a:t>
                </a:r>
                <a:r>
                  <a:rPr sz="2400" b="0">
                    <a:solidFill>
                      <a:srgbClr val="111827"/>
                    </a:solidFill>
                    <a:latin typeface="Arial"/>
                  </a:rPr>
                  <a:t> makes the hypotenuse </a:t>
                </a:r>
                <a:r>
                  <a:rPr lang="en-IN" sz="2400">
                    <a:solidFill>
                      <a:srgbClr val="111827"/>
                    </a:solidFill>
                    <a:latin typeface="Cambria Math" panose="02040503050406030204" pitchFamily="18" charset="0"/>
                  </a:rPr>
                  <a:t>$AC$</a:t>
                </a:r>
                <a:r>
                  <a:rPr sz="2400" b="0">
                    <a:solidFill>
                      <a:srgbClr val="111827"/>
                    </a:solidFill>
                    <a:latin typeface="Arial"/>
                  </a:rPr>
                  <a:t> the circumdiameter: </a:t>
                </a:r>
                <a:r>
                  <a:rPr lang="en-IN" sz="2400">
                    <a:solidFill>
                      <a:srgbClr val="111827"/>
                    </a:solidFill>
                    <a:latin typeface="Cambria Math" panose="02040503050406030204" pitchFamily="18" charset="0"/>
                  </a:rPr>
                  <a:t>$R=\frac{AC}2$</a:t>
                </a:r>
                <a:r>
                  <a:rPr sz="2400" b="0">
                    <a:solidFill>
                      <a:srgbClr val="111827"/>
                    </a:solidFill>
                    <a:latin typeface="Arial"/>
                  </a:rPr>
                  <a:t>, area </a:t>
                </a:r>
                <a:r>
                  <a:rPr lang="en-IN" sz="2400">
                    <a:solidFill>
                      <a:srgbClr val="111827"/>
                    </a:solidFill>
                    <a:latin typeface="Cambria Math" panose="02040503050406030204" pitchFamily="18" charset="0"/>
                  </a:rPr>
                  <a:t>$=\frac\pi4AC^2$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604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altitude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and a bisector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are drawn in the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from the vertex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It is known that the length of side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magnitudes of the angles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form an arithmetic progression.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be the circumcentre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The radius of the circle inscribed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endParaRPr sz="2400">
                  <a:solidFill>
                    <a:srgbClr val="111827"/>
                  </a:solidFill>
                </a:endParaRPr>
              </a:p>
            </p:txBody>
          </p:sp>
        </mc:Choice>
        <mc:Fallback>
          <p:sp>
            <p:nvSpPr>
              <p:cNvPr id="4" name="Rounded Rectangle 3"/>
              <p:cNvSpPr/>
              <p:nvPr/>
            </p:nvSpPr>
            <p:spPr>
              <a:xfrm>
                <a:off x="731520" y="1280160"/>
                <a:ext cx="10725912" cy="33604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altitude </a:t>
                </a:r>
                <a:r>
                  <a:rPr lang="en-IN" sz="2400">
                    <a:solidFill>
                      <a:srgbClr val="111827"/>
                    </a:solidFill>
                    <a:latin typeface="Cambria Math" panose="02040503050406030204" pitchFamily="18" charset="0"/>
                  </a:rPr>
                  <a:t>$BD$</a:t>
                </a:r>
                <a:r>
                  <a:rPr sz="2400" b="0">
                    <a:solidFill>
                      <a:srgbClr val="111827"/>
                    </a:solidFill>
                    <a:latin typeface="Arial"/>
                  </a:rPr>
                  <a:t> and a bisector </a:t>
                </a:r>
                <a:r>
                  <a:rPr lang="en-IN" sz="2400">
                    <a:solidFill>
                      <a:srgbClr val="111827"/>
                    </a:solidFill>
                    <a:latin typeface="Cambria Math" panose="02040503050406030204" pitchFamily="18" charset="0"/>
                  </a:rPr>
                  <a:t>$BE$</a:t>
                </a:r>
                <a:r>
                  <a:rPr sz="2400" b="0">
                    <a:solidFill>
                      <a:srgbClr val="111827"/>
                    </a:solidFill>
                    <a:latin typeface="Arial"/>
                  </a:rPr>
                  <a:t> are drawn in the triangle </a:t>
                </a:r>
                <a:r>
                  <a:rPr lang="en-IN" sz="2400">
                    <a:solidFill>
                      <a:srgbClr val="111827"/>
                    </a:solidFill>
                    <a:latin typeface="Cambria Math" panose="02040503050406030204" pitchFamily="18" charset="0"/>
                  </a:rPr>
                  <a:t>$ABC$</a:t>
                </a:r>
                <a:r>
                  <a:rPr sz="2400" b="0">
                    <a:solidFill>
                      <a:srgbClr val="111827"/>
                    </a:solidFill>
                    <a:latin typeface="Arial"/>
                  </a:rPr>
                  <a:t> from the vertex </a:t>
                </a:r>
                <a:r>
                  <a:rPr lang="en-IN" sz="2400">
                    <a:solidFill>
                      <a:srgbClr val="111827"/>
                    </a:solidFill>
                    <a:latin typeface="Cambria Math" panose="02040503050406030204" pitchFamily="18" charset="0"/>
                  </a:rPr>
                  <a:t>$B$</a:t>
                </a:r>
                <a:r>
                  <a:rPr sz="2400" b="0">
                    <a:solidFill>
                      <a:srgbClr val="111827"/>
                    </a:solidFill>
                    <a:latin typeface="Arial"/>
                  </a:rPr>
                  <a:t>. It is known that the length of side </a:t>
                </a:r>
                <a:r>
                  <a:rPr lang="en-IN" sz="2400">
                    <a:solidFill>
                      <a:srgbClr val="111827"/>
                    </a:solidFill>
                    <a:latin typeface="Cambria Math" panose="02040503050406030204" pitchFamily="18" charset="0"/>
                  </a:rPr>
                  <a:t>$AC=1$</a:t>
                </a:r>
                <a:r>
                  <a:rPr sz="2400" b="0">
                    <a:solidFill>
                      <a:srgbClr val="111827"/>
                    </a:solidFill>
                    <a:latin typeface="Arial"/>
                  </a:rPr>
                  <a:t>, and the magnitudes of the angles </a:t>
                </a:r>
                <a:r>
                  <a:rPr lang="en-IN" sz="2400">
                    <a:solidFill>
                      <a:srgbClr val="111827"/>
                    </a:solidFill>
                    <a:latin typeface="Cambria Math" panose="02040503050406030204" pitchFamily="18" charset="0"/>
                  </a:rPr>
                  <a:t>$BEC$</a:t>
                </a:r>
                <a:r>
                  <a:rPr sz="2400" b="0">
                    <a:solidFill>
                      <a:srgbClr val="111827"/>
                    </a:solidFill>
                    <a:latin typeface="Arial"/>
                  </a:rPr>
                  <a:t>, </a:t>
                </a:r>
                <a:r>
                  <a:rPr lang="en-IN" sz="2400">
                    <a:solidFill>
                      <a:srgbClr val="111827"/>
                    </a:solidFill>
                    <a:latin typeface="Cambria Math" panose="02040503050406030204" pitchFamily="18" charset="0"/>
                  </a:rPr>
                  <a:t>$ABD$</a:t>
                </a:r>
                <a:r>
                  <a:rPr sz="2400" b="0">
                    <a:solidFill>
                      <a:srgbClr val="111827"/>
                    </a:solidFill>
                    <a:latin typeface="Arial"/>
                  </a:rPr>
                  <a:t>, </a:t>
                </a:r>
                <a:r>
                  <a:rPr lang="en-IN" sz="2400">
                    <a:solidFill>
                      <a:srgbClr val="111827"/>
                    </a:solidFill>
                    <a:latin typeface="Cambria Math" panose="02040503050406030204" pitchFamily="18" charset="0"/>
                  </a:rPr>
                  <a:t>$ABE$</a:t>
                </a:r>
                <a:r>
                  <a:rPr sz="2400" b="0">
                    <a:solidFill>
                      <a:srgbClr val="111827"/>
                    </a:solidFill>
                    <a:latin typeface="Arial"/>
                  </a:rPr>
                  <a:t>, </a:t>
                </a:r>
                <a:r>
                  <a:rPr lang="en-IN" sz="2400">
                    <a:solidFill>
                      <a:srgbClr val="111827"/>
                    </a:solidFill>
                    <a:latin typeface="Cambria Math" panose="02040503050406030204" pitchFamily="18" charset="0"/>
                  </a:rPr>
                  <a:t>$BAC$</a:t>
                </a:r>
                <a:r>
                  <a:rPr sz="2400" b="0">
                    <a:solidFill>
                      <a:srgbClr val="111827"/>
                    </a:solidFill>
                    <a:latin typeface="Arial"/>
                  </a:rPr>
                  <a:t> form an arithmetic progression.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$O$</a:t>
                </a:r>
                <a:r>
                  <a:rPr sz="2400" b="0">
                    <a:solidFill>
                      <a:srgbClr val="111827"/>
                    </a:solidFill>
                    <a:latin typeface="Arial"/>
                  </a:rPr>
                  <a:t> be the circumcentre of </a:t>
                </a:r>
                <a:r>
                  <a:rPr lang="en-IN" sz="2400">
                    <a:solidFill>
                      <a:srgbClr val="111827"/>
                    </a:solidFill>
                    <a:latin typeface="Cambria Math" panose="02040503050406030204" pitchFamily="18" charset="0"/>
                  </a:rPr>
                  <a:t>$\triangle ABC$</a:t>
                </a:r>
                <a:r>
                  <a:rPr sz="2400" b="0">
                    <a:solidFill>
                      <a:srgbClr val="111827"/>
                    </a:solidFill>
                    <a:latin typeface="Arial"/>
                  </a:rPr>
                  <a:t>. The radius of the circle inscribed in </a:t>
                </a:r>
                <a:r>
                  <a:rPr lang="en-IN" sz="2400">
                    <a:solidFill>
                      <a:srgbClr val="111827"/>
                    </a:solidFill>
                    <a:latin typeface="Cambria Math" panose="02040503050406030204" pitchFamily="18" charset="0"/>
                  </a:rPr>
                  <a:t>$\triangle BOC$</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$\frac1{8\sqrt3}$</a:t>
                </a:r>
                <a:r>
                  <a:rPr sz="2400" b="0">
                    <a:solidFill>
                      <a:srgbClr val="111827"/>
                    </a:solidFill>
                    <a:latin typeface="Arial"/>
                  </a:rPr>
                  <a:t>   (B) </a:t>
                </a:r>
                <a:r>
                  <a:rPr lang="en-IN" sz="2400">
                    <a:solidFill>
                      <a:srgbClr val="111827"/>
                    </a:solidFill>
                    <a:latin typeface="Cambria Math" panose="02040503050406030204" pitchFamily="18" charset="0"/>
                  </a:rPr>
                  <a:t>$\frac1{4\sqrt3}$</a:t>
                </a:r>
                <a:r>
                  <a:rPr sz="2400" b="0">
                    <a:solidFill>
                      <a:srgbClr val="111827"/>
                    </a:solidFill>
                    <a:latin typeface="Arial"/>
                  </a:rPr>
                  <a:t>   (C) </a:t>
                </a:r>
                <a:r>
                  <a:rPr lang="en-IN" sz="2400">
                    <a:solidFill>
                      <a:srgbClr val="111827"/>
                    </a:solidFill>
                    <a:latin typeface="Cambria Math" panose="02040503050406030204" pitchFamily="18" charset="0"/>
                  </a:rPr>
                  <a:t>$\frac1{2\sqrt3}$</a:t>
                </a:r>
                <a:r>
                  <a:rPr sz="2400" b="0">
                    <a:solidFill>
                      <a:srgbClr val="111827"/>
                    </a:solidFill>
                    <a:latin typeface="Arial"/>
                  </a:rPr>
                  <a:t>   (D) </a:t>
                </a:r>
                <a:r>
                  <a:rPr lang="en-IN" sz="2400">
                    <a:solidFill>
                      <a:srgbClr val="111827"/>
                    </a:solidFill>
                    <a:latin typeface="Cambria Math" panose="02040503050406030204" pitchFamily="18" charset="0"/>
                  </a:rPr>
                  <a:t>$\frac12$</a:t>
                </a:r>
                <a:endParaRPr sz="2400">
                  <a:solidFill>
                    <a:srgbClr val="111827"/>
                  </a:solidFill>
                </a:endParaRPr>
              </a:p>
            </p:txBody>
          </p:sp>
        </mc:Fallback>
      </mc:AlternateContent>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Circumcentre of a right triangle and inradius of an equilateral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 is right-angled at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 is the midpoint of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𝐶</m:t>
                    </m:r>
                  </m:oMath>
                </a14:m>
                <a:r>
                  <a:rPr sz="2400" b="0">
                    <a:solidFill>
                      <a:srgbClr val="78350F"/>
                    </a:solidFill>
                    <a:latin typeface="Arial"/>
                  </a:rPr>
                  <a:t> is equilateral with side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$\triangle ABC$</a:t>
                </a:r>
                <a:r>
                  <a:rPr sz="2400" b="0">
                    <a:solidFill>
                      <a:srgbClr val="78350F"/>
                    </a:solidFill>
                    <a:latin typeface="Arial"/>
                  </a:rPr>
                  <a:t> is right-angled at </a:t>
                </a:r>
                <a:r>
                  <a:rPr lang="en-IN" sz="2400">
                    <a:solidFill>
                      <a:srgbClr val="78350F"/>
                    </a:solidFill>
                    <a:latin typeface="Cambria Math" panose="02040503050406030204" pitchFamily="18" charset="0"/>
                  </a:rPr>
                  <a:t>$B$</a:t>
                </a:r>
                <a:r>
                  <a:rPr sz="2400" b="0">
                    <a:solidFill>
                      <a:srgbClr val="78350F"/>
                    </a:solidFill>
                    <a:latin typeface="Arial"/>
                  </a:rPr>
                  <a:t>, so </a:t>
                </a:r>
                <a:r>
                  <a:rPr lang="en-IN" sz="2400">
                    <a:solidFill>
                      <a:srgbClr val="78350F"/>
                    </a:solidFill>
                    <a:latin typeface="Cambria Math" panose="02040503050406030204" pitchFamily="18" charset="0"/>
                  </a:rPr>
                  <a:t>$O$</a:t>
                </a:r>
                <a:r>
                  <a:rPr sz="2400" b="0">
                    <a:solidFill>
                      <a:srgbClr val="78350F"/>
                    </a:solidFill>
                    <a:latin typeface="Arial"/>
                  </a:rPr>
                  <a:t> is the midpoint of </a:t>
                </a:r>
                <a:r>
                  <a:rPr lang="en-IN" sz="2400">
                    <a:solidFill>
                      <a:srgbClr val="78350F"/>
                    </a:solidFill>
                    <a:latin typeface="Cambria Math" panose="02040503050406030204" pitchFamily="18" charset="0"/>
                  </a:rPr>
                  <a:t>$AC$</a:t>
                </a:r>
                <a:r>
                  <a:rPr sz="2400" b="0">
                    <a:solidFill>
                      <a:srgbClr val="78350F"/>
                    </a:solidFill>
                    <a:latin typeface="Arial"/>
                  </a:rPr>
                  <a:t> and </a:t>
                </a:r>
                <a:r>
                  <a:rPr lang="en-IN" sz="2400">
                    <a:solidFill>
                      <a:srgbClr val="78350F"/>
                    </a:solidFill>
                    <a:latin typeface="Cambria Math" panose="02040503050406030204" pitchFamily="18" charset="0"/>
                  </a:rPr>
                  <a:t>$\triangle BOC$</a:t>
                </a:r>
                <a:r>
                  <a:rPr sz="2400" b="0">
                    <a:solidFill>
                      <a:srgbClr val="78350F"/>
                    </a:solidFill>
                    <a:latin typeface="Arial"/>
                  </a:rPr>
                  <a:t> is equilateral with side </a:t>
                </a:r>
                <a:r>
                  <a:rPr lang="en-IN" sz="2400">
                    <a:solidFill>
                      <a:srgbClr val="78350F"/>
                    </a:solidFill>
                    <a:latin typeface="Cambria Math" panose="02040503050406030204" pitchFamily="18" charset="0"/>
                  </a:rPr>
                  <a:t>$\frac12$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Q26: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013960"/>
                <a:ext cx="10725912" cy="166115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Q26: </a:t>
                </a:r>
                <a:r>
                  <a:rPr lang="en-IN" sz="2400">
                    <a:solidFill>
                      <a:srgbClr val="111827"/>
                    </a:solidFill>
                    <a:latin typeface="Cambria Math" panose="02040503050406030204" pitchFamily="18" charset="0"/>
                  </a:rPr>
                  <a:t>$\angle B=90^\circ$</a:t>
                </a:r>
                <a:r>
                  <a:rPr sz="2400" b="0">
                    <a:solidFill>
                      <a:srgbClr val="111827"/>
                    </a:solidFill>
                    <a:latin typeface="Arial"/>
                  </a:rPr>
                  <a:t>, </a:t>
                </a:r>
                <a:r>
                  <a:rPr lang="en-IN" sz="2400">
                    <a:solidFill>
                      <a:srgbClr val="111827"/>
                    </a:solidFill>
                    <a:latin typeface="Cambria Math" panose="02040503050406030204" pitchFamily="18" charset="0"/>
                  </a:rPr>
                  <a:t>$\angle A=30^\circ$</a:t>
                </a:r>
                <a:r>
                  <a:rPr sz="2400" b="0">
                    <a:solidFill>
                      <a:srgbClr val="111827"/>
                    </a:solidFill>
                    <a:latin typeface="Arial"/>
                  </a:rPr>
                  <a:t>, </a:t>
                </a:r>
                <a:r>
                  <a:rPr lang="en-IN" sz="2400">
                    <a:solidFill>
                      <a:srgbClr val="111827"/>
                    </a:solidFill>
                    <a:latin typeface="Cambria Math" panose="02040503050406030204" pitchFamily="18" charset="0"/>
                  </a:rPr>
                  <a:t>$\angle C=60^\circ$</a:t>
                </a:r>
                <a:r>
                  <a:rPr sz="2400" b="0">
                    <a:solidFill>
                      <a:srgbClr val="111827"/>
                    </a:solidFill>
                    <a:latin typeface="Arial"/>
                  </a:rPr>
                  <a:t> and </a:t>
                </a:r>
                <a:r>
                  <a:rPr lang="en-IN" sz="2400">
                    <a:solidFill>
                      <a:srgbClr val="111827"/>
                    </a:solidFill>
                    <a:latin typeface="Cambria Math" panose="02040503050406030204" pitchFamily="18" charset="0"/>
                  </a:rPr>
                  <a:t>$AC=1$</a:t>
                </a:r>
                <a:r>
                  <a:rPr sz="2400" b="0">
                    <a:solidFill>
                      <a:srgbClr val="111827"/>
                    </a:solidFill>
                    <a:latin typeface="Arial"/>
                  </a:rPr>
                  <a:t>, so </a:t>
                </a:r>
                <a:r>
                  <a:rPr lang="en-IN" sz="2400">
                    <a:solidFill>
                      <a:srgbClr val="111827"/>
                    </a:solidFill>
                    <a:latin typeface="Cambria Math" panose="02040503050406030204" pitchFamily="18" charset="0"/>
                  </a:rPr>
                  <a:t>$AB=\frac{\sqrt3}2$</a:t>
                </a:r>
                <a:r>
                  <a:rPr sz="2400" b="0">
                    <a:solidFill>
                      <a:srgbClr val="111827"/>
                    </a:solidFill>
                    <a:latin typeface="Arial"/>
                  </a:rPr>
                  <a:t> and </a:t>
                </a:r>
                <a:r>
                  <a:rPr lang="en-IN" sz="2400">
                    <a:solidFill>
                      <a:srgbClr val="111827"/>
                    </a:solidFill>
                    <a:latin typeface="Cambria Math" panose="02040503050406030204" pitchFamily="18" charset="0"/>
                  </a:rPr>
                  <a:t>$BC=\frac12$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circumcentre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is the midpoint of the hypotenuse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oMath>
                </a14:m>
                <a:r>
                  <a:rPr sz="2400" b="0">
                    <a:solidFill>
                      <a:srgbClr val="111827"/>
                    </a:solidFill>
                    <a:latin typeface="Arial"/>
                  </a:rPr>
                  <a:t> is equilateral with side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Inradius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Δ</m:t>
                        </m:r>
                      </m:num>
                      <m:den>
                        <m:r>
                          <a:rPr lang="en-IN" sz="2400" i="1">
                            <a:solidFill>
                              <a:srgbClr val="111827"/>
                            </a:solidFill>
                            <a:latin typeface="Cambria Math" panose="02040503050406030204" pitchFamily="18" charset="0"/>
                          </a:rPr>
                          <m:t>𝑠</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circumcentre </a:t>
                </a:r>
                <a:r>
                  <a:rPr lang="en-IN" sz="2400">
                    <a:solidFill>
                      <a:srgbClr val="111827"/>
                    </a:solidFill>
                    <a:latin typeface="Cambria Math" panose="02040503050406030204" pitchFamily="18" charset="0"/>
                  </a:rPr>
                  <a:t>$O$</a:t>
                </a:r>
                <a:r>
                  <a:rPr sz="2400" b="0">
                    <a:solidFill>
                      <a:srgbClr val="111827"/>
                    </a:solidFill>
                    <a:latin typeface="Arial"/>
                  </a:rPr>
                  <a:t> is the midpoint of the hypotenuse </a:t>
                </a:r>
                <a:r>
                  <a:rPr lang="en-IN" sz="2400">
                    <a:solidFill>
                      <a:srgbClr val="111827"/>
                    </a:solidFill>
                    <a:latin typeface="Cambria Math" panose="02040503050406030204" pitchFamily="18" charset="0"/>
                  </a:rPr>
                  <a:t>$AC$</a:t>
                </a:r>
                <a:r>
                  <a:rPr sz="2400" b="0">
                    <a:solidFill>
                      <a:srgbClr val="111827"/>
                    </a:solidFill>
                    <a:latin typeface="Arial"/>
                  </a:rPr>
                  <a:t>, so </a:t>
                </a:r>
                <a:r>
                  <a:rPr lang="en-IN" sz="2400">
                    <a:solidFill>
                      <a:srgbClr val="111827"/>
                    </a:solidFill>
                    <a:latin typeface="Cambria Math" panose="02040503050406030204" pitchFamily="18" charset="0"/>
                  </a:rPr>
                  <a:t>$OB=OC=\frac12$</a:t>
                </a:r>
                <a:r>
                  <a:rPr sz="2400" b="0">
                    <a:solidFill>
                      <a:srgbClr val="111827"/>
                    </a:solidFill>
                    <a:latin typeface="Arial"/>
                  </a:rPr>
                  <a:t>; with </a:t>
                </a:r>
                <a:r>
                  <a:rPr lang="en-IN" sz="2400">
                    <a:solidFill>
                      <a:srgbClr val="111827"/>
                    </a:solidFill>
                    <a:latin typeface="Cambria Math" panose="02040503050406030204" pitchFamily="18" charset="0"/>
                  </a:rPr>
                  <a:t>$\angle C=60^\circ$</a:t>
                </a:r>
                <a:r>
                  <a:rPr sz="2400" b="0">
                    <a:solidFill>
                      <a:srgbClr val="111827"/>
                    </a:solidFill>
                    <a:latin typeface="Arial"/>
                  </a:rPr>
                  <a:t>, </a:t>
                </a:r>
                <a:r>
                  <a:rPr lang="en-IN" sz="2400">
                    <a:solidFill>
                      <a:srgbClr val="111827"/>
                    </a:solidFill>
                    <a:latin typeface="Cambria Math" panose="02040503050406030204" pitchFamily="18" charset="0"/>
                  </a:rPr>
                  <a:t>$\triangle BOC$</a:t>
                </a:r>
                <a:r>
                  <a:rPr sz="2400" b="0">
                    <a:solidFill>
                      <a:srgbClr val="111827"/>
                    </a:solidFill>
                    <a:latin typeface="Arial"/>
                  </a:rPr>
                  <a:t> is equilateral with side </a:t>
                </a:r>
                <a:r>
                  <a:rPr lang="en-IN" sz="2400">
                    <a:solidFill>
                      <a:srgbClr val="111827"/>
                    </a:solidFill>
                    <a:latin typeface="Cambria Math" panose="02040503050406030204" pitchFamily="18" charset="0"/>
                  </a:rPr>
                  <a:t>$\frac12$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Inradius </a:t>
                </a:r>
                <a:r>
                  <a:rPr lang="en-IN" sz="2400">
                    <a:solidFill>
                      <a:srgbClr val="111827"/>
                    </a:solidFill>
                    <a:latin typeface="Cambria Math" panose="02040503050406030204" pitchFamily="18" charset="0"/>
                  </a:rPr>
                  <a:t>$r=\frac\Delta s$</a:t>
                </a:r>
                <a:r>
                  <a:rPr sz="2400" b="0">
                    <a:solidFill>
                      <a:srgbClr val="111827"/>
                    </a:solidFill>
                    <a:latin typeface="Arial"/>
                  </a:rPr>
                  <a:t>: </a:t>
                </a:r>
                <a:r>
                  <a:rPr lang="en-IN" sz="2400">
                    <a:solidFill>
                      <a:srgbClr val="111827"/>
                    </a:solidFill>
                    <a:latin typeface="Cambria Math" panose="02040503050406030204" pitchFamily="18" charset="0"/>
                  </a:rPr>
                  <a:t>$\Delta=\frac{\sqrt3}4\left(\frac12\right)^2=\frac{\sqrt3}{16}$</a:t>
                </a:r>
                <a:r>
                  <a:rPr sz="2400" b="0">
                    <a:solidFill>
                      <a:srgbClr val="111827"/>
                    </a:solidFill>
                    <a:latin typeface="Arial"/>
                  </a:rPr>
                  <a:t> and </a:t>
                </a:r>
                <a:r>
                  <a:rPr lang="en-IN" sz="2400">
                    <a:solidFill>
                      <a:srgbClr val="111827"/>
                    </a:solidFill>
                    <a:latin typeface="Cambria Math" panose="02040503050406030204" pitchFamily="18" charset="0"/>
                  </a:rPr>
                  <a:t>$s=\frac12\cdot\frac32=\frac34$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$r=\frac{\sqrt3/16}{3/4}=\frac{\sqrt3}{12}=\frac1{4\sqrt3}$</a:t>
                </a:r>
                <a:r>
                  <a:rPr sz="2400" b="0">
                    <a:solidFill>
                      <a:srgbClr val="111827"/>
                    </a:solidFill>
                    <a:latin typeface="Arial"/>
                  </a:rPr>
                  <a:t>,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4</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$\frac1{4\sqrt3}$</a:t>
                </a:r>
                <a:endParaRPr sz="2800">
                  <a:solidFill>
                    <a:srgbClr val="15803D"/>
                  </a:solidFill>
                </a:endParaRPr>
              </a:p>
            </p:txBody>
          </p:sp>
        </mc:Fallback>
      </mc:AlternateContent>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circumcentre of a right triangle is the midpoint of the hypotenuse; 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oMath>
                </a14:m>
                <a:r>
                  <a:rPr sz="2400" b="0">
                    <a:solidFill>
                      <a:srgbClr val="111827"/>
                    </a:solidFill>
                    <a:latin typeface="Arial"/>
                  </a:rPr>
                  <a:t> is isosceles with base angle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(equilateral when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Inradius of an equilateral triangle of side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6</m:t>
                        </m:r>
                      </m:den>
                    </m:f>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𝑡</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Δ</m:t>
                        </m:r>
                      </m:num>
                      <m:den>
                        <m:r>
                          <a:rPr lang="en-IN" sz="2400" i="1">
                            <a:solidFill>
                              <a:srgbClr val="111827"/>
                            </a:solidFill>
                            <a:latin typeface="Cambria Math" panose="02040503050406030204" pitchFamily="18" charset="0"/>
                          </a:rPr>
                          <m:t>𝑠</m:t>
                        </m:r>
                      </m:den>
                    </m:f>
                  </m:oMath>
                </a14:m>
                <a:r>
                  <a:rPr sz="2400" b="0">
                    <a:solidFill>
                      <a:srgbClr val="111827"/>
                    </a:solidFill>
                    <a:latin typeface="Arial"/>
                  </a:rPr>
                  <a:t> holds for every triangle.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circumcentre of a right triangle is the midpoint of the hypotenuse; so </a:t>
                </a:r>
                <a:r>
                  <a:rPr lang="en-IN" sz="2400">
                    <a:solidFill>
                      <a:srgbClr val="111827"/>
                    </a:solidFill>
                    <a:latin typeface="Cambria Math" panose="02040503050406030204" pitchFamily="18" charset="0"/>
                  </a:rPr>
                  <a:t>$OB=OC=\frac{AC}2$</a:t>
                </a:r>
                <a:r>
                  <a:rPr sz="2400" b="0">
                    <a:solidFill>
                      <a:srgbClr val="111827"/>
                    </a:solidFill>
                    <a:latin typeface="Arial"/>
                  </a:rPr>
                  <a:t> and </a:t>
                </a:r>
                <a:r>
                  <a:rPr lang="en-IN" sz="2400">
                    <a:solidFill>
                      <a:srgbClr val="111827"/>
                    </a:solidFill>
                    <a:latin typeface="Cambria Math" panose="02040503050406030204" pitchFamily="18" charset="0"/>
                  </a:rPr>
                  <a:t>$\triangle BOC$</a:t>
                </a:r>
                <a:r>
                  <a:rPr sz="2400" b="0">
                    <a:solidFill>
                      <a:srgbClr val="111827"/>
                    </a:solidFill>
                    <a:latin typeface="Arial"/>
                  </a:rPr>
                  <a:t> is isosceles with base angle </a:t>
                </a:r>
                <a:r>
                  <a:rPr lang="en-IN" sz="2400">
                    <a:solidFill>
                      <a:srgbClr val="111827"/>
                    </a:solidFill>
                    <a:latin typeface="Cambria Math" panose="02040503050406030204" pitchFamily="18" charset="0"/>
                  </a:rPr>
                  <a:t>$=\angle C$</a:t>
                </a:r>
                <a:r>
                  <a:rPr sz="2400" b="0">
                    <a:solidFill>
                      <a:srgbClr val="111827"/>
                    </a:solidFill>
                    <a:latin typeface="Arial"/>
                  </a:rPr>
                  <a:t> (equilateral when </a:t>
                </a:r>
                <a:r>
                  <a:rPr lang="en-IN" sz="2400">
                    <a:solidFill>
                      <a:srgbClr val="111827"/>
                    </a:solidFill>
                    <a:latin typeface="Cambria Math" panose="02040503050406030204" pitchFamily="18" charset="0"/>
                  </a:rPr>
                  <a:t>$C=60^\circ$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Inradius of an equilateral triangle of side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$r=\frac{\sqrt3}6t=\frac t{2\sqrt3}$</a:t>
                </a:r>
                <a:r>
                  <a:rPr sz="2400" b="0">
                    <a:solidFill>
                      <a:srgbClr val="111827"/>
                    </a:solidFill>
                    <a:latin typeface="Arial"/>
                  </a:rPr>
                  <a:t>; here </a:t>
                </a:r>
                <a:r>
                  <a:rPr lang="en-IN" sz="2400">
                    <a:solidFill>
                      <a:srgbClr val="111827"/>
                    </a:solidFill>
                    <a:latin typeface="Cambria Math" panose="02040503050406030204" pitchFamily="18" charset="0"/>
                  </a:rPr>
                  <a:t>$t=\frac12$</a:t>
                </a:r>
                <a:r>
                  <a:rPr sz="2400" b="0">
                    <a:solidFill>
                      <a:srgbClr val="111827"/>
                    </a:solidFill>
                    <a:latin typeface="Arial"/>
                  </a:rPr>
                  <a:t> gives </a:t>
                </a:r>
                <a:r>
                  <a:rPr lang="en-IN" sz="2400">
                    <a:solidFill>
                      <a:srgbClr val="111827"/>
                    </a:solidFill>
                    <a:latin typeface="Cambria Math" panose="02040503050406030204" pitchFamily="18" charset="0"/>
                  </a:rPr>
                  <a:t>$\frac1{4\sqrt3}$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$r=\frac\Delta s$</a:t>
                </a:r>
                <a:r>
                  <a:rPr sz="2400" b="0">
                    <a:solidFill>
                      <a:srgbClr val="111827"/>
                    </a:solidFill>
                    <a:latin typeface="Arial"/>
                  </a:rPr>
                  <a:t> holds for every triangle.</a:t>
                </a:r>
                <a:endParaRPr sz="2400">
                  <a:solidFill>
                    <a:srgbClr val="111827"/>
                  </a:solidFill>
                </a:endParaRPr>
              </a:p>
            </p:txBody>
          </p:sp>
        </mc:Fallback>
      </mc:AlternateContent>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604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altitude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and a bisector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are drawn in the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from the vertex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It is known that the length of side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magnitudes of the angles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form an arithmetic progression.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be the image of point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with respect to side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Then the length </a:t>
                </a:r>
                <a14:m>
                  <m:oMath xmlns:m="http://schemas.openxmlformats.org/officeDocument/2006/math">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   (C)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(D)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endParaRPr sz="2400">
                  <a:solidFill>
                    <a:srgbClr val="111827"/>
                  </a:solidFill>
                </a:endParaRPr>
              </a:p>
            </p:txBody>
          </p:sp>
        </mc:Choice>
        <mc:Fallback>
          <p:sp>
            <p:nvSpPr>
              <p:cNvPr id="4" name="Rounded Rectangle 3"/>
              <p:cNvSpPr/>
              <p:nvPr/>
            </p:nvSpPr>
            <p:spPr>
              <a:xfrm>
                <a:off x="731520" y="1280160"/>
                <a:ext cx="10725912" cy="336041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An altitude </a:t>
                </a:r>
                <a:r>
                  <a:rPr lang="en-IN" sz="2400">
                    <a:solidFill>
                      <a:srgbClr val="111827"/>
                    </a:solidFill>
                    <a:latin typeface="Cambria Math" panose="02040503050406030204" pitchFamily="18" charset="0"/>
                  </a:rPr>
                  <a:t>$BD$</a:t>
                </a:r>
                <a:r>
                  <a:rPr sz="2400" b="0">
                    <a:solidFill>
                      <a:srgbClr val="111827"/>
                    </a:solidFill>
                    <a:latin typeface="Arial"/>
                  </a:rPr>
                  <a:t> and a bisector </a:t>
                </a:r>
                <a:r>
                  <a:rPr lang="en-IN" sz="2400">
                    <a:solidFill>
                      <a:srgbClr val="111827"/>
                    </a:solidFill>
                    <a:latin typeface="Cambria Math" panose="02040503050406030204" pitchFamily="18" charset="0"/>
                  </a:rPr>
                  <a:t>$BE$</a:t>
                </a:r>
                <a:r>
                  <a:rPr sz="2400" b="0">
                    <a:solidFill>
                      <a:srgbClr val="111827"/>
                    </a:solidFill>
                    <a:latin typeface="Arial"/>
                  </a:rPr>
                  <a:t> are drawn in the triangle </a:t>
                </a:r>
                <a:r>
                  <a:rPr lang="en-IN" sz="2400">
                    <a:solidFill>
                      <a:srgbClr val="111827"/>
                    </a:solidFill>
                    <a:latin typeface="Cambria Math" panose="02040503050406030204" pitchFamily="18" charset="0"/>
                  </a:rPr>
                  <a:t>$ABC$</a:t>
                </a:r>
                <a:r>
                  <a:rPr sz="2400" b="0">
                    <a:solidFill>
                      <a:srgbClr val="111827"/>
                    </a:solidFill>
                    <a:latin typeface="Arial"/>
                  </a:rPr>
                  <a:t> from the vertex </a:t>
                </a:r>
                <a:r>
                  <a:rPr lang="en-IN" sz="2400">
                    <a:solidFill>
                      <a:srgbClr val="111827"/>
                    </a:solidFill>
                    <a:latin typeface="Cambria Math" panose="02040503050406030204" pitchFamily="18" charset="0"/>
                  </a:rPr>
                  <a:t>$B$</a:t>
                </a:r>
                <a:r>
                  <a:rPr sz="2400" b="0">
                    <a:solidFill>
                      <a:srgbClr val="111827"/>
                    </a:solidFill>
                    <a:latin typeface="Arial"/>
                  </a:rPr>
                  <a:t>. It is known that the length of side </a:t>
                </a:r>
                <a:r>
                  <a:rPr lang="en-IN" sz="2400">
                    <a:solidFill>
                      <a:srgbClr val="111827"/>
                    </a:solidFill>
                    <a:latin typeface="Cambria Math" panose="02040503050406030204" pitchFamily="18" charset="0"/>
                  </a:rPr>
                  <a:t>$AC=1$</a:t>
                </a:r>
                <a:r>
                  <a:rPr sz="2400" b="0">
                    <a:solidFill>
                      <a:srgbClr val="111827"/>
                    </a:solidFill>
                    <a:latin typeface="Arial"/>
                  </a:rPr>
                  <a:t>, and the magnitudes of the angles </a:t>
                </a:r>
                <a:r>
                  <a:rPr lang="en-IN" sz="2400">
                    <a:solidFill>
                      <a:srgbClr val="111827"/>
                    </a:solidFill>
                    <a:latin typeface="Cambria Math" panose="02040503050406030204" pitchFamily="18" charset="0"/>
                  </a:rPr>
                  <a:t>$BEC$</a:t>
                </a:r>
                <a:r>
                  <a:rPr sz="2400" b="0">
                    <a:solidFill>
                      <a:srgbClr val="111827"/>
                    </a:solidFill>
                    <a:latin typeface="Arial"/>
                  </a:rPr>
                  <a:t>, </a:t>
                </a:r>
                <a:r>
                  <a:rPr lang="en-IN" sz="2400">
                    <a:solidFill>
                      <a:srgbClr val="111827"/>
                    </a:solidFill>
                    <a:latin typeface="Cambria Math" panose="02040503050406030204" pitchFamily="18" charset="0"/>
                  </a:rPr>
                  <a:t>$ABD$</a:t>
                </a:r>
                <a:r>
                  <a:rPr sz="2400" b="0">
                    <a:solidFill>
                      <a:srgbClr val="111827"/>
                    </a:solidFill>
                    <a:latin typeface="Arial"/>
                  </a:rPr>
                  <a:t>, </a:t>
                </a:r>
                <a:r>
                  <a:rPr lang="en-IN" sz="2400">
                    <a:solidFill>
                      <a:srgbClr val="111827"/>
                    </a:solidFill>
                    <a:latin typeface="Cambria Math" panose="02040503050406030204" pitchFamily="18" charset="0"/>
                  </a:rPr>
                  <a:t>$ABE$</a:t>
                </a:r>
                <a:r>
                  <a:rPr sz="2400" b="0">
                    <a:solidFill>
                      <a:srgbClr val="111827"/>
                    </a:solidFill>
                    <a:latin typeface="Arial"/>
                  </a:rPr>
                  <a:t>, </a:t>
                </a:r>
                <a:r>
                  <a:rPr lang="en-IN" sz="2400">
                    <a:solidFill>
                      <a:srgbClr val="111827"/>
                    </a:solidFill>
                    <a:latin typeface="Cambria Math" panose="02040503050406030204" pitchFamily="18" charset="0"/>
                  </a:rPr>
                  <a:t>$BAC$</a:t>
                </a:r>
                <a:r>
                  <a:rPr sz="2400" b="0">
                    <a:solidFill>
                      <a:srgbClr val="111827"/>
                    </a:solidFill>
                    <a:latin typeface="Arial"/>
                  </a:rPr>
                  <a:t> form an arithmetic progression.</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a:t>
                </a:r>
                <a:r>
                  <a:rPr sz="2400" b="0">
                    <a:solidFill>
                      <a:srgbClr val="111827"/>
                    </a:solidFill>
                    <a:latin typeface="Arial"/>
                  </a:rPr>
                  <a:t> be the image of point </a:t>
                </a:r>
                <a:r>
                  <a:rPr lang="en-IN" sz="2400">
                    <a:solidFill>
                      <a:srgbClr val="111827"/>
                    </a:solidFill>
                    <a:latin typeface="Cambria Math" panose="02040503050406030204" pitchFamily="18" charset="0"/>
                  </a:rPr>
                  <a:t>$B$</a:t>
                </a:r>
                <a:r>
                  <a:rPr sz="2400" b="0">
                    <a:solidFill>
                      <a:srgbClr val="111827"/>
                    </a:solidFill>
                    <a:latin typeface="Arial"/>
                  </a:rPr>
                  <a:t> with respect to side </a:t>
                </a:r>
                <a:r>
                  <a:rPr lang="en-IN" sz="2400">
                    <a:solidFill>
                      <a:srgbClr val="111827"/>
                    </a:solidFill>
                    <a:latin typeface="Cambria Math" panose="02040503050406030204" pitchFamily="18" charset="0"/>
                  </a:rPr>
                  <a:t>$AC$</a:t>
                </a:r>
                <a:r>
                  <a:rPr sz="2400" b="0">
                    <a:solidFill>
                      <a:srgbClr val="111827"/>
                    </a:solidFill>
                    <a:latin typeface="Arial"/>
                  </a:rPr>
                  <a:t> of </a:t>
                </a:r>
                <a:r>
                  <a:rPr lang="en-IN" sz="2400">
                    <a:solidFill>
                      <a:srgbClr val="111827"/>
                    </a:solidFill>
                    <a:latin typeface="Cambria Math" panose="02040503050406030204" pitchFamily="18" charset="0"/>
                  </a:rPr>
                  <a:t>$\triangle ABC$</a:t>
                </a:r>
                <a:r>
                  <a:rPr sz="2400" b="0">
                    <a:solidFill>
                      <a:srgbClr val="111827"/>
                    </a:solidFill>
                    <a:latin typeface="Arial"/>
                  </a:rPr>
                  <a:t>. Then the length </a:t>
                </a:r>
                <a:r>
                  <a:rPr lang="en-IN" sz="2400">
                    <a:solidFill>
                      <a:srgbClr val="111827"/>
                    </a:solidFill>
                    <a:latin typeface="Cambria Math" panose="02040503050406030204" pitchFamily="18" charset="0"/>
                  </a:rPr>
                  <a:t>$BB'$</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$\frac{\sqrt3}4$</a:t>
                </a:r>
                <a:r>
                  <a:rPr sz="2400" b="0">
                    <a:solidFill>
                      <a:srgbClr val="111827"/>
                    </a:solidFill>
                    <a:latin typeface="Arial"/>
                  </a:rPr>
                  <a:t>   (B) </a:t>
                </a:r>
                <a:r>
                  <a:rPr lang="en-IN" sz="2400">
                    <a:solidFill>
                      <a:srgbClr val="111827"/>
                    </a:solidFill>
                    <a:latin typeface="Cambria Math" panose="02040503050406030204" pitchFamily="18" charset="0"/>
                  </a:rPr>
                  <a:t>$\frac{\sqrt2}4$</a:t>
                </a:r>
                <a:r>
                  <a:rPr sz="2400" b="0">
                    <a:solidFill>
                      <a:srgbClr val="111827"/>
                    </a:solidFill>
                    <a:latin typeface="Arial"/>
                  </a:rPr>
                  <a:t>   (C) </a:t>
                </a:r>
                <a:r>
                  <a:rPr lang="en-IN" sz="2400">
                    <a:solidFill>
                      <a:srgbClr val="111827"/>
                    </a:solidFill>
                    <a:latin typeface="Cambria Math" panose="02040503050406030204" pitchFamily="18" charset="0"/>
                  </a:rPr>
                  <a:t>$\frac1{\sqrt2}$</a:t>
                </a:r>
                <a:r>
                  <a:rPr sz="2400" b="0">
                    <a:solidFill>
                      <a:srgbClr val="111827"/>
                    </a:solidFill>
                    <a:latin typeface="Arial"/>
                  </a:rPr>
                  <a:t>   (D) </a:t>
                </a:r>
                <a:r>
                  <a:rPr lang="en-IN" sz="2400">
                    <a:solidFill>
                      <a:srgbClr val="111827"/>
                    </a:solidFill>
                    <a:latin typeface="Cambria Math" panose="02040503050406030204" pitchFamily="18" charset="0"/>
                  </a:rPr>
                  <a:t>$\frac{\sqrt3}2$</a:t>
                </a:r>
                <a:endParaRPr sz="2400">
                  <a:solidFill>
                    <a:srgbClr val="111827"/>
                  </a:solidFill>
                </a:endParaRPr>
              </a:p>
            </p:txBody>
          </p:sp>
        </mc:Fallback>
      </mc:AlternateContent>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Reflection of a point in a line and altitude of a right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𝐵</m:t>
                    </m:r>
                    <m:sSup>
                      <m:e>
                        <m:r>
                          <a:rPr lang="en-IN" sz="2400" i="1">
                            <a:solidFill>
                              <a:srgbClr val="78350F"/>
                            </a:solidFill>
                            <a:latin typeface="Cambria Math" panose="02040503050406030204" pitchFamily="18" charset="0"/>
                          </a:rPr>
                          <m:t>𝐵</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oMath>
                </a14:m>
                <a:r>
                  <a:rPr sz="2400" b="0">
                    <a:solidFill>
                      <a:srgbClr val="78350F"/>
                    </a:solidFill>
                    <a:latin typeface="Arial"/>
                  </a:rPr>
                  <a:t> the distance from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to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oMath>
                </a14:m>
                <a:r>
                  <a:rPr sz="2400" b="0">
                    <a:solidFill>
                      <a:srgbClr val="78350F"/>
                    </a:solidFill>
                    <a:latin typeface="Arial"/>
                  </a:rPr>
                  <a:t>; in the equilateral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𝐶</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sin</m:t>
                    </m:r>
                    <m:sSup>
                      <m:e>
                        <m:r>
                          <a:rPr lang="en-IN" sz="2400" i="1">
                            <a:solidFill>
                              <a:srgbClr val="78350F"/>
                            </a:solidFill>
                            <a:latin typeface="Cambria Math" panose="02040503050406030204" pitchFamily="18" charset="0"/>
                          </a:rPr>
                          <m:t>60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$BB'=2BD$</a:t>
                </a:r>
                <a:r>
                  <a:rPr sz="2400" b="0">
                    <a:solidFill>
                      <a:srgbClr val="78350F"/>
                    </a:solidFill>
                    <a:latin typeface="Arial"/>
                  </a:rPr>
                  <a:t>, with </a:t>
                </a:r>
                <a:r>
                  <a:rPr lang="en-IN" sz="2400">
                    <a:solidFill>
                      <a:srgbClr val="78350F"/>
                    </a:solidFill>
                    <a:latin typeface="Cambria Math" panose="02040503050406030204" pitchFamily="18" charset="0"/>
                  </a:rPr>
                  <a:t>$BD$</a:t>
                </a:r>
                <a:r>
                  <a:rPr sz="2400" b="0">
                    <a:solidFill>
                      <a:srgbClr val="78350F"/>
                    </a:solidFill>
                    <a:latin typeface="Arial"/>
                  </a:rPr>
                  <a:t> the distance from </a:t>
                </a:r>
                <a:r>
                  <a:rPr lang="en-IN" sz="2400">
                    <a:solidFill>
                      <a:srgbClr val="78350F"/>
                    </a:solidFill>
                    <a:latin typeface="Cambria Math" panose="02040503050406030204" pitchFamily="18" charset="0"/>
                  </a:rPr>
                  <a:t>$B$</a:t>
                </a:r>
                <a:r>
                  <a:rPr sz="2400" b="0">
                    <a:solidFill>
                      <a:srgbClr val="78350F"/>
                    </a:solidFill>
                    <a:latin typeface="Arial"/>
                  </a:rPr>
                  <a:t> to </a:t>
                </a:r>
                <a:r>
                  <a:rPr lang="en-IN" sz="2400">
                    <a:solidFill>
                      <a:srgbClr val="78350F"/>
                    </a:solidFill>
                    <a:latin typeface="Cambria Math" panose="02040503050406030204" pitchFamily="18" charset="0"/>
                  </a:rPr>
                  <a:t>$AC$</a:t>
                </a:r>
                <a:r>
                  <a:rPr sz="2400" b="0">
                    <a:solidFill>
                      <a:srgbClr val="78350F"/>
                    </a:solidFill>
                    <a:latin typeface="Arial"/>
                  </a:rPr>
                  <a:t>; in the equilateral </a:t>
                </a:r>
                <a:r>
                  <a:rPr lang="en-IN" sz="2400">
                    <a:solidFill>
                      <a:srgbClr val="78350F"/>
                    </a:solidFill>
                    <a:latin typeface="Cambria Math" panose="02040503050406030204" pitchFamily="18" charset="0"/>
                  </a:rPr>
                  <a:t>$\triangle BOC$</a:t>
                </a:r>
                <a:r>
                  <a:rPr sz="2400" b="0">
                    <a:solidFill>
                      <a:srgbClr val="78350F"/>
                    </a:solidFill>
                    <a:latin typeface="Arial"/>
                  </a:rPr>
                  <a:t>, </a:t>
                </a:r>
                <a:r>
                  <a:rPr lang="en-IN" sz="2400">
                    <a:solidFill>
                      <a:srgbClr val="78350F"/>
                    </a:solidFill>
                    <a:latin typeface="Cambria Math" panose="02040503050406030204" pitchFamily="18" charset="0"/>
                  </a:rPr>
                  <a:t>$BD=OB\sin60^\circ$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Q26: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has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Q26: </a:t>
                </a:r>
                <a:r>
                  <a:rPr lang="en-IN" sz="2400">
                    <a:solidFill>
                      <a:srgbClr val="111827"/>
                    </a:solidFill>
                    <a:latin typeface="Cambria Math" panose="02040503050406030204" pitchFamily="18" charset="0"/>
                  </a:rPr>
                  <a:t>$\triangle ABC$</a:t>
                </a:r>
                <a:r>
                  <a:rPr sz="2400" b="0">
                    <a:solidFill>
                      <a:srgbClr val="111827"/>
                    </a:solidFill>
                    <a:latin typeface="Arial"/>
                  </a:rPr>
                  <a:t> has </a:t>
                </a:r>
                <a:r>
                  <a:rPr lang="en-IN" sz="2400">
                    <a:solidFill>
                      <a:srgbClr val="111827"/>
                    </a:solidFill>
                    <a:latin typeface="Cambria Math" panose="02040503050406030204" pitchFamily="18" charset="0"/>
                  </a:rPr>
                  <a:t>$\angle B=90^\circ$</a:t>
                </a:r>
                <a:r>
                  <a:rPr sz="2400" b="0">
                    <a:solidFill>
                      <a:srgbClr val="111827"/>
                    </a:solidFill>
                    <a:latin typeface="Arial"/>
                  </a:rPr>
                  <a:t>, </a:t>
                </a:r>
                <a:r>
                  <a:rPr lang="en-IN" sz="2400">
                    <a:solidFill>
                      <a:srgbClr val="111827"/>
                    </a:solidFill>
                    <a:latin typeface="Cambria Math" panose="02040503050406030204" pitchFamily="18" charset="0"/>
                  </a:rPr>
                  <a:t>$\angle A=30^\circ$</a:t>
                </a:r>
                <a:r>
                  <a:rPr sz="2400" b="0">
                    <a:solidFill>
                      <a:srgbClr val="111827"/>
                    </a:solidFill>
                    <a:latin typeface="Arial"/>
                  </a:rPr>
                  <a:t>, </a:t>
                </a:r>
                <a:r>
                  <a:rPr lang="en-IN" sz="2400">
                    <a:solidFill>
                      <a:srgbClr val="111827"/>
                    </a:solidFill>
                    <a:latin typeface="Cambria Math" panose="02040503050406030204" pitchFamily="18" charset="0"/>
                  </a:rPr>
                  <a:t>$\angle C=60^\circ$</a:t>
                </a:r>
                <a:r>
                  <a:rPr sz="2400" b="0">
                    <a:solidFill>
                      <a:srgbClr val="111827"/>
                    </a:solidFill>
                    <a:latin typeface="Arial"/>
                  </a:rPr>
                  <a:t> and </a:t>
                </a:r>
                <a:r>
                  <a:rPr lang="en-IN" sz="2400">
                    <a:solidFill>
                      <a:srgbClr val="111827"/>
                    </a:solidFill>
                    <a:latin typeface="Cambria Math" panose="02040503050406030204" pitchFamily="18" charset="0"/>
                  </a:rPr>
                  <a:t>$AC=1$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is the midpoint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oMath>
                </a14:m>
                <a:r>
                  <a:rPr sz="2400" b="0">
                    <a:solidFill>
                      <a:srgbClr val="111827"/>
                    </a:solidFill>
                    <a:latin typeface="Arial"/>
                  </a:rPr>
                  <a:t> is equilateral with side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hence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𝐷</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the foot of the altitude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 the mirror image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a:t>
                </a:r>
                <a:r>
                  <a:rPr sz="2400" b="0">
                    <a:solidFill>
                      <a:srgbClr val="111827"/>
                    </a:solidFill>
                    <a:latin typeface="Arial"/>
                  </a:rPr>
                  <a:t> is the midpoint of </a:t>
                </a:r>
                <a:r>
                  <a:rPr lang="en-IN" sz="2400">
                    <a:solidFill>
                      <a:srgbClr val="111827"/>
                    </a:solidFill>
                    <a:latin typeface="Cambria Math" panose="02040503050406030204" pitchFamily="18" charset="0"/>
                  </a:rPr>
                  <a:t>$AC$</a:t>
                </a:r>
                <a:r>
                  <a:rPr sz="2400" b="0">
                    <a:solidFill>
                      <a:srgbClr val="111827"/>
                    </a:solidFill>
                    <a:latin typeface="Arial"/>
                  </a:rPr>
                  <a:t>, so </a:t>
                </a:r>
                <a:r>
                  <a:rPr lang="en-IN" sz="2400">
                    <a:solidFill>
                      <a:srgbClr val="111827"/>
                    </a:solidFill>
                    <a:latin typeface="Cambria Math" panose="02040503050406030204" pitchFamily="18" charset="0"/>
                  </a:rPr>
                  <a:t>$OB=OC=\frac12$</a:t>
                </a:r>
                <a:r>
                  <a:rPr sz="2400" b="0">
                    <a:solidFill>
                      <a:srgbClr val="111827"/>
                    </a:solidFill>
                    <a:latin typeface="Arial"/>
                  </a:rPr>
                  <a:t> and </a:t>
                </a:r>
                <a:r>
                  <a:rPr lang="en-IN" sz="2400">
                    <a:solidFill>
                      <a:srgbClr val="111827"/>
                    </a:solidFill>
                    <a:latin typeface="Cambria Math" panose="02040503050406030204" pitchFamily="18" charset="0"/>
                  </a:rPr>
                  <a:t>$\triangle BOC$</a:t>
                </a:r>
                <a:r>
                  <a:rPr sz="2400" b="0">
                    <a:solidFill>
                      <a:srgbClr val="111827"/>
                    </a:solidFill>
                    <a:latin typeface="Arial"/>
                  </a:rPr>
                  <a:t> is equilateral with side </a:t>
                </a:r>
                <a:r>
                  <a:rPr lang="en-IN" sz="2400">
                    <a:solidFill>
                      <a:srgbClr val="111827"/>
                    </a:solidFill>
                    <a:latin typeface="Cambria Math" panose="02040503050406030204" pitchFamily="18" charset="0"/>
                  </a:rPr>
                  <a:t>$\frac12$</a:t>
                </a:r>
                <a:r>
                  <a:rPr sz="2400" b="0">
                    <a:solidFill>
                      <a:srgbClr val="111827"/>
                    </a:solidFill>
                    <a:latin typeface="Arial"/>
                  </a:rPr>
                  <a:t>; hence </a:t>
                </a:r>
                <a:r>
                  <a:rPr lang="en-IN" sz="2400">
                    <a:solidFill>
                      <a:srgbClr val="111827"/>
                    </a:solidFill>
                    <a:latin typeface="Cambria Math" panose="02040503050406030204" pitchFamily="18" charset="0"/>
                  </a:rPr>
                  <a:t>$\angle BOD=\angle BOC=\frac\pi3$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right triangle </a:t>
                </a:r>
                <a:r>
                  <a:rPr lang="en-IN" sz="2400">
                    <a:solidFill>
                      <a:srgbClr val="111827"/>
                    </a:solidFill>
                    <a:latin typeface="Cambria Math" panose="02040503050406030204" pitchFamily="18" charset="0"/>
                  </a:rPr>
                  <a:t>$BOD$</a:t>
                </a:r>
                <a:r>
                  <a:rPr sz="2400" b="0">
                    <a:solidFill>
                      <a:srgbClr val="111827"/>
                    </a:solidFill>
                    <a:latin typeface="Arial"/>
                  </a:rPr>
                  <a:t> (with </a:t>
                </a:r>
                <a:r>
                  <a:rPr lang="en-IN" sz="2400">
                    <a:solidFill>
                      <a:srgbClr val="111827"/>
                    </a:solidFill>
                    <a:latin typeface="Cambria Math" panose="02040503050406030204" pitchFamily="18" charset="0"/>
                  </a:rPr>
                  <a:t>$D$</a:t>
                </a:r>
                <a:r>
                  <a:rPr sz="2400" b="0">
                    <a:solidFill>
                      <a:srgbClr val="111827"/>
                    </a:solidFill>
                    <a:latin typeface="Arial"/>
                  </a:rPr>
                  <a:t> the foot of the altitude from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$BD=OB\sin\frac\pi3=\frac12\cdot\frac{\sqrt3}2=\frac{\sqrt3}4$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a:t>
                </a:r>
                <a:r>
                  <a:rPr sz="2400" b="0">
                    <a:solidFill>
                      <a:srgbClr val="111827"/>
                    </a:solidFill>
                    <a:latin typeface="Arial"/>
                  </a:rPr>
                  <a:t> is the mirror image of </a:t>
                </a:r>
                <a:r>
                  <a:rPr lang="en-IN" sz="2400">
                    <a:solidFill>
                      <a:srgbClr val="111827"/>
                    </a:solidFill>
                    <a:latin typeface="Cambria Math" panose="02040503050406030204" pitchFamily="18" charset="0"/>
                  </a:rPr>
                  <a:t>$B$</a:t>
                </a:r>
                <a:r>
                  <a:rPr sz="2400" b="0">
                    <a:solidFill>
                      <a:srgbClr val="111827"/>
                    </a:solidFill>
                    <a:latin typeface="Arial"/>
                  </a:rPr>
                  <a:t> in </a:t>
                </a:r>
                <a:r>
                  <a:rPr lang="en-IN" sz="2400">
                    <a:solidFill>
                      <a:srgbClr val="111827"/>
                    </a:solidFill>
                    <a:latin typeface="Cambria Math" panose="02040503050406030204" pitchFamily="18" charset="0"/>
                  </a:rPr>
                  <a:t>$AC$</a:t>
                </a:r>
                <a:r>
                  <a:rPr sz="2400" b="0">
                    <a:solidFill>
                      <a:srgbClr val="111827"/>
                    </a:solidFill>
                    <a:latin typeface="Arial"/>
                  </a:rPr>
                  <a:t>, so </a:t>
                </a:r>
                <a:r>
                  <a:rPr lang="en-IN" sz="2400">
                    <a:solidFill>
                      <a:srgbClr val="111827"/>
                    </a:solidFill>
                    <a:latin typeface="Cambria Math" panose="02040503050406030204" pitchFamily="18" charset="0"/>
                  </a:rPr>
                  <a:t>$BB'=2BD=\frac{\sqrt3}2$</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$\frac{\sqrt3}2$</a:t>
                </a:r>
                <a:endParaRPr sz="2800">
                  <a:solidFill>
                    <a:srgbClr val="15803D"/>
                  </a:solidFill>
                </a:endParaRPr>
              </a:p>
            </p:txBody>
          </p:sp>
        </mc:Fallback>
      </mc:AlternateContent>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distance from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to the hypotenuse is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num>
                      <m:den>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den>
                    </m:f>
                  </m:oMath>
                </a14:m>
                <a:r>
                  <a:rPr sz="2400" b="0">
                    <a:solidFill>
                      <a:srgbClr val="78350F"/>
                    </a:solidFill>
                    <a:latin typeface="Arial"/>
                  </a:rPr>
                  <a:t> (two expressions for the area).</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distance from </a:t>
                </a:r>
                <a:r>
                  <a:rPr lang="en-IN" sz="2400">
                    <a:solidFill>
                      <a:srgbClr val="78350F"/>
                    </a:solidFill>
                    <a:latin typeface="Cambria Math" panose="02040503050406030204" pitchFamily="18" charset="0"/>
                  </a:rPr>
                  <a:t>$B$</a:t>
                </a:r>
                <a:r>
                  <a:rPr sz="2400" b="0">
                    <a:solidFill>
                      <a:srgbClr val="78350F"/>
                    </a:solidFill>
                    <a:latin typeface="Arial"/>
                  </a:rPr>
                  <a:t> to the hypotenuse is </a:t>
                </a:r>
                <a:r>
                  <a:rPr lang="en-IN" sz="2400">
                    <a:solidFill>
                      <a:srgbClr val="78350F"/>
                    </a:solidFill>
                    <a:latin typeface="Cambria Math" panose="02040503050406030204" pitchFamily="18" charset="0"/>
                  </a:rPr>
                  <a:t>$\frac{AB\cdot BC}{AC}$</a:t>
                </a:r>
                <a:r>
                  <a:rPr sz="2400" b="0">
                    <a:solidFill>
                      <a:srgbClr val="78350F"/>
                    </a:solidFill>
                    <a:latin typeface="Arial"/>
                  </a:rPr>
                  <a:t> (two expressions for the area).</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option (D).</a:t>
                </a:r>
                <a:endParaRPr sz="2400">
                  <a:solidFill>
                    <a:srgbClr val="111827"/>
                  </a:solidFill>
                </a:endParaRPr>
              </a:p>
            </p:txBody>
          </p:sp>
        </mc:Choice>
        <mc:Fallback>
          <p:sp>
            <p:nvSpPr>
              <p:cNvPr id="6" name="Rectangle 5"/>
              <p:cNvSpPr/>
              <p:nvPr/>
            </p:nvSpPr>
            <p:spPr>
              <a:xfrm>
                <a:off x="731520" y="2636520"/>
                <a:ext cx="10725912" cy="315163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$\angle B=90^\circ$</a:t>
                </a:r>
                <a:r>
                  <a:rPr sz="2400" b="0">
                    <a:solidFill>
                      <a:srgbClr val="111827"/>
                    </a:solidFill>
                    <a:latin typeface="Arial"/>
                  </a:rPr>
                  <a:t>: </a:t>
                </a:r>
                <a:r>
                  <a:rPr lang="en-IN" sz="2400">
                    <a:solidFill>
                      <a:srgbClr val="111827"/>
                    </a:solidFill>
                    <a:latin typeface="Cambria Math" panose="02040503050406030204" pitchFamily="18" charset="0"/>
                  </a:rPr>
                  <a:t>$AB=\frac{\sqrt3}2$</a:t>
                </a:r>
                <a:r>
                  <a:rPr sz="2400" b="0">
                    <a:solidFill>
                      <a:srgbClr val="111827"/>
                    </a:solidFill>
                    <a:latin typeface="Arial"/>
                  </a:rPr>
                  <a:t>, </a:t>
                </a:r>
                <a:r>
                  <a:rPr lang="en-IN" sz="2400">
                    <a:solidFill>
                      <a:srgbClr val="111827"/>
                    </a:solidFill>
                    <a:latin typeface="Cambria Math" panose="02040503050406030204" pitchFamily="18" charset="0"/>
                  </a:rPr>
                  <a:t>$BC=\frac12$</a:t>
                </a:r>
                <a:r>
                  <a:rPr sz="2400" b="0">
                    <a:solidFill>
                      <a:srgbClr val="111827"/>
                    </a:solidFill>
                    <a:latin typeface="Arial"/>
                  </a:rPr>
                  <a:t>, </a:t>
                </a:r>
                <a:r>
                  <a:rPr lang="en-IN" sz="2400">
                    <a:solidFill>
                      <a:srgbClr val="111827"/>
                    </a:solidFill>
                    <a:latin typeface="Cambria Math" panose="02040503050406030204" pitchFamily="18" charset="0"/>
                  </a:rPr>
                  <a:t>$AC=1$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$=\frac12AB\cdot BC=\frac12AC\cdot BD$</a:t>
                </a:r>
                <a:r>
                  <a:rPr sz="2400" b="0">
                    <a:solidFill>
                      <a:srgbClr val="111827"/>
                    </a:solidFill>
                    <a:latin typeface="Arial"/>
                  </a:rPr>
                  <a:t>, so </a:t>
                </a:r>
                <a:r>
                  <a:rPr lang="en-IN" sz="2400">
                    <a:solidFill>
                      <a:srgbClr val="111827"/>
                    </a:solidFill>
                    <a:latin typeface="Cambria Math" panose="02040503050406030204" pitchFamily="18" charset="0"/>
                  </a:rPr>
                  <a:t>$BD=\frac{AB\cdot BC}{AC}=\frac{\sqrt3}2\cdot\frac12=\frac{\sqrt3}4$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$BB'=2BD=\frac{\sqrt3}2$</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f>
                      <m:fPr>
                        <m:type m:val="bar"/>
                        <m:ctrlPr>
                          <a:rPr lang="en-IN" sz="2800" i="1">
                            <a:solidFill>
                              <a:srgbClr val="15803D"/>
                            </a:solidFill>
                            <a:latin typeface="Cambria Math" panose="02040503050406030204" pitchFamily="18" charset="0"/>
                          </a:rPr>
                        </m:ctrlPr>
                      </m:fPr>
                      <m:num>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$\frac{\sqrt3}2$</a:t>
                </a:r>
                <a:endParaRPr sz="2800">
                  <a:solidFill>
                    <a:srgbClr val="15803D"/>
                  </a:solidFill>
                </a:endParaRPr>
              </a:p>
            </p:txBody>
          </p:sp>
        </mc:Fallback>
      </mc:AlternateContent>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reflection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in a line is at distance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(distance of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from the line): </a:t>
                </a:r>
                <a14:m>
                  <m:oMath xmlns:m="http://schemas.openxmlformats.org/officeDocument/2006/math">
                    <m:r>
                      <a:rPr lang="en-IN" sz="2400" i="1">
                        <a:solidFill>
                          <a:srgbClr val="111827"/>
                        </a:solidFill>
                        <a:latin typeface="Cambria Math" panose="02040503050406030204" pitchFamily="18" charset="0"/>
                      </a:rPr>
                      <m:t>𝐵</m:t>
                    </m:r>
                    <m:sSup>
                      <m:e>
                        <m:r>
                          <a:rPr lang="en-IN" sz="2400" i="1">
                            <a:solidFill>
                              <a:srgbClr val="111827"/>
                            </a:solidFill>
                            <a:latin typeface="Cambria Math" panose="02040503050406030204" pitchFamily="18" charset="0"/>
                          </a:rPr>
                          <m:t>𝐵</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𝑏</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Δ</m:t>
                        </m:r>
                      </m:num>
                      <m:den>
                        <m:r>
                          <a:rPr lang="en-IN" sz="2400" i="1">
                            <a:solidFill>
                              <a:srgbClr val="111827"/>
                            </a:solidFill>
                            <a:latin typeface="Cambria Math" panose="02040503050406030204" pitchFamily="18" charset="0"/>
                          </a:rPr>
                          <m:t>𝑏</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Altitude to the hypotenuse of a right triangle: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num>
                      <m:den>
                        <m:r>
                          <m:rPr>
                            <m:nor/>
                          </m:rPr>
                          <a:rPr lang="en-IN" sz="2400" i="1">
                            <a:solidFill>
                              <a:srgbClr val="111827"/>
                            </a:solidFill>
                            <a:latin typeface="Cambria Math" panose="02040503050406030204" pitchFamily="18" charset="0"/>
                          </a:rPr>
                          <m:t>ℎ𝑦𝑝</m:t>
                        </m:r>
                      </m:den>
                    </m:f>
                  </m:oMath>
                </a14:m>
                <a:r>
                  <a:rPr sz="2400" b="0">
                    <a:solidFill>
                      <a:srgbClr val="111827"/>
                    </a:solidFill>
                    <a:latin typeface="Arial"/>
                  </a:rPr>
                  <a:t> (legs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the midpoint of the hypotenuse.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reflection of </a:t>
                </a:r>
                <a:r>
                  <a:rPr lang="en-IN" sz="2400">
                    <a:solidFill>
                      <a:srgbClr val="111827"/>
                    </a:solidFill>
                    <a:latin typeface="Cambria Math" panose="02040503050406030204" pitchFamily="18" charset="0"/>
                  </a:rPr>
                  <a:t>$B$</a:t>
                </a:r>
                <a:r>
                  <a:rPr sz="2400" b="0">
                    <a:solidFill>
                      <a:srgbClr val="111827"/>
                    </a:solidFill>
                    <a:latin typeface="Arial"/>
                  </a:rPr>
                  <a:t> in a line is at distance </a:t>
                </a:r>
                <a:r>
                  <a:rPr lang="en-IN" sz="2400">
                    <a:solidFill>
                      <a:srgbClr val="111827"/>
                    </a:solidFill>
                    <a:latin typeface="Cambria Math" panose="02040503050406030204" pitchFamily="18" charset="0"/>
                  </a:rPr>
                  <a:t>$2\times$</a:t>
                </a:r>
                <a:r>
                  <a:rPr sz="2400" b="0">
                    <a:solidFill>
                      <a:srgbClr val="111827"/>
                    </a:solidFill>
                    <a:latin typeface="Arial"/>
                  </a:rPr>
                  <a:t> (distance of </a:t>
                </a:r>
                <a:r>
                  <a:rPr lang="en-IN" sz="2400">
                    <a:solidFill>
                      <a:srgbClr val="111827"/>
                    </a:solidFill>
                    <a:latin typeface="Cambria Math" panose="02040503050406030204" pitchFamily="18" charset="0"/>
                  </a:rPr>
                  <a:t>$B$</a:t>
                </a:r>
                <a:r>
                  <a:rPr sz="2400" b="0">
                    <a:solidFill>
                      <a:srgbClr val="111827"/>
                    </a:solidFill>
                    <a:latin typeface="Arial"/>
                  </a:rPr>
                  <a:t> from the line): </a:t>
                </a:r>
                <a:r>
                  <a:rPr lang="en-IN" sz="2400">
                    <a:solidFill>
                      <a:srgbClr val="111827"/>
                    </a:solidFill>
                    <a:latin typeface="Cambria Math" panose="02040503050406030204" pitchFamily="18" charset="0"/>
                  </a:rPr>
                  <a:t>$BB'=2h_b=\frac{4\Delta}{b}$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Altitude to the hypotenuse of a right triangle: </a:t>
                </a:r>
                <a:r>
                  <a:rPr lang="en-IN" sz="2400">
                    <a:solidFill>
                      <a:srgbClr val="111827"/>
                    </a:solidFill>
                    <a:latin typeface="Cambria Math" panose="02040503050406030204" pitchFamily="18" charset="0"/>
                  </a:rPr>
                  <a:t>$h=\frac{pq}{\text{hyp}}$</a:t>
                </a:r>
                <a:r>
                  <a:rPr sz="2400" b="0">
                    <a:solidFill>
                      <a:srgbClr val="111827"/>
                    </a:solidFill>
                    <a:latin typeface="Arial"/>
                  </a:rPr>
                  <a:t> (legs </a:t>
                </a:r>
                <a:r>
                  <a:rPr lang="en-IN" sz="2400">
                    <a:solidFill>
                      <a:srgbClr val="111827"/>
                    </a:solidFill>
                    <a:latin typeface="Cambria Math" panose="02040503050406030204" pitchFamily="18" charset="0"/>
                  </a:rPr>
                  <a:t>$p,q$</a:t>
                </a:r>
                <a:r>
                  <a:rPr sz="2400" b="0">
                    <a:solidFill>
                      <a:srgbClr val="111827"/>
                    </a:solidFill>
                    <a:latin typeface="Arial"/>
                  </a:rPr>
                  <a:t>); here </a:t>
                </a:r>
                <a:r>
                  <a:rPr lang="en-IN" sz="2400">
                    <a:solidFill>
                      <a:srgbClr val="111827"/>
                    </a:solidFill>
                    <a:latin typeface="Cambria Math" panose="02040503050406030204" pitchFamily="18" charset="0"/>
                  </a:rPr>
                  <a:t>$\frac{\frac{\sqrt3}2\cdot\frac12}1=\frac{\sqrt3}4$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 </a:t>
                </a:r>
                <a:r>
                  <a:rPr lang="en-IN" sz="2400">
                    <a:solidFill>
                      <a:srgbClr val="111827"/>
                    </a:solidFill>
                    <a:latin typeface="Cambria Math" panose="02040503050406030204" pitchFamily="18" charset="0"/>
                  </a:rPr>
                  <a:t>$h=\frac{AC}2\sin(\angle BOC)$</a:t>
                </a:r>
                <a:r>
                  <a:rPr sz="2400" b="0">
                    <a:solidFill>
                      <a:srgbClr val="111827"/>
                    </a:solidFill>
                    <a:latin typeface="Arial"/>
                  </a:rPr>
                  <a:t> with </a:t>
                </a:r>
                <a:r>
                  <a:rPr lang="en-IN" sz="2400">
                    <a:solidFill>
                      <a:srgbClr val="111827"/>
                    </a:solidFill>
                    <a:latin typeface="Cambria Math" panose="02040503050406030204" pitchFamily="18" charset="0"/>
                  </a:rPr>
                  <a:t>$O$</a:t>
                </a:r>
                <a:r>
                  <a:rPr sz="2400" b="0">
                    <a:solidFill>
                      <a:srgbClr val="111827"/>
                    </a:solidFill>
                    <a:latin typeface="Arial"/>
                  </a:rPr>
                  <a:t> the midpoint of the hypotenuse.</a:t>
                </a:r>
                <a:endParaRPr sz="2400">
                  <a:solidFill>
                    <a:srgbClr val="111827"/>
                  </a:solidFill>
                </a:endParaRPr>
              </a:p>
            </p:txBody>
          </p:sp>
        </mc:Fallback>
      </mc:AlternateContent>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Matching List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Q29 – Q31</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3 marks each (no marks printed in the paper: JEE Advanced default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Match Column I with Column II; one match per row</a:t>
            </a:r>
            <a:endParaRPr sz="2800">
              <a:solidFill>
                <a:srgbClr val="FFFFFF"/>
              </a:solidFill>
            </a:endParaRP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10413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Match the following columns.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 (A) In 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𝐼</m:t>
                    </m:r>
                  </m:oMath>
                </a14:m>
                <a:r>
                  <a:rPr sz="2400" b="0">
                    <a:solidFill>
                      <a:srgbClr val="111827"/>
                    </a:solidFill>
                    <a:latin typeface="Arial"/>
                  </a:rPr>
                  <a:t>; then the greatest value of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is. (B) In 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If </a:t>
                </a:r>
                <a14:m>
                  <m:oMath xmlns:m="http://schemas.openxmlformats.org/officeDocument/2006/math">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then the least value of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satisfying this is. (C) In a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the line joining the circumcentre to the incentre is parallel to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then the value of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oMath>
                </a14:m>
                <a:r>
                  <a:rPr sz="2400" b="0">
                    <a:solidFill>
                      <a:srgbClr val="111827"/>
                    </a:solidFill>
                    <a:latin typeface="Arial"/>
                  </a:rPr>
                  <a:t> is. (D) If in 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32</m:t>
                        </m:r>
                      </m:den>
                    </m:f>
                  </m:oMath>
                </a14:m>
                <a:r>
                  <a:rPr sz="2400" b="0">
                    <a:solidFill>
                      <a:srgbClr val="111827"/>
                    </a:solidFill>
                    <a:latin typeface="Arial"/>
                  </a:rPr>
                  <a:t>, then the side </a:t>
                </a:r>
                <a14:m>
                  <m:oMath xmlns:m="http://schemas.openxmlformats.org/officeDocument/2006/math">
                    <m:r>
                      <a:rPr lang="en-IN" sz="2400" i="1">
                        <a:solidFill>
                          <a:srgbClr val="111827"/>
                        </a:solidFill>
                        <a:latin typeface="Cambria Math" panose="02040503050406030204" pitchFamily="18" charset="0"/>
                      </a:rPr>
                      <m:t>𝑐</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II: (P)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(Q)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(R)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(S) </a:t>
                </a:r>
                <a14:m>
                  <m:oMath xmlns:m="http://schemas.openxmlformats.org/officeDocument/2006/math">
                    <m:r>
                      <a:rPr lang="en-IN" sz="2400" i="1">
                        <a:solidFill>
                          <a:srgbClr val="111827"/>
                        </a:solidFill>
                        <a:latin typeface="Cambria Math" panose="02040503050406030204" pitchFamily="18" charset="0"/>
                      </a:rPr>
                      <m:t>6</m:t>
                    </m:r>
                  </m:oMath>
                </a14:m>
                <a:endParaRPr sz="2400">
                  <a:solidFill>
                    <a:srgbClr val="111827"/>
                  </a:solidFill>
                </a:endParaRPr>
              </a:p>
            </p:txBody>
          </p:sp>
        </mc:Choice>
        <mc:Fallback>
          <p:sp>
            <p:nvSpPr>
              <p:cNvPr id="4" name="Rounded Rectangle 3"/>
              <p:cNvSpPr/>
              <p:nvPr/>
            </p:nvSpPr>
            <p:spPr>
              <a:xfrm>
                <a:off x="731520" y="1280160"/>
                <a:ext cx="10725912" cy="410413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Match the following columns.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 (A) In a </a:t>
                </a:r>
                <a:r>
                  <a:rPr lang="en-IN" sz="2400">
                    <a:solidFill>
                      <a:srgbClr val="111827"/>
                    </a:solidFill>
                    <a:latin typeface="Cambria Math" panose="02040503050406030204" pitchFamily="18" charset="0"/>
                  </a:rPr>
                  <a:t>$\triangle ABC$</a:t>
                </a:r>
                <a:r>
                  <a:rPr sz="2400" b="0">
                    <a:solidFill>
                      <a:srgbClr val="111827"/>
                    </a:solidFill>
                    <a:latin typeface="Arial"/>
                  </a:rPr>
                  <a:t>, </a:t>
                </a:r>
                <a:r>
                  <a:rPr lang="en-IN" sz="2400">
                    <a:solidFill>
                      <a:srgbClr val="111827"/>
                    </a:solidFill>
                    <a:latin typeface="Cambria Math" panose="02040503050406030204" pitchFamily="18" charset="0"/>
                  </a:rPr>
                  <a:t>$(a+b+c)(b+c-a)=\lambda bc$</a:t>
                </a:r>
                <a:r>
                  <a:rPr sz="2400" b="0">
                    <a:solidFill>
                      <a:srgbClr val="111827"/>
                    </a:solidFill>
                    <a:latin typeface="Arial"/>
                  </a:rPr>
                  <a:t>, where </a:t>
                </a:r>
                <a:r>
                  <a:rPr lang="en-IN" sz="2400">
                    <a:solidFill>
                      <a:srgbClr val="111827"/>
                    </a:solidFill>
                    <a:latin typeface="Cambria Math" panose="02040503050406030204" pitchFamily="18" charset="0"/>
                  </a:rPr>
                  <a:t>$\lambda\in I$</a:t>
                </a:r>
                <a:r>
                  <a:rPr sz="2400" b="0">
                    <a:solidFill>
                      <a:srgbClr val="111827"/>
                    </a:solidFill>
                    <a:latin typeface="Arial"/>
                  </a:rPr>
                  <a:t>; then the greatest value of </a:t>
                </a:r>
                <a:r>
                  <a:rPr lang="en-IN" sz="2400">
                    <a:solidFill>
                      <a:srgbClr val="111827"/>
                    </a:solidFill>
                    <a:latin typeface="Cambria Math" panose="02040503050406030204" pitchFamily="18" charset="0"/>
                  </a:rPr>
                  <a:t>$\lambda$</a:t>
                </a:r>
                <a:r>
                  <a:rPr sz="2400" b="0">
                    <a:solidFill>
                      <a:srgbClr val="111827"/>
                    </a:solidFill>
                    <a:latin typeface="Arial"/>
                  </a:rPr>
                  <a:t> is. (B) In a </a:t>
                </a:r>
                <a:r>
                  <a:rPr lang="en-IN" sz="2400">
                    <a:solidFill>
                      <a:srgbClr val="111827"/>
                    </a:solidFill>
                    <a:latin typeface="Cambria Math" panose="02040503050406030204" pitchFamily="18" charset="0"/>
                  </a:rPr>
                  <a:t>$\triangle ABC$</a:t>
                </a:r>
                <a:r>
                  <a:rPr sz="2400" b="0">
                    <a:solidFill>
                      <a:srgbClr val="111827"/>
                    </a:solidFill>
                    <a:latin typeface="Arial"/>
                  </a:rPr>
                  <a:t>, </a:t>
                </a:r>
                <a:r>
                  <a:rPr lang="en-IN" sz="2400">
                    <a:solidFill>
                      <a:srgbClr val="111827"/>
                    </a:solidFill>
                    <a:latin typeface="Cambria Math" panose="02040503050406030204" pitchFamily="18" charset="0"/>
                  </a:rPr>
                  <a:t>$\tan A+\tan B+\tan C=9$</a:t>
                </a:r>
                <a:r>
                  <a:rPr sz="2400" b="0">
                    <a:solidFill>
                      <a:srgbClr val="111827"/>
                    </a:solidFill>
                    <a:latin typeface="Arial"/>
                  </a:rPr>
                  <a:t>. If </a:t>
                </a:r>
                <a:r>
                  <a:rPr lang="en-IN" sz="2400">
                    <a:solidFill>
                      <a:srgbClr val="111827"/>
                    </a:solidFill>
                    <a:latin typeface="Cambria Math" panose="02040503050406030204" pitchFamily="18" charset="0"/>
                  </a:rPr>
                  <a:t>$\tan^2A+\tan^2B+\tan^2C=k$</a:t>
                </a:r>
                <a:r>
                  <a:rPr sz="2400" b="0">
                    <a:solidFill>
                      <a:srgbClr val="111827"/>
                    </a:solidFill>
                    <a:latin typeface="Arial"/>
                  </a:rPr>
                  <a:t>, then the least value of </a:t>
                </a:r>
                <a:r>
                  <a:rPr lang="en-IN" sz="2400">
                    <a:solidFill>
                      <a:srgbClr val="111827"/>
                    </a:solidFill>
                    <a:latin typeface="Cambria Math" panose="02040503050406030204" pitchFamily="18" charset="0"/>
                  </a:rPr>
                  <a:t>$k$</a:t>
                </a:r>
                <a:r>
                  <a:rPr sz="2400" b="0">
                    <a:solidFill>
                      <a:srgbClr val="111827"/>
                    </a:solidFill>
                    <a:latin typeface="Arial"/>
                  </a:rPr>
                  <a:t> satisfying this is. (C) In a triangle </a:t>
                </a:r>
                <a:r>
                  <a:rPr lang="en-IN" sz="2400">
                    <a:solidFill>
                      <a:srgbClr val="111827"/>
                    </a:solidFill>
                    <a:latin typeface="Cambria Math" panose="02040503050406030204" pitchFamily="18" charset="0"/>
                  </a:rPr>
                  <a:t>$ABC$</a:t>
                </a:r>
                <a:r>
                  <a:rPr sz="2400" b="0">
                    <a:solidFill>
                      <a:srgbClr val="111827"/>
                    </a:solidFill>
                    <a:latin typeface="Arial"/>
                  </a:rPr>
                  <a:t> the line joining the circumcentre to the incentre is parallel to </a:t>
                </a:r>
                <a:r>
                  <a:rPr lang="en-IN" sz="2400">
                    <a:solidFill>
                      <a:srgbClr val="111827"/>
                    </a:solidFill>
                    <a:latin typeface="Cambria Math" panose="02040503050406030204" pitchFamily="18" charset="0"/>
                  </a:rPr>
                  <a:t>$BC$</a:t>
                </a:r>
                <a:r>
                  <a:rPr sz="2400" b="0">
                    <a:solidFill>
                      <a:srgbClr val="111827"/>
                    </a:solidFill>
                    <a:latin typeface="Arial"/>
                  </a:rPr>
                  <a:t>; then the value of </a:t>
                </a:r>
                <a:r>
                  <a:rPr lang="en-IN" sz="2400">
                    <a:solidFill>
                      <a:srgbClr val="111827"/>
                    </a:solidFill>
                    <a:latin typeface="Cambria Math" panose="02040503050406030204" pitchFamily="18" charset="0"/>
                  </a:rPr>
                  <a:t>$\cos B+\cos C$</a:t>
                </a:r>
                <a:r>
                  <a:rPr sz="2400" b="0">
                    <a:solidFill>
                      <a:srgbClr val="111827"/>
                    </a:solidFill>
                    <a:latin typeface="Arial"/>
                  </a:rPr>
                  <a:t> is. (D) If in a </a:t>
                </a:r>
                <a:r>
                  <a:rPr lang="en-IN" sz="2400">
                    <a:solidFill>
                      <a:srgbClr val="111827"/>
                    </a:solidFill>
                    <a:latin typeface="Cambria Math" panose="02040503050406030204" pitchFamily="18" charset="0"/>
                  </a:rPr>
                  <a:t>$\triangle ABC$</a:t>
                </a:r>
                <a:r>
                  <a:rPr sz="2400" b="0">
                    <a:solidFill>
                      <a:srgbClr val="111827"/>
                    </a:solidFill>
                    <a:latin typeface="Arial"/>
                  </a:rPr>
                  <a:t>, </a:t>
                </a:r>
                <a:r>
                  <a:rPr lang="en-IN" sz="2400">
                    <a:solidFill>
                      <a:srgbClr val="111827"/>
                    </a:solidFill>
                    <a:latin typeface="Cambria Math" panose="02040503050406030204" pitchFamily="18" charset="0"/>
                  </a:rPr>
                  <a:t>$a=5$</a:t>
                </a:r>
                <a:r>
                  <a:rPr sz="2400" b="0">
                    <a:solidFill>
                      <a:srgbClr val="111827"/>
                    </a:solidFill>
                    <a:latin typeface="Arial"/>
                  </a:rPr>
                  <a:t>, </a:t>
                </a:r>
                <a:r>
                  <a:rPr lang="en-IN" sz="2400">
                    <a:solidFill>
                      <a:srgbClr val="111827"/>
                    </a:solidFill>
                    <a:latin typeface="Cambria Math" panose="02040503050406030204" pitchFamily="18" charset="0"/>
                  </a:rPr>
                  <a:t>$b=4$</a:t>
                </a:r>
                <a:r>
                  <a:rPr sz="2400" b="0">
                    <a:solidFill>
                      <a:srgbClr val="111827"/>
                    </a:solidFill>
                    <a:latin typeface="Arial"/>
                  </a:rPr>
                  <a:t> and </a:t>
                </a:r>
                <a:r>
                  <a:rPr lang="en-IN" sz="2400">
                    <a:solidFill>
                      <a:srgbClr val="111827"/>
                    </a:solidFill>
                    <a:latin typeface="Cambria Math" panose="02040503050406030204" pitchFamily="18" charset="0"/>
                  </a:rPr>
                  <a:t>$\cos(A-B)=\frac{31}{32}$</a:t>
                </a:r>
                <a:r>
                  <a:rPr sz="2400" b="0">
                    <a:solidFill>
                      <a:srgbClr val="111827"/>
                    </a:solidFill>
                    <a:latin typeface="Arial"/>
                  </a:rPr>
                  <a:t>, then the side </a:t>
                </a:r>
                <a:r>
                  <a:rPr lang="en-IN" sz="2400">
                    <a:solidFill>
                      <a:srgbClr val="111827"/>
                    </a:solidFill>
                    <a:latin typeface="Cambria Math" panose="02040503050406030204" pitchFamily="18" charset="0"/>
                  </a:rPr>
                  <a:t>$c$</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II: (P) </a:t>
                </a:r>
                <a:r>
                  <a:rPr lang="en-IN" sz="2400">
                    <a:solidFill>
                      <a:srgbClr val="111827"/>
                    </a:solidFill>
                    <a:latin typeface="Cambria Math" panose="02040503050406030204" pitchFamily="18" charset="0"/>
                  </a:rPr>
                  <a:t>$3$</a:t>
                </a:r>
                <a:r>
                  <a:rPr sz="2400" b="0">
                    <a:solidFill>
                      <a:srgbClr val="111827"/>
                    </a:solidFill>
                    <a:latin typeface="Arial"/>
                  </a:rPr>
                  <a:t> (Q) </a:t>
                </a:r>
                <a:r>
                  <a:rPr lang="en-IN" sz="2400">
                    <a:solidFill>
                      <a:srgbClr val="111827"/>
                    </a:solidFill>
                    <a:latin typeface="Cambria Math" panose="02040503050406030204" pitchFamily="18" charset="0"/>
                  </a:rPr>
                  <a:t>$9(3)^{1/3}$</a:t>
                </a:r>
                <a:r>
                  <a:rPr sz="2400" b="0">
                    <a:solidFill>
                      <a:srgbClr val="111827"/>
                    </a:solidFill>
                    <a:latin typeface="Arial"/>
                  </a:rPr>
                  <a:t> (R) </a:t>
                </a:r>
                <a:r>
                  <a:rPr lang="en-IN" sz="2400">
                    <a:solidFill>
                      <a:srgbClr val="111827"/>
                    </a:solidFill>
                    <a:latin typeface="Cambria Math" panose="02040503050406030204" pitchFamily="18" charset="0"/>
                  </a:rPr>
                  <a:t>$1$</a:t>
                </a:r>
                <a:r>
                  <a:rPr sz="2400" b="0">
                    <a:solidFill>
                      <a:srgbClr val="111827"/>
                    </a:solidFill>
                    <a:latin typeface="Arial"/>
                  </a:rPr>
                  <a:t> (S) </a:t>
                </a:r>
                <a:r>
                  <a:rPr lang="en-IN" sz="2400">
                    <a:solidFill>
                      <a:srgbClr val="111827"/>
                    </a:solidFill>
                    <a:latin typeface="Cambria Math" panose="02040503050406030204" pitchFamily="18" charset="0"/>
                  </a:rPr>
                  <a:t>$6$</a:t>
                </a:r>
                <a:endParaRPr sz="2400">
                  <a:solidFill>
                    <a:srgbClr val="111827"/>
                  </a:solidFill>
                </a:endParaRPr>
              </a:p>
            </p:txBody>
          </p:sp>
        </mc:Fallback>
      </mc:AlternateContent>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Matching List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Half-angle formulas and Napier's analogy, Inequalities for the tangents of the angles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item is a one-step identity: </a:t>
                </a:r>
                <a14:m>
                  <m:oMath xmlns:m="http://schemas.openxmlformats.org/officeDocument/2006/math">
                    <m:r>
                      <a:rPr lang="en-IN" sz="2400" i="1">
                        <a:solidFill>
                          <a:srgbClr val="78350F"/>
                        </a:solidFill>
                        <a:latin typeface="Cambria Math" panose="02040503050406030204" pitchFamily="18" charset="0"/>
                      </a:rPr>
                      <m:t>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𝐴</m:t>
                    </m:r>
                  </m:oMath>
                </a14:m>
                <a:r>
                  <a:rPr sz="2400" b="0">
                    <a:solidFill>
                      <a:srgbClr val="78350F"/>
                    </a:solidFill>
                    <a:latin typeface="Arial"/>
                  </a:rPr>
                  <a:t>,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tan</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tan</m:t>
                    </m:r>
                  </m:oMath>
                </a14:m>
                <a:r>
                  <a:rPr sz="2400" b="0">
                    <a:solidFill>
                      <a:srgbClr val="78350F"/>
                    </a:solidFill>
                    <a:latin typeface="Arial"/>
                  </a:rPr>
                  <a:t> with A.M.-G.M., </a:t>
                </a:r>
                <a14:m>
                  <m:oMath xmlns:m="http://schemas.openxmlformats.org/officeDocument/2006/math">
                    <m:r>
                      <a:rPr lang="en-IN" sz="2400" i="1">
                        <a:solidFill>
                          <a:srgbClr val="78350F"/>
                        </a:solidFill>
                        <a:latin typeface="Cambria Math" panose="02040503050406030204" pitchFamily="18" charset="0"/>
                      </a:rPr>
                      <m:t>𝑅</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oMath>
                </a14:m>
                <a:r>
                  <a:rPr sz="2400" b="0">
                    <a:solidFill>
                      <a:srgbClr val="78350F"/>
                    </a:solidFill>
                    <a:latin typeface="Arial"/>
                  </a:rPr>
                  <a:t>, and Napier's analogy.</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Each item is a one-step identity: </a:t>
                </a:r>
                <a:r>
                  <a:rPr lang="en-IN" sz="2400">
                    <a:solidFill>
                      <a:srgbClr val="78350F"/>
                    </a:solidFill>
                    <a:latin typeface="Cambria Math" panose="02040503050406030204" pitchFamily="18" charset="0"/>
                  </a:rPr>
                  <a:t>$\lambda=2+2\cos A$</a:t>
                </a:r>
                <a:r>
                  <a:rPr sz="2400" b="0">
                    <a:solidFill>
                      <a:srgbClr val="78350F"/>
                    </a:solidFill>
                    <a:latin typeface="Arial"/>
                  </a:rPr>
                  <a:t>, </a:t>
                </a:r>
                <a:r>
                  <a:rPr lang="en-IN" sz="2400">
                    <a:solidFill>
                      <a:srgbClr val="78350F"/>
                    </a:solidFill>
                    <a:latin typeface="Cambria Math" panose="02040503050406030204" pitchFamily="18" charset="0"/>
                  </a:rPr>
                  <a:t>$\sum\tan=\prod\tan$</a:t>
                </a:r>
                <a:r>
                  <a:rPr sz="2400" b="0">
                    <a:solidFill>
                      <a:srgbClr val="78350F"/>
                    </a:solidFill>
                    <a:latin typeface="Arial"/>
                  </a:rPr>
                  <a:t> with A.M.-G.M., </a:t>
                </a:r>
                <a:r>
                  <a:rPr lang="en-IN" sz="2400">
                    <a:solidFill>
                      <a:srgbClr val="78350F"/>
                    </a:solidFill>
                    <a:latin typeface="Cambria Math" panose="02040503050406030204" pitchFamily="18" charset="0"/>
                  </a:rPr>
                  <a:t>$R\cos A=r$</a:t>
                </a:r>
                <a:r>
                  <a:rPr sz="2400" b="0">
                    <a:solidFill>
                      <a:srgbClr val="78350F"/>
                    </a:solidFill>
                    <a:latin typeface="Arial"/>
                  </a:rPr>
                  <a:t>, and Napier's analogy.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$(a+b+c)(b+c-a)=\lambda bc\Rightarrow(b+c)^2-a^2=\lambda bc\Rightarrow b^2+c^2-a^2=-2bc+\lambda bc$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4</m:t>
                    </m:r>
                  </m:oMath>
                </a14:m>
                <a:r>
                  <a:rPr sz="2400" b="0">
                    <a:solidFill>
                      <a:srgbClr val="111827"/>
                    </a:solidFill>
                    <a:latin typeface="Arial"/>
                  </a:rPr>
                  <a:t>; the integer values are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the greatest is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on the squares: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𝐶</m:t>
                            </m:r>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81</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the keyed match is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means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𝐼</m:t>
                    </m:r>
                  </m:oMath>
                </a14:m>
                <a:r>
                  <a:rPr sz="2400" b="0">
                    <a:solidFill>
                      <a:srgbClr val="111827"/>
                    </a:solidFill>
                    <a:latin typeface="Arial"/>
                  </a:rPr>
                  <a:t> are at the same distance from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(R).</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$2\cos A=\frac{b^2+c^2-a^2}{bc}=\lambda-2$</a:t>
                </a:r>
                <a:r>
                  <a:rPr sz="2400" b="0">
                    <a:solidFill>
                      <a:srgbClr val="111827"/>
                    </a:solidFill>
                    <a:latin typeface="Arial"/>
                  </a:rPr>
                  <a:t>, i.e. </a:t>
                </a:r>
                <a:r>
                  <a:rPr lang="en-IN" sz="2400">
                    <a:solidFill>
                      <a:srgbClr val="111827"/>
                    </a:solidFill>
                    <a:latin typeface="Cambria Math" panose="02040503050406030204" pitchFamily="18" charset="0"/>
                  </a:rPr>
                  <a:t>$\lambda=2+2\cos A$</a:t>
                </a:r>
                <a:r>
                  <a:rPr sz="2400" b="0">
                    <a:solidFill>
                      <a:srgbClr val="111827"/>
                    </a:solidFill>
                    <a:latin typeface="Arial"/>
                  </a:rPr>
                  <a:t>. As </a:t>
                </a:r>
                <a:r>
                  <a:rPr lang="en-IN" sz="2400">
                    <a:solidFill>
                      <a:srgbClr val="111827"/>
                    </a:solidFill>
                    <a:latin typeface="Cambria Math" panose="02040503050406030204" pitchFamily="18" charset="0"/>
                  </a:rPr>
                  <a:t>$A\in(0,\pi)$</a:t>
                </a:r>
                <a:r>
                  <a:rPr sz="2400" b="0">
                    <a:solidFill>
                      <a:srgbClr val="111827"/>
                    </a:solidFill>
                    <a:latin typeface="Arial"/>
                  </a:rPr>
                  <a:t>, </a:t>
                </a:r>
                <a:r>
                  <a:rPr lang="en-IN" sz="2400">
                    <a:solidFill>
                      <a:srgbClr val="111827"/>
                    </a:solidFill>
                    <a:latin typeface="Cambria Math" panose="02040503050406030204" pitchFamily="18" charset="0"/>
                  </a:rPr>
                  <a:t>$0&lt;\lambda&lt;4$</a:t>
                </a:r>
                <a:r>
                  <a:rPr sz="2400" b="0">
                    <a:solidFill>
                      <a:srgbClr val="111827"/>
                    </a:solidFill>
                    <a:latin typeface="Arial"/>
                  </a:rPr>
                  <a:t>; the integer values are </a:t>
                </a:r>
                <a:r>
                  <a:rPr lang="en-IN" sz="2400">
                    <a:solidFill>
                      <a:srgbClr val="111827"/>
                    </a:solidFill>
                    <a:latin typeface="Cambria Math" panose="02040503050406030204" pitchFamily="18" charset="0"/>
                  </a:rPr>
                  <a:t>$1,2,3$</a:t>
                </a:r>
                <a:r>
                  <a:rPr sz="2400" b="0">
                    <a:solidFill>
                      <a:srgbClr val="111827"/>
                    </a:solidFill>
                    <a:latin typeface="Arial"/>
                  </a:rPr>
                  <a:t> and the greatest is </a:t>
                </a:r>
                <a:r>
                  <a:rPr lang="en-IN" sz="2400">
                    <a:solidFill>
                      <a:srgbClr val="111827"/>
                    </a:solidFill>
                    <a:latin typeface="Cambria Math" panose="02040503050406030204" pitchFamily="18" charset="0"/>
                  </a:rPr>
                  <a:t>$3$</a:t>
                </a:r>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$A+B+C=\pi\Rightarrow\tan(A+B+C)=0\Rightarrow\tan A+\tan B+(1-\tan A\tan B)\tan C=0$</a:t>
                </a:r>
                <a:r>
                  <a:rPr sz="2400" b="0">
                    <a:solidFill>
                      <a:srgbClr val="111827"/>
                    </a:solidFill>
                    <a:latin typeface="Arial"/>
                  </a:rPr>
                  <a:t>, so </a:t>
                </a:r>
                <a:r>
                  <a:rPr lang="en-IN" sz="2400">
                    <a:solidFill>
                      <a:srgbClr val="111827"/>
                    </a:solidFill>
                    <a:latin typeface="Cambria Math" panose="02040503050406030204" pitchFamily="18" charset="0"/>
                  </a:rPr>
                  <a:t>$\tan A+\tan B+\tan C=\tan A\tan B\tan C=9$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on the squares: </a:t>
                </a:r>
                <a:r>
                  <a:rPr lang="en-IN" sz="2400">
                    <a:solidFill>
                      <a:srgbClr val="111827"/>
                    </a:solidFill>
                    <a:latin typeface="Cambria Math" panose="02040503050406030204" pitchFamily="18" charset="0"/>
                  </a:rPr>
                  <a:t>$\frac{\tan^2A+\tan^2B+\tan^2C}3\ge\left(\tan^2A\tan^2B\tan^2C\right)^{1/3}=81^{1/3}$</a:t>
                </a:r>
                <a:r>
                  <a:rPr sz="2400" b="0">
                    <a:solidFill>
                      <a:srgbClr val="111827"/>
                    </a:solidFill>
                    <a:latin typeface="Arial"/>
                  </a:rPr>
                  <a:t>, so </a:t>
                </a:r>
                <a:r>
                  <a:rPr lang="en-IN" sz="2400">
                    <a:solidFill>
                      <a:srgbClr val="111827"/>
                    </a:solidFill>
                    <a:latin typeface="Cambria Math" panose="02040503050406030204" pitchFamily="18" charset="0"/>
                  </a:rPr>
                  <a:t>$k\ge3\cdot3^{4/3}=9\cdot3^{1/3}$</a:t>
                </a:r>
                <a:r>
                  <a:rPr sz="2400" b="0">
                    <a:solidFill>
                      <a:srgbClr val="111827"/>
                    </a:solidFill>
                    <a:latin typeface="Arial"/>
                  </a:rPr>
                  <a:t>: the keyed match is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$OI\parallel BC$</a:t>
                </a:r>
                <a:r>
                  <a:rPr sz="2400" b="0">
                    <a:solidFill>
                      <a:srgbClr val="111827"/>
                    </a:solidFill>
                    <a:latin typeface="Arial"/>
                  </a:rPr>
                  <a:t> means </a:t>
                </a:r>
                <a:r>
                  <a:rPr lang="en-IN" sz="2400">
                    <a:solidFill>
                      <a:srgbClr val="111827"/>
                    </a:solidFill>
                    <a:latin typeface="Cambria Math" panose="02040503050406030204" pitchFamily="18" charset="0"/>
                  </a:rPr>
                  <a:t>$O$</a:t>
                </a:r>
                <a:r>
                  <a:rPr sz="2400" b="0">
                    <a:solidFill>
                      <a:srgbClr val="111827"/>
                    </a:solidFill>
                    <a:latin typeface="Arial"/>
                  </a:rPr>
                  <a:t> and </a:t>
                </a:r>
                <a:r>
                  <a:rPr lang="en-IN" sz="2400">
                    <a:solidFill>
                      <a:srgbClr val="111827"/>
                    </a:solidFill>
                    <a:latin typeface="Cambria Math" panose="02040503050406030204" pitchFamily="18" charset="0"/>
                  </a:rPr>
                  <a:t>$I$</a:t>
                </a:r>
                <a:r>
                  <a:rPr sz="2400" b="0">
                    <a:solidFill>
                      <a:srgbClr val="111827"/>
                    </a:solidFill>
                    <a:latin typeface="Arial"/>
                  </a:rPr>
                  <a:t> are at the same distance from </a:t>
                </a:r>
                <a:r>
                  <a:rPr lang="en-IN" sz="2400">
                    <a:solidFill>
                      <a:srgbClr val="111827"/>
                    </a:solidFill>
                    <a:latin typeface="Cambria Math" panose="02040503050406030204" pitchFamily="18" charset="0"/>
                  </a:rPr>
                  <a:t>$BC$</a:t>
                </a:r>
                <a:r>
                  <a:rPr sz="2400" b="0">
                    <a:solidFill>
                      <a:srgbClr val="111827"/>
                    </a:solidFill>
                    <a:latin typeface="Arial"/>
                  </a:rPr>
                  <a:t>: </a:t>
                </a:r>
                <a:r>
                  <a:rPr lang="en-IN" sz="2400">
                    <a:solidFill>
                      <a:srgbClr val="111827"/>
                    </a:solidFill>
                    <a:latin typeface="Cambria Math" panose="02040503050406030204" pitchFamily="18" charset="0"/>
                  </a:rPr>
                  <a:t>$R\cos A=r=4R\sin\frac A2\sin\frac B2\sin\frac 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$r=R(\cos A+\cos B+\cos C-1)$</a:t>
                </a:r>
                <a:r>
                  <a:rPr sz="2400" b="0">
                    <a:solidFill>
                      <a:srgbClr val="111827"/>
                    </a:solidFill>
                    <a:latin typeface="Arial"/>
                  </a:rPr>
                  <a:t>: </a:t>
                </a:r>
                <a:r>
                  <a:rPr lang="en-IN" sz="2400">
                    <a:solidFill>
                      <a:srgbClr val="111827"/>
                    </a:solidFill>
                    <a:latin typeface="Cambria Math" panose="02040503050406030204" pitchFamily="18" charset="0"/>
                  </a:rPr>
                  <a:t>$\cos A=\cos A+\cos B+\cos C-1$</a:t>
                </a:r>
                <a:r>
                  <a:rPr sz="2400" b="0">
                    <a:solidFill>
                      <a:srgbClr val="111827"/>
                    </a:solidFill>
                    <a:latin typeface="Arial"/>
                  </a:rPr>
                  <a:t>, so </a:t>
                </a:r>
                <a:r>
                  <a:rPr lang="en-IN" sz="2400">
                    <a:solidFill>
                      <a:srgbClr val="111827"/>
                    </a:solidFill>
                    <a:latin typeface="Cambria Math" panose="02040503050406030204" pitchFamily="18" charset="0"/>
                  </a:rPr>
                  <a:t>$\cos B+\cos C=1$</a:t>
                </a:r>
                <a:r>
                  <a:rPr sz="2400" b="0">
                    <a:solidFill>
                      <a:srgbClr val="111827"/>
                    </a:solidFill>
                    <a:latin typeface="Arial"/>
                  </a:rPr>
                  <a:t>: (R).</a:t>
                </a:r>
                <a:endParaRPr sz="2400">
                  <a:solidFill>
                    <a:srgbClr val="111827"/>
                  </a:solidFill>
                </a:endParaRPr>
              </a:p>
            </p:txBody>
          </p:sp>
        </mc:Fallback>
      </mc:AlternateContent>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31</m:t>
                        </m:r>
                      </m:num>
                      <m:den>
                        <m:r>
                          <a:rPr lang="en-IN" sz="2400" i="1">
                            <a:solidFill>
                              <a:srgbClr val="111827"/>
                            </a:solidFill>
                            <a:latin typeface="Cambria Math" panose="02040503050406030204" pitchFamily="18" charset="0"/>
                          </a:rPr>
                          <m:t>32</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63</m:t>
                        </m:r>
                      </m:num>
                      <m:den>
                        <m:r>
                          <a:rPr lang="en-IN" sz="2400" i="1">
                            <a:solidFill>
                              <a:srgbClr val="111827"/>
                            </a:solidFill>
                            <a:latin typeface="Cambria Math" panose="02040503050406030204" pitchFamily="18" charset="0"/>
                          </a:rPr>
                          <m:t>64</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63</m:t>
                            </m:r>
                          </m:e>
                        </m:rad>
                      </m:num>
                      <m:den>
                        <m:r>
                          <a:rPr lang="en-IN" sz="2400" i="1">
                            <a:solidFill>
                              <a:srgbClr val="111827"/>
                            </a:solidFill>
                            <a:latin typeface="Cambria Math" panose="02040503050406030204" pitchFamily="18" charset="0"/>
                          </a:rPr>
                          <m:t>8</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Napier's analogy: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63</m:t>
                            </m:r>
                          </m:e>
                        </m:rad>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Cosine rule: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den>
                    </m:f>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$2\cos^2\frac{A-B}2-1=\frac{31}{32}\Rightarrow\cos^2\frac{A-B}2=\frac{63}{64}$</a:t>
                </a:r>
                <a:r>
                  <a:rPr sz="2400" b="0">
                    <a:solidFill>
                      <a:srgbClr val="111827"/>
                    </a:solidFill>
                    <a:latin typeface="Arial"/>
                  </a:rPr>
                  <a:t>, so </a:t>
                </a:r>
                <a:r>
                  <a:rPr lang="en-IN" sz="2400">
                    <a:solidFill>
                      <a:srgbClr val="111827"/>
                    </a:solidFill>
                    <a:latin typeface="Cambria Math" panose="02040503050406030204" pitchFamily="18" charset="0"/>
                  </a:rPr>
                  <a:t>$\cos\frac{A-B}2=\frac{\sqrt{63}}8$</a:t>
                </a:r>
                <a:r>
                  <a:rPr sz="2400" b="0">
                    <a:solidFill>
                      <a:srgbClr val="111827"/>
                    </a:solidFill>
                    <a:latin typeface="Arial"/>
                  </a:rPr>
                  <a:t> and </a:t>
                </a:r>
                <a:r>
                  <a:rPr lang="en-IN" sz="2400">
                    <a:solidFill>
                      <a:srgbClr val="111827"/>
                    </a:solidFill>
                    <a:latin typeface="Cambria Math" panose="02040503050406030204" pitchFamily="18" charset="0"/>
                  </a:rPr>
                  <a:t>$\tan\frac{A-B}2=\frac1{\sqrt{63}}$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Napier's analogy: </a:t>
                </a:r>
                <a:r>
                  <a:rPr lang="en-IN" sz="2400">
                    <a:solidFill>
                      <a:srgbClr val="111827"/>
                    </a:solidFill>
                    <a:latin typeface="Cambria Math" panose="02040503050406030204" pitchFamily="18" charset="0"/>
                  </a:rPr>
                  <a:t>$\frac{a-b}{a+b}\cot\frac C2=\frac19\cot\frac C2=\frac1{\sqrt{63}}$</a:t>
                </a:r>
                <a:r>
                  <a:rPr sz="2400" b="0">
                    <a:solidFill>
                      <a:srgbClr val="111827"/>
                    </a:solidFill>
                    <a:latin typeface="Arial"/>
                  </a:rPr>
                  <a:t>, so </a:t>
                </a:r>
                <a:r>
                  <a:rPr lang="en-IN" sz="2400">
                    <a:solidFill>
                      <a:srgbClr val="111827"/>
                    </a:solidFill>
                    <a:latin typeface="Cambria Math" panose="02040503050406030204" pitchFamily="18" charset="0"/>
                  </a:rPr>
                  <a:t>$\cot\frac C2=\frac3{\sqrt7}$</a:t>
                </a:r>
                <a:r>
                  <a:rPr sz="2400" b="0">
                    <a:solidFill>
                      <a:srgbClr val="111827"/>
                    </a:solidFill>
                    <a:latin typeface="Arial"/>
                  </a:rPr>
                  <a:t>, </a:t>
                </a:r>
                <a:r>
                  <a:rPr lang="en-IN" sz="2400">
                    <a:solidFill>
                      <a:srgbClr val="111827"/>
                    </a:solidFill>
                    <a:latin typeface="Cambria Math" panose="02040503050406030204" pitchFamily="18" charset="0"/>
                  </a:rPr>
                  <a:t>$\tan\frac C2=\frac{\sqrt7}3$</a:t>
                </a:r>
                <a:r>
                  <a:rPr sz="2400" b="0">
                    <a:solidFill>
                      <a:srgbClr val="111827"/>
                    </a:solidFill>
                    <a:latin typeface="Arial"/>
                  </a:rPr>
                  <a:t> and </a:t>
                </a:r>
                <a:r>
                  <a:rPr lang="en-IN" sz="2400">
                    <a:solidFill>
                      <a:srgbClr val="111827"/>
                    </a:solidFill>
                    <a:latin typeface="Cambria Math" panose="02040503050406030204" pitchFamily="18" charset="0"/>
                  </a:rPr>
                  <a:t>$\cos\frac C2=\frac34$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 C=2\cos^2\frac C2-1=\frac98-1=\frac18$</a:t>
                </a:r>
                <a:r>
                  <a:rPr sz="2400" b="0">
                    <a:solidFill>
                      <a:srgbClr val="111827"/>
                    </a:solidFill>
                    <a:latin typeface="Arial"/>
                  </a:rPr>
                  <a:t>. Cosine rule: </a:t>
                </a:r>
                <a:r>
                  <a:rPr lang="en-IN" sz="2400">
                    <a:solidFill>
                      <a:srgbClr val="111827"/>
                    </a:solidFill>
                    <a:latin typeface="Cambria Math" panose="02040503050406030204" pitchFamily="18" charset="0"/>
                  </a:rPr>
                  <a:t>$\frac18=\frac{25+16-c^2}{2\cdot4\cdot5}$</a:t>
                </a:r>
                <a:r>
                  <a:rPr sz="2400" b="0">
                    <a:solidFill>
                      <a:srgbClr val="111827"/>
                    </a:solidFill>
                    <a:latin typeface="Arial"/>
                  </a:rPr>
                  <a:t>, so </a:t>
                </a:r>
                <a:r>
                  <a:rPr lang="en-IN" sz="2400">
                    <a:solidFill>
                      <a:srgbClr val="111827"/>
                    </a:solidFill>
                    <a:latin typeface="Cambria Math" panose="02040503050406030204" pitchFamily="18" charset="0"/>
                  </a:rPr>
                  <a:t>$c^2=36$</a:t>
                </a:r>
                <a:r>
                  <a:rPr sz="2400" b="0">
                    <a:solidFill>
                      <a:srgbClr val="111827"/>
                    </a:solidFill>
                    <a:latin typeface="Arial"/>
                  </a:rPr>
                  <a:t> and </a:t>
                </a:r>
                <a:r>
                  <a:rPr lang="en-IN" sz="2400">
                    <a:solidFill>
                      <a:srgbClr val="111827"/>
                    </a:solidFill>
                    <a:latin typeface="Cambria Math" panose="02040503050406030204" pitchFamily="18" charset="0"/>
                  </a:rPr>
                  <a:t>$c=6$</a:t>
                </a:r>
                <a:r>
                  <a:rPr sz="2400" b="0">
                    <a:solidFill>
                      <a:srgbClr val="111827"/>
                    </a:solidFill>
                    <a:latin typeface="Arial"/>
                  </a:rPr>
                  <a:t>: (S).</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P; (B) Q as keyed (the AM-GM bound; it is not actually attained, see note); (C) R; (D) S</a:t>
            </a:r>
            <a:endParaRPr sz="2800">
              <a:solidFill>
                <a:srgbClr val="15803D"/>
              </a:solidFill>
            </a:endParaRP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Different tools: (A) half-angle formula </a:t>
                </a:r>
                <a14:m>
                  <m:oMath xmlns:m="http://schemas.openxmlformats.org/officeDocument/2006/math">
                    <m:r>
                      <a:rPr lang="en-IN" sz="2400" i="1">
                        <a:solidFill>
                          <a:srgbClr val="78350F"/>
                        </a:solidFill>
                        <a:latin typeface="Cambria Math" panose="02040503050406030204" pitchFamily="18" charset="0"/>
                      </a:rPr>
                      <m:t>λ</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sSup>
                      <m:e>
                        <m:r>
                          <m:rPr>
                            <m:sty m:val="p"/>
                          </m:rPr>
                          <a:rPr lang="en-IN" sz="2400">
                            <a:solidFill>
                              <a:srgbClr val="78350F"/>
                            </a:solidFill>
                            <a:latin typeface="Cambria Math" panose="02040503050406030204" pitchFamily="18" charset="0"/>
                          </a:rPr>
                          <m:t>cos</m:t>
                        </m:r>
                      </m:e>
                      <m:sup>
                        <m:r>
                          <a:rPr lang="en-IN" sz="2400" i="1">
                            <a:solidFill>
                              <a:srgbClr val="78350F"/>
                            </a:solidFill>
                            <a:latin typeface="Cambria Math" panose="02040503050406030204" pitchFamily="18" charset="0"/>
                          </a:rPr>
                          <m:t>2</m:t>
                        </m:r>
                      </m:sup>
                    </m:sSup>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𝐴</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(B) QM-AM shows the keyed bound is not sharp; (D) Mollweide's formulas.</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Different tools: (A) half-angle formula </a:t>
                </a:r>
                <a:r>
                  <a:rPr lang="en-IN" sz="2400">
                    <a:solidFill>
                      <a:srgbClr val="78350F"/>
                    </a:solidFill>
                    <a:latin typeface="Cambria Math" panose="02040503050406030204" pitchFamily="18" charset="0"/>
                  </a:rPr>
                  <a:t>$\lambda=4\cos^2\frac A2$</a:t>
                </a:r>
                <a:r>
                  <a:rPr sz="2400" b="0">
                    <a:solidFill>
                      <a:srgbClr val="78350F"/>
                    </a:solidFill>
                    <a:latin typeface="Arial"/>
                  </a:rPr>
                  <a:t>; (B) QM-AM shows the keyed bound is not sharp; (D) Mollweide's formulas.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greatest integer is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By QM-AM, </a:t>
                </a: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e>
                            </m:d>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oMath>
                </a14:m>
                <a:r>
                  <a:rPr sz="2400" b="0">
                    <a:solidFill>
                      <a:srgbClr val="111827"/>
                    </a:solidFill>
                    <a:latin typeface="Arial"/>
                  </a:rPr>
                  <a:t>, which already exceeds the keyed value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12.98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is only a lower bound; it is never attained because equal tangents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would need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The true minimum (two equal tangents,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4.251</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36.39</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$(a+b+c)(b+c-a)=2s\cdot2(s-a)=4s(s-a)$</a:t>
                </a:r>
                <a:r>
                  <a:rPr sz="2400" b="0">
                    <a:solidFill>
                      <a:srgbClr val="111827"/>
                    </a:solidFill>
                    <a:latin typeface="Arial"/>
                  </a:rPr>
                  <a:t> and </a:t>
                </a:r>
                <a:r>
                  <a:rPr lang="en-IN" sz="2400">
                    <a:solidFill>
                      <a:srgbClr val="111827"/>
                    </a:solidFill>
                    <a:latin typeface="Cambria Math" panose="02040503050406030204" pitchFamily="18" charset="0"/>
                  </a:rPr>
                  <a:t>$\cos^2\frac A2=\frac{s(s-a)}{bc}$</a:t>
                </a:r>
                <a:r>
                  <a:rPr sz="2400" b="0">
                    <a:solidFill>
                      <a:srgbClr val="111827"/>
                    </a:solidFill>
                    <a:latin typeface="Arial"/>
                  </a:rPr>
                  <a:t>, so </a:t>
                </a:r>
                <a:r>
                  <a:rPr lang="en-IN" sz="2400">
                    <a:solidFill>
                      <a:srgbClr val="111827"/>
                    </a:solidFill>
                    <a:latin typeface="Cambria Math" panose="02040503050406030204" pitchFamily="18" charset="0"/>
                  </a:rPr>
                  <a:t>$\lambda=4\cos^2\frac A2\in(0,4)$</a:t>
                </a:r>
                <a:r>
                  <a:rPr sz="2400" b="0">
                    <a:solidFill>
                      <a:srgbClr val="111827"/>
                    </a:solidFill>
                    <a:latin typeface="Arial"/>
                  </a:rPr>
                  <a:t>; the greatest integer is </a:t>
                </a:r>
                <a:r>
                  <a:rPr lang="en-IN" sz="2400">
                    <a:solidFill>
                      <a:srgbClr val="111827"/>
                    </a:solidFill>
                    <a:latin typeface="Cambria Math" panose="02040503050406030204" pitchFamily="18" charset="0"/>
                  </a:rPr>
                  <a:t>$3$</a:t>
                </a:r>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By QM-AM, </a:t>
                </a:r>
                <a:r>
                  <a:rPr lang="en-IN" sz="2400">
                    <a:solidFill>
                      <a:srgbClr val="111827"/>
                    </a:solidFill>
                    <a:latin typeface="Cambria Math" panose="02040503050406030204" pitchFamily="18" charset="0"/>
                  </a:rPr>
                  <a:t>$\sum\tan^2A\ge\frac{\left(\sum\tan A\right)^2}3=27$</a:t>
                </a:r>
                <a:r>
                  <a:rPr sz="2400" b="0">
                    <a:solidFill>
                      <a:srgbClr val="111827"/>
                    </a:solidFill>
                    <a:latin typeface="Arial"/>
                  </a:rPr>
                  <a:t>, which already exceeds the keyed value </a:t>
                </a:r>
                <a:r>
                  <a:rPr lang="en-IN" sz="2400">
                    <a:solidFill>
                      <a:srgbClr val="111827"/>
                    </a:solidFill>
                    <a:latin typeface="Cambria Math" panose="02040503050406030204" pitchFamily="18" charset="0"/>
                  </a:rPr>
                  <a:t>$9\cdot3^{1/3}\approx12.98$</a:t>
                </a:r>
                <a:r>
                  <a:rPr sz="2400" b="0">
                    <a:solidFill>
                      <a:srgbClr val="111827"/>
                    </a:solidFill>
                    <a:latin typeface="Arial"/>
                  </a:rPr>
                  <a:t>. So </a:t>
                </a:r>
                <a:r>
                  <a:rPr lang="en-IN" sz="2400">
                    <a:solidFill>
                      <a:srgbClr val="111827"/>
                    </a:solidFill>
                    <a:latin typeface="Cambria Math" panose="02040503050406030204" pitchFamily="18" charset="0"/>
                  </a:rPr>
                  <a:t>$9\cdot3^{1/3}$</a:t>
                </a:r>
                <a:r>
                  <a:rPr sz="2400" b="0">
                    <a:solidFill>
                      <a:srgbClr val="111827"/>
                    </a:solidFill>
                    <a:latin typeface="Arial"/>
                  </a:rPr>
                  <a:t> is only a lower bound; it is never attained because equal tangents </a:t>
                </a:r>
                <a:r>
                  <a:rPr lang="en-IN" sz="2400">
                    <a:solidFill>
                      <a:srgbClr val="111827"/>
                    </a:solidFill>
                    <a:latin typeface="Cambria Math" panose="02040503050406030204" pitchFamily="18" charset="0"/>
                  </a:rPr>
                  <a:t>$t$</a:t>
                </a:r>
                <a:r>
                  <a:rPr sz="2400" b="0">
                    <a:solidFill>
                      <a:srgbClr val="111827"/>
                    </a:solidFill>
                    <a:latin typeface="Arial"/>
                  </a:rPr>
                  <a:t> would need </a:t>
                </a:r>
                <a:r>
                  <a:rPr lang="en-IN" sz="2400">
                    <a:solidFill>
                      <a:srgbClr val="111827"/>
                    </a:solidFill>
                    <a:latin typeface="Cambria Math" panose="02040503050406030204" pitchFamily="18" charset="0"/>
                  </a:rPr>
                  <a:t>$3t=t^3=9$</a:t>
                </a:r>
                <a:r>
                  <a:rPr sz="2400" b="0">
                    <a:solidFill>
                      <a:srgbClr val="111827"/>
                    </a:solidFill>
                    <a:latin typeface="Arial"/>
                  </a:rPr>
                  <a:t>. The true minimum (two equal tangents, </a:t>
                </a:r>
                <a:r>
                  <a:rPr lang="en-IN" sz="2400">
                    <a:solidFill>
                      <a:srgbClr val="111827"/>
                    </a:solidFill>
                    <a:latin typeface="Cambria Math" panose="02040503050406030204" pitchFamily="18" charset="0"/>
                  </a:rPr>
                  <a:t>$t\approx4.251$</a:t>
                </a:r>
                <a:r>
                  <a:rPr sz="2400" b="0">
                    <a:solidFill>
                      <a:srgbClr val="111827"/>
                    </a:solidFill>
                    <a:latin typeface="Arial"/>
                  </a:rPr>
                  <a:t>) is </a:t>
                </a:r>
                <a:r>
                  <a:rPr lang="en-IN" sz="2400">
                    <a:solidFill>
                      <a:srgbClr val="111827"/>
                    </a:solidFill>
                    <a:latin typeface="Cambria Math" panose="02040503050406030204" pitchFamily="18" charset="0"/>
                  </a:rPr>
                  <a:t>$\approx36.39$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Mollweide: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num>
                      <m:den>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den>
                    </m:f>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num>
                          <m:den>
                            <m:r>
                              <a:rPr lang="en-IN" sz="2400" i="1">
                                <a:solidFill>
                                  <a:srgbClr val="111827"/>
                                </a:solidFill>
                                <a:latin typeface="Cambria Math" panose="02040503050406030204" pitchFamily="18" charset="0"/>
                              </a:rPr>
                              <m:t>2</m:t>
                            </m:r>
                          </m:den>
                        </m:f>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63</m:t>
                            </m:r>
                          </m:e>
                        </m:rad>
                      </m:num>
                      <m:den>
                        <m:r>
                          <a:rPr lang="en-IN" sz="2400" i="1">
                            <a:solidFill>
                              <a:srgbClr val="111827"/>
                            </a:solidFill>
                            <a:latin typeface="Cambria Math" panose="02040503050406030204" pitchFamily="18" charset="0"/>
                          </a:rPr>
                          <m:t>8</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63</m:t>
                            </m:r>
                          </m:e>
                        </m:rad>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Equating,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63</m:t>
                            </m:r>
                          </m:e>
                        </m:rad>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Mollweide: </a:t>
                </a:r>
                <a:r>
                  <a:rPr lang="en-IN" sz="2400">
                    <a:solidFill>
                      <a:srgbClr val="111827"/>
                    </a:solidFill>
                    <a:latin typeface="Cambria Math" panose="02040503050406030204" pitchFamily="18" charset="0"/>
                  </a:rPr>
                  <a:t>$\frac{a-b}c=\frac{\sin\frac{A-B}2}{\cos\frac C2}$</a:t>
                </a:r>
                <a:r>
                  <a:rPr sz="2400" b="0">
                    <a:solidFill>
                      <a:srgbClr val="111827"/>
                    </a:solidFill>
                    <a:latin typeface="Arial"/>
                  </a:rPr>
                  <a:t> and </a:t>
                </a:r>
                <a:r>
                  <a:rPr lang="en-IN" sz="2400">
                    <a:solidFill>
                      <a:srgbClr val="111827"/>
                    </a:solidFill>
                    <a:latin typeface="Cambria Math" panose="02040503050406030204" pitchFamily="18" charset="0"/>
                  </a:rPr>
                  <a:t>$\frac{a+b}c=\frac{\cos\frac{A-B}2}{\sin\frac C2}$</a:t>
                </a:r>
                <a:r>
                  <a:rPr sz="2400" b="0">
                    <a:solidFill>
                      <a:srgbClr val="111827"/>
                    </a:solidFill>
                    <a:latin typeface="Arial"/>
                  </a:rPr>
                  <a:t>, with </a:t>
                </a:r>
                <a:r>
                  <a:rPr lang="en-IN" sz="2400">
                    <a:solidFill>
                      <a:srgbClr val="111827"/>
                    </a:solidFill>
                    <a:latin typeface="Cambria Math" panose="02040503050406030204" pitchFamily="18" charset="0"/>
                  </a:rPr>
                  <a:t>$\sin\frac{A-B}2=\sqrt{\frac{1-31/32}2}=\frac18$</a:t>
                </a:r>
                <a:r>
                  <a:rPr sz="2400" b="0">
                    <a:solidFill>
                      <a:srgbClr val="111827"/>
                    </a:solidFill>
                    <a:latin typeface="Arial"/>
                  </a:rPr>
                  <a:t> and </a:t>
                </a:r>
                <a:r>
                  <a:rPr lang="en-IN" sz="2400">
                    <a:solidFill>
                      <a:srgbClr val="111827"/>
                    </a:solidFill>
                    <a:latin typeface="Cambria Math" panose="02040503050406030204" pitchFamily="18" charset="0"/>
                  </a:rPr>
                  <a:t>$\cos\frac{A-B}2=\frac{\sqrt{63}}8$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$\frac1c=\frac{1/8}{\cos\frac C2}$</a:t>
                </a:r>
                <a:r>
                  <a:rPr sz="2400" b="0">
                    <a:solidFill>
                      <a:srgbClr val="111827"/>
                    </a:solidFill>
                    <a:latin typeface="Arial"/>
                  </a:rPr>
                  <a:t> gives </a:t>
                </a:r>
                <a:r>
                  <a:rPr lang="en-IN" sz="2400">
                    <a:solidFill>
                      <a:srgbClr val="111827"/>
                    </a:solidFill>
                    <a:latin typeface="Cambria Math" panose="02040503050406030204" pitchFamily="18" charset="0"/>
                  </a:rPr>
                  <a:t>$c=8\cos\frac C2$</a:t>
                </a:r>
                <a:r>
                  <a:rPr sz="2400" b="0">
                    <a:solidFill>
                      <a:srgbClr val="111827"/>
                    </a:solidFill>
                    <a:latin typeface="Arial"/>
                  </a:rPr>
                  <a:t>; </a:t>
                </a:r>
                <a:r>
                  <a:rPr lang="en-IN" sz="2400">
                    <a:solidFill>
                      <a:srgbClr val="111827"/>
                    </a:solidFill>
                    <a:latin typeface="Cambria Math" panose="02040503050406030204" pitchFamily="18" charset="0"/>
                  </a:rPr>
                  <a:t>$\frac9c=\frac{\sqrt{63}/8}{\sin\frac C2}$</a:t>
                </a:r>
                <a:r>
                  <a:rPr sz="2400" b="0">
                    <a:solidFill>
                      <a:srgbClr val="111827"/>
                    </a:solidFill>
                    <a:latin typeface="Arial"/>
                  </a:rPr>
                  <a:t> gives </a:t>
                </a:r>
                <a:r>
                  <a:rPr lang="en-IN" sz="2400">
                    <a:solidFill>
                      <a:srgbClr val="111827"/>
                    </a:solidFill>
                    <a:latin typeface="Cambria Math" panose="02040503050406030204" pitchFamily="18" charset="0"/>
                  </a:rPr>
                  <a:t>$c=\frac{72}{\sqrt{63}}\sin\frac C2$</a:t>
                </a:r>
                <a:r>
                  <a:rPr sz="2400" b="0">
                    <a:solidFill>
                      <a:srgbClr val="111827"/>
                    </a:solidFill>
                    <a:latin typeface="Arial"/>
                  </a:rPr>
                  <a:t>. Equating, </a:t>
                </a:r>
                <a:r>
                  <a:rPr lang="en-IN" sz="2400">
                    <a:solidFill>
                      <a:srgbClr val="111827"/>
                    </a:solidFill>
                    <a:latin typeface="Cambria Math" panose="02040503050406030204" pitchFamily="18" charset="0"/>
                  </a:rPr>
                  <a:t>$\tan\frac C2=\frac{\sqrt{63}}9=\frac{\sqrt7}3$</a:t>
                </a:r>
                <a:r>
                  <a:rPr sz="2400" b="0">
                    <a:solidFill>
                      <a:srgbClr val="111827"/>
                    </a:solidFill>
                    <a:latin typeface="Arial"/>
                  </a:rPr>
                  <a:t>, so </a:t>
                </a:r>
                <a:r>
                  <a:rPr lang="en-IN" sz="2400">
                    <a:solidFill>
                      <a:srgbClr val="111827"/>
                    </a:solidFill>
                    <a:latin typeface="Cambria Math" panose="02040503050406030204" pitchFamily="18" charset="0"/>
                  </a:rPr>
                  <a:t>$\cos\frac C2=\frac34$</a:t>
                </a:r>
                <a:r>
                  <a:rPr sz="2400" b="0">
                    <a:solidFill>
                      <a:srgbClr val="111827"/>
                    </a:solidFill>
                    <a:latin typeface="Arial"/>
                  </a:rPr>
                  <a:t> and </a:t>
                </a:r>
                <a:r>
                  <a:rPr lang="en-IN" sz="2400">
                    <a:solidFill>
                      <a:srgbClr val="111827"/>
                    </a:solidFill>
                    <a:latin typeface="Cambria Math" panose="02040503050406030204" pitchFamily="18" charset="0"/>
                  </a:rPr>
                  <a:t>$c=6$</a:t>
                </a:r>
                <a:r>
                  <a:rPr sz="2400" b="0">
                    <a:solidFill>
                      <a:srgbClr val="111827"/>
                    </a:solidFill>
                    <a:latin typeface="Arial"/>
                  </a:rPr>
                  <a:t> (S).</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P; (B) Q as keyed (the AM-GM bound; it is not actually attained, see note); (C) R; (D) S</a:t>
            </a:r>
            <a:endParaRPr sz="2800">
              <a:solidFill>
                <a:srgbClr val="15803D"/>
              </a:solidFill>
            </a:endParaRP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oMath>
                </a14:m>
                <a:r>
                  <a:rPr sz="2400" b="0">
                    <a:solidFill>
                      <a:srgbClr val="111827"/>
                    </a:solidFill>
                    <a:latin typeface="Arial"/>
                  </a:rPr>
                  <a:t>. With the sum fixed, QM-AM (</a:t>
                </a:r>
                <a14:m>
                  <m:oMath xmlns:m="http://schemas.openxmlformats.org/officeDocument/2006/math">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is always at least as strong as A.M.-G.M. on the squares, because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in any triangle.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(from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𝑅</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Napier / Mollweide: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gives the third side from two sides and </a:t>
                </a:r>
                <a14:m>
                  <m:oMath xmlns:m="http://schemas.openxmlformats.org/officeDocument/2006/math">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$(a+b+c)(b+c-a)=4bc\cos^2\frac A2$</a:t>
                </a:r>
                <a:r>
                  <a:rPr sz="2400" b="0">
                    <a:solidFill>
                      <a:srgbClr val="111827"/>
                    </a:solidFill>
                    <a:latin typeface="Arial"/>
                  </a:rPr>
                  <a:t>, i.e. </a:t>
                </a:r>
                <a:r>
                  <a:rPr lang="en-IN" sz="2400">
                    <a:solidFill>
                      <a:srgbClr val="111827"/>
                    </a:solidFill>
                    <a:latin typeface="Cambria Math" panose="02040503050406030204" pitchFamily="18" charset="0"/>
                  </a:rPr>
                  <a:t>$\lambda=2(1+\cos A)\in(0,4)$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$A+B+C=\pi$</a:t>
                </a:r>
                <a:r>
                  <a:rPr sz="2400" b="0">
                    <a:solidFill>
                      <a:srgbClr val="111827"/>
                    </a:solidFill>
                    <a:latin typeface="Arial"/>
                  </a:rPr>
                  <a:t> then </a:t>
                </a:r>
                <a:r>
                  <a:rPr lang="en-IN" sz="2400">
                    <a:solidFill>
                      <a:srgbClr val="111827"/>
                    </a:solidFill>
                    <a:latin typeface="Cambria Math" panose="02040503050406030204" pitchFamily="18" charset="0"/>
                  </a:rPr>
                  <a:t>$\sum\tan A=\prod\tan A$</a:t>
                </a:r>
                <a:r>
                  <a:rPr sz="2400" b="0">
                    <a:solidFill>
                      <a:srgbClr val="111827"/>
                    </a:solidFill>
                    <a:latin typeface="Arial"/>
                  </a:rPr>
                  <a:t>. With the sum fixed, QM-AM (</a:t>
                </a:r>
                <a:r>
                  <a:rPr lang="en-IN" sz="2400">
                    <a:solidFill>
                      <a:srgbClr val="111827"/>
                    </a:solidFill>
                    <a:latin typeface="Cambria Math" panose="02040503050406030204" pitchFamily="18" charset="0"/>
                  </a:rPr>
                  <a:t>$\sum\tan^2A\ge\frac{(\sum\tan A)^2}3$</a:t>
                </a:r>
                <a:r>
                  <a:rPr sz="2400" b="0">
                    <a:solidFill>
                      <a:srgbClr val="111827"/>
                    </a:solidFill>
                    <a:latin typeface="Arial"/>
                  </a:rPr>
                  <a:t>) is always at least as strong as A.M.-G.M. on the squares, because </a:t>
                </a:r>
                <a:r>
                  <a:rPr lang="en-IN" sz="2400">
                    <a:solidFill>
                      <a:srgbClr val="111827"/>
                    </a:solidFill>
                    <a:latin typeface="Cambria Math" panose="02040503050406030204" pitchFamily="18" charset="0"/>
                  </a:rPr>
                  <a:t>$\sum\tan A\ge3\sqrt3$</a:t>
                </a:r>
                <a:r>
                  <a:rPr sz="2400" b="0">
                    <a:solidFill>
                      <a:srgbClr val="111827"/>
                    </a:solidFill>
                    <a:latin typeface="Arial"/>
                  </a:rPr>
                  <a:t> in any triangle.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$OI\parallel BC\iff R\cos A=r\iff\cos B+\cos C=1$</a:t>
                </a:r>
                <a:r>
                  <a:rPr sz="2400" b="0">
                    <a:solidFill>
                      <a:srgbClr val="111827"/>
                    </a:solidFill>
                    <a:latin typeface="Arial"/>
                  </a:rPr>
                  <a:t> (from </a:t>
                </a:r>
                <a:r>
                  <a:rPr lang="en-IN" sz="2400">
                    <a:solidFill>
                      <a:srgbClr val="111827"/>
                    </a:solidFill>
                    <a:latin typeface="Cambria Math" panose="02040503050406030204" pitchFamily="18" charset="0"/>
                  </a:rPr>
                  <a:t>$\cos A+\cos B+\cos C=1+\frac rR$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Napier / Mollweide: </a:t>
                </a:r>
                <a:r>
                  <a:rPr lang="en-IN" sz="2400">
                    <a:solidFill>
                      <a:srgbClr val="111827"/>
                    </a:solidFill>
                    <a:latin typeface="Cambria Math" panose="02040503050406030204" pitchFamily="18" charset="0"/>
                  </a:rPr>
                  <a:t>$\tan\frac{A-B}2=\frac{a-b}{a+b}\cot\frac C2$</a:t>
                </a:r>
                <a:r>
                  <a:rPr sz="2400" b="0">
                    <a:solidFill>
                      <a:srgbClr val="111827"/>
                    </a:solidFill>
                    <a:latin typeface="Arial"/>
                  </a:rPr>
                  <a:t> gives the third side from two sides and </a:t>
                </a:r>
                <a:r>
                  <a:rPr lang="en-IN" sz="2400">
                    <a:solidFill>
                      <a:srgbClr val="111827"/>
                    </a:solidFill>
                    <a:latin typeface="Cambria Math" panose="02040503050406030204" pitchFamily="18" charset="0"/>
                  </a:rPr>
                  <a:t>$\cos(A-B)$</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95757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two circles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having their centres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with radii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respectively, touching each other externally. A circle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with radius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and centre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touches both of them externally.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 (A) 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right angled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oMath>
                </a14:m>
                <a:r>
                  <a:rPr sz="2400" b="0">
                    <a:solidFill>
                      <a:srgbClr val="111827"/>
                    </a:solidFill>
                    <a:latin typeface="Arial"/>
                  </a:rPr>
                  <a:t> is. (B) If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right angled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then. (C) If the common tangent of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their point of contact passes through the centre of circle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then. (D) If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the circles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have the same external common tangent, then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II: (P)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(Q)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𝑟</m:t>
                        </m:r>
                      </m:den>
                    </m:f>
                  </m:oMath>
                </a14:m>
                <a:endParaRPr sz="2400">
                  <a:solidFill>
                    <a:srgbClr val="111827"/>
                  </a:solidFill>
                </a:endParaRPr>
              </a:p>
            </p:txBody>
          </p:sp>
        </mc:Choice>
        <mc:Fallback>
          <p:sp>
            <p:nvSpPr>
              <p:cNvPr id="4" name="Rounded Rectangle 3"/>
              <p:cNvSpPr/>
              <p:nvPr/>
            </p:nvSpPr>
            <p:spPr>
              <a:xfrm>
                <a:off x="731520" y="1280160"/>
                <a:ext cx="10725912" cy="495757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two circles </a:t>
                </a:r>
                <a:r>
                  <a:rPr lang="en-IN" sz="2400">
                    <a:solidFill>
                      <a:srgbClr val="111827"/>
                    </a:solidFill>
                    <a:latin typeface="Cambria Math" panose="02040503050406030204" pitchFamily="18" charset="0"/>
                  </a:rPr>
                  <a:t>$S_1$</a:t>
                </a:r>
                <a:r>
                  <a:rPr sz="2400" b="0">
                    <a:solidFill>
                      <a:srgbClr val="111827"/>
                    </a:solidFill>
                    <a:latin typeface="Arial"/>
                  </a:rPr>
                  <a:t> and </a:t>
                </a:r>
                <a:r>
                  <a:rPr lang="en-IN" sz="2400">
                    <a:solidFill>
                      <a:srgbClr val="111827"/>
                    </a:solidFill>
                    <a:latin typeface="Cambria Math" panose="02040503050406030204" pitchFamily="18" charset="0"/>
                  </a:rPr>
                  <a:t>$S_2$</a:t>
                </a:r>
                <a:r>
                  <a:rPr sz="2400" b="0">
                    <a:solidFill>
                      <a:srgbClr val="111827"/>
                    </a:solidFill>
                    <a:latin typeface="Arial"/>
                  </a:rPr>
                  <a:t> having their centres at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with radii </a:t>
                </a:r>
                <a:r>
                  <a:rPr lang="en-IN" sz="2400">
                    <a:solidFill>
                      <a:srgbClr val="111827"/>
                    </a:solidFill>
                    <a:latin typeface="Cambria Math" panose="02040503050406030204" pitchFamily="18" charset="0"/>
                  </a:rPr>
                  <a:t>$r_1$</a:t>
                </a:r>
                <a:r>
                  <a:rPr sz="2400" b="0">
                    <a:solidFill>
                      <a:srgbClr val="111827"/>
                    </a:solidFill>
                    <a:latin typeface="Arial"/>
                  </a:rPr>
                  <a:t> and </a:t>
                </a:r>
                <a:r>
                  <a:rPr lang="en-IN" sz="2400">
                    <a:solidFill>
                      <a:srgbClr val="111827"/>
                    </a:solidFill>
                    <a:latin typeface="Cambria Math" panose="02040503050406030204" pitchFamily="18" charset="0"/>
                  </a:rPr>
                  <a:t>$r_2$</a:t>
                </a:r>
                <a:r>
                  <a:rPr sz="2400" b="0">
                    <a:solidFill>
                      <a:srgbClr val="111827"/>
                    </a:solidFill>
                    <a:latin typeface="Arial"/>
                  </a:rPr>
                  <a:t> respectively, touching each other externally. A circle </a:t>
                </a:r>
                <a:r>
                  <a:rPr lang="en-IN" sz="2400">
                    <a:solidFill>
                      <a:srgbClr val="111827"/>
                    </a:solidFill>
                    <a:latin typeface="Cambria Math" panose="02040503050406030204" pitchFamily="18" charset="0"/>
                  </a:rPr>
                  <a:t>$S$</a:t>
                </a:r>
                <a:r>
                  <a:rPr sz="2400" b="0">
                    <a:solidFill>
                      <a:srgbClr val="111827"/>
                    </a:solidFill>
                    <a:latin typeface="Arial"/>
                  </a:rPr>
                  <a:t> with radius </a:t>
                </a:r>
                <a:r>
                  <a:rPr lang="en-IN" sz="2400">
                    <a:solidFill>
                      <a:srgbClr val="111827"/>
                    </a:solidFill>
                    <a:latin typeface="Cambria Math" panose="02040503050406030204" pitchFamily="18" charset="0"/>
                  </a:rPr>
                  <a:t>$r$</a:t>
                </a:r>
                <a:r>
                  <a:rPr sz="2400" b="0">
                    <a:solidFill>
                      <a:srgbClr val="111827"/>
                    </a:solidFill>
                    <a:latin typeface="Arial"/>
                  </a:rPr>
                  <a:t> and centre at </a:t>
                </a:r>
                <a:r>
                  <a:rPr lang="en-IN" sz="2400">
                    <a:solidFill>
                      <a:srgbClr val="111827"/>
                    </a:solidFill>
                    <a:latin typeface="Cambria Math" panose="02040503050406030204" pitchFamily="18" charset="0"/>
                  </a:rPr>
                  <a:t>$A$</a:t>
                </a:r>
                <a:r>
                  <a:rPr sz="2400" b="0">
                    <a:solidFill>
                      <a:srgbClr val="111827"/>
                    </a:solidFill>
                    <a:latin typeface="Arial"/>
                  </a:rPr>
                  <a:t> touches both of them externally.</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 (A) If </a:t>
                </a:r>
                <a:r>
                  <a:rPr lang="en-IN" sz="2400">
                    <a:solidFill>
                      <a:srgbClr val="111827"/>
                    </a:solidFill>
                    <a:latin typeface="Cambria Math" panose="02040503050406030204" pitchFamily="18" charset="0"/>
                  </a:rPr>
                  <a:t>$\triangle ABC$</a:t>
                </a:r>
                <a:r>
                  <a:rPr sz="2400" b="0">
                    <a:solidFill>
                      <a:srgbClr val="111827"/>
                    </a:solidFill>
                    <a:latin typeface="Arial"/>
                  </a:rPr>
                  <a:t> is right angled at </a:t>
                </a:r>
                <a:r>
                  <a:rPr lang="en-IN" sz="2400">
                    <a:solidFill>
                      <a:srgbClr val="111827"/>
                    </a:solidFill>
                    <a:latin typeface="Cambria Math" panose="02040503050406030204" pitchFamily="18" charset="0"/>
                  </a:rPr>
                  <a:t>$A$</a:t>
                </a:r>
                <a:r>
                  <a:rPr sz="2400" b="0">
                    <a:solidFill>
                      <a:srgbClr val="111827"/>
                    </a:solidFill>
                    <a:latin typeface="Arial"/>
                  </a:rPr>
                  <a:t>, then </a:t>
                </a:r>
                <a:r>
                  <a:rPr lang="en-IN" sz="2400">
                    <a:solidFill>
                      <a:srgbClr val="111827"/>
                    </a:solidFill>
                    <a:latin typeface="Cambria Math" panose="02040503050406030204" pitchFamily="18" charset="0"/>
                  </a:rPr>
                  <a:t>$\frac{r_2+r}{r_2-r}$</a:t>
                </a:r>
                <a:r>
                  <a:rPr sz="2400" b="0">
                    <a:solidFill>
                      <a:srgbClr val="111827"/>
                    </a:solidFill>
                    <a:latin typeface="Arial"/>
                  </a:rPr>
                  <a:t> is. (B) If </a:t>
                </a:r>
                <a:r>
                  <a:rPr lang="en-IN" sz="2400">
                    <a:solidFill>
                      <a:srgbClr val="111827"/>
                    </a:solidFill>
                    <a:latin typeface="Cambria Math" panose="02040503050406030204" pitchFamily="18" charset="0"/>
                  </a:rPr>
                  <a:t>$\triangle ABC$</a:t>
                </a:r>
                <a:r>
                  <a:rPr sz="2400" b="0">
                    <a:solidFill>
                      <a:srgbClr val="111827"/>
                    </a:solidFill>
                    <a:latin typeface="Arial"/>
                  </a:rPr>
                  <a:t> is right angled at </a:t>
                </a:r>
                <a:r>
                  <a:rPr lang="en-IN" sz="2400">
                    <a:solidFill>
                      <a:srgbClr val="111827"/>
                    </a:solidFill>
                    <a:latin typeface="Cambria Math" panose="02040503050406030204" pitchFamily="18" charset="0"/>
                  </a:rPr>
                  <a:t>$A$</a:t>
                </a:r>
                <a:r>
                  <a:rPr sz="2400" b="0">
                    <a:solidFill>
                      <a:srgbClr val="111827"/>
                    </a:solidFill>
                    <a:latin typeface="Arial"/>
                  </a:rPr>
                  <a:t> and </a:t>
                </a:r>
                <a:r>
                  <a:rPr lang="en-IN" sz="2400">
                    <a:solidFill>
                      <a:srgbClr val="111827"/>
                    </a:solidFill>
                    <a:latin typeface="Cambria Math" panose="02040503050406030204" pitchFamily="18" charset="0"/>
                  </a:rPr>
                  <a:t>$r_1r_2=3+2\sqrt2$</a:t>
                </a:r>
                <a:r>
                  <a:rPr sz="2400" b="0">
                    <a:solidFill>
                      <a:srgbClr val="111827"/>
                    </a:solidFill>
                    <a:latin typeface="Arial"/>
                  </a:rPr>
                  <a:t>, then. (C) If the common tangent of </a:t>
                </a:r>
                <a:r>
                  <a:rPr lang="en-IN" sz="2400">
                    <a:solidFill>
                      <a:srgbClr val="111827"/>
                    </a:solidFill>
                    <a:latin typeface="Cambria Math" panose="02040503050406030204" pitchFamily="18" charset="0"/>
                  </a:rPr>
                  <a:t>$S_1$</a:t>
                </a:r>
                <a:r>
                  <a:rPr sz="2400" b="0">
                    <a:solidFill>
                      <a:srgbClr val="111827"/>
                    </a:solidFill>
                    <a:latin typeface="Arial"/>
                  </a:rPr>
                  <a:t> and </a:t>
                </a:r>
                <a:r>
                  <a:rPr lang="en-IN" sz="2400">
                    <a:solidFill>
                      <a:srgbClr val="111827"/>
                    </a:solidFill>
                    <a:latin typeface="Cambria Math" panose="02040503050406030204" pitchFamily="18" charset="0"/>
                  </a:rPr>
                  <a:t>$S_2$</a:t>
                </a:r>
                <a:r>
                  <a:rPr sz="2400" b="0">
                    <a:solidFill>
                      <a:srgbClr val="111827"/>
                    </a:solidFill>
                    <a:latin typeface="Arial"/>
                  </a:rPr>
                  <a:t> at their point of contact passes through the centre of circle </a:t>
                </a:r>
                <a:r>
                  <a:rPr lang="en-IN" sz="2400">
                    <a:solidFill>
                      <a:srgbClr val="111827"/>
                    </a:solidFill>
                    <a:latin typeface="Cambria Math" panose="02040503050406030204" pitchFamily="18" charset="0"/>
                  </a:rPr>
                  <a:t>$S$</a:t>
                </a:r>
                <a:r>
                  <a:rPr sz="2400" b="0">
                    <a:solidFill>
                      <a:srgbClr val="111827"/>
                    </a:solidFill>
                    <a:latin typeface="Arial"/>
                  </a:rPr>
                  <a:t>, then. (D) If </a:t>
                </a:r>
                <a:r>
                  <a:rPr lang="en-IN" sz="2400">
                    <a:solidFill>
                      <a:srgbClr val="111827"/>
                    </a:solidFill>
                    <a:latin typeface="Cambria Math" panose="02040503050406030204" pitchFamily="18" charset="0"/>
                  </a:rPr>
                  <a:t>$r_1=r_2=R$</a:t>
                </a:r>
                <a:r>
                  <a:rPr sz="2400" b="0">
                    <a:solidFill>
                      <a:srgbClr val="111827"/>
                    </a:solidFill>
                    <a:latin typeface="Arial"/>
                  </a:rPr>
                  <a:t> and the circles </a:t>
                </a:r>
                <a:r>
                  <a:rPr lang="en-IN" sz="2400">
                    <a:solidFill>
                      <a:srgbClr val="111827"/>
                    </a:solidFill>
                    <a:latin typeface="Cambria Math" panose="02040503050406030204" pitchFamily="18" charset="0"/>
                  </a:rPr>
                  <a:t>$S_1$</a:t>
                </a:r>
                <a:r>
                  <a:rPr sz="2400" b="0">
                    <a:solidFill>
                      <a:srgbClr val="111827"/>
                    </a:solidFill>
                    <a:latin typeface="Arial"/>
                  </a:rPr>
                  <a:t>, </a:t>
                </a:r>
                <a:r>
                  <a:rPr lang="en-IN" sz="2400">
                    <a:solidFill>
                      <a:srgbClr val="111827"/>
                    </a:solidFill>
                    <a:latin typeface="Cambria Math" panose="02040503050406030204" pitchFamily="18" charset="0"/>
                  </a:rPr>
                  <a:t>$S_2$</a:t>
                </a:r>
                <a:r>
                  <a:rPr sz="2400" b="0">
                    <a:solidFill>
                      <a:srgbClr val="111827"/>
                    </a:solidFill>
                    <a:latin typeface="Arial"/>
                  </a:rPr>
                  <a:t> and </a:t>
                </a:r>
                <a:r>
                  <a:rPr lang="en-IN" sz="2400">
                    <a:solidFill>
                      <a:srgbClr val="111827"/>
                    </a:solidFill>
                    <a:latin typeface="Cambria Math" panose="02040503050406030204" pitchFamily="18" charset="0"/>
                  </a:rPr>
                  <a:t>$S$</a:t>
                </a:r>
                <a:r>
                  <a:rPr sz="2400" b="0">
                    <a:solidFill>
                      <a:srgbClr val="111827"/>
                    </a:solidFill>
                    <a:latin typeface="Arial"/>
                  </a:rPr>
                  <a:t> have the same external common tangent, then </a:t>
                </a:r>
                <a:r>
                  <a:rPr lang="en-IN" sz="2400">
                    <a:solidFill>
                      <a:srgbClr val="111827"/>
                    </a:solidFill>
                    <a:latin typeface="Cambria Math" panose="02040503050406030204" pitchFamily="18" charset="0"/>
                  </a:rPr>
                  <a:t>$r$</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II: (P) </a:t>
                </a:r>
                <a:r>
                  <a:rPr lang="en-IN" sz="2400">
                    <a:solidFill>
                      <a:srgbClr val="111827"/>
                    </a:solidFill>
                    <a:latin typeface="Cambria Math" panose="02040503050406030204" pitchFamily="18" charset="0"/>
                  </a:rPr>
                  <a:t>$r\ge1$</a:t>
                </a:r>
                <a:r>
                  <a:rPr sz="2400" b="0">
                    <a:solidFill>
                      <a:srgbClr val="111827"/>
                    </a:solidFill>
                    <a:latin typeface="Arial"/>
                  </a:rPr>
                  <a:t> (Q) </a:t>
                </a:r>
                <a:r>
                  <a:rPr lang="en-IN" sz="2400">
                    <a:solidFill>
                      <a:srgbClr val="111827"/>
                    </a:solidFill>
                    <a:latin typeface="Cambria Math" panose="02040503050406030204" pitchFamily="18" charset="0"/>
                  </a:rPr>
                  <a:t>$r_1=r_2$</a:t>
                </a:r>
                <a:r>
                  <a:rPr sz="2400" b="0">
                    <a:solidFill>
                      <a:srgbClr val="111827"/>
                    </a:solidFill>
                    <a:latin typeface="Arial"/>
                  </a:rPr>
                  <a:t> (R) </a:t>
                </a:r>
                <a:r>
                  <a:rPr lang="en-IN" sz="2400">
                    <a:solidFill>
                      <a:srgbClr val="111827"/>
                    </a:solidFill>
                    <a:latin typeface="Cambria Math" panose="02040503050406030204" pitchFamily="18" charset="0"/>
                  </a:rPr>
                  <a:t>$\frac R4$</a:t>
                </a:r>
                <a:r>
                  <a:rPr sz="2400" b="0">
                    <a:solidFill>
                      <a:srgbClr val="111827"/>
                    </a:solidFill>
                    <a:latin typeface="Arial"/>
                  </a:rPr>
                  <a:t> (S) </a:t>
                </a:r>
                <a:r>
                  <a:rPr lang="en-IN" sz="2400">
                    <a:solidFill>
                      <a:srgbClr val="111827"/>
                    </a:solidFill>
                    <a:latin typeface="Cambria Math" panose="02040503050406030204" pitchFamily="18" charset="0"/>
                  </a:rPr>
                  <a:t>$\frac{r_1}r$</a:t>
                </a:r>
                <a:endParaRPr sz="2400">
                  <a:solidFill>
                    <a:srgbClr val="111827"/>
                  </a:solidFill>
                </a:endParaRPr>
              </a:p>
            </p:txBody>
          </p:sp>
        </mc:Fallback>
      </mc:AlternateContent>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Matching List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Circles touching externally: distances between centres and right triangles, Radical axis and common tangents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Right angle at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1</m:t>
                        </m:r>
                      </m:sub>
                    </m:sSub>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gives </a:t>
                </a:r>
                <a14:m>
                  <m:oMath xmlns:m="http://schemas.openxmlformats.org/officeDocument/2006/math">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1</m:t>
                        </m:r>
                      </m:sub>
                    </m:sSub>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2</m:t>
                            </m:r>
                          </m:sub>
                        </m:sSub>
                      </m:e>
                    </m:d>
                  </m:oMath>
                </a14:m>
                <a:r>
                  <a:rPr sz="2400" b="0">
                    <a:solidFill>
                      <a:srgbClr val="78350F"/>
                    </a:solidFill>
                    <a:latin typeface="Arial"/>
                  </a:rPr>
                  <a:t>; for a common tangent line, contact points are </a:t>
                </a:r>
                <a14:m>
                  <m:oMath xmlns:m="http://schemas.openxmlformats.org/officeDocument/2006/math">
                    <m:r>
                      <a:rPr lang="en-IN" sz="2400" i="1">
                        <a:solidFill>
                          <a:srgbClr val="78350F"/>
                        </a:solidFill>
                        <a:latin typeface="Cambria Math" panose="02040503050406030204" pitchFamily="18" charset="0"/>
                      </a:rPr>
                      <m:t>2</m:t>
                    </m:r>
                    <m:rad>
                      <m:radPr>
                        <m:degHide m:val="on"/>
                        <m:ctrlPr>
                          <a:rPr lang="en-IN" sz="2400" i="1">
                            <a:solidFill>
                              <a:srgbClr val="78350F"/>
                            </a:solidFill>
                            <a:latin typeface="Cambria Math" panose="02040503050406030204" pitchFamily="18" charset="0"/>
                          </a:rPr>
                        </m:ctrlPr>
                      </m:radPr>
                      <m:deg/>
                      <m:e>
                        <m:sSub>
                          <m:e>
                            <m:r>
                              <a:rPr lang="en-IN" sz="2400" i="1">
                                <a:solidFill>
                                  <a:srgbClr val="78350F"/>
                                </a:solidFill>
                                <a:latin typeface="Cambria Math" panose="02040503050406030204" pitchFamily="18" charset="0"/>
                              </a:rPr>
                              <m:t>ρ</m:t>
                            </m:r>
                          </m:e>
                          <m:sub>
                            <m:r>
                              <a:rPr lang="en-IN" sz="2400" i="1">
                                <a:solidFill>
                                  <a:srgbClr val="78350F"/>
                                </a:solidFill>
                                <a:latin typeface="Cambria Math" panose="02040503050406030204" pitchFamily="18" charset="0"/>
                              </a:rPr>
                              <m:t>1</m:t>
                            </m:r>
                          </m:sub>
                        </m:sSub>
                        <m:sSub>
                          <m:e>
                            <m:r>
                              <a:rPr lang="en-IN" sz="2400" i="1">
                                <a:solidFill>
                                  <a:srgbClr val="78350F"/>
                                </a:solidFill>
                                <a:latin typeface="Cambria Math" panose="02040503050406030204" pitchFamily="18" charset="0"/>
                              </a:rPr>
                              <m:t>ρ</m:t>
                            </m:r>
                          </m:e>
                          <m:sub>
                            <m:r>
                              <a:rPr lang="en-IN" sz="2400" i="1">
                                <a:solidFill>
                                  <a:srgbClr val="78350F"/>
                                </a:solidFill>
                                <a:latin typeface="Cambria Math" panose="02040503050406030204" pitchFamily="18" charset="0"/>
                              </a:rPr>
                              <m:t>2</m:t>
                            </m:r>
                          </m:sub>
                        </m:sSub>
                      </m:e>
                    </m:rad>
                  </m:oMath>
                </a14:m>
                <a:r>
                  <a:rPr sz="2400" b="0">
                    <a:solidFill>
                      <a:srgbClr val="78350F"/>
                    </a:solidFill>
                    <a:latin typeface="Arial"/>
                  </a:rPr>
                  <a:t> apart.</a:t>
                </a:r>
                <a:endParaRPr sz="2400">
                  <a:solidFill>
                    <a:srgbClr val="78350F"/>
                  </a:solidFill>
                </a:endParaRPr>
              </a:p>
            </p:txBody>
          </p:sp>
        </mc:Choice>
        <mc:Fallback>
          <p:sp>
            <p:nvSpPr>
              <p:cNvPr id="5" name="Rounded Rectangle 4"/>
              <p:cNvSpPr/>
              <p:nvPr/>
            </p:nvSpPr>
            <p:spPr>
              <a:xfrm>
                <a:off x="731520" y="365760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Right angle at </a:t>
                </a:r>
                <a:r>
                  <a:rPr lang="en-IN" sz="2400">
                    <a:solidFill>
                      <a:srgbClr val="78350F"/>
                    </a:solidFill>
                    <a:latin typeface="Cambria Math" panose="02040503050406030204" pitchFamily="18" charset="0"/>
                  </a:rPr>
                  <a:t>$A$</a:t>
                </a:r>
                <a:r>
                  <a:rPr sz="2400" b="0">
                    <a:solidFill>
                      <a:srgbClr val="78350F"/>
                    </a:solidFill>
                    <a:latin typeface="Arial"/>
                  </a:rPr>
                  <a:t> with </a:t>
                </a:r>
                <a:r>
                  <a:rPr lang="en-IN" sz="2400">
                    <a:solidFill>
                      <a:srgbClr val="78350F"/>
                    </a:solidFill>
                    <a:latin typeface="Cambria Math" panose="02040503050406030204" pitchFamily="18" charset="0"/>
                  </a:rPr>
                  <a:t>$AB=r+r_1$</a:t>
                </a:r>
                <a:r>
                  <a:rPr sz="2400" b="0">
                    <a:solidFill>
                      <a:srgbClr val="78350F"/>
                    </a:solidFill>
                    <a:latin typeface="Arial"/>
                  </a:rPr>
                  <a:t>, </a:t>
                </a:r>
                <a:r>
                  <a:rPr lang="en-IN" sz="2400">
                    <a:solidFill>
                      <a:srgbClr val="78350F"/>
                    </a:solidFill>
                    <a:latin typeface="Cambria Math" panose="02040503050406030204" pitchFamily="18" charset="0"/>
                  </a:rPr>
                  <a:t>$AC=r+r_2$</a:t>
                </a:r>
                <a:r>
                  <a:rPr sz="2400" b="0">
                    <a:solidFill>
                      <a:srgbClr val="78350F"/>
                    </a:solidFill>
                    <a:latin typeface="Arial"/>
                  </a:rPr>
                  <a:t>, </a:t>
                </a:r>
                <a:r>
                  <a:rPr lang="en-IN" sz="2400">
                    <a:solidFill>
                      <a:srgbClr val="78350F"/>
                    </a:solidFill>
                    <a:latin typeface="Cambria Math" panose="02040503050406030204" pitchFamily="18" charset="0"/>
                  </a:rPr>
                  <a:t>$BC=r_1+r_2$</a:t>
                </a:r>
                <a:r>
                  <a:rPr sz="2400" b="0">
                    <a:solidFill>
                      <a:srgbClr val="78350F"/>
                    </a:solidFill>
                    <a:latin typeface="Arial"/>
                  </a:rPr>
                  <a:t> gives </a:t>
                </a:r>
                <a:r>
                  <a:rPr lang="en-IN" sz="2400">
                    <a:solidFill>
                      <a:srgbClr val="78350F"/>
                    </a:solidFill>
                    <a:latin typeface="Cambria Math" panose="02040503050406030204" pitchFamily="18" charset="0"/>
                  </a:rPr>
                  <a:t>$r_1r_2=r\left(r+r_1+r_2\right)$</a:t>
                </a:r>
                <a:r>
                  <a:rPr sz="2400" b="0">
                    <a:solidFill>
                      <a:srgbClr val="78350F"/>
                    </a:solidFill>
                    <a:latin typeface="Arial"/>
                  </a:rPr>
                  <a:t>; for a common tangent line, contact points are </a:t>
                </a:r>
                <a:r>
                  <a:rPr lang="en-IN" sz="2400">
                    <a:solidFill>
                      <a:srgbClr val="78350F"/>
                    </a:solidFill>
                    <a:latin typeface="Cambria Math" panose="02040503050406030204" pitchFamily="18" charset="0"/>
                  </a:rPr>
                  <a:t>$2\sqrt{\rho_1\rho_2}$</a:t>
                </a:r>
                <a:r>
                  <a:rPr sz="2400" b="0">
                    <a:solidFill>
                      <a:srgbClr val="78350F"/>
                    </a:solidFill>
                    <a:latin typeface="Arial"/>
                  </a:rPr>
                  <a:t> apart.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With the right angle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$AB=r+r_1$</a:t>
                </a:r>
                <a:r>
                  <a:rPr sz="2400" b="0">
                    <a:solidFill>
                      <a:srgbClr val="111827"/>
                    </a:solidFill>
                    <a:latin typeface="Arial"/>
                  </a:rPr>
                  <a:t>, </a:t>
                </a:r>
                <a:r>
                  <a:rPr lang="en-IN" sz="2400">
                    <a:solidFill>
                      <a:srgbClr val="111827"/>
                    </a:solidFill>
                    <a:latin typeface="Cambria Math" panose="02040503050406030204" pitchFamily="18" charset="0"/>
                  </a:rPr>
                  <a:t>$AC=r+r_2$</a:t>
                </a:r>
                <a:r>
                  <a:rPr sz="2400" b="0">
                    <a:solidFill>
                      <a:srgbClr val="111827"/>
                    </a:solidFill>
                    <a:latin typeface="Arial"/>
                  </a:rPr>
                  <a:t>, </a:t>
                </a:r>
                <a:r>
                  <a:rPr lang="en-IN" sz="2400">
                    <a:solidFill>
                      <a:srgbClr val="111827"/>
                    </a:solidFill>
                    <a:latin typeface="Cambria Math" panose="02040503050406030204" pitchFamily="18" charset="0"/>
                  </a:rPr>
                  <a:t>$BC=r_1+r_2$</a:t>
                </a:r>
                <a:r>
                  <a:rPr sz="2400" b="0">
                    <a:solidFill>
                      <a:srgbClr val="111827"/>
                    </a:solidFill>
                    <a:latin typeface="Arial"/>
                  </a:rPr>
                  <a:t>. With the right angle at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$(r_1+r_2)^2=(r+r_1)^2+(r+r_2)^2$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Sup>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𝑟</m:t>
                        </m:r>
                      </m:den>
                    </m:f>
                  </m:oMath>
                </a14:m>
                <a:r>
                  <a:rPr sz="2400" b="0">
                    <a:solidFill>
                      <a:srgbClr val="111827"/>
                    </a:solidFill>
                    <a:latin typeface="Arial"/>
                  </a:rPr>
                  <a:t>: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From (A): </a:t>
                </a:r>
                <a14:m>
                  <m:oMath xmlns:m="http://schemas.openxmlformats.org/officeDocument/2006/math">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𝑝</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𝑝</m:t>
                            </m:r>
                          </m:e>
                        </m:rad>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𝑝</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(A.M.-G.M.).</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DEcreases as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increases, so it is largest at the least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(i.e.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𝑝</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𝑝</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𝑝</m:t>
                            </m:r>
                          </m:e>
                        </m:rad>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$r_1^2+r_2^2+2r_1r_2=2r^2+r_1^2+r_2^2+2rr_1+2rr_2$</a:t>
                </a:r>
                <a:r>
                  <a:rPr sz="2400" b="0">
                    <a:solidFill>
                      <a:srgbClr val="111827"/>
                    </a:solidFill>
                    <a:latin typeface="Arial"/>
                  </a:rPr>
                  <a:t>, so </a:t>
                </a:r>
                <a:r>
                  <a:rPr lang="en-IN" sz="2400">
                    <a:solidFill>
                      <a:srgbClr val="111827"/>
                    </a:solidFill>
                    <a:latin typeface="Cambria Math" panose="02040503050406030204" pitchFamily="18" charset="0"/>
                  </a:rPr>
                  <a:t>$r_1r_2=r^2+rr_1+rr_2$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$r_1(r_2-r)=r^2+rr_2=r(r+r_2)$</a:t>
                </a:r>
                <a:r>
                  <a:rPr sz="2400" b="0">
                    <a:solidFill>
                      <a:srgbClr val="111827"/>
                    </a:solidFill>
                    <a:latin typeface="Arial"/>
                  </a:rPr>
                  <a:t>, so </a:t>
                </a:r>
                <a:r>
                  <a:rPr lang="en-IN" sz="2400">
                    <a:solidFill>
                      <a:srgbClr val="111827"/>
                    </a:solidFill>
                    <a:latin typeface="Cambria Math" panose="02040503050406030204" pitchFamily="18" charset="0"/>
                  </a:rPr>
                  <a:t>$\frac{r_2+r}{r_2-r}=\frac{r_1}r$</a:t>
                </a:r>
                <a:r>
                  <a:rPr sz="2400" b="0">
                    <a:solidFill>
                      <a:srgbClr val="111827"/>
                    </a:solidFill>
                    <a:latin typeface="Arial"/>
                  </a:rPr>
                  <a:t>: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$r_1r_2=3+2\sqrt2=\left(\sqrt2+1\right)^2=p$</a:t>
                </a:r>
                <a:r>
                  <a:rPr sz="2400" b="0">
                    <a:solidFill>
                      <a:srgbClr val="111827"/>
                    </a:solidFill>
                    <a:latin typeface="Arial"/>
                  </a:rPr>
                  <a:t>. From (A): </a:t>
                </a:r>
                <a:r>
                  <a:rPr lang="en-IN" sz="2400">
                    <a:solidFill>
                      <a:srgbClr val="111827"/>
                    </a:solidFill>
                    <a:latin typeface="Cambria Math" panose="02040503050406030204" pitchFamily="18" charset="0"/>
                  </a:rPr>
                  <a:t>$r^2+r(r_1+r_2)-r_1r_2=0$</a:t>
                </a:r>
                <a:r>
                  <a:rPr sz="2400" b="0">
                    <a:solidFill>
                      <a:srgbClr val="111827"/>
                    </a:solidFill>
                    <a:latin typeface="Arial"/>
                  </a:rPr>
                  <a:t>, so </a:t>
                </a:r>
                <a:r>
                  <a:rPr lang="en-IN" sz="2400">
                    <a:solidFill>
                      <a:srgbClr val="111827"/>
                    </a:solidFill>
                    <a:latin typeface="Cambria Math" panose="02040503050406030204" pitchFamily="18" charset="0"/>
                  </a:rPr>
                  <a:t>$r=\frac{-m+\sqrt{m^2+4p}}2=\frac{2p}{m+\sqrt{m^2+4p}}$</a:t>
                </a:r>
                <a:r>
                  <a:rPr sz="2400" b="0">
                    <a:solidFill>
                      <a:srgbClr val="111827"/>
                    </a:solidFill>
                    <a:latin typeface="Arial"/>
                  </a:rPr>
                  <a:t> where </a:t>
                </a:r>
                <a:r>
                  <a:rPr lang="en-IN" sz="2400">
                    <a:solidFill>
                      <a:srgbClr val="111827"/>
                    </a:solidFill>
                    <a:latin typeface="Cambria Math" panose="02040503050406030204" pitchFamily="18" charset="0"/>
                  </a:rPr>
                  <a:t>$m=r_1+r_2\ge2\sqrt p=2\left(\sqrt2+1\right)$</a:t>
                </a:r>
                <a:r>
                  <a:rPr sz="2400" b="0">
                    <a:solidFill>
                      <a:srgbClr val="111827"/>
                    </a:solidFill>
                    <a:latin typeface="Arial"/>
                  </a:rPr>
                  <a:t> (A.M.-G.M.).</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a:t>
                </a:r>
                <a:r>
                  <a:rPr sz="2400" b="0">
                    <a:solidFill>
                      <a:srgbClr val="111827"/>
                    </a:solidFill>
                    <a:latin typeface="Arial"/>
                  </a:rPr>
                  <a:t> DEcreases as </a:t>
                </a:r>
                <a:r>
                  <a:rPr lang="en-IN" sz="2400">
                    <a:solidFill>
                      <a:srgbClr val="111827"/>
                    </a:solidFill>
                    <a:latin typeface="Cambria Math" panose="02040503050406030204" pitchFamily="18" charset="0"/>
                  </a:rPr>
                  <a:t>$m$</a:t>
                </a:r>
                <a:r>
                  <a:rPr sz="2400" b="0">
                    <a:solidFill>
                      <a:srgbClr val="111827"/>
                    </a:solidFill>
                    <a:latin typeface="Arial"/>
                  </a:rPr>
                  <a:t> increases, so it is largest at the least </a:t>
                </a:r>
                <a:r>
                  <a:rPr lang="en-IN" sz="2400">
                    <a:solidFill>
                      <a:srgbClr val="111827"/>
                    </a:solidFill>
                    <a:latin typeface="Cambria Math" panose="02040503050406030204" pitchFamily="18" charset="0"/>
                  </a:rPr>
                  <a:t>$m=2\left(\sqrt2+1\right)$</a:t>
                </a:r>
                <a:r>
                  <a:rPr sz="2400" b="0">
                    <a:solidFill>
                      <a:srgbClr val="111827"/>
                    </a:solidFill>
                    <a:latin typeface="Arial"/>
                  </a:rPr>
                  <a:t> (i.e. </a:t>
                </a:r>
                <a:r>
                  <a:rPr lang="en-IN" sz="2400">
                    <a:solidFill>
                      <a:srgbClr val="111827"/>
                    </a:solidFill>
                    <a:latin typeface="Cambria Math" panose="02040503050406030204" pitchFamily="18" charset="0"/>
                  </a:rPr>
                  <a:t>$r_1=r_2$</a:t>
                </a:r>
                <a:r>
                  <a:rPr sz="2400" b="0">
                    <a:solidFill>
                      <a:srgbClr val="111827"/>
                    </a:solidFill>
                    <a:latin typeface="Arial"/>
                  </a:rPr>
                  <a:t>): </a:t>
                </a:r>
                <a:r>
                  <a:rPr lang="en-IN" sz="2400">
                    <a:solidFill>
                      <a:srgbClr val="111827"/>
                    </a:solidFill>
                    <a:latin typeface="Cambria Math" panose="02040503050406030204" pitchFamily="18" charset="0"/>
                  </a:rPr>
                  <a:t>$r\le\frac{2p}{2\sqrt p+\sqrt{8p}}=\frac{\sqrt p}{1+\sqrt2}=\frac{\sqrt2+1}{\sqrt2+1}=1$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only when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example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0.77</m:t>
                    </m:r>
                  </m:oMath>
                </a14:m>
                <a:r>
                  <a:rPr sz="2400" b="0">
                    <a:solidFill>
                      <a:srgbClr val="111827"/>
                    </a:solidFill>
                    <a:latin typeface="Arial"/>
                  </a:rPr>
                  <a:t>). The keyed (P)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is therefore not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The common tangent at the point of contact of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is their radical axis;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lies on it, so its tangent lengths to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equal: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𝐵</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Let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(radii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touch the same line. Two touching circles of radii </a:t>
                </a:r>
                <a14:m>
                  <m:oMath xmlns:m="http://schemas.openxmlformats.org/officeDocument/2006/math">
                    <m:sSub>
                      <m:e>
                        <m:r>
                          <a:rPr lang="en-IN" sz="2400" i="1">
                            <a:solidFill>
                              <a:srgbClr val="111827"/>
                            </a:solidFill>
                            <a:latin typeface="Cambria Math" panose="02040503050406030204" pitchFamily="18" charset="0"/>
                          </a:rPr>
                          <m:t>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ρ</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touching a line have their contact points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ρ</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ρ</m:t>
                            </m:r>
                          </m:e>
                          <m:sub>
                            <m:r>
                              <a:rPr lang="en-IN" sz="2400" i="1">
                                <a:solidFill>
                                  <a:srgbClr val="111827"/>
                                </a:solidFill>
                                <a:latin typeface="Cambria Math" panose="02040503050406030204" pitchFamily="18" charset="0"/>
                              </a:rPr>
                              <m:t>2</m:t>
                            </m:r>
                          </m:sub>
                        </m:sSub>
                      </m:e>
                    </m:rad>
                  </m:oMath>
                </a14:m>
                <a:r>
                  <a:rPr sz="2400" b="0">
                    <a:solidFill>
                      <a:srgbClr val="111827"/>
                    </a:solidFill>
                    <a:latin typeface="Arial"/>
                  </a:rPr>
                  <a:t> apart: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oMath>
                </a14:m>
                <a:r>
                  <a:rPr sz="2400" b="0">
                    <a:solidFill>
                      <a:srgbClr val="111827"/>
                    </a:solidFill>
                    <a:latin typeface="Arial"/>
                  </a:rPr>
                  <a:t> apart,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𝑆</m:t>
                    </m:r>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𝑟</m:t>
                        </m:r>
                      </m:e>
                    </m:rad>
                  </m:oMath>
                </a14:m>
                <a:r>
                  <a:rPr sz="2400" b="0">
                    <a:solidFill>
                      <a:srgbClr val="111827"/>
                    </a:solidFill>
                    <a:latin typeface="Arial"/>
                  </a:rPr>
                  <a:t> apart and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𝑟</m:t>
                        </m:r>
                      </m:e>
                    </m:rad>
                  </m:oMath>
                </a14:m>
                <a:r>
                  <a:rPr sz="2400" b="0">
                    <a:solidFill>
                      <a:srgbClr val="111827"/>
                    </a:solidFill>
                    <a:latin typeface="Arial"/>
                  </a:rPr>
                  <a:t> apart.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$r\le1$</a:t>
                </a:r>
                <a:r>
                  <a:rPr sz="2400" b="0">
                    <a:solidFill>
                      <a:srgbClr val="111827"/>
                    </a:solidFill>
                    <a:latin typeface="Arial"/>
                  </a:rPr>
                  <a:t>, with </a:t>
                </a:r>
                <a:r>
                  <a:rPr lang="en-IN" sz="2400">
                    <a:solidFill>
                      <a:srgbClr val="111827"/>
                    </a:solidFill>
                    <a:latin typeface="Cambria Math" panose="02040503050406030204" pitchFamily="18" charset="0"/>
                  </a:rPr>
                  <a:t>$r=1$</a:t>
                </a:r>
                <a:r>
                  <a:rPr sz="2400" b="0">
                    <a:solidFill>
                      <a:srgbClr val="111827"/>
                    </a:solidFill>
                    <a:latin typeface="Arial"/>
                  </a:rPr>
                  <a:t> only when </a:t>
                </a:r>
                <a:r>
                  <a:rPr lang="en-IN" sz="2400">
                    <a:solidFill>
                      <a:srgbClr val="111827"/>
                    </a:solidFill>
                    <a:latin typeface="Cambria Math" panose="02040503050406030204" pitchFamily="18" charset="0"/>
                  </a:rPr>
                  <a:t>$r_1=r_2=\sqrt2+1$</a:t>
                </a:r>
                <a:r>
                  <a:rPr sz="2400" b="0">
                    <a:solidFill>
                      <a:srgbClr val="111827"/>
                    </a:solidFill>
                    <a:latin typeface="Arial"/>
                  </a:rPr>
                  <a:t> (for example </a:t>
                </a:r>
                <a:r>
                  <a:rPr lang="en-IN" sz="2400">
                    <a:solidFill>
                      <a:srgbClr val="111827"/>
                    </a:solidFill>
                    <a:latin typeface="Cambria Math" panose="02040503050406030204" pitchFamily="18" charset="0"/>
                  </a:rPr>
                  <a:t>$r_1=1$</a:t>
                </a:r>
                <a:r>
                  <a:rPr sz="2400" b="0">
                    <a:solidFill>
                      <a:srgbClr val="111827"/>
                    </a:solidFill>
                    <a:latin typeface="Arial"/>
                  </a:rPr>
                  <a:t>, </a:t>
                </a:r>
                <a:r>
                  <a:rPr lang="en-IN" sz="2400">
                    <a:solidFill>
                      <a:srgbClr val="111827"/>
                    </a:solidFill>
                    <a:latin typeface="Cambria Math" panose="02040503050406030204" pitchFamily="18" charset="0"/>
                  </a:rPr>
                  <a:t>$r_2=3+2\sqrt2$</a:t>
                </a:r>
                <a:r>
                  <a:rPr sz="2400" b="0">
                    <a:solidFill>
                      <a:srgbClr val="111827"/>
                    </a:solidFill>
                    <a:latin typeface="Arial"/>
                  </a:rPr>
                  <a:t> gives </a:t>
                </a:r>
                <a:r>
                  <a:rPr lang="en-IN" sz="2400">
                    <a:solidFill>
                      <a:srgbClr val="111827"/>
                    </a:solidFill>
                    <a:latin typeface="Cambria Math" panose="02040503050406030204" pitchFamily="18" charset="0"/>
                  </a:rPr>
                  <a:t>$r\approx0.77$</a:t>
                </a:r>
                <a:r>
                  <a:rPr sz="2400" b="0">
                    <a:solidFill>
                      <a:srgbClr val="111827"/>
                    </a:solidFill>
                    <a:latin typeface="Arial"/>
                  </a:rPr>
                  <a:t>). The keyed (P) '</a:t>
                </a:r>
                <a:r>
                  <a:rPr lang="en-IN" sz="2400">
                    <a:solidFill>
                      <a:srgbClr val="111827"/>
                    </a:solidFill>
                    <a:latin typeface="Cambria Math" panose="02040503050406030204" pitchFamily="18" charset="0"/>
                  </a:rPr>
                  <a:t>$r\ge1$</a:t>
                </a:r>
                <a:r>
                  <a:rPr sz="2400" b="0">
                    <a:solidFill>
                      <a:srgbClr val="111827"/>
                    </a:solidFill>
                    <a:latin typeface="Arial"/>
                  </a:rPr>
                  <a:t>' is therefore not correct.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The common tangent at the point of contact of </a:t>
                </a:r>
                <a:r>
                  <a:rPr lang="en-IN" sz="2400">
                    <a:solidFill>
                      <a:srgbClr val="111827"/>
                    </a:solidFill>
                    <a:latin typeface="Cambria Math" panose="02040503050406030204" pitchFamily="18" charset="0"/>
                  </a:rPr>
                  <a:t>$S_1$</a:t>
                </a:r>
                <a:r>
                  <a:rPr sz="2400" b="0">
                    <a:solidFill>
                      <a:srgbClr val="111827"/>
                    </a:solidFill>
                    <a:latin typeface="Arial"/>
                  </a:rPr>
                  <a:t> and </a:t>
                </a:r>
                <a:r>
                  <a:rPr lang="en-IN" sz="2400">
                    <a:solidFill>
                      <a:srgbClr val="111827"/>
                    </a:solidFill>
                    <a:latin typeface="Cambria Math" panose="02040503050406030204" pitchFamily="18" charset="0"/>
                  </a:rPr>
                  <a:t>$S_2$</a:t>
                </a:r>
                <a:r>
                  <a:rPr sz="2400" b="0">
                    <a:solidFill>
                      <a:srgbClr val="111827"/>
                    </a:solidFill>
                    <a:latin typeface="Arial"/>
                  </a:rPr>
                  <a:t> is their radical axis; </a:t>
                </a:r>
                <a:r>
                  <a:rPr lang="en-IN" sz="2400">
                    <a:solidFill>
                      <a:srgbClr val="111827"/>
                    </a:solidFill>
                    <a:latin typeface="Cambria Math" panose="02040503050406030204" pitchFamily="18" charset="0"/>
                  </a:rPr>
                  <a:t>$A$</a:t>
                </a:r>
                <a:r>
                  <a:rPr sz="2400" b="0">
                    <a:solidFill>
                      <a:srgbClr val="111827"/>
                    </a:solidFill>
                    <a:latin typeface="Arial"/>
                  </a:rPr>
                  <a:t> lies on it, so its tangent lengths to </a:t>
                </a:r>
                <a:r>
                  <a:rPr lang="en-IN" sz="2400">
                    <a:solidFill>
                      <a:srgbClr val="111827"/>
                    </a:solidFill>
                    <a:latin typeface="Cambria Math" panose="02040503050406030204" pitchFamily="18" charset="0"/>
                  </a:rPr>
                  <a:t>$S_1$</a:t>
                </a:r>
                <a:r>
                  <a:rPr sz="2400" b="0">
                    <a:solidFill>
                      <a:srgbClr val="111827"/>
                    </a:solidFill>
                    <a:latin typeface="Arial"/>
                  </a:rPr>
                  <a:t> and </a:t>
                </a:r>
                <a:r>
                  <a:rPr lang="en-IN" sz="2400">
                    <a:solidFill>
                      <a:srgbClr val="111827"/>
                    </a:solidFill>
                    <a:latin typeface="Cambria Math" panose="02040503050406030204" pitchFamily="18" charset="0"/>
                  </a:rPr>
                  <a:t>$S_2$</a:t>
                </a:r>
                <a:r>
                  <a:rPr sz="2400" b="0">
                    <a:solidFill>
                      <a:srgbClr val="111827"/>
                    </a:solidFill>
                    <a:latin typeface="Arial"/>
                  </a:rPr>
                  <a:t> are equal: </a:t>
                </a:r>
                <a:r>
                  <a:rPr lang="en-IN" sz="2400">
                    <a:solidFill>
                      <a:srgbClr val="111827"/>
                    </a:solidFill>
                    <a:latin typeface="Cambria Math" panose="02040503050406030204" pitchFamily="18" charset="0"/>
                  </a:rPr>
                  <a:t>$AB^2-r_1^2=AC^2-r_2^2$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$(r+r_1)^2-r_1^2=(r+r_2)^2-r_2^2\Rightarrow r^2+2rr_1=r^2+2rr_2\Rightarrow r_1=r_2$</a:t>
                </a:r>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Let </a:t>
                </a:r>
                <a:r>
                  <a:rPr lang="en-IN" sz="2400">
                    <a:solidFill>
                      <a:srgbClr val="111827"/>
                    </a:solidFill>
                    <a:latin typeface="Cambria Math" panose="02040503050406030204" pitchFamily="18" charset="0"/>
                  </a:rPr>
                  <a:t>$S_1$</a:t>
                </a:r>
                <a:r>
                  <a:rPr sz="2400" b="0">
                    <a:solidFill>
                      <a:srgbClr val="111827"/>
                    </a:solidFill>
                    <a:latin typeface="Arial"/>
                  </a:rPr>
                  <a:t>, </a:t>
                </a:r>
                <a:r>
                  <a:rPr lang="en-IN" sz="2400">
                    <a:solidFill>
                      <a:srgbClr val="111827"/>
                    </a:solidFill>
                    <a:latin typeface="Cambria Math" panose="02040503050406030204" pitchFamily="18" charset="0"/>
                  </a:rPr>
                  <a:t>$S_2$</a:t>
                </a:r>
                <a:r>
                  <a:rPr sz="2400" b="0">
                    <a:solidFill>
                      <a:srgbClr val="111827"/>
                    </a:solidFill>
                    <a:latin typeface="Arial"/>
                  </a:rPr>
                  <a:t>, </a:t>
                </a:r>
                <a:r>
                  <a:rPr lang="en-IN" sz="2400">
                    <a:solidFill>
                      <a:srgbClr val="111827"/>
                    </a:solidFill>
                    <a:latin typeface="Cambria Math" panose="02040503050406030204" pitchFamily="18" charset="0"/>
                  </a:rPr>
                  <a:t>$S$</a:t>
                </a:r>
                <a:r>
                  <a:rPr sz="2400" b="0">
                    <a:solidFill>
                      <a:srgbClr val="111827"/>
                    </a:solidFill>
                    <a:latin typeface="Arial"/>
                  </a:rPr>
                  <a:t> (radii </a:t>
                </a:r>
                <a:r>
                  <a:rPr lang="en-IN" sz="2400">
                    <a:solidFill>
                      <a:srgbClr val="111827"/>
                    </a:solidFill>
                    <a:latin typeface="Cambria Math" panose="02040503050406030204" pitchFamily="18" charset="0"/>
                  </a:rPr>
                  <a:t>$r_1=r_2=R$</a:t>
                </a:r>
                <a:r>
                  <a:rPr sz="2400" b="0">
                    <a:solidFill>
                      <a:srgbClr val="111827"/>
                    </a:solidFill>
                    <a:latin typeface="Arial"/>
                  </a:rPr>
                  <a:t> and </a:t>
                </a:r>
                <a:r>
                  <a:rPr lang="en-IN" sz="2400">
                    <a:solidFill>
                      <a:srgbClr val="111827"/>
                    </a:solidFill>
                    <a:latin typeface="Cambria Math" panose="02040503050406030204" pitchFamily="18" charset="0"/>
                  </a:rPr>
                  <a:t>$r$</a:t>
                </a:r>
                <a:r>
                  <a:rPr sz="2400" b="0">
                    <a:solidFill>
                      <a:srgbClr val="111827"/>
                    </a:solidFill>
                    <a:latin typeface="Arial"/>
                  </a:rPr>
                  <a:t>) touch the same line. Two touching circles of radii </a:t>
                </a:r>
                <a:r>
                  <a:rPr lang="en-IN" sz="2400">
                    <a:solidFill>
                      <a:srgbClr val="111827"/>
                    </a:solidFill>
                    <a:latin typeface="Cambria Math" panose="02040503050406030204" pitchFamily="18" charset="0"/>
                  </a:rPr>
                  <a:t>$\rho_1,\rho_2$</a:t>
                </a:r>
                <a:r>
                  <a:rPr sz="2400" b="0">
                    <a:solidFill>
                      <a:srgbClr val="111827"/>
                    </a:solidFill>
                    <a:latin typeface="Arial"/>
                  </a:rPr>
                  <a:t> touching a line have their contact points </a:t>
                </a:r>
                <a:r>
                  <a:rPr lang="en-IN" sz="2400">
                    <a:solidFill>
                      <a:srgbClr val="111827"/>
                    </a:solidFill>
                    <a:latin typeface="Cambria Math" panose="02040503050406030204" pitchFamily="18" charset="0"/>
                  </a:rPr>
                  <a:t>$2\sqrt{\rho_1\rho_2}$</a:t>
                </a:r>
                <a:r>
                  <a:rPr sz="2400" b="0">
                    <a:solidFill>
                      <a:srgbClr val="111827"/>
                    </a:solidFill>
                    <a:latin typeface="Arial"/>
                  </a:rPr>
                  <a:t> apart: </a:t>
                </a:r>
                <a:r>
                  <a:rPr lang="en-IN" sz="2400">
                    <a:solidFill>
                      <a:srgbClr val="111827"/>
                    </a:solidFill>
                    <a:latin typeface="Cambria Math" panose="02040503050406030204" pitchFamily="18" charset="0"/>
                  </a:rPr>
                  <a:t>$S_1,S_2$</a:t>
                </a:r>
                <a:r>
                  <a:rPr sz="2400" b="0">
                    <a:solidFill>
                      <a:srgbClr val="111827"/>
                    </a:solidFill>
                    <a:latin typeface="Arial"/>
                  </a:rPr>
                  <a:t> are </a:t>
                </a:r>
                <a:r>
                  <a:rPr lang="en-IN" sz="2400">
                    <a:solidFill>
                      <a:srgbClr val="111827"/>
                    </a:solidFill>
                    <a:latin typeface="Cambria Math" panose="02040503050406030204" pitchFamily="18" charset="0"/>
                  </a:rPr>
                  <a:t>$2R$</a:t>
                </a:r>
                <a:r>
                  <a:rPr sz="2400" b="0">
                    <a:solidFill>
                      <a:srgbClr val="111827"/>
                    </a:solidFill>
                    <a:latin typeface="Arial"/>
                  </a:rPr>
                  <a:t> apart, </a:t>
                </a:r>
                <a:r>
                  <a:rPr lang="en-IN" sz="2400">
                    <a:solidFill>
                      <a:srgbClr val="111827"/>
                    </a:solidFill>
                    <a:latin typeface="Cambria Math" panose="02040503050406030204" pitchFamily="18" charset="0"/>
                  </a:rPr>
                  <a:t>$S_1,S$</a:t>
                </a:r>
                <a:r>
                  <a:rPr sz="2400" b="0">
                    <a:solidFill>
                      <a:srgbClr val="111827"/>
                    </a:solidFill>
                    <a:latin typeface="Arial"/>
                  </a:rPr>
                  <a:t> are </a:t>
                </a:r>
                <a:r>
                  <a:rPr lang="en-IN" sz="2400">
                    <a:solidFill>
                      <a:srgbClr val="111827"/>
                    </a:solidFill>
                    <a:latin typeface="Cambria Math" panose="02040503050406030204" pitchFamily="18" charset="0"/>
                  </a:rPr>
                  <a:t>$2\sqrt{Rr}$</a:t>
                </a:r>
                <a:r>
                  <a:rPr sz="2400" b="0">
                    <a:solidFill>
                      <a:srgbClr val="111827"/>
                    </a:solidFill>
                    <a:latin typeface="Arial"/>
                  </a:rPr>
                  <a:t> apart and </a:t>
                </a:r>
                <a:r>
                  <a:rPr lang="en-IN" sz="2400">
                    <a:solidFill>
                      <a:srgbClr val="111827"/>
                    </a:solidFill>
                    <a:latin typeface="Cambria Math" panose="02040503050406030204" pitchFamily="18" charset="0"/>
                  </a:rPr>
                  <a:t>$S,S_2$</a:t>
                </a:r>
                <a:r>
                  <a:rPr sz="2400" b="0">
                    <a:solidFill>
                      <a:srgbClr val="111827"/>
                    </a:solidFill>
                    <a:latin typeface="Arial"/>
                  </a:rPr>
                  <a:t> are </a:t>
                </a:r>
                <a:r>
                  <a:rPr lang="en-IN" sz="2400">
                    <a:solidFill>
                      <a:srgbClr val="111827"/>
                    </a:solidFill>
                    <a:latin typeface="Cambria Math" panose="02040503050406030204" pitchFamily="18" charset="0"/>
                  </a:rPr>
                  <a:t>$2\sqrt{Rr}$</a:t>
                </a:r>
                <a:r>
                  <a:rPr sz="2400" b="0">
                    <a:solidFill>
                      <a:srgbClr val="111827"/>
                    </a:solidFill>
                    <a:latin typeface="Arial"/>
                  </a:rPr>
                  <a:t> apart.</a:t>
                </a:r>
                <a:endParaRPr sz="2400">
                  <a:solidFill>
                    <a:srgbClr val="111827"/>
                  </a:solidFill>
                </a:endParaRPr>
              </a:p>
            </p:txBody>
          </p:sp>
        </mc:Fallback>
      </mc:AlternateContent>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lies between: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𝑟</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𝑟</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𝑅</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(R). (In general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e>
                        </m:rad>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num>
                      <m:den>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e>
                                </m:rad>
                              </m:e>
                            </m:d>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as in the PDF.)</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a:t>
                </a:r>
                <a:r>
                  <a:rPr sz="2400" b="0">
                    <a:solidFill>
                      <a:srgbClr val="111827"/>
                    </a:solidFill>
                    <a:latin typeface="Arial"/>
                  </a:rPr>
                  <a:t> lies between: </a:t>
                </a:r>
                <a:r>
                  <a:rPr lang="en-IN" sz="2400">
                    <a:solidFill>
                      <a:srgbClr val="111827"/>
                    </a:solidFill>
                    <a:latin typeface="Cambria Math" panose="02040503050406030204" pitchFamily="18" charset="0"/>
                  </a:rPr>
                  <a:t>$2\sqrt{Rr}+2\sqrt{Rr}=2R\Rightarrow\sqrt r=\frac{\sqrt R}2$</a:t>
                </a:r>
                <a:r>
                  <a:rPr sz="2400" b="0">
                    <a:solidFill>
                      <a:srgbClr val="111827"/>
                    </a:solidFill>
                    <a:latin typeface="Arial"/>
                  </a:rPr>
                  <a:t>, so </a:t>
                </a:r>
                <a:r>
                  <a:rPr lang="en-IN" sz="2400">
                    <a:solidFill>
                      <a:srgbClr val="111827"/>
                    </a:solidFill>
                    <a:latin typeface="Cambria Math" panose="02040503050406030204" pitchFamily="18" charset="0"/>
                  </a:rPr>
                  <a:t>$r=\frac R4$</a:t>
                </a:r>
                <a:r>
                  <a:rPr sz="2400" b="0">
                    <a:solidFill>
                      <a:srgbClr val="111827"/>
                    </a:solidFill>
                    <a:latin typeface="Arial"/>
                  </a:rPr>
                  <a:t>: (R). (In general </a:t>
                </a:r>
                <a:r>
                  <a:rPr lang="en-IN" sz="2400">
                    <a:solidFill>
                      <a:srgbClr val="111827"/>
                    </a:solidFill>
                    <a:latin typeface="Cambria Math" panose="02040503050406030204" pitchFamily="18" charset="0"/>
                  </a:rPr>
                  <a:t>$\frac1{\sqrt r}=\frac1{\sqrt{r_1}}+\frac1{\sqrt{r_2}}$</a:t>
                </a:r>
                <a:r>
                  <a:rPr sz="2400" b="0">
                    <a:solidFill>
                      <a:srgbClr val="111827"/>
                    </a:solidFill>
                    <a:latin typeface="Arial"/>
                  </a:rPr>
                  <a:t>, i.e. </a:t>
                </a:r>
                <a:r>
                  <a:rPr lang="en-IN" sz="2400">
                    <a:solidFill>
                      <a:srgbClr val="111827"/>
                    </a:solidFill>
                    <a:latin typeface="Cambria Math" panose="02040503050406030204" pitchFamily="18" charset="0"/>
                  </a:rPr>
                  <a:t>$r=\frac{r_1r_2}{\left(\sqrt{r_1}+\sqrt{r_2}\right)^2}$</a:t>
                </a:r>
                <a:r>
                  <a:rPr sz="2400" b="0">
                    <a:solidFill>
                      <a:srgbClr val="111827"/>
                    </a:solidFill>
                    <a:latin typeface="Arial"/>
                  </a:rPr>
                  <a:t>, as in the PDF.)</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S; (B) P as keyed (but the correct relation is </a:t>
                </a:r>
                <a14:m>
                  <m:oMath xmlns:m="http://schemas.openxmlformats.org/officeDocument/2006/math">
                    <m:r>
                      <a:rPr lang="en-IN" sz="2800" i="1">
                        <a:solidFill>
                          <a:srgbClr val="15803D"/>
                        </a:solidFill>
                        <a:latin typeface="Cambria Math" panose="02040503050406030204" pitchFamily="18" charset="0"/>
                      </a:rPr>
                      <m:t>𝑟</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r>
                  <a:rPr sz="2800" b="1">
                    <a:solidFill>
                      <a:srgbClr val="15803D"/>
                    </a:solidFill>
                    <a:latin typeface="Arial"/>
                  </a:rPr>
                  <a:t>, so no listed option is right, see note); (C) Q; (D) R</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S; (B) P as keyed (but the correct relation is </a:t>
                </a:r>
                <a:r>
                  <a:rPr lang="en-IN" sz="2800">
                    <a:solidFill>
                      <a:srgbClr val="15803D"/>
                    </a:solidFill>
                    <a:latin typeface="Cambria Math" panose="02040503050406030204" pitchFamily="18" charset="0"/>
                  </a:rPr>
                  <a:t>$r\le1$</a:t>
                </a:r>
                <a:r>
                  <a:rPr sz="2800" b="1">
                    <a:solidFill>
                      <a:srgbClr val="15803D"/>
                    </a:solidFill>
                    <a:latin typeface="Arial"/>
                  </a:rPr>
                  <a:t>, so no listed option is right, see note); (C) Q; (D) R</a:t>
                </a:r>
                <a:endParaRPr sz="2800">
                  <a:solidFill>
                    <a:srgbClr val="15803D"/>
                  </a:solidFill>
                </a:endParaRPr>
              </a:p>
            </p:txBody>
          </p:sp>
        </mc:Fallback>
      </mc:AlternateContent>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 Parametrise </a:t>
                </a:r>
                <a14:m>
                  <m:oMath xmlns:m="http://schemas.openxmlformats.org/officeDocument/2006/math">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𝑟</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m:t>
                        </m:r>
                      </m:e>
                    </m:ra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cosh</m:t>
                    </m:r>
                    <m:r>
                      <a:rPr lang="en-IN" sz="2400" i="1">
                        <a:solidFill>
                          <a:srgbClr val="78350F"/>
                        </a:solidFill>
                        <a:latin typeface="Cambria Math" panose="02040503050406030204" pitchFamily="18" charset="0"/>
                      </a:rPr>
                      <m:t>𝑡</m:t>
                    </m:r>
                  </m:oMath>
                </a14:m>
                <a:r>
                  <a:rPr sz="2400" b="0">
                    <a:solidFill>
                      <a:srgbClr val="78350F"/>
                    </a:solidFill>
                    <a:latin typeface="Arial"/>
                  </a:rPr>
                  <a:t> to see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at once; (D) Descartes' circle theorem with the line as a circle of curvature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 Parametrise </a:t>
                </a:r>
                <a:r>
                  <a:rPr lang="en-IN" sz="2400">
                    <a:solidFill>
                      <a:srgbClr val="78350F"/>
                    </a:solidFill>
                    <a:latin typeface="Cambria Math" panose="02040503050406030204" pitchFamily="18" charset="0"/>
                  </a:rPr>
                  <a:t>$r_1+r_2=2(\sqrt2+1)\cosh t$</a:t>
                </a:r>
                <a:r>
                  <a:rPr sz="2400" b="0">
                    <a:solidFill>
                      <a:srgbClr val="78350F"/>
                    </a:solidFill>
                    <a:latin typeface="Arial"/>
                  </a:rPr>
                  <a:t> to see </a:t>
                </a:r>
                <a:r>
                  <a:rPr lang="en-IN" sz="2400">
                    <a:solidFill>
                      <a:srgbClr val="78350F"/>
                    </a:solidFill>
                    <a:latin typeface="Cambria Math" panose="02040503050406030204" pitchFamily="18" charset="0"/>
                  </a:rPr>
                  <a:t>$r\le1$</a:t>
                </a:r>
                <a:r>
                  <a:rPr sz="2400" b="0">
                    <a:solidFill>
                      <a:srgbClr val="78350F"/>
                    </a:solidFill>
                    <a:latin typeface="Arial"/>
                  </a:rPr>
                  <a:t> at once; (D) Descartes' circle theorem with the line as a circle of curvature </a:t>
                </a:r>
                <a:r>
                  <a:rPr lang="en-IN" sz="2400">
                    <a:solidFill>
                      <a:srgbClr val="78350F"/>
                    </a:solidFill>
                    <a:latin typeface="Cambria Math" panose="02040503050406030204" pitchFamily="18" charset="0"/>
                  </a:rPr>
                  <a: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With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write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𝑝</m:t>
                        </m:r>
                      </m:e>
                    </m:rad>
                    <m:r>
                      <m:rPr>
                        <m:sty m:val="p"/>
                      </m:rPr>
                      <a:rPr lang="en-IN" sz="2400">
                        <a:solidFill>
                          <a:srgbClr val="111827"/>
                        </a:solidFill>
                        <a:latin typeface="Cambria Math" panose="02040503050406030204" pitchFamily="18" charset="0"/>
                      </a:rPr>
                      <m:t>cosh</m:t>
                    </m:r>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𝑝</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cosh</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m:rPr>
                                    <m:sty m:val="p"/>
                                  </m:rPr>
                                  <a:rPr lang="en-IN" sz="2400">
                                    <a:solidFill>
                                      <a:srgbClr val="111827"/>
                                    </a:solidFill>
                                    <a:latin typeface="Cambria Math" panose="02040503050406030204" pitchFamily="18" charset="0"/>
                                  </a:rPr>
                                  <m:t>cosh</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denominator is at least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(its value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grows with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equality only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Hence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not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With </a:t>
                </a:r>
                <a:r>
                  <a:rPr lang="en-IN" sz="2400">
                    <a:solidFill>
                      <a:srgbClr val="111827"/>
                    </a:solidFill>
                    <a:latin typeface="Cambria Math" panose="02040503050406030204" pitchFamily="18" charset="0"/>
                  </a:rPr>
                  <a:t>$p=r_1r_2=\left(\sqrt2+1\right)^2$</a:t>
                </a:r>
                <a:r>
                  <a:rPr sz="2400" b="0">
                    <a:solidFill>
                      <a:srgbClr val="111827"/>
                    </a:solidFill>
                    <a:latin typeface="Arial"/>
                  </a:rPr>
                  <a:t> write </a:t>
                </a:r>
                <a:r>
                  <a:rPr lang="en-IN" sz="2400">
                    <a:solidFill>
                      <a:srgbClr val="111827"/>
                    </a:solidFill>
                    <a:latin typeface="Cambria Math" panose="02040503050406030204" pitchFamily="18" charset="0"/>
                  </a:rPr>
                  <a:t>$r_1+r_2=2\sqrt p\cosh t$</a:t>
                </a:r>
                <a:r>
                  <a:rPr sz="2400" b="0">
                    <a:solidFill>
                      <a:srgbClr val="111827"/>
                    </a:solidFill>
                    <a:latin typeface="Arial"/>
                  </a:rPr>
                  <a:t> (</a:t>
                </a:r>
                <a:r>
                  <a:rPr lang="en-IN" sz="2400">
                    <a:solidFill>
                      <a:srgbClr val="111827"/>
                    </a:solidFill>
                    <a:latin typeface="Cambria Math" panose="02040503050406030204" pitchFamily="18" charset="0"/>
                  </a:rPr>
                  <a:t>$t\ge0$</a:t>
                </a:r>
                <a:r>
                  <a:rPr sz="2400" b="0">
                    <a:solidFill>
                      <a:srgbClr val="111827"/>
                    </a:solidFill>
                    <a:latin typeface="Arial"/>
                  </a:rPr>
                  <a:t>). Then </a:t>
                </a:r>
                <a:r>
                  <a:rPr lang="en-IN" sz="2400">
                    <a:solidFill>
                      <a:srgbClr val="111827"/>
                    </a:solidFill>
                    <a:latin typeface="Cambria Math" panose="02040503050406030204" pitchFamily="18" charset="0"/>
                  </a:rPr>
                  <a:t>$r=\frac{2p}{m+\sqrt{m^2+4p}}=\frac{\sqrt2+1}{\cosh t+\sqrt{\cosh^2t+1}}$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denominator is at least </a:t>
                </a:r>
                <a:r>
                  <a:rPr lang="en-IN" sz="2400">
                    <a:solidFill>
                      <a:srgbClr val="111827"/>
                    </a:solidFill>
                    <a:latin typeface="Cambria Math" panose="02040503050406030204" pitchFamily="18" charset="0"/>
                  </a:rPr>
                  <a:t>$1+\sqrt2$</a:t>
                </a:r>
                <a:r>
                  <a:rPr sz="2400" b="0">
                    <a:solidFill>
                      <a:srgbClr val="111827"/>
                    </a:solidFill>
                    <a:latin typeface="Arial"/>
                  </a:rPr>
                  <a:t> (its value at </a:t>
                </a:r>
                <a:r>
                  <a:rPr lang="en-IN" sz="2400">
                    <a:solidFill>
                      <a:srgbClr val="111827"/>
                    </a:solidFill>
                    <a:latin typeface="Cambria Math" panose="02040503050406030204" pitchFamily="18" charset="0"/>
                  </a:rPr>
                  <a:t>$t=0$</a:t>
                </a:r>
                <a:r>
                  <a:rPr sz="2400" b="0">
                    <a:solidFill>
                      <a:srgbClr val="111827"/>
                    </a:solidFill>
                    <a:latin typeface="Arial"/>
                  </a:rPr>
                  <a:t>) and grows with </a:t>
                </a:r>
                <a:r>
                  <a:rPr lang="en-IN" sz="2400">
                    <a:solidFill>
                      <a:srgbClr val="111827"/>
                    </a:solidFill>
                    <a:latin typeface="Cambria Math" panose="02040503050406030204" pitchFamily="18" charset="0"/>
                  </a:rPr>
                  <a:t>$t$</a:t>
                </a:r>
                <a:r>
                  <a:rPr sz="2400" b="0">
                    <a:solidFill>
                      <a:srgbClr val="111827"/>
                    </a:solidFill>
                    <a:latin typeface="Arial"/>
                  </a:rPr>
                  <a:t>, so </a:t>
                </a:r>
                <a:r>
                  <a:rPr lang="en-IN" sz="2400">
                    <a:solidFill>
                      <a:srgbClr val="111827"/>
                    </a:solidFill>
                    <a:latin typeface="Cambria Math" panose="02040503050406030204" pitchFamily="18" charset="0"/>
                  </a:rPr>
                  <a:t>$r\le\frac{\sqrt2+1}{1+\sqrt2}=1$</a:t>
                </a:r>
                <a:r>
                  <a:rPr sz="2400" b="0">
                    <a:solidFill>
                      <a:srgbClr val="111827"/>
                    </a:solidFill>
                    <a:latin typeface="Arial"/>
                  </a:rPr>
                  <a:t>, with equality only at </a:t>
                </a:r>
                <a:r>
                  <a:rPr lang="en-IN" sz="2400">
                    <a:solidFill>
                      <a:srgbClr val="111827"/>
                    </a:solidFill>
                    <a:latin typeface="Cambria Math" panose="02040503050406030204" pitchFamily="18" charset="0"/>
                  </a:rPr>
                  <a:t>$t=0$</a:t>
                </a:r>
                <a:r>
                  <a:rPr sz="2400" b="0">
                    <a:solidFill>
                      <a:srgbClr val="111827"/>
                    </a:solidFill>
                    <a:latin typeface="Arial"/>
                  </a:rPr>
                  <a:t>, i.e. </a:t>
                </a:r>
                <a:r>
                  <a:rPr lang="en-IN" sz="2400">
                    <a:solidFill>
                      <a:srgbClr val="111827"/>
                    </a:solidFill>
                    <a:latin typeface="Cambria Math" panose="02040503050406030204" pitchFamily="18" charset="0"/>
                  </a:rPr>
                  <a:t>$r_1=r_2$</a:t>
                </a:r>
                <a:r>
                  <a:rPr sz="2400" b="0">
                    <a:solidFill>
                      <a:srgbClr val="111827"/>
                    </a:solidFill>
                    <a:latin typeface="Arial"/>
                  </a:rPr>
                  <a:t>. Hence </a:t>
                </a:r>
                <a:r>
                  <a:rPr lang="en-IN" sz="2400">
                    <a:solidFill>
                      <a:srgbClr val="111827"/>
                    </a:solidFill>
                    <a:latin typeface="Cambria Math" panose="02040503050406030204" pitchFamily="18" charset="0"/>
                  </a:rPr>
                  <a:t>$r\le1$</a:t>
                </a:r>
                <a:r>
                  <a:rPr sz="2400" b="0">
                    <a:solidFill>
                      <a:srgbClr val="111827"/>
                    </a:solidFill>
                    <a:latin typeface="Arial"/>
                  </a:rPr>
                  <a:t>, not </a:t>
                </a:r>
                <a:r>
                  <a:rPr lang="en-IN" sz="2400">
                    <a:solidFill>
                      <a:srgbClr val="111827"/>
                    </a:solidFill>
                    <a:latin typeface="Cambria Math" panose="02040503050406030204" pitchFamily="18" charset="0"/>
                  </a:rPr>
                  <a:t>$r\ge1$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Descartes' theorem for two mutually tangent circles and a line tangent to both, plus a third circle in the gap: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e>
                    </m:rad>
                  </m:oMath>
                </a14:m>
                <a:r>
                  <a:rPr sz="2400" b="0">
                    <a:solidFill>
                      <a:srgbClr val="111827"/>
                    </a:solidFill>
                    <a:latin typeface="Arial"/>
                  </a:rPr>
                  <a:t> with curvatures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ρ</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𝑘</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𝑅</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𝑟</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𝑅</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𝑅</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𝑅</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𝑅</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and (C) are as in the main solution.</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Descartes' theorem for two mutually tangent circles and a line tangent to both, plus a third circle in the gap: </a:t>
                </a:r>
                <a:r>
                  <a:rPr lang="en-IN" sz="2400">
                    <a:solidFill>
                      <a:srgbClr val="111827"/>
                    </a:solidFill>
                    <a:latin typeface="Cambria Math" panose="02040503050406030204" pitchFamily="18" charset="0"/>
                  </a:rPr>
                  <a:t>$k=k_1+k_2+2\sqrt{k_1k_2}$</a:t>
                </a:r>
                <a:r>
                  <a:rPr sz="2400" b="0">
                    <a:solidFill>
                      <a:srgbClr val="111827"/>
                    </a:solidFill>
                    <a:latin typeface="Arial"/>
                  </a:rPr>
                  <a:t> with curvatures </a:t>
                </a:r>
                <a:r>
                  <a:rPr lang="en-IN" sz="2400">
                    <a:solidFill>
                      <a:srgbClr val="111827"/>
                    </a:solidFill>
                    <a:latin typeface="Cambria Math" panose="02040503050406030204" pitchFamily="18" charset="0"/>
                  </a:rPr>
                  <a:t>$k=\frac1\rho$</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$k_1=k_2=\frac1R$</a:t>
                </a:r>
                <a:r>
                  <a:rPr sz="2400" b="0">
                    <a:solidFill>
                      <a:srgbClr val="111827"/>
                    </a:solidFill>
                    <a:latin typeface="Arial"/>
                  </a:rPr>
                  <a:t>: </a:t>
                </a:r>
                <a:r>
                  <a:rPr lang="en-IN" sz="2400">
                    <a:solidFill>
                      <a:srgbClr val="111827"/>
                    </a:solidFill>
                    <a:latin typeface="Cambria Math" panose="02040503050406030204" pitchFamily="18" charset="0"/>
                  </a:rPr>
                  <a:t>$\frac1r=\frac2R+\frac2R=\frac4R$</a:t>
                </a:r>
                <a:r>
                  <a:rPr sz="2400" b="0">
                    <a:solidFill>
                      <a:srgbClr val="111827"/>
                    </a:solidFill>
                    <a:latin typeface="Arial"/>
                  </a:rPr>
                  <a:t>, so </a:t>
                </a:r>
                <a:r>
                  <a:rPr lang="en-IN" sz="2400">
                    <a:solidFill>
                      <a:srgbClr val="111827"/>
                    </a:solidFill>
                    <a:latin typeface="Cambria Math" panose="02040503050406030204" pitchFamily="18" charset="0"/>
                  </a:rPr>
                  <a:t>$r=\frac R4$</a:t>
                </a:r>
                <a:r>
                  <a:rPr sz="2400" b="0">
                    <a:solidFill>
                      <a:srgbClr val="111827"/>
                    </a:solidFill>
                    <a:latin typeface="Arial"/>
                  </a:rPr>
                  <a: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and (C) are as in the main solution.</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S; (B) P as keyed (but the correct relation is </a:t>
                </a:r>
                <a14:m>
                  <m:oMath xmlns:m="http://schemas.openxmlformats.org/officeDocument/2006/math">
                    <m:r>
                      <a:rPr lang="en-IN" sz="2800" i="1">
                        <a:solidFill>
                          <a:srgbClr val="15803D"/>
                        </a:solidFill>
                        <a:latin typeface="Cambria Math" panose="02040503050406030204" pitchFamily="18" charset="0"/>
                      </a:rPr>
                      <m:t>𝑟</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r>
                  <a:rPr sz="2800" b="1">
                    <a:solidFill>
                      <a:srgbClr val="15803D"/>
                    </a:solidFill>
                    <a:latin typeface="Arial"/>
                  </a:rPr>
                  <a:t>, so no listed option is right, see note); (C) Q; (D) R</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S; (B) P as keyed (but the correct relation is </a:t>
                </a:r>
                <a:r>
                  <a:rPr lang="en-IN" sz="2800">
                    <a:solidFill>
                      <a:srgbClr val="15803D"/>
                    </a:solidFill>
                    <a:latin typeface="Cambria Math" panose="02040503050406030204" pitchFamily="18" charset="0"/>
                  </a:rPr>
                  <a:t>$r\le1$</a:t>
                </a:r>
                <a:r>
                  <a:rPr sz="2800" b="1">
                    <a:solidFill>
                      <a:srgbClr val="15803D"/>
                    </a:solidFill>
                    <a:latin typeface="Arial"/>
                  </a:rPr>
                  <a:t>, so no listed option is right, see note); (C) Q; (D) R</a:t>
                </a:r>
                <a:endParaRPr sz="2800">
                  <a:solidFill>
                    <a:srgbClr val="15803D"/>
                  </a:solidFill>
                </a:endParaRPr>
              </a:p>
            </p:txBody>
          </p:sp>
        </mc:Fallback>
      </mc:AlternateContent>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circles of radii </a:t>
                </a:r>
                <a14:m>
                  <m:oMath xmlns:m="http://schemas.openxmlformats.org/officeDocument/2006/math">
                    <m:sSub>
                      <m:e>
                        <m:r>
                          <a:rPr lang="en-IN" sz="2400" i="1">
                            <a:solidFill>
                              <a:srgbClr val="111827"/>
                            </a:solidFill>
                            <a:latin typeface="Cambria Math" panose="02040503050406030204" pitchFamily="18" charset="0"/>
                          </a:rPr>
                          <m:t>ρ</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ρ</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touching each other externally and a common line have contact points </a:t>
                </a:r>
                <a14:m>
                  <m:oMath xmlns:m="http://schemas.openxmlformats.org/officeDocument/2006/math">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ρ</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ρ</m:t>
                            </m:r>
                          </m:e>
                          <m:sub>
                            <m:r>
                              <a:rPr lang="en-IN" sz="2400" i="1">
                                <a:solidFill>
                                  <a:srgbClr val="111827"/>
                                </a:solidFill>
                                <a:latin typeface="Cambria Math" panose="02040503050406030204" pitchFamily="18" charset="0"/>
                              </a:rPr>
                              <m:t>2</m:t>
                            </m:r>
                          </m:sub>
                        </m:sSub>
                      </m:e>
                    </m:rad>
                  </m:oMath>
                </a14:m>
                <a:r>
                  <a:rPr sz="2400" b="0">
                    <a:solidFill>
                      <a:srgbClr val="111827"/>
                    </a:solidFill>
                    <a:latin typeface="Arial"/>
                  </a:rPr>
                  <a:t> apart; a circle in the gap between them (also touching the line) satisfies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ρ</m:t>
                                </m:r>
                              </m:e>
                              <m:sub>
                                <m:r>
                                  <a:rPr lang="en-IN" sz="2400" i="1">
                                    <a:solidFill>
                                      <a:srgbClr val="111827"/>
                                    </a:solidFill>
                                    <a:latin typeface="Cambria Math" panose="02040503050406030204" pitchFamily="18" charset="0"/>
                                  </a:rPr>
                                  <m:t>1</m:t>
                                </m:r>
                              </m:sub>
                            </m:sSub>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ρ</m:t>
                                </m:r>
                              </m:e>
                              <m:sub>
                                <m:r>
                                  <a:rPr lang="en-IN" sz="2400" i="1">
                                    <a:solidFill>
                                      <a:srgbClr val="111827"/>
                                    </a:solidFill>
                                    <a:latin typeface="Cambria Math" panose="02040503050406030204" pitchFamily="18" charset="0"/>
                                  </a:rPr>
                                  <m:t>2</m:t>
                                </m:r>
                              </m:sub>
                            </m:sSub>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mutually tangent circles with centres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oMath>
                </a14:m>
                <a:r>
                  <a:rPr sz="2400" b="0">
                    <a:solidFill>
                      <a:srgbClr val="111827"/>
                    </a:solidFill>
                    <a:latin typeface="Arial"/>
                  </a:rPr>
                  <a:t> have a triangle with sides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 semi-perimeter is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the area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𝑟</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e>
                    </m:rad>
                  </m:oMath>
                </a14:m>
                <a:r>
                  <a:rPr sz="2400" b="0">
                    <a:solidFill>
                      <a:srgbClr val="111827"/>
                    </a:solidFill>
                    <a:latin typeface="Arial"/>
                  </a:rPr>
                  <a:t> (right angle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gives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circles of radii </a:t>
                </a:r>
                <a:r>
                  <a:rPr lang="en-IN" sz="2400">
                    <a:solidFill>
                      <a:srgbClr val="111827"/>
                    </a:solidFill>
                    <a:latin typeface="Cambria Math" panose="02040503050406030204" pitchFamily="18" charset="0"/>
                  </a:rPr>
                  <a:t>$\rho_1,\rho_2$</a:t>
                </a:r>
                <a:r>
                  <a:rPr sz="2400" b="0">
                    <a:solidFill>
                      <a:srgbClr val="111827"/>
                    </a:solidFill>
                    <a:latin typeface="Arial"/>
                  </a:rPr>
                  <a:t> touching each other externally and a common line have contact points </a:t>
                </a:r>
                <a:r>
                  <a:rPr lang="en-IN" sz="2400">
                    <a:solidFill>
                      <a:srgbClr val="111827"/>
                    </a:solidFill>
                    <a:latin typeface="Cambria Math" panose="02040503050406030204" pitchFamily="18" charset="0"/>
                  </a:rPr>
                  <a:t>$2\sqrt{\rho_1\rho_2}$</a:t>
                </a:r>
                <a:r>
                  <a:rPr sz="2400" b="0">
                    <a:solidFill>
                      <a:srgbClr val="111827"/>
                    </a:solidFill>
                    <a:latin typeface="Arial"/>
                  </a:rPr>
                  <a:t> apart; a circle in the gap between them (also touching the line) satisfies </a:t>
                </a:r>
                <a:r>
                  <a:rPr lang="en-IN" sz="2400">
                    <a:solidFill>
                      <a:srgbClr val="111827"/>
                    </a:solidFill>
                    <a:latin typeface="Cambria Math" panose="02040503050406030204" pitchFamily="18" charset="0"/>
                  </a:rPr>
                  <a:t>$\frac1{\sqrt r}=\frac1{\sqrt{\rho_1}}+\frac1{\sqrt{\rho_2}}$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Three mutually tangent circles with centres </a:t>
                </a:r>
                <a:r>
                  <a:rPr lang="en-IN" sz="2400">
                    <a:solidFill>
                      <a:srgbClr val="111827"/>
                    </a:solidFill>
                    <a:latin typeface="Cambria Math" panose="02040503050406030204" pitchFamily="18" charset="0"/>
                  </a:rPr>
                  <a:t>$A,B,C$</a:t>
                </a:r>
                <a:r>
                  <a:rPr sz="2400" b="0">
                    <a:solidFill>
                      <a:srgbClr val="111827"/>
                    </a:solidFill>
                    <a:latin typeface="Arial"/>
                  </a:rPr>
                  <a:t> have a triangle with sides </a:t>
                </a:r>
                <a:r>
                  <a:rPr lang="en-IN" sz="2400">
                    <a:solidFill>
                      <a:srgbClr val="111827"/>
                    </a:solidFill>
                    <a:latin typeface="Cambria Math" panose="02040503050406030204" pitchFamily="18" charset="0"/>
                  </a:rPr>
                  <a:t>$r+r_1$</a:t>
                </a:r>
                <a:r>
                  <a:rPr sz="2400" b="0">
                    <a:solidFill>
                      <a:srgbClr val="111827"/>
                    </a:solidFill>
                    <a:latin typeface="Arial"/>
                  </a:rPr>
                  <a:t>, </a:t>
                </a:r>
                <a:r>
                  <a:rPr lang="en-IN" sz="2400">
                    <a:solidFill>
                      <a:srgbClr val="111827"/>
                    </a:solidFill>
                    <a:latin typeface="Cambria Math" panose="02040503050406030204" pitchFamily="18" charset="0"/>
                  </a:rPr>
                  <a:t>$r+r_2$</a:t>
                </a:r>
                <a:r>
                  <a:rPr sz="2400" b="0">
                    <a:solidFill>
                      <a:srgbClr val="111827"/>
                    </a:solidFill>
                    <a:latin typeface="Arial"/>
                  </a:rPr>
                  <a:t>, </a:t>
                </a:r>
                <a:r>
                  <a:rPr lang="en-IN" sz="2400">
                    <a:solidFill>
                      <a:srgbClr val="111827"/>
                    </a:solidFill>
                    <a:latin typeface="Cambria Math" panose="02040503050406030204" pitchFamily="18" charset="0"/>
                  </a:rPr>
                  <a:t>$r_1+r_2$</a:t>
                </a:r>
                <a:r>
                  <a:rPr sz="2400" b="0">
                    <a:solidFill>
                      <a:srgbClr val="111827"/>
                    </a:solidFill>
                    <a:latin typeface="Arial"/>
                  </a:rPr>
                  <a:t>; the semi-perimeter is </a:t>
                </a:r>
                <a:r>
                  <a:rPr lang="en-IN" sz="2400">
                    <a:solidFill>
                      <a:srgbClr val="111827"/>
                    </a:solidFill>
                    <a:latin typeface="Cambria Math" panose="02040503050406030204" pitchFamily="18" charset="0"/>
                  </a:rPr>
                  <a:t>$r+r_1+r_2$</a:t>
                </a:r>
                <a:r>
                  <a:rPr sz="2400" b="0">
                    <a:solidFill>
                      <a:srgbClr val="111827"/>
                    </a:solidFill>
                    <a:latin typeface="Arial"/>
                  </a:rPr>
                  <a:t> and the area is </a:t>
                </a:r>
                <a:r>
                  <a:rPr lang="en-IN" sz="2400">
                    <a:solidFill>
                      <a:srgbClr val="111827"/>
                    </a:solidFill>
                    <a:latin typeface="Cambria Math" panose="02040503050406030204" pitchFamily="18" charset="0"/>
                  </a:rPr>
                  <a:t>$\sqrt{rr_1r_2(r+r_1+r_2)}$</a:t>
                </a:r>
                <a:r>
                  <a:rPr sz="2400" b="0">
                    <a:solidFill>
                      <a:srgbClr val="111827"/>
                    </a:solidFill>
                    <a:latin typeface="Arial"/>
                  </a:rPr>
                  <a:t> (right angle at </a:t>
                </a:r>
                <a:r>
                  <a:rPr lang="en-IN" sz="2400">
                    <a:solidFill>
                      <a:srgbClr val="111827"/>
                    </a:solidFill>
                    <a:latin typeface="Cambria Math" panose="02040503050406030204" pitchFamily="18" charset="0"/>
                  </a:rPr>
                  <a:t>$A$</a:t>
                </a:r>
                <a:r>
                  <a:rPr sz="2400" b="0">
                    <a:solidFill>
                      <a:srgbClr val="111827"/>
                    </a:solidFill>
                    <a:latin typeface="Arial"/>
                  </a:rPr>
                  <a:t> gives </a:t>
                </a:r>
                <a:r>
                  <a:rPr lang="en-IN" sz="2400">
                    <a:solidFill>
                      <a:srgbClr val="111827"/>
                    </a:solidFill>
                    <a:latin typeface="Cambria Math" panose="02040503050406030204" pitchFamily="18" charset="0"/>
                  </a:rPr>
                  <a:t>$r_1r_2=r(r+r_1+r_2)$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common tangent at the contact point of two touching circles is their radical axis: every point on it has equal tangent lengths to both.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Before turning a bound on </a:t>
                </a:r>
                <a14:m>
                  <m:oMath xmlns:m="http://schemas.openxmlformats.org/officeDocument/2006/math">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𝑟</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into a bound on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check monotonicity: here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𝑝</m:t>
                            </m:r>
                          </m:e>
                        </m:rad>
                      </m:den>
                    </m:f>
                  </m:oMath>
                </a14:m>
                <a:r>
                  <a:rPr sz="2400" b="0">
                    <a:solidFill>
                      <a:srgbClr val="111827"/>
                    </a:solidFill>
                    <a:latin typeface="Arial"/>
                  </a:rPr>
                  <a:t> decreases in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common tangent at the contact point of two touching circles is their radical axis: every point on it has equal tangent lengths to both.</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Before turning a bound on </a:t>
                </a:r>
                <a:r>
                  <a:rPr lang="en-IN" sz="2400">
                    <a:solidFill>
                      <a:srgbClr val="111827"/>
                    </a:solidFill>
                    <a:latin typeface="Cambria Math" panose="02040503050406030204" pitchFamily="18" charset="0"/>
                  </a:rPr>
                  <a:t>$r_1+r_2$</a:t>
                </a:r>
                <a:r>
                  <a:rPr sz="2400" b="0">
                    <a:solidFill>
                      <a:srgbClr val="111827"/>
                    </a:solidFill>
                    <a:latin typeface="Arial"/>
                  </a:rPr>
                  <a:t> into a bound on </a:t>
                </a:r>
                <a:r>
                  <a:rPr lang="en-IN" sz="2400">
                    <a:solidFill>
                      <a:srgbClr val="111827"/>
                    </a:solidFill>
                    <a:latin typeface="Cambria Math" panose="02040503050406030204" pitchFamily="18" charset="0"/>
                  </a:rPr>
                  <a:t>$r$</a:t>
                </a:r>
                <a:r>
                  <a:rPr sz="2400" b="0">
                    <a:solidFill>
                      <a:srgbClr val="111827"/>
                    </a:solidFill>
                    <a:latin typeface="Arial"/>
                  </a:rPr>
                  <a:t>, check monotonicity: here </a:t>
                </a:r>
                <a:r>
                  <a:rPr lang="en-IN" sz="2400">
                    <a:solidFill>
                      <a:srgbClr val="111827"/>
                    </a:solidFill>
                    <a:latin typeface="Cambria Math" panose="02040503050406030204" pitchFamily="18" charset="0"/>
                  </a:rPr>
                  <a:t>$r=\frac{2p}{m+\sqrt{m^2+4p}}$</a:t>
                </a:r>
                <a:r>
                  <a:rPr sz="2400" b="0">
                    <a:solidFill>
                      <a:srgbClr val="111827"/>
                    </a:solidFill>
                    <a:latin typeface="Arial"/>
                  </a:rPr>
                  <a:t> decreases in </a:t>
                </a:r>
                <a:r>
                  <a:rPr lang="en-IN" sz="2400">
                    <a:solidFill>
                      <a:srgbClr val="111827"/>
                    </a:solidFill>
                    <a:latin typeface="Cambria Math" panose="02040503050406030204" pitchFamily="18" charset="0"/>
                  </a:rPr>
                  <a:t>$m$</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0982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a triangle in which </a:t>
                </a:r>
                <a14:m>
                  <m:oMath xmlns:m="http://schemas.openxmlformats.org/officeDocument/2006/math">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is the median through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𝐿</m:t>
                    </m:r>
                  </m:oMath>
                </a14:m>
                <a:r>
                  <a:rPr sz="2400" b="0">
                    <a:solidFill>
                      <a:srgbClr val="111827"/>
                    </a:solidFill>
                    <a:latin typeface="Arial"/>
                  </a:rPr>
                  <a:t> is perpendicular to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 (A) The value of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oMath>
                </a14:m>
                <a:r>
                  <a:rPr sz="2400" b="0">
                    <a:solidFill>
                      <a:srgbClr val="111827"/>
                    </a:solidFill>
                    <a:latin typeface="Arial"/>
                  </a:rPr>
                  <a:t> is. (B) The length of the median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is. (C) The radius of the circumcircle of the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(D) The value of </a:t>
                </a:r>
                <a14:m>
                  <m:oMath xmlns:m="http://schemas.openxmlformats.org/officeDocument/2006/math">
                    <m:r>
                      <m:rPr>
                        <m:sty m:val="p"/>
                      </m:rPr>
                      <a:rPr lang="en-IN" sz="2400">
                        <a:solidFill>
                          <a:srgbClr val="111827"/>
                        </a:solidFill>
                        <a:latin typeface="Cambria Math" panose="02040503050406030204" pitchFamily="18" charset="0"/>
                      </a:rPr>
                      <m:t>cot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II: (P)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(Q)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den>
                    </m:f>
                  </m:oMath>
                </a14:m>
                <a:r>
                  <a:rPr sz="2400" b="0">
                    <a:solidFill>
                      <a:srgbClr val="111827"/>
                    </a:solidFill>
                    <a:latin typeface="Arial"/>
                  </a:rPr>
                  <a:t> (R) </a:t>
                </a:r>
                <a14:m>
                  <m:oMath xmlns:m="http://schemas.openxmlformats.org/officeDocument/2006/math">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(S) </a:t>
                </a:r>
                <a14:m>
                  <m:oMath xmlns:m="http://schemas.openxmlformats.org/officeDocument/2006/math">
                    <m:r>
                      <a:rPr lang="en-IN" sz="2400" i="1">
                        <a:solidFill>
                          <a:srgbClr val="111827"/>
                        </a:solidFill>
                        <a:latin typeface="Cambria Math" panose="02040503050406030204" pitchFamily="18" charset="0"/>
                      </a:rPr>
                      <m:t>1</m:t>
                    </m:r>
                  </m:oMath>
                </a14:m>
                <a:endParaRPr sz="2400">
                  <a:solidFill>
                    <a:srgbClr val="111827"/>
                  </a:solidFill>
                </a:endParaRPr>
              </a:p>
            </p:txBody>
          </p:sp>
        </mc:Choice>
        <mc:Fallback>
          <p:sp>
            <p:nvSpPr>
              <p:cNvPr id="4" name="Rounded Rectangle 3"/>
              <p:cNvSpPr/>
              <p:nvPr/>
            </p:nvSpPr>
            <p:spPr>
              <a:xfrm>
                <a:off x="731520" y="1280160"/>
                <a:ext cx="10725912" cy="30982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$ABC$</a:t>
                </a:r>
                <a:r>
                  <a:rPr sz="2400" b="0">
                    <a:solidFill>
                      <a:srgbClr val="111827"/>
                    </a:solidFill>
                    <a:latin typeface="Arial"/>
                  </a:rPr>
                  <a:t> is a triangle in which </a:t>
                </a:r>
                <a:r>
                  <a:rPr lang="en-IN" sz="2400">
                    <a:solidFill>
                      <a:srgbClr val="111827"/>
                    </a:solidFill>
                    <a:latin typeface="Cambria Math" panose="02040503050406030204" pitchFamily="18" charset="0"/>
                  </a:rPr>
                  <a:t>$\cos(A-B)=\frac45$</a:t>
                </a:r>
                <a:r>
                  <a:rPr sz="2400" b="0">
                    <a:solidFill>
                      <a:srgbClr val="111827"/>
                    </a:solidFill>
                    <a:latin typeface="Arial"/>
                  </a:rPr>
                  <a:t> and </a:t>
                </a:r>
                <a:r>
                  <a:rPr lang="en-IN" sz="2400">
                    <a:solidFill>
                      <a:srgbClr val="111827"/>
                    </a:solidFill>
                    <a:latin typeface="Cambria Math" panose="02040503050406030204" pitchFamily="18" charset="0"/>
                  </a:rPr>
                  <a:t>$BC=6$</a:t>
                </a:r>
                <a:r>
                  <a:rPr sz="2400" b="0">
                    <a:solidFill>
                      <a:srgbClr val="111827"/>
                    </a:solidFill>
                    <a:latin typeface="Arial"/>
                  </a:rPr>
                  <a:t>, </a:t>
                </a:r>
                <a:r>
                  <a:rPr lang="en-IN" sz="2400">
                    <a:solidFill>
                      <a:srgbClr val="111827"/>
                    </a:solidFill>
                    <a:latin typeface="Cambria Math" panose="02040503050406030204" pitchFamily="18" charset="0"/>
                  </a:rPr>
                  <a:t>$AC=3$</a:t>
                </a:r>
                <a:r>
                  <a:rPr sz="2400" b="0">
                    <a:solidFill>
                      <a:srgbClr val="111827"/>
                    </a:solidFill>
                    <a:latin typeface="Arial"/>
                  </a:rPr>
                  <a:t>. </a:t>
                </a:r>
                <a:r>
                  <a:rPr lang="en-IN" sz="2400">
                    <a:solidFill>
                      <a:srgbClr val="111827"/>
                    </a:solidFill>
                    <a:latin typeface="Cambria Math" panose="02040503050406030204" pitchFamily="18" charset="0"/>
                  </a:rPr>
                  <a:t>$AD$</a:t>
                </a:r>
                <a:r>
                  <a:rPr sz="2400" b="0">
                    <a:solidFill>
                      <a:srgbClr val="111827"/>
                    </a:solidFill>
                    <a:latin typeface="Arial"/>
                  </a:rPr>
                  <a:t> is the median through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$\angle BAD=\alpha$</a:t>
                </a:r>
                <a:r>
                  <a:rPr sz="2400" b="0">
                    <a:solidFill>
                      <a:srgbClr val="111827"/>
                    </a:solidFill>
                    <a:latin typeface="Arial"/>
                  </a:rPr>
                  <a:t>, </a:t>
                </a:r>
                <a:r>
                  <a:rPr lang="en-IN" sz="2400">
                    <a:solidFill>
                      <a:srgbClr val="111827"/>
                    </a:solidFill>
                    <a:latin typeface="Cambria Math" panose="02040503050406030204" pitchFamily="18" charset="0"/>
                  </a:rPr>
                  <a:t>$CL$</a:t>
                </a:r>
                <a:r>
                  <a:rPr sz="2400" b="0">
                    <a:solidFill>
                      <a:srgbClr val="111827"/>
                    </a:solidFill>
                    <a:latin typeface="Arial"/>
                  </a:rPr>
                  <a:t> is perpendicular to </a:t>
                </a:r>
                <a:r>
                  <a:rPr lang="en-IN" sz="2400">
                    <a:solidFill>
                      <a:srgbClr val="111827"/>
                    </a:solidFill>
                    <a:latin typeface="Cambria Math" panose="02040503050406030204" pitchFamily="18" charset="0"/>
                  </a:rPr>
                  <a:t>$AD$</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 (A) The value of </a:t>
                </a:r>
                <a:r>
                  <a:rPr lang="en-IN" sz="2400">
                    <a:solidFill>
                      <a:srgbClr val="111827"/>
                    </a:solidFill>
                    <a:latin typeface="Cambria Math" panose="02040503050406030204" pitchFamily="18" charset="0"/>
                  </a:rPr>
                  <a:t>$\sin\alpha$</a:t>
                </a:r>
                <a:r>
                  <a:rPr sz="2400" b="0">
                    <a:solidFill>
                      <a:srgbClr val="111827"/>
                    </a:solidFill>
                    <a:latin typeface="Arial"/>
                  </a:rPr>
                  <a:t> is. (B) The length of the median </a:t>
                </a:r>
                <a:r>
                  <a:rPr lang="en-IN" sz="2400">
                    <a:solidFill>
                      <a:srgbClr val="111827"/>
                    </a:solidFill>
                    <a:latin typeface="Cambria Math" panose="02040503050406030204" pitchFamily="18" charset="0"/>
                  </a:rPr>
                  <a:t>$AD$</a:t>
                </a:r>
                <a:r>
                  <a:rPr sz="2400" b="0">
                    <a:solidFill>
                      <a:srgbClr val="111827"/>
                    </a:solidFill>
                    <a:latin typeface="Arial"/>
                  </a:rPr>
                  <a:t> is. (C) The radius of the circumcircle of the triangle </a:t>
                </a:r>
                <a:r>
                  <a:rPr lang="en-IN" sz="2400">
                    <a:solidFill>
                      <a:srgbClr val="111827"/>
                    </a:solidFill>
                    <a:latin typeface="Cambria Math" panose="02040503050406030204" pitchFamily="18" charset="0"/>
                  </a:rPr>
                  <a:t>$ABC$</a:t>
                </a:r>
                <a:r>
                  <a:rPr sz="2400" b="0">
                    <a:solidFill>
                      <a:srgbClr val="111827"/>
                    </a:solidFill>
                    <a:latin typeface="Arial"/>
                  </a:rPr>
                  <a:t> is. (D) The value of </a:t>
                </a:r>
                <a:r>
                  <a:rPr lang="en-IN" sz="2400">
                    <a:solidFill>
                      <a:srgbClr val="111827"/>
                    </a:solidFill>
                    <a:latin typeface="Cambria Math" panose="02040503050406030204" pitchFamily="18" charset="0"/>
                  </a:rPr>
                  <a:t>$\cot\angle ADC$</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II: (P) </a:t>
                </a:r>
                <a:r>
                  <a:rPr lang="en-IN" sz="2400">
                    <a:solidFill>
                      <a:srgbClr val="111827"/>
                    </a:solidFill>
                    <a:latin typeface="Cambria Math" panose="02040503050406030204" pitchFamily="18" charset="0"/>
                  </a:rPr>
                  <a:t>$\frac{3\sqrt5}2$</a:t>
                </a:r>
                <a:r>
                  <a:rPr sz="2400" b="0">
                    <a:solidFill>
                      <a:srgbClr val="111827"/>
                    </a:solidFill>
                    <a:latin typeface="Arial"/>
                  </a:rPr>
                  <a:t> (Q) </a:t>
                </a:r>
                <a:r>
                  <a:rPr lang="en-IN" sz="2400">
                    <a:solidFill>
                      <a:srgbClr val="111827"/>
                    </a:solidFill>
                    <a:latin typeface="Cambria Math" panose="02040503050406030204" pitchFamily="18" charset="0"/>
                  </a:rPr>
                  <a:t>$\frac1{\sqrt{10}}$</a:t>
                </a:r>
                <a:r>
                  <a:rPr sz="2400" b="0">
                    <a:solidFill>
                      <a:srgbClr val="111827"/>
                    </a:solidFill>
                    <a:latin typeface="Arial"/>
                  </a:rPr>
                  <a:t> (R) </a:t>
                </a:r>
                <a:r>
                  <a:rPr lang="en-IN" sz="2400">
                    <a:solidFill>
                      <a:srgbClr val="111827"/>
                    </a:solidFill>
                    <a:latin typeface="Cambria Math" panose="02040503050406030204" pitchFamily="18" charset="0"/>
                  </a:rPr>
                  <a:t>$3\sqrt2$</a:t>
                </a:r>
                <a:r>
                  <a:rPr sz="2400" b="0">
                    <a:solidFill>
                      <a:srgbClr val="111827"/>
                    </a:solidFill>
                    <a:latin typeface="Arial"/>
                  </a:rPr>
                  <a:t> (S) </a:t>
                </a:r>
                <a:r>
                  <a:rPr lang="en-IN" sz="2400">
                    <a:solidFill>
                      <a:srgbClr val="111827"/>
                    </a:solidFill>
                    <a:latin typeface="Cambria Math" panose="02040503050406030204" pitchFamily="18" charset="0"/>
                  </a:rPr>
                  <a:t>$1$</a:t>
                </a:r>
                <a:endParaRPr sz="2400">
                  <a:solidFill>
                    <a:srgbClr val="111827"/>
                  </a:solidFill>
                </a:endParaRPr>
              </a:p>
            </p:txBody>
          </p:sp>
        </mc:Fallback>
      </mc:AlternateContent>
      <p:sp>
        <p:nvSpPr>
          <p:cNvPr id="5" name="Rectangle 4"/>
          <p:cNvSpPr/>
          <p:nvPr/>
        </p:nvSpPr>
        <p:spPr>
          <a:xfrm>
            <a:off x="731520" y="4607051"/>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Matching List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Napier's analogy and right triangle with a median, Circumradius and trigonometric ratios in a right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Napier's analogy with </a:t>
                </a:r>
                <a14:m>
                  <m:oMath xmlns:m="http://schemas.openxmlformats.org/officeDocument/2006/math">
                    <m:r>
                      <m:rPr>
                        <m:sty m:val="p"/>
                      </m:rPr>
                      <a:rPr lang="en-IN" sz="2400">
                        <a:solidFill>
                          <a:srgbClr val="78350F"/>
                        </a:solidFill>
                        <a:latin typeface="Cambria Math" panose="02040503050406030204" pitchFamily="18" charset="0"/>
                      </a:rPr>
                      <m:t>tan</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 gives </a:t>
                </a:r>
                <a14:m>
                  <m:oMath xmlns:m="http://schemas.openxmlformats.org/officeDocument/2006/math">
                    <m:r>
                      <m:rPr>
                        <m:sty m:val="p"/>
                      </m:rPr>
                      <a:rPr lang="en-IN" sz="2400">
                        <a:solidFill>
                          <a:srgbClr val="78350F"/>
                        </a:solidFill>
                        <a:latin typeface="Cambria Math" panose="02040503050406030204" pitchFamily="18" charset="0"/>
                      </a:rPr>
                      <m:t>cot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𝐶</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so </a:t>
                </a:r>
                <a14:m>
                  <m:oMath xmlns:m="http://schemas.openxmlformats.org/officeDocument/2006/math">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90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then every item is a right-triangle computation.</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Napier's analogy with </a:t>
                </a:r>
                <a:r>
                  <a:rPr lang="en-IN" sz="2400">
                    <a:solidFill>
                      <a:srgbClr val="78350F"/>
                    </a:solidFill>
                    <a:latin typeface="Cambria Math" panose="02040503050406030204" pitchFamily="18" charset="0"/>
                  </a:rPr>
                  <a:t>$\tan\frac{A-B}2=\frac13$</a:t>
                </a:r>
                <a:r>
                  <a:rPr sz="2400" b="0">
                    <a:solidFill>
                      <a:srgbClr val="78350F"/>
                    </a:solidFill>
                    <a:latin typeface="Arial"/>
                  </a:rPr>
                  <a:t> gives </a:t>
                </a:r>
                <a:r>
                  <a:rPr lang="en-IN" sz="2400">
                    <a:solidFill>
                      <a:srgbClr val="78350F"/>
                    </a:solidFill>
                    <a:latin typeface="Cambria Math" panose="02040503050406030204" pitchFamily="18" charset="0"/>
                  </a:rPr>
                  <a:t>$\cot\frac C2=1$</a:t>
                </a:r>
                <a:r>
                  <a:rPr sz="2400" b="0">
                    <a:solidFill>
                      <a:srgbClr val="78350F"/>
                    </a:solidFill>
                    <a:latin typeface="Arial"/>
                  </a:rPr>
                  <a:t>, so </a:t>
                </a:r>
                <a:r>
                  <a:rPr lang="en-IN" sz="2400">
                    <a:solidFill>
                      <a:srgbClr val="78350F"/>
                    </a:solidFill>
                    <a:latin typeface="Cambria Math" panose="02040503050406030204" pitchFamily="18" charset="0"/>
                  </a:rPr>
                  <a:t>$C=90^\circ$</a:t>
                </a:r>
                <a:r>
                  <a:rPr sz="2400" b="0">
                    <a:solidFill>
                      <a:srgbClr val="78350F"/>
                    </a:solidFill>
                    <a:latin typeface="Arial"/>
                  </a:rPr>
                  <a:t>; then every item is a right-triangle computation.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Napier's analogy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right-angled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is the midpoint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𝐶</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𝐷</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(R).</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$2\cos^2\frac{A-B}2-1=\frac45\Rightarrow\cos^2\frac{A-B}2=\frac9{10}$</a:t>
                </a:r>
                <a:r>
                  <a:rPr sz="2400" b="0">
                    <a:solidFill>
                      <a:srgbClr val="111827"/>
                    </a:solidFill>
                    <a:latin typeface="Arial"/>
                  </a:rPr>
                  <a:t>, so </a:t>
                </a:r>
                <a:r>
                  <a:rPr lang="en-IN" sz="2400">
                    <a:solidFill>
                      <a:srgbClr val="111827"/>
                    </a:solidFill>
                    <a:latin typeface="Cambria Math" panose="02040503050406030204" pitchFamily="18" charset="0"/>
                  </a:rPr>
                  <a:t>$\cos\frac{A-B}2=\frac3{\sqrt{10}}$</a:t>
                </a:r>
                <a:r>
                  <a:rPr sz="2400" b="0">
                    <a:solidFill>
                      <a:srgbClr val="111827"/>
                    </a:solidFill>
                    <a:latin typeface="Arial"/>
                  </a:rPr>
                  <a:t> and </a:t>
                </a:r>
                <a:r>
                  <a:rPr lang="en-IN" sz="2400">
                    <a:solidFill>
                      <a:srgbClr val="111827"/>
                    </a:solidFill>
                    <a:latin typeface="Cambria Math" panose="02040503050406030204" pitchFamily="18" charset="0"/>
                  </a:rPr>
                  <a:t>$\tan\frac{A-B}2=\frac13$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Napier's analogy with </a:t>
                </a:r>
                <a:r>
                  <a:rPr lang="en-IN" sz="2400">
                    <a:solidFill>
                      <a:srgbClr val="111827"/>
                    </a:solidFill>
                    <a:latin typeface="Cambria Math" panose="02040503050406030204" pitchFamily="18" charset="0"/>
                  </a:rPr>
                  <a:t>$a=BC=6$</a:t>
                </a:r>
                <a:r>
                  <a:rPr sz="2400" b="0">
                    <a:solidFill>
                      <a:srgbClr val="111827"/>
                    </a:solidFill>
                    <a:latin typeface="Arial"/>
                  </a:rPr>
                  <a:t>, </a:t>
                </a:r>
                <a:r>
                  <a:rPr lang="en-IN" sz="2400">
                    <a:solidFill>
                      <a:srgbClr val="111827"/>
                    </a:solidFill>
                    <a:latin typeface="Cambria Math" panose="02040503050406030204" pitchFamily="18" charset="0"/>
                  </a:rPr>
                  <a:t>$b=AC=3$</a:t>
                </a:r>
                <a:r>
                  <a:rPr sz="2400" b="0">
                    <a:solidFill>
                      <a:srgbClr val="111827"/>
                    </a:solidFill>
                    <a:latin typeface="Arial"/>
                  </a:rPr>
                  <a:t>: </a:t>
                </a:r>
                <a:r>
                  <a:rPr lang="en-IN" sz="2400">
                    <a:solidFill>
                      <a:srgbClr val="111827"/>
                    </a:solidFill>
                    <a:latin typeface="Cambria Math" panose="02040503050406030204" pitchFamily="18" charset="0"/>
                  </a:rPr>
                  <a:t>$\tan\frac{A-B}2=\frac{a-b}{a+b}\cot\frac C2$</a:t>
                </a:r>
                <a:r>
                  <a:rPr sz="2400" b="0">
                    <a:solidFill>
                      <a:srgbClr val="111827"/>
                    </a:solidFill>
                    <a:latin typeface="Arial"/>
                  </a:rPr>
                  <a:t>, so </a:t>
                </a:r>
                <a:r>
                  <a:rPr lang="en-IN" sz="2400">
                    <a:solidFill>
                      <a:srgbClr val="111827"/>
                    </a:solidFill>
                    <a:latin typeface="Cambria Math" panose="02040503050406030204" pitchFamily="18" charset="0"/>
                  </a:rPr>
                  <a:t>$\frac13=\frac39\cot\frac C2$</a:t>
                </a:r>
                <a:r>
                  <a:rPr sz="2400" b="0">
                    <a:solidFill>
                      <a:srgbClr val="111827"/>
                    </a:solidFill>
                    <a:latin typeface="Arial"/>
                  </a:rPr>
                  <a:t> and </a:t>
                </a:r>
                <a:r>
                  <a:rPr lang="en-IN" sz="2400">
                    <a:solidFill>
                      <a:srgbClr val="111827"/>
                    </a:solidFill>
                    <a:latin typeface="Cambria Math" panose="02040503050406030204" pitchFamily="18" charset="0"/>
                  </a:rPr>
                  <a:t>$\cot\frac C2=1$</a:t>
                </a:r>
                <a:r>
                  <a:rPr sz="2400" b="0">
                    <a:solidFill>
                      <a:srgbClr val="111827"/>
                    </a:solidFill>
                    <a:latin typeface="Arial"/>
                  </a:rPr>
                  <a:t>, so </a:t>
                </a:r>
                <a:r>
                  <a:rPr lang="en-IN" sz="2400">
                    <a:solidFill>
                      <a:srgbClr val="111827"/>
                    </a:solidFill>
                    <a:latin typeface="Cambria Math" panose="02040503050406030204" pitchFamily="18" charset="0"/>
                  </a:rPr>
                  <a:t>$C=\frac\pi2$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$\triangle ABC$</a:t>
                </a:r>
                <a:r>
                  <a:rPr sz="2400" b="0">
                    <a:solidFill>
                      <a:srgbClr val="111827"/>
                    </a:solidFill>
                    <a:latin typeface="Arial"/>
                  </a:rPr>
                  <a:t> is right-angled at </a:t>
                </a:r>
                <a:r>
                  <a:rPr lang="en-IN" sz="2400">
                    <a:solidFill>
                      <a:srgbClr val="111827"/>
                    </a:solidFill>
                    <a:latin typeface="Cambria Math" panose="02040503050406030204" pitchFamily="18" charset="0"/>
                  </a:rPr>
                  <a:t>$C$</a:t>
                </a:r>
                <a:r>
                  <a:rPr sz="2400" b="0">
                    <a:solidFill>
                      <a:srgbClr val="111827"/>
                    </a:solidFill>
                    <a:latin typeface="Arial"/>
                  </a:rPr>
                  <a:t> with </a:t>
                </a:r>
                <a:r>
                  <a:rPr lang="en-IN" sz="2400">
                    <a:solidFill>
                      <a:srgbClr val="111827"/>
                    </a:solidFill>
                    <a:latin typeface="Cambria Math" panose="02040503050406030204" pitchFamily="18" charset="0"/>
                  </a:rPr>
                  <a:t>$CA=3$</a:t>
                </a:r>
                <a:r>
                  <a:rPr sz="2400" b="0">
                    <a:solidFill>
                      <a:srgbClr val="111827"/>
                    </a:solidFill>
                    <a:latin typeface="Arial"/>
                  </a:rPr>
                  <a:t>, </a:t>
                </a:r>
                <a:r>
                  <a:rPr lang="en-IN" sz="2400">
                    <a:solidFill>
                      <a:srgbClr val="111827"/>
                    </a:solidFill>
                    <a:latin typeface="Cambria Math" panose="02040503050406030204" pitchFamily="18" charset="0"/>
                  </a:rPr>
                  <a:t>$CB=6$</a:t>
                </a:r>
                <a:r>
                  <a:rPr sz="2400" b="0">
                    <a:solidFill>
                      <a:srgbClr val="111827"/>
                    </a:solidFill>
                    <a:latin typeface="Arial"/>
                  </a:rPr>
                  <a:t> and </a:t>
                </a:r>
                <a:r>
                  <a:rPr lang="en-IN" sz="2400">
                    <a:solidFill>
                      <a:srgbClr val="111827"/>
                    </a:solidFill>
                    <a:latin typeface="Cambria Math" panose="02040503050406030204" pitchFamily="18" charset="0"/>
                  </a:rPr>
                  <a:t>$AB=\sqrt{36+9}=3\sqrt5$</a:t>
                </a:r>
                <a:r>
                  <a:rPr sz="2400" b="0">
                    <a:solidFill>
                      <a:srgbClr val="111827"/>
                    </a:solidFill>
                    <a:latin typeface="Arial"/>
                  </a:rPr>
                  <a:t>; </a:t>
                </a:r>
                <a:r>
                  <a:rPr lang="en-IN" sz="2400">
                    <a:solidFill>
                      <a:srgbClr val="111827"/>
                    </a:solidFill>
                    <a:latin typeface="Cambria Math" panose="02040503050406030204" pitchFamily="18" charset="0"/>
                  </a:rPr>
                  <a:t>$D$</a:t>
                </a:r>
                <a:r>
                  <a:rPr sz="2400" b="0">
                    <a:solidFill>
                      <a:srgbClr val="111827"/>
                    </a:solidFill>
                    <a:latin typeface="Arial"/>
                  </a:rPr>
                  <a:t> is the midpoint of </a:t>
                </a:r>
                <a:r>
                  <a:rPr lang="en-IN" sz="2400">
                    <a:solidFill>
                      <a:srgbClr val="111827"/>
                    </a:solidFill>
                    <a:latin typeface="Cambria Math" panose="02040503050406030204" pitchFamily="18" charset="0"/>
                  </a:rPr>
                  <a:t>$BC$</a:t>
                </a:r>
                <a:r>
                  <a:rPr sz="2400" b="0">
                    <a:solidFill>
                      <a:srgbClr val="111827"/>
                    </a:solidFill>
                    <a:latin typeface="Arial"/>
                  </a:rPr>
                  <a:t>, so </a:t>
                </a:r>
                <a:r>
                  <a:rPr lang="en-IN" sz="2400">
                    <a:solidFill>
                      <a:srgbClr val="111827"/>
                    </a:solidFill>
                    <a:latin typeface="Cambria Math" panose="02040503050406030204" pitchFamily="18" charset="0"/>
                  </a:rPr>
                  <a:t>$CD=BD=3$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$AD=\sqrt{AC^2+CD^2}=\sqrt{9+9}=3\sqrt2$</a:t>
                </a:r>
                <a:r>
                  <a:rPr sz="2400" b="0">
                    <a:solidFill>
                      <a:srgbClr val="111827"/>
                    </a:solidFill>
                    <a:latin typeface="Arial"/>
                  </a:rPr>
                  <a:t>: (R).</a:t>
                </a:r>
                <a:endParaRPr sz="2400">
                  <a:solidFill>
                    <a:srgbClr val="111827"/>
                  </a:solidFill>
                </a:endParaRPr>
              </a:p>
            </p:txBody>
          </p:sp>
        </mc:Fallback>
      </mc:AlternateContent>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den>
                    </m:f>
                  </m:oMath>
                </a14:m>
                <a:r>
                  <a:rPr sz="2400" b="0">
                    <a:solidFill>
                      <a:srgbClr val="111827"/>
                    </a:solidFill>
                    <a:latin typeface="Arial"/>
                  </a:rPr>
                  <a:t>. In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the sine rule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den>
                    </m:f>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den>
                    </m:f>
                  </m:oMath>
                </a14:m>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In the right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num>
                      <m:den>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$\sin B=\frac{AC}{AB}=\frac3{3\sqrt5}=\frac1{\sqrt5}$</a:t>
                </a:r>
                <a:r>
                  <a:rPr sz="2400" b="0">
                    <a:solidFill>
                      <a:srgbClr val="111827"/>
                    </a:solidFill>
                    <a:latin typeface="Arial"/>
                  </a:rPr>
                  <a:t>. In </a:t>
                </a:r>
                <a:r>
                  <a:rPr lang="en-IN" sz="2400">
                    <a:solidFill>
                      <a:srgbClr val="111827"/>
                    </a:solidFill>
                    <a:latin typeface="Cambria Math" panose="02040503050406030204" pitchFamily="18" charset="0"/>
                  </a:rPr>
                  <a:t>$\triangle ABD$</a:t>
                </a:r>
                <a:r>
                  <a:rPr sz="2400" b="0">
                    <a:solidFill>
                      <a:srgbClr val="111827"/>
                    </a:solidFill>
                    <a:latin typeface="Arial"/>
                  </a:rPr>
                  <a:t> the sine rule gives </a:t>
                </a:r>
                <a:r>
                  <a:rPr lang="en-IN" sz="2400">
                    <a:solidFill>
                      <a:srgbClr val="111827"/>
                    </a:solidFill>
                    <a:latin typeface="Cambria Math" panose="02040503050406030204" pitchFamily="18" charset="0"/>
                  </a:rPr>
                  <a:t>$\frac{BD}{\sin\alpha}=\frac{AD}{\sin B}$</a:t>
                </a:r>
                <a:r>
                  <a:rPr sz="2400" b="0">
                    <a:solidFill>
                      <a:srgbClr val="111827"/>
                    </a:solidFill>
                    <a:latin typeface="Arial"/>
                  </a:rPr>
                  <a:t>, i.e. </a:t>
                </a:r>
                <a:r>
                  <a:rPr lang="en-IN" sz="2400">
                    <a:solidFill>
                      <a:srgbClr val="111827"/>
                    </a:solidFill>
                    <a:latin typeface="Cambria Math" panose="02040503050406030204" pitchFamily="18" charset="0"/>
                  </a:rPr>
                  <a:t>$\frac3{\sin\alpha}=\frac{3\sqrt2}{1/\sqrt5}$</a:t>
                </a:r>
                <a:r>
                  <a:rPr sz="2400" b="0">
                    <a:solidFill>
                      <a:srgbClr val="111827"/>
                    </a:solidFill>
                    <a:latin typeface="Arial"/>
                  </a:rPr>
                  <a:t>, so </a:t>
                </a:r>
                <a:r>
                  <a:rPr lang="en-IN" sz="2400">
                    <a:solidFill>
                      <a:srgbClr val="111827"/>
                    </a:solidFill>
                    <a:latin typeface="Cambria Math" panose="02040503050406030204" pitchFamily="18" charset="0"/>
                  </a:rPr>
                  <a:t>$\sin\alpha=\frac1{\sqrt{10}}$</a:t>
                </a:r>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$2R=\frac b{\sin B}=\frac3{1/\sqrt5}=3\sqrt5$</a:t>
                </a:r>
                <a:r>
                  <a:rPr sz="2400" b="0">
                    <a:solidFill>
                      <a:srgbClr val="111827"/>
                    </a:solidFill>
                    <a:latin typeface="Arial"/>
                  </a:rPr>
                  <a:t>, so </a:t>
                </a:r>
                <a:r>
                  <a:rPr lang="en-IN" sz="2400">
                    <a:solidFill>
                      <a:srgbClr val="111827"/>
                    </a:solidFill>
                    <a:latin typeface="Cambria Math" panose="02040503050406030204" pitchFamily="18" charset="0"/>
                  </a:rPr>
                  <a:t>$R=\frac{3\sqrt5}2$</a:t>
                </a:r>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In the right triangle </a:t>
                </a:r>
                <a:r>
                  <a:rPr lang="en-IN" sz="2400">
                    <a:solidFill>
                      <a:srgbClr val="111827"/>
                    </a:solidFill>
                    <a:latin typeface="Cambria Math" panose="02040503050406030204" pitchFamily="18" charset="0"/>
                  </a:rPr>
                  <a:t>$ADC$</a:t>
                </a:r>
                <a:r>
                  <a:rPr sz="2400" b="0">
                    <a:solidFill>
                      <a:srgbClr val="111827"/>
                    </a:solidFill>
                    <a:latin typeface="Arial"/>
                  </a:rPr>
                  <a:t>: </a:t>
                </a:r>
                <a:r>
                  <a:rPr lang="en-IN" sz="2400">
                    <a:solidFill>
                      <a:srgbClr val="111827"/>
                    </a:solidFill>
                    <a:latin typeface="Cambria Math" panose="02040503050406030204" pitchFamily="18" charset="0"/>
                  </a:rPr>
                  <a:t>$\cot\angle ADC=\frac{CD}{AC}=\frac33=1$</a:t>
                </a:r>
                <a:r>
                  <a:rPr sz="2400" b="0">
                    <a:solidFill>
                      <a:srgbClr val="111827"/>
                    </a:solidFill>
                    <a:latin typeface="Arial"/>
                  </a:rPr>
                  <a:t>: (S).</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Q; (B) R; (C) P; (D) S</a:t>
            </a:r>
            <a:endParaRPr sz="2800">
              <a:solidFill>
                <a:srgbClr val="15803D"/>
              </a:solidFill>
            </a:endParaRP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Get </a:t>
                </a:r>
                <a14:m>
                  <m:oMath xmlns:m="http://schemas.openxmlformats.org/officeDocument/2006/math">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90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from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𝐵</m:t>
                    </m:r>
                  </m:oMath>
                </a14:m>
                <a:r>
                  <a:rPr sz="2400" b="0">
                    <a:solidFill>
                      <a:srgbClr val="78350F"/>
                    </a:solidFill>
                    <a:latin typeface="Arial"/>
                  </a:rPr>
                  <a:t> and </a:t>
                </a:r>
                <a14:m>
                  <m:oMath xmlns:m="http://schemas.openxmlformats.org/officeDocument/2006/math">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tan</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(no Napier), then use coordinates for every item.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Get </a:t>
                </a:r>
                <a:r>
                  <a:rPr lang="en-IN" sz="2400">
                    <a:solidFill>
                      <a:srgbClr val="78350F"/>
                    </a:solidFill>
                    <a:latin typeface="Cambria Math" panose="02040503050406030204" pitchFamily="18" charset="0"/>
                  </a:rPr>
                  <a:t>$C=90^\circ$</a:t>
                </a:r>
                <a:r>
                  <a:rPr sz="2400" b="0">
                    <a:solidFill>
                      <a:srgbClr val="78350F"/>
                    </a:solidFill>
                    <a:latin typeface="Arial"/>
                  </a:rPr>
                  <a:t> from </a:t>
                </a:r>
                <a:r>
                  <a:rPr lang="en-IN" sz="2400">
                    <a:solidFill>
                      <a:srgbClr val="78350F"/>
                    </a:solidFill>
                    <a:latin typeface="Cambria Math" panose="02040503050406030204" pitchFamily="18" charset="0"/>
                  </a:rPr>
                  <a:t>$\sin A=2\sin B$</a:t>
                </a:r>
                <a:r>
                  <a:rPr sz="2400" b="0">
                    <a:solidFill>
                      <a:srgbClr val="78350F"/>
                    </a:solidFill>
                    <a:latin typeface="Arial"/>
                  </a:rPr>
                  <a:t> and </a:t>
                </a:r>
                <a:r>
                  <a:rPr lang="en-IN" sz="2400">
                    <a:solidFill>
                      <a:srgbClr val="78350F"/>
                    </a:solidFill>
                    <a:latin typeface="Cambria Math" panose="02040503050406030204" pitchFamily="18" charset="0"/>
                  </a:rPr>
                  <a:t>$\tan A\tan B=1$</a:t>
                </a:r>
                <a:r>
                  <a:rPr sz="2400" b="0">
                    <a:solidFill>
                      <a:srgbClr val="78350F"/>
                    </a:solidFill>
                    <a:latin typeface="Arial"/>
                  </a:rPr>
                  <a:t> (no Napier), then use coordinates for every item.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𝐵</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𝑏</m:t>
                    </m:r>
                  </m:oMath>
                </a14:m>
                <a:r>
                  <a:rPr sz="2400" b="0">
                    <a:solidFill>
                      <a:srgbClr val="111827"/>
                    </a:solidFill>
                    <a:latin typeface="Arial"/>
                  </a:rPr>
                  <a:t>; put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The sine rule gives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tan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Coordinates: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(B) and </a:t>
                </a:r>
                <a14:m>
                  <m:oMath xmlns:m="http://schemas.openxmlformats.org/officeDocument/2006/math">
                    <m:r>
                      <m:rPr>
                        <m:sty m:val="p"/>
                      </m:rPr>
                      <a:rPr lang="en-IN" sz="2400">
                        <a:solidFill>
                          <a:srgbClr val="111827"/>
                        </a:solidFill>
                        <a:latin typeface="Cambria Math" panose="02040503050406030204" pitchFamily="18" charset="0"/>
                      </a:rPr>
                      <m:t>cot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num>
                      <m:den>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𝐴</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(D).</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$A&gt;B$</a:t>
                </a:r>
                <a:r>
                  <a:rPr sz="2400" b="0">
                    <a:solidFill>
                      <a:srgbClr val="111827"/>
                    </a:solidFill>
                    <a:latin typeface="Arial"/>
                  </a:rPr>
                  <a:t> since </a:t>
                </a:r>
                <a:r>
                  <a:rPr lang="en-IN" sz="2400">
                    <a:solidFill>
                      <a:srgbClr val="111827"/>
                    </a:solidFill>
                    <a:latin typeface="Cambria Math" panose="02040503050406030204" pitchFamily="18" charset="0"/>
                  </a:rPr>
                  <a:t>$a&gt;b$</a:t>
                </a:r>
                <a:r>
                  <a:rPr sz="2400" b="0">
                    <a:solidFill>
                      <a:srgbClr val="111827"/>
                    </a:solidFill>
                    <a:latin typeface="Arial"/>
                  </a:rPr>
                  <a:t>; put </a:t>
                </a:r>
                <a:r>
                  <a:rPr lang="en-IN" sz="2400">
                    <a:solidFill>
                      <a:srgbClr val="111827"/>
                    </a:solidFill>
                    <a:latin typeface="Cambria Math" panose="02040503050406030204" pitchFamily="18" charset="0"/>
                  </a:rPr>
                  <a:t>$A=B+\delta$</a:t>
                </a:r>
                <a:r>
                  <a:rPr sz="2400" b="0">
                    <a:solidFill>
                      <a:srgbClr val="111827"/>
                    </a:solidFill>
                    <a:latin typeface="Arial"/>
                  </a:rPr>
                  <a:t> with </a:t>
                </a:r>
                <a:r>
                  <a:rPr lang="en-IN" sz="2400">
                    <a:solidFill>
                      <a:srgbClr val="111827"/>
                    </a:solidFill>
                    <a:latin typeface="Cambria Math" panose="02040503050406030204" pitchFamily="18" charset="0"/>
                  </a:rPr>
                  <a:t>$\cos\delta=\frac45$</a:t>
                </a:r>
                <a:r>
                  <a:rPr sz="2400" b="0">
                    <a:solidFill>
                      <a:srgbClr val="111827"/>
                    </a:solidFill>
                    <a:latin typeface="Arial"/>
                  </a:rPr>
                  <a:t>, </a:t>
                </a:r>
                <a:r>
                  <a:rPr lang="en-IN" sz="2400">
                    <a:solidFill>
                      <a:srgbClr val="111827"/>
                    </a:solidFill>
                    <a:latin typeface="Cambria Math" panose="02040503050406030204" pitchFamily="18" charset="0"/>
                  </a:rPr>
                  <a:t>$\sin\delta=\frac35$</a:t>
                </a:r>
                <a:r>
                  <a:rPr sz="2400" b="0">
                    <a:solidFill>
                      <a:srgbClr val="111827"/>
                    </a:solidFill>
                    <a:latin typeface="Arial"/>
                  </a:rPr>
                  <a:t>. The sine rule gives </a:t>
                </a:r>
                <a:r>
                  <a:rPr lang="en-IN" sz="2400">
                    <a:solidFill>
                      <a:srgbClr val="111827"/>
                    </a:solidFill>
                    <a:latin typeface="Cambria Math" panose="02040503050406030204" pitchFamily="18" charset="0"/>
                  </a:rPr>
                  <a:t>$\sin A=\frac ab\sin B=2\sin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$\frac45\sin B+\frac35\cos B=2\sin B\Rightarrow\tan B=\frac12$</a:t>
                </a:r>
                <a:r>
                  <a:rPr sz="2400" b="0">
                    <a:solidFill>
                      <a:srgbClr val="111827"/>
                    </a:solidFill>
                    <a:latin typeface="Arial"/>
                  </a:rPr>
                  <a:t>, so </a:t>
                </a:r>
                <a:r>
                  <a:rPr lang="en-IN" sz="2400">
                    <a:solidFill>
                      <a:srgbClr val="111827"/>
                    </a:solidFill>
                    <a:latin typeface="Cambria Math" panose="02040503050406030204" pitchFamily="18" charset="0"/>
                  </a:rPr>
                  <a:t>$\tan A=\tan(B+\delta)=\frac{\frac12+\frac34}{1-\frac38}=2$</a:t>
                </a:r>
                <a:r>
                  <a:rPr sz="2400" b="0">
                    <a:solidFill>
                      <a:srgbClr val="111827"/>
                    </a:solidFill>
                    <a:latin typeface="Arial"/>
                  </a:rPr>
                  <a:t>; </a:t>
                </a:r>
                <a:r>
                  <a:rPr lang="en-IN" sz="2400">
                    <a:solidFill>
                      <a:srgbClr val="111827"/>
                    </a:solidFill>
                    <a:latin typeface="Cambria Math" panose="02040503050406030204" pitchFamily="18" charset="0"/>
                  </a:rPr>
                  <a:t>$\tan A\tan B=1$</a:t>
                </a:r>
                <a:r>
                  <a:rPr sz="2400" b="0">
                    <a:solidFill>
                      <a:srgbClr val="111827"/>
                    </a:solidFill>
                    <a:latin typeface="Arial"/>
                  </a:rPr>
                  <a:t> gives </a:t>
                </a:r>
                <a:r>
                  <a:rPr lang="en-IN" sz="2400">
                    <a:solidFill>
                      <a:srgbClr val="111827"/>
                    </a:solidFill>
                    <a:latin typeface="Cambria Math" panose="02040503050406030204" pitchFamily="18" charset="0"/>
                  </a:rPr>
                  <a:t>$C=90^\circ$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Coordinates: </a:t>
                </a:r>
                <a:r>
                  <a:rPr lang="en-IN" sz="2400">
                    <a:solidFill>
                      <a:srgbClr val="111827"/>
                    </a:solidFill>
                    <a:latin typeface="Cambria Math" panose="02040503050406030204" pitchFamily="18" charset="0"/>
                  </a:rPr>
                  <a:t>$C=(0,0)$</a:t>
                </a:r>
                <a:r>
                  <a:rPr sz="2400" b="0">
                    <a:solidFill>
                      <a:srgbClr val="111827"/>
                    </a:solidFill>
                    <a:latin typeface="Arial"/>
                  </a:rPr>
                  <a:t>, </a:t>
                </a:r>
                <a:r>
                  <a:rPr lang="en-IN" sz="2400">
                    <a:solidFill>
                      <a:srgbClr val="111827"/>
                    </a:solidFill>
                    <a:latin typeface="Cambria Math" panose="02040503050406030204" pitchFamily="18" charset="0"/>
                  </a:rPr>
                  <a:t>$B=(6,0)$</a:t>
                </a:r>
                <a:r>
                  <a:rPr sz="2400" b="0">
                    <a:solidFill>
                      <a:srgbClr val="111827"/>
                    </a:solidFill>
                    <a:latin typeface="Arial"/>
                  </a:rPr>
                  <a:t>, </a:t>
                </a:r>
                <a:r>
                  <a:rPr lang="en-IN" sz="2400">
                    <a:solidFill>
                      <a:srgbClr val="111827"/>
                    </a:solidFill>
                    <a:latin typeface="Cambria Math" panose="02040503050406030204" pitchFamily="18" charset="0"/>
                  </a:rPr>
                  <a:t>$A=(0,3)$</a:t>
                </a:r>
                <a:r>
                  <a:rPr sz="2400" b="0">
                    <a:solidFill>
                      <a:srgbClr val="111827"/>
                    </a:solidFill>
                    <a:latin typeface="Arial"/>
                  </a:rPr>
                  <a:t>, </a:t>
                </a:r>
                <a:r>
                  <a:rPr lang="en-IN" sz="2400">
                    <a:solidFill>
                      <a:srgbClr val="111827"/>
                    </a:solidFill>
                    <a:latin typeface="Cambria Math" panose="02040503050406030204" pitchFamily="18" charset="0"/>
                  </a:rPr>
                  <a:t>$D=(3,0)$</a:t>
                </a:r>
                <a:r>
                  <a:rPr sz="2400" b="0">
                    <a:solidFill>
                      <a:srgbClr val="111827"/>
                    </a:solidFill>
                    <a:latin typeface="Arial"/>
                  </a:rPr>
                  <a:t>. Then </a:t>
                </a:r>
                <a:r>
                  <a:rPr lang="en-IN" sz="2400">
                    <a:solidFill>
                      <a:srgbClr val="111827"/>
                    </a:solidFill>
                    <a:latin typeface="Cambria Math" panose="02040503050406030204" pitchFamily="18" charset="0"/>
                  </a:rPr>
                  <a:t>$AD=\sqrt{9+9}=3\sqrt2$</a:t>
                </a:r>
                <a:r>
                  <a:rPr sz="2400" b="0">
                    <a:solidFill>
                      <a:srgbClr val="111827"/>
                    </a:solidFill>
                    <a:latin typeface="Arial"/>
                  </a:rPr>
                  <a:t> (B) and </a:t>
                </a:r>
                <a:r>
                  <a:rPr lang="en-IN" sz="2400">
                    <a:solidFill>
                      <a:srgbClr val="111827"/>
                    </a:solidFill>
                    <a:latin typeface="Cambria Math" panose="02040503050406030204" pitchFamily="18" charset="0"/>
                  </a:rPr>
                  <a:t>$\cot\angle ADC=\frac{CD}{CA}=1$</a:t>
                </a:r>
                <a:r>
                  <a:rPr sz="2400" b="0">
                    <a:solidFill>
                      <a:srgbClr val="111827"/>
                    </a:solidFill>
                    <a:latin typeface="Arial"/>
                  </a:rPr>
                  <a:t> (D).</a:t>
                </a:r>
                <a:endParaRPr sz="2400">
                  <a:solidFill>
                    <a:srgbClr val="111827"/>
                  </a:solidFill>
                </a:endParaRPr>
              </a:p>
            </p:txBody>
          </p:sp>
        </mc:Fallback>
      </mc:AlternateContent>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circumcentre of a right triangle is the midpoint of the hypotenuse, so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9</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den>
                    </m:f>
                  </m:oMath>
                </a14:m>
                <a:r>
                  <a:rPr sz="2400" b="0">
                    <a:solidFill>
                      <a:srgbClr val="111827"/>
                    </a:solidFill>
                    <a:latin typeface="Arial"/>
                  </a:rPr>
                  <a:t> (A).</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circumcentre of a right triangle is the midpoint of the hypotenuse, so </a:t>
                </a:r>
                <a:r>
                  <a:rPr lang="en-IN" sz="2400">
                    <a:solidFill>
                      <a:srgbClr val="111827"/>
                    </a:solidFill>
                    <a:latin typeface="Cambria Math" panose="02040503050406030204" pitchFamily="18" charset="0"/>
                  </a:rPr>
                  <a:t>$R=\frac{AB}2=\frac{3\sqrt5}2$</a:t>
                </a:r>
                <a:r>
                  <a:rPr sz="2400" b="0">
                    <a:solidFill>
                      <a:srgbClr val="111827"/>
                    </a:solidFill>
                    <a:latin typeface="Arial"/>
                  </a:rPr>
                  <a:t> (C).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$\vec{AB}=(6,-3)$</a:t>
                </a:r>
                <a:r>
                  <a:rPr sz="2400" b="0">
                    <a:solidFill>
                      <a:srgbClr val="111827"/>
                    </a:solidFill>
                    <a:latin typeface="Arial"/>
                  </a:rPr>
                  <a:t> and </a:t>
                </a:r>
                <a:r>
                  <a:rPr lang="en-IN" sz="2400">
                    <a:solidFill>
                      <a:srgbClr val="111827"/>
                    </a:solidFill>
                    <a:latin typeface="Cambria Math" panose="02040503050406030204" pitchFamily="18" charset="0"/>
                  </a:rPr>
                  <a:t>$\vec{AD}=(3,-3)$</a:t>
                </a:r>
                <a:r>
                  <a:rPr sz="2400" b="0">
                    <a:solidFill>
                      <a:srgbClr val="111827"/>
                    </a:solidFill>
                    <a:latin typeface="Arial"/>
                  </a:rPr>
                  <a:t>: </a:t>
                </a:r>
                <a:r>
                  <a:rPr lang="en-IN" sz="2400">
                    <a:solidFill>
                      <a:srgbClr val="111827"/>
                    </a:solidFill>
                    <a:latin typeface="Cambria Math" panose="02040503050406030204" pitchFamily="18" charset="0"/>
                  </a:rPr>
                  <a:t>$\sin\alpha=\frac{|6(-3)-(-3)(3)|}{3\sqrt5\cdot3\sqrt2}=\frac9{9\sqrt{10}}=\frac1{\sqrt{10}}$</a:t>
                </a:r>
                <a:r>
                  <a:rPr sz="2400" b="0">
                    <a:solidFill>
                      <a:srgbClr val="111827"/>
                    </a:solidFill>
                    <a:latin typeface="Arial"/>
                  </a:rPr>
                  <a:t> (A).</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Q; (B) R; (C) P; (D) S</a:t>
            </a:r>
            <a:endParaRPr sz="2800">
              <a:solidFill>
                <a:srgbClr val="15803D"/>
              </a:solidFill>
            </a:endParaRP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Napier's analogy </a:t>
                </a:r>
                <a14:m>
                  <m:oMath xmlns:m="http://schemas.openxmlformats.org/officeDocument/2006/math">
                    <m:r>
                      <m:rPr>
                        <m:sty m:val="p"/>
                      </m:rPr>
                      <a:rPr lang="en-IN" sz="2400">
                        <a:solidFill>
                          <a:srgbClr val="111827"/>
                        </a:solidFill>
                        <a:latin typeface="Cambria Math" panose="02040503050406030204" pitchFamily="18" charset="0"/>
                      </a:rPr>
                      <m:t>tan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𝐶</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means a right angle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triangle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 is the right triangle with legs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 the same data as Q13.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right triangle </a:t>
                </a:r>
                <a14:m>
                  <m:oMath xmlns:m="http://schemas.openxmlformats.org/officeDocument/2006/math">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nor/>
                          </m:rPr>
                          <a:rPr lang="en-IN" sz="2400" i="1">
                            <a:solidFill>
                              <a:srgbClr val="111827"/>
                            </a:solidFill>
                            <a:latin typeface="Cambria Math" panose="02040503050406030204" pitchFamily="18" charset="0"/>
                          </a:rPr>
                          <m:t>ℎ𝑦𝑝𝑜𝑡𝑒𝑛𝑢𝑠𝑒</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 median to a leg has length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bSup>
                          <m:e>
                            <m:r>
                              <m:rPr>
                                <m:nor/>
                              </m:rPr>
                              <a:rPr lang="en-IN" sz="2400" i="1">
                                <a:solidFill>
                                  <a:srgbClr val="111827"/>
                                </a:solidFill>
                                <a:latin typeface="Cambria Math" panose="02040503050406030204" pitchFamily="18" charset="0"/>
                              </a:rPr>
                              <m:t>𝑙𝑒𝑔</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m:rPr>
                                            <m:nor/>
                                          </m:rPr>
                                          <a:rPr lang="en-IN" sz="2400" i="1">
                                            <a:solidFill>
                                              <a:srgbClr val="111827"/>
                                            </a:solidFill>
                                            <a:latin typeface="Cambria Math" panose="02040503050406030204" pitchFamily="18" charset="0"/>
                                          </a:rPr>
                                          <m:t>𝑙𝑒𝑔</m:t>
                                        </m:r>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2</m:t>
                                    </m:r>
                                  </m:den>
                                </m:f>
                              </m:e>
                            </m:d>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between two lines: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with direction vectors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Napier's analogy </a:t>
                </a:r>
                <a:r>
                  <a:rPr lang="en-IN" sz="2400">
                    <a:solidFill>
                      <a:srgbClr val="111827"/>
                    </a:solidFill>
                    <a:latin typeface="Cambria Math" panose="02040503050406030204" pitchFamily="18" charset="0"/>
                  </a:rPr>
                  <a:t>$\tan\frac{A-B}2=\frac{a-b}{a+b}\cot\frac C2$</a:t>
                </a:r>
                <a:r>
                  <a:rPr sz="2400" b="0">
                    <a:solidFill>
                      <a:srgbClr val="111827"/>
                    </a:solidFill>
                    <a:latin typeface="Arial"/>
                  </a:rPr>
                  <a:t>: </a:t>
                </a:r>
                <a:r>
                  <a:rPr lang="en-IN" sz="2400">
                    <a:solidFill>
                      <a:srgbClr val="111827"/>
                    </a:solidFill>
                    <a:latin typeface="Cambria Math" panose="02040503050406030204" pitchFamily="18" charset="0"/>
                  </a:rPr>
                  <a:t>$\cot\frac C2=1$</a:t>
                </a:r>
                <a:r>
                  <a:rPr sz="2400" b="0">
                    <a:solidFill>
                      <a:srgbClr val="111827"/>
                    </a:solidFill>
                    <a:latin typeface="Arial"/>
                  </a:rPr>
                  <a:t> means a right angle at </a:t>
                </a:r>
                <a:r>
                  <a:rPr lang="en-IN" sz="2400">
                    <a:solidFill>
                      <a:srgbClr val="111827"/>
                    </a:solidFill>
                    <a:latin typeface="Cambria Math" panose="02040503050406030204" pitchFamily="18" charset="0"/>
                  </a:rPr>
                  <a: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triangle with </a:t>
                </a:r>
                <a:r>
                  <a:rPr lang="en-IN" sz="2400">
                    <a:solidFill>
                      <a:srgbClr val="111827"/>
                    </a:solidFill>
                    <a:latin typeface="Cambria Math" panose="02040503050406030204" pitchFamily="18" charset="0"/>
                  </a:rPr>
                  <a:t>$a=2b$</a:t>
                </a:r>
                <a:r>
                  <a:rPr sz="2400" b="0">
                    <a:solidFill>
                      <a:srgbClr val="111827"/>
                    </a:solidFill>
                    <a:latin typeface="Arial"/>
                  </a:rPr>
                  <a:t> and </a:t>
                </a:r>
                <a:r>
                  <a:rPr lang="en-IN" sz="2400">
                    <a:solidFill>
                      <a:srgbClr val="111827"/>
                    </a:solidFill>
                    <a:latin typeface="Cambria Math" panose="02040503050406030204" pitchFamily="18" charset="0"/>
                  </a:rPr>
                  <a:t>$\cos(A-B)=\frac45$</a:t>
                </a:r>
                <a:r>
                  <a:rPr sz="2400" b="0">
                    <a:solidFill>
                      <a:srgbClr val="111827"/>
                    </a:solidFill>
                    <a:latin typeface="Arial"/>
                  </a:rPr>
                  <a:t> is the right triangle with legs </a:t>
                </a:r>
                <a:r>
                  <a:rPr lang="en-IN" sz="2400">
                    <a:solidFill>
                      <a:srgbClr val="111827"/>
                    </a:solidFill>
                    <a:latin typeface="Cambria Math" panose="02040503050406030204" pitchFamily="18" charset="0"/>
                  </a:rPr>
                  <a:t>$b,2b$</a:t>
                </a:r>
                <a:r>
                  <a:rPr sz="2400" b="0">
                    <a:solidFill>
                      <a:srgbClr val="111827"/>
                    </a:solidFill>
                    <a:latin typeface="Arial"/>
                  </a:rPr>
                  <a:t> (</a:t>
                </a:r>
                <a:r>
                  <a:rPr lang="en-IN" sz="2400">
                    <a:solidFill>
                      <a:srgbClr val="111827"/>
                    </a:solidFill>
                    <a:latin typeface="Cambria Math" panose="02040503050406030204" pitchFamily="18" charset="0"/>
                  </a:rPr>
                  <a:t>$\tan A=2$</a:t>
                </a:r>
                <a:r>
                  <a:rPr sz="2400" b="0">
                    <a:solidFill>
                      <a:srgbClr val="111827"/>
                    </a:solidFill>
                    <a:latin typeface="Arial"/>
                  </a:rPr>
                  <a:t>, </a:t>
                </a:r>
                <a:r>
                  <a:rPr lang="en-IN" sz="2400">
                    <a:solidFill>
                      <a:srgbClr val="111827"/>
                    </a:solidFill>
                    <a:latin typeface="Cambria Math" panose="02040503050406030204" pitchFamily="18" charset="0"/>
                  </a:rPr>
                  <a:t>$\tan B=\frac12$</a:t>
                </a:r>
                <a:r>
                  <a:rPr sz="2400" b="0">
                    <a:solidFill>
                      <a:srgbClr val="111827"/>
                    </a:solidFill>
                    <a:latin typeface="Arial"/>
                  </a:rPr>
                  <a:t>) - the same data as Q13.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 right triangle </a:t>
                </a:r>
                <a:r>
                  <a:rPr lang="en-IN" sz="2400">
                    <a:solidFill>
                      <a:srgbClr val="111827"/>
                    </a:solidFill>
                    <a:latin typeface="Cambria Math" panose="02040503050406030204" pitchFamily="18" charset="0"/>
                  </a:rPr>
                  <a:t>$R=\frac{\text{hypotenuse}}2$</a:t>
                </a:r>
                <a:r>
                  <a:rPr sz="2400" b="0">
                    <a:solidFill>
                      <a:srgbClr val="111827"/>
                    </a:solidFill>
                    <a:latin typeface="Arial"/>
                  </a:rPr>
                  <a:t>; the median to a leg has length </a:t>
                </a:r>
                <a:r>
                  <a:rPr lang="en-IN" sz="2400">
                    <a:solidFill>
                      <a:srgbClr val="111827"/>
                    </a:solidFill>
                    <a:latin typeface="Cambria Math" panose="02040503050406030204" pitchFamily="18" charset="0"/>
                  </a:rPr>
                  <a:t>$\sqrt{\text{leg}_1^2+\left(\frac{\text{leg}_2}2\right)^2}$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between two lines: </a:t>
                </a:r>
                <a:r>
                  <a:rPr lang="en-IN" sz="2400">
                    <a:solidFill>
                      <a:srgbClr val="111827"/>
                    </a:solidFill>
                    <a:latin typeface="Cambria Math" panose="02040503050406030204" pitchFamily="18" charset="0"/>
                  </a:rPr>
                  <a:t>$\sin\alpha=\frac{|u\times v|}{|u||v|}$</a:t>
                </a:r>
                <a:r>
                  <a:rPr sz="2400" b="0">
                    <a:solidFill>
                      <a:srgbClr val="111827"/>
                    </a:solidFill>
                    <a:latin typeface="Arial"/>
                  </a:rPr>
                  <a:t> with direction vectors </a:t>
                </a:r>
                <a:r>
                  <a:rPr lang="en-IN" sz="2400">
                    <a:solidFill>
                      <a:srgbClr val="111827"/>
                    </a:solidFill>
                    <a:latin typeface="Cambria Math" panose="02040503050406030204" pitchFamily="18" charset="0"/>
                  </a:rPr>
                  <a:t>$u,v$</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(5/7)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21</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22</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23</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(6/7)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24</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25</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26</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27</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(7/7)</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28</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29</a:t>
                      </a:r>
                    </a:p>
                  </a:txBody>
                  <a:tcPr anchor="ctr" marL="91440" marR="91440">
                    <a:solidFill>
                      <a:srgbClr val="FFFFFF"/>
                    </a:solidFill>
                  </a:tcPr>
                </a:tc>
                <a:tc>
                  <a:txBody>
                    <a:bodyPr/>
                    <a:lstStyle/>
                    <a:p>
                      <a:pPr algn="l"/>
                      <a:r>
                        <a:rPr sz="2400" b="0">
                          <a:solidFill>
                            <a:srgbClr val="111827"/>
                          </a:solidFill>
                          <a:latin typeface="Arial"/>
                        </a:rPr>
                        <a:t>Matching</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30</a:t>
                      </a:r>
                    </a:p>
                  </a:txBody>
                  <a:tcPr anchor="ctr" marL="91440" marR="91440">
                    <a:solidFill>
                      <a:srgbClr val="FFFFFF"/>
                    </a:solidFill>
                  </a:tcPr>
                </a:tc>
                <a:tc>
                  <a:txBody>
                    <a:bodyPr/>
                    <a:lstStyle/>
                    <a:p>
                      <a:pPr algn="l"/>
                      <a:r>
                        <a:rPr sz="2400" b="0">
                          <a:solidFill>
                            <a:srgbClr val="111827"/>
                          </a:solidFill>
                          <a:latin typeface="Arial"/>
                        </a:rPr>
                        <a:t>Matching</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31</a:t>
                      </a:r>
                    </a:p>
                  </a:txBody>
                  <a:tcPr anchor="ctr" marL="91440" marR="91440">
                    <a:solidFill>
                      <a:srgbClr val="FFFFFF"/>
                    </a:solidFill>
                  </a:tcPr>
                </a:tc>
                <a:tc>
                  <a:txBody>
                    <a:bodyPr/>
                    <a:lstStyle/>
                    <a:p>
                      <a:pPr algn="l"/>
                      <a:r>
                        <a:rPr sz="2400" b="0">
                          <a:solidFill>
                            <a:srgbClr val="111827"/>
                          </a:solidFill>
                          <a:latin typeface="Arial"/>
                        </a:rPr>
                        <a:t>Matching</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2.51</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3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12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13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3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31 questions, 115 marks.  Index = Σ(marks × level) ÷ Σ marks, on the 0-5 scale.</a:t>
            </a:r>
            <a:endParaRPr sz="2400">
              <a:solidFill>
                <a:srgbClr val="111827"/>
              </a:solidFill>
            </a:endParaRP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Solution of Triangle Sheet C2</a:t>
                      </a:r>
                    </a:p>
                  </a:txBody>
                  <a:tcPr anchor="ctr" marL="137160" marR="137160">
                    <a:solidFill>
                      <a:srgbClr val="E0ECFF"/>
                    </a:solidFill>
                  </a:tcPr>
                </a:tc>
                <a:tc>
                  <a:txBody>
                    <a:bodyPr/>
                    <a:lstStyle/>
                    <a:p>
                      <a:pPr algn="ctr"/>
                      <a:r>
                        <a:rPr sz="2600" b="1">
                          <a:solidFill>
                            <a:srgbClr val="0B1F3A"/>
                          </a:solidFill>
                          <a:latin typeface="Arial"/>
                        </a:rPr>
                        <a:t>2.51</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