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6B26B"/>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F6B26B"/>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F6B26B"/>
              </a:solidFill>
              <a:ln w="9525">
                <a:solidFill>
                  <a:srgbClr val="111827"/>
                </a:solidFill>
              </a:ln>
            </c:spPr>
          </c:dPt>
          <c:dPt>
            <c:idx val="8"/>
            <c:spPr>
              <a:solidFill>
                <a:srgbClr val="FFD966"/>
              </a:solidFill>
              <a:ln w="9525">
                <a:solidFill>
                  <a:srgbClr val="111827"/>
                </a:solidFill>
              </a:ln>
            </c:spPr>
          </c:dPt>
          <c:cat>
            <c:strRef>
              <c:f>Sheet1!$A$2:$A$10</c:f>
              <c:strCache>
                <c:ptCount val="9"/>
                <c:pt idx="0">
                  <c:v>Q1</c:v>
                </c:pt>
                <c:pt idx="1">
                  <c:v>Q2</c:v>
                </c:pt>
                <c:pt idx="2">
                  <c:v>Q3</c:v>
                </c:pt>
                <c:pt idx="3">
                  <c:v>Q4</c:v>
                </c:pt>
                <c:pt idx="4">
                  <c:v>Q5</c:v>
                </c:pt>
                <c:pt idx="5">
                  <c:v>Q6</c:v>
                </c:pt>
                <c:pt idx="6">
                  <c:v>Q7</c:v>
                </c:pt>
                <c:pt idx="7">
                  <c:v>Q8</c:v>
                </c:pt>
                <c:pt idx="8">
                  <c:v>Q9</c:v>
                </c:pt>
              </c:strCache>
            </c:strRef>
          </c:cat>
          <c:val>
            <c:numRef>
              <c:f>Sheet1!$B$2:$B$10</c:f>
              <c:numCache>
                <c:formatCode>General</c:formatCode>
                <c:ptCount val="9"/>
                <c:pt idx="0">
                  <c:v>3.0</c:v>
                </c:pt>
                <c:pt idx="1">
                  <c:v>2.0</c:v>
                </c:pt>
                <c:pt idx="2">
                  <c:v>2.0</c:v>
                </c:pt>
                <c:pt idx="3">
                  <c:v>3.0</c:v>
                </c:pt>
                <c:pt idx="4">
                  <c:v>2.0</c:v>
                </c:pt>
                <c:pt idx="5">
                  <c:v>2.0</c:v>
                </c:pt>
                <c:pt idx="6">
                  <c:v>2.0</c:v>
                </c:pt>
                <c:pt idx="7">
                  <c:v>3.0</c:v>
                </c:pt>
                <c:pt idx="8">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third vector as $x\hat i+y\hat i$ (and the stem line as 'y j' with i/j mix-ups); the correct vector in (iii) is $x\hat i+y\hat j$. Only a typo; the value 18 is unchanged and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In the expanded locus the PDF gives the coefficient of $z^2$ as $\frac12+\frac{l^2}{l^2+n^2}$; it must be $\frac12+\frac{n^2}{l^2+n^2}$. It also omits the factor 2 in the $zx$ term (it writes $\alpha zx(\ldots)$ with the stray symbol $\alpha$ instead of $2zx(\ldots)$). Neither slip affects equations (1), (2) or the answer 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first line ends with $=21\sqrt{21}$ on the right-hand side; with area $21$ and $BC=2\sqrt{21}$ the correct right-hand side is $21$ (the next line, $\sqrt{21}\sqrt{38}$, is consistent with $21$ and not with $21\sqrt{21}$). It also writes the roots as '$\alpha=3$' without noting the rejected root $-\frac{29}{3}$ (not an integer). Answer 9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line as $\frac{x-1}{-1}=\frac{y+4}{2}=\frac{z+2}{2}$ in the working (the denominator of $z$ should be $3$, as in the stem). Its next lines use the correct direction $(-1,2,3)$, so only the printed line is a typo; the answer 10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02 Vector 3D 03 — Paper Analysis</a:t>
            </a:r>
            <a:endParaRPr sz="4000">
              <a:solidFill>
                <a:srgbClr val="FFFFFF"/>
              </a:solidFill>
            </a:endParaRPr>
          </a:p>
          <a:p>
            <a:pPr algn="ctr"/>
            <a:r>
              <a:rPr sz="2200">
                <a:solidFill>
                  <a:srgbClr val="FFFFFF"/>
                </a:solidFill>
                <a:latin typeface="Arial"/>
              </a:rPr>
              <a:t>Questions 1–9 (paper Q41–Q49)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Marking not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for a correct answer · 0 otherwise (assumed)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 vector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a=\hat i+2\hat j+3\hat k$</a:t>
                </a:r>
                <a:r>
                  <a:rPr sz="2400" b="0">
                    <a:solidFill>
                      <a:srgbClr val="111827"/>
                    </a:solidFill>
                    <a:latin typeface="Arial"/>
                  </a:rPr>
                  <a:t> and </a:t>
                </a:r>
                <a:r>
                  <a:rPr lang="en-IN" sz="2400">
                    <a:solidFill>
                      <a:srgbClr val="111827"/>
                    </a:solidFill>
                    <a:latin typeface="Cambria Math" panose="02040503050406030204" pitchFamily="18" charset="0"/>
                  </a:rPr>
                  <a:t>$\vec b=\hat i+\hat j-\hat k$</a:t>
                </a:r>
                <a:r>
                  <a:rPr sz="2400" b="0">
                    <a:solidFill>
                      <a:srgbClr val="111827"/>
                    </a:solidFill>
                    <a:latin typeface="Arial"/>
                  </a:rPr>
                  <a:t>. If </a:t>
                </a:r>
                <a:r>
                  <a:rPr lang="en-IN" sz="2400">
                    <a:solidFill>
                      <a:srgbClr val="111827"/>
                    </a:solidFill>
                    <a:latin typeface="Cambria Math" panose="02040503050406030204" pitchFamily="18" charset="0"/>
                  </a:rPr>
                  <a:t>$\vec c$</a:t>
                </a:r>
                <a:r>
                  <a:rPr sz="2400" b="0">
                    <a:solidFill>
                      <a:srgbClr val="111827"/>
                    </a:solidFill>
                    <a:latin typeface="Arial"/>
                  </a:rPr>
                  <a:t> is a vector such that </a:t>
                </a:r>
                <a:r>
                  <a:rPr lang="en-IN" sz="2400">
                    <a:solidFill>
                      <a:srgbClr val="111827"/>
                    </a:solidFill>
                    <a:latin typeface="Cambria Math" panose="02040503050406030204" pitchFamily="18" charset="0"/>
                  </a:rPr>
                  <a:t>$\vec a\cdot\vec c=11$</a:t>
                </a:r>
                <a:r>
                  <a:rPr sz="2400" b="0">
                    <a:solidFill>
                      <a:srgbClr val="111827"/>
                    </a:solidFill>
                    <a:latin typeface="Arial"/>
                  </a:rPr>
                  <a:t>, </a:t>
                </a:r>
                <a:r>
                  <a:rPr lang="en-IN" sz="2400">
                    <a:solidFill>
                      <a:srgbClr val="111827"/>
                    </a:solidFill>
                    <a:latin typeface="Cambria Math" panose="02040503050406030204" pitchFamily="18" charset="0"/>
                  </a:rPr>
                  <a:t>$\vec b\cdot(\vec a\times\vec c)=27$</a:t>
                </a:r>
                <a:r>
                  <a:rPr sz="2400" b="0">
                    <a:solidFill>
                      <a:srgbClr val="111827"/>
                    </a:solidFill>
                    <a:latin typeface="Arial"/>
                  </a:rPr>
                  <a:t> and </a:t>
                </a:r>
                <a:r>
                  <a:rPr lang="en-IN" sz="2400">
                    <a:solidFill>
                      <a:srgbClr val="111827"/>
                    </a:solidFill>
                    <a:latin typeface="Cambria Math" panose="02040503050406030204" pitchFamily="18" charset="0"/>
                  </a:rPr>
                  <a:t>$\vec b\cdot\vec c=-\sqrt3\,|\vec b|$</a:t>
                </a:r>
                <a:r>
                  <a:rPr sz="2400" b="0">
                    <a:solidFill>
                      <a:srgbClr val="111827"/>
                    </a:solidFill>
                    <a:latin typeface="Arial"/>
                  </a:rPr>
                  <a:t>, then </a:t>
                </a:r>
                <a:r>
                  <a:rPr lang="en-IN" sz="2400">
                    <a:solidFill>
                      <a:srgbClr val="111827"/>
                    </a:solidFill>
                    <a:latin typeface="Cambria Math" panose="02040503050406030204" pitchFamily="18" charset="0"/>
                  </a:rPr>
                  <a:t>$|\vec a\times\vec c|^2$</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Scalar triple product and vector triple product, Dot and cross product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which fixes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its sine and cosine parts.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$\vec a\cdot\vec b=0$</a:t>
                </a:r>
                <a:r>
                  <a:rPr sz="2400" b="0">
                    <a:solidFill>
                      <a:srgbClr val="78350F"/>
                    </a:solidFill>
                    <a:latin typeface="Arial"/>
                  </a:rPr>
                  <a:t>, </a:t>
                </a:r>
                <a:r>
                  <a:rPr lang="en-IN" sz="2400">
                    <a:solidFill>
                      <a:srgbClr val="78350F"/>
                    </a:solidFill>
                    <a:latin typeface="Cambria Math" panose="02040503050406030204" pitchFamily="18" charset="0"/>
                  </a:rPr>
                  <a:t>$\vec b\times(\vec a\times\vec c)=-3\vec a$</a:t>
                </a:r>
                <a:r>
                  <a:rPr sz="2400" b="0">
                    <a:solidFill>
                      <a:srgbClr val="78350F"/>
                    </a:solidFill>
                    <a:latin typeface="Arial"/>
                  </a:rPr>
                  <a:t>, which fixes </a:t>
                </a:r>
                <a:r>
                  <a:rPr lang="en-IN" sz="2400">
                    <a:solidFill>
                      <a:srgbClr val="78350F"/>
                    </a:solidFill>
                    <a:latin typeface="Cambria Math" panose="02040503050406030204" pitchFamily="18" charset="0"/>
                  </a:rPr>
                  <a:t>$|\vec b||\vec a\times\vec c|$</a:t>
                </a:r>
                <a:r>
                  <a:rPr sz="2400" b="0">
                    <a:solidFill>
                      <a:srgbClr val="78350F"/>
                    </a:solidFill>
                    <a:latin typeface="Arial"/>
                  </a:rPr>
                  <a:t> from its sine and cosine parts.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a=\hat i+2\hat j+3\hat k,\ \vec b=\hat i+\hat j-\hat k$</a:t>
                </a:r>
                <a:r>
                  <a:rPr sz="2400" b="0">
                    <a:solidFill>
                      <a:srgbClr val="111827"/>
                    </a:solidFill>
                    <a:latin typeface="Arial"/>
                  </a:rPr>
                  <a:t>, so </a:t>
                </a:r>
                <a:r>
                  <a:rPr lang="en-IN" sz="2400">
                    <a:solidFill>
                      <a:srgbClr val="111827"/>
                    </a:solidFill>
                    <a:latin typeface="Cambria Math" panose="02040503050406030204" pitchFamily="18" charset="0"/>
                  </a:rPr>
                  <a:t>$\vec a\cdot\vec b=1+2-3=0$</a:t>
                </a:r>
                <a:r>
                  <a:rPr sz="2400" b="0">
                    <a:solidFill>
                      <a:srgbClr val="111827"/>
                    </a:solidFill>
                    <a:latin typeface="Arial"/>
                  </a:rPr>
                  <a:t> (</a:t>
                </a:r>
                <a:r>
                  <a:rPr lang="en-IN" sz="2400">
                    <a:solidFill>
                      <a:srgbClr val="111827"/>
                    </a:solidFill>
                    <a:latin typeface="Cambria Math" panose="02040503050406030204" pitchFamily="18" charset="0"/>
                  </a:rPr>
                  <a:t>$\vec a\perp\vec b$</a:t>
                </a:r>
                <a:r>
                  <a:rPr sz="2400" b="0">
                    <a:solidFill>
                      <a:srgbClr val="111827"/>
                    </a:solidFill>
                    <a:latin typeface="Arial"/>
                  </a:rPr>
                  <a:t>). Also </a:t>
                </a:r>
                <a:r>
                  <a:rPr lang="en-IN" sz="2400">
                    <a:solidFill>
                      <a:srgbClr val="111827"/>
                    </a:solidFill>
                    <a:latin typeface="Cambria Math" panose="02040503050406030204" pitchFamily="18" charset="0"/>
                  </a:rPr>
                  <a:t>$|\vec b|=\sqrt3$</a:t>
                </a:r>
                <a:r>
                  <a:rPr sz="2400" b="0">
                    <a:solidFill>
                      <a:srgbClr val="111827"/>
                    </a:solidFill>
                    <a:latin typeface="Arial"/>
                  </a:rPr>
                  <a:t>, so </a:t>
                </a:r>
                <a:r>
                  <a:rPr lang="en-IN" sz="2400">
                    <a:solidFill>
                      <a:srgbClr val="111827"/>
                    </a:solidFill>
                    <a:latin typeface="Cambria Math" panose="02040503050406030204" pitchFamily="18" charset="0"/>
                  </a:rPr>
                  <a:t>$\vec b\cdot\vec c=-\sqrt3\cdot\sqrt3=-3$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$\vec b\cdot(\vec a\times\vec c)=27$</a:t>
                </a:r>
                <a:r>
                  <a:rPr sz="2400" b="0">
                    <a:solidFill>
                      <a:srgbClr val="111827"/>
                    </a:solidFill>
                    <a:latin typeface="Arial"/>
                  </a:rPr>
                  <a:t> and </a:t>
                </a:r>
                <a:r>
                  <a:rPr lang="en-IN" sz="2400">
                    <a:solidFill>
                      <a:srgbClr val="111827"/>
                    </a:solidFill>
                    <a:latin typeface="Cambria Math" panose="02040503050406030204" pitchFamily="18" charset="0"/>
                  </a:rPr>
                  <a:t>$\vec a\cdot\vec 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$\vec b\times(\vec a\times\vec c)=\vec a(\vec b\cdot\vec c)-\vec c(\vec b\cdot\vec a)=-3\vec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t>
                </a:r>
                <a:r>
                  <a:rPr sz="2400" b="0">
                    <a:solidFill>
                      <a:srgbClr val="111827"/>
                    </a:solidFill>
                    <a:latin typeface="Arial"/>
                  </a:rPr>
                  <a:t> be the angle between </a:t>
                </a:r>
                <a:r>
                  <a:rPr lang="en-IN" sz="2400">
                    <a:solidFill>
                      <a:srgbClr val="111827"/>
                    </a:solidFill>
                    <a:latin typeface="Cambria Math" panose="02040503050406030204" pitchFamily="18" charset="0"/>
                  </a:rPr>
                  <a:t>$\vec b$</a:t>
                </a:r>
                <a:r>
                  <a:rPr sz="2400" b="0">
                    <a:solidFill>
                      <a:srgbClr val="111827"/>
                    </a:solidFill>
                    <a:latin typeface="Arial"/>
                  </a:rPr>
                  <a:t> and </a:t>
                </a:r>
                <a:r>
                  <a:rPr lang="en-IN" sz="2400">
                    <a:solidFill>
                      <a:srgbClr val="111827"/>
                    </a:solidFill>
                    <a:latin typeface="Cambria Math" panose="02040503050406030204" pitchFamily="18" charset="0"/>
                  </a:rPr>
                  <a:t>$\vec a\times\vec c$</a:t>
                </a:r>
                <a:r>
                  <a:rPr sz="2400" b="0">
                    <a:solidFill>
                      <a:srgbClr val="111827"/>
                    </a:solidFill>
                    <a:latin typeface="Arial"/>
                  </a:rPr>
                  <a:t>. Then </a:t>
                </a:r>
                <a:r>
                  <a:rPr lang="en-IN" sz="2400">
                    <a:solidFill>
                      <a:srgbClr val="111827"/>
                    </a:solidFill>
                    <a:latin typeface="Cambria Math" panose="02040503050406030204" pitchFamily="18" charset="0"/>
                  </a:rPr>
                  <a:t>$|\vec b||\vec a\times\vec c|\sin\theta=|\vec b\times(\vec a\times\vec c)|=|-3\vec a|=3\sqrt{14}$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num>
                      <m:den>
                        <m:r>
                          <a:rPr lang="en-IN" sz="2400" i="1">
                            <a:solidFill>
                              <a:srgbClr val="111827"/>
                            </a:solidFill>
                            <a:latin typeface="Cambria Math" panose="02040503050406030204" pitchFamily="18" charset="0"/>
                          </a:rPr>
                          <m:t>27</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95</m:t>
                            </m:r>
                          </m:e>
                        </m:rad>
                      </m:den>
                    </m:f>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855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95</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95</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95</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$|\vec b||\vec a\times\vec c|\cos\theta=\vec b\cdot(\vec a\times\vec c)=27$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r>
                  <a:rPr lang="en-IN" sz="2400">
                    <a:solidFill>
                      <a:srgbClr val="111827"/>
                    </a:solidFill>
                    <a:latin typeface="Cambria Math" panose="02040503050406030204" pitchFamily="18" charset="0"/>
                  </a:rPr>
                  <a:t>$\tan\theta=\frac{3\sqrt{14}}{27}$</a:t>
                </a:r>
                <a:r>
                  <a:rPr sz="2400" b="0">
                    <a:solidFill>
                      <a:srgbClr val="111827"/>
                    </a:solidFill>
                    <a:latin typeface="Arial"/>
                  </a:rPr>
                  <a:t>, i.e. </a:t>
                </a:r>
                <a:r>
                  <a:rPr lang="en-IN" sz="2400">
                    <a:solidFill>
                      <a:srgbClr val="111827"/>
                    </a:solidFill>
                    <a:latin typeface="Cambria Math" panose="02040503050406030204" pitchFamily="18" charset="0"/>
                  </a:rPr>
                  <a:t>$\sin\theta=\frac{\sqrt{14}}{\sqrt{95}}$</a:t>
                </a:r>
                <a:r>
                  <a:rPr sz="2400" b="0">
                    <a:solidFill>
                      <a:srgbClr val="111827"/>
                    </a:solidFill>
                    <a:latin typeface="Arial"/>
                  </a:rPr>
                  <a:t> (since </a:t>
                </a:r>
                <a:r>
                  <a:rPr lang="en-IN" sz="2400">
                    <a:solidFill>
                      <a:srgbClr val="111827"/>
                    </a:solidFill>
                    <a:latin typeface="Cambria Math" panose="02040503050406030204" pitchFamily="18" charset="0"/>
                  </a:rPr>
                  <a:t>$(3\sqrt{14})^2+27^2=126+729=855=9\cdot95$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 b||\vec a\times\vec c|=\sqrt{855}=3\sqrt{95}$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c|=\frac{3\sqrt{95}}{\sqrt3}=\sqrt3\cdot\sqrt{95}$</a:t>
                </a:r>
                <a:r>
                  <a:rPr sz="2400" b="0">
                    <a:solidFill>
                      <a:srgbClr val="111827"/>
                    </a:solidFill>
                    <a:latin typeface="Arial"/>
                  </a:rPr>
                  <a:t>, so </a:t>
                </a:r>
                <a:r>
                  <a:rPr lang="en-IN" sz="2400">
                    <a:solidFill>
                      <a:srgbClr val="111827"/>
                    </a:solidFill>
                    <a:latin typeface="Cambria Math" panose="02040503050406030204" pitchFamily="18" charset="0"/>
                  </a:rPr>
                  <a:t>$|\vec a\times\vec c|^2=3\cdot95=285$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285</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Resolve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along the orthogonal triad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Resolve </a:t>
                </a:r>
                <a:r>
                  <a:rPr lang="en-IN" sz="2400">
                    <a:solidFill>
                      <a:srgbClr val="78350F"/>
                    </a:solidFill>
                    <a:latin typeface="Cambria Math" panose="02040503050406030204" pitchFamily="18" charset="0"/>
                  </a:rPr>
                  <a:t>$\vec c$</a:t>
                </a:r>
                <a:r>
                  <a:rPr sz="2400" b="0">
                    <a:solidFill>
                      <a:srgbClr val="78350F"/>
                    </a:solidFill>
                    <a:latin typeface="Arial"/>
                  </a:rPr>
                  <a:t> along the orthogonal triad </a:t>
                </a:r>
                <a:r>
                  <a:rPr lang="en-IN" sz="2400">
                    <a:solidFill>
                      <a:srgbClr val="78350F"/>
                    </a:solidFill>
                    <a:latin typeface="Cambria Math" panose="02040503050406030204" pitchFamily="18" charset="0"/>
                  </a:rPr>
                  <a:t>$\vec a,\vec b,\vec a\times\vec b$</a:t>
                </a:r>
                <a:r>
                  <a:rPr sz="2400" b="0">
                    <a:solidFill>
                      <a:srgbClr val="78350F"/>
                    </a:solidFill>
                    <a:latin typeface="Arial"/>
                  </a:rPr>
                  <a:t> and use </a:t>
                </a:r>
                <a:r>
                  <a:rPr lang="en-IN" sz="2400">
                    <a:solidFill>
                      <a:srgbClr val="78350F"/>
                    </a:solidFill>
                    <a:latin typeface="Cambria Math" panose="02040503050406030204" pitchFamily="18" charset="0"/>
                  </a:rPr>
                  <a:t>$|\vec a\times\vec c|^2=|\vec a|^2|\vec c|^2-(\vec a\cdot\vec c)^2$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are mutually perpendicular,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components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along the triad are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a\cdot\vec b=0$</a:t>
                </a:r>
                <a:r>
                  <a:rPr sz="2400" b="0">
                    <a:solidFill>
                      <a:srgbClr val="111827"/>
                    </a:solidFill>
                    <a:latin typeface="Arial"/>
                  </a:rPr>
                  <a:t>, so </a:t>
                </a:r>
                <a:r>
                  <a:rPr lang="en-IN" sz="2400">
                    <a:solidFill>
                      <a:srgbClr val="111827"/>
                    </a:solidFill>
                    <a:latin typeface="Cambria Math" panose="02040503050406030204" pitchFamily="18" charset="0"/>
                  </a:rPr>
                  <a:t>$\vec a,\ \vec b,\ \vec n=\vec a\times\vec b=-5\hat i+4\hat j-\hat k$</a:t>
                </a:r>
                <a:r>
                  <a:rPr sz="2400" b="0">
                    <a:solidFill>
                      <a:srgbClr val="111827"/>
                    </a:solidFill>
                    <a:latin typeface="Arial"/>
                  </a:rPr>
                  <a:t> are mutually perpendicular, with </a:t>
                </a:r>
                <a:r>
                  <a:rPr lang="en-IN" sz="2400">
                    <a:solidFill>
                      <a:srgbClr val="111827"/>
                    </a:solidFill>
                    <a:latin typeface="Cambria Math" panose="02040503050406030204" pitchFamily="18" charset="0"/>
                  </a:rPr>
                  <a:t>$|\vec a|^2=14,\ |\vec b|^2=3,\ |\vec n|^2=42$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b\cdot(\vec a\times\vec c)=\vec c\cdot(\vec b\times\vec a)=-\vec c\cdot\vec n$</a:t>
                </a:r>
                <a:r>
                  <a:rPr sz="2400" b="0">
                    <a:solidFill>
                      <a:srgbClr val="111827"/>
                    </a:solidFill>
                    <a:latin typeface="Arial"/>
                  </a:rPr>
                  <a:t>, so </a:t>
                </a:r>
                <a:r>
                  <a:rPr lang="en-IN" sz="2400">
                    <a:solidFill>
                      <a:srgbClr val="111827"/>
                    </a:solidFill>
                    <a:latin typeface="Cambria Math" panose="02040503050406030204" pitchFamily="18" charset="0"/>
                  </a:rPr>
                  <a:t>$\vec c\cdot\vec n=-27$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components of </a:t>
                </a:r>
                <a:r>
                  <a:rPr lang="en-IN" sz="2400">
                    <a:solidFill>
                      <a:srgbClr val="111827"/>
                    </a:solidFill>
                    <a:latin typeface="Cambria Math" panose="02040503050406030204" pitchFamily="18" charset="0"/>
                  </a:rPr>
                  <a:t>$\vec c$</a:t>
                </a:r>
                <a:r>
                  <a:rPr sz="2400" b="0">
                    <a:solidFill>
                      <a:srgbClr val="111827"/>
                    </a:solidFill>
                    <a:latin typeface="Arial"/>
                  </a:rPr>
                  <a:t> along the triad are </a:t>
                </a:r>
                <a:r>
                  <a:rPr lang="en-IN" sz="2400">
                    <a:solidFill>
                      <a:srgbClr val="111827"/>
                    </a:solidFill>
                    <a:latin typeface="Cambria Math" panose="02040503050406030204" pitchFamily="18" charset="0"/>
                  </a:rPr>
                  <a:t>$\vec c\cdot\vec a=11,\ \vec c\cdot\vec b=-3,\ \vec c\cdot\vec n=-27$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perpendicular directions,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11</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729</m:t>
                        </m:r>
                      </m:num>
                      <m:den>
                        <m:r>
                          <a:rPr lang="en-IN" sz="2400" i="1">
                            <a:solidFill>
                              <a:srgbClr val="111827"/>
                            </a:solidFill>
                            <a:latin typeface="Cambria Math" panose="02040503050406030204" pitchFamily="18" charset="0"/>
                          </a:rPr>
                          <m:t>42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solving the three linear equations gives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perpendicular directions, </a:t>
                </a:r>
                <a:r>
                  <a:rPr lang="en-IN" sz="2400">
                    <a:solidFill>
                      <a:srgbClr val="111827"/>
                    </a:solidFill>
                    <a:latin typeface="Cambria Math" panose="02040503050406030204" pitchFamily="18" charset="0"/>
                  </a:rPr>
                  <a:t>$|\vec c|^2=\frac{11^2}{14}+\frac{(-3)^2}{3}+\frac{(-27)^2}{42}=\frac{363+126+729}{42}=29$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r>
                  <a:rPr lang="en-IN" sz="2400">
                    <a:solidFill>
                      <a:srgbClr val="111827"/>
                    </a:solidFill>
                    <a:latin typeface="Cambria Math" panose="02040503050406030204" pitchFamily="18" charset="0"/>
                  </a:rPr>
                  <a:t>$|\vec a\times\vec c|^2=|\vec a|^2|\vec c|^2-(\vec a\cdot\vec c)^2=14\cdot29-121=285$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solving the three linear equations gives </a:t>
                </a:r>
                <a:r>
                  <a:rPr lang="en-IN" sz="2400">
                    <a:solidFill>
                      <a:srgbClr val="111827"/>
                    </a:solidFill>
                    <a:latin typeface="Cambria Math" panose="02040503050406030204" pitchFamily="18" charset="0"/>
                  </a:rPr>
                  <a:t>$\vec c=3\hat i-2\hat j+4\hat k$</a:t>
                </a:r>
                <a:r>
                  <a:rPr sz="2400" b="0">
                    <a:solidFill>
                      <a:srgbClr val="111827"/>
                    </a:solidFill>
                    <a:latin typeface="Arial"/>
                  </a:rPr>
                  <a:t>, with </a:t>
                </a:r>
                <a:r>
                  <a:rPr lang="en-IN" sz="2400">
                    <a:solidFill>
                      <a:srgbClr val="111827"/>
                    </a:solidFill>
                    <a:latin typeface="Cambria Math" panose="02040503050406030204" pitchFamily="18" charset="0"/>
                  </a:rPr>
                  <a:t>$|\vec c|^2=29$</a:t>
                </a:r>
                <a:r>
                  <a:rPr sz="2400" b="0">
                    <a:solidFill>
                      <a:srgbClr val="111827"/>
                    </a:solidFill>
                    <a:latin typeface="Arial"/>
                  </a:rPr>
                  <a:t> and </a:t>
                </a:r>
                <a:r>
                  <a:rPr lang="en-IN" sz="2400">
                    <a:solidFill>
                      <a:srgbClr val="111827"/>
                    </a:solidFill>
                    <a:latin typeface="Cambria Math" panose="02040503050406030204" pitchFamily="18" charset="0"/>
                  </a:rPr>
                  <a:t>$\vec a\times\vec c=14\hat i+5\hat j-8\hat k$</a:t>
                </a:r>
                <a:r>
                  <a:rPr sz="2400" b="0">
                    <a:solidFill>
                      <a:srgbClr val="111827"/>
                    </a:solidFill>
                    <a:latin typeface="Arial"/>
                  </a:rPr>
                  <a:t>, so </a:t>
                </a:r>
                <a:r>
                  <a:rPr lang="en-IN" sz="2400">
                    <a:solidFill>
                      <a:srgbClr val="111827"/>
                    </a:solidFill>
                    <a:latin typeface="Cambria Math" panose="02040503050406030204" pitchFamily="18" charset="0"/>
                  </a:rPr>
                  <a:t>$|\vec a\times\vec c|^2=285$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285</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it turns a cross-product length into dot products.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vector triple product collapses to a multiple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are mutually perpendicular, any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determined by its three dot products with them,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(cyclic invariance of the scalar triple product) converts a triple-product condition into a linear condition 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r>
                  <a:rPr lang="en-IN" sz="2400">
                    <a:solidFill>
                      <a:srgbClr val="111827"/>
                    </a:solidFill>
                    <a:latin typeface="Cambria Math" panose="02040503050406030204" pitchFamily="18" charset="0"/>
                  </a:rPr>
                  <a:t>$|\vec u\times\vec v|^2=|\vec u|^2|\vec v|^2-(\vec u\cdot\vec v)^2$</a:t>
                </a:r>
                <a:r>
                  <a:rPr sz="2400" b="0">
                    <a:solidFill>
                      <a:srgbClr val="111827"/>
                    </a:solidFill>
                    <a:latin typeface="Arial"/>
                  </a:rPr>
                  <a:t>; it turns a cross-product length into dot products.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$\vec a\perp\vec b$</a:t>
                </a:r>
                <a:r>
                  <a:rPr sz="2400" b="0">
                    <a:solidFill>
                      <a:srgbClr val="111827"/>
                    </a:solidFill>
                    <a:latin typeface="Arial"/>
                  </a:rPr>
                  <a:t>: </a:t>
                </a:r>
                <a:r>
                  <a:rPr lang="en-IN" sz="2400">
                    <a:solidFill>
                      <a:srgbClr val="111827"/>
                    </a:solidFill>
                    <a:latin typeface="Cambria Math" panose="02040503050406030204" pitchFamily="18" charset="0"/>
                  </a:rPr>
                  <a:t>$\vec b\times(\vec a\times\vec c)=\vec a(\vec b\cdot\vec c)$</a:t>
                </a:r>
                <a:r>
                  <a:rPr sz="2400" b="0">
                    <a:solidFill>
                      <a:srgbClr val="111827"/>
                    </a:solidFill>
                    <a:latin typeface="Arial"/>
                  </a:rPr>
                  <a:t>, so the vector triple product collapses to a multiple of </a:t>
                </a:r>
                <a:r>
                  <a:rPr lang="en-IN" sz="2400">
                    <a:solidFill>
                      <a:srgbClr val="111827"/>
                    </a:solidFill>
                    <a:latin typeface="Cambria Math" panose="02040503050406030204" pitchFamily="18" charset="0"/>
                  </a:rPr>
                  <a:t>$\vec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a,\vec b,\vec a\times\vec b$</a:t>
                </a:r>
                <a:r>
                  <a:rPr sz="2400" b="0">
                    <a:solidFill>
                      <a:srgbClr val="111827"/>
                    </a:solidFill>
                    <a:latin typeface="Arial"/>
                  </a:rPr>
                  <a:t> are mutually perpendicular, any </a:t>
                </a:r>
                <a:r>
                  <a:rPr lang="en-IN" sz="2400">
                    <a:solidFill>
                      <a:srgbClr val="111827"/>
                    </a:solidFill>
                    <a:latin typeface="Cambria Math" panose="02040503050406030204" pitchFamily="18" charset="0"/>
                  </a:rPr>
                  <a:t>$\vec c$</a:t>
                </a:r>
                <a:r>
                  <a:rPr sz="2400" b="0">
                    <a:solidFill>
                      <a:srgbClr val="111827"/>
                    </a:solidFill>
                    <a:latin typeface="Arial"/>
                  </a:rPr>
                  <a:t> is determined by its three dot products with them, and </a:t>
                </a:r>
                <a:r>
                  <a:rPr lang="en-IN" sz="2400">
                    <a:solidFill>
                      <a:srgbClr val="111827"/>
                    </a:solidFill>
                    <a:latin typeface="Cambria Math" panose="02040503050406030204" pitchFamily="18" charset="0"/>
                  </a:rPr>
                  <a:t>$|\vec c|^2=\sum\frac{(\vec c\cdot\vec e)^2}{|\vec 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b\cdot(\vec a\times\vec c)=\vec c\cdot(\vec b\times\vec a)$</a:t>
                </a:r>
                <a:r>
                  <a:rPr sz="2400" b="0">
                    <a:solidFill>
                      <a:srgbClr val="111827"/>
                    </a:solidFill>
                    <a:latin typeface="Arial"/>
                  </a:rPr>
                  <a:t> (cyclic invariance of the scalar triple product) converts a triple-product condition into a linear condition on </a:t>
                </a:r>
                <a:r>
                  <a:rPr lang="en-IN" sz="2400">
                    <a:solidFill>
                      <a:srgbClr val="111827"/>
                    </a:solidFill>
                    <a:latin typeface="Cambria Math" panose="02040503050406030204" pitchFamily="18" charset="0"/>
                  </a:rPr>
                  <a:t>$\vec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then the value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 .</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a=2\hat i+\hat j+2\hat k$</a:t>
                </a:r>
                <a:r>
                  <a:rPr sz="2400" b="0">
                    <a:solidFill>
                      <a:srgbClr val="111827"/>
                    </a:solidFill>
                    <a:latin typeface="Arial"/>
                  </a:rPr>
                  <a:t>, then the value of </a:t>
                </a:r>
                <a:r>
                  <a:rPr lang="en-IN" sz="2400">
                    <a:solidFill>
                      <a:srgbClr val="111827"/>
                    </a:solidFill>
                    <a:latin typeface="Cambria Math" panose="02040503050406030204" pitchFamily="18" charset="0"/>
                  </a:rPr>
                  <a:t>$\left|\hat i\times(\vec a\times\hat i)\right|^2+\left|\hat j\times(\vec a\times\hat j)\right|^2+\left|\hat k\times(\vec a\times\hat k)\right|^2$</a:t>
                </a:r>
                <a:r>
                  <a:rPr sz="2400" b="0">
                    <a:solidFill>
                      <a:srgbClr val="111827"/>
                    </a:solidFill>
                    <a:latin typeface="Arial"/>
                  </a:rPr>
                  <a:t> is equal to _____ .</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Magnitude of a vector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part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perpendicular to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oMath>
                </a14:m>
                <a:r>
                  <a:rPr sz="2400" b="0">
                    <a:solidFill>
                      <a:srgbClr val="78350F"/>
                    </a:solidFill>
                    <a:latin typeface="Arial"/>
                  </a:rPr>
                  <a:t>, so the three squares add up to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$\hat i\times(\vec a\times\hat i)$</a:t>
                </a:r>
                <a:r>
                  <a:rPr sz="2400" b="0">
                    <a:solidFill>
                      <a:srgbClr val="78350F"/>
                    </a:solidFill>
                    <a:latin typeface="Arial"/>
                  </a:rPr>
                  <a:t> is the part of </a:t>
                </a:r>
                <a:r>
                  <a:rPr lang="en-IN" sz="2400">
                    <a:solidFill>
                      <a:srgbClr val="78350F"/>
                    </a:solidFill>
                    <a:latin typeface="Cambria Math" panose="02040503050406030204" pitchFamily="18" charset="0"/>
                  </a:rPr>
                  <a:t>$\vec a$</a:t>
                </a:r>
                <a:r>
                  <a:rPr sz="2400" b="0">
                    <a:solidFill>
                      <a:srgbClr val="78350F"/>
                    </a:solidFill>
                    <a:latin typeface="Arial"/>
                  </a:rPr>
                  <a:t> perpendicular to </a:t>
                </a:r>
                <a:r>
                  <a:rPr lang="en-IN" sz="2400">
                    <a:solidFill>
                      <a:srgbClr val="78350F"/>
                    </a:solidFill>
                    <a:latin typeface="Cambria Math" panose="02040503050406030204" pitchFamily="18" charset="0"/>
                  </a:rPr>
                  <a:t>$\hat i$</a:t>
                </a:r>
                <a:r>
                  <a:rPr sz="2400" b="0">
                    <a:solidFill>
                      <a:srgbClr val="78350F"/>
                    </a:solidFill>
                    <a:latin typeface="Arial"/>
                  </a:rPr>
                  <a:t>, so the three squares add up to </a:t>
                </a:r>
                <a:r>
                  <a:rPr lang="en-IN" sz="2400">
                    <a:solidFill>
                      <a:srgbClr val="78350F"/>
                    </a:solidFill>
                    <a:latin typeface="Cambria Math" panose="02040503050406030204" pitchFamily="18" charset="0"/>
                  </a:rPr>
                  <a:t>$2|\vec 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(ii)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a=x\hat i+y\hat j+z\hat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i\times(\vec a\times\hat i)=(\hat i\cdot\hat i)\vec a-(\vec a\cdot\hat i)\hat i=x\hat i+y\hat j+z\hat k-x\hat i=y\hat j+z\hat k$</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$\hat j\times(\vec a\times\hat j)=x\hat i+z\hat k$</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r>
                  <a:rPr lang="en-IN" sz="2400">
                    <a:solidFill>
                      <a:srgbClr val="111827"/>
                    </a:solidFill>
                    <a:latin typeface="Cambria Math" panose="02040503050406030204" pitchFamily="18" charset="0"/>
                  </a:rPr>
                  <a:t>$\hat k\times(\vec a\times\hat k)=x\hat i+y\hat j$</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sum </a:t>
                </a:r>
                <a:r>
                  <a:rPr lang="en-IN" sz="2400">
                    <a:solidFill>
                      <a:srgbClr val="111827"/>
                    </a:solidFill>
                    <a:latin typeface="Cambria Math" panose="02040503050406030204" pitchFamily="18" charset="0"/>
                  </a:rPr>
                  <a:t>$=|y\hat j+z\hat k|^2+|x\hat i+z\hat k|^2+|x\hat i+y\hat j|^2=(y^2+z^2)+(x^2+z^2)+(x^2+y^2)$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$=2(x^2+y^2+z^2)=2|\vec a|^2=2(4+1+4)=18$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18</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Lagrange's identity gives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𝑒</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$\hat e\perp(\vec a\times\hat e)$</a:t>
                </a:r>
                <a:r>
                  <a:rPr sz="2400" b="0">
                    <a:solidFill>
                      <a:srgbClr val="78350F"/>
                    </a:solidFill>
                    <a:latin typeface="Arial"/>
                  </a:rPr>
                  <a:t>, </a:t>
                </a:r>
                <a:r>
                  <a:rPr lang="en-IN" sz="2400">
                    <a:solidFill>
                      <a:srgbClr val="78350F"/>
                    </a:solidFill>
                    <a:latin typeface="Cambria Math" panose="02040503050406030204" pitchFamily="18" charset="0"/>
                  </a:rPr>
                  <a:t>$|\hat e\times(\vec a\times\hat e)|=|\vec a\times\hat e|$</a:t>
                </a:r>
                <a:r>
                  <a:rPr sz="2400" b="0">
                    <a:solidFill>
                      <a:srgbClr val="78350F"/>
                    </a:solidFill>
                    <a:latin typeface="Arial"/>
                  </a:rPr>
                  <a:t>; then Lagrange's identity gives </a:t>
                </a:r>
                <a:r>
                  <a:rPr lang="en-IN" sz="2400">
                    <a:solidFill>
                      <a:srgbClr val="78350F"/>
                    </a:solidFill>
                    <a:latin typeface="Cambria Math" panose="02040503050406030204" pitchFamily="18" charset="0"/>
                  </a:rPr>
                  <a:t>$|\vec a|^2-(\vec a\cdot\hat e)^2$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unit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unit vector </a:t>
                </a:r>
                <a:r>
                  <a:rPr lang="en-IN" sz="2400">
                    <a:solidFill>
                      <a:srgbClr val="111827"/>
                    </a:solidFill>
                    <a:latin typeface="Cambria Math" panose="02040503050406030204" pitchFamily="18" charset="0"/>
                  </a:rPr>
                  <a:t>$\hat e$</a:t>
                </a:r>
                <a:r>
                  <a:rPr sz="2400" b="0">
                    <a:solidFill>
                      <a:srgbClr val="111827"/>
                    </a:solidFill>
                    <a:latin typeface="Arial"/>
                  </a:rPr>
                  <a:t>, </a:t>
                </a:r>
                <a:r>
                  <a:rPr lang="en-IN" sz="2400">
                    <a:solidFill>
                      <a:srgbClr val="111827"/>
                    </a:solidFill>
                    <a:latin typeface="Cambria Math" panose="02040503050406030204" pitchFamily="18" charset="0"/>
                  </a:rPr>
                  <a:t>$\hat e\perp(\vec a\times\hat e)$</a:t>
                </a:r>
                <a:r>
                  <a:rPr sz="2400" b="0">
                    <a:solidFill>
                      <a:srgbClr val="111827"/>
                    </a:solidFill>
                    <a:latin typeface="Arial"/>
                  </a:rPr>
                  <a:t>, so </a:t>
                </a:r>
                <a:r>
                  <a:rPr lang="en-IN" sz="2400">
                    <a:solidFill>
                      <a:srgbClr val="111827"/>
                    </a:solidFill>
                    <a:latin typeface="Cambria Math" panose="02040503050406030204" pitchFamily="18" charset="0"/>
                  </a:rPr>
                  <a:t>$|\hat e\times(\vec a\times\hat e)|=|\hat e||\vec a\times\hat e|=|\vec a\times\hat 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with </a:t>
                </a:r>
                <a:r>
                  <a:rPr lang="en-IN" sz="2400">
                    <a:solidFill>
                      <a:srgbClr val="111827"/>
                    </a:solidFill>
                    <a:latin typeface="Cambria Math" panose="02040503050406030204" pitchFamily="18" charset="0"/>
                  </a:rPr>
                  <a:t>$|\hat e|=1$</a:t>
                </a:r>
                <a:r>
                  <a:rPr sz="2400" b="0">
                    <a:solidFill>
                      <a:srgbClr val="111827"/>
                    </a:solidFill>
                    <a:latin typeface="Arial"/>
                  </a:rPr>
                  <a:t>: </a:t>
                </a:r>
                <a:r>
                  <a:rPr lang="en-IN" sz="2400">
                    <a:solidFill>
                      <a:srgbClr val="111827"/>
                    </a:solidFill>
                    <a:latin typeface="Cambria Math" panose="02040503050406030204" pitchFamily="18" charset="0"/>
                  </a:rPr>
                  <a:t>$|\vec a\times\hat e|^2=|\vec a|^2-(\vec a\cdot\hat 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a:t>
                </a:r>
                <a:r>
                  <a:rPr lang="en-IN" sz="2400">
                    <a:solidFill>
                      <a:srgbClr val="111827"/>
                    </a:solidFill>
                    <a:latin typeface="Cambria Math" panose="02040503050406030204" pitchFamily="18" charset="0"/>
                  </a:rPr>
                  <a:t>$\hat e=\hat i,\hat j,\hat k$</a:t>
                </a:r>
                <a:r>
                  <a:rPr sz="2400" b="0">
                    <a:solidFill>
                      <a:srgbClr val="111827"/>
                    </a:solidFill>
                    <a:latin typeface="Arial"/>
                  </a:rPr>
                  <a:t>: </a:t>
                </a:r>
                <a:r>
                  <a:rPr lang="en-IN" sz="2400">
                    <a:solidFill>
                      <a:srgbClr val="111827"/>
                    </a:solidFill>
                    <a:latin typeface="Cambria Math" panose="02040503050406030204" pitchFamily="18" charset="0"/>
                  </a:rPr>
                  <a:t>$3|\vec a|^2-\left[(\vec a\cdot\hat i)^2+(\vec a\cdot\hat j)^2+(\vec a\cdot\hat k)^2\right]=3|\vec a|^2-|\vec a|^2=2|\vec 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components: the perpendicular parts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squared lengths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a|^2=4+1+4=9$</a:t>
                </a:r>
                <a:r>
                  <a:rPr sz="2400" b="0">
                    <a:solidFill>
                      <a:srgbClr val="111827"/>
                    </a:solidFill>
                    <a:latin typeface="Arial"/>
                  </a:rPr>
                  <a:t>, so the sum is </a:t>
                </a:r>
                <a:r>
                  <a:rPr lang="en-IN" sz="2400">
                    <a:solidFill>
                      <a:srgbClr val="111827"/>
                    </a:solidFill>
                    <a:latin typeface="Cambria Math" panose="02040503050406030204" pitchFamily="18" charset="0"/>
                  </a:rPr>
                  <a:t>$18$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components: the perpendicular parts are </a:t>
                </a:r>
                <a:r>
                  <a:rPr lang="en-IN" sz="2400">
                    <a:solidFill>
                      <a:srgbClr val="111827"/>
                    </a:solidFill>
                    <a:latin typeface="Cambria Math" panose="02040503050406030204" pitchFamily="18" charset="0"/>
                  </a:rPr>
                  <a:t>$(0,1,2),(2,0,2),(2,1,0)$</a:t>
                </a:r>
                <a:r>
                  <a:rPr sz="2400" b="0">
                    <a:solidFill>
                      <a:srgbClr val="111827"/>
                    </a:solidFill>
                    <a:latin typeface="Arial"/>
                  </a:rPr>
                  <a:t> with squared lengths </a:t>
                </a:r>
                <a:r>
                  <a:rPr lang="en-IN" sz="2400">
                    <a:solidFill>
                      <a:srgbClr val="111827"/>
                    </a:solidFill>
                    <a:latin typeface="Cambria Math" panose="02040503050406030204" pitchFamily="18" charset="0"/>
                  </a:rPr>
                  <a:t>$5+8+5=18$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18</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oMath>
                </a14:m>
                <a:r>
                  <a:rPr sz="2400" b="0">
                    <a:solidFill>
                      <a:srgbClr val="111827"/>
                    </a:solidFill>
                    <a:latin typeface="Arial"/>
                  </a:rPr>
                  <a:t> is the component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perpendicular to the unit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oMath>
                </a14:m>
                <a:r>
                  <a:rPr sz="2400" b="0">
                    <a:solidFill>
                      <a:srgbClr val="111827"/>
                    </a:solidFill>
                    <a:latin typeface="Arial"/>
                  </a:rPr>
                  <a:t>; its squared length is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orthonormal triad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𝑘</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𝑘</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𝑘</m:t>
                            </m:r>
                          </m:sub>
                        </m:sSub>
                      </m:e>
                    </m:nary>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𝑒</m:t>
                            </m:r>
                          </m:e>
                        </m:acc>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 handy identity for sums over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e\times(\vec a\times\hat e)=\vec a-(\vec a\cdot\hat e)\hat e$</a:t>
                </a:r>
                <a:r>
                  <a:rPr sz="2400" b="0">
                    <a:solidFill>
                      <a:srgbClr val="111827"/>
                    </a:solidFill>
                    <a:latin typeface="Arial"/>
                  </a:rPr>
                  <a:t> is the component of </a:t>
                </a:r>
                <a:r>
                  <a:rPr lang="en-IN" sz="2400">
                    <a:solidFill>
                      <a:srgbClr val="111827"/>
                    </a:solidFill>
                    <a:latin typeface="Cambria Math" panose="02040503050406030204" pitchFamily="18" charset="0"/>
                  </a:rPr>
                  <a:t>$\vec a$</a:t>
                </a:r>
                <a:r>
                  <a:rPr sz="2400" b="0">
                    <a:solidFill>
                      <a:srgbClr val="111827"/>
                    </a:solidFill>
                    <a:latin typeface="Arial"/>
                  </a:rPr>
                  <a:t> perpendicular to the unit vector </a:t>
                </a:r>
                <a:r>
                  <a:rPr lang="en-IN" sz="2400">
                    <a:solidFill>
                      <a:srgbClr val="111827"/>
                    </a:solidFill>
                    <a:latin typeface="Cambria Math" panose="02040503050406030204" pitchFamily="18" charset="0"/>
                  </a:rPr>
                  <a:t>$\hat e$</a:t>
                </a:r>
                <a:r>
                  <a:rPr sz="2400" b="0">
                    <a:solidFill>
                      <a:srgbClr val="111827"/>
                    </a:solidFill>
                    <a:latin typeface="Arial"/>
                  </a:rPr>
                  <a:t>; its squared length is </a:t>
                </a:r>
                <a:r>
                  <a:rPr lang="en-IN" sz="2400">
                    <a:solidFill>
                      <a:srgbClr val="111827"/>
                    </a:solidFill>
                    <a:latin typeface="Cambria Math" panose="02040503050406030204" pitchFamily="18" charset="0"/>
                  </a:rPr>
                  <a:t>$|\vec a|^2-(\vec a\cdot\hat e)^2=|\vec a|^2\sin^2\phi$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orthonormal triad </a:t>
                </a:r>
                <a:r>
                  <a:rPr lang="en-IN" sz="2400">
                    <a:solidFill>
                      <a:srgbClr val="111827"/>
                    </a:solidFill>
                    <a:latin typeface="Cambria Math" panose="02040503050406030204" pitchFamily="18" charset="0"/>
                  </a:rPr>
                  <a:t>$\hat e_1,\hat e_2,\hat e_3$</a:t>
                </a:r>
                <a:r>
                  <a:rPr sz="2400" b="0">
                    <a:solidFill>
                      <a:srgbClr val="111827"/>
                    </a:solidFill>
                    <a:latin typeface="Arial"/>
                  </a:rPr>
                  <a:t>: </a:t>
                </a:r>
                <a:r>
                  <a:rPr lang="en-IN" sz="2400">
                    <a:solidFill>
                      <a:srgbClr val="111827"/>
                    </a:solidFill>
                    <a:latin typeface="Cambria Math" panose="02040503050406030204" pitchFamily="18" charset="0"/>
                  </a:rPr>
                  <a:t>$\sum|\vec a\times\hat e_k|^2=2|\vec a|^2$</a:t>
                </a:r>
                <a:r>
                  <a:rPr sz="2400" b="0">
                    <a:solidFill>
                      <a:srgbClr val="111827"/>
                    </a:solidFill>
                    <a:latin typeface="Arial"/>
                  </a:rPr>
                  <a:t> (here </a:t>
                </a:r>
                <a:r>
                  <a:rPr lang="en-IN" sz="2400">
                    <a:solidFill>
                      <a:srgbClr val="111827"/>
                    </a:solidFill>
                    <a:latin typeface="Cambria Math" panose="02040503050406030204" pitchFamily="18" charset="0"/>
                  </a:rPr>
                  <a:t>$18$</a:t>
                </a:r>
                <a:r>
                  <a:rPr sz="2400" b="0">
                    <a:solidFill>
                      <a:srgbClr val="111827"/>
                    </a:solidFill>
                    <a:latin typeface="Arial"/>
                  </a:rPr>
                  <a:t> for </a:t>
                </a:r>
                <a:r>
                  <a:rPr lang="en-IN" sz="2400">
                    <a:solidFill>
                      <a:srgbClr val="111827"/>
                    </a:solidFill>
                    <a:latin typeface="Cambria Math" panose="02040503050406030204" pitchFamily="18" charset="0"/>
                  </a:rPr>
                  <a:t>$|\vec a|^2=9$</a:t>
                </a:r>
                <a:r>
                  <a:rPr sz="2400" b="0">
                    <a:solidFill>
                      <a:srgbClr val="111827"/>
                    </a:solidFill>
                    <a:latin typeface="Arial"/>
                  </a:rPr>
                  <a:t>), because </a:t>
                </a:r>
                <a:r>
                  <a:rPr lang="en-IN" sz="2400">
                    <a:solidFill>
                      <a:srgbClr val="111827"/>
                    </a:solidFill>
                    <a:latin typeface="Cambria Math" panose="02040503050406030204" pitchFamily="18" charset="0"/>
                  </a:rPr>
                  <a:t>$\sum(\vec a\cdot\hat e_k)^2=|\vec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$\sum_k\hat e_k\times(\vec a\times\hat e_k)=2\vec a$</a:t>
                </a:r>
                <a:r>
                  <a:rPr sz="2400" b="0">
                    <a:solidFill>
                      <a:srgbClr val="111827"/>
                    </a:solidFill>
                    <a:latin typeface="Arial"/>
                  </a:rPr>
                  <a:t>, a handy identity for sums over </a:t>
                </a:r>
                <a:r>
                  <a:rPr lang="en-IN" sz="2400">
                    <a:solidFill>
                      <a:srgbClr val="111827"/>
                    </a:solidFill>
                    <a:latin typeface="Cambria Math" panose="02040503050406030204" pitchFamily="18" charset="0"/>
                  </a:rPr>
                  <a:t>$\hat i,\hat j,\hat 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 the angle between the planes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be the line that meets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makes an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with the normal of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the angle between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e>
                    </m:d>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e>
                    </m:d>
                  </m:oMath>
                </a14:m>
                <a:r>
                  <a:rPr sz="2400" b="0">
                    <a:solidFill>
                      <a:srgbClr val="111827"/>
                    </a:solidFill>
                    <a:latin typeface="Arial"/>
                  </a:rPr>
                  <a:t> is equal to ______ .</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t>
                </a:r>
                <a:r>
                  <a:rPr sz="2400" b="0">
                    <a:solidFill>
                      <a:srgbClr val="111827"/>
                    </a:solidFill>
                    <a:latin typeface="Arial"/>
                  </a:rPr>
                  <a:t> be the angle between the planes </a:t>
                </a:r>
                <a:r>
                  <a:rPr lang="en-IN" sz="2400">
                    <a:solidFill>
                      <a:srgbClr val="111827"/>
                    </a:solidFill>
                    <a:latin typeface="Cambria Math" panose="02040503050406030204" pitchFamily="18" charset="0"/>
                  </a:rPr>
                  <a:t>$P_1:\vec r\cdot(\hat i+\hat j+2\hat k)=9$</a:t>
                </a:r>
                <a:r>
                  <a:rPr sz="2400" b="0">
                    <a:solidFill>
                      <a:srgbClr val="111827"/>
                    </a:solidFill>
                    <a:latin typeface="Arial"/>
                  </a:rPr>
                  <a:t> and </a:t>
                </a:r>
                <a:r>
                  <a:rPr lang="en-IN" sz="2400">
                    <a:solidFill>
                      <a:srgbClr val="111827"/>
                    </a:solidFill>
                    <a:latin typeface="Cambria Math" panose="02040503050406030204" pitchFamily="18" charset="0"/>
                  </a:rPr>
                  <a:t>$P_2:\vec r\cdot(2\hat i-\hat j+\hat k)=15$</a:t>
                </a:r>
                <a:r>
                  <a:rPr sz="2400" b="0">
                    <a:solidFill>
                      <a:srgbClr val="111827"/>
                    </a:solidFill>
                    <a:latin typeface="Arial"/>
                  </a:rPr>
                  <a:t>. Let </a:t>
                </a:r>
                <a:r>
                  <a:rPr lang="en-IN" sz="2400">
                    <a:solidFill>
                      <a:srgbClr val="111827"/>
                    </a:solidFill>
                    <a:latin typeface="Cambria Math" panose="02040503050406030204" pitchFamily="18" charset="0"/>
                  </a:rPr>
                  <a:t>$L$</a:t>
                </a:r>
                <a:r>
                  <a:rPr sz="2400" b="0">
                    <a:solidFill>
                      <a:srgbClr val="111827"/>
                    </a:solidFill>
                    <a:latin typeface="Arial"/>
                  </a:rPr>
                  <a:t> be the line that meets </a:t>
                </a:r>
                <a:r>
                  <a:rPr lang="en-IN" sz="2400">
                    <a:solidFill>
                      <a:srgbClr val="111827"/>
                    </a:solidFill>
                    <a:latin typeface="Cambria Math" panose="02040503050406030204" pitchFamily="18" charset="0"/>
                  </a:rPr>
                  <a:t>$P_2$</a:t>
                </a:r>
                <a:r>
                  <a:rPr sz="2400" b="0">
                    <a:solidFill>
                      <a:srgbClr val="111827"/>
                    </a:solidFill>
                    <a:latin typeface="Arial"/>
                  </a:rPr>
                  <a:t> at the point </a:t>
                </a:r>
                <a:r>
                  <a:rPr lang="en-IN" sz="2400">
                    <a:solidFill>
                      <a:srgbClr val="111827"/>
                    </a:solidFill>
                    <a:latin typeface="Cambria Math" panose="02040503050406030204" pitchFamily="18" charset="0"/>
                  </a:rPr>
                  <a:t>$(4,-2,5)$</a:t>
                </a:r>
                <a:r>
                  <a:rPr sz="2400" b="0">
                    <a:solidFill>
                      <a:srgbClr val="111827"/>
                    </a:solidFill>
                    <a:latin typeface="Arial"/>
                  </a:rPr>
                  <a:t> and makes an angle </a:t>
                </a:r>
                <a:r>
                  <a:rPr lang="en-IN" sz="2400">
                    <a:solidFill>
                      <a:srgbClr val="111827"/>
                    </a:solidFill>
                    <a:latin typeface="Cambria Math" panose="02040503050406030204" pitchFamily="18" charset="0"/>
                  </a:rPr>
                  <a:t>$\theta$</a:t>
                </a:r>
                <a:r>
                  <a:rPr sz="2400" b="0">
                    <a:solidFill>
                      <a:srgbClr val="111827"/>
                    </a:solidFill>
                    <a:latin typeface="Arial"/>
                  </a:rPr>
                  <a:t> with the normal of </a:t>
                </a:r>
                <a:r>
                  <a:rPr lang="en-IN" sz="2400">
                    <a:solidFill>
                      <a:srgbClr val="111827"/>
                    </a:solidFill>
                    <a:latin typeface="Cambria Math" panose="02040503050406030204" pitchFamily="18" charset="0"/>
                  </a:rPr>
                  <a:t>$P_2$</a:t>
                </a:r>
                <a:r>
                  <a:rPr sz="2400" b="0">
                    <a:solidFill>
                      <a:srgbClr val="111827"/>
                    </a:solidFill>
                    <a:latin typeface="Arial"/>
                  </a:rPr>
                  <a:t>. If </a:t>
                </a:r>
                <a:r>
                  <a:rPr lang="en-IN" sz="2400">
                    <a:solidFill>
                      <a:srgbClr val="111827"/>
                    </a:solidFill>
                    <a:latin typeface="Cambria Math" panose="02040503050406030204" pitchFamily="18" charset="0"/>
                  </a:rPr>
                  <a:t>$\alpha$</a:t>
                </a:r>
                <a:r>
                  <a:rPr sz="2400" b="0">
                    <a:solidFill>
                      <a:srgbClr val="111827"/>
                    </a:solidFill>
                    <a:latin typeface="Arial"/>
                  </a:rPr>
                  <a:t> is the angle between </a:t>
                </a:r>
                <a:r>
                  <a:rPr lang="en-IN" sz="2400">
                    <a:solidFill>
                      <a:srgbClr val="111827"/>
                    </a:solidFill>
                    <a:latin typeface="Cambria Math" panose="02040503050406030204" pitchFamily="18" charset="0"/>
                  </a:rPr>
                  <a:t>$L$</a:t>
                </a:r>
                <a:r>
                  <a:rPr sz="2400" b="0">
                    <a:solidFill>
                      <a:srgbClr val="111827"/>
                    </a:solidFill>
                    <a:latin typeface="Arial"/>
                  </a:rPr>
                  <a:t> and </a:t>
                </a:r>
                <a:r>
                  <a:rPr lang="en-IN" sz="2400">
                    <a:solidFill>
                      <a:srgbClr val="111827"/>
                    </a:solidFill>
                    <a:latin typeface="Cambria Math" panose="02040503050406030204" pitchFamily="18" charset="0"/>
                  </a:rPr>
                  <a:t>$P_2$</a:t>
                </a:r>
                <a:r>
                  <a:rPr sz="2400" b="0">
                    <a:solidFill>
                      <a:srgbClr val="111827"/>
                    </a:solidFill>
                    <a:latin typeface="Arial"/>
                  </a:rPr>
                  <a:t>, then </a:t>
                </a:r>
                <a:r>
                  <a:rPr lang="en-IN" sz="2400">
                    <a:solidFill>
                      <a:srgbClr val="111827"/>
                    </a:solidFill>
                    <a:latin typeface="Cambria Math" panose="02040503050406030204" pitchFamily="18" charset="0"/>
                  </a:rPr>
                  <a:t>$\left(\tan^2\theta\right)\left(\cot^2\alpha\right)$</a:t>
                </a:r>
                <a:r>
                  <a:rPr sz="2400" b="0">
                    <a:solidFill>
                      <a:srgbClr val="111827"/>
                    </a:solidFill>
                    <a:latin typeface="Arial"/>
                  </a:rPr>
                  <a:t> is equal to ______ .</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between two planes, Angle between a line and a plane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angle between a line and a plane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(angle with the normal), so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θ</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angle between a line and a plane is </a:t>
                </a:r>
                <a:r>
                  <a:rPr lang="en-IN" sz="2400">
                    <a:solidFill>
                      <a:srgbClr val="78350F"/>
                    </a:solidFill>
                    <a:latin typeface="Cambria Math" panose="02040503050406030204" pitchFamily="18" charset="0"/>
                  </a:rPr>
                  <a:t>$\frac{\pi}{2}-$</a:t>
                </a:r>
                <a:r>
                  <a:rPr sz="2400" b="0">
                    <a:solidFill>
                      <a:srgbClr val="78350F"/>
                    </a:solidFill>
                    <a:latin typeface="Arial"/>
                  </a:rPr>
                  <a:t>(angle with the normal), so </a:t>
                </a:r>
                <a:r>
                  <a:rPr lang="en-IN" sz="2400">
                    <a:solidFill>
                      <a:srgbClr val="78350F"/>
                    </a:solidFill>
                    <a:latin typeface="Cambria Math" panose="02040503050406030204" pitchFamily="18" charset="0"/>
                  </a:rPr>
                  <a:t>$\alpha=\frac{\pi}{2}-\theta$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each of magnitude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num>
                      <m:den>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Normals: </a:t>
                </a:r>
                <a:r>
                  <a:rPr lang="en-IN" sz="2400">
                    <a:solidFill>
                      <a:srgbClr val="111827"/>
                    </a:solidFill>
                    <a:latin typeface="Cambria Math" panose="02040503050406030204" pitchFamily="18" charset="0"/>
                  </a:rPr>
                  <a:t>$\vec n_1=\hat i+\hat j+2\hat k$</a:t>
                </a:r>
                <a:r>
                  <a:rPr sz="2400" b="0">
                    <a:solidFill>
                      <a:srgbClr val="111827"/>
                    </a:solidFill>
                    <a:latin typeface="Arial"/>
                  </a:rPr>
                  <a:t> and </a:t>
                </a:r>
                <a:r>
                  <a:rPr lang="en-IN" sz="2400">
                    <a:solidFill>
                      <a:srgbClr val="111827"/>
                    </a:solidFill>
                    <a:latin typeface="Cambria Math" panose="02040503050406030204" pitchFamily="18" charset="0"/>
                  </a:rPr>
                  <a:t>$\vec n_2=2\hat i-\hat j+\hat k$</a:t>
                </a:r>
                <a:r>
                  <a:rPr sz="2400" b="0">
                    <a:solidFill>
                      <a:srgbClr val="111827"/>
                    </a:solidFill>
                    <a:latin typeface="Arial"/>
                  </a:rPr>
                  <a:t>, each of magnitude </a:t>
                </a:r>
                <a:r>
                  <a:rPr lang="en-IN" sz="2400">
                    <a:solidFill>
                      <a:srgbClr val="111827"/>
                    </a:solidFill>
                    <a:latin typeface="Cambria Math" panose="02040503050406030204" pitchFamily="18" charset="0"/>
                  </a:rPr>
                  <a:t>$\sqrt6$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$\cos\theta=\frac{\vec n_1\cdot\vec n_2}{|\vec n_1||\vec n_2|}=\frac{2-1+2}{6}=\frac{3}{6}=\frac12$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$\theta=\frac{\pi}{3}$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makes the angle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with the normal of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so the angle between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the plane is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t>
                </a:r>
                <a:r>
                  <a:rPr sz="2400" b="0">
                    <a:solidFill>
                      <a:srgbClr val="111827"/>
                    </a:solidFill>
                    <a:latin typeface="Arial"/>
                  </a:rPr>
                  <a:t> makes the angle </a:t>
                </a:r>
                <a:r>
                  <a:rPr lang="en-IN" sz="2400">
                    <a:solidFill>
                      <a:srgbClr val="111827"/>
                    </a:solidFill>
                    <a:latin typeface="Cambria Math" panose="02040503050406030204" pitchFamily="18" charset="0"/>
                  </a:rPr>
                  <a:t>$\theta=\frac{\pi}{3}$</a:t>
                </a:r>
                <a:r>
                  <a:rPr sz="2400" b="0">
                    <a:solidFill>
                      <a:srgbClr val="111827"/>
                    </a:solidFill>
                    <a:latin typeface="Arial"/>
                  </a:rPr>
                  <a:t> with the normal of </a:t>
                </a:r>
                <a:r>
                  <a:rPr lang="en-IN" sz="2400">
                    <a:solidFill>
                      <a:srgbClr val="111827"/>
                    </a:solidFill>
                    <a:latin typeface="Cambria Math" panose="02040503050406030204" pitchFamily="18" charset="0"/>
                  </a:rPr>
                  <a:t>$P_2$</a:t>
                </a:r>
                <a:r>
                  <a:rPr sz="2400" b="0">
                    <a:solidFill>
                      <a:srgbClr val="111827"/>
                    </a:solidFill>
                    <a:latin typeface="Arial"/>
                  </a:rPr>
                  <a:t>, so the angle between </a:t>
                </a:r>
                <a:r>
                  <a:rPr lang="en-IN" sz="2400">
                    <a:solidFill>
                      <a:srgbClr val="111827"/>
                    </a:solidFill>
                    <a:latin typeface="Cambria Math" panose="02040503050406030204" pitchFamily="18" charset="0"/>
                  </a:rPr>
                  <a:t>$L$</a:t>
                </a:r>
                <a:r>
                  <a:rPr sz="2400" b="0">
                    <a:solidFill>
                      <a:srgbClr val="111827"/>
                    </a:solidFill>
                    <a:latin typeface="Arial"/>
                  </a:rPr>
                  <a:t> and the plane is </a:t>
                </a:r>
                <a:r>
                  <a:rPr lang="en-IN" sz="2400">
                    <a:solidFill>
                      <a:srgbClr val="111827"/>
                    </a:solidFill>
                    <a:latin typeface="Cambria Math" panose="02040503050406030204" pitchFamily="18" charset="0"/>
                  </a:rPr>
                  <a:t>$\alpha=\frac{\pi}{2}-\frac{\pi}{3}=\frac{\pi}{6}$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$\tan^2\theta=\tan^2\frac{\pi}{3}=3$</a:t>
                </a:r>
                <a:r>
                  <a:rPr sz="2400" b="0">
                    <a:solidFill>
                      <a:srgbClr val="111827"/>
                    </a:solidFill>
                    <a:latin typeface="Arial"/>
                  </a:rPr>
                  <a:t> and </a:t>
                </a:r>
                <a:r>
                  <a:rPr lang="en-IN" sz="2400">
                    <a:solidFill>
                      <a:srgbClr val="111827"/>
                    </a:solidFill>
                    <a:latin typeface="Cambria Math" panose="02040503050406030204" pitchFamily="18" charset="0"/>
                  </a:rPr>
                  <a:t>$\cot^2\alpha=\cot^2\frac{\pi}{6}=3$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$(\tan^2\theta)(\cot^2\alpha)=3\cdot3=9$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from </a:t>
                </a:r>
                <a14:m>
                  <m:oMath xmlns:m="http://schemas.openxmlformats.org/officeDocument/2006/math">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so the product is </a:t>
                </a:r>
                <a14:m>
                  <m:oMath xmlns:m="http://schemas.openxmlformats.org/officeDocument/2006/math">
                    <m:sSup>
                      <m:e>
                        <m:r>
                          <m:rPr>
                            <m:sty m:val="p"/>
                          </m:rPr>
                          <a:rPr lang="en-IN" sz="2400">
                            <a:solidFill>
                              <a:srgbClr val="78350F"/>
                            </a:solidFill>
                            <a:latin typeface="Cambria Math" panose="02040503050406030204" pitchFamily="18" charset="0"/>
                          </a:rPr>
                          <m:t>tan</m:t>
                        </m:r>
                      </m:e>
                      <m:sup>
                        <m:r>
                          <a:rPr lang="en-IN" sz="2400" i="1">
                            <a:solidFill>
                              <a:srgbClr val="78350F"/>
                            </a:solidFill>
                            <a:latin typeface="Cambria Math" panose="02040503050406030204" pitchFamily="18" charset="0"/>
                          </a:rPr>
                          <m:t>4</m:t>
                        </m:r>
                      </m:sup>
                    </m:sSup>
                    <m:r>
                      <a:rPr lang="en-IN" sz="2400" i="1">
                        <a:solidFill>
                          <a:srgbClr val="78350F"/>
                        </a:solidFill>
                        <a:latin typeface="Cambria Math" panose="02040503050406030204" pitchFamily="18" charset="0"/>
                      </a:rPr>
                      <m:t>θ</m:t>
                    </m:r>
                  </m:oMath>
                </a14:m>
                <a:r>
                  <a:rPr sz="2400" b="0">
                    <a:solidFill>
                      <a:srgbClr val="78350F"/>
                    </a:solidFill>
                    <a:latin typeface="Arial"/>
                  </a:rPr>
                  <a:t> with no angle recognition.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r>
                  <a:rPr lang="en-IN" sz="2400">
                    <a:solidFill>
                      <a:srgbClr val="78350F"/>
                    </a:solidFill>
                    <a:latin typeface="Cambria Math" panose="02040503050406030204" pitchFamily="18" charset="0"/>
                  </a:rPr>
                  <a:t>$\tan\theta$</a:t>
                </a:r>
                <a:r>
                  <a:rPr sz="2400" b="0">
                    <a:solidFill>
                      <a:srgbClr val="78350F"/>
                    </a:solidFill>
                    <a:latin typeface="Arial"/>
                  </a:rPr>
                  <a:t> from </a:t>
                </a:r>
                <a:r>
                  <a:rPr lang="en-IN" sz="2400">
                    <a:solidFill>
                      <a:srgbClr val="78350F"/>
                    </a:solidFill>
                    <a:latin typeface="Cambria Math" panose="02040503050406030204" pitchFamily="18" charset="0"/>
                  </a:rPr>
                  <a:t>$|\vec n_1\times\vec n_2|/(\vec n_1\cdot\vec n_2)$</a:t>
                </a:r>
                <a:r>
                  <a:rPr sz="2400" b="0">
                    <a:solidFill>
                      <a:srgbClr val="78350F"/>
                    </a:solidFill>
                    <a:latin typeface="Arial"/>
                  </a:rPr>
                  <a:t> and use </a:t>
                </a:r>
                <a:r>
                  <a:rPr lang="en-IN" sz="2400">
                    <a:solidFill>
                      <a:srgbClr val="78350F"/>
                    </a:solidFill>
                    <a:latin typeface="Cambria Math" panose="02040503050406030204" pitchFamily="18" charset="0"/>
                  </a:rPr>
                  <a:t>$\cot\alpha=\tan\theta$</a:t>
                </a:r>
                <a:r>
                  <a:rPr sz="2400" b="0">
                    <a:solidFill>
                      <a:srgbClr val="78350F"/>
                    </a:solidFill>
                    <a:latin typeface="Arial"/>
                  </a:rPr>
                  <a:t>, so the product is </a:t>
                </a:r>
                <a:r>
                  <a:rPr lang="en-IN" sz="2400">
                    <a:solidFill>
                      <a:srgbClr val="78350F"/>
                    </a:solidFill>
                    <a:latin typeface="Cambria Math" panose="02040503050406030204" pitchFamily="18" charset="0"/>
                  </a:rPr>
                  <a:t>$\tan^4\theta$</a:t>
                </a:r>
                <a:r>
                  <a:rPr sz="2400" b="0">
                    <a:solidFill>
                      <a:srgbClr val="78350F"/>
                    </a:solidFill>
                    <a:latin typeface="Arial"/>
                  </a:rPr>
                  <a:t> with no angle recognition.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of magnitude </a:t>
                </a:r>
                <a14:m>
                  <m:oMath xmlns:m="http://schemas.openxmlformats.org/officeDocument/2006/math">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num>
                      <m:den>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makes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with the normal, 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n_1\times\vec n_2=(\hat i+\hat j+2\hat k)\times(2\hat i-\hat j+\hat k)=3\hat i+3\hat j-3\hat k$</a:t>
                </a:r>
                <a:r>
                  <a:rPr sz="2400" b="0">
                    <a:solidFill>
                      <a:srgbClr val="111827"/>
                    </a:solidFill>
                    <a:latin typeface="Arial"/>
                  </a:rPr>
                  <a:t>, of magnitude </a:t>
                </a:r>
                <a:r>
                  <a:rPr lang="en-IN" sz="2400">
                    <a:solidFill>
                      <a:srgbClr val="111827"/>
                    </a:solidFill>
                    <a:latin typeface="Cambria Math" panose="02040503050406030204" pitchFamily="18" charset="0"/>
                  </a:rPr>
                  <a:t>$3\sqrt3$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n_1\cdot\vec n_2=3$</a:t>
                </a:r>
                <a:r>
                  <a:rPr sz="2400" b="0">
                    <a:solidFill>
                      <a:srgbClr val="111827"/>
                    </a:solidFill>
                    <a:latin typeface="Arial"/>
                  </a:rPr>
                  <a:t>, so </a:t>
                </a:r>
                <a:r>
                  <a:rPr lang="en-IN" sz="2400">
                    <a:solidFill>
                      <a:srgbClr val="111827"/>
                    </a:solidFill>
                    <a:latin typeface="Cambria Math" panose="02040503050406030204" pitchFamily="18" charset="0"/>
                  </a:rPr>
                  <a:t>$\tan\theta=\frac{|\vec n_1\times\vec n_2|}{\vec n_1\cdot\vec n_2}=\sqrt3$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line makes angle </a:t>
                </a:r>
                <a:r>
                  <a:rPr lang="en-IN" sz="2400">
                    <a:solidFill>
                      <a:srgbClr val="111827"/>
                    </a:solidFill>
                    <a:latin typeface="Cambria Math" panose="02040503050406030204" pitchFamily="18" charset="0"/>
                  </a:rPr>
                  <a:t>$\theta$</a:t>
                </a:r>
                <a:r>
                  <a:rPr sz="2400" b="0">
                    <a:solidFill>
                      <a:srgbClr val="111827"/>
                    </a:solidFill>
                    <a:latin typeface="Arial"/>
                  </a:rPr>
                  <a:t> with the normal, hence </a:t>
                </a:r>
                <a:r>
                  <a:rPr lang="en-IN" sz="2400">
                    <a:solidFill>
                      <a:srgbClr val="111827"/>
                    </a:solidFill>
                    <a:latin typeface="Cambria Math" panose="02040503050406030204" pitchFamily="18" charset="0"/>
                  </a:rPr>
                  <a:t>$\alpha=\frac{\pi}{2}-\theta$</a:t>
                </a:r>
                <a:r>
                  <a:rPr sz="2400" b="0">
                    <a:solidFill>
                      <a:srgbClr val="111827"/>
                    </a:solidFill>
                    <a:latin typeface="Arial"/>
                  </a:rPr>
                  <a:t> and </a:t>
                </a:r>
                <a:r>
                  <a:rPr lang="en-IN" sz="2400">
                    <a:solidFill>
                      <a:srgbClr val="111827"/>
                    </a:solidFill>
                    <a:latin typeface="Cambria Math" panose="02040503050406030204" pitchFamily="18" charset="0"/>
                  </a:rPr>
                  <a:t>$\cot\alpha=\tan\theta$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does not matter: the answer depends only on the two angles.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$(\tan^2\theta)(\cot^2\alpha)=\tan^4\theta=(\sqrt3)^4=9$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$(4,-2,5)$</a:t>
                </a:r>
                <a:r>
                  <a:rPr sz="2400" b="0">
                    <a:solidFill>
                      <a:srgbClr val="111827"/>
                    </a:solidFill>
                    <a:latin typeface="Arial"/>
                  </a:rPr>
                  <a:t> does not matter: the answer depends only on the two angles.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a line and a plane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(angle between the line and the normal),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num>
                      <m:den>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gives the angle between two vectors (or planes) without computing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two planes equals the angle between their normals (taking the acute value); the position of a point on the line is irrelevant to an angle question.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 between a line and a plane </a:t>
                </a:r>
                <a:r>
                  <a:rPr lang="en-IN" sz="2400">
                    <a:solidFill>
                      <a:srgbClr val="111827"/>
                    </a:solidFill>
                    <a:latin typeface="Cambria Math" panose="02040503050406030204" pitchFamily="18" charset="0"/>
                  </a:rPr>
                  <a:t>$=\frac{\pi}{2}-$</a:t>
                </a:r>
                <a:r>
                  <a:rPr sz="2400" b="0">
                    <a:solidFill>
                      <a:srgbClr val="111827"/>
                    </a:solidFill>
                    <a:latin typeface="Arial"/>
                  </a:rPr>
                  <a:t> (angle between the line and the normal), so </a:t>
                </a:r>
                <a:r>
                  <a:rPr lang="en-IN" sz="2400">
                    <a:solidFill>
                      <a:srgbClr val="111827"/>
                    </a:solidFill>
                    <a:latin typeface="Cambria Math" panose="02040503050406030204" pitchFamily="18" charset="0"/>
                  </a:rPr>
                  <a:t>$\sin\alpha=\cos\theta$</a:t>
                </a:r>
                <a:r>
                  <a:rPr sz="2400" b="0">
                    <a:solidFill>
                      <a:srgbClr val="111827"/>
                    </a:solidFill>
                    <a:latin typeface="Arial"/>
                  </a:rPr>
                  <a:t> and </a:t>
                </a:r>
                <a:r>
                  <a:rPr lang="en-IN" sz="2400">
                    <a:solidFill>
                      <a:srgbClr val="111827"/>
                    </a:solidFill>
                    <a:latin typeface="Cambria Math" panose="02040503050406030204" pitchFamily="18" charset="0"/>
                  </a:rPr>
                  <a:t>$\cot\alpha=\tan\theta$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$\tan\theta=\frac{|\vec n_1\times\vec n_2|}{\vec n_1\cdot\vec n_2}$</a:t>
                </a:r>
                <a:r>
                  <a:rPr sz="2400" b="0">
                    <a:solidFill>
                      <a:srgbClr val="111827"/>
                    </a:solidFill>
                    <a:latin typeface="Arial"/>
                  </a:rPr>
                  <a:t> gives the angle between two vectors (or planes) without computing </a:t>
                </a:r>
                <a:r>
                  <a:rPr lang="en-IN" sz="2400">
                    <a:solidFill>
                      <a:srgbClr val="111827"/>
                    </a:solidFill>
                    <a:latin typeface="Cambria Math" panose="02040503050406030204" pitchFamily="18" charset="0"/>
                  </a:rPr>
                  <a:t>$\cos^{-1}$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two planes equals the angle between their normals (taking the acute value); the position of a point on the line is irrelevant to an angle question.</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be an arbitrary point having sum of the squares of the distances from the planes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equal to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If the locus of the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is equal to 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t>
                </a:r>
                <a:r>
                  <a:rPr sz="2400" b="0">
                    <a:solidFill>
                      <a:srgbClr val="111827"/>
                    </a:solidFill>
                    <a:latin typeface="Arial"/>
                  </a:rPr>
                  <a:t> be an arbitrary point having sum of the squares of the distances from the planes </a:t>
                </a:r>
                <a:r>
                  <a:rPr lang="en-IN" sz="2400">
                    <a:solidFill>
                      <a:srgbClr val="111827"/>
                    </a:solidFill>
                    <a:latin typeface="Cambria Math" panose="02040503050406030204" pitchFamily="18" charset="0"/>
                  </a:rPr>
                  <a:t>$x+y+z=0$</a:t>
                </a:r>
                <a:r>
                  <a:rPr sz="2400" b="0">
                    <a:solidFill>
                      <a:srgbClr val="111827"/>
                    </a:solidFill>
                    <a:latin typeface="Arial"/>
                  </a:rPr>
                  <a:t>, </a:t>
                </a:r>
                <a:r>
                  <a:rPr lang="en-IN" sz="2400">
                    <a:solidFill>
                      <a:srgbClr val="111827"/>
                    </a:solidFill>
                    <a:latin typeface="Cambria Math" panose="02040503050406030204" pitchFamily="18" charset="0"/>
                  </a:rPr>
                  <a:t>$lx-nz=0$</a:t>
                </a:r>
                <a:r>
                  <a:rPr sz="2400" b="0">
                    <a:solidFill>
                      <a:srgbClr val="111827"/>
                    </a:solidFill>
                    <a:latin typeface="Arial"/>
                  </a:rPr>
                  <a:t> and </a:t>
                </a:r>
                <a:r>
                  <a:rPr lang="en-IN" sz="2400">
                    <a:solidFill>
                      <a:srgbClr val="111827"/>
                    </a:solidFill>
                    <a:latin typeface="Cambria Math" panose="02040503050406030204" pitchFamily="18" charset="0"/>
                  </a:rPr>
                  <a:t>$x-2y+z=0$</a:t>
                </a:r>
                <a:r>
                  <a:rPr sz="2400" b="0">
                    <a:solidFill>
                      <a:srgbClr val="111827"/>
                    </a:solidFill>
                    <a:latin typeface="Arial"/>
                  </a:rPr>
                  <a:t> equal to </a:t>
                </a:r>
                <a:r>
                  <a:rPr lang="en-IN" sz="2400">
                    <a:solidFill>
                      <a:srgbClr val="111827"/>
                    </a:solidFill>
                    <a:latin typeface="Cambria Math" panose="02040503050406030204" pitchFamily="18" charset="0"/>
                  </a:rPr>
                  <a:t>$9$</a:t>
                </a:r>
                <a:r>
                  <a:rPr sz="2400" b="0">
                    <a:solidFill>
                      <a:srgbClr val="111827"/>
                    </a:solidFill>
                    <a:latin typeface="Arial"/>
                  </a:rPr>
                  <a:t>. If the locus of the point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$x^2+y^2+z^2=9$</a:t>
                </a:r>
                <a:r>
                  <a:rPr sz="2400" b="0">
                    <a:solidFill>
                      <a:srgbClr val="111827"/>
                    </a:solidFill>
                    <a:latin typeface="Arial"/>
                  </a:rPr>
                  <a:t>, then the value of </a:t>
                </a:r>
                <a:r>
                  <a:rPr lang="en-IN" sz="2400">
                    <a:solidFill>
                      <a:srgbClr val="111827"/>
                    </a:solidFill>
                    <a:latin typeface="Cambria Math" panose="02040503050406030204" pitchFamily="18" charset="0"/>
                  </a:rPr>
                  <a:t>$l-n$</a:t>
                </a:r>
                <a:r>
                  <a:rPr sz="2400" b="0">
                    <a:solidFill>
                      <a:srgbClr val="111827"/>
                    </a:solidFill>
                    <a:latin typeface="Arial"/>
                  </a:rPr>
                  <a:t> is equal to 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Distance of a point from a plane, Locus of a point (sum of squared distances)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the locus and comparing coefficients with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oMath>
                </a14:m>
                <a:r>
                  <a:rPr sz="2400" b="0">
                    <a:solidFill>
                      <a:srgbClr val="78350F"/>
                    </a:solidFill>
                    <a:latin typeface="Arial"/>
                  </a:rPr>
                  <a:t> forces the cross term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𝑧</m:t>
                    </m:r>
                  </m:oMath>
                </a14:m>
                <a:r>
                  <a:rPr sz="2400" b="0">
                    <a:solidFill>
                      <a:srgbClr val="78350F"/>
                    </a:solidFill>
                    <a:latin typeface="Arial"/>
                  </a:rPr>
                  <a:t> to vanish, giving </a:t>
                </a:r>
                <a14:m>
                  <m:oMath xmlns:m="http://schemas.openxmlformats.org/officeDocument/2006/math">
                    <m:r>
                      <a:rPr lang="en-IN" sz="2400" i="1">
                        <a:solidFill>
                          <a:srgbClr val="78350F"/>
                        </a:solidFill>
                        <a:latin typeface="Cambria Math" panose="02040503050406030204" pitchFamily="18" charset="0"/>
                      </a:rPr>
                      <m:t>𝑙</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Writing the locus and comparing coefficients with </a:t>
                </a:r>
                <a:r>
                  <a:rPr lang="en-IN" sz="2400">
                    <a:solidFill>
                      <a:srgbClr val="78350F"/>
                    </a:solidFill>
                    <a:latin typeface="Cambria Math" panose="02040503050406030204" pitchFamily="18" charset="0"/>
                  </a:rPr>
                  <a:t>$x^2+y^2+z^2=9$</a:t>
                </a:r>
                <a:r>
                  <a:rPr sz="2400" b="0">
                    <a:solidFill>
                      <a:srgbClr val="78350F"/>
                    </a:solidFill>
                    <a:latin typeface="Arial"/>
                  </a:rPr>
                  <a:t> forces the cross term </a:t>
                </a:r>
                <a:r>
                  <a:rPr lang="en-IN" sz="2400">
                    <a:solidFill>
                      <a:srgbClr val="78350F"/>
                    </a:solidFill>
                    <a:latin typeface="Cambria Math" panose="02040503050406030204" pitchFamily="18" charset="0"/>
                  </a:rPr>
                  <a:t>$xz$</a:t>
                </a:r>
                <a:r>
                  <a:rPr sz="2400" b="0">
                    <a:solidFill>
                      <a:srgbClr val="78350F"/>
                    </a:solidFill>
                    <a:latin typeface="Arial"/>
                  </a:rPr>
                  <a:t> to vanish, giving </a:t>
                </a:r>
                <a:r>
                  <a:rPr lang="en-IN" sz="2400">
                    <a:solidFill>
                      <a:srgbClr val="78350F"/>
                    </a:solidFill>
                    <a:latin typeface="Cambria Math" panose="02040503050406030204" pitchFamily="18" charset="0"/>
                  </a:rPr>
                  <a:t>$l=n$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sum of squared distances from the three planes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γ</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locus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𝑧</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$P(\alpha,\beta,\gamma)$</a:t>
                </a:r>
                <a:r>
                  <a:rPr sz="2400" b="0">
                    <a:solidFill>
                      <a:srgbClr val="111827"/>
                    </a:solidFill>
                    <a:latin typeface="Arial"/>
                  </a:rPr>
                  <a:t>. The sum of squared distances from the three planes is </a:t>
                </a:r>
                <a:r>
                  <a:rPr lang="en-IN" sz="2400">
                    <a:solidFill>
                      <a:srgbClr val="111827"/>
                    </a:solidFill>
                    <a:latin typeface="Cambria Math" panose="02040503050406030204" pitchFamily="18" charset="0"/>
                  </a:rPr>
                  <a:t>$9$</a:t>
                </a:r>
                <a:r>
                  <a:rPr sz="2400" b="0">
                    <a:solidFill>
                      <a:srgbClr val="111827"/>
                    </a:solidFill>
                    <a:latin typeface="Arial"/>
                  </a:rPr>
                  <a:t>: </a:t>
                </a:r>
                <a:r>
                  <a:rPr lang="en-IN" sz="2400">
                    <a:solidFill>
                      <a:srgbClr val="111827"/>
                    </a:solidFill>
                    <a:latin typeface="Cambria Math" panose="02040503050406030204" pitchFamily="18" charset="0"/>
                  </a:rPr>
                  <a:t>$\left(\frac{\alpha+\beta+\gamma}{\sqrt3}\right)^2+\left(\frac{l\alpha-n\gamma}{\sqrt{l^2+n^2}}\right)^2+\left(\frac{\alpha-2\beta+\gamma}{\sqrt{1+4+1}}\right)^2=9$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locus is </a:t>
                </a:r>
                <a:r>
                  <a:rPr lang="en-IN" sz="2400">
                    <a:solidFill>
                      <a:srgbClr val="111827"/>
                    </a:solidFill>
                    <a:latin typeface="Cambria Math" panose="02040503050406030204" pitchFamily="18" charset="0"/>
                  </a:rPr>
                  <a:t>$\left(\frac{x+y+z}{\sqrt3}\right)^2+\left(\frac{lx-nz}{\sqrt{l^2+n^2}}\right)^2+\left(\frac{x-2y+z}{\sqrt6}\right)^2=9$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locus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Comparing coefficients of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(1)</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$x^2\left(\frac12+\frac{l^2}{l^2+n^2}\right)+y^2\left(\frac13+\frac46\right)+z^2\left(\frac12+\frac{n^2}{l^2+n^2}\right)+2zx\left(\frac12-\frac{ln}{l^2+n^2}\right)=9$</a:t>
                </a:r>
                <a:r>
                  <a:rPr sz="2400" b="0">
                    <a:solidFill>
                      <a:srgbClr val="111827"/>
                    </a:solidFill>
                    <a:latin typeface="Arial"/>
                  </a:rPr>
                  <a:t> (the </a:t>
                </a:r>
                <a:r>
                  <a:rPr lang="en-IN" sz="2400">
                    <a:solidFill>
                      <a:srgbClr val="111827"/>
                    </a:solidFill>
                    <a:latin typeface="Cambria Math" panose="02040503050406030204" pitchFamily="18" charset="0"/>
                  </a:rPr>
                  <a:t>$xy$</a:t>
                </a:r>
                <a:r>
                  <a:rPr sz="2400" b="0">
                    <a:solidFill>
                      <a:srgbClr val="111827"/>
                    </a:solidFill>
                    <a:latin typeface="Arial"/>
                  </a:rPr>
                  <a:t> and </a:t>
                </a:r>
                <a:r>
                  <a:rPr lang="en-IN" sz="2400">
                    <a:solidFill>
                      <a:srgbClr val="111827"/>
                    </a:solidFill>
                    <a:latin typeface="Cambria Math" panose="02040503050406030204" pitchFamily="18" charset="0"/>
                  </a:rPr>
                  <a:t>$yz$</a:t>
                </a:r>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locus is </a:t>
                </a:r>
                <a:r>
                  <a:rPr lang="en-IN" sz="2400">
                    <a:solidFill>
                      <a:srgbClr val="111827"/>
                    </a:solidFill>
                    <a:latin typeface="Cambria Math" panose="02040503050406030204" pitchFamily="18" charset="0"/>
                  </a:rPr>
                  <a:t>$x^2+y^2+z^2=9$</a:t>
                </a:r>
                <a:r>
                  <a:rPr sz="2400" b="0">
                    <a:solidFill>
                      <a:srgbClr val="111827"/>
                    </a:solidFill>
                    <a:latin typeface="Arial"/>
                  </a:rPr>
                  <a:t>. Comparing coefficients of </a:t>
                </a:r>
                <a:r>
                  <a:rPr lang="en-IN" sz="2400">
                    <a:solidFill>
                      <a:srgbClr val="111827"/>
                    </a:solidFill>
                    <a:latin typeface="Cambria Math" panose="02040503050406030204" pitchFamily="18" charset="0"/>
                  </a:rPr>
                  <a:t>$x^2$</a:t>
                </a:r>
                <a:r>
                  <a:rPr sz="2400" b="0">
                    <a:solidFill>
                      <a:srgbClr val="111827"/>
                    </a:solidFill>
                    <a:latin typeface="Arial"/>
                  </a:rPr>
                  <a:t> and </a:t>
                </a:r>
                <a:r>
                  <a:rPr lang="en-IN" sz="2400">
                    <a:solidFill>
                      <a:srgbClr val="111827"/>
                    </a:solidFill>
                    <a:latin typeface="Cambria Math" panose="02040503050406030204" pitchFamily="18" charset="0"/>
                  </a:rPr>
                  <a:t>$zx$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$\frac12+\frac{l^2}{l^2+n^2}=1$</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𝑛</m:t>
                        </m:r>
                      </m:num>
                      <m:den>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(otherwise (1) fails), so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$\frac12-\frac{ln}{l^2+n^2}=0$</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$\frac{l^2}{l^2+n^2}=\frac12$</a:t>
                </a:r>
                <a:r>
                  <a:rPr sz="2400" b="0">
                    <a:solidFill>
                      <a:srgbClr val="111827"/>
                    </a:solidFill>
                    <a:latin typeface="Arial"/>
                  </a:rPr>
                  <a:t> and </a:t>
                </a:r>
                <a:r>
                  <a:rPr lang="en-IN" sz="2400">
                    <a:solidFill>
                      <a:srgbClr val="111827"/>
                    </a:solidFill>
                    <a:latin typeface="Cambria Math" panose="02040503050406030204" pitchFamily="18" charset="0"/>
                  </a:rPr>
                  <a:t>$\frac{ln}{l^2+n^2}=\frac12$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$l^2=ln$</a:t>
                </a:r>
                <a:r>
                  <a:rPr sz="2400" b="0">
                    <a:solidFill>
                      <a:srgbClr val="111827"/>
                    </a:solidFill>
                    <a:latin typeface="Arial"/>
                  </a:rPr>
                  <a:t> with </a:t>
                </a:r>
                <a:r>
                  <a:rPr lang="en-IN" sz="2400">
                    <a:solidFill>
                      <a:srgbClr val="111827"/>
                    </a:solidFill>
                    <a:latin typeface="Cambria Math" panose="02040503050406030204" pitchFamily="18" charset="0"/>
                  </a:rPr>
                  <a:t>$l\neq0$</a:t>
                </a:r>
                <a:r>
                  <a:rPr sz="2400" b="0">
                    <a:solidFill>
                      <a:srgbClr val="111827"/>
                    </a:solidFill>
                    <a:latin typeface="Arial"/>
                  </a:rPr>
                  <a:t> (otherwise (1) fails), so </a:t>
                </a:r>
                <a:r>
                  <a:rPr lang="en-IN" sz="2400">
                    <a:solidFill>
                      <a:srgbClr val="111827"/>
                    </a:solidFill>
                    <a:latin typeface="Cambria Math" panose="02040503050406030204" pitchFamily="18" charset="0"/>
                  </a:rPr>
                  <a:t>$l=n$</a:t>
                </a:r>
                <a:r>
                  <a:rPr sz="2400" b="0">
                    <a:solidFill>
                      <a:srgbClr val="111827"/>
                    </a:solidFill>
                    <a:latin typeface="Arial"/>
                  </a:rPr>
                  <a:t> and </a:t>
                </a:r>
                <a:r>
                  <a:rPr lang="en-IN" sz="2400">
                    <a:solidFill>
                      <a:srgbClr val="111827"/>
                    </a:solidFill>
                    <a:latin typeface="Cambria Math" panose="02040503050406030204" pitchFamily="18" charset="0"/>
                  </a:rPr>
                  <a:t>$l-n=0$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a:t>
            </a:r>
            <a:endParaRPr sz="2800">
              <a:solidFill>
                <a:srgbClr val="15803D"/>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squares of distances equals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for all points exactly when the three unit normals are mutually perpendicular.</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sum of squares of distances equals </a:t>
                </a:r>
                <a:r>
                  <a:rPr lang="en-IN" sz="2400">
                    <a:solidFill>
                      <a:srgbClr val="78350F"/>
                    </a:solidFill>
                    <a:latin typeface="Cambria Math" panose="02040503050406030204" pitchFamily="18" charset="0"/>
                  </a:rPr>
                  <a:t>$x^2+y^2+z^2$</a:t>
                </a:r>
                <a:r>
                  <a:rPr sz="2400" b="0">
                    <a:solidFill>
                      <a:srgbClr val="78350F"/>
                    </a:solidFill>
                    <a:latin typeface="Arial"/>
                  </a:rPr>
                  <a:t> for all points exactly when the three unit normals are mutually perpendicular.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unit normals are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oMath>
                </a14:m>
                <a:r>
                  <a:rPr sz="2400" b="0">
                    <a:solidFill>
                      <a:srgbClr val="111827"/>
                    </a:solidFill>
                    <a:latin typeface="Arial"/>
                  </a:rPr>
                  <a:t>, and the sum of squared distances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sup>
                    </m:sSup>
                    <m:r>
                      <a:rPr lang="en-IN" sz="2400" i="1">
                        <a:solidFill>
                          <a:srgbClr val="111827"/>
                        </a:solidFill>
                        <a:latin typeface="Cambria Math" panose="02040503050406030204" pitchFamily="18" charset="0"/>
                      </a:rPr>
                      <m:t>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Sub>
                    <m:sSub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Requiring </a:t>
                </a:r>
                <a14:m>
                  <m:oMath xmlns:m="http://schemas.openxmlformats.org/officeDocument/2006/math">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sup>
                    </m:sSup>
                    <m:r>
                      <a:rPr lang="en-IN" sz="2400" i="1">
                        <a:solidFill>
                          <a:srgbClr val="111827"/>
                        </a:solidFill>
                        <a:latin typeface="Cambria Math" panose="02040503050406030204" pitchFamily="18" charset="0"/>
                      </a:rPr>
                      <m:t>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all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𝑈</m:t>
                        </m:r>
                      </m:e>
                      <m:sup>
                        <m:r>
                          <a:rPr lang="en-IN" sz="2400" i="1">
                            <a:solidFill>
                              <a:srgbClr val="111827"/>
                            </a:solidFill>
                            <a:latin typeface="Cambria Math" panose="02040503050406030204" pitchFamily="18" charset="0"/>
                          </a:rPr>
                          <m:t>𝑇</m:t>
                        </m:r>
                      </m:sup>
                    </m:sSup>
                    <m:r>
                      <a:rPr lang="en-IN" sz="2400" i="1">
                        <a:solidFill>
                          <a:srgbClr val="111827"/>
                        </a:solidFill>
                        <a:latin typeface="Cambria Math" panose="02040503050406030204" pitchFamily="18" charset="0"/>
                      </a:rPr>
                      <m:t>𝑈</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for the matrix </a:t>
                </a:r>
                <a14:m>
                  <m:oMath xmlns:m="http://schemas.openxmlformats.org/officeDocument/2006/math">
                    <m:r>
                      <a:rPr lang="en-IN" sz="2400" i="1">
                        <a:solidFill>
                          <a:srgbClr val="111827"/>
                        </a:solidFill>
                        <a:latin typeface="Cambria Math" panose="02040503050406030204" pitchFamily="18" charset="0"/>
                      </a:rPr>
                      <m:t>𝑈</m:t>
                    </m:r>
                  </m:oMath>
                </a14:m>
                <a:r>
                  <a:rPr sz="2400" b="0">
                    <a:solidFill>
                      <a:srgbClr val="111827"/>
                    </a:solidFill>
                    <a:latin typeface="Arial"/>
                  </a:rPr>
                  <a:t> with rows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so the rows are orthonormal.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already holds.</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unit normals are </a:t>
                </a:r>
                <a:r>
                  <a:rPr lang="en-IN" sz="2400">
                    <a:solidFill>
                      <a:srgbClr val="111827"/>
                    </a:solidFill>
                    <a:latin typeface="Cambria Math" panose="02040503050406030204" pitchFamily="18" charset="0"/>
                  </a:rPr>
                  <a:t>$\vec u_1=\frac{(1,1,1)}{\sqrt3},\ \vec u_2=\frac{(l,0,-n)}{\sqrt{l^2+n^2}},\ \vec u_3=\frac{(1,-2,1)}{\sqrt6}$</a:t>
                </a:r>
                <a:r>
                  <a:rPr sz="2400" b="0">
                    <a:solidFill>
                      <a:srgbClr val="111827"/>
                    </a:solidFill>
                    <a:latin typeface="Arial"/>
                  </a:rPr>
                  <a:t>, and the sum of squared distances is </a:t>
                </a:r>
                <a:r>
                  <a:rPr lang="en-IN" sz="2400">
                    <a:solidFill>
                      <a:srgbClr val="111827"/>
                    </a:solidFill>
                    <a:latin typeface="Cambria Math" panose="02040503050406030204" pitchFamily="18" charset="0"/>
                  </a:rPr>
                  <a:t>$\sum(\vec u_k\cdot\vec r)^2=\vec r^{\,T}M\vec r$</a:t>
                </a:r>
                <a:r>
                  <a:rPr sz="2400" b="0">
                    <a:solidFill>
                      <a:srgbClr val="111827"/>
                    </a:solidFill>
                    <a:latin typeface="Arial"/>
                  </a:rPr>
                  <a:t> with </a:t>
                </a:r>
                <a:r>
                  <a:rPr lang="en-IN" sz="2400">
                    <a:solidFill>
                      <a:srgbClr val="111827"/>
                    </a:solidFill>
                    <a:latin typeface="Cambria Math" panose="02040503050406030204" pitchFamily="18" charset="0"/>
                  </a:rPr>
                  <a:t>$M=\sum\vec u_k\vec u_k^{\,T}$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Requiring </a:t>
                </a:r>
                <a:r>
                  <a:rPr lang="en-IN" sz="2400">
                    <a:solidFill>
                      <a:srgbClr val="111827"/>
                    </a:solidFill>
                    <a:latin typeface="Cambria Math" panose="02040503050406030204" pitchFamily="18" charset="0"/>
                  </a:rPr>
                  <a:t>$\vec r^{\,T}M\vec r=|\vec r|^2$</a:t>
                </a:r>
                <a:r>
                  <a:rPr sz="2400" b="0">
                    <a:solidFill>
                      <a:srgbClr val="111827"/>
                    </a:solidFill>
                    <a:latin typeface="Arial"/>
                  </a:rPr>
                  <a:t> for all </a:t>
                </a:r>
                <a:r>
                  <a:rPr lang="en-IN" sz="2400">
                    <a:solidFill>
                      <a:srgbClr val="111827"/>
                    </a:solidFill>
                    <a:latin typeface="Cambria Math" panose="02040503050406030204" pitchFamily="18" charset="0"/>
                  </a:rPr>
                  <a:t>$\vec r$</a:t>
                </a:r>
                <a:r>
                  <a:rPr sz="2400" b="0">
                    <a:solidFill>
                      <a:srgbClr val="111827"/>
                    </a:solidFill>
                    <a:latin typeface="Arial"/>
                  </a:rPr>
                  <a:t> means </a:t>
                </a:r>
                <a:r>
                  <a:rPr lang="en-IN" sz="2400">
                    <a:solidFill>
                      <a:srgbClr val="111827"/>
                    </a:solidFill>
                    <a:latin typeface="Cambria Math" panose="02040503050406030204" pitchFamily="18" charset="0"/>
                  </a:rPr>
                  <a:t>$M=I$</a:t>
                </a:r>
                <a:r>
                  <a:rPr sz="2400" b="0">
                    <a:solidFill>
                      <a:srgbClr val="111827"/>
                    </a:solidFill>
                    <a:latin typeface="Arial"/>
                  </a:rPr>
                  <a:t>, i.e. </a:t>
                </a:r>
                <a:r>
                  <a:rPr lang="en-IN" sz="2400">
                    <a:solidFill>
                      <a:srgbClr val="111827"/>
                    </a:solidFill>
                    <a:latin typeface="Cambria Math" panose="02040503050406030204" pitchFamily="18" charset="0"/>
                  </a:rPr>
                  <a:t>$U^TU=I$</a:t>
                </a:r>
                <a:r>
                  <a:rPr sz="2400" b="0">
                    <a:solidFill>
                      <a:srgbClr val="111827"/>
                    </a:solidFill>
                    <a:latin typeface="Arial"/>
                  </a:rPr>
                  <a:t> for the matrix </a:t>
                </a:r>
                <a:r>
                  <a:rPr lang="en-IN" sz="2400">
                    <a:solidFill>
                      <a:srgbClr val="111827"/>
                    </a:solidFill>
                    <a:latin typeface="Cambria Math" panose="02040503050406030204" pitchFamily="18" charset="0"/>
                  </a:rPr>
                  <a:t>$U$</a:t>
                </a:r>
                <a:r>
                  <a:rPr sz="2400" b="0">
                    <a:solidFill>
                      <a:srgbClr val="111827"/>
                    </a:solidFill>
                    <a:latin typeface="Arial"/>
                  </a:rPr>
                  <a:t> with rows </a:t>
                </a:r>
                <a:r>
                  <a:rPr lang="en-IN" sz="2400">
                    <a:solidFill>
                      <a:srgbClr val="111827"/>
                    </a:solidFill>
                    <a:latin typeface="Cambria Math" panose="02040503050406030204" pitchFamily="18" charset="0"/>
                  </a:rPr>
                  <a:t>$\vec u_k$</a:t>
                </a:r>
                <a:r>
                  <a:rPr sz="2400" b="0">
                    <a:solidFill>
                      <a:srgbClr val="111827"/>
                    </a:solidFill>
                    <a:latin typeface="Arial"/>
                  </a:rPr>
                  <a:t>; so the rows are orthonormal.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u_1\cdot\vec u_3\propto1-2+1=0$</a:t>
                </a:r>
                <a:r>
                  <a:rPr sz="2400" b="0">
                    <a:solidFill>
                      <a:srgbClr val="111827"/>
                    </a:solidFill>
                    <a:latin typeface="Arial"/>
                  </a:rPr>
                  <a:t> already holds.</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same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u_2\perp\vec u_1$</a:t>
                </a:r>
                <a:r>
                  <a:rPr sz="2400" b="0">
                    <a:solidFill>
                      <a:srgbClr val="111827"/>
                    </a:solidFill>
                    <a:latin typeface="Arial"/>
                  </a:rPr>
                  <a:t>: </a:t>
                </a:r>
                <a:r>
                  <a:rPr lang="en-IN" sz="2400">
                    <a:solidFill>
                      <a:srgbClr val="111827"/>
                    </a:solidFill>
                    <a:latin typeface="Cambria Math" panose="02040503050406030204" pitchFamily="18" charset="0"/>
                  </a:rPr>
                  <a:t>$l+0-n=0$</a:t>
                </a:r>
                <a:r>
                  <a:rPr sz="2400" b="0">
                    <a:solidFill>
                      <a:srgbClr val="111827"/>
                    </a:solidFill>
                    <a:latin typeface="Arial"/>
                  </a:rPr>
                  <a:t>; and </a:t>
                </a:r>
                <a:r>
                  <a:rPr lang="en-IN" sz="2400">
                    <a:solidFill>
                      <a:srgbClr val="111827"/>
                    </a:solidFill>
                    <a:latin typeface="Cambria Math" panose="02040503050406030204" pitchFamily="18" charset="0"/>
                  </a:rPr>
                  <a:t>$\vec u_2\perp\vec u_3$</a:t>
                </a:r>
                <a:r>
                  <a:rPr sz="2400" b="0">
                    <a:solidFill>
                      <a:srgbClr val="111827"/>
                    </a:solidFill>
                    <a:latin typeface="Arial"/>
                  </a:rPr>
                  <a:t>: </a:t>
                </a:r>
                <a:r>
                  <a:rPr lang="en-IN" sz="2400">
                    <a:solidFill>
                      <a:srgbClr val="111827"/>
                    </a:solidFill>
                    <a:latin typeface="Cambria Math" panose="02040503050406030204" pitchFamily="18" charset="0"/>
                  </a:rPr>
                  <a:t>$l-n=0$</a:t>
                </a:r>
                <a:r>
                  <a:rPr sz="2400" b="0">
                    <a:solidFill>
                      <a:srgbClr val="111827"/>
                    </a:solidFill>
                    <a:latin typeface="Arial"/>
                  </a:rPr>
                  <a:t> (the same condition).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$l=n$</a:t>
                </a:r>
                <a:r>
                  <a:rPr sz="2400" b="0">
                    <a:solidFill>
                      <a:srgbClr val="111827"/>
                    </a:solidFill>
                    <a:latin typeface="Arial"/>
                  </a:rPr>
                  <a:t> and </a:t>
                </a:r>
                <a:r>
                  <a:rPr lang="en-IN" sz="2400">
                    <a:solidFill>
                      <a:srgbClr val="111827"/>
                    </a:solidFill>
                    <a:latin typeface="Cambria Math" panose="02040503050406030204" pitchFamily="18" charset="0"/>
                  </a:rPr>
                  <a:t>$l-n=0$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a:t>
            </a:r>
            <a:endParaRPr sz="2800">
              <a:solidFill>
                <a:srgbClr val="15803D"/>
              </a:solidFil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planes through the origin with unit normals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Sub>
                        <m:sSub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𝑇</m:t>
                            </m:r>
                          </m:sup>
                        </m:sSubSup>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this equals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all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iff the three normals are mutually perpendicular (an orthonormal basis).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the squares remove the modulus, so the locus is a quadric.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perpendicular to two other normals is a sign that it should be proportional to their cross product;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planes through the origin with unit normals </a:t>
                </a:r>
                <a:r>
                  <a:rPr lang="en-IN" sz="2400">
                    <a:solidFill>
                      <a:srgbClr val="111827"/>
                    </a:solidFill>
                    <a:latin typeface="Cambria Math" panose="02040503050406030204" pitchFamily="18" charset="0"/>
                  </a:rPr>
                  <a:t>$\vec u_k$</a:t>
                </a:r>
                <a:r>
                  <a:rPr sz="2400" b="0">
                    <a:solidFill>
                      <a:srgbClr val="111827"/>
                    </a:solidFill>
                    <a:latin typeface="Arial"/>
                  </a:rPr>
                  <a:t>, </a:t>
                </a:r>
                <a:r>
                  <a:rPr lang="en-IN" sz="2400">
                    <a:solidFill>
                      <a:srgbClr val="111827"/>
                    </a:solidFill>
                    <a:latin typeface="Cambria Math" panose="02040503050406030204" pitchFamily="18" charset="0"/>
                  </a:rPr>
                  <a:t>$\sum d_k^2=\vec r^{\,T}\left(\sum\vec u_k\vec u_k^{\,T}\right)\vec r$</a:t>
                </a:r>
                <a:r>
                  <a:rPr sz="2400" b="0">
                    <a:solidFill>
                      <a:srgbClr val="111827"/>
                    </a:solidFill>
                    <a:latin typeface="Arial"/>
                  </a:rPr>
                  <a:t>; this equals </a:t>
                </a:r>
                <a:r>
                  <a:rPr lang="en-IN" sz="2400">
                    <a:solidFill>
                      <a:srgbClr val="111827"/>
                    </a:solidFill>
                    <a:latin typeface="Cambria Math" panose="02040503050406030204" pitchFamily="18" charset="0"/>
                  </a:rPr>
                  <a:t>$|\vec r|^2$</a:t>
                </a:r>
                <a:r>
                  <a:rPr sz="2400" b="0">
                    <a:solidFill>
                      <a:srgbClr val="111827"/>
                    </a:solidFill>
                    <a:latin typeface="Arial"/>
                  </a:rPr>
                  <a:t> for all </a:t>
                </a:r>
                <a:r>
                  <a:rPr lang="en-IN" sz="2400">
                    <a:solidFill>
                      <a:srgbClr val="111827"/>
                    </a:solidFill>
                    <a:latin typeface="Cambria Math" panose="02040503050406030204" pitchFamily="18" charset="0"/>
                  </a:rPr>
                  <a:t>$\vec r$</a:t>
                </a:r>
                <a:r>
                  <a:rPr sz="2400" b="0">
                    <a:solidFill>
                      <a:srgbClr val="111827"/>
                    </a:solidFill>
                    <a:latin typeface="Arial"/>
                  </a:rPr>
                  <a:t> iff the three normals are mutually perpendicular (an orthonormal basis).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$(x_1,y_1,z_1)$</a:t>
                </a:r>
                <a:r>
                  <a:rPr sz="2400" b="0">
                    <a:solidFill>
                      <a:srgbClr val="111827"/>
                    </a:solidFill>
                    <a:latin typeface="Arial"/>
                  </a:rPr>
                  <a:t> from </a:t>
                </a:r>
                <a:r>
                  <a:rPr lang="en-IN" sz="2400">
                    <a:solidFill>
                      <a:srgbClr val="111827"/>
                    </a:solidFill>
                    <a:latin typeface="Cambria Math" panose="02040503050406030204" pitchFamily="18" charset="0"/>
                  </a:rPr>
                  <a:t>$ax+by+cz+d=0$</a:t>
                </a:r>
                <a:r>
                  <a:rPr sz="2400" b="0">
                    <a:solidFill>
                      <a:srgbClr val="111827"/>
                    </a:solidFill>
                    <a:latin typeface="Arial"/>
                  </a:rPr>
                  <a:t> is </a:t>
                </a:r>
                <a:r>
                  <a:rPr lang="en-IN" sz="2400">
                    <a:solidFill>
                      <a:srgbClr val="111827"/>
                    </a:solidFill>
                    <a:latin typeface="Cambria Math" panose="02040503050406030204" pitchFamily="18" charset="0"/>
                  </a:rPr>
                  <a:t>$\frac{|ax_1+by_1+cz_1+d|}{\sqrt{a^2+b^2+c^2}}$</a:t>
                </a:r>
                <a:r>
                  <a:rPr sz="2400" b="0">
                    <a:solidFill>
                      <a:srgbClr val="111827"/>
                    </a:solidFill>
                    <a:latin typeface="Arial"/>
                  </a:rPr>
                  <a:t>; the squares remove the modulus, so the locus is a quadric.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normal </a:t>
                </a:r>
                <a:r>
                  <a:rPr lang="en-IN" sz="2400">
                    <a:solidFill>
                      <a:srgbClr val="111827"/>
                    </a:solidFill>
                    <a:latin typeface="Cambria Math" panose="02040503050406030204" pitchFamily="18" charset="0"/>
                  </a:rPr>
                  <a:t>$(l,0,-n)$</a:t>
                </a:r>
                <a:r>
                  <a:rPr sz="2400" b="0">
                    <a:solidFill>
                      <a:srgbClr val="111827"/>
                    </a:solidFill>
                    <a:latin typeface="Arial"/>
                  </a:rPr>
                  <a:t> perpendicular to two other normals is a sign that it should be proportional to their cross product; here </a:t>
                </a:r>
                <a:r>
                  <a:rPr lang="en-IN" sz="2400">
                    <a:solidFill>
                      <a:srgbClr val="111827"/>
                    </a:solidFill>
                    <a:latin typeface="Cambria Math" panose="02040503050406030204" pitchFamily="18" charset="0"/>
                  </a:rPr>
                  <a:t>$(1,1,1)\times(1,-2,1)=(3,0,-3)\propto(1,0,-1)$</a:t>
                </a:r>
                <a:r>
                  <a:rPr sz="2400" b="0">
                    <a:solidFill>
                      <a:srgbClr val="111827"/>
                    </a:solidFill>
                    <a:latin typeface="Arial"/>
                  </a:rPr>
                  <a:t>, i.e. </a:t>
                </a:r>
                <a:r>
                  <a:rPr lang="en-IN" sz="2400">
                    <a:solidFill>
                      <a:srgbClr val="111827"/>
                    </a:solidFill>
                    <a:latin typeface="Cambria Math" panose="02040503050406030204" pitchFamily="18" charset="0"/>
                  </a:rPr>
                  <a:t>$l=n$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line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λ</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meet the plane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angle between the line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and the plane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e>
                        </m:rad>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γ</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line </a:t>
                </a:r>
                <a:r>
                  <a:rPr lang="en-IN" sz="2400">
                    <a:solidFill>
                      <a:srgbClr val="111827"/>
                    </a:solidFill>
                    <a:latin typeface="Cambria Math" panose="02040503050406030204" pitchFamily="18" charset="0"/>
                  </a:rPr>
                  <a:t>$\ell:\ x=\frac{1-y}{-2}=\frac{z-3}{\lambda},\ \lambda\in\mathbb{R}$</a:t>
                </a:r>
                <a:r>
                  <a:rPr sz="2400" b="0">
                    <a:solidFill>
                      <a:srgbClr val="111827"/>
                    </a:solidFill>
                    <a:latin typeface="Arial"/>
                  </a:rPr>
                  <a:t> meet the plane </a:t>
                </a:r>
                <a:r>
                  <a:rPr lang="en-IN" sz="2400">
                    <a:solidFill>
                      <a:srgbClr val="111827"/>
                    </a:solidFill>
                    <a:latin typeface="Cambria Math" panose="02040503050406030204" pitchFamily="18" charset="0"/>
                  </a:rPr>
                  <a:t>$P:\ x+2y+3z=4$</a:t>
                </a:r>
                <a:r>
                  <a:rPr sz="2400" b="0">
                    <a:solidFill>
                      <a:srgbClr val="111827"/>
                    </a:solidFill>
                    <a:latin typeface="Arial"/>
                  </a:rPr>
                  <a:t> at the point </a:t>
                </a:r>
                <a:r>
                  <a:rPr lang="en-IN" sz="2400">
                    <a:solidFill>
                      <a:srgbClr val="111827"/>
                    </a:solidFill>
                    <a:latin typeface="Cambria Math" panose="02040503050406030204" pitchFamily="18" charset="0"/>
                  </a:rPr>
                  <a:t>$(\alpha,\beta,\gamma)$</a:t>
                </a:r>
                <a:r>
                  <a:rPr sz="2400" b="0">
                    <a:solidFill>
                      <a:srgbClr val="111827"/>
                    </a:solidFill>
                    <a:latin typeface="Arial"/>
                  </a:rPr>
                  <a:t>. If the angle between the line </a:t>
                </a:r>
                <a:r>
                  <a:rPr lang="en-IN" sz="2400">
                    <a:solidFill>
                      <a:srgbClr val="111827"/>
                    </a:solidFill>
                    <a:latin typeface="Cambria Math" panose="02040503050406030204" pitchFamily="18" charset="0"/>
                  </a:rPr>
                  <a:t>$\ell$</a:t>
                </a:r>
                <a:r>
                  <a:rPr sz="2400" b="0">
                    <a:solidFill>
                      <a:srgbClr val="111827"/>
                    </a:solidFill>
                    <a:latin typeface="Arial"/>
                  </a:rPr>
                  <a:t> and the plane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$\cos^{-1}\left(\sqrt{\frac{5}{14}}\right)$</a:t>
                </a:r>
                <a:r>
                  <a:rPr sz="2400" b="0">
                    <a:solidFill>
                      <a:srgbClr val="111827"/>
                    </a:solidFill>
                    <a:latin typeface="Arial"/>
                  </a:rPr>
                  <a:t>, then </a:t>
                </a:r>
                <a:r>
                  <a:rPr lang="en-IN" sz="2400">
                    <a:solidFill>
                      <a:srgbClr val="111827"/>
                    </a:solidFill>
                    <a:latin typeface="Cambria Math" panose="02040503050406030204" pitchFamily="18" charset="0"/>
                  </a:rPr>
                  <a:t>$\alpha+2\beta+6\gamma$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421792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between a line and a plane, Point of intersection of a line and a plane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line-plane angle </a:t>
                </a:r>
                <a14:m>
                  <m:oMath xmlns:m="http://schemas.openxmlformats.org/officeDocument/2006/math">
                    <m:r>
                      <a:rPr lang="en-IN" sz="2400" i="1">
                        <a:solidFill>
                          <a:srgbClr val="78350F"/>
                        </a:solidFill>
                        <a:latin typeface="Cambria Math" panose="02040503050406030204" pitchFamily="18" charset="0"/>
                      </a:rPr>
                      <m:t>ϕ</m:t>
                    </m:r>
                  </m:oMath>
                </a14:m>
                <a:r>
                  <a:rPr sz="2400" b="0">
                    <a:solidFill>
                      <a:srgbClr val="78350F"/>
                    </a:solidFill>
                    <a:latin typeface="Arial"/>
                  </a:rPr>
                  <a:t> satisfies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ϕ</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which fixes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before the intersection is found.</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line-plane angle </a:t>
                </a:r>
                <a:r>
                  <a:rPr lang="en-IN" sz="2400">
                    <a:solidFill>
                      <a:srgbClr val="78350F"/>
                    </a:solidFill>
                    <a:latin typeface="Cambria Math" panose="02040503050406030204" pitchFamily="18" charset="0"/>
                  </a:rPr>
                  <a:t>$\phi$</a:t>
                </a:r>
                <a:r>
                  <a:rPr sz="2400" b="0">
                    <a:solidFill>
                      <a:srgbClr val="78350F"/>
                    </a:solidFill>
                    <a:latin typeface="Arial"/>
                  </a:rPr>
                  <a:t> satisfies </a:t>
                </a:r>
                <a:r>
                  <a:rPr lang="en-IN" sz="2400">
                    <a:solidFill>
                      <a:srgbClr val="78350F"/>
                    </a:solidFill>
                    <a:latin typeface="Cambria Math" panose="02040503050406030204" pitchFamily="18" charset="0"/>
                  </a:rPr>
                  <a:t>$\sin\phi=\frac{|\vec d\cdot\vec n|}{|\vec d||\vec n|}$</a:t>
                </a:r>
                <a:r>
                  <a:rPr sz="2400" b="0">
                    <a:solidFill>
                      <a:srgbClr val="78350F"/>
                    </a:solidFill>
                    <a:latin typeface="Arial"/>
                  </a:rPr>
                  <a:t>, which fixes </a:t>
                </a:r>
                <a:r>
                  <a:rPr lang="en-IN" sz="2400">
                    <a:solidFill>
                      <a:srgbClr val="78350F"/>
                    </a:solidFill>
                    <a:latin typeface="Cambria Math" panose="02040503050406030204" pitchFamily="18" charset="0"/>
                  </a:rPr>
                  <a:t>$\lambda$</a:t>
                </a:r>
                <a:r>
                  <a:rPr sz="2400" b="0">
                    <a:solidFill>
                      <a:srgbClr val="78350F"/>
                    </a:solidFill>
                    <a:latin typeface="Arial"/>
                  </a:rPr>
                  <a:t> before the intersection is found.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λ</m:t>
                        </m:r>
                      </m:den>
                    </m:f>
                  </m:oMath>
                </a14:m>
                <a:r>
                  <a:rPr sz="2400" b="0">
                    <a:solidFill>
                      <a:srgbClr val="111827"/>
                    </a:solidFill>
                    <a:latin typeface="Arial"/>
                  </a:rPr>
                  <a:t>, so its direction ratios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of the plane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has direction ratios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between line and plane: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is </a:t>
                </a:r>
                <a:r>
                  <a:rPr lang="en-IN" sz="2400">
                    <a:solidFill>
                      <a:srgbClr val="111827"/>
                    </a:solidFill>
                    <a:latin typeface="Cambria Math" panose="02040503050406030204" pitchFamily="18" charset="0"/>
                  </a:rPr>
                  <a:t>$x=\frac{y-1}{2}=\frac{z-3}{\lambda}$</a:t>
                </a:r>
                <a:r>
                  <a:rPr sz="2400" b="0">
                    <a:solidFill>
                      <a:srgbClr val="111827"/>
                    </a:solidFill>
                    <a:latin typeface="Arial"/>
                  </a:rPr>
                  <a:t>, so its direction ratios are </a:t>
                </a:r>
                <a:r>
                  <a:rPr lang="en-IN" sz="2400">
                    <a:solidFill>
                      <a:srgbClr val="111827"/>
                    </a:solidFill>
                    <a:latin typeface="Cambria Math" panose="02040503050406030204" pitchFamily="18" charset="0"/>
                  </a:rPr>
                  <a:t>$(1,2,\lambda)$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normal of the plane </a:t>
                </a:r>
                <a:r>
                  <a:rPr lang="en-IN" sz="2400">
                    <a:solidFill>
                      <a:srgbClr val="111827"/>
                    </a:solidFill>
                    <a:latin typeface="Cambria Math" panose="02040503050406030204" pitchFamily="18" charset="0"/>
                  </a:rPr>
                  <a:t>$x+2y+3z=4$</a:t>
                </a:r>
                <a:r>
                  <a:rPr sz="2400" b="0">
                    <a:solidFill>
                      <a:srgbClr val="111827"/>
                    </a:solidFill>
                    <a:latin typeface="Arial"/>
                  </a:rPr>
                  <a:t> has direction ratios </a:t>
                </a:r>
                <a:r>
                  <a:rPr lang="en-IN" sz="2400">
                    <a:solidFill>
                      <a:srgbClr val="111827"/>
                    </a:solidFill>
                    <a:latin typeface="Cambria Math" panose="02040503050406030204" pitchFamily="18" charset="0"/>
                  </a:rPr>
                  <a:t>$(1,2,3)$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a:t>
                </a:r>
                <a:r>
                  <a:rPr lang="en-IN" sz="2400">
                    <a:solidFill>
                      <a:srgbClr val="111827"/>
                    </a:solidFill>
                    <a:latin typeface="Cambria Math" panose="02040503050406030204" pitchFamily="18" charset="0"/>
                  </a:rPr>
                  <a:t>$\phi$</a:t>
                </a:r>
                <a:r>
                  <a:rPr sz="2400" b="0">
                    <a:solidFill>
                      <a:srgbClr val="111827"/>
                    </a:solidFill>
                    <a:latin typeface="Arial"/>
                  </a:rPr>
                  <a:t> between line and plane: </a:t>
                </a:r>
                <a:r>
                  <a:rPr lang="en-IN" sz="2400">
                    <a:solidFill>
                      <a:srgbClr val="111827"/>
                    </a:solidFill>
                    <a:latin typeface="Cambria Math" panose="02040503050406030204" pitchFamily="18" charset="0"/>
                  </a:rPr>
                  <a:t>$\sin\phi=\frac{|1+4+3\lambda|}{\sqrt{5+\lambda^2}\sqrt{14}}$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$\cos\phi=\sqrt{\frac{5}{14}}$</a:t>
                </a:r>
                <a:r>
                  <a:rPr sz="2400" b="0">
                    <a:solidFill>
                      <a:srgbClr val="111827"/>
                    </a:solidFill>
                    <a:latin typeface="Arial"/>
                  </a:rPr>
                  <a:t>, so </a:t>
                </a:r>
                <a:r>
                  <a:rPr lang="en-IN" sz="2400">
                    <a:solidFill>
                      <a:srgbClr val="111827"/>
                    </a:solidFill>
                    <a:latin typeface="Cambria Math" panose="02040503050406030204" pitchFamily="18" charset="0"/>
                  </a:rPr>
                  <a:t>$\sin\phi=\sqrt{1-\frac5{14}}=\frac{3}{\sqrt{14}}$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squaring,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variable point of the line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lies on the plane: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$|5+3\lambda|=3\sqrt{5+\lambda^2}$</a:t>
                </a:r>
                <a:r>
                  <a:rPr sz="2400" b="0">
                    <a:solidFill>
                      <a:srgbClr val="111827"/>
                    </a:solidFill>
                    <a:latin typeface="Arial"/>
                  </a:rPr>
                  <a:t>; squaring, </a:t>
                </a:r>
                <a:r>
                  <a:rPr lang="en-IN" sz="2400">
                    <a:solidFill>
                      <a:srgbClr val="111827"/>
                    </a:solidFill>
                    <a:latin typeface="Cambria Math" panose="02040503050406030204" pitchFamily="18" charset="0"/>
                  </a:rPr>
                  <a:t>$25+30\lambda+9\lambda^2=45+9\lambda^2$</a:t>
                </a:r>
                <a:r>
                  <a:rPr sz="2400" b="0">
                    <a:solidFill>
                      <a:srgbClr val="111827"/>
                    </a:solidFill>
                    <a:latin typeface="Arial"/>
                  </a:rPr>
                  <a:t>, so </a:t>
                </a:r>
                <a:r>
                  <a:rPr lang="en-IN" sz="2400">
                    <a:solidFill>
                      <a:srgbClr val="111827"/>
                    </a:solidFill>
                    <a:latin typeface="Cambria Math" panose="02040503050406030204" pitchFamily="18" charset="0"/>
                  </a:rPr>
                  <a:t>$\lambda=\frac23$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variable point of the line is </a:t>
                </a:r>
                <a:r>
                  <a:rPr lang="en-IN" sz="2400">
                    <a:solidFill>
                      <a:srgbClr val="111827"/>
                    </a:solidFill>
                    <a:latin typeface="Cambria Math" panose="02040503050406030204" pitchFamily="18" charset="0"/>
                  </a:rPr>
                  <a:t>$\left(t,\ 2t+1,\ \frac23t+3\right)$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lies on the plane: </a:t>
                </a:r>
                <a:r>
                  <a:rPr lang="en-IN" sz="2400">
                    <a:solidFill>
                      <a:srgbClr val="111827"/>
                    </a:solidFill>
                    <a:latin typeface="Cambria Math" panose="02040503050406030204" pitchFamily="18" charset="0"/>
                  </a:rPr>
                  <a:t>$t+2(2t+1)+3\left(\frac23t+3\right)=4\Rightarrow7t+11=4\Rightarrow 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$(\alpha,\beta,\gamma)=\left(-1,-1,\frac73\right)$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$\alpha+2\beta+6\gamma=-1-2+14=11$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a:t>
            </a:r>
            <a:endParaRPr sz="2800">
              <a:solidFill>
                <a:srgbClr val="15803D"/>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ϕ</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which leads to a linear equation in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with no modulus or squaring.</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$\cos\phi=\frac{|\vec d\times\vec n|}{|\vec d||\vec n|}$</a:t>
                </a:r>
                <a:r>
                  <a:rPr sz="2400" b="0">
                    <a:solidFill>
                      <a:srgbClr val="78350F"/>
                    </a:solidFill>
                    <a:latin typeface="Arial"/>
                  </a:rPr>
                  <a:t>, which leads to a linear equation in </a:t>
                </a:r>
                <a:r>
                  <a:rPr lang="en-IN" sz="2400">
                    <a:solidFill>
                      <a:srgbClr val="78350F"/>
                    </a:solidFill>
                    <a:latin typeface="Cambria Math" panose="02040503050406030204" pitchFamily="18" charset="0"/>
                  </a:rPr>
                  <a:t>$\lambda$</a:t>
                </a:r>
                <a:r>
                  <a:rPr sz="2400" b="0">
                    <a:solidFill>
                      <a:srgbClr val="78350F"/>
                    </a:solidFill>
                    <a:latin typeface="Arial"/>
                  </a:rPr>
                  <a:t> with no modulus or squaring.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d=(1,2,\lambda)$</a:t>
                </a:r>
                <a:r>
                  <a:rPr sz="2400" b="0">
                    <a:solidFill>
                      <a:srgbClr val="111827"/>
                    </a:solidFill>
                    <a:latin typeface="Arial"/>
                  </a:rPr>
                  <a:t>, </a:t>
                </a:r>
                <a:r>
                  <a:rPr lang="en-IN" sz="2400">
                    <a:solidFill>
                      <a:srgbClr val="111827"/>
                    </a:solidFill>
                    <a:latin typeface="Cambria Math" panose="02040503050406030204" pitchFamily="18" charset="0"/>
                  </a:rPr>
                  <a:t>$\vec n=(1,2,3)$</a:t>
                </a:r>
                <a:r>
                  <a:rPr sz="2400" b="0">
                    <a:solidFill>
                      <a:srgbClr val="111827"/>
                    </a:solidFill>
                    <a:latin typeface="Arial"/>
                  </a:rPr>
                  <a:t>, so </a:t>
                </a:r>
                <a:r>
                  <a:rPr lang="en-IN" sz="2400">
                    <a:solidFill>
                      <a:srgbClr val="111827"/>
                    </a:solidFill>
                    <a:latin typeface="Cambria Math" panose="02040503050406030204" pitchFamily="18" charset="0"/>
                  </a:rPr>
                  <a:t>$\vec d\times\vec n=(6-2\lambda,\ \lambda-3,\ 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d\times\vec n|^2=(6-2\lambda)^2+(\lambda-3)^2=5(\lambda-3)^2$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$\cos^2\phi=\frac{|\vec d\times\vec n|^2}{|\vec d|^2|\vec n|^2}=\frac{5(\lambda-3)^2}{14(5+\lambda^2)}=\frac{5}{14}$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which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plane gives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$(\lambda-3)^2=5+\lambda^2$</a:t>
                </a:r>
                <a:r>
                  <a:rPr sz="2400" b="0">
                    <a:solidFill>
                      <a:srgbClr val="111827"/>
                    </a:solidFill>
                    <a:latin typeface="Arial"/>
                  </a:rPr>
                  <a:t>, which gives </a:t>
                </a:r>
                <a:r>
                  <a:rPr lang="en-IN" sz="2400">
                    <a:solidFill>
                      <a:srgbClr val="111827"/>
                    </a:solidFill>
                    <a:latin typeface="Cambria Math" panose="02040503050406030204" pitchFamily="18" charset="0"/>
                  </a:rPr>
                  <a:t>$-6\lambda+9=5$</a:t>
                </a:r>
                <a:r>
                  <a:rPr sz="2400" b="0">
                    <a:solidFill>
                      <a:srgbClr val="111827"/>
                    </a:solidFill>
                    <a:latin typeface="Arial"/>
                  </a:rPr>
                  <a:t> and </a:t>
                </a:r>
                <a:r>
                  <a:rPr lang="en-IN" sz="2400">
                    <a:solidFill>
                      <a:srgbClr val="111827"/>
                    </a:solidFill>
                    <a:latin typeface="Cambria Math" panose="02040503050406030204" pitchFamily="18" charset="0"/>
                  </a:rPr>
                  <a:t>$\lambda=\frac23$</a:t>
                </a:r>
                <a:r>
                  <a:rPr sz="2400" b="0">
                    <a:solidFill>
                      <a:srgbClr val="111827"/>
                    </a:solidFill>
                    <a:latin typeface="Arial"/>
                  </a:rPr>
                  <a:t> (the </a:t>
                </a:r>
                <a:r>
                  <a:rPr lang="en-IN" sz="2400">
                    <a:solidFill>
                      <a:srgbClr val="111827"/>
                    </a:solidFill>
                    <a:latin typeface="Cambria Math" panose="02040503050406030204" pitchFamily="18" charset="0"/>
                  </a:rPr>
                  <a:t>$\lambda^2$</a:t>
                </a:r>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the point </a:t>
                </a:r>
                <a:r>
                  <a:rPr lang="en-IN" sz="2400">
                    <a:solidFill>
                      <a:srgbClr val="111827"/>
                    </a:solidFill>
                    <a:latin typeface="Cambria Math" panose="02040503050406030204" pitchFamily="18" charset="0"/>
                  </a:rPr>
                  <a:t>$(t,2t+1,\frac23t+3)$</a:t>
                </a:r>
                <a:r>
                  <a:rPr sz="2400" b="0">
                    <a:solidFill>
                      <a:srgbClr val="111827"/>
                    </a:solidFill>
                    <a:latin typeface="Arial"/>
                  </a:rPr>
                  <a:t> in the plane gives </a:t>
                </a:r>
                <a:r>
                  <a:rPr lang="en-IN" sz="2400">
                    <a:solidFill>
                      <a:srgbClr val="111827"/>
                    </a:solidFill>
                    <a:latin typeface="Cambria Math" panose="02040503050406030204" pitchFamily="18" charset="0"/>
                  </a:rPr>
                  <a:t>$t=-1$</a:t>
                </a:r>
                <a:r>
                  <a:rPr sz="2400" b="0">
                    <a:solidFill>
                      <a:srgbClr val="111827"/>
                    </a:solidFill>
                    <a:latin typeface="Arial"/>
                  </a:rPr>
                  <a:t>, point </a:t>
                </a:r>
                <a:r>
                  <a:rPr lang="en-IN" sz="2400">
                    <a:solidFill>
                      <a:srgbClr val="111827"/>
                    </a:solidFill>
                    <a:latin typeface="Cambria Math" panose="02040503050406030204" pitchFamily="18" charset="0"/>
                  </a:rPr>
                  <a:t>$\left(-1,-1,\frac73\right)$</a:t>
                </a:r>
                <a:r>
                  <a:rPr sz="2400" b="0">
                    <a:solidFill>
                      <a:srgbClr val="111827"/>
                    </a:solidFill>
                    <a:latin typeface="Arial"/>
                  </a:rPr>
                  <a:t>, and </a:t>
                </a:r>
                <a:r>
                  <a:rPr lang="en-IN" sz="2400">
                    <a:solidFill>
                      <a:srgbClr val="111827"/>
                    </a:solidFill>
                    <a:latin typeface="Cambria Math" panose="02040503050406030204" pitchFamily="18" charset="0"/>
                  </a:rPr>
                  <a:t>$\alpha+2\beta+6\gamma=11$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Line-plane angle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the cross-product form often gives a linear equation because the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the angle in the question is with the plane, so the dot product goes with </a:t>
                </a:r>
                <a14:m>
                  <m:oMath xmlns:m="http://schemas.openxmlformats.org/officeDocument/2006/math">
                    <m:r>
                      <m:rPr>
                        <m:sty m:val="p"/>
                      </m:rPr>
                      <a:rPr lang="en-IN" sz="2400">
                        <a:solidFill>
                          <a:srgbClr val="111827"/>
                        </a:solidFill>
                        <a:latin typeface="Cambria Math" panose="02040503050406030204" pitchFamily="18" charset="0"/>
                      </a:rPr>
                      <m:t>sin</m:t>
                    </m:r>
                  </m:oMath>
                </a14:m>
                <a:r>
                  <a:rPr sz="2400" b="0">
                    <a:solidFill>
                      <a:srgbClr val="111827"/>
                    </a:solidFill>
                    <a:latin typeface="Arial"/>
                  </a:rPr>
                  <a:t>, not </a:t>
                </a:r>
                <a14:m>
                  <m:oMath xmlns:m="http://schemas.openxmlformats.org/officeDocument/2006/math">
                    <m:r>
                      <m:rPr>
                        <m:sty m:val="p"/>
                      </m:rPr>
                      <a:rPr lang="en-IN" sz="2400">
                        <a:solidFill>
                          <a:srgbClr val="111827"/>
                        </a:solidFill>
                        <a:latin typeface="Cambria Math" panose="02040503050406030204" pitchFamily="18" charset="0"/>
                      </a:rPr>
                      <m:t>cos</m:t>
                    </m:r>
                  </m:oMath>
                </a14:m>
                <a:r>
                  <a:rPr sz="2400" b="0">
                    <a:solidFill>
                      <a:srgbClr val="111827"/>
                    </a:solidFill>
                    <a:latin typeface="Arial"/>
                  </a:rPr>
                  <a:t> (a common trap when the angle is given as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meet a line and a plane, write the line in parametric form and substitute in the plane; one linear equation fixes the parameter.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Line-plane angle </a:t>
                </a:r>
                <a:r>
                  <a:rPr lang="en-IN" sz="2400">
                    <a:solidFill>
                      <a:srgbClr val="111827"/>
                    </a:solidFill>
                    <a:latin typeface="Cambria Math" panose="02040503050406030204" pitchFamily="18" charset="0"/>
                  </a:rPr>
                  <a:t>$\phi$</a:t>
                </a:r>
                <a:r>
                  <a:rPr sz="2400" b="0">
                    <a:solidFill>
                      <a:srgbClr val="111827"/>
                    </a:solidFill>
                    <a:latin typeface="Arial"/>
                  </a:rPr>
                  <a:t>: </a:t>
                </a:r>
                <a:r>
                  <a:rPr lang="en-IN" sz="2400">
                    <a:solidFill>
                      <a:srgbClr val="111827"/>
                    </a:solidFill>
                    <a:latin typeface="Cambria Math" panose="02040503050406030204" pitchFamily="18" charset="0"/>
                  </a:rPr>
                  <a:t>$\sin\phi=\frac{|\vec d\cdot\vec n|}{|\vec d||\vec n|}$</a:t>
                </a:r>
                <a:r>
                  <a:rPr sz="2400" b="0">
                    <a:solidFill>
                      <a:srgbClr val="111827"/>
                    </a:solidFill>
                    <a:latin typeface="Arial"/>
                  </a:rPr>
                  <a:t> and </a:t>
                </a:r>
                <a:r>
                  <a:rPr lang="en-IN" sz="2400">
                    <a:solidFill>
                      <a:srgbClr val="111827"/>
                    </a:solidFill>
                    <a:latin typeface="Cambria Math" panose="02040503050406030204" pitchFamily="18" charset="0"/>
                  </a:rPr>
                  <a:t>$\cos\phi=\frac{|\vec d\times\vec n|}{|\vec d||\vec n|}$</a:t>
                </a:r>
                <a:r>
                  <a:rPr sz="2400" b="0">
                    <a:solidFill>
                      <a:srgbClr val="111827"/>
                    </a:solidFill>
                    <a:latin typeface="Arial"/>
                  </a:rPr>
                  <a:t>; the cross-product form often gives a linear equation because the </a:t>
                </a:r>
                <a:r>
                  <a:rPr lang="en-IN" sz="2400">
                    <a:solidFill>
                      <a:srgbClr val="111827"/>
                    </a:solidFill>
                    <a:latin typeface="Cambria Math" panose="02040503050406030204" pitchFamily="18" charset="0"/>
                  </a:rPr>
                  <a:t>$\lambda^2$</a:t>
                </a:r>
                <a:r>
                  <a:rPr sz="2400" b="0">
                    <a:solidFill>
                      <a:srgbClr val="111827"/>
                    </a:solidFill>
                    <a:latin typeface="Arial"/>
                  </a:rPr>
                  <a:t> terms cancel.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Beware: the angle in the question is with the plane, so the dot product goes with </a:t>
                </a:r>
                <a:r>
                  <a:rPr lang="en-IN" sz="2400">
                    <a:solidFill>
                      <a:srgbClr val="111827"/>
                    </a:solidFill>
                    <a:latin typeface="Cambria Math" panose="02040503050406030204" pitchFamily="18" charset="0"/>
                  </a:rPr>
                  <a:t>$\sin$</a:t>
                </a:r>
                <a:r>
                  <a:rPr sz="2400" b="0">
                    <a:solidFill>
                      <a:srgbClr val="111827"/>
                    </a:solidFill>
                    <a:latin typeface="Arial"/>
                  </a:rPr>
                  <a:t>, not </a:t>
                </a:r>
                <a:r>
                  <a:rPr lang="en-IN" sz="2400">
                    <a:solidFill>
                      <a:srgbClr val="111827"/>
                    </a:solidFill>
                    <a:latin typeface="Cambria Math" panose="02040503050406030204" pitchFamily="18" charset="0"/>
                  </a:rPr>
                  <a:t>$\cos$</a:t>
                </a:r>
                <a:r>
                  <a:rPr sz="2400" b="0">
                    <a:solidFill>
                      <a:srgbClr val="111827"/>
                    </a:solidFill>
                    <a:latin typeface="Arial"/>
                  </a:rPr>
                  <a:t> (a common trap when the angle is given as </a:t>
                </a:r>
                <a:r>
                  <a:rPr lang="en-IN" sz="2400">
                    <a:solidFill>
                      <a:srgbClr val="111827"/>
                    </a:solidFill>
                    <a:latin typeface="Cambria Math" panose="02040503050406030204" pitchFamily="18" charset="0"/>
                  </a:rPr>
                  <a:t>$\cos^{-1}$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meet a line and a plane, write the line in parametric form and substitute in the plane; one linear equation fixes the parameter.</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 vector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a=3\hat i+\hat j-\hat k$</a:t>
                </a:r>
                <a:r>
                  <a:rPr sz="2400" b="0">
                    <a:solidFill>
                      <a:srgbClr val="111827"/>
                    </a:solidFill>
                    <a:latin typeface="Arial"/>
                  </a:rPr>
                  <a:t> and </a:t>
                </a:r>
                <a:r>
                  <a:rPr lang="en-IN" sz="2400">
                    <a:solidFill>
                      <a:srgbClr val="111827"/>
                    </a:solidFill>
                    <a:latin typeface="Cambria Math" panose="02040503050406030204" pitchFamily="18" charset="0"/>
                  </a:rPr>
                  <a:t>$\vec c=2\hat i-3\hat j+3\hat k$</a:t>
                </a:r>
                <a:r>
                  <a:rPr sz="2400" b="0">
                    <a:solidFill>
                      <a:srgbClr val="111827"/>
                    </a:solidFill>
                    <a:latin typeface="Arial"/>
                  </a:rPr>
                  <a:t>. If </a:t>
                </a:r>
                <a:r>
                  <a:rPr lang="en-IN" sz="2400">
                    <a:solidFill>
                      <a:srgbClr val="111827"/>
                    </a:solidFill>
                    <a:latin typeface="Cambria Math" panose="02040503050406030204" pitchFamily="18" charset="0"/>
                  </a:rPr>
                  <a:t>$\vec b$</a:t>
                </a:r>
                <a:r>
                  <a:rPr sz="2400" b="0">
                    <a:solidFill>
                      <a:srgbClr val="111827"/>
                    </a:solidFill>
                    <a:latin typeface="Arial"/>
                  </a:rPr>
                  <a:t> is a vector such that </a:t>
                </a:r>
                <a:r>
                  <a:rPr lang="en-IN" sz="2400">
                    <a:solidFill>
                      <a:srgbClr val="111827"/>
                    </a:solidFill>
                    <a:latin typeface="Cambria Math" panose="02040503050406030204" pitchFamily="18" charset="0"/>
                  </a:rPr>
                  <a:t>$\vec a=\vec b\times\vec c$</a:t>
                </a:r>
                <a:r>
                  <a:rPr sz="2400" b="0">
                    <a:solidFill>
                      <a:srgbClr val="111827"/>
                    </a:solidFill>
                    <a:latin typeface="Arial"/>
                  </a:rPr>
                  <a:t> and </a:t>
                </a:r>
                <a:r>
                  <a:rPr lang="en-IN" sz="2400">
                    <a:solidFill>
                      <a:srgbClr val="111827"/>
                    </a:solidFill>
                    <a:latin typeface="Cambria Math" panose="02040503050406030204" pitchFamily="18" charset="0"/>
                  </a:rPr>
                  <a:t>$|\vec b|^2=50$</a:t>
                </a:r>
                <a:r>
                  <a:rPr sz="2400" b="0">
                    <a:solidFill>
                      <a:srgbClr val="111827"/>
                    </a:solidFill>
                    <a:latin typeface="Arial"/>
                  </a:rPr>
                  <a:t>, then </a:t>
                </a:r>
                <a:r>
                  <a:rPr lang="en-IN" sz="2400">
                    <a:solidFill>
                      <a:srgbClr val="111827"/>
                    </a:solidFill>
                    <a:latin typeface="Cambria Math" panose="02040503050406030204" pitchFamily="18" charset="0"/>
                  </a:rPr>
                  <a:t>$\left|72-|\vec b+\vec c|^2\right|$</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(cross) product and its magnitude, Magnitude of sum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fixes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10</m:t>
                        </m:r>
                      </m:den>
                    </m:f>
                  </m:oMath>
                </a14:m>
                <a:r>
                  <a:rPr sz="2400" b="0">
                    <a:solidFill>
                      <a:srgbClr val="78350F"/>
                    </a:solidFill>
                    <a:latin typeface="Arial"/>
                  </a:rPr>
                  <a:t>, hence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33</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 a|=|\vec b\times\vec c|$</a:t>
                </a:r>
                <a:r>
                  <a:rPr sz="2400" b="0">
                    <a:solidFill>
                      <a:srgbClr val="78350F"/>
                    </a:solidFill>
                    <a:latin typeface="Arial"/>
                  </a:rPr>
                  <a:t> fixes </a:t>
                </a:r>
                <a:r>
                  <a:rPr lang="en-IN" sz="2400">
                    <a:solidFill>
                      <a:srgbClr val="78350F"/>
                    </a:solidFill>
                    <a:latin typeface="Cambria Math" panose="02040503050406030204" pitchFamily="18" charset="0"/>
                  </a:rPr>
                  <a:t>$\sin\theta=\frac1{10}$</a:t>
                </a:r>
                <a:r>
                  <a:rPr sz="2400" b="0">
                    <a:solidFill>
                      <a:srgbClr val="78350F"/>
                    </a:solidFill>
                    <a:latin typeface="Arial"/>
                  </a:rPr>
                  <a:t>, hence </a:t>
                </a:r>
                <a:r>
                  <a:rPr lang="en-IN" sz="2400">
                    <a:solidFill>
                      <a:srgbClr val="78350F"/>
                    </a:solidFill>
                    <a:latin typeface="Cambria Math" panose="02040503050406030204" pitchFamily="18" charset="0"/>
                  </a:rPr>
                  <a:t>$\vec b\cdot\vec c=\pm33$</a:t>
                </a:r>
                <a:r>
                  <a:rPr sz="2400" b="0">
                    <a:solidFill>
                      <a:srgbClr val="78350F"/>
                    </a:solidFill>
                    <a:latin typeface="Arial"/>
                  </a:rPr>
                  <a:t>, and </a:t>
                </a:r>
                <a:r>
                  <a:rPr lang="en-IN" sz="2400">
                    <a:solidFill>
                      <a:srgbClr val="78350F"/>
                    </a:solidFill>
                    <a:latin typeface="Cambria Math" panose="02040503050406030204" pitchFamily="18" charset="0"/>
                  </a:rPr>
                  <a:t>$|\vec b+\vec c|^2=72+2\vec b\cdot\vec 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m:t>
                        </m:r>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50</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22</m:t>
                        </m:r>
                      </m:e>
                    </m:rad>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m:t>
                            </m:r>
                          </m:e>
                        </m:rad>
                      </m:num>
                      <m:den>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99</m:t>
                            </m:r>
                          </m:e>
                        </m:rad>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100</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a|=|\vec b\times\vec c|$</a:t>
                </a:r>
                <a:r>
                  <a:rPr sz="2400" b="0">
                    <a:solidFill>
                      <a:srgbClr val="111827"/>
                    </a:solidFill>
                    <a:latin typeface="Arial"/>
                  </a:rPr>
                  <a:t> with </a:t>
                </a:r>
                <a:r>
                  <a:rPr lang="en-IN" sz="2400">
                    <a:solidFill>
                      <a:srgbClr val="111827"/>
                    </a:solidFill>
                    <a:latin typeface="Cambria Math" panose="02040503050406030204" pitchFamily="18" charset="0"/>
                  </a:rPr>
                  <a:t>$|\vec a|=\sqrt{9+1+1}=\sqrt{11}$</a:t>
                </a:r>
                <a:r>
                  <a:rPr sz="2400" b="0">
                    <a:solidFill>
                      <a:srgbClr val="111827"/>
                    </a:solidFill>
                    <a:latin typeface="Arial"/>
                  </a:rPr>
                  <a:t> and </a:t>
                </a:r>
                <a:r>
                  <a:rPr lang="en-IN" sz="2400">
                    <a:solidFill>
                      <a:srgbClr val="111827"/>
                    </a:solidFill>
                    <a:latin typeface="Cambria Math" panose="02040503050406030204" pitchFamily="18" charset="0"/>
                  </a:rPr>
                  <a:t>$|\vec c|=\sqrt{4+9+9}=\sqrt{22}$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$\sqrt{11}=|\vec b||\vec c|\sin\theta=\sqrt{50}\cdot\sqrt{22}\,\sin\theta$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$\sin\theta=\frac{\sqrt{11}}{5\sqrt2\cdot\sqrt{22}}=\frac{1}{10}$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$\cos\theta=\pm\frac{\sqrt{99}}{10}$</a:t>
                </a:r>
                <a:r>
                  <a:rPr sz="2400" b="0">
                    <a:solidFill>
                      <a:srgbClr val="111827"/>
                    </a:solidFill>
                    <a:latin typeface="Arial"/>
                  </a:rPr>
                  <a:t> since </a:t>
                </a:r>
                <a:r>
                  <a:rPr lang="en-IN" sz="2400">
                    <a:solidFill>
                      <a:srgbClr val="111827"/>
                    </a:solidFill>
                    <a:latin typeface="Cambria Math" panose="02040503050406030204" pitchFamily="18" charset="0"/>
                  </a:rPr>
                  <a:t>$1-\frac1{100}=\frac{99}{100}$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99</m:t>
                            </m:r>
                          </m:e>
                        </m:rad>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(PDF uses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22</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m:t>
                            </m:r>
                          </m:e>
                        </m:rad>
                      </m:num>
                      <m:den>
                        <m:r>
                          <a:rPr lang="en-IN" sz="2400" i="1">
                            <a:solidFill>
                              <a:srgbClr val="111827"/>
                            </a:solidFill>
                            <a:latin typeface="Cambria Math" panose="02040503050406030204" pitchFamily="18" charset="0"/>
                          </a:rPr>
                          <m:t>10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484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is negative,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again.</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b+\vec c|^2=|\vec b|^2+|\vec c|^2+2|\vec b||\vec c|\cos\theta=50+22+2\cdot5\sqrt2\cdot\sqrt{22}\cdot\frac{\sqrt{99}}{10}$</a:t>
                </a:r>
                <a:r>
                  <a:rPr sz="2400" b="0">
                    <a:solidFill>
                      <a:srgbClr val="111827"/>
                    </a:solidFill>
                    <a:latin typeface="Arial"/>
                  </a:rPr>
                  <a:t> (PDF uses </a:t>
                </a:r>
                <a:r>
                  <a:rPr lang="en-IN" sz="2400">
                    <a:solidFill>
                      <a:srgbClr val="111827"/>
                    </a:solidFill>
                    <a:latin typeface="Cambria Math" panose="02040503050406030204" pitchFamily="18" charset="0"/>
                  </a:rPr>
                  <a:t>$\cos\theta&gt;0$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$2\cdot5\sqrt2\cdot\sqrt{22}\cdot\frac{3\sqrt{11}}{10}=3\sqrt{2\cdot22\cdot11}=3\sqrt{484}=66$</a:t>
                </a:r>
                <a:r>
                  <a:rPr sz="2400" b="0">
                    <a:solidFill>
                      <a:srgbClr val="111827"/>
                    </a:solidFill>
                    <a:latin typeface="Arial"/>
                  </a:rPr>
                  <a:t>, so </a:t>
                </a:r>
                <a:r>
                  <a:rPr lang="en-IN" sz="2400">
                    <a:solidFill>
                      <a:srgbClr val="111827"/>
                    </a:solidFill>
                    <a:latin typeface="Cambria Math" panose="02040503050406030204" pitchFamily="18" charset="0"/>
                  </a:rPr>
                  <a:t>$|\vec b+\vec c|^2=72+66=138$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$\left|72-|\vec b+\vec c|^2\right|=|72-138|=66$</a:t>
                </a:r>
                <a:r>
                  <a:rPr sz="2400" b="0">
                    <a:solidFill>
                      <a:srgbClr val="111827"/>
                    </a:solidFill>
                    <a:latin typeface="Arial"/>
                  </a:rPr>
                  <a:t>. If </a:t>
                </a:r>
                <a:r>
                  <a:rPr lang="en-IN" sz="2400">
                    <a:solidFill>
                      <a:srgbClr val="111827"/>
                    </a:solidFill>
                    <a:latin typeface="Cambria Math" panose="02040503050406030204" pitchFamily="18" charset="0"/>
                  </a:rPr>
                  <a:t>$\cos\theta$</a:t>
                </a:r>
                <a:r>
                  <a:rPr sz="2400" b="0">
                    <a:solidFill>
                      <a:srgbClr val="111827"/>
                    </a:solidFill>
                    <a:latin typeface="Arial"/>
                  </a:rPr>
                  <a:t> is negative, </a:t>
                </a:r>
                <a:r>
                  <a:rPr lang="en-IN" sz="2400">
                    <a:solidFill>
                      <a:srgbClr val="111827"/>
                    </a:solidFill>
                    <a:latin typeface="Cambria Math" panose="02040503050406030204" pitchFamily="18" charset="0"/>
                  </a:rPr>
                  <a:t>$|\vec b+\vec c|^2=72-66=6$</a:t>
                </a:r>
                <a:r>
                  <a:rPr sz="2400" b="0">
                    <a:solidFill>
                      <a:srgbClr val="111827"/>
                    </a:solidFill>
                    <a:latin typeface="Arial"/>
                  </a:rPr>
                  <a:t> and </a:t>
                </a:r>
                <a:r>
                  <a:rPr lang="en-IN" sz="2400">
                    <a:solidFill>
                      <a:srgbClr val="111827"/>
                    </a:solidFill>
                    <a:latin typeface="Cambria Math" panose="02040503050406030204" pitchFamily="18" charset="0"/>
                  </a:rPr>
                  <a:t>$|72-6|=66$</a:t>
                </a:r>
                <a:r>
                  <a:rPr sz="2400" b="0">
                    <a:solidFill>
                      <a:srgbClr val="111827"/>
                    </a:solidFill>
                    <a:latin typeface="Arial"/>
                  </a:rPr>
                  <a:t> again.</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66</a:t>
            </a:r>
            <a:endParaRPr sz="2800">
              <a:solidFill>
                <a:srgbClr val="15803D"/>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Lagrange's identity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directly, with no angle.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Lagrange's identity </a:t>
                </a:r>
                <a:r>
                  <a:rPr lang="en-IN" sz="2400">
                    <a:solidFill>
                      <a:srgbClr val="78350F"/>
                    </a:solidFill>
                    <a:latin typeface="Cambria Math" panose="02040503050406030204" pitchFamily="18" charset="0"/>
                  </a:rPr>
                  <a:t>$|\vec b|^2|\vec c|^2-(\vec b\cdot\vec c)^2=|\vec b\times\vec c|^2$</a:t>
                </a:r>
                <a:r>
                  <a:rPr sz="2400" b="0">
                    <a:solidFill>
                      <a:srgbClr val="78350F"/>
                    </a:solidFill>
                    <a:latin typeface="Arial"/>
                  </a:rPr>
                  <a:t> gives </a:t>
                </a:r>
                <a:r>
                  <a:rPr lang="en-IN" sz="2400">
                    <a:solidFill>
                      <a:srgbClr val="78350F"/>
                    </a:solidFill>
                    <a:latin typeface="Cambria Math" panose="02040503050406030204" pitchFamily="18" charset="0"/>
                  </a:rPr>
                  <a:t>$\vec b\cdot\vec c$</a:t>
                </a:r>
                <a:r>
                  <a:rPr sz="2400" b="0">
                    <a:solidFill>
                      <a:srgbClr val="78350F"/>
                    </a:solidFill>
                    <a:latin typeface="Arial"/>
                  </a:rPr>
                  <a:t> directly, with no angle.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33</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b\times\vec c|^2=|\vec a|^2=11$</a:t>
                </a:r>
                <a:r>
                  <a:rPr sz="2400" b="0">
                    <a:solidFill>
                      <a:srgbClr val="111827"/>
                    </a:solidFill>
                    <a:latin typeface="Arial"/>
                  </a:rPr>
                  <a:t>, </a:t>
                </a:r>
                <a:r>
                  <a:rPr lang="en-IN" sz="2400">
                    <a:solidFill>
                      <a:srgbClr val="111827"/>
                    </a:solidFill>
                    <a:latin typeface="Cambria Math" panose="02040503050406030204" pitchFamily="18" charset="0"/>
                  </a:rPr>
                  <a:t>$|\vec b|^2=50$</a:t>
                </a:r>
                <a:r>
                  <a:rPr sz="2400" b="0">
                    <a:solidFill>
                      <a:srgbClr val="111827"/>
                    </a:solidFill>
                    <a:latin typeface="Arial"/>
                  </a:rPr>
                  <a:t>, </a:t>
                </a:r>
                <a:r>
                  <a:rPr lang="en-IN" sz="2400">
                    <a:solidFill>
                      <a:srgbClr val="111827"/>
                    </a:solidFill>
                    <a:latin typeface="Cambria Math" panose="02040503050406030204" pitchFamily="18" charset="0"/>
                  </a:rPr>
                  <a:t>$|\vec c|^2=22$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 </a:t>
                </a:r>
                <a:r>
                  <a:rPr lang="en-IN" sz="2400">
                    <a:solidFill>
                      <a:srgbClr val="111827"/>
                    </a:solidFill>
                    <a:latin typeface="Cambria Math" panose="02040503050406030204" pitchFamily="18" charset="0"/>
                  </a:rPr>
                  <a:t>$(\vec b\cdot\vec c)^2=|\vec b|^2|\vec c|^2-|\vec b\times\vec c|^2=1100-11=1089=33^2$</a:t>
                </a:r>
                <a:r>
                  <a:rPr sz="2400" b="0">
                    <a:solidFill>
                      <a:srgbClr val="111827"/>
                    </a:solidFill>
                    <a:latin typeface="Arial"/>
                  </a:rPr>
                  <a:t>, so </a:t>
                </a:r>
                <a:r>
                  <a:rPr lang="en-IN" sz="2400">
                    <a:solidFill>
                      <a:srgbClr val="111827"/>
                    </a:solidFill>
                    <a:latin typeface="Cambria Math" panose="02040503050406030204" pitchFamily="18" charset="0"/>
                  </a:rPr>
                  <a:t>$\vec b\cdot\vec c=\pm33$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b+\vec c|^2=50+22+2\vec b\cdot\vec c=72\pm66$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oMath>
                </a14:m>
                <a:r>
                  <a:rPr sz="2400" b="0">
                    <a:solidFill>
                      <a:srgbClr val="111827"/>
                    </a:solidFill>
                    <a:latin typeface="Arial"/>
                  </a:rPr>
                  <a:t> in either case.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it must be 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$\left|72-|\vec b+\vec c|^2\right|=|\mp66|=66$</a:t>
                </a:r>
                <a:r>
                  <a:rPr sz="2400" b="0">
                    <a:solidFill>
                      <a:srgbClr val="111827"/>
                    </a:solidFill>
                    <a:latin typeface="Arial"/>
                  </a:rPr>
                  <a:t> in either case.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Consistency: </a:t>
                </a:r>
                <a:r>
                  <a:rPr lang="en-IN" sz="2400">
                    <a:solidFill>
                      <a:srgbClr val="111827"/>
                    </a:solidFill>
                    <a:latin typeface="Cambria Math" panose="02040503050406030204" pitchFamily="18" charset="0"/>
                  </a:rPr>
                  <a:t>$\vec a\cdot\vec c=6-3-3=0$</a:t>
                </a:r>
                <a:r>
                  <a:rPr sz="2400" b="0">
                    <a:solidFill>
                      <a:srgbClr val="111827"/>
                    </a:solidFill>
                    <a:latin typeface="Arial"/>
                  </a:rPr>
                  <a:t>, as it must be since </a:t>
                </a:r>
                <a:r>
                  <a:rPr lang="en-IN" sz="2400">
                    <a:solidFill>
                      <a:srgbClr val="111827"/>
                    </a:solidFill>
                    <a:latin typeface="Cambria Math" panose="02040503050406030204" pitchFamily="18" charset="0"/>
                  </a:rPr>
                  <a:t>$\vec a=\vec b\times\vec c\perp\vec c$</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66</a:t>
            </a:r>
            <a:endParaRPr sz="2800">
              <a:solidFill>
                <a:srgbClr val="15803D"/>
              </a:solidFill>
            </a:endParaR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given any two of the dot product, cross product and the lengths, the third follows.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solvable only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this is a quick consistency check, and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determined up to adding a multiple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 modulus in the question absorbs the sign ambiguity of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when only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is known.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r>
                  <a:rPr lang="en-IN" sz="2400">
                    <a:solidFill>
                      <a:srgbClr val="111827"/>
                    </a:solidFill>
                    <a:latin typeface="Cambria Math" panose="02040503050406030204" pitchFamily="18" charset="0"/>
                  </a:rPr>
                  <a:t>$(\vec b\cdot\vec c)^2+|\vec b\times\vec c|^2=|\vec b|^2|\vec c|^2$</a:t>
                </a:r>
                <a:r>
                  <a:rPr sz="2400" b="0">
                    <a:solidFill>
                      <a:srgbClr val="111827"/>
                    </a:solidFill>
                    <a:latin typeface="Arial"/>
                  </a:rPr>
                  <a:t>; given any two of the dot product, cross product and the lengths, the third follows.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a=\vec b\times\vec c$</a:t>
                </a:r>
                <a:r>
                  <a:rPr sz="2400" b="0">
                    <a:solidFill>
                      <a:srgbClr val="111827"/>
                    </a:solidFill>
                    <a:latin typeface="Arial"/>
                  </a:rPr>
                  <a:t> is solvable only if </a:t>
                </a:r>
                <a:r>
                  <a:rPr lang="en-IN" sz="2400">
                    <a:solidFill>
                      <a:srgbClr val="111827"/>
                    </a:solidFill>
                    <a:latin typeface="Cambria Math" panose="02040503050406030204" pitchFamily="18" charset="0"/>
                  </a:rPr>
                  <a:t>$\vec a\cdot\vec c=0$</a:t>
                </a:r>
                <a:r>
                  <a:rPr sz="2400" b="0">
                    <a:solidFill>
                      <a:srgbClr val="111827"/>
                    </a:solidFill>
                    <a:latin typeface="Arial"/>
                  </a:rPr>
                  <a:t> (and </a:t>
                </a:r>
                <a:r>
                  <a:rPr lang="en-IN" sz="2400">
                    <a:solidFill>
                      <a:srgbClr val="111827"/>
                    </a:solidFill>
                    <a:latin typeface="Cambria Math" panose="02040503050406030204" pitchFamily="18" charset="0"/>
                  </a:rPr>
                  <a:t>$\vec a\cdot\vec b=0$</a:t>
                </a:r>
                <a:r>
                  <a:rPr sz="2400" b="0">
                    <a:solidFill>
                      <a:srgbClr val="111827"/>
                    </a:solidFill>
                    <a:latin typeface="Arial"/>
                  </a:rPr>
                  <a:t>); this is a quick consistency check, and then </a:t>
                </a:r>
                <a:r>
                  <a:rPr lang="en-IN" sz="2400">
                    <a:solidFill>
                      <a:srgbClr val="111827"/>
                    </a:solidFill>
                    <a:latin typeface="Cambria Math" panose="02040503050406030204" pitchFamily="18" charset="0"/>
                  </a:rPr>
                  <a:t>$\vec b$</a:t>
                </a:r>
                <a:r>
                  <a:rPr sz="2400" b="0">
                    <a:solidFill>
                      <a:srgbClr val="111827"/>
                    </a:solidFill>
                    <a:latin typeface="Arial"/>
                  </a:rPr>
                  <a:t> is determined up to adding a multiple of </a:t>
                </a:r>
                <a:r>
                  <a:rPr lang="en-IN" sz="2400">
                    <a:solidFill>
                      <a:srgbClr val="111827"/>
                    </a:solidFill>
                    <a:latin typeface="Cambria Math" panose="02040503050406030204" pitchFamily="18" charset="0"/>
                  </a:rPr>
                  <a:t>$\vec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b\pm\vec c|^2=|\vec b|^2+|\vec c|^2\pm2\vec b\cdot\vec c$</a:t>
                </a:r>
                <a:r>
                  <a:rPr sz="2400" b="0">
                    <a:solidFill>
                      <a:srgbClr val="111827"/>
                    </a:solidFill>
                    <a:latin typeface="Arial"/>
                  </a:rPr>
                  <a:t>; the modulus in the question absorbs the sign ambiguity of </a:t>
                </a:r>
                <a:r>
                  <a:rPr lang="en-IN" sz="2400">
                    <a:solidFill>
                      <a:srgbClr val="111827"/>
                    </a:solidFill>
                    <a:latin typeface="Cambria Math" panose="02040503050406030204" pitchFamily="18" charset="0"/>
                  </a:rPr>
                  <a:t>$\cos\theta$</a:t>
                </a:r>
                <a:r>
                  <a:rPr sz="2400" b="0">
                    <a:solidFill>
                      <a:srgbClr val="111827"/>
                    </a:solidFill>
                    <a:latin typeface="Arial"/>
                  </a:rPr>
                  <a:t> when only </a:t>
                </a:r>
                <a:r>
                  <a:rPr lang="en-IN" sz="2400">
                    <a:solidFill>
                      <a:srgbClr val="111827"/>
                    </a:solidFill>
                    <a:latin typeface="Cambria Math" panose="02040503050406030204" pitchFamily="18" charset="0"/>
                  </a:rPr>
                  <a:t>$\sin\theta$</a:t>
                </a:r>
                <a:r>
                  <a:rPr sz="2400" b="0">
                    <a:solidFill>
                      <a:srgbClr val="111827"/>
                    </a:solidFill>
                    <a:latin typeface="Arial"/>
                  </a:rPr>
                  <a:t> is known.</a:t>
                </a:r>
                <a:endParaRPr sz="2400">
                  <a:solidFill>
                    <a:srgbClr val="111827"/>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co-ordinates of one vertex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other two vertices lie on 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if the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21</m:t>
                    </m:r>
                  </m:oMath>
                </a14:m>
                <a:r>
                  <a:rPr sz="2400" b="0">
                    <a:solidFill>
                      <a:srgbClr val="111827"/>
                    </a:solidFill>
                    <a:latin typeface="Arial"/>
                  </a:rPr>
                  <a:t> sq. units and the line segment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has length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oMath>
                </a14:m>
                <a:r>
                  <a:rPr sz="2400" b="0">
                    <a:solidFill>
                      <a:srgbClr val="111827"/>
                    </a:solidFill>
                    <a:latin typeface="Arial"/>
                  </a:rPr>
                  <a:t> units, then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__________ .</a:t>
                </a:r>
                <a:endParaRPr sz="2400">
                  <a:solidFill>
                    <a:srgbClr val="111827"/>
                  </a:solidFill>
                </a:endParaRPr>
              </a:p>
            </p:txBody>
          </p:sp>
        </mc:Choice>
        <mc:Fallback>
          <p:sp>
            <p:nvSpPr>
              <p:cNvPr id="4" name="Rounded Rectangle 3"/>
              <p:cNvSpPr/>
              <p:nvPr/>
            </p:nvSpPr>
            <p:spPr>
              <a:xfrm>
                <a:off x="731520" y="1280160"/>
                <a:ext cx="10725912" cy="270916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co-ordinates of one vertex of </a:t>
                </a:r>
                <a:r>
                  <a:rPr lang="en-IN" sz="2400">
                    <a:solidFill>
                      <a:srgbClr val="111827"/>
                    </a:solidFill>
                    <a:latin typeface="Cambria Math" panose="02040503050406030204" pitchFamily="18" charset="0"/>
                  </a:rPr>
                  <a:t>$\triangle ABC$</a:t>
                </a:r>
                <a:r>
                  <a:rPr sz="2400" b="0">
                    <a:solidFill>
                      <a:srgbClr val="111827"/>
                    </a:solidFill>
                    <a:latin typeface="Arial"/>
                  </a:rPr>
                  <a:t> be </a:t>
                </a:r>
                <a:r>
                  <a:rPr lang="en-IN" sz="2400">
                    <a:solidFill>
                      <a:srgbClr val="111827"/>
                    </a:solidFill>
                    <a:latin typeface="Cambria Math" panose="02040503050406030204" pitchFamily="18" charset="0"/>
                  </a:rPr>
                  <a:t>$A(0,2,\alpha)$</a:t>
                </a:r>
                <a:r>
                  <a:rPr sz="2400" b="0">
                    <a:solidFill>
                      <a:srgbClr val="111827"/>
                    </a:solidFill>
                    <a:latin typeface="Arial"/>
                  </a:rPr>
                  <a:t> and the other two vertices lie on the line </a:t>
                </a:r>
                <a:r>
                  <a:rPr lang="en-IN" sz="2400">
                    <a:solidFill>
                      <a:srgbClr val="111827"/>
                    </a:solidFill>
                    <a:latin typeface="Cambria Math" panose="02040503050406030204" pitchFamily="18" charset="0"/>
                  </a:rPr>
                  <a:t>$\frac{x+\alpha}{5}=\frac{y-1}{2}=\frac{z+4}{3}$</a:t>
                </a:r>
                <a:r>
                  <a:rPr sz="2400" b="0">
                    <a:solidFill>
                      <a:srgbClr val="111827"/>
                    </a:solidFill>
                    <a:latin typeface="Arial"/>
                  </a:rPr>
                  <a:t>. For </a:t>
                </a:r>
                <a:r>
                  <a:rPr lang="en-IN" sz="2400">
                    <a:solidFill>
                      <a:srgbClr val="111827"/>
                    </a:solidFill>
                    <a:latin typeface="Cambria Math" panose="02040503050406030204" pitchFamily="18" charset="0"/>
                  </a:rPr>
                  <a:t>$\alpha\in\mathbb{Z}$</a:t>
                </a:r>
                <a:r>
                  <a:rPr sz="2400" b="0">
                    <a:solidFill>
                      <a:srgbClr val="111827"/>
                    </a:solidFill>
                    <a:latin typeface="Arial"/>
                  </a:rPr>
                  <a:t>, if the area of </a:t>
                </a:r>
                <a:r>
                  <a:rPr lang="en-IN" sz="2400">
                    <a:solidFill>
                      <a:srgbClr val="111827"/>
                    </a:solidFill>
                    <a:latin typeface="Cambria Math" panose="02040503050406030204" pitchFamily="18" charset="0"/>
                  </a:rPr>
                  <a:t>$\triangle ABC$</a:t>
                </a:r>
                <a:r>
                  <a:rPr sz="2400" b="0">
                    <a:solidFill>
                      <a:srgbClr val="111827"/>
                    </a:solidFill>
                    <a:latin typeface="Arial"/>
                  </a:rPr>
                  <a:t> is </a:t>
                </a:r>
                <a:r>
                  <a:rPr lang="en-IN" sz="2400">
                    <a:solidFill>
                      <a:srgbClr val="111827"/>
                    </a:solidFill>
                    <a:latin typeface="Cambria Math" panose="02040503050406030204" pitchFamily="18" charset="0"/>
                  </a:rPr>
                  <a:t>$21$</a:t>
                </a:r>
                <a:r>
                  <a:rPr sz="2400" b="0">
                    <a:solidFill>
                      <a:srgbClr val="111827"/>
                    </a:solidFill>
                    <a:latin typeface="Arial"/>
                  </a:rPr>
                  <a:t> sq. units and the line segment </a:t>
                </a:r>
                <a:r>
                  <a:rPr lang="en-IN" sz="2400">
                    <a:solidFill>
                      <a:srgbClr val="111827"/>
                    </a:solidFill>
                    <a:latin typeface="Cambria Math" panose="02040503050406030204" pitchFamily="18" charset="0"/>
                  </a:rPr>
                  <a:t>$BC$</a:t>
                </a:r>
                <a:r>
                  <a:rPr sz="2400" b="0">
                    <a:solidFill>
                      <a:srgbClr val="111827"/>
                    </a:solidFill>
                    <a:latin typeface="Arial"/>
                  </a:rPr>
                  <a:t> has length </a:t>
                </a:r>
                <a:r>
                  <a:rPr lang="en-IN" sz="2400">
                    <a:solidFill>
                      <a:srgbClr val="111827"/>
                    </a:solidFill>
                    <a:latin typeface="Cambria Math" panose="02040503050406030204" pitchFamily="18" charset="0"/>
                  </a:rPr>
                  <a:t>$2\sqrt{21}$</a:t>
                </a:r>
                <a:r>
                  <a:rPr sz="2400" b="0">
                    <a:solidFill>
                      <a:srgbClr val="111827"/>
                    </a:solidFill>
                    <a:latin typeface="Arial"/>
                  </a:rPr>
                  <a:t> units, then </a:t>
                </a:r>
                <a:r>
                  <a:rPr lang="en-IN" sz="2400">
                    <a:solidFill>
                      <a:srgbClr val="111827"/>
                    </a:solidFill>
                    <a:latin typeface="Cambria Math" panose="02040503050406030204" pitchFamily="18" charset="0"/>
                  </a:rPr>
                  <a:t>$\alpha^2$</a:t>
                </a:r>
                <a:r>
                  <a:rPr sz="2400" b="0">
                    <a:solidFill>
                      <a:srgbClr val="111827"/>
                    </a:solidFill>
                    <a:latin typeface="Arial"/>
                  </a:rPr>
                  <a:t> is equal to __________ .</a:t>
                </a:r>
                <a:endParaRPr sz="2400">
                  <a:solidFill>
                    <a:srgbClr val="111827"/>
                  </a:solidFill>
                </a:endParaRPr>
              </a:p>
            </p:txBody>
          </p:sp>
        </mc:Fallback>
      </mc:AlternateContent>
      <p:sp>
        <p:nvSpPr>
          <p:cNvPr id="5" name="Rectangle 4"/>
          <p:cNvSpPr/>
          <p:nvPr/>
        </p:nvSpPr>
        <p:spPr>
          <a:xfrm>
            <a:off x="731520" y="421792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Area of a triangle using vector product, Distance of a point from a line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Area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21</m:t>
                        </m:r>
                      </m:e>
                    </m:rad>
                  </m:oMath>
                </a14:m>
                <a:r>
                  <a:rPr sz="2400" b="0">
                    <a:solidFill>
                      <a:srgbClr val="78350F"/>
                    </a:solidFill>
                    <a:latin typeface="Arial"/>
                  </a:rPr>
                  <a:t>, the distance from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to the line, computed as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0</m:t>
                                </m:r>
                              </m:sub>
                            </m:sSub>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Area </a:t>
                </a:r>
                <a:r>
                  <a:rPr lang="en-IN" sz="2400">
                    <a:solidFill>
                      <a:srgbClr val="78350F"/>
                    </a:solidFill>
                    <a:latin typeface="Cambria Math" panose="02040503050406030204" pitchFamily="18" charset="0"/>
                  </a:rPr>
                  <a:t>$=\frac12\cdot BC\cdot h$</a:t>
                </a:r>
                <a:r>
                  <a:rPr sz="2400" b="0">
                    <a:solidFill>
                      <a:srgbClr val="78350F"/>
                    </a:solidFill>
                    <a:latin typeface="Arial"/>
                  </a:rPr>
                  <a:t> gives </a:t>
                </a:r>
                <a:r>
                  <a:rPr lang="en-IN" sz="2400">
                    <a:solidFill>
                      <a:srgbClr val="78350F"/>
                    </a:solidFill>
                    <a:latin typeface="Cambria Math" panose="02040503050406030204" pitchFamily="18" charset="0"/>
                  </a:rPr>
                  <a:t>$h=\sqrt{21}$</a:t>
                </a:r>
                <a:r>
                  <a:rPr sz="2400" b="0">
                    <a:solidFill>
                      <a:srgbClr val="78350F"/>
                    </a:solidFill>
                    <a:latin typeface="Arial"/>
                  </a:rPr>
                  <a:t>, the distance from </a:t>
                </a:r>
                <a:r>
                  <a:rPr lang="en-IN" sz="2400">
                    <a:solidFill>
                      <a:srgbClr val="78350F"/>
                    </a:solidFill>
                    <a:latin typeface="Cambria Math" panose="02040503050406030204" pitchFamily="18" charset="0"/>
                  </a:rPr>
                  <a:t>$A$</a:t>
                </a:r>
                <a:r>
                  <a:rPr sz="2400" b="0">
                    <a:solidFill>
                      <a:srgbClr val="78350F"/>
                    </a:solidFill>
                    <a:latin typeface="Arial"/>
                  </a:rPr>
                  <a:t> to the line, computed as </a:t>
                </a:r>
                <a:r>
                  <a:rPr lang="en-IN" sz="2400">
                    <a:solidFill>
                      <a:srgbClr val="78350F"/>
                    </a:solidFill>
                    <a:latin typeface="Cambria Math" panose="02040503050406030204" pitchFamily="18" charset="0"/>
                  </a:rPr>
                  <a:t>$\frac{|\vec{AP_0}\times\vec d|}{|\vec 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passes through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38</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the distance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mr>
                          <m:mr>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passes through </a:t>
                </a:r>
                <a:r>
                  <a:rPr lang="en-IN" sz="2400">
                    <a:solidFill>
                      <a:srgbClr val="111827"/>
                    </a:solidFill>
                    <a:latin typeface="Cambria Math" panose="02040503050406030204" pitchFamily="18" charset="0"/>
                  </a:rPr>
                  <a:t>$P_0(-\alpha,1,-4)$</a:t>
                </a:r>
                <a:r>
                  <a:rPr sz="2400" b="0">
                    <a:solidFill>
                      <a:srgbClr val="111827"/>
                    </a:solidFill>
                    <a:latin typeface="Arial"/>
                  </a:rPr>
                  <a:t> with direction </a:t>
                </a:r>
                <a:r>
                  <a:rPr lang="en-IN" sz="2400">
                    <a:solidFill>
                      <a:srgbClr val="111827"/>
                    </a:solidFill>
                    <a:latin typeface="Cambria Math" panose="02040503050406030204" pitchFamily="18" charset="0"/>
                  </a:rPr>
                  <a:t>$\vec d=5\hat i+2\hat j+3\hat k$</a:t>
                </a:r>
                <a:r>
                  <a:rPr sz="2400" b="0">
                    <a:solidFill>
                      <a:srgbClr val="111827"/>
                    </a:solidFill>
                    <a:latin typeface="Arial"/>
                  </a:rPr>
                  <a:t>, </a:t>
                </a:r>
                <a:r>
                  <a:rPr lang="en-IN" sz="2400">
                    <a:solidFill>
                      <a:srgbClr val="111827"/>
                    </a:solidFill>
                    <a:latin typeface="Cambria Math" panose="02040503050406030204" pitchFamily="18" charset="0"/>
                  </a:rPr>
                  <a:t>$|\vec d|=\sqrt{38}$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$\triangle ABC=\frac12\cdot BC\cdot h$</a:t>
                </a:r>
                <a:r>
                  <a:rPr sz="2400" b="0">
                    <a:solidFill>
                      <a:srgbClr val="111827"/>
                    </a:solidFill>
                    <a:latin typeface="Arial"/>
                  </a:rPr>
                  <a:t>, where </a:t>
                </a:r>
                <a:r>
                  <a:rPr lang="en-IN" sz="2400">
                    <a:solidFill>
                      <a:srgbClr val="111827"/>
                    </a:solidFill>
                    <a:latin typeface="Cambria Math" panose="02040503050406030204" pitchFamily="18" charset="0"/>
                  </a:rPr>
                  <a:t>$h$</a:t>
                </a:r>
                <a:r>
                  <a:rPr sz="2400" b="0">
                    <a:solidFill>
                      <a:srgbClr val="111827"/>
                    </a:solidFill>
                    <a:latin typeface="Arial"/>
                  </a:rPr>
                  <a:t> is the distance of </a:t>
                </a:r>
                <a:r>
                  <a:rPr lang="en-IN" sz="2400">
                    <a:solidFill>
                      <a:srgbClr val="111827"/>
                    </a:solidFill>
                    <a:latin typeface="Cambria Math" panose="02040503050406030204" pitchFamily="18" charset="0"/>
                  </a:rPr>
                  <a:t>$A$</a:t>
                </a:r>
                <a:r>
                  <a:rPr sz="2400" b="0">
                    <a:solidFill>
                      <a:srgbClr val="111827"/>
                    </a:solidFill>
                    <a:latin typeface="Arial"/>
                  </a:rPr>
                  <a:t> from the line: </a:t>
                </a:r>
                <a:r>
                  <a:rPr lang="en-IN" sz="2400">
                    <a:solidFill>
                      <a:srgbClr val="111827"/>
                    </a:solidFill>
                    <a:latin typeface="Cambria Math" panose="02040503050406030204" pitchFamily="18" charset="0"/>
                  </a:rPr>
                  <a:t>$21=\frac12\cdot2\sqrt{21}\cdot h$</a:t>
                </a:r>
                <a:r>
                  <a:rPr sz="2400" b="0">
                    <a:solidFill>
                      <a:srgbClr val="111827"/>
                    </a:solidFill>
                    <a:latin typeface="Arial"/>
                  </a:rPr>
                  <a:t>, so </a:t>
                </a:r>
                <a:r>
                  <a:rPr lang="en-IN" sz="2400">
                    <a:solidFill>
                      <a:srgbClr val="111827"/>
                    </a:solidFill>
                    <a:latin typeface="Cambria Math" panose="02040503050406030204" pitchFamily="18" charset="0"/>
                  </a:rPr>
                  <a:t>$h=\sqrt{21}$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$\overrightarrow{P_0A}=\alpha\hat i+\hat j+(\alpha+4)\hat k$</a:t>
                </a:r>
                <a:r>
                  <a:rPr sz="2400" b="0">
                    <a:solidFill>
                      <a:srgbClr val="111827"/>
                    </a:solidFill>
                    <a:latin typeface="Arial"/>
                  </a:rPr>
                  <a:t> and </a:t>
                </a:r>
                <a:r>
                  <a:rPr lang="en-IN" sz="2400">
                    <a:solidFill>
                      <a:srgbClr val="111827"/>
                    </a:solidFill>
                    <a:latin typeface="Cambria Math" panose="02040503050406030204" pitchFamily="18" charset="0"/>
                  </a:rPr>
                  <a:t>$h=\frac{|\overrightarrow{P_0A}\times\vec d|}{|\vec 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$\overrightarrow{P_0A}\times\vec d=\begin{vmatrix}\hat i&amp;\hat j&amp;\hat k\\ \alpha&amp;1&amp;\alpha+4\\ 5&amp;2&amp;3\end{vmatrix}=(-2\alpha-5)\hat i+(2\alpha+20)\hat j+(2\alpha-5)\hat 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38</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$\sqrt{(2\alpha+5)^2+(2\alpha+20)^2+(2\alpha-5)^2}=\sqrt{21}\sqrt{38}$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$12\alpha^2+80\alpha+450=798\Rightarrow12\alpha^2+80\alpha-348=0\Rightarrow3\alpha^2+20\alpha-87=0$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$(\alpha-3)(3\alpha+29)=0$</a:t>
                </a:r>
                <a:r>
                  <a:rPr sz="2400" b="0">
                    <a:solidFill>
                      <a:srgbClr val="111827"/>
                    </a:solidFill>
                    <a:latin typeface="Arial"/>
                  </a:rPr>
                  <a:t>, so </a:t>
                </a:r>
                <a:r>
                  <a:rPr lang="en-IN" sz="2400">
                    <a:solidFill>
                      <a:srgbClr val="111827"/>
                    </a:solidFill>
                    <a:latin typeface="Cambria Math" panose="02040503050406030204" pitchFamily="18" charset="0"/>
                  </a:rPr>
                  <a:t>$\alpha=3$</a:t>
                </a:r>
                <a:r>
                  <a:rPr sz="2400" b="0">
                    <a:solidFill>
                      <a:srgbClr val="111827"/>
                    </a:solidFill>
                    <a:latin typeface="Arial"/>
                  </a:rPr>
                  <a:t> or </a:t>
                </a:r>
                <a:r>
                  <a:rPr lang="en-IN" sz="2400">
                    <a:solidFill>
                      <a:srgbClr val="111827"/>
                    </a:solidFill>
                    <a:latin typeface="Cambria Math" panose="02040503050406030204" pitchFamily="18" charset="0"/>
                  </a:rPr>
                  <a:t>$\alpha=-\frac{29}{3}$</a:t>
                </a:r>
                <a:r>
                  <a:rPr sz="2400" b="0">
                    <a:solidFill>
                      <a:srgbClr val="111827"/>
                    </a:solidFill>
                    <a:latin typeface="Arial"/>
                  </a:rPr>
                  <a:t>; since </a:t>
                </a:r>
                <a:r>
                  <a:rPr lang="en-IN" sz="2400">
                    <a:solidFill>
                      <a:srgbClr val="111827"/>
                    </a:solidFill>
                    <a:latin typeface="Cambria Math" panose="02040503050406030204" pitchFamily="18" charset="0"/>
                  </a:rPr>
                  <a:t>$\alpha\in\mathbb{Z}$</a:t>
                </a:r>
                <a:r>
                  <a:rPr sz="2400" b="0">
                    <a:solidFill>
                      <a:srgbClr val="111827"/>
                    </a:solidFill>
                    <a:latin typeface="Arial"/>
                  </a:rPr>
                  <a:t>, </a:t>
                </a:r>
                <a:r>
                  <a:rPr lang="en-IN" sz="2400">
                    <a:solidFill>
                      <a:srgbClr val="111827"/>
                    </a:solidFill>
                    <a:latin typeface="Cambria Math" panose="02040503050406030204" pitchFamily="18" charset="0"/>
                  </a:rPr>
                  <a:t>$\alpha=3$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Pythagoras in the right triangle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foot,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0</m:t>
                        </m:r>
                      </m:sub>
                    </m:sSub>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0</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0</m:t>
                                    </m:r>
                                  </m:sub>
                                </m:sSub>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avoiding the determinant.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Pythagoras in the right triangle </a:t>
                </a:r>
                <a:r>
                  <a:rPr lang="en-IN" sz="2400">
                    <a:solidFill>
                      <a:srgbClr val="78350F"/>
                    </a:solidFill>
                    <a:latin typeface="Cambria Math" panose="02040503050406030204" pitchFamily="18" charset="0"/>
                  </a:rPr>
                  <a:t>$A$</a:t>
                </a:r>
                <a:r>
                  <a:rPr sz="2400" b="0">
                    <a:solidFill>
                      <a:srgbClr val="78350F"/>
                    </a:solidFill>
                    <a:latin typeface="Arial"/>
                  </a:rPr>
                  <a:t>, foot, </a:t>
                </a:r>
                <a:r>
                  <a:rPr lang="en-IN" sz="2400">
                    <a:solidFill>
                      <a:srgbClr val="78350F"/>
                    </a:solidFill>
                    <a:latin typeface="Cambria Math" panose="02040503050406030204" pitchFamily="18" charset="0"/>
                  </a:rPr>
                  <a:t>$P_0$</a:t>
                </a:r>
                <a:r>
                  <a:rPr sz="2400" b="0">
                    <a:solidFill>
                      <a:srgbClr val="78350F"/>
                    </a:solidFill>
                    <a:latin typeface="Arial"/>
                  </a:rPr>
                  <a:t>: </a:t>
                </a:r>
                <a:r>
                  <a:rPr lang="en-IN" sz="2400">
                    <a:solidFill>
                      <a:srgbClr val="78350F"/>
                    </a:solidFill>
                    <a:latin typeface="Cambria Math" panose="02040503050406030204" pitchFamily="18" charset="0"/>
                  </a:rPr>
                  <a:t>$h^2=|AP_0|^2-\left(\overrightarrow{P_0A}\cdot\hat d\right)^2$</a:t>
                </a:r>
                <a:r>
                  <a:rPr sz="2400" b="0">
                    <a:solidFill>
                      <a:srgbClr val="78350F"/>
                    </a:solidFill>
                    <a:latin typeface="Arial"/>
                  </a:rPr>
                  <a:t>, avoiding the determinant.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so the squared length of its projection on the line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$\overrightarrow{P_0A}=(\alpha,1,\alpha+4)$</a:t>
                </a:r>
                <a:r>
                  <a:rPr sz="2400" b="0">
                    <a:solidFill>
                      <a:srgbClr val="111827"/>
                    </a:solidFill>
                    <a:latin typeface="Arial"/>
                  </a:rPr>
                  <a:t>, so </a:t>
                </a:r>
                <a:r>
                  <a:rPr lang="en-IN" sz="2400">
                    <a:solidFill>
                      <a:srgbClr val="111827"/>
                    </a:solidFill>
                    <a:latin typeface="Cambria Math" panose="02040503050406030204" pitchFamily="18" charset="0"/>
                  </a:rPr>
                  <a:t>$|P_0A|^2=\alpha^2+1+(\alpha+4)^2=2\alpha^2+8\alpha+17$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$\overrightarrow{P_0A}\cdot\vec d=5\alpha+2+3\alpha+12=8\alpha+14$</a:t>
                </a:r>
                <a:r>
                  <a:rPr sz="2400" b="0">
                    <a:solidFill>
                      <a:srgbClr val="111827"/>
                    </a:solidFill>
                    <a:latin typeface="Arial"/>
                  </a:rPr>
                  <a:t>, so the squared length of its projection on the line is </a:t>
                </a:r>
                <a:r>
                  <a:rPr lang="en-IN" sz="2400">
                    <a:solidFill>
                      <a:srgbClr val="111827"/>
                    </a:solidFill>
                    <a:latin typeface="Cambria Math" panose="02040503050406030204" pitchFamily="18" charset="0"/>
                  </a:rPr>
                  <a:t>$\frac{(8\alpha+14)^2}{38}$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$h^2=2\alpha^2+8\alpha+17-\frac{(8\alpha+14)^2}{38}=21$</a:t>
                </a:r>
                <a:r>
                  <a:rPr sz="2400" b="0">
                    <a:solidFill>
                      <a:srgbClr val="111827"/>
                    </a:solidFill>
                    <a:latin typeface="Arial"/>
                  </a:rPr>
                  <a:t> (since </a:t>
                </a:r>
                <a:r>
                  <a:rPr lang="en-IN" sz="2400">
                    <a:solidFill>
                      <a:srgbClr val="111827"/>
                    </a:solidFill>
                    <a:latin typeface="Cambria Math" panose="02040503050406030204" pitchFamily="18" charset="0"/>
                  </a:rPr>
                  <a:t>$h=\sqrt{21}$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38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76</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798</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80</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same quadratic).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 root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$38$</a:t>
                </a:r>
                <a:r>
                  <a:rPr sz="2400" b="0">
                    <a:solidFill>
                      <a:srgbClr val="111827"/>
                    </a:solidFill>
                    <a:latin typeface="Arial"/>
                  </a:rPr>
                  <a:t>: </a:t>
                </a:r>
                <a:r>
                  <a:rPr lang="en-IN" sz="2400">
                    <a:solidFill>
                      <a:srgbClr val="111827"/>
                    </a:solidFill>
                    <a:latin typeface="Cambria Math" panose="02040503050406030204" pitchFamily="18" charset="0"/>
                  </a:rPr>
                  <a:t>$76\alpha^2+304\alpha+646-64\alpha^2-224\alpha-196=798$</a:t>
                </a:r>
                <a:r>
                  <a:rPr sz="2400" b="0">
                    <a:solidFill>
                      <a:srgbClr val="111827"/>
                    </a:solidFill>
                    <a:latin typeface="Arial"/>
                  </a:rPr>
                  <a:t>, i.e. </a:t>
                </a:r>
                <a:r>
                  <a:rPr lang="en-IN" sz="2400">
                    <a:solidFill>
                      <a:srgbClr val="111827"/>
                    </a:solidFill>
                    <a:latin typeface="Cambria Math" panose="02040503050406030204" pitchFamily="18" charset="0"/>
                  </a:rPr>
                  <a:t>$12\alpha^2+80\alpha-348=0$</a:t>
                </a:r>
                <a:r>
                  <a:rPr sz="2400" b="0">
                    <a:solidFill>
                      <a:srgbClr val="111827"/>
                    </a:solidFill>
                    <a:latin typeface="Arial"/>
                  </a:rPr>
                  <a:t> (the same quadratic).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Integer root </a:t>
                </a:r>
                <a:r>
                  <a:rPr lang="en-IN" sz="2400">
                    <a:solidFill>
                      <a:srgbClr val="111827"/>
                    </a:solidFill>
                    <a:latin typeface="Cambria Math" panose="02040503050406030204" pitchFamily="18" charset="0"/>
                  </a:rPr>
                  <a:t>$\alpha=3$</a:t>
                </a:r>
                <a:r>
                  <a:rPr sz="2400" b="0">
                    <a:solidFill>
                      <a:srgbClr val="111827"/>
                    </a:solidFill>
                    <a:latin typeface="Arial"/>
                  </a:rPr>
                  <a:t>, so </a:t>
                </a:r>
                <a:r>
                  <a:rPr lang="en-IN" sz="2400">
                    <a:solidFill>
                      <a:srgbClr val="111827"/>
                    </a:solidFill>
                    <a:latin typeface="Cambria Math" panose="02040503050406030204" pitchFamily="18" charset="0"/>
                  </a:rPr>
                  <a:t>$\alpha^2=9$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the line through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two vertices of a triangle lie on a line, the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(base on the line)</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(distance of the third vertex from the line); the positions of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on the line do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stated condition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to reject extra quadratic roots: here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29</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discarded.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 point </a:t>
                </a:r>
                <a:r>
                  <a:rPr lang="en-IN" sz="2400">
                    <a:solidFill>
                      <a:srgbClr val="111827"/>
                    </a:solidFill>
                    <a:latin typeface="Cambria Math" panose="02040503050406030204" pitchFamily="18" charset="0"/>
                  </a:rPr>
                  <a:t>$A$</a:t>
                </a:r>
                <a:r>
                  <a:rPr sz="2400" b="0">
                    <a:solidFill>
                      <a:srgbClr val="111827"/>
                    </a:solidFill>
                    <a:latin typeface="Arial"/>
                  </a:rPr>
                  <a:t> from the line through </a:t>
                </a:r>
                <a:r>
                  <a:rPr lang="en-IN" sz="2400">
                    <a:solidFill>
                      <a:srgbClr val="111827"/>
                    </a:solidFill>
                    <a:latin typeface="Cambria Math" panose="02040503050406030204" pitchFamily="18" charset="0"/>
                  </a:rPr>
                  <a:t>$P_0$</a:t>
                </a:r>
                <a:r>
                  <a:rPr sz="2400" b="0">
                    <a:solidFill>
                      <a:srgbClr val="111827"/>
                    </a:solidFill>
                    <a:latin typeface="Arial"/>
                  </a:rPr>
                  <a:t> with direction </a:t>
                </a:r>
                <a:r>
                  <a:rPr lang="en-IN" sz="2400">
                    <a:solidFill>
                      <a:srgbClr val="111827"/>
                    </a:solidFill>
                    <a:latin typeface="Cambria Math" panose="02040503050406030204" pitchFamily="18" charset="0"/>
                  </a:rPr>
                  <a:t>$\vec d$</a:t>
                </a:r>
                <a:r>
                  <a:rPr sz="2400" b="0">
                    <a:solidFill>
                      <a:srgbClr val="111827"/>
                    </a:solidFill>
                    <a:latin typeface="Arial"/>
                  </a:rPr>
                  <a:t>: </a:t>
                </a:r>
                <a:r>
                  <a:rPr lang="en-IN" sz="2400">
                    <a:solidFill>
                      <a:srgbClr val="111827"/>
                    </a:solidFill>
                    <a:latin typeface="Cambria Math" panose="02040503050406030204" pitchFamily="18" charset="0"/>
                  </a:rPr>
                  <a:t>$h=\frac{|\overrightarrow{P_0A}\times\vec d|}{|\vec d|}$</a:t>
                </a:r>
                <a:r>
                  <a:rPr sz="2400" b="0">
                    <a:solidFill>
                      <a:srgbClr val="111827"/>
                    </a:solidFill>
                    <a:latin typeface="Arial"/>
                  </a:rPr>
                  <a:t>, or </a:t>
                </a:r>
                <a:r>
                  <a:rPr lang="en-IN" sz="2400">
                    <a:solidFill>
                      <a:srgbClr val="111827"/>
                    </a:solidFill>
                    <a:latin typeface="Cambria Math" panose="02040503050406030204" pitchFamily="18" charset="0"/>
                  </a:rPr>
                  <a:t>$h^2=|P_0A|^2-\frac{(\overrightarrow{P_0A}\cdot\vec d)^2}{|\vec 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two vertices of a triangle lie on a line, the area is </a:t>
                </a:r>
                <a:r>
                  <a:rPr lang="en-IN" sz="2400">
                    <a:solidFill>
                      <a:srgbClr val="111827"/>
                    </a:solidFill>
                    <a:latin typeface="Cambria Math" panose="02040503050406030204" pitchFamily="18" charset="0"/>
                  </a:rPr>
                  <a:t>$\frac12\cdot$</a:t>
                </a:r>
                <a:r>
                  <a:rPr sz="2400" b="0">
                    <a:solidFill>
                      <a:srgbClr val="111827"/>
                    </a:solidFill>
                    <a:latin typeface="Arial"/>
                  </a:rPr>
                  <a:t>(base on the line)</a:t>
                </a:r>
                <a:r>
                  <a:rPr lang="en-IN" sz="2400">
                    <a:solidFill>
                      <a:srgbClr val="111827"/>
                    </a:solidFill>
                    <a:latin typeface="Cambria Math" panose="02040503050406030204" pitchFamily="18" charset="0"/>
                  </a:rPr>
                  <a:t>$\cdot$</a:t>
                </a:r>
                <a:r>
                  <a:rPr sz="2400" b="0">
                    <a:solidFill>
                      <a:srgbClr val="111827"/>
                    </a:solidFill>
                    <a:latin typeface="Arial"/>
                  </a:rPr>
                  <a:t>(distance of the third vertex from the line); the positions of </a:t>
                </a:r>
                <a:r>
                  <a:rPr lang="en-IN" sz="2400">
                    <a:solidFill>
                      <a:srgbClr val="111827"/>
                    </a:solidFill>
                    <a:latin typeface="Cambria Math" panose="02040503050406030204" pitchFamily="18" charset="0"/>
                  </a:rPr>
                  <a:t>$B,C$</a:t>
                </a:r>
                <a:r>
                  <a:rPr sz="2400" b="0">
                    <a:solidFill>
                      <a:srgbClr val="111827"/>
                    </a:solidFill>
                    <a:latin typeface="Arial"/>
                  </a:rPr>
                  <a:t> on the line do not matter.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stated condition (</a:t>
                </a:r>
                <a:r>
                  <a:rPr lang="en-IN" sz="2400">
                    <a:solidFill>
                      <a:srgbClr val="111827"/>
                    </a:solidFill>
                    <a:latin typeface="Cambria Math" panose="02040503050406030204" pitchFamily="18" charset="0"/>
                  </a:rPr>
                  <a:t>$\alpha\in\mathbb{Z}$</a:t>
                </a:r>
                <a:r>
                  <a:rPr sz="2400" b="0">
                    <a:solidFill>
                      <a:srgbClr val="111827"/>
                    </a:solidFill>
                    <a:latin typeface="Arial"/>
                  </a:rPr>
                  <a:t>) to reject extra quadratic roots: here </a:t>
                </a:r>
                <a:r>
                  <a:rPr lang="en-IN" sz="2400">
                    <a:solidFill>
                      <a:srgbClr val="111827"/>
                    </a:solidFill>
                    <a:latin typeface="Cambria Math" panose="02040503050406030204" pitchFamily="18" charset="0"/>
                  </a:rPr>
                  <a:t>$-\frac{29}{3}$</a:t>
                </a:r>
                <a:r>
                  <a:rPr sz="2400" b="0">
                    <a:solidFill>
                      <a:srgbClr val="111827"/>
                    </a:solidFill>
                    <a:latin typeface="Arial"/>
                  </a:rPr>
                  <a:t> is discarded.</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81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point of intersection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of the plane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line joining the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divides the line segment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internally in the ratio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coprime) are the direction ratios of the perpendicular from the point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on 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__________ .</a:t>
                </a:r>
                <a:endParaRPr sz="2400">
                  <a:solidFill>
                    <a:srgbClr val="111827"/>
                  </a:solidFill>
                </a:endParaRPr>
              </a:p>
            </p:txBody>
          </p:sp>
        </mc:Choice>
        <mc:Fallback>
          <p:sp>
            <p:nvSpPr>
              <p:cNvPr id="4" name="Rounded Rectangle 3"/>
              <p:cNvSpPr/>
              <p:nvPr/>
            </p:nvSpPr>
            <p:spPr>
              <a:xfrm>
                <a:off x="731520" y="1280160"/>
                <a:ext cx="10725912" cy="30810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point of intersection </a:t>
                </a:r>
                <a:r>
                  <a:rPr lang="en-IN" sz="2400">
                    <a:solidFill>
                      <a:srgbClr val="111827"/>
                    </a:solidFill>
                    <a:latin typeface="Cambria Math" panose="02040503050406030204" pitchFamily="18" charset="0"/>
                  </a:rPr>
                  <a:t>$C$</a:t>
                </a:r>
                <a:r>
                  <a:rPr sz="2400" b="0">
                    <a:solidFill>
                      <a:srgbClr val="111827"/>
                    </a:solidFill>
                    <a:latin typeface="Arial"/>
                  </a:rPr>
                  <a:t> of the plane </a:t>
                </a:r>
                <a:r>
                  <a:rPr lang="en-IN" sz="2400">
                    <a:solidFill>
                      <a:srgbClr val="111827"/>
                    </a:solidFill>
                    <a:latin typeface="Cambria Math" panose="02040503050406030204" pitchFamily="18" charset="0"/>
                  </a:rPr>
                  <a:t>$8x+y+2z=0$</a:t>
                </a:r>
                <a:r>
                  <a:rPr sz="2400" b="0">
                    <a:solidFill>
                      <a:srgbClr val="111827"/>
                    </a:solidFill>
                    <a:latin typeface="Arial"/>
                  </a:rPr>
                  <a:t> and the line joining the points </a:t>
                </a:r>
                <a:r>
                  <a:rPr lang="en-IN" sz="2400">
                    <a:solidFill>
                      <a:srgbClr val="111827"/>
                    </a:solidFill>
                    <a:latin typeface="Cambria Math" panose="02040503050406030204" pitchFamily="18" charset="0"/>
                  </a:rPr>
                  <a:t>$A(-3,-6,1)$</a:t>
                </a:r>
                <a:r>
                  <a:rPr sz="2400" b="0">
                    <a:solidFill>
                      <a:srgbClr val="111827"/>
                    </a:solidFill>
                    <a:latin typeface="Arial"/>
                  </a:rPr>
                  <a:t> and </a:t>
                </a:r>
                <a:r>
                  <a:rPr lang="en-IN" sz="2400">
                    <a:solidFill>
                      <a:srgbClr val="111827"/>
                    </a:solidFill>
                    <a:latin typeface="Cambria Math" panose="02040503050406030204" pitchFamily="18" charset="0"/>
                  </a:rPr>
                  <a:t>$B(2,4,-3)$</a:t>
                </a:r>
                <a:r>
                  <a:rPr sz="2400" b="0">
                    <a:solidFill>
                      <a:srgbClr val="111827"/>
                    </a:solidFill>
                    <a:latin typeface="Arial"/>
                  </a:rPr>
                  <a:t> divides the line segment </a:t>
                </a:r>
                <a:r>
                  <a:rPr lang="en-IN" sz="2400">
                    <a:solidFill>
                      <a:srgbClr val="111827"/>
                    </a:solidFill>
                    <a:latin typeface="Cambria Math" panose="02040503050406030204" pitchFamily="18" charset="0"/>
                  </a:rPr>
                  <a:t>$AB$</a:t>
                </a:r>
                <a:r>
                  <a:rPr sz="2400" b="0">
                    <a:solidFill>
                      <a:srgbClr val="111827"/>
                    </a:solidFill>
                    <a:latin typeface="Arial"/>
                  </a:rPr>
                  <a:t> internally in the ratio </a:t>
                </a:r>
                <a:r>
                  <a:rPr lang="en-IN" sz="2400">
                    <a:solidFill>
                      <a:srgbClr val="111827"/>
                    </a:solidFill>
                    <a:latin typeface="Cambria Math" panose="02040503050406030204" pitchFamily="18" charset="0"/>
                  </a:rPr>
                  <a:t>$k:1$</a:t>
                </a:r>
                <a:r>
                  <a:rPr sz="2400" b="0">
                    <a:solidFill>
                      <a:srgbClr val="111827"/>
                    </a:solidFill>
                    <a:latin typeface="Arial"/>
                  </a:rPr>
                  <a:t>. If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$|a|,|b|,|c|$</a:t>
                </a:r>
                <a:r>
                  <a:rPr sz="2400" b="0">
                    <a:solidFill>
                      <a:srgbClr val="111827"/>
                    </a:solidFill>
                    <a:latin typeface="Arial"/>
                  </a:rPr>
                  <a:t> are coprime) are the direction ratios of the perpendicular from the point </a:t>
                </a:r>
                <a:r>
                  <a:rPr lang="en-IN" sz="2400">
                    <a:solidFill>
                      <a:srgbClr val="111827"/>
                    </a:solidFill>
                    <a:latin typeface="Cambria Math" panose="02040503050406030204" pitchFamily="18" charset="0"/>
                  </a:rPr>
                  <a:t>$C$</a:t>
                </a:r>
                <a:r>
                  <a:rPr sz="2400" b="0">
                    <a:solidFill>
                      <a:srgbClr val="111827"/>
                    </a:solidFill>
                    <a:latin typeface="Arial"/>
                  </a:rPr>
                  <a:t> on the line </a:t>
                </a:r>
                <a:r>
                  <a:rPr lang="en-IN" sz="2400">
                    <a:solidFill>
                      <a:srgbClr val="111827"/>
                    </a:solidFill>
                    <a:latin typeface="Cambria Math" panose="02040503050406030204" pitchFamily="18" charset="0"/>
                  </a:rPr>
                  <a:t>$\frac{1-x}{1}=\frac{y+4}{2}=\frac{z+2}{3}$</a:t>
                </a:r>
                <a:r>
                  <a:rPr sz="2400" b="0">
                    <a:solidFill>
                      <a:srgbClr val="111827"/>
                    </a:solidFill>
                    <a:latin typeface="Arial"/>
                  </a:rPr>
                  <a:t>, then </a:t>
                </a:r>
                <a:r>
                  <a:rPr lang="en-IN" sz="2400">
                    <a:solidFill>
                      <a:srgbClr val="111827"/>
                    </a:solidFill>
                    <a:latin typeface="Cambria Math" panose="02040503050406030204" pitchFamily="18" charset="0"/>
                  </a:rPr>
                  <a:t>$|a+b+c|$</a:t>
                </a:r>
                <a:r>
                  <a:rPr sz="2400" b="0">
                    <a:solidFill>
                      <a:srgbClr val="111827"/>
                    </a:solidFill>
                    <a:latin typeface="Arial"/>
                  </a:rPr>
                  <a:t> is equal to __________ .</a:t>
                </a:r>
                <a:endParaRPr sz="2400">
                  <a:solidFill>
                    <a:srgbClr val="111827"/>
                  </a:solidFill>
                </a:endParaRPr>
              </a:p>
            </p:txBody>
          </p:sp>
        </mc:Fallback>
      </mc:AlternateContent>
      <p:sp>
        <p:nvSpPr>
          <p:cNvPr id="5" name="Rectangle 4"/>
          <p:cNvSpPr/>
          <p:nvPr/>
        </p:nvSpPr>
        <p:spPr>
          <a:xfrm>
            <a:off x="731520" y="458977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Section formula and intersection of a line with a plane, Perpendicular from a point to a line and direction ratios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given line lies in the plane </a:t>
                </a:r>
                <a14:m>
                  <m:oMath xmlns:m="http://schemas.openxmlformats.org/officeDocument/2006/math">
                    <m:r>
                      <a:rPr lang="en-IN" sz="2400" i="1">
                        <a:solidFill>
                          <a:srgbClr val="78350F"/>
                        </a:solidFill>
                        <a:latin typeface="Cambria Math" panose="02040503050406030204" pitchFamily="18" charset="0"/>
                      </a:rPr>
                      <m:t>8</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the perpendicular from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perpendicular to both the line and the plane's normal.</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given line lies in the plane </a:t>
                </a:r>
                <a:r>
                  <a:rPr lang="en-IN" sz="2400">
                    <a:solidFill>
                      <a:srgbClr val="78350F"/>
                    </a:solidFill>
                    <a:latin typeface="Cambria Math" panose="02040503050406030204" pitchFamily="18" charset="0"/>
                  </a:rPr>
                  <a:t>$8x+y+2z=0$</a:t>
                </a:r>
                <a:r>
                  <a:rPr sz="2400" b="0">
                    <a:solidFill>
                      <a:srgbClr val="78350F"/>
                    </a:solidFill>
                    <a:latin typeface="Arial"/>
                  </a:rPr>
                  <a:t>, so the perpendicular from </a:t>
                </a:r>
                <a:r>
                  <a:rPr lang="en-IN" sz="2400">
                    <a:solidFill>
                      <a:srgbClr val="78350F"/>
                    </a:solidFill>
                    <a:latin typeface="Cambria Math" panose="02040503050406030204" pitchFamily="18" charset="0"/>
                  </a:rPr>
                  <a:t>$C$</a:t>
                </a:r>
                <a:r>
                  <a:rPr sz="2400" b="0">
                    <a:solidFill>
                      <a:srgbClr val="78350F"/>
                    </a:solidFill>
                    <a:latin typeface="Arial"/>
                  </a:rPr>
                  <a:t> is perpendicular to both the line and the plane's normal.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divides </a:t>
                </a:r>
                <a:r>
                  <a:rPr lang="en-IN" sz="2400">
                    <a:solidFill>
                      <a:srgbClr val="111827"/>
                    </a:solidFill>
                    <a:latin typeface="Cambria Math" panose="02040503050406030204" pitchFamily="18" charset="0"/>
                  </a:rPr>
                  <a:t>$AB$</a:t>
                </a:r>
                <a:r>
                  <a:rPr sz="2400" b="0">
                    <a:solidFill>
                      <a:srgbClr val="111827"/>
                    </a:solidFill>
                    <a:latin typeface="Arial"/>
                  </a:rPr>
                  <a:t> in the ratio </a:t>
                </a: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$C\left(\frac{2k-3}{k+1},\frac{4k-6}{k+1},\frac{-3k+1}{k+1}\right)$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lies on </a:t>
                </a:r>
                <a:r>
                  <a:rPr lang="en-IN" sz="2400">
                    <a:solidFill>
                      <a:srgbClr val="111827"/>
                    </a:solidFill>
                    <a:latin typeface="Cambria Math" panose="02040503050406030204" pitchFamily="18" charset="0"/>
                  </a:rPr>
                  <a:t>$8x+y+2z=0$</a:t>
                </a:r>
                <a:r>
                  <a:rPr sz="2400" b="0">
                    <a:solidFill>
                      <a:srgbClr val="111827"/>
                    </a:solidFill>
                    <a:latin typeface="Arial"/>
                  </a:rPr>
                  <a:t>: </a:t>
                </a:r>
                <a:r>
                  <a:rPr lang="en-IN" sz="2400">
                    <a:solidFill>
                      <a:srgbClr val="111827"/>
                    </a:solidFill>
                    <a:latin typeface="Cambria Math" panose="02040503050406030204" pitchFamily="18" charset="0"/>
                  </a:rPr>
                  <a:t>$8(2k-3)+(4k-6)+2(-3k+1)=0$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$16k-24+4k-6-6k+2=0\Rightarrow14k=28\Rightarrow 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$C=\left(\frac13,\frac23,-\frac53\right)$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has the general point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direction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ratios of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$\frac{x-1}{-1}=\frac{y+4}{2}=\frac{z+2}{3}$</a:t>
                </a:r>
                <a:r>
                  <a:rPr sz="2400" b="0">
                    <a:solidFill>
                      <a:srgbClr val="111827"/>
                    </a:solidFill>
                    <a:latin typeface="Arial"/>
                  </a:rPr>
                  <a:t> has the general point </a:t>
                </a:r>
                <a:r>
                  <a:rPr lang="en-IN" sz="2400">
                    <a:solidFill>
                      <a:srgbClr val="111827"/>
                    </a:solidFill>
                    <a:latin typeface="Cambria Math" panose="02040503050406030204" pitchFamily="18" charset="0"/>
                  </a:rPr>
                  <a:t>$D(1-\lambda,\ -4+2\lambda,\ -2+3\lambda)$</a:t>
                </a:r>
                <a:r>
                  <a:rPr sz="2400" b="0">
                    <a:solidFill>
                      <a:srgbClr val="111827"/>
                    </a:solidFill>
                    <a:latin typeface="Arial"/>
                  </a:rPr>
                  <a:t> and direction </a:t>
                </a:r>
                <a:r>
                  <a:rPr lang="en-IN" sz="2400">
                    <a:solidFill>
                      <a:srgbClr val="111827"/>
                    </a:solidFill>
                    <a:latin typeface="Cambria Math" panose="02040503050406030204" pitchFamily="18" charset="0"/>
                  </a:rPr>
                  <a:t>$(-1,2,3)$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ratios of </a:t>
                </a:r>
                <a:r>
                  <a:rPr lang="en-IN" sz="2400">
                    <a:solidFill>
                      <a:srgbClr val="111827"/>
                    </a:solidFill>
                    <a:latin typeface="Cambria Math" panose="02040503050406030204" pitchFamily="18" charset="0"/>
                  </a:rPr>
                  <a:t>$CD$</a:t>
                </a:r>
                <a:r>
                  <a:rPr sz="2400" b="0">
                    <a:solidFill>
                      <a:srgbClr val="111827"/>
                    </a:solidFill>
                    <a:latin typeface="Arial"/>
                  </a:rPr>
                  <a:t>: </a:t>
                </a:r>
                <a:r>
                  <a:rPr lang="en-IN" sz="2400">
                    <a:solidFill>
                      <a:srgbClr val="111827"/>
                    </a:solidFill>
                    <a:latin typeface="Cambria Math" panose="02040503050406030204" pitchFamily="18" charset="0"/>
                  </a:rPr>
                  <a:t>$\left(1-\lambda-\frac13,\ -4+2\lambda-\frac23,\ -2+3\lambda+\frac53\right)=\left(\frac{2-3\lambda}{3},\frac{-14+6\lambda}{3},\frac{-1+9\lambda}{3}\right)$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$CD\perp$</a:t>
                </a:r>
                <a:r>
                  <a:rPr sz="2400" b="0">
                    <a:solidFill>
                      <a:srgbClr val="111827"/>
                    </a:solidFill>
                    <a:latin typeface="Arial"/>
                  </a:rPr>
                  <a:t> line: </a:t>
                </a:r>
                <a:r>
                  <a:rPr lang="en-IN" sz="2400">
                    <a:solidFill>
                      <a:srgbClr val="111827"/>
                    </a:solidFill>
                    <a:latin typeface="Cambria Math" panose="02040503050406030204" pitchFamily="18" charset="0"/>
                  </a:rPr>
                  <a:t>$-1(2-3\lambda)+2(6\lambda-14)+3(9\lambda-1)=0\Rightarrow-2+3\lambda+12\lambda-28+27\lambda-3=0$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42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ratios of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33</m:t>
                                </m:r>
                              </m:num>
                              <m:den>
                                <m:r>
                                  <a:rPr lang="en-IN" sz="2400" i="1">
                                    <a:solidFill>
                                      <a:srgbClr val="111827"/>
                                    </a:solidFill>
                                    <a:latin typeface="Cambria Math" panose="02040503050406030204" pitchFamily="18" charset="0"/>
                                  </a:rPr>
                                  <m:t>14</m:t>
                                </m:r>
                              </m:den>
                            </m:f>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66</m:t>
                                </m:r>
                              </m:num>
                              <m:den>
                                <m:r>
                                  <a:rPr lang="en-IN" sz="2400" i="1">
                                    <a:solidFill>
                                      <a:srgbClr val="111827"/>
                                    </a:solidFill>
                                    <a:latin typeface="Cambria Math" panose="02040503050406030204" pitchFamily="18" charset="0"/>
                                  </a:rPr>
                                  <m:t>14</m:t>
                                </m:r>
                              </m:den>
                            </m:f>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99</m:t>
                                </m:r>
                              </m:num>
                              <m:den>
                                <m:r>
                                  <a:rPr lang="en-IN" sz="2400" i="1">
                                    <a:solidFill>
                                      <a:srgbClr val="111827"/>
                                    </a:solidFill>
                                    <a:latin typeface="Cambria Math" panose="02040503050406030204" pitchFamily="18" charset="0"/>
                                  </a:rPr>
                                  <m:t>14</m:t>
                                </m:r>
                              </m:den>
                            </m:f>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coprime magnitudes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$42\lambda=33\Rightarrow\lambda=\frac{33}{42}=\frac{11}{14}$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ratios of </a:t>
                </a:r>
                <a:r>
                  <a:rPr lang="en-IN" sz="2400">
                    <a:solidFill>
                      <a:srgbClr val="111827"/>
                    </a:solidFill>
                    <a:latin typeface="Cambria Math" panose="02040503050406030204" pitchFamily="18" charset="0"/>
                  </a:rPr>
                  <a:t>$CD$</a:t>
                </a:r>
                <a:r>
                  <a:rPr sz="2400" b="0">
                    <a:solidFill>
                      <a:srgbClr val="111827"/>
                    </a:solidFill>
                    <a:latin typeface="Arial"/>
                  </a:rPr>
                  <a:t> </a:t>
                </a:r>
                <a:r>
                  <a:rPr lang="en-IN" sz="2400">
                    <a:solidFill>
                      <a:srgbClr val="111827"/>
                    </a:solidFill>
                    <a:latin typeface="Cambria Math" panose="02040503050406030204" pitchFamily="18" charset="0"/>
                  </a:rPr>
                  <a:t>$=\left(\frac{2-\frac{33}{14}}{3},\frac{-14+\frac{66}{14}}{3},\frac{-1+\frac{99}{14}}{3}\right)=\frac{1}{42}(-5,-130,85)\propto(-5,-130,85)=5(-1,-26,17)$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coprime magnitudes </a:t>
                </a:r>
                <a:r>
                  <a:rPr lang="en-IN" sz="2400">
                    <a:solidFill>
                      <a:srgbClr val="111827"/>
                    </a:solidFill>
                    <a:latin typeface="Cambria Math" panose="02040503050406030204" pitchFamily="18" charset="0"/>
                  </a:rPr>
                  <a:t>$(a,b,c)=(-1,-26,17)$</a:t>
                </a:r>
                <a:r>
                  <a:rPr sz="2400" b="0">
                    <a:solidFill>
                      <a:srgbClr val="111827"/>
                    </a:solidFill>
                    <a:latin typeface="Arial"/>
                  </a:rPr>
                  <a:t> and </a:t>
                </a:r>
                <a:r>
                  <a:rPr lang="en-IN" sz="2400">
                    <a:solidFill>
                      <a:srgbClr val="111827"/>
                    </a:solidFill>
                    <a:latin typeface="Cambria Math" panose="02040503050406030204" pitchFamily="18" charset="0"/>
                  </a:rPr>
                  <a:t>$|a+b+c|=|-1-26+17|=10$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a:t>
            </a:r>
            <a:endParaRPr sz="2800">
              <a:solidFill>
                <a:srgbClr val="15803D"/>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line lies in the plane </a:t>
                </a:r>
                <a14:m>
                  <m:oMath xmlns:m="http://schemas.openxmlformats.org/officeDocument/2006/math">
                    <m:r>
                      <a:rPr lang="en-IN" sz="2400" i="1">
                        <a:solidFill>
                          <a:srgbClr val="78350F"/>
                        </a:solidFill>
                        <a:latin typeface="Cambria Math" panose="02040503050406030204" pitchFamily="18" charset="0"/>
                      </a:rPr>
                      <m:t>8</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the perpendicular from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is perpendicular to the plane's normal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to the line: take the cross product.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line lies in the plane </a:t>
                </a:r>
                <a:r>
                  <a:rPr lang="en-IN" sz="2400">
                    <a:solidFill>
                      <a:srgbClr val="78350F"/>
                    </a:solidFill>
                    <a:latin typeface="Cambria Math" panose="02040503050406030204" pitchFamily="18" charset="0"/>
                  </a:rPr>
                  <a:t>$8x+y+2z=0$</a:t>
                </a:r>
                <a:r>
                  <a:rPr sz="2400" b="0">
                    <a:solidFill>
                      <a:srgbClr val="78350F"/>
                    </a:solidFill>
                    <a:latin typeface="Arial"/>
                  </a:rPr>
                  <a:t>, so the perpendicular from </a:t>
                </a:r>
                <a:r>
                  <a:rPr lang="en-IN" sz="2400">
                    <a:solidFill>
                      <a:srgbClr val="78350F"/>
                    </a:solidFill>
                    <a:latin typeface="Cambria Math" panose="02040503050406030204" pitchFamily="18" charset="0"/>
                  </a:rPr>
                  <a:t>$C$</a:t>
                </a:r>
                <a:r>
                  <a:rPr sz="2400" b="0">
                    <a:solidFill>
                      <a:srgbClr val="78350F"/>
                    </a:solidFill>
                    <a:latin typeface="Arial"/>
                  </a:rPr>
                  <a:t> is perpendicular to the plane's normal </a:t>
                </a:r>
                <a:r>
                  <a:rPr lang="en-IN" sz="2400">
                    <a:solidFill>
                      <a:srgbClr val="78350F"/>
                    </a:solidFill>
                    <a:latin typeface="Cambria Math" panose="02040503050406030204" pitchFamily="18" charset="0"/>
                  </a:rPr>
                  <a:t>$(8,1,2)$</a:t>
                </a:r>
                <a:r>
                  <a:rPr sz="2400" b="0">
                    <a:solidFill>
                      <a:srgbClr val="78350F"/>
                    </a:solidFill>
                    <a:latin typeface="Arial"/>
                  </a:rPr>
                  <a:t> and to the line: take the cross product.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Direction of the given line: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normal of the plane: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 line satisfies the plane: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whole line lies in the plane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also in this plane, so the perpendicular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the line lies in the plane and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oMath>
                </a14:m>
                <a:r>
                  <a:rPr sz="2400" b="0">
                    <a:solidFill>
                      <a:srgbClr val="111827"/>
                    </a:solidFill>
                    <a:latin typeface="Arial"/>
                  </a:rPr>
                  <a:t> as well as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Direction of the given line: </a:t>
                </a:r>
                <a:r>
                  <a:rPr lang="en-IN" sz="2400">
                    <a:solidFill>
                      <a:srgbClr val="111827"/>
                    </a:solidFill>
                    <a:latin typeface="Cambria Math" panose="02040503050406030204" pitchFamily="18" charset="0"/>
                  </a:rPr>
                  <a:t>$\vec d=(-1,2,3)$</a:t>
                </a:r>
                <a:r>
                  <a:rPr sz="2400" b="0">
                    <a:solidFill>
                      <a:srgbClr val="111827"/>
                    </a:solidFill>
                    <a:latin typeface="Arial"/>
                  </a:rPr>
                  <a:t>; normal of the plane: </a:t>
                </a:r>
                <a:r>
                  <a:rPr lang="en-IN" sz="2400">
                    <a:solidFill>
                      <a:srgbClr val="111827"/>
                    </a:solidFill>
                    <a:latin typeface="Cambria Math" panose="02040503050406030204" pitchFamily="18" charset="0"/>
                  </a:rPr>
                  <a:t>$\vec n=(8,1,2)$</a:t>
                </a:r>
                <a:r>
                  <a:rPr sz="2400" b="0">
                    <a:solidFill>
                      <a:srgbClr val="111827"/>
                    </a:solidFill>
                    <a:latin typeface="Arial"/>
                  </a:rPr>
                  <a:t>. </a:t>
                </a:r>
                <a:r>
                  <a:rPr lang="en-IN" sz="2400">
                    <a:solidFill>
                      <a:srgbClr val="111827"/>
                    </a:solidFill>
                    <a:latin typeface="Cambria Math" panose="02040503050406030204" pitchFamily="18" charset="0"/>
                  </a:rPr>
                  <a:t>$\vec d\cdot\vec n=-8+2+6=0$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$(1,-4,-2)$</a:t>
                </a:r>
                <a:r>
                  <a:rPr sz="2400" b="0">
                    <a:solidFill>
                      <a:srgbClr val="111827"/>
                    </a:solidFill>
                    <a:latin typeface="Arial"/>
                  </a:rPr>
                  <a:t> of the line satisfies the plane: </a:t>
                </a:r>
                <a:r>
                  <a:rPr lang="en-IN" sz="2400">
                    <a:solidFill>
                      <a:srgbClr val="111827"/>
                    </a:solidFill>
                    <a:latin typeface="Cambria Math" panose="02040503050406030204" pitchFamily="18" charset="0"/>
                  </a:rPr>
                  <a:t>$8-4-4=0$</a:t>
                </a:r>
                <a:r>
                  <a:rPr sz="2400" b="0">
                    <a:solidFill>
                      <a:srgbClr val="111827"/>
                    </a:solidFill>
                    <a:latin typeface="Arial"/>
                  </a:rPr>
                  <a:t>. So the whole line lies in the plane </a:t>
                </a:r>
                <a:r>
                  <a:rPr lang="en-IN" sz="2400">
                    <a:solidFill>
                      <a:srgbClr val="111827"/>
                    </a:solidFill>
                    <a:latin typeface="Cambria Math" panose="02040503050406030204" pitchFamily="18" charset="0"/>
                  </a:rPr>
                  <a:t>$8x+y+2z=0$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is also in this plane, so the perpendicular from </a:t>
                </a:r>
                <a:r>
                  <a:rPr lang="en-IN" sz="2400">
                    <a:solidFill>
                      <a:srgbClr val="111827"/>
                    </a:solidFill>
                    <a:latin typeface="Cambria Math" panose="02040503050406030204" pitchFamily="18" charset="0"/>
                  </a:rPr>
                  <a:t>$C$</a:t>
                </a:r>
                <a:r>
                  <a:rPr sz="2400" b="0">
                    <a:solidFill>
                      <a:srgbClr val="111827"/>
                    </a:solidFill>
                    <a:latin typeface="Arial"/>
                  </a:rPr>
                  <a:t> to the line lies in the plane and is perpendicular to </a:t>
                </a:r>
                <a:r>
                  <a:rPr lang="en-IN" sz="2400">
                    <a:solidFill>
                      <a:srgbClr val="111827"/>
                    </a:solidFill>
                    <a:latin typeface="Cambria Math" panose="02040503050406030204" pitchFamily="18" charset="0"/>
                  </a:rPr>
                  <a:t>$\vec n$</a:t>
                </a:r>
                <a:r>
                  <a:rPr sz="2400" b="0">
                    <a:solidFill>
                      <a:srgbClr val="111827"/>
                    </a:solidFill>
                    <a:latin typeface="Arial"/>
                  </a:rPr>
                  <a:t> as well as to </a:t>
                </a:r>
                <a:r>
                  <a:rPr lang="en-IN" sz="2400">
                    <a:solidFill>
                      <a:srgbClr val="111827"/>
                    </a:solidFill>
                    <a:latin typeface="Cambria Math" panose="02040503050406030204" pitchFamily="18" charset="0"/>
                  </a:rPr>
                  <a:t>$\vec d$</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direction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are already coprime in magnitude,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agreeing with the main solution (which gave the same ratios up to a factor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direction is </a:t>
                </a:r>
                <a:r>
                  <a:rPr lang="en-IN" sz="2400">
                    <a:solidFill>
                      <a:srgbClr val="111827"/>
                    </a:solidFill>
                    <a:latin typeface="Cambria Math" panose="02040503050406030204" pitchFamily="18" charset="0"/>
                  </a:rPr>
                  <a:t>$\vec n\times\vec d=(8,1,2)\times(-1,2,3)=(1\cdot3-2\cdot2,\ 2\cdot(-1)-8\cdot3,\ 8\cdot2-1\cdot(-1))=(-1,-26,17)$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are already coprime in magnitude, so </a:t>
                </a:r>
                <a:r>
                  <a:rPr lang="en-IN" sz="2400">
                    <a:solidFill>
                      <a:srgbClr val="111827"/>
                    </a:solidFill>
                    <a:latin typeface="Cambria Math" panose="02040503050406030204" pitchFamily="18" charset="0"/>
                  </a:rPr>
                  <a:t>$|a+b+c|=|-1-26+17|=10$</a:t>
                </a:r>
                <a:r>
                  <a:rPr sz="2400" b="0">
                    <a:solidFill>
                      <a:srgbClr val="111827"/>
                    </a:solidFill>
                    <a:latin typeface="Arial"/>
                  </a:rPr>
                  <a:t>, agreeing with the main solution (which gave the same ratios up to a factor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line lies in a plane, the perpendicular from any point of the plane to that line lies in the plane, so its direction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(perpendicular to the normal and to the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to the line through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formula: for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ratio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 plane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den>
                    </m:f>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14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line lies in a plane, the perpendicular from any point of the plane to that line lies in the plane, so its direction is </a:t>
                </a:r>
                <a:r>
                  <a:rPr lang="en-IN" sz="2400">
                    <a:solidFill>
                      <a:srgbClr val="111827"/>
                    </a:solidFill>
                    <a:latin typeface="Cambria Math" panose="02040503050406030204" pitchFamily="18" charset="0"/>
                  </a:rPr>
                  <a:t>$\vec n\times\vec d$</a:t>
                </a:r>
                <a:r>
                  <a:rPr sz="2400" b="0">
                    <a:solidFill>
                      <a:srgbClr val="111827"/>
                    </a:solidFill>
                    <a:latin typeface="Arial"/>
                  </a:rPr>
                  <a:t> (perpendicular to the normal and to the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r>
                  <a:rPr lang="en-IN" sz="2400">
                    <a:solidFill>
                      <a:srgbClr val="111827"/>
                    </a:solidFill>
                    <a:latin typeface="Cambria Math" panose="02040503050406030204" pitchFamily="18" charset="0"/>
                  </a:rPr>
                  <a:t>$C$</a:t>
                </a:r>
                <a:r>
                  <a:rPr sz="2400" b="0">
                    <a:solidFill>
                      <a:srgbClr val="111827"/>
                    </a:solidFill>
                    <a:latin typeface="Arial"/>
                  </a:rPr>
                  <a:t> to the line through </a:t>
                </a:r>
                <a:r>
                  <a:rPr lang="en-IN" sz="2400">
                    <a:solidFill>
                      <a:srgbClr val="111827"/>
                    </a:solidFill>
                    <a:latin typeface="Cambria Math" panose="02040503050406030204" pitchFamily="18" charset="0"/>
                  </a:rPr>
                  <a:t>$P_0$</a:t>
                </a:r>
                <a:r>
                  <a:rPr sz="2400" b="0">
                    <a:solidFill>
                      <a:srgbClr val="111827"/>
                    </a:solidFill>
                    <a:latin typeface="Arial"/>
                  </a:rPr>
                  <a:t> with direction </a:t>
                </a:r>
                <a:r>
                  <a:rPr lang="en-IN" sz="2400">
                    <a:solidFill>
                      <a:srgbClr val="111827"/>
                    </a:solidFill>
                    <a:latin typeface="Cambria Math" panose="02040503050406030204" pitchFamily="18" charset="0"/>
                  </a:rPr>
                  <a:t>$\vec d$</a:t>
                </a:r>
                <a:r>
                  <a:rPr sz="2400" b="0">
                    <a:solidFill>
                      <a:srgbClr val="111827"/>
                    </a:solidFill>
                    <a:latin typeface="Arial"/>
                  </a:rPr>
                  <a:t>: </a:t>
                </a:r>
                <a:r>
                  <a:rPr lang="en-IN" sz="2400">
                    <a:solidFill>
                      <a:srgbClr val="111827"/>
                    </a:solidFill>
                    <a:latin typeface="Cambria Math" panose="02040503050406030204" pitchFamily="18" charset="0"/>
                  </a:rPr>
                  <a:t>$\lambda=\frac{(C-P_0)\cdot\vec d}{|\vec d|^2}$</a:t>
                </a:r>
                <a:r>
                  <a:rPr sz="2400" b="0">
                    <a:solidFill>
                      <a:srgbClr val="111827"/>
                    </a:solidFill>
                    <a:latin typeface="Arial"/>
                  </a:rPr>
                  <a:t> (here </a:t>
                </a:r>
                <a:r>
                  <a:rPr lang="en-IN" sz="2400">
                    <a:solidFill>
                      <a:srgbClr val="111827"/>
                    </a:solidFill>
                    <a:latin typeface="Cambria Math" panose="02040503050406030204" pitchFamily="18" charset="0"/>
                  </a:rPr>
                  <a:t>$\frac{11}{14}$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Section formula: for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ratio </a:t>
                </a: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$C=\frac{kB+A}{k+1}$</a:t>
                </a:r>
                <a:r>
                  <a:rPr sz="2400" b="0">
                    <a:solidFill>
                      <a:srgbClr val="111827"/>
                    </a:solidFill>
                    <a:latin typeface="Arial"/>
                  </a:rPr>
                  <a:t>; a plane </a:t>
                </a:r>
                <a:r>
                  <a:rPr lang="en-IN" sz="2400">
                    <a:solidFill>
                      <a:srgbClr val="111827"/>
                    </a:solidFill>
                    <a:latin typeface="Cambria Math" panose="02040503050406030204" pitchFamily="18" charset="0"/>
                  </a:rPr>
                  <a:t>$\vec n\cdot\vec r=0$</a:t>
                </a:r>
                <a:r>
                  <a:rPr sz="2400" b="0">
                    <a:solidFill>
                      <a:srgbClr val="111827"/>
                    </a:solidFill>
                    <a:latin typeface="Arial"/>
                  </a:rPr>
                  <a:t> meets </a:t>
                </a:r>
                <a:r>
                  <a:rPr lang="en-IN" sz="2400">
                    <a:solidFill>
                      <a:srgbClr val="111827"/>
                    </a:solidFill>
                    <a:latin typeface="Cambria Math" panose="02040503050406030204" pitchFamily="18" charset="0"/>
                  </a:rPr>
                  <a:t>$AB$</a:t>
                </a:r>
                <a:r>
                  <a:rPr sz="2400" b="0">
                    <a:solidFill>
                      <a:srgbClr val="111827"/>
                    </a:solidFill>
                    <a:latin typeface="Arial"/>
                  </a:rPr>
                  <a:t> at </a:t>
                </a:r>
                <a:r>
                  <a:rPr lang="en-IN" sz="2400">
                    <a:solidFill>
                      <a:srgbClr val="111827"/>
                    </a:solidFill>
                    <a:latin typeface="Cambria Math" panose="02040503050406030204" pitchFamily="18" charset="0"/>
                  </a:rPr>
                  <a:t>$k=-\frac{\vec n\cdot A}{\vec n\cdot B}$</a:t>
                </a:r>
                <a:r>
                  <a:rPr sz="2400" b="0">
                    <a:solidFill>
                      <a:srgbClr val="111827"/>
                    </a:solidFill>
                    <a:latin typeface="Arial"/>
                  </a:rPr>
                  <a:t> (here </a:t>
                </a:r>
                <a:r>
                  <a:rPr lang="en-IN" sz="2400">
                    <a:solidFill>
                      <a:srgbClr val="111827"/>
                    </a:solidFill>
                    <a:latin typeface="Cambria Math" panose="02040503050406030204" pitchFamily="18" charset="0"/>
                  </a:rPr>
                  <a:t>$-\frac{-28}{14}=2$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equation of the plane passing through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parallel to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Then the distance of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the plane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__________.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equation of the plane passing through the line </a:t>
                </a:r>
                <a:r>
                  <a:rPr lang="en-IN" sz="2400">
                    <a:solidFill>
                      <a:srgbClr val="111827"/>
                    </a:solidFill>
                    <a:latin typeface="Cambria Math" panose="02040503050406030204" pitchFamily="18" charset="0"/>
                  </a:rPr>
                  <a:t>$x-2y-z-5=0=x+y+3z-5$</a:t>
                </a:r>
                <a:r>
                  <a:rPr sz="2400" b="0">
                    <a:solidFill>
                      <a:srgbClr val="111827"/>
                    </a:solidFill>
                    <a:latin typeface="Arial"/>
                  </a:rPr>
                  <a:t> and parallel to the line </a:t>
                </a:r>
                <a:r>
                  <a:rPr lang="en-IN" sz="2400">
                    <a:solidFill>
                      <a:srgbClr val="111827"/>
                    </a:solidFill>
                    <a:latin typeface="Cambria Math" panose="02040503050406030204" pitchFamily="18" charset="0"/>
                  </a:rPr>
                  <a:t>$x+y+2z-7=0=2x+3y+z-2$</a:t>
                </a:r>
                <a:r>
                  <a:rPr sz="2400" b="0">
                    <a:solidFill>
                      <a:srgbClr val="111827"/>
                    </a:solidFill>
                    <a:latin typeface="Arial"/>
                  </a:rPr>
                  <a:t> be </a:t>
                </a:r>
                <a:r>
                  <a:rPr lang="en-IN" sz="2400">
                    <a:solidFill>
                      <a:srgbClr val="111827"/>
                    </a:solidFill>
                    <a:latin typeface="Cambria Math" panose="02040503050406030204" pitchFamily="18" charset="0"/>
                  </a:rPr>
                  <a:t>$ax+by+cz=65$</a:t>
                </a:r>
                <a:r>
                  <a:rPr sz="2400" b="0">
                    <a:solidFill>
                      <a:srgbClr val="111827"/>
                    </a:solidFill>
                    <a:latin typeface="Arial"/>
                  </a:rPr>
                  <a:t>. Then the distance of the point </a:t>
                </a:r>
                <a:r>
                  <a:rPr lang="en-IN" sz="2400">
                    <a:solidFill>
                      <a:srgbClr val="111827"/>
                    </a:solidFill>
                    <a:latin typeface="Cambria Math" panose="02040503050406030204" pitchFamily="18" charset="0"/>
                  </a:rPr>
                  <a:t>$(a,b,c)$</a:t>
                </a:r>
                <a:r>
                  <a:rPr sz="2400" b="0">
                    <a:solidFill>
                      <a:srgbClr val="111827"/>
                    </a:solidFill>
                    <a:latin typeface="Arial"/>
                  </a:rPr>
                  <a:t> from the plane </a:t>
                </a:r>
                <a:r>
                  <a:rPr lang="en-IN" sz="2400">
                    <a:solidFill>
                      <a:srgbClr val="111827"/>
                    </a:solidFill>
                    <a:latin typeface="Cambria Math" panose="02040503050406030204" pitchFamily="18" charset="0"/>
                  </a:rPr>
                  <a:t>$2x+2y-z+16=0$</a:t>
                </a:r>
                <a:r>
                  <a:rPr sz="2400" b="0">
                    <a:solidFill>
                      <a:srgbClr val="111827"/>
                    </a:solidFill>
                    <a:latin typeface="Arial"/>
                  </a:rPr>
                  <a:t> is __________.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Plane through a given line (family of planes), Plane parallel to a line and distance of a point from a plane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family </a:t>
                </a:r>
                <a14:m>
                  <m:oMath xmlns:m="http://schemas.openxmlformats.org/officeDocument/2006/math">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sSub>
                      <m:e>
                        <m:r>
                          <a:rPr lang="en-IN" sz="2400" i="1">
                            <a:solidFill>
                              <a:srgbClr val="78350F"/>
                            </a:solidFill>
                            <a:latin typeface="Cambria Math" panose="02040503050406030204" pitchFamily="18" charset="0"/>
                          </a:rPr>
                          <m:t>𝑃</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the parallelism condition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to fix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the family </a:t>
                </a:r>
                <a:r>
                  <a:rPr lang="en-IN" sz="2400">
                    <a:solidFill>
                      <a:srgbClr val="78350F"/>
                    </a:solidFill>
                    <a:latin typeface="Cambria Math" panose="02040503050406030204" pitchFamily="18" charset="0"/>
                  </a:rPr>
                  <a:t>$P_1+\lambda P_2=0$</a:t>
                </a:r>
                <a:r>
                  <a:rPr sz="2400" b="0">
                    <a:solidFill>
                      <a:srgbClr val="78350F"/>
                    </a:solidFill>
                    <a:latin typeface="Arial"/>
                  </a:rPr>
                  <a:t> and the parallelism condition </a:t>
                </a:r>
                <a:r>
                  <a:rPr lang="en-IN" sz="2400">
                    <a:solidFill>
                      <a:srgbClr val="78350F"/>
                    </a:solidFill>
                    <a:latin typeface="Cambria Math" panose="02040503050406030204" pitchFamily="18" charset="0"/>
                  </a:rPr>
                  <a:t>$\vec n\cdot\vec d=0$</a:t>
                </a:r>
                <a:r>
                  <a:rPr sz="2400" b="0">
                    <a:solidFill>
                      <a:srgbClr val="78350F"/>
                    </a:solidFill>
                    <a:latin typeface="Arial"/>
                  </a:rPr>
                  <a:t> to fix </a:t>
                </a:r>
                <a:r>
                  <a:rPr lang="en-IN" sz="2400">
                    <a:solidFill>
                      <a:srgbClr val="78350F"/>
                    </a:solidFill>
                    <a:latin typeface="Cambria Math" panose="02040503050406030204" pitchFamily="18" charset="0"/>
                  </a:rPr>
                  <a:t>$\lambda$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passes through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its equation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 </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of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is parallel to this line, so the normal of (1) is perpendicular to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passes through the line </a:t>
                </a:r>
                <a:r>
                  <a:rPr lang="en-IN" sz="2400">
                    <a:solidFill>
                      <a:srgbClr val="111827"/>
                    </a:solidFill>
                    <a:latin typeface="Cambria Math" panose="02040503050406030204" pitchFamily="18" charset="0"/>
                  </a:rPr>
                  <a:t>$x-2y-z-5=0=x+y+3z-5$</a:t>
                </a:r>
                <a:r>
                  <a:rPr sz="2400" b="0">
                    <a:solidFill>
                      <a:srgbClr val="111827"/>
                    </a:solidFill>
                    <a:latin typeface="Arial"/>
                  </a:rPr>
                  <a:t>, so its equation is </a:t>
                </a:r>
                <a:r>
                  <a:rPr lang="en-IN" sz="2400">
                    <a:solidFill>
                      <a:srgbClr val="111827"/>
                    </a:solidFill>
                    <a:latin typeface="Cambria Math" panose="02040503050406030204" pitchFamily="18" charset="0"/>
                  </a:rPr>
                  <a:t>$(x-2y-z-5)+\lambda(x+y+3z-5)=0$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$(1+\lambda)x+(\lambda-2)y+(3\lambda-1)z-5-5\lambda=0$</a:t>
                </a:r>
                <a:r>
                  <a:rPr sz="2400" b="0">
                    <a:solidFill>
                      <a:srgbClr val="111827"/>
                    </a:solidFill>
                    <a:latin typeface="Arial"/>
                  </a:rPr>
                  <a:t>. </a:t>
                </a:r>
                <a:r>
                  <a:rPr lang="en-IN" sz="2400">
                    <a:solidFill>
                      <a:srgbClr val="111827"/>
                    </a:solidFill>
                    <a:latin typeface="Cambria Math" panose="02040503050406030204" pitchFamily="18" charset="0"/>
                  </a:rPr>
                  <a:t>$\quad$</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direction of the line </a:t>
                </a:r>
                <a:r>
                  <a:rPr lang="en-IN" sz="2400">
                    <a:solidFill>
                      <a:srgbClr val="111827"/>
                    </a:solidFill>
                    <a:latin typeface="Cambria Math" panose="02040503050406030204" pitchFamily="18" charset="0"/>
                  </a:rPr>
                  <a:t>$x+y+2z-7=0=2x+3y+z-2$</a:t>
                </a:r>
                <a:r>
                  <a:rPr sz="2400" b="0">
                    <a:solidFill>
                      <a:srgbClr val="111827"/>
                    </a:solidFill>
                    <a:latin typeface="Arial"/>
                  </a:rPr>
                  <a:t> is </a:t>
                </a:r>
                <a:r>
                  <a:rPr lang="en-IN" sz="2400">
                    <a:solidFill>
                      <a:srgbClr val="111827"/>
                    </a:solidFill>
                    <a:latin typeface="Cambria Math" panose="02040503050406030204" pitchFamily="18" charset="0"/>
                  </a:rPr>
                  <a:t>$(1,1,2)\times(2,3,1)=(-5,3,1)$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is parallel to this line, so the normal of (1) is perpendicular to </a:t>
                </a:r>
                <a:r>
                  <a:rPr lang="en-IN" sz="2400">
                    <a:solidFill>
                      <a:srgbClr val="111827"/>
                    </a:solidFill>
                    <a:latin typeface="Cambria Math" panose="02040503050406030204" pitchFamily="18" charset="0"/>
                  </a:rPr>
                  <a:t>$(-5,3,1)$</a:t>
                </a:r>
                <a:r>
                  <a:rPr sz="2400" b="0">
                    <a:solidFill>
                      <a:srgbClr val="111827"/>
                    </a:solidFill>
                    <a:latin typeface="Arial"/>
                  </a:rPr>
                  <a:t>: </a:t>
                </a:r>
                <a:r>
                  <a:rPr lang="en-IN" sz="2400">
                    <a:solidFill>
                      <a:srgbClr val="111827"/>
                    </a:solidFill>
                    <a:latin typeface="Cambria Math" panose="02040503050406030204" pitchFamily="18" charset="0"/>
                  </a:rPr>
                  <a:t>$-5(1+\lambda)+3(\lambda-2)+1\cdot(3\lambda-1)=0$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in (1): </a:t>
                </a:r>
                <a14:m>
                  <m:oMath xmlns:m="http://schemas.openxmlformats.org/officeDocument/2006/math">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$\lambda-12=0\Rightarrow\lambda=12$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$\lambda=12$</a:t>
                </a:r>
                <a:r>
                  <a:rPr sz="2400" b="0">
                    <a:solidFill>
                      <a:srgbClr val="111827"/>
                    </a:solidFill>
                    <a:latin typeface="Arial"/>
                  </a:rPr>
                  <a:t> in (1): </a:t>
                </a:r>
                <a:r>
                  <a:rPr lang="en-IN" sz="2400">
                    <a:solidFill>
                      <a:srgbClr val="111827"/>
                    </a:solidFill>
                    <a:latin typeface="Cambria Math" panose="02040503050406030204" pitchFamily="18" charset="0"/>
                  </a:rPr>
                  <a:t>$13x+10y+35z-65=0$</a:t>
                </a:r>
                <a:r>
                  <a:rPr sz="2400" b="0">
                    <a:solidFill>
                      <a:srgbClr val="111827"/>
                    </a:solidFill>
                    <a:latin typeface="Arial"/>
                  </a:rPr>
                  <a:t>, i.e. </a:t>
                </a:r>
                <a:r>
                  <a:rPr lang="en-IN" sz="2400">
                    <a:solidFill>
                      <a:srgbClr val="111827"/>
                    </a:solidFill>
                    <a:latin typeface="Cambria Math" panose="02040503050406030204" pitchFamily="18" charset="0"/>
                  </a:rPr>
                  <a:t>$13x+10y+35z=65$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$ax+by+cz=65$</a:t>
                </a:r>
                <a:r>
                  <a:rPr sz="2400" b="0">
                    <a:solidFill>
                      <a:srgbClr val="111827"/>
                    </a:solidFill>
                    <a:latin typeface="Arial"/>
                  </a:rPr>
                  <a:t>: </a:t>
                </a:r>
                <a:r>
                  <a:rPr lang="en-IN" sz="2400">
                    <a:solidFill>
                      <a:srgbClr val="111827"/>
                    </a:solidFill>
                    <a:latin typeface="Cambria Math" panose="02040503050406030204" pitchFamily="18" charset="0"/>
                  </a:rPr>
                  <a:t>$(a,b,c)=(13,10,35)$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$(13,10,35)$</a:t>
                </a:r>
                <a:r>
                  <a:rPr sz="2400" b="0">
                    <a:solidFill>
                      <a:srgbClr val="111827"/>
                    </a:solidFill>
                    <a:latin typeface="Arial"/>
                  </a:rPr>
                  <a:t> from </a:t>
                </a:r>
                <a:r>
                  <a:rPr lang="en-IN" sz="2400">
                    <a:solidFill>
                      <a:srgbClr val="111827"/>
                    </a:solidFill>
                    <a:latin typeface="Cambria Math" panose="02040503050406030204" pitchFamily="18" charset="0"/>
                  </a:rPr>
                  <a:t>$2x+2y-z+16=0$</a:t>
                </a:r>
                <a:r>
                  <a:rPr sz="2400" b="0">
                    <a:solidFill>
                      <a:srgbClr val="111827"/>
                    </a:solidFill>
                    <a:latin typeface="Arial"/>
                  </a:rPr>
                  <a:t>: </a:t>
                </a:r>
                <a:r>
                  <a:rPr lang="en-IN" sz="2400">
                    <a:solidFill>
                      <a:srgbClr val="111827"/>
                    </a:solidFill>
                    <a:latin typeface="Cambria Math" panose="02040503050406030204" pitchFamily="18" charset="0"/>
                  </a:rPr>
                  <a:t>$d=\frac{|26+20-35+16|}{\sqrt{4+4+1}}=\frac{27}{3}=9$</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9</a:t>
            </a:r>
            <a:endParaRPr sz="2800">
              <a:solidFill>
                <a:srgbClr val="15803D"/>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plane contains the first line and is parallel to the second, so its normal is the cross product of the two direction vectors, and it passes through one point of the first line.</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Direction of the first line: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direction of the second: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of the required plane: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the first line: put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Direction of the first line: </a:t>
                </a:r>
                <a:r>
                  <a:rPr lang="en-IN" sz="2400">
                    <a:solidFill>
                      <a:srgbClr val="111827"/>
                    </a:solidFill>
                    <a:latin typeface="Cambria Math" panose="02040503050406030204" pitchFamily="18" charset="0"/>
                  </a:rPr>
                  <a:t>$(1,-2,-1)\times(1,1,3)=(-5,-4,3)$</a:t>
                </a:r>
                <a:r>
                  <a:rPr sz="2400" b="0">
                    <a:solidFill>
                      <a:srgbClr val="111827"/>
                    </a:solidFill>
                    <a:latin typeface="Arial"/>
                  </a:rPr>
                  <a:t>; direction of the second: </a:t>
                </a:r>
                <a:r>
                  <a:rPr lang="en-IN" sz="2400">
                    <a:solidFill>
                      <a:srgbClr val="111827"/>
                    </a:solidFill>
                    <a:latin typeface="Cambria Math" panose="02040503050406030204" pitchFamily="18" charset="0"/>
                  </a:rPr>
                  <a:t>$(-5,3,1)$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of the required plane: </a:t>
                </a:r>
                <a:r>
                  <a:rPr lang="en-IN" sz="2400">
                    <a:solidFill>
                      <a:srgbClr val="111827"/>
                    </a:solidFill>
                    <a:latin typeface="Cambria Math" panose="02040503050406030204" pitchFamily="18" charset="0"/>
                  </a:rPr>
                  <a:t>$(-5,-4,3)\times(-5,3,1)=(-4-9,\ -15+5,\ -15-20)=(-13,-10,-35)\propto(13,10,35)$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the first line: put </a:t>
                </a:r>
                <a:r>
                  <a:rPr lang="en-IN" sz="2400">
                    <a:solidFill>
                      <a:srgbClr val="111827"/>
                    </a:solidFill>
                    <a:latin typeface="Cambria Math" panose="02040503050406030204" pitchFamily="18" charset="0"/>
                  </a:rPr>
                  <a:t>$z=0$</a:t>
                </a:r>
                <a:r>
                  <a:rPr sz="2400" b="0">
                    <a:solidFill>
                      <a:srgbClr val="111827"/>
                    </a:solidFill>
                    <a:latin typeface="Arial"/>
                  </a:rPr>
                  <a:t>, so </a:t>
                </a:r>
                <a:r>
                  <a:rPr lang="en-IN" sz="2400">
                    <a:solidFill>
                      <a:srgbClr val="111827"/>
                    </a:solidFill>
                    <a:latin typeface="Cambria Math" panose="02040503050406030204" pitchFamily="18" charset="0"/>
                  </a:rPr>
                  <a:t>$x-2y=5$</a:t>
                </a:r>
                <a:r>
                  <a:rPr sz="2400" b="0">
                    <a:solidFill>
                      <a:srgbClr val="111827"/>
                    </a:solidFill>
                    <a:latin typeface="Arial"/>
                  </a:rPr>
                  <a:t> and </a:t>
                </a:r>
                <a:r>
                  <a:rPr lang="en-IN" sz="2400">
                    <a:solidFill>
                      <a:srgbClr val="111827"/>
                    </a:solidFill>
                    <a:latin typeface="Cambria Math" panose="02040503050406030204" pitchFamily="18" charset="0"/>
                  </a:rPr>
                  <a:t>$x+y=5$</a:t>
                </a:r>
                <a:r>
                  <a:rPr sz="2400" b="0">
                    <a:solidFill>
                      <a:srgbClr val="111827"/>
                    </a:solidFill>
                    <a:latin typeface="Arial"/>
                  </a:rPr>
                  <a:t>, giving </a:t>
                </a:r>
                <a:r>
                  <a:rPr lang="en-IN" sz="2400">
                    <a:solidFill>
                      <a:srgbClr val="111827"/>
                    </a:solidFill>
                    <a:latin typeface="Cambria Math" panose="02040503050406030204" pitchFamily="18" charset="0"/>
                  </a:rPr>
                  <a:t>$(5,0,0)$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Plane: </a:t>
                </a:r>
                <a14:m>
                  <m:oMath xmlns:m="http://schemas.openxmlformats.org/officeDocument/2006/math">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which matches the form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65</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Plane: </a:t>
                </a:r>
                <a:r>
                  <a:rPr lang="en-IN" sz="2400">
                    <a:solidFill>
                      <a:srgbClr val="111827"/>
                    </a:solidFill>
                    <a:latin typeface="Cambria Math" panose="02040503050406030204" pitchFamily="18" charset="0"/>
                  </a:rPr>
                  <a:t>$13x+10y+35z=13\cdot5=65$</a:t>
                </a:r>
                <a:r>
                  <a:rPr sz="2400" b="0">
                    <a:solidFill>
                      <a:srgbClr val="111827"/>
                    </a:solidFill>
                    <a:latin typeface="Arial"/>
                  </a:rPr>
                  <a:t>, which matches the form </a:t>
                </a:r>
                <a:r>
                  <a:rPr lang="en-IN" sz="2400">
                    <a:solidFill>
                      <a:srgbClr val="111827"/>
                    </a:solidFill>
                    <a:latin typeface="Cambria Math" panose="02040503050406030204" pitchFamily="18" charset="0"/>
                  </a:rPr>
                  <a:t>$ax+by+cz=65$</a:t>
                </a:r>
                <a:r>
                  <a:rPr sz="2400" b="0">
                    <a:solidFill>
                      <a:srgbClr val="111827"/>
                    </a:solidFill>
                    <a:latin typeface="Arial"/>
                  </a:rPr>
                  <a:t> with </a:t>
                </a:r>
                <a:r>
                  <a:rPr lang="en-IN" sz="2400">
                    <a:solidFill>
                      <a:srgbClr val="111827"/>
                    </a:solidFill>
                    <a:latin typeface="Cambria Math" panose="02040503050406030204" pitchFamily="18" charset="0"/>
                  </a:rPr>
                  <a:t>$(a,b,c)=(13,10,35)$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r>
                  <a:rPr lang="en-IN" sz="2400">
                    <a:solidFill>
                      <a:srgbClr val="111827"/>
                    </a:solidFill>
                    <a:latin typeface="Cambria Math" panose="02040503050406030204" pitchFamily="18" charset="0"/>
                  </a:rPr>
                  <a:t>$2x+2y-z+16=0$</a:t>
                </a:r>
                <a:r>
                  <a:rPr sz="2400" b="0">
                    <a:solidFill>
                      <a:srgbClr val="111827"/>
                    </a:solidFill>
                    <a:latin typeface="Arial"/>
                  </a:rPr>
                  <a:t>: </a:t>
                </a:r>
                <a:r>
                  <a:rPr lang="en-IN" sz="2400">
                    <a:solidFill>
                      <a:srgbClr val="111827"/>
                    </a:solidFill>
                    <a:latin typeface="Cambria Math" panose="02040503050406030204" pitchFamily="18" charset="0"/>
                  </a:rPr>
                  <a:t>$\frac{|26+20-35+16|}{3}=9$</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9</a:t>
            </a:r>
            <a:endParaRPr sz="2800">
              <a:solidFill>
                <a:srgbClr val="15803D"/>
              </a:solidFill>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through the line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(all such planes except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direction of the line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𝑛</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plane containing one line and parallel to another has normal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constant term then comes from one point of the first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parallel to a line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iff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distance of a point from the plane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through the line </a:t>
                </a:r>
                <a:r>
                  <a:rPr lang="en-IN" sz="2400">
                    <a:solidFill>
                      <a:srgbClr val="111827"/>
                    </a:solidFill>
                    <a:latin typeface="Cambria Math" panose="02040503050406030204" pitchFamily="18" charset="0"/>
                  </a:rPr>
                  <a:t>$P_1=0=P_2=0$</a:t>
                </a:r>
                <a:r>
                  <a:rPr sz="2400" b="0">
                    <a:solidFill>
                      <a:srgbClr val="111827"/>
                    </a:solidFill>
                    <a:latin typeface="Arial"/>
                  </a:rPr>
                  <a:t> is </a:t>
                </a:r>
                <a:r>
                  <a:rPr lang="en-IN" sz="2400">
                    <a:solidFill>
                      <a:srgbClr val="111827"/>
                    </a:solidFill>
                    <a:latin typeface="Cambria Math" panose="02040503050406030204" pitchFamily="18" charset="0"/>
                  </a:rPr>
                  <a:t>$P_1+\lambda P_2=0$</a:t>
                </a:r>
                <a:r>
                  <a:rPr sz="2400" b="0">
                    <a:solidFill>
                      <a:srgbClr val="111827"/>
                    </a:solidFill>
                    <a:latin typeface="Arial"/>
                  </a:rPr>
                  <a:t> (all such planes except </a:t>
                </a:r>
                <a:r>
                  <a:rPr lang="en-IN" sz="2400">
                    <a:solidFill>
                      <a:srgbClr val="111827"/>
                    </a:solidFill>
                    <a:latin typeface="Cambria Math" panose="02040503050406030204" pitchFamily="18" charset="0"/>
                  </a:rPr>
                  <a:t>$P_2=0$</a:t>
                </a:r>
                <a:r>
                  <a:rPr sz="2400" b="0">
                    <a:solidFill>
                      <a:srgbClr val="111827"/>
                    </a:solidFill>
                    <a:latin typeface="Arial"/>
                  </a:rPr>
                  <a:t>); the direction of the line </a:t>
                </a:r>
                <a:r>
                  <a:rPr lang="en-IN" sz="2400">
                    <a:solidFill>
                      <a:srgbClr val="111827"/>
                    </a:solidFill>
                    <a:latin typeface="Cambria Math" panose="02040503050406030204" pitchFamily="18" charset="0"/>
                  </a:rPr>
                  <a:t>$\{n_1\cdot r=d_1,\ n_2\cdot r=d_2\}$</a:t>
                </a:r>
                <a:r>
                  <a:rPr sz="2400" b="0">
                    <a:solidFill>
                      <a:srgbClr val="111827"/>
                    </a:solidFill>
                    <a:latin typeface="Arial"/>
                  </a:rPr>
                  <a:t> is </a:t>
                </a:r>
                <a:r>
                  <a:rPr lang="en-IN" sz="2400">
                    <a:solidFill>
                      <a:srgbClr val="111827"/>
                    </a:solidFill>
                    <a:latin typeface="Cambria Math" panose="02040503050406030204" pitchFamily="18" charset="0"/>
                  </a:rPr>
                  <a:t>$\vec n_1\times\vec n_2$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plane containing one line and parallel to another has normal </a:t>
                </a:r>
                <a:r>
                  <a:rPr lang="en-IN" sz="2400">
                    <a:solidFill>
                      <a:srgbClr val="111827"/>
                    </a:solidFill>
                    <a:latin typeface="Cambria Math" panose="02040503050406030204" pitchFamily="18" charset="0"/>
                  </a:rPr>
                  <a:t>$\vec d_1\times\vec d_2$</a:t>
                </a:r>
                <a:r>
                  <a:rPr sz="2400" b="0">
                    <a:solidFill>
                      <a:srgbClr val="111827"/>
                    </a:solidFill>
                    <a:latin typeface="Arial"/>
                  </a:rPr>
                  <a:t>; the constant term then comes from one point of the first line.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a:t>
                </a:r>
                <a:r>
                  <a:rPr lang="en-IN" sz="2400">
                    <a:solidFill>
                      <a:srgbClr val="111827"/>
                    </a:solidFill>
                    <a:latin typeface="Cambria Math" panose="02040503050406030204" pitchFamily="18" charset="0"/>
                  </a:rPr>
                  <a:t>$\vec n\cdot\vec r=c$</a:t>
                </a:r>
                <a:r>
                  <a:rPr sz="2400" b="0">
                    <a:solidFill>
                      <a:srgbClr val="111827"/>
                    </a:solidFill>
                    <a:latin typeface="Arial"/>
                  </a:rPr>
                  <a:t> is parallel to a line with direction </a:t>
                </a:r>
                <a:r>
                  <a:rPr lang="en-IN" sz="2400">
                    <a:solidFill>
                      <a:srgbClr val="111827"/>
                    </a:solidFill>
                    <a:latin typeface="Cambria Math" panose="02040503050406030204" pitchFamily="18" charset="0"/>
                  </a:rPr>
                  <a:t>$\vec d$</a:t>
                </a:r>
                <a:r>
                  <a:rPr sz="2400" b="0">
                    <a:solidFill>
                      <a:srgbClr val="111827"/>
                    </a:solidFill>
                    <a:latin typeface="Arial"/>
                  </a:rPr>
                  <a:t> iff </a:t>
                </a:r>
                <a:r>
                  <a:rPr lang="en-IN" sz="2400">
                    <a:solidFill>
                      <a:srgbClr val="111827"/>
                    </a:solidFill>
                    <a:latin typeface="Cambria Math" panose="02040503050406030204" pitchFamily="18" charset="0"/>
                  </a:rPr>
                  <a:t>$\vec n\cdot\vec d=0$</a:t>
                </a:r>
                <a:r>
                  <a:rPr sz="2400" b="0">
                    <a:solidFill>
                      <a:srgbClr val="111827"/>
                    </a:solidFill>
                    <a:latin typeface="Arial"/>
                  </a:rPr>
                  <a:t>; distance of a point from the plane is </a:t>
                </a:r>
                <a:r>
                  <a:rPr lang="en-IN" sz="2400">
                    <a:solidFill>
                      <a:srgbClr val="111827"/>
                    </a:solidFill>
                    <a:latin typeface="Cambria Math" panose="02040503050406030204" pitchFamily="18" charset="0"/>
                  </a:rPr>
                  <a:t>$\frac{|\vec n\cdot P-c|}{|\vec 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(2/2)</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2.33</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0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6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3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9 questions, 36 marks.  Index = Σ(marks × level) ÷ Σ marks, on the 0-5 scale.</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JEE Main Question Bank 02 Vector 3D 03 Questions 1–9 (paper Q41–Q49) · detailed solutions</a:t>
                      </a:r>
                    </a:p>
                  </a:txBody>
                  <a:tcPr anchor="ctr" marL="137160" marR="137160">
                    <a:solidFill>
                      <a:srgbClr val="E0ECFF"/>
                    </a:solidFill>
                  </a:tcPr>
                </a:tc>
                <a:tc>
                  <a:txBody>
                    <a:bodyPr/>
                    <a:lstStyle/>
                    <a:p>
                      <a:pPr algn="ctr"/>
                      <a:r>
                        <a:rPr sz="2600" b="1">
                          <a:solidFill>
                            <a:srgbClr val="0B1F3A"/>
                          </a:solidFill>
                          <a:latin typeface="Arial"/>
                        </a:rPr>
                        <a:t>2.33</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