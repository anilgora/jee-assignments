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notesMaster" Target="notesMasters/notesMaster1.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Level</c:v>
                </c:pt>
              </c:strCache>
            </c:strRef>
          </c:tx>
          <c:dPt>
            <c:idx val="0"/>
            <c:spPr>
              <a:solidFill>
                <a:srgbClr val="B6D7A8"/>
              </a:solidFill>
              <a:ln w="9525">
                <a:solidFill>
                  <a:srgbClr val="111827"/>
                </a:solidFill>
              </a:ln>
            </c:spPr>
          </c:dPt>
          <c:dPt>
            <c:idx val="1"/>
            <c:spPr>
              <a:solidFill>
                <a:srgbClr val="FFD966"/>
              </a:solidFill>
              <a:ln w="9525">
                <a:solidFill>
                  <a:srgbClr val="111827"/>
                </a:solidFill>
              </a:ln>
            </c:spPr>
          </c:dPt>
          <c:dPt>
            <c:idx val="2"/>
            <c:spPr>
              <a:solidFill>
                <a:srgbClr val="FFD966"/>
              </a:solidFill>
              <a:ln w="9525">
                <a:solidFill>
                  <a:srgbClr val="111827"/>
                </a:solidFill>
              </a:ln>
            </c:spPr>
          </c:dPt>
          <c:dPt>
            <c:idx val="3"/>
            <c:spPr>
              <a:solidFill>
                <a:srgbClr val="FFD966"/>
              </a:solidFill>
              <a:ln w="9525">
                <a:solidFill>
                  <a:srgbClr val="111827"/>
                </a:solidFill>
              </a:ln>
            </c:spPr>
          </c:dPt>
          <c:dPt>
            <c:idx val="4"/>
            <c:spPr>
              <a:solidFill>
                <a:srgbClr val="FFD966"/>
              </a:solidFill>
              <a:ln w="9525">
                <a:solidFill>
                  <a:srgbClr val="111827"/>
                </a:solidFill>
              </a:ln>
            </c:spPr>
          </c:dPt>
          <c:dPt>
            <c:idx val="5"/>
            <c:spPr>
              <a:solidFill>
                <a:srgbClr val="FFD966"/>
              </a:solidFill>
              <a:ln w="9525">
                <a:solidFill>
                  <a:srgbClr val="111827"/>
                </a:solidFill>
              </a:ln>
            </c:spPr>
          </c:dPt>
          <c:dPt>
            <c:idx val="6"/>
            <c:spPr>
              <a:solidFill>
                <a:srgbClr val="F6B26B"/>
              </a:solidFill>
              <a:ln w="9525">
                <a:solidFill>
                  <a:srgbClr val="111827"/>
                </a:solidFill>
              </a:ln>
            </c:spPr>
          </c:dPt>
          <c:dPt>
            <c:idx val="7"/>
            <c:spPr>
              <a:solidFill>
                <a:srgbClr val="FFD966"/>
              </a:solidFill>
              <a:ln w="9525">
                <a:solidFill>
                  <a:srgbClr val="111827"/>
                </a:solidFill>
              </a:ln>
            </c:spPr>
          </c:dPt>
          <c:dPt>
            <c:idx val="8"/>
            <c:spPr>
              <a:solidFill>
                <a:srgbClr val="FFD966"/>
              </a:solidFill>
              <a:ln w="9525">
                <a:solidFill>
                  <a:srgbClr val="111827"/>
                </a:solidFill>
              </a:ln>
            </c:spPr>
          </c:dPt>
          <c:dPt>
            <c:idx val="9"/>
            <c:spPr>
              <a:solidFill>
                <a:srgbClr val="B6D7A8"/>
              </a:solidFill>
              <a:ln w="9525">
                <a:solidFill>
                  <a:srgbClr val="111827"/>
                </a:solidFill>
              </a:ln>
            </c:spPr>
          </c:dPt>
          <c:dPt>
            <c:idx val="10"/>
            <c:spPr>
              <a:solidFill>
                <a:srgbClr val="FFD966"/>
              </a:solidFill>
              <a:ln w="9525">
                <a:solidFill>
                  <a:srgbClr val="111827"/>
                </a:solidFill>
              </a:ln>
            </c:spPr>
          </c:dPt>
          <c:dPt>
            <c:idx val="11"/>
            <c:spPr>
              <a:solidFill>
                <a:srgbClr val="FFD966"/>
              </a:solidFill>
              <a:ln w="9525">
                <a:solidFill>
                  <a:srgbClr val="111827"/>
                </a:solidFill>
              </a:ln>
            </c:spPr>
          </c:dPt>
          <c:dPt>
            <c:idx val="12"/>
            <c:spPr>
              <a:solidFill>
                <a:srgbClr val="F6B26B"/>
              </a:solidFill>
              <a:ln w="9525">
                <a:solidFill>
                  <a:srgbClr val="111827"/>
                </a:solidFill>
              </a:ln>
            </c:spPr>
          </c:dPt>
          <c:dPt>
            <c:idx val="13"/>
            <c:spPr>
              <a:solidFill>
                <a:srgbClr val="F6B26B"/>
              </a:solidFill>
              <a:ln w="9525">
                <a:solidFill>
                  <a:srgbClr val="111827"/>
                </a:solidFill>
              </a:ln>
            </c:spPr>
          </c:dPt>
          <c:dPt>
            <c:idx val="14"/>
            <c:spPr>
              <a:solidFill>
                <a:srgbClr val="FFD966"/>
              </a:solidFill>
              <a:ln w="9525">
                <a:solidFill>
                  <a:srgbClr val="111827"/>
                </a:solidFill>
              </a:ln>
            </c:spPr>
          </c:dPt>
          <c:dPt>
            <c:idx val="15"/>
            <c:spPr>
              <a:solidFill>
                <a:srgbClr val="F6B26B"/>
              </a:solidFill>
              <a:ln w="9525">
                <a:solidFill>
                  <a:srgbClr val="111827"/>
                </a:solidFill>
              </a:ln>
            </c:spPr>
          </c:dPt>
          <c:dPt>
            <c:idx val="16"/>
            <c:spPr>
              <a:solidFill>
                <a:srgbClr val="B6D7A8"/>
              </a:solidFill>
              <a:ln w="9525">
                <a:solidFill>
                  <a:srgbClr val="111827"/>
                </a:solidFill>
              </a:ln>
            </c:spPr>
          </c:dPt>
          <c:dPt>
            <c:idx val="17"/>
            <c:spPr>
              <a:solidFill>
                <a:srgbClr val="93C47D"/>
              </a:solidFill>
              <a:ln w="9525">
                <a:solidFill>
                  <a:srgbClr val="111827"/>
                </a:solidFill>
              </a:ln>
            </c:spPr>
          </c:dPt>
          <c:dPt>
            <c:idx val="18"/>
            <c:spPr>
              <a:solidFill>
                <a:srgbClr val="F6B26B"/>
              </a:solidFill>
              <a:ln w="9525">
                <a:solidFill>
                  <a:srgbClr val="111827"/>
                </a:solidFill>
              </a:ln>
            </c:spPr>
          </c:dPt>
          <c:dPt>
            <c:idx val="19"/>
            <c:spPr>
              <a:solidFill>
                <a:srgbClr val="F6B26B"/>
              </a:solidFill>
              <a:ln w="9525">
                <a:solidFill>
                  <a:srgbClr val="111827"/>
                </a:solidFill>
              </a:ln>
            </c:spPr>
          </c:dPt>
          <c:dPt>
            <c:idx val="20"/>
            <c:spPr>
              <a:solidFill>
                <a:srgbClr val="B6D7A8"/>
              </a:solidFill>
              <a:ln w="9525">
                <a:solidFill>
                  <a:srgbClr val="111827"/>
                </a:solidFill>
              </a:ln>
            </c:spPr>
          </c:dPt>
          <c:dPt>
            <c:idx val="21"/>
            <c:spPr>
              <a:solidFill>
                <a:srgbClr val="FFD966"/>
              </a:solidFill>
              <a:ln w="9525">
                <a:solidFill>
                  <a:srgbClr val="111827"/>
                </a:solidFill>
              </a:ln>
            </c:spPr>
          </c:dPt>
          <c:dPt>
            <c:idx val="22"/>
            <c:spPr>
              <a:solidFill>
                <a:srgbClr val="B6D7A8"/>
              </a:solidFill>
              <a:ln w="9525">
                <a:solidFill>
                  <a:srgbClr val="111827"/>
                </a:solidFill>
              </a:ln>
            </c:spPr>
          </c:dPt>
          <c:dPt>
            <c:idx val="23"/>
            <c:spPr>
              <a:solidFill>
                <a:srgbClr val="FFD966"/>
              </a:solidFill>
              <a:ln w="9525">
                <a:solidFill>
                  <a:srgbClr val="111827"/>
                </a:solidFill>
              </a:ln>
            </c:spPr>
          </c:dPt>
          <c:dPt>
            <c:idx val="24"/>
            <c:spPr>
              <a:solidFill>
                <a:srgbClr val="FFD966"/>
              </a:solidFill>
              <a:ln w="9525">
                <a:solidFill>
                  <a:srgbClr val="111827"/>
                </a:solidFill>
              </a:ln>
            </c:spPr>
          </c:dPt>
          <c:dPt>
            <c:idx val="25"/>
            <c:spPr>
              <a:solidFill>
                <a:srgbClr val="E88080"/>
              </a:solidFill>
              <a:ln w="9525">
                <a:solidFill>
                  <a:srgbClr val="111827"/>
                </a:solidFill>
              </a:ln>
            </c:spPr>
          </c:dPt>
          <c:dPt>
            <c:idx val="26"/>
            <c:spPr>
              <a:solidFill>
                <a:srgbClr val="F6B26B"/>
              </a:solidFill>
              <a:ln w="9525">
                <a:solidFill>
                  <a:srgbClr val="111827"/>
                </a:solidFill>
              </a:ln>
            </c:spPr>
          </c:dPt>
          <c:dPt>
            <c:idx val="27"/>
            <c:spPr>
              <a:solidFill>
                <a:srgbClr val="F6B26B"/>
              </a:solidFill>
              <a:ln w="9525">
                <a:solidFill>
                  <a:srgbClr val="111827"/>
                </a:solidFill>
              </a:ln>
            </c:spPr>
          </c:dPt>
          <c:dPt>
            <c:idx val="28"/>
            <c:spPr>
              <a:solidFill>
                <a:srgbClr val="FFD966"/>
              </a:solidFill>
              <a:ln w="9525">
                <a:solidFill>
                  <a:srgbClr val="111827"/>
                </a:solidFill>
              </a:ln>
            </c:spPr>
          </c:dPt>
          <c:dPt>
            <c:idx val="29"/>
            <c:spPr>
              <a:solidFill>
                <a:srgbClr val="F6B26B"/>
              </a:solidFill>
              <a:ln w="9525">
                <a:solidFill>
                  <a:srgbClr val="111827"/>
                </a:solidFill>
              </a:ln>
            </c:spPr>
          </c:dPt>
          <c:dPt>
            <c:idx val="30"/>
            <c:spPr>
              <a:solidFill>
                <a:srgbClr val="F6B26B"/>
              </a:solidFill>
              <a:ln w="9525">
                <a:solidFill>
                  <a:srgbClr val="111827"/>
                </a:solidFill>
              </a:ln>
            </c:spPr>
          </c:dPt>
          <c:dPt>
            <c:idx val="31"/>
            <c:spPr>
              <a:solidFill>
                <a:srgbClr val="FFD966"/>
              </a:solidFill>
              <a:ln w="9525">
                <a:solidFill>
                  <a:srgbClr val="111827"/>
                </a:solidFill>
              </a:ln>
            </c:spPr>
          </c:dPt>
          <c:dPt>
            <c:idx val="32"/>
            <c:spPr>
              <a:solidFill>
                <a:srgbClr val="FFD966"/>
              </a:solidFill>
              <a:ln w="9525">
                <a:solidFill>
                  <a:srgbClr val="111827"/>
                </a:solidFill>
              </a:ln>
            </c:spPr>
          </c:dPt>
          <c:dPt>
            <c:idx val="33"/>
            <c:spPr>
              <a:solidFill>
                <a:srgbClr val="F6B26B"/>
              </a:solidFill>
              <a:ln w="9525">
                <a:solidFill>
                  <a:srgbClr val="111827"/>
                </a:solidFill>
              </a:ln>
            </c:spPr>
          </c:dPt>
          <c:dPt>
            <c:idx val="34"/>
            <c:spPr>
              <a:solidFill>
                <a:srgbClr val="F6B26B"/>
              </a:solidFill>
              <a:ln w="9525">
                <a:solidFill>
                  <a:srgbClr val="111827"/>
                </a:solidFill>
              </a:ln>
            </c:spPr>
          </c:dPt>
          <c:dPt>
            <c:idx val="35"/>
            <c:spPr>
              <a:solidFill>
                <a:srgbClr val="E88080"/>
              </a:solidFill>
              <a:ln w="9525">
                <a:solidFill>
                  <a:srgbClr val="111827"/>
                </a:solidFill>
              </a:ln>
            </c:spPr>
          </c:dPt>
          <c:dPt>
            <c:idx val="36"/>
            <c:spPr>
              <a:solidFill>
                <a:srgbClr val="F6B26B"/>
              </a:solidFill>
              <a:ln w="9525">
                <a:solidFill>
                  <a:srgbClr val="111827"/>
                </a:solidFill>
              </a:ln>
            </c:spPr>
          </c:dPt>
          <c:dPt>
            <c:idx val="37"/>
            <c:spPr>
              <a:solidFill>
                <a:srgbClr val="FFD966"/>
              </a:solidFill>
              <a:ln w="9525">
                <a:solidFill>
                  <a:srgbClr val="111827"/>
                </a:solidFill>
              </a:ln>
            </c:spPr>
          </c:dPt>
          <c:dPt>
            <c:idx val="38"/>
            <c:spPr>
              <a:solidFill>
                <a:srgbClr val="F6B26B"/>
              </a:solidFill>
              <a:ln w="9525">
                <a:solidFill>
                  <a:srgbClr val="111827"/>
                </a:solidFill>
              </a:ln>
            </c:spPr>
          </c:dPt>
          <c:dPt>
            <c:idx val="39"/>
            <c:spPr>
              <a:solidFill>
                <a:srgbClr val="FFD966"/>
              </a:solidFill>
              <a:ln w="9525">
                <a:solidFill>
                  <a:srgbClr val="111827"/>
                </a:solidFill>
              </a:ln>
            </c:spPr>
          </c:dPt>
          <c:dPt>
            <c:idx val="40"/>
            <c:spPr>
              <a:solidFill>
                <a:srgbClr val="FFD966"/>
              </a:solidFill>
              <a:ln w="9525">
                <a:solidFill>
                  <a:srgbClr val="111827"/>
                </a:solidFill>
              </a:ln>
            </c:spPr>
          </c:dPt>
          <c:dPt>
            <c:idx val="41"/>
            <c:spPr>
              <a:solidFill>
                <a:srgbClr val="F6B26B"/>
              </a:solidFill>
              <a:ln w="9525">
                <a:solidFill>
                  <a:srgbClr val="111827"/>
                </a:solidFill>
              </a:ln>
            </c:spPr>
          </c:dPt>
          <c:dPt>
            <c:idx val="42"/>
            <c:spPr>
              <a:solidFill>
                <a:srgbClr val="FFD966"/>
              </a:solidFill>
              <a:ln w="9525">
                <a:solidFill>
                  <a:srgbClr val="111827"/>
                </a:solidFill>
              </a:ln>
            </c:spPr>
          </c:dPt>
          <c:dPt>
            <c:idx val="43"/>
            <c:spPr>
              <a:solidFill>
                <a:srgbClr val="F6B26B"/>
              </a:solidFill>
              <a:ln w="9525">
                <a:solidFill>
                  <a:srgbClr val="111827"/>
                </a:solidFill>
              </a:ln>
            </c:spPr>
          </c:dPt>
          <c:dPt>
            <c:idx val="44"/>
            <c:spPr>
              <a:solidFill>
                <a:srgbClr val="E88080"/>
              </a:solidFill>
              <a:ln w="9525">
                <a:solidFill>
                  <a:srgbClr val="111827"/>
                </a:solidFill>
              </a:ln>
            </c:spPr>
          </c:dPt>
          <c:dPt>
            <c:idx val="45"/>
            <c:spPr>
              <a:solidFill>
                <a:srgbClr val="FFD966"/>
              </a:solidFill>
              <a:ln w="9525">
                <a:solidFill>
                  <a:srgbClr val="111827"/>
                </a:solidFill>
              </a:ln>
            </c:spPr>
          </c:dPt>
          <c:dPt>
            <c:idx val="46"/>
            <c:spPr>
              <a:solidFill>
                <a:srgbClr val="FFD966"/>
              </a:solidFill>
              <a:ln w="9525">
                <a:solidFill>
                  <a:srgbClr val="111827"/>
                </a:solidFill>
              </a:ln>
            </c:spPr>
          </c:dPt>
          <c:cat>
            <c:strRef>
              <c:f>Sheet1!$A$2:$A$48</c:f>
              <c:strCache>
                <c:ptCount val="47"/>
                <c:pt idx="0">
                  <c:v>Q1</c:v>
                </c:pt>
                <c:pt idx="1">
                  <c:v>Q2</c:v>
                </c:pt>
                <c:pt idx="2">
                  <c:v>Q3</c:v>
                </c:pt>
                <c:pt idx="3">
                  <c:v>Q4</c:v>
                </c:pt>
                <c:pt idx="4">
                  <c:v>Q5</c:v>
                </c:pt>
                <c:pt idx="5">
                  <c:v>Q6</c:v>
                </c:pt>
                <c:pt idx="6">
                  <c:v>Q7</c:v>
                </c:pt>
                <c:pt idx="7">
                  <c:v>Q8</c:v>
                </c:pt>
                <c:pt idx="8">
                  <c:v>Q9</c:v>
                </c:pt>
                <c:pt idx="9">
                  <c:v>Q10</c:v>
                </c:pt>
                <c:pt idx="10">
                  <c:v>Q11</c:v>
                </c:pt>
                <c:pt idx="11">
                  <c:v>Q12</c:v>
                </c:pt>
                <c:pt idx="12">
                  <c:v>Q13</c:v>
                </c:pt>
                <c:pt idx="13">
                  <c:v>Q14</c:v>
                </c:pt>
                <c:pt idx="14">
                  <c:v>Q15</c:v>
                </c:pt>
                <c:pt idx="15">
                  <c:v>Q16</c:v>
                </c:pt>
                <c:pt idx="16">
                  <c:v>Q17</c:v>
                </c:pt>
                <c:pt idx="17">
                  <c:v>Q18</c:v>
                </c:pt>
                <c:pt idx="18">
                  <c:v>Q19</c:v>
                </c:pt>
                <c:pt idx="19">
                  <c:v>Q20</c:v>
                </c:pt>
                <c:pt idx="20">
                  <c:v>Q21</c:v>
                </c:pt>
                <c:pt idx="21">
                  <c:v>Q22</c:v>
                </c:pt>
                <c:pt idx="22">
                  <c:v>Q23</c:v>
                </c:pt>
                <c:pt idx="23">
                  <c:v>Q24</c:v>
                </c:pt>
                <c:pt idx="24">
                  <c:v>Q25</c:v>
                </c:pt>
                <c:pt idx="25">
                  <c:v>Q26</c:v>
                </c:pt>
                <c:pt idx="26">
                  <c:v>Q27</c:v>
                </c:pt>
                <c:pt idx="27">
                  <c:v>Q28</c:v>
                </c:pt>
                <c:pt idx="28">
                  <c:v>Q29</c:v>
                </c:pt>
                <c:pt idx="29">
                  <c:v>Q30</c:v>
                </c:pt>
                <c:pt idx="30">
                  <c:v>Q31</c:v>
                </c:pt>
                <c:pt idx="31">
                  <c:v>Q32</c:v>
                </c:pt>
                <c:pt idx="32">
                  <c:v>Q33</c:v>
                </c:pt>
                <c:pt idx="33">
                  <c:v>Q34</c:v>
                </c:pt>
                <c:pt idx="34">
                  <c:v>Q35</c:v>
                </c:pt>
                <c:pt idx="35">
                  <c:v>Q36</c:v>
                </c:pt>
                <c:pt idx="36">
                  <c:v>Q37</c:v>
                </c:pt>
                <c:pt idx="37">
                  <c:v>Q38</c:v>
                </c:pt>
                <c:pt idx="38">
                  <c:v>Q39</c:v>
                </c:pt>
                <c:pt idx="39">
                  <c:v>Q40</c:v>
                </c:pt>
                <c:pt idx="40">
                  <c:v>Q41</c:v>
                </c:pt>
                <c:pt idx="41">
                  <c:v>Q42</c:v>
                </c:pt>
                <c:pt idx="42">
                  <c:v>Q43</c:v>
                </c:pt>
                <c:pt idx="43">
                  <c:v>Q44</c:v>
                </c:pt>
                <c:pt idx="44">
                  <c:v>Q45</c:v>
                </c:pt>
                <c:pt idx="45">
                  <c:v>Q46</c:v>
                </c:pt>
                <c:pt idx="46">
                  <c:v>Q47</c:v>
                </c:pt>
              </c:strCache>
            </c:strRef>
          </c:cat>
          <c:val>
            <c:numRef>
              <c:f>Sheet1!$B$2:$B$48</c:f>
              <c:numCache>
                <c:formatCode>General</c:formatCode>
                <c:ptCount val="47"/>
                <c:pt idx="0">
                  <c:v>1.0</c:v>
                </c:pt>
                <c:pt idx="1">
                  <c:v>2.0</c:v>
                </c:pt>
                <c:pt idx="2">
                  <c:v>2.0</c:v>
                </c:pt>
                <c:pt idx="3">
                  <c:v>2.0</c:v>
                </c:pt>
                <c:pt idx="4">
                  <c:v>2.0</c:v>
                </c:pt>
                <c:pt idx="5">
                  <c:v>2.0</c:v>
                </c:pt>
                <c:pt idx="6">
                  <c:v>3.0</c:v>
                </c:pt>
                <c:pt idx="7">
                  <c:v>2.0</c:v>
                </c:pt>
                <c:pt idx="8">
                  <c:v>2.0</c:v>
                </c:pt>
                <c:pt idx="9">
                  <c:v>1.0</c:v>
                </c:pt>
                <c:pt idx="10">
                  <c:v>2.0</c:v>
                </c:pt>
                <c:pt idx="11">
                  <c:v>2.0</c:v>
                </c:pt>
                <c:pt idx="12">
                  <c:v>3.0</c:v>
                </c:pt>
                <c:pt idx="13">
                  <c:v>3.0</c:v>
                </c:pt>
                <c:pt idx="14">
                  <c:v>2.0</c:v>
                </c:pt>
                <c:pt idx="15">
                  <c:v>3.0</c:v>
                </c:pt>
                <c:pt idx="16">
                  <c:v>1.0</c:v>
                </c:pt>
                <c:pt idx="17">
                  <c:v>0.0</c:v>
                </c:pt>
                <c:pt idx="18">
                  <c:v>3.0</c:v>
                </c:pt>
                <c:pt idx="19">
                  <c:v>3.0</c:v>
                </c:pt>
                <c:pt idx="20">
                  <c:v>1.0</c:v>
                </c:pt>
                <c:pt idx="21">
                  <c:v>2.0</c:v>
                </c:pt>
                <c:pt idx="22">
                  <c:v>1.0</c:v>
                </c:pt>
                <c:pt idx="23">
                  <c:v>2.0</c:v>
                </c:pt>
                <c:pt idx="24">
                  <c:v>2.0</c:v>
                </c:pt>
                <c:pt idx="25">
                  <c:v>4.0</c:v>
                </c:pt>
                <c:pt idx="26">
                  <c:v>3.0</c:v>
                </c:pt>
                <c:pt idx="27">
                  <c:v>3.0</c:v>
                </c:pt>
                <c:pt idx="28">
                  <c:v>2.0</c:v>
                </c:pt>
                <c:pt idx="29">
                  <c:v>3.0</c:v>
                </c:pt>
                <c:pt idx="30">
                  <c:v>3.0</c:v>
                </c:pt>
                <c:pt idx="31">
                  <c:v>2.0</c:v>
                </c:pt>
                <c:pt idx="32">
                  <c:v>2.0</c:v>
                </c:pt>
                <c:pt idx="33">
                  <c:v>3.0</c:v>
                </c:pt>
                <c:pt idx="34">
                  <c:v>3.0</c:v>
                </c:pt>
                <c:pt idx="35">
                  <c:v>4.0</c:v>
                </c:pt>
                <c:pt idx="36">
                  <c:v>3.0</c:v>
                </c:pt>
                <c:pt idx="37">
                  <c:v>2.0</c:v>
                </c:pt>
                <c:pt idx="38">
                  <c:v>3.0</c:v>
                </c:pt>
                <c:pt idx="39">
                  <c:v>2.0</c:v>
                </c:pt>
                <c:pt idx="40">
                  <c:v>2.0</c:v>
                </c:pt>
                <c:pt idx="41">
                  <c:v>3.0</c:v>
                </c:pt>
                <c:pt idx="42">
                  <c:v>2.0</c:v>
                </c:pt>
                <c:pt idx="43">
                  <c:v>3.0</c:v>
                </c:pt>
                <c:pt idx="44">
                  <c:v>4.0</c:v>
                </c:pt>
                <c:pt idx="45">
                  <c:v>2.0</c:v>
                </c:pt>
                <c:pt idx="46">
                  <c:v>2.0</c:v>
                </c:pt>
              </c:numCache>
            </c:numRef>
          </c:val>
        </c:ser>
        <c:dLbls>
          <c:numFmt formatCode="0.0#" sourceLinked="0"/>
          <c:txPr>
            <a:bodyPr/>
            <a:lstStyle/>
            <a:p>
              <a:pPr>
                <a:defRPr sz="2000" b="1">
                  <a:solidFill>
                    <a:srgbClr val="111827"/>
                  </a:solidFill>
                  <a:latin typeface="Arial"/>
                </a:defRPr>
              </a:pPr>
            </a:p>
          </c:txPr>
          <c:dLblPos val="outEnd"/>
          <c:showLegendKey val="0"/>
          <c:showVal val="1"/>
          <c:showCatName val="0"/>
          <c:showSerName val="0"/>
          <c:showPercent val="0"/>
          <c:showBubbleSize val="0"/>
          <c:showLeaderLines val="1"/>
        </c:dLbls>
        <c:gapWidth val="40"/>
        <c:axId val="-2068027336"/>
        <c:axId val="-2113994440"/>
      </c:barChart>
      <c:catAx>
        <c:axId val="-2068027336"/>
        <c:scaling>
          <c:orientation val="minMax"/>
        </c:scaling>
        <c:delete val="0"/>
        <c:axPos val="b"/>
        <c:majorTickMark val="out"/>
        <c:minorTickMark val="none"/>
        <c:tickLblPos val="nextTo"/>
        <c:txPr>
          <a:bodyPr/>
          <a:lstStyle/>
          <a:p>
            <a:pPr>
              <a:defRPr sz="2000" b="1">
                <a:latin typeface="Arial"/>
              </a:defRPr>
            </a:pPr>
          </a:p>
        </c:txPr>
        <c:crossAx val="-2113994440"/>
        <c:crosses val="autoZero"/>
        <c:auto val="1"/>
        <c:lblAlgn val="ctr"/>
        <c:lblOffset val="100"/>
        <c:noMultiLvlLbl val="0"/>
      </c:catAx>
      <c:valAx>
        <c:axId val="-2113994440"/>
        <c:scaling>
          <c:max val="5.5"/>
          <c:min val="0.0"/>
        </c:scaling>
        <c:delete val="0"/>
        <c:axPos val="l"/>
        <c:majorGridlines>
          <c:spPr>
            <a:ln>
              <a:solidFill>
                <a:srgbClr val="D1D5DB"/>
              </a:solidFill>
            </a:ln>
          </c:spPr>
        </c:majorGridlines>
        <c:title>
          <c:tx>
            <c:rich>
              <a:bodyPr/>
              <a:lstStyle/>
              <a:p>
                <a:r>
                  <a:rPr sz="2000"/>
                  <a:t>Level</a:t>
                </a:r>
              </a:p>
            </c:rich>
          </c:tx>
          <c:layout/>
          <c:overlay val="0"/>
        </c:title>
        <c:majorTickMark val="out"/>
        <c:minorTickMark val="none"/>
        <c:tickLblPos val="nextTo"/>
        <c:txPr>
          <a:bodyPr/>
          <a:lstStyle/>
          <a:p>
            <a:pPr>
              <a:defRPr sz="2000">
                <a:latin typeface="Arial"/>
              </a:defRPr>
            </a:pPr>
          </a:p>
        </c:txPr>
        <c:crossAx val="-2068027336"/>
        <c:crosses val="autoZero"/>
        <c:majorUnit val="1.0"/>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6.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5.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3.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Part (iii): the PDF used $|2+24-10|=16$ and got $\frac{16}{3\sqrt{10}}=\frac{8}{15}\sqrt{10}$; the plane is $x+8y-5z+2=0$ so the numerator is $|2+24-10+2|=18$, giving $\frac{18}{3\sqrt{10}}=\frac35\sqrt{10}$ (the printed answer is right, the working was not). Smaller slips: in (i) the PDF wrote $\vec{AP}$ as $(3+\lambda,3\lambda,1+5\lambda)$, which is the point $P$ (the dot product it then evaluates uses the correct $\vec{AP}$); in (iv) it wrote the cross product first as $4\hat i+4\hat j-2\hat k$ and then as $(4,14,-2)$, and $\sqrt{120}$ in place of $\sqrt{216}$ in one line.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Case I stops at '[a b c]=0' after dotting with b, but that step gives (|b|^2 - lambda)[a b c] = 0, so the branch lambda=|b|^2 had to be excluded (done above: b.c=-2 alpha^2, a.b=5 alpha+6 never vanish together). The PDF also never worked out the second part (vector product at alpha=0); it is added here (answer -60(2i+k), verified by computer algebra). The alpha=2/3 answer itself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Part (1): the PDF's printed lines are garbled (e.g. '[b c d](a - y c) = [b c d][x b + z d]', missing brackets and a stray '+c'); the logic (expand a in b, c, d and read the coefficients off with triple products) is right and has been rewritten cleanly with the same steps. Part (2): the PDF ends with the reciprocal form ([abc]+[acd])/([abd]+[bcd])=1, which is the same equation; it is restated in the form asked.</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writes the second diagonal as a-b=(3,4,-1) (sign slip) although it then uses the correct (3,-4,-1) to get a and b; it also writes 'Area = d1 x d2' and shows the factor 1/2 only in the next line. Corrected to a-b=(3,-4,-1) and Area = (1/2)|d1 x d2|. The sides and the area (1/2)sqrt(1274) are correct.</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determinant expansion contains arithmetic slips: it writes '(4+lambda)(9-lambda^2+1)-5(8-lambda)' (should be '5(8-3 lambda)' and (lambda^2-10)), reaches 'lambda^3+4 lambda^2+15 lambda=0', then 'lambda^2+4 lambda-15=0' and 'lambda=-4 +- sqrt(29)', which are inconsistent with each other. The correct determinant is -lambda(lambda^2+4 lambda-25), giving lambda=0, -2 +- sqrt(29) (which is what the printed answer says). A final check that a,b,c are non-zero is added.</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takes $V=[\vec a\ \vec b\ \vec c]=P-N$ with no modulus and proves only $P-N\le L^3$. Volume is $|P-N|$, so the case $N-P\le N\le L^3$ is added (the PDF's own 'same reason' argument covers $N\le L^3$). Everything else is as printed.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correctly finds $CE=CF=\frac{\sqrt7a}{3}$ and $EF=\frac{a}{\sqrt3}$ but stops at 'now use Heron's formula' without computing; the final area computation (isosceles altitude $\frac{5a}{6}$, area $\frac{5a^2}{12\sqrt3}$) is added. Printed answer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PDF writes $x\in(-2,2)$ (open interval) while the maximum and minimum are required; on the circle $x^2+y^2=4$ we have $x\in[-2,2]$ (closed), and the minimum $m=3$ occurs at the endpoints $x=\pm2$. Answer unchanged.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Final step (viii): the PDF prints '= -2 - 2/5 = -8/3'. The expansion -2 - 4/3 + 2/3 equals -2 - 2/3 (not 2/5); with -2/3 the value is -8/3, which is the printed (correct) answer. Only the typo 2/5 -&gt; 2/3 changed; method and answer are unchanged.</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copied from the PDF in full and checked step by step - it is correct.</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working is correct but incomplete: (A) stops at cos(theta)=0 or sin^2(theta)=1/2 without reading off the roots; (B) lists the points without checking that the jumps are not cancelled; (D) is printed as a^2+b^2+2ab+cos(theta)=3c^2 (a typo for 2|a||b|cos(theta)). Written out in full here; the printed answer is right.</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working stops at 3cos^2(alpha)=1+2cos(theta) and never evaluates the rows. Evaluating row D: cos(theta)=5/8 gives cos^2(alpha)=3/4, alpha=pi/6, i.e. (s). The PDF's printed answer (D)-&gt;(r) is wrong; (A)-&gt;(q), (B)-&gt;(r), (C)-&gt;(p) are right.</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Part (C): the PDF's own working rejects mu=5 (lambda_2^2=lambda_1^2(4-mu) would be negative), yet its answer key lists (C)-&gt;(q),(s). Only mu=0 is possible, so the correct match is (C)-&gt;(q) only; the printed key (q,s) is wrong. A small added step explains the rejection. Parts (A), (B), (D) are correct as printed; the Hindi copy repeats them.</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PDF's solution blocks are mislabelled and partly wrong: the block headed (A) is really part (D) and uses ax-y=1 instead of ax-y=4 (giving a0=1); the block headed (C) is part (A); the block headed (D) is part (C). With the correct line ax-y=4, a0=2, matching the printed key (D)-&gt;(p) (the PDF's own working would give (s)). The other rows' working is right; the missing minus sign in (B) is restored.</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Solution taken from the PDF but CORRECTED by Claude.</a:t>
            </a:r>
          </a:p>
          <a:p>
            <a:r>
              <a:t>WHAT WAS WRONG IN THE PDF AND WHAT CHANGED: The PDF gives no solution for row (A); it is written here (normal = n1 x n2, plane x-y+z=0, distance 1). Rows (B), (C), (D) are reproduced from the PDF with the sign r=-2/9 in (D) kept explicit. The printed answer is correct.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9.xml"/></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0.xml"/></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1.xml"/></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2.xml"/></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3.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5.xml"/></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6.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7.xml"/></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a:lstStyle>
            <a:lvl1pPr>
              <a:defRPr sz="4000">
                <a:solidFill>
                  <a:srgbClr val="FFFFFF"/>
                </a:solidFill>
              </a:defRPr>
            </a:lvl1pPr>
          </a:lstStyle>
          <a:p>
            <a:pPr algn="ctr">
              <a:defRPr sz="4000">
                <a:solidFill>
                  <a:srgbClr val="FFFFFF"/>
                </a:solidFill>
              </a:defRPr>
            </a:pPr>
            <a:r>
              <a:rPr sz="4000" b="1">
                <a:solidFill>
                  <a:srgbClr val="FFFFFF"/>
                </a:solidFill>
                <a:latin typeface="Arial"/>
              </a:rPr>
              <a:t>Vector &amp; 3D Geometry (Exercise C-II) — Paper Analysis</a:t>
            </a:r>
            <a:endParaRPr sz="4000">
              <a:solidFill>
                <a:srgbClr val="FFFFFF"/>
              </a:solidFill>
            </a:endParaRPr>
          </a:p>
          <a:p>
            <a:pPr algn="ctr"/>
            <a:r>
              <a:rPr sz="2200">
                <a:solidFill>
                  <a:srgbClr val="FFFFFF"/>
                </a:solidFill>
                <a:latin typeface="Arial"/>
              </a:rPr>
              <a:t>Sheet Vector 3D · Exercise C-II · detailed solutions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1</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Numerical / Subjective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Q01 – Q33</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4 marks each (no marks printed in the sheet - JEE Advanced default of 4 assumed)</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Answers are values, expressions or proofs</a:t>
            </a:r>
            <a:endParaRPr sz="2800">
              <a:solidFill>
                <a:srgbClr val="FFFFFF"/>
              </a:solidFill>
            </a:endParaRP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variable plane is at a constant distance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from the origin and meets the coordinate axes in points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respectively. Through these points, planes are drawn parallel to the coordinate planes. Find the locus of their point of intersection.</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A variable plane is at a constant distance </a:t>
                </a:r>
                <a:r>
                  <a:rPr lang="en-IN" sz="2400">
                    <a:solidFill>
                      <a:srgbClr val="111827"/>
                    </a:solidFill>
                    <a:latin typeface="Cambria Math" panose="02040503050406030204" pitchFamily="18" charset="0"/>
                  </a:rPr>
                  <a:t>$p$</a:t>
                </a:r>
                <a:r>
                  <a:rPr sz="2400" b="0">
                    <a:solidFill>
                      <a:srgbClr val="111827"/>
                    </a:solidFill>
                    <a:latin typeface="Arial"/>
                  </a:rPr>
                  <a:t> from the origin and meets the coordinate axes in points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respectively. Through these points, planes are drawn parallel to the coordinate planes. Find the locus of their point of intersection.</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Plane in intercept form, distance from the origin and locus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three parallel planes meet at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 intercepts themselves, so the intercept relation is already the locus.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three parallel planes meet at </a:t>
                </a:r>
                <a:r>
                  <a:rPr lang="en-IN" sz="2400">
                    <a:solidFill>
                      <a:srgbClr val="78350F"/>
                    </a:solidFill>
                    <a:latin typeface="Cambria Math" panose="02040503050406030204" pitchFamily="18" charset="0"/>
                  </a:rPr>
                  <a:t>$(a,b,c)$</a:t>
                </a:r>
                <a:r>
                  <a:rPr sz="2400" b="0">
                    <a:solidFill>
                      <a:srgbClr val="78350F"/>
                    </a:solidFill>
                    <a:latin typeface="Arial"/>
                  </a:rPr>
                  <a:t>, the intercepts themselves, so the intercept relation is already the locus.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plane be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are its intercepts on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oMath>
                </a14:m>
                <a:r>
                  <a:rPr sz="2400" b="0">
                    <a:solidFill>
                      <a:srgbClr val="111827"/>
                    </a:solidFill>
                    <a:latin typeface="Arial"/>
                  </a:rPr>
                  <a:t> axes, 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Its distance from the origin is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Squaring and inverting: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plane be </a:t>
                </a:r>
                <a:r>
                  <a:rPr lang="en-IN" sz="2400">
                    <a:solidFill>
                      <a:srgbClr val="111827"/>
                    </a:solidFill>
                    <a:latin typeface="Cambria Math" panose="02040503050406030204" pitchFamily="18" charset="0"/>
                  </a:rPr>
                  <a:t>$\frac{x}{a}+\frac{y}{b}+\frac{z}{c}=1$</a:t>
                </a:r>
                <a:r>
                  <a:rPr sz="2400" b="0">
                    <a:solidFill>
                      <a:srgbClr val="111827"/>
                    </a:solidFill>
                    <a:latin typeface="Arial"/>
                  </a:rPr>
                  <a:t>, where </a:t>
                </a:r>
                <a:r>
                  <a:rPr lang="en-IN" sz="2400">
                    <a:solidFill>
                      <a:srgbClr val="111827"/>
                    </a:solidFill>
                    <a:latin typeface="Cambria Math" panose="02040503050406030204" pitchFamily="18" charset="0"/>
                  </a:rPr>
                  <a:t>$a,b,c$</a:t>
                </a:r>
                <a:r>
                  <a:rPr sz="2400" b="0">
                    <a:solidFill>
                      <a:srgbClr val="111827"/>
                    </a:solidFill>
                    <a:latin typeface="Arial"/>
                  </a:rPr>
                  <a:t> are its intercepts on the </a:t>
                </a:r>
                <a:r>
                  <a:rPr lang="en-IN" sz="2400">
                    <a:solidFill>
                      <a:srgbClr val="111827"/>
                    </a:solidFill>
                    <a:latin typeface="Cambria Math" panose="02040503050406030204" pitchFamily="18" charset="0"/>
                  </a:rPr>
                  <a:t>$x$</a:t>
                </a:r>
                <a:r>
                  <a:rPr sz="2400" b="0">
                    <a:solidFill>
                      <a:srgbClr val="111827"/>
                    </a:solidFill>
                    <a:latin typeface="Arial"/>
                  </a:rPr>
                  <a:t>, </a:t>
                </a:r>
                <a:r>
                  <a:rPr lang="en-IN" sz="2400">
                    <a:solidFill>
                      <a:srgbClr val="111827"/>
                    </a:solidFill>
                    <a:latin typeface="Cambria Math" panose="02040503050406030204" pitchFamily="18" charset="0"/>
                  </a:rPr>
                  <a:t>$y$</a:t>
                </a:r>
                <a:r>
                  <a:rPr sz="2400" b="0">
                    <a:solidFill>
                      <a:srgbClr val="111827"/>
                    </a:solidFill>
                    <a:latin typeface="Arial"/>
                  </a:rPr>
                  <a:t>, </a:t>
                </a:r>
                <a:r>
                  <a:rPr lang="en-IN" sz="2400">
                    <a:solidFill>
                      <a:srgbClr val="111827"/>
                    </a:solidFill>
                    <a:latin typeface="Cambria Math" panose="02040503050406030204" pitchFamily="18" charset="0"/>
                  </a:rPr>
                  <a:t>$z$</a:t>
                </a:r>
                <a:r>
                  <a:rPr sz="2400" b="0">
                    <a:solidFill>
                      <a:srgbClr val="111827"/>
                    </a:solidFill>
                    <a:latin typeface="Arial"/>
                  </a:rPr>
                  <a:t> axes, so </a:t>
                </a:r>
                <a:r>
                  <a:rPr lang="en-IN" sz="2400">
                    <a:solidFill>
                      <a:srgbClr val="111827"/>
                    </a:solidFill>
                    <a:latin typeface="Cambria Math" panose="02040503050406030204" pitchFamily="18" charset="0"/>
                  </a:rPr>
                  <a:t>$A(a,0,0)$</a:t>
                </a:r>
                <a:r>
                  <a:rPr sz="2400" b="0">
                    <a:solidFill>
                      <a:srgbClr val="111827"/>
                    </a:solidFill>
                    <a:latin typeface="Arial"/>
                  </a:rPr>
                  <a:t>, </a:t>
                </a:r>
                <a:r>
                  <a:rPr lang="en-IN" sz="2400">
                    <a:solidFill>
                      <a:srgbClr val="111827"/>
                    </a:solidFill>
                    <a:latin typeface="Cambria Math" panose="02040503050406030204" pitchFamily="18" charset="0"/>
                  </a:rPr>
                  <a:t>$B(0,b,0)$</a:t>
                </a:r>
                <a:r>
                  <a:rPr sz="2400" b="0">
                    <a:solidFill>
                      <a:srgbClr val="111827"/>
                    </a:solidFill>
                    <a:latin typeface="Arial"/>
                  </a:rPr>
                  <a:t>, </a:t>
                </a:r>
                <a:r>
                  <a:rPr lang="en-IN" sz="2400">
                    <a:solidFill>
                      <a:srgbClr val="111827"/>
                    </a:solidFill>
                    <a:latin typeface="Cambria Math" panose="02040503050406030204" pitchFamily="18" charset="0"/>
                  </a:rPr>
                  <a:t>$C(0,0,c)$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Its distance from the origin is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$\frac{1}{\sqrt{\frac{1}{a^2}+\frac{1}{b^2}+\frac{1}{c^2}}}=p$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Squaring and inverting: </a:t>
                </a:r>
                <a:r>
                  <a:rPr lang="en-IN" sz="2400">
                    <a:solidFill>
                      <a:srgbClr val="111827"/>
                    </a:solidFill>
                    <a:latin typeface="Cambria Math" panose="02040503050406030204" pitchFamily="18" charset="0"/>
                  </a:rPr>
                  <a:t>$\frac{1}{a^2}+\frac{1}{b^2}+\frac{1}{c^2}=\frac{1}{p^2}$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planes through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parallel to the coordinate planes are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Their point of intersection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call it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in the relation above, the locus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planes through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$C$</a:t>
                </a:r>
                <a:r>
                  <a:rPr sz="2400" b="0">
                    <a:solidFill>
                      <a:srgbClr val="111827"/>
                    </a:solidFill>
                    <a:latin typeface="Arial"/>
                  </a:rPr>
                  <a:t> parallel to the coordinate planes are </a:t>
                </a:r>
                <a:r>
                  <a:rPr lang="en-IN" sz="2400">
                    <a:solidFill>
                      <a:srgbClr val="111827"/>
                    </a:solidFill>
                    <a:latin typeface="Cambria Math" panose="02040503050406030204" pitchFamily="18" charset="0"/>
                  </a:rPr>
                  <a:t>$x=a$</a:t>
                </a:r>
                <a:r>
                  <a:rPr sz="2400" b="0">
                    <a:solidFill>
                      <a:srgbClr val="111827"/>
                    </a:solidFill>
                    <a:latin typeface="Arial"/>
                  </a:rPr>
                  <a:t>, </a:t>
                </a:r>
                <a:r>
                  <a:rPr lang="en-IN" sz="2400">
                    <a:solidFill>
                      <a:srgbClr val="111827"/>
                    </a:solidFill>
                    <a:latin typeface="Cambria Math" panose="02040503050406030204" pitchFamily="18" charset="0"/>
                  </a:rPr>
                  <a:t>$y=b$</a:t>
                </a:r>
                <a:r>
                  <a:rPr sz="2400" b="0">
                    <a:solidFill>
                      <a:srgbClr val="111827"/>
                    </a:solidFill>
                    <a:latin typeface="Arial"/>
                  </a:rPr>
                  <a:t>, </a:t>
                </a:r>
                <a:r>
                  <a:rPr lang="en-IN" sz="2400">
                    <a:solidFill>
                      <a:srgbClr val="111827"/>
                    </a:solidFill>
                    <a:latin typeface="Cambria Math" panose="02040503050406030204" pitchFamily="18" charset="0"/>
                  </a:rPr>
                  <a:t>$z=c$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Their point of intersection is </a:t>
                </a:r>
                <a:r>
                  <a:rPr lang="en-IN" sz="2400">
                    <a:solidFill>
                      <a:srgbClr val="111827"/>
                    </a:solidFill>
                    <a:latin typeface="Cambria Math" panose="02040503050406030204" pitchFamily="18" charset="0"/>
                  </a:rPr>
                  <a:t>$(a,b,c)$</a:t>
                </a:r>
                <a:r>
                  <a:rPr sz="2400" b="0">
                    <a:solidFill>
                      <a:srgbClr val="111827"/>
                    </a:solidFill>
                    <a:latin typeface="Arial"/>
                  </a:rPr>
                  <a:t>; call it </a:t>
                </a:r>
                <a:r>
                  <a:rPr lang="en-IN" sz="2400">
                    <a:solidFill>
                      <a:srgbClr val="111827"/>
                    </a:solidFill>
                    <a:latin typeface="Cambria Math" panose="02040503050406030204" pitchFamily="18" charset="0"/>
                  </a:rPr>
                  <a:t>$(x,y,z)$</a:t>
                </a:r>
                <a:r>
                  <a:rPr sz="2400" b="0">
                    <a:solidFill>
                      <a:srgbClr val="111827"/>
                    </a:solidFill>
                    <a:latin typeface="Arial"/>
                  </a:rPr>
                  <a:t>, so </a:t>
                </a:r>
                <a:r>
                  <a:rPr lang="en-IN" sz="2400">
                    <a:solidFill>
                      <a:srgbClr val="111827"/>
                    </a:solidFill>
                    <a:latin typeface="Cambria Math" panose="02040503050406030204" pitchFamily="18" charset="0"/>
                  </a:rPr>
                  <a:t>$a=x$</a:t>
                </a:r>
                <a:r>
                  <a:rPr sz="2400" b="0">
                    <a:solidFill>
                      <a:srgbClr val="111827"/>
                    </a:solidFill>
                    <a:latin typeface="Arial"/>
                  </a:rPr>
                  <a:t>, </a:t>
                </a:r>
                <a:r>
                  <a:rPr lang="en-IN" sz="2400">
                    <a:solidFill>
                      <a:srgbClr val="111827"/>
                    </a:solidFill>
                    <a:latin typeface="Cambria Math" panose="02040503050406030204" pitchFamily="18" charset="0"/>
                  </a:rPr>
                  <a:t>$b=y$</a:t>
                </a:r>
                <a:r>
                  <a:rPr sz="2400" b="0">
                    <a:solidFill>
                      <a:srgbClr val="111827"/>
                    </a:solidFill>
                    <a:latin typeface="Arial"/>
                  </a:rPr>
                  <a:t>, </a:t>
                </a:r>
                <a:r>
                  <a:rPr lang="en-IN" sz="2400">
                    <a:solidFill>
                      <a:srgbClr val="111827"/>
                    </a:solidFill>
                    <a:latin typeface="Cambria Math" panose="02040503050406030204" pitchFamily="18" charset="0"/>
                  </a:rPr>
                  <a:t>$c=z$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Substituting in the relation above, the locus is </a:t>
                </a:r>
                <a:r>
                  <a:rPr lang="en-IN" sz="2400">
                    <a:solidFill>
                      <a:srgbClr val="111827"/>
                    </a:solidFill>
                    <a:latin typeface="Cambria Math" panose="02040503050406030204" pitchFamily="18" charset="0"/>
                  </a:rPr>
                  <a:t>$\frac{1}{x^2}+\frac{1}{y^2}+\frac{1}{z^2}=\frac{1}{p^2}$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sSup>
                          <m:e>
                            <m:r>
                              <a:rPr lang="en-IN" sz="2800" i="1">
                                <a:solidFill>
                                  <a:srgbClr val="15803D"/>
                                </a:solidFill>
                                <a:latin typeface="Cambria Math" panose="02040503050406030204" pitchFamily="18" charset="0"/>
                              </a:rPr>
                              <m:t>𝑧</m:t>
                            </m:r>
                          </m:e>
                          <m:sup>
                            <m:r>
                              <a:rPr lang="en-IN" sz="2800" i="1">
                                <a:solidFill>
                                  <a:srgbClr val="15803D"/>
                                </a:solidFill>
                                <a:latin typeface="Cambria Math" panose="02040503050406030204" pitchFamily="18" charset="0"/>
                              </a:rPr>
                              <m:t>2</m:t>
                            </m:r>
                          </m:sup>
                        </m:sSup>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sSup>
                          <m:e>
                            <m:r>
                              <a:rPr lang="en-IN" sz="2800" i="1">
                                <a:solidFill>
                                  <a:srgbClr val="15803D"/>
                                </a:solidFill>
                                <a:latin typeface="Cambria Math" panose="02040503050406030204" pitchFamily="18" charset="0"/>
                              </a:rPr>
                              <m:t>𝑝</m:t>
                            </m:r>
                          </m:e>
                          <m:sup>
                            <m:r>
                              <a:rPr lang="en-IN" sz="2800" i="1">
                                <a:solidFill>
                                  <a:srgbClr val="15803D"/>
                                </a:solidFill>
                                <a:latin typeface="Cambria Math" panose="02040503050406030204" pitchFamily="18" charset="0"/>
                              </a:rPr>
                              <m:t>2</m:t>
                            </m:r>
                          </m:sup>
                        </m:sSup>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$\frac{1}{x^2}+\frac{1}{y^2}+\frac{1}{z^2}=\frac{1}{p^2}$</a:t>
                </a:r>
                <a:endParaRPr sz="2800">
                  <a:solidFill>
                    <a:srgbClr val="15803D"/>
                  </a:solidFill>
                </a:endParaRPr>
              </a:p>
            </p:txBody>
          </p:sp>
        </mc:Fallback>
      </mc:AlternateContent>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normal form </a:t>
                </a:r>
                <a14:m>
                  <m:oMath xmlns:m="http://schemas.openxmlformats.org/officeDocument/2006/math">
                    <m:r>
                      <a:rPr lang="en-IN" sz="2400" i="1">
                        <a:solidFill>
                          <a:srgbClr val="78350F"/>
                        </a:solidFill>
                        <a:latin typeface="Cambria Math" panose="02040503050406030204" pitchFamily="18" charset="0"/>
                      </a:rPr>
                      <m:t>𝑙</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𝑚</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oMath>
                </a14:m>
                <a:r>
                  <a:rPr sz="2400" b="0">
                    <a:solidFill>
                      <a:srgbClr val="78350F"/>
                    </a:solidFill>
                    <a:latin typeface="Arial"/>
                  </a:rPr>
                  <a:t> with direction cosines, so the intercepts are </a:t>
                </a:r>
                <a14:m>
                  <m:oMath xmlns:m="http://schemas.openxmlformats.org/officeDocument/2006/math">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𝑙</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𝑚</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normal form </a:t>
                </a:r>
                <a:r>
                  <a:rPr lang="en-IN" sz="2400">
                    <a:solidFill>
                      <a:srgbClr val="78350F"/>
                    </a:solidFill>
                    <a:latin typeface="Cambria Math" panose="02040503050406030204" pitchFamily="18" charset="0"/>
                  </a:rPr>
                  <a:t>$lx+my+nz=p$</a:t>
                </a:r>
                <a:r>
                  <a:rPr sz="2400" b="0">
                    <a:solidFill>
                      <a:srgbClr val="78350F"/>
                    </a:solidFill>
                    <a:latin typeface="Arial"/>
                  </a:rPr>
                  <a:t> with direction cosines, so the intercepts are </a:t>
                </a:r>
                <a:r>
                  <a:rPr lang="en-IN" sz="2400">
                    <a:solidFill>
                      <a:srgbClr val="78350F"/>
                    </a:solidFill>
                    <a:latin typeface="Cambria Math" panose="02040503050406030204" pitchFamily="18" charset="0"/>
                  </a:rPr>
                  <a:t>$p/l$</a:t>
                </a:r>
                <a:r>
                  <a:rPr sz="2400" b="0">
                    <a:solidFill>
                      <a:srgbClr val="78350F"/>
                    </a:solidFill>
                    <a:latin typeface="Arial"/>
                  </a:rPr>
                  <a:t>, </a:t>
                </a:r>
                <a:r>
                  <a:rPr lang="en-IN" sz="2400">
                    <a:solidFill>
                      <a:srgbClr val="78350F"/>
                    </a:solidFill>
                    <a:latin typeface="Cambria Math" panose="02040503050406030204" pitchFamily="18" charset="0"/>
                  </a:rPr>
                  <a:t>$p/m$</a:t>
                </a:r>
                <a:r>
                  <a:rPr sz="2400" b="0">
                    <a:solidFill>
                      <a:srgbClr val="78350F"/>
                    </a:solidFill>
                    <a:latin typeface="Arial"/>
                  </a:rPr>
                  <a:t>, </a:t>
                </a:r>
                <a:r>
                  <a:rPr lang="en-IN" sz="2400">
                    <a:solidFill>
                      <a:srgbClr val="78350F"/>
                    </a:solidFill>
                    <a:latin typeface="Cambria Math" panose="02040503050406030204" pitchFamily="18" charset="0"/>
                  </a:rPr>
                  <a:t>$p/n$</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plane at distance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from the origin has the normal form </a:t>
                </a:r>
                <a14:m>
                  <m:oMath xmlns:m="http://schemas.openxmlformats.org/officeDocument/2006/math">
                    <m:r>
                      <a:rPr lang="en-IN" sz="2400" i="1">
                        <a:solidFill>
                          <a:srgbClr val="111827"/>
                        </a:solidFill>
                        <a:latin typeface="Cambria Math" panose="02040503050406030204" pitchFamily="18" charset="0"/>
                      </a:rPr>
                      <m:t>𝑙</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are the direction cosines of the perpendicular from the origin, so </a:t>
                </a:r>
                <a14:m>
                  <m:oMath xmlns:m="http://schemas.openxmlformats.org/officeDocument/2006/math">
                    <m:sSup>
                      <m:e>
                        <m:r>
                          <a:rPr lang="en-IN" sz="2400" i="1">
                            <a:solidFill>
                              <a:srgbClr val="111827"/>
                            </a:solidFill>
                            <a:latin typeface="Cambria Math" panose="02040503050406030204" pitchFamily="18" charset="0"/>
                          </a:rPr>
                          <m:t>𝑙</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Its intercepts are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𝑙</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𝑚</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𝑛</m:t>
                        </m:r>
                      </m:den>
                    </m:f>
                  </m:oMath>
                </a14:m>
                <a:r>
                  <a:rPr sz="2400" b="0">
                    <a:solidFill>
                      <a:srgbClr val="111827"/>
                    </a:solidFill>
                    <a:latin typeface="Arial"/>
                  </a:rPr>
                  <a:t>, hence the intersection point of the three parallel planes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𝑙</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𝑚</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𝑛</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𝑥</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𝑦</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𝑧</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plane at distance </a:t>
                </a:r>
                <a:r>
                  <a:rPr lang="en-IN" sz="2400">
                    <a:solidFill>
                      <a:srgbClr val="111827"/>
                    </a:solidFill>
                    <a:latin typeface="Cambria Math" panose="02040503050406030204" pitchFamily="18" charset="0"/>
                  </a:rPr>
                  <a:t>$p$</a:t>
                </a:r>
                <a:r>
                  <a:rPr sz="2400" b="0">
                    <a:solidFill>
                      <a:srgbClr val="111827"/>
                    </a:solidFill>
                    <a:latin typeface="Arial"/>
                  </a:rPr>
                  <a:t> from the origin has the normal form </a:t>
                </a:r>
                <a:r>
                  <a:rPr lang="en-IN" sz="2400">
                    <a:solidFill>
                      <a:srgbClr val="111827"/>
                    </a:solidFill>
                    <a:latin typeface="Cambria Math" panose="02040503050406030204" pitchFamily="18" charset="0"/>
                  </a:rPr>
                  <a:t>$lx+my+nz=p$</a:t>
                </a:r>
                <a:r>
                  <a:rPr sz="2400" b="0">
                    <a:solidFill>
                      <a:srgbClr val="111827"/>
                    </a:solidFill>
                    <a:latin typeface="Arial"/>
                  </a:rPr>
                  <a:t>, where </a:t>
                </a:r>
                <a:r>
                  <a:rPr lang="en-IN" sz="2400">
                    <a:solidFill>
                      <a:srgbClr val="111827"/>
                    </a:solidFill>
                    <a:latin typeface="Cambria Math" panose="02040503050406030204" pitchFamily="18" charset="0"/>
                  </a:rPr>
                  <a:t>$l,m,n$</a:t>
                </a:r>
                <a:r>
                  <a:rPr sz="2400" b="0">
                    <a:solidFill>
                      <a:srgbClr val="111827"/>
                    </a:solidFill>
                    <a:latin typeface="Arial"/>
                  </a:rPr>
                  <a:t> are the direction cosines of the perpendicular from the origin, so </a:t>
                </a:r>
                <a:r>
                  <a:rPr lang="en-IN" sz="2400">
                    <a:solidFill>
                      <a:srgbClr val="111827"/>
                    </a:solidFill>
                    <a:latin typeface="Cambria Math" panose="02040503050406030204" pitchFamily="18" charset="0"/>
                  </a:rPr>
                  <a:t>$l^2+m^2+n^2=1$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Its intercepts are </a:t>
                </a:r>
                <a:r>
                  <a:rPr lang="en-IN" sz="2400">
                    <a:solidFill>
                      <a:srgbClr val="111827"/>
                    </a:solidFill>
                    <a:latin typeface="Cambria Math" panose="02040503050406030204" pitchFamily="18" charset="0"/>
                  </a:rPr>
                  <a:t>$a=\frac{p}{l}$</a:t>
                </a:r>
                <a:r>
                  <a:rPr sz="2400" b="0">
                    <a:solidFill>
                      <a:srgbClr val="111827"/>
                    </a:solidFill>
                    <a:latin typeface="Arial"/>
                  </a:rPr>
                  <a:t>, </a:t>
                </a:r>
                <a:r>
                  <a:rPr lang="en-IN" sz="2400">
                    <a:solidFill>
                      <a:srgbClr val="111827"/>
                    </a:solidFill>
                    <a:latin typeface="Cambria Math" panose="02040503050406030204" pitchFamily="18" charset="0"/>
                  </a:rPr>
                  <a:t>$b=\frac{p}{m}$</a:t>
                </a:r>
                <a:r>
                  <a:rPr sz="2400" b="0">
                    <a:solidFill>
                      <a:srgbClr val="111827"/>
                    </a:solidFill>
                    <a:latin typeface="Arial"/>
                  </a:rPr>
                  <a:t>, </a:t>
                </a:r>
                <a:r>
                  <a:rPr lang="en-IN" sz="2400">
                    <a:solidFill>
                      <a:srgbClr val="111827"/>
                    </a:solidFill>
                    <a:latin typeface="Cambria Math" panose="02040503050406030204" pitchFamily="18" charset="0"/>
                  </a:rPr>
                  <a:t>$c=\frac{p}{n}$</a:t>
                </a:r>
                <a:r>
                  <a:rPr sz="2400" b="0">
                    <a:solidFill>
                      <a:srgbClr val="111827"/>
                    </a:solidFill>
                    <a:latin typeface="Arial"/>
                  </a:rPr>
                  <a:t>, hence the intersection point of the three parallel planes is </a:t>
                </a:r>
                <a:r>
                  <a:rPr lang="en-IN" sz="2400">
                    <a:solidFill>
                      <a:srgbClr val="111827"/>
                    </a:solidFill>
                    <a:latin typeface="Cambria Math" panose="02040503050406030204" pitchFamily="18" charset="0"/>
                  </a:rPr>
                  <a:t>$(x,y,z)=\left(\frac pl,\frac pm,\frac pn\right)$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$l=\frac{p}{x}$</a:t>
                </a:r>
                <a:r>
                  <a:rPr sz="2400" b="0">
                    <a:solidFill>
                      <a:srgbClr val="111827"/>
                    </a:solidFill>
                    <a:latin typeface="Arial"/>
                  </a:rPr>
                  <a:t>, </a:t>
                </a:r>
                <a:r>
                  <a:rPr lang="en-IN" sz="2400">
                    <a:solidFill>
                      <a:srgbClr val="111827"/>
                    </a:solidFill>
                    <a:latin typeface="Cambria Math" panose="02040503050406030204" pitchFamily="18" charset="0"/>
                  </a:rPr>
                  <a:t>$m=\frac{p}{y}$</a:t>
                </a:r>
                <a:r>
                  <a:rPr sz="2400" b="0">
                    <a:solidFill>
                      <a:srgbClr val="111827"/>
                    </a:solidFill>
                    <a:latin typeface="Arial"/>
                  </a:rPr>
                  <a:t>, </a:t>
                </a:r>
                <a:r>
                  <a:rPr lang="en-IN" sz="2400">
                    <a:solidFill>
                      <a:srgbClr val="111827"/>
                    </a:solidFill>
                    <a:latin typeface="Cambria Math" panose="02040503050406030204" pitchFamily="18" charset="0"/>
                  </a:rPr>
                  <a:t>$n=\frac{p}{z}$</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a:t>
                </a:r>
                <a14:m>
                  <m:oMath xmlns:m="http://schemas.openxmlformats.org/officeDocument/2006/math">
                    <m:sSup>
                      <m:e>
                        <m:r>
                          <a:rPr lang="en-IN" sz="2400" i="1">
                            <a:solidFill>
                              <a:srgbClr val="111827"/>
                            </a:solidFill>
                            <a:latin typeface="Cambria Math" panose="02040503050406030204" pitchFamily="18" charset="0"/>
                          </a:rPr>
                          <m:t>𝑙</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by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the same locus.</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a:t>
                </a:r>
                <a:r>
                  <a:rPr lang="en-IN" sz="2400">
                    <a:solidFill>
                      <a:srgbClr val="111827"/>
                    </a:solidFill>
                    <a:latin typeface="Cambria Math" panose="02040503050406030204" pitchFamily="18" charset="0"/>
                  </a:rPr>
                  <a:t>$l^2+m^2+n^2=1$</a:t>
                </a:r>
                <a:r>
                  <a:rPr sz="2400" b="0">
                    <a:solidFill>
                      <a:srgbClr val="111827"/>
                    </a:solidFill>
                    <a:latin typeface="Arial"/>
                  </a:rPr>
                  <a:t>: </a:t>
                </a:r>
                <a:r>
                  <a:rPr lang="en-IN" sz="2400">
                    <a:solidFill>
                      <a:srgbClr val="111827"/>
                    </a:solidFill>
                    <a:latin typeface="Cambria Math" panose="02040503050406030204" pitchFamily="18" charset="0"/>
                  </a:rPr>
                  <a:t>$\frac{p^2}{x^2}+\frac{p^2}{y^2}+\frac{p^2}{z^2}=1$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Dividing by </a:t>
                </a:r>
                <a:r>
                  <a:rPr lang="en-IN" sz="2400">
                    <a:solidFill>
                      <a:srgbClr val="111827"/>
                    </a:solidFill>
                    <a:latin typeface="Cambria Math" panose="02040503050406030204" pitchFamily="18" charset="0"/>
                  </a:rPr>
                  <a:t>$p^2$</a:t>
                </a:r>
                <a:r>
                  <a:rPr sz="2400" b="0">
                    <a:solidFill>
                      <a:srgbClr val="111827"/>
                    </a:solidFill>
                    <a:latin typeface="Arial"/>
                  </a:rPr>
                  <a:t>: </a:t>
                </a:r>
                <a:r>
                  <a:rPr lang="en-IN" sz="2400">
                    <a:solidFill>
                      <a:srgbClr val="111827"/>
                    </a:solidFill>
                    <a:latin typeface="Cambria Math" panose="02040503050406030204" pitchFamily="18" charset="0"/>
                  </a:rPr>
                  <a:t>$\frac{1}{x^2}+\frac{1}{y^2}+\frac{1}{z^2}=\frac{1}{p^2}$</a:t>
                </a:r>
                <a:r>
                  <a:rPr sz="2400" b="0">
                    <a:solidFill>
                      <a:srgbClr val="111827"/>
                    </a:solidFill>
                    <a:latin typeface="Arial"/>
                  </a:rPr>
                  <a:t>, the same locus.</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sSup>
                          <m:e>
                            <m:r>
                              <a:rPr lang="en-IN" sz="2800" i="1">
                                <a:solidFill>
                                  <a:srgbClr val="15803D"/>
                                </a:solidFill>
                                <a:latin typeface="Cambria Math" panose="02040503050406030204" pitchFamily="18" charset="0"/>
                              </a:rPr>
                              <m:t>𝑥</m:t>
                            </m:r>
                          </m:e>
                          <m:sup>
                            <m:r>
                              <a:rPr lang="en-IN" sz="2800" i="1">
                                <a:solidFill>
                                  <a:srgbClr val="15803D"/>
                                </a:solidFill>
                                <a:latin typeface="Cambria Math" panose="02040503050406030204" pitchFamily="18" charset="0"/>
                              </a:rPr>
                              <m:t>2</m:t>
                            </m:r>
                          </m:sup>
                        </m:sSup>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sSup>
                          <m:e>
                            <m:r>
                              <a:rPr lang="en-IN" sz="2800" i="1">
                                <a:solidFill>
                                  <a:srgbClr val="15803D"/>
                                </a:solidFill>
                                <a:latin typeface="Cambria Math" panose="02040503050406030204" pitchFamily="18" charset="0"/>
                              </a:rPr>
                              <m:t>𝑦</m:t>
                            </m:r>
                          </m:e>
                          <m:sup>
                            <m:r>
                              <a:rPr lang="en-IN" sz="2800" i="1">
                                <a:solidFill>
                                  <a:srgbClr val="15803D"/>
                                </a:solidFill>
                                <a:latin typeface="Cambria Math" panose="02040503050406030204" pitchFamily="18" charset="0"/>
                              </a:rPr>
                              <m:t>2</m:t>
                            </m:r>
                          </m:sup>
                        </m:sSup>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sSup>
                          <m:e>
                            <m:r>
                              <a:rPr lang="en-IN" sz="2800" i="1">
                                <a:solidFill>
                                  <a:srgbClr val="15803D"/>
                                </a:solidFill>
                                <a:latin typeface="Cambria Math" panose="02040503050406030204" pitchFamily="18" charset="0"/>
                              </a:rPr>
                              <m:t>𝑧</m:t>
                            </m:r>
                          </m:e>
                          <m:sup>
                            <m:r>
                              <a:rPr lang="en-IN" sz="2800" i="1">
                                <a:solidFill>
                                  <a:srgbClr val="15803D"/>
                                </a:solidFill>
                                <a:latin typeface="Cambria Math" panose="02040503050406030204" pitchFamily="18" charset="0"/>
                              </a:rPr>
                              <m:t>2</m:t>
                            </m:r>
                          </m:sup>
                        </m:sSup>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sSup>
                          <m:e>
                            <m:r>
                              <a:rPr lang="en-IN" sz="2800" i="1">
                                <a:solidFill>
                                  <a:srgbClr val="15803D"/>
                                </a:solidFill>
                                <a:latin typeface="Cambria Math" panose="02040503050406030204" pitchFamily="18" charset="0"/>
                              </a:rPr>
                              <m:t>𝑝</m:t>
                            </m:r>
                          </m:e>
                          <m:sup>
                            <m:r>
                              <a:rPr lang="en-IN" sz="2800" i="1">
                                <a:solidFill>
                                  <a:srgbClr val="15803D"/>
                                </a:solidFill>
                                <a:latin typeface="Cambria Math" panose="02040503050406030204" pitchFamily="18" charset="0"/>
                              </a:rPr>
                              <m:t>2</m:t>
                            </m:r>
                          </m:sup>
                        </m:sSup>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$\frac{1}{x^2}+\frac{1}{y^2}+\frac{1}{z^2}=\frac{1}{p^2}$</a:t>
                </a:r>
                <a:endParaRPr sz="2800">
                  <a:solidFill>
                    <a:srgbClr val="15803D"/>
                  </a:solidFill>
                </a:endParaRPr>
              </a:p>
            </p:txBody>
          </p:sp>
        </mc:Fallback>
      </mc:AlternateContent>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plane with intercepts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is at distance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from the origin where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conversely, the reciprocal squares of the intercepts add to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made from the intercepts is the vertex of the box opposite to the origin; any condition on the intercepts becomes the locus of this point by renaming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instead the plane passes through a fixed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γ</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same renaming gives the locus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𝑥</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𝑦</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γ</m:t>
                        </m:r>
                      </m:num>
                      <m:den>
                        <m:r>
                          <a:rPr lang="en-IN" sz="2400" i="1">
                            <a:solidFill>
                              <a:srgbClr val="111827"/>
                            </a:solidFill>
                            <a:latin typeface="Cambria Math" panose="02040503050406030204" pitchFamily="18" charset="0"/>
                          </a:rPr>
                          <m:t>𝑧</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plane with intercepts </a:t>
                </a:r>
                <a:r>
                  <a:rPr lang="en-IN" sz="2400">
                    <a:solidFill>
                      <a:srgbClr val="111827"/>
                    </a:solidFill>
                    <a:latin typeface="Cambria Math" panose="02040503050406030204" pitchFamily="18" charset="0"/>
                  </a:rPr>
                  <a:t>$a,b,c$</a:t>
                </a:r>
                <a:r>
                  <a:rPr sz="2400" b="0">
                    <a:solidFill>
                      <a:srgbClr val="111827"/>
                    </a:solidFill>
                    <a:latin typeface="Arial"/>
                  </a:rPr>
                  <a:t> is at distance </a:t>
                </a:r>
                <a:r>
                  <a:rPr lang="en-IN" sz="2400">
                    <a:solidFill>
                      <a:srgbClr val="111827"/>
                    </a:solidFill>
                    <a:latin typeface="Cambria Math" panose="02040503050406030204" pitchFamily="18" charset="0"/>
                  </a:rPr>
                  <a:t>$d$</a:t>
                </a:r>
                <a:r>
                  <a:rPr sz="2400" b="0">
                    <a:solidFill>
                      <a:srgbClr val="111827"/>
                    </a:solidFill>
                    <a:latin typeface="Arial"/>
                  </a:rPr>
                  <a:t> from the origin where </a:t>
                </a:r>
                <a:r>
                  <a:rPr lang="en-IN" sz="2400">
                    <a:solidFill>
                      <a:srgbClr val="111827"/>
                    </a:solidFill>
                    <a:latin typeface="Cambria Math" panose="02040503050406030204" pitchFamily="18" charset="0"/>
                  </a:rPr>
                  <a:t>$\frac{1}{d^2}=\frac{1}{a^2}+\frac{1}{b^2}+\frac{1}{c^2}$</a:t>
                </a:r>
                <a:r>
                  <a:rPr sz="2400" b="0">
                    <a:solidFill>
                      <a:srgbClr val="111827"/>
                    </a:solidFill>
                    <a:latin typeface="Arial"/>
                  </a:rPr>
                  <a:t>; conversely, the reciprocal squares of the intercepts add to </a:t>
                </a:r>
                <a:r>
                  <a:rPr lang="en-IN" sz="2400">
                    <a:solidFill>
                      <a:srgbClr val="111827"/>
                    </a:solidFill>
                    <a:latin typeface="Cambria Math" panose="02040503050406030204" pitchFamily="18" charset="0"/>
                  </a:rPr>
                  <a:t>$\frac1{d^2}$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point </a:t>
                </a:r>
                <a:r>
                  <a:rPr lang="en-IN" sz="2400">
                    <a:solidFill>
                      <a:srgbClr val="111827"/>
                    </a:solidFill>
                    <a:latin typeface="Cambria Math" panose="02040503050406030204" pitchFamily="18" charset="0"/>
                  </a:rPr>
                  <a:t>$(a,b,c)$</a:t>
                </a:r>
                <a:r>
                  <a:rPr sz="2400" b="0">
                    <a:solidFill>
                      <a:srgbClr val="111827"/>
                    </a:solidFill>
                    <a:latin typeface="Arial"/>
                  </a:rPr>
                  <a:t> made from the intercepts is the vertex of the box opposite to the origin; any condition on the intercepts becomes the locus of this point by renaming </a:t>
                </a:r>
                <a:r>
                  <a:rPr lang="en-IN" sz="2400">
                    <a:solidFill>
                      <a:srgbClr val="111827"/>
                    </a:solidFill>
                    <a:latin typeface="Cambria Math" panose="02040503050406030204" pitchFamily="18" charset="0"/>
                  </a:rPr>
                  <a:t>$a,b,c$</a:t>
                </a:r>
                <a:r>
                  <a:rPr sz="2400" b="0">
                    <a:solidFill>
                      <a:srgbClr val="111827"/>
                    </a:solidFill>
                    <a:latin typeface="Arial"/>
                  </a:rPr>
                  <a:t> as </a:t>
                </a:r>
                <a:r>
                  <a:rPr lang="en-IN" sz="2400">
                    <a:solidFill>
                      <a:srgbClr val="111827"/>
                    </a:solidFill>
                    <a:latin typeface="Cambria Math" panose="02040503050406030204" pitchFamily="18" charset="0"/>
                  </a:rPr>
                  <a:t>$x,y,z$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instead the plane passes through a fixed point </a:t>
                </a:r>
                <a:r>
                  <a:rPr lang="en-IN" sz="2400">
                    <a:solidFill>
                      <a:srgbClr val="111827"/>
                    </a:solidFill>
                    <a:latin typeface="Cambria Math" panose="02040503050406030204" pitchFamily="18" charset="0"/>
                  </a:rPr>
                  <a:t>$(\alpha,\beta,\gamma)$</a:t>
                </a:r>
                <a:r>
                  <a:rPr sz="2400" b="0">
                    <a:solidFill>
                      <a:srgbClr val="111827"/>
                    </a:solidFill>
                    <a:latin typeface="Arial"/>
                  </a:rPr>
                  <a:t>, then </a:t>
                </a:r>
                <a:r>
                  <a:rPr lang="en-IN" sz="2400">
                    <a:solidFill>
                      <a:srgbClr val="111827"/>
                    </a:solidFill>
                    <a:latin typeface="Cambria Math" panose="02040503050406030204" pitchFamily="18" charset="0"/>
                  </a:rPr>
                  <a:t>$\frac{\alpha}{a}+\frac{\beta}{b}+\frac{\gamma}{c}=1$</a:t>
                </a:r>
                <a:r>
                  <a:rPr sz="2400" b="0">
                    <a:solidFill>
                      <a:srgbClr val="111827"/>
                    </a:solidFill>
                    <a:latin typeface="Arial"/>
                  </a:rPr>
                  <a:t> and the same renaming gives the locus </a:t>
                </a:r>
                <a:r>
                  <a:rPr lang="en-IN" sz="2400">
                    <a:solidFill>
                      <a:srgbClr val="111827"/>
                    </a:solidFill>
                    <a:latin typeface="Cambria Math" panose="02040503050406030204" pitchFamily="18" charset="0"/>
                  </a:rPr>
                  <a:t>$\frac{\alpha}{x}+\frac{\beta}{y}+\frac{\gamma}{z}=1$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m:rPr>
                        <m:sty m:val="p"/>
                      </m:rPr>
                      <a:rPr lang="en-IN" sz="2400">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be the equation of a plane and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be the point with position vector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is a line which passes through the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direction ratios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If the distance of the point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from the line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measured parallel to the plane </a:t>
                </a:r>
                <a14:m>
                  <m:oMath xmlns:m="http://schemas.openxmlformats.org/officeDocument/2006/math">
                    <m:r>
                      <m:rPr>
                        <m:sty m:val="p"/>
                      </m:rPr>
                      <a:rPr lang="en-IN" sz="2400">
                        <a:solidFill>
                          <a:srgbClr val="111827"/>
                        </a:solidFill>
                        <a:latin typeface="Cambria Math" panose="02040503050406030204" pitchFamily="18" charset="0"/>
                      </a:rPr>
                      <m:t>Π</m:t>
                    </m:r>
                  </m:oMath>
                </a14:m>
                <a:r>
                  <a:rPr sz="2400" b="0">
                    <a:solidFill>
                      <a:srgbClr val="111827"/>
                    </a:solidFill>
                    <a:latin typeface="Arial"/>
                  </a:rPr>
                  <a:t> is </a:t>
                </a:r>
                <a14:m>
                  <m:oMath xmlns:m="http://schemas.openxmlformats.org/officeDocument/2006/math">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the distance of the point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from the plane </a:t>
                </a:r>
                <a14:m>
                  <m:oMath xmlns:m="http://schemas.openxmlformats.org/officeDocument/2006/math">
                    <m:r>
                      <m:rPr>
                        <m:sty m:val="p"/>
                      </m:rPr>
                      <a:rPr lang="en-IN" sz="2400">
                        <a:solidFill>
                          <a:srgbClr val="111827"/>
                        </a:solidFill>
                        <a:latin typeface="Cambria Math" panose="02040503050406030204" pitchFamily="18" charset="0"/>
                      </a:rPr>
                      <m:t>Π</m:t>
                    </m:r>
                  </m:oMath>
                </a14:m>
                <a:r>
                  <a:rPr sz="2400" b="0">
                    <a:solidFill>
                      <a:srgbClr val="111827"/>
                    </a:solidFill>
                    <a:latin typeface="Arial"/>
                  </a:rPr>
                  <a:t> measured parallel to the line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is </a:t>
                </a:r>
                <a14:m>
                  <m:oMath xmlns:m="http://schemas.openxmlformats.org/officeDocument/2006/math">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then find the value of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sSubSup>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e>
                    </m:rad>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$\Pi: x+y-z-4=0$</a:t>
                </a:r>
                <a:r>
                  <a:rPr sz="2400" b="0">
                    <a:solidFill>
                      <a:srgbClr val="111827"/>
                    </a:solidFill>
                    <a:latin typeface="Arial"/>
                  </a:rPr>
                  <a:t> be the equation of a plane and </a:t>
                </a:r>
                <a:r>
                  <a:rPr lang="en-IN" sz="2400">
                    <a:solidFill>
                      <a:srgbClr val="111827"/>
                    </a:solidFill>
                    <a:latin typeface="Cambria Math" panose="02040503050406030204" pitchFamily="18" charset="0"/>
                  </a:rPr>
                  <a:t>$A$</a:t>
                </a:r>
                <a:r>
                  <a:rPr sz="2400" b="0">
                    <a:solidFill>
                      <a:srgbClr val="111827"/>
                    </a:solidFill>
                    <a:latin typeface="Arial"/>
                  </a:rPr>
                  <a:t> be the point with position vector </a:t>
                </a:r>
                <a:r>
                  <a:rPr lang="en-IN" sz="2400">
                    <a:solidFill>
                      <a:srgbClr val="111827"/>
                    </a:solidFill>
                    <a:latin typeface="Cambria Math" panose="02040503050406030204" pitchFamily="18" charset="0"/>
                  </a:rPr>
                  <a:t>$\hat{i}+2\hat{j}-3\hat{k}$</a:t>
                </a:r>
                <a:r>
                  <a:rPr sz="2400" b="0">
                    <a:solidFill>
                      <a:srgbClr val="111827"/>
                    </a:solidFill>
                    <a:latin typeface="Arial"/>
                  </a:rPr>
                  <a:t>. </a:t>
                </a:r>
                <a:r>
                  <a:rPr lang="en-IN" sz="2400">
                    <a:solidFill>
                      <a:srgbClr val="111827"/>
                    </a:solidFill>
                    <a:latin typeface="Cambria Math" panose="02040503050406030204" pitchFamily="18" charset="0"/>
                  </a:rPr>
                  <a:t>$L$</a:t>
                </a:r>
                <a:r>
                  <a:rPr sz="2400" b="0">
                    <a:solidFill>
                      <a:srgbClr val="111827"/>
                    </a:solidFill>
                    <a:latin typeface="Arial"/>
                  </a:rPr>
                  <a:t> is a line which passes through the point </a:t>
                </a:r>
                <a:r>
                  <a:rPr lang="en-IN" sz="2400">
                    <a:solidFill>
                      <a:srgbClr val="111827"/>
                    </a:solidFill>
                    <a:latin typeface="Cambria Math" panose="02040503050406030204" pitchFamily="18" charset="0"/>
                  </a:rPr>
                  <a:t>$(1,2,3)$</a:t>
                </a:r>
                <a:r>
                  <a:rPr sz="2400" b="0">
                    <a:solidFill>
                      <a:srgbClr val="111827"/>
                    </a:solidFill>
                    <a:latin typeface="Arial"/>
                  </a:rPr>
                  <a:t> with direction ratios </a:t>
                </a:r>
                <a:r>
                  <a:rPr lang="en-IN" sz="2400">
                    <a:solidFill>
                      <a:srgbClr val="111827"/>
                    </a:solidFill>
                    <a:latin typeface="Cambria Math" panose="02040503050406030204" pitchFamily="18" charset="0"/>
                  </a:rPr>
                  <a:t>$3,-1$</a:t>
                </a:r>
                <a:r>
                  <a:rPr sz="2400" b="0">
                    <a:solidFill>
                      <a:srgbClr val="111827"/>
                    </a:solidFill>
                    <a:latin typeface="Arial"/>
                  </a:rPr>
                  <a:t> and </a:t>
                </a:r>
                <a:r>
                  <a:rPr lang="en-IN" sz="2400">
                    <a:solidFill>
                      <a:srgbClr val="111827"/>
                    </a:solidFill>
                    <a:latin typeface="Cambria Math" panose="02040503050406030204" pitchFamily="18" charset="0"/>
                  </a:rPr>
                  <a:t>$4$</a:t>
                </a:r>
                <a:r>
                  <a:rPr sz="2400" b="0">
                    <a:solidFill>
                      <a:srgbClr val="111827"/>
                    </a:solidFill>
                    <a:latin typeface="Arial"/>
                  </a:rPr>
                  <a:t>. If the distance of the point </a:t>
                </a:r>
                <a:r>
                  <a:rPr lang="en-IN" sz="2400">
                    <a:solidFill>
                      <a:srgbClr val="111827"/>
                    </a:solidFill>
                    <a:latin typeface="Cambria Math" panose="02040503050406030204" pitchFamily="18" charset="0"/>
                  </a:rPr>
                  <a:t>$A$</a:t>
                </a:r>
                <a:r>
                  <a:rPr sz="2400" b="0">
                    <a:solidFill>
                      <a:srgbClr val="111827"/>
                    </a:solidFill>
                    <a:latin typeface="Arial"/>
                  </a:rPr>
                  <a:t> from the line </a:t>
                </a:r>
                <a:r>
                  <a:rPr lang="en-IN" sz="2400">
                    <a:solidFill>
                      <a:srgbClr val="111827"/>
                    </a:solidFill>
                    <a:latin typeface="Cambria Math" panose="02040503050406030204" pitchFamily="18" charset="0"/>
                  </a:rPr>
                  <a:t>$L$</a:t>
                </a:r>
                <a:r>
                  <a:rPr sz="2400" b="0">
                    <a:solidFill>
                      <a:srgbClr val="111827"/>
                    </a:solidFill>
                    <a:latin typeface="Arial"/>
                  </a:rPr>
                  <a:t> measured parallel to the plane </a:t>
                </a:r>
                <a:r>
                  <a:rPr lang="en-IN" sz="2400">
                    <a:solidFill>
                      <a:srgbClr val="111827"/>
                    </a:solidFill>
                    <a:latin typeface="Cambria Math" panose="02040503050406030204" pitchFamily="18" charset="0"/>
                  </a:rPr>
                  <a:t>$\Pi$</a:t>
                </a:r>
                <a:r>
                  <a:rPr sz="2400" b="0">
                    <a:solidFill>
                      <a:srgbClr val="111827"/>
                    </a:solidFill>
                    <a:latin typeface="Arial"/>
                  </a:rPr>
                  <a:t> is </a:t>
                </a:r>
                <a:r>
                  <a:rPr lang="en-IN" sz="2400">
                    <a:solidFill>
                      <a:srgbClr val="111827"/>
                    </a:solidFill>
                    <a:latin typeface="Cambria Math" panose="02040503050406030204" pitchFamily="18" charset="0"/>
                  </a:rPr>
                  <a:t>$d_1$</a:t>
                </a:r>
                <a:r>
                  <a:rPr sz="2400" b="0">
                    <a:solidFill>
                      <a:srgbClr val="111827"/>
                    </a:solidFill>
                    <a:latin typeface="Arial"/>
                  </a:rPr>
                  <a:t> and the distance of the point </a:t>
                </a:r>
                <a:r>
                  <a:rPr lang="en-IN" sz="2400">
                    <a:solidFill>
                      <a:srgbClr val="111827"/>
                    </a:solidFill>
                    <a:latin typeface="Cambria Math" panose="02040503050406030204" pitchFamily="18" charset="0"/>
                  </a:rPr>
                  <a:t>$A$</a:t>
                </a:r>
                <a:r>
                  <a:rPr sz="2400" b="0">
                    <a:solidFill>
                      <a:srgbClr val="111827"/>
                    </a:solidFill>
                    <a:latin typeface="Arial"/>
                  </a:rPr>
                  <a:t> from the plane </a:t>
                </a:r>
                <a:r>
                  <a:rPr lang="en-IN" sz="2400">
                    <a:solidFill>
                      <a:srgbClr val="111827"/>
                    </a:solidFill>
                    <a:latin typeface="Cambria Math" panose="02040503050406030204" pitchFamily="18" charset="0"/>
                  </a:rPr>
                  <a:t>$\Pi$</a:t>
                </a:r>
                <a:r>
                  <a:rPr sz="2400" b="0">
                    <a:solidFill>
                      <a:srgbClr val="111827"/>
                    </a:solidFill>
                    <a:latin typeface="Arial"/>
                  </a:rPr>
                  <a:t> measured parallel to the line </a:t>
                </a:r>
                <a:r>
                  <a:rPr lang="en-IN" sz="2400">
                    <a:solidFill>
                      <a:srgbClr val="111827"/>
                    </a:solidFill>
                    <a:latin typeface="Cambria Math" panose="02040503050406030204" pitchFamily="18" charset="0"/>
                  </a:rPr>
                  <a:t>$L$</a:t>
                </a:r>
                <a:r>
                  <a:rPr sz="2400" b="0">
                    <a:solidFill>
                      <a:srgbClr val="111827"/>
                    </a:solidFill>
                    <a:latin typeface="Arial"/>
                  </a:rPr>
                  <a:t> is </a:t>
                </a:r>
                <a:r>
                  <a:rPr lang="en-IN" sz="2400">
                    <a:solidFill>
                      <a:srgbClr val="111827"/>
                    </a:solidFill>
                    <a:latin typeface="Cambria Math" panose="02040503050406030204" pitchFamily="18" charset="0"/>
                  </a:rPr>
                  <a:t>$d_2$</a:t>
                </a:r>
                <a:r>
                  <a:rPr sz="2400" b="0">
                    <a:solidFill>
                      <a:srgbClr val="111827"/>
                    </a:solidFill>
                    <a:latin typeface="Arial"/>
                  </a:rPr>
                  <a:t>, then find the value of </a:t>
                </a:r>
                <a:r>
                  <a:rPr lang="en-IN" sz="2400">
                    <a:solidFill>
                      <a:srgbClr val="111827"/>
                    </a:solidFill>
                    <a:latin typeface="Cambria Math" panose="02040503050406030204" pitchFamily="18" charset="0"/>
                  </a:rPr>
                  <a:t>$\sqrt{d_1^2-d_2^2}$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Line and plane in 3D: intersection and distance measured along a direction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Measured parallel to the plane means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𝑛</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for </a:t>
                </a:r>
                <a14:m>
                  <m:oMath xmlns:m="http://schemas.openxmlformats.org/officeDocument/2006/math">
                    <m:r>
                      <a:rPr lang="en-IN" sz="2400" i="1">
                        <a:solidFill>
                          <a:srgbClr val="78350F"/>
                        </a:solidFill>
                        <a:latin typeface="Cambria Math" panose="02040503050406030204" pitchFamily="18" charset="0"/>
                      </a:rPr>
                      <m:t>𝐵</m:t>
                    </m:r>
                  </m:oMath>
                </a14:m>
                <a:r>
                  <a:rPr sz="2400" b="0">
                    <a:solidFill>
                      <a:srgbClr val="78350F"/>
                    </a:solidFill>
                    <a:latin typeface="Arial"/>
                  </a:rPr>
                  <a:t> on </a:t>
                </a:r>
                <a14:m>
                  <m:oMath xmlns:m="http://schemas.openxmlformats.org/officeDocument/2006/math">
                    <m:r>
                      <a:rPr lang="en-IN" sz="2400" i="1">
                        <a:solidFill>
                          <a:srgbClr val="78350F"/>
                        </a:solidFill>
                        <a:latin typeface="Cambria Math" panose="02040503050406030204" pitchFamily="18" charset="0"/>
                      </a:rPr>
                      <m:t>𝐿</m:t>
                    </m:r>
                  </m:oMath>
                </a14:m>
                <a:r>
                  <a:rPr sz="2400" b="0">
                    <a:solidFill>
                      <a:srgbClr val="78350F"/>
                    </a:solidFill>
                    <a:latin typeface="Arial"/>
                  </a:rPr>
                  <a:t>; measured parallel to the line means moving from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along </a:t>
                </a:r>
                <a14:m>
                  <m:oMath xmlns:m="http://schemas.openxmlformats.org/officeDocument/2006/math">
                    <m:r>
                      <a:rPr lang="en-IN" sz="2400" i="1">
                        <a:solidFill>
                          <a:srgbClr val="78350F"/>
                        </a:solidFill>
                        <a:latin typeface="Cambria Math" panose="02040503050406030204" pitchFamily="18" charset="0"/>
                      </a:rPr>
                      <m:t>𝐿</m:t>
                    </m:r>
                  </m:oMath>
                </a14:m>
                <a:r>
                  <a:rPr sz="2400" b="0">
                    <a:solidFill>
                      <a:srgbClr val="78350F"/>
                    </a:solidFill>
                    <a:latin typeface="Arial"/>
                  </a:rPr>
                  <a:t>'s direction until the plane is hit.</a:t>
                </a:r>
                <a:endParaRPr sz="2400">
                  <a:solidFill>
                    <a:srgbClr val="78350F"/>
                  </a:solidFill>
                </a:endParaRPr>
              </a:p>
            </p:txBody>
          </p:sp>
        </mc:Choice>
        <mc:Fallback>
          <p:sp>
            <p:nvSpPr>
              <p:cNvPr id="5" name="Rounded Rectangle 4"/>
              <p:cNvSpPr/>
              <p:nvPr/>
            </p:nvSpPr>
            <p:spPr>
              <a:xfrm>
                <a:off x="731520" y="365760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Measured parallel to the plane means </a:t>
                </a:r>
                <a:r>
                  <a:rPr lang="en-IN" sz="2400">
                    <a:solidFill>
                      <a:srgbClr val="78350F"/>
                    </a:solidFill>
                    <a:latin typeface="Cambria Math" panose="02040503050406030204" pitchFamily="18" charset="0"/>
                  </a:rPr>
                  <a:t>$\vec{AB}\cdot\vec{n}=0$</a:t>
                </a:r>
                <a:r>
                  <a:rPr sz="2400" b="0">
                    <a:solidFill>
                      <a:srgbClr val="78350F"/>
                    </a:solidFill>
                    <a:latin typeface="Arial"/>
                  </a:rPr>
                  <a:t> for </a:t>
                </a:r>
                <a:r>
                  <a:rPr lang="en-IN" sz="2400">
                    <a:solidFill>
                      <a:srgbClr val="78350F"/>
                    </a:solidFill>
                    <a:latin typeface="Cambria Math" panose="02040503050406030204" pitchFamily="18" charset="0"/>
                  </a:rPr>
                  <a:t>$B$</a:t>
                </a:r>
                <a:r>
                  <a:rPr sz="2400" b="0">
                    <a:solidFill>
                      <a:srgbClr val="78350F"/>
                    </a:solidFill>
                    <a:latin typeface="Arial"/>
                  </a:rPr>
                  <a:t> on </a:t>
                </a:r>
                <a:r>
                  <a:rPr lang="en-IN" sz="2400">
                    <a:solidFill>
                      <a:srgbClr val="78350F"/>
                    </a:solidFill>
                    <a:latin typeface="Cambria Math" panose="02040503050406030204" pitchFamily="18" charset="0"/>
                  </a:rPr>
                  <a:t>$L$</a:t>
                </a:r>
                <a:r>
                  <a:rPr sz="2400" b="0">
                    <a:solidFill>
                      <a:srgbClr val="78350F"/>
                    </a:solidFill>
                    <a:latin typeface="Arial"/>
                  </a:rPr>
                  <a:t>; measured parallel to the line means moving from </a:t>
                </a:r>
                <a:r>
                  <a:rPr lang="en-IN" sz="2400">
                    <a:solidFill>
                      <a:srgbClr val="78350F"/>
                    </a:solidFill>
                    <a:latin typeface="Cambria Math" panose="02040503050406030204" pitchFamily="18" charset="0"/>
                  </a:rPr>
                  <a:t>$A$</a:t>
                </a:r>
                <a:r>
                  <a:rPr sz="2400" b="0">
                    <a:solidFill>
                      <a:srgbClr val="78350F"/>
                    </a:solidFill>
                    <a:latin typeface="Arial"/>
                  </a:rPr>
                  <a:t> along </a:t>
                </a:r>
                <a:r>
                  <a:rPr lang="en-IN" sz="2400">
                    <a:solidFill>
                      <a:srgbClr val="78350F"/>
                    </a:solidFill>
                    <a:latin typeface="Cambria Math" panose="02040503050406030204" pitchFamily="18" charset="0"/>
                  </a:rPr>
                  <a:t>$L$</a:t>
                </a:r>
                <a:r>
                  <a:rPr sz="2400" b="0">
                    <a:solidFill>
                      <a:srgbClr val="78350F"/>
                    </a:solidFill>
                    <a:latin typeface="Arial"/>
                  </a:rPr>
                  <a:t>'s direction until the plane is hit.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276088"/>
                <a:ext cx="10725912" cy="13990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normal of the plane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and at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the value of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276088"/>
                <a:ext cx="10725912" cy="13990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$L:\frac{x-1}{3}=\frac{y-2}{-1}=\frac{z-3}{4}=r$</a:t>
                </a:r>
                <a:r>
                  <a:rPr sz="2400" b="0">
                    <a:solidFill>
                      <a:srgbClr val="111827"/>
                    </a:solidFill>
                    <a:latin typeface="Arial"/>
                  </a:rPr>
                  <a:t>, </a:t>
                </a:r>
                <a:r>
                  <a:rPr lang="en-IN" sz="2400">
                    <a:solidFill>
                      <a:srgbClr val="111827"/>
                    </a:solidFill>
                    <a:latin typeface="Cambria Math" panose="02040503050406030204" pitchFamily="18" charset="0"/>
                  </a:rPr>
                  <a:t>$A=(1,2,-3)$</a:t>
                </a:r>
                <a:r>
                  <a:rPr sz="2400" b="0">
                    <a:solidFill>
                      <a:srgbClr val="111827"/>
                    </a:solidFill>
                    <a:latin typeface="Arial"/>
                  </a:rPr>
                  <a:t>; the normal of the plane is </a:t>
                </a:r>
                <a:r>
                  <a:rPr lang="en-IN" sz="2400">
                    <a:solidFill>
                      <a:srgbClr val="111827"/>
                    </a:solidFill>
                    <a:latin typeface="Cambria Math" panose="02040503050406030204" pitchFamily="18" charset="0"/>
                  </a:rPr>
                  <a:t>$\vec n=\hat{i}+\hat{j}-\hat{k}$</a:t>
                </a:r>
                <a:r>
                  <a:rPr sz="2400" b="0">
                    <a:solidFill>
                      <a:srgbClr val="111827"/>
                    </a:solidFill>
                    <a:latin typeface="Arial"/>
                  </a:rPr>
                  <a:t>, and at </a:t>
                </a:r>
                <a:r>
                  <a:rPr lang="en-IN" sz="2400">
                    <a:solidFill>
                      <a:srgbClr val="111827"/>
                    </a:solidFill>
                    <a:latin typeface="Cambria Math" panose="02040503050406030204" pitchFamily="18" charset="0"/>
                  </a:rPr>
                  <a:t>$A$</a:t>
                </a:r>
                <a:r>
                  <a:rPr sz="2400" b="0">
                    <a:solidFill>
                      <a:srgbClr val="111827"/>
                    </a:solidFill>
                    <a:latin typeface="Arial"/>
                  </a:rPr>
                  <a:t> the value of </a:t>
                </a:r>
                <a:r>
                  <a:rPr lang="en-IN" sz="2400">
                    <a:solidFill>
                      <a:srgbClr val="111827"/>
                    </a:solidFill>
                    <a:latin typeface="Cambria Math" panose="02040503050406030204" pitchFamily="18" charset="0"/>
                  </a:rPr>
                  <a:t>$x+y-z$</a:t>
                </a:r>
                <a:r>
                  <a:rPr sz="2400" b="0">
                    <a:solidFill>
                      <a:srgbClr val="111827"/>
                    </a:solidFill>
                    <a:latin typeface="Arial"/>
                  </a:rPr>
                  <a:t> is </a:t>
                </a:r>
                <a:r>
                  <a:rPr lang="en-IN" sz="2400">
                    <a:solidFill>
                      <a:srgbClr val="111827"/>
                    </a:solidFill>
                    <a:latin typeface="Cambria Math" panose="02040503050406030204" pitchFamily="18" charset="0"/>
                  </a:rPr>
                  <a:t>$6\neq4$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Any point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oMath>
                </a14:m>
                <a:r>
                  <a:rPr sz="2400" b="0">
                    <a:solidFill>
                      <a:srgbClr val="111827"/>
                    </a:solidFill>
                    <a:latin typeface="Arial"/>
                  </a:rPr>
                  <a:t> is parallel to the plane,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81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126</m:t>
                        </m:r>
                      </m:e>
                    </m:rad>
                  </m:oMath>
                </a14:m>
                <a:r>
                  <a:rPr sz="2400" b="0">
                    <a:solidFill>
                      <a:srgbClr val="111827"/>
                    </a:solidFill>
                    <a:latin typeface="Arial"/>
                  </a:rPr>
                  <a:t>, so </a:t>
                </a:r>
                <a14:m>
                  <m:oMath xmlns:m="http://schemas.openxmlformats.org/officeDocument/2006/math">
                    <m:sSubSup>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the line through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direction ratios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must satisfy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Any point </a:t>
                </a:r>
                <a:r>
                  <a:rPr lang="en-IN" sz="2400">
                    <a:solidFill>
                      <a:srgbClr val="111827"/>
                    </a:solidFill>
                    <a:latin typeface="Cambria Math" panose="02040503050406030204" pitchFamily="18" charset="0"/>
                  </a:rPr>
                  <a:t>$B$</a:t>
                </a:r>
                <a:r>
                  <a:rPr sz="2400" b="0">
                    <a:solidFill>
                      <a:srgbClr val="111827"/>
                    </a:solidFill>
                    <a:latin typeface="Arial"/>
                  </a:rPr>
                  <a:t> on </a:t>
                </a:r>
                <a:r>
                  <a:rPr lang="en-IN" sz="2400">
                    <a:solidFill>
                      <a:srgbClr val="111827"/>
                    </a:solidFill>
                    <a:latin typeface="Cambria Math" panose="02040503050406030204" pitchFamily="18" charset="0"/>
                  </a:rPr>
                  <a:t>$L$</a:t>
                </a:r>
                <a:r>
                  <a:rPr sz="2400" b="0">
                    <a:solidFill>
                      <a:srgbClr val="111827"/>
                    </a:solidFill>
                    <a:latin typeface="Arial"/>
                  </a:rPr>
                  <a:t> is </a:t>
                </a:r>
                <a:r>
                  <a:rPr lang="en-IN" sz="2400">
                    <a:solidFill>
                      <a:srgbClr val="111827"/>
                    </a:solidFill>
                    <a:latin typeface="Cambria Math" panose="02040503050406030204" pitchFamily="18" charset="0"/>
                  </a:rPr>
                  <a:t>$(3r+1,\,2-r,\,4r+3)$</a:t>
                </a:r>
                <a:r>
                  <a:rPr sz="2400" b="0">
                    <a:solidFill>
                      <a:srgbClr val="111827"/>
                    </a:solidFill>
                    <a:latin typeface="Arial"/>
                  </a:rPr>
                  <a:t>, so </a:t>
                </a:r>
                <a:r>
                  <a:rPr lang="en-IN" sz="2400">
                    <a:solidFill>
                      <a:srgbClr val="111827"/>
                    </a:solidFill>
                    <a:latin typeface="Cambria Math" panose="02040503050406030204" pitchFamily="18" charset="0"/>
                  </a:rPr>
                  <a:t>$\vec{AB}=3r\hat{i}-r\hat{j}+(4r+6)\hat{k}$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$\vec{AB}$</a:t>
                </a:r>
                <a:r>
                  <a:rPr sz="2400" b="0">
                    <a:solidFill>
                      <a:srgbClr val="111827"/>
                    </a:solidFill>
                    <a:latin typeface="Arial"/>
                  </a:rPr>
                  <a:t> is parallel to the plane, so </a:t>
                </a:r>
                <a:r>
                  <a:rPr lang="en-IN" sz="2400">
                    <a:solidFill>
                      <a:srgbClr val="111827"/>
                    </a:solidFill>
                    <a:latin typeface="Cambria Math" panose="02040503050406030204" pitchFamily="18" charset="0"/>
                  </a:rPr>
                  <a:t>$\vec{AB}\cdot\vec n=0$</a:t>
                </a:r>
                <a:r>
                  <a:rPr sz="2400" b="0">
                    <a:solidFill>
                      <a:srgbClr val="111827"/>
                    </a:solidFill>
                    <a:latin typeface="Arial"/>
                  </a:rPr>
                  <a:t>: </a:t>
                </a:r>
                <a:r>
                  <a:rPr lang="en-IN" sz="2400">
                    <a:solidFill>
                      <a:srgbClr val="111827"/>
                    </a:solidFill>
                    <a:latin typeface="Cambria Math" panose="02040503050406030204" pitchFamily="18" charset="0"/>
                  </a:rPr>
                  <a:t>$3r-r-4r-6=0$</a:t>
                </a:r>
                <a:r>
                  <a:rPr sz="2400" b="0">
                    <a:solidFill>
                      <a:srgbClr val="111827"/>
                    </a:solidFill>
                    <a:latin typeface="Arial"/>
                  </a:rPr>
                  <a:t>, i.e. </a:t>
                </a:r>
                <a:r>
                  <a:rPr lang="en-IN" sz="2400">
                    <a:solidFill>
                      <a:srgbClr val="111827"/>
                    </a:solidFill>
                    <a:latin typeface="Cambria Math" panose="02040503050406030204" pitchFamily="18" charset="0"/>
                  </a:rPr>
                  <a:t>$2r=-6$</a:t>
                </a:r>
                <a:r>
                  <a:rPr sz="2400" b="0">
                    <a:solidFill>
                      <a:srgbClr val="111827"/>
                    </a:solidFill>
                    <a:latin typeface="Arial"/>
                  </a:rPr>
                  <a:t> and </a:t>
                </a:r>
                <a:r>
                  <a:rPr lang="en-IN" sz="2400">
                    <a:solidFill>
                      <a:srgbClr val="111827"/>
                    </a:solidFill>
                    <a:latin typeface="Cambria Math" panose="02040503050406030204" pitchFamily="18" charset="0"/>
                  </a:rPr>
                  <a:t>$r=-3$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$B=(-8,5,-9)$</a:t>
                </a:r>
                <a:r>
                  <a:rPr sz="2400" b="0">
                    <a:solidFill>
                      <a:srgbClr val="111827"/>
                    </a:solidFill>
                    <a:latin typeface="Arial"/>
                  </a:rPr>
                  <a:t> and </a:t>
                </a:r>
                <a:r>
                  <a:rPr lang="en-IN" sz="2400">
                    <a:solidFill>
                      <a:srgbClr val="111827"/>
                    </a:solidFill>
                    <a:latin typeface="Cambria Math" panose="02040503050406030204" pitchFamily="18" charset="0"/>
                  </a:rPr>
                  <a:t>$\vec{AB}=(-9,3,-6)$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$AB=\sqrt{81+9+36}=\sqrt{126}$</a:t>
                </a:r>
                <a:r>
                  <a:rPr sz="2400" b="0">
                    <a:solidFill>
                      <a:srgbClr val="111827"/>
                    </a:solidFill>
                    <a:latin typeface="Arial"/>
                  </a:rPr>
                  <a:t>, so </a:t>
                </a:r>
                <a:r>
                  <a:rPr lang="en-IN" sz="2400">
                    <a:solidFill>
                      <a:srgbClr val="111827"/>
                    </a:solidFill>
                    <a:latin typeface="Cambria Math" panose="02040503050406030204" pitchFamily="18" charset="0"/>
                  </a:rPr>
                  <a:t>$d_1^2=126$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$d_2$</a:t>
                </a:r>
                <a:r>
                  <a:rPr sz="2400" b="0">
                    <a:solidFill>
                      <a:srgbClr val="111827"/>
                    </a:solidFill>
                    <a:latin typeface="Arial"/>
                  </a:rPr>
                  <a:t>: the line through </a:t>
                </a:r>
                <a:r>
                  <a:rPr lang="en-IN" sz="2400">
                    <a:solidFill>
                      <a:srgbClr val="111827"/>
                    </a:solidFill>
                    <a:latin typeface="Cambria Math" panose="02040503050406030204" pitchFamily="18" charset="0"/>
                  </a:rPr>
                  <a:t>$A(1,2,-3)$</a:t>
                </a:r>
                <a:r>
                  <a:rPr sz="2400" b="0">
                    <a:solidFill>
                      <a:srgbClr val="111827"/>
                    </a:solidFill>
                    <a:latin typeface="Arial"/>
                  </a:rPr>
                  <a:t> with direction ratios </a:t>
                </a:r>
                <a:r>
                  <a:rPr lang="en-IN" sz="2400">
                    <a:solidFill>
                      <a:srgbClr val="111827"/>
                    </a:solidFill>
                    <a:latin typeface="Cambria Math" panose="02040503050406030204" pitchFamily="18" charset="0"/>
                  </a:rPr>
                  <a:t>$3,-1,4$</a:t>
                </a:r>
                <a:r>
                  <a:rPr sz="2400" b="0">
                    <a:solidFill>
                      <a:srgbClr val="111827"/>
                    </a:solidFill>
                    <a:latin typeface="Arial"/>
                  </a:rPr>
                  <a:t> is </a:t>
                </a:r>
                <a:r>
                  <a:rPr lang="en-IN" sz="2400">
                    <a:solidFill>
                      <a:srgbClr val="111827"/>
                    </a:solidFill>
                    <a:latin typeface="Cambria Math" panose="02040503050406030204" pitchFamily="18" charset="0"/>
                  </a:rPr>
                  <a:t>$\frac{x-1}{3}=\frac{y-2}{-1}=\frac{z+3}{4}=\lambda$</a:t>
                </a:r>
                <a:r>
                  <a:rPr sz="2400" b="0">
                    <a:solidFill>
                      <a:srgbClr val="111827"/>
                    </a:solidFill>
                    <a:latin typeface="Arial"/>
                  </a:rPr>
                  <a:t>, i.e. </a:t>
                </a:r>
                <a:r>
                  <a:rPr lang="en-IN" sz="2400">
                    <a:solidFill>
                      <a:srgbClr val="111827"/>
                    </a:solidFill>
                    <a:latin typeface="Cambria Math" panose="02040503050406030204" pitchFamily="18" charset="0"/>
                  </a:rPr>
                  <a:t>$(3\lambda+1,\,2-\lambda,\,4\lambda-3)$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must satisfy </a:t>
                </a:r>
                <a:r>
                  <a:rPr lang="en-IN" sz="2400">
                    <a:solidFill>
                      <a:srgbClr val="111827"/>
                    </a:solidFill>
                    <a:latin typeface="Cambria Math" panose="02040503050406030204" pitchFamily="18" charset="0"/>
                  </a:rPr>
                  <a:t>$x+y-z=4$</a:t>
                </a:r>
                <a:r>
                  <a:rPr sz="2400" b="0">
                    <a:solidFill>
                      <a:srgbClr val="111827"/>
                    </a:solidFill>
                    <a:latin typeface="Arial"/>
                  </a:rPr>
                  <a:t>: </a:t>
                </a:r>
                <a:r>
                  <a:rPr lang="en-IN" sz="2400">
                    <a:solidFill>
                      <a:srgbClr val="111827"/>
                    </a:solidFill>
                    <a:latin typeface="Cambria Math" panose="02040503050406030204" pitchFamily="18" charset="0"/>
                  </a:rPr>
                  <a:t>$3\lambda+1+2-\lambda-4\lambda+3=4$</a:t>
                </a:r>
                <a:r>
                  <a:rPr sz="2400" b="0">
                    <a:solidFill>
                      <a:srgbClr val="111827"/>
                    </a:solidFill>
                    <a:latin typeface="Arial"/>
                  </a:rPr>
                  <a:t>, so </a:t>
                </a:r>
                <a:r>
                  <a:rPr lang="en-IN" sz="2400">
                    <a:solidFill>
                      <a:srgbClr val="111827"/>
                    </a:solidFill>
                    <a:latin typeface="Cambria Math" panose="02040503050406030204" pitchFamily="18" charset="0"/>
                  </a:rPr>
                  <a:t>$-2\lambda+6=4$</a:t>
                </a:r>
                <a:r>
                  <a:rPr sz="2400" b="0">
                    <a:solidFill>
                      <a:srgbClr val="111827"/>
                    </a:solidFill>
                    <a:latin typeface="Arial"/>
                  </a:rPr>
                  <a:t> and </a:t>
                </a:r>
                <a:r>
                  <a:rPr lang="en-IN" sz="2400">
                    <a:solidFill>
                      <a:srgbClr val="111827"/>
                    </a:solidFill>
                    <a:latin typeface="Cambria Math" panose="02040503050406030204" pitchFamily="18" charset="0"/>
                  </a:rPr>
                  <a:t>$\lambda=1$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point on the plane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its distance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26</m:t>
                        </m:r>
                      </m:e>
                    </m:rad>
                  </m:oMath>
                </a14:m>
                <a:r>
                  <a:rPr sz="2400" b="0">
                    <a:solidFill>
                      <a:srgbClr val="111827"/>
                    </a:solidFill>
                    <a:latin typeface="Arial"/>
                  </a:rPr>
                  <a:t>, so </a:t>
                </a:r>
                <a14:m>
                  <m:oMath xmlns:m="http://schemas.openxmlformats.org/officeDocument/2006/math">
                    <m:sSubSup>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sSubSup>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100</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point on the plane is </a:t>
                </a:r>
                <a:r>
                  <a:rPr lang="en-IN" sz="2400">
                    <a:solidFill>
                      <a:srgbClr val="111827"/>
                    </a:solidFill>
                    <a:latin typeface="Cambria Math" panose="02040503050406030204" pitchFamily="18" charset="0"/>
                  </a:rPr>
                  <a:t>$(4,1,1)$</a:t>
                </a:r>
                <a:r>
                  <a:rPr sz="2400" b="0">
                    <a:solidFill>
                      <a:srgbClr val="111827"/>
                    </a:solidFill>
                    <a:latin typeface="Arial"/>
                  </a:rPr>
                  <a:t>, and its distance from </a:t>
                </a:r>
                <a:r>
                  <a:rPr lang="en-IN" sz="2400">
                    <a:solidFill>
                      <a:srgbClr val="111827"/>
                    </a:solidFill>
                    <a:latin typeface="Cambria Math" panose="02040503050406030204" pitchFamily="18" charset="0"/>
                  </a:rPr>
                  <a:t>$A$</a:t>
                </a:r>
                <a:r>
                  <a:rPr sz="2400" b="0">
                    <a:solidFill>
                      <a:srgbClr val="111827"/>
                    </a:solidFill>
                    <a:latin typeface="Arial"/>
                  </a:rPr>
                  <a:t> is </a:t>
                </a:r>
                <a:r>
                  <a:rPr lang="en-IN" sz="2400">
                    <a:solidFill>
                      <a:srgbClr val="111827"/>
                    </a:solidFill>
                    <a:latin typeface="Cambria Math" panose="02040503050406030204" pitchFamily="18" charset="0"/>
                  </a:rPr>
                  <a:t>$\sqrt{9+1+16}=\sqrt{26}$</a:t>
                </a:r>
                <a:r>
                  <a:rPr sz="2400" b="0">
                    <a:solidFill>
                      <a:srgbClr val="111827"/>
                    </a:solidFill>
                    <a:latin typeface="Arial"/>
                  </a:rPr>
                  <a:t>, so </a:t>
                </a:r>
                <a:r>
                  <a:rPr lang="en-IN" sz="2400">
                    <a:solidFill>
                      <a:srgbClr val="111827"/>
                    </a:solidFill>
                    <a:latin typeface="Cambria Math" panose="02040503050406030204" pitchFamily="18" charset="0"/>
                  </a:rPr>
                  <a:t>$d_2^2=26$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$\sqrt{d_1^2-d_2^2}=\sqrt{126-26}=\sqrt{100}=10$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10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$10$</a:t>
                </a:r>
                <a:endParaRPr sz="2800">
                  <a:solidFill>
                    <a:srgbClr val="15803D"/>
                  </a:solidFill>
                </a:endParaRPr>
              </a:p>
            </p:txBody>
          </p:sp>
        </mc:Fallback>
      </mc:AlternateContent>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from the plane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measured along a direction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e>
                        </m:d>
                        <m:r>
                          <a:rPr lang="en-IN" sz="2400" i="1">
                            <a:solidFill>
                              <a:srgbClr val="111827"/>
                            </a:solidFill>
                            <a:latin typeface="Cambria Math" panose="02040503050406030204" pitchFamily="18" charset="0"/>
                          </a:rPr>
                          <m:t> </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e>
                        </m:d>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e>
                        </m:d>
                      </m:den>
                    </m:f>
                  </m:oMath>
                </a14:m>
                <a:r>
                  <a:rPr sz="2400" b="0">
                    <a:solidFill>
                      <a:srgbClr val="111827"/>
                    </a:solidFill>
                    <a:latin typeface="Arial"/>
                  </a:rPr>
                  <a:t> (equal to the perpendicular distance divided by </a:t>
                </a:r>
                <a14:m>
                  <m:oMath xmlns:m="http://schemas.openxmlformats.org/officeDocument/2006/math">
                    <m:r>
                      <m:rPr>
                        <m:sty m:val="p"/>
                      </m:rPr>
                      <a:rPr lang="en-IN" sz="2400">
                        <a:solidFill>
                          <a:srgbClr val="111827"/>
                        </a:solidFill>
                        <a:latin typeface="Cambria Math" panose="02040503050406030204" pitchFamily="18" charset="0"/>
                      </a:rPr>
                      <m:t>cos</m:t>
                    </m:r>
                  </m:oMath>
                </a14:m>
                <a:r>
                  <a:rPr sz="2400" b="0">
                    <a:solidFill>
                      <a:srgbClr val="111827"/>
                    </a:solidFill>
                    <a:latin typeface="Arial"/>
                  </a:rPr>
                  <a:t> of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26</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26</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move from a point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to a line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parallel to a plane, impose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on the general point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this is valid whenever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is not parallel to the plane.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measured distances are always at least the corresponding shortest (perpendicular) distances, with equality only when the direction coincides with the perpendicular.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r>
                  <a:rPr lang="en-IN" sz="2400">
                    <a:solidFill>
                      <a:srgbClr val="111827"/>
                    </a:solidFill>
                    <a:latin typeface="Cambria Math" panose="02040503050406030204" pitchFamily="18" charset="0"/>
                  </a:rPr>
                  <a:t>$P$</a:t>
                </a:r>
                <a:r>
                  <a:rPr sz="2400" b="0">
                    <a:solidFill>
                      <a:srgbClr val="111827"/>
                    </a:solidFill>
                    <a:latin typeface="Arial"/>
                  </a:rPr>
                  <a:t> from the plane </a:t>
                </a:r>
                <a:r>
                  <a:rPr lang="en-IN" sz="2400">
                    <a:solidFill>
                      <a:srgbClr val="111827"/>
                    </a:solidFill>
                    <a:latin typeface="Cambria Math" panose="02040503050406030204" pitchFamily="18" charset="0"/>
                  </a:rPr>
                  <a:t>$\vec n\cdot\vec r=k$</a:t>
                </a:r>
                <a:r>
                  <a:rPr sz="2400" b="0">
                    <a:solidFill>
                      <a:srgbClr val="111827"/>
                    </a:solidFill>
                    <a:latin typeface="Arial"/>
                  </a:rPr>
                  <a:t> measured along a direction </a:t>
                </a:r>
                <a:r>
                  <a:rPr lang="en-IN" sz="2400">
                    <a:solidFill>
                      <a:srgbClr val="111827"/>
                    </a:solidFill>
                    <a:latin typeface="Cambria Math" panose="02040503050406030204" pitchFamily="18" charset="0"/>
                  </a:rPr>
                  <a:t>$\vec v$</a:t>
                </a:r>
                <a:r>
                  <a:rPr sz="2400" b="0">
                    <a:solidFill>
                      <a:srgbClr val="111827"/>
                    </a:solidFill>
                    <a:latin typeface="Arial"/>
                  </a:rPr>
                  <a:t> is </a:t>
                </a:r>
                <a:r>
                  <a:rPr lang="en-IN" sz="2400">
                    <a:solidFill>
                      <a:srgbClr val="111827"/>
                    </a:solidFill>
                    <a:latin typeface="Cambria Math" panose="02040503050406030204" pitchFamily="18" charset="0"/>
                  </a:rPr>
                  <a:t>$\frac{\left|\vec n\cdot\vec P-k\right|\,\left|\vec v\right|}{\left|\vec n\cdot\vec v\right|}$</a:t>
                </a:r>
                <a:r>
                  <a:rPr sz="2400" b="0">
                    <a:solidFill>
                      <a:srgbClr val="111827"/>
                    </a:solidFill>
                    <a:latin typeface="Arial"/>
                  </a:rPr>
                  <a:t> (equal to the perpendicular distance divided by </a:t>
                </a:r>
                <a:r>
                  <a:rPr lang="en-IN" sz="2400">
                    <a:solidFill>
                      <a:srgbClr val="111827"/>
                    </a:solidFill>
                    <a:latin typeface="Cambria Math" panose="02040503050406030204" pitchFamily="18" charset="0"/>
                  </a:rPr>
                  <a:t>$\cos$</a:t>
                </a:r>
                <a:r>
                  <a:rPr sz="2400" b="0">
                    <a:solidFill>
                      <a:srgbClr val="111827"/>
                    </a:solidFill>
                    <a:latin typeface="Arial"/>
                  </a:rPr>
                  <a:t> of the angle between </a:t>
                </a:r>
                <a:r>
                  <a:rPr lang="en-IN" sz="2400">
                    <a:solidFill>
                      <a:srgbClr val="111827"/>
                    </a:solidFill>
                    <a:latin typeface="Cambria Math" panose="02040503050406030204" pitchFamily="18" charset="0"/>
                  </a:rPr>
                  <a:t>$\vec v$</a:t>
                </a:r>
                <a:r>
                  <a:rPr sz="2400" b="0">
                    <a:solidFill>
                      <a:srgbClr val="111827"/>
                    </a:solidFill>
                    <a:latin typeface="Arial"/>
                  </a:rPr>
                  <a:t> and </a:t>
                </a:r>
                <a:r>
                  <a:rPr lang="en-IN" sz="2400">
                    <a:solidFill>
                      <a:srgbClr val="111827"/>
                    </a:solidFill>
                    <a:latin typeface="Cambria Math" panose="02040503050406030204" pitchFamily="18" charset="0"/>
                  </a:rPr>
                  <a:t>$\vec n$</a:t>
                </a:r>
                <a:r>
                  <a:rPr sz="2400" b="0">
                    <a:solidFill>
                      <a:srgbClr val="111827"/>
                    </a:solidFill>
                    <a:latin typeface="Arial"/>
                  </a:rPr>
                  <a:t>). Here </a:t>
                </a:r>
                <a:r>
                  <a:rPr lang="en-IN" sz="2400">
                    <a:solidFill>
                      <a:srgbClr val="111827"/>
                    </a:solidFill>
                    <a:latin typeface="Cambria Math" panose="02040503050406030204" pitchFamily="18" charset="0"/>
                  </a:rPr>
                  <a:t>$\frac{2\sqrt{26}}{2}=\sqrt{26}$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move from a point </a:t>
                </a:r>
                <a:r>
                  <a:rPr lang="en-IN" sz="2400">
                    <a:solidFill>
                      <a:srgbClr val="111827"/>
                    </a:solidFill>
                    <a:latin typeface="Cambria Math" panose="02040503050406030204" pitchFamily="18" charset="0"/>
                  </a:rPr>
                  <a:t>$A$</a:t>
                </a:r>
                <a:r>
                  <a:rPr sz="2400" b="0">
                    <a:solidFill>
                      <a:srgbClr val="111827"/>
                    </a:solidFill>
                    <a:latin typeface="Arial"/>
                  </a:rPr>
                  <a:t> to a line </a:t>
                </a:r>
                <a:r>
                  <a:rPr lang="en-IN" sz="2400">
                    <a:solidFill>
                      <a:srgbClr val="111827"/>
                    </a:solidFill>
                    <a:latin typeface="Cambria Math" panose="02040503050406030204" pitchFamily="18" charset="0"/>
                  </a:rPr>
                  <a:t>$L$</a:t>
                </a:r>
                <a:r>
                  <a:rPr sz="2400" b="0">
                    <a:solidFill>
                      <a:srgbClr val="111827"/>
                    </a:solidFill>
                    <a:latin typeface="Arial"/>
                  </a:rPr>
                  <a:t> parallel to a plane, impose </a:t>
                </a:r>
                <a:r>
                  <a:rPr lang="en-IN" sz="2400">
                    <a:solidFill>
                      <a:srgbClr val="111827"/>
                    </a:solidFill>
                    <a:latin typeface="Cambria Math" panose="02040503050406030204" pitchFamily="18" charset="0"/>
                  </a:rPr>
                  <a:t>$\vec{AB}\cdot\vec n=0$</a:t>
                </a:r>
                <a:r>
                  <a:rPr sz="2400" b="0">
                    <a:solidFill>
                      <a:srgbClr val="111827"/>
                    </a:solidFill>
                    <a:latin typeface="Arial"/>
                  </a:rPr>
                  <a:t> on the general point </a:t>
                </a:r>
                <a:r>
                  <a:rPr lang="en-IN" sz="2400">
                    <a:solidFill>
                      <a:srgbClr val="111827"/>
                    </a:solidFill>
                    <a:latin typeface="Cambria Math" panose="02040503050406030204" pitchFamily="18" charset="0"/>
                  </a:rPr>
                  <a:t>$B$</a:t>
                </a:r>
                <a:r>
                  <a:rPr sz="2400" b="0">
                    <a:solidFill>
                      <a:srgbClr val="111827"/>
                    </a:solidFill>
                    <a:latin typeface="Arial"/>
                  </a:rPr>
                  <a:t> of </a:t>
                </a:r>
                <a:r>
                  <a:rPr lang="en-IN" sz="2400">
                    <a:solidFill>
                      <a:srgbClr val="111827"/>
                    </a:solidFill>
                    <a:latin typeface="Cambria Math" panose="02040503050406030204" pitchFamily="18" charset="0"/>
                  </a:rPr>
                  <a:t>$L$</a:t>
                </a:r>
                <a:r>
                  <a:rPr sz="2400" b="0">
                    <a:solidFill>
                      <a:srgbClr val="111827"/>
                    </a:solidFill>
                    <a:latin typeface="Arial"/>
                  </a:rPr>
                  <a:t>; this is valid whenever </a:t>
                </a:r>
                <a:r>
                  <a:rPr lang="en-IN" sz="2400">
                    <a:solidFill>
                      <a:srgbClr val="111827"/>
                    </a:solidFill>
                    <a:latin typeface="Cambria Math" panose="02040503050406030204" pitchFamily="18" charset="0"/>
                  </a:rPr>
                  <a:t>$L$</a:t>
                </a:r>
                <a:r>
                  <a:rPr sz="2400" b="0">
                    <a:solidFill>
                      <a:srgbClr val="111827"/>
                    </a:solidFill>
                    <a:latin typeface="Arial"/>
                  </a:rPr>
                  <a:t> is not parallel to the plane.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measured distances are always at least the corresponding shortest (perpendicular) distances, with equality only when the direction coincides with the perpendicular.</a:t>
                </a:r>
                <a:endParaRPr sz="2400">
                  <a:solidFill>
                    <a:srgbClr val="111827"/>
                  </a:solidFill>
                </a:endParaRPr>
              </a:p>
            </p:txBody>
          </p:sp>
        </mc:Fallback>
      </mc:AlternateContent>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position vectors of the four angular points of a tetrahedron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respectively. A point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inside the tetrahedron is at the same distance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from the four plane faces of the tetrahedron. Find the value of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position vectors of the four angular points of a tetrahedron </a:t>
                </a:r>
                <a:r>
                  <a:rPr lang="en-IN" sz="2400">
                    <a:solidFill>
                      <a:srgbClr val="111827"/>
                    </a:solidFill>
                    <a:latin typeface="Cambria Math" panose="02040503050406030204" pitchFamily="18" charset="0"/>
                  </a:rPr>
                  <a:t>$OABC$</a:t>
                </a:r>
                <a:r>
                  <a:rPr sz="2400" b="0">
                    <a:solidFill>
                      <a:srgbClr val="111827"/>
                    </a:solidFill>
                    <a:latin typeface="Arial"/>
                  </a:rPr>
                  <a:t> are </a:t>
                </a:r>
                <a:r>
                  <a:rPr lang="en-IN" sz="2400">
                    <a:solidFill>
                      <a:srgbClr val="111827"/>
                    </a:solidFill>
                    <a:latin typeface="Cambria Math" panose="02040503050406030204" pitchFamily="18" charset="0"/>
                  </a:rPr>
                  <a:t>$(0,0,0)$</a:t>
                </a:r>
                <a:r>
                  <a:rPr sz="2400" b="0">
                    <a:solidFill>
                      <a:srgbClr val="111827"/>
                    </a:solidFill>
                    <a:latin typeface="Arial"/>
                  </a:rPr>
                  <a:t>; </a:t>
                </a:r>
                <a:r>
                  <a:rPr lang="en-IN" sz="2400">
                    <a:solidFill>
                      <a:srgbClr val="111827"/>
                    </a:solidFill>
                    <a:latin typeface="Cambria Math" panose="02040503050406030204" pitchFamily="18" charset="0"/>
                  </a:rPr>
                  <a:t>$(0,0,2)$</a:t>
                </a:r>
                <a:r>
                  <a:rPr sz="2400" b="0">
                    <a:solidFill>
                      <a:srgbClr val="111827"/>
                    </a:solidFill>
                    <a:latin typeface="Arial"/>
                  </a:rPr>
                  <a:t>; </a:t>
                </a:r>
                <a:r>
                  <a:rPr lang="en-IN" sz="2400">
                    <a:solidFill>
                      <a:srgbClr val="111827"/>
                    </a:solidFill>
                    <a:latin typeface="Cambria Math" panose="02040503050406030204" pitchFamily="18" charset="0"/>
                  </a:rPr>
                  <a:t>$(0,4,0)$</a:t>
                </a:r>
                <a:r>
                  <a:rPr sz="2400" b="0">
                    <a:solidFill>
                      <a:srgbClr val="111827"/>
                    </a:solidFill>
                    <a:latin typeface="Arial"/>
                  </a:rPr>
                  <a:t> and </a:t>
                </a:r>
                <a:r>
                  <a:rPr lang="en-IN" sz="2400">
                    <a:solidFill>
                      <a:srgbClr val="111827"/>
                    </a:solidFill>
                    <a:latin typeface="Cambria Math" panose="02040503050406030204" pitchFamily="18" charset="0"/>
                  </a:rPr>
                  <a:t>$(6,0,0)$</a:t>
                </a:r>
                <a:r>
                  <a:rPr sz="2400" b="0">
                    <a:solidFill>
                      <a:srgbClr val="111827"/>
                    </a:solidFill>
                    <a:latin typeface="Arial"/>
                  </a:rPr>
                  <a:t> respectively. A point </a:t>
                </a:r>
                <a:r>
                  <a:rPr lang="en-IN" sz="2400">
                    <a:solidFill>
                      <a:srgbClr val="111827"/>
                    </a:solidFill>
                    <a:latin typeface="Cambria Math" panose="02040503050406030204" pitchFamily="18" charset="0"/>
                  </a:rPr>
                  <a:t>$P$</a:t>
                </a:r>
                <a:r>
                  <a:rPr sz="2400" b="0">
                    <a:solidFill>
                      <a:srgbClr val="111827"/>
                    </a:solidFill>
                    <a:latin typeface="Arial"/>
                  </a:rPr>
                  <a:t> inside the tetrahedron is at the same distance </a:t>
                </a:r>
                <a:r>
                  <a:rPr lang="en-IN" sz="2400">
                    <a:solidFill>
                      <a:srgbClr val="111827"/>
                    </a:solidFill>
                    <a:latin typeface="Cambria Math" panose="02040503050406030204" pitchFamily="18" charset="0"/>
                  </a:rPr>
                  <a:t>$r$</a:t>
                </a:r>
                <a:r>
                  <a:rPr sz="2400" b="0">
                    <a:solidFill>
                      <a:srgbClr val="111827"/>
                    </a:solidFill>
                    <a:latin typeface="Arial"/>
                  </a:rPr>
                  <a:t> from the four plane faces of the tetrahedron. Find the value of </a:t>
                </a:r>
                <a:r>
                  <a:rPr lang="en-IN" sz="2400">
                    <a:solidFill>
                      <a:srgbClr val="111827"/>
                    </a:solidFill>
                    <a:latin typeface="Cambria Math" panose="02040503050406030204" pitchFamily="18" charset="0"/>
                  </a:rPr>
                  <a:t>$r$</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8887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Plane in intercept form and distance from a plane (point equidistant from faces of a tetrahedron)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Three faces lie on the coordinate planes, so the equidistant point is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its distance from face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oMath>
                </a14:m>
                <a:r>
                  <a:rPr sz="2400" b="0">
                    <a:solidFill>
                      <a:srgbClr val="78350F"/>
                    </a:solidFill>
                    <a:latin typeface="Arial"/>
                  </a:rPr>
                  <a:t> then gives an equation in </a:t>
                </a:r>
                <a14:m>
                  <m:oMath xmlns:m="http://schemas.openxmlformats.org/officeDocument/2006/math">
                    <m:r>
                      <a:rPr lang="en-IN" sz="2400" i="1">
                        <a:solidFill>
                          <a:srgbClr val="78350F"/>
                        </a:solidFill>
                        <a:latin typeface="Cambria Math" panose="02040503050406030204" pitchFamily="18" charset="0"/>
                      </a:rPr>
                      <m:t>𝑟</m:t>
                    </m:r>
                  </m:oMath>
                </a14:m>
                <a:r>
                  <a:rPr sz="2400" b="0">
                    <a:solidFill>
                      <a:srgbClr val="78350F"/>
                    </a:solidFill>
                    <a:latin typeface="Arial"/>
                  </a:rPr>
                  <a:t> (reject the root that puts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outside).</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Three faces lie on the coordinate planes, so the equidistant point is </a:t>
                </a:r>
                <a:r>
                  <a:rPr lang="en-IN" sz="2400">
                    <a:solidFill>
                      <a:srgbClr val="78350F"/>
                    </a:solidFill>
                    <a:latin typeface="Cambria Math" panose="02040503050406030204" pitchFamily="18" charset="0"/>
                  </a:rPr>
                  <a:t>$(r,r,r)$</a:t>
                </a:r>
                <a:r>
                  <a:rPr sz="2400" b="0">
                    <a:solidFill>
                      <a:srgbClr val="78350F"/>
                    </a:solidFill>
                    <a:latin typeface="Arial"/>
                  </a:rPr>
                  <a:t>; its distance from face </a:t>
                </a:r>
                <a:r>
                  <a:rPr lang="en-IN" sz="2400">
                    <a:solidFill>
                      <a:srgbClr val="78350F"/>
                    </a:solidFill>
                    <a:latin typeface="Cambria Math" panose="02040503050406030204" pitchFamily="18" charset="0"/>
                  </a:rPr>
                  <a:t>$ABC$</a:t>
                </a:r>
                <a:r>
                  <a:rPr sz="2400" b="0">
                    <a:solidFill>
                      <a:srgbClr val="78350F"/>
                    </a:solidFill>
                    <a:latin typeface="Arial"/>
                  </a:rPr>
                  <a:t> then gives an equation in </a:t>
                </a:r>
                <a:r>
                  <a:rPr lang="en-IN" sz="2400">
                    <a:solidFill>
                      <a:srgbClr val="78350F"/>
                    </a:solidFill>
                    <a:latin typeface="Cambria Math" panose="02040503050406030204" pitchFamily="18" charset="0"/>
                  </a:rPr>
                  <a:t>$r$</a:t>
                </a:r>
                <a:r>
                  <a:rPr sz="2400" b="0">
                    <a:solidFill>
                      <a:srgbClr val="78350F"/>
                    </a:solidFill>
                    <a:latin typeface="Arial"/>
                  </a:rPr>
                  <a:t> (reject the root that puts </a:t>
                </a:r>
                <a:r>
                  <a:rPr lang="en-IN" sz="2400">
                    <a:solidFill>
                      <a:srgbClr val="78350F"/>
                    </a:solidFill>
                    <a:latin typeface="Cambria Math" panose="02040503050406030204" pitchFamily="18" charset="0"/>
                  </a:rPr>
                  <a:t>$P$</a:t>
                </a:r>
                <a:r>
                  <a:rPr sz="2400" b="0">
                    <a:solidFill>
                      <a:srgbClr val="78350F"/>
                    </a:solidFill>
                    <a:latin typeface="Arial"/>
                  </a:rPr>
                  <a:t> outside).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faces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lie in the coordinate planes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 point inside at distance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from all three has coordinates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face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has intercepts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its plane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from it: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num>
                      <m:den>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6</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4</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2</m:t>
                                    </m:r>
                                  </m:e>
                                  <m:sup>
                                    <m:r>
                                      <a:rPr lang="en-IN" sz="2400" i="1">
                                        <a:solidFill>
                                          <a:srgbClr val="111827"/>
                                        </a:solidFill>
                                        <a:latin typeface="Cambria Math" panose="02040503050406030204" pitchFamily="18" charset="0"/>
                                      </a:rPr>
                                      <m:t>2</m:t>
                                    </m:r>
                                  </m:sup>
                                </m:sSup>
                              </m:den>
                            </m:f>
                          </m:e>
                        </m:rad>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faces </a:t>
                </a:r>
                <a:r>
                  <a:rPr lang="en-IN" sz="2400">
                    <a:solidFill>
                      <a:srgbClr val="111827"/>
                    </a:solidFill>
                    <a:latin typeface="Cambria Math" panose="02040503050406030204" pitchFamily="18" charset="0"/>
                  </a:rPr>
                  <a:t>$OAB$</a:t>
                </a:r>
                <a:r>
                  <a:rPr sz="2400" b="0">
                    <a:solidFill>
                      <a:srgbClr val="111827"/>
                    </a:solidFill>
                    <a:latin typeface="Arial"/>
                  </a:rPr>
                  <a:t>, </a:t>
                </a:r>
                <a:r>
                  <a:rPr lang="en-IN" sz="2400">
                    <a:solidFill>
                      <a:srgbClr val="111827"/>
                    </a:solidFill>
                    <a:latin typeface="Cambria Math" panose="02040503050406030204" pitchFamily="18" charset="0"/>
                  </a:rPr>
                  <a:t>$OAC$</a:t>
                </a:r>
                <a:r>
                  <a:rPr sz="2400" b="0">
                    <a:solidFill>
                      <a:srgbClr val="111827"/>
                    </a:solidFill>
                    <a:latin typeface="Arial"/>
                  </a:rPr>
                  <a:t>, </a:t>
                </a:r>
                <a:r>
                  <a:rPr lang="en-IN" sz="2400">
                    <a:solidFill>
                      <a:srgbClr val="111827"/>
                    </a:solidFill>
                    <a:latin typeface="Cambria Math" panose="02040503050406030204" pitchFamily="18" charset="0"/>
                  </a:rPr>
                  <a:t>$OBC$</a:t>
                </a:r>
                <a:r>
                  <a:rPr sz="2400" b="0">
                    <a:solidFill>
                      <a:srgbClr val="111827"/>
                    </a:solidFill>
                    <a:latin typeface="Arial"/>
                  </a:rPr>
                  <a:t> lie in the coordinate planes </a:t>
                </a: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$y=0$</a:t>
                </a:r>
                <a:r>
                  <a:rPr sz="2400" b="0">
                    <a:solidFill>
                      <a:srgbClr val="111827"/>
                    </a:solidFill>
                    <a:latin typeface="Arial"/>
                  </a:rPr>
                  <a:t>, </a:t>
                </a:r>
                <a:r>
                  <a:rPr lang="en-IN" sz="2400">
                    <a:solidFill>
                      <a:srgbClr val="111827"/>
                    </a:solidFill>
                    <a:latin typeface="Cambria Math" panose="02040503050406030204" pitchFamily="18" charset="0"/>
                  </a:rPr>
                  <a:t>$z=0$</a:t>
                </a:r>
                <a:r>
                  <a:rPr sz="2400" b="0">
                    <a:solidFill>
                      <a:srgbClr val="111827"/>
                    </a:solidFill>
                    <a:latin typeface="Arial"/>
                  </a:rPr>
                  <a:t>, so a point inside at distance </a:t>
                </a:r>
                <a:r>
                  <a:rPr lang="en-IN" sz="2400">
                    <a:solidFill>
                      <a:srgbClr val="111827"/>
                    </a:solidFill>
                    <a:latin typeface="Cambria Math" panose="02040503050406030204" pitchFamily="18" charset="0"/>
                  </a:rPr>
                  <a:t>$r$</a:t>
                </a:r>
                <a:r>
                  <a:rPr sz="2400" b="0">
                    <a:solidFill>
                      <a:srgbClr val="111827"/>
                    </a:solidFill>
                    <a:latin typeface="Arial"/>
                  </a:rPr>
                  <a:t> from all three has coordinates </a:t>
                </a:r>
                <a:r>
                  <a:rPr lang="en-IN" sz="2400">
                    <a:solidFill>
                      <a:srgbClr val="111827"/>
                    </a:solidFill>
                    <a:latin typeface="Cambria Math" panose="02040503050406030204" pitchFamily="18" charset="0"/>
                  </a:rPr>
                  <a:t>$P=(r,r,r)$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face </a:t>
                </a:r>
                <a:r>
                  <a:rPr lang="en-IN" sz="2400">
                    <a:solidFill>
                      <a:srgbClr val="111827"/>
                    </a:solidFill>
                    <a:latin typeface="Cambria Math" panose="02040503050406030204" pitchFamily="18" charset="0"/>
                  </a:rPr>
                  <a:t>$ABC$</a:t>
                </a:r>
                <a:r>
                  <a:rPr sz="2400" b="0">
                    <a:solidFill>
                      <a:srgbClr val="111827"/>
                    </a:solidFill>
                    <a:latin typeface="Arial"/>
                  </a:rPr>
                  <a:t> has intercepts </a:t>
                </a:r>
                <a:r>
                  <a:rPr lang="en-IN" sz="2400">
                    <a:solidFill>
                      <a:srgbClr val="111827"/>
                    </a:solidFill>
                    <a:latin typeface="Cambria Math" panose="02040503050406030204" pitchFamily="18" charset="0"/>
                  </a:rPr>
                  <a:t>$6,4,2$</a:t>
                </a:r>
                <a:r>
                  <a:rPr sz="2400" b="0">
                    <a:solidFill>
                      <a:srgbClr val="111827"/>
                    </a:solidFill>
                    <a:latin typeface="Arial"/>
                  </a:rPr>
                  <a:t>, so its plane is </a:t>
                </a:r>
                <a:r>
                  <a:rPr lang="en-IN" sz="2400">
                    <a:solidFill>
                      <a:srgbClr val="111827"/>
                    </a:solidFill>
                    <a:latin typeface="Cambria Math" panose="02040503050406030204" pitchFamily="18" charset="0"/>
                  </a:rPr>
                  <a:t>$\frac{x}{6}+\frac{y}{4}+\frac{z}{2}=1$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r>
                  <a:rPr lang="en-IN" sz="2400">
                    <a:solidFill>
                      <a:srgbClr val="111827"/>
                    </a:solidFill>
                    <a:latin typeface="Cambria Math" panose="02040503050406030204" pitchFamily="18" charset="0"/>
                  </a:rPr>
                  <a:t>$P$</a:t>
                </a:r>
                <a:r>
                  <a:rPr sz="2400" b="0">
                    <a:solidFill>
                      <a:srgbClr val="111827"/>
                    </a:solidFill>
                    <a:latin typeface="Arial"/>
                  </a:rPr>
                  <a:t> from it: </a:t>
                </a:r>
                <a:r>
                  <a:rPr lang="en-IN" sz="2400">
                    <a:solidFill>
                      <a:srgbClr val="111827"/>
                    </a:solidFill>
                    <a:latin typeface="Cambria Math" panose="02040503050406030204" pitchFamily="18" charset="0"/>
                  </a:rPr>
                  <a:t>$r=\frac{\left|\frac r6+\frac r4+\frac r2-1\right|}{\sqrt{\frac1{6^2}+\frac1{4^2}+\frac1{2^2}}}$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and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12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18</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lies inside only if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&lt;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11</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is not acceptable (the point lies beyond face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$\frac r6+\frac r4+\frac r2-1=\frac{11r-12}{12}$</a:t>
                </a:r>
                <a:r>
                  <a:rPr sz="2400" b="0">
                    <a:solidFill>
                      <a:srgbClr val="111827"/>
                    </a:solidFill>
                    <a:latin typeface="Arial"/>
                  </a:rPr>
                  <a:t> and </a:t>
                </a:r>
                <a:r>
                  <a:rPr lang="en-IN" sz="2400">
                    <a:solidFill>
                      <a:srgbClr val="111827"/>
                    </a:solidFill>
                    <a:latin typeface="Cambria Math" panose="02040503050406030204" pitchFamily="18" charset="0"/>
                  </a:rPr>
                  <a:t>$\sqrt{\frac1{36}+\frac1{16}+\frac14}=\frac{7}{12}$</a:t>
                </a:r>
                <a:r>
                  <a:rPr sz="2400" b="0">
                    <a:solidFill>
                      <a:srgbClr val="111827"/>
                    </a:solidFill>
                    <a:latin typeface="Arial"/>
                  </a:rPr>
                  <a:t>, so </a:t>
                </a:r>
                <a:r>
                  <a:rPr lang="en-IN" sz="2400">
                    <a:solidFill>
                      <a:srgbClr val="111827"/>
                    </a:solidFill>
                    <a:latin typeface="Cambria Math" panose="02040503050406030204" pitchFamily="18" charset="0"/>
                  </a:rPr>
                  <a:t>$7r=\pm(11r-12)$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$7r=11r-12$</a:t>
                </a:r>
                <a:r>
                  <a:rPr sz="2400" b="0">
                    <a:solidFill>
                      <a:srgbClr val="111827"/>
                    </a:solidFill>
                    <a:latin typeface="Arial"/>
                  </a:rPr>
                  <a:t> gives </a:t>
                </a:r>
                <a:r>
                  <a:rPr lang="en-IN" sz="2400">
                    <a:solidFill>
                      <a:srgbClr val="111827"/>
                    </a:solidFill>
                    <a:latin typeface="Cambria Math" panose="02040503050406030204" pitchFamily="18" charset="0"/>
                  </a:rPr>
                  <a:t>$r=3$</a:t>
                </a:r>
                <a:r>
                  <a:rPr sz="2400" b="0">
                    <a:solidFill>
                      <a:srgbClr val="111827"/>
                    </a:solidFill>
                    <a:latin typeface="Arial"/>
                  </a:rPr>
                  <a:t>; </a:t>
                </a:r>
                <a:r>
                  <a:rPr lang="en-IN" sz="2400">
                    <a:solidFill>
                      <a:srgbClr val="111827"/>
                    </a:solidFill>
                    <a:latin typeface="Cambria Math" panose="02040503050406030204" pitchFamily="18" charset="0"/>
                  </a:rPr>
                  <a:t>$7r=-(11r-12)$</a:t>
                </a:r>
                <a:r>
                  <a:rPr sz="2400" b="0">
                    <a:solidFill>
                      <a:srgbClr val="111827"/>
                    </a:solidFill>
                    <a:latin typeface="Arial"/>
                  </a:rPr>
                  <a:t> gives </a:t>
                </a:r>
                <a:r>
                  <a:rPr lang="en-IN" sz="2400">
                    <a:solidFill>
                      <a:srgbClr val="111827"/>
                    </a:solidFill>
                    <a:latin typeface="Cambria Math" panose="02040503050406030204" pitchFamily="18" charset="0"/>
                  </a:rPr>
                  <a:t>$18r=12$</a:t>
                </a:r>
                <a:r>
                  <a:rPr sz="2400" b="0">
                    <a:solidFill>
                      <a:srgbClr val="111827"/>
                    </a:solidFill>
                    <a:latin typeface="Arial"/>
                  </a:rPr>
                  <a:t>, so </a:t>
                </a:r>
                <a:r>
                  <a:rPr lang="en-IN" sz="2400">
                    <a:solidFill>
                      <a:srgbClr val="111827"/>
                    </a:solidFill>
                    <a:latin typeface="Cambria Math" panose="02040503050406030204" pitchFamily="18" charset="0"/>
                  </a:rPr>
                  <a:t>$r=\frac23$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a:t>
                </a:r>
                <a:r>
                  <a:rPr sz="2400" b="0">
                    <a:solidFill>
                      <a:srgbClr val="111827"/>
                    </a:solidFill>
                    <a:latin typeface="Arial"/>
                  </a:rPr>
                  <a:t> lies inside only if </a:t>
                </a:r>
                <a:r>
                  <a:rPr lang="en-IN" sz="2400">
                    <a:solidFill>
                      <a:srgbClr val="111827"/>
                    </a:solidFill>
                    <a:latin typeface="Cambria Math" panose="02040503050406030204" pitchFamily="18" charset="0"/>
                  </a:rPr>
                  <a:t>$\frac{11r}{12}&lt;1$</a:t>
                </a:r>
                <a:r>
                  <a:rPr sz="2400" b="0">
                    <a:solidFill>
                      <a:srgbClr val="111827"/>
                    </a:solidFill>
                    <a:latin typeface="Arial"/>
                  </a:rPr>
                  <a:t>, i.e. </a:t>
                </a:r>
                <a:r>
                  <a:rPr lang="en-IN" sz="2400">
                    <a:solidFill>
                      <a:srgbClr val="111827"/>
                    </a:solidFill>
                    <a:latin typeface="Cambria Math" panose="02040503050406030204" pitchFamily="18" charset="0"/>
                  </a:rPr>
                  <a:t>$r&lt;\frac{12}{11}$</a:t>
                </a:r>
                <a:r>
                  <a:rPr sz="2400" b="0">
                    <a:solidFill>
                      <a:srgbClr val="111827"/>
                    </a:solidFill>
                    <a:latin typeface="Arial"/>
                  </a:rPr>
                  <a:t>; so </a:t>
                </a:r>
                <a:r>
                  <a:rPr lang="en-IN" sz="2400">
                    <a:solidFill>
                      <a:srgbClr val="111827"/>
                    </a:solidFill>
                    <a:latin typeface="Cambria Math" panose="02040503050406030204" pitchFamily="18" charset="0"/>
                  </a:rPr>
                  <a:t>$r=3$</a:t>
                </a:r>
                <a:r>
                  <a:rPr sz="2400" b="0">
                    <a:solidFill>
                      <a:srgbClr val="111827"/>
                    </a:solidFill>
                    <a:latin typeface="Arial"/>
                  </a:rPr>
                  <a:t> is not acceptable (the point lies beyond face </a:t>
                </a:r>
                <a:r>
                  <a:rPr lang="en-IN" sz="2400">
                    <a:solidFill>
                      <a:srgbClr val="111827"/>
                    </a:solidFill>
                    <a:latin typeface="Cambria Math" panose="02040503050406030204" pitchFamily="18" charset="0"/>
                  </a:rPr>
                  <a:t>$ABC$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$r=\frac{2}{3}$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$\frac{2}{3}$</a:t>
                </a:r>
                <a:endParaRPr sz="2800">
                  <a:solidFill>
                    <a:srgbClr val="15803D"/>
                  </a:solidFill>
                </a:endParaRPr>
              </a:p>
            </p:txBody>
          </p:sp>
        </mc:Fallback>
      </mc:AlternateContent>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Inradius of a tetrahedron: </a:t>
                </a:r>
                <a14:m>
                  <m:oMath xmlns:m="http://schemas.openxmlformats.org/officeDocument/2006/math">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𝑉</m:t>
                        </m:r>
                      </m:num>
                      <m:den>
                        <m:r>
                          <a:rPr lang="en-IN" sz="2400" i="1">
                            <a:solidFill>
                              <a:srgbClr val="78350F"/>
                            </a:solidFill>
                            <a:latin typeface="Cambria Math" panose="02040503050406030204" pitchFamily="18" charset="0"/>
                          </a:rPr>
                          <m:t>𝑆</m:t>
                        </m:r>
                      </m:den>
                    </m:f>
                  </m:oMath>
                </a14:m>
                <a:r>
                  <a:rPr sz="2400" b="0">
                    <a:solidFill>
                      <a:srgbClr val="78350F"/>
                    </a:solidFill>
                    <a:latin typeface="Arial"/>
                  </a:rPr>
                  <a:t>, volume divided by total surface area (split the volume into four pyramids with apex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Inradius of a tetrahedron: </a:t>
                </a:r>
                <a:r>
                  <a:rPr lang="en-IN" sz="2400">
                    <a:solidFill>
                      <a:srgbClr val="78350F"/>
                    </a:solidFill>
                    <a:latin typeface="Cambria Math" panose="02040503050406030204" pitchFamily="18" charset="0"/>
                  </a:rPr>
                  <a:t>$r=\frac{3V}{S}$</a:t>
                </a:r>
                <a:r>
                  <a:rPr sz="2400" b="0">
                    <a:solidFill>
                      <a:srgbClr val="78350F"/>
                    </a:solidFill>
                    <a:latin typeface="Arial"/>
                  </a:rPr>
                  <a:t>, volume divided by total surface area (split the volume into four pyramids with apex </a:t>
                </a:r>
                <a:r>
                  <a:rPr lang="en-IN" sz="2400">
                    <a:solidFill>
                      <a:srgbClr val="78350F"/>
                    </a:solidFill>
                    <a:latin typeface="Cambria Math" panose="02040503050406030204" pitchFamily="18" charset="0"/>
                  </a:rPr>
                  <a:t>$P$</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Joining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to the four vertices splits the tetrahedron into four pyramids with apex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each of height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over a face, so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𝑆</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Faces on coordinate planes: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Joining </a:t>
                </a:r>
                <a:r>
                  <a:rPr lang="en-IN" sz="2400">
                    <a:solidFill>
                      <a:srgbClr val="111827"/>
                    </a:solidFill>
                    <a:latin typeface="Cambria Math" panose="02040503050406030204" pitchFamily="18" charset="0"/>
                  </a:rPr>
                  <a:t>$P$</a:t>
                </a:r>
                <a:r>
                  <a:rPr sz="2400" b="0">
                    <a:solidFill>
                      <a:srgbClr val="111827"/>
                    </a:solidFill>
                    <a:latin typeface="Arial"/>
                  </a:rPr>
                  <a:t> to the four vertices splits the tetrahedron into four pyramids with apex </a:t>
                </a:r>
                <a:r>
                  <a:rPr lang="en-IN" sz="2400">
                    <a:solidFill>
                      <a:srgbClr val="111827"/>
                    </a:solidFill>
                    <a:latin typeface="Cambria Math" panose="02040503050406030204" pitchFamily="18" charset="0"/>
                  </a:rPr>
                  <a:t>$P$</a:t>
                </a:r>
                <a:r>
                  <a:rPr sz="2400" b="0">
                    <a:solidFill>
                      <a:srgbClr val="111827"/>
                    </a:solidFill>
                    <a:latin typeface="Arial"/>
                  </a:rPr>
                  <a:t>, each of height </a:t>
                </a:r>
                <a:r>
                  <a:rPr lang="en-IN" sz="2400">
                    <a:solidFill>
                      <a:srgbClr val="111827"/>
                    </a:solidFill>
                    <a:latin typeface="Cambria Math" panose="02040503050406030204" pitchFamily="18" charset="0"/>
                  </a:rPr>
                  <a:t>$r$</a:t>
                </a:r>
                <a:r>
                  <a:rPr sz="2400" b="0">
                    <a:solidFill>
                      <a:srgbClr val="111827"/>
                    </a:solidFill>
                    <a:latin typeface="Arial"/>
                  </a:rPr>
                  <a:t> over a face, so </a:t>
                </a:r>
                <a:r>
                  <a:rPr lang="en-IN" sz="2400">
                    <a:solidFill>
                      <a:srgbClr val="111827"/>
                    </a:solidFill>
                    <a:latin typeface="Cambria Math" panose="02040503050406030204" pitchFamily="18" charset="0"/>
                  </a:rPr>
                  <a:t>$V=\frac13 r\,(S_1+S_2+S_3+S_4)$</a:t>
                </a:r>
                <a:r>
                  <a:rPr sz="2400" b="0">
                    <a:solidFill>
                      <a:srgbClr val="111827"/>
                    </a:solidFill>
                    <a:latin typeface="Arial"/>
                  </a:rPr>
                  <a:t>, i.e. </a:t>
                </a:r>
                <a:r>
                  <a:rPr lang="en-IN" sz="2400">
                    <a:solidFill>
                      <a:srgbClr val="111827"/>
                    </a:solidFill>
                    <a:latin typeface="Cambria Math" panose="02040503050406030204" pitchFamily="18" charset="0"/>
                  </a:rPr>
                  <a:t>$r=\frac{3V}{S}$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$V=\frac16\cdot6\cdot4\cdot2=8$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Faces on coordinate planes: </a:t>
                </a:r>
                <a:r>
                  <a:rPr lang="en-IN" sz="2400">
                    <a:solidFill>
                      <a:srgbClr val="111827"/>
                    </a:solidFill>
                    <a:latin typeface="Cambria Math" panose="02040503050406030204" pitchFamily="18" charset="0"/>
                  </a:rPr>
                  <a:t>$\frac12\cdot4\cdot2=4$</a:t>
                </a:r>
                <a:r>
                  <a:rPr sz="2400" b="0">
                    <a:solidFill>
                      <a:srgbClr val="111827"/>
                    </a:solidFill>
                    <a:latin typeface="Arial"/>
                  </a:rPr>
                  <a:t>, </a:t>
                </a:r>
                <a:r>
                  <a:rPr lang="en-IN" sz="2400">
                    <a:solidFill>
                      <a:srgbClr val="111827"/>
                    </a:solidFill>
                    <a:latin typeface="Cambria Math" panose="02040503050406030204" pitchFamily="18" charset="0"/>
                  </a:rPr>
                  <a:t>$\frac12\cdot6\cdot2=6$</a:t>
                </a:r>
                <a:r>
                  <a:rPr sz="2400" b="0">
                    <a:solidFill>
                      <a:srgbClr val="111827"/>
                    </a:solidFill>
                    <a:latin typeface="Arial"/>
                  </a:rPr>
                  <a:t>, </a:t>
                </a:r>
                <a:r>
                  <a:rPr lang="en-IN" sz="2400">
                    <a:solidFill>
                      <a:srgbClr val="111827"/>
                    </a:solidFill>
                    <a:latin typeface="Cambria Math" panose="02040503050406030204" pitchFamily="18" charset="0"/>
                  </a:rPr>
                  <a:t>$\frac12\cdot6\cdot4=12$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Face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e>
                    </m:acc>
                  </m:oMath>
                </a14:m>
                <a:r>
                  <a:rPr sz="2400" b="0">
                    <a:solidFill>
                      <a:srgbClr val="111827"/>
                    </a:solidFill>
                    <a:latin typeface="Arial"/>
                  </a:rPr>
                  <a: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magnitude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576</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oMath>
                </a14:m>
                <a:r>
                  <a:rPr sz="2400" b="0">
                    <a:solidFill>
                      <a:srgbClr val="111827"/>
                    </a:solidFill>
                    <a:latin typeface="Arial"/>
                  </a:rPr>
                  <a:t>, so the area is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Face </a:t>
                </a:r>
                <a:r>
                  <a:rPr lang="en-IN" sz="2400">
                    <a:solidFill>
                      <a:srgbClr val="111827"/>
                    </a:solidFill>
                    <a:latin typeface="Cambria Math" panose="02040503050406030204" pitchFamily="18" charset="0"/>
                  </a:rPr>
                  <a:t>$ABC$</a:t>
                </a:r>
                <a:r>
                  <a:rPr sz="2400" b="0">
                    <a:solidFill>
                      <a:srgbClr val="111827"/>
                    </a:solidFill>
                    <a:latin typeface="Arial"/>
                  </a:rPr>
                  <a:t>: </a:t>
                </a:r>
                <a:r>
                  <a:rPr lang="en-IN" sz="2400">
                    <a:solidFill>
                      <a:srgbClr val="111827"/>
                    </a:solidFill>
                    <a:latin typeface="Cambria Math" panose="02040503050406030204" pitchFamily="18" charset="0"/>
                  </a:rPr>
                  <a:t>$\vec{AB}\times\vec{AC}$</a:t>
                </a:r>
                <a:r>
                  <a:rPr sz="2400" b="0">
                    <a:solidFill>
                      <a:srgbClr val="111827"/>
                    </a:solidFill>
                    <a:latin typeface="Arial"/>
                  </a:rPr>
                  <a:t> with </a:t>
                </a:r>
                <a:r>
                  <a:rPr lang="en-IN" sz="2400">
                    <a:solidFill>
                      <a:srgbClr val="111827"/>
                    </a:solidFill>
                    <a:latin typeface="Cambria Math" panose="02040503050406030204" pitchFamily="18" charset="0"/>
                  </a:rPr>
                  <a:t>$\vec{AB}=(0,4,-2)$</a:t>
                </a:r>
                <a:r>
                  <a:rPr sz="2400" b="0">
                    <a:solidFill>
                      <a:srgbClr val="111827"/>
                    </a:solidFill>
                    <a:latin typeface="Arial"/>
                  </a:rPr>
                  <a:t>, </a:t>
                </a:r>
                <a:r>
                  <a:rPr lang="en-IN" sz="2400">
                    <a:solidFill>
                      <a:srgbClr val="111827"/>
                    </a:solidFill>
                    <a:latin typeface="Cambria Math" panose="02040503050406030204" pitchFamily="18" charset="0"/>
                  </a:rPr>
                  <a:t>$\vec{AC}=(6,0,-2)$</a:t>
                </a:r>
                <a:r>
                  <a:rPr sz="2400" b="0">
                    <a:solidFill>
                      <a:srgbClr val="111827"/>
                    </a:solidFill>
                    <a:latin typeface="Arial"/>
                  </a:rPr>
                  <a:t> is </a:t>
                </a:r>
                <a:r>
                  <a:rPr lang="en-IN" sz="2400">
                    <a:solidFill>
                      <a:srgbClr val="111827"/>
                    </a:solidFill>
                    <a:latin typeface="Cambria Math" panose="02040503050406030204" pitchFamily="18" charset="0"/>
                  </a:rPr>
                  <a:t>$(-8,-12,-24)$</a:t>
                </a:r>
                <a:r>
                  <a:rPr sz="2400" b="0">
                    <a:solidFill>
                      <a:srgbClr val="111827"/>
                    </a:solidFill>
                    <a:latin typeface="Arial"/>
                  </a:rPr>
                  <a:t>, magnitude </a:t>
                </a:r>
                <a:r>
                  <a:rPr lang="en-IN" sz="2400">
                    <a:solidFill>
                      <a:srgbClr val="111827"/>
                    </a:solidFill>
                    <a:latin typeface="Cambria Math" panose="02040503050406030204" pitchFamily="18" charset="0"/>
                  </a:rPr>
                  <a:t>$\sqrt{64+144+576}=28$</a:t>
                </a:r>
                <a:r>
                  <a:rPr sz="2400" b="0">
                    <a:solidFill>
                      <a:srgbClr val="111827"/>
                    </a:solidFill>
                    <a:latin typeface="Arial"/>
                  </a:rPr>
                  <a:t>, so the area is </a:t>
                </a:r>
                <a:r>
                  <a:rPr lang="en-IN" sz="2400">
                    <a:solidFill>
                      <a:srgbClr val="111827"/>
                    </a:solidFill>
                    <a:latin typeface="Cambria Math" panose="02040503050406030204" pitchFamily="18" charset="0"/>
                  </a:rPr>
                  <a:t>$14$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$S=4+6+12+14=36$</a:t>
                </a:r>
                <a:r>
                  <a:rPr sz="2400" b="0">
                    <a:solidFill>
                      <a:srgbClr val="111827"/>
                    </a:solidFill>
                    <a:latin typeface="Arial"/>
                  </a:rPr>
                  <a:t>, so </a:t>
                </a:r>
                <a:r>
                  <a:rPr lang="en-IN" sz="2400">
                    <a:solidFill>
                      <a:srgbClr val="111827"/>
                    </a:solidFill>
                    <a:latin typeface="Cambria Math" panose="02040503050406030204" pitchFamily="18" charset="0"/>
                  </a:rPr>
                  <a:t>$r=\frac{3\cdot8}{36}=\frac23$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$\frac{2}{3}$</a:t>
                </a:r>
                <a:endParaRPr sz="2800">
                  <a:solidFill>
                    <a:srgbClr val="15803D"/>
                  </a:solidFill>
                </a:endParaRPr>
              </a:p>
            </p:txBody>
          </p:sp>
        </mc:Fallback>
      </mc:AlternateContent>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Inradius of any tetrahedron: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num>
                      <m:den>
                        <m:r>
                          <a:rPr lang="en-IN" sz="2400" i="1">
                            <a:solidFill>
                              <a:srgbClr val="111827"/>
                            </a:solidFill>
                            <a:latin typeface="Cambria Math" panose="02040503050406030204" pitchFamily="18" charset="0"/>
                          </a:rPr>
                          <m:t>𝑆</m:t>
                        </m:r>
                      </m:den>
                    </m:f>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 is the total surface area; the incentre exists inside and is unique.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tetrahedron with mutually perpendicular edges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at one vertex,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48</m:t>
                        </m:r>
                      </m:num>
                      <m:den>
                        <m:r>
                          <a:rPr lang="en-IN" sz="2400" i="1">
                            <a:solidFill>
                              <a:srgbClr val="111827"/>
                            </a:solidFill>
                            <a:latin typeface="Cambria Math" panose="02040503050406030204" pitchFamily="18" charset="0"/>
                          </a:rPr>
                          <m:t>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Inradius of any tetrahedron: </a:t>
                </a:r>
                <a:r>
                  <a:rPr lang="en-IN" sz="2400">
                    <a:solidFill>
                      <a:srgbClr val="111827"/>
                    </a:solidFill>
                    <a:latin typeface="Cambria Math" panose="02040503050406030204" pitchFamily="18" charset="0"/>
                  </a:rPr>
                  <a:t>$r=\frac{3V}{S}$</a:t>
                </a:r>
                <a:r>
                  <a:rPr sz="2400" b="0">
                    <a:solidFill>
                      <a:srgbClr val="111827"/>
                    </a:solidFill>
                    <a:latin typeface="Arial"/>
                  </a:rPr>
                  <a:t>, where </a:t>
                </a:r>
                <a:r>
                  <a:rPr lang="en-IN" sz="2400">
                    <a:solidFill>
                      <a:srgbClr val="111827"/>
                    </a:solidFill>
                    <a:latin typeface="Cambria Math" panose="02040503050406030204" pitchFamily="18" charset="0"/>
                  </a:rPr>
                  <a:t>$S$</a:t>
                </a:r>
                <a:r>
                  <a:rPr sz="2400" b="0">
                    <a:solidFill>
                      <a:srgbClr val="111827"/>
                    </a:solidFill>
                    <a:latin typeface="Arial"/>
                  </a:rPr>
                  <a:t> is the total surface area; the incentre exists inside and is unique.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tetrahedron with mutually perpendicular edges </a:t>
                </a:r>
                <a:r>
                  <a:rPr lang="en-IN" sz="2400">
                    <a:solidFill>
                      <a:srgbClr val="111827"/>
                    </a:solidFill>
                    <a:latin typeface="Cambria Math" panose="02040503050406030204" pitchFamily="18" charset="0"/>
                  </a:rPr>
                  <a:t>$a,b,c$</a:t>
                </a:r>
                <a:r>
                  <a:rPr sz="2400" b="0">
                    <a:solidFill>
                      <a:srgbClr val="111827"/>
                    </a:solidFill>
                    <a:latin typeface="Arial"/>
                  </a:rPr>
                  <a:t> at one vertex, </a:t>
                </a:r>
                <a:r>
                  <a:rPr lang="en-IN" sz="2400">
                    <a:solidFill>
                      <a:srgbClr val="111827"/>
                    </a:solidFill>
                    <a:latin typeface="Cambria Math" panose="02040503050406030204" pitchFamily="18" charset="0"/>
                  </a:rPr>
                  <a:t>$r=\frac{abc}{ab+bc+ca+\sqrt{a^2b^2+b^2c^2+c^2a^2}}$</a:t>
                </a:r>
                <a:r>
                  <a:rPr sz="2400" b="0">
                    <a:solidFill>
                      <a:srgbClr val="111827"/>
                    </a:solidFill>
                    <a:latin typeface="Arial"/>
                  </a:rPr>
                  <a:t> (here </a:t>
                </a:r>
                <a:r>
                  <a:rPr lang="en-IN" sz="2400">
                    <a:solidFill>
                      <a:srgbClr val="111827"/>
                    </a:solidFill>
                    <a:latin typeface="Cambria Math" panose="02040503050406030204" pitchFamily="18" charset="0"/>
                  </a:rPr>
                  <a:t>$\frac{48}{44+28}=\frac23$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area of the slant face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14</m:t>
                    </m:r>
                  </m:oMath>
                </a14:m>
                <a:r>
                  <a:rPr sz="2400" b="0">
                    <a:solidFill>
                      <a:srgbClr val="111827"/>
                    </a:solidFill>
                    <a:latin typeface="Arial"/>
                  </a:rPr>
                  <a:t>), the square root of the sum of squares of the three right-angled face areas.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an equation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two roots, test which one keeps the point on the correct side of the faces (inside means each face's linear expression has the same sign as at the opposite vertex).</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area of the slant face </a:t>
                </a:r>
                <a:r>
                  <a:rPr lang="en-IN" sz="2400">
                    <a:solidFill>
                      <a:srgbClr val="111827"/>
                    </a:solidFill>
                    <a:latin typeface="Cambria Math" panose="02040503050406030204" pitchFamily="18" charset="0"/>
                  </a:rPr>
                  <a:t>$ABC$</a:t>
                </a:r>
                <a:r>
                  <a:rPr sz="2400" b="0">
                    <a:solidFill>
                      <a:srgbClr val="111827"/>
                    </a:solidFill>
                    <a:latin typeface="Arial"/>
                  </a:rPr>
                  <a:t> is </a:t>
                </a:r>
                <a:r>
                  <a:rPr lang="en-IN" sz="2400">
                    <a:solidFill>
                      <a:srgbClr val="111827"/>
                    </a:solidFill>
                    <a:latin typeface="Cambria Math" panose="02040503050406030204" pitchFamily="18" charset="0"/>
                  </a:rPr>
                  <a:t>$\frac12\sqrt{a^2b^2+b^2c^2+c^2a^2}$</a:t>
                </a:r>
                <a:r>
                  <a:rPr sz="2400" b="0">
                    <a:solidFill>
                      <a:srgbClr val="111827"/>
                    </a:solidFill>
                    <a:latin typeface="Arial"/>
                  </a:rPr>
                  <a:t> (here </a:t>
                </a:r>
                <a:r>
                  <a:rPr lang="en-IN" sz="2400">
                    <a:solidFill>
                      <a:srgbClr val="111827"/>
                    </a:solidFill>
                    <a:latin typeface="Cambria Math" panose="02040503050406030204" pitchFamily="18" charset="0"/>
                  </a:rPr>
                  <a:t>$14$</a:t>
                </a:r>
                <a:r>
                  <a:rPr sz="2400" b="0">
                    <a:solidFill>
                      <a:srgbClr val="111827"/>
                    </a:solidFill>
                    <a:latin typeface="Arial"/>
                  </a:rPr>
                  <a:t>), the square root of the sum of squares of the three right-angled face areas.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an equation </a:t>
                </a:r>
                <a:r>
                  <a:rPr lang="en-IN" sz="2400">
                    <a:solidFill>
                      <a:srgbClr val="111827"/>
                    </a:solidFill>
                    <a:latin typeface="Cambria Math" panose="02040503050406030204" pitchFamily="18" charset="0"/>
                  </a:rPr>
                  <a:t>$|\cdot|=\pm$</a:t>
                </a:r>
                <a:r>
                  <a:rPr sz="2400" b="0">
                    <a:solidFill>
                      <a:srgbClr val="111827"/>
                    </a:solidFill>
                    <a:latin typeface="Arial"/>
                  </a:rPr>
                  <a:t> gives two roots, test which one keeps the point on the correct side of the faces (inside means each face's linear expression has the same sign as at the opposite vertex).</a:t>
                </a:r>
                <a:endParaRPr sz="2400">
                  <a:solidFill>
                    <a:srgbClr val="111827"/>
                  </a:solidFill>
                </a:endParaRPr>
              </a:p>
            </p:txBody>
          </p:sp>
        </mc:Fallback>
      </mc:AlternateContent>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96545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line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is the hypotenuse of an isosceles right angled triangle whose opposite vertex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Find the equation of the remaining sides.</a:t>
                </a:r>
                <a:endParaRPr sz="2400">
                  <a:solidFill>
                    <a:srgbClr val="111827"/>
                  </a:solidFill>
                </a:endParaRPr>
              </a:p>
            </p:txBody>
          </p:sp>
        </mc:Choice>
        <mc:Fallback>
          <p:sp>
            <p:nvSpPr>
              <p:cNvPr id="4" name="Rounded Rectangle 3"/>
              <p:cNvSpPr/>
              <p:nvPr/>
            </p:nvSpPr>
            <p:spPr>
              <a:xfrm>
                <a:off x="731520" y="1280160"/>
                <a:ext cx="10725912" cy="196545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line </a:t>
                </a:r>
                <a:r>
                  <a:rPr lang="en-IN" sz="2400">
                    <a:solidFill>
                      <a:srgbClr val="111827"/>
                    </a:solidFill>
                    <a:latin typeface="Cambria Math" panose="02040503050406030204" pitchFamily="18" charset="0"/>
                  </a:rPr>
                  <a:t>$\frac{x+6}{5}=\frac{y+10}{3}=\frac{z+14}{8}$</a:t>
                </a:r>
                <a:r>
                  <a:rPr sz="2400" b="0">
                    <a:solidFill>
                      <a:srgbClr val="111827"/>
                    </a:solidFill>
                    <a:latin typeface="Arial"/>
                  </a:rPr>
                  <a:t> is the hypotenuse of an isosceles right angled triangle whose opposite vertex is </a:t>
                </a:r>
                <a:r>
                  <a:rPr lang="en-IN" sz="2400">
                    <a:solidFill>
                      <a:srgbClr val="111827"/>
                    </a:solidFill>
                    <a:latin typeface="Cambria Math" panose="02040503050406030204" pitchFamily="18" charset="0"/>
                  </a:rPr>
                  <a:t>$(7,2,4)$</a:t>
                </a:r>
                <a:r>
                  <a:rPr sz="2400" b="0">
                    <a:solidFill>
                      <a:srgbClr val="111827"/>
                    </a:solidFill>
                    <a:latin typeface="Arial"/>
                  </a:rPr>
                  <a:t>. Find the equation of the remaining sides.</a:t>
                </a:r>
                <a:endParaRPr sz="2400">
                  <a:solidFill>
                    <a:srgbClr val="111827"/>
                  </a:solidFill>
                </a:endParaRPr>
              </a:p>
            </p:txBody>
          </p:sp>
        </mc:Fallback>
      </mc:AlternateContent>
      <p:sp>
        <p:nvSpPr>
          <p:cNvPr id="5" name="Rectangle 4"/>
          <p:cNvSpPr/>
          <p:nvPr/>
        </p:nvSpPr>
        <p:spPr>
          <a:xfrm>
            <a:off x="731520" y="3474212"/>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Line in 3D: foot of perpendicular and equation of lines through a point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 an isosceles right triangle the foot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of the perpendicular from the right-angle vertex bisects the hypotenuse, so </a:t>
                </a:r>
                <a14:m>
                  <m:oMath xmlns:m="http://schemas.openxmlformats.org/officeDocument/2006/math">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𝑃</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 an isosceles right triangle the foot </a:t>
                </a:r>
                <a:r>
                  <a:rPr lang="en-IN" sz="2400">
                    <a:solidFill>
                      <a:srgbClr val="78350F"/>
                    </a:solidFill>
                    <a:latin typeface="Cambria Math" panose="02040503050406030204" pitchFamily="18" charset="0"/>
                  </a:rPr>
                  <a:t>$P$</a:t>
                </a:r>
                <a:r>
                  <a:rPr sz="2400" b="0">
                    <a:solidFill>
                      <a:srgbClr val="78350F"/>
                    </a:solidFill>
                    <a:latin typeface="Arial"/>
                  </a:rPr>
                  <a:t> of the perpendicular from the right-angle vertex bisects the hypotenuse, so </a:t>
                </a:r>
                <a:r>
                  <a:rPr lang="en-IN" sz="2400">
                    <a:solidFill>
                      <a:srgbClr val="78350F"/>
                    </a:solidFill>
                    <a:latin typeface="Cambria Math" panose="02040503050406030204" pitchFamily="18" charset="0"/>
                  </a:rPr>
                  <a:t>$PA=PC=BP$</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be the right-angle vertex and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the ends of the hypotenuse on the line; let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be the foot of the perpendicular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98</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$B=(7,2,4)$</a:t>
                </a:r>
                <a:r>
                  <a:rPr sz="2400" b="0">
                    <a:solidFill>
                      <a:srgbClr val="111827"/>
                    </a:solidFill>
                    <a:latin typeface="Arial"/>
                  </a:rPr>
                  <a:t> be the right-angle vertex and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$C$</a:t>
                </a:r>
                <a:r>
                  <a:rPr sz="2400" b="0">
                    <a:solidFill>
                      <a:srgbClr val="111827"/>
                    </a:solidFill>
                    <a:latin typeface="Arial"/>
                  </a:rPr>
                  <a:t> the ends of the hypotenuse on the line; let </a:t>
                </a:r>
                <a:r>
                  <a:rPr lang="en-IN" sz="2400">
                    <a:solidFill>
                      <a:srgbClr val="111827"/>
                    </a:solidFill>
                    <a:latin typeface="Cambria Math" panose="02040503050406030204" pitchFamily="18" charset="0"/>
                  </a:rPr>
                  <a:t>$P$</a:t>
                </a:r>
                <a:r>
                  <a:rPr sz="2400" b="0">
                    <a:solidFill>
                      <a:srgbClr val="111827"/>
                    </a:solidFill>
                    <a:latin typeface="Arial"/>
                  </a:rPr>
                  <a:t> be the foot of the perpendicular from </a:t>
                </a:r>
                <a:r>
                  <a:rPr lang="en-IN" sz="2400">
                    <a:solidFill>
                      <a:srgbClr val="111827"/>
                    </a:solidFill>
                    <a:latin typeface="Cambria Math" panose="02040503050406030204" pitchFamily="18" charset="0"/>
                  </a:rPr>
                  <a:t>$B$</a:t>
                </a:r>
                <a:r>
                  <a:rPr sz="2400" b="0">
                    <a:solidFill>
                      <a:srgbClr val="111827"/>
                    </a:solidFill>
                    <a:latin typeface="Arial"/>
                  </a:rPr>
                  <a:t>, so </a:t>
                </a:r>
                <a:r>
                  <a:rPr lang="en-IN" sz="2400">
                    <a:solidFill>
                      <a:srgbClr val="111827"/>
                    </a:solidFill>
                    <a:latin typeface="Cambria Math" panose="02040503050406030204" pitchFamily="18" charset="0"/>
                  </a:rPr>
                  <a:t>$P=(5k-6,\,3k-10,\,8k-14)$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$\vec{BP}\perp\vec{AC}$</a:t>
                </a:r>
                <a:r>
                  <a:rPr sz="2400" b="0">
                    <a:solidFill>
                      <a:srgbClr val="111827"/>
                    </a:solidFill>
                    <a:latin typeface="Arial"/>
                  </a:rPr>
                  <a:t> and </a:t>
                </a:r>
                <a:r>
                  <a:rPr lang="en-IN" sz="2400">
                    <a:solidFill>
                      <a:srgbClr val="111827"/>
                    </a:solidFill>
                    <a:latin typeface="Cambria Math" panose="02040503050406030204" pitchFamily="18" charset="0"/>
                  </a:rPr>
                  <a:t>$\vec{AC}\parallel(5,3,8)$</a:t>
                </a:r>
                <a:r>
                  <a:rPr sz="2400" b="0">
                    <a:solidFill>
                      <a:srgbClr val="111827"/>
                    </a:solidFill>
                    <a:latin typeface="Arial"/>
                  </a:rPr>
                  <a:t>: </a:t>
                </a:r>
                <a:r>
                  <a:rPr lang="en-IN" sz="2400">
                    <a:solidFill>
                      <a:srgbClr val="111827"/>
                    </a:solidFill>
                    <a:latin typeface="Cambria Math" panose="02040503050406030204" pitchFamily="18" charset="0"/>
                  </a:rPr>
                  <a:t>$5(5k-13)+3(3k-12)+8(8k-18)=0$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$98k=245$</a:t>
                </a:r>
                <a:r>
                  <a:rPr sz="2400" b="0">
                    <a:solidFill>
                      <a:srgbClr val="111827"/>
                    </a:solidFill>
                    <a:latin typeface="Arial"/>
                  </a:rPr>
                  <a:t>, so </a:t>
                </a:r>
                <a:r>
                  <a:rPr lang="en-IN" sz="2400">
                    <a:solidFill>
                      <a:srgbClr val="111827"/>
                    </a:solidFill>
                    <a:latin typeface="Cambria Math" panose="02040503050406030204" pitchFamily="18" charset="0"/>
                  </a:rPr>
                  <a:t>$k=\frac52$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e>
                    </m:d>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98</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isosceles right triangle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the midpoint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98</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Moving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98</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along the unit vector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98</m:t>
                            </m:r>
                          </m:e>
                        </m:rad>
                      </m:den>
                    </m:f>
                  </m:oMath>
                </a14:m>
                <a:r>
                  <a:rPr sz="2400" b="0">
                    <a:solidFill>
                      <a:srgbClr val="111827"/>
                    </a:solidFill>
                    <a:latin typeface="Arial"/>
                  </a:rPr>
                  <a:t> on either side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$P=\left(\frac{13}{2},-\frac52,6\right)$</a:t>
                </a:r>
                <a:r>
                  <a:rPr sz="2400" b="0">
                    <a:solidFill>
                      <a:srgbClr val="111827"/>
                    </a:solidFill>
                    <a:latin typeface="Arial"/>
                  </a:rPr>
                  <a:t> and </a:t>
                </a:r>
                <a:r>
                  <a:rPr lang="en-IN" sz="2400">
                    <a:solidFill>
                      <a:srgbClr val="111827"/>
                    </a:solidFill>
                    <a:latin typeface="Cambria Math" panose="02040503050406030204" pitchFamily="18" charset="0"/>
                  </a:rPr>
                  <a:t>$\vec{BP}=\left(-\frac12,-\frac92,2\right)$</a:t>
                </a:r>
                <a:r>
                  <a:rPr sz="2400" b="0">
                    <a:solidFill>
                      <a:srgbClr val="111827"/>
                    </a:solidFill>
                    <a:latin typeface="Arial"/>
                  </a:rPr>
                  <a:t>, so </a:t>
                </a:r>
                <a:r>
                  <a:rPr lang="en-IN" sz="2400">
                    <a:solidFill>
                      <a:srgbClr val="111827"/>
                    </a:solidFill>
                    <a:latin typeface="Cambria Math" panose="02040503050406030204" pitchFamily="18" charset="0"/>
                  </a:rPr>
                  <a:t>$BP=\frac{\sqrt{98}}{2}$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the isosceles right triangle </a:t>
                </a:r>
                <a:r>
                  <a:rPr lang="en-IN" sz="2400">
                    <a:solidFill>
                      <a:srgbClr val="111827"/>
                    </a:solidFill>
                    <a:latin typeface="Cambria Math" panose="02040503050406030204" pitchFamily="18" charset="0"/>
                  </a:rPr>
                  <a:t>$P$</a:t>
                </a:r>
                <a:r>
                  <a:rPr sz="2400" b="0">
                    <a:solidFill>
                      <a:srgbClr val="111827"/>
                    </a:solidFill>
                    <a:latin typeface="Arial"/>
                  </a:rPr>
                  <a:t> is the midpoint of </a:t>
                </a:r>
                <a:r>
                  <a:rPr lang="en-IN" sz="2400">
                    <a:solidFill>
                      <a:srgbClr val="111827"/>
                    </a:solidFill>
                    <a:latin typeface="Cambria Math" panose="02040503050406030204" pitchFamily="18" charset="0"/>
                  </a:rPr>
                  <a:t>$AC$</a:t>
                </a:r>
                <a:r>
                  <a:rPr sz="2400" b="0">
                    <a:solidFill>
                      <a:srgbClr val="111827"/>
                    </a:solidFill>
                    <a:latin typeface="Arial"/>
                  </a:rPr>
                  <a:t> and </a:t>
                </a:r>
                <a:r>
                  <a:rPr lang="en-IN" sz="2400">
                    <a:solidFill>
                      <a:srgbClr val="111827"/>
                    </a:solidFill>
                    <a:latin typeface="Cambria Math" panose="02040503050406030204" pitchFamily="18" charset="0"/>
                  </a:rPr>
                  <a:t>$PA=PC=BP=\frac{\sqrt{98}}{2}$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Moving </a:t>
                </a:r>
                <a:r>
                  <a:rPr lang="en-IN" sz="2400">
                    <a:solidFill>
                      <a:srgbClr val="111827"/>
                    </a:solidFill>
                    <a:latin typeface="Cambria Math" panose="02040503050406030204" pitchFamily="18" charset="0"/>
                  </a:rPr>
                  <a:t>$\frac{\sqrt{98}}{2}$</a:t>
                </a:r>
                <a:r>
                  <a:rPr sz="2400" b="0">
                    <a:solidFill>
                      <a:srgbClr val="111827"/>
                    </a:solidFill>
                    <a:latin typeface="Arial"/>
                  </a:rPr>
                  <a:t> along the unit vector </a:t>
                </a:r>
                <a:r>
                  <a:rPr lang="en-IN" sz="2400">
                    <a:solidFill>
                      <a:srgbClr val="111827"/>
                    </a:solidFill>
                    <a:latin typeface="Cambria Math" panose="02040503050406030204" pitchFamily="18" charset="0"/>
                  </a:rPr>
                  <a:t>$\frac{(5,3,8)}{\sqrt{98}}$</a:t>
                </a:r>
                <a:r>
                  <a:rPr sz="2400" b="0">
                    <a:solidFill>
                      <a:srgbClr val="111827"/>
                    </a:solidFill>
                    <a:latin typeface="Arial"/>
                  </a:rPr>
                  <a:t> on either side of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$A,C=\left(\frac{13}{2}\pm\frac52,\,-\frac52\pm\frac32,\,6\pm4\right)$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Side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direction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Side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oMath>
                </a14:m>
                <a:r>
                  <a:rPr sz="2400" b="0">
                    <a:solidFill>
                      <a:srgbClr val="111827"/>
                    </a:solidFill>
                    <a:latin typeface="Arial"/>
                  </a:rPr>
                  <a:t>: direction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$A=(9,-1,10)$</a:t>
                </a:r>
                <a:r>
                  <a:rPr sz="2400" b="0">
                    <a:solidFill>
                      <a:srgbClr val="111827"/>
                    </a:solidFill>
                    <a:latin typeface="Arial"/>
                  </a:rPr>
                  <a:t> and </a:t>
                </a:r>
                <a:r>
                  <a:rPr lang="en-IN" sz="2400">
                    <a:solidFill>
                      <a:srgbClr val="111827"/>
                    </a:solidFill>
                    <a:latin typeface="Cambria Math" panose="02040503050406030204" pitchFamily="18" charset="0"/>
                  </a:rPr>
                  <a:t>$C=(4,-4,2)$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Side </a:t>
                </a:r>
                <a:r>
                  <a:rPr lang="en-IN" sz="2400">
                    <a:solidFill>
                      <a:srgbClr val="111827"/>
                    </a:solidFill>
                    <a:latin typeface="Cambria Math" panose="02040503050406030204" pitchFamily="18" charset="0"/>
                  </a:rPr>
                  <a:t>$BC$</a:t>
                </a:r>
                <a:r>
                  <a:rPr sz="2400" b="0">
                    <a:solidFill>
                      <a:srgbClr val="111827"/>
                    </a:solidFill>
                    <a:latin typeface="Arial"/>
                  </a:rPr>
                  <a:t>: direction </a:t>
                </a:r>
                <a:r>
                  <a:rPr lang="en-IN" sz="2400">
                    <a:solidFill>
                      <a:srgbClr val="111827"/>
                    </a:solidFill>
                    <a:latin typeface="Cambria Math" panose="02040503050406030204" pitchFamily="18" charset="0"/>
                  </a:rPr>
                  <a:t>$\vec{BC}=(-3,-6,-2)\parallel(3,6,2)$</a:t>
                </a:r>
                <a:r>
                  <a:rPr sz="2400" b="0">
                    <a:solidFill>
                      <a:srgbClr val="111827"/>
                    </a:solidFill>
                    <a:latin typeface="Arial"/>
                  </a:rPr>
                  <a:t>, so </a:t>
                </a:r>
                <a:r>
                  <a:rPr lang="en-IN" sz="2400">
                    <a:solidFill>
                      <a:srgbClr val="111827"/>
                    </a:solidFill>
                    <a:latin typeface="Cambria Math" panose="02040503050406030204" pitchFamily="18" charset="0"/>
                  </a:rPr>
                  <a:t>$\frac{x-7}{3}=\frac{y-2}{6}=\frac{z-4}{2}$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Side </a:t>
                </a:r>
                <a:r>
                  <a:rPr lang="en-IN" sz="2400">
                    <a:solidFill>
                      <a:srgbClr val="111827"/>
                    </a:solidFill>
                    <a:latin typeface="Cambria Math" panose="02040503050406030204" pitchFamily="18" charset="0"/>
                  </a:rPr>
                  <a:t>$BA$</a:t>
                </a:r>
                <a:r>
                  <a:rPr sz="2400" b="0">
                    <a:solidFill>
                      <a:srgbClr val="111827"/>
                    </a:solidFill>
                    <a:latin typeface="Arial"/>
                  </a:rPr>
                  <a:t>: direction </a:t>
                </a:r>
                <a:r>
                  <a:rPr lang="en-IN" sz="2400">
                    <a:solidFill>
                      <a:srgbClr val="111827"/>
                    </a:solidFill>
                    <a:latin typeface="Cambria Math" panose="02040503050406030204" pitchFamily="18" charset="0"/>
                  </a:rPr>
                  <a:t>$\vec{BA}=(2,-3,6)$</a:t>
                </a:r>
                <a:r>
                  <a:rPr sz="2400" b="0">
                    <a:solidFill>
                      <a:srgbClr val="111827"/>
                    </a:solidFill>
                    <a:latin typeface="Arial"/>
                  </a:rPr>
                  <a:t>, so </a:t>
                </a:r>
                <a:r>
                  <a:rPr lang="en-IN" sz="2400">
                    <a:solidFill>
                      <a:srgbClr val="111827"/>
                    </a:solidFill>
                    <a:latin typeface="Cambria Math" panose="02040503050406030204" pitchFamily="18" charset="0"/>
                  </a:rPr>
                  <a:t>$\frac{x-7}{2}=\frac{y-2}{-3}=\frac{z-4}{6}$</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7</m:t>
                        </m:r>
                      </m:num>
                      <m:den>
                        <m:r>
                          <a:rPr lang="en-IN" sz="2800" i="1">
                            <a:solidFill>
                              <a:srgbClr val="15803D"/>
                            </a:solidFill>
                            <a:latin typeface="Cambria Math" panose="02040503050406030204" pitchFamily="18" charset="0"/>
                          </a:rPr>
                          <m:t>3</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num>
                      <m:den>
                        <m:r>
                          <a:rPr lang="en-IN" sz="2800" i="1">
                            <a:solidFill>
                              <a:srgbClr val="15803D"/>
                            </a:solidFill>
                            <a:latin typeface="Cambria Math" panose="02040503050406030204" pitchFamily="18" charset="0"/>
                          </a:rPr>
                          <m:t>6</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𝑧</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4</m:t>
                        </m:r>
                      </m:num>
                      <m:den>
                        <m:r>
                          <a:rPr lang="en-IN" sz="2800" i="1">
                            <a:solidFill>
                              <a:srgbClr val="15803D"/>
                            </a:solidFill>
                            <a:latin typeface="Cambria Math" panose="02040503050406030204" pitchFamily="18" charset="0"/>
                          </a:rPr>
                          <m:t>2</m:t>
                        </m:r>
                      </m:den>
                    </m:f>
                  </m:oMath>
                </a14:m>
                <a:r>
                  <a:rPr sz="2800" b="1">
                    <a:solidFill>
                      <a:srgbClr val="15803D"/>
                    </a:solidFill>
                    <a:latin typeface="Arial"/>
                  </a:rPr>
                  <a:t> and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7</m:t>
                        </m:r>
                      </m:num>
                      <m:den>
                        <m:r>
                          <a:rPr lang="en-IN" sz="2800" i="1">
                            <a:solidFill>
                              <a:srgbClr val="15803D"/>
                            </a:solidFill>
                            <a:latin typeface="Cambria Math" panose="02040503050406030204" pitchFamily="18" charset="0"/>
                          </a:rPr>
                          <m:t>2</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num>
                      <m:den>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𝑧</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4</m:t>
                        </m:r>
                      </m:num>
                      <m:den>
                        <m:r>
                          <a:rPr lang="en-IN" sz="2800" i="1">
                            <a:solidFill>
                              <a:srgbClr val="15803D"/>
                            </a:solidFill>
                            <a:latin typeface="Cambria Math" panose="02040503050406030204" pitchFamily="18" charset="0"/>
                          </a:rPr>
                          <m:t>6</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$\frac{x-7}{3}=\frac{y-2}{6}=\frac{z-4}{2}$</a:t>
                </a:r>
                <a:r>
                  <a:rPr sz="2800" b="1">
                    <a:solidFill>
                      <a:srgbClr val="15803D"/>
                    </a:solidFill>
                    <a:latin typeface="Arial"/>
                  </a:rPr>
                  <a:t> and </a:t>
                </a:r>
                <a:r>
                  <a:rPr lang="en-IN" sz="2800">
                    <a:solidFill>
                      <a:srgbClr val="15803D"/>
                    </a:solidFill>
                    <a:latin typeface="Cambria Math" panose="02040503050406030204" pitchFamily="18" charset="0"/>
                  </a:rPr>
                  <a:t>$\frac{x-7}{2}=\frac{y-2}{-3}=\frac{z-4}{6}$</a:t>
                </a:r>
                <a:endParaRPr sz="2800">
                  <a:solidFill>
                    <a:srgbClr val="15803D"/>
                  </a:solidFill>
                </a:endParaRPr>
              </a:p>
            </p:txBody>
          </p:sp>
        </mc:Fallback>
      </mc:AlternateContent>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legs make </a:t>
                </a:r>
                <a14:m>
                  <m:oMath xmlns:m="http://schemas.openxmlformats.org/officeDocument/2006/math">
                    <m:sSup>
                      <m:e>
                        <m:r>
                          <a:rPr lang="en-IN" sz="2400" i="1">
                            <a:solidFill>
                              <a:srgbClr val="78350F"/>
                            </a:solidFill>
                            <a:latin typeface="Cambria Math" panose="02040503050406030204" pitchFamily="18" charset="0"/>
                          </a:rPr>
                          <m:t>45</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with the hypotenuse, so their directions are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𝑢</m:t>
                        </m:r>
                      </m:e>
                    </m:acc>
                  </m:oMath>
                </a14:m>
                <a:r>
                  <a:rPr sz="2400" b="0">
                    <a:solidFill>
                      <a:srgbClr val="78350F"/>
                    </a:solidFill>
                    <a:latin typeface="Arial"/>
                  </a:rPr>
                  <a:t>, with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oMath>
                </a14:m>
                <a:r>
                  <a:rPr sz="2400" b="0">
                    <a:solidFill>
                      <a:srgbClr val="78350F"/>
                    </a:solidFill>
                    <a:latin typeface="Arial"/>
                  </a:rPr>
                  <a:t> the unit vector along </a:t>
                </a:r>
                <a14:m>
                  <m:oMath xmlns:m="http://schemas.openxmlformats.org/officeDocument/2006/math">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𝑃</m:t>
                    </m:r>
                  </m:oMath>
                </a14:m>
                <a:r>
                  <a:rPr sz="2400" b="0">
                    <a:solidFill>
                      <a:srgbClr val="78350F"/>
                    </a:solidFill>
                    <a:latin typeface="Arial"/>
                  </a:rPr>
                  <a:t> and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𝑢</m:t>
                        </m:r>
                      </m:e>
                    </m:acc>
                  </m:oMath>
                </a14:m>
                <a:r>
                  <a:rPr sz="2400" b="0">
                    <a:solidFill>
                      <a:srgbClr val="78350F"/>
                    </a:solidFill>
                    <a:latin typeface="Arial"/>
                  </a:rPr>
                  <a:t> along the hypotenuse.</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legs make </a:t>
                </a:r>
                <a:r>
                  <a:rPr lang="en-IN" sz="2400">
                    <a:solidFill>
                      <a:srgbClr val="78350F"/>
                    </a:solidFill>
                    <a:latin typeface="Cambria Math" panose="02040503050406030204" pitchFamily="18" charset="0"/>
                  </a:rPr>
                  <a:t>$45^\circ$</a:t>
                </a:r>
                <a:r>
                  <a:rPr sz="2400" b="0">
                    <a:solidFill>
                      <a:srgbClr val="78350F"/>
                    </a:solidFill>
                    <a:latin typeface="Arial"/>
                  </a:rPr>
                  <a:t> with the hypotenuse, so their directions are </a:t>
                </a:r>
                <a:r>
                  <a:rPr lang="en-IN" sz="2400">
                    <a:solidFill>
                      <a:srgbClr val="78350F"/>
                    </a:solidFill>
                    <a:latin typeface="Cambria Math" panose="02040503050406030204" pitchFamily="18" charset="0"/>
                  </a:rPr>
                  <a:t>$\hat{p}\pm\hat{u}$</a:t>
                </a:r>
                <a:r>
                  <a:rPr sz="2400" b="0">
                    <a:solidFill>
                      <a:srgbClr val="78350F"/>
                    </a:solidFill>
                    <a:latin typeface="Arial"/>
                  </a:rPr>
                  <a:t>, with </a:t>
                </a:r>
                <a:r>
                  <a:rPr lang="en-IN" sz="2400">
                    <a:solidFill>
                      <a:srgbClr val="78350F"/>
                    </a:solidFill>
                    <a:latin typeface="Cambria Math" panose="02040503050406030204" pitchFamily="18" charset="0"/>
                  </a:rPr>
                  <a:t>$\hat p$</a:t>
                </a:r>
                <a:r>
                  <a:rPr sz="2400" b="0">
                    <a:solidFill>
                      <a:srgbClr val="78350F"/>
                    </a:solidFill>
                    <a:latin typeface="Arial"/>
                  </a:rPr>
                  <a:t> the unit vector along </a:t>
                </a:r>
                <a:r>
                  <a:rPr lang="en-IN" sz="2400">
                    <a:solidFill>
                      <a:srgbClr val="78350F"/>
                    </a:solidFill>
                    <a:latin typeface="Cambria Math" panose="02040503050406030204" pitchFamily="18" charset="0"/>
                  </a:rPr>
                  <a:t>$BP$</a:t>
                </a:r>
                <a:r>
                  <a:rPr sz="2400" b="0">
                    <a:solidFill>
                      <a:srgbClr val="78350F"/>
                    </a:solidFill>
                    <a:latin typeface="Arial"/>
                  </a:rPr>
                  <a:t> and </a:t>
                </a:r>
                <a:r>
                  <a:rPr lang="en-IN" sz="2400">
                    <a:solidFill>
                      <a:srgbClr val="78350F"/>
                    </a:solidFill>
                    <a:latin typeface="Cambria Math" panose="02040503050406030204" pitchFamily="18" charset="0"/>
                  </a:rPr>
                  <a:t>$\hat u$</a:t>
                </a:r>
                <a:r>
                  <a:rPr sz="2400" b="0">
                    <a:solidFill>
                      <a:srgbClr val="78350F"/>
                    </a:solidFill>
                    <a:latin typeface="Arial"/>
                  </a:rPr>
                  <a:t> along the hypotenuse.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hypotenuse has unit direction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98</m:t>
                            </m:r>
                          </m:e>
                        </m:rad>
                      </m:den>
                    </m:f>
                  </m:oMath>
                </a14:m>
                <a:r>
                  <a:rPr sz="2400" b="0">
                    <a:solidFill>
                      <a:srgbClr val="111827"/>
                    </a:solidFill>
                    <a:latin typeface="Arial"/>
                  </a:rPr>
                  <a:t>. Foot of the perpendicular: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as before,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98</m:t>
                            </m:r>
                          </m:e>
                        </m:rad>
                      </m:den>
                    </m:f>
                  </m:oMath>
                </a14:m>
                <a:r>
                  <a:rPr sz="2400" b="0">
                    <a:solidFill>
                      <a:srgbClr val="111827"/>
                    </a:solidFill>
                    <a:latin typeface="Arial"/>
                  </a:rPr>
                  <a:t> is the unit vector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to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each leg makes </a:t>
                </a:r>
                <a14:m>
                  <m:oMath xmlns:m="http://schemas.openxmlformats.org/officeDocument/2006/math">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𝑃</m:t>
                    </m:r>
                  </m:oMath>
                </a14:m>
                <a:r>
                  <a:rPr sz="2400" b="0">
                    <a:solidFill>
                      <a:srgbClr val="111827"/>
                    </a:solidFill>
                    <a:latin typeface="Arial"/>
                  </a:rPr>
                  <a:t> (angle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45</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oMath>
                </a14:m>
                <a:r>
                  <a:rPr sz="2400" b="0">
                    <a:solidFill>
                      <a:srgbClr val="111827"/>
                    </a:solidFill>
                    <a:latin typeface="Arial"/>
                  </a:rPr>
                  <a:t>, so the unit vectors along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are </a:t>
                </a:r>
                <a14:m>
                  <m:oMath xmlns:m="http://schemas.openxmlformats.org/officeDocument/2006/math">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hypotenuse has unit direction </a:t>
                </a:r>
                <a:r>
                  <a:rPr lang="en-IN" sz="2400">
                    <a:solidFill>
                      <a:srgbClr val="111827"/>
                    </a:solidFill>
                    <a:latin typeface="Cambria Math" panose="02040503050406030204" pitchFamily="18" charset="0"/>
                  </a:rPr>
                  <a:t>$\hat u=\frac{(5,3,8)}{\sqrt{98}}$</a:t>
                </a:r>
                <a:r>
                  <a:rPr sz="2400" b="0">
                    <a:solidFill>
                      <a:srgbClr val="111827"/>
                    </a:solidFill>
                    <a:latin typeface="Arial"/>
                  </a:rPr>
                  <a:t>. Foot of the perpendicular: </a:t>
                </a:r>
                <a:r>
                  <a:rPr lang="en-IN" sz="2400">
                    <a:solidFill>
                      <a:srgbClr val="111827"/>
                    </a:solidFill>
                    <a:latin typeface="Cambria Math" panose="02040503050406030204" pitchFamily="18" charset="0"/>
                  </a:rPr>
                  <a:t>$k=\frac52$</a:t>
                </a:r>
                <a:r>
                  <a:rPr sz="2400" b="0">
                    <a:solidFill>
                      <a:srgbClr val="111827"/>
                    </a:solidFill>
                    <a:latin typeface="Arial"/>
                  </a:rPr>
                  <a:t> as before, so </a:t>
                </a:r>
                <a:r>
                  <a:rPr lang="en-IN" sz="2400">
                    <a:solidFill>
                      <a:srgbClr val="111827"/>
                    </a:solidFill>
                    <a:latin typeface="Cambria Math" panose="02040503050406030204" pitchFamily="18" charset="0"/>
                  </a:rPr>
                  <a:t>$\vec{BP}=\left(-\frac12,-\frac92,2\right)$</a:t>
                </a:r>
                <a:r>
                  <a:rPr sz="2400" b="0">
                    <a:solidFill>
                      <a:srgbClr val="111827"/>
                    </a:solidFill>
                    <a:latin typeface="Arial"/>
                  </a:rPr>
                  <a:t> and </a:t>
                </a:r>
                <a:r>
                  <a:rPr lang="en-IN" sz="2400">
                    <a:solidFill>
                      <a:srgbClr val="111827"/>
                    </a:solidFill>
                    <a:latin typeface="Cambria Math" panose="02040503050406030204" pitchFamily="18" charset="0"/>
                  </a:rPr>
                  <a:t>$\hat p=\frac{(-1,-9,4)}{\sqrt{98}}$</a:t>
                </a:r>
                <a:r>
                  <a:rPr sz="2400" b="0">
                    <a:solidFill>
                      <a:srgbClr val="111827"/>
                    </a:solidFill>
                    <a:latin typeface="Arial"/>
                  </a:rPr>
                  <a:t> is the unit vector from </a:t>
                </a:r>
                <a:r>
                  <a:rPr lang="en-IN" sz="2400">
                    <a:solidFill>
                      <a:srgbClr val="111827"/>
                    </a:solidFill>
                    <a:latin typeface="Cambria Math" panose="02040503050406030204" pitchFamily="18" charset="0"/>
                  </a:rPr>
                  <a:t>$B$</a:t>
                </a:r>
                <a:r>
                  <a:rPr sz="2400" b="0">
                    <a:solidFill>
                      <a:srgbClr val="111827"/>
                    </a:solidFill>
                    <a:latin typeface="Arial"/>
                  </a:rPr>
                  <a:t> to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$B$</a:t>
                </a:r>
                <a:r>
                  <a:rPr sz="2400" b="0">
                    <a:solidFill>
                      <a:srgbClr val="111827"/>
                    </a:solidFill>
                    <a:latin typeface="Arial"/>
                  </a:rPr>
                  <a:t> each leg makes </a:t>
                </a:r>
                <a:r>
                  <a:rPr lang="en-IN" sz="2400">
                    <a:solidFill>
                      <a:srgbClr val="111827"/>
                    </a:solidFill>
                    <a:latin typeface="Cambria Math" panose="02040503050406030204" pitchFamily="18" charset="0"/>
                  </a:rPr>
                  <a:t>$45^\circ$</a:t>
                </a:r>
                <a:r>
                  <a:rPr sz="2400" b="0">
                    <a:solidFill>
                      <a:srgbClr val="111827"/>
                    </a:solidFill>
                    <a:latin typeface="Arial"/>
                  </a:rPr>
                  <a:t> with </a:t>
                </a:r>
                <a:r>
                  <a:rPr lang="en-IN" sz="2400">
                    <a:solidFill>
                      <a:srgbClr val="111827"/>
                    </a:solidFill>
                    <a:latin typeface="Cambria Math" panose="02040503050406030204" pitchFamily="18" charset="0"/>
                  </a:rPr>
                  <a:t>$BP$</a:t>
                </a:r>
                <a:r>
                  <a:rPr sz="2400" b="0">
                    <a:solidFill>
                      <a:srgbClr val="111827"/>
                    </a:solidFill>
                    <a:latin typeface="Arial"/>
                  </a:rPr>
                  <a:t> (angle </a:t>
                </a:r>
                <a:r>
                  <a:rPr lang="en-IN" sz="2400">
                    <a:solidFill>
                      <a:srgbClr val="111827"/>
                    </a:solidFill>
                    <a:latin typeface="Cambria Math" panose="02040503050406030204" pitchFamily="18" charset="0"/>
                  </a:rPr>
                  <a:t>$PBA=45^\circ$</a:t>
                </a:r>
                <a:r>
                  <a:rPr sz="2400" b="0">
                    <a:solidFill>
                      <a:srgbClr val="111827"/>
                    </a:solidFill>
                    <a:latin typeface="Arial"/>
                  </a:rPr>
                  <a:t> since </a:t>
                </a:r>
                <a:r>
                  <a:rPr lang="en-IN" sz="2400">
                    <a:solidFill>
                      <a:srgbClr val="111827"/>
                    </a:solidFill>
                    <a:latin typeface="Cambria Math" panose="02040503050406030204" pitchFamily="18" charset="0"/>
                  </a:rPr>
                  <a:t>$PA=PB$</a:t>
                </a:r>
                <a:r>
                  <a:rPr sz="2400" b="0">
                    <a:solidFill>
                      <a:srgbClr val="111827"/>
                    </a:solidFill>
                    <a:latin typeface="Arial"/>
                  </a:rPr>
                  <a:t>), and </a:t>
                </a:r>
                <a:r>
                  <a:rPr lang="en-IN" sz="2400">
                    <a:solidFill>
                      <a:srgbClr val="111827"/>
                    </a:solidFill>
                    <a:latin typeface="Cambria Math" panose="02040503050406030204" pitchFamily="18" charset="0"/>
                  </a:rPr>
                  <a:t>$\hat p\perp\hat u$</a:t>
                </a:r>
                <a:r>
                  <a:rPr sz="2400" b="0">
                    <a:solidFill>
                      <a:srgbClr val="111827"/>
                    </a:solidFill>
                    <a:latin typeface="Arial"/>
                  </a:rPr>
                  <a:t>, so the unit vectors along </a:t>
                </a:r>
                <a:r>
                  <a:rPr lang="en-IN" sz="2400">
                    <a:solidFill>
                      <a:srgbClr val="111827"/>
                    </a:solidFill>
                    <a:latin typeface="Cambria Math" panose="02040503050406030204" pitchFamily="18" charset="0"/>
                  </a:rPr>
                  <a:t>$BA$</a:t>
                </a:r>
                <a:r>
                  <a:rPr sz="2400" b="0">
                    <a:solidFill>
                      <a:srgbClr val="111827"/>
                    </a:solidFill>
                    <a:latin typeface="Arial"/>
                  </a:rPr>
                  <a:t> and </a:t>
                </a:r>
                <a:r>
                  <a:rPr lang="en-IN" sz="2400">
                    <a:solidFill>
                      <a:srgbClr val="111827"/>
                    </a:solidFill>
                    <a:latin typeface="Cambria Math" panose="02040503050406030204" pitchFamily="18" charset="0"/>
                  </a:rPr>
                  <a:t>$BC$</a:t>
                </a:r>
                <a:r>
                  <a:rPr sz="2400" b="0">
                    <a:solidFill>
                      <a:srgbClr val="111827"/>
                    </a:solidFill>
                    <a:latin typeface="Arial"/>
                  </a:rPr>
                  <a:t> are </a:t>
                </a:r>
                <a:r>
                  <a:rPr lang="en-IN" sz="2400">
                    <a:solidFill>
                      <a:srgbClr val="111827"/>
                    </a:solidFill>
                    <a:latin typeface="Cambria Math" panose="02040503050406030204" pitchFamily="18" charset="0"/>
                  </a:rPr>
                  <a:t>$\frac{\hat p\pm\hat u}{\sqrt2}$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98</m:t>
                            </m:r>
                          </m:e>
                        </m:rad>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giving the leg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98</m:t>
                            </m:r>
                          </m:e>
                        </m:rad>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giving the leg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as it must be for a right angle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Same two lines.</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$\hat p+\hat u=\frac{(4,-6,12)}{\sqrt{98}}\parallel(2,-3,6)$</a:t>
                </a:r>
                <a:r>
                  <a:rPr sz="2400" b="0">
                    <a:solidFill>
                      <a:srgbClr val="111827"/>
                    </a:solidFill>
                    <a:latin typeface="Arial"/>
                  </a:rPr>
                  <a:t>, giving the leg </a:t>
                </a:r>
                <a:r>
                  <a:rPr lang="en-IN" sz="2400">
                    <a:solidFill>
                      <a:srgbClr val="111827"/>
                    </a:solidFill>
                    <a:latin typeface="Cambria Math" panose="02040503050406030204" pitchFamily="18" charset="0"/>
                  </a:rPr>
                  <a:t>$\frac{x-7}{2}=\frac{y-2}{-3}=\frac{z-4}{6}$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$\hat p-\hat u=\frac{(-6,-12,-4)}{\sqrt{98}}\parallel(3,6,2)$</a:t>
                </a:r>
                <a:r>
                  <a:rPr sz="2400" b="0">
                    <a:solidFill>
                      <a:srgbClr val="111827"/>
                    </a:solidFill>
                    <a:latin typeface="Arial"/>
                  </a:rPr>
                  <a:t>, giving the leg </a:t>
                </a:r>
                <a:r>
                  <a:rPr lang="en-IN" sz="2400">
                    <a:solidFill>
                      <a:srgbClr val="111827"/>
                    </a:solidFill>
                    <a:latin typeface="Cambria Math" panose="02040503050406030204" pitchFamily="18" charset="0"/>
                  </a:rPr>
                  <a:t>$\frac{x-7}{3}=\frac{y-2}{6}=\frac{z-4}{2}$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$(2,-3,6)\cdot(3,6,2)=6-18+12=0$</a:t>
                </a:r>
                <a:r>
                  <a:rPr sz="2400" b="0">
                    <a:solidFill>
                      <a:srgbClr val="111827"/>
                    </a:solidFill>
                    <a:latin typeface="Arial"/>
                  </a:rPr>
                  <a:t>, as it must be for a right angle at </a:t>
                </a:r>
                <a:r>
                  <a:rPr lang="en-IN" sz="2400">
                    <a:solidFill>
                      <a:srgbClr val="111827"/>
                    </a:solidFill>
                    <a:latin typeface="Cambria Math" panose="02040503050406030204" pitchFamily="18" charset="0"/>
                  </a:rPr>
                  <a:t>$B$</a:t>
                </a:r>
                <a:r>
                  <a:rPr sz="2400" b="0">
                    <a:solidFill>
                      <a:srgbClr val="111827"/>
                    </a:solidFill>
                    <a:latin typeface="Arial"/>
                  </a:rPr>
                  <a:t>. Same two lines.</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7</m:t>
                        </m:r>
                      </m:num>
                      <m:den>
                        <m:r>
                          <a:rPr lang="en-IN" sz="2800" i="1">
                            <a:solidFill>
                              <a:srgbClr val="15803D"/>
                            </a:solidFill>
                            <a:latin typeface="Cambria Math" panose="02040503050406030204" pitchFamily="18" charset="0"/>
                          </a:rPr>
                          <m:t>3</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num>
                      <m:den>
                        <m:r>
                          <a:rPr lang="en-IN" sz="2800" i="1">
                            <a:solidFill>
                              <a:srgbClr val="15803D"/>
                            </a:solidFill>
                            <a:latin typeface="Cambria Math" panose="02040503050406030204" pitchFamily="18" charset="0"/>
                          </a:rPr>
                          <m:t>6</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𝑧</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4</m:t>
                        </m:r>
                      </m:num>
                      <m:den>
                        <m:r>
                          <a:rPr lang="en-IN" sz="2800" i="1">
                            <a:solidFill>
                              <a:srgbClr val="15803D"/>
                            </a:solidFill>
                            <a:latin typeface="Cambria Math" panose="02040503050406030204" pitchFamily="18" charset="0"/>
                          </a:rPr>
                          <m:t>2</m:t>
                        </m:r>
                      </m:den>
                    </m:f>
                  </m:oMath>
                </a14:m>
                <a:r>
                  <a:rPr sz="2800" b="1">
                    <a:solidFill>
                      <a:srgbClr val="15803D"/>
                    </a:solidFill>
                    <a:latin typeface="Arial"/>
                  </a:rPr>
                  <a:t> and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7</m:t>
                        </m:r>
                      </m:num>
                      <m:den>
                        <m:r>
                          <a:rPr lang="en-IN" sz="2800" i="1">
                            <a:solidFill>
                              <a:srgbClr val="15803D"/>
                            </a:solidFill>
                            <a:latin typeface="Cambria Math" panose="02040503050406030204" pitchFamily="18" charset="0"/>
                          </a:rPr>
                          <m:t>2</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num>
                      <m:den>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𝑧</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4</m:t>
                        </m:r>
                      </m:num>
                      <m:den>
                        <m:r>
                          <a:rPr lang="en-IN" sz="2800" i="1">
                            <a:solidFill>
                              <a:srgbClr val="15803D"/>
                            </a:solidFill>
                            <a:latin typeface="Cambria Math" panose="02040503050406030204" pitchFamily="18" charset="0"/>
                          </a:rPr>
                          <m:t>6</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$\frac{x-7}{3}=\frac{y-2}{6}=\frac{z-4}{2}$</a:t>
                </a:r>
                <a:r>
                  <a:rPr sz="2800" b="1">
                    <a:solidFill>
                      <a:srgbClr val="15803D"/>
                    </a:solidFill>
                    <a:latin typeface="Arial"/>
                  </a:rPr>
                  <a:t> and </a:t>
                </a:r>
                <a:r>
                  <a:rPr lang="en-IN" sz="2800">
                    <a:solidFill>
                      <a:srgbClr val="15803D"/>
                    </a:solidFill>
                    <a:latin typeface="Cambria Math" panose="02040503050406030204" pitchFamily="18" charset="0"/>
                  </a:rPr>
                  <a:t>$\frac{x-7}{2}=\frac{y-2}{-3}=\frac{z-4}{6}$</a:t>
                </a:r>
                <a:endParaRPr sz="2800">
                  <a:solidFill>
                    <a:srgbClr val="15803D"/>
                  </a:solidFill>
                </a:endParaRPr>
              </a:p>
            </p:txBody>
          </p:sp>
        </mc:Fallback>
      </mc:AlternateContent>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an isosceles right triangle, the median to the hypotenuse equals half the hypotenuse and is also the altitude: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oMath>
                </a14:m>
                <a:r>
                  <a:rPr sz="2400" b="0">
                    <a:solidFill>
                      <a:srgbClr val="111827"/>
                    </a:solidFill>
                    <a:latin typeface="Arial"/>
                  </a:rPr>
                  <a:t> for the foot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legs through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are directed along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oMath>
                </a14:m>
                <a:r>
                  <a:rPr sz="2400" b="0">
                    <a:solidFill>
                      <a:srgbClr val="111827"/>
                    </a:solidFill>
                    <a:latin typeface="Arial"/>
                  </a:rPr>
                  <a:t> the unit vector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to the foot,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oMath>
                </a14:m>
                <a:r>
                  <a:rPr sz="2400" b="0">
                    <a:solidFill>
                      <a:srgbClr val="111827"/>
                    </a:solidFill>
                    <a:latin typeface="Arial"/>
                  </a:rPr>
                  <a:t> the unit direction of the hypotenuse); they are automatically perpendicular because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Foot of the perpendicular from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to a line with direction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through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take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num>
                      <m:den>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98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245</m:t>
                        </m:r>
                      </m:num>
                      <m:den>
                        <m:r>
                          <a:rPr lang="en-IN" sz="2400" i="1">
                            <a:solidFill>
                              <a:srgbClr val="111827"/>
                            </a:solidFill>
                            <a:latin typeface="Cambria Math" panose="02040503050406030204" pitchFamily="18" charset="0"/>
                          </a:rPr>
                          <m:t>98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an isosceles right triangle, the median to the hypotenuse equals half the hypotenuse and is also the altitude: </a:t>
                </a:r>
                <a:r>
                  <a:rPr lang="en-IN" sz="2400">
                    <a:solidFill>
                      <a:srgbClr val="111827"/>
                    </a:solidFill>
                    <a:latin typeface="Cambria Math" panose="02040503050406030204" pitchFamily="18" charset="0"/>
                  </a:rPr>
                  <a:t>$PA=PB=PC$</a:t>
                </a:r>
                <a:r>
                  <a:rPr sz="2400" b="0">
                    <a:solidFill>
                      <a:srgbClr val="111827"/>
                    </a:solidFill>
                    <a:latin typeface="Arial"/>
                  </a:rPr>
                  <a:t> for the foot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legs through </a:t>
                </a:r>
                <a:r>
                  <a:rPr lang="en-IN" sz="2400">
                    <a:solidFill>
                      <a:srgbClr val="111827"/>
                    </a:solidFill>
                    <a:latin typeface="Cambria Math" panose="02040503050406030204" pitchFamily="18" charset="0"/>
                  </a:rPr>
                  <a:t>$B$</a:t>
                </a:r>
                <a:r>
                  <a:rPr sz="2400" b="0">
                    <a:solidFill>
                      <a:srgbClr val="111827"/>
                    </a:solidFill>
                    <a:latin typeface="Arial"/>
                  </a:rPr>
                  <a:t> are directed along </a:t>
                </a:r>
                <a:r>
                  <a:rPr lang="en-IN" sz="2400">
                    <a:solidFill>
                      <a:srgbClr val="111827"/>
                    </a:solidFill>
                    <a:latin typeface="Cambria Math" panose="02040503050406030204" pitchFamily="18" charset="0"/>
                  </a:rPr>
                  <a:t>$\hat p\pm\hat u$</a:t>
                </a:r>
                <a:r>
                  <a:rPr sz="2400" b="0">
                    <a:solidFill>
                      <a:srgbClr val="111827"/>
                    </a:solidFill>
                    <a:latin typeface="Arial"/>
                  </a:rPr>
                  <a:t> (</a:t>
                </a:r>
                <a:r>
                  <a:rPr lang="en-IN" sz="2400">
                    <a:solidFill>
                      <a:srgbClr val="111827"/>
                    </a:solidFill>
                    <a:latin typeface="Cambria Math" panose="02040503050406030204" pitchFamily="18" charset="0"/>
                  </a:rPr>
                  <a:t>$\hat p$</a:t>
                </a:r>
                <a:r>
                  <a:rPr sz="2400" b="0">
                    <a:solidFill>
                      <a:srgbClr val="111827"/>
                    </a:solidFill>
                    <a:latin typeface="Arial"/>
                  </a:rPr>
                  <a:t> the unit vector from </a:t>
                </a:r>
                <a:r>
                  <a:rPr lang="en-IN" sz="2400">
                    <a:solidFill>
                      <a:srgbClr val="111827"/>
                    </a:solidFill>
                    <a:latin typeface="Cambria Math" panose="02040503050406030204" pitchFamily="18" charset="0"/>
                  </a:rPr>
                  <a:t>$B$</a:t>
                </a:r>
                <a:r>
                  <a:rPr sz="2400" b="0">
                    <a:solidFill>
                      <a:srgbClr val="111827"/>
                    </a:solidFill>
                    <a:latin typeface="Arial"/>
                  </a:rPr>
                  <a:t> to the foot, </a:t>
                </a:r>
                <a:r>
                  <a:rPr lang="en-IN" sz="2400">
                    <a:solidFill>
                      <a:srgbClr val="111827"/>
                    </a:solidFill>
                    <a:latin typeface="Cambria Math" panose="02040503050406030204" pitchFamily="18" charset="0"/>
                  </a:rPr>
                  <a:t>$\hat u$</a:t>
                </a:r>
                <a:r>
                  <a:rPr sz="2400" b="0">
                    <a:solidFill>
                      <a:srgbClr val="111827"/>
                    </a:solidFill>
                    <a:latin typeface="Arial"/>
                  </a:rPr>
                  <a:t> the unit direction of the hypotenuse); they are automatically perpendicular because </a:t>
                </a:r>
                <a:r>
                  <a:rPr lang="en-IN" sz="2400">
                    <a:solidFill>
                      <a:srgbClr val="111827"/>
                    </a:solidFill>
                    <a:latin typeface="Cambria Math" panose="02040503050406030204" pitchFamily="18" charset="0"/>
                  </a:rPr>
                  <a:t>$|\hat p|=|\hat u|=1$</a:t>
                </a:r>
                <a:r>
                  <a:rPr sz="2400" b="0">
                    <a:solidFill>
                      <a:srgbClr val="111827"/>
                    </a:solidFill>
                    <a:latin typeface="Arial"/>
                  </a:rPr>
                  <a:t> and </a:t>
                </a:r>
                <a:r>
                  <a:rPr lang="en-IN" sz="2400">
                    <a:solidFill>
                      <a:srgbClr val="111827"/>
                    </a:solidFill>
                    <a:latin typeface="Cambria Math" panose="02040503050406030204" pitchFamily="18" charset="0"/>
                  </a:rPr>
                  <a:t>$\hat p\perp\hat u$</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Foot of the perpendicular from </a:t>
                </a:r>
                <a:r>
                  <a:rPr lang="en-IN" sz="2400">
                    <a:solidFill>
                      <a:srgbClr val="111827"/>
                    </a:solidFill>
                    <a:latin typeface="Cambria Math" panose="02040503050406030204" pitchFamily="18" charset="0"/>
                  </a:rPr>
                  <a:t>$B$</a:t>
                </a:r>
                <a:r>
                  <a:rPr sz="2400" b="0">
                    <a:solidFill>
                      <a:srgbClr val="111827"/>
                    </a:solidFill>
                    <a:latin typeface="Arial"/>
                  </a:rPr>
                  <a:t> to a line with direction </a:t>
                </a:r>
                <a:r>
                  <a:rPr lang="en-IN" sz="2400">
                    <a:solidFill>
                      <a:srgbClr val="111827"/>
                    </a:solidFill>
                    <a:latin typeface="Cambria Math" panose="02040503050406030204" pitchFamily="18" charset="0"/>
                  </a:rPr>
                  <a:t>$\vec d$</a:t>
                </a:r>
                <a:r>
                  <a:rPr sz="2400" b="0">
                    <a:solidFill>
                      <a:srgbClr val="111827"/>
                    </a:solidFill>
                    <a:latin typeface="Arial"/>
                  </a:rPr>
                  <a:t> through </a:t>
                </a:r>
                <a:r>
                  <a:rPr lang="en-IN" sz="2400">
                    <a:solidFill>
                      <a:srgbClr val="111827"/>
                    </a:solidFill>
                    <a:latin typeface="Cambria Math" panose="02040503050406030204" pitchFamily="18" charset="0"/>
                  </a:rPr>
                  <a:t>$Q$</a:t>
                </a:r>
                <a:r>
                  <a:rPr sz="2400" b="0">
                    <a:solidFill>
                      <a:srgbClr val="111827"/>
                    </a:solidFill>
                    <a:latin typeface="Arial"/>
                  </a:rPr>
                  <a:t>: take </a:t>
                </a:r>
                <a:r>
                  <a:rPr lang="en-IN" sz="2400">
                    <a:solidFill>
                      <a:srgbClr val="111827"/>
                    </a:solidFill>
                    <a:latin typeface="Cambria Math" panose="02040503050406030204" pitchFamily="18" charset="0"/>
                  </a:rPr>
                  <a:t>$P=Q+t\vec d$</a:t>
                </a:r>
                <a:r>
                  <a:rPr sz="2400" b="0">
                    <a:solidFill>
                      <a:srgbClr val="111827"/>
                    </a:solidFill>
                    <a:latin typeface="Arial"/>
                  </a:rPr>
                  <a:t> with </a:t>
                </a:r>
                <a:r>
                  <a:rPr lang="en-IN" sz="2400">
                    <a:solidFill>
                      <a:srgbClr val="111827"/>
                    </a:solidFill>
                    <a:latin typeface="Cambria Math" panose="02040503050406030204" pitchFamily="18" charset="0"/>
                  </a:rPr>
                  <a:t>$t=\frac{\vec{QB}\cdot\vec d}{\left|\vec d\right|^2}$</a:t>
                </a:r>
                <a:r>
                  <a:rPr sz="2400" b="0">
                    <a:solidFill>
                      <a:srgbClr val="111827"/>
                    </a:solidFill>
                    <a:latin typeface="Arial"/>
                  </a:rPr>
                  <a:t>. Here </a:t>
                </a:r>
                <a:r>
                  <a:rPr lang="en-IN" sz="2400">
                    <a:solidFill>
                      <a:srgbClr val="111827"/>
                    </a:solidFill>
                    <a:latin typeface="Cambria Math" panose="02040503050406030204" pitchFamily="18" charset="0"/>
                  </a:rPr>
                  <a:t>$t=\frac{(13,12,18)\cdot(5,3,8)}{98}=\frac{245}{98}=\frac52$</a:t>
                </a:r>
                <a:r>
                  <a:rPr sz="2400" b="0">
                    <a:solidFill>
                      <a:srgbClr val="111827"/>
                    </a:solidFill>
                    <a:latin typeface="Arial"/>
                  </a:rPr>
                  <a:t> for </a:t>
                </a:r>
                <a:r>
                  <a:rPr lang="en-IN" sz="2400">
                    <a:solidFill>
                      <a:srgbClr val="111827"/>
                    </a:solidFill>
                    <a:latin typeface="Cambria Math" panose="02040503050406030204" pitchFamily="18" charset="0"/>
                  </a:rPr>
                  <a:t>$Q=(-6,-10,-14)$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plane passing through three points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be the distance between the origin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and the plane and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be the distance between the origin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and the point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vary in the range of any positive numbers, then find the minimum value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𝑑</m:t>
                                </m:r>
                              </m:den>
                            </m:f>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a plane passing through three points </a:t>
                </a:r>
                <a:r>
                  <a:rPr lang="en-IN" sz="2400">
                    <a:solidFill>
                      <a:srgbClr val="111827"/>
                    </a:solidFill>
                    <a:latin typeface="Cambria Math" panose="02040503050406030204" pitchFamily="18" charset="0"/>
                  </a:rPr>
                  <a:t>$A(a,0,0)$</a:t>
                </a:r>
                <a:r>
                  <a:rPr sz="2400" b="0">
                    <a:solidFill>
                      <a:srgbClr val="111827"/>
                    </a:solidFill>
                    <a:latin typeface="Arial"/>
                  </a:rPr>
                  <a:t>, </a:t>
                </a:r>
                <a:r>
                  <a:rPr lang="en-IN" sz="2400">
                    <a:solidFill>
                      <a:srgbClr val="111827"/>
                    </a:solidFill>
                    <a:latin typeface="Cambria Math" panose="02040503050406030204" pitchFamily="18" charset="0"/>
                  </a:rPr>
                  <a:t>$B(0,b,0)$</a:t>
                </a:r>
                <a:r>
                  <a:rPr sz="2400" b="0">
                    <a:solidFill>
                      <a:srgbClr val="111827"/>
                    </a:solidFill>
                    <a:latin typeface="Arial"/>
                  </a:rPr>
                  <a:t>, </a:t>
                </a:r>
                <a:r>
                  <a:rPr lang="en-IN" sz="2400">
                    <a:solidFill>
                      <a:srgbClr val="111827"/>
                    </a:solidFill>
                    <a:latin typeface="Cambria Math" panose="02040503050406030204" pitchFamily="18" charset="0"/>
                  </a:rPr>
                  <a:t>$C(0,0,c)$</a:t>
                </a:r>
                <a:r>
                  <a:rPr sz="2400" b="0">
                    <a:solidFill>
                      <a:srgbClr val="111827"/>
                    </a:solidFill>
                    <a:latin typeface="Arial"/>
                  </a:rPr>
                  <a:t> with </a:t>
                </a:r>
                <a:r>
                  <a:rPr lang="en-IN" sz="2400">
                    <a:solidFill>
                      <a:srgbClr val="111827"/>
                    </a:solidFill>
                    <a:latin typeface="Cambria Math" panose="02040503050406030204" pitchFamily="18" charset="0"/>
                  </a:rPr>
                  <a:t>$a&gt;0,b&gt;0,c&gt;0$</a:t>
                </a:r>
                <a:r>
                  <a:rPr sz="2400" b="0">
                    <a:solidFill>
                      <a:srgbClr val="111827"/>
                    </a:solidFill>
                    <a:latin typeface="Arial"/>
                  </a:rPr>
                  <a:t>. Let </a:t>
                </a:r>
                <a:r>
                  <a:rPr lang="en-IN" sz="2400">
                    <a:solidFill>
                      <a:srgbClr val="111827"/>
                    </a:solidFill>
                    <a:latin typeface="Cambria Math" panose="02040503050406030204" pitchFamily="18" charset="0"/>
                  </a:rPr>
                  <a:t>$d$</a:t>
                </a:r>
                <a:r>
                  <a:rPr sz="2400" b="0">
                    <a:solidFill>
                      <a:srgbClr val="111827"/>
                    </a:solidFill>
                    <a:latin typeface="Arial"/>
                  </a:rPr>
                  <a:t> be the distance between the origin </a:t>
                </a:r>
                <a:r>
                  <a:rPr lang="en-IN" sz="2400">
                    <a:solidFill>
                      <a:srgbClr val="111827"/>
                    </a:solidFill>
                    <a:latin typeface="Cambria Math" panose="02040503050406030204" pitchFamily="18" charset="0"/>
                  </a:rPr>
                  <a:t>$O$</a:t>
                </a:r>
                <a:r>
                  <a:rPr sz="2400" b="0">
                    <a:solidFill>
                      <a:srgbClr val="111827"/>
                    </a:solidFill>
                    <a:latin typeface="Arial"/>
                  </a:rPr>
                  <a:t> and the plane and </a:t>
                </a:r>
                <a:r>
                  <a:rPr lang="en-IN" sz="2400">
                    <a:solidFill>
                      <a:srgbClr val="111827"/>
                    </a:solidFill>
                    <a:latin typeface="Cambria Math" panose="02040503050406030204" pitchFamily="18" charset="0"/>
                  </a:rPr>
                  <a:t>$m$</a:t>
                </a:r>
                <a:r>
                  <a:rPr sz="2400" b="0">
                    <a:solidFill>
                      <a:srgbClr val="111827"/>
                    </a:solidFill>
                    <a:latin typeface="Arial"/>
                  </a:rPr>
                  <a:t> be the distance between the origin </a:t>
                </a:r>
                <a:r>
                  <a:rPr lang="en-IN" sz="2400">
                    <a:solidFill>
                      <a:srgbClr val="111827"/>
                    </a:solidFill>
                    <a:latin typeface="Cambria Math" panose="02040503050406030204" pitchFamily="18" charset="0"/>
                  </a:rPr>
                  <a:t>$O$</a:t>
                </a:r>
                <a:r>
                  <a:rPr sz="2400" b="0">
                    <a:solidFill>
                      <a:srgbClr val="111827"/>
                    </a:solidFill>
                    <a:latin typeface="Arial"/>
                  </a:rPr>
                  <a:t> and the point </a:t>
                </a:r>
                <a:r>
                  <a:rPr lang="en-IN" sz="2400">
                    <a:solidFill>
                      <a:srgbClr val="111827"/>
                    </a:solidFill>
                    <a:latin typeface="Cambria Math" panose="02040503050406030204" pitchFamily="18" charset="0"/>
                  </a:rPr>
                  <a:t>$M(a,b,c)$</a:t>
                </a:r>
                <a:r>
                  <a:rPr sz="2400" b="0">
                    <a:solidFill>
                      <a:srgbClr val="111827"/>
                    </a:solidFill>
                    <a:latin typeface="Arial"/>
                  </a:rPr>
                  <a:t>. If </a:t>
                </a:r>
                <a:r>
                  <a:rPr lang="en-IN" sz="2400">
                    <a:solidFill>
                      <a:srgbClr val="111827"/>
                    </a:solidFill>
                    <a:latin typeface="Cambria Math" panose="02040503050406030204" pitchFamily="18" charset="0"/>
                  </a:rPr>
                  <a:t>$a,b,c$</a:t>
                </a:r>
                <a:r>
                  <a:rPr sz="2400" b="0">
                    <a:solidFill>
                      <a:srgbClr val="111827"/>
                    </a:solidFill>
                    <a:latin typeface="Arial"/>
                  </a:rPr>
                  <a:t> vary in the range of any positive numbers, then find the minimum value of </a:t>
                </a:r>
                <a:r>
                  <a:rPr lang="en-IN" sz="2400">
                    <a:solidFill>
                      <a:srgbClr val="111827"/>
                    </a:solidFill>
                    <a:latin typeface="Cambria Math" panose="02040503050406030204" pitchFamily="18" charset="0"/>
                  </a:rPr>
                  <a:t>$\left(\frac{m}{d}\right)^2$</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4370323"/>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Plane in intercept form and distance from origin, AM-GM inequality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sSup>
                          <m:e>
                            <m:r>
                              <a:rPr lang="en-IN" sz="2400" i="1">
                                <a:solidFill>
                                  <a:srgbClr val="78350F"/>
                                </a:solidFill>
                                <a:latin typeface="Cambria Math" panose="02040503050406030204" pitchFamily="18" charset="0"/>
                              </a:rPr>
                              <m:t>𝑑</m:t>
                            </m:r>
                          </m:e>
                          <m:sup>
                            <m:r>
                              <a:rPr lang="en-IN" sz="2400" i="1">
                                <a:solidFill>
                                  <a:srgbClr val="78350F"/>
                                </a:solidFill>
                                <a:latin typeface="Cambria Math" panose="02040503050406030204" pitchFamily="18" charset="0"/>
                              </a:rPr>
                              <m:t>2</m:t>
                            </m:r>
                          </m:sup>
                        </m:sSup>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den>
                    </m:f>
                  </m:oMath>
                </a14:m>
                <a:r>
                  <a:rPr sz="2400" b="0">
                    <a:solidFill>
                      <a:srgbClr val="78350F"/>
                    </a:solidFill>
                    <a:latin typeface="Arial"/>
                  </a:rPr>
                  <a:t> and </a:t>
                </a:r>
                <a14:m>
                  <m:oMath xmlns:m="http://schemas.openxmlformats.org/officeDocument/2006/math">
                    <m:sSup>
                      <m:e>
                        <m:r>
                          <a:rPr lang="en-IN" sz="2400" i="1">
                            <a:solidFill>
                              <a:srgbClr val="78350F"/>
                            </a:solidFill>
                            <a:latin typeface="Cambria Math" panose="02040503050406030204" pitchFamily="18" charset="0"/>
                          </a:rPr>
                          <m:t>𝑚</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so the ratio is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den>
                    </m:f>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AM-GM applies.</a:t>
                </a:r>
                <a:endParaRPr sz="2400">
                  <a:solidFill>
                    <a:srgbClr val="78350F"/>
                  </a:solidFill>
                </a:endParaRPr>
              </a:p>
            </p:txBody>
          </p:sp>
        </mc:Choice>
        <mc:Fallback>
          <p:sp>
            <p:nvSpPr>
              <p:cNvPr id="4" name="Rounded Rectangle 3"/>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$\frac1{d^2}=\sum\frac1{a^2}$</a:t>
                </a:r>
                <a:r>
                  <a:rPr sz="2400" b="0">
                    <a:solidFill>
                      <a:srgbClr val="78350F"/>
                    </a:solidFill>
                    <a:latin typeface="Arial"/>
                  </a:rPr>
                  <a:t> and </a:t>
                </a:r>
                <a:r>
                  <a:rPr lang="en-IN" sz="2400">
                    <a:solidFill>
                      <a:srgbClr val="78350F"/>
                    </a:solidFill>
                    <a:latin typeface="Cambria Math" panose="02040503050406030204" pitchFamily="18" charset="0"/>
                  </a:rPr>
                  <a:t>$m^2=\sum a^2$</a:t>
                </a:r>
                <a:r>
                  <a:rPr sz="2400" b="0">
                    <a:solidFill>
                      <a:srgbClr val="78350F"/>
                    </a:solidFill>
                    <a:latin typeface="Arial"/>
                  </a:rPr>
                  <a:t>, so the ratio is </a:t>
                </a:r>
                <a:r>
                  <a:rPr lang="en-IN" sz="2400">
                    <a:solidFill>
                      <a:srgbClr val="78350F"/>
                    </a:solidFill>
                    <a:latin typeface="Cambria Math" panose="02040503050406030204" pitchFamily="18" charset="0"/>
                  </a:rPr>
                  <a:t>$(\sum a^2)(\sum \frac1{a^2})$</a:t>
                </a:r>
                <a:r>
                  <a:rPr sz="2400" b="0">
                    <a:solidFill>
                      <a:srgbClr val="78350F"/>
                    </a:solidFill>
                    <a:latin typeface="Arial"/>
                  </a:rPr>
                  <a:t> and AM-GM applies.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plane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e>
                        </m:rad>
                      </m:den>
                    </m:f>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ε</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𝑑</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t>
                </a:r>
                <a14:m>
                  <m:oMath xmlns:m="http://schemas.openxmlformats.org/officeDocument/2006/math">
                    <m:r>
                      <a:rPr lang="en-IN" sz="2400" i="1">
                        <a:solidFill>
                          <a:srgbClr val="111827"/>
                        </a:solidFill>
                        <a:latin typeface="Cambria Math" panose="02040503050406030204" pitchFamily="18" charset="0"/>
                      </a:rPr>
                      <m:t>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plane is </a:t>
                </a:r>
                <a:r>
                  <a:rPr lang="en-IN" sz="2400">
                    <a:solidFill>
                      <a:srgbClr val="111827"/>
                    </a:solidFill>
                    <a:latin typeface="Cambria Math" panose="02040503050406030204" pitchFamily="18" charset="0"/>
                  </a:rPr>
                  <a:t>$\frac xa+\frac yb+\frac zc=1$</a:t>
                </a:r>
                <a:r>
                  <a:rPr sz="2400" b="0">
                    <a:solidFill>
                      <a:srgbClr val="111827"/>
                    </a:solidFill>
                    <a:latin typeface="Arial"/>
                  </a:rPr>
                  <a:t>, so </a:t>
                </a:r>
                <a:r>
                  <a:rPr lang="en-IN" sz="2400">
                    <a:solidFill>
                      <a:srgbClr val="111827"/>
                    </a:solidFill>
                    <a:latin typeface="Cambria Math" panose="02040503050406030204" pitchFamily="18" charset="0"/>
                  </a:rPr>
                  <a:t>$d=\frac{1}{\sqrt{\frac1{a^2}+\frac1{b^2}+\frac1{c^2}}}$</a:t>
                </a:r>
                <a:r>
                  <a:rPr sz="2400" b="0">
                    <a:solidFill>
                      <a:srgbClr val="111827"/>
                    </a:solidFill>
                    <a:latin typeface="Arial"/>
                  </a:rPr>
                  <a:t>, i.e. </a:t>
                </a:r>
                <a:r>
                  <a:rPr lang="en-IN" sz="2400">
                    <a:solidFill>
                      <a:srgbClr val="111827"/>
                    </a:solidFill>
                    <a:latin typeface="Cambria Math" panose="02040503050406030204" pitchFamily="18" charset="0"/>
                  </a:rPr>
                  <a:t>$\frac1{d^2}=\frac1{a^2}+\frac1{b^2}+\frac1{c^2}$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$m^2=a^2+b^2+c^2$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$\varepsilon=\left(\frac md\right)^2=(a^2+b^2+c^2)\left(\frac1{a^2}+\frac1{b^2}+\frac1{c^2}\right)$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t>
                </a:r>
                <a:r>
                  <a:rPr lang="en-IN" sz="2400">
                    <a:solidFill>
                      <a:srgbClr val="111827"/>
                    </a:solidFill>
                    <a:latin typeface="Cambria Math" panose="02040503050406030204" pitchFamily="18" charset="0"/>
                  </a:rPr>
                  <a:t>$\varepsilon=3+\frac{a^2}{b^2}+\frac{a^2}{c^2}+\frac{b^2}{a^2}+\frac{b^2}{c^2}+\frac{c^2}{a^2}+\frac{c^2}{b^2}$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Apply AM-GM to the last six terms: their mean is at least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sup>
                    </m:sSup>
                  </m:oMath>
                </a14:m>
                <a:r>
                  <a:rPr sz="2400" b="0">
                    <a:solidFill>
                      <a:srgbClr val="111827"/>
                    </a:solidFill>
                    <a:latin typeface="Arial"/>
                  </a:rPr>
                  <a:t>, because the product of the six terms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with equality 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ε</m:t>
                        </m:r>
                      </m:e>
                      <m:sub>
                        <m:r>
                          <m:rPr>
                            <m:sty m:val="p"/>
                          </m:rPr>
                          <a:rPr lang="en-IN" sz="2400">
                            <a:solidFill>
                              <a:srgbClr val="111827"/>
                            </a:solidFill>
                            <a:latin typeface="Cambria Math" panose="02040503050406030204" pitchFamily="18" charset="0"/>
                          </a:rPr>
                          <m:t>min</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Apply AM-GM to the last six terms: their mean is at least </a:t>
                </a:r>
                <a:r>
                  <a:rPr lang="en-IN" sz="2400">
                    <a:solidFill>
                      <a:srgbClr val="111827"/>
                    </a:solidFill>
                    <a:latin typeface="Cambria Math" panose="02040503050406030204" pitchFamily="18" charset="0"/>
                  </a:rPr>
                  <a:t>$(1)^{1/6}$</a:t>
                </a:r>
                <a:r>
                  <a:rPr sz="2400" b="0">
                    <a:solidFill>
                      <a:srgbClr val="111827"/>
                    </a:solidFill>
                    <a:latin typeface="Arial"/>
                  </a:rPr>
                  <a:t>, because the product of the six terms is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$\frac{a^2}{b^2}+\frac{a^2}{c^2}+\frac{b^2}{a^2}+\frac{b^2}{c^2}+\frac{c^2}{a^2}+\frac{c^2}{b^2}\ge6$</a:t>
                </a:r>
                <a:r>
                  <a:rPr sz="2400" b="0">
                    <a:solidFill>
                      <a:srgbClr val="111827"/>
                    </a:solidFill>
                    <a:latin typeface="Arial"/>
                  </a:rPr>
                  <a:t>, with equality for </a:t>
                </a:r>
                <a:r>
                  <a:rPr lang="en-IN" sz="2400">
                    <a:solidFill>
                      <a:srgbClr val="111827"/>
                    </a:solidFill>
                    <a:latin typeface="Cambria Math" panose="02040503050406030204" pitchFamily="18" charset="0"/>
                  </a:rPr>
                  <a:t>$a=b=c$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$\varepsilon_{\min}=3+6=9$</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9</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$9$</a:t>
                </a:r>
                <a:endParaRPr sz="2800">
                  <a:solidFill>
                    <a:srgbClr val="15803D"/>
                  </a:solidFill>
                </a:endParaRPr>
              </a:p>
            </p:txBody>
          </p:sp>
        </mc:Fallback>
      </mc:AlternateContent>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Cauchy-Schwarz: </a:t>
                </a:r>
                <a14:m>
                  <m:oMath xmlns:m="http://schemas.openxmlformats.org/officeDocument/2006/math">
                    <m:r>
                      <m:rPr>
                        <m:sty m:val="p"/>
                      </m:rPr>
                      <a:rPr lang="en-IN" sz="2400">
                        <a:solidFill>
                          <a:srgbClr val="78350F"/>
                        </a:solidFill>
                        <a:latin typeface="Cambria Math" panose="02040503050406030204" pitchFamily="18" charset="0"/>
                      </a:rPr>
                      <m:t>(</m:t>
                    </m:r>
                    <m:sSubSup>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1</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sSubSup>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2</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sSubSup>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3</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Sup>
                      <m:e>
                        <m:r>
                          <a:rPr lang="en-IN" sz="2400" i="1">
                            <a:solidFill>
                              <a:srgbClr val="78350F"/>
                            </a:solidFill>
                            <a:latin typeface="Cambria Math" panose="02040503050406030204" pitchFamily="18" charset="0"/>
                          </a:rPr>
                          <m:t>𝑦</m:t>
                        </m:r>
                      </m:e>
                      <m:sub>
                        <m:r>
                          <a:rPr lang="en-IN" sz="2400" i="1">
                            <a:solidFill>
                              <a:srgbClr val="78350F"/>
                            </a:solidFill>
                            <a:latin typeface="Cambria Math" panose="02040503050406030204" pitchFamily="18" charset="0"/>
                          </a:rPr>
                          <m:t>1</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sSubSup>
                      <m:e>
                        <m:r>
                          <a:rPr lang="en-IN" sz="2400" i="1">
                            <a:solidFill>
                              <a:srgbClr val="78350F"/>
                            </a:solidFill>
                            <a:latin typeface="Cambria Math" panose="02040503050406030204" pitchFamily="18" charset="0"/>
                          </a:rPr>
                          <m:t>𝑦</m:t>
                        </m:r>
                      </m:e>
                      <m:sub>
                        <m:r>
                          <a:rPr lang="en-IN" sz="2400" i="1">
                            <a:solidFill>
                              <a:srgbClr val="78350F"/>
                            </a:solidFill>
                            <a:latin typeface="Cambria Math" panose="02040503050406030204" pitchFamily="18" charset="0"/>
                          </a:rPr>
                          <m:t>2</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sSubSup>
                      <m:e>
                        <m:r>
                          <a:rPr lang="en-IN" sz="2400" i="1">
                            <a:solidFill>
                              <a:srgbClr val="78350F"/>
                            </a:solidFill>
                            <a:latin typeface="Cambria Math" panose="02040503050406030204" pitchFamily="18" charset="0"/>
                          </a:rPr>
                          <m:t>𝑦</m:t>
                        </m:r>
                      </m:e>
                      <m:sub>
                        <m:r>
                          <a:rPr lang="en-IN" sz="2400" i="1">
                            <a:solidFill>
                              <a:srgbClr val="78350F"/>
                            </a:solidFill>
                            <a:latin typeface="Cambria Math" panose="02040503050406030204" pitchFamily="18" charset="0"/>
                          </a:rPr>
                          <m:t>3</m:t>
                        </m:r>
                      </m:sub>
                      <m:sup>
                        <m:r>
                          <a:rPr lang="en-IN" sz="2400" i="1">
                            <a:solidFill>
                              <a:srgbClr val="78350F"/>
                            </a:solidFill>
                            <a:latin typeface="Cambria Math" panose="02040503050406030204" pitchFamily="18" charset="0"/>
                          </a:rPr>
                          <m:t>2</m:t>
                        </m:r>
                      </m:sup>
                    </m:sSub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1</m:t>
                        </m:r>
                      </m:sub>
                    </m:sSub>
                    <m:sSub>
                      <m:e>
                        <m:r>
                          <a:rPr lang="en-IN" sz="2400" i="1">
                            <a:solidFill>
                              <a:srgbClr val="78350F"/>
                            </a:solidFill>
                            <a:latin typeface="Cambria Math" panose="02040503050406030204" pitchFamily="18" charset="0"/>
                          </a:rPr>
                          <m:t>𝑦</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2</m:t>
                        </m:r>
                      </m:sub>
                    </m:sSub>
                    <m:sSub>
                      <m:e>
                        <m:r>
                          <a:rPr lang="en-IN" sz="2400" i="1">
                            <a:solidFill>
                              <a:srgbClr val="78350F"/>
                            </a:solidFill>
                            <a:latin typeface="Cambria Math" panose="02040503050406030204" pitchFamily="18" charset="0"/>
                          </a:rPr>
                          <m:t>𝑦</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3</m:t>
                        </m:r>
                      </m:sub>
                    </m:sSub>
                    <m:sSub>
                      <m:e>
                        <m:r>
                          <a:rPr lang="en-IN" sz="2400" i="1">
                            <a:solidFill>
                              <a:srgbClr val="78350F"/>
                            </a:solidFill>
                            <a:latin typeface="Cambria Math" panose="02040503050406030204" pitchFamily="18" charset="0"/>
                          </a:rPr>
                          <m:t>𝑦</m:t>
                        </m:r>
                      </m:e>
                      <m:sub>
                        <m:r>
                          <a:rPr lang="en-IN" sz="2400" i="1">
                            <a:solidFill>
                              <a:srgbClr val="78350F"/>
                            </a:solidFill>
                            <a:latin typeface="Cambria Math" panose="02040503050406030204" pitchFamily="18" charset="0"/>
                          </a:rPr>
                          <m:t>3</m:t>
                        </m:r>
                      </m:sub>
                    </m:sSub>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with </a:t>
                </a:r>
                <a14:m>
                  <m:oMath xmlns:m="http://schemas.openxmlformats.org/officeDocument/2006/math">
                    <m:sSub>
                      <m:e>
                        <m:r>
                          <a:rPr lang="en-IN" sz="2400" i="1">
                            <a:solidFill>
                              <a:srgbClr val="78350F"/>
                            </a:solidFill>
                            <a:latin typeface="Cambria Math" panose="02040503050406030204" pitchFamily="18" charset="0"/>
                          </a:rPr>
                          <m:t>𝑥</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𝑖</m:t>
                        </m:r>
                      </m:sub>
                    </m:sSub>
                  </m:oMath>
                </a14:m>
                <a:r>
                  <a:rPr sz="2400" b="0">
                    <a:solidFill>
                      <a:srgbClr val="78350F"/>
                    </a:solidFill>
                    <a:latin typeface="Arial"/>
                  </a:rPr>
                  <a:t>, </a:t>
                </a:r>
                <a14:m>
                  <m:oMath xmlns:m="http://schemas.openxmlformats.org/officeDocument/2006/math">
                    <m:sSub>
                      <m:e>
                        <m:r>
                          <a:rPr lang="en-IN" sz="2400" i="1">
                            <a:solidFill>
                              <a:srgbClr val="78350F"/>
                            </a:solidFill>
                            <a:latin typeface="Cambria Math" panose="02040503050406030204" pitchFamily="18" charset="0"/>
                          </a:rPr>
                          <m:t>𝑦</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sSub>
                          <m:e>
                            <m:r>
                              <a:rPr lang="en-IN" sz="2400" i="1">
                                <a:solidFill>
                                  <a:srgbClr val="78350F"/>
                                </a:solidFill>
                                <a:latin typeface="Cambria Math" panose="02040503050406030204" pitchFamily="18" charset="0"/>
                              </a:rPr>
                              <m:t>𝑎</m:t>
                            </m:r>
                          </m:e>
                          <m:sub>
                            <m:r>
                              <a:rPr lang="en-IN" sz="2400" i="1">
                                <a:solidFill>
                                  <a:srgbClr val="78350F"/>
                                </a:solidFill>
                                <a:latin typeface="Cambria Math" panose="02040503050406030204" pitchFamily="18" charset="0"/>
                              </a:rPr>
                              <m:t>𝑖</m:t>
                            </m:r>
                          </m:sub>
                        </m:sSub>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Cauchy-Schwarz: </a:t>
                </a:r>
                <a:r>
                  <a:rPr lang="en-IN" sz="2400">
                    <a:solidFill>
                      <a:srgbClr val="78350F"/>
                    </a:solidFill>
                    <a:latin typeface="Cambria Math" panose="02040503050406030204" pitchFamily="18" charset="0"/>
                  </a:rPr>
                  <a:t>$(x_1^2+x_2^2+x_3^2)(y_1^2+y_2^2+y_3^2)\ge(x_1y_1+x_2y_2+x_3y_3)^2$</a:t>
                </a:r>
                <a:r>
                  <a:rPr sz="2400" b="0">
                    <a:solidFill>
                      <a:srgbClr val="78350F"/>
                    </a:solidFill>
                    <a:latin typeface="Arial"/>
                  </a:rPr>
                  <a:t> with </a:t>
                </a:r>
                <a:r>
                  <a:rPr lang="en-IN" sz="2400">
                    <a:solidFill>
                      <a:srgbClr val="78350F"/>
                    </a:solidFill>
                    <a:latin typeface="Cambria Math" panose="02040503050406030204" pitchFamily="18" charset="0"/>
                  </a:rPr>
                  <a:t>$x_i=a_i$</a:t>
                </a:r>
                <a:r>
                  <a:rPr sz="2400" b="0">
                    <a:solidFill>
                      <a:srgbClr val="78350F"/>
                    </a:solidFill>
                    <a:latin typeface="Arial"/>
                  </a:rPr>
                  <a:t>, </a:t>
                </a:r>
                <a:r>
                  <a:rPr lang="en-IN" sz="2400">
                    <a:solidFill>
                      <a:srgbClr val="78350F"/>
                    </a:solidFill>
                    <a:latin typeface="Cambria Math" panose="02040503050406030204" pitchFamily="18" charset="0"/>
                  </a:rPr>
                  <a:t>$y_i=\frac1{a_i}$</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𝑑</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Apply Cauchy-Schwarz to the vectors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𝑐</m:t>
                            </m:r>
                          </m:den>
                        </m:f>
                      </m:e>
                    </m:d>
                  </m:oMath>
                </a14:m>
                <a:r>
                  <a:rPr sz="2400" b="0">
                    <a:solidFill>
                      <a:srgbClr val="111827"/>
                    </a:solidFill>
                    <a:latin typeface="Arial"/>
                  </a:rPr>
                  <a:t>: the product is at least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𝑐</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3</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a:t>
                </a:r>
                <a:r>
                  <a:rPr lang="en-IN" sz="2400">
                    <a:solidFill>
                      <a:srgbClr val="111827"/>
                    </a:solidFill>
                    <a:latin typeface="Cambria Math" panose="02040503050406030204" pitchFamily="18" charset="0"/>
                  </a:rPr>
                  <a:t>$\left(\frac md\right)^2=(a^2+b^2+c^2)\left(\frac1{a^2}+\frac1{b^2}+\frac1{c^2}\right)$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Apply Cauchy-Schwarz to the vectors </a:t>
                </a:r>
                <a:r>
                  <a:rPr lang="en-IN" sz="2400">
                    <a:solidFill>
                      <a:srgbClr val="111827"/>
                    </a:solidFill>
                    <a:latin typeface="Cambria Math" panose="02040503050406030204" pitchFamily="18" charset="0"/>
                  </a:rPr>
                  <a:t>$(a,b,c)$</a:t>
                </a:r>
                <a:r>
                  <a:rPr sz="2400" b="0">
                    <a:solidFill>
                      <a:srgbClr val="111827"/>
                    </a:solidFill>
                    <a:latin typeface="Arial"/>
                  </a:rPr>
                  <a:t> and </a:t>
                </a:r>
                <a:r>
                  <a:rPr lang="en-IN" sz="2400">
                    <a:solidFill>
                      <a:srgbClr val="111827"/>
                    </a:solidFill>
                    <a:latin typeface="Cambria Math" panose="02040503050406030204" pitchFamily="18" charset="0"/>
                  </a:rPr>
                  <a:t>$\left(\frac1a,\frac1b,\frac1c\right)$</a:t>
                </a:r>
                <a:r>
                  <a:rPr sz="2400" b="0">
                    <a:solidFill>
                      <a:srgbClr val="111827"/>
                    </a:solidFill>
                    <a:latin typeface="Arial"/>
                  </a:rPr>
                  <a:t>: the product is at least </a:t>
                </a:r>
                <a:r>
                  <a:rPr lang="en-IN" sz="2400">
                    <a:solidFill>
                      <a:srgbClr val="111827"/>
                    </a:solidFill>
                    <a:latin typeface="Cambria Math" panose="02040503050406030204" pitchFamily="18" charset="0"/>
                  </a:rPr>
                  <a:t>$\left(a\cdot\frac1a+b\cdot\frac1b+c\cdot\frac1c\right)^2=3^2=9$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Equality needs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𝑐</m:t>
                            </m:r>
                          </m:den>
                        </m:f>
                      </m:e>
                    </m:d>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attainable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(for example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minimum value is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Equality needs </a:t>
                </a:r>
                <a:r>
                  <a:rPr lang="en-IN" sz="2400">
                    <a:solidFill>
                      <a:srgbClr val="111827"/>
                    </a:solidFill>
                    <a:latin typeface="Cambria Math" panose="02040503050406030204" pitchFamily="18" charset="0"/>
                  </a:rPr>
                  <a:t>$(a,b,c)\parallel\left(\frac1a,\frac1b,\frac1c\right)$</a:t>
                </a:r>
                <a:r>
                  <a:rPr sz="2400" b="0">
                    <a:solidFill>
                      <a:srgbClr val="111827"/>
                    </a:solidFill>
                    <a:latin typeface="Arial"/>
                  </a:rPr>
                  <a:t>, i.e. </a:t>
                </a:r>
                <a:r>
                  <a:rPr lang="en-IN" sz="2400">
                    <a:solidFill>
                      <a:srgbClr val="111827"/>
                    </a:solidFill>
                    <a:latin typeface="Cambria Math" panose="02040503050406030204" pitchFamily="18" charset="0"/>
                  </a:rPr>
                  <a:t>$a^2=b^2=c^2$</a:t>
                </a:r>
                <a:r>
                  <a:rPr sz="2400" b="0">
                    <a:solidFill>
                      <a:srgbClr val="111827"/>
                    </a:solidFill>
                    <a:latin typeface="Arial"/>
                  </a:rPr>
                  <a:t>, attainable at </a:t>
                </a:r>
                <a:r>
                  <a:rPr lang="en-IN" sz="2400">
                    <a:solidFill>
                      <a:srgbClr val="111827"/>
                    </a:solidFill>
                    <a:latin typeface="Cambria Math" panose="02040503050406030204" pitchFamily="18" charset="0"/>
                  </a:rPr>
                  <a:t>$a=b=c$</a:t>
                </a:r>
                <a:r>
                  <a:rPr sz="2400" b="0">
                    <a:solidFill>
                      <a:srgbClr val="111827"/>
                    </a:solidFill>
                    <a:latin typeface="Arial"/>
                  </a:rPr>
                  <a:t> (for example </a:t>
                </a:r>
                <a:r>
                  <a:rPr lang="en-IN" sz="2400">
                    <a:solidFill>
                      <a:srgbClr val="111827"/>
                    </a:solidFill>
                    <a:latin typeface="Cambria Math" panose="02040503050406030204" pitchFamily="18" charset="0"/>
                  </a:rPr>
                  <a:t>$a=b=c=1$</a:t>
                </a:r>
                <a:r>
                  <a:rPr sz="2400" b="0">
                    <a:solidFill>
                      <a:srgbClr val="111827"/>
                    </a:solidFill>
                    <a:latin typeface="Arial"/>
                  </a:rPr>
                  <a:t> gives </a:t>
                </a:r>
                <a:r>
                  <a:rPr lang="en-IN" sz="2400">
                    <a:solidFill>
                      <a:srgbClr val="111827"/>
                    </a:solidFill>
                    <a:latin typeface="Cambria Math" panose="02040503050406030204" pitchFamily="18" charset="0"/>
                  </a:rPr>
                  <a:t>$3\cdot3=9$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the minimum value is </a:t>
                </a:r>
                <a:r>
                  <a:rPr lang="en-IN" sz="2400">
                    <a:solidFill>
                      <a:srgbClr val="111827"/>
                    </a:solidFill>
                    <a:latin typeface="Cambria Math" panose="02040503050406030204" pitchFamily="18" charset="0"/>
                  </a:rPr>
                  <a:t>$9$</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9</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$9$</a:t>
                </a:r>
                <a:endParaRPr sz="2800">
                  <a:solidFill>
                    <a:srgbClr val="15803D"/>
                  </a:solidFill>
                </a:endParaRPr>
              </a:p>
            </p:txBody>
          </p:sp>
        </mc:Fallback>
      </mc:AlternateContent>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positive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sub>
                    </m:sSub>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𝑛</m:t>
                                </m:r>
                              </m:sub>
                            </m:sSub>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with equality iff all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are equal (AM-HM or Cauchy-Schwarz). With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this gives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of the plane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𝑎</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from the origin: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den>
                            </m:f>
                          </m:e>
                        </m:d>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always, where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𝑀</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𝑚</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is the same inequality).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expression is unchanged by scaling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minimum is on the whole ray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not a single point.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positive </a:t>
                </a:r>
                <a:r>
                  <a:rPr lang="en-IN" sz="2400">
                    <a:solidFill>
                      <a:srgbClr val="111827"/>
                    </a:solidFill>
                    <a:latin typeface="Cambria Math" panose="02040503050406030204" pitchFamily="18" charset="0"/>
                  </a:rPr>
                  <a:t>$x_1,\dots,x_n$</a:t>
                </a:r>
                <a:r>
                  <a:rPr sz="2400" b="0">
                    <a:solidFill>
                      <a:srgbClr val="111827"/>
                    </a:solidFill>
                    <a:latin typeface="Arial"/>
                  </a:rPr>
                  <a:t>: </a:t>
                </a:r>
                <a:r>
                  <a:rPr lang="en-IN" sz="2400">
                    <a:solidFill>
                      <a:srgbClr val="111827"/>
                    </a:solidFill>
                    <a:latin typeface="Cambria Math" panose="02040503050406030204" pitchFamily="18" charset="0"/>
                  </a:rPr>
                  <a:t>$(x_1+\dots+x_n)\left(\frac1{x_1}+\dots+\frac1{x_n}\right)\ge n^2$</a:t>
                </a:r>
                <a:r>
                  <a:rPr sz="2400" b="0">
                    <a:solidFill>
                      <a:srgbClr val="111827"/>
                    </a:solidFill>
                    <a:latin typeface="Arial"/>
                  </a:rPr>
                  <a:t>, with equality iff all </a:t>
                </a:r>
                <a:r>
                  <a:rPr lang="en-IN" sz="2400">
                    <a:solidFill>
                      <a:srgbClr val="111827"/>
                    </a:solidFill>
                    <a:latin typeface="Cambria Math" panose="02040503050406030204" pitchFamily="18" charset="0"/>
                  </a:rPr>
                  <a:t>$x_i$</a:t>
                </a:r>
                <a:r>
                  <a:rPr sz="2400" b="0">
                    <a:solidFill>
                      <a:srgbClr val="111827"/>
                    </a:solidFill>
                    <a:latin typeface="Arial"/>
                  </a:rPr>
                  <a:t> are equal (AM-HM or Cauchy-Schwarz). With </a:t>
                </a:r>
                <a:r>
                  <a:rPr lang="en-IN" sz="2400">
                    <a:solidFill>
                      <a:srgbClr val="111827"/>
                    </a:solidFill>
                    <a:latin typeface="Cambria Math" panose="02040503050406030204" pitchFamily="18" charset="0"/>
                  </a:rPr>
                  <a:t>$x_i=a_i^2$</a:t>
                </a:r>
                <a:r>
                  <a:rPr sz="2400" b="0">
                    <a:solidFill>
                      <a:srgbClr val="111827"/>
                    </a:solidFill>
                    <a:latin typeface="Arial"/>
                  </a:rPr>
                  <a:t> and </a:t>
                </a:r>
                <a:r>
                  <a:rPr lang="en-IN" sz="2400">
                    <a:solidFill>
                      <a:srgbClr val="111827"/>
                    </a:solidFill>
                    <a:latin typeface="Cambria Math" panose="02040503050406030204" pitchFamily="18" charset="0"/>
                  </a:rPr>
                  <a:t>$n=3$</a:t>
                </a:r>
                <a:r>
                  <a:rPr sz="2400" b="0">
                    <a:solidFill>
                      <a:srgbClr val="111827"/>
                    </a:solidFill>
                    <a:latin typeface="Arial"/>
                  </a:rPr>
                  <a:t> this gives </a:t>
                </a:r>
                <a:r>
                  <a:rPr lang="en-IN" sz="2400">
                    <a:solidFill>
                      <a:srgbClr val="111827"/>
                    </a:solidFill>
                    <a:latin typeface="Cambria Math" panose="02040503050406030204" pitchFamily="18" charset="0"/>
                  </a:rPr>
                  <a:t>$9$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of the plane </a:t>
                </a:r>
                <a:r>
                  <a:rPr lang="en-IN" sz="2400">
                    <a:solidFill>
                      <a:srgbClr val="111827"/>
                    </a:solidFill>
                    <a:latin typeface="Cambria Math" panose="02040503050406030204" pitchFamily="18" charset="0"/>
                  </a:rPr>
                  <a:t>$\frac xa+\frac yb+\frac zc=1$</a:t>
                </a:r>
                <a:r>
                  <a:rPr sz="2400" b="0">
                    <a:solidFill>
                      <a:srgbClr val="111827"/>
                    </a:solidFill>
                    <a:latin typeface="Arial"/>
                  </a:rPr>
                  <a:t> from the origin: </a:t>
                </a:r>
                <a:r>
                  <a:rPr lang="en-IN" sz="2400">
                    <a:solidFill>
                      <a:srgbClr val="111827"/>
                    </a:solidFill>
                    <a:latin typeface="Cambria Math" panose="02040503050406030204" pitchFamily="18" charset="0"/>
                  </a:rPr>
                  <a:t>$d=\left(\frac1{a^2}+\frac1{b^2}+\frac1{c^2}\right)^{-1/2}$</a:t>
                </a:r>
                <a:r>
                  <a:rPr sz="2400" b="0">
                    <a:solidFill>
                      <a:srgbClr val="111827"/>
                    </a:solidFill>
                    <a:latin typeface="Arial"/>
                  </a:rPr>
                  <a:t>, and </a:t>
                </a:r>
                <a:r>
                  <a:rPr lang="en-IN" sz="2400">
                    <a:solidFill>
                      <a:srgbClr val="111827"/>
                    </a:solidFill>
                    <a:latin typeface="Cambria Math" panose="02040503050406030204" pitchFamily="18" charset="0"/>
                  </a:rPr>
                  <a:t>$d\le\frac{m}{3}$</a:t>
                </a:r>
                <a:r>
                  <a:rPr sz="2400" b="0">
                    <a:solidFill>
                      <a:srgbClr val="111827"/>
                    </a:solidFill>
                    <a:latin typeface="Arial"/>
                  </a:rPr>
                  <a:t> always, where </a:t>
                </a:r>
                <a:r>
                  <a:rPr lang="en-IN" sz="2400">
                    <a:solidFill>
                      <a:srgbClr val="111827"/>
                    </a:solidFill>
                    <a:latin typeface="Cambria Math" panose="02040503050406030204" pitchFamily="18" charset="0"/>
                  </a:rPr>
                  <a:t>$m=OM$</a:t>
                </a:r>
                <a:r>
                  <a:rPr sz="2400" b="0">
                    <a:solidFill>
                      <a:srgbClr val="111827"/>
                    </a:solidFill>
                    <a:latin typeface="Arial"/>
                  </a:rPr>
                  <a:t> with </a:t>
                </a:r>
                <a:r>
                  <a:rPr lang="en-IN" sz="2400">
                    <a:solidFill>
                      <a:srgbClr val="111827"/>
                    </a:solidFill>
                    <a:latin typeface="Cambria Math" panose="02040503050406030204" pitchFamily="18" charset="0"/>
                  </a:rPr>
                  <a:t>$M=(a,b,c)$</a:t>
                </a:r>
                <a:r>
                  <a:rPr sz="2400" b="0">
                    <a:solidFill>
                      <a:srgbClr val="111827"/>
                    </a:solidFill>
                    <a:latin typeface="Arial"/>
                  </a:rPr>
                  <a:t> (here </a:t>
                </a:r>
                <a:r>
                  <a:rPr lang="en-IN" sz="2400">
                    <a:solidFill>
                      <a:srgbClr val="111827"/>
                    </a:solidFill>
                    <a:latin typeface="Cambria Math" panose="02040503050406030204" pitchFamily="18" charset="0"/>
                  </a:rPr>
                  <a:t>$d\le\frac m3$</a:t>
                </a:r>
                <a:r>
                  <a:rPr sz="2400" b="0">
                    <a:solidFill>
                      <a:srgbClr val="111827"/>
                    </a:solidFill>
                    <a:latin typeface="Arial"/>
                  </a:rPr>
                  <a:t> is the same inequality).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expression is unchanged by scaling </a:t>
                </a:r>
                <a:r>
                  <a:rPr lang="en-IN" sz="2400">
                    <a:solidFill>
                      <a:srgbClr val="111827"/>
                    </a:solidFill>
                    <a:latin typeface="Cambria Math" panose="02040503050406030204" pitchFamily="18" charset="0"/>
                  </a:rPr>
                  <a:t>$(a,b,c)\to(ta,tb,tc)$</a:t>
                </a:r>
                <a:r>
                  <a:rPr sz="2400" b="0">
                    <a:solidFill>
                      <a:srgbClr val="111827"/>
                    </a:solidFill>
                    <a:latin typeface="Arial"/>
                  </a:rPr>
                  <a:t>, so the minimum is on the whole ray </a:t>
                </a:r>
                <a:r>
                  <a:rPr lang="en-IN" sz="2400">
                    <a:solidFill>
                      <a:srgbClr val="111827"/>
                    </a:solidFill>
                    <a:latin typeface="Cambria Math" panose="02040503050406030204" pitchFamily="18" charset="0"/>
                  </a:rPr>
                  <a:t>$a=b=c$</a:t>
                </a:r>
                <a:r>
                  <a:rPr sz="2400" b="0">
                    <a:solidFill>
                      <a:srgbClr val="111827"/>
                    </a:solidFill>
                    <a:latin typeface="Arial"/>
                  </a:rPr>
                  <a:t>, not a single point.</a:t>
                </a:r>
                <a:endParaRPr sz="2400">
                  <a:solidFill>
                    <a:srgbClr val="111827"/>
                  </a:solidFill>
                </a:endParaRPr>
              </a:p>
            </p:txBody>
          </p:sp>
        </mc:Fallback>
      </mc:AlternateContent>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be the areas of the triangular faces of a tetrahedron, and </a:t>
                </a:r>
                <a14:m>
                  <m:oMath xmlns:m="http://schemas.openxmlformats.org/officeDocument/2006/math">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be the corresponding altitudes of the tetrahedron. If the volume of the tetrahedron is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cubic units, then find the minimum value of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cubic units).</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$A_1,A_2,A_3,A_4$</a:t>
                </a:r>
                <a:r>
                  <a:rPr sz="2400" b="0">
                    <a:solidFill>
                      <a:srgbClr val="111827"/>
                    </a:solidFill>
                    <a:latin typeface="Arial"/>
                  </a:rPr>
                  <a:t> be the areas of the triangular faces of a tetrahedron, and </a:t>
                </a:r>
                <a:r>
                  <a:rPr lang="en-IN" sz="2400">
                    <a:solidFill>
                      <a:srgbClr val="111827"/>
                    </a:solidFill>
                    <a:latin typeface="Cambria Math" panose="02040503050406030204" pitchFamily="18" charset="0"/>
                  </a:rPr>
                  <a:t>$h_1,h_2,h_3,h_4$</a:t>
                </a:r>
                <a:r>
                  <a:rPr sz="2400" b="0">
                    <a:solidFill>
                      <a:srgbClr val="111827"/>
                    </a:solidFill>
                    <a:latin typeface="Arial"/>
                  </a:rPr>
                  <a:t> be the corresponding altitudes of the tetrahedron. If the volume of the tetrahedron is </a:t>
                </a:r>
                <a:r>
                  <a:rPr lang="en-IN" sz="2400">
                    <a:solidFill>
                      <a:srgbClr val="111827"/>
                    </a:solidFill>
                    <a:latin typeface="Cambria Math" panose="02040503050406030204" pitchFamily="18" charset="0"/>
                  </a:rPr>
                  <a:t>$5$</a:t>
                </a:r>
                <a:r>
                  <a:rPr sz="2400" b="0">
                    <a:solidFill>
                      <a:srgbClr val="111827"/>
                    </a:solidFill>
                    <a:latin typeface="Arial"/>
                  </a:rPr>
                  <a:t> cubic units, then find the minimum value of </a:t>
                </a:r>
                <a:r>
                  <a:rPr lang="en-IN" sz="2400">
                    <a:solidFill>
                      <a:srgbClr val="111827"/>
                    </a:solidFill>
                    <a:latin typeface="Cambria Math" panose="02040503050406030204" pitchFamily="18" charset="0"/>
                  </a:rPr>
                  <a:t>$(A_1+A_2+A_3+A_4)(h_1+h_2+h_3+h_4)$</a:t>
                </a:r>
                <a:r>
                  <a:rPr sz="2400" b="0">
                    <a:solidFill>
                      <a:srgbClr val="111827"/>
                    </a:solidFill>
                    <a:latin typeface="Arial"/>
                  </a:rPr>
                  <a:t> (in cubic units).</a:t>
                </a:r>
                <a:endParaRPr sz="2400">
                  <a:solidFill>
                    <a:srgbClr val="111827"/>
                  </a:solidFill>
                </a:endParaRPr>
              </a:p>
            </p:txBody>
          </p:sp>
        </mc:Fallback>
      </mc:AlternateContent>
      <p:sp>
        <p:nvSpPr>
          <p:cNvPr id="5" name="Rectangle 4"/>
          <p:cNvSpPr/>
          <p:nvPr/>
        </p:nvSpPr>
        <p:spPr>
          <a:xfrm>
            <a:off x="731520" y="38887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Volume of a tetrahedron, face areas and altitudes, AM-HM inequality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14:m>
                  <m:oMath xmlns:m="http://schemas.openxmlformats.org/officeDocument/2006/math">
                    <m:r>
                      <a:rPr lang="en-IN" sz="2400" i="1">
                        <a:solidFill>
                          <a:srgbClr val="78350F"/>
                        </a:solidFill>
                        <a:latin typeface="Cambria Math" panose="02040503050406030204" pitchFamily="18" charset="0"/>
                      </a:rPr>
                      <m:t>𝑉</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3</m:t>
                        </m:r>
                      </m:den>
                    </m:f>
                    <m:sSub>
                      <m:e>
                        <m:r>
                          <a:rPr lang="en-IN" sz="2400" i="1">
                            <a:solidFill>
                              <a:srgbClr val="78350F"/>
                            </a:solidFill>
                            <a:latin typeface="Cambria Math" panose="02040503050406030204" pitchFamily="18" charset="0"/>
                          </a:rPr>
                          <m:t>𝐴</m:t>
                        </m:r>
                      </m:e>
                      <m:sub>
                        <m:r>
                          <a:rPr lang="en-IN" sz="2400" i="1">
                            <a:solidFill>
                              <a:srgbClr val="78350F"/>
                            </a:solidFill>
                            <a:latin typeface="Cambria Math" panose="02040503050406030204" pitchFamily="18" charset="0"/>
                          </a:rPr>
                          <m:t>𝑖</m:t>
                        </m:r>
                      </m:sub>
                    </m:sSub>
                    <m:sSub>
                      <m:e>
                        <m:r>
                          <a:rPr lang="en-IN" sz="2400" i="1">
                            <a:solidFill>
                              <a:srgbClr val="78350F"/>
                            </a:solidFill>
                            <a:latin typeface="Cambria Math" panose="02040503050406030204" pitchFamily="18" charset="0"/>
                          </a:rPr>
                          <m:t>ℎ</m:t>
                        </m:r>
                      </m:e>
                      <m:sub>
                        <m:r>
                          <a:rPr lang="en-IN" sz="2400" i="1">
                            <a:solidFill>
                              <a:srgbClr val="78350F"/>
                            </a:solidFill>
                            <a:latin typeface="Cambria Math" panose="02040503050406030204" pitchFamily="18" charset="0"/>
                          </a:rPr>
                          <m:t>𝑖</m:t>
                        </m:r>
                      </m:sub>
                    </m:sSub>
                  </m:oMath>
                </a14:m>
                <a:r>
                  <a:rPr sz="2400" b="0">
                    <a:solidFill>
                      <a:srgbClr val="78350F"/>
                    </a:solidFill>
                    <a:latin typeface="Arial"/>
                  </a:rPr>
                  <a:t> for every face, </a:t>
                </a:r>
                <a14:m>
                  <m:oMath xmlns:m="http://schemas.openxmlformats.org/officeDocument/2006/math">
                    <m:sSub>
                      <m:e>
                        <m:r>
                          <a:rPr lang="en-IN" sz="2400" i="1">
                            <a:solidFill>
                              <a:srgbClr val="78350F"/>
                            </a:solidFill>
                            <a:latin typeface="Cambria Math" panose="02040503050406030204" pitchFamily="18" charset="0"/>
                          </a:rPr>
                          <m:t>ℎ</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𝑉</m:t>
                        </m:r>
                      </m:num>
                      <m:den>
                        <m:sSub>
                          <m:e>
                            <m:r>
                              <a:rPr lang="en-IN" sz="2400" i="1">
                                <a:solidFill>
                                  <a:srgbClr val="78350F"/>
                                </a:solidFill>
                                <a:latin typeface="Cambria Math" panose="02040503050406030204" pitchFamily="18" charset="0"/>
                              </a:rPr>
                              <m:t>𝐴</m:t>
                            </m:r>
                          </m:e>
                          <m:sub>
                            <m:r>
                              <a:rPr lang="en-IN" sz="2400" i="1">
                                <a:solidFill>
                                  <a:srgbClr val="78350F"/>
                                </a:solidFill>
                                <a:latin typeface="Cambria Math" panose="02040503050406030204" pitchFamily="18" charset="0"/>
                              </a:rPr>
                              <m:t>𝑖</m:t>
                            </m:r>
                          </m:sub>
                        </m:sSub>
                      </m:den>
                    </m:f>
                  </m:oMath>
                </a14:m>
                <a:r>
                  <a:rPr sz="2400" b="0">
                    <a:solidFill>
                      <a:srgbClr val="78350F"/>
                    </a:solidFill>
                    <a:latin typeface="Arial"/>
                  </a:rPr>
                  <a:t>, which turns the product into </a:t>
                </a:r>
                <a14:m>
                  <m:oMath xmlns:m="http://schemas.openxmlformats.org/officeDocument/2006/math">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𝑉</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𝐴</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sSub>
                          <m:e>
                            <m:r>
                              <a:rPr lang="en-IN" sz="2400" i="1">
                                <a:solidFill>
                                  <a:srgbClr val="78350F"/>
                                </a:solidFill>
                                <a:latin typeface="Cambria Math" panose="02040503050406030204" pitchFamily="18" charset="0"/>
                              </a:rPr>
                              <m:t>𝐴</m:t>
                            </m:r>
                          </m:e>
                          <m:sub>
                            <m:r>
                              <a:rPr lang="en-IN" sz="2400" i="1">
                                <a:solidFill>
                                  <a:srgbClr val="78350F"/>
                                </a:solidFill>
                                <a:latin typeface="Cambria Math" panose="02040503050406030204" pitchFamily="18" charset="0"/>
                              </a:rPr>
                              <m:t>𝑖</m:t>
                            </m:r>
                          </m:sub>
                        </m:sSub>
                      </m:den>
                    </m:f>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AM-HM gives the bound.</a:t>
                </a:r>
                <a:endParaRPr sz="2400">
                  <a:solidFill>
                    <a:srgbClr val="78350F"/>
                  </a:solidFill>
                </a:endParaRPr>
              </a:p>
            </p:txBody>
          </p:sp>
        </mc:Choice>
        <mc:Fallback>
          <p:sp>
            <p:nvSpPr>
              <p:cNvPr id="4" name="Rounded Rectangle 3"/>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Since </a:t>
                </a:r>
                <a:r>
                  <a:rPr lang="en-IN" sz="2400">
                    <a:solidFill>
                      <a:srgbClr val="78350F"/>
                    </a:solidFill>
                    <a:latin typeface="Cambria Math" panose="02040503050406030204" pitchFamily="18" charset="0"/>
                  </a:rPr>
                  <a:t>$V=\frac13A_ih_i$</a:t>
                </a:r>
                <a:r>
                  <a:rPr sz="2400" b="0">
                    <a:solidFill>
                      <a:srgbClr val="78350F"/>
                    </a:solidFill>
                    <a:latin typeface="Arial"/>
                  </a:rPr>
                  <a:t> for every face, </a:t>
                </a:r>
                <a:r>
                  <a:rPr lang="en-IN" sz="2400">
                    <a:solidFill>
                      <a:srgbClr val="78350F"/>
                    </a:solidFill>
                    <a:latin typeface="Cambria Math" panose="02040503050406030204" pitchFamily="18" charset="0"/>
                  </a:rPr>
                  <a:t>$h_i=\frac{3V}{A_i}$</a:t>
                </a:r>
                <a:r>
                  <a:rPr sz="2400" b="0">
                    <a:solidFill>
                      <a:srgbClr val="78350F"/>
                    </a:solidFill>
                    <a:latin typeface="Arial"/>
                  </a:rPr>
                  <a:t>, which turns the product into </a:t>
                </a:r>
                <a:r>
                  <a:rPr lang="en-IN" sz="2400">
                    <a:solidFill>
                      <a:srgbClr val="78350F"/>
                    </a:solidFill>
                    <a:latin typeface="Cambria Math" panose="02040503050406030204" pitchFamily="18" charset="0"/>
                  </a:rPr>
                  <a:t>$3V(\sum A_i)(\sum\frac1{A_i})$</a:t>
                </a:r>
                <a:r>
                  <a:rPr sz="2400" b="0">
                    <a:solidFill>
                      <a:srgbClr val="78350F"/>
                    </a:solidFill>
                    <a:latin typeface="Arial"/>
                  </a:rPr>
                  <a:t> and AM-HM gives the bound.</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den>
                    </m:f>
                  </m:oMath>
                </a14:m>
                <a:r>
                  <a:rPr sz="2400" b="0">
                    <a:solidFill>
                      <a:srgbClr val="111827"/>
                    </a:solidFill>
                    <a:latin typeface="Arial"/>
                  </a:rPr>
                  <a:t>; similarly </a:t>
                </a:r>
                <a14:m>
                  <m:oMath xmlns:m="http://schemas.openxmlformats.org/officeDocument/2006/math">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den>
                    </m:f>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3</m:t>
                            </m:r>
                          </m:sub>
                        </m:sSub>
                      </m:den>
                    </m:f>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4</m:t>
                            </m:r>
                          </m:sub>
                        </m:sSub>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3</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4</m:t>
                                </m:r>
                              </m:sub>
                            </m:sSub>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3</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4</m:t>
                                </m:r>
                              </m:sub>
                            </m:sSub>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$V=\frac13A_1h_1$</a:t>
                </a:r>
                <a:r>
                  <a:rPr sz="2400" b="0">
                    <a:solidFill>
                      <a:srgbClr val="111827"/>
                    </a:solidFill>
                    <a:latin typeface="Arial"/>
                  </a:rPr>
                  <a:t>, so </a:t>
                </a:r>
                <a:r>
                  <a:rPr lang="en-IN" sz="2400">
                    <a:solidFill>
                      <a:srgbClr val="111827"/>
                    </a:solidFill>
                    <a:latin typeface="Cambria Math" panose="02040503050406030204" pitchFamily="18" charset="0"/>
                  </a:rPr>
                  <a:t>$h_1=\frac{3V}{A_1}$</a:t>
                </a:r>
                <a:r>
                  <a:rPr sz="2400" b="0">
                    <a:solidFill>
                      <a:srgbClr val="111827"/>
                    </a:solidFill>
                    <a:latin typeface="Arial"/>
                  </a:rPr>
                  <a:t>; similarly </a:t>
                </a:r>
                <a:r>
                  <a:rPr lang="en-IN" sz="2400">
                    <a:solidFill>
                      <a:srgbClr val="111827"/>
                    </a:solidFill>
                    <a:latin typeface="Cambria Math" panose="02040503050406030204" pitchFamily="18" charset="0"/>
                  </a:rPr>
                  <a:t>$h_2=\frac{3V}{A_2}$</a:t>
                </a:r>
                <a:r>
                  <a:rPr sz="2400" b="0">
                    <a:solidFill>
                      <a:srgbClr val="111827"/>
                    </a:solidFill>
                    <a:latin typeface="Arial"/>
                  </a:rPr>
                  <a:t>, </a:t>
                </a:r>
                <a:r>
                  <a:rPr lang="en-IN" sz="2400">
                    <a:solidFill>
                      <a:srgbClr val="111827"/>
                    </a:solidFill>
                    <a:latin typeface="Cambria Math" panose="02040503050406030204" pitchFamily="18" charset="0"/>
                  </a:rPr>
                  <a:t>$h_3=\frac{3V}{A_3}$</a:t>
                </a:r>
                <a:r>
                  <a:rPr sz="2400" b="0">
                    <a:solidFill>
                      <a:srgbClr val="111827"/>
                    </a:solidFill>
                    <a:latin typeface="Arial"/>
                  </a:rPr>
                  <a:t>, </a:t>
                </a:r>
                <a:r>
                  <a:rPr lang="en-IN" sz="2400">
                    <a:solidFill>
                      <a:srgbClr val="111827"/>
                    </a:solidFill>
                    <a:latin typeface="Cambria Math" panose="02040503050406030204" pitchFamily="18" charset="0"/>
                  </a:rPr>
                  <a:t>$h_4=\frac{3V}{A_4}$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$(A_1+A_2+A_3+A_4)(h_1+h_2+h_3+h_4)=(A_1+A_2+A_3+A_4)\left(\frac{3V}{A_1}+\frac{3V}{A_2}+\frac{3V}{A_3}+\frac{3V}{A_4}\right)$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$=3V(A_1+A_2+A_3+A_4)\left(\frac1{A_1}+\frac1{A_2}+\frac1{A_3}+\frac1{A_4}\right)$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AM-HM for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4</m:t>
                        </m:r>
                      </m:sub>
                    </m:sSub>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4</m:t>
                            </m:r>
                          </m:sub>
                        </m:sSub>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3</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4</m:t>
                                </m:r>
                              </m:sub>
                            </m:sSub>
                          </m:den>
                        </m:f>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4</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1</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2</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3</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4</m:t>
                                </m:r>
                              </m:sub>
                            </m:sSub>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with equality when all faces have equal area (for example a regular tetrahedron).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minimum of the product is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AM-HM for </a:t>
                </a:r>
                <a:r>
                  <a:rPr lang="en-IN" sz="2400">
                    <a:solidFill>
                      <a:srgbClr val="111827"/>
                    </a:solidFill>
                    <a:latin typeface="Cambria Math" panose="02040503050406030204" pitchFamily="18" charset="0"/>
                  </a:rPr>
                  <a:t>$A_1,A_2,A_3,A_4$</a:t>
                </a:r>
                <a:r>
                  <a:rPr sz="2400" b="0">
                    <a:solidFill>
                      <a:srgbClr val="111827"/>
                    </a:solidFill>
                    <a:latin typeface="Arial"/>
                  </a:rPr>
                  <a:t>: </a:t>
                </a:r>
                <a:r>
                  <a:rPr lang="en-IN" sz="2400">
                    <a:solidFill>
                      <a:srgbClr val="111827"/>
                    </a:solidFill>
                    <a:latin typeface="Cambria Math" panose="02040503050406030204" pitchFamily="18" charset="0"/>
                  </a:rPr>
                  <a:t>$\frac{A_1+A_2+A_3+A_4}{4}\ge\frac{4}{\frac1{A_1}+\frac1{A_2}+\frac1{A_3}+\frac1{A_4}}$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$(A_1+A_2+A_3+A_4)\left(\frac1{A_1}+\frac1{A_2}+\frac1{A_3}+\frac1{A_4}\right)\ge16$</a:t>
                </a:r>
                <a:r>
                  <a:rPr sz="2400" b="0">
                    <a:solidFill>
                      <a:srgbClr val="111827"/>
                    </a:solidFill>
                    <a:latin typeface="Arial"/>
                  </a:rPr>
                  <a:t>, with equality when all faces have equal area (for example a regular tetrahedron).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minimum of the product is </a:t>
                </a:r>
                <a:r>
                  <a:rPr lang="en-IN" sz="2400">
                    <a:solidFill>
                      <a:srgbClr val="111827"/>
                    </a:solidFill>
                    <a:latin typeface="Cambria Math" panose="02040503050406030204" pitchFamily="18" charset="0"/>
                  </a:rPr>
                  <a:t>$3V\cdot16=48V=48\cdot5=240$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240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$240$</a:t>
                </a:r>
                <a:endParaRPr sz="2800">
                  <a:solidFill>
                    <a:srgbClr val="15803D"/>
                  </a:solidFill>
                </a:endParaRPr>
              </a:p>
            </p:txBody>
          </p:sp>
        </mc:Fallback>
      </mc:AlternateContent>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Since </a:t>
                </a:r>
                <a14:m>
                  <m:oMath xmlns:m="http://schemas.openxmlformats.org/officeDocument/2006/math">
                    <m:sSub>
                      <m:e>
                        <m:r>
                          <a:rPr lang="en-IN" sz="2400" i="1">
                            <a:solidFill>
                              <a:srgbClr val="78350F"/>
                            </a:solidFill>
                            <a:latin typeface="Cambria Math" panose="02040503050406030204" pitchFamily="18" charset="0"/>
                          </a:rPr>
                          <m:t>𝐴</m:t>
                        </m:r>
                      </m:e>
                      <m:sub>
                        <m:r>
                          <a:rPr lang="en-IN" sz="2400" i="1">
                            <a:solidFill>
                              <a:srgbClr val="78350F"/>
                            </a:solidFill>
                            <a:latin typeface="Cambria Math" panose="02040503050406030204" pitchFamily="18" charset="0"/>
                          </a:rPr>
                          <m:t>𝑖</m:t>
                        </m:r>
                      </m:sub>
                    </m:sSub>
                    <m:sSub>
                      <m:e>
                        <m:r>
                          <a:rPr lang="en-IN" sz="2400" i="1">
                            <a:solidFill>
                              <a:srgbClr val="78350F"/>
                            </a:solidFill>
                            <a:latin typeface="Cambria Math" panose="02040503050406030204" pitchFamily="18" charset="0"/>
                          </a:rPr>
                          <m:t>ℎ</m:t>
                        </m:r>
                      </m:e>
                      <m:sub>
                        <m:r>
                          <a:rPr lang="en-IN" sz="2400" i="1">
                            <a:solidFill>
                              <a:srgbClr val="78350F"/>
                            </a:solidFill>
                            <a:latin typeface="Cambria Math" panose="02040503050406030204" pitchFamily="18" charset="0"/>
                          </a:rPr>
                          <m:t>𝑖</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𝑉</m:t>
                    </m:r>
                  </m:oMath>
                </a14:m>
                <a:r>
                  <a:rPr sz="2400" b="0">
                    <a:solidFill>
                      <a:srgbClr val="78350F"/>
                    </a:solidFill>
                    <a:latin typeface="Arial"/>
                  </a:rPr>
                  <a:t> for every face, apply Cauchy-Schwarz to </a:t>
                </a:r>
                <a14:m>
                  <m:oMath xmlns:m="http://schemas.openxmlformats.org/officeDocument/2006/math">
                    <m:rad>
                      <m:radPr>
                        <m:degHide m:val="on"/>
                        <m:ctrlPr>
                          <a:rPr lang="en-IN" sz="2400" i="1">
                            <a:solidFill>
                              <a:srgbClr val="78350F"/>
                            </a:solidFill>
                            <a:latin typeface="Cambria Math" panose="02040503050406030204" pitchFamily="18" charset="0"/>
                          </a:rPr>
                        </m:ctrlPr>
                      </m:radPr>
                      <m:deg/>
                      <m:e>
                        <m:sSub>
                          <m:e>
                            <m:r>
                              <a:rPr lang="en-IN" sz="2400" i="1">
                                <a:solidFill>
                                  <a:srgbClr val="78350F"/>
                                </a:solidFill>
                                <a:latin typeface="Cambria Math" panose="02040503050406030204" pitchFamily="18" charset="0"/>
                              </a:rPr>
                              <m:t>𝐴</m:t>
                            </m:r>
                          </m:e>
                          <m:sub>
                            <m:r>
                              <a:rPr lang="en-IN" sz="2400" i="1">
                                <a:solidFill>
                                  <a:srgbClr val="78350F"/>
                                </a:solidFill>
                                <a:latin typeface="Cambria Math" panose="02040503050406030204" pitchFamily="18" charset="0"/>
                              </a:rPr>
                              <m:t>𝑖</m:t>
                            </m:r>
                          </m:sub>
                        </m:sSub>
                      </m:e>
                    </m:rad>
                  </m:oMath>
                </a14:m>
                <a:r>
                  <a:rPr sz="2400" b="0">
                    <a:solidFill>
                      <a:srgbClr val="78350F"/>
                    </a:solidFill>
                    <a:latin typeface="Arial"/>
                  </a:rPr>
                  <a:t> and </a:t>
                </a:r>
                <a14:m>
                  <m:oMath xmlns:m="http://schemas.openxmlformats.org/officeDocument/2006/math">
                    <m:rad>
                      <m:radPr>
                        <m:degHide m:val="on"/>
                        <m:ctrlPr>
                          <a:rPr lang="en-IN" sz="2400" i="1">
                            <a:solidFill>
                              <a:srgbClr val="78350F"/>
                            </a:solidFill>
                            <a:latin typeface="Cambria Math" panose="02040503050406030204" pitchFamily="18" charset="0"/>
                          </a:rPr>
                        </m:ctrlPr>
                      </m:radPr>
                      <m:deg/>
                      <m:e>
                        <m:sSub>
                          <m:e>
                            <m:r>
                              <a:rPr lang="en-IN" sz="2400" i="1">
                                <a:solidFill>
                                  <a:srgbClr val="78350F"/>
                                </a:solidFill>
                                <a:latin typeface="Cambria Math" panose="02040503050406030204" pitchFamily="18" charset="0"/>
                              </a:rPr>
                              <m:t>ℎ</m:t>
                            </m:r>
                          </m:e>
                          <m:sub>
                            <m:r>
                              <a:rPr lang="en-IN" sz="2400" i="1">
                                <a:solidFill>
                                  <a:srgbClr val="78350F"/>
                                </a:solidFill>
                                <a:latin typeface="Cambria Math" panose="02040503050406030204" pitchFamily="18" charset="0"/>
                              </a:rPr>
                              <m:t>𝑖</m:t>
                            </m:r>
                          </m:sub>
                        </m:sSub>
                      </m:e>
                    </m:rad>
                  </m:oMath>
                </a14:m>
                <a:r>
                  <a:rPr sz="2400" b="0">
                    <a:solidFill>
                      <a:srgbClr val="78350F"/>
                    </a:solidFill>
                    <a:latin typeface="Arial"/>
                  </a:rPr>
                  <a:t> directly, with no need to invert the areas.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Since </a:t>
                </a:r>
                <a:r>
                  <a:rPr lang="en-IN" sz="2400">
                    <a:solidFill>
                      <a:srgbClr val="78350F"/>
                    </a:solidFill>
                    <a:latin typeface="Cambria Math" panose="02040503050406030204" pitchFamily="18" charset="0"/>
                  </a:rPr>
                  <a:t>$A_ih_i=3V$</a:t>
                </a:r>
                <a:r>
                  <a:rPr sz="2400" b="0">
                    <a:solidFill>
                      <a:srgbClr val="78350F"/>
                    </a:solidFill>
                    <a:latin typeface="Arial"/>
                  </a:rPr>
                  <a:t> for every face, apply Cauchy-Schwarz to </a:t>
                </a:r>
                <a:r>
                  <a:rPr lang="en-IN" sz="2400">
                    <a:solidFill>
                      <a:srgbClr val="78350F"/>
                    </a:solidFill>
                    <a:latin typeface="Cambria Math" panose="02040503050406030204" pitchFamily="18" charset="0"/>
                  </a:rPr>
                  <a:t>$\sqrt{A_i}$</a:t>
                </a:r>
                <a:r>
                  <a:rPr sz="2400" b="0">
                    <a:solidFill>
                      <a:srgbClr val="78350F"/>
                    </a:solidFill>
                    <a:latin typeface="Arial"/>
                  </a:rPr>
                  <a:t> and </a:t>
                </a:r>
                <a:r>
                  <a:rPr lang="en-IN" sz="2400">
                    <a:solidFill>
                      <a:srgbClr val="78350F"/>
                    </a:solidFill>
                    <a:latin typeface="Cambria Math" panose="02040503050406030204" pitchFamily="18" charset="0"/>
                  </a:rPr>
                  <a:t>$\sqrt{h_i}$</a:t>
                </a:r>
                <a:r>
                  <a:rPr sz="2400" b="0">
                    <a:solidFill>
                      <a:srgbClr val="78350F"/>
                    </a:solidFill>
                    <a:latin typeface="Arial"/>
                  </a:rPr>
                  <a:t> directly, with no need to invert the areas.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face satisfies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oMath>
                </a14:m>
                <a:r>
                  <a:rPr sz="2400" b="0">
                    <a:solidFill>
                      <a:srgbClr val="111827"/>
                    </a:solidFill>
                    <a:latin typeface="Arial"/>
                  </a:rPr>
                  <a:t>, so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𝑖</m:t>
                            </m:r>
                          </m:sub>
                        </m:sSub>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e>
                    </m:rad>
                  </m:oMath>
                </a14:m>
                <a:r>
                  <a:rPr sz="2400" b="0">
                    <a:solidFill>
                      <a:srgbClr val="111827"/>
                    </a:solidFill>
                    <a:latin typeface="Arial"/>
                  </a:rPr>
                  <a:t> for each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Cauchy-Schwarz: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e>
                    </m:d>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𝑖</m:t>
                            </m:r>
                          </m:sub>
                        </m:sSub>
                      </m:e>
                    </m:d>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𝑖</m:t>
                                    </m:r>
                                  </m:sub>
                                </m:sSub>
                              </m:e>
                            </m:rad>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right side is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e>
                            </m:rad>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needs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together with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constant, i.e. all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equal, which occurs for a regular tetrahedron of volume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240</m:t>
                    </m:r>
                  </m:oMath>
                </a14:m>
                <a:r>
                  <a:rPr sz="2400" b="0">
                    <a:solidFill>
                      <a:srgbClr val="111827"/>
                    </a:solidFill>
                    <a:latin typeface="Arial"/>
                  </a:rPr>
                  <a:t> is attained and is the minimum.</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Every face satisfies </a:t>
                </a:r>
                <a:r>
                  <a:rPr lang="en-IN" sz="2400">
                    <a:solidFill>
                      <a:srgbClr val="111827"/>
                    </a:solidFill>
                    <a:latin typeface="Cambria Math" panose="02040503050406030204" pitchFamily="18" charset="0"/>
                  </a:rPr>
                  <a:t>$A_ih_i=3V$</a:t>
                </a:r>
                <a:r>
                  <a:rPr sz="2400" b="0">
                    <a:solidFill>
                      <a:srgbClr val="111827"/>
                    </a:solidFill>
                    <a:latin typeface="Arial"/>
                  </a:rPr>
                  <a:t>, so </a:t>
                </a:r>
                <a:r>
                  <a:rPr lang="en-IN" sz="2400">
                    <a:solidFill>
                      <a:srgbClr val="111827"/>
                    </a:solidFill>
                    <a:latin typeface="Cambria Math" panose="02040503050406030204" pitchFamily="18" charset="0"/>
                  </a:rPr>
                  <a:t>$\sqrt{A_ih_i}=\sqrt{3V}$</a:t>
                </a:r>
                <a:r>
                  <a:rPr sz="2400" b="0">
                    <a:solidFill>
                      <a:srgbClr val="111827"/>
                    </a:solidFill>
                    <a:latin typeface="Arial"/>
                  </a:rPr>
                  <a:t> for each </a:t>
                </a:r>
                <a:r>
                  <a:rPr lang="en-IN" sz="2400">
                    <a:solidFill>
                      <a:srgbClr val="111827"/>
                    </a:solidFill>
                    <a:latin typeface="Cambria Math" panose="02040503050406030204" pitchFamily="18" charset="0"/>
                  </a:rPr>
                  <a:t>$i=1,2,3,4$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Cauchy-Schwarz: </a:t>
                </a:r>
                <a:r>
                  <a:rPr lang="en-IN" sz="2400">
                    <a:solidFill>
                      <a:srgbClr val="111827"/>
                    </a:solidFill>
                    <a:latin typeface="Cambria Math" panose="02040503050406030204" pitchFamily="18" charset="0"/>
                  </a:rPr>
                  <a:t>$\left(\sum A_i\right)\left(\sum h_i\right)\ge\left(\sum\sqrt{A_ih_i}\right)^2$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right side is </a:t>
                </a:r>
                <a:r>
                  <a:rPr lang="en-IN" sz="2400">
                    <a:solidFill>
                      <a:srgbClr val="111827"/>
                    </a:solidFill>
                    <a:latin typeface="Cambria Math" panose="02040503050406030204" pitchFamily="18" charset="0"/>
                  </a:rPr>
                  <a:t>$\left(4\sqrt{3V}\right)^2=48V=48\cdot5=240$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Equality needs </a:t>
                </a:r>
                <a:r>
                  <a:rPr lang="en-IN" sz="2400">
                    <a:solidFill>
                      <a:srgbClr val="111827"/>
                    </a:solidFill>
                    <a:latin typeface="Cambria Math" panose="02040503050406030204" pitchFamily="18" charset="0"/>
                  </a:rPr>
                  <a:t>$A_i\propto h_i$</a:t>
                </a:r>
                <a:r>
                  <a:rPr sz="2400" b="0">
                    <a:solidFill>
                      <a:srgbClr val="111827"/>
                    </a:solidFill>
                    <a:latin typeface="Arial"/>
                  </a:rPr>
                  <a:t> together with </a:t>
                </a:r>
                <a:r>
                  <a:rPr lang="en-IN" sz="2400">
                    <a:solidFill>
                      <a:srgbClr val="111827"/>
                    </a:solidFill>
                    <a:latin typeface="Cambria Math" panose="02040503050406030204" pitchFamily="18" charset="0"/>
                  </a:rPr>
                  <a:t>$A_ih_i$</a:t>
                </a:r>
                <a:r>
                  <a:rPr sz="2400" b="0">
                    <a:solidFill>
                      <a:srgbClr val="111827"/>
                    </a:solidFill>
                    <a:latin typeface="Arial"/>
                  </a:rPr>
                  <a:t> constant, i.e. all </a:t>
                </a:r>
                <a:r>
                  <a:rPr lang="en-IN" sz="2400">
                    <a:solidFill>
                      <a:srgbClr val="111827"/>
                    </a:solidFill>
                    <a:latin typeface="Cambria Math" panose="02040503050406030204" pitchFamily="18" charset="0"/>
                  </a:rPr>
                  <a:t>$A_i$</a:t>
                </a:r>
                <a:r>
                  <a:rPr sz="2400" b="0">
                    <a:solidFill>
                      <a:srgbClr val="111827"/>
                    </a:solidFill>
                    <a:latin typeface="Arial"/>
                  </a:rPr>
                  <a:t> equal, which occurs for a regular tetrahedron of volume </a:t>
                </a:r>
                <a:r>
                  <a:rPr lang="en-IN" sz="2400">
                    <a:solidFill>
                      <a:srgbClr val="111827"/>
                    </a:solidFill>
                    <a:latin typeface="Cambria Math" panose="02040503050406030204" pitchFamily="18" charset="0"/>
                  </a:rPr>
                  <a:t>$5$</a:t>
                </a:r>
                <a:r>
                  <a:rPr sz="2400" b="0">
                    <a:solidFill>
                      <a:srgbClr val="111827"/>
                    </a:solidFill>
                    <a:latin typeface="Arial"/>
                  </a:rPr>
                  <a:t>, so </a:t>
                </a:r>
                <a:r>
                  <a:rPr lang="en-IN" sz="2400">
                    <a:solidFill>
                      <a:srgbClr val="111827"/>
                    </a:solidFill>
                    <a:latin typeface="Cambria Math" panose="02040503050406030204" pitchFamily="18" charset="0"/>
                  </a:rPr>
                  <a:t>$240$</a:t>
                </a:r>
                <a:r>
                  <a:rPr sz="2400" b="0">
                    <a:solidFill>
                      <a:srgbClr val="111827"/>
                    </a:solidFill>
                    <a:latin typeface="Arial"/>
                  </a:rPr>
                  <a:t> is attained and is the minimum.</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240</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$240$</a:t>
                </a:r>
                <a:endParaRPr sz="2800">
                  <a:solidFill>
                    <a:srgbClr val="15803D"/>
                  </a:solidFill>
                </a:endParaRPr>
              </a:p>
            </p:txBody>
          </p:sp>
        </mc:Fallback>
      </mc:AlternateContent>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tetrahedron </a:t>
                </a:r>
                <a14:m>
                  <m:oMath xmlns:m="http://schemas.openxmlformats.org/officeDocument/2006/math">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num>
                      <m:den>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den>
                    </m:f>
                  </m:oMath>
                </a14:m>
                <a:r>
                  <a:rPr sz="2400" b="0">
                    <a:solidFill>
                      <a:srgbClr val="111827"/>
                    </a:solidFill>
                    <a:latin typeface="Arial"/>
                  </a:rPr>
                  <a:t>, hence </a:t>
                </a:r>
                <a14:m>
                  <m:oMath xmlns:m="http://schemas.openxmlformats.org/officeDocument/2006/math">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oMath>
                </a14:m>
                <a:r>
                  <a:rPr sz="2400" b="0">
                    <a:solidFill>
                      <a:srgbClr val="111827"/>
                    </a:solidFill>
                    <a:latin typeface="Arial"/>
                  </a:rPr>
                  <a:t> for all four faces, and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𝑖</m:t>
                            </m:r>
                          </m:sub>
                        </m:sSub>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den>
                    </m:f>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e>
                    </m:nary>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den>
                            </m:f>
                          </m:e>
                        </m:nary>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for positive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oMath>
                </a14:m>
                <a:r>
                  <a:rPr sz="2400" b="0">
                    <a:solidFill>
                      <a:srgbClr val="111827"/>
                    </a:solidFill>
                    <a:latin typeface="Arial"/>
                  </a:rPr>
                  <a:t> (equality iff all equal): for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it gives </a:t>
                </a:r>
                <a14:m>
                  <m:oMath xmlns:m="http://schemas.openxmlformats.org/officeDocument/2006/math">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bound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𝐴</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ℎ</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a:rPr lang="en-IN" sz="2400" i="1">
                        <a:solidFill>
                          <a:srgbClr val="111827"/>
                        </a:solidFill>
                        <a:latin typeface="Cambria Math" panose="02040503050406030204" pitchFamily="18" charset="0"/>
                      </a:rPr>
                      <m:t>𝑉</m:t>
                    </m:r>
                  </m:oMath>
                </a14:m>
                <a:r>
                  <a:rPr sz="2400" b="0">
                    <a:solidFill>
                      <a:srgbClr val="111827"/>
                    </a:solidFill>
                    <a:latin typeface="Arial"/>
                  </a:rPr>
                  <a:t> holds for every tetrahedron; equality iff all four faces have the same area (which does not force the tetrahedron to be regular; a disphenoid also works).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tetrahedron </a:t>
                </a:r>
                <a:r>
                  <a:rPr lang="en-IN" sz="2400">
                    <a:solidFill>
                      <a:srgbClr val="111827"/>
                    </a:solidFill>
                    <a:latin typeface="Cambria Math" panose="02040503050406030204" pitchFamily="18" charset="0"/>
                  </a:rPr>
                  <a:t>$h_i=\frac{3V}{A_i}$</a:t>
                </a:r>
                <a:r>
                  <a:rPr sz="2400" b="0">
                    <a:solidFill>
                      <a:srgbClr val="111827"/>
                    </a:solidFill>
                    <a:latin typeface="Arial"/>
                  </a:rPr>
                  <a:t>, hence </a:t>
                </a:r>
                <a:r>
                  <a:rPr lang="en-IN" sz="2400">
                    <a:solidFill>
                      <a:srgbClr val="111827"/>
                    </a:solidFill>
                    <a:latin typeface="Cambria Math" panose="02040503050406030204" pitchFamily="18" charset="0"/>
                  </a:rPr>
                  <a:t>$A_ih_i=3V$</a:t>
                </a:r>
                <a:r>
                  <a:rPr sz="2400" b="0">
                    <a:solidFill>
                      <a:srgbClr val="111827"/>
                    </a:solidFill>
                    <a:latin typeface="Arial"/>
                  </a:rPr>
                  <a:t> for all four faces, and </a:t>
                </a:r>
                <a:r>
                  <a:rPr lang="en-IN" sz="2400">
                    <a:solidFill>
                      <a:srgbClr val="111827"/>
                    </a:solidFill>
                    <a:latin typeface="Cambria Math" panose="02040503050406030204" pitchFamily="18" charset="0"/>
                  </a:rPr>
                  <a:t>$\sum\frac{1}{h_i}=\frac{1}{3V}\sum A_i$</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$(\sum_{i=1}^{n}x_i)\left(\sum_{i=1}^{n}\frac1{x_i}\right)\ge n^2$</a:t>
                </a:r>
                <a:r>
                  <a:rPr sz="2400" b="0">
                    <a:solidFill>
                      <a:srgbClr val="111827"/>
                    </a:solidFill>
                    <a:latin typeface="Arial"/>
                  </a:rPr>
                  <a:t> for positive </a:t>
                </a:r>
                <a:r>
                  <a:rPr lang="en-IN" sz="2400">
                    <a:solidFill>
                      <a:srgbClr val="111827"/>
                    </a:solidFill>
                    <a:latin typeface="Cambria Math" panose="02040503050406030204" pitchFamily="18" charset="0"/>
                  </a:rPr>
                  <a:t>$x_i$</a:t>
                </a:r>
                <a:r>
                  <a:rPr sz="2400" b="0">
                    <a:solidFill>
                      <a:srgbClr val="111827"/>
                    </a:solidFill>
                    <a:latin typeface="Arial"/>
                  </a:rPr>
                  <a:t> (equality iff all equal): for </a:t>
                </a:r>
                <a:r>
                  <a:rPr lang="en-IN" sz="2400">
                    <a:solidFill>
                      <a:srgbClr val="111827"/>
                    </a:solidFill>
                    <a:latin typeface="Cambria Math" panose="02040503050406030204" pitchFamily="18" charset="0"/>
                  </a:rPr>
                  <a:t>$n=4$</a:t>
                </a:r>
                <a:r>
                  <a:rPr sz="2400" b="0">
                    <a:solidFill>
                      <a:srgbClr val="111827"/>
                    </a:solidFill>
                    <a:latin typeface="Arial"/>
                  </a:rPr>
                  <a:t> it gives </a:t>
                </a:r>
                <a:r>
                  <a:rPr lang="en-IN" sz="2400">
                    <a:solidFill>
                      <a:srgbClr val="111827"/>
                    </a:solidFill>
                    <a:latin typeface="Cambria Math" panose="02040503050406030204" pitchFamily="18" charset="0"/>
                  </a:rPr>
                  <a:t>$16$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bound </a:t>
                </a:r>
                <a:r>
                  <a:rPr lang="en-IN" sz="2400">
                    <a:solidFill>
                      <a:srgbClr val="111827"/>
                    </a:solidFill>
                    <a:latin typeface="Cambria Math" panose="02040503050406030204" pitchFamily="18" charset="0"/>
                  </a:rPr>
                  <a:t>$(\sum A_i)(\sum h_i)\ge48V$</a:t>
                </a:r>
                <a:r>
                  <a:rPr sz="2400" b="0">
                    <a:solidFill>
                      <a:srgbClr val="111827"/>
                    </a:solidFill>
                    <a:latin typeface="Arial"/>
                  </a:rPr>
                  <a:t> holds for every tetrahedron; equality iff all four faces have the same area (which does not force the tetrahedron to be regular; a disphenoid also works).</a:t>
                </a:r>
                <a:endParaRPr sz="2400">
                  <a:solidFill>
                    <a:srgbClr val="111827"/>
                  </a:solidFill>
                </a:endParaRPr>
              </a:p>
            </p:txBody>
          </p:sp>
        </mc:Fallback>
      </mc:AlternateContent>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vector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turns through a right angle, passing through the positive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on the way. Find the vector in its new position.</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vector </a:t>
                </a:r>
                <a:r>
                  <a:rPr lang="en-IN" sz="2400">
                    <a:solidFill>
                      <a:srgbClr val="111827"/>
                    </a:solidFill>
                    <a:latin typeface="Cambria Math" panose="02040503050406030204" pitchFamily="18" charset="0"/>
                  </a:rPr>
                  <a:t>$\vec{OP}=\hat{i}+2\hat{j}+2\hat{k}$</a:t>
                </a:r>
                <a:r>
                  <a:rPr sz="2400" b="0">
                    <a:solidFill>
                      <a:srgbClr val="111827"/>
                    </a:solidFill>
                    <a:latin typeface="Arial"/>
                  </a:rPr>
                  <a:t> turns through a right angle, passing through the positive </a:t>
                </a:r>
                <a:r>
                  <a:rPr lang="en-IN" sz="2400">
                    <a:solidFill>
                      <a:srgbClr val="111827"/>
                    </a:solidFill>
                    <a:latin typeface="Cambria Math" panose="02040503050406030204" pitchFamily="18" charset="0"/>
                  </a:rPr>
                  <a:t>$x$</a:t>
                </a:r>
                <a:r>
                  <a:rPr sz="2400" b="0">
                    <a:solidFill>
                      <a:srgbClr val="111827"/>
                    </a:solidFill>
                    <a:latin typeface="Arial"/>
                  </a:rPr>
                  <a:t>-axis on the way. Find the vector in its new position.</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Vector triple product and rotation of a vector in a plane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new vector lies in the plane of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𝑃</m:t>
                        </m:r>
                      </m:e>
                    </m:acc>
                  </m:oMath>
                </a14:m>
                <a:r>
                  <a:rPr sz="2400" b="0">
                    <a:solidFill>
                      <a:srgbClr val="78350F"/>
                    </a:solidFill>
                    <a:latin typeface="Arial"/>
                  </a:rPr>
                  <a:t> and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𝑖</m:t>
                        </m:r>
                      </m:e>
                    </m:acc>
                  </m:oMath>
                </a14:m>
                <a:r>
                  <a:rPr sz="2400" b="0">
                    <a:solidFill>
                      <a:srgbClr val="78350F"/>
                    </a:solidFill>
                    <a:latin typeface="Arial"/>
                  </a:rPr>
                  <a:t>, is perpendicular to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𝑃</m:t>
                        </m:r>
                      </m:e>
                    </m:acc>
                  </m:oMath>
                </a14:m>
                <a:r>
                  <a:rPr sz="2400" b="0">
                    <a:solidFill>
                      <a:srgbClr val="78350F"/>
                    </a:solidFill>
                    <a:latin typeface="Arial"/>
                  </a:rPr>
                  <a:t> and has the same length;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𝑃</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𝑖</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𝑃</m:t>
                        </m:r>
                      </m:e>
                    </m:acc>
                  </m:oMath>
                </a14:m>
                <a:r>
                  <a:rPr sz="2400" b="0">
                    <a:solidFill>
                      <a:srgbClr val="78350F"/>
                    </a:solidFill>
                    <a:latin typeface="Arial"/>
                  </a:rPr>
                  <a:t> gives that direction.</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new vector lies in the plane of </a:t>
                </a:r>
                <a:r>
                  <a:rPr lang="en-IN" sz="2400">
                    <a:solidFill>
                      <a:srgbClr val="78350F"/>
                    </a:solidFill>
                    <a:latin typeface="Cambria Math" panose="02040503050406030204" pitchFamily="18" charset="0"/>
                  </a:rPr>
                  <a:t>$\vec{OP}$</a:t>
                </a:r>
                <a:r>
                  <a:rPr sz="2400" b="0">
                    <a:solidFill>
                      <a:srgbClr val="78350F"/>
                    </a:solidFill>
                    <a:latin typeface="Arial"/>
                  </a:rPr>
                  <a:t> and </a:t>
                </a:r>
                <a:r>
                  <a:rPr lang="en-IN" sz="2400">
                    <a:solidFill>
                      <a:srgbClr val="78350F"/>
                    </a:solidFill>
                    <a:latin typeface="Cambria Math" panose="02040503050406030204" pitchFamily="18" charset="0"/>
                  </a:rPr>
                  <a:t>$\hat i$</a:t>
                </a:r>
                <a:r>
                  <a:rPr sz="2400" b="0">
                    <a:solidFill>
                      <a:srgbClr val="78350F"/>
                    </a:solidFill>
                    <a:latin typeface="Arial"/>
                  </a:rPr>
                  <a:t>, is perpendicular to </a:t>
                </a:r>
                <a:r>
                  <a:rPr lang="en-IN" sz="2400">
                    <a:solidFill>
                      <a:srgbClr val="78350F"/>
                    </a:solidFill>
                    <a:latin typeface="Cambria Math" panose="02040503050406030204" pitchFamily="18" charset="0"/>
                  </a:rPr>
                  <a:t>$\vec{OP}$</a:t>
                </a:r>
                <a:r>
                  <a:rPr sz="2400" b="0">
                    <a:solidFill>
                      <a:srgbClr val="78350F"/>
                    </a:solidFill>
                    <a:latin typeface="Arial"/>
                  </a:rPr>
                  <a:t> and has the same length; </a:t>
                </a:r>
                <a:r>
                  <a:rPr lang="en-IN" sz="2400">
                    <a:solidFill>
                      <a:srgbClr val="78350F"/>
                    </a:solidFill>
                    <a:latin typeface="Cambria Math" panose="02040503050406030204" pitchFamily="18" charset="0"/>
                  </a:rPr>
                  <a:t>$(\vec{OP}\times\hat i)\times\vec{OP}$</a:t>
                </a:r>
                <a:r>
                  <a:rPr sz="2400" b="0">
                    <a:solidFill>
                      <a:srgbClr val="78350F"/>
                    </a:solidFill>
                    <a:latin typeface="Arial"/>
                  </a:rPr>
                  <a:t> gives that direction.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new vector be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e>
                    </m:acc>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oMath>
                </a14:m>
                <a:r>
                  <a:rPr sz="2400" b="0">
                    <a:solidFill>
                      <a:srgbClr val="111827"/>
                    </a:solidFill>
                    <a:latin typeface="Arial"/>
                  </a:rPr>
                  <a:t> (turned through a right angle).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passes through the positive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on the way,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e>
                    </m:acc>
                  </m:oMath>
                </a14:m>
                <a:r>
                  <a:rPr sz="2400" b="0">
                    <a:solidFill>
                      <a:srgbClr val="111827"/>
                    </a:solidFill>
                    <a:latin typeface="Arial"/>
                  </a:rPr>
                  <a:t> are coplanar.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vector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oMath>
                </a14:m>
                <a:r>
                  <a:rPr sz="2400" b="0">
                    <a:solidFill>
                      <a:srgbClr val="111827"/>
                    </a:solidFill>
                    <a:latin typeface="Arial"/>
                  </a:rPr>
                  <a:t> lies in this plane and is perpendicular to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e>
                    </m:d>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num>
                      <m:den>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e>
                        </m:d>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new vector be </a:t>
                </a:r>
                <a:r>
                  <a:rPr lang="en-IN" sz="2400">
                    <a:solidFill>
                      <a:srgbClr val="111827"/>
                    </a:solidFill>
                    <a:latin typeface="Cambria Math" panose="02040503050406030204" pitchFamily="18" charset="0"/>
                  </a:rPr>
                  <a:t>$\vec{OP'}$</a:t>
                </a:r>
                <a:r>
                  <a:rPr sz="2400" b="0">
                    <a:solidFill>
                      <a:srgbClr val="111827"/>
                    </a:solidFill>
                    <a:latin typeface="Arial"/>
                  </a:rPr>
                  <a:t>; </a:t>
                </a:r>
                <a:r>
                  <a:rPr lang="en-IN" sz="2400">
                    <a:solidFill>
                      <a:srgbClr val="111827"/>
                    </a:solidFill>
                    <a:latin typeface="Cambria Math" panose="02040503050406030204" pitchFamily="18" charset="0"/>
                  </a:rPr>
                  <a:t>$\left|\vec{OP}\right|=3$</a:t>
                </a:r>
                <a:r>
                  <a:rPr sz="2400" b="0">
                    <a:solidFill>
                      <a:srgbClr val="111827"/>
                    </a:solidFill>
                    <a:latin typeface="Arial"/>
                  </a:rPr>
                  <a:t> and </a:t>
                </a:r>
                <a:r>
                  <a:rPr lang="en-IN" sz="2400">
                    <a:solidFill>
                      <a:srgbClr val="111827"/>
                    </a:solidFill>
                    <a:latin typeface="Cambria Math" panose="02040503050406030204" pitchFamily="18" charset="0"/>
                  </a:rPr>
                  <a:t>$\left|\vec{OP'}\right|=3$</a:t>
                </a:r>
                <a:r>
                  <a:rPr sz="2400" b="0">
                    <a:solidFill>
                      <a:srgbClr val="111827"/>
                    </a:solidFill>
                    <a:latin typeface="Arial"/>
                  </a:rPr>
                  <a:t>, and </a:t>
                </a:r>
                <a:r>
                  <a:rPr lang="en-IN" sz="2400">
                    <a:solidFill>
                      <a:srgbClr val="111827"/>
                    </a:solidFill>
                    <a:latin typeface="Cambria Math" panose="02040503050406030204" pitchFamily="18" charset="0"/>
                  </a:rPr>
                  <a:t>$\vec{OP'}\perp\vec{OP}$</a:t>
                </a:r>
                <a:r>
                  <a:rPr sz="2400" b="0">
                    <a:solidFill>
                      <a:srgbClr val="111827"/>
                    </a:solidFill>
                    <a:latin typeface="Arial"/>
                  </a:rPr>
                  <a:t> (turned through a right angle).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 passes through the positive </a:t>
                </a:r>
                <a:r>
                  <a:rPr lang="en-IN" sz="2400">
                    <a:solidFill>
                      <a:srgbClr val="111827"/>
                    </a:solidFill>
                    <a:latin typeface="Cambria Math" panose="02040503050406030204" pitchFamily="18" charset="0"/>
                  </a:rPr>
                  <a:t>$x$</a:t>
                </a:r>
                <a:r>
                  <a:rPr sz="2400" b="0">
                    <a:solidFill>
                      <a:srgbClr val="111827"/>
                    </a:solidFill>
                    <a:latin typeface="Arial"/>
                  </a:rPr>
                  <a:t>-axis on the way, so </a:t>
                </a:r>
                <a:r>
                  <a:rPr lang="en-IN" sz="2400">
                    <a:solidFill>
                      <a:srgbClr val="111827"/>
                    </a:solidFill>
                    <a:latin typeface="Cambria Math" panose="02040503050406030204" pitchFamily="18" charset="0"/>
                  </a:rPr>
                  <a:t>$\vec{OP}$</a:t>
                </a:r>
                <a:r>
                  <a:rPr sz="2400" b="0">
                    <a:solidFill>
                      <a:srgbClr val="111827"/>
                    </a:solidFill>
                    <a:latin typeface="Arial"/>
                  </a:rPr>
                  <a:t>, </a:t>
                </a:r>
                <a:r>
                  <a:rPr lang="en-IN" sz="2400">
                    <a:solidFill>
                      <a:srgbClr val="111827"/>
                    </a:solidFill>
                    <a:latin typeface="Cambria Math" panose="02040503050406030204" pitchFamily="18" charset="0"/>
                  </a:rPr>
                  <a:t>$\hat i$</a:t>
                </a:r>
                <a:r>
                  <a:rPr sz="2400" b="0">
                    <a:solidFill>
                      <a:srgbClr val="111827"/>
                    </a:solidFill>
                    <a:latin typeface="Arial"/>
                  </a:rPr>
                  <a:t> and </a:t>
                </a:r>
                <a:r>
                  <a:rPr lang="en-IN" sz="2400">
                    <a:solidFill>
                      <a:srgbClr val="111827"/>
                    </a:solidFill>
                    <a:latin typeface="Cambria Math" panose="02040503050406030204" pitchFamily="18" charset="0"/>
                  </a:rPr>
                  <a:t>$\vec{OP'}$</a:t>
                </a:r>
                <a:r>
                  <a:rPr sz="2400" b="0">
                    <a:solidFill>
                      <a:srgbClr val="111827"/>
                    </a:solidFill>
                    <a:latin typeface="Arial"/>
                  </a:rPr>
                  <a:t> are coplanar.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vector </a:t>
                </a:r>
                <a:r>
                  <a:rPr lang="en-IN" sz="2400">
                    <a:solidFill>
                      <a:srgbClr val="111827"/>
                    </a:solidFill>
                    <a:latin typeface="Cambria Math" panose="02040503050406030204" pitchFamily="18" charset="0"/>
                  </a:rPr>
                  <a:t>$(\vec{OP}\times\hat i)\times\vec{OP}$</a:t>
                </a:r>
                <a:r>
                  <a:rPr sz="2400" b="0">
                    <a:solidFill>
                      <a:srgbClr val="111827"/>
                    </a:solidFill>
                    <a:latin typeface="Arial"/>
                  </a:rPr>
                  <a:t> lies in this plane and is perpendicular to </a:t>
                </a:r>
                <a:r>
                  <a:rPr lang="en-IN" sz="2400">
                    <a:solidFill>
                      <a:srgbClr val="111827"/>
                    </a:solidFill>
                    <a:latin typeface="Cambria Math" panose="02040503050406030204" pitchFamily="18" charset="0"/>
                  </a:rPr>
                  <a:t>$\vec{OP}$</a:t>
                </a:r>
                <a:r>
                  <a:rPr sz="2400" b="0">
                    <a:solidFill>
                      <a:srgbClr val="111827"/>
                    </a:solidFill>
                    <a:latin typeface="Arial"/>
                  </a:rPr>
                  <a:t>, so </a:t>
                </a:r>
                <a:r>
                  <a:rPr lang="en-IN" sz="2400">
                    <a:solidFill>
                      <a:srgbClr val="111827"/>
                    </a:solidFill>
                    <a:latin typeface="Cambria Math" panose="02040503050406030204" pitchFamily="18" charset="0"/>
                  </a:rPr>
                  <a:t>$\vec{OP'}=\left|\vec{OP}\right|\frac{(\vec{OP}\times\hat i)\times\vec{OP}}{\left|(\vec{OP}\times\hat i)\times\vec{OP}\right|}$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Its magnitude is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8</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num>
                      <m:den>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its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oMath>
                </a14:m>
                <a:r>
                  <a:rPr sz="2400" b="0">
                    <a:solidFill>
                      <a:srgbClr val="111827"/>
                    </a:solidFill>
                    <a:latin typeface="Arial"/>
                  </a:rPr>
                  <a:t> component is positive, so it is the sense of turning towards (and past)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as required.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$\vec{OP}\times\hat i=(0,2,-2)$</a:t>
                </a:r>
                <a:r>
                  <a:rPr sz="2400" b="0">
                    <a:solidFill>
                      <a:srgbClr val="111827"/>
                    </a:solidFill>
                    <a:latin typeface="Arial"/>
                  </a:rPr>
                  <a:t>, and </a:t>
                </a:r>
                <a:r>
                  <a:rPr lang="en-IN" sz="2400">
                    <a:solidFill>
                      <a:srgbClr val="111827"/>
                    </a:solidFill>
                    <a:latin typeface="Cambria Math" panose="02040503050406030204" pitchFamily="18" charset="0"/>
                  </a:rPr>
                  <a:t>$(\vec{OP}\times\hat i)\times\vec{OP}=8\hat i-2\hat j-2\hat 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Its magnitude is </a:t>
                </a:r>
                <a:r>
                  <a:rPr lang="en-IN" sz="2400">
                    <a:solidFill>
                      <a:srgbClr val="111827"/>
                    </a:solidFill>
                    <a:latin typeface="Cambria Math" panose="02040503050406030204" pitchFamily="18" charset="0"/>
                  </a:rPr>
                  <a:t>$\sqrt{64+4+4}=\sqrt{72}=6\sqrt2$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$\vec{OP'}=\frac{3\left(8\hat i-2\hat j-2\hat k\right)}{6\sqrt2}$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$\vec{OP'}=\frac{4}{\sqrt2}\hat i-\frac{1}{\sqrt2}\hat j-\frac{1}{\sqrt2}\hat k$</a:t>
                </a:r>
                <a:r>
                  <a:rPr sz="2400" b="0">
                    <a:solidFill>
                      <a:srgbClr val="111827"/>
                    </a:solidFill>
                    <a:latin typeface="Arial"/>
                  </a:rPr>
                  <a:t>; its </a:t>
                </a:r>
                <a:r>
                  <a:rPr lang="en-IN" sz="2400">
                    <a:solidFill>
                      <a:srgbClr val="111827"/>
                    </a:solidFill>
                    <a:latin typeface="Cambria Math" panose="02040503050406030204" pitchFamily="18" charset="0"/>
                  </a:rPr>
                  <a:t>$\hat i$</a:t>
                </a:r>
                <a:r>
                  <a:rPr sz="2400" b="0">
                    <a:solidFill>
                      <a:srgbClr val="111827"/>
                    </a:solidFill>
                    <a:latin typeface="Arial"/>
                  </a:rPr>
                  <a:t> component is positive, so it is the sense of turning towards (and past) the </a:t>
                </a:r>
                <a:r>
                  <a:rPr lang="en-IN" sz="2400">
                    <a:solidFill>
                      <a:srgbClr val="111827"/>
                    </a:solidFill>
                    <a:latin typeface="Cambria Math" panose="02040503050406030204" pitchFamily="18" charset="0"/>
                  </a:rPr>
                  <a:t>$x$</a:t>
                </a:r>
                <a:r>
                  <a:rPr sz="2400" b="0">
                    <a:solidFill>
                      <a:srgbClr val="111827"/>
                    </a:solidFill>
                    <a:latin typeface="Arial"/>
                  </a:rPr>
                  <a:t>-axis, as required.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4</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den>
                    </m:f>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𝑖</m:t>
                        </m:r>
                      </m:e>
                    </m:acc>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den>
                    </m:f>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𝑗</m:t>
                        </m:r>
                      </m:e>
                    </m:acc>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den>
                    </m:f>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𝑘</m:t>
                        </m:r>
                      </m:e>
                    </m:acc>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$\frac{4}{\sqrt2}\hat{i}-\frac{1}{\sqrt2}\hat{j}-\frac{1}{\sqrt2}\hat{k}$</a:t>
                </a:r>
                <a:endParaRPr sz="2800">
                  <a:solidFill>
                    <a:srgbClr val="15803D"/>
                  </a:solidFill>
                </a:endParaRPr>
              </a:p>
            </p:txBody>
          </p:sp>
        </mc:Fallback>
      </mc:AlternateContent>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𝑂</m:t>
                        </m:r>
                        <m:sSup>
                          <m:e>
                            <m:r>
                              <a:rPr lang="en-IN" sz="2400" i="1">
                                <a:solidFill>
                                  <a:srgbClr val="78350F"/>
                                </a:solidFill>
                                <a:latin typeface="Cambria Math" panose="02040503050406030204" pitchFamily="18" charset="0"/>
                              </a:rPr>
                              <m:t>𝑃</m:t>
                            </m:r>
                          </m:e>
                          <m:sup>
                            <m:r>
                              <m:rPr>
                                <m:sty m:val="p"/>
                              </m:rPr>
                              <a:rPr lang="en-IN" sz="2400">
                                <a:solidFill>
                                  <a:srgbClr val="78350F"/>
                                </a:solidFill>
                                <a:latin typeface="Cambria Math" panose="02040503050406030204" pitchFamily="18" charset="0"/>
                              </a:rPr>
                              <m:t>′</m:t>
                            </m:r>
                          </m:sup>
                        </m:sSup>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𝑖</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𝑃</m:t>
                        </m:r>
                      </m:e>
                    </m:acc>
                  </m:oMath>
                </a14:m>
                <a:r>
                  <a:rPr sz="2400" b="0">
                    <a:solidFill>
                      <a:srgbClr val="78350F"/>
                    </a:solidFill>
                    <a:latin typeface="Arial"/>
                  </a:rPr>
                  <a:t> (coplanar), then impose perpendicularity, length </a:t>
                </a:r>
                <a14:m>
                  <m:oMath xmlns:m="http://schemas.openxmlformats.org/officeDocument/2006/math">
                    <m:r>
                      <a:rPr lang="en-IN" sz="2400" i="1">
                        <a:solidFill>
                          <a:srgbClr val="78350F"/>
                        </a:solidFill>
                        <a:latin typeface="Cambria Math" panose="02040503050406030204" pitchFamily="18" charset="0"/>
                      </a:rPr>
                      <m:t>3</m:t>
                    </m:r>
                  </m:oMath>
                </a14:m>
                <a:r>
                  <a:rPr sz="2400" b="0">
                    <a:solidFill>
                      <a:srgbClr val="78350F"/>
                    </a:solidFill>
                    <a:latin typeface="Arial"/>
                  </a:rPr>
                  <a:t> and the sense of rotation.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r>
                  <a:rPr lang="en-IN" sz="2400">
                    <a:solidFill>
                      <a:srgbClr val="78350F"/>
                    </a:solidFill>
                    <a:latin typeface="Cambria Math" panose="02040503050406030204" pitchFamily="18" charset="0"/>
                  </a:rPr>
                  <a:t>$\vec{OP'}=x\hat i+y\,\vec{OP}$</a:t>
                </a:r>
                <a:r>
                  <a:rPr sz="2400" b="0">
                    <a:solidFill>
                      <a:srgbClr val="78350F"/>
                    </a:solidFill>
                    <a:latin typeface="Arial"/>
                  </a:rPr>
                  <a:t> (coplanar), then impose perpendicularity, length </a:t>
                </a:r>
                <a:r>
                  <a:rPr lang="en-IN" sz="2400">
                    <a:solidFill>
                      <a:srgbClr val="78350F"/>
                    </a:solidFill>
                    <a:latin typeface="Cambria Math" panose="02040503050406030204" pitchFamily="18" charset="0"/>
                  </a:rPr>
                  <a:t>$3$</a:t>
                </a:r>
                <a:r>
                  <a:rPr sz="2400" b="0">
                    <a:solidFill>
                      <a:srgbClr val="78350F"/>
                    </a:solidFill>
                    <a:latin typeface="Arial"/>
                  </a:rPr>
                  <a:t> and the sense of rotation.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Coplanarity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oMath>
                </a14:m>
                <a:r>
                  <a:rPr sz="2400" b="0">
                    <a:solidFill>
                      <a:srgbClr val="111827"/>
                    </a:solidFill>
                    <a:latin typeface="Arial"/>
                  </a:rPr>
                  <a:t> lets us write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oMath>
                </a14:m>
                <a:r>
                  <a:rPr sz="2400" b="0">
                    <a:solidFill>
                      <a:srgbClr val="111827"/>
                    </a:solidFill>
                    <a:latin typeface="Arial"/>
                  </a:rPr>
                  <a: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Perpendicular to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Length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81</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72</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Coplanarity with </a:t>
                </a:r>
                <a:r>
                  <a:rPr lang="en-IN" sz="2400">
                    <a:solidFill>
                      <a:srgbClr val="111827"/>
                    </a:solidFill>
                    <a:latin typeface="Cambria Math" panose="02040503050406030204" pitchFamily="18" charset="0"/>
                  </a:rPr>
                  <a:t>$\vec{OP}$</a:t>
                </a:r>
                <a:r>
                  <a:rPr sz="2400" b="0">
                    <a:solidFill>
                      <a:srgbClr val="111827"/>
                    </a:solidFill>
                    <a:latin typeface="Arial"/>
                  </a:rPr>
                  <a:t> and </a:t>
                </a:r>
                <a:r>
                  <a:rPr lang="en-IN" sz="2400">
                    <a:solidFill>
                      <a:srgbClr val="111827"/>
                    </a:solidFill>
                    <a:latin typeface="Cambria Math" panose="02040503050406030204" pitchFamily="18" charset="0"/>
                  </a:rPr>
                  <a:t>$\hat i$</a:t>
                </a:r>
                <a:r>
                  <a:rPr sz="2400" b="0">
                    <a:solidFill>
                      <a:srgbClr val="111827"/>
                    </a:solidFill>
                    <a:latin typeface="Arial"/>
                  </a:rPr>
                  <a:t> lets us write </a:t>
                </a:r>
                <a:r>
                  <a:rPr lang="en-IN" sz="2400">
                    <a:solidFill>
                      <a:srgbClr val="111827"/>
                    </a:solidFill>
                    <a:latin typeface="Cambria Math" panose="02040503050406030204" pitchFamily="18" charset="0"/>
                  </a:rPr>
                  <a:t>$\vec{OP'}=x\hat i+y\vec{OP}$</a:t>
                </a:r>
                <a:r>
                  <a:rPr sz="2400" b="0">
                    <a:solidFill>
                      <a:srgbClr val="111827"/>
                    </a:solidFill>
                    <a:latin typeface="Arial"/>
                  </a:rPr>
                  <a:t>, with </a:t>
                </a:r>
                <a:r>
                  <a:rPr lang="en-IN" sz="2400">
                    <a:solidFill>
                      <a:srgbClr val="111827"/>
                    </a:solidFill>
                    <a:latin typeface="Cambria Math" panose="02040503050406030204" pitchFamily="18" charset="0"/>
                  </a:rPr>
                  <a:t>$\hat i\cdot\vec{OP}=1$</a:t>
                </a:r>
                <a:r>
                  <a:rPr sz="2400" b="0">
                    <a:solidFill>
                      <a:srgbClr val="111827"/>
                    </a:solidFill>
                    <a:latin typeface="Arial"/>
                  </a:rPr>
                  <a:t> and </a:t>
                </a:r>
                <a:r>
                  <a:rPr lang="en-IN" sz="2400">
                    <a:solidFill>
                      <a:srgbClr val="111827"/>
                    </a:solidFill>
                    <a:latin typeface="Cambria Math" panose="02040503050406030204" pitchFamily="18" charset="0"/>
                  </a:rPr>
                  <a:t>$\left|\vec{OP}\right|^2=9$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Perpendicular to </a:t>
                </a:r>
                <a:r>
                  <a:rPr lang="en-IN" sz="2400">
                    <a:solidFill>
                      <a:srgbClr val="111827"/>
                    </a:solidFill>
                    <a:latin typeface="Cambria Math" panose="02040503050406030204" pitchFamily="18" charset="0"/>
                  </a:rPr>
                  <a:t>$\vec{OP}$</a:t>
                </a:r>
                <a:r>
                  <a:rPr sz="2400" b="0">
                    <a:solidFill>
                      <a:srgbClr val="111827"/>
                    </a:solidFill>
                    <a:latin typeface="Arial"/>
                  </a:rPr>
                  <a:t>: </a:t>
                </a:r>
                <a:r>
                  <a:rPr lang="en-IN" sz="2400">
                    <a:solidFill>
                      <a:srgbClr val="111827"/>
                    </a:solidFill>
                    <a:latin typeface="Cambria Math" panose="02040503050406030204" pitchFamily="18" charset="0"/>
                  </a:rPr>
                  <a:t>$x(\hat i\cdot\vec{OP})+y\cdot9=0$</a:t>
                </a:r>
                <a:r>
                  <a:rPr sz="2400" b="0">
                    <a:solidFill>
                      <a:srgbClr val="111827"/>
                    </a:solidFill>
                    <a:latin typeface="Arial"/>
                  </a:rPr>
                  <a:t>, so </a:t>
                </a:r>
                <a:r>
                  <a:rPr lang="en-IN" sz="2400">
                    <a:solidFill>
                      <a:srgbClr val="111827"/>
                    </a:solidFill>
                    <a:latin typeface="Cambria Math" panose="02040503050406030204" pitchFamily="18" charset="0"/>
                  </a:rPr>
                  <a:t>$x=-9y$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Length </a:t>
                </a:r>
                <a:r>
                  <a:rPr lang="en-IN" sz="2400">
                    <a:solidFill>
                      <a:srgbClr val="111827"/>
                    </a:solidFill>
                    <a:latin typeface="Cambria Math" panose="02040503050406030204" pitchFamily="18" charset="0"/>
                  </a:rPr>
                  <a:t>$3$</a:t>
                </a:r>
                <a:r>
                  <a:rPr sz="2400" b="0">
                    <a:solidFill>
                      <a:srgbClr val="111827"/>
                    </a:solidFill>
                    <a:latin typeface="Arial"/>
                  </a:rPr>
                  <a:t>: </a:t>
                </a:r>
                <a:r>
                  <a:rPr lang="en-IN" sz="2400">
                    <a:solidFill>
                      <a:srgbClr val="111827"/>
                    </a:solidFill>
                    <a:latin typeface="Cambria Math" panose="02040503050406030204" pitchFamily="18" charset="0"/>
                  </a:rPr>
                  <a:t>$\left|x\hat i+y\vec{OP}\right|^2=x^2+2xy+9y^2=81y^2-18y^2+9y^2=72y^2=9$</a:t>
                </a:r>
                <a:r>
                  <a:rPr sz="2400" b="0">
                    <a:solidFill>
                      <a:srgbClr val="111827"/>
                    </a:solidFill>
                    <a:latin typeface="Arial"/>
                  </a:rPr>
                  <a:t>, so </a:t>
                </a:r>
                <a:r>
                  <a:rPr lang="en-IN" sz="2400">
                    <a:solidFill>
                      <a:srgbClr val="111827"/>
                    </a:solidFill>
                    <a:latin typeface="Cambria Math" panose="02040503050406030204" pitchFamily="18" charset="0"/>
                  </a:rPr>
                  <a:t>$y=\pm\frac{1}{2\sqrt2}$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oMath>
                </a14:m>
                <a:r>
                  <a:rPr sz="2400" b="0">
                    <a:solidFill>
                      <a:srgbClr val="111827"/>
                    </a:solidFill>
                    <a:latin typeface="Arial"/>
                  </a:rPr>
                  <a:t> component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e>
                    </m:acc>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𝑦</m:t>
                    </m:r>
                  </m:oMath>
                </a14:m>
                <a:r>
                  <a:rPr sz="2400" b="0">
                    <a:solidFill>
                      <a:srgbClr val="111827"/>
                    </a:solidFill>
                    <a:latin typeface="Arial"/>
                  </a:rPr>
                  <a:t>; the vector turns towards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oMath>
                </a14:m>
                <a:r>
                  <a:rPr sz="2400" b="0">
                    <a:solidFill>
                      <a:srgbClr val="111827"/>
                    </a:solidFill>
                    <a:latin typeface="Arial"/>
                  </a:rPr>
                  <a:t> and beyond it, so this must be positive: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sSup>
                                  <m:e>
                                    <m:r>
                                      <a:rPr lang="en-IN" sz="2400" i="1">
                                        <a:solidFill>
                                          <a:srgbClr val="111827"/>
                                        </a:solidFill>
                                        <a:latin typeface="Cambria Math" panose="02040503050406030204" pitchFamily="18" charset="0"/>
                                      </a:rPr>
                                      <m:t>𝑃</m:t>
                                    </m:r>
                                  </m:e>
                                  <m:sup>
                                    <m:r>
                                      <m:rPr>
                                        <m:sty m:val="p"/>
                                      </m:rPr>
                                      <a:rPr lang="en-IN" sz="2400">
                                        <a:solidFill>
                                          <a:srgbClr val="111827"/>
                                        </a:solidFill>
                                        <a:latin typeface="Cambria Math" panose="02040503050406030204" pitchFamily="18" charset="0"/>
                                      </a:rPr>
                                      <m:t>′</m:t>
                                    </m:r>
                                  </m:sup>
                                </m:sSup>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t>
                </a:r>
                <a:r>
                  <a:rPr lang="en-IN" sz="2400">
                    <a:solidFill>
                      <a:srgbClr val="111827"/>
                    </a:solidFill>
                    <a:latin typeface="Cambria Math" panose="02040503050406030204" pitchFamily="18" charset="0"/>
                  </a:rPr>
                  <a:t>$\hat i$</a:t>
                </a:r>
                <a:r>
                  <a:rPr sz="2400" b="0">
                    <a:solidFill>
                      <a:srgbClr val="111827"/>
                    </a:solidFill>
                    <a:latin typeface="Arial"/>
                  </a:rPr>
                  <a:t> component of </a:t>
                </a:r>
                <a:r>
                  <a:rPr lang="en-IN" sz="2400">
                    <a:solidFill>
                      <a:srgbClr val="111827"/>
                    </a:solidFill>
                    <a:latin typeface="Cambria Math" panose="02040503050406030204" pitchFamily="18" charset="0"/>
                  </a:rPr>
                  <a:t>$\vec{OP'}$</a:t>
                </a:r>
                <a:r>
                  <a:rPr sz="2400" b="0">
                    <a:solidFill>
                      <a:srgbClr val="111827"/>
                    </a:solidFill>
                    <a:latin typeface="Arial"/>
                  </a:rPr>
                  <a:t> is </a:t>
                </a:r>
                <a:r>
                  <a:rPr lang="en-IN" sz="2400">
                    <a:solidFill>
                      <a:srgbClr val="111827"/>
                    </a:solidFill>
                    <a:latin typeface="Cambria Math" panose="02040503050406030204" pitchFamily="18" charset="0"/>
                  </a:rPr>
                  <a:t>$x+y=-8y$</a:t>
                </a:r>
                <a:r>
                  <a:rPr sz="2400" b="0">
                    <a:solidFill>
                      <a:srgbClr val="111827"/>
                    </a:solidFill>
                    <a:latin typeface="Arial"/>
                  </a:rPr>
                  <a:t>; the vector turns towards </a:t>
                </a:r>
                <a:r>
                  <a:rPr lang="en-IN" sz="2400">
                    <a:solidFill>
                      <a:srgbClr val="111827"/>
                    </a:solidFill>
                    <a:latin typeface="Cambria Math" panose="02040503050406030204" pitchFamily="18" charset="0"/>
                  </a:rPr>
                  <a:t>$\hat i$</a:t>
                </a:r>
                <a:r>
                  <a:rPr sz="2400" b="0">
                    <a:solidFill>
                      <a:srgbClr val="111827"/>
                    </a:solidFill>
                    <a:latin typeface="Arial"/>
                  </a:rPr>
                  <a:t> and beyond it, so this must be positive: </a:t>
                </a:r>
                <a:r>
                  <a:rPr lang="en-IN" sz="2400">
                    <a:solidFill>
                      <a:srgbClr val="111827"/>
                    </a:solidFill>
                    <a:latin typeface="Cambria Math" panose="02040503050406030204" pitchFamily="18" charset="0"/>
                  </a:rPr>
                  <a:t>$y=-\frac{1}{2\sqrt2}$</a:t>
                </a:r>
                <a:r>
                  <a:rPr sz="2400" b="0">
                    <a:solidFill>
                      <a:srgbClr val="111827"/>
                    </a:solidFill>
                    <a:latin typeface="Arial"/>
                  </a:rPr>
                  <a:t>, </a:t>
                </a:r>
                <a:r>
                  <a:rPr lang="en-IN" sz="2400">
                    <a:solidFill>
                      <a:srgbClr val="111827"/>
                    </a:solidFill>
                    <a:latin typeface="Cambria Math" panose="02040503050406030204" pitchFamily="18" charset="0"/>
                  </a:rPr>
                  <a:t>$x=\frac{9}{2\sqrt2}$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$\vec{OP'}=\frac{9}{2\sqrt2}\hat i-\frac{1}{2\sqrt2}\left(\hat i+2\hat j+2\hat k\right)=\frac{8\hat i-2\hat j-2\hat k}{2\sqrt2}=\frac{4}{\sqrt2}\hat i-\frac1{\sqrt2}\hat j-\frac1{\sqrt2}\hat 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$\vec{OP'}\cdot\vec{OP}=\frac{4-2-2}{\sqrt2}=0$</a:t>
                </a:r>
                <a:r>
                  <a:rPr sz="2400" b="0">
                    <a:solidFill>
                      <a:srgbClr val="111827"/>
                    </a:solidFill>
                    <a:latin typeface="Arial"/>
                  </a:rPr>
                  <a:t> and </a:t>
                </a:r>
                <a:r>
                  <a:rPr lang="en-IN" sz="2400">
                    <a:solidFill>
                      <a:srgbClr val="111827"/>
                    </a:solidFill>
                    <a:latin typeface="Cambria Math" panose="02040503050406030204" pitchFamily="18" charset="0"/>
                  </a:rPr>
                  <a:t>$\left|\vec{OP'}\right|^2=8+\frac12+\frac12=9$</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4</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den>
                    </m:f>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𝑖</m:t>
                        </m:r>
                      </m:e>
                    </m:acc>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den>
                    </m:f>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𝑗</m:t>
                        </m:r>
                      </m:e>
                    </m:acc>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m:t>
                            </m:r>
                          </m:e>
                        </m:rad>
                      </m:den>
                    </m:f>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𝑘</m:t>
                        </m:r>
                      </m:e>
                    </m:acc>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$\frac{4}{\sqrt2}\hat{i}-\frac{1}{\sqrt2}\hat{j}-\frac{1}{\sqrt2}\hat{k}$</a:t>
                </a:r>
                <a:endParaRPr sz="2800">
                  <a:solidFill>
                    <a:srgbClr val="15803D"/>
                  </a:solidFill>
                </a:endParaRPr>
              </a:p>
            </p:txBody>
          </p:sp>
        </mc:Fallback>
      </mc:AlternateContent>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nonzero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(not parallel):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e>
                      <m:sup>
                        <m:r>
                          <a:rPr lang="en-IN" sz="2400" i="1">
                            <a:solidFill>
                              <a:srgbClr val="111827"/>
                            </a:solidFill>
                            <a:latin typeface="Cambria Math" panose="02040503050406030204" pitchFamily="18" charset="0"/>
                          </a:rPr>
                          <m:t>2</m:t>
                        </m:r>
                      </m:sup>
                    </m:sSup>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the component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perpendicular to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scaled by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9</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Rotating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by </a:t>
                </a:r>
                <a14:m>
                  <m:oMath xmlns:m="http://schemas.openxmlformats.org/officeDocument/2006/math">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in the plane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towards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gives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num>
                      <m:den>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den>
                    </m:f>
                  </m:oMath>
                </a14:m>
                <a:r>
                  <a:rPr sz="2400" b="0">
                    <a:solidFill>
                      <a:srgbClr val="111827"/>
                    </a:solidFill>
                    <a:latin typeface="Arial"/>
                  </a:rPr>
                  <a:t>; towards the opposite side use the negative.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vector at a right angle to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in the plane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has the form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num>
                      <m:den>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e>
                          <m:sup>
                            <m:r>
                              <a:rPr lang="en-IN" sz="2400" i="1">
                                <a:solidFill>
                                  <a:srgbClr val="111827"/>
                                </a:solidFill>
                                <a:latin typeface="Cambria Math" panose="02040503050406030204" pitchFamily="18" charset="0"/>
                              </a:rPr>
                              <m:t>2</m:t>
                            </m:r>
                          </m:sup>
                        </m:sSup>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up to scale.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nonzero </a:t>
                </a:r>
                <a:r>
                  <a:rPr lang="en-IN" sz="2400">
                    <a:solidFill>
                      <a:srgbClr val="111827"/>
                    </a:solidFill>
                    <a:latin typeface="Cambria Math" panose="02040503050406030204" pitchFamily="18" charset="0"/>
                  </a:rPr>
                  <a:t>$\vec a$</a:t>
                </a:r>
                <a:r>
                  <a:rPr sz="2400" b="0">
                    <a:solidFill>
                      <a:srgbClr val="111827"/>
                    </a:solidFill>
                    <a:latin typeface="Arial"/>
                  </a:rPr>
                  <a:t> and </a:t>
                </a:r>
                <a:r>
                  <a:rPr lang="en-IN" sz="2400">
                    <a:solidFill>
                      <a:srgbClr val="111827"/>
                    </a:solidFill>
                    <a:latin typeface="Cambria Math" panose="02040503050406030204" pitchFamily="18" charset="0"/>
                  </a:rPr>
                  <a:t>$\vec b$</a:t>
                </a:r>
                <a:r>
                  <a:rPr sz="2400" b="0">
                    <a:solidFill>
                      <a:srgbClr val="111827"/>
                    </a:solidFill>
                    <a:latin typeface="Arial"/>
                  </a:rPr>
                  <a:t> (not parallel): </a:t>
                </a:r>
                <a:r>
                  <a:rPr lang="en-IN" sz="2400">
                    <a:solidFill>
                      <a:srgbClr val="111827"/>
                    </a:solidFill>
                    <a:latin typeface="Cambria Math" panose="02040503050406030204" pitchFamily="18" charset="0"/>
                  </a:rPr>
                  <a:t>$(\vec a\times\vec b)\times\vec a=\left|\vec a\right|^2\vec b-(\vec a\cdot\vec b)\vec a$</a:t>
                </a:r>
                <a:r>
                  <a:rPr sz="2400" b="0">
                    <a:solidFill>
                      <a:srgbClr val="111827"/>
                    </a:solidFill>
                    <a:latin typeface="Arial"/>
                  </a:rPr>
                  <a:t>, the component of </a:t>
                </a:r>
                <a:r>
                  <a:rPr lang="en-IN" sz="2400">
                    <a:solidFill>
                      <a:srgbClr val="111827"/>
                    </a:solidFill>
                    <a:latin typeface="Cambria Math" panose="02040503050406030204" pitchFamily="18" charset="0"/>
                  </a:rPr>
                  <a:t>$\vec b$</a:t>
                </a:r>
                <a:r>
                  <a:rPr sz="2400" b="0">
                    <a:solidFill>
                      <a:srgbClr val="111827"/>
                    </a:solidFill>
                    <a:latin typeface="Arial"/>
                  </a:rPr>
                  <a:t> perpendicular to </a:t>
                </a:r>
                <a:r>
                  <a:rPr lang="en-IN" sz="2400">
                    <a:solidFill>
                      <a:srgbClr val="111827"/>
                    </a:solidFill>
                    <a:latin typeface="Cambria Math" panose="02040503050406030204" pitchFamily="18" charset="0"/>
                  </a:rPr>
                  <a:t>$\vec a$</a:t>
                </a:r>
                <a:r>
                  <a:rPr sz="2400" b="0">
                    <a:solidFill>
                      <a:srgbClr val="111827"/>
                    </a:solidFill>
                    <a:latin typeface="Arial"/>
                  </a:rPr>
                  <a:t> scaled by </a:t>
                </a:r>
                <a:r>
                  <a:rPr lang="en-IN" sz="2400">
                    <a:solidFill>
                      <a:srgbClr val="111827"/>
                    </a:solidFill>
                    <a:latin typeface="Cambria Math" panose="02040503050406030204" pitchFamily="18" charset="0"/>
                  </a:rPr>
                  <a:t>$\left|\vec a\right|^2$</a:t>
                </a:r>
                <a:r>
                  <a:rPr sz="2400" b="0">
                    <a:solidFill>
                      <a:srgbClr val="111827"/>
                    </a:solidFill>
                    <a:latin typeface="Arial"/>
                  </a:rPr>
                  <a:t>. Here </a:t>
                </a:r>
                <a:r>
                  <a:rPr lang="en-IN" sz="2400">
                    <a:solidFill>
                      <a:srgbClr val="111827"/>
                    </a:solidFill>
                    <a:latin typeface="Cambria Math" panose="02040503050406030204" pitchFamily="18" charset="0"/>
                  </a:rPr>
                  <a:t>$9\hat i-\vec{OP}=(8,-2,-2)$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Rotating </a:t>
                </a:r>
                <a:r>
                  <a:rPr lang="en-IN" sz="2400">
                    <a:solidFill>
                      <a:srgbClr val="111827"/>
                    </a:solidFill>
                    <a:latin typeface="Cambria Math" panose="02040503050406030204" pitchFamily="18" charset="0"/>
                  </a:rPr>
                  <a:t>$\vec a$</a:t>
                </a:r>
                <a:r>
                  <a:rPr sz="2400" b="0">
                    <a:solidFill>
                      <a:srgbClr val="111827"/>
                    </a:solidFill>
                    <a:latin typeface="Arial"/>
                  </a:rPr>
                  <a:t> by </a:t>
                </a:r>
                <a:r>
                  <a:rPr lang="en-IN" sz="2400">
                    <a:solidFill>
                      <a:srgbClr val="111827"/>
                    </a:solidFill>
                    <a:latin typeface="Cambria Math" panose="02040503050406030204" pitchFamily="18" charset="0"/>
                  </a:rPr>
                  <a:t>$90^\circ$</a:t>
                </a:r>
                <a:r>
                  <a:rPr sz="2400" b="0">
                    <a:solidFill>
                      <a:srgbClr val="111827"/>
                    </a:solidFill>
                    <a:latin typeface="Arial"/>
                  </a:rPr>
                  <a:t> in the plane of </a:t>
                </a:r>
                <a:r>
                  <a:rPr lang="en-IN" sz="2400">
                    <a:solidFill>
                      <a:srgbClr val="111827"/>
                    </a:solidFill>
                    <a:latin typeface="Cambria Math" panose="02040503050406030204" pitchFamily="18" charset="0"/>
                  </a:rPr>
                  <a:t>$\vec a,\vec b$</a:t>
                </a:r>
                <a:r>
                  <a:rPr sz="2400" b="0">
                    <a:solidFill>
                      <a:srgbClr val="111827"/>
                    </a:solidFill>
                    <a:latin typeface="Arial"/>
                  </a:rPr>
                  <a:t> towards </a:t>
                </a:r>
                <a:r>
                  <a:rPr lang="en-IN" sz="2400">
                    <a:solidFill>
                      <a:srgbClr val="111827"/>
                    </a:solidFill>
                    <a:latin typeface="Cambria Math" panose="02040503050406030204" pitchFamily="18" charset="0"/>
                  </a:rPr>
                  <a:t>$\vec b$</a:t>
                </a:r>
                <a:r>
                  <a:rPr sz="2400" b="0">
                    <a:solidFill>
                      <a:srgbClr val="111827"/>
                    </a:solidFill>
                    <a:latin typeface="Arial"/>
                  </a:rPr>
                  <a:t> gives </a:t>
                </a:r>
                <a:r>
                  <a:rPr lang="en-IN" sz="2400">
                    <a:solidFill>
                      <a:srgbClr val="111827"/>
                    </a:solidFill>
                    <a:latin typeface="Cambria Math" panose="02040503050406030204" pitchFamily="18" charset="0"/>
                  </a:rPr>
                  <a:t>$\left|\vec a\right|\frac{(\vec a\times\vec b)\times\vec a}{\left|(\vec a\times\vec b)\times\vec a\right|}$</a:t>
                </a:r>
                <a:r>
                  <a:rPr sz="2400" b="0">
                    <a:solidFill>
                      <a:srgbClr val="111827"/>
                    </a:solidFill>
                    <a:latin typeface="Arial"/>
                  </a:rPr>
                  <a:t>; towards the opposite side use the negative.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vector at a right angle to </a:t>
                </a:r>
                <a:r>
                  <a:rPr lang="en-IN" sz="2400">
                    <a:solidFill>
                      <a:srgbClr val="111827"/>
                    </a:solidFill>
                    <a:latin typeface="Cambria Math" panose="02040503050406030204" pitchFamily="18" charset="0"/>
                  </a:rPr>
                  <a:t>$\vec a$</a:t>
                </a:r>
                <a:r>
                  <a:rPr sz="2400" b="0">
                    <a:solidFill>
                      <a:srgbClr val="111827"/>
                    </a:solidFill>
                    <a:latin typeface="Arial"/>
                  </a:rPr>
                  <a:t> in the plane of </a:t>
                </a:r>
                <a:r>
                  <a:rPr lang="en-IN" sz="2400">
                    <a:solidFill>
                      <a:srgbClr val="111827"/>
                    </a:solidFill>
                    <a:latin typeface="Cambria Math" panose="02040503050406030204" pitchFamily="18" charset="0"/>
                  </a:rPr>
                  <a:t>$\vec a,\vec b$</a:t>
                </a:r>
                <a:r>
                  <a:rPr sz="2400" b="0">
                    <a:solidFill>
                      <a:srgbClr val="111827"/>
                    </a:solidFill>
                    <a:latin typeface="Arial"/>
                  </a:rPr>
                  <a:t> has the form </a:t>
                </a:r>
                <a:r>
                  <a:rPr lang="en-IN" sz="2400">
                    <a:solidFill>
                      <a:srgbClr val="111827"/>
                    </a:solidFill>
                    <a:latin typeface="Cambria Math" panose="02040503050406030204" pitchFamily="18" charset="0"/>
                  </a:rPr>
                  <a:t>$\vec b-\frac{\vec a\cdot\vec b}{\left|\vec a\right|^2}\vec a$</a:t>
                </a:r>
                <a:r>
                  <a:rPr sz="2400" b="0">
                    <a:solidFill>
                      <a:srgbClr val="111827"/>
                    </a:solidFill>
                    <a:latin typeface="Arial"/>
                  </a:rPr>
                  <a:t> up to scale.</a:t>
                </a:r>
                <a:endParaRPr sz="2400">
                  <a:solidFill>
                    <a:srgbClr val="111827"/>
                  </a:solidFill>
                </a:endParaRPr>
              </a:p>
            </p:txBody>
          </p:sp>
        </mc:Fallback>
      </mc:AlternateContent>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are two vectors such that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then find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$\vec a$</a:t>
                </a:r>
                <a:r>
                  <a:rPr sz="2400" b="0">
                    <a:solidFill>
                      <a:srgbClr val="111827"/>
                    </a:solidFill>
                    <a:latin typeface="Arial"/>
                  </a:rPr>
                  <a:t> and </a:t>
                </a:r>
                <a:r>
                  <a:rPr lang="en-IN" sz="2400">
                    <a:solidFill>
                      <a:srgbClr val="111827"/>
                    </a:solidFill>
                    <a:latin typeface="Cambria Math" panose="02040503050406030204" pitchFamily="18" charset="0"/>
                  </a:rPr>
                  <a:t>$\vec b$</a:t>
                </a:r>
                <a:r>
                  <a:rPr sz="2400" b="0">
                    <a:solidFill>
                      <a:srgbClr val="111827"/>
                    </a:solidFill>
                    <a:latin typeface="Arial"/>
                  </a:rPr>
                  <a:t> are two vectors such that </a:t>
                </a:r>
                <a:r>
                  <a:rPr lang="en-IN" sz="2400">
                    <a:solidFill>
                      <a:srgbClr val="111827"/>
                    </a:solidFill>
                    <a:latin typeface="Cambria Math" panose="02040503050406030204" pitchFamily="18" charset="0"/>
                  </a:rPr>
                  <a:t>$\left|\vec a\right|=1$</a:t>
                </a:r>
                <a:r>
                  <a:rPr sz="2400" b="0">
                    <a:solidFill>
                      <a:srgbClr val="111827"/>
                    </a:solidFill>
                    <a:latin typeface="Arial"/>
                  </a:rPr>
                  <a:t>, </a:t>
                </a:r>
                <a:r>
                  <a:rPr lang="en-IN" sz="2400">
                    <a:solidFill>
                      <a:srgbClr val="111827"/>
                    </a:solidFill>
                    <a:latin typeface="Cambria Math" panose="02040503050406030204" pitchFamily="18" charset="0"/>
                  </a:rPr>
                  <a:t>$\left|\vec b\right|=4$</a:t>
                </a:r>
                <a:r>
                  <a:rPr sz="2400" b="0">
                    <a:solidFill>
                      <a:srgbClr val="111827"/>
                    </a:solidFill>
                    <a:latin typeface="Arial"/>
                  </a:rPr>
                  <a:t>, </a:t>
                </a:r>
                <a:r>
                  <a:rPr lang="en-IN" sz="2400">
                    <a:solidFill>
                      <a:srgbClr val="111827"/>
                    </a:solidFill>
                    <a:latin typeface="Cambria Math" panose="02040503050406030204" pitchFamily="18" charset="0"/>
                  </a:rPr>
                  <a:t>$\vec a\cdot\vec b=2$</a:t>
                </a:r>
                <a:r>
                  <a:rPr sz="2400" b="0">
                    <a:solidFill>
                      <a:srgbClr val="111827"/>
                    </a:solidFill>
                    <a:latin typeface="Arial"/>
                  </a:rPr>
                  <a:t>, and </a:t>
                </a:r>
                <a:r>
                  <a:rPr lang="en-IN" sz="2400">
                    <a:solidFill>
                      <a:srgbClr val="111827"/>
                    </a:solidFill>
                    <a:latin typeface="Cambria Math" panose="02040503050406030204" pitchFamily="18" charset="0"/>
                  </a:rPr>
                  <a:t>$\vec c=(2\vec a\times\vec b)-3\vec b$</a:t>
                </a:r>
                <a:r>
                  <a:rPr sz="2400" b="0">
                    <a:solidFill>
                      <a:srgbClr val="111827"/>
                    </a:solidFill>
                    <a:latin typeface="Arial"/>
                  </a:rPr>
                  <a:t>, then find the angle between </a:t>
                </a:r>
                <a:r>
                  <a:rPr lang="en-IN" sz="2400">
                    <a:solidFill>
                      <a:srgbClr val="111827"/>
                    </a:solidFill>
                    <a:latin typeface="Cambria Math" panose="02040503050406030204" pitchFamily="18" charset="0"/>
                  </a:rPr>
                  <a:t>$\vec b$</a:t>
                </a:r>
                <a:r>
                  <a:rPr sz="2400" b="0">
                    <a:solidFill>
                      <a:srgbClr val="111827"/>
                    </a:solidFill>
                    <a:latin typeface="Arial"/>
                  </a:rPr>
                  <a:t> and </a:t>
                </a:r>
                <a:r>
                  <a:rPr lang="en-IN" sz="2400">
                    <a:solidFill>
                      <a:srgbClr val="111827"/>
                    </a:solidFill>
                    <a:latin typeface="Cambria Math" panose="02040503050406030204" pitchFamily="18" charset="0"/>
                  </a:rPr>
                  <a:t>$\vec c$</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516884"/>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Dot product, cross product and angle between vectors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oMath>
                </a14:m>
                <a:r>
                  <a:rPr sz="2400" b="0">
                    <a:solidFill>
                      <a:srgbClr val="78350F"/>
                    </a:solidFill>
                    <a:latin typeface="Arial"/>
                  </a:rPr>
                  <a:t>, so the cross term vanishes in both </a:t>
                </a:r>
                <a14:m>
                  <m:oMath xmlns:m="http://schemas.openxmlformats.org/officeDocument/2006/math">
                    <m:sSup>
                      <m:e>
                        <m:d>
                          <m:dPr>
                            <m:begChr m:val="|"/>
                            <m:sepChr m:val=""/>
                            <m:endChr m:val="|"/>
                            <m:grow/>
                            <m:ctrlPr>
                              <a:rPr lang="en-IN" sz="2400" i="1">
                                <a:solidFill>
                                  <a:srgbClr val="78350F"/>
                                </a:solidFill>
                                <a:latin typeface="Cambria Math" panose="02040503050406030204" pitchFamily="18" charset="0"/>
                              </a:rPr>
                            </m:ctrlPr>
                          </m:dPr>
                          <m:e>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e>
                        </m:d>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and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$\vec a\times\vec b\perp\vec b$</a:t>
                </a:r>
                <a:r>
                  <a:rPr sz="2400" b="0">
                    <a:solidFill>
                      <a:srgbClr val="78350F"/>
                    </a:solidFill>
                    <a:latin typeface="Arial"/>
                  </a:rPr>
                  <a:t>, so the cross term vanishes in both </a:t>
                </a:r>
                <a:r>
                  <a:rPr lang="en-IN" sz="2400">
                    <a:solidFill>
                      <a:srgbClr val="78350F"/>
                    </a:solidFill>
                    <a:latin typeface="Cambria Math" panose="02040503050406030204" pitchFamily="18" charset="0"/>
                  </a:rPr>
                  <a:t>$\left|\vec c\right|^2$</a:t>
                </a:r>
                <a:r>
                  <a:rPr sz="2400" b="0">
                    <a:solidFill>
                      <a:srgbClr val="78350F"/>
                    </a:solidFill>
                    <a:latin typeface="Arial"/>
                  </a:rPr>
                  <a:t> and </a:t>
                </a:r>
                <a:r>
                  <a:rPr lang="en-IN" sz="2400">
                    <a:solidFill>
                      <a:srgbClr val="78350F"/>
                    </a:solidFill>
                    <a:latin typeface="Cambria Math" panose="02040503050406030204" pitchFamily="18" charset="0"/>
                  </a:rPr>
                  <a:t>$\vec b\cdot\vec 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last term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because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so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$\vec a\cdot\vec b=\left|\vec a\right|\left|\vec b\right|\cos\theta$</a:t>
                </a:r>
                <a:r>
                  <a:rPr sz="2400" b="0">
                    <a:solidFill>
                      <a:srgbClr val="111827"/>
                    </a:solidFill>
                    <a:latin typeface="Arial"/>
                  </a:rPr>
                  <a:t>: </a:t>
                </a:r>
                <a:r>
                  <a:rPr lang="en-IN" sz="2400">
                    <a:solidFill>
                      <a:srgbClr val="111827"/>
                    </a:solidFill>
                    <a:latin typeface="Cambria Math" panose="02040503050406030204" pitchFamily="18" charset="0"/>
                  </a:rPr>
                  <a:t>$2=1\cdot4\cos\theta$</a:t>
                </a:r>
                <a:r>
                  <a:rPr sz="2400" b="0">
                    <a:solidFill>
                      <a:srgbClr val="111827"/>
                    </a:solidFill>
                    <a:latin typeface="Arial"/>
                  </a:rPr>
                  <a:t>, so </a:t>
                </a:r>
                <a:r>
                  <a:rPr lang="en-IN" sz="2400">
                    <a:solidFill>
                      <a:srgbClr val="111827"/>
                    </a:solidFill>
                    <a:latin typeface="Cambria Math" panose="02040503050406030204" pitchFamily="18" charset="0"/>
                  </a:rPr>
                  <a:t>$\cos\theta=\frac12$</a:t>
                </a:r>
                <a:r>
                  <a:rPr sz="2400" b="0">
                    <a:solidFill>
                      <a:srgbClr val="111827"/>
                    </a:solidFill>
                    <a:latin typeface="Arial"/>
                  </a:rPr>
                  <a:t> and </a:t>
                </a:r>
                <a:r>
                  <a:rPr lang="en-IN" sz="2400">
                    <a:solidFill>
                      <a:srgbClr val="111827"/>
                    </a:solidFill>
                    <a:latin typeface="Cambria Math" panose="02040503050406030204" pitchFamily="18" charset="0"/>
                  </a:rPr>
                  <a:t>$\theta=60^\circ$</a:t>
                </a:r>
                <a:r>
                  <a:rPr sz="2400" b="0">
                    <a:solidFill>
                      <a:srgbClr val="111827"/>
                    </a:solidFill>
                    <a:latin typeface="Arial"/>
                  </a:rPr>
                  <a:t> between </a:t>
                </a:r>
                <a:r>
                  <a:rPr lang="en-IN" sz="2400">
                    <a:solidFill>
                      <a:srgbClr val="111827"/>
                    </a:solidFill>
                    <a:latin typeface="Cambria Math" panose="02040503050406030204" pitchFamily="18" charset="0"/>
                  </a:rPr>
                  <a:t>$\vec a$</a:t>
                </a:r>
                <a:r>
                  <a:rPr sz="2400" b="0">
                    <a:solidFill>
                      <a:srgbClr val="111827"/>
                    </a:solidFill>
                    <a:latin typeface="Arial"/>
                  </a:rPr>
                  <a:t> and </a:t>
                </a:r>
                <a:r>
                  <a:rPr lang="en-IN" sz="2400">
                    <a:solidFill>
                      <a:srgbClr val="111827"/>
                    </a:solidFill>
                    <a:latin typeface="Cambria Math" panose="02040503050406030204" pitchFamily="18" charset="0"/>
                  </a:rPr>
                  <a:t>$\vec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$\left|\vec c\right|^2=\left|2\vec a\times\vec b\right|^2+9\left|\vec b\right|^2-2\cdot3\,\vec b\cdot(2\vec a\times\vec b)$</a:t>
                </a:r>
                <a:r>
                  <a:rPr sz="2400" b="0">
                    <a:solidFill>
                      <a:srgbClr val="111827"/>
                    </a:solidFill>
                    <a:latin typeface="Arial"/>
                  </a:rPr>
                  <a:t>, and the last term is </a:t>
                </a:r>
                <a:r>
                  <a:rPr lang="en-IN" sz="2400">
                    <a:solidFill>
                      <a:srgbClr val="111827"/>
                    </a:solidFill>
                    <a:latin typeface="Cambria Math" panose="02040503050406030204" pitchFamily="18" charset="0"/>
                  </a:rPr>
                  <a:t>$0$</a:t>
                </a:r>
                <a:r>
                  <a:rPr sz="2400" b="0">
                    <a:solidFill>
                      <a:srgbClr val="111827"/>
                    </a:solidFill>
                    <a:latin typeface="Arial"/>
                  </a:rPr>
                  <a:t> because </a:t>
                </a:r>
                <a:r>
                  <a:rPr lang="en-IN" sz="2400">
                    <a:solidFill>
                      <a:srgbClr val="111827"/>
                    </a:solidFill>
                    <a:latin typeface="Cambria Math" panose="02040503050406030204" pitchFamily="18" charset="0"/>
                  </a:rPr>
                  <a:t>$\vec b\cdot(\vec a\times\vec b)=0$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$\left|\vec c\right|^2=4\left|\vec a\times\vec b\right|^2+9\left|\vec b\right|^2$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$\left|\vec a\times\vec b\right|=1\cdot4\cdot\frac{\sqrt3}{2}=2\sqrt3$</a:t>
                </a:r>
                <a:r>
                  <a:rPr sz="2400" b="0">
                    <a:solidFill>
                      <a:srgbClr val="111827"/>
                    </a:solidFill>
                    <a:latin typeface="Arial"/>
                  </a:rPr>
                  <a:t>, so </a:t>
                </a:r>
                <a:r>
                  <a:rPr lang="en-IN" sz="2400">
                    <a:solidFill>
                      <a:srgbClr val="111827"/>
                    </a:solidFill>
                    <a:latin typeface="Cambria Math" panose="02040503050406030204" pitchFamily="18" charset="0"/>
                  </a:rPr>
                  <a:t>$\left|\vec c\right|^2=4\cdot12+9\cdot16$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ϕ</m:t>
                    </m:r>
                  </m:oMath>
                </a14:m>
                <a:r>
                  <a:rPr sz="2400" b="0">
                    <a:solidFill>
                      <a:srgbClr val="111827"/>
                    </a:solidFill>
                    <a:latin typeface="Arial"/>
                  </a:rPr>
                  <a:t>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$\left|\vec c\right|^2=48+144=192=16\cdot12$</a:t>
                </a:r>
                <a:r>
                  <a:rPr sz="2400" b="0">
                    <a:solidFill>
                      <a:srgbClr val="111827"/>
                    </a:solidFill>
                    <a:latin typeface="Arial"/>
                  </a:rPr>
                  <a:t>, so </a:t>
                </a:r>
                <a:r>
                  <a:rPr lang="en-IN" sz="2400">
                    <a:solidFill>
                      <a:srgbClr val="111827"/>
                    </a:solidFill>
                    <a:latin typeface="Cambria Math" panose="02040503050406030204" pitchFamily="18" charset="0"/>
                  </a:rPr>
                  <a:t>$\left|\vec c\right|=8\sqrt3$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b\cdot\vec c=\vec b\cdot(2\vec a\times\vec b)-3\vec b\cdot\vec b=0-3\cdot16=-48$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$\phi$</a:t>
                </a:r>
                <a:r>
                  <a:rPr sz="2400" b="0">
                    <a:solidFill>
                      <a:srgbClr val="111827"/>
                    </a:solidFill>
                    <a:latin typeface="Arial"/>
                  </a:rPr>
                  <a:t> the angle between </a:t>
                </a:r>
                <a:r>
                  <a:rPr lang="en-IN" sz="2400">
                    <a:solidFill>
                      <a:srgbClr val="111827"/>
                    </a:solidFill>
                    <a:latin typeface="Cambria Math" panose="02040503050406030204" pitchFamily="18" charset="0"/>
                  </a:rPr>
                  <a:t>$\vec b$</a:t>
                </a:r>
                <a:r>
                  <a:rPr sz="2400" b="0">
                    <a:solidFill>
                      <a:srgbClr val="111827"/>
                    </a:solidFill>
                    <a:latin typeface="Arial"/>
                  </a:rPr>
                  <a:t> and </a:t>
                </a:r>
                <a:r>
                  <a:rPr lang="en-IN" sz="2400">
                    <a:solidFill>
                      <a:srgbClr val="111827"/>
                    </a:solidFill>
                    <a:latin typeface="Cambria Math" panose="02040503050406030204" pitchFamily="18" charset="0"/>
                  </a:rPr>
                  <a:t>$\vec c$</a:t>
                </a:r>
                <a:r>
                  <a:rPr sz="2400" b="0">
                    <a:solidFill>
                      <a:srgbClr val="111827"/>
                    </a:solidFill>
                    <a:latin typeface="Arial"/>
                  </a:rPr>
                  <a:t>: </a:t>
                </a:r>
                <a:r>
                  <a:rPr lang="en-IN" sz="2400">
                    <a:solidFill>
                      <a:srgbClr val="111827"/>
                    </a:solidFill>
                    <a:latin typeface="Cambria Math" panose="02040503050406030204" pitchFamily="18" charset="0"/>
                  </a:rPr>
                  <a:t>$4\cdot8\sqrt3\cos\phi=-48$</a:t>
                </a:r>
                <a:r>
                  <a:rPr sz="2400" b="0">
                    <a:solidFill>
                      <a:srgbClr val="111827"/>
                    </a:solidFill>
                    <a:latin typeface="Arial"/>
                  </a:rPr>
                  <a:t>, so </a:t>
                </a:r>
                <a:r>
                  <a:rPr lang="en-IN" sz="2400">
                    <a:solidFill>
                      <a:srgbClr val="111827"/>
                    </a:solidFill>
                    <a:latin typeface="Cambria Math" panose="02040503050406030204" pitchFamily="18" charset="0"/>
                  </a:rPr>
                  <a:t>$\cos\phi=-\frac{\sqrt3}{2}$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$\phi=\frac{5\pi}{6}$</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m:t>
                        </m:r>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6</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$\frac{5\pi}{6}$</a:t>
                </a:r>
                <a:endParaRPr sz="2800">
                  <a:solidFill>
                    <a:srgbClr val="15803D"/>
                  </a:solidFill>
                </a:endParaRPr>
              </a:p>
            </p:txBody>
          </p:sp>
        </mc:Fallback>
      </mc:AlternateContent>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coordinates: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fit the given lengths and dot product; compute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oMath>
                </a14:m>
                <a:r>
                  <a:rPr sz="2400" b="0">
                    <a:solidFill>
                      <a:srgbClr val="78350F"/>
                    </a:solidFill>
                    <a:latin typeface="Arial"/>
                  </a:rPr>
                  <a:t> outright.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Choose coordinates: </a:t>
                </a:r>
                <a:r>
                  <a:rPr lang="en-IN" sz="2400">
                    <a:solidFill>
                      <a:srgbClr val="78350F"/>
                    </a:solidFill>
                    <a:latin typeface="Cambria Math" panose="02040503050406030204" pitchFamily="18" charset="0"/>
                  </a:rPr>
                  <a:t>$\vec a=(1,0,0)$</a:t>
                </a:r>
                <a:r>
                  <a:rPr sz="2400" b="0">
                    <a:solidFill>
                      <a:srgbClr val="78350F"/>
                    </a:solidFill>
                    <a:latin typeface="Arial"/>
                  </a:rPr>
                  <a:t> and </a:t>
                </a:r>
                <a:r>
                  <a:rPr lang="en-IN" sz="2400">
                    <a:solidFill>
                      <a:srgbClr val="78350F"/>
                    </a:solidFill>
                    <a:latin typeface="Cambria Math" panose="02040503050406030204" pitchFamily="18" charset="0"/>
                  </a:rPr>
                  <a:t>$\vec b=(2,2\sqrt3,0)$</a:t>
                </a:r>
                <a:r>
                  <a:rPr sz="2400" b="0">
                    <a:solidFill>
                      <a:srgbClr val="78350F"/>
                    </a:solidFill>
                    <a:latin typeface="Arial"/>
                  </a:rPr>
                  <a:t> fit the given lengths and dot product; compute </a:t>
                </a:r>
                <a:r>
                  <a:rPr lang="en-IN" sz="2400">
                    <a:solidFill>
                      <a:srgbClr val="78350F"/>
                    </a:solidFill>
                    <a:latin typeface="Cambria Math" panose="02040503050406030204" pitchFamily="18" charset="0"/>
                  </a:rPr>
                  <a:t>$\vec c$</a:t>
                </a:r>
                <a:r>
                  <a:rPr sz="2400" b="0">
                    <a:solidFill>
                      <a:srgbClr val="78350F"/>
                    </a:solidFill>
                    <a:latin typeface="Arial"/>
                  </a:rPr>
                  <a:t> outright.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as required.</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$\vec a=(1,0,0)$</a:t>
                </a:r>
                <a:r>
                  <a:rPr sz="2400" b="0">
                    <a:solidFill>
                      <a:srgbClr val="111827"/>
                    </a:solidFill>
                    <a:latin typeface="Arial"/>
                  </a:rPr>
                  <a:t> and </a:t>
                </a:r>
                <a:r>
                  <a:rPr lang="en-IN" sz="2400">
                    <a:solidFill>
                      <a:srgbClr val="111827"/>
                    </a:solidFill>
                    <a:latin typeface="Cambria Math" panose="02040503050406030204" pitchFamily="18" charset="0"/>
                  </a:rPr>
                  <a:t>$\vec b=(2,2\sqrt3,0)$</a:t>
                </a:r>
                <a:r>
                  <a:rPr sz="2400" b="0">
                    <a:solidFill>
                      <a:srgbClr val="111827"/>
                    </a:solidFill>
                    <a:latin typeface="Arial"/>
                  </a:rPr>
                  <a:t>: </a:t>
                </a:r>
                <a:r>
                  <a:rPr lang="en-IN" sz="2400">
                    <a:solidFill>
                      <a:srgbClr val="111827"/>
                    </a:solidFill>
                    <a:latin typeface="Cambria Math" panose="02040503050406030204" pitchFamily="18" charset="0"/>
                  </a:rPr>
                  <a:t>$\left|\vec b\right|^2=4+12=16$</a:t>
                </a:r>
                <a:r>
                  <a:rPr sz="2400" b="0">
                    <a:solidFill>
                      <a:srgbClr val="111827"/>
                    </a:solidFill>
                    <a:latin typeface="Arial"/>
                  </a:rPr>
                  <a:t> and </a:t>
                </a:r>
                <a:r>
                  <a:rPr lang="en-IN" sz="2400">
                    <a:solidFill>
                      <a:srgbClr val="111827"/>
                    </a:solidFill>
                    <a:latin typeface="Cambria Math" panose="02040503050406030204" pitchFamily="18" charset="0"/>
                  </a:rPr>
                  <a:t>$\vec a\cdot\vec b=2$</a:t>
                </a:r>
                <a:r>
                  <a:rPr sz="2400" b="0">
                    <a:solidFill>
                      <a:srgbClr val="111827"/>
                    </a:solidFill>
                    <a:latin typeface="Arial"/>
                  </a:rPr>
                  <a:t>, as required.</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a\times\vec b=(0,0,2\sqrt3)$</a:t>
                </a:r>
                <a:r>
                  <a:rPr sz="2400" b="0">
                    <a:solidFill>
                      <a:srgbClr val="111827"/>
                    </a:solidFill>
                    <a:latin typeface="Arial"/>
                  </a:rPr>
                  <a:t>, so </a:t>
                </a:r>
                <a:r>
                  <a:rPr lang="en-IN" sz="2400">
                    <a:solidFill>
                      <a:srgbClr val="111827"/>
                    </a:solidFill>
                    <a:latin typeface="Cambria Math" panose="02040503050406030204" pitchFamily="18" charset="0"/>
                  </a:rPr>
                  <a:t>$2\vec a\times\vec b=(0,0,4\sqrt3)$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c=(0,0,4\sqrt3)-3(2,2\sqrt3,0)=(-6,-6\sqrt3,4\sqrt3)$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192</m:t>
                    </m:r>
                  </m:oMath>
                </a14:m>
                <a:r>
                  <a:rPr sz="2400" b="0">
                    <a:solidFill>
                      <a:srgbClr val="111827"/>
                    </a:solidFill>
                    <a:latin typeface="Arial"/>
                  </a:rPr>
                  <a:t>, 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48</m:t>
                        </m:r>
                      </m:num>
                      <m:den>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$\left|\vec c\right|^2=36+108+48=192$</a:t>
                </a:r>
                <a:r>
                  <a:rPr sz="2400" b="0">
                    <a:solidFill>
                      <a:srgbClr val="111827"/>
                    </a:solidFill>
                    <a:latin typeface="Arial"/>
                  </a:rPr>
                  <a:t>, so </a:t>
                </a:r>
                <a:r>
                  <a:rPr lang="en-IN" sz="2400">
                    <a:solidFill>
                      <a:srgbClr val="111827"/>
                    </a:solidFill>
                    <a:latin typeface="Cambria Math" panose="02040503050406030204" pitchFamily="18" charset="0"/>
                  </a:rPr>
                  <a:t>$\left|\vec c\right|=8\sqrt3$</a:t>
                </a:r>
                <a:r>
                  <a:rPr sz="2400" b="0">
                    <a:solidFill>
                      <a:srgbClr val="111827"/>
                    </a:solidFill>
                    <a:latin typeface="Arial"/>
                  </a:rPr>
                  <a:t>; </a:t>
                </a:r>
                <a:r>
                  <a:rPr lang="en-IN" sz="2400">
                    <a:solidFill>
                      <a:srgbClr val="111827"/>
                    </a:solidFill>
                    <a:latin typeface="Cambria Math" panose="02040503050406030204" pitchFamily="18" charset="0"/>
                  </a:rPr>
                  <a:t>$\vec b\cdot\vec c=-12-36+0=-48$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$\cos\phi=\frac{-48}{4\cdot8\sqrt3}=-\frac{\sqrt3}{2}$</a:t>
                </a:r>
                <a:r>
                  <a:rPr sz="2400" b="0">
                    <a:solidFill>
                      <a:srgbClr val="111827"/>
                    </a:solidFill>
                    <a:latin typeface="Arial"/>
                  </a:rPr>
                  <a:t>, so </a:t>
                </a:r>
                <a:r>
                  <a:rPr lang="en-IN" sz="2400">
                    <a:solidFill>
                      <a:srgbClr val="111827"/>
                    </a:solidFill>
                    <a:latin typeface="Cambria Math" panose="02040503050406030204" pitchFamily="18" charset="0"/>
                  </a:rPr>
                  <a:t>$\phi=\frac{5\pi}{6}$</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m:t>
                        </m:r>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6</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$\frac{5\pi}{6}$</a:t>
                </a:r>
                <a:endParaRPr sz="2800">
                  <a:solidFill>
                    <a:srgbClr val="15803D"/>
                  </a:solidFill>
                </a:endParaRPr>
              </a:p>
            </p:txBody>
          </p:sp>
        </mc:Fallback>
      </mc:AlternateContent>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is perpendicular to both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so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for any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Lagrange's identity: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only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are given, the answer cannot depend on the choice of axes; a convenient coordinate model is always valid.</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a\times\vec b$</a:t>
                </a:r>
                <a:r>
                  <a:rPr sz="2400" b="0">
                    <a:solidFill>
                      <a:srgbClr val="111827"/>
                    </a:solidFill>
                    <a:latin typeface="Arial"/>
                  </a:rPr>
                  <a:t> is perpendicular to both </a:t>
                </a:r>
                <a:r>
                  <a:rPr lang="en-IN" sz="2400">
                    <a:solidFill>
                      <a:srgbClr val="111827"/>
                    </a:solidFill>
                    <a:latin typeface="Cambria Math" panose="02040503050406030204" pitchFamily="18" charset="0"/>
                  </a:rPr>
                  <a:t>$\vec a$</a:t>
                </a:r>
                <a:r>
                  <a:rPr sz="2400" b="0">
                    <a:solidFill>
                      <a:srgbClr val="111827"/>
                    </a:solidFill>
                    <a:latin typeface="Arial"/>
                  </a:rPr>
                  <a:t> and </a:t>
                </a:r>
                <a:r>
                  <a:rPr lang="en-IN" sz="2400">
                    <a:solidFill>
                      <a:srgbClr val="111827"/>
                    </a:solidFill>
                    <a:latin typeface="Cambria Math" panose="02040503050406030204" pitchFamily="18" charset="0"/>
                  </a:rPr>
                  <a:t>$\vec b$</a:t>
                </a:r>
                <a:r>
                  <a:rPr sz="2400" b="0">
                    <a:solidFill>
                      <a:srgbClr val="111827"/>
                    </a:solidFill>
                    <a:latin typeface="Arial"/>
                  </a:rPr>
                  <a:t>, so </a:t>
                </a:r>
                <a:r>
                  <a:rPr lang="en-IN" sz="2400">
                    <a:solidFill>
                      <a:srgbClr val="111827"/>
                    </a:solidFill>
                    <a:latin typeface="Cambria Math" panose="02040503050406030204" pitchFamily="18" charset="0"/>
                  </a:rPr>
                  <a:t>$\left|\vec u\times\vec b+\lambda\vec b\right|^2=\left|\vec u\times\vec b\right|^2+\lambda^2\left|\vec b\right|^2$</a:t>
                </a:r>
                <a:r>
                  <a:rPr sz="2400" b="0">
                    <a:solidFill>
                      <a:srgbClr val="111827"/>
                    </a:solidFill>
                    <a:latin typeface="Arial"/>
                  </a:rPr>
                  <a:t> for any </a:t>
                </a:r>
                <a:r>
                  <a:rPr lang="en-IN" sz="2400">
                    <a:solidFill>
                      <a:srgbClr val="111827"/>
                    </a:solidFill>
                    <a:latin typeface="Cambria Math" panose="02040503050406030204" pitchFamily="18" charset="0"/>
                  </a:rPr>
                  <a:t>$\vec u$</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Lagrange's identity: </a:t>
                </a:r>
                <a:r>
                  <a:rPr lang="en-IN" sz="2400">
                    <a:solidFill>
                      <a:srgbClr val="111827"/>
                    </a:solidFill>
                    <a:latin typeface="Cambria Math" panose="02040503050406030204" pitchFamily="18" charset="0"/>
                  </a:rPr>
                  <a:t>$\left|\vec a\times\vec b\right|^2=\left|\vec a\right|^2\left|\vec b\right|^2-(\vec a\cdot\vec b)^2$</a:t>
                </a:r>
                <a:r>
                  <a:rPr sz="2400" b="0">
                    <a:solidFill>
                      <a:srgbClr val="111827"/>
                    </a:solidFill>
                    <a:latin typeface="Arial"/>
                  </a:rPr>
                  <a:t> (here </a:t>
                </a:r>
                <a:r>
                  <a:rPr lang="en-IN" sz="2400">
                    <a:solidFill>
                      <a:srgbClr val="111827"/>
                    </a:solidFill>
                    <a:latin typeface="Cambria Math" panose="02040503050406030204" pitchFamily="18" charset="0"/>
                  </a:rPr>
                  <a:t>$16-4=12$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only </a:t>
                </a:r>
                <a:r>
                  <a:rPr lang="en-IN" sz="2400">
                    <a:solidFill>
                      <a:srgbClr val="111827"/>
                    </a:solidFill>
                    <a:latin typeface="Cambria Math" panose="02040503050406030204" pitchFamily="18" charset="0"/>
                  </a:rPr>
                  <a:t>$\left|\vec a\right|,\left|\vec b\right|$</a:t>
                </a:r>
                <a:r>
                  <a:rPr sz="2400" b="0">
                    <a:solidFill>
                      <a:srgbClr val="111827"/>
                    </a:solidFill>
                    <a:latin typeface="Arial"/>
                  </a:rPr>
                  <a:t> and </a:t>
                </a:r>
                <a:r>
                  <a:rPr lang="en-IN" sz="2400">
                    <a:solidFill>
                      <a:srgbClr val="111827"/>
                    </a:solidFill>
                    <a:latin typeface="Cambria Math" panose="02040503050406030204" pitchFamily="18" charset="0"/>
                  </a:rPr>
                  <a:t>$\vec a\cdot\vec b$</a:t>
                </a:r>
                <a:r>
                  <a:rPr sz="2400" b="0">
                    <a:solidFill>
                      <a:srgbClr val="111827"/>
                    </a:solidFill>
                    <a:latin typeface="Arial"/>
                  </a:rPr>
                  <a:t> are given, the answer cannot depend on the choice of axes; a convenient coordinate model is always valid.</a:t>
                </a:r>
                <a:endParaRPr sz="2400">
                  <a:solidFill>
                    <a:srgbClr val="111827"/>
                  </a:solidFill>
                </a:endParaRPr>
              </a:p>
            </p:txBody>
          </p:sp>
        </mc:Fallback>
      </mc:AlternateContent>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position vectors of the four angular points of a tetrahedron are: </a:t>
                </a:r>
                <a14:m>
                  <m:oMath xmlns:m="http://schemas.openxmlformats.org/officeDocument/2006/math">
                    <m:r>
                      <a:rPr lang="en-IN" sz="2400" i="1">
                        <a:solidFill>
                          <a:srgbClr val="111827"/>
                        </a:solidFill>
                        <a:latin typeface="Cambria Math" panose="02040503050406030204" pitchFamily="18" charset="0"/>
                      </a:rPr>
                      <m:t>𝐴</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4</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𝐷</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oMath>
                </a14:m>
                <a:r>
                  <a:rPr sz="2400" b="0">
                    <a:solidFill>
                      <a:srgbClr val="111827"/>
                    </a:solidFill>
                    <a:latin typeface="Arial"/>
                  </a:rPr>
                  <a:t>. Find: (i) the perpendicular distance from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to the line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(ii) the volume of the tetrahedron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(iii) the perpendicular distance from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to the plane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(iv) the shortest distance between the lines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position vectors of the four angular points of a tetrahedron are: </a:t>
                </a:r>
                <a:r>
                  <a:rPr lang="en-IN" sz="2400">
                    <a:solidFill>
                      <a:srgbClr val="111827"/>
                    </a:solidFill>
                    <a:latin typeface="Cambria Math" panose="02040503050406030204" pitchFamily="18" charset="0"/>
                  </a:rPr>
                  <a:t>$A\left(\hat{j}+2\hat{k}\right)$</a:t>
                </a:r>
                <a:r>
                  <a:rPr sz="2400" b="0">
                    <a:solidFill>
                      <a:srgbClr val="111827"/>
                    </a:solidFill>
                    <a:latin typeface="Arial"/>
                  </a:rPr>
                  <a:t>; </a:t>
                </a:r>
                <a:r>
                  <a:rPr lang="en-IN" sz="2400">
                    <a:solidFill>
                      <a:srgbClr val="111827"/>
                    </a:solidFill>
                    <a:latin typeface="Cambria Math" panose="02040503050406030204" pitchFamily="18" charset="0"/>
                  </a:rPr>
                  <a:t>$B\left(3\hat{i}+\hat{k}\right)$</a:t>
                </a:r>
                <a:r>
                  <a:rPr sz="2400" b="0">
                    <a:solidFill>
                      <a:srgbClr val="111827"/>
                    </a:solidFill>
                    <a:latin typeface="Arial"/>
                  </a:rPr>
                  <a:t>; </a:t>
                </a:r>
                <a:r>
                  <a:rPr lang="en-IN" sz="2400">
                    <a:solidFill>
                      <a:srgbClr val="111827"/>
                    </a:solidFill>
                    <a:latin typeface="Cambria Math" panose="02040503050406030204" pitchFamily="18" charset="0"/>
                  </a:rPr>
                  <a:t>$C\left(4\hat{i}+3\hat{j}+6\hat{k}\right)$</a:t>
                </a:r>
                <a:r>
                  <a:rPr sz="2400" b="0">
                    <a:solidFill>
                      <a:srgbClr val="111827"/>
                    </a:solidFill>
                    <a:latin typeface="Arial"/>
                  </a:rPr>
                  <a:t> and </a:t>
                </a:r>
                <a:r>
                  <a:rPr lang="en-IN" sz="2400">
                    <a:solidFill>
                      <a:srgbClr val="111827"/>
                    </a:solidFill>
                    <a:latin typeface="Cambria Math" panose="02040503050406030204" pitchFamily="18" charset="0"/>
                  </a:rPr>
                  <a:t>$D\left(2\hat{i}+3\hat{j}+2\hat{k}\right)$</a:t>
                </a:r>
                <a:r>
                  <a:rPr sz="2400" b="0">
                    <a:solidFill>
                      <a:srgbClr val="111827"/>
                    </a:solidFill>
                    <a:latin typeface="Arial"/>
                  </a:rPr>
                  <a:t>. Find: (i) the perpendicular distance from </a:t>
                </a:r>
                <a:r>
                  <a:rPr lang="en-IN" sz="2400">
                    <a:solidFill>
                      <a:srgbClr val="111827"/>
                    </a:solidFill>
                    <a:latin typeface="Cambria Math" panose="02040503050406030204" pitchFamily="18" charset="0"/>
                  </a:rPr>
                  <a:t>$A$</a:t>
                </a:r>
                <a:r>
                  <a:rPr sz="2400" b="0">
                    <a:solidFill>
                      <a:srgbClr val="111827"/>
                    </a:solidFill>
                    <a:latin typeface="Arial"/>
                  </a:rPr>
                  <a:t> to the line </a:t>
                </a:r>
                <a:r>
                  <a:rPr lang="en-IN" sz="2400">
                    <a:solidFill>
                      <a:srgbClr val="111827"/>
                    </a:solidFill>
                    <a:latin typeface="Cambria Math" panose="02040503050406030204" pitchFamily="18" charset="0"/>
                  </a:rPr>
                  <a:t>$BC$</a:t>
                </a:r>
                <a:r>
                  <a:rPr sz="2400" b="0">
                    <a:solidFill>
                      <a:srgbClr val="111827"/>
                    </a:solidFill>
                    <a:latin typeface="Arial"/>
                  </a:rPr>
                  <a:t>. (ii) the volume of the tetrahedron </a:t>
                </a:r>
                <a:r>
                  <a:rPr lang="en-IN" sz="2400">
                    <a:solidFill>
                      <a:srgbClr val="111827"/>
                    </a:solidFill>
                    <a:latin typeface="Cambria Math" panose="02040503050406030204" pitchFamily="18" charset="0"/>
                  </a:rPr>
                  <a:t>$ABCD$</a:t>
                </a:r>
                <a:r>
                  <a:rPr sz="2400" b="0">
                    <a:solidFill>
                      <a:srgbClr val="111827"/>
                    </a:solidFill>
                    <a:latin typeface="Arial"/>
                  </a:rPr>
                  <a:t>. (iii) the perpendicular distance from </a:t>
                </a:r>
                <a:r>
                  <a:rPr lang="en-IN" sz="2400">
                    <a:solidFill>
                      <a:srgbClr val="111827"/>
                    </a:solidFill>
                    <a:latin typeface="Cambria Math" panose="02040503050406030204" pitchFamily="18" charset="0"/>
                  </a:rPr>
                  <a:t>$D$</a:t>
                </a:r>
                <a:r>
                  <a:rPr sz="2400" b="0">
                    <a:solidFill>
                      <a:srgbClr val="111827"/>
                    </a:solidFill>
                    <a:latin typeface="Arial"/>
                  </a:rPr>
                  <a:t> to the plane </a:t>
                </a:r>
                <a:r>
                  <a:rPr lang="en-IN" sz="2400">
                    <a:solidFill>
                      <a:srgbClr val="111827"/>
                    </a:solidFill>
                    <a:latin typeface="Cambria Math" panose="02040503050406030204" pitchFamily="18" charset="0"/>
                  </a:rPr>
                  <a:t>$ABC$</a:t>
                </a:r>
                <a:r>
                  <a:rPr sz="2400" b="0">
                    <a:solidFill>
                      <a:srgbClr val="111827"/>
                    </a:solidFill>
                    <a:latin typeface="Arial"/>
                  </a:rPr>
                  <a:t>. (iv) the shortest distance between the lines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$CD$</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4260596"/>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Distance of a point from a line and a plane, volume of a tetrahedron, shortest distance between skew lines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Four standard formulas on the same four points: foot of perpendicular,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6</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plane distance, and </a:t>
                </a:r>
                <a14:m>
                  <m:oMath xmlns:m="http://schemas.openxmlformats.org/officeDocument/2006/math">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𝐶</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𝐷</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num>
                      <m:den>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𝐷</m:t>
                            </m:r>
                          </m:e>
                        </m:acc>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Four standard formulas on the same four points: foot of perpendicular, </a:t>
                </a:r>
                <a:r>
                  <a:rPr lang="en-IN" sz="2400">
                    <a:solidFill>
                      <a:srgbClr val="78350F"/>
                    </a:solidFill>
                    <a:latin typeface="Cambria Math" panose="02040503050406030204" pitchFamily="18" charset="0"/>
                  </a:rPr>
                  <a:t>$\frac16|[\,]|$</a:t>
                </a:r>
                <a:r>
                  <a:rPr sz="2400" b="0">
                    <a:solidFill>
                      <a:srgbClr val="78350F"/>
                    </a:solidFill>
                    <a:latin typeface="Arial"/>
                  </a:rPr>
                  <a:t>, plane distance, and </a:t>
                </a:r>
                <a:r>
                  <a:rPr lang="en-IN" sz="2400">
                    <a:solidFill>
                      <a:srgbClr val="78350F"/>
                    </a:solidFill>
                    <a:latin typeface="Cambria Math" panose="02040503050406030204" pitchFamily="18" charset="0"/>
                  </a:rPr>
                  <a:t>$\frac{|\vec{AC}\cdot(\vec{AB}\times\vec{CD})|}{|\vec{AB}\times\vec{CD}|}$</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 Line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foot of the perpendicular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35</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$A(0,1,2)$</a:t>
                </a:r>
                <a:r>
                  <a:rPr sz="2400" b="0">
                    <a:solidFill>
                      <a:srgbClr val="111827"/>
                    </a:solidFill>
                    <a:latin typeface="Arial"/>
                  </a:rPr>
                  <a:t>, </a:t>
                </a:r>
                <a:r>
                  <a:rPr lang="en-IN" sz="2400">
                    <a:solidFill>
                      <a:srgbClr val="111827"/>
                    </a:solidFill>
                    <a:latin typeface="Cambria Math" panose="02040503050406030204" pitchFamily="18" charset="0"/>
                  </a:rPr>
                  <a:t>$B(3,0,1)$</a:t>
                </a:r>
                <a:r>
                  <a:rPr sz="2400" b="0">
                    <a:solidFill>
                      <a:srgbClr val="111827"/>
                    </a:solidFill>
                    <a:latin typeface="Arial"/>
                  </a:rPr>
                  <a:t>, </a:t>
                </a:r>
                <a:r>
                  <a:rPr lang="en-IN" sz="2400">
                    <a:solidFill>
                      <a:srgbClr val="111827"/>
                    </a:solidFill>
                    <a:latin typeface="Cambria Math" panose="02040503050406030204" pitchFamily="18" charset="0"/>
                  </a:rPr>
                  <a:t>$C(4,3,6)$</a:t>
                </a:r>
                <a:r>
                  <a:rPr sz="2400" b="0">
                    <a:solidFill>
                      <a:srgbClr val="111827"/>
                    </a:solidFill>
                    <a:latin typeface="Arial"/>
                  </a:rPr>
                  <a:t>, </a:t>
                </a:r>
                <a:r>
                  <a:rPr lang="en-IN" sz="2400">
                    <a:solidFill>
                      <a:srgbClr val="111827"/>
                    </a:solidFill>
                    <a:latin typeface="Cambria Math" panose="02040503050406030204" pitchFamily="18" charset="0"/>
                  </a:rPr>
                  <a:t>$D(2,3,2)$</a:t>
                </a:r>
                <a:r>
                  <a:rPr sz="2400" b="0">
                    <a:solidFill>
                      <a:srgbClr val="111827"/>
                    </a:solidFill>
                    <a:latin typeface="Arial"/>
                  </a:rPr>
                  <a:t>: </a:t>
                </a:r>
                <a:r>
                  <a:rPr lang="en-IN" sz="2400">
                    <a:solidFill>
                      <a:srgbClr val="111827"/>
                    </a:solidFill>
                    <a:latin typeface="Cambria Math" panose="02040503050406030204" pitchFamily="18" charset="0"/>
                  </a:rPr>
                  <a:t>$\vec{AB}=(3,-1,-1)$</a:t>
                </a:r>
                <a:r>
                  <a:rPr sz="2400" b="0">
                    <a:solidFill>
                      <a:srgbClr val="111827"/>
                    </a:solidFill>
                    <a:latin typeface="Arial"/>
                  </a:rPr>
                  <a:t>, </a:t>
                </a:r>
                <a:r>
                  <a:rPr lang="en-IN" sz="2400">
                    <a:solidFill>
                      <a:srgbClr val="111827"/>
                    </a:solidFill>
                    <a:latin typeface="Cambria Math" panose="02040503050406030204" pitchFamily="18" charset="0"/>
                  </a:rPr>
                  <a:t>$\vec{BC}=(1,3,5)$</a:t>
                </a:r>
                <a:r>
                  <a:rPr sz="2400" b="0">
                    <a:solidFill>
                      <a:srgbClr val="111827"/>
                    </a:solidFill>
                    <a:latin typeface="Arial"/>
                  </a:rPr>
                  <a:t>, </a:t>
                </a:r>
                <a:r>
                  <a:rPr lang="en-IN" sz="2400">
                    <a:solidFill>
                      <a:srgbClr val="111827"/>
                    </a:solidFill>
                    <a:latin typeface="Cambria Math" panose="02040503050406030204" pitchFamily="18" charset="0"/>
                  </a:rPr>
                  <a:t>$\vec{CD}=(-2,0,-4)$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 Line </a:t>
                </a:r>
                <a:r>
                  <a:rPr lang="en-IN" sz="2400">
                    <a:solidFill>
                      <a:srgbClr val="111827"/>
                    </a:solidFill>
                    <a:latin typeface="Cambria Math" panose="02040503050406030204" pitchFamily="18" charset="0"/>
                  </a:rPr>
                  <a:t>$BC$</a:t>
                </a:r>
                <a:r>
                  <a:rPr sz="2400" b="0">
                    <a:solidFill>
                      <a:srgbClr val="111827"/>
                    </a:solidFill>
                    <a:latin typeface="Arial"/>
                  </a:rPr>
                  <a:t>: </a:t>
                </a:r>
                <a:r>
                  <a:rPr lang="en-IN" sz="2400">
                    <a:solidFill>
                      <a:srgbClr val="111827"/>
                    </a:solidFill>
                    <a:latin typeface="Cambria Math" panose="02040503050406030204" pitchFamily="18" charset="0"/>
                  </a:rPr>
                  <a:t>$P=(3+\lambda,\,3\lambda,\,1+5\lambda)$</a:t>
                </a:r>
                <a:r>
                  <a:rPr sz="2400" b="0">
                    <a:solidFill>
                      <a:srgbClr val="111827"/>
                    </a:solidFill>
                    <a:latin typeface="Arial"/>
                  </a:rPr>
                  <a:t> and </a:t>
                </a:r>
                <a:r>
                  <a:rPr lang="en-IN" sz="2400">
                    <a:solidFill>
                      <a:srgbClr val="111827"/>
                    </a:solidFill>
                    <a:latin typeface="Cambria Math" panose="02040503050406030204" pitchFamily="18" charset="0"/>
                  </a:rPr>
                  <a:t>$\vec{AP}=(3+\lambda,\,3\lambda-1,\,5\lambda-1)$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the foot of the perpendicular </a:t>
                </a:r>
                <a:r>
                  <a:rPr lang="en-IN" sz="2400">
                    <a:solidFill>
                      <a:srgbClr val="111827"/>
                    </a:solidFill>
                    <a:latin typeface="Cambria Math" panose="02040503050406030204" pitchFamily="18" charset="0"/>
                  </a:rPr>
                  <a:t>$\vec{AP}\cdot\vec{BC}=0$</a:t>
                </a:r>
                <a:r>
                  <a:rPr sz="2400" b="0">
                    <a:solidFill>
                      <a:srgbClr val="111827"/>
                    </a:solidFill>
                    <a:latin typeface="Arial"/>
                  </a:rPr>
                  <a:t>: </a:t>
                </a:r>
                <a:r>
                  <a:rPr lang="en-IN" sz="2400">
                    <a:solidFill>
                      <a:srgbClr val="111827"/>
                    </a:solidFill>
                    <a:latin typeface="Cambria Math" panose="02040503050406030204" pitchFamily="18" charset="0"/>
                  </a:rPr>
                  <a:t>$3+\lambda+9\lambda-3+25\lambda-5=0$</a:t>
                </a:r>
                <a:r>
                  <a:rPr sz="2400" b="0">
                    <a:solidFill>
                      <a:srgbClr val="111827"/>
                    </a:solidFill>
                    <a:latin typeface="Arial"/>
                  </a:rPr>
                  <a:t>, so </a:t>
                </a:r>
                <a:r>
                  <a:rPr lang="en-IN" sz="2400">
                    <a:solidFill>
                      <a:srgbClr val="111827"/>
                    </a:solidFill>
                    <a:latin typeface="Cambria Math" panose="02040503050406030204" pitchFamily="18" charset="0"/>
                  </a:rPr>
                  <a:t>$35\lambda=5$</a:t>
                </a:r>
                <a:r>
                  <a:rPr sz="2400" b="0">
                    <a:solidFill>
                      <a:srgbClr val="111827"/>
                    </a:solidFill>
                    <a:latin typeface="Arial"/>
                  </a:rPr>
                  <a:t> and </a:t>
                </a:r>
                <a:r>
                  <a:rPr lang="en-IN" sz="2400">
                    <a:solidFill>
                      <a:srgbClr val="111827"/>
                    </a:solidFill>
                    <a:latin typeface="Cambria Math" panose="02040503050406030204" pitchFamily="18" charset="0"/>
                  </a:rPr>
                  <a:t>$\lambda=\frac17$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7</m:t>
                            </m:r>
                          </m:den>
                        </m:f>
                      </m:e>
                    </m:d>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e>
                        </m:acc>
                      </m:e>
                    </m: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484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49</m:t>
                            </m:r>
                          </m:den>
                        </m:f>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num>
                          <m:den>
                            <m:r>
                              <a:rPr lang="en-IN" sz="2400" i="1">
                                <a:solidFill>
                                  <a:srgbClr val="111827"/>
                                </a:solidFill>
                                <a:latin typeface="Cambria Math" panose="02040503050406030204" pitchFamily="18" charset="0"/>
                              </a:rPr>
                              <m:t>49</m:t>
                            </m:r>
                          </m:den>
                        </m:f>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7</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14</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e>
                        </m:acc>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determinant is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(iii) Normal to plane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plane through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$\vec{AP}=\left(\frac{22}{7},-\frac47,-\frac27\right)$</a:t>
                </a:r>
                <a:r>
                  <a:rPr sz="2400" b="0">
                    <a:solidFill>
                      <a:srgbClr val="111827"/>
                    </a:solidFill>
                    <a:latin typeface="Arial"/>
                  </a:rPr>
                  <a:t> and </a:t>
                </a:r>
                <a:r>
                  <a:rPr lang="en-IN" sz="2400">
                    <a:solidFill>
                      <a:srgbClr val="111827"/>
                    </a:solidFill>
                    <a:latin typeface="Cambria Math" panose="02040503050406030204" pitchFamily="18" charset="0"/>
                  </a:rPr>
                  <a:t>$\left|\vec{AP}\right|=\sqrt{\frac{484+16+4}{49}}=\sqrt{\frac{36\cdot14}{49}}=\frac{6}{7}\sqrt{14}$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 </a:t>
                </a:r>
                <a:r>
                  <a:rPr lang="en-IN" sz="2400">
                    <a:solidFill>
                      <a:srgbClr val="111827"/>
                    </a:solidFill>
                    <a:latin typeface="Cambria Math" panose="02040503050406030204" pitchFamily="18" charset="0"/>
                  </a:rPr>
                  <a:t>$V=\frac16\left|[\vec{AB}\ \vec{AC}\ \vec{AD}]\right|$</a:t>
                </a:r>
                <a:r>
                  <a:rPr sz="2400" b="0">
                    <a:solidFill>
                      <a:srgbClr val="111827"/>
                    </a:solidFill>
                    <a:latin typeface="Arial"/>
                  </a:rPr>
                  <a:t> with </a:t>
                </a:r>
                <a:r>
                  <a:rPr lang="en-IN" sz="2400">
                    <a:solidFill>
                      <a:srgbClr val="111827"/>
                    </a:solidFill>
                    <a:latin typeface="Cambria Math" panose="02040503050406030204" pitchFamily="18" charset="0"/>
                  </a:rPr>
                  <a:t>$\vec{AC}=(4,2,4)$</a:t>
                </a:r>
                <a:r>
                  <a:rPr sz="2400" b="0">
                    <a:solidFill>
                      <a:srgbClr val="111827"/>
                    </a:solidFill>
                    <a:latin typeface="Arial"/>
                  </a:rPr>
                  <a:t>, </a:t>
                </a:r>
                <a:r>
                  <a:rPr lang="en-IN" sz="2400">
                    <a:solidFill>
                      <a:srgbClr val="111827"/>
                    </a:solidFill>
                    <a:latin typeface="Cambria Math" panose="02040503050406030204" pitchFamily="18" charset="0"/>
                  </a:rPr>
                  <a:t>$\vec{AD}=(2,2,0)$</a:t>
                </a:r>
                <a:r>
                  <a:rPr sz="2400" b="0">
                    <a:solidFill>
                      <a:srgbClr val="111827"/>
                    </a:solidFill>
                    <a:latin typeface="Arial"/>
                  </a:rPr>
                  <a:t>: the determinant is </a:t>
                </a:r>
                <a:r>
                  <a:rPr lang="en-IN" sz="2400">
                    <a:solidFill>
                      <a:srgbClr val="111827"/>
                    </a:solidFill>
                    <a:latin typeface="Cambria Math" panose="02040503050406030204" pitchFamily="18" charset="0"/>
                  </a:rPr>
                  <a:t>$3(-8)+1(-8)-1(8-4)=-36$</a:t>
                </a:r>
                <a:r>
                  <a:rPr sz="2400" b="0">
                    <a:solidFill>
                      <a:srgbClr val="111827"/>
                    </a:solidFill>
                    <a:latin typeface="Arial"/>
                  </a:rPr>
                  <a:t>, so </a:t>
                </a:r>
                <a:r>
                  <a:rPr lang="en-IN" sz="2400">
                    <a:solidFill>
                      <a:srgbClr val="111827"/>
                    </a:solidFill>
                    <a:latin typeface="Cambria Math" panose="02040503050406030204" pitchFamily="18" charset="0"/>
                  </a:rPr>
                  <a:t>$V=\frac{36}{6}=6$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(iii) Normal to plane </a:t>
                </a:r>
                <a:r>
                  <a:rPr lang="en-IN" sz="2400">
                    <a:solidFill>
                      <a:srgbClr val="111827"/>
                    </a:solidFill>
                    <a:latin typeface="Cambria Math" panose="02040503050406030204" pitchFamily="18" charset="0"/>
                  </a:rPr>
                  <a:t>$ABC$</a:t>
                </a:r>
                <a:r>
                  <a:rPr sz="2400" b="0">
                    <a:solidFill>
                      <a:srgbClr val="111827"/>
                    </a:solidFill>
                    <a:latin typeface="Arial"/>
                  </a:rPr>
                  <a:t>: </a:t>
                </a:r>
                <a:r>
                  <a:rPr lang="en-IN" sz="2400">
                    <a:solidFill>
                      <a:srgbClr val="111827"/>
                    </a:solidFill>
                    <a:latin typeface="Cambria Math" panose="02040503050406030204" pitchFamily="18" charset="0"/>
                  </a:rPr>
                  <a:t>$\vec{AB}\times\vec{BC}=(-2,-16,10)\parallel(1,8,-5)$</a:t>
                </a:r>
                <a:r>
                  <a:rPr sz="2400" b="0">
                    <a:solidFill>
                      <a:srgbClr val="111827"/>
                    </a:solidFill>
                    <a:latin typeface="Arial"/>
                  </a:rPr>
                  <a:t>; plane through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$x+8y-5z=-2$</a:t>
                </a:r>
                <a:r>
                  <a:rPr sz="2400" b="0">
                    <a:solidFill>
                      <a:srgbClr val="111827"/>
                    </a:solidFill>
                    <a:latin typeface="Arial"/>
                  </a:rPr>
                  <a:t>, i.e. </a:t>
                </a:r>
                <a:r>
                  <a:rPr lang="en-IN" sz="2400">
                    <a:solidFill>
                      <a:srgbClr val="111827"/>
                    </a:solidFill>
                    <a:latin typeface="Cambria Math" panose="02040503050406030204" pitchFamily="18" charset="0"/>
                  </a:rPr>
                  <a:t>$x+8y-5z+2=0$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90</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18</m:t>
                        </m:r>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(iv)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magnitude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196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216</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Shortest distance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e>
                            </m:acc>
                            <m:r>
                              <m:rPr>
                                <m:sty m:val="p"/>
                              </m:rPr>
                              <a:rPr lang="en-IN" sz="2400">
                                <a:solidFill>
                                  <a:srgbClr val="111827"/>
                                </a:solidFill>
                                <a:latin typeface="Cambria Math" panose="02040503050406030204" pitchFamily="18" charset="0"/>
                              </a:rPr>
                              <m:t>)</m:t>
                            </m:r>
                          </m:e>
                        </m:d>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e>
                            </m:acc>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216</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num>
                      <m:den>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 of </a:t>
                </a:r>
                <a:r>
                  <a:rPr lang="en-IN" sz="2400">
                    <a:solidFill>
                      <a:srgbClr val="111827"/>
                    </a:solidFill>
                    <a:latin typeface="Cambria Math" panose="02040503050406030204" pitchFamily="18" charset="0"/>
                  </a:rPr>
                  <a:t>$D(2,3,2)$</a:t>
                </a:r>
                <a:r>
                  <a:rPr sz="2400" b="0">
                    <a:solidFill>
                      <a:srgbClr val="111827"/>
                    </a:solidFill>
                    <a:latin typeface="Arial"/>
                  </a:rPr>
                  <a:t>: </a:t>
                </a:r>
                <a:r>
                  <a:rPr lang="en-IN" sz="2400">
                    <a:solidFill>
                      <a:srgbClr val="111827"/>
                    </a:solidFill>
                    <a:latin typeface="Cambria Math" panose="02040503050406030204" pitchFamily="18" charset="0"/>
                  </a:rPr>
                  <a:t>$\frac{|2+24-10+2|}{\sqrt{1+64+25}}=\frac{18}{\sqrt{90}}=\frac{18}{3\sqrt{10}}=\frac{3}{5}\sqrt{10}$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(iv) </a:t>
                </a:r>
                <a:r>
                  <a:rPr lang="en-IN" sz="2400">
                    <a:solidFill>
                      <a:srgbClr val="111827"/>
                    </a:solidFill>
                    <a:latin typeface="Cambria Math" panose="02040503050406030204" pitchFamily="18" charset="0"/>
                  </a:rPr>
                  <a:t>$\vec{AB}\times\vec{CD}=(4,14,-2)$</a:t>
                </a:r>
                <a:r>
                  <a:rPr sz="2400" b="0">
                    <a:solidFill>
                      <a:srgbClr val="111827"/>
                    </a:solidFill>
                    <a:latin typeface="Arial"/>
                  </a:rPr>
                  <a:t> with magnitude </a:t>
                </a:r>
                <a:r>
                  <a:rPr lang="en-IN" sz="2400">
                    <a:solidFill>
                      <a:srgbClr val="111827"/>
                    </a:solidFill>
                    <a:latin typeface="Cambria Math" panose="02040503050406030204" pitchFamily="18" charset="0"/>
                  </a:rPr>
                  <a:t>$\sqrt{16+196+4}=\sqrt{216}=6\sqrt6$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Shortest distance </a:t>
                </a:r>
                <a:r>
                  <a:rPr lang="en-IN" sz="2400">
                    <a:solidFill>
                      <a:srgbClr val="111827"/>
                    </a:solidFill>
                    <a:latin typeface="Cambria Math" panose="02040503050406030204" pitchFamily="18" charset="0"/>
                  </a:rPr>
                  <a:t>$=\frac{\left|\vec{AC}\cdot(\vec{AB}\times\vec{CD})\right|}{\left|\vec{AB}\times\vec{CD}\right|}=\frac{|16+28-8|}{\sqrt{216}}=\frac{36}{6\sqrt6}=\sqrt6$</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(i)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6</m:t>
                        </m:r>
                      </m:num>
                      <m:den>
                        <m:r>
                          <a:rPr lang="en-IN" sz="2800" i="1">
                            <a:solidFill>
                              <a:srgbClr val="15803D"/>
                            </a:solidFill>
                            <a:latin typeface="Cambria Math" panose="02040503050406030204" pitchFamily="18" charset="0"/>
                          </a:rPr>
                          <m:t>7</m:t>
                        </m:r>
                      </m:den>
                    </m:f>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14</m:t>
                        </m:r>
                      </m:e>
                    </m:rad>
                  </m:oMath>
                </a14:m>
                <a:r>
                  <a:rPr sz="2800" b="1">
                    <a:solidFill>
                      <a:srgbClr val="15803D"/>
                    </a:solidFill>
                    <a:latin typeface="Arial"/>
                  </a:rPr>
                  <a:t>; (ii) </a:t>
                </a:r>
                <a14:m>
                  <m:oMath xmlns:m="http://schemas.openxmlformats.org/officeDocument/2006/math">
                    <m:r>
                      <a:rPr lang="en-IN" sz="2800" i="1">
                        <a:solidFill>
                          <a:srgbClr val="15803D"/>
                        </a:solidFill>
                        <a:latin typeface="Cambria Math" panose="02040503050406030204" pitchFamily="18" charset="0"/>
                      </a:rPr>
                      <m:t>6</m:t>
                    </m:r>
                  </m:oMath>
                </a14:m>
                <a:r>
                  <a:rPr sz="2800" b="1">
                    <a:solidFill>
                      <a:srgbClr val="15803D"/>
                    </a:solidFill>
                    <a:latin typeface="Arial"/>
                  </a:rPr>
                  <a:t>; (iii)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5</m:t>
                        </m:r>
                      </m:den>
                    </m:f>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10</m:t>
                        </m:r>
                      </m:e>
                    </m:rad>
                  </m:oMath>
                </a14:m>
                <a:r>
                  <a:rPr sz="2800" b="1">
                    <a:solidFill>
                      <a:srgbClr val="15803D"/>
                    </a:solidFill>
                    <a:latin typeface="Arial"/>
                  </a:rPr>
                  <a:t>; (iv) </a:t>
                </a:r>
                <a14:m>
                  <m:oMath xmlns:m="http://schemas.openxmlformats.org/officeDocument/2006/math">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6</m:t>
                        </m:r>
                      </m:e>
                    </m:ra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(i) </a:t>
                </a:r>
                <a:r>
                  <a:rPr lang="en-IN" sz="2800">
                    <a:solidFill>
                      <a:srgbClr val="15803D"/>
                    </a:solidFill>
                    <a:latin typeface="Cambria Math" panose="02040503050406030204" pitchFamily="18" charset="0"/>
                  </a:rPr>
                  <a:t>$\frac{6}{7}\sqrt{14}$</a:t>
                </a:r>
                <a:r>
                  <a:rPr sz="2800" b="1">
                    <a:solidFill>
                      <a:srgbClr val="15803D"/>
                    </a:solidFill>
                    <a:latin typeface="Arial"/>
                  </a:rPr>
                  <a:t>; (ii) </a:t>
                </a:r>
                <a:r>
                  <a:rPr lang="en-IN" sz="2800">
                    <a:solidFill>
                      <a:srgbClr val="15803D"/>
                    </a:solidFill>
                    <a:latin typeface="Cambria Math" panose="02040503050406030204" pitchFamily="18" charset="0"/>
                  </a:rPr>
                  <a:t>$6$</a:t>
                </a:r>
                <a:r>
                  <a:rPr sz="2800" b="1">
                    <a:solidFill>
                      <a:srgbClr val="15803D"/>
                    </a:solidFill>
                    <a:latin typeface="Arial"/>
                  </a:rPr>
                  <a:t>; (iii) </a:t>
                </a:r>
                <a:r>
                  <a:rPr lang="en-IN" sz="2800">
                    <a:solidFill>
                      <a:srgbClr val="15803D"/>
                    </a:solidFill>
                    <a:latin typeface="Cambria Math" panose="02040503050406030204" pitchFamily="18" charset="0"/>
                  </a:rPr>
                  <a:t>$\frac{3}{5}\sqrt{10}$</a:t>
                </a:r>
                <a:r>
                  <a:rPr sz="2800" b="1">
                    <a:solidFill>
                      <a:srgbClr val="15803D"/>
                    </a:solidFill>
                    <a:latin typeface="Arial"/>
                  </a:rPr>
                  <a:t>; (iv) </a:t>
                </a:r>
                <a:r>
                  <a:rPr lang="en-IN" sz="2800">
                    <a:solidFill>
                      <a:srgbClr val="15803D"/>
                    </a:solidFill>
                    <a:latin typeface="Cambria Math" panose="02040503050406030204" pitchFamily="18" charset="0"/>
                  </a:rPr>
                  <a:t>$\sqrt6$</a:t>
                </a:r>
                <a:endParaRPr sz="2800">
                  <a:solidFill>
                    <a:srgbClr val="15803D"/>
                  </a:solidFill>
                </a:endParaRPr>
              </a:p>
            </p:txBody>
          </p:sp>
        </mc:Fallback>
      </mc:AlternateContent>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cross-product and volume relations: </a:t>
                </a:r>
                <a14:m>
                  <m:oMath xmlns:m="http://schemas.openxmlformats.org/officeDocument/2006/math">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e>
                        </m:acc>
                        <m:r>
                          <m:rPr>
                            <m:sty m:val="p"/>
                          </m:rPr>
                          <a:rPr lang="en-IN" sz="2400">
                            <a:solidFill>
                              <a:srgbClr val="78350F"/>
                            </a:solidFill>
                            <a:latin typeface="Cambria Math" panose="02040503050406030204" pitchFamily="18" charset="0"/>
                          </a:rPr>
                          <m:t>|</m:t>
                        </m:r>
                      </m:num>
                      <m:den>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e>
                        </m:acc>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ℎ</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𝑉</m:t>
                        </m:r>
                      </m:num>
                      <m:den>
                        <m:r>
                          <m:rPr>
                            <m:nor/>
                          </m:rPr>
                          <a:rPr lang="en-IN" sz="2400" i="1">
                            <a:solidFill>
                              <a:srgbClr val="78350F"/>
                            </a:solidFill>
                            <a:latin typeface="Cambria Math" panose="02040503050406030204" pitchFamily="18" charset="0"/>
                          </a:rPr>
                          <m:t>𝐴𝑟𝑒𝑎</m:t>
                        </m:r>
                      </m:den>
                    </m:f>
                  </m:oMath>
                </a14:m>
                <a:r>
                  <a:rPr sz="2400" b="0">
                    <a:solidFill>
                      <a:srgbClr val="78350F"/>
                    </a:solidFill>
                    <a:latin typeface="Arial"/>
                  </a:rPr>
                  <a:t> and </a:t>
                </a:r>
                <a14:m>
                  <m:oMath xmlns:m="http://schemas.openxmlformats.org/officeDocument/2006/math">
                    <m:sSub>
                      <m:e>
                        <m:r>
                          <a:rPr lang="en-IN" sz="2400" i="1">
                            <a:solidFill>
                              <a:srgbClr val="78350F"/>
                            </a:solidFill>
                            <a:latin typeface="Cambria Math" panose="02040503050406030204" pitchFamily="18" charset="0"/>
                          </a:rPr>
                          <m:t>𝑑</m:t>
                        </m:r>
                      </m:e>
                      <m:sub>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𝐷</m:t>
                        </m:r>
                      </m:sub>
                    </m:sSub>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6</m:t>
                        </m:r>
                        <m:r>
                          <a:rPr lang="en-IN" sz="2400" i="1">
                            <a:solidFill>
                              <a:srgbClr val="78350F"/>
                            </a:solidFill>
                            <a:latin typeface="Cambria Math" panose="02040503050406030204" pitchFamily="18" charset="0"/>
                          </a:rPr>
                          <m:t>𝑉</m:t>
                        </m:r>
                      </m:num>
                      <m:den>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𝐷</m:t>
                            </m:r>
                          </m:e>
                        </m:acc>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cross-product and volume relations: </a:t>
                </a:r>
                <a:r>
                  <a:rPr lang="en-IN" sz="2400">
                    <a:solidFill>
                      <a:srgbClr val="78350F"/>
                    </a:solidFill>
                    <a:latin typeface="Cambria Math" panose="02040503050406030204" pitchFamily="18" charset="0"/>
                  </a:rPr>
                  <a:t>$d(A,BC)=\frac{|\vec{AB}\times\vec{BC}|}{|\vec{BC}|}$</a:t>
                </a:r>
                <a:r>
                  <a:rPr sz="2400" b="0">
                    <a:solidFill>
                      <a:srgbClr val="78350F"/>
                    </a:solidFill>
                    <a:latin typeface="Arial"/>
                  </a:rPr>
                  <a:t>, </a:t>
                </a:r>
                <a:r>
                  <a:rPr lang="en-IN" sz="2400">
                    <a:solidFill>
                      <a:srgbClr val="78350F"/>
                    </a:solidFill>
                    <a:latin typeface="Cambria Math" panose="02040503050406030204" pitchFamily="18" charset="0"/>
                  </a:rPr>
                  <a:t>$h=\frac{3V}{\text{Area}}$</a:t>
                </a:r>
                <a:r>
                  <a:rPr sz="2400" b="0">
                    <a:solidFill>
                      <a:srgbClr val="78350F"/>
                    </a:solidFill>
                    <a:latin typeface="Arial"/>
                  </a:rPr>
                  <a:t> and </a:t>
                </a:r>
                <a:r>
                  <a:rPr lang="en-IN" sz="2400">
                    <a:solidFill>
                      <a:srgbClr val="78350F"/>
                    </a:solidFill>
                    <a:latin typeface="Cambria Math" panose="02040503050406030204" pitchFamily="18" charset="0"/>
                  </a:rPr>
                  <a:t>$d_{AB,CD}=\frac{6V}{|\vec{AB}\times\vec{CD}|}$</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magnitude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360</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e>
                        </m:acc>
                      </m:e>
                    </m: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35</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 Distance of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from line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e>
                            </m:acc>
                          </m:e>
                        </m:d>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e>
                            </m:acc>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35</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7</m:t>
                            </m:r>
                          </m:den>
                        </m:f>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7</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14</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(same as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e>
                    </m:acc>
                  </m:oMath>
                </a14:m>
                <a:r>
                  <a:rPr sz="2400" b="0">
                    <a:solidFill>
                      <a:srgbClr val="111827"/>
                    </a:solidFill>
                    <a:latin typeface="Arial"/>
                  </a:rPr>
                  <a:t> since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746248"/>
                <a:ext cx="10725912" cy="39288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$\vec{AB}\times\vec{BC}=(-2,-16,10)$</a:t>
                </a:r>
                <a:r>
                  <a:rPr sz="2400" b="0">
                    <a:solidFill>
                      <a:srgbClr val="111827"/>
                    </a:solidFill>
                    <a:latin typeface="Arial"/>
                  </a:rPr>
                  <a:t> has magnitude </a:t>
                </a:r>
                <a:r>
                  <a:rPr lang="en-IN" sz="2400">
                    <a:solidFill>
                      <a:srgbClr val="111827"/>
                    </a:solidFill>
                    <a:latin typeface="Cambria Math" panose="02040503050406030204" pitchFamily="18" charset="0"/>
                  </a:rPr>
                  <a:t>$\sqrt{4+256+100}=\sqrt{360}=6\sqrt{10}$</a:t>
                </a:r>
                <a:r>
                  <a:rPr sz="2400" b="0">
                    <a:solidFill>
                      <a:srgbClr val="111827"/>
                    </a:solidFill>
                    <a:latin typeface="Arial"/>
                  </a:rPr>
                  <a:t>, and </a:t>
                </a:r>
                <a:r>
                  <a:rPr lang="en-IN" sz="2400">
                    <a:solidFill>
                      <a:srgbClr val="111827"/>
                    </a:solidFill>
                    <a:latin typeface="Cambria Math" panose="02040503050406030204" pitchFamily="18" charset="0"/>
                  </a:rPr>
                  <a:t>$\left|\vec{BC}\right|=\sqrt{35}$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 Distance of </a:t>
                </a:r>
                <a:r>
                  <a:rPr lang="en-IN" sz="2400">
                    <a:solidFill>
                      <a:srgbClr val="111827"/>
                    </a:solidFill>
                    <a:latin typeface="Cambria Math" panose="02040503050406030204" pitchFamily="18" charset="0"/>
                  </a:rPr>
                  <a:t>$A$</a:t>
                </a:r>
                <a:r>
                  <a:rPr sz="2400" b="0">
                    <a:solidFill>
                      <a:srgbClr val="111827"/>
                    </a:solidFill>
                    <a:latin typeface="Arial"/>
                  </a:rPr>
                  <a:t> from line </a:t>
                </a:r>
                <a:r>
                  <a:rPr lang="en-IN" sz="2400">
                    <a:solidFill>
                      <a:srgbClr val="111827"/>
                    </a:solidFill>
                    <a:latin typeface="Cambria Math" panose="02040503050406030204" pitchFamily="18" charset="0"/>
                  </a:rPr>
                  <a:t>$BC$</a:t>
                </a:r>
                <a:r>
                  <a:rPr sz="2400" b="0">
                    <a:solidFill>
                      <a:srgbClr val="111827"/>
                    </a:solidFill>
                    <a:latin typeface="Arial"/>
                  </a:rPr>
                  <a:t> </a:t>
                </a:r>
                <a:r>
                  <a:rPr lang="en-IN" sz="2400">
                    <a:solidFill>
                      <a:srgbClr val="111827"/>
                    </a:solidFill>
                    <a:latin typeface="Cambria Math" panose="02040503050406030204" pitchFamily="18" charset="0"/>
                  </a:rPr>
                  <a:t>$=\frac{\left|\vec{AB}\times\vec{BC}\right|}{\left|\vec{BC}\right|}=\frac{6\sqrt{10}}{\sqrt{35}}=6\sqrt{\frac27}=\frac67\sqrt{14}$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 </a:t>
                </a:r>
                <a:r>
                  <a:rPr lang="en-IN" sz="2400">
                    <a:solidFill>
                      <a:srgbClr val="111827"/>
                    </a:solidFill>
                    <a:latin typeface="Cambria Math" panose="02040503050406030204" pitchFamily="18" charset="0"/>
                  </a:rPr>
                  <a:t>$V=\frac16\left|\vec{AD}\cdot(\vec{AB}\times\vec{AC})\right|$</a:t>
                </a:r>
                <a:r>
                  <a:rPr sz="2400" b="0">
                    <a:solidFill>
                      <a:srgbClr val="111827"/>
                    </a:solidFill>
                    <a:latin typeface="Arial"/>
                  </a:rPr>
                  <a:t>; </a:t>
                </a:r>
                <a:r>
                  <a:rPr lang="en-IN" sz="2400">
                    <a:solidFill>
                      <a:srgbClr val="111827"/>
                    </a:solidFill>
                    <a:latin typeface="Cambria Math" panose="02040503050406030204" pitchFamily="18" charset="0"/>
                  </a:rPr>
                  <a:t>$\vec{AB}\times\vec{AC}=(-2,-16,10)$</a:t>
                </a:r>
                <a:r>
                  <a:rPr sz="2400" b="0">
                    <a:solidFill>
                      <a:srgbClr val="111827"/>
                    </a:solidFill>
                    <a:latin typeface="Arial"/>
                  </a:rPr>
                  <a:t> (same as </a:t>
                </a:r>
                <a:r>
                  <a:rPr lang="en-IN" sz="2400">
                    <a:solidFill>
                      <a:srgbClr val="111827"/>
                    </a:solidFill>
                    <a:latin typeface="Cambria Math" panose="02040503050406030204" pitchFamily="18" charset="0"/>
                  </a:rPr>
                  <a:t>$\vec{AB}\times\vec{BC}$</a:t>
                </a:r>
                <a:r>
                  <a:rPr sz="2400" b="0">
                    <a:solidFill>
                      <a:srgbClr val="111827"/>
                    </a:solidFill>
                    <a:latin typeface="Arial"/>
                  </a:rPr>
                  <a:t> since </a:t>
                </a:r>
                <a:r>
                  <a:rPr lang="en-IN" sz="2400">
                    <a:solidFill>
                      <a:srgbClr val="111827"/>
                    </a:solidFill>
                    <a:latin typeface="Cambria Math" panose="02040503050406030204" pitchFamily="18" charset="0"/>
                  </a:rPr>
                  <a:t>$\vec{AC}=\vec{AB}+\vec{BC}$</a:t>
                </a:r>
                <a:r>
                  <a:rPr sz="2400" b="0">
                    <a:solidFill>
                      <a:srgbClr val="111827"/>
                    </a:solidFill>
                    <a:latin typeface="Arial"/>
                  </a:rPr>
                  <a:t>), and </a:t>
                </a:r>
                <a:r>
                  <a:rPr lang="en-IN" sz="2400">
                    <a:solidFill>
                      <a:srgbClr val="111827"/>
                    </a:solidFill>
                    <a:latin typeface="Cambria Math" panose="02040503050406030204" pitchFamily="18" charset="0"/>
                  </a:rPr>
                  <a:t>$\vec{AD}\cdot(-2,-16,10)=-4-32+0=-36$</a:t>
                </a:r>
                <a:r>
                  <a:rPr sz="2400" b="0">
                    <a:solidFill>
                      <a:srgbClr val="111827"/>
                    </a:solidFill>
                    <a:latin typeface="Arial"/>
                  </a:rPr>
                  <a:t>, so </a:t>
                </a:r>
                <a:r>
                  <a:rPr lang="en-IN" sz="2400">
                    <a:solidFill>
                      <a:srgbClr val="111827"/>
                    </a:solidFill>
                    <a:latin typeface="Cambria Math" panose="02040503050406030204" pitchFamily="18" charset="0"/>
                  </a:rPr>
                  <a:t>$V=6$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(iii) Area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𝐴𝑟𝑒𝑎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ℎ</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3</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10</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(iv)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e>
                        </m:acc>
                      </m:e>
                    </m: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oMath>
                </a14:m>
                <a:r>
                  <a:rPr sz="2400" b="0">
                    <a:solidFill>
                      <a:srgbClr val="111827"/>
                    </a:solidFill>
                    <a:latin typeface="Arial"/>
                  </a:rPr>
                  <a:t> for opposite edges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𝑉</m:t>
                        </m:r>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e>
                            </m:acc>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num>
                      <m:den>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four values agree with the first method.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(iii) Area of </a:t>
                </a:r>
                <a:r>
                  <a:rPr lang="en-IN" sz="2400">
                    <a:solidFill>
                      <a:srgbClr val="111827"/>
                    </a:solidFill>
                    <a:latin typeface="Cambria Math" panose="02040503050406030204" pitchFamily="18" charset="0"/>
                  </a:rPr>
                  <a:t>$\triangle ABC=\frac12\cdot6\sqrt{10}=3\sqrt{10}$</a:t>
                </a:r>
                <a:r>
                  <a:rPr sz="2400" b="0">
                    <a:solidFill>
                      <a:srgbClr val="111827"/>
                    </a:solidFill>
                    <a:latin typeface="Arial"/>
                  </a:rPr>
                  <a:t>; </a:t>
                </a:r>
                <a:r>
                  <a:rPr lang="en-IN" sz="2400">
                    <a:solidFill>
                      <a:srgbClr val="111827"/>
                    </a:solidFill>
                    <a:latin typeface="Cambria Math" panose="02040503050406030204" pitchFamily="18" charset="0"/>
                  </a:rPr>
                  <a:t>$V=\frac13(\text{Area})\,h$</a:t>
                </a:r>
                <a:r>
                  <a:rPr sz="2400" b="0">
                    <a:solidFill>
                      <a:srgbClr val="111827"/>
                    </a:solidFill>
                    <a:latin typeface="Arial"/>
                  </a:rPr>
                  <a:t> gives </a:t>
                </a:r>
                <a:r>
                  <a:rPr lang="en-IN" sz="2400">
                    <a:solidFill>
                      <a:srgbClr val="111827"/>
                    </a:solidFill>
                    <a:latin typeface="Cambria Math" panose="02040503050406030204" pitchFamily="18" charset="0"/>
                  </a:rPr>
                  <a:t>$h=\frac{3\cdot6}{3\sqrt{10}}=\frac{6}{\sqrt{10}}=\frac35\sqrt{10}$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(iv) </a:t>
                </a:r>
                <a:r>
                  <a:rPr lang="en-IN" sz="2400">
                    <a:solidFill>
                      <a:srgbClr val="111827"/>
                    </a:solidFill>
                    <a:latin typeface="Cambria Math" panose="02040503050406030204" pitchFamily="18" charset="0"/>
                  </a:rPr>
                  <a:t>$V=\frac16\left|\vec{AB}\times\vec{CD}\right|\,d$</a:t>
                </a:r>
                <a:r>
                  <a:rPr sz="2400" b="0">
                    <a:solidFill>
                      <a:srgbClr val="111827"/>
                    </a:solidFill>
                    <a:latin typeface="Arial"/>
                  </a:rPr>
                  <a:t> for opposite edges </a:t>
                </a:r>
                <a:r>
                  <a:rPr lang="en-IN" sz="2400">
                    <a:solidFill>
                      <a:srgbClr val="111827"/>
                    </a:solidFill>
                    <a:latin typeface="Cambria Math" panose="02040503050406030204" pitchFamily="18" charset="0"/>
                  </a:rPr>
                  <a:t>$AB$</a:t>
                </a:r>
                <a:r>
                  <a:rPr sz="2400" b="0">
                    <a:solidFill>
                      <a:srgbClr val="111827"/>
                    </a:solidFill>
                    <a:latin typeface="Arial"/>
                  </a:rPr>
                  <a:t>, </a:t>
                </a:r>
                <a:r>
                  <a:rPr lang="en-IN" sz="2400">
                    <a:solidFill>
                      <a:srgbClr val="111827"/>
                    </a:solidFill>
                    <a:latin typeface="Cambria Math" panose="02040503050406030204" pitchFamily="18" charset="0"/>
                  </a:rPr>
                  <a:t>$CD$</a:t>
                </a:r>
                <a:r>
                  <a:rPr sz="2400" b="0">
                    <a:solidFill>
                      <a:srgbClr val="111827"/>
                    </a:solidFill>
                    <a:latin typeface="Arial"/>
                  </a:rPr>
                  <a:t>, so </a:t>
                </a:r>
                <a:r>
                  <a:rPr lang="en-IN" sz="2400">
                    <a:solidFill>
                      <a:srgbClr val="111827"/>
                    </a:solidFill>
                    <a:latin typeface="Cambria Math" panose="02040503050406030204" pitchFamily="18" charset="0"/>
                  </a:rPr>
                  <a:t>$d=\frac{6V}{\left|\vec{AB}\times\vec{CD}\right|}=\frac{36}{6\sqrt6}=\sqrt6$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All four values agree with the first method.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(i)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6</m:t>
                        </m:r>
                      </m:num>
                      <m:den>
                        <m:r>
                          <a:rPr lang="en-IN" sz="2800" i="1">
                            <a:solidFill>
                              <a:srgbClr val="15803D"/>
                            </a:solidFill>
                            <a:latin typeface="Cambria Math" panose="02040503050406030204" pitchFamily="18" charset="0"/>
                          </a:rPr>
                          <m:t>7</m:t>
                        </m:r>
                      </m:den>
                    </m:f>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14</m:t>
                        </m:r>
                      </m:e>
                    </m:rad>
                  </m:oMath>
                </a14:m>
                <a:r>
                  <a:rPr sz="2800" b="1">
                    <a:solidFill>
                      <a:srgbClr val="15803D"/>
                    </a:solidFill>
                    <a:latin typeface="Arial"/>
                  </a:rPr>
                  <a:t>; (ii) </a:t>
                </a:r>
                <a14:m>
                  <m:oMath xmlns:m="http://schemas.openxmlformats.org/officeDocument/2006/math">
                    <m:r>
                      <a:rPr lang="en-IN" sz="2800" i="1">
                        <a:solidFill>
                          <a:srgbClr val="15803D"/>
                        </a:solidFill>
                        <a:latin typeface="Cambria Math" panose="02040503050406030204" pitchFamily="18" charset="0"/>
                      </a:rPr>
                      <m:t>6</m:t>
                    </m:r>
                  </m:oMath>
                </a14:m>
                <a:r>
                  <a:rPr sz="2800" b="1">
                    <a:solidFill>
                      <a:srgbClr val="15803D"/>
                    </a:solidFill>
                    <a:latin typeface="Arial"/>
                  </a:rPr>
                  <a:t>; (iii)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3</m:t>
                        </m:r>
                      </m:num>
                      <m:den>
                        <m:r>
                          <a:rPr lang="en-IN" sz="2800" i="1">
                            <a:solidFill>
                              <a:srgbClr val="15803D"/>
                            </a:solidFill>
                            <a:latin typeface="Cambria Math" panose="02040503050406030204" pitchFamily="18" charset="0"/>
                          </a:rPr>
                          <m:t>5</m:t>
                        </m:r>
                      </m:den>
                    </m:f>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10</m:t>
                        </m:r>
                      </m:e>
                    </m:rad>
                  </m:oMath>
                </a14:m>
                <a:r>
                  <a:rPr sz="2800" b="1">
                    <a:solidFill>
                      <a:srgbClr val="15803D"/>
                    </a:solidFill>
                    <a:latin typeface="Arial"/>
                  </a:rPr>
                  <a:t>; (iv) </a:t>
                </a:r>
                <a14:m>
                  <m:oMath xmlns:m="http://schemas.openxmlformats.org/officeDocument/2006/math">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6</m:t>
                        </m:r>
                      </m:e>
                    </m:ra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(i) </a:t>
                </a:r>
                <a:r>
                  <a:rPr lang="en-IN" sz="2800">
                    <a:solidFill>
                      <a:srgbClr val="15803D"/>
                    </a:solidFill>
                    <a:latin typeface="Cambria Math" panose="02040503050406030204" pitchFamily="18" charset="0"/>
                  </a:rPr>
                  <a:t>$\frac{6}{7}\sqrt{14}$</a:t>
                </a:r>
                <a:r>
                  <a:rPr sz="2800" b="1">
                    <a:solidFill>
                      <a:srgbClr val="15803D"/>
                    </a:solidFill>
                    <a:latin typeface="Arial"/>
                  </a:rPr>
                  <a:t>; (ii) </a:t>
                </a:r>
                <a:r>
                  <a:rPr lang="en-IN" sz="2800">
                    <a:solidFill>
                      <a:srgbClr val="15803D"/>
                    </a:solidFill>
                    <a:latin typeface="Cambria Math" panose="02040503050406030204" pitchFamily="18" charset="0"/>
                  </a:rPr>
                  <a:t>$6$</a:t>
                </a:r>
                <a:r>
                  <a:rPr sz="2800" b="1">
                    <a:solidFill>
                      <a:srgbClr val="15803D"/>
                    </a:solidFill>
                    <a:latin typeface="Arial"/>
                  </a:rPr>
                  <a:t>; (iii) </a:t>
                </a:r>
                <a:r>
                  <a:rPr lang="en-IN" sz="2800">
                    <a:solidFill>
                      <a:srgbClr val="15803D"/>
                    </a:solidFill>
                    <a:latin typeface="Cambria Math" panose="02040503050406030204" pitchFamily="18" charset="0"/>
                  </a:rPr>
                  <a:t>$\frac{3}{5}\sqrt{10}$</a:t>
                </a:r>
                <a:r>
                  <a:rPr sz="2800" b="1">
                    <a:solidFill>
                      <a:srgbClr val="15803D"/>
                    </a:solidFill>
                    <a:latin typeface="Arial"/>
                  </a:rPr>
                  <a:t>; (iv) </a:t>
                </a:r>
                <a:r>
                  <a:rPr lang="en-IN" sz="2800">
                    <a:solidFill>
                      <a:srgbClr val="15803D"/>
                    </a:solidFill>
                    <a:latin typeface="Cambria Math" panose="02040503050406030204" pitchFamily="18" charset="0"/>
                  </a:rPr>
                  <a:t>$\sqrt6$</a:t>
                </a:r>
                <a:endParaRPr sz="2800">
                  <a:solidFill>
                    <a:srgbClr val="15803D"/>
                  </a:solidFill>
                </a:endParaRPr>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 from a point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to the line through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with direction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d>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d>
                      </m:den>
                    </m:f>
                  </m:oMath>
                </a14:m>
                <a:r>
                  <a:rPr sz="2400" b="0">
                    <a:solidFill>
                      <a:srgbClr val="111827"/>
                    </a:solidFill>
                    <a:latin typeface="Arial"/>
                  </a:rPr>
                  <a:t> (no foot of the perpendicular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Height of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above plane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equals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𝑉</m:t>
                        </m:r>
                      </m:num>
                      <m:den>
                        <m:r>
                          <m:rPr>
                            <m:nor/>
                          </m:rPr>
                          <a:rPr lang="en-IN" sz="2400" i="1">
                            <a:solidFill>
                              <a:srgbClr val="111827"/>
                            </a:solidFill>
                            <a:latin typeface="Cambria Math" panose="02040503050406030204" pitchFamily="18" charset="0"/>
                          </a:rPr>
                          <m:t>𝐴𝑟𝑒𝑎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e>
                        </m:d>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e>
                            </m:acc>
                          </m:e>
                        </m:d>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Distance from a point </a:t>
                </a:r>
                <a:r>
                  <a:rPr lang="en-IN" sz="2400">
                    <a:solidFill>
                      <a:srgbClr val="111827"/>
                    </a:solidFill>
                    <a:latin typeface="Cambria Math" panose="02040503050406030204" pitchFamily="18" charset="0"/>
                  </a:rPr>
                  <a:t>$A$</a:t>
                </a:r>
                <a:r>
                  <a:rPr sz="2400" b="0">
                    <a:solidFill>
                      <a:srgbClr val="111827"/>
                    </a:solidFill>
                    <a:latin typeface="Arial"/>
                  </a:rPr>
                  <a:t> to the line through </a:t>
                </a:r>
                <a:r>
                  <a:rPr lang="en-IN" sz="2400">
                    <a:solidFill>
                      <a:srgbClr val="111827"/>
                    </a:solidFill>
                    <a:latin typeface="Cambria Math" panose="02040503050406030204" pitchFamily="18" charset="0"/>
                  </a:rPr>
                  <a:t>$B$</a:t>
                </a:r>
                <a:r>
                  <a:rPr sz="2400" b="0">
                    <a:solidFill>
                      <a:srgbClr val="111827"/>
                    </a:solidFill>
                    <a:latin typeface="Arial"/>
                  </a:rPr>
                  <a:t> with direction </a:t>
                </a:r>
                <a:r>
                  <a:rPr lang="en-IN" sz="2400">
                    <a:solidFill>
                      <a:srgbClr val="111827"/>
                    </a:solidFill>
                    <a:latin typeface="Cambria Math" panose="02040503050406030204" pitchFamily="18" charset="0"/>
                  </a:rPr>
                  <a:t>$\vec u$</a:t>
                </a:r>
                <a:r>
                  <a:rPr sz="2400" b="0">
                    <a:solidFill>
                      <a:srgbClr val="111827"/>
                    </a:solidFill>
                    <a:latin typeface="Arial"/>
                  </a:rPr>
                  <a:t>: </a:t>
                </a:r>
                <a:r>
                  <a:rPr lang="en-IN" sz="2400">
                    <a:solidFill>
                      <a:srgbClr val="111827"/>
                    </a:solidFill>
                    <a:latin typeface="Cambria Math" panose="02040503050406030204" pitchFamily="18" charset="0"/>
                  </a:rPr>
                  <a:t>$\frac{\left|\vec{BA}\times\vec u\right|}{\left|\vec u\right|}$</a:t>
                </a:r>
                <a:r>
                  <a:rPr sz="2400" b="0">
                    <a:solidFill>
                      <a:srgbClr val="111827"/>
                    </a:solidFill>
                    <a:latin typeface="Arial"/>
                  </a:rPr>
                  <a:t> (no foot of the perpendicular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Height of </a:t>
                </a:r>
                <a:r>
                  <a:rPr lang="en-IN" sz="2400">
                    <a:solidFill>
                      <a:srgbClr val="111827"/>
                    </a:solidFill>
                    <a:latin typeface="Cambria Math" panose="02040503050406030204" pitchFamily="18" charset="0"/>
                  </a:rPr>
                  <a:t>$D$</a:t>
                </a:r>
                <a:r>
                  <a:rPr sz="2400" b="0">
                    <a:solidFill>
                      <a:srgbClr val="111827"/>
                    </a:solidFill>
                    <a:latin typeface="Arial"/>
                  </a:rPr>
                  <a:t> above plane </a:t>
                </a:r>
                <a:r>
                  <a:rPr lang="en-IN" sz="2400">
                    <a:solidFill>
                      <a:srgbClr val="111827"/>
                    </a:solidFill>
                    <a:latin typeface="Cambria Math" panose="02040503050406030204" pitchFamily="18" charset="0"/>
                  </a:rPr>
                  <a:t>$ABC$</a:t>
                </a:r>
                <a:r>
                  <a:rPr sz="2400" b="0">
                    <a:solidFill>
                      <a:srgbClr val="111827"/>
                    </a:solidFill>
                    <a:latin typeface="Arial"/>
                  </a:rPr>
                  <a:t> equals </a:t>
                </a:r>
                <a:r>
                  <a:rPr lang="en-IN" sz="2400">
                    <a:solidFill>
                      <a:srgbClr val="111827"/>
                    </a:solidFill>
                    <a:latin typeface="Cambria Math" panose="02040503050406030204" pitchFamily="18" charset="0"/>
                  </a:rPr>
                  <a:t>$\frac{3V}{\text{Area}(ABC)}=\frac{\left|\vec{AD}\cdot(\vec{AB}\times\vec{AC})\right|}{\left|\vec{AB}\times\vec{AC}\right|}$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09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opposite edges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of a tetrahedron with shortest distance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e>
                        </m:acc>
                      </m:e>
                    </m:d>
                    <m:r>
                      <a:rPr lang="en-IN" sz="2400" i="1">
                        <a:solidFill>
                          <a:srgbClr val="111827"/>
                        </a:solidFill>
                        <a:latin typeface="Cambria Math" panose="02040503050406030204" pitchFamily="18" charset="0"/>
                      </a:rPr>
                      <m:t>𝑑</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𝑉</m:t>
                        </m:r>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e>
                            </m:acc>
                          </m:e>
                        </m:d>
                      </m:den>
                    </m:f>
                  </m:oMath>
                </a14:m>
                <a:r>
                  <a:rPr sz="2400" b="0">
                    <a:solidFill>
                      <a:srgbClr val="111827"/>
                    </a:solidFill>
                    <a:latin typeface="Arial"/>
                  </a:rPr>
                  <a:t>. 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m:t>
                        </m:r>
                      </m:num>
                      <m:den>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the plane equation is written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put in the constant term with its sign before substituting the point; check by substituting the three known points into the equation.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opposite edges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$CD$</a:t>
                </a:r>
                <a:r>
                  <a:rPr sz="2400" b="0">
                    <a:solidFill>
                      <a:srgbClr val="111827"/>
                    </a:solidFill>
                    <a:latin typeface="Arial"/>
                  </a:rPr>
                  <a:t> of a tetrahedron with shortest distance </a:t>
                </a:r>
                <a:r>
                  <a:rPr lang="en-IN" sz="2400">
                    <a:solidFill>
                      <a:srgbClr val="111827"/>
                    </a:solidFill>
                    <a:latin typeface="Cambria Math" panose="02040503050406030204" pitchFamily="18" charset="0"/>
                  </a:rPr>
                  <a:t>$d$</a:t>
                </a:r>
                <a:r>
                  <a:rPr sz="2400" b="0">
                    <a:solidFill>
                      <a:srgbClr val="111827"/>
                    </a:solidFill>
                    <a:latin typeface="Arial"/>
                  </a:rPr>
                  <a:t>: </a:t>
                </a:r>
                <a:r>
                  <a:rPr lang="en-IN" sz="2400">
                    <a:solidFill>
                      <a:srgbClr val="111827"/>
                    </a:solidFill>
                    <a:latin typeface="Cambria Math" panose="02040503050406030204" pitchFamily="18" charset="0"/>
                  </a:rPr>
                  <a:t>$V=\frac16\left|\vec{AB}\times\vec{CD}\right|d$</a:t>
                </a:r>
                <a:r>
                  <a:rPr sz="2400" b="0">
                    <a:solidFill>
                      <a:srgbClr val="111827"/>
                    </a:solidFill>
                    <a:latin typeface="Arial"/>
                  </a:rPr>
                  <a:t>, so </a:t>
                </a:r>
                <a:r>
                  <a:rPr lang="en-IN" sz="2400">
                    <a:solidFill>
                      <a:srgbClr val="111827"/>
                    </a:solidFill>
                    <a:latin typeface="Cambria Math" panose="02040503050406030204" pitchFamily="18" charset="0"/>
                  </a:rPr>
                  <a:t>$d=\frac{6V}{\left|\vec{AB}\times\vec{CD}\right|}$</a:t>
                </a:r>
                <a:r>
                  <a:rPr sz="2400" b="0">
                    <a:solidFill>
                      <a:srgbClr val="111827"/>
                    </a:solidFill>
                    <a:latin typeface="Arial"/>
                  </a:rPr>
                  <a:t>. Here </a:t>
                </a:r>
                <a:r>
                  <a:rPr lang="en-IN" sz="2400">
                    <a:solidFill>
                      <a:srgbClr val="111827"/>
                    </a:solidFill>
                    <a:latin typeface="Cambria Math" panose="02040503050406030204" pitchFamily="18" charset="0"/>
                  </a:rPr>
                  <a:t>$\frac{36}{6\sqrt6}=\sqrt6$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When the plane equation is written </a:t>
                </a:r>
                <a:r>
                  <a:rPr lang="en-IN" sz="2400">
                    <a:solidFill>
                      <a:srgbClr val="111827"/>
                    </a:solidFill>
                    <a:latin typeface="Cambria Math" panose="02040503050406030204" pitchFamily="18" charset="0"/>
                  </a:rPr>
                  <a:t>$x+8y-5z+2=0$</a:t>
                </a:r>
                <a:r>
                  <a:rPr sz="2400" b="0">
                    <a:solidFill>
                      <a:srgbClr val="111827"/>
                    </a:solidFill>
                    <a:latin typeface="Arial"/>
                  </a:rPr>
                  <a:t>, put in the constant term with its sign before substituting the point; check by substituting the three known points into the equation.</a:t>
                </a:r>
                <a:endParaRPr sz="2400">
                  <a:solidFill>
                    <a:srgbClr val="111827"/>
                  </a:solidFill>
                </a:endParaRPr>
              </a:p>
            </p:txBody>
          </p:sp>
        </mc:Fallback>
      </mc:AlternateContent>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49554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3</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3</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then show that the value of the scalar triple product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mr>
                          <m:m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mr>
                          <m:m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mr>
                        </m:m>
                      </m:e>
                    </m:d>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349554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$\vec a=a_1\hat i+a_2\hat j+a_3\hat k$</a:t>
                </a:r>
                <a:r>
                  <a:rPr sz="2400" b="0">
                    <a:solidFill>
                      <a:srgbClr val="111827"/>
                    </a:solidFill>
                    <a:latin typeface="Arial"/>
                  </a:rPr>
                  <a:t>; </a:t>
                </a:r>
                <a:r>
                  <a:rPr lang="en-IN" sz="2400">
                    <a:solidFill>
                      <a:srgbClr val="111827"/>
                    </a:solidFill>
                    <a:latin typeface="Cambria Math" panose="02040503050406030204" pitchFamily="18" charset="0"/>
                  </a:rPr>
                  <a:t>$\vec b=b_1\hat i+b_2\hat j+b_3\hat k$</a:t>
                </a:r>
                <a:r>
                  <a:rPr sz="2400" b="0">
                    <a:solidFill>
                      <a:srgbClr val="111827"/>
                    </a:solidFill>
                    <a:latin typeface="Arial"/>
                  </a:rPr>
                  <a:t> and </a:t>
                </a:r>
                <a:r>
                  <a:rPr lang="en-IN" sz="2400">
                    <a:solidFill>
                      <a:srgbClr val="111827"/>
                    </a:solidFill>
                    <a:latin typeface="Cambria Math" panose="02040503050406030204" pitchFamily="18" charset="0"/>
                  </a:rPr>
                  <a:t>$\vec c=c_1\hat i+c_2\hat j+c_3\hat k$</a:t>
                </a:r>
                <a:r>
                  <a:rPr sz="2400" b="0">
                    <a:solidFill>
                      <a:srgbClr val="111827"/>
                    </a:solidFill>
                    <a:latin typeface="Arial"/>
                  </a:rPr>
                  <a:t>, then show that the value of the scalar triple product </a:t>
                </a:r>
                <a:r>
                  <a:rPr lang="en-IN" sz="2400">
                    <a:solidFill>
                      <a:srgbClr val="111827"/>
                    </a:solidFill>
                    <a:latin typeface="Cambria Math" panose="02040503050406030204" pitchFamily="18" charset="0"/>
                  </a:rPr>
                  <a:t>$\left[n\vec a+\vec b\quad n\vec b+\vec c\quad n\vec c+\vec a\right]$</a:t>
                </a:r>
                <a:r>
                  <a:rPr sz="2400" b="0">
                    <a:solidFill>
                      <a:srgbClr val="111827"/>
                    </a:solidFill>
                    <a:latin typeface="Arial"/>
                  </a:rPr>
                  <a:t> is </a:t>
                </a:r>
                <a:r>
                  <a:rPr lang="en-IN" sz="2400">
                    <a:solidFill>
                      <a:srgbClr val="111827"/>
                    </a:solidFill>
                    <a:latin typeface="Cambria Math" panose="02040503050406030204" pitchFamily="18" charset="0"/>
                  </a:rPr>
                  <a:t>$(n^3+1)\left|\begin{matrix}\vec a\cdot\hat i&amp;\vec a\cdot\hat j&amp;\vec a\cdot\hat k\\ \vec b\cdot\hat i&amp;\vec b\cdot\hat j&amp;\vec b\cdot\hat k\\ \vec c\cdot\hat i&amp;\vec c\cdot\hat j&amp;\vec c\cdot\hat k\end{matrix}\right|$</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5004307"/>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Scalar triple product and its determinant form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Expanding by distributivity, every triple product with a repeated vector vanishes, leaving </a:t>
                </a:r>
                <a14:m>
                  <m:oMath xmlns:m="http://schemas.openxmlformats.org/officeDocument/2006/math">
                    <m:sSup>
                      <m:e>
                        <m:r>
                          <a:rPr lang="en-IN" sz="2400" i="1">
                            <a:solidFill>
                              <a:srgbClr val="78350F"/>
                            </a:solidFill>
                            <a:latin typeface="Cambria Math" panose="02040503050406030204" pitchFamily="18" charset="0"/>
                          </a:rPr>
                          <m:t>𝑛</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Expanding by distributivity, every triple product with a repeated vector vanishes, leaving </a:t>
                </a:r>
                <a:r>
                  <a:rPr lang="en-IN" sz="2400">
                    <a:solidFill>
                      <a:srgbClr val="78350F"/>
                    </a:solidFill>
                    <a:latin typeface="Cambria Math" panose="02040503050406030204" pitchFamily="18" charset="0"/>
                  </a:rPr>
                  <a:t>$n^3[\vec a\,\vec b\,\vec c]+[\vec b\,\vec c\,\vec 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determinant of the components, and since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etc., this is exactly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mr>
                          <m:m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mr>
                          <m:m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mr>
                        </m:m>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 \vec b\ \vec c]=\vec a\cdot(\vec b\times\vec c)$</a:t>
                </a:r>
                <a:r>
                  <a:rPr sz="2400" b="0">
                    <a:solidFill>
                      <a:srgbClr val="111827"/>
                    </a:solidFill>
                    <a:latin typeface="Arial"/>
                  </a:rPr>
                  <a:t> is the determinant of the components, and since </a:t>
                </a:r>
                <a:r>
                  <a:rPr lang="en-IN" sz="2400">
                    <a:solidFill>
                      <a:srgbClr val="111827"/>
                    </a:solidFill>
                    <a:latin typeface="Cambria Math" panose="02040503050406030204" pitchFamily="18" charset="0"/>
                  </a:rPr>
                  <a:t>$\vec a\cdot\hat i=a_1$</a:t>
                </a:r>
                <a:r>
                  <a:rPr sz="2400" b="0">
                    <a:solidFill>
                      <a:srgbClr val="111827"/>
                    </a:solidFill>
                    <a:latin typeface="Arial"/>
                  </a:rPr>
                  <a:t>, </a:t>
                </a:r>
                <a:r>
                  <a:rPr lang="en-IN" sz="2400">
                    <a:solidFill>
                      <a:srgbClr val="111827"/>
                    </a:solidFill>
                    <a:latin typeface="Cambria Math" panose="02040503050406030204" pitchFamily="18" charset="0"/>
                  </a:rPr>
                  <a:t>$\vec a\cdot\hat j=a_2$</a:t>
                </a:r>
                <a:r>
                  <a:rPr sz="2400" b="0">
                    <a:solidFill>
                      <a:srgbClr val="111827"/>
                    </a:solidFill>
                    <a:latin typeface="Arial"/>
                  </a:rPr>
                  <a:t>, </a:t>
                </a:r>
                <a:r>
                  <a:rPr lang="en-IN" sz="2400">
                    <a:solidFill>
                      <a:srgbClr val="111827"/>
                    </a:solidFill>
                    <a:latin typeface="Cambria Math" panose="02040503050406030204" pitchFamily="18" charset="0"/>
                  </a:rPr>
                  <a:t>$\vec a\cdot\hat k=a_3$</a:t>
                </a:r>
                <a:r>
                  <a:rPr sz="2400" b="0">
                    <a:solidFill>
                      <a:srgbClr val="111827"/>
                    </a:solidFill>
                    <a:latin typeface="Arial"/>
                  </a:rPr>
                  <a:t>, etc., this is exactly </a:t>
                </a:r>
                <a:r>
                  <a:rPr lang="en-IN" sz="2400">
                    <a:solidFill>
                      <a:srgbClr val="111827"/>
                    </a:solidFill>
                    <a:latin typeface="Cambria Math" panose="02040503050406030204" pitchFamily="18" charset="0"/>
                  </a:rPr>
                  <a:t>$\left|\begin{matrix}\vec a\cdot\hat i&amp;\vec a\cdot\hat j&amp;\vec a\cdot\hat k\\ \vec b\cdot\hat i&amp;\vec b\cdot\hat j&amp;\vec b\cdot\hat k\\ \vec c\cdot\hat i&amp;\vec c\cdot\hat j&amp;\vec c\cdot\hat k\end{matrix}\right|$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$\left[n\vec a+\vec b\quad n\vec b+\vec c\quad n\vec c+\vec a\right]=\{(n\vec a+\vec b)\times(n\vec b+\vec c)\}\cdot(n\vec c+\vec 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with </a:t>
                </a:r>
                <a14:m>
                  <m:oMath xmlns:m="http://schemas.openxmlformats.org/officeDocument/2006/math">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terms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Terms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 vector repeated in a triple product).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$(n\vec a+\vec b)\times(n\vec b+\vec c)=n^2(\vec a\times\vec b)+n(\vec a\times\vec c)+n(\vec b\times\vec b)+\vec b\times\vec c=n^2(\vec a\times\vec b)+n(\vec a\times\vec c)+\vec b\times\vec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with </a:t>
                </a:r>
                <a:r>
                  <a:rPr lang="en-IN" sz="2400">
                    <a:solidFill>
                      <a:srgbClr val="111827"/>
                    </a:solidFill>
                    <a:latin typeface="Cambria Math" panose="02040503050406030204" pitchFamily="18" charset="0"/>
                  </a:rPr>
                  <a:t>$n\vec c+\vec a$</a:t>
                </a:r>
                <a:r>
                  <a:rPr sz="2400" b="0">
                    <a:solidFill>
                      <a:srgbClr val="111827"/>
                    </a:solidFill>
                    <a:latin typeface="Arial"/>
                  </a:rPr>
                  <a:t>: terms </a:t>
                </a:r>
                <a:r>
                  <a:rPr lang="en-IN" sz="2400">
                    <a:solidFill>
                      <a:srgbClr val="111827"/>
                    </a:solidFill>
                    <a:latin typeface="Cambria Math" panose="02040503050406030204" pitchFamily="18" charset="0"/>
                  </a:rPr>
                  <a:t>$n^2(\vec a\times\vec b)\cdot n\vec c=n^3[\vec a\ \vec b\ \vec c]$</a:t>
                </a:r>
                <a:r>
                  <a:rPr sz="2400" b="0">
                    <a:solidFill>
                      <a:srgbClr val="111827"/>
                    </a:solidFill>
                    <a:latin typeface="Arial"/>
                  </a:rPr>
                  <a:t> and </a:t>
                </a:r>
                <a:r>
                  <a:rPr lang="en-IN" sz="2400">
                    <a:solidFill>
                      <a:srgbClr val="111827"/>
                    </a:solidFill>
                    <a:latin typeface="Cambria Math" panose="02040503050406030204" pitchFamily="18" charset="0"/>
                  </a:rPr>
                  <a:t>$n^2(\vec a\times\vec b)\cdot\vec a=0$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Terms </a:t>
                </a:r>
                <a:r>
                  <a:rPr lang="en-IN" sz="2400">
                    <a:solidFill>
                      <a:srgbClr val="111827"/>
                    </a:solidFill>
                    <a:latin typeface="Cambria Math" panose="02040503050406030204" pitchFamily="18" charset="0"/>
                  </a:rPr>
                  <a:t>$n(\vec a\times\vec c)\cdot n\vec c=0$</a:t>
                </a:r>
                <a:r>
                  <a:rPr sz="2400" b="0">
                    <a:solidFill>
                      <a:srgbClr val="111827"/>
                    </a:solidFill>
                    <a:latin typeface="Arial"/>
                  </a:rPr>
                  <a:t> and </a:t>
                </a:r>
                <a:r>
                  <a:rPr lang="en-IN" sz="2400">
                    <a:solidFill>
                      <a:srgbClr val="111827"/>
                    </a:solidFill>
                    <a:latin typeface="Cambria Math" panose="02040503050406030204" pitchFamily="18" charset="0"/>
                  </a:rPr>
                  <a:t>$n(\vec a\times\vec c)\cdot\vec a=0$</a:t>
                </a:r>
                <a:r>
                  <a:rPr sz="2400" b="0">
                    <a:solidFill>
                      <a:srgbClr val="111827"/>
                    </a:solidFill>
                    <a:latin typeface="Arial"/>
                  </a:rPr>
                  <a:t> (a vector repeated in a triple product).</a:t>
                </a:r>
                <a:endParaRPr sz="2400">
                  <a:solidFill>
                    <a:srgbClr val="111827"/>
                  </a:solidFill>
                </a:endParaRPr>
              </a:p>
            </p:txBody>
          </p:sp>
        </mc:Fallback>
      </mc:AlternateContent>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Terms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first step this is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times the given determinant, as to be shown.</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Terms </a:t>
                </a:r>
                <a:r>
                  <a:rPr lang="en-IN" sz="2400">
                    <a:solidFill>
                      <a:srgbClr val="111827"/>
                    </a:solidFill>
                    <a:latin typeface="Cambria Math" panose="02040503050406030204" pitchFamily="18" charset="0"/>
                  </a:rPr>
                  <a:t>$(\vec b\times\vec c)\cdot n\vec c=0$</a:t>
                </a:r>
                <a:r>
                  <a:rPr sz="2400" b="0">
                    <a:solidFill>
                      <a:srgbClr val="111827"/>
                    </a:solidFill>
                    <a:latin typeface="Arial"/>
                  </a:rPr>
                  <a:t> and </a:t>
                </a:r>
                <a:r>
                  <a:rPr lang="en-IN" sz="2400">
                    <a:solidFill>
                      <a:srgbClr val="111827"/>
                    </a:solidFill>
                    <a:latin typeface="Cambria Math" panose="02040503050406030204" pitchFamily="18" charset="0"/>
                  </a:rPr>
                  <a:t>$(\vec b\times\vec c)\cdot\vec a=[\vec b\ \vec c\ \vec a]=[\vec a\ \vec b\ \vec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t>
                </a:r>
                <a:r>
                  <a:rPr lang="en-IN" sz="2400">
                    <a:solidFill>
                      <a:srgbClr val="111827"/>
                    </a:solidFill>
                    <a:latin typeface="Cambria Math" panose="02040503050406030204" pitchFamily="18" charset="0"/>
                  </a:rPr>
                  <a:t>$\left[n\vec a+\vec b\quad n\vec b+\vec c\quad n\vec c+\vec a\right]=n^3[\vec a\ \vec b\ \vec c]+[\vec a\ \vec b\ \vec c]=(n^3+1)[\vec a\ \vec b\ \vec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first step this is </a:t>
                </a:r>
                <a:r>
                  <a:rPr lang="en-IN" sz="2400">
                    <a:solidFill>
                      <a:srgbClr val="111827"/>
                    </a:solidFill>
                    <a:latin typeface="Cambria Math" panose="02040503050406030204" pitchFamily="18" charset="0"/>
                  </a:rPr>
                  <a:t>$(n^3+1)$</a:t>
                </a:r>
                <a:r>
                  <a:rPr sz="2400" b="0">
                    <a:solidFill>
                      <a:srgbClr val="111827"/>
                    </a:solidFill>
                    <a:latin typeface="Arial"/>
                  </a:rPr>
                  <a:t> times the given determinant, as to be shown.</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r>
                          <a:rPr lang="en-IN" sz="2800" i="1">
                            <a:solidFill>
                              <a:srgbClr val="15803D"/>
                            </a:solidFill>
                            <a:latin typeface="Cambria Math" panose="02040503050406030204" pitchFamily="18" charset="0"/>
                          </a:rPr>
                          <m:t>𝑛</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𝑎</m:t>
                            </m:r>
                          </m:e>
                        </m:acc>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𝑏</m:t>
                            </m:r>
                          </m:e>
                        </m:acc>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𝑛</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𝑏</m:t>
                            </m:r>
                          </m:e>
                        </m:acc>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𝑐</m:t>
                            </m:r>
                          </m:e>
                        </m:acc>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𝑛</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𝑐</m:t>
                            </m:r>
                          </m:e>
                        </m:acc>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𝑎</m:t>
                            </m:r>
                          </m:e>
                        </m:acc>
                      </m:e>
                    </m:d>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𝑛</m:t>
                        </m:r>
                      </m:e>
                      <m:sup>
                        <m:r>
                          <a:rPr lang="en-IN" sz="2800" i="1">
                            <a:solidFill>
                              <a:srgbClr val="15803D"/>
                            </a:solidFill>
                            <a:latin typeface="Cambria Math" panose="02040503050406030204" pitchFamily="18" charset="0"/>
                          </a:rPr>
                          <m:t>3</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d>
                      <m:dPr>
                        <m:begChr m:val="["/>
                        <m:sepChr m:val=""/>
                        <m:endChr m:val="]"/>
                        <m:grow/>
                        <m:ctrlPr>
                          <a:rPr lang="en-IN" sz="2800" i="1">
                            <a:solidFill>
                              <a:srgbClr val="15803D"/>
                            </a:solidFill>
                            <a:latin typeface="Cambria Math" panose="02040503050406030204" pitchFamily="18" charset="0"/>
                          </a:rPr>
                        </m:ctrlPr>
                      </m:dPr>
                      <m:e>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𝑎</m:t>
                            </m:r>
                          </m:e>
                        </m:acc>
                        <m:r>
                          <a:rPr lang="en-IN" sz="2800" i="1">
                            <a:solidFill>
                              <a:srgbClr val="15803D"/>
                            </a:solidFill>
                            <a:latin typeface="Cambria Math" panose="02040503050406030204" pitchFamily="18" charset="0"/>
                          </a:rPr>
                          <m:t> </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𝑏</m:t>
                            </m:r>
                          </m:e>
                        </m:acc>
                        <m:r>
                          <a:rPr lang="en-IN" sz="2800" i="1">
                            <a:solidFill>
                              <a:srgbClr val="15803D"/>
                            </a:solidFill>
                            <a:latin typeface="Cambria Math" panose="02040503050406030204" pitchFamily="18" charset="0"/>
                          </a:rPr>
                          <m:t> </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𝑐</m:t>
                            </m:r>
                          </m:e>
                        </m:acc>
                      </m:e>
                    </m:d>
                  </m:oMath>
                </a14:m>
                <a:r>
                  <a:rPr sz="2800" b="1">
                    <a:solidFill>
                      <a:srgbClr val="15803D"/>
                    </a:solidFill>
                    <a:latin typeface="Arial"/>
                  </a:rPr>
                  <a:t>, which equals </a:t>
                </a:r>
                <a14:m>
                  <m:oMath xmlns:m="http://schemas.openxmlformats.org/officeDocument/2006/math">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𝑛</m:t>
                        </m:r>
                      </m:e>
                      <m:sup>
                        <m:r>
                          <a:rPr lang="en-IN" sz="2800" i="1">
                            <a:solidFill>
                              <a:srgbClr val="15803D"/>
                            </a:solidFill>
                            <a:latin typeface="Cambria Math" panose="02040503050406030204" pitchFamily="18" charset="0"/>
                          </a:rPr>
                          <m:t>3</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oMath>
                </a14:m>
                <a:r>
                  <a:rPr sz="2800" b="1">
                    <a:solidFill>
                      <a:srgbClr val="15803D"/>
                    </a:solidFill>
                    <a:latin typeface="Arial"/>
                  </a:rPr>
                  <a:t> times the given determinant</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$\left[n\vec a+\vec b\quad n\vec b+\vec c\quad n\vec c+\vec a\right]=(n^3+1)\left[\vec a\ \vec b\ \vec c\right]$</a:t>
                </a:r>
                <a:r>
                  <a:rPr sz="2800" b="1">
                    <a:solidFill>
                      <a:srgbClr val="15803D"/>
                    </a:solidFill>
                    <a:latin typeface="Arial"/>
                  </a:rPr>
                  <a:t>, which equals </a:t>
                </a:r>
                <a:r>
                  <a:rPr lang="en-IN" sz="2800">
                    <a:solidFill>
                      <a:srgbClr val="15803D"/>
                    </a:solidFill>
                    <a:latin typeface="Cambria Math" panose="02040503050406030204" pitchFamily="18" charset="0"/>
                  </a:rPr>
                  <a:t>$(n^3+1)$</a:t>
                </a:r>
                <a:r>
                  <a:rPr sz="2800" b="1">
                    <a:solidFill>
                      <a:srgbClr val="15803D"/>
                    </a:solidFill>
                    <a:latin typeface="Arial"/>
                  </a:rPr>
                  <a:t> times the given determinant</a:t>
                </a:r>
                <a:endParaRPr sz="2800">
                  <a:solidFill>
                    <a:srgbClr val="15803D"/>
                  </a:solidFill>
                </a:endParaRPr>
              </a:p>
            </p:txBody>
          </p:sp>
        </mc:Fallback>
      </mc:AlternateContent>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the three new vectors as rows of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𝑛</m:t>
                    </m:r>
                    <m:r>
                      <a:rPr lang="en-IN" sz="2400" i="1">
                        <a:solidFill>
                          <a:srgbClr val="78350F"/>
                        </a:solidFill>
                        <a:latin typeface="Cambria Math" panose="02040503050406030204" pitchFamily="18" charset="0"/>
                      </a:rPr>
                      <m:t>𝐼</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times the matrix with rows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oMath>
                </a14:m>
                <a:r>
                  <a:rPr sz="2400" b="0">
                    <a:solidFill>
                      <a:srgbClr val="78350F"/>
                    </a:solidFill>
                    <a:latin typeface="Arial"/>
                  </a:rPr>
                  <a:t>, and use </a:t>
                </a:r>
                <a14:m>
                  <m:oMath xmlns:m="http://schemas.openxmlformats.org/officeDocument/2006/math">
                    <m:r>
                      <m:rPr>
                        <m:sty m:val="p"/>
                      </m:rPr>
                      <a:rPr lang="en-IN" sz="2400">
                        <a:solidFill>
                          <a:srgbClr val="78350F"/>
                        </a:solidFill>
                        <a:latin typeface="Cambria Math" panose="02040503050406030204" pitchFamily="18" charset="0"/>
                      </a:rPr>
                      <m:t>det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𝑋</m:t>
                    </m:r>
                    <m:r>
                      <a:rPr lang="en-IN" sz="2400" i="1">
                        <a:solidFill>
                          <a:srgbClr val="78350F"/>
                        </a:solidFill>
                        <a:latin typeface="Cambria Math" panose="02040503050406030204" pitchFamily="18" charset="0"/>
                      </a:rPr>
                      <m:t>𝑌</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det</m:t>
                    </m:r>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det</m:t>
                    </m:r>
                    <m:r>
                      <a:rPr lang="en-IN" sz="2400" i="1">
                        <a:solidFill>
                          <a:srgbClr val="78350F"/>
                        </a:solidFill>
                        <a:latin typeface="Cambria Math" panose="02040503050406030204" pitchFamily="18" charset="0"/>
                      </a:rPr>
                      <m:t>𝑌</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the three new vectors as rows of </a:t>
                </a:r>
                <a:r>
                  <a:rPr lang="en-IN" sz="2400">
                    <a:solidFill>
                      <a:srgbClr val="78350F"/>
                    </a:solidFill>
                    <a:latin typeface="Cambria Math" panose="02040503050406030204" pitchFamily="18" charset="0"/>
                  </a:rPr>
                  <a:t>$(nI+P)$</a:t>
                </a:r>
                <a:r>
                  <a:rPr sz="2400" b="0">
                    <a:solidFill>
                      <a:srgbClr val="78350F"/>
                    </a:solidFill>
                    <a:latin typeface="Arial"/>
                  </a:rPr>
                  <a:t> times the matrix with rows </a:t>
                </a:r>
                <a:r>
                  <a:rPr lang="en-IN" sz="2400">
                    <a:solidFill>
                      <a:srgbClr val="78350F"/>
                    </a:solidFill>
                    <a:latin typeface="Cambria Math" panose="02040503050406030204" pitchFamily="18" charset="0"/>
                  </a:rPr>
                  <a:t>$\vec a,\vec b,\vec c$</a:t>
                </a:r>
                <a:r>
                  <a:rPr sz="2400" b="0">
                    <a:solidFill>
                      <a:srgbClr val="78350F"/>
                    </a:solidFill>
                    <a:latin typeface="Arial"/>
                  </a:rPr>
                  <a:t>, and use </a:t>
                </a:r>
                <a:r>
                  <a:rPr lang="en-IN" sz="2400">
                    <a:solidFill>
                      <a:srgbClr val="78350F"/>
                    </a:solidFill>
                    <a:latin typeface="Cambria Math" panose="02040503050406030204" pitchFamily="18" charset="0"/>
                  </a:rPr>
                  <a:t>$\det(XY)=\det X\det Y$</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be the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matrix with rows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rows </a:t>
                </a:r>
                <a14:m>
                  <m:oMath xmlns:m="http://schemas.openxmlformats.org/officeDocument/2006/math">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form the matrix </a:t>
                </a:r>
                <a14:m>
                  <m:oMath xmlns:m="http://schemas.openxmlformats.org/officeDocument/2006/math">
                    <m:r>
                      <a:rPr lang="en-IN" sz="2400" i="1">
                        <a:solidFill>
                          <a:srgbClr val="111827"/>
                        </a:solidFill>
                        <a:latin typeface="Cambria Math" panose="02040503050406030204" pitchFamily="18" charset="0"/>
                      </a:rPr>
                      <m:t>𝑋</m:t>
                    </m:r>
                    <m:r>
                      <a:rPr lang="en-IN" sz="2400" i="1">
                        <a:solidFill>
                          <a:srgbClr val="111827"/>
                        </a:solidFill>
                        <a:latin typeface="Cambria Math" panose="02040503050406030204" pitchFamily="18" charset="0"/>
                      </a:rPr>
                      <m:t>𝑀</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𝑛</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m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𝑛</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𝑛</m:t>
                              </m:r>
                            </m:e>
                          </m:mr>
                        </m:m>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$M$</a:t>
                </a:r>
                <a:r>
                  <a:rPr sz="2400" b="0">
                    <a:solidFill>
                      <a:srgbClr val="111827"/>
                    </a:solidFill>
                    <a:latin typeface="Arial"/>
                  </a:rPr>
                  <a:t> be the </a:t>
                </a:r>
                <a:r>
                  <a:rPr lang="en-IN" sz="2400">
                    <a:solidFill>
                      <a:srgbClr val="111827"/>
                    </a:solidFill>
                    <a:latin typeface="Cambria Math" panose="02040503050406030204" pitchFamily="18" charset="0"/>
                  </a:rPr>
                  <a:t>$3\times3$</a:t>
                </a:r>
                <a:r>
                  <a:rPr sz="2400" b="0">
                    <a:solidFill>
                      <a:srgbClr val="111827"/>
                    </a:solidFill>
                    <a:latin typeface="Arial"/>
                  </a:rPr>
                  <a:t> matrix with rows </a:t>
                </a:r>
                <a:r>
                  <a:rPr lang="en-IN" sz="2400">
                    <a:solidFill>
                      <a:srgbClr val="111827"/>
                    </a:solidFill>
                    <a:latin typeface="Cambria Math" panose="02040503050406030204" pitchFamily="18" charset="0"/>
                  </a:rPr>
                  <a:t>$\vec a$</a:t>
                </a:r>
                <a:r>
                  <a:rPr sz="2400" b="0">
                    <a:solidFill>
                      <a:srgbClr val="111827"/>
                    </a:solidFill>
                    <a:latin typeface="Arial"/>
                  </a:rPr>
                  <a:t>, </a:t>
                </a:r>
                <a:r>
                  <a:rPr lang="en-IN" sz="2400">
                    <a:solidFill>
                      <a:srgbClr val="111827"/>
                    </a:solidFill>
                    <a:latin typeface="Cambria Math" panose="02040503050406030204" pitchFamily="18" charset="0"/>
                  </a:rPr>
                  <a:t>$\vec b$</a:t>
                </a:r>
                <a:r>
                  <a:rPr sz="2400" b="0">
                    <a:solidFill>
                      <a:srgbClr val="111827"/>
                    </a:solidFill>
                    <a:latin typeface="Arial"/>
                  </a:rPr>
                  <a:t>, </a:t>
                </a:r>
                <a:r>
                  <a:rPr lang="en-IN" sz="2400">
                    <a:solidFill>
                      <a:srgbClr val="111827"/>
                    </a:solidFill>
                    <a:latin typeface="Cambria Math" panose="02040503050406030204" pitchFamily="18" charset="0"/>
                  </a:rPr>
                  <a:t>$\vec c$</a:t>
                </a:r>
                <a:r>
                  <a:rPr sz="2400" b="0">
                    <a:solidFill>
                      <a:srgbClr val="111827"/>
                    </a:solidFill>
                    <a:latin typeface="Arial"/>
                  </a:rPr>
                  <a:t>; then </a:t>
                </a:r>
                <a:r>
                  <a:rPr lang="en-IN" sz="2400">
                    <a:solidFill>
                      <a:srgbClr val="111827"/>
                    </a:solidFill>
                    <a:latin typeface="Cambria Math" panose="02040503050406030204" pitchFamily="18" charset="0"/>
                  </a:rPr>
                  <a:t>$\det M=[\vec a\ \vec b\ \vec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rows </a:t>
                </a:r>
                <a:r>
                  <a:rPr lang="en-IN" sz="2400">
                    <a:solidFill>
                      <a:srgbClr val="111827"/>
                    </a:solidFill>
                    <a:latin typeface="Cambria Math" panose="02040503050406030204" pitchFamily="18" charset="0"/>
                  </a:rPr>
                  <a:t>$n\vec a+\vec b$</a:t>
                </a:r>
                <a:r>
                  <a:rPr sz="2400" b="0">
                    <a:solidFill>
                      <a:srgbClr val="111827"/>
                    </a:solidFill>
                    <a:latin typeface="Arial"/>
                  </a:rPr>
                  <a:t>, </a:t>
                </a:r>
                <a:r>
                  <a:rPr lang="en-IN" sz="2400">
                    <a:solidFill>
                      <a:srgbClr val="111827"/>
                    </a:solidFill>
                    <a:latin typeface="Cambria Math" panose="02040503050406030204" pitchFamily="18" charset="0"/>
                  </a:rPr>
                  <a:t>$n\vec b+\vec c$</a:t>
                </a:r>
                <a:r>
                  <a:rPr sz="2400" b="0">
                    <a:solidFill>
                      <a:srgbClr val="111827"/>
                    </a:solidFill>
                    <a:latin typeface="Arial"/>
                  </a:rPr>
                  <a:t>, </a:t>
                </a:r>
                <a:r>
                  <a:rPr lang="en-IN" sz="2400">
                    <a:solidFill>
                      <a:srgbClr val="111827"/>
                    </a:solidFill>
                    <a:latin typeface="Cambria Math" panose="02040503050406030204" pitchFamily="18" charset="0"/>
                  </a:rPr>
                  <a:t>$\vec a+n\vec c$</a:t>
                </a:r>
                <a:r>
                  <a:rPr sz="2400" b="0">
                    <a:solidFill>
                      <a:srgbClr val="111827"/>
                    </a:solidFill>
                    <a:latin typeface="Arial"/>
                  </a:rPr>
                  <a:t> form the matrix </a:t>
                </a:r>
                <a:r>
                  <a:rPr lang="en-IN" sz="2400">
                    <a:solidFill>
                      <a:srgbClr val="111827"/>
                    </a:solidFill>
                    <a:latin typeface="Cambria Math" panose="02040503050406030204" pitchFamily="18" charset="0"/>
                  </a:rPr>
                  <a:t>$XM$</a:t>
                </a:r>
                <a:r>
                  <a:rPr sz="2400" b="0">
                    <a:solidFill>
                      <a:srgbClr val="111827"/>
                    </a:solidFill>
                    <a:latin typeface="Arial"/>
                  </a:rPr>
                  <a:t> with </a:t>
                </a:r>
                <a:r>
                  <a:rPr lang="en-IN" sz="2400">
                    <a:solidFill>
                      <a:srgbClr val="111827"/>
                    </a:solidFill>
                    <a:latin typeface="Cambria Math" panose="02040503050406030204" pitchFamily="18" charset="0"/>
                  </a:rPr>
                  <a:t>$X=\begin{pmatrix}n&amp;1&amp;0\\0&amp;n&amp;1\\1&amp;0&amp;n\end{pmatrix}$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$\det X=n(n^2-0)-1(0-1)+0=n^3+1$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a:t>
                </a:r>
                <a14:m>
                  <m:oMath xmlns:m="http://schemas.openxmlformats.org/officeDocument/2006/math">
                    <m:r>
                      <m:rPr>
                        <m:sty m:val="p"/>
                      </m:rPr>
                      <a:rPr lang="en-IN" sz="2400">
                        <a:solidFill>
                          <a:srgbClr val="111827"/>
                        </a:solidFill>
                        <a:latin typeface="Cambria Math" panose="02040503050406030204" pitchFamily="18" charset="0"/>
                      </a:rPr>
                      <m:t>det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𝑀</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𝑛</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equals the determinant of the dot products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(the components), the required result follows.</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By </a:t>
                </a:r>
                <a:r>
                  <a:rPr lang="en-IN" sz="2400">
                    <a:solidFill>
                      <a:srgbClr val="111827"/>
                    </a:solidFill>
                    <a:latin typeface="Cambria Math" panose="02040503050406030204" pitchFamily="18" charset="0"/>
                  </a:rPr>
                  <a:t>$\det(XM)=\det X\cdot\det M$</a:t>
                </a:r>
                <a:r>
                  <a:rPr sz="2400" b="0">
                    <a:solidFill>
                      <a:srgbClr val="111827"/>
                    </a:solidFill>
                    <a:latin typeface="Arial"/>
                  </a:rPr>
                  <a:t>: </a:t>
                </a:r>
                <a:r>
                  <a:rPr lang="en-IN" sz="2400">
                    <a:solidFill>
                      <a:srgbClr val="111827"/>
                    </a:solidFill>
                    <a:latin typeface="Cambria Math" panose="02040503050406030204" pitchFamily="18" charset="0"/>
                  </a:rPr>
                  <a:t>$\left[n\vec a+\vec b\quad n\vec b+\vec c\quad n\vec c+\vec a\right]=(n^3+1)[\vec a\ \vec b\ \vec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$[\vec a\ \vec b\ \vec c]$</a:t>
                </a:r>
                <a:r>
                  <a:rPr sz="2400" b="0">
                    <a:solidFill>
                      <a:srgbClr val="111827"/>
                    </a:solidFill>
                    <a:latin typeface="Arial"/>
                  </a:rPr>
                  <a:t> equals the determinant of the dot products with </a:t>
                </a:r>
                <a:r>
                  <a:rPr lang="en-IN" sz="2400">
                    <a:solidFill>
                      <a:srgbClr val="111827"/>
                    </a:solidFill>
                    <a:latin typeface="Cambria Math" panose="02040503050406030204" pitchFamily="18" charset="0"/>
                  </a:rPr>
                  <a:t>$\hat i,\hat j,\hat k$</a:t>
                </a:r>
                <a:r>
                  <a:rPr sz="2400" b="0">
                    <a:solidFill>
                      <a:srgbClr val="111827"/>
                    </a:solidFill>
                    <a:latin typeface="Arial"/>
                  </a:rPr>
                  <a:t> (the components), the required result follows.</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r>
                          <a:rPr lang="en-IN" sz="2800" i="1">
                            <a:solidFill>
                              <a:srgbClr val="15803D"/>
                            </a:solidFill>
                            <a:latin typeface="Cambria Math" panose="02040503050406030204" pitchFamily="18" charset="0"/>
                          </a:rPr>
                          <m:t>𝑛</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𝑎</m:t>
                            </m:r>
                          </m:e>
                        </m:acc>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𝑏</m:t>
                            </m:r>
                          </m:e>
                        </m:acc>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𝑛</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𝑏</m:t>
                            </m:r>
                          </m:e>
                        </m:acc>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𝑐</m:t>
                            </m:r>
                          </m:e>
                        </m:acc>
                        <m:r>
                          <a:rPr lang="en-IN" sz="2800" i="1">
                            <a:solidFill>
                              <a:srgbClr val="15803D"/>
                            </a:solidFill>
                            <a:latin typeface="Cambria Math" panose="02040503050406030204" pitchFamily="18" charset="0"/>
                          </a:rPr>
                          <m:t> </m:t>
                        </m:r>
                        <m:r>
                          <a:rPr lang="en-IN" sz="2800" i="1">
                            <a:solidFill>
                              <a:srgbClr val="15803D"/>
                            </a:solidFill>
                            <a:latin typeface="Cambria Math" panose="02040503050406030204" pitchFamily="18" charset="0"/>
                          </a:rPr>
                          <m:t>𝑛</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𝑐</m:t>
                            </m:r>
                          </m:e>
                        </m:acc>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𝑎</m:t>
                            </m:r>
                          </m:e>
                        </m:acc>
                      </m:e>
                    </m:d>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𝑛</m:t>
                        </m:r>
                      </m:e>
                      <m:sup>
                        <m:r>
                          <a:rPr lang="en-IN" sz="2800" i="1">
                            <a:solidFill>
                              <a:srgbClr val="15803D"/>
                            </a:solidFill>
                            <a:latin typeface="Cambria Math" panose="02040503050406030204" pitchFamily="18" charset="0"/>
                          </a:rPr>
                          <m:t>3</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d>
                      <m:dPr>
                        <m:begChr m:val="["/>
                        <m:sepChr m:val=""/>
                        <m:endChr m:val="]"/>
                        <m:grow/>
                        <m:ctrlPr>
                          <a:rPr lang="en-IN" sz="2800" i="1">
                            <a:solidFill>
                              <a:srgbClr val="15803D"/>
                            </a:solidFill>
                            <a:latin typeface="Cambria Math" panose="02040503050406030204" pitchFamily="18" charset="0"/>
                          </a:rPr>
                        </m:ctrlPr>
                      </m:dPr>
                      <m:e>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𝑎</m:t>
                            </m:r>
                          </m:e>
                        </m:acc>
                        <m:r>
                          <a:rPr lang="en-IN" sz="2800" i="1">
                            <a:solidFill>
                              <a:srgbClr val="15803D"/>
                            </a:solidFill>
                            <a:latin typeface="Cambria Math" panose="02040503050406030204" pitchFamily="18" charset="0"/>
                          </a:rPr>
                          <m:t> </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𝑏</m:t>
                            </m:r>
                          </m:e>
                        </m:acc>
                        <m:r>
                          <a:rPr lang="en-IN" sz="2800" i="1">
                            <a:solidFill>
                              <a:srgbClr val="15803D"/>
                            </a:solidFill>
                            <a:latin typeface="Cambria Math" panose="02040503050406030204" pitchFamily="18" charset="0"/>
                          </a:rPr>
                          <m:t> </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𝑐</m:t>
                            </m:r>
                          </m:e>
                        </m:acc>
                      </m:e>
                    </m:d>
                  </m:oMath>
                </a14:m>
                <a:r>
                  <a:rPr sz="2800" b="1">
                    <a:solidFill>
                      <a:srgbClr val="15803D"/>
                    </a:solidFill>
                    <a:latin typeface="Arial"/>
                  </a:rPr>
                  <a:t>, which equals </a:t>
                </a:r>
                <a14:m>
                  <m:oMath xmlns:m="http://schemas.openxmlformats.org/officeDocument/2006/math">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𝑛</m:t>
                        </m:r>
                      </m:e>
                      <m:sup>
                        <m:r>
                          <a:rPr lang="en-IN" sz="2800" i="1">
                            <a:solidFill>
                              <a:srgbClr val="15803D"/>
                            </a:solidFill>
                            <a:latin typeface="Cambria Math" panose="02040503050406030204" pitchFamily="18" charset="0"/>
                          </a:rPr>
                          <m:t>3</m:t>
                        </m:r>
                      </m:sup>
                    </m:s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oMath>
                </a14:m>
                <a:r>
                  <a:rPr sz="2800" b="1">
                    <a:solidFill>
                      <a:srgbClr val="15803D"/>
                    </a:solidFill>
                    <a:latin typeface="Arial"/>
                  </a:rPr>
                  <a:t> times the given determinant</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$\left[n\vec a+\vec b\quad n\vec b+\vec c\quad n\vec c+\vec a\right]=(n^3+1)\left[\vec a\ \vec b\ \vec c\right]$</a:t>
                </a:r>
                <a:r>
                  <a:rPr sz="2800" b="1">
                    <a:solidFill>
                      <a:srgbClr val="15803D"/>
                    </a:solidFill>
                    <a:latin typeface="Arial"/>
                  </a:rPr>
                  <a:t>, which equals </a:t>
                </a:r>
                <a:r>
                  <a:rPr lang="en-IN" sz="2800">
                    <a:solidFill>
                      <a:srgbClr val="15803D"/>
                    </a:solidFill>
                    <a:latin typeface="Cambria Math" panose="02040503050406030204" pitchFamily="18" charset="0"/>
                  </a:rPr>
                  <a:t>$(n^3+1)$</a:t>
                </a:r>
                <a:r>
                  <a:rPr sz="2800" b="1">
                    <a:solidFill>
                      <a:srgbClr val="15803D"/>
                    </a:solidFill>
                    <a:latin typeface="Arial"/>
                  </a:rPr>
                  <a:t> times the given determinant</a:t>
                </a:r>
                <a:endParaRPr sz="2800">
                  <a:solidFill>
                    <a:srgbClr val="15803D"/>
                  </a:solidFill>
                </a:endParaRPr>
              </a:p>
            </p:txBody>
          </p:sp>
        </mc:Fallback>
      </mc:AlternateContent>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triple product with a repeated vector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(cyclic symmetry).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𝑇</m:t>
                        </m:r>
                      </m:sup>
                    </m:sSup>
                  </m:oMath>
                </a14:m>
                <a:r>
                  <a:rPr sz="2400" b="0">
                    <a:solidFill>
                      <a:srgbClr val="111827"/>
                    </a:solidFill>
                    <a:latin typeface="Arial"/>
                  </a:rPr>
                  <a:t> for a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coefficient matrix </a:t>
                </a:r>
                <a14:m>
                  <m:oMath xmlns:m="http://schemas.openxmlformats.org/officeDocument/2006/math">
                    <m:r>
                      <a:rPr lang="en-IN" sz="2400" i="1">
                        <a:solidFill>
                          <a:srgbClr val="111827"/>
                        </a:solidFill>
                        <a:latin typeface="Cambria Math" panose="02040503050406030204" pitchFamily="18" charset="0"/>
                      </a:rPr>
                      <m:t>𝑋</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 </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 </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𝑋</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triple product behaves like a determinant of coefficients.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in a cyclic pattern </a:t>
                </a:r>
                <a14:m>
                  <m:oMath xmlns:m="http://schemas.openxmlformats.org/officeDocument/2006/math">
                    <m:r>
                      <a:rPr lang="en-IN" sz="2400" i="1">
                        <a:solidFill>
                          <a:srgbClr val="111827"/>
                        </a:solidFill>
                        <a:latin typeface="Cambria Math" panose="02040503050406030204" pitchFamily="18" charset="0"/>
                      </a:rPr>
                      <m:t>𝑝</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𝑝</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the factor is </a:t>
                </a:r>
                <a14:m>
                  <m:oMath xmlns:m="http://schemas.openxmlformats.org/officeDocument/2006/math">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factor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another standard identity of this type.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triple product with a repeated vector is </a:t>
                </a:r>
                <a:r>
                  <a:rPr lang="en-IN" sz="2400">
                    <a:solidFill>
                      <a:srgbClr val="111827"/>
                    </a:solidFill>
                    <a:latin typeface="Cambria Math" panose="02040503050406030204" pitchFamily="18" charset="0"/>
                  </a:rPr>
                  <a:t>$0$</a:t>
                </a:r>
                <a:r>
                  <a:rPr sz="2400" b="0">
                    <a:solidFill>
                      <a:srgbClr val="111827"/>
                    </a:solidFill>
                    <a:latin typeface="Arial"/>
                  </a:rPr>
                  <a:t>, and </a:t>
                </a:r>
                <a:r>
                  <a:rPr lang="en-IN" sz="2400">
                    <a:solidFill>
                      <a:srgbClr val="111827"/>
                    </a:solidFill>
                    <a:latin typeface="Cambria Math" panose="02040503050406030204" pitchFamily="18" charset="0"/>
                  </a:rPr>
                  <a:t>$[\vec a\ \vec b\ \vec c]=[\vec b\ \vec c\ \vec a]=[\vec c\ \vec a\ \vec b]=-[\vec b\ \vec a\ \vec c]$</a:t>
                </a:r>
                <a:r>
                  <a:rPr sz="2400" b="0">
                    <a:solidFill>
                      <a:srgbClr val="111827"/>
                    </a:solidFill>
                    <a:latin typeface="Arial"/>
                  </a:rPr>
                  <a:t> (cyclic symmetry).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$\vec u=X\cdot(\vec a,\vec b,\vec c)^T$</a:t>
                </a:r>
                <a:r>
                  <a:rPr sz="2400" b="0">
                    <a:solidFill>
                      <a:srgbClr val="111827"/>
                    </a:solidFill>
                    <a:latin typeface="Arial"/>
                  </a:rPr>
                  <a:t> for a </a:t>
                </a:r>
                <a:r>
                  <a:rPr lang="en-IN" sz="2400">
                    <a:solidFill>
                      <a:srgbClr val="111827"/>
                    </a:solidFill>
                    <a:latin typeface="Cambria Math" panose="02040503050406030204" pitchFamily="18" charset="0"/>
                  </a:rPr>
                  <a:t>$3\times3$</a:t>
                </a:r>
                <a:r>
                  <a:rPr sz="2400" b="0">
                    <a:solidFill>
                      <a:srgbClr val="111827"/>
                    </a:solidFill>
                    <a:latin typeface="Arial"/>
                  </a:rPr>
                  <a:t> coefficient matrix </a:t>
                </a:r>
                <a:r>
                  <a:rPr lang="en-IN" sz="2400">
                    <a:solidFill>
                      <a:srgbClr val="111827"/>
                    </a:solidFill>
                    <a:latin typeface="Cambria Math" panose="02040503050406030204" pitchFamily="18" charset="0"/>
                  </a:rPr>
                  <a:t>$X$</a:t>
                </a:r>
                <a:r>
                  <a:rPr sz="2400" b="0">
                    <a:solidFill>
                      <a:srgbClr val="111827"/>
                    </a:solidFill>
                    <a:latin typeface="Arial"/>
                  </a:rPr>
                  <a:t>, then </a:t>
                </a:r>
                <a:r>
                  <a:rPr lang="en-IN" sz="2400">
                    <a:solidFill>
                      <a:srgbClr val="111827"/>
                    </a:solidFill>
                    <a:latin typeface="Cambria Math" panose="02040503050406030204" pitchFamily="18" charset="0"/>
                  </a:rPr>
                  <a:t>$[\vec u_1\ \vec u_2\ \vec u_3]=\det X\,[\vec a\ \vec b\ \vec c]$</a:t>
                </a:r>
                <a:r>
                  <a:rPr sz="2400" b="0">
                    <a:solidFill>
                      <a:srgbClr val="111827"/>
                    </a:solidFill>
                    <a:latin typeface="Arial"/>
                  </a:rPr>
                  <a:t>; the triple product behaves like a determinant of coefficients.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$\vec a,\vec b,\vec c$</a:t>
                </a:r>
                <a:r>
                  <a:rPr sz="2400" b="0">
                    <a:solidFill>
                      <a:srgbClr val="111827"/>
                    </a:solidFill>
                    <a:latin typeface="Arial"/>
                  </a:rPr>
                  <a:t> in a cyclic pattern </a:t>
                </a:r>
                <a:r>
                  <a:rPr lang="en-IN" sz="2400">
                    <a:solidFill>
                      <a:srgbClr val="111827"/>
                    </a:solidFill>
                    <a:latin typeface="Cambria Math" panose="02040503050406030204" pitchFamily="18" charset="0"/>
                  </a:rPr>
                  <a:t>$p\vec a+q\vec b,\ p\vec b+q\vec c,\ p\vec c+q\vec a$</a:t>
                </a:r>
                <a:r>
                  <a:rPr sz="2400" b="0">
                    <a:solidFill>
                      <a:srgbClr val="111827"/>
                    </a:solidFill>
                    <a:latin typeface="Arial"/>
                  </a:rPr>
                  <a:t> the factor is </a:t>
                </a:r>
                <a:r>
                  <a:rPr lang="en-IN" sz="2400">
                    <a:solidFill>
                      <a:srgbClr val="111827"/>
                    </a:solidFill>
                    <a:latin typeface="Cambria Math" panose="02040503050406030204" pitchFamily="18" charset="0"/>
                  </a:rPr>
                  <a:t>$p^3+q^3$</a:t>
                </a:r>
                <a:r>
                  <a:rPr sz="2400" b="0">
                    <a:solidFill>
                      <a:srgbClr val="111827"/>
                    </a:solidFill>
                    <a:latin typeface="Arial"/>
                  </a:rPr>
                  <a:t> (here </a:t>
                </a:r>
                <a:r>
                  <a:rPr lang="en-IN" sz="2400">
                    <a:solidFill>
                      <a:srgbClr val="111827"/>
                    </a:solidFill>
                    <a:latin typeface="Cambria Math" panose="02040503050406030204" pitchFamily="18" charset="0"/>
                  </a:rPr>
                  <a:t>$p=n$</a:t>
                </a:r>
                <a:r>
                  <a:rPr sz="2400" b="0">
                    <a:solidFill>
                      <a:srgbClr val="111827"/>
                    </a:solidFill>
                    <a:latin typeface="Arial"/>
                  </a:rPr>
                  <a:t>, </a:t>
                </a:r>
                <a:r>
                  <a:rPr lang="en-IN" sz="2400">
                    <a:solidFill>
                      <a:srgbClr val="111827"/>
                    </a:solidFill>
                    <a:latin typeface="Cambria Math" panose="02040503050406030204" pitchFamily="18" charset="0"/>
                  </a:rPr>
                  <a:t>$q=1$</a:t>
                </a:r>
                <a:r>
                  <a:rPr sz="2400" b="0">
                    <a:solidFill>
                      <a:srgbClr val="111827"/>
                    </a:solidFill>
                    <a:latin typeface="Arial"/>
                  </a:rPr>
                  <a:t>; check </a:t>
                </a:r>
                <a:r>
                  <a:rPr lang="en-IN" sz="2400">
                    <a:solidFill>
                      <a:srgbClr val="111827"/>
                    </a:solidFill>
                    <a:latin typeface="Cambria Math" panose="02040503050406030204" pitchFamily="18" charset="0"/>
                  </a:rPr>
                  <a:t>$n=1$</a:t>
                </a:r>
                <a:r>
                  <a:rPr sz="2400" b="0">
                    <a:solidFill>
                      <a:srgbClr val="111827"/>
                    </a:solidFill>
                    <a:latin typeface="Arial"/>
                  </a:rPr>
                  <a:t>: factor </a:t>
                </a:r>
                <a:r>
                  <a:rPr lang="en-IN" sz="2400">
                    <a:solidFill>
                      <a:srgbClr val="111827"/>
                    </a:solidFill>
                    <a:latin typeface="Cambria Math" panose="02040503050406030204" pitchFamily="18" charset="0"/>
                  </a:rPr>
                  <a: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a\times\vec b\ \ \vec b\times\vec c\ \ \vec c\times\vec a]=[\vec a\ \vec b\ \vec c]^2$</a:t>
                </a:r>
                <a:r>
                  <a:rPr sz="2400" b="0">
                    <a:solidFill>
                      <a:srgbClr val="111827"/>
                    </a:solidFill>
                    <a:latin typeface="Arial"/>
                  </a:rPr>
                  <a:t> is another standard identity of this type.</a:t>
                </a:r>
                <a:endParaRPr sz="2400">
                  <a:solidFill>
                    <a:srgbClr val="111827"/>
                  </a:solidFill>
                </a:endParaRPr>
              </a:p>
            </p:txBody>
          </p:sp>
        </mc:Fallback>
      </mc:AlternateContent>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oMath>
                </a14:m>
                <a:r>
                  <a:rPr sz="2400" b="0">
                    <a:solidFill>
                      <a:srgbClr val="111827"/>
                    </a:solidFill>
                    <a:latin typeface="Arial"/>
                  </a:rPr>
                  <a:t> is a tetrahedron with position vectors of its angular points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the area of the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𝐹</m:t>
                    </m:r>
                  </m:oMath>
                </a14:m>
                <a:r>
                  <a:rPr sz="2400" b="0">
                    <a:solidFill>
                      <a:srgbClr val="111827"/>
                    </a:solidFill>
                    <a:latin typeface="Arial"/>
                  </a:rPr>
                  <a:t>, where the quadrilaterals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𝐸</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𝐹</m:t>
                    </m:r>
                  </m:oMath>
                </a14:m>
                <a:r>
                  <a:rPr sz="2400" b="0">
                    <a:solidFill>
                      <a:srgbClr val="111827"/>
                    </a:solidFill>
                    <a:latin typeface="Arial"/>
                  </a:rPr>
                  <a:t> are parallelograms, is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𝑆</m:t>
                        </m:r>
                      </m:e>
                    </m:rad>
                  </m:oMath>
                </a14:m>
                <a:r>
                  <a:rPr sz="2400" b="0">
                    <a:solidFill>
                      <a:srgbClr val="111827"/>
                    </a:solidFill>
                    <a:latin typeface="Arial"/>
                  </a:rPr>
                  <a:t>, then find the value of </a:t>
                </a:r>
                <a14:m>
                  <m:oMath xmlns:m="http://schemas.openxmlformats.org/officeDocument/2006/math">
                    <m:r>
                      <a:rPr lang="en-IN" sz="2400" i="1">
                        <a:solidFill>
                          <a:srgbClr val="111827"/>
                        </a:solidFill>
                        <a:latin typeface="Cambria Math" panose="02040503050406030204" pitchFamily="18" charset="0"/>
                      </a:rPr>
                      <m:t>𝑆</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lang="en-IN" sz="2400">
                    <a:solidFill>
                      <a:srgbClr val="111827"/>
                    </a:solidFill>
                    <a:latin typeface="Cambria Math" panose="02040503050406030204" pitchFamily="18" charset="0"/>
                  </a:rPr>
                  <a:t>$ABCD$</a:t>
                </a:r>
                <a:r>
                  <a:rPr sz="2400" b="0">
                    <a:solidFill>
                      <a:srgbClr val="111827"/>
                    </a:solidFill>
                    <a:latin typeface="Arial"/>
                  </a:rPr>
                  <a:t> is a tetrahedron with position vectors of its angular points </a:t>
                </a:r>
                <a:r>
                  <a:rPr lang="en-IN" sz="2400">
                    <a:solidFill>
                      <a:srgbClr val="111827"/>
                    </a:solidFill>
                    <a:latin typeface="Cambria Math" panose="02040503050406030204" pitchFamily="18" charset="0"/>
                  </a:rPr>
                  <a:t>$A(-5,22,5)$</a:t>
                </a:r>
                <a:r>
                  <a:rPr sz="2400" b="0">
                    <a:solidFill>
                      <a:srgbClr val="111827"/>
                    </a:solidFill>
                    <a:latin typeface="Arial"/>
                  </a:rPr>
                  <a:t>; </a:t>
                </a:r>
                <a:r>
                  <a:rPr lang="en-IN" sz="2400">
                    <a:solidFill>
                      <a:srgbClr val="111827"/>
                    </a:solidFill>
                    <a:latin typeface="Cambria Math" panose="02040503050406030204" pitchFamily="18" charset="0"/>
                  </a:rPr>
                  <a:t>$B(1,2,3)$</a:t>
                </a:r>
                <a:r>
                  <a:rPr sz="2400" b="0">
                    <a:solidFill>
                      <a:srgbClr val="111827"/>
                    </a:solidFill>
                    <a:latin typeface="Arial"/>
                  </a:rPr>
                  <a:t>; </a:t>
                </a:r>
                <a:r>
                  <a:rPr lang="en-IN" sz="2400">
                    <a:solidFill>
                      <a:srgbClr val="111827"/>
                    </a:solidFill>
                    <a:latin typeface="Cambria Math" panose="02040503050406030204" pitchFamily="18" charset="0"/>
                  </a:rPr>
                  <a:t>$C(4,3,2)$</a:t>
                </a:r>
                <a:r>
                  <a:rPr sz="2400" b="0">
                    <a:solidFill>
                      <a:srgbClr val="111827"/>
                    </a:solidFill>
                    <a:latin typeface="Arial"/>
                  </a:rPr>
                  <a:t> and </a:t>
                </a:r>
                <a:r>
                  <a:rPr lang="en-IN" sz="2400">
                    <a:solidFill>
                      <a:srgbClr val="111827"/>
                    </a:solidFill>
                    <a:latin typeface="Cambria Math" panose="02040503050406030204" pitchFamily="18" charset="0"/>
                  </a:rPr>
                  <a:t>$D(-1,2,-3)$</a:t>
                </a:r>
                <a:r>
                  <a:rPr sz="2400" b="0">
                    <a:solidFill>
                      <a:srgbClr val="111827"/>
                    </a:solidFill>
                    <a:latin typeface="Arial"/>
                  </a:rPr>
                  <a:t>. If the area of the triangle </a:t>
                </a:r>
                <a:r>
                  <a:rPr lang="en-IN" sz="2400">
                    <a:solidFill>
                      <a:srgbClr val="111827"/>
                    </a:solidFill>
                    <a:latin typeface="Cambria Math" panose="02040503050406030204" pitchFamily="18" charset="0"/>
                  </a:rPr>
                  <a:t>$AEF$</a:t>
                </a:r>
                <a:r>
                  <a:rPr sz="2400" b="0">
                    <a:solidFill>
                      <a:srgbClr val="111827"/>
                    </a:solidFill>
                    <a:latin typeface="Arial"/>
                  </a:rPr>
                  <a:t>, where the quadrilaterals </a:t>
                </a:r>
                <a:r>
                  <a:rPr lang="en-IN" sz="2400">
                    <a:solidFill>
                      <a:srgbClr val="111827"/>
                    </a:solidFill>
                    <a:latin typeface="Cambria Math" panose="02040503050406030204" pitchFamily="18" charset="0"/>
                  </a:rPr>
                  <a:t>$ABDE$</a:t>
                </a:r>
                <a:r>
                  <a:rPr sz="2400" b="0">
                    <a:solidFill>
                      <a:srgbClr val="111827"/>
                    </a:solidFill>
                    <a:latin typeface="Arial"/>
                  </a:rPr>
                  <a:t> and </a:t>
                </a:r>
                <a:r>
                  <a:rPr lang="en-IN" sz="2400">
                    <a:solidFill>
                      <a:srgbClr val="111827"/>
                    </a:solidFill>
                    <a:latin typeface="Cambria Math" panose="02040503050406030204" pitchFamily="18" charset="0"/>
                  </a:rPr>
                  <a:t>$ABCF$</a:t>
                </a:r>
                <a:r>
                  <a:rPr sz="2400" b="0">
                    <a:solidFill>
                      <a:srgbClr val="111827"/>
                    </a:solidFill>
                    <a:latin typeface="Arial"/>
                  </a:rPr>
                  <a:t> are parallelograms, is </a:t>
                </a:r>
                <a:r>
                  <a:rPr lang="en-IN" sz="2400">
                    <a:solidFill>
                      <a:srgbClr val="111827"/>
                    </a:solidFill>
                    <a:latin typeface="Cambria Math" panose="02040503050406030204" pitchFamily="18" charset="0"/>
                  </a:rPr>
                  <a:t>$\sqrt S$</a:t>
                </a:r>
                <a:r>
                  <a:rPr sz="2400" b="0">
                    <a:solidFill>
                      <a:srgbClr val="111827"/>
                    </a:solidFill>
                    <a:latin typeface="Arial"/>
                  </a:rPr>
                  <a:t>, then find the value of </a:t>
                </a:r>
                <a:r>
                  <a:rPr lang="en-IN" sz="2400">
                    <a:solidFill>
                      <a:srgbClr val="111827"/>
                    </a:solidFill>
                    <a:latin typeface="Cambria Math" panose="02040503050406030204" pitchFamily="18" charset="0"/>
                  </a:rPr>
                  <a:t>$S$</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8887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Position vectors, parallelogram and area of a triangle using the cross product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 a parallelogram the diagonals bisect each other, so </a:t>
                </a:r>
                <a14:m>
                  <m:oMath xmlns:m="http://schemas.openxmlformats.org/officeDocument/2006/math">
                    <m:r>
                      <a:rPr lang="en-IN" sz="2400" i="1">
                        <a:solidFill>
                          <a:srgbClr val="78350F"/>
                        </a:solidFill>
                        <a:latin typeface="Cambria Math" panose="02040503050406030204" pitchFamily="18" charset="0"/>
                      </a:rPr>
                      <m:t>𝐸</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𝐹</m:t>
                    </m:r>
                  </m:oMath>
                </a14:m>
                <a:r>
                  <a:rPr sz="2400" b="0">
                    <a:solidFill>
                      <a:srgbClr val="78350F"/>
                    </a:solidFill>
                    <a:latin typeface="Arial"/>
                  </a:rPr>
                  <a:t> follow from midpoint equalities; then take half the cross product.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 a parallelogram the diagonals bisect each other, so </a:t>
                </a:r>
                <a:r>
                  <a:rPr lang="en-IN" sz="2400">
                    <a:solidFill>
                      <a:srgbClr val="78350F"/>
                    </a:solidFill>
                    <a:latin typeface="Cambria Math" panose="02040503050406030204" pitchFamily="18" charset="0"/>
                  </a:rPr>
                  <a:t>$E$</a:t>
                </a:r>
                <a:r>
                  <a:rPr sz="2400" b="0">
                    <a:solidFill>
                      <a:srgbClr val="78350F"/>
                    </a:solidFill>
                    <a:latin typeface="Arial"/>
                  </a:rPr>
                  <a:t> and </a:t>
                </a:r>
                <a:r>
                  <a:rPr lang="en-IN" sz="2400">
                    <a:solidFill>
                      <a:srgbClr val="78350F"/>
                    </a:solidFill>
                    <a:latin typeface="Cambria Math" panose="02040503050406030204" pitchFamily="18" charset="0"/>
                  </a:rPr>
                  <a:t>$F$</a:t>
                </a:r>
                <a:r>
                  <a:rPr sz="2400" b="0">
                    <a:solidFill>
                      <a:srgbClr val="78350F"/>
                    </a:solidFill>
                    <a:latin typeface="Arial"/>
                  </a:rPr>
                  <a:t> follow from midpoint equalities; then take half the cross product.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𝐸</m:t>
                    </m:r>
                  </m:oMath>
                </a14:m>
                <a:r>
                  <a:rPr sz="2400" b="0">
                    <a:solidFill>
                      <a:srgbClr val="111827"/>
                    </a:solidFill>
                    <a:latin typeface="Arial"/>
                  </a:rPr>
                  <a:t> a parallelogram.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Diagonals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𝐸</m:t>
                    </m:r>
                  </m:oMath>
                </a14:m>
                <a:r>
                  <a:rPr sz="2400" b="0">
                    <a:solidFill>
                      <a:srgbClr val="111827"/>
                    </a:solidFill>
                    <a:latin typeface="Arial"/>
                  </a:rPr>
                  <a:t> bisect each other: midpoint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𝐹</m:t>
                    </m:r>
                  </m:oMath>
                </a14:m>
                <a:r>
                  <a:rPr sz="2400" b="0">
                    <a:solidFill>
                      <a:srgbClr val="111827"/>
                    </a:solidFill>
                    <a:latin typeface="Arial"/>
                  </a:rPr>
                  <a:t> a parallelogram: midpoint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$A(-5,22,5)$</a:t>
                </a:r>
                <a:r>
                  <a:rPr sz="2400" b="0">
                    <a:solidFill>
                      <a:srgbClr val="111827"/>
                    </a:solidFill>
                    <a:latin typeface="Arial"/>
                  </a:rPr>
                  <a:t>, </a:t>
                </a:r>
                <a:r>
                  <a:rPr lang="en-IN" sz="2400">
                    <a:solidFill>
                      <a:srgbClr val="111827"/>
                    </a:solidFill>
                    <a:latin typeface="Cambria Math" panose="02040503050406030204" pitchFamily="18" charset="0"/>
                  </a:rPr>
                  <a:t>$B(1,2,3)$</a:t>
                </a:r>
                <a:r>
                  <a:rPr sz="2400" b="0">
                    <a:solidFill>
                      <a:srgbClr val="111827"/>
                    </a:solidFill>
                    <a:latin typeface="Arial"/>
                  </a:rPr>
                  <a:t>, </a:t>
                </a:r>
                <a:r>
                  <a:rPr lang="en-IN" sz="2400">
                    <a:solidFill>
                      <a:srgbClr val="111827"/>
                    </a:solidFill>
                    <a:latin typeface="Cambria Math" panose="02040503050406030204" pitchFamily="18" charset="0"/>
                  </a:rPr>
                  <a:t>$C(4,3,2)$</a:t>
                </a:r>
                <a:r>
                  <a:rPr sz="2400" b="0">
                    <a:solidFill>
                      <a:srgbClr val="111827"/>
                    </a:solidFill>
                    <a:latin typeface="Arial"/>
                  </a:rPr>
                  <a:t>, </a:t>
                </a:r>
                <a:r>
                  <a:rPr lang="en-IN" sz="2400">
                    <a:solidFill>
                      <a:srgbClr val="111827"/>
                    </a:solidFill>
                    <a:latin typeface="Cambria Math" panose="02040503050406030204" pitchFamily="18" charset="0"/>
                  </a:rPr>
                  <a:t>$D(-1,2,-3)$</a:t>
                </a:r>
                <a:r>
                  <a:rPr sz="2400" b="0">
                    <a:solidFill>
                      <a:srgbClr val="111827"/>
                    </a:solidFill>
                    <a:latin typeface="Arial"/>
                  </a:rPr>
                  <a:t>. Let </a:t>
                </a:r>
                <a:r>
                  <a:rPr lang="en-IN" sz="2400">
                    <a:solidFill>
                      <a:srgbClr val="111827"/>
                    </a:solidFill>
                    <a:latin typeface="Cambria Math" panose="02040503050406030204" pitchFamily="18" charset="0"/>
                  </a:rPr>
                  <a:t>$E=(\alpha,\beta,\gamma)$</a:t>
                </a:r>
                <a:r>
                  <a:rPr sz="2400" b="0">
                    <a:solidFill>
                      <a:srgbClr val="111827"/>
                    </a:solidFill>
                    <a:latin typeface="Arial"/>
                  </a:rPr>
                  <a:t> with </a:t>
                </a:r>
                <a:r>
                  <a:rPr lang="en-IN" sz="2400">
                    <a:solidFill>
                      <a:srgbClr val="111827"/>
                    </a:solidFill>
                    <a:latin typeface="Cambria Math" panose="02040503050406030204" pitchFamily="18" charset="0"/>
                  </a:rPr>
                  <a:t>$ABDE$</a:t>
                </a:r>
                <a:r>
                  <a:rPr sz="2400" b="0">
                    <a:solidFill>
                      <a:srgbClr val="111827"/>
                    </a:solidFill>
                    <a:latin typeface="Arial"/>
                  </a:rPr>
                  <a:t> a parallelogram.</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Diagonals </a:t>
                </a:r>
                <a:r>
                  <a:rPr lang="en-IN" sz="2400">
                    <a:solidFill>
                      <a:srgbClr val="111827"/>
                    </a:solidFill>
                    <a:latin typeface="Cambria Math" panose="02040503050406030204" pitchFamily="18" charset="0"/>
                  </a:rPr>
                  <a:t>$AD$</a:t>
                </a:r>
                <a:r>
                  <a:rPr sz="2400" b="0">
                    <a:solidFill>
                      <a:srgbClr val="111827"/>
                    </a:solidFill>
                    <a:latin typeface="Arial"/>
                  </a:rPr>
                  <a:t> and </a:t>
                </a:r>
                <a:r>
                  <a:rPr lang="en-IN" sz="2400">
                    <a:solidFill>
                      <a:srgbClr val="111827"/>
                    </a:solidFill>
                    <a:latin typeface="Cambria Math" panose="02040503050406030204" pitchFamily="18" charset="0"/>
                  </a:rPr>
                  <a:t>$BE$</a:t>
                </a:r>
                <a:r>
                  <a:rPr sz="2400" b="0">
                    <a:solidFill>
                      <a:srgbClr val="111827"/>
                    </a:solidFill>
                    <a:latin typeface="Arial"/>
                  </a:rPr>
                  <a:t> bisect each other: midpoint of </a:t>
                </a:r>
                <a:r>
                  <a:rPr lang="en-IN" sz="2400">
                    <a:solidFill>
                      <a:srgbClr val="111827"/>
                    </a:solidFill>
                    <a:latin typeface="Cambria Math" panose="02040503050406030204" pitchFamily="18" charset="0"/>
                  </a:rPr>
                  <a:t>$AD=(-3,12,1)=\left(\frac{\alpha+1}{2},\frac{\beta+2}{2},\frac{\gamma+3}{2}\right)$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$\alpha=-7$</a:t>
                </a:r>
                <a:r>
                  <a:rPr sz="2400" b="0">
                    <a:solidFill>
                      <a:srgbClr val="111827"/>
                    </a:solidFill>
                    <a:latin typeface="Arial"/>
                  </a:rPr>
                  <a:t>, </a:t>
                </a:r>
                <a:r>
                  <a:rPr lang="en-IN" sz="2400">
                    <a:solidFill>
                      <a:srgbClr val="111827"/>
                    </a:solidFill>
                    <a:latin typeface="Cambria Math" panose="02040503050406030204" pitchFamily="18" charset="0"/>
                  </a:rPr>
                  <a:t>$\beta=22$</a:t>
                </a:r>
                <a:r>
                  <a:rPr sz="2400" b="0">
                    <a:solidFill>
                      <a:srgbClr val="111827"/>
                    </a:solidFill>
                    <a:latin typeface="Arial"/>
                  </a:rPr>
                  <a:t>, </a:t>
                </a:r>
                <a:r>
                  <a:rPr lang="en-IN" sz="2400">
                    <a:solidFill>
                      <a:srgbClr val="111827"/>
                    </a:solidFill>
                    <a:latin typeface="Cambria Math" panose="02040503050406030204" pitchFamily="18" charset="0"/>
                  </a:rPr>
                  <a:t>$\gamma=-1$</a:t>
                </a:r>
                <a:r>
                  <a:rPr sz="2400" b="0">
                    <a:solidFill>
                      <a:srgbClr val="111827"/>
                    </a:solidFill>
                    <a:latin typeface="Arial"/>
                  </a:rPr>
                  <a:t>, </a:t>
                </a:r>
                <a:r>
                  <a:rPr lang="en-IN" sz="2400">
                    <a:solidFill>
                      <a:srgbClr val="111827"/>
                    </a:solidFill>
                    <a:latin typeface="Cambria Math" panose="02040503050406030204" pitchFamily="18" charset="0"/>
                  </a:rPr>
                  <a:t>$E(-7,22,-1)$</a:t>
                </a:r>
                <a:r>
                  <a:rPr sz="2400" b="0">
                    <a:solidFill>
                      <a:srgbClr val="111827"/>
                    </a:solidFill>
                    <a:latin typeface="Arial"/>
                  </a:rPr>
                  <a:t> and </a:t>
                </a:r>
                <a:r>
                  <a:rPr lang="en-IN" sz="2400">
                    <a:solidFill>
                      <a:srgbClr val="111827"/>
                    </a:solidFill>
                    <a:latin typeface="Cambria Math" panose="02040503050406030204" pitchFamily="18" charset="0"/>
                  </a:rPr>
                  <a:t>$\vec{AE}=(-2,0,-6)$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$F=(a,b,c)$</a:t>
                </a:r>
                <a:r>
                  <a:rPr sz="2400" b="0">
                    <a:solidFill>
                      <a:srgbClr val="111827"/>
                    </a:solidFill>
                    <a:latin typeface="Arial"/>
                  </a:rPr>
                  <a:t> with </a:t>
                </a:r>
                <a:r>
                  <a:rPr lang="en-IN" sz="2400">
                    <a:solidFill>
                      <a:srgbClr val="111827"/>
                    </a:solidFill>
                    <a:latin typeface="Cambria Math" panose="02040503050406030204" pitchFamily="18" charset="0"/>
                  </a:rPr>
                  <a:t>$ABCF$</a:t>
                </a:r>
                <a:r>
                  <a:rPr sz="2400" b="0">
                    <a:solidFill>
                      <a:srgbClr val="111827"/>
                    </a:solidFill>
                    <a:latin typeface="Arial"/>
                  </a:rPr>
                  <a:t> a parallelogram: midpoint of </a:t>
                </a:r>
                <a:r>
                  <a:rPr lang="en-IN" sz="2400">
                    <a:solidFill>
                      <a:srgbClr val="111827"/>
                    </a:solidFill>
                    <a:latin typeface="Cambria Math" panose="02040503050406030204" pitchFamily="18" charset="0"/>
                  </a:rPr>
                  <a:t>$AC=\left(-\frac12,\frac{25}{2},\frac72\right)=\left(\frac{1+a}{2},\frac{2+b}{2},\frac{3+c}{2}\right)$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𝐹</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𝐹</m:t>
                            </m:r>
                          </m:e>
                        </m:acc>
                      </m:e>
                    </m:d>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𝐹</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0</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e>
                          </m:mr>
                          <m:mr>
                            <m:e>
                              <m:r>
                                <a:rPr lang="en-IN" sz="2400" i="1">
                                  <a:solidFill>
                                    <a:srgbClr val="111827"/>
                                  </a:solidFill>
                                  <a:latin typeface="Cambria Math" panose="02040503050406030204" pitchFamily="18" charset="0"/>
                                </a:rPr>
                                <m:t>3</m:t>
                              </m:r>
                            </m:e>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440</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110</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𝑆</m:t>
                        </m:r>
                      </m:e>
                    </m:ra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110</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$a=-2$</a:t>
                </a:r>
                <a:r>
                  <a:rPr sz="2400" b="0">
                    <a:solidFill>
                      <a:srgbClr val="111827"/>
                    </a:solidFill>
                    <a:latin typeface="Arial"/>
                  </a:rPr>
                  <a:t>, </a:t>
                </a:r>
                <a:r>
                  <a:rPr lang="en-IN" sz="2400">
                    <a:solidFill>
                      <a:srgbClr val="111827"/>
                    </a:solidFill>
                    <a:latin typeface="Cambria Math" panose="02040503050406030204" pitchFamily="18" charset="0"/>
                  </a:rPr>
                  <a:t>$b=23$</a:t>
                </a:r>
                <a:r>
                  <a:rPr sz="2400" b="0">
                    <a:solidFill>
                      <a:srgbClr val="111827"/>
                    </a:solidFill>
                    <a:latin typeface="Arial"/>
                  </a:rPr>
                  <a:t>, </a:t>
                </a:r>
                <a:r>
                  <a:rPr lang="en-IN" sz="2400">
                    <a:solidFill>
                      <a:srgbClr val="111827"/>
                    </a:solidFill>
                    <a:latin typeface="Cambria Math" panose="02040503050406030204" pitchFamily="18" charset="0"/>
                  </a:rPr>
                  <a:t>$c=4$</a:t>
                </a:r>
                <a:r>
                  <a:rPr sz="2400" b="0">
                    <a:solidFill>
                      <a:srgbClr val="111827"/>
                    </a:solidFill>
                    <a:latin typeface="Arial"/>
                  </a:rPr>
                  <a:t>, </a:t>
                </a:r>
                <a:r>
                  <a:rPr lang="en-IN" sz="2400">
                    <a:solidFill>
                      <a:srgbClr val="111827"/>
                    </a:solidFill>
                    <a:latin typeface="Cambria Math" panose="02040503050406030204" pitchFamily="18" charset="0"/>
                  </a:rPr>
                  <a:t>$F(-2,23,4)$</a:t>
                </a:r>
                <a:r>
                  <a:rPr sz="2400" b="0">
                    <a:solidFill>
                      <a:srgbClr val="111827"/>
                    </a:solidFill>
                    <a:latin typeface="Arial"/>
                  </a:rPr>
                  <a:t> and </a:t>
                </a:r>
                <a:r>
                  <a:rPr lang="en-IN" sz="2400">
                    <a:solidFill>
                      <a:srgbClr val="111827"/>
                    </a:solidFill>
                    <a:latin typeface="Cambria Math" panose="02040503050406030204" pitchFamily="18" charset="0"/>
                  </a:rPr>
                  <a:t>$\vec{AF}=(3,1,-1)$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t>
                </a:r>
                <a:r>
                  <a:rPr lang="en-IN" sz="2400">
                    <a:solidFill>
                      <a:srgbClr val="111827"/>
                    </a:solidFill>
                    <a:latin typeface="Cambria Math" panose="02040503050406030204" pitchFamily="18" charset="0"/>
                  </a:rPr>
                  <a:t>$\triangle AEF=\frac12\left|\vec{AE}\times\vec{AF}\right|$</a:t>
                </a:r>
                <a:r>
                  <a:rPr sz="2400" b="0">
                    <a:solidFill>
                      <a:srgbClr val="111827"/>
                    </a:solidFill>
                    <a:latin typeface="Arial"/>
                  </a:rPr>
                  <a:t>, and </a:t>
                </a:r>
                <a:r>
                  <a:rPr lang="en-IN" sz="2400">
                    <a:solidFill>
                      <a:srgbClr val="111827"/>
                    </a:solidFill>
                    <a:latin typeface="Cambria Math" panose="02040503050406030204" pitchFamily="18" charset="0"/>
                  </a:rPr>
                  <a:t>$\vec{AE}\times\vec{AF}=\left|\begin{matrix}\hat i&amp;\hat j&amp;\hat k\\-2&amp;0&amp;-6\\3&amp;1&amp;-1\end{matrix}\right|=6\hat i-20\hat j-2\hat 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$=\frac12\sqrt{36+400+4}=\frac12\sqrt{440}=\sqrt{110}$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Comparing with </a:t>
                </a:r>
                <a:r>
                  <a:rPr lang="en-IN" sz="2400">
                    <a:solidFill>
                      <a:srgbClr val="111827"/>
                    </a:solidFill>
                    <a:latin typeface="Cambria Math" panose="02040503050406030204" pitchFamily="18" charset="0"/>
                  </a:rPr>
                  <a:t>$\sqrt S$</a:t>
                </a:r>
                <a:r>
                  <a:rPr sz="2400" b="0">
                    <a:solidFill>
                      <a:srgbClr val="111827"/>
                    </a:solidFill>
                    <a:latin typeface="Arial"/>
                  </a:rPr>
                  <a:t>: </a:t>
                </a:r>
                <a:r>
                  <a:rPr lang="en-IN" sz="2400">
                    <a:solidFill>
                      <a:srgbClr val="111827"/>
                    </a:solidFill>
                    <a:latin typeface="Cambria Math" panose="02040503050406030204" pitchFamily="18" charset="0"/>
                  </a:rPr>
                  <a:t>$S=110$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110</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$110$</a:t>
                </a:r>
                <a:endParaRPr sz="2800">
                  <a:solidFill>
                    <a:srgbClr val="15803D"/>
                  </a:solidFill>
                </a:endParaRPr>
              </a:p>
            </p:txBody>
          </p:sp>
        </mc:Fallback>
      </mc:AlternateContent>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Since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r>
                      <a:rPr lang="en-IN" sz="2400" i="1">
                        <a:solidFill>
                          <a:srgbClr val="78350F"/>
                        </a:solidFill>
                        <a:latin typeface="Cambria Math" panose="02040503050406030204" pitchFamily="18" charset="0"/>
                      </a:rPr>
                      <m:t>𝐸</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𝐹</m:t>
                    </m:r>
                  </m:oMath>
                </a14:m>
                <a:r>
                  <a:rPr sz="2400" b="0">
                    <a:solidFill>
                      <a:srgbClr val="78350F"/>
                    </a:solidFill>
                    <a:latin typeface="Arial"/>
                  </a:rPr>
                  <a:t> are parallelograms,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𝐸</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𝐷</m:t>
                        </m:r>
                      </m:e>
                    </m:acc>
                  </m:oMath>
                </a14:m>
                <a:r>
                  <a:rPr sz="2400" b="0">
                    <a:solidFill>
                      <a:srgbClr val="78350F"/>
                    </a:solidFill>
                    <a:latin typeface="Arial"/>
                  </a:rPr>
                  <a:t> and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𝐹</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e>
                    </m:acc>
                  </m:oMath>
                </a14:m>
                <a:r>
                  <a:rPr sz="2400" b="0">
                    <a:solidFill>
                      <a:srgbClr val="78350F"/>
                    </a:solidFill>
                    <a:latin typeface="Arial"/>
                  </a:rPr>
                  <a:t>, so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𝐸</m:t>
                    </m:r>
                    <m:r>
                      <a:rPr lang="en-IN" sz="2400" i="1">
                        <a:solidFill>
                          <a:srgbClr val="78350F"/>
                        </a:solidFill>
                        <a:latin typeface="Cambria Math" panose="02040503050406030204" pitchFamily="18" charset="0"/>
                      </a:rPr>
                      <m:t>𝐹</m:t>
                    </m:r>
                  </m:oMath>
                </a14:m>
                <a:r>
                  <a:rPr sz="2400" b="0">
                    <a:solidFill>
                      <a:srgbClr val="78350F"/>
                    </a:solidFill>
                    <a:latin typeface="Arial"/>
                  </a:rPr>
                  <a:t> has the same area as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𝐷</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Since </a:t>
                </a:r>
                <a:r>
                  <a:rPr lang="en-IN" sz="2400">
                    <a:solidFill>
                      <a:srgbClr val="78350F"/>
                    </a:solidFill>
                    <a:latin typeface="Cambria Math" panose="02040503050406030204" pitchFamily="18" charset="0"/>
                  </a:rPr>
                  <a:t>$ABDE$</a:t>
                </a:r>
                <a:r>
                  <a:rPr sz="2400" b="0">
                    <a:solidFill>
                      <a:srgbClr val="78350F"/>
                    </a:solidFill>
                    <a:latin typeface="Arial"/>
                  </a:rPr>
                  <a:t> and </a:t>
                </a:r>
                <a:r>
                  <a:rPr lang="en-IN" sz="2400">
                    <a:solidFill>
                      <a:srgbClr val="78350F"/>
                    </a:solidFill>
                    <a:latin typeface="Cambria Math" panose="02040503050406030204" pitchFamily="18" charset="0"/>
                  </a:rPr>
                  <a:t>$ABCF$</a:t>
                </a:r>
                <a:r>
                  <a:rPr sz="2400" b="0">
                    <a:solidFill>
                      <a:srgbClr val="78350F"/>
                    </a:solidFill>
                    <a:latin typeface="Arial"/>
                  </a:rPr>
                  <a:t> are parallelograms, </a:t>
                </a:r>
                <a:r>
                  <a:rPr lang="en-IN" sz="2400">
                    <a:solidFill>
                      <a:srgbClr val="78350F"/>
                    </a:solidFill>
                    <a:latin typeface="Cambria Math" panose="02040503050406030204" pitchFamily="18" charset="0"/>
                  </a:rPr>
                  <a:t>$\vec{AE}=\vec{BD}$</a:t>
                </a:r>
                <a:r>
                  <a:rPr sz="2400" b="0">
                    <a:solidFill>
                      <a:srgbClr val="78350F"/>
                    </a:solidFill>
                    <a:latin typeface="Arial"/>
                  </a:rPr>
                  <a:t> and </a:t>
                </a:r>
                <a:r>
                  <a:rPr lang="en-IN" sz="2400">
                    <a:solidFill>
                      <a:srgbClr val="78350F"/>
                    </a:solidFill>
                    <a:latin typeface="Cambria Math" panose="02040503050406030204" pitchFamily="18" charset="0"/>
                  </a:rPr>
                  <a:t>$\vec{AF}=\vec{BC}$</a:t>
                </a:r>
                <a:r>
                  <a:rPr sz="2400" b="0">
                    <a:solidFill>
                      <a:srgbClr val="78350F"/>
                    </a:solidFill>
                    <a:latin typeface="Arial"/>
                  </a:rPr>
                  <a:t>, so </a:t>
                </a:r>
                <a:r>
                  <a:rPr lang="en-IN" sz="2400">
                    <a:solidFill>
                      <a:srgbClr val="78350F"/>
                    </a:solidFill>
                    <a:latin typeface="Cambria Math" panose="02040503050406030204" pitchFamily="18" charset="0"/>
                  </a:rPr>
                  <a:t>$\triangle AEF$</a:t>
                </a:r>
                <a:r>
                  <a:rPr sz="2400" b="0">
                    <a:solidFill>
                      <a:srgbClr val="78350F"/>
                    </a:solidFill>
                    <a:latin typeface="Arial"/>
                  </a:rPr>
                  <a:t> has the same area as </a:t>
                </a:r>
                <a:r>
                  <a:rPr lang="en-IN" sz="2400">
                    <a:solidFill>
                      <a:srgbClr val="78350F"/>
                    </a:solidFill>
                    <a:latin typeface="Cambria Math" panose="02040503050406030204" pitchFamily="18" charset="0"/>
                  </a:rPr>
                  <a:t>$\triangle BCD$</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parallelogram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𝐸</m:t>
                    </m:r>
                  </m:oMath>
                </a14:m>
                <a:r>
                  <a:rPr sz="2400" b="0">
                    <a:solidFill>
                      <a:srgbClr val="111827"/>
                    </a:solidFill>
                    <a:latin typeface="Arial"/>
                  </a:rPr>
                  <a:t> (vertices in order),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e>
                    </m:acc>
                  </m:oMath>
                </a14:m>
                <a:r>
                  <a:rPr sz="2400" b="0">
                    <a:solidFill>
                      <a:srgbClr val="111827"/>
                    </a:solidFill>
                    <a:latin typeface="Arial"/>
                  </a:rPr>
                  <a:t>; in parallelogram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𝐹</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𝐹</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m:rPr>
                        <m:nor/>
                      </m:rPr>
                      <a:rPr lang="en-IN" sz="2400" i="1">
                        <a:solidFill>
                          <a:srgbClr val="111827"/>
                        </a:solidFill>
                        <a:latin typeface="Cambria Math" panose="02040503050406030204" pitchFamily="18" charset="0"/>
                      </a:rPr>
                      <m:t>𝐴𝑟𝑒𝑎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e>
                        </m:acc>
                      </m:e>
                    </m:d>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𝐴𝑟𝑒𝑎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no need to find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𝐹</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440</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110</m:t>
                        </m:r>
                      </m:e>
                    </m:ra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parallelogram </a:t>
                </a:r>
                <a:r>
                  <a:rPr lang="en-IN" sz="2400">
                    <a:solidFill>
                      <a:srgbClr val="111827"/>
                    </a:solidFill>
                    <a:latin typeface="Cambria Math" panose="02040503050406030204" pitchFamily="18" charset="0"/>
                  </a:rPr>
                  <a:t>$ABDE$</a:t>
                </a:r>
                <a:r>
                  <a:rPr sz="2400" b="0">
                    <a:solidFill>
                      <a:srgbClr val="111827"/>
                    </a:solidFill>
                    <a:latin typeface="Arial"/>
                  </a:rPr>
                  <a:t> (vertices in order), </a:t>
                </a:r>
                <a:r>
                  <a:rPr lang="en-IN" sz="2400">
                    <a:solidFill>
                      <a:srgbClr val="111827"/>
                    </a:solidFill>
                    <a:latin typeface="Cambria Math" panose="02040503050406030204" pitchFamily="18" charset="0"/>
                  </a:rPr>
                  <a:t>$\vec{AE}=\vec{BD}$</a:t>
                </a:r>
                <a:r>
                  <a:rPr sz="2400" b="0">
                    <a:solidFill>
                      <a:srgbClr val="111827"/>
                    </a:solidFill>
                    <a:latin typeface="Arial"/>
                  </a:rPr>
                  <a:t>; in parallelogram </a:t>
                </a:r>
                <a:r>
                  <a:rPr lang="en-IN" sz="2400">
                    <a:solidFill>
                      <a:srgbClr val="111827"/>
                    </a:solidFill>
                    <a:latin typeface="Cambria Math" panose="02040503050406030204" pitchFamily="18" charset="0"/>
                  </a:rPr>
                  <a:t>$ABCF$</a:t>
                </a:r>
                <a:r>
                  <a:rPr sz="2400" b="0">
                    <a:solidFill>
                      <a:srgbClr val="111827"/>
                    </a:solidFill>
                    <a:latin typeface="Arial"/>
                  </a:rPr>
                  <a:t>, </a:t>
                </a:r>
                <a:r>
                  <a:rPr lang="en-IN" sz="2400">
                    <a:solidFill>
                      <a:srgbClr val="111827"/>
                    </a:solidFill>
                    <a:latin typeface="Cambria Math" panose="02040503050406030204" pitchFamily="18" charset="0"/>
                  </a:rPr>
                  <a:t>$\vec{AF}=\vec{BC}$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$\text{Area}(\triangle AEF)=\frac12\left|\vec{BD}\times\vec{BC}\right|=\text{Area}(\triangle BDC)$</a:t>
                </a:r>
                <a:r>
                  <a:rPr sz="2400" b="0">
                    <a:solidFill>
                      <a:srgbClr val="111827"/>
                    </a:solidFill>
                    <a:latin typeface="Arial"/>
                  </a:rPr>
                  <a:t>; no need to find </a:t>
                </a:r>
                <a:r>
                  <a:rPr lang="en-IN" sz="2400">
                    <a:solidFill>
                      <a:srgbClr val="111827"/>
                    </a:solidFill>
                    <a:latin typeface="Cambria Math" panose="02040503050406030204" pitchFamily="18" charset="0"/>
                  </a:rPr>
                  <a:t>$E$</a:t>
                </a:r>
                <a:r>
                  <a:rPr sz="2400" b="0">
                    <a:solidFill>
                      <a:srgbClr val="111827"/>
                    </a:solidFill>
                    <a:latin typeface="Arial"/>
                  </a:rPr>
                  <a:t> or </a:t>
                </a:r>
                <a:r>
                  <a:rPr lang="en-IN" sz="2400">
                    <a:solidFill>
                      <a:srgbClr val="111827"/>
                    </a:solidFill>
                    <a:latin typeface="Cambria Math" panose="02040503050406030204" pitchFamily="18" charset="0"/>
                  </a:rPr>
                  <a:t>$F$</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$\vec{BD}=(-2,0,-6)$</a:t>
                </a:r>
                <a:r>
                  <a:rPr sz="2400" b="0">
                    <a:solidFill>
                      <a:srgbClr val="111827"/>
                    </a:solidFill>
                    <a:latin typeface="Arial"/>
                  </a:rPr>
                  <a:t> and </a:t>
                </a:r>
                <a:r>
                  <a:rPr lang="en-IN" sz="2400">
                    <a:solidFill>
                      <a:srgbClr val="111827"/>
                    </a:solidFill>
                    <a:latin typeface="Cambria Math" panose="02040503050406030204" pitchFamily="18" charset="0"/>
                  </a:rPr>
                  <a:t>$\vec{BC}=(3,1,-1)$</a:t>
                </a:r>
                <a:r>
                  <a:rPr sz="2400" b="0">
                    <a:solidFill>
                      <a:srgbClr val="111827"/>
                    </a:solidFill>
                    <a:latin typeface="Arial"/>
                  </a:rPr>
                  <a:t>, so </a:t>
                </a:r>
                <a:r>
                  <a:rPr lang="en-IN" sz="2400">
                    <a:solidFill>
                      <a:srgbClr val="111827"/>
                    </a:solidFill>
                    <a:latin typeface="Cambria Math" panose="02040503050406030204" pitchFamily="18" charset="0"/>
                  </a:rPr>
                  <a:t>$\vec{BD}\times\vec{BC}=(6,-20,-2)$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$=\frac12\sqrt{36+400+4}=\frac12\sqrt{440}=\sqrt{110}$</a:t>
                </a:r>
                <a:r>
                  <a:rPr sz="2400" b="0">
                    <a:solidFill>
                      <a:srgbClr val="111827"/>
                    </a:solidFill>
                    <a:latin typeface="Arial"/>
                  </a:rPr>
                  <a:t>, so </a:t>
                </a:r>
                <a:r>
                  <a:rPr lang="en-IN" sz="2400">
                    <a:solidFill>
                      <a:srgbClr val="111827"/>
                    </a:solidFill>
                    <a:latin typeface="Cambria Math" panose="02040503050406030204" pitchFamily="18" charset="0"/>
                  </a:rPr>
                  <a:t>$S=110$</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110</m:t>
                    </m:r>
                  </m:oMath>
                </a14:m>
                <a:endParaRPr sz="2800">
                  <a:solidFill>
                    <a:srgbClr val="15803D"/>
                  </a:solidFill>
                </a:endParaRPr>
              </a:p>
            </p:txBody>
          </p:sp>
        </mc:Choice>
        <mc:Fallback>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$110$</a:t>
                </a:r>
                <a:endParaRPr sz="2800">
                  <a:solidFill>
                    <a:srgbClr val="15803D"/>
                  </a:solidFill>
                </a:endParaRPr>
              </a:p>
            </p:txBody>
          </p:sp>
        </mc:Fallback>
      </mc:AlternateContent>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𝑅</m:t>
                    </m:r>
                    <m:r>
                      <a:rPr lang="en-IN" sz="2400" i="1">
                        <a:solidFill>
                          <a:srgbClr val="111827"/>
                        </a:solidFill>
                        <a:latin typeface="Cambria Math" panose="02040503050406030204" pitchFamily="18" charset="0"/>
                      </a:rPr>
                      <m:t>𝑆</m:t>
                    </m:r>
                  </m:oMath>
                </a14:m>
                <a:r>
                  <a:rPr sz="2400" b="0">
                    <a:solidFill>
                      <a:srgbClr val="111827"/>
                    </a:solidFill>
                    <a:latin typeface="Arial"/>
                  </a:rPr>
                  <a:t> is a parallelogram (vertices in order) then </a:t>
                </a:r>
                <a14:m>
                  <m:oMath xmlns:m="http://schemas.openxmlformats.org/officeDocument/2006/math">
                    <m:r>
                      <a:rPr lang="en-IN" sz="2400" i="1">
                        <a:solidFill>
                          <a:srgbClr val="111827"/>
                        </a:solidFill>
                        <a:latin typeface="Cambria Math" panose="02040503050406030204" pitchFamily="18" charset="0"/>
                      </a:rPr>
                      <m:t>𝑆</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𝑆</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𝑅</m:t>
                        </m:r>
                      </m:e>
                    </m:acc>
                  </m:oMath>
                </a14:m>
                <a:r>
                  <a:rPr sz="2400" b="0">
                    <a:solidFill>
                      <a:srgbClr val="111827"/>
                    </a:solidFill>
                    <a:latin typeface="Arial"/>
                  </a:rPr>
                  <a:t> and the diagonals bisect each other: midpoint of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𝑅</m:t>
                    </m:r>
                  </m:oMath>
                </a14:m>
                <a:r>
                  <a:rPr sz="2400" b="0">
                    <a:solidFill>
                      <a:srgbClr val="111827"/>
                    </a:solidFill>
                    <a:latin typeface="Arial"/>
                  </a:rPr>
                  <a:t> = midpoint of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𝑆</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the triangle with vertices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𝑅</m:t>
                            </m:r>
                          </m:e>
                        </m:acc>
                      </m:e>
                    </m:d>
                  </m:oMath>
                </a14:m>
                <a:r>
                  <a:rPr sz="2400" b="0">
                    <a:solidFill>
                      <a:srgbClr val="111827"/>
                    </a:solidFill>
                    <a:latin typeface="Arial"/>
                  </a:rPr>
                  <a:t>, valid in 3D; it depends only on the two edge vectors, so a translate of a triangle has the same area.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Translation-invariance: 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𝐹</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e>
                    </m:acc>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𝐹</m:t>
                    </m:r>
                  </m:oMath>
                </a14:m>
                <a:r>
                  <a:rPr sz="2400" b="0">
                    <a:solidFill>
                      <a:srgbClr val="111827"/>
                    </a:solidFill>
                    <a:latin typeface="Arial"/>
                  </a:rPr>
                  <a:t> is a translate of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𝐶</m:t>
                    </m:r>
                  </m:oMath>
                </a14:m>
                <a:r>
                  <a:rPr sz="2400" b="0">
                    <a:solidFill>
                      <a:srgbClr val="111827"/>
                    </a:solidFill>
                    <a:latin typeface="Arial"/>
                  </a:rPr>
                  <a:t> (translate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hence congruent. Here both areas are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110</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$PQRS$</a:t>
                </a:r>
                <a:r>
                  <a:rPr sz="2400" b="0">
                    <a:solidFill>
                      <a:srgbClr val="111827"/>
                    </a:solidFill>
                    <a:latin typeface="Arial"/>
                  </a:rPr>
                  <a:t> is a parallelogram (vertices in order) then </a:t>
                </a:r>
                <a:r>
                  <a:rPr lang="en-IN" sz="2400">
                    <a:solidFill>
                      <a:srgbClr val="111827"/>
                    </a:solidFill>
                    <a:latin typeface="Cambria Math" panose="02040503050406030204" pitchFamily="18" charset="0"/>
                  </a:rPr>
                  <a:t>$S=P+R-Q$</a:t>
                </a:r>
                <a:r>
                  <a:rPr sz="2400" b="0">
                    <a:solidFill>
                      <a:srgbClr val="111827"/>
                    </a:solidFill>
                    <a:latin typeface="Arial"/>
                  </a:rPr>
                  <a:t>, </a:t>
                </a:r>
                <a:r>
                  <a:rPr lang="en-IN" sz="2400">
                    <a:solidFill>
                      <a:srgbClr val="111827"/>
                    </a:solidFill>
                    <a:latin typeface="Cambria Math" panose="02040503050406030204" pitchFamily="18" charset="0"/>
                  </a:rPr>
                  <a:t>$\vec{PS}=\vec{QR}$</a:t>
                </a:r>
                <a:r>
                  <a:rPr sz="2400" b="0">
                    <a:solidFill>
                      <a:srgbClr val="111827"/>
                    </a:solidFill>
                    <a:latin typeface="Arial"/>
                  </a:rPr>
                  <a:t> and the diagonals bisect each other: midpoint of </a:t>
                </a:r>
                <a:r>
                  <a:rPr lang="en-IN" sz="2400">
                    <a:solidFill>
                      <a:srgbClr val="111827"/>
                    </a:solidFill>
                    <a:latin typeface="Cambria Math" panose="02040503050406030204" pitchFamily="18" charset="0"/>
                  </a:rPr>
                  <a:t>$PR$</a:t>
                </a:r>
                <a:r>
                  <a:rPr sz="2400" b="0">
                    <a:solidFill>
                      <a:srgbClr val="111827"/>
                    </a:solidFill>
                    <a:latin typeface="Arial"/>
                  </a:rPr>
                  <a:t> = midpoint of </a:t>
                </a:r>
                <a:r>
                  <a:rPr lang="en-IN" sz="2400">
                    <a:solidFill>
                      <a:srgbClr val="111827"/>
                    </a:solidFill>
                    <a:latin typeface="Cambria Math" panose="02040503050406030204" pitchFamily="18" charset="0"/>
                  </a:rPr>
                  <a:t>$QS$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the triangle with vertices </a:t>
                </a:r>
                <a:r>
                  <a:rPr lang="en-IN" sz="2400">
                    <a:solidFill>
                      <a:srgbClr val="111827"/>
                    </a:solidFill>
                    <a:latin typeface="Cambria Math" panose="02040503050406030204" pitchFamily="18" charset="0"/>
                  </a:rPr>
                  <a:t>$P,Q,R$</a:t>
                </a:r>
                <a:r>
                  <a:rPr sz="2400" b="0">
                    <a:solidFill>
                      <a:srgbClr val="111827"/>
                    </a:solidFill>
                    <a:latin typeface="Arial"/>
                  </a:rPr>
                  <a:t> is </a:t>
                </a:r>
                <a:r>
                  <a:rPr lang="en-IN" sz="2400">
                    <a:solidFill>
                      <a:srgbClr val="111827"/>
                    </a:solidFill>
                    <a:latin typeface="Cambria Math" panose="02040503050406030204" pitchFamily="18" charset="0"/>
                  </a:rPr>
                  <a:t>$\frac12\left|\vec{PQ}\times\vec{PR}\right|$</a:t>
                </a:r>
                <a:r>
                  <a:rPr sz="2400" b="0">
                    <a:solidFill>
                      <a:srgbClr val="111827"/>
                    </a:solidFill>
                    <a:latin typeface="Arial"/>
                  </a:rPr>
                  <a:t>, valid in 3D; it depends only on the two edge vectors, so a translate of a triangle has the same area.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Translation-invariance: if </a:t>
                </a:r>
                <a:r>
                  <a:rPr lang="en-IN" sz="2400">
                    <a:solidFill>
                      <a:srgbClr val="111827"/>
                    </a:solidFill>
                    <a:latin typeface="Cambria Math" panose="02040503050406030204" pitchFamily="18" charset="0"/>
                  </a:rPr>
                  <a:t>$\vec{AE}=\vec{BD}$</a:t>
                </a:r>
                <a:r>
                  <a:rPr sz="2400" b="0">
                    <a:solidFill>
                      <a:srgbClr val="111827"/>
                    </a:solidFill>
                    <a:latin typeface="Arial"/>
                  </a:rPr>
                  <a:t> and </a:t>
                </a:r>
                <a:r>
                  <a:rPr lang="en-IN" sz="2400">
                    <a:solidFill>
                      <a:srgbClr val="111827"/>
                    </a:solidFill>
                    <a:latin typeface="Cambria Math" panose="02040503050406030204" pitchFamily="18" charset="0"/>
                  </a:rPr>
                  <a:t>$\vec{AF}=\vec{BC}$</a:t>
                </a:r>
                <a:r>
                  <a:rPr sz="2400" b="0">
                    <a:solidFill>
                      <a:srgbClr val="111827"/>
                    </a:solidFill>
                    <a:latin typeface="Arial"/>
                  </a:rPr>
                  <a:t>, then </a:t>
                </a:r>
                <a:r>
                  <a:rPr lang="en-IN" sz="2400">
                    <a:solidFill>
                      <a:srgbClr val="111827"/>
                    </a:solidFill>
                    <a:latin typeface="Cambria Math" panose="02040503050406030204" pitchFamily="18" charset="0"/>
                  </a:rPr>
                  <a:t>$\triangle AEF$</a:t>
                </a:r>
                <a:r>
                  <a:rPr sz="2400" b="0">
                    <a:solidFill>
                      <a:srgbClr val="111827"/>
                    </a:solidFill>
                    <a:latin typeface="Arial"/>
                  </a:rPr>
                  <a:t> is a translate of </a:t>
                </a:r>
                <a:r>
                  <a:rPr lang="en-IN" sz="2400">
                    <a:solidFill>
                      <a:srgbClr val="111827"/>
                    </a:solidFill>
                    <a:latin typeface="Cambria Math" panose="02040503050406030204" pitchFamily="18" charset="0"/>
                  </a:rPr>
                  <a:t>$\triangle BDC$</a:t>
                </a:r>
                <a:r>
                  <a:rPr sz="2400" b="0">
                    <a:solidFill>
                      <a:srgbClr val="111827"/>
                    </a:solidFill>
                    <a:latin typeface="Arial"/>
                  </a:rPr>
                  <a:t> (translate </a:t>
                </a:r>
                <a:r>
                  <a:rPr lang="en-IN" sz="2400">
                    <a:solidFill>
                      <a:srgbClr val="111827"/>
                    </a:solidFill>
                    <a:latin typeface="Cambria Math" panose="02040503050406030204" pitchFamily="18" charset="0"/>
                  </a:rPr>
                  <a:t>$B\to A$</a:t>
                </a:r>
                <a:r>
                  <a:rPr sz="2400" b="0">
                    <a:solidFill>
                      <a:srgbClr val="111827"/>
                    </a:solidFill>
                    <a:latin typeface="Arial"/>
                  </a:rPr>
                  <a:t>), hence congruent. Here both areas are </a:t>
                </a:r>
                <a:r>
                  <a:rPr lang="en-IN" sz="2400">
                    <a:solidFill>
                      <a:srgbClr val="111827"/>
                    </a:solidFill>
                    <a:latin typeface="Cambria Math" panose="02040503050406030204" pitchFamily="18" charset="0"/>
                  </a:rPr>
                  <a:t>$\sqrt{110}$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1178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volume of a regular tetrahedron of edge length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𝑉</m:t>
                    </m:r>
                  </m:oMath>
                </a14:m>
                <a:r>
                  <a:rPr sz="2400" b="0">
                    <a:solidFill>
                      <a:srgbClr val="111827"/>
                    </a:solidFill>
                    <a:latin typeface="Arial"/>
                  </a:rPr>
                  <a:t> and the shortest distance between any pair of opposite edges of the same regular tetrahedron is </a:t>
                </a:r>
                <a14:m>
                  <m:oMath xmlns:m="http://schemas.openxmlformats.org/officeDocument/2006/math">
                    <m:r>
                      <a:rPr lang="en-IN" sz="2400" i="1">
                        <a:solidFill>
                          <a:srgbClr val="111827"/>
                        </a:solidFill>
                        <a:latin typeface="Cambria Math" panose="02040503050406030204" pitchFamily="18" charset="0"/>
                      </a:rPr>
                      <m:t>𝑑</m:t>
                    </m:r>
                  </m:oMath>
                </a14:m>
                <a:r>
                  <a:rPr sz="2400" b="0">
                    <a:solidFill>
                      <a:srgbClr val="111827"/>
                    </a:solidFill>
                    <a:latin typeface="Arial"/>
                  </a:rPr>
                  <a:t>, then find the value of </a:t>
                </a: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𝑉</m:t>
                        </m:r>
                      </m:den>
                    </m:f>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11785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the volume of a regular tetrahedron of edge length </a:t>
                </a:r>
                <a:r>
                  <a:rPr lang="en-IN" sz="2400">
                    <a:solidFill>
                      <a:srgbClr val="111827"/>
                    </a:solidFill>
                    <a:latin typeface="Cambria Math" panose="02040503050406030204" pitchFamily="18" charset="0"/>
                  </a:rPr>
                  <a:t>$k$</a:t>
                </a:r>
                <a:r>
                  <a:rPr sz="2400" b="0">
                    <a:solidFill>
                      <a:srgbClr val="111827"/>
                    </a:solidFill>
                    <a:latin typeface="Arial"/>
                  </a:rPr>
                  <a:t> is </a:t>
                </a:r>
                <a:r>
                  <a:rPr lang="en-IN" sz="2400">
                    <a:solidFill>
                      <a:srgbClr val="111827"/>
                    </a:solidFill>
                    <a:latin typeface="Cambria Math" panose="02040503050406030204" pitchFamily="18" charset="0"/>
                  </a:rPr>
                  <a:t>$V$</a:t>
                </a:r>
                <a:r>
                  <a:rPr sz="2400" b="0">
                    <a:solidFill>
                      <a:srgbClr val="111827"/>
                    </a:solidFill>
                    <a:latin typeface="Arial"/>
                  </a:rPr>
                  <a:t> and the shortest distance between any pair of opposite edges of the same regular tetrahedron is </a:t>
                </a:r>
                <a:r>
                  <a:rPr lang="en-IN" sz="2400">
                    <a:solidFill>
                      <a:srgbClr val="111827"/>
                    </a:solidFill>
                    <a:latin typeface="Cambria Math" panose="02040503050406030204" pitchFamily="18" charset="0"/>
                  </a:rPr>
                  <a:t>$d$</a:t>
                </a:r>
                <a:r>
                  <a:rPr sz="2400" b="0">
                    <a:solidFill>
                      <a:srgbClr val="111827"/>
                    </a:solidFill>
                    <a:latin typeface="Arial"/>
                  </a:rPr>
                  <a:t>, then find the value of </a:t>
                </a:r>
                <a:r>
                  <a:rPr lang="en-IN" sz="2400">
                    <a:solidFill>
                      <a:srgbClr val="111827"/>
                    </a:solidFill>
                    <a:latin typeface="Cambria Math" panose="02040503050406030204" pitchFamily="18" charset="0"/>
                  </a:rPr>
                  <a:t>$\frac{d^3}{V}$</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626611"/>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Volume of a tetrahedron (scalar triple product / Gram determinant) and shortest distance between skew lines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Both </a:t>
                </a:r>
                <a14:m>
                  <m:oMath xmlns:m="http://schemas.openxmlformats.org/officeDocument/2006/math">
                    <m:r>
                      <a:rPr lang="en-IN" sz="2400" i="1">
                        <a:solidFill>
                          <a:srgbClr val="78350F"/>
                        </a:solidFill>
                        <a:latin typeface="Cambria Math" panose="02040503050406030204" pitchFamily="18" charset="0"/>
                      </a:rPr>
                      <m:t>𝑉</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𝑑</m:t>
                    </m:r>
                  </m:oMath>
                </a14:m>
                <a:r>
                  <a:rPr sz="2400" b="0">
                    <a:solidFill>
                      <a:srgbClr val="78350F"/>
                    </a:solidFill>
                    <a:latin typeface="Arial"/>
                  </a:rPr>
                  <a:t> come from the three edge vectors at one vertex, which have equal lengths </a:t>
                </a:r>
                <a14:m>
                  <m:oMath xmlns:m="http://schemas.openxmlformats.org/officeDocument/2006/math">
                    <m:r>
                      <a:rPr lang="en-IN" sz="2400" i="1">
                        <a:solidFill>
                          <a:srgbClr val="78350F"/>
                        </a:solidFill>
                        <a:latin typeface="Cambria Math" panose="02040503050406030204" pitchFamily="18" charset="0"/>
                      </a:rPr>
                      <m:t>𝑘</m:t>
                    </m:r>
                  </m:oMath>
                </a14:m>
                <a:r>
                  <a:rPr sz="2400" b="0">
                    <a:solidFill>
                      <a:srgbClr val="78350F"/>
                    </a:solidFill>
                    <a:latin typeface="Arial"/>
                  </a:rPr>
                  <a:t> and mutual angles </a:t>
                </a:r>
                <a14:m>
                  <m:oMath xmlns:m="http://schemas.openxmlformats.org/officeDocument/2006/math">
                    <m:sSup>
                      <m:e>
                        <m:r>
                          <a:rPr lang="en-IN" sz="2400" i="1">
                            <a:solidFill>
                              <a:srgbClr val="78350F"/>
                            </a:solidFill>
                            <a:latin typeface="Cambria Math" panose="02040503050406030204" pitchFamily="18" charset="0"/>
                          </a:rPr>
                          <m:t>60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Both </a:t>
                </a:r>
                <a:r>
                  <a:rPr lang="en-IN" sz="2400">
                    <a:solidFill>
                      <a:srgbClr val="78350F"/>
                    </a:solidFill>
                    <a:latin typeface="Cambria Math" panose="02040503050406030204" pitchFamily="18" charset="0"/>
                  </a:rPr>
                  <a:t>$V$</a:t>
                </a:r>
                <a:r>
                  <a:rPr sz="2400" b="0">
                    <a:solidFill>
                      <a:srgbClr val="78350F"/>
                    </a:solidFill>
                    <a:latin typeface="Arial"/>
                  </a:rPr>
                  <a:t> and </a:t>
                </a:r>
                <a:r>
                  <a:rPr lang="en-IN" sz="2400">
                    <a:solidFill>
                      <a:srgbClr val="78350F"/>
                    </a:solidFill>
                    <a:latin typeface="Cambria Math" panose="02040503050406030204" pitchFamily="18" charset="0"/>
                  </a:rPr>
                  <a:t>$d$</a:t>
                </a:r>
                <a:r>
                  <a:rPr sz="2400" b="0">
                    <a:solidFill>
                      <a:srgbClr val="78350F"/>
                    </a:solidFill>
                    <a:latin typeface="Arial"/>
                  </a:rPr>
                  <a:t> come from the three edge vectors at one vertex, which have equal lengths </a:t>
                </a:r>
                <a:r>
                  <a:rPr lang="en-IN" sz="2400">
                    <a:solidFill>
                      <a:srgbClr val="78350F"/>
                    </a:solidFill>
                    <a:latin typeface="Cambria Math" panose="02040503050406030204" pitchFamily="18" charset="0"/>
                  </a:rPr>
                  <a:t>$k$</a:t>
                </a:r>
                <a:r>
                  <a:rPr sz="2400" b="0">
                    <a:solidFill>
                      <a:srgbClr val="78350F"/>
                    </a:solidFill>
                    <a:latin typeface="Arial"/>
                  </a:rPr>
                  <a:t> and mutual angles </a:t>
                </a:r>
                <a:r>
                  <a:rPr lang="en-IN" sz="2400">
                    <a:solidFill>
                      <a:srgbClr val="78350F"/>
                    </a:solidFill>
                    <a:latin typeface="Cambria Math" panose="02040503050406030204" pitchFamily="18" charset="0"/>
                  </a:rPr>
                  <a:t>$60^\circ$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vertex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and edges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with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and all angles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mr>
                          <m:m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mr>
                          <m:m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mr>
                        </m:m>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6</m:t>
                        </m:r>
                      </m:sup>
                    </m:sSup>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mr>
                          <m:m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e>
                              <m:r>
                                <a:rPr lang="en-IN" sz="2400" i="1">
                                  <a:solidFill>
                                    <a:srgbClr val="111827"/>
                                  </a:solidFill>
                                  <a:latin typeface="Cambria Math" panose="02040503050406030204" pitchFamily="18" charset="0"/>
                                </a:rPr>
                                <m:t>1</m:t>
                              </m:r>
                            </m:e>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mr>
                          <m:m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e>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6</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vertex </a:t>
                </a:r>
                <a:r>
                  <a:rPr lang="en-IN" sz="2400">
                    <a:solidFill>
                      <a:srgbClr val="111827"/>
                    </a:solidFill>
                    <a:latin typeface="Cambria Math" panose="02040503050406030204" pitchFamily="18" charset="0"/>
                  </a:rPr>
                  <a:t>$O$</a:t>
                </a:r>
                <a:r>
                  <a:rPr sz="2400" b="0">
                    <a:solidFill>
                      <a:srgbClr val="111827"/>
                    </a:solidFill>
                    <a:latin typeface="Arial"/>
                  </a:rPr>
                  <a:t> and edges </a:t>
                </a:r>
                <a:r>
                  <a:rPr lang="en-IN" sz="2400">
                    <a:solidFill>
                      <a:srgbClr val="111827"/>
                    </a:solidFill>
                    <a:latin typeface="Cambria Math" panose="02040503050406030204" pitchFamily="18" charset="0"/>
                  </a:rPr>
                  <a:t>$\vec{OA}=\vec a$</a:t>
                </a:r>
                <a:r>
                  <a:rPr sz="2400" b="0">
                    <a:solidFill>
                      <a:srgbClr val="111827"/>
                    </a:solidFill>
                    <a:latin typeface="Arial"/>
                  </a:rPr>
                  <a:t>, </a:t>
                </a:r>
                <a:r>
                  <a:rPr lang="en-IN" sz="2400">
                    <a:solidFill>
                      <a:srgbClr val="111827"/>
                    </a:solidFill>
                    <a:latin typeface="Cambria Math" panose="02040503050406030204" pitchFamily="18" charset="0"/>
                  </a:rPr>
                  <a:t>$\vec{OB}=\vec b$</a:t>
                </a:r>
                <a:r>
                  <a:rPr sz="2400" b="0">
                    <a:solidFill>
                      <a:srgbClr val="111827"/>
                    </a:solidFill>
                    <a:latin typeface="Arial"/>
                  </a:rPr>
                  <a:t>, </a:t>
                </a:r>
                <a:r>
                  <a:rPr lang="en-IN" sz="2400">
                    <a:solidFill>
                      <a:srgbClr val="111827"/>
                    </a:solidFill>
                    <a:latin typeface="Cambria Math" panose="02040503050406030204" pitchFamily="18" charset="0"/>
                  </a:rPr>
                  <a:t>$\vec{OC}=\vec c$</a:t>
                </a:r>
                <a:r>
                  <a:rPr sz="2400" b="0">
                    <a:solidFill>
                      <a:srgbClr val="111827"/>
                    </a:solidFill>
                    <a:latin typeface="Arial"/>
                  </a:rPr>
                  <a:t> with </a:t>
                </a:r>
                <a:r>
                  <a:rPr lang="en-IN" sz="2400">
                    <a:solidFill>
                      <a:srgbClr val="111827"/>
                    </a:solidFill>
                    <a:latin typeface="Cambria Math" panose="02040503050406030204" pitchFamily="18" charset="0"/>
                  </a:rPr>
                  <a:t>$\left|\vec a\right|=\left|\vec b\right|=\left|\vec c\right|=k$</a:t>
                </a:r>
                <a:r>
                  <a:rPr sz="2400" b="0">
                    <a:solidFill>
                      <a:srgbClr val="111827"/>
                    </a:solidFill>
                    <a:latin typeface="Arial"/>
                  </a:rPr>
                  <a:t> and all angles </a:t>
                </a:r>
                <a:r>
                  <a:rPr lang="en-IN" sz="2400">
                    <a:solidFill>
                      <a:srgbClr val="111827"/>
                    </a:solidFill>
                    <a:latin typeface="Cambria Math" panose="02040503050406030204" pitchFamily="18" charset="0"/>
                  </a:rPr>
                  <a:t>$60^\circ$</a:t>
                </a:r>
                <a:r>
                  <a:rPr sz="2400" b="0">
                    <a:solidFill>
                      <a:srgbClr val="111827"/>
                    </a:solidFill>
                    <a:latin typeface="Arial"/>
                  </a:rPr>
                  <a:t>, so </a:t>
                </a:r>
                <a:r>
                  <a:rPr lang="en-IN" sz="2400">
                    <a:solidFill>
                      <a:srgbClr val="111827"/>
                    </a:solidFill>
                    <a:latin typeface="Cambria Math" panose="02040503050406030204" pitchFamily="18" charset="0"/>
                  </a:rPr>
                  <a:t>$\vec a\cdot\vec b=\vec b\cdot\vec c=\vec c\cdot\vec a=\frac{k^2}{2}$</a:t>
                </a:r>
                <a:r>
                  <a:rPr sz="2400" b="0">
                    <a:solidFill>
                      <a:srgbClr val="111827"/>
                    </a:solidFill>
                    <a:latin typeface="Arial"/>
                  </a:rPr>
                  <a:t>; </a:t>
                </a:r>
                <a:r>
                  <a:rPr lang="en-IN" sz="2400">
                    <a:solidFill>
                      <a:srgbClr val="111827"/>
                    </a:solidFill>
                    <a:latin typeface="Cambria Math" panose="02040503050406030204" pitchFamily="18" charset="0"/>
                  </a:rPr>
                  <a:t>$V=\frac16\left|[\vec a\ \vec b\ \vec c]\right|$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 \vec b\ \vec c]^2=\left|\begin{matrix}\vec a\cdot\vec a&amp;\vec a\cdot\vec b&amp;\vec a\cdot\vec c\\ \vec b\cdot\vec a&amp;\vec b\cdot\vec b&amp;\vec b\cdot\vec c\\ \vec c\cdot\vec a&amp;\vec c\cdot\vec b&amp;\vec c\cdot\vec c\end{matrix}\right|=k^6\left|\begin{matrix}1&amp;\frac12&amp;\frac12\\ \frac12&amp;1&amp;\frac12\\ \frac12&amp;\frac12&amp;1\end{matrix}\right|=\frac{k^6}{2}$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3</m:t>
                            </m:r>
                          </m:sup>
                        </m:sSup>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Shortest distance between opposite edges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e>
                            </m:d>
                          </m:e>
                        </m:d>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e>
                        </m: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numerator reduces to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3</m:t>
                            </m:r>
                          </m:sup>
                        </m:sSup>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(the other terms contain a repeated vector).</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here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4</m:t>
                        </m:r>
                      </m:sup>
                    </m:sSup>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$\left|[\vec a\ \vec b\ \vec c]\right|=\frac{k^3}{\sqrt2}$</a:t>
                </a:r>
                <a:r>
                  <a:rPr sz="2400" b="0">
                    <a:solidFill>
                      <a:srgbClr val="111827"/>
                    </a:solidFill>
                    <a:latin typeface="Arial"/>
                  </a:rPr>
                  <a:t> and </a:t>
                </a:r>
                <a:r>
                  <a:rPr lang="en-IN" sz="2400">
                    <a:solidFill>
                      <a:srgbClr val="111827"/>
                    </a:solidFill>
                    <a:latin typeface="Cambria Math" panose="02040503050406030204" pitchFamily="18" charset="0"/>
                  </a:rPr>
                  <a:t>$V=\frac{k^3}{6\sqrt2}$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Shortest distance between opposite edges </a:t>
                </a:r>
                <a:r>
                  <a:rPr lang="en-IN" sz="2400">
                    <a:solidFill>
                      <a:srgbClr val="111827"/>
                    </a:solidFill>
                    <a:latin typeface="Cambria Math" panose="02040503050406030204" pitchFamily="18" charset="0"/>
                  </a:rPr>
                  <a:t>$OA$</a:t>
                </a:r>
                <a:r>
                  <a:rPr sz="2400" b="0">
                    <a:solidFill>
                      <a:srgbClr val="111827"/>
                    </a:solidFill>
                    <a:latin typeface="Arial"/>
                  </a:rPr>
                  <a:t> and </a:t>
                </a:r>
                <a:r>
                  <a:rPr lang="en-IN" sz="2400">
                    <a:solidFill>
                      <a:srgbClr val="111827"/>
                    </a:solidFill>
                    <a:latin typeface="Cambria Math" panose="02040503050406030204" pitchFamily="18" charset="0"/>
                  </a:rPr>
                  <a:t>$BC$</a:t>
                </a:r>
                <a:r>
                  <a:rPr sz="2400" b="0">
                    <a:solidFill>
                      <a:srgbClr val="111827"/>
                    </a:solidFill>
                    <a:latin typeface="Arial"/>
                  </a:rPr>
                  <a:t>: </a:t>
                </a:r>
                <a:r>
                  <a:rPr lang="en-IN" sz="2400">
                    <a:solidFill>
                      <a:srgbClr val="111827"/>
                    </a:solidFill>
                    <a:latin typeface="Cambria Math" panose="02040503050406030204" pitchFamily="18" charset="0"/>
                  </a:rPr>
                  <a:t>$d=\frac{\left|(\vec b-\vec a)\cdot\left(\vec a\times(\vec c-\vec b)\right)\right|}{\left|\vec a\times(\vec c-\vec b)\right|}$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numerator reduces to </a:t>
                </a:r>
                <a:r>
                  <a:rPr lang="en-IN" sz="2400">
                    <a:solidFill>
                      <a:srgbClr val="111827"/>
                    </a:solidFill>
                    <a:latin typeface="Cambria Math" panose="02040503050406030204" pitchFamily="18" charset="0"/>
                  </a:rPr>
                  <a:t>$\left|\vec b\cdot(\vec a\times\vec c)\right|=\left|[\vec a\ \vec c\ \vec b]\right|=\frac{k^3}{\sqrt2}$</a:t>
                </a:r>
                <a:r>
                  <a:rPr sz="2400" b="0">
                    <a:solidFill>
                      <a:srgbClr val="111827"/>
                    </a:solidFill>
                    <a:latin typeface="Arial"/>
                  </a:rPr>
                  <a:t> (the other terms contain a repeated vector).</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$\left|\vec a\times(\vec c-\vec b)\right|^2=\left|\vec a\right|^2\left|\vec c-\vec b\right|^2-\left(\vec a\cdot(\vec c-\vec b)\right)^2$</a:t>
                </a:r>
                <a:r>
                  <a:rPr sz="2400" b="0">
                    <a:solidFill>
                      <a:srgbClr val="111827"/>
                    </a:solidFill>
                    <a:latin typeface="Arial"/>
                  </a:rPr>
                  <a:t>; here </a:t>
                </a:r>
                <a:r>
                  <a:rPr lang="en-IN" sz="2400">
                    <a:solidFill>
                      <a:srgbClr val="111827"/>
                    </a:solidFill>
                    <a:latin typeface="Cambria Math" panose="02040503050406030204" pitchFamily="18" charset="0"/>
                  </a:rPr>
                  <a:t>$\left|\vec c-\vec b\right|^2=k^2+k^2-2\cdot\frac{k^2}{2}=k^2$</a:t>
                </a:r>
                <a:r>
                  <a:rPr sz="2400" b="0">
                    <a:solidFill>
                      <a:srgbClr val="111827"/>
                    </a:solidFill>
                    <a:latin typeface="Arial"/>
                  </a:rPr>
                  <a:t> and </a:t>
                </a:r>
                <a:r>
                  <a:rPr lang="en-IN" sz="2400">
                    <a:solidFill>
                      <a:srgbClr val="111827"/>
                    </a:solidFill>
                    <a:latin typeface="Cambria Math" panose="02040503050406030204" pitchFamily="18" charset="0"/>
                  </a:rPr>
                  <a:t>$\vec a\cdot(\vec c-\vec b)=\frac{k^2}2-\frac{k^2}2=0$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$\left|\vec a\times(\vec c-\vec b)\right|^2=k^4$</a:t>
                </a:r>
                <a:r>
                  <a:rPr sz="2400" b="0">
                    <a:solidFill>
                      <a:srgbClr val="111827"/>
                    </a:solidFill>
                    <a:latin typeface="Arial"/>
                  </a:rPr>
                  <a:t> and </a:t>
                </a:r>
                <a:r>
                  <a:rPr lang="en-IN" sz="2400">
                    <a:solidFill>
                      <a:srgbClr val="111827"/>
                    </a:solidFill>
                    <a:latin typeface="Cambria Math" panose="02040503050406030204" pitchFamily="18" charset="0"/>
                  </a:rPr>
                  <a:t>$\left|\vec a\times(\vec c-\vec b)\right|=k^2$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$d=\frac{k^3/\sqrt2}{k^2}=\frac{k}{\sqrt2}$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𝑉</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num>
                      <m:den>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$\frac{d^3}{V}=\frac{k^3/(2\sqrt2)}{k^3/(6\sqrt2)}=\frac{6\sqrt2}{2\sqrt2}=3$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3</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$3$</a:t>
                </a:r>
                <a:endParaRPr sz="2800">
                  <a:solidFill>
                    <a:srgbClr val="15803D"/>
                  </a:solidFill>
                </a:endParaRPr>
              </a:p>
            </p:txBody>
          </p:sp>
        </mc:Fallback>
      </mc:AlternateContent>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Inscribe the regular tetrahedron in a cube of side </a:t>
                </a:r>
                <a14:m>
                  <m:oMath xmlns:m="http://schemas.openxmlformats.org/officeDocument/2006/math">
                    <m:r>
                      <a:rPr lang="en-IN" sz="2400" i="1">
                        <a:solidFill>
                          <a:srgbClr val="78350F"/>
                        </a:solidFill>
                        <a:latin typeface="Cambria Math" panose="02040503050406030204" pitchFamily="18" charset="0"/>
                      </a:rPr>
                      <m:t>𝑠</m:t>
                    </m:r>
                  </m:oMath>
                </a14:m>
                <a:r>
                  <a:rPr sz="2400" b="0">
                    <a:solidFill>
                      <a:srgbClr val="78350F"/>
                    </a:solidFill>
                    <a:latin typeface="Arial"/>
                  </a:rPr>
                  <a:t>: its edges are face diagonals (</a:t>
                </a:r>
                <a14:m>
                  <m:oMath xmlns:m="http://schemas.openxmlformats.org/officeDocument/2006/math">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𝑠</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2</m:t>
                        </m:r>
                      </m:e>
                    </m:rad>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𝑉</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𝑠</m:t>
                            </m:r>
                          </m:e>
                          <m:sup>
                            <m:r>
                              <a:rPr lang="en-IN" sz="2400" i="1">
                                <a:solidFill>
                                  <a:srgbClr val="78350F"/>
                                </a:solidFill>
                                <a:latin typeface="Cambria Math" panose="02040503050406030204" pitchFamily="18" charset="0"/>
                              </a:rPr>
                              <m:t>3</m:t>
                            </m:r>
                          </m:sup>
                        </m:sSup>
                      </m:num>
                      <m:den>
                        <m:r>
                          <a:rPr lang="en-IN" sz="2400" i="1">
                            <a:solidFill>
                              <a:srgbClr val="78350F"/>
                            </a:solidFill>
                            <a:latin typeface="Cambria Math" panose="02040503050406030204" pitchFamily="18" charset="0"/>
                          </a:rPr>
                          <m:t>3</m:t>
                        </m:r>
                      </m:den>
                    </m:f>
                  </m:oMath>
                </a14:m>
                <a:r>
                  <a:rPr sz="2400" b="0">
                    <a:solidFill>
                      <a:srgbClr val="78350F"/>
                    </a:solidFill>
                    <a:latin typeface="Arial"/>
                  </a:rPr>
                  <a:t> and opposite edges lie on opposite faces, so </a:t>
                </a:r>
                <a14:m>
                  <m:oMath xmlns:m="http://schemas.openxmlformats.org/officeDocument/2006/math">
                    <m:r>
                      <a:rPr lang="en-IN" sz="2400" i="1">
                        <a:solidFill>
                          <a:srgbClr val="78350F"/>
                        </a:solidFill>
                        <a:latin typeface="Cambria Math" panose="02040503050406030204" pitchFamily="18" charset="0"/>
                      </a:rPr>
                      <m:t>𝑑</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𝑠</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Inscribe the regular tetrahedron in a cube of side </a:t>
                </a:r>
                <a:r>
                  <a:rPr lang="en-IN" sz="2400">
                    <a:solidFill>
                      <a:srgbClr val="78350F"/>
                    </a:solidFill>
                    <a:latin typeface="Cambria Math" panose="02040503050406030204" pitchFamily="18" charset="0"/>
                  </a:rPr>
                  <a:t>$s$</a:t>
                </a:r>
                <a:r>
                  <a:rPr sz="2400" b="0">
                    <a:solidFill>
                      <a:srgbClr val="78350F"/>
                    </a:solidFill>
                    <a:latin typeface="Arial"/>
                  </a:rPr>
                  <a:t>: its edges are face diagonals (</a:t>
                </a:r>
                <a:r>
                  <a:rPr lang="en-IN" sz="2400">
                    <a:solidFill>
                      <a:srgbClr val="78350F"/>
                    </a:solidFill>
                    <a:latin typeface="Cambria Math" panose="02040503050406030204" pitchFamily="18" charset="0"/>
                  </a:rPr>
                  <a:t>$k=s\sqrt2$</a:t>
                </a:r>
                <a:r>
                  <a:rPr sz="2400" b="0">
                    <a:solidFill>
                      <a:srgbClr val="78350F"/>
                    </a:solidFill>
                    <a:latin typeface="Arial"/>
                  </a:rPr>
                  <a:t>), </a:t>
                </a:r>
                <a:r>
                  <a:rPr lang="en-IN" sz="2400">
                    <a:solidFill>
                      <a:srgbClr val="78350F"/>
                    </a:solidFill>
                    <a:latin typeface="Cambria Math" panose="02040503050406030204" pitchFamily="18" charset="0"/>
                  </a:rPr>
                  <a:t>$V=\frac{s^3}{3}$</a:t>
                </a:r>
                <a:r>
                  <a:rPr sz="2400" b="0">
                    <a:solidFill>
                      <a:srgbClr val="78350F"/>
                    </a:solidFill>
                    <a:latin typeface="Arial"/>
                  </a:rPr>
                  <a:t> and opposite edges lie on opposite faces, so </a:t>
                </a:r>
                <a:r>
                  <a:rPr lang="en-IN" sz="2400">
                    <a:solidFill>
                      <a:srgbClr val="78350F"/>
                    </a:solidFill>
                    <a:latin typeface="Cambria Math" panose="02040503050406030204" pitchFamily="18" charset="0"/>
                  </a:rPr>
                  <a:t>$d=s$</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the cube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and the tetrahedron with vertices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all six edges are face diagonals of length </a:t>
                </a:r>
                <a14:m>
                  <m:oMath xmlns:m="http://schemas.openxmlformats.org/officeDocument/2006/math">
                    <m:r>
                      <a:rPr lang="en-IN" sz="2400" i="1">
                        <a:solidFill>
                          <a:srgbClr val="111827"/>
                        </a:solidFill>
                        <a:latin typeface="Cambria Math" panose="02040503050406030204" pitchFamily="18" charset="0"/>
                      </a:rPr>
                      <m:t>𝑠</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Volume: the cube minus four corner pyramids, each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6</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the cube </a:t>
                </a:r>
                <a:r>
                  <a:rPr lang="en-IN" sz="2400">
                    <a:solidFill>
                      <a:srgbClr val="111827"/>
                    </a:solidFill>
                    <a:latin typeface="Cambria Math" panose="02040503050406030204" pitchFamily="18" charset="0"/>
                  </a:rPr>
                  <a:t>$[0,s]^3$</a:t>
                </a:r>
                <a:r>
                  <a:rPr sz="2400" b="0">
                    <a:solidFill>
                      <a:srgbClr val="111827"/>
                    </a:solidFill>
                    <a:latin typeface="Arial"/>
                  </a:rPr>
                  <a:t> and the tetrahedron with vertices </a:t>
                </a:r>
                <a:r>
                  <a:rPr lang="en-IN" sz="2400">
                    <a:solidFill>
                      <a:srgbClr val="111827"/>
                    </a:solidFill>
                    <a:latin typeface="Cambria Math" panose="02040503050406030204" pitchFamily="18" charset="0"/>
                  </a:rPr>
                  <a:t>$(0,0,0)$</a:t>
                </a:r>
                <a:r>
                  <a:rPr sz="2400" b="0">
                    <a:solidFill>
                      <a:srgbClr val="111827"/>
                    </a:solidFill>
                    <a:latin typeface="Arial"/>
                  </a:rPr>
                  <a:t>, </a:t>
                </a:r>
                <a:r>
                  <a:rPr lang="en-IN" sz="2400">
                    <a:solidFill>
                      <a:srgbClr val="111827"/>
                    </a:solidFill>
                    <a:latin typeface="Cambria Math" panose="02040503050406030204" pitchFamily="18" charset="0"/>
                  </a:rPr>
                  <a:t>$(s,s,0)$</a:t>
                </a:r>
                <a:r>
                  <a:rPr sz="2400" b="0">
                    <a:solidFill>
                      <a:srgbClr val="111827"/>
                    </a:solidFill>
                    <a:latin typeface="Arial"/>
                  </a:rPr>
                  <a:t>, </a:t>
                </a:r>
                <a:r>
                  <a:rPr lang="en-IN" sz="2400">
                    <a:solidFill>
                      <a:srgbClr val="111827"/>
                    </a:solidFill>
                    <a:latin typeface="Cambria Math" panose="02040503050406030204" pitchFamily="18" charset="0"/>
                  </a:rPr>
                  <a:t>$(s,0,s)$</a:t>
                </a:r>
                <a:r>
                  <a:rPr sz="2400" b="0">
                    <a:solidFill>
                      <a:srgbClr val="111827"/>
                    </a:solidFill>
                    <a:latin typeface="Arial"/>
                  </a:rPr>
                  <a:t>, </a:t>
                </a:r>
                <a:r>
                  <a:rPr lang="en-IN" sz="2400">
                    <a:solidFill>
                      <a:srgbClr val="111827"/>
                    </a:solidFill>
                    <a:latin typeface="Cambria Math" panose="02040503050406030204" pitchFamily="18" charset="0"/>
                  </a:rPr>
                  <a:t>$(0,s,s)$</a:t>
                </a:r>
                <a:r>
                  <a:rPr sz="2400" b="0">
                    <a:solidFill>
                      <a:srgbClr val="111827"/>
                    </a:solidFill>
                    <a:latin typeface="Arial"/>
                  </a:rPr>
                  <a:t>; all six edges are face diagonals of length </a:t>
                </a:r>
                <a:r>
                  <a:rPr lang="en-IN" sz="2400">
                    <a:solidFill>
                      <a:srgbClr val="111827"/>
                    </a:solidFill>
                    <a:latin typeface="Cambria Math" panose="02040503050406030204" pitchFamily="18" charset="0"/>
                  </a:rPr>
                  <a:t>$s\sqrt2=k$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Volume: the cube minus four corner pyramids, each </a:t>
                </a:r>
                <a:r>
                  <a:rPr lang="en-IN" sz="2400">
                    <a:solidFill>
                      <a:srgbClr val="111827"/>
                    </a:solidFill>
                    <a:latin typeface="Cambria Math" panose="02040503050406030204" pitchFamily="18" charset="0"/>
                  </a:rPr>
                  <a:t>$\frac13\cdot\frac{s^2}{2}\cdot s=\frac{s^3}{6}$</a:t>
                </a:r>
                <a:r>
                  <a:rPr sz="2400" b="0">
                    <a:solidFill>
                      <a:srgbClr val="111827"/>
                    </a:solidFill>
                    <a:latin typeface="Arial"/>
                  </a:rPr>
                  <a:t>, so </a:t>
                </a:r>
                <a:r>
                  <a:rPr lang="en-IN" sz="2400">
                    <a:solidFill>
                      <a:srgbClr val="111827"/>
                    </a:solidFill>
                    <a:latin typeface="Cambria Math" panose="02040503050406030204" pitchFamily="18" charset="0"/>
                  </a:rPr>
                  <a:t>$V=s^3-\frac{4s^3}{6}=\frac{s^3}{3}$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Opposite edges, such 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the plane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in the plane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 lie in parallel faces and are perpendicular in projection, so the shortest distance between them is the distance between the planes: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𝑑</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𝑉</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3</m:t>
                            </m:r>
                          </m:sup>
                        </m:sSup>
                      </m:num>
                      <m:den>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(Check: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as in the first method.)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Opposite edges, such as </a:t>
                </a:r>
                <a:r>
                  <a:rPr lang="en-IN" sz="2400">
                    <a:solidFill>
                      <a:srgbClr val="111827"/>
                    </a:solidFill>
                    <a:latin typeface="Cambria Math" panose="02040503050406030204" pitchFamily="18" charset="0"/>
                  </a:rPr>
                  <a:t>$(0,0,0)\!-\!(s,s,0)$</a:t>
                </a:r>
                <a:r>
                  <a:rPr sz="2400" b="0">
                    <a:solidFill>
                      <a:srgbClr val="111827"/>
                    </a:solidFill>
                    <a:latin typeface="Arial"/>
                  </a:rPr>
                  <a:t> in the plane </a:t>
                </a:r>
                <a:r>
                  <a:rPr lang="en-IN" sz="2400">
                    <a:solidFill>
                      <a:srgbClr val="111827"/>
                    </a:solidFill>
                    <a:latin typeface="Cambria Math" panose="02040503050406030204" pitchFamily="18" charset="0"/>
                  </a:rPr>
                  <a:t>$z=0$</a:t>
                </a:r>
                <a:r>
                  <a:rPr sz="2400" b="0">
                    <a:solidFill>
                      <a:srgbClr val="111827"/>
                    </a:solidFill>
                    <a:latin typeface="Arial"/>
                  </a:rPr>
                  <a:t> and </a:t>
                </a:r>
                <a:r>
                  <a:rPr lang="en-IN" sz="2400">
                    <a:solidFill>
                      <a:srgbClr val="111827"/>
                    </a:solidFill>
                    <a:latin typeface="Cambria Math" panose="02040503050406030204" pitchFamily="18" charset="0"/>
                  </a:rPr>
                  <a:t>$(s,0,s)\!-\!(0,s,s)$</a:t>
                </a:r>
                <a:r>
                  <a:rPr sz="2400" b="0">
                    <a:solidFill>
                      <a:srgbClr val="111827"/>
                    </a:solidFill>
                    <a:latin typeface="Arial"/>
                  </a:rPr>
                  <a:t> in the plane </a:t>
                </a:r>
                <a:r>
                  <a:rPr lang="en-IN" sz="2400">
                    <a:solidFill>
                      <a:srgbClr val="111827"/>
                    </a:solidFill>
                    <a:latin typeface="Cambria Math" panose="02040503050406030204" pitchFamily="18" charset="0"/>
                  </a:rPr>
                  <a:t>$z=s$</a:t>
                </a:r>
                <a:r>
                  <a:rPr sz="2400" b="0">
                    <a:solidFill>
                      <a:srgbClr val="111827"/>
                    </a:solidFill>
                    <a:latin typeface="Arial"/>
                  </a:rPr>
                  <a:t>, lie in parallel faces and are perpendicular in projection, so the shortest distance between them is the distance between the planes: </a:t>
                </a:r>
                <a:r>
                  <a:rPr lang="en-IN" sz="2400">
                    <a:solidFill>
                      <a:srgbClr val="111827"/>
                    </a:solidFill>
                    <a:latin typeface="Cambria Math" panose="02040503050406030204" pitchFamily="18" charset="0"/>
                  </a:rPr>
                  <a:t>$d=s$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$\frac{d^3}{V}=\frac{s^3}{s^3/3}=3$</a:t>
                </a:r>
                <a:r>
                  <a:rPr sz="2400" b="0">
                    <a:solidFill>
                      <a:srgbClr val="111827"/>
                    </a:solidFill>
                    <a:latin typeface="Arial"/>
                  </a:rPr>
                  <a:t>. (Check: </a:t>
                </a:r>
                <a:r>
                  <a:rPr lang="en-IN" sz="2400">
                    <a:solidFill>
                      <a:srgbClr val="111827"/>
                    </a:solidFill>
                    <a:latin typeface="Cambria Math" panose="02040503050406030204" pitchFamily="18" charset="0"/>
                  </a:rPr>
                  <a:t>$d=s=\frac{k}{\sqrt2}$</a:t>
                </a:r>
                <a:r>
                  <a:rPr sz="2400" b="0">
                    <a:solidFill>
                      <a:srgbClr val="111827"/>
                    </a:solidFill>
                    <a:latin typeface="Arial"/>
                  </a:rPr>
                  <a:t> and </a:t>
                </a:r>
                <a:r>
                  <a:rPr lang="en-IN" sz="2400">
                    <a:solidFill>
                      <a:srgbClr val="111827"/>
                    </a:solidFill>
                    <a:latin typeface="Cambria Math" panose="02040503050406030204" pitchFamily="18" charset="0"/>
                  </a:rPr>
                  <a:t>$V=\frac{k^3}{6\sqrt2}$</a:t>
                </a:r>
                <a:r>
                  <a:rPr sz="2400" b="0">
                    <a:solidFill>
                      <a:srgbClr val="111827"/>
                    </a:solidFill>
                    <a:latin typeface="Arial"/>
                  </a:rPr>
                  <a:t>, as in the first method.)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3</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$3$</a:t>
                </a:r>
                <a:endParaRPr sz="2800">
                  <a:solidFill>
                    <a:srgbClr val="15803D"/>
                  </a:solidFill>
                </a:endParaRPr>
              </a:p>
            </p:txBody>
          </p:sp>
        </mc:Fallback>
      </mc:AlternateContent>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Regular tetrahedron of edge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3</m:t>
                            </m:r>
                          </m:sup>
                        </m:sSup>
                      </m:num>
                      <m:den>
                        <m:r>
                          <a:rPr lang="en-IN" sz="2400" i="1">
                            <a:solidFill>
                              <a:srgbClr val="111827"/>
                            </a:solidFill>
                            <a:latin typeface="Cambria Math" panose="02040503050406030204" pitchFamily="18" charset="0"/>
                          </a:rPr>
                          <m:t>6</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12</m:t>
                        </m:r>
                      </m:den>
                    </m:f>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shortest distance between opposite edges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height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𝑘</m:t>
                    </m:r>
                  </m:oMath>
                </a14:m>
                <a:r>
                  <a:rPr sz="2400" b="0">
                    <a:solidFill>
                      <a:srgbClr val="111827"/>
                    </a:solidFill>
                    <a:latin typeface="Arial"/>
                  </a:rPr>
                  <a:t>, circumradius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num>
                      <m:den>
                        <m:r>
                          <a:rPr lang="en-IN" sz="2400" i="1">
                            <a:solidFill>
                              <a:srgbClr val="111827"/>
                            </a:solidFill>
                            <a:latin typeface="Cambria Math" panose="02040503050406030204" pitchFamily="18" charset="0"/>
                          </a:rPr>
                          <m:t>4</m:t>
                        </m:r>
                      </m:den>
                    </m:f>
                    <m:r>
                      <a:rPr lang="en-IN" sz="2400" i="1">
                        <a:solidFill>
                          <a:srgbClr val="111827"/>
                        </a:solidFill>
                        <a:latin typeface="Cambria Math" panose="02040503050406030204" pitchFamily="18" charset="0"/>
                      </a:rPr>
                      <m:t>𝑘</m:t>
                    </m:r>
                  </m:oMath>
                </a14:m>
                <a:r>
                  <a:rPr sz="2400" b="0">
                    <a:solidFill>
                      <a:srgbClr val="111827"/>
                    </a:solidFill>
                    <a:latin typeface="Arial"/>
                  </a:rPr>
                  <a:t>, inradius </a:t>
                </a:r>
                <a14:m>
                  <m:oMath xmlns:m="http://schemas.openxmlformats.org/officeDocument/2006/math">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num>
                      <m:den>
                        <m:r>
                          <a:rPr lang="en-IN" sz="2400" i="1">
                            <a:solidFill>
                              <a:srgbClr val="111827"/>
                            </a:solidFill>
                            <a:latin typeface="Cambria Math" panose="02040503050406030204" pitchFamily="18" charset="0"/>
                          </a:rPr>
                          <m:t>12</m:t>
                        </m:r>
                      </m:den>
                    </m:f>
                    <m:r>
                      <a:rPr lang="en-IN" sz="2400" i="1">
                        <a:solidFill>
                          <a:srgbClr val="111827"/>
                        </a:solidFill>
                        <a:latin typeface="Cambria Math" panose="02040503050406030204" pitchFamily="18" charset="0"/>
                      </a:rPr>
                      <m:t>𝑘</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regular tetrahedron fits in a cube of side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 using four alternate vertices; its volume is exactly one third of the cube's volume.</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Regular tetrahedron of edge </a:t>
                </a:r>
                <a:r>
                  <a:rPr lang="en-IN" sz="2400">
                    <a:solidFill>
                      <a:srgbClr val="111827"/>
                    </a:solidFill>
                    <a:latin typeface="Cambria Math" panose="02040503050406030204" pitchFamily="18" charset="0"/>
                  </a:rPr>
                  <a:t>$k$</a:t>
                </a:r>
                <a:r>
                  <a:rPr sz="2400" b="0">
                    <a:solidFill>
                      <a:srgbClr val="111827"/>
                    </a:solidFill>
                    <a:latin typeface="Arial"/>
                  </a:rPr>
                  <a:t>: </a:t>
                </a:r>
                <a:r>
                  <a:rPr lang="en-IN" sz="2400">
                    <a:solidFill>
                      <a:srgbClr val="111827"/>
                    </a:solidFill>
                    <a:latin typeface="Cambria Math" panose="02040503050406030204" pitchFamily="18" charset="0"/>
                  </a:rPr>
                  <a:t>$V=\frac{k^3}{6\sqrt2}=\frac{\sqrt2}{12}k^3$</a:t>
                </a:r>
                <a:r>
                  <a:rPr sz="2400" b="0">
                    <a:solidFill>
                      <a:srgbClr val="111827"/>
                    </a:solidFill>
                    <a:latin typeface="Arial"/>
                  </a:rPr>
                  <a:t>, shortest distance between opposite edges </a:t>
                </a:r>
                <a:r>
                  <a:rPr lang="en-IN" sz="2400">
                    <a:solidFill>
                      <a:srgbClr val="111827"/>
                    </a:solidFill>
                    <a:latin typeface="Cambria Math" panose="02040503050406030204" pitchFamily="18" charset="0"/>
                  </a:rPr>
                  <a:t>$d=\frac{k}{\sqrt2}$</a:t>
                </a:r>
                <a:r>
                  <a:rPr sz="2400" b="0">
                    <a:solidFill>
                      <a:srgbClr val="111827"/>
                    </a:solidFill>
                    <a:latin typeface="Arial"/>
                  </a:rPr>
                  <a:t>, height </a:t>
                </a:r>
                <a:r>
                  <a:rPr lang="en-IN" sz="2400">
                    <a:solidFill>
                      <a:srgbClr val="111827"/>
                    </a:solidFill>
                    <a:latin typeface="Cambria Math" panose="02040503050406030204" pitchFamily="18" charset="0"/>
                  </a:rPr>
                  <a:t>$\sqrt{\frac23}\,k$</a:t>
                </a:r>
                <a:r>
                  <a:rPr sz="2400" b="0">
                    <a:solidFill>
                      <a:srgbClr val="111827"/>
                    </a:solidFill>
                    <a:latin typeface="Arial"/>
                  </a:rPr>
                  <a:t>, circumradius </a:t>
                </a:r>
                <a:r>
                  <a:rPr lang="en-IN" sz="2400">
                    <a:solidFill>
                      <a:srgbClr val="111827"/>
                    </a:solidFill>
                    <a:latin typeface="Cambria Math" panose="02040503050406030204" pitchFamily="18" charset="0"/>
                  </a:rPr>
                  <a:t>$\frac{\sqrt6}{4}k$</a:t>
                </a:r>
                <a:r>
                  <a:rPr sz="2400" b="0">
                    <a:solidFill>
                      <a:srgbClr val="111827"/>
                    </a:solidFill>
                    <a:latin typeface="Arial"/>
                  </a:rPr>
                  <a:t>, inradius </a:t>
                </a:r>
                <a:r>
                  <a:rPr lang="en-IN" sz="2400">
                    <a:solidFill>
                      <a:srgbClr val="111827"/>
                    </a:solidFill>
                    <a:latin typeface="Cambria Math" panose="02040503050406030204" pitchFamily="18" charset="0"/>
                  </a:rPr>
                  <a:t>$\frac{\sqrt6}{12}k$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regular tetrahedron fits in a cube of side </a:t>
                </a:r>
                <a:r>
                  <a:rPr lang="en-IN" sz="2400">
                    <a:solidFill>
                      <a:srgbClr val="111827"/>
                    </a:solidFill>
                    <a:latin typeface="Cambria Math" panose="02040503050406030204" pitchFamily="18" charset="0"/>
                  </a:rPr>
                  <a:t>$\frac{k}{\sqrt2}$</a:t>
                </a:r>
                <a:r>
                  <a:rPr sz="2400" b="0">
                    <a:solidFill>
                      <a:srgbClr val="111827"/>
                    </a:solidFill>
                    <a:latin typeface="Arial"/>
                  </a:rPr>
                  <a:t> using four alternate vertices; its volume is exactly one third of the cube's volume.</a:t>
                </a:r>
                <a:endParaRPr sz="2400">
                  <a:solidFill>
                    <a:srgbClr val="111827"/>
                  </a:solidFill>
                </a:endParaRPr>
              </a:p>
            </p:txBody>
          </p:sp>
        </mc:Fallback>
      </mc:AlternateContent>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Gram determinant: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det</m:t>
                    </m:r>
                    <m:d>
                      <m:dPr>
                        <m:begChr m:val="("/>
                        <m:sepChr m:val=""/>
                        <m:endChr m:val=")"/>
                        <m:grow/>
                        <m:ctrlPr>
                          <a:rPr lang="en-IN" sz="2400" i="1">
                            <a:solidFill>
                              <a:srgbClr val="111827"/>
                            </a:solidFill>
                            <a:latin typeface="Cambria Math" panose="02040503050406030204" pitchFamily="18" charset="0"/>
                          </a:rPr>
                        </m:ctrlPr>
                      </m:dPr>
                      <m:e>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sub>
                            <m:r>
                              <a:rPr lang="en-IN" sz="2400" i="1">
                                <a:solidFill>
                                  <a:srgbClr val="111827"/>
                                </a:solidFill>
                                <a:latin typeface="Cambria Math" panose="02040503050406030204" pitchFamily="18" charset="0"/>
                              </a:rPr>
                              <m:t>𝑗</m:t>
                            </m:r>
                          </m:sub>
                        </m:sSub>
                      </m:e>
                    </m:d>
                  </m:oMath>
                </a14:m>
                <a:r>
                  <a:rPr sz="2400" b="0">
                    <a:solidFill>
                      <a:srgbClr val="111827"/>
                    </a:solidFill>
                    <a:latin typeface="Arial"/>
                  </a:rPr>
                  <a:t>, so volumes follow from lengths and angles alone, with no coordinates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tetrahedron,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𝑉</m:t>
                        </m:r>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e>
                            </m:acc>
                          </m:e>
                        </m:d>
                      </m:den>
                    </m:f>
                  </m:oMath>
                </a14:m>
                <a:r>
                  <a:rPr sz="2400" b="0">
                    <a:solidFill>
                      <a:srgbClr val="111827"/>
                    </a:solidFill>
                    <a:latin typeface="Arial"/>
                  </a:rPr>
                  <a:t>; in the regular case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𝐷</m:t>
                            </m:r>
                          </m:e>
                        </m:acc>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𝑑</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𝑉</m:t>
                        </m:r>
                      </m:num>
                      <m:den>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Gram determinant: </a:t>
                </a:r>
                <a:r>
                  <a:rPr lang="en-IN" sz="2400">
                    <a:solidFill>
                      <a:srgbClr val="111827"/>
                    </a:solidFill>
                    <a:latin typeface="Cambria Math" panose="02040503050406030204" pitchFamily="18" charset="0"/>
                  </a:rPr>
                  <a:t>$[\vec a\ \vec b\ \vec c]^2=\det\left(\vec u_i\cdot\vec u_j\right)$</a:t>
                </a:r>
                <a:r>
                  <a:rPr sz="2400" b="0">
                    <a:solidFill>
                      <a:srgbClr val="111827"/>
                    </a:solidFill>
                    <a:latin typeface="Arial"/>
                  </a:rPr>
                  <a:t>, so volumes follow from lengths and angles alone, with no coordinates needed.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tetrahedron, </a:t>
                </a:r>
                <a:r>
                  <a:rPr lang="en-IN" sz="2400">
                    <a:solidFill>
                      <a:srgbClr val="111827"/>
                    </a:solidFill>
                    <a:latin typeface="Cambria Math" panose="02040503050406030204" pitchFamily="18" charset="0"/>
                  </a:rPr>
                  <a:t>$d(AB,CD)=\frac{6V}{\left|\vec{AB}\times\vec{CD}\right|}$</a:t>
                </a:r>
                <a:r>
                  <a:rPr sz="2400" b="0">
                    <a:solidFill>
                      <a:srgbClr val="111827"/>
                    </a:solidFill>
                    <a:latin typeface="Arial"/>
                  </a:rPr>
                  <a:t>; in the regular case </a:t>
                </a:r>
                <a:r>
                  <a:rPr lang="en-IN" sz="2400">
                    <a:solidFill>
                      <a:srgbClr val="111827"/>
                    </a:solidFill>
                    <a:latin typeface="Cambria Math" panose="02040503050406030204" pitchFamily="18" charset="0"/>
                  </a:rPr>
                  <a:t>$\left|\vec{AB}\times\vec{CD}\right|=k^2$</a:t>
                </a:r>
                <a:r>
                  <a:rPr sz="2400" b="0">
                    <a:solidFill>
                      <a:srgbClr val="111827"/>
                    </a:solidFill>
                    <a:latin typeface="Arial"/>
                  </a:rPr>
                  <a:t> gives </a:t>
                </a:r>
                <a:r>
                  <a:rPr lang="en-IN" sz="2400">
                    <a:solidFill>
                      <a:srgbClr val="111827"/>
                    </a:solidFill>
                    <a:latin typeface="Cambria Math" panose="02040503050406030204" pitchFamily="18" charset="0"/>
                  </a:rPr>
                  <a:t>$d=\frac{6V}{k^2}=\frac{k}{\sqrt2}$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scalars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while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are non-zero, non-collinear vectors.</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scalars </a:t>
                </a:r>
                <a:r>
                  <a:rPr lang="en-IN" sz="2400">
                    <a:solidFill>
                      <a:srgbClr val="111827"/>
                    </a:solidFill>
                    <a:latin typeface="Cambria Math" panose="02040503050406030204" pitchFamily="18" charset="0"/>
                  </a:rPr>
                  <a:t>$\alpha$</a:t>
                </a:r>
                <a:r>
                  <a:rPr sz="2400" b="0">
                    <a:solidFill>
                      <a:srgbClr val="111827"/>
                    </a:solidFill>
                    <a:latin typeface="Arial"/>
                  </a:rPr>
                  <a:t> and </a:t>
                </a:r>
                <a:r>
                  <a:rPr lang="en-IN" sz="2400">
                    <a:solidFill>
                      <a:srgbClr val="111827"/>
                    </a:solidFill>
                    <a:latin typeface="Cambria Math" panose="02040503050406030204" pitchFamily="18" charset="0"/>
                  </a:rPr>
                  <a:t>$\beta$</a:t>
                </a:r>
                <a:r>
                  <a:rPr sz="2400" b="0">
                    <a:solidFill>
                      <a:srgbClr val="111827"/>
                    </a:solidFill>
                    <a:latin typeface="Arial"/>
                  </a:rPr>
                  <a:t> if </a:t>
                </a:r>
                <a:r>
                  <a:rPr lang="en-IN" sz="2400">
                    <a:solidFill>
                      <a:srgbClr val="111827"/>
                    </a:solidFill>
                    <a:latin typeface="Cambria Math" panose="02040503050406030204" pitchFamily="18" charset="0"/>
                  </a:rPr>
                  <a:t>$\vec{a}\times(\vec{b}\times\vec{c})+(\vec{a}\cdot\vec{b})\vec{b}=(4-2\beta-\sin\alpha)\vec{b}+(\beta^2-1)\vec{c}$</a:t>
                </a:r>
                <a:r>
                  <a:rPr sz="2400" b="0">
                    <a:solidFill>
                      <a:srgbClr val="111827"/>
                    </a:solidFill>
                    <a:latin typeface="Arial"/>
                  </a:rPr>
                  <a:t> and </a:t>
                </a:r>
                <a:r>
                  <a:rPr lang="en-IN" sz="2400">
                    <a:solidFill>
                      <a:srgbClr val="111827"/>
                    </a:solidFill>
                    <a:latin typeface="Cambria Math" panose="02040503050406030204" pitchFamily="18" charset="0"/>
                  </a:rPr>
                  <a:t>$(\vec{c}\cdot\vec{c})\vec{a}=\vec{c}$</a:t>
                </a:r>
                <a:r>
                  <a:rPr sz="2400" b="0">
                    <a:solidFill>
                      <a:srgbClr val="111827"/>
                    </a:solidFill>
                    <a:latin typeface="Arial"/>
                  </a:rPr>
                  <a:t>, while </a:t>
                </a:r>
                <a:r>
                  <a:rPr lang="en-IN" sz="2400">
                    <a:solidFill>
                      <a:srgbClr val="111827"/>
                    </a:solidFill>
                    <a:latin typeface="Cambria Math" panose="02040503050406030204" pitchFamily="18" charset="0"/>
                  </a:rPr>
                  <a:t>$\vec{b}$</a:t>
                </a:r>
                <a:r>
                  <a:rPr sz="2400" b="0">
                    <a:solidFill>
                      <a:srgbClr val="111827"/>
                    </a:solidFill>
                    <a:latin typeface="Arial"/>
                  </a:rPr>
                  <a:t> and </a:t>
                </a:r>
                <a:r>
                  <a:rPr lang="en-IN" sz="2400">
                    <a:solidFill>
                      <a:srgbClr val="111827"/>
                    </a:solidFill>
                    <a:latin typeface="Cambria Math" panose="02040503050406030204" pitchFamily="18" charset="0"/>
                  </a:rPr>
                  <a:t>$\vec{c}$</a:t>
                </a:r>
                <a:r>
                  <a:rPr sz="2400" b="0">
                    <a:solidFill>
                      <a:srgbClr val="111827"/>
                    </a:solidFill>
                    <a:latin typeface="Arial"/>
                  </a:rPr>
                  <a:t> are non-zero, non-collinear vectors.</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Vector triple product and dot product of vectors, Maximum value of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oMath>
                </a14:m>
                <a:r>
                  <a:rPr sz="2400" b="0">
                    <a:solidFill>
                      <a:srgbClr val="111827"/>
                    </a:solidFill>
                    <a:latin typeface="Arial"/>
                  </a:rPr>
                  <a:t> (trigonometric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Choice>
        <mc:Fallback>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Vector triple product and dot product of vectors, Maximum value of </a:t>
                </a:r>
                <a:r>
                  <a:rPr lang="en-IN" sz="2400">
                    <a:solidFill>
                      <a:srgbClr val="111827"/>
                    </a:solidFill>
                    <a:latin typeface="Cambria Math" panose="02040503050406030204" pitchFamily="18" charset="0"/>
                  </a:rPr>
                  <a:t>$\sin\alpha$</a:t>
                </a:r>
                <a:r>
                  <a:rPr sz="2400" b="0">
                    <a:solidFill>
                      <a:srgbClr val="111827"/>
                    </a:solidFill>
                    <a:latin typeface="Arial"/>
                  </a:rPr>
                  <a:t> (trigonometric equation)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Fallback>
      </mc:AlternateContent>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Expand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compare coefficients of the independent vectors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oMath>
                </a14:m>
                <a:r>
                  <a:rPr sz="2400" b="0">
                    <a:solidFill>
                      <a:srgbClr val="78350F"/>
                    </a:solidFill>
                    <a:latin typeface="Arial"/>
                  </a:rPr>
                  <a:t>; then </a:t>
                </a:r>
                <a14:m>
                  <m:oMath xmlns:m="http://schemas.openxmlformats.org/officeDocument/2006/math">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Expand </a:t>
                </a:r>
                <a:r>
                  <a:rPr lang="en-IN" sz="2400">
                    <a:solidFill>
                      <a:srgbClr val="78350F"/>
                    </a:solidFill>
                    <a:latin typeface="Cambria Math" panose="02040503050406030204" pitchFamily="18" charset="0"/>
                  </a:rPr>
                  <a:t>$\vec a\times(\vec b\times\vec c)$</a:t>
                </a:r>
                <a:r>
                  <a:rPr sz="2400" b="0">
                    <a:solidFill>
                      <a:srgbClr val="78350F"/>
                    </a:solidFill>
                    <a:latin typeface="Arial"/>
                  </a:rPr>
                  <a:t> and compare coefficients of the independent vectors </a:t>
                </a:r>
                <a:r>
                  <a:rPr lang="en-IN" sz="2400">
                    <a:solidFill>
                      <a:srgbClr val="78350F"/>
                    </a:solidFill>
                    <a:latin typeface="Cambria Math" panose="02040503050406030204" pitchFamily="18" charset="0"/>
                  </a:rPr>
                  <a:t>$\vec b,\vec c$</a:t>
                </a:r>
                <a:r>
                  <a:rPr sz="2400" b="0">
                    <a:solidFill>
                      <a:srgbClr val="78350F"/>
                    </a:solidFill>
                    <a:latin typeface="Arial"/>
                  </a:rPr>
                  <a:t>; then </a:t>
                </a:r>
                <a:r>
                  <a:rPr lang="en-IN" sz="2400">
                    <a:solidFill>
                      <a:srgbClr val="78350F"/>
                    </a:solidFill>
                    <a:latin typeface="Cambria Math" panose="02040503050406030204" pitchFamily="18" charset="0"/>
                  </a:rPr>
                  <a:t>$\sin\alpha=(\beta-1)^2+1\le1$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left side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are non-collinear, hence independent, so coefficients can be compared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dot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...(3).</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$\vec{a}\times(\vec{b}\times\vec{c})=\vec{b}(\vec{a}\cdot\vec{c})-\vec{c}(\vec{a}\cdot\vec{b})$</a:t>
                </a:r>
                <a:r>
                  <a:rPr sz="2400" b="0">
                    <a:solidFill>
                      <a:srgbClr val="111827"/>
                    </a:solidFill>
                    <a:latin typeface="Arial"/>
                  </a:rPr>
                  <a:t>, so the left side is </a:t>
                </a:r>
                <a:r>
                  <a:rPr lang="en-IN" sz="2400">
                    <a:solidFill>
                      <a:srgbClr val="111827"/>
                    </a:solidFill>
                    <a:latin typeface="Cambria Math" panose="02040503050406030204" pitchFamily="18" charset="0"/>
                  </a:rPr>
                  <a:t>$\vec{b}(\vec{a}\cdot\vec{c}+\vec{a}\cdot\vec{b})-\vec{c}(\vec{a}\cdot\vec{b})$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b,\vec c$</a:t>
                </a:r>
                <a:r>
                  <a:rPr sz="2400" b="0">
                    <a:solidFill>
                      <a:srgbClr val="111827"/>
                    </a:solidFill>
                    <a:latin typeface="Arial"/>
                  </a:rPr>
                  <a:t> are non-collinear, hence independent, so coefficients can be compared with </a:t>
                </a:r>
                <a:r>
                  <a:rPr lang="en-IN" sz="2400">
                    <a:solidFill>
                      <a:srgbClr val="111827"/>
                    </a:solidFill>
                    <a:latin typeface="Cambria Math" panose="02040503050406030204" pitchFamily="18" charset="0"/>
                  </a:rPr>
                  <a:t>$(4-2\beta-\sin\alpha)\vec{b}+(\beta^2-1)\vec{c}$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$\vec b$</a:t>
                </a:r>
                <a:r>
                  <a:rPr sz="2400" b="0">
                    <a:solidFill>
                      <a:srgbClr val="111827"/>
                    </a:solidFill>
                    <a:latin typeface="Arial"/>
                  </a:rPr>
                  <a:t>: </a:t>
                </a:r>
                <a:r>
                  <a:rPr lang="en-IN" sz="2400">
                    <a:solidFill>
                      <a:srgbClr val="111827"/>
                    </a:solidFill>
                    <a:latin typeface="Cambria Math" panose="02040503050406030204" pitchFamily="18" charset="0"/>
                  </a:rPr>
                  <a:t>$\vec{a}\cdot\vec{c}+\vec{a}\cdot\vec{b}=4-2\beta-\sin\alpha$</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Coefficient of </a:t>
                </a:r>
                <a:r>
                  <a:rPr lang="en-IN" sz="2400">
                    <a:solidFill>
                      <a:srgbClr val="111827"/>
                    </a:solidFill>
                    <a:latin typeface="Cambria Math" panose="02040503050406030204" pitchFamily="18" charset="0"/>
                  </a:rPr>
                  <a:t>$\vec c$</a:t>
                </a:r>
                <a:r>
                  <a:rPr sz="2400" b="0">
                    <a:solidFill>
                      <a:srgbClr val="111827"/>
                    </a:solidFill>
                    <a:latin typeface="Arial"/>
                  </a:rPr>
                  <a:t>: </a:t>
                </a:r>
                <a:r>
                  <a:rPr lang="en-IN" sz="2400">
                    <a:solidFill>
                      <a:srgbClr val="111827"/>
                    </a:solidFill>
                    <a:latin typeface="Cambria Math" panose="02040503050406030204" pitchFamily="18" charset="0"/>
                  </a:rPr>
                  <a:t>$-\vec{a}\cdot\vec{b}=\beta^2-1$</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$(\vec{c}\cdot\vec{c})\vec{a}=\vec{c}$</a:t>
                </a:r>
                <a:r>
                  <a:rPr sz="2400" b="0">
                    <a:solidFill>
                      <a:srgbClr val="111827"/>
                    </a:solidFill>
                    <a:latin typeface="Arial"/>
                  </a:rPr>
                  <a:t>, dot with </a:t>
                </a:r>
                <a:r>
                  <a:rPr lang="en-IN" sz="2400">
                    <a:solidFill>
                      <a:srgbClr val="111827"/>
                    </a:solidFill>
                    <a:latin typeface="Cambria Math" panose="02040503050406030204" pitchFamily="18" charset="0"/>
                  </a:rPr>
                  <a:t>$\vec c$</a:t>
                </a:r>
                <a:r>
                  <a:rPr sz="2400" b="0">
                    <a:solidFill>
                      <a:srgbClr val="111827"/>
                    </a:solidFill>
                    <a:latin typeface="Arial"/>
                  </a:rPr>
                  <a:t>: </a:t>
                </a:r>
                <a:r>
                  <a:rPr lang="en-IN" sz="2400">
                    <a:solidFill>
                      <a:srgbClr val="111827"/>
                    </a:solidFill>
                    <a:latin typeface="Cambria Math" panose="02040503050406030204" pitchFamily="18" charset="0"/>
                  </a:rPr>
                  <a:t>$(\vec{c}\cdot\vec{c})(\vec{a}\cdot\vec{c})=\vec{c}\cdot\vec{c}$</a:t>
                </a:r>
                <a:r>
                  <a:rPr sz="2400" b="0">
                    <a:solidFill>
                      <a:srgbClr val="111827"/>
                    </a:solidFill>
                    <a:latin typeface="Arial"/>
                  </a:rPr>
                  <a:t>, and </a:t>
                </a:r>
                <a:r>
                  <a:rPr lang="en-IN" sz="2400">
                    <a:solidFill>
                      <a:srgbClr val="111827"/>
                    </a:solidFill>
                    <a:latin typeface="Cambria Math" panose="02040503050406030204" pitchFamily="18" charset="0"/>
                  </a:rPr>
                  <a:t>$\vec c\neq\vec 0$</a:t>
                </a:r>
                <a:r>
                  <a:rPr sz="2400" b="0">
                    <a:solidFill>
                      <a:srgbClr val="111827"/>
                    </a:solidFill>
                    <a:latin typeface="Arial"/>
                  </a:rPr>
                  <a:t>, so </a:t>
                </a:r>
                <a:r>
                  <a:rPr lang="en-IN" sz="2400">
                    <a:solidFill>
                      <a:srgbClr val="111827"/>
                    </a:solidFill>
                    <a:latin typeface="Cambria Math" panose="02040503050406030204" pitchFamily="18" charset="0"/>
                  </a:rPr>
                  <a:t>$\vec{a}\cdot\vec{c}=1$</a:t>
                </a:r>
                <a:r>
                  <a:rPr sz="2400" b="0">
                    <a:solidFill>
                      <a:srgbClr val="111827"/>
                    </a:solidFill>
                    <a:latin typeface="Arial"/>
                  </a:rPr>
                  <a:t> ...(3).</a:t>
                </a:r>
                <a:endParaRPr sz="2400">
                  <a:solidFill>
                    <a:srgbClr val="111827"/>
                  </a:solidFill>
                </a:endParaRPr>
              </a:p>
            </p:txBody>
          </p:sp>
        </mc:Fallback>
      </mc:AlternateContent>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(1), (2), (3):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both sides equal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an integer, with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(1), (2), (3): </a:t>
                </a:r>
                <a:r>
                  <a:rPr lang="en-IN" sz="2400">
                    <a:solidFill>
                      <a:srgbClr val="111827"/>
                    </a:solidFill>
                    <a:latin typeface="Cambria Math" panose="02040503050406030204" pitchFamily="18" charset="0"/>
                  </a:rPr>
                  <a:t>$1=(\beta^2-1)+4-2\beta-\sin\alpha$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$\sin\alpha=\beta^2-2\beta+2=(\beta-1)^2+1$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$\sin\alpha\le1$</a:t>
                </a:r>
                <a:r>
                  <a:rPr sz="2400" b="0">
                    <a:solidFill>
                      <a:srgbClr val="111827"/>
                    </a:solidFill>
                    <a:latin typeface="Arial"/>
                  </a:rPr>
                  <a:t> and </a:t>
                </a:r>
                <a:r>
                  <a:rPr lang="en-IN" sz="2400">
                    <a:solidFill>
                      <a:srgbClr val="111827"/>
                    </a:solidFill>
                    <a:latin typeface="Cambria Math" panose="02040503050406030204" pitchFamily="18" charset="0"/>
                  </a:rPr>
                  <a:t>$(\beta-1)^2+1\ge1$</a:t>
                </a:r>
                <a:r>
                  <a:rPr sz="2400" b="0">
                    <a:solidFill>
                      <a:srgbClr val="111827"/>
                    </a:solidFill>
                    <a:latin typeface="Arial"/>
                  </a:rPr>
                  <a:t>, both sides equal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$\beta=1$</a:t>
                </a:r>
                <a:r>
                  <a:rPr sz="2400" b="0">
                    <a:solidFill>
                      <a:srgbClr val="111827"/>
                    </a:solidFill>
                    <a:latin typeface="Arial"/>
                  </a:rPr>
                  <a:t> and </a:t>
                </a:r>
                <a:r>
                  <a:rPr lang="en-IN" sz="2400">
                    <a:solidFill>
                      <a:srgbClr val="111827"/>
                    </a:solidFill>
                    <a:latin typeface="Cambria Math" panose="02040503050406030204" pitchFamily="18" charset="0"/>
                  </a:rPr>
                  <a:t>$\sin\alpha=1$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$\sin\alpha=1$</a:t>
                </a:r>
                <a:r>
                  <a:rPr sz="2400" b="0">
                    <a:solidFill>
                      <a:srgbClr val="111827"/>
                    </a:solidFill>
                    <a:latin typeface="Arial"/>
                  </a:rPr>
                  <a:t> gives </a:t>
                </a:r>
                <a:r>
                  <a:rPr lang="en-IN" sz="2400">
                    <a:solidFill>
                      <a:srgbClr val="111827"/>
                    </a:solidFill>
                    <a:latin typeface="Cambria Math" panose="02040503050406030204" pitchFamily="18" charset="0"/>
                  </a:rPr>
                  <a:t>$\alpha=n\pi+(-1)^n\frac{\pi}{2}$</a:t>
                </a:r>
                <a:r>
                  <a:rPr sz="2400" b="0">
                    <a:solidFill>
                      <a:srgbClr val="111827"/>
                    </a:solidFill>
                    <a:latin typeface="Arial"/>
                  </a:rPr>
                  <a:t>, </a:t>
                </a:r>
                <a:r>
                  <a:rPr lang="en-IN" sz="2400">
                    <a:solidFill>
                      <a:srgbClr val="111827"/>
                    </a:solidFill>
                    <a:latin typeface="Cambria Math" panose="02040503050406030204" pitchFamily="18" charset="0"/>
                  </a:rPr>
                  <a:t>$n$</a:t>
                </a:r>
                <a:r>
                  <a:rPr sz="2400" b="0">
                    <a:solidFill>
                      <a:srgbClr val="111827"/>
                    </a:solidFill>
                    <a:latin typeface="Arial"/>
                  </a:rPr>
                  <a:t> an integer, with </a:t>
                </a:r>
                <a:r>
                  <a:rPr lang="en-IN" sz="2400">
                    <a:solidFill>
                      <a:srgbClr val="111827"/>
                    </a:solidFill>
                    <a:latin typeface="Cambria Math" panose="02040503050406030204" pitchFamily="18" charset="0"/>
                  </a:rPr>
                  <a:t>$\beta=1$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α</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𝑛</m:t>
                    </m:r>
                    <m:r>
                      <a:rPr lang="en-IN" sz="2800" i="1">
                        <a:solidFill>
                          <a:srgbClr val="15803D"/>
                        </a:solidFill>
                        <a:latin typeface="Cambria Math" panose="02040503050406030204" pitchFamily="18" charset="0"/>
                      </a:rPr>
                      <m:t>π</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Sup>
                      <m:e>
                        <m:r>
                          <m:rPr>
                            <m:sty m:val="p"/>
                          </m:rPr>
                          <a:rPr lang="en-IN" sz="2800">
                            <a:solidFill>
                              <a:srgbClr val="15803D"/>
                            </a:solidFill>
                            <a:latin typeface="Cambria Math" panose="02040503050406030204" pitchFamily="18" charset="0"/>
                          </a:rPr>
                          <m:t>)</m:t>
                        </m:r>
                      </m:e>
                      <m:sup>
                        <m:r>
                          <a:rPr lang="en-IN" sz="2800" i="1">
                            <a:solidFill>
                              <a:srgbClr val="15803D"/>
                            </a:solidFill>
                            <a:latin typeface="Cambria Math" panose="02040503050406030204" pitchFamily="18" charset="0"/>
                          </a:rPr>
                          <m:t>𝑛</m:t>
                        </m:r>
                      </m:sup>
                    </m:sSup>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2</m:t>
                        </m:r>
                      </m:den>
                    </m:f>
                  </m:oMath>
                </a14:m>
                <a:r>
                  <a:rPr sz="2800" b="1">
                    <a:solidFill>
                      <a:srgbClr val="15803D"/>
                    </a:solidFill>
                    <a:latin typeface="Arial"/>
                  </a:rPr>
                  <a:t> for any integer </a:t>
                </a:r>
                <a14:m>
                  <m:oMath xmlns:m="http://schemas.openxmlformats.org/officeDocument/2006/math">
                    <m:r>
                      <a:rPr lang="en-IN" sz="2800" i="1">
                        <a:solidFill>
                          <a:srgbClr val="15803D"/>
                        </a:solidFill>
                        <a:latin typeface="Cambria Math" panose="02040503050406030204" pitchFamily="18" charset="0"/>
                      </a:rPr>
                      <m:t>𝑛</m:t>
                    </m:r>
                  </m:oMath>
                </a14:m>
                <a:r>
                  <a:rPr sz="2800" b="1">
                    <a:solidFill>
                      <a:srgbClr val="15803D"/>
                    </a:solidFill>
                    <a:latin typeface="Arial"/>
                  </a:rPr>
                  <a:t> (that is, </a:t>
                </a:r>
                <a14:m>
                  <m:oMath xmlns:m="http://schemas.openxmlformats.org/officeDocument/2006/math">
                    <m:r>
                      <a:rPr lang="en-IN" sz="2800" i="1">
                        <a:solidFill>
                          <a:srgbClr val="15803D"/>
                        </a:solidFill>
                        <a:latin typeface="Cambria Math" panose="02040503050406030204" pitchFamily="18" charset="0"/>
                      </a:rPr>
                      <m:t>α</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a:rPr lang="en-IN" sz="2800" i="1">
                        <a:solidFill>
                          <a:srgbClr val="15803D"/>
                        </a:solidFill>
                        <a:latin typeface="Cambria Math" panose="02040503050406030204" pitchFamily="18" charset="0"/>
                      </a:rPr>
                      <m:t>𝑚</m:t>
                    </m:r>
                    <m:r>
                      <a:rPr lang="en-IN" sz="2800" i="1">
                        <a:solidFill>
                          <a:srgbClr val="15803D"/>
                        </a:solidFill>
                        <a:latin typeface="Cambria Math" panose="02040503050406030204" pitchFamily="18" charset="0"/>
                      </a:rPr>
                      <m:t>π</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2</m:t>
                        </m:r>
                      </m:den>
                    </m:f>
                  </m:oMath>
                </a14:m>
                <a:r>
                  <a:rPr sz="2800" b="1">
                    <a:solidFill>
                      <a:srgbClr val="15803D"/>
                    </a:solidFill>
                    <a:latin typeface="Arial"/>
                  </a:rPr>
                  <a:t>), and </a:t>
                </a:r>
                <a14:m>
                  <m:oMath xmlns:m="http://schemas.openxmlformats.org/officeDocument/2006/math">
                    <m:r>
                      <a:rPr lang="en-IN" sz="2800" i="1">
                        <a:solidFill>
                          <a:srgbClr val="15803D"/>
                        </a:solidFill>
                        <a:latin typeface="Cambria Math" panose="02040503050406030204" pitchFamily="18" charset="0"/>
                      </a:rPr>
                      <m:t>β</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$\alpha=n\pi+(-1)^n\frac{\pi}{2}$</a:t>
                </a:r>
                <a:r>
                  <a:rPr sz="2800" b="1">
                    <a:solidFill>
                      <a:srgbClr val="15803D"/>
                    </a:solidFill>
                    <a:latin typeface="Arial"/>
                  </a:rPr>
                  <a:t> for any integer </a:t>
                </a:r>
                <a:r>
                  <a:rPr lang="en-IN" sz="2800">
                    <a:solidFill>
                      <a:srgbClr val="15803D"/>
                    </a:solidFill>
                    <a:latin typeface="Cambria Math" panose="02040503050406030204" pitchFamily="18" charset="0"/>
                  </a:rPr>
                  <a:t>$n$</a:t>
                </a:r>
                <a:r>
                  <a:rPr sz="2800" b="1">
                    <a:solidFill>
                      <a:srgbClr val="15803D"/>
                    </a:solidFill>
                    <a:latin typeface="Arial"/>
                  </a:rPr>
                  <a:t> (that is, </a:t>
                </a:r>
                <a:r>
                  <a:rPr lang="en-IN" sz="2800">
                    <a:solidFill>
                      <a:srgbClr val="15803D"/>
                    </a:solidFill>
                    <a:latin typeface="Cambria Math" panose="02040503050406030204" pitchFamily="18" charset="0"/>
                  </a:rPr>
                  <a:t>$\alpha=2m\pi+\frac{\pi}{2}$</a:t>
                </a:r>
                <a:r>
                  <a:rPr sz="2800" b="1">
                    <a:solidFill>
                      <a:srgbClr val="15803D"/>
                    </a:solidFill>
                    <a:latin typeface="Arial"/>
                  </a:rPr>
                  <a:t>), and </a:t>
                </a:r>
                <a:r>
                  <a:rPr lang="en-IN" sz="2800">
                    <a:solidFill>
                      <a:srgbClr val="15803D"/>
                    </a:solidFill>
                    <a:latin typeface="Cambria Math" panose="02040503050406030204" pitchFamily="18" charset="0"/>
                  </a:rPr>
                  <a:t>$\beta=1$</a:t>
                </a:r>
                <a:endParaRPr sz="2800">
                  <a:solidFill>
                    <a:srgbClr val="15803D"/>
                  </a:solidFill>
                </a:endParaRPr>
              </a:p>
            </p:txBody>
          </p:sp>
        </mc:Fallback>
      </mc:AlternateContent>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(BAC-CAB); 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are non-collinear, </a:t>
                </a:r>
                <a14:m>
                  <m:oMath xmlns:m="http://schemas.openxmlformats.org/officeDocument/2006/math">
                    <m:r>
                      <a:rPr lang="en-IN" sz="2400" i="1">
                        <a:solidFill>
                          <a:srgbClr val="111827"/>
                        </a:solidFill>
                        <a:latin typeface="Cambria Math" panose="02040503050406030204" pitchFamily="18" charset="0"/>
                      </a:rPr>
                      <m:t>λ</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 forces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means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(for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quadratic bounded by a trig value: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forces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which is the same family as </a:t>
                </a:r>
                <a14:m>
                  <m:oMath xmlns:m="http://schemas.openxmlformats.org/officeDocument/2006/math">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𝑛</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$\vec{a}\times(\vec{b}\times\vec{c})=\vec{b}(\vec{a}\cdot\vec{c})-\vec{c}(\vec{a}\cdot\vec{b})$</a:t>
                </a:r>
                <a:r>
                  <a:rPr sz="2400" b="0">
                    <a:solidFill>
                      <a:srgbClr val="111827"/>
                    </a:solidFill>
                    <a:latin typeface="Arial"/>
                  </a:rPr>
                  <a:t> (BAC-CAB); if </a:t>
                </a:r>
                <a:r>
                  <a:rPr lang="en-IN" sz="2400">
                    <a:solidFill>
                      <a:srgbClr val="111827"/>
                    </a:solidFill>
                    <a:latin typeface="Cambria Math" panose="02040503050406030204" pitchFamily="18" charset="0"/>
                  </a:rPr>
                  <a:t>$\vec b,\vec c$</a:t>
                </a:r>
                <a:r>
                  <a:rPr sz="2400" b="0">
                    <a:solidFill>
                      <a:srgbClr val="111827"/>
                    </a:solidFill>
                    <a:latin typeface="Arial"/>
                  </a:rPr>
                  <a:t> are non-collinear, </a:t>
                </a:r>
                <a:r>
                  <a:rPr lang="en-IN" sz="2400">
                    <a:solidFill>
                      <a:srgbClr val="111827"/>
                    </a:solidFill>
                    <a:latin typeface="Cambria Math" panose="02040503050406030204" pitchFamily="18" charset="0"/>
                  </a:rPr>
                  <a:t>$\lambda\vec b+\mu\vec c=\vec 0$</a:t>
                </a:r>
                <a:r>
                  <a:rPr sz="2400" b="0">
                    <a:solidFill>
                      <a:srgbClr val="111827"/>
                    </a:solidFill>
                    <a:latin typeface="Arial"/>
                  </a:rPr>
                  <a:t> forces </a:t>
                </a:r>
                <a:r>
                  <a:rPr lang="en-IN" sz="2400">
                    <a:solidFill>
                      <a:srgbClr val="111827"/>
                    </a:solidFill>
                    <a:latin typeface="Cambria Math" panose="02040503050406030204" pitchFamily="18" charset="0"/>
                  </a:rPr>
                  <a:t>$\lambda=\mu=0$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$(\vec{c}\cdot\vec{c})\vec{a}=\vec{c}$</a:t>
                </a:r>
                <a:r>
                  <a:rPr sz="2400" b="0">
                    <a:solidFill>
                      <a:srgbClr val="111827"/>
                    </a:solidFill>
                    <a:latin typeface="Arial"/>
                  </a:rPr>
                  <a:t> means </a:t>
                </a:r>
                <a:r>
                  <a:rPr lang="en-IN" sz="2400">
                    <a:solidFill>
                      <a:srgbClr val="111827"/>
                    </a:solidFill>
                    <a:latin typeface="Cambria Math" panose="02040503050406030204" pitchFamily="18" charset="0"/>
                  </a:rPr>
                  <a:t>$\vec a=\frac{\vec c}{|\vec c|^2}$</a:t>
                </a:r>
                <a:r>
                  <a:rPr sz="2400" b="0">
                    <a:solidFill>
                      <a:srgbClr val="111827"/>
                    </a:solidFill>
                    <a:latin typeface="Arial"/>
                  </a:rPr>
                  <a:t> (for </a:t>
                </a:r>
                <a:r>
                  <a:rPr lang="en-IN" sz="2400">
                    <a:solidFill>
                      <a:srgbClr val="111827"/>
                    </a:solidFill>
                    <a:latin typeface="Cambria Math" panose="02040503050406030204" pitchFamily="18" charset="0"/>
                  </a:rPr>
                  <a:t>$\vec c\neq\vec0$</a:t>
                </a:r>
                <a:r>
                  <a:rPr sz="2400" b="0">
                    <a:solidFill>
                      <a:srgbClr val="111827"/>
                    </a:solidFill>
                    <a:latin typeface="Arial"/>
                  </a:rPr>
                  <a:t>), so </a:t>
                </a:r>
                <a:r>
                  <a:rPr lang="en-IN" sz="2400">
                    <a:solidFill>
                      <a:srgbClr val="111827"/>
                    </a:solidFill>
                    <a:latin typeface="Cambria Math" panose="02040503050406030204" pitchFamily="18" charset="0"/>
                  </a:rPr>
                  <a:t>$\vec a\cdot\vec c=1$</a:t>
                </a:r>
                <a:r>
                  <a:rPr sz="2400" b="0">
                    <a:solidFill>
                      <a:srgbClr val="111827"/>
                    </a:solidFill>
                    <a:latin typeface="Arial"/>
                  </a:rPr>
                  <a:t> and </a:t>
                </a:r>
                <a:r>
                  <a:rPr lang="en-IN" sz="2400">
                    <a:solidFill>
                      <a:srgbClr val="111827"/>
                    </a:solidFill>
                    <a:latin typeface="Cambria Math" panose="02040503050406030204" pitchFamily="18" charset="0"/>
                  </a:rPr>
                  <a:t>$\vec a\parallel\vec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quadratic bounded by a trig value: </a:t>
                </a:r>
                <a:r>
                  <a:rPr lang="en-IN" sz="2400">
                    <a:solidFill>
                      <a:srgbClr val="111827"/>
                    </a:solidFill>
                    <a:latin typeface="Cambria Math" panose="02040503050406030204" pitchFamily="18" charset="0"/>
                  </a:rPr>
                  <a:t>$x^2-2x+2=(x-1)^2+1\ge1$</a:t>
                </a:r>
                <a:r>
                  <a:rPr sz="2400" b="0">
                    <a:solidFill>
                      <a:srgbClr val="111827"/>
                    </a:solidFill>
                    <a:latin typeface="Arial"/>
                  </a:rPr>
                  <a:t>, so </a:t>
                </a:r>
                <a:r>
                  <a:rPr lang="en-IN" sz="2400">
                    <a:solidFill>
                      <a:srgbClr val="111827"/>
                    </a:solidFill>
                    <a:latin typeface="Cambria Math" panose="02040503050406030204" pitchFamily="18" charset="0"/>
                  </a:rPr>
                  <a:t>$\sin\theta=x^2-2x+2$</a:t>
                </a:r>
                <a:r>
                  <a:rPr sz="2400" b="0">
                    <a:solidFill>
                      <a:srgbClr val="111827"/>
                    </a:solidFill>
                    <a:latin typeface="Arial"/>
                  </a:rPr>
                  <a:t> (or </a:t>
                </a:r>
                <a:r>
                  <a:rPr lang="en-IN" sz="2400">
                    <a:solidFill>
                      <a:srgbClr val="111827"/>
                    </a:solidFill>
                    <a:latin typeface="Cambria Math" panose="02040503050406030204" pitchFamily="18" charset="0"/>
                  </a:rPr>
                  <a:t>$\cos\theta=\ldots$</a:t>
                </a:r>
                <a:r>
                  <a:rPr sz="2400" b="0">
                    <a:solidFill>
                      <a:srgbClr val="111827"/>
                    </a:solidFill>
                    <a:latin typeface="Arial"/>
                  </a:rPr>
                  <a:t>) forces </a:t>
                </a:r>
                <a:r>
                  <a:rPr lang="en-IN" sz="2400">
                    <a:solidFill>
                      <a:srgbClr val="111827"/>
                    </a:solidFill>
                    <a:latin typeface="Cambria Math" panose="02040503050406030204" pitchFamily="18" charset="0"/>
                  </a:rPr>
                  <a:t>$x=1$</a:t>
                </a:r>
                <a:r>
                  <a:rPr sz="2400" b="0">
                    <a:solidFill>
                      <a:srgbClr val="111827"/>
                    </a:solidFill>
                    <a:latin typeface="Arial"/>
                  </a:rPr>
                  <a:t> and </a:t>
                </a:r>
                <a:r>
                  <a:rPr lang="en-IN" sz="2400">
                    <a:solidFill>
                      <a:srgbClr val="111827"/>
                    </a:solidFill>
                    <a:latin typeface="Cambria Math" panose="02040503050406030204" pitchFamily="18" charset="0"/>
                  </a:rPr>
                  <a:t>$\sin\theta=1$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$\sin\alpha=1\iff\alpha=2m\pi+\frac{\pi}{2}$</a:t>
                </a:r>
                <a:r>
                  <a:rPr sz="2400" b="0">
                    <a:solidFill>
                      <a:srgbClr val="111827"/>
                    </a:solidFill>
                    <a:latin typeface="Arial"/>
                  </a:rPr>
                  <a:t>, which is the same family as </a:t>
                </a:r>
                <a:r>
                  <a:rPr lang="en-IN" sz="2400">
                    <a:solidFill>
                      <a:srgbClr val="111827"/>
                    </a:solidFill>
                    <a:latin typeface="Cambria Math" panose="02040503050406030204" pitchFamily="18" charset="0"/>
                  </a:rPr>
                  <a:t>$n\pi+(-1)^n\frac{\pi}{2}$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Find the value(s) of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if any, such that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 Find the vector product when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$\vec{a}=\alpha\hat{i}+2\hat{j}-3\hat{k}$</a:t>
                </a:r>
                <a:r>
                  <a:rPr sz="2400" b="0">
                    <a:solidFill>
                      <a:srgbClr val="111827"/>
                    </a:solidFill>
                    <a:latin typeface="Arial"/>
                  </a:rPr>
                  <a:t>, </a:t>
                </a:r>
                <a:r>
                  <a:rPr lang="en-IN" sz="2400">
                    <a:solidFill>
                      <a:srgbClr val="111827"/>
                    </a:solidFill>
                    <a:latin typeface="Cambria Math" panose="02040503050406030204" pitchFamily="18" charset="0"/>
                  </a:rPr>
                  <a:t>$\vec{b}=\hat{i}+2\alpha\hat{j}-2\hat{k}$</a:t>
                </a:r>
                <a:r>
                  <a:rPr sz="2400" b="0">
                    <a:solidFill>
                      <a:srgbClr val="111827"/>
                    </a:solidFill>
                    <a:latin typeface="Arial"/>
                  </a:rPr>
                  <a:t> and </a:t>
                </a:r>
                <a:r>
                  <a:rPr lang="en-IN" sz="2400">
                    <a:solidFill>
                      <a:srgbClr val="111827"/>
                    </a:solidFill>
                    <a:latin typeface="Cambria Math" panose="02040503050406030204" pitchFamily="18" charset="0"/>
                  </a:rPr>
                  <a:t>$\vec{c}=2\hat{i}-\alpha\hat{j}+\hat{k}$</a:t>
                </a:r>
                <a:r>
                  <a:rPr sz="2400" b="0">
                    <a:solidFill>
                      <a:srgbClr val="111827"/>
                    </a:solidFill>
                    <a:latin typeface="Arial"/>
                  </a:rPr>
                  <a:t>. Find the value(s) of </a:t>
                </a:r>
                <a:r>
                  <a:rPr lang="en-IN" sz="2400">
                    <a:solidFill>
                      <a:srgbClr val="111827"/>
                    </a:solidFill>
                    <a:latin typeface="Cambria Math" panose="02040503050406030204" pitchFamily="18" charset="0"/>
                  </a:rPr>
                  <a:t>$\alpha$</a:t>
                </a:r>
                <a:r>
                  <a:rPr sz="2400" b="0">
                    <a:solidFill>
                      <a:srgbClr val="111827"/>
                    </a:solidFill>
                    <a:latin typeface="Arial"/>
                  </a:rPr>
                  <a:t>, if any, such that </a:t>
                </a:r>
                <a:r>
                  <a:rPr lang="en-IN" sz="2400">
                    <a:solidFill>
                      <a:srgbClr val="111827"/>
                    </a:solidFill>
                    <a:latin typeface="Cambria Math" panose="02040503050406030204" pitchFamily="18" charset="0"/>
                  </a:rPr>
                  <a:t>$\{(\vec{a}\times\vec{b})\times(\vec{b}\times\vec{c})\}\times(\vec{c}\times\vec{a})=\vec{0}$</a:t>
                </a:r>
                <a:r>
                  <a:rPr sz="2400" b="0">
                    <a:solidFill>
                      <a:srgbClr val="111827"/>
                    </a:solidFill>
                    <a:latin typeface="Arial"/>
                  </a:rPr>
                  <a:t>. Find the vector product when </a:t>
                </a:r>
                <a:r>
                  <a:rPr lang="en-IN" sz="2400">
                    <a:solidFill>
                      <a:srgbClr val="111827"/>
                    </a:solidFill>
                    <a:latin typeface="Cambria Math" panose="02040503050406030204" pitchFamily="18" charset="0"/>
                  </a:rPr>
                  <a:t>$\alpha=0$</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Vector triple product and scalar triple product (coplanarity)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𝑌</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0</m:t>
                        </m:r>
                      </m:e>
                    </m:acc>
                  </m:oMath>
                </a14:m>
                <a:r>
                  <a:rPr sz="2400" b="0">
                    <a:solidFill>
                      <a:srgbClr val="78350F"/>
                    </a:solidFill>
                    <a:latin typeface="Arial"/>
                  </a:rPr>
                  <a:t> means </a:t>
                </a:r>
                <a14:m>
                  <m:oMath xmlns:m="http://schemas.openxmlformats.org/officeDocument/2006/math">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0</m:t>
                        </m:r>
                      </m:e>
                    </m:acc>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𝑌</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0</m:t>
                        </m:r>
                      </m:e>
                    </m:acc>
                  </m:oMath>
                </a14:m>
                <a:r>
                  <a:rPr sz="2400" b="0">
                    <a:solidFill>
                      <a:srgbClr val="78350F"/>
                    </a:solidFill>
                    <a:latin typeface="Arial"/>
                  </a:rPr>
                  <a:t> or </a:t>
                </a:r>
                <a14:m>
                  <m:oMath xmlns:m="http://schemas.openxmlformats.org/officeDocument/2006/math">
                    <m:r>
                      <a:rPr lang="en-IN" sz="2400" i="1">
                        <a:solidFill>
                          <a:srgbClr val="78350F"/>
                        </a:solidFill>
                        <a:latin typeface="Cambria Math" panose="02040503050406030204" pitchFamily="18" charset="0"/>
                      </a:rPr>
                      <m:t>𝑋</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𝑌</m:t>
                    </m:r>
                  </m:oMath>
                </a14:m>
                <a:r>
                  <a:rPr sz="2400" b="0">
                    <a:solidFill>
                      <a:srgbClr val="78350F"/>
                    </a:solidFill>
                    <a:latin typeface="Arial"/>
                  </a:rPr>
                  <a:t>; every case forces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$X\times Y=\vec0$</a:t>
                </a:r>
                <a:r>
                  <a:rPr sz="2400" b="0">
                    <a:solidFill>
                      <a:srgbClr val="78350F"/>
                    </a:solidFill>
                    <a:latin typeface="Arial"/>
                  </a:rPr>
                  <a:t> means </a:t>
                </a:r>
                <a:r>
                  <a:rPr lang="en-IN" sz="2400">
                    <a:solidFill>
                      <a:srgbClr val="78350F"/>
                    </a:solidFill>
                    <a:latin typeface="Cambria Math" panose="02040503050406030204" pitchFamily="18" charset="0"/>
                  </a:rPr>
                  <a:t>$X=\vec0$</a:t>
                </a:r>
                <a:r>
                  <a:rPr sz="2400" b="0">
                    <a:solidFill>
                      <a:srgbClr val="78350F"/>
                    </a:solidFill>
                    <a:latin typeface="Arial"/>
                  </a:rPr>
                  <a:t>, </a:t>
                </a:r>
                <a:r>
                  <a:rPr lang="en-IN" sz="2400">
                    <a:solidFill>
                      <a:srgbClr val="78350F"/>
                    </a:solidFill>
                    <a:latin typeface="Cambria Math" panose="02040503050406030204" pitchFamily="18" charset="0"/>
                  </a:rPr>
                  <a:t>$Y=\vec0$</a:t>
                </a:r>
                <a:r>
                  <a:rPr sz="2400" b="0">
                    <a:solidFill>
                      <a:srgbClr val="78350F"/>
                    </a:solidFill>
                    <a:latin typeface="Arial"/>
                  </a:rPr>
                  <a:t> or </a:t>
                </a:r>
                <a:r>
                  <a:rPr lang="en-IN" sz="2400">
                    <a:solidFill>
                      <a:srgbClr val="78350F"/>
                    </a:solidFill>
                    <a:latin typeface="Cambria Math" panose="02040503050406030204" pitchFamily="18" charset="0"/>
                  </a:rPr>
                  <a:t>$X\parallel Y$</a:t>
                </a:r>
                <a:r>
                  <a:rPr sz="2400" b="0">
                    <a:solidFill>
                      <a:srgbClr val="78350F"/>
                    </a:solidFill>
                    <a:latin typeface="Arial"/>
                  </a:rPr>
                  <a:t>; every case forces </a:t>
                </a:r>
                <a:r>
                  <a:rPr lang="en-IN" sz="2400">
                    <a:solidFill>
                      <a:srgbClr val="78350F"/>
                    </a:solidFill>
                    <a:latin typeface="Cambria Math" panose="02040503050406030204" pitchFamily="18" charset="0"/>
                  </a:rPr>
                  <a:t>$[\vec a\ \vec b\ \vec c]=0$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Put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𝑋</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condition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𝑋</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cross product is zero only if one factor is zero or the two are parallel, so the cases are: I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𝑋</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II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 III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𝑋</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$\vec{a}=\langle\alpha,2,-3\rangle$</a:t>
                </a:r>
                <a:r>
                  <a:rPr sz="2400" b="0">
                    <a:solidFill>
                      <a:srgbClr val="111827"/>
                    </a:solidFill>
                    <a:latin typeface="Arial"/>
                  </a:rPr>
                  <a:t>, </a:t>
                </a:r>
                <a:r>
                  <a:rPr lang="en-IN" sz="2400">
                    <a:solidFill>
                      <a:srgbClr val="111827"/>
                    </a:solidFill>
                    <a:latin typeface="Cambria Math" panose="02040503050406030204" pitchFamily="18" charset="0"/>
                  </a:rPr>
                  <a:t>$\vec{b}=\langle1,2\alpha,-2\rangle$</a:t>
                </a:r>
                <a:r>
                  <a:rPr sz="2400" b="0">
                    <a:solidFill>
                      <a:srgbClr val="111827"/>
                    </a:solidFill>
                    <a:latin typeface="Arial"/>
                  </a:rPr>
                  <a:t>, </a:t>
                </a:r>
                <a:r>
                  <a:rPr lang="en-IN" sz="2400">
                    <a:solidFill>
                      <a:srgbClr val="111827"/>
                    </a:solidFill>
                    <a:latin typeface="Cambria Math" panose="02040503050406030204" pitchFamily="18" charset="0"/>
                  </a:rPr>
                  <a:t>$\vec{c}=\langle2,-\alpha,1\rangle$</a:t>
                </a:r>
                <a:r>
                  <a:rPr sz="2400" b="0">
                    <a:solidFill>
                      <a:srgbClr val="111827"/>
                    </a:solidFill>
                    <a:latin typeface="Arial"/>
                  </a:rPr>
                  <a:t>. Put </a:t>
                </a:r>
                <a:r>
                  <a:rPr lang="en-IN" sz="2400">
                    <a:solidFill>
                      <a:srgbClr val="111827"/>
                    </a:solidFill>
                    <a:latin typeface="Cambria Math" panose="02040503050406030204" pitchFamily="18" charset="0"/>
                  </a:rPr>
                  <a:t>$\vec X=(\vec a\times\vec b)\times(\vec b\times\vec c)$</a:t>
                </a:r>
                <a:r>
                  <a:rPr sz="2400" b="0">
                    <a:solidFill>
                      <a:srgbClr val="111827"/>
                    </a:solidFill>
                    <a:latin typeface="Arial"/>
                  </a:rPr>
                  <a:t>; the condition is </a:t>
                </a:r>
                <a:r>
                  <a:rPr lang="en-IN" sz="2400">
                    <a:solidFill>
                      <a:srgbClr val="111827"/>
                    </a:solidFill>
                    <a:latin typeface="Cambria Math" panose="02040503050406030204" pitchFamily="18" charset="0"/>
                  </a:rPr>
                  <a:t>$\vec X\times(\vec c\times\vec a)=\vec 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cross product is zero only if one factor is zero or the two are parallel, so the cases are: I </a:t>
                </a:r>
                <a:r>
                  <a:rPr lang="en-IN" sz="2400">
                    <a:solidFill>
                      <a:srgbClr val="111827"/>
                    </a:solidFill>
                    <a:latin typeface="Cambria Math" panose="02040503050406030204" pitchFamily="18" charset="0"/>
                  </a:rPr>
                  <a:t>$\vec X=\lambda(\vec c\times\vec a)$</a:t>
                </a:r>
                <a:r>
                  <a:rPr sz="2400" b="0">
                    <a:solidFill>
                      <a:srgbClr val="111827"/>
                    </a:solidFill>
                    <a:latin typeface="Arial"/>
                  </a:rPr>
                  <a:t>, II </a:t>
                </a:r>
                <a:r>
                  <a:rPr lang="en-IN" sz="2400">
                    <a:solidFill>
                      <a:srgbClr val="111827"/>
                    </a:solidFill>
                    <a:latin typeface="Cambria Math" panose="02040503050406030204" pitchFamily="18" charset="0"/>
                  </a:rPr>
                  <a:t>$\vec c\times\vec a=\vec0$</a:t>
                </a:r>
                <a:r>
                  <a:rPr sz="2400" b="0">
                    <a:solidFill>
                      <a:srgbClr val="111827"/>
                    </a:solidFill>
                    <a:latin typeface="Arial"/>
                  </a:rPr>
                  <a:t>, III </a:t>
                </a:r>
                <a:r>
                  <a:rPr lang="en-IN" sz="2400">
                    <a:solidFill>
                      <a:srgbClr val="111827"/>
                    </a:solidFill>
                    <a:latin typeface="Cambria Math" panose="02040503050406030204" pitchFamily="18" charset="0"/>
                  </a:rPr>
                  <a:t>$\vec X=\vec0$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I: dot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𝑋</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Since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we get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𝑋</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right side is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which would make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i.e.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But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are never both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α</m:t>
                              </m:r>
                            </m:e>
                            <m:e>
                              <m:r>
                                <a:rPr lang="en-IN" sz="2400" i="1">
                                  <a:solidFill>
                                    <a:srgbClr val="111827"/>
                                  </a:solidFill>
                                  <a:latin typeface="Cambria Math" panose="02040503050406030204" pitchFamily="18" charset="0"/>
                                </a:rPr>
                                <m:t>2</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mr>
                          <m:mr>
                            <m:e>
                              <m:r>
                                <a:rPr lang="en-IN" sz="2400" i="1">
                                  <a:solidFill>
                                    <a:srgbClr val="111827"/>
                                  </a:solidFill>
                                  <a:latin typeface="Cambria Math" panose="02040503050406030204" pitchFamily="18" charset="0"/>
                                </a:rPr>
                                <m:t>2</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e>
                            <m:e>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α</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Case I: dot </a:t>
                </a:r>
                <a:r>
                  <a:rPr lang="en-IN" sz="2400">
                    <a:solidFill>
                      <a:srgbClr val="111827"/>
                    </a:solidFill>
                    <a:latin typeface="Cambria Math" panose="02040503050406030204" pitchFamily="18" charset="0"/>
                  </a:rPr>
                  <a:t>$\vec X=\lambda(\vec c\times\vec a)$</a:t>
                </a:r>
                <a:r>
                  <a:rPr sz="2400" b="0">
                    <a:solidFill>
                      <a:srgbClr val="111827"/>
                    </a:solidFill>
                    <a:latin typeface="Arial"/>
                  </a:rPr>
                  <a:t> with </a:t>
                </a:r>
                <a:r>
                  <a:rPr lang="en-IN" sz="2400">
                    <a:solidFill>
                      <a:srgbClr val="111827"/>
                    </a:solidFill>
                    <a:latin typeface="Cambria Math" panose="02040503050406030204" pitchFamily="18" charset="0"/>
                  </a:rPr>
                  <a:t>$\vec b$</a:t>
                </a:r>
                <a:r>
                  <a:rPr sz="2400" b="0">
                    <a:solidFill>
                      <a:srgbClr val="111827"/>
                    </a:solidFill>
                    <a:latin typeface="Arial"/>
                  </a:rPr>
                  <a:t>. Since </a:t>
                </a:r>
                <a:r>
                  <a:rPr lang="en-IN" sz="2400">
                    <a:solidFill>
                      <a:srgbClr val="111827"/>
                    </a:solidFill>
                    <a:latin typeface="Cambria Math" panose="02040503050406030204" pitchFamily="18" charset="0"/>
                  </a:rPr>
                  <a:t>$\vec b\times(\vec a\times\vec b)=\vec a(\vec b\cdot\vec b)-\vec b(\vec a\cdot\vec b)$</a:t>
                </a:r>
                <a:r>
                  <a:rPr sz="2400" b="0">
                    <a:solidFill>
                      <a:srgbClr val="111827"/>
                    </a:solidFill>
                    <a:latin typeface="Arial"/>
                  </a:rPr>
                  <a:t>, we get </a:t>
                </a:r>
                <a:r>
                  <a:rPr lang="en-IN" sz="2400">
                    <a:solidFill>
                      <a:srgbClr val="111827"/>
                    </a:solidFill>
                    <a:latin typeface="Cambria Math" panose="02040503050406030204" pitchFamily="18" charset="0"/>
                  </a:rPr>
                  <a:t>$\vec b\cdot\vec X=(\vec b\cdot\vec b)[\vec a\ \vec b\ \vec c]-(\vec a\cdot\vec b)[\vec b\ \vec b\ \vec c]=|\vec b|^2[\vec a\ \vec b\ \vec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right side is </a:t>
                </a:r>
                <a:r>
                  <a:rPr lang="en-IN" sz="2400">
                    <a:solidFill>
                      <a:srgbClr val="111827"/>
                    </a:solidFill>
                    <a:latin typeface="Cambria Math" panose="02040503050406030204" pitchFamily="18" charset="0"/>
                  </a:rPr>
                  <a:t>$\lambda[\vec a\ \vec b\ \vec c]$</a:t>
                </a:r>
                <a:r>
                  <a:rPr sz="2400" b="0">
                    <a:solidFill>
                      <a:srgbClr val="111827"/>
                    </a:solidFill>
                    <a:latin typeface="Arial"/>
                  </a:rPr>
                  <a:t>, so </a:t>
                </a:r>
                <a:r>
                  <a:rPr lang="en-IN" sz="2400">
                    <a:solidFill>
                      <a:srgbClr val="111827"/>
                    </a:solidFill>
                    <a:latin typeface="Cambria Math" panose="02040503050406030204" pitchFamily="18" charset="0"/>
                  </a:rPr>
                  <a:t>$(|\vec b|^2-\lambda)[\vec a\ \vec b\ \vec c]=0$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$[\vec a\ \vec b\ \vec c]\neq0$</a:t>
                </a:r>
                <a:r>
                  <a:rPr sz="2400" b="0">
                    <a:solidFill>
                      <a:srgbClr val="111827"/>
                    </a:solidFill>
                    <a:latin typeface="Arial"/>
                  </a:rPr>
                  <a:t> then </a:t>
                </a:r>
                <a:r>
                  <a:rPr lang="en-IN" sz="2400">
                    <a:solidFill>
                      <a:srgbClr val="111827"/>
                    </a:solidFill>
                    <a:latin typeface="Cambria Math" panose="02040503050406030204" pitchFamily="18" charset="0"/>
                  </a:rPr>
                  <a:t>$\lambda=|\vec b|^2$</a:t>
                </a:r>
                <a:r>
                  <a:rPr sz="2400" b="0">
                    <a:solidFill>
                      <a:srgbClr val="111827"/>
                    </a:solidFill>
                    <a:latin typeface="Arial"/>
                  </a:rPr>
                  <a:t>, which would make </a:t>
                </a:r>
                <a:r>
                  <a:rPr lang="en-IN" sz="2400">
                    <a:solidFill>
                      <a:srgbClr val="111827"/>
                    </a:solidFill>
                    <a:latin typeface="Cambria Math" panose="02040503050406030204" pitchFamily="18" charset="0"/>
                  </a:rPr>
                  <a:t>$\vec c\times\vec a\parallel\vec b$</a:t>
                </a:r>
                <a:r>
                  <a:rPr sz="2400" b="0">
                    <a:solidFill>
                      <a:srgbClr val="111827"/>
                    </a:solidFill>
                    <a:latin typeface="Arial"/>
                  </a:rPr>
                  <a:t>, i.e. </a:t>
                </a:r>
                <a:r>
                  <a:rPr lang="en-IN" sz="2400">
                    <a:solidFill>
                      <a:srgbClr val="111827"/>
                    </a:solidFill>
                    <a:latin typeface="Cambria Math" panose="02040503050406030204" pitchFamily="18" charset="0"/>
                  </a:rPr>
                  <a:t>$\vec b\perp\vec a$</a:t>
                </a:r>
                <a:r>
                  <a:rPr sz="2400" b="0">
                    <a:solidFill>
                      <a:srgbClr val="111827"/>
                    </a:solidFill>
                    <a:latin typeface="Arial"/>
                  </a:rPr>
                  <a:t> and </a:t>
                </a:r>
                <a:r>
                  <a:rPr lang="en-IN" sz="2400">
                    <a:solidFill>
                      <a:srgbClr val="111827"/>
                    </a:solidFill>
                    <a:latin typeface="Cambria Math" panose="02040503050406030204" pitchFamily="18" charset="0"/>
                  </a:rPr>
                  <a:t>$\vec b\perp\vec c$</a:t>
                </a:r>
                <a:r>
                  <a:rPr sz="2400" b="0">
                    <a:solidFill>
                      <a:srgbClr val="111827"/>
                    </a:solidFill>
                    <a:latin typeface="Arial"/>
                  </a:rPr>
                  <a:t>. But </a:t>
                </a:r>
                <a:r>
                  <a:rPr lang="en-IN" sz="2400">
                    <a:solidFill>
                      <a:srgbClr val="111827"/>
                    </a:solidFill>
                    <a:latin typeface="Cambria Math" panose="02040503050406030204" pitchFamily="18" charset="0"/>
                  </a:rPr>
                  <a:t>$\vec b\cdot\vec c=-2\alpha^2$</a:t>
                </a:r>
                <a:r>
                  <a:rPr sz="2400" b="0">
                    <a:solidFill>
                      <a:srgbClr val="111827"/>
                    </a:solidFill>
                    <a:latin typeface="Arial"/>
                  </a:rPr>
                  <a:t> and </a:t>
                </a:r>
                <a:r>
                  <a:rPr lang="en-IN" sz="2400">
                    <a:solidFill>
                      <a:srgbClr val="111827"/>
                    </a:solidFill>
                    <a:latin typeface="Cambria Math" panose="02040503050406030204" pitchFamily="18" charset="0"/>
                  </a:rPr>
                  <a:t>$\vec a\cdot\vec b=5\alpha+6$</a:t>
                </a:r>
                <a:r>
                  <a:rPr sz="2400" b="0">
                    <a:solidFill>
                      <a:srgbClr val="111827"/>
                    </a:solidFill>
                    <a:latin typeface="Arial"/>
                  </a:rPr>
                  <a:t> are never both </a:t>
                </a:r>
                <a:r>
                  <a:rPr lang="en-IN" sz="2400">
                    <a:solidFill>
                      <a:srgbClr val="111827"/>
                    </a:solidFill>
                    <a:latin typeface="Cambria Math" panose="02040503050406030204" pitchFamily="18" charset="0"/>
                  </a:rPr>
                  <a:t>$0$</a:t>
                </a:r>
                <a:r>
                  <a:rPr sz="2400" b="0">
                    <a:solidFill>
                      <a:srgbClr val="111827"/>
                    </a:solidFill>
                    <a:latin typeface="Arial"/>
                  </a:rPr>
                  <a:t>. So </a:t>
                </a:r>
                <a:r>
                  <a:rPr lang="en-IN" sz="2400">
                    <a:solidFill>
                      <a:srgbClr val="111827"/>
                    </a:solidFill>
                    <a:latin typeface="Cambria Math" panose="02040503050406030204" pitchFamily="18" charset="0"/>
                  </a:rPr>
                  <a:t>$[\vec a\ \vec b\ \vec c]=0$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 \vec b\ \vec c]=\left|\begin{matrix}\alpha&amp;2&amp;-3\\1&amp;2\alpha&amp;-2\\2&amp;-\alpha&amp;1\end{matrix}\right|=\alpha(2\alpha-2\alpha)-2(1+4)-3(-\alpha-4\alpha)=-10+15\alpha$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 needs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α</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𝑘</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but then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oMath>
                </a14:m>
                <a:r>
                  <a:rPr sz="2400" b="0">
                    <a:solidFill>
                      <a:srgbClr val="111827"/>
                    </a:solidFill>
                    <a:latin typeface="Arial"/>
                  </a:rPr>
                  <a:t>: not 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III: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𝑋</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 means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dot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again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is the only value.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𝑋</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$-10+15\alpha=0$</a:t>
                </a:r>
                <a:r>
                  <a:rPr sz="2400" b="0">
                    <a:solidFill>
                      <a:srgbClr val="111827"/>
                    </a:solidFill>
                    <a:latin typeface="Arial"/>
                  </a:rPr>
                  <a:t> gives </a:t>
                </a:r>
                <a:r>
                  <a:rPr lang="en-IN" sz="2400">
                    <a:solidFill>
                      <a:srgbClr val="111827"/>
                    </a:solidFill>
                    <a:latin typeface="Cambria Math" panose="02040503050406030204" pitchFamily="18" charset="0"/>
                  </a:rPr>
                  <a:t>$\alpha=\frac{2}{3}$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 </a:t>
                </a:r>
                <a:r>
                  <a:rPr lang="en-IN" sz="2400">
                    <a:solidFill>
                      <a:srgbClr val="111827"/>
                    </a:solidFill>
                    <a:latin typeface="Cambria Math" panose="02040503050406030204" pitchFamily="18" charset="0"/>
                  </a:rPr>
                  <a:t>$\vec c\times\vec a=\vec0$</a:t>
                </a:r>
                <a:r>
                  <a:rPr sz="2400" b="0">
                    <a:solidFill>
                      <a:srgbClr val="111827"/>
                    </a:solidFill>
                    <a:latin typeface="Arial"/>
                  </a:rPr>
                  <a:t> needs </a:t>
                </a:r>
                <a:r>
                  <a:rPr lang="en-IN" sz="2400">
                    <a:solidFill>
                      <a:srgbClr val="111827"/>
                    </a:solidFill>
                    <a:latin typeface="Cambria Math" panose="02040503050406030204" pitchFamily="18" charset="0"/>
                  </a:rPr>
                  <a:t>$\vec c=k\vec a$</a:t>
                </a:r>
                <a:r>
                  <a:rPr sz="2400" b="0">
                    <a:solidFill>
                      <a:srgbClr val="111827"/>
                    </a:solidFill>
                    <a:latin typeface="Arial"/>
                  </a:rPr>
                  <a:t>: </a:t>
                </a:r>
                <a:r>
                  <a:rPr lang="en-IN" sz="2400">
                    <a:solidFill>
                      <a:srgbClr val="111827"/>
                    </a:solidFill>
                    <a:latin typeface="Cambria Math" panose="02040503050406030204" pitchFamily="18" charset="0"/>
                  </a:rPr>
                  <a:t>$2=k\alpha$</a:t>
                </a:r>
                <a:r>
                  <a:rPr sz="2400" b="0">
                    <a:solidFill>
                      <a:srgbClr val="111827"/>
                    </a:solidFill>
                    <a:latin typeface="Arial"/>
                  </a:rPr>
                  <a:t>, </a:t>
                </a:r>
                <a:r>
                  <a:rPr lang="en-IN" sz="2400">
                    <a:solidFill>
                      <a:srgbClr val="111827"/>
                    </a:solidFill>
                    <a:latin typeface="Cambria Math" panose="02040503050406030204" pitchFamily="18" charset="0"/>
                  </a:rPr>
                  <a:t>$-\alpha=2k$</a:t>
                </a:r>
                <a:r>
                  <a:rPr sz="2400" b="0">
                    <a:solidFill>
                      <a:srgbClr val="111827"/>
                    </a:solidFill>
                    <a:latin typeface="Arial"/>
                  </a:rPr>
                  <a:t>, </a:t>
                </a:r>
                <a:r>
                  <a:rPr lang="en-IN" sz="2400">
                    <a:solidFill>
                      <a:srgbClr val="111827"/>
                    </a:solidFill>
                    <a:latin typeface="Cambria Math" panose="02040503050406030204" pitchFamily="18" charset="0"/>
                  </a:rPr>
                  <a:t>$1=-3k$</a:t>
                </a:r>
                <a:r>
                  <a:rPr sz="2400" b="0">
                    <a:solidFill>
                      <a:srgbClr val="111827"/>
                    </a:solidFill>
                    <a:latin typeface="Arial"/>
                  </a:rPr>
                  <a:t> give </a:t>
                </a:r>
                <a:r>
                  <a:rPr lang="en-IN" sz="2400">
                    <a:solidFill>
                      <a:srgbClr val="111827"/>
                    </a:solidFill>
                    <a:latin typeface="Cambria Math" panose="02040503050406030204" pitchFamily="18" charset="0"/>
                  </a:rPr>
                  <a:t>$k=-\frac13$</a:t>
                </a:r>
                <a:r>
                  <a:rPr sz="2400" b="0">
                    <a:solidFill>
                      <a:srgbClr val="111827"/>
                    </a:solidFill>
                    <a:latin typeface="Arial"/>
                  </a:rPr>
                  <a:t>, </a:t>
                </a:r>
                <a:r>
                  <a:rPr lang="en-IN" sz="2400">
                    <a:solidFill>
                      <a:srgbClr val="111827"/>
                    </a:solidFill>
                    <a:latin typeface="Cambria Math" panose="02040503050406030204" pitchFamily="18" charset="0"/>
                  </a:rPr>
                  <a:t>$\alpha=-6$</a:t>
                </a:r>
                <a:r>
                  <a:rPr sz="2400" b="0">
                    <a:solidFill>
                      <a:srgbClr val="111827"/>
                    </a:solidFill>
                    <a:latin typeface="Arial"/>
                  </a:rPr>
                  <a:t> but then </a:t>
                </a:r>
                <a:r>
                  <a:rPr lang="en-IN" sz="2400">
                    <a:solidFill>
                      <a:srgbClr val="111827"/>
                    </a:solidFill>
                    <a:latin typeface="Cambria Math" panose="02040503050406030204" pitchFamily="18" charset="0"/>
                  </a:rPr>
                  <a:t>$-\alpha=6\neq2k$</a:t>
                </a:r>
                <a:r>
                  <a:rPr sz="2400" b="0">
                    <a:solidFill>
                      <a:srgbClr val="111827"/>
                    </a:solidFill>
                    <a:latin typeface="Arial"/>
                  </a:rPr>
                  <a:t>: not possible.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Case III: </a:t>
                </a:r>
                <a:r>
                  <a:rPr lang="en-IN" sz="2400">
                    <a:solidFill>
                      <a:srgbClr val="111827"/>
                    </a:solidFill>
                    <a:latin typeface="Cambria Math" panose="02040503050406030204" pitchFamily="18" charset="0"/>
                  </a:rPr>
                  <a:t>$\vec X=\vec0$</a:t>
                </a:r>
                <a:r>
                  <a:rPr sz="2400" b="0">
                    <a:solidFill>
                      <a:srgbClr val="111827"/>
                    </a:solidFill>
                    <a:latin typeface="Arial"/>
                  </a:rPr>
                  <a:t> means </a:t>
                </a:r>
                <a:r>
                  <a:rPr lang="en-IN" sz="2400">
                    <a:solidFill>
                      <a:srgbClr val="111827"/>
                    </a:solidFill>
                    <a:latin typeface="Cambria Math" panose="02040503050406030204" pitchFamily="18" charset="0"/>
                  </a:rPr>
                  <a:t>$\vec a\times\vec b=\lambda(\vec b\times\vec c)$</a:t>
                </a:r>
                <a:r>
                  <a:rPr sz="2400" b="0">
                    <a:solidFill>
                      <a:srgbClr val="111827"/>
                    </a:solidFill>
                    <a:latin typeface="Arial"/>
                  </a:rPr>
                  <a:t>; dot with </a:t>
                </a:r>
                <a:r>
                  <a:rPr lang="en-IN" sz="2400">
                    <a:solidFill>
                      <a:srgbClr val="111827"/>
                    </a:solidFill>
                    <a:latin typeface="Cambria Math" panose="02040503050406030204" pitchFamily="18" charset="0"/>
                  </a:rPr>
                  <a:t>$\vec c$</a:t>
                </a:r>
                <a:r>
                  <a:rPr sz="2400" b="0">
                    <a:solidFill>
                      <a:srgbClr val="111827"/>
                    </a:solidFill>
                    <a:latin typeface="Arial"/>
                  </a:rPr>
                  <a:t>: </a:t>
                </a:r>
                <a:r>
                  <a:rPr lang="en-IN" sz="2400">
                    <a:solidFill>
                      <a:srgbClr val="111827"/>
                    </a:solidFill>
                    <a:latin typeface="Cambria Math" panose="02040503050406030204" pitchFamily="18" charset="0"/>
                  </a:rPr>
                  <a:t>$[\vec a\ \vec b\ \vec c]=0$</a:t>
                </a:r>
                <a:r>
                  <a:rPr sz="2400" b="0">
                    <a:solidFill>
                      <a:srgbClr val="111827"/>
                    </a:solidFill>
                    <a:latin typeface="Arial"/>
                  </a:rPr>
                  <a:t>, again </a:t>
                </a:r>
                <a:r>
                  <a:rPr lang="en-IN" sz="2400">
                    <a:solidFill>
                      <a:srgbClr val="111827"/>
                    </a:solidFill>
                    <a:latin typeface="Cambria Math" panose="02040503050406030204" pitchFamily="18" charset="0"/>
                  </a:rPr>
                  <a:t>$\alpha=\frac23$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$\alpha=\frac{2}{3}$</a:t>
                </a:r>
                <a:r>
                  <a:rPr sz="2400" b="0">
                    <a:solidFill>
                      <a:srgbClr val="111827"/>
                    </a:solidFill>
                    <a:latin typeface="Arial"/>
                  </a:rPr>
                  <a:t> is the only value.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$\alpha=0$</a:t>
                </a:r>
                <a:r>
                  <a:rPr sz="2400" b="0">
                    <a:solidFill>
                      <a:srgbClr val="111827"/>
                    </a:solidFill>
                    <a:latin typeface="Arial"/>
                  </a:rPr>
                  <a:t>: </a:t>
                </a:r>
                <a:r>
                  <a:rPr lang="en-IN" sz="2400">
                    <a:solidFill>
                      <a:srgbClr val="111827"/>
                    </a:solidFill>
                    <a:latin typeface="Cambria Math" panose="02040503050406030204" pitchFamily="18" charset="0"/>
                  </a:rPr>
                  <a:t>$\vec a=\langle0,2,-3\rangle$</a:t>
                </a:r>
                <a:r>
                  <a:rPr sz="2400" b="0">
                    <a:solidFill>
                      <a:srgbClr val="111827"/>
                    </a:solidFill>
                    <a:latin typeface="Arial"/>
                  </a:rPr>
                  <a:t>, </a:t>
                </a:r>
                <a:r>
                  <a:rPr lang="en-IN" sz="2400">
                    <a:solidFill>
                      <a:srgbClr val="111827"/>
                    </a:solidFill>
                    <a:latin typeface="Cambria Math" panose="02040503050406030204" pitchFamily="18" charset="0"/>
                  </a:rPr>
                  <a:t>$\vec b=\langle1,0,-2\rangle$</a:t>
                </a:r>
                <a:r>
                  <a:rPr sz="2400" b="0">
                    <a:solidFill>
                      <a:srgbClr val="111827"/>
                    </a:solidFill>
                    <a:latin typeface="Arial"/>
                  </a:rPr>
                  <a:t>, </a:t>
                </a:r>
                <a:r>
                  <a:rPr lang="en-IN" sz="2400">
                    <a:solidFill>
                      <a:srgbClr val="111827"/>
                    </a:solidFill>
                    <a:latin typeface="Cambria Math" panose="02040503050406030204" pitchFamily="18" charset="0"/>
                  </a:rPr>
                  <a:t>$\vec c=\langle2,0,1\rangle$</a:t>
                </a:r>
                <a:r>
                  <a:rPr sz="2400" b="0">
                    <a:solidFill>
                      <a:srgbClr val="111827"/>
                    </a:solidFill>
                    <a:latin typeface="Arial"/>
                  </a:rPr>
                  <a:t>. Then </a:t>
                </a:r>
                <a:r>
                  <a:rPr lang="en-IN" sz="2400">
                    <a:solidFill>
                      <a:srgbClr val="111827"/>
                    </a:solidFill>
                    <a:latin typeface="Cambria Math" panose="02040503050406030204" pitchFamily="18" charset="0"/>
                  </a:rPr>
                  <a:t>$\vec a\times\vec b=\langle-4,-3,-2\rangle$</a:t>
                </a:r>
                <a:r>
                  <a:rPr sz="2400" b="0">
                    <a:solidFill>
                      <a:srgbClr val="111827"/>
                    </a:solidFill>
                    <a:latin typeface="Arial"/>
                  </a:rPr>
                  <a:t> and </a:t>
                </a:r>
                <a:r>
                  <a:rPr lang="en-IN" sz="2400">
                    <a:solidFill>
                      <a:srgbClr val="111827"/>
                    </a:solidFill>
                    <a:latin typeface="Cambria Math" panose="02040503050406030204" pitchFamily="18" charset="0"/>
                  </a:rPr>
                  <a:t>$\vec b\times\vec c=\langle0,-5,0\rangle$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X=\langle-4,-3,-2\rangle\times\langle0,-5,0\rangle=\langle-10,0,20\rangle$</a:t>
                </a:r>
                <a:r>
                  <a:rPr sz="2400" b="0">
                    <a:solidFill>
                      <a:srgbClr val="111827"/>
                    </a:solidFill>
                    <a:latin typeface="Arial"/>
                  </a:rPr>
                  <a:t> and </a:t>
                </a:r>
                <a:r>
                  <a:rPr lang="en-IN" sz="2400">
                    <a:solidFill>
                      <a:srgbClr val="111827"/>
                    </a:solidFill>
                    <a:latin typeface="Cambria Math" panose="02040503050406030204" pitchFamily="18" charset="0"/>
                  </a:rPr>
                  <a:t>$\vec c\times\vec a=\langle-2,6,4\rangle$</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𝑋</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X\times(\vec c\times\vec a)=\langle-120,0,-60\rangle=-60\left(2\hat{i}+\hat{k}\right)$</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α</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r>
                          <a:rPr lang="en-IN" sz="2800" i="1">
                            <a:solidFill>
                              <a:srgbClr val="15803D"/>
                            </a:solidFill>
                            <a:latin typeface="Cambria Math" panose="02040503050406030204" pitchFamily="18" charset="0"/>
                          </a:rPr>
                          <m:t>3</m:t>
                        </m:r>
                      </m:den>
                    </m:f>
                  </m:oMath>
                </a14:m>
                <a:r>
                  <a:rPr sz="2800" b="1">
                    <a:solidFill>
                      <a:srgbClr val="15803D"/>
                    </a:solidFill>
                    <a:latin typeface="Arial"/>
                  </a:rPr>
                  <a:t> only; for </a:t>
                </a:r>
                <a14:m>
                  <m:oMath xmlns:m="http://schemas.openxmlformats.org/officeDocument/2006/math">
                    <m:r>
                      <a:rPr lang="en-IN" sz="2800" i="1">
                        <a:solidFill>
                          <a:srgbClr val="15803D"/>
                        </a:solidFill>
                        <a:latin typeface="Cambria Math" panose="02040503050406030204" pitchFamily="18" charset="0"/>
                      </a:rPr>
                      <m:t>α</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r>
                  <a:rPr sz="2800" b="1">
                    <a:solidFill>
                      <a:srgbClr val="15803D"/>
                    </a:solidFill>
                    <a:latin typeface="Arial"/>
                  </a:rPr>
                  <a:t> the vector product is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60</m:t>
                    </m:r>
                    <m:d>
                      <m:dPr>
                        <m:begChr m:val="("/>
                        <m:sepChr m:val=""/>
                        <m:endChr m:val=")"/>
                        <m:grow/>
                        <m:ctrlPr>
                          <a:rPr lang="en-IN" sz="2800" i="1">
                            <a:solidFill>
                              <a:srgbClr val="15803D"/>
                            </a:solidFill>
                            <a:latin typeface="Cambria Math" panose="02040503050406030204" pitchFamily="18" charset="0"/>
                          </a:rPr>
                        </m:ctrlPr>
                      </m:dPr>
                      <m:e>
                        <m:r>
                          <a:rPr lang="en-IN" sz="2800" i="1">
                            <a:solidFill>
                              <a:srgbClr val="15803D"/>
                            </a:solidFill>
                            <a:latin typeface="Cambria Math" panose="02040503050406030204" pitchFamily="18" charset="0"/>
                          </a:rPr>
                          <m:t>2</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𝑖</m:t>
                            </m:r>
                          </m:e>
                        </m:acc>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𝑘</m:t>
                            </m:r>
                          </m:e>
                        </m:acc>
                      </m:e>
                    </m: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$\alpha=\frac{2}{3}$</a:t>
                </a:r>
                <a:r>
                  <a:rPr sz="2800" b="1">
                    <a:solidFill>
                      <a:srgbClr val="15803D"/>
                    </a:solidFill>
                    <a:latin typeface="Arial"/>
                  </a:rPr>
                  <a:t> only; for </a:t>
                </a:r>
                <a:r>
                  <a:rPr lang="en-IN" sz="2800">
                    <a:solidFill>
                      <a:srgbClr val="15803D"/>
                    </a:solidFill>
                    <a:latin typeface="Cambria Math" panose="02040503050406030204" pitchFamily="18" charset="0"/>
                  </a:rPr>
                  <a:t>$\alpha=0$</a:t>
                </a:r>
                <a:r>
                  <a:rPr sz="2800" b="1">
                    <a:solidFill>
                      <a:srgbClr val="15803D"/>
                    </a:solidFill>
                    <a:latin typeface="Arial"/>
                  </a:rPr>
                  <a:t> the vector product is </a:t>
                </a:r>
                <a:r>
                  <a:rPr lang="en-IN" sz="2800">
                    <a:solidFill>
                      <a:srgbClr val="15803D"/>
                    </a:solidFill>
                    <a:latin typeface="Cambria Math" panose="02040503050406030204" pitchFamily="18" charset="0"/>
                  </a:rPr>
                  <a:t>$-60\left(2\hat{i}+\hat{k}\right)$</a:t>
                </a:r>
                <a:endParaRPr sz="2800">
                  <a:solidFill>
                    <a:srgbClr val="15803D"/>
                  </a:solidFill>
                </a:endParaRPr>
              </a:p>
            </p:txBody>
          </p:sp>
        </mc:Fallback>
      </mc:AlternateContent>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identity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oMath>
                </a14:m>
                <a:r>
                  <a:rPr sz="2400" b="0">
                    <a:solidFill>
                      <a:srgbClr val="78350F"/>
                    </a:solidFill>
                    <a:latin typeface="Arial"/>
                  </a:rPr>
                  <a:t> to collapse the whole expression at once.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identity </a:t>
                </a:r>
                <a:r>
                  <a:rPr lang="en-IN" sz="2400">
                    <a:solidFill>
                      <a:srgbClr val="78350F"/>
                    </a:solidFill>
                    <a:latin typeface="Cambria Math" panose="02040503050406030204" pitchFamily="18" charset="0"/>
                  </a:rPr>
                  <a:t>$(\vec a\times\vec b)\times(\vec b\times\vec c)=[\vec a\ \vec b\ \vec c]\,\vec b$</a:t>
                </a:r>
                <a:r>
                  <a:rPr sz="2400" b="0">
                    <a:solidFill>
                      <a:srgbClr val="78350F"/>
                    </a:solidFill>
                    <a:latin typeface="Arial"/>
                  </a:rPr>
                  <a:t> to collapse the whole expression at once.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because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the given product is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are never parallel for real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(that needs </a:t>
                </a:r>
                <a14:m>
                  <m:oMath xmlns:m="http://schemas.openxmlformats.org/officeDocument/2006/math">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 only 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cannot both vanish, so we need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$\vec u=\vec a\times\vec b$</a:t>
                </a:r>
                <a:r>
                  <a:rPr sz="2400" b="0">
                    <a:solidFill>
                      <a:srgbClr val="111827"/>
                    </a:solidFill>
                    <a:latin typeface="Arial"/>
                  </a:rPr>
                  <a:t>: </a:t>
                </a:r>
                <a:r>
                  <a:rPr lang="en-IN" sz="2400">
                    <a:solidFill>
                      <a:srgbClr val="111827"/>
                    </a:solidFill>
                    <a:latin typeface="Cambria Math" panose="02040503050406030204" pitchFamily="18" charset="0"/>
                  </a:rPr>
                  <a:t>$\vec u\times(\vec b\times\vec c)=\vec b(\vec u\cdot\vec c)-\vec c(\vec u\cdot\vec b)=[\vec a\ \vec b\ \vec c]\,\vec b$</a:t>
                </a:r>
                <a:r>
                  <a:rPr sz="2400" b="0">
                    <a:solidFill>
                      <a:srgbClr val="111827"/>
                    </a:solidFill>
                    <a:latin typeface="Arial"/>
                  </a:rPr>
                  <a:t>, because </a:t>
                </a:r>
                <a:r>
                  <a:rPr lang="en-IN" sz="2400">
                    <a:solidFill>
                      <a:srgbClr val="111827"/>
                    </a:solidFill>
                    <a:latin typeface="Cambria Math" panose="02040503050406030204" pitchFamily="18" charset="0"/>
                  </a:rPr>
                  <a:t>$\vec u\cdot\vec b=0$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the given product is </a:t>
                </a:r>
                <a:r>
                  <a:rPr lang="en-IN" sz="2400">
                    <a:solidFill>
                      <a:srgbClr val="111827"/>
                    </a:solidFill>
                    <a:latin typeface="Cambria Math" panose="02040503050406030204" pitchFamily="18" charset="0"/>
                  </a:rPr>
                  <a:t>$[\vec a\ \vec b\ \vec c]\,\vec b\times(\vec c\times\vec a)=[\vec a\ \vec b\ \vec c]\{\vec c(\vec a\cdot\vec b)-\vec a(\vec b\cdot\vec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a:t>
                </a:r>
                <a:r>
                  <a:rPr sz="2400" b="0">
                    <a:solidFill>
                      <a:srgbClr val="111827"/>
                    </a:solidFill>
                    <a:latin typeface="Arial"/>
                  </a:rPr>
                  <a:t> and </a:t>
                </a:r>
                <a:r>
                  <a:rPr lang="en-IN" sz="2400">
                    <a:solidFill>
                      <a:srgbClr val="111827"/>
                    </a:solidFill>
                    <a:latin typeface="Cambria Math" panose="02040503050406030204" pitchFamily="18" charset="0"/>
                  </a:rPr>
                  <a:t>$\vec c$</a:t>
                </a:r>
                <a:r>
                  <a:rPr sz="2400" b="0">
                    <a:solidFill>
                      <a:srgbClr val="111827"/>
                    </a:solidFill>
                    <a:latin typeface="Arial"/>
                  </a:rPr>
                  <a:t> are never parallel for real </a:t>
                </a:r>
                <a:r>
                  <a:rPr lang="en-IN" sz="2400">
                    <a:solidFill>
                      <a:srgbClr val="111827"/>
                    </a:solidFill>
                    <a:latin typeface="Cambria Math" panose="02040503050406030204" pitchFamily="18" charset="0"/>
                  </a:rPr>
                  <a:t>$\alpha$</a:t>
                </a:r>
                <a:r>
                  <a:rPr sz="2400" b="0">
                    <a:solidFill>
                      <a:srgbClr val="111827"/>
                    </a:solidFill>
                    <a:latin typeface="Arial"/>
                  </a:rPr>
                  <a:t> (that needs </a:t>
                </a:r>
                <a:r>
                  <a:rPr lang="en-IN" sz="2400">
                    <a:solidFill>
                      <a:srgbClr val="111827"/>
                    </a:solidFill>
                    <a:latin typeface="Cambria Math" panose="02040503050406030204" pitchFamily="18" charset="0"/>
                  </a:rPr>
                  <a:t>$\alpha^2=-4$</a:t>
                </a:r>
                <a:r>
                  <a:rPr sz="2400" b="0">
                    <a:solidFill>
                      <a:srgbClr val="111827"/>
                    </a:solidFill>
                    <a:latin typeface="Arial"/>
                  </a:rPr>
                  <a:t>), so </a:t>
                </a:r>
                <a:r>
                  <a:rPr lang="en-IN" sz="2400">
                    <a:solidFill>
                      <a:srgbClr val="111827"/>
                    </a:solidFill>
                    <a:latin typeface="Cambria Math" panose="02040503050406030204" pitchFamily="18" charset="0"/>
                  </a:rPr>
                  <a:t>$\vec c(\vec a\cdot\vec b)-\vec a(\vec b\cdot\vec c)=\vec0$</a:t>
                </a:r>
                <a:r>
                  <a:rPr sz="2400" b="0">
                    <a:solidFill>
                      <a:srgbClr val="111827"/>
                    </a:solidFill>
                    <a:latin typeface="Arial"/>
                  </a:rPr>
                  <a:t> only if </a:t>
                </a:r>
                <a:r>
                  <a:rPr lang="en-IN" sz="2400">
                    <a:solidFill>
                      <a:srgbClr val="111827"/>
                    </a:solidFill>
                    <a:latin typeface="Cambria Math" panose="02040503050406030204" pitchFamily="18" charset="0"/>
                  </a:rPr>
                  <a:t>$\vec a\cdot\vec b=0=\vec b\cdot\vec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$\vec a\cdot\vec b=5\alpha+6$</a:t>
                </a:r>
                <a:r>
                  <a:rPr sz="2400" b="0">
                    <a:solidFill>
                      <a:srgbClr val="111827"/>
                    </a:solidFill>
                    <a:latin typeface="Arial"/>
                  </a:rPr>
                  <a:t> and </a:t>
                </a:r>
                <a:r>
                  <a:rPr lang="en-IN" sz="2400">
                    <a:solidFill>
                      <a:srgbClr val="111827"/>
                    </a:solidFill>
                    <a:latin typeface="Cambria Math" panose="02040503050406030204" pitchFamily="18" charset="0"/>
                  </a:rPr>
                  <a:t>$\vec b\cdot\vec c=-2\alpha^2$</a:t>
                </a:r>
                <a:r>
                  <a:rPr sz="2400" b="0">
                    <a:solidFill>
                      <a:srgbClr val="111827"/>
                    </a:solidFill>
                    <a:latin typeface="Arial"/>
                  </a:rPr>
                  <a:t> cannot both vanish, so we need </a:t>
                </a:r>
                <a:r>
                  <a:rPr lang="en-IN" sz="2400">
                    <a:solidFill>
                      <a:srgbClr val="111827"/>
                    </a:solidFill>
                    <a:latin typeface="Cambria Math" panose="02040503050406030204" pitchFamily="18" charset="0"/>
                  </a:rPr>
                  <a:t>$[\vec a\ \vec b\ \vec c]=0$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60</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 \vec b\ \vec c]=15\alpha-10$</a:t>
                </a:r>
                <a:r>
                  <a:rPr sz="2400" b="0">
                    <a:solidFill>
                      <a:srgbClr val="111827"/>
                    </a:solidFill>
                    <a:latin typeface="Arial"/>
                  </a:rPr>
                  <a:t>, so </a:t>
                </a:r>
                <a:r>
                  <a:rPr lang="en-IN" sz="2400">
                    <a:solidFill>
                      <a:srgbClr val="111827"/>
                    </a:solidFill>
                    <a:latin typeface="Cambria Math" panose="02040503050406030204" pitchFamily="18" charset="0"/>
                  </a:rPr>
                  <a:t>$\alpha=\frac23$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At </a:t>
                </a:r>
                <a:r>
                  <a:rPr lang="en-IN" sz="2400">
                    <a:solidFill>
                      <a:srgbClr val="111827"/>
                    </a:solidFill>
                    <a:latin typeface="Cambria Math" panose="02040503050406030204" pitchFamily="18" charset="0"/>
                  </a:rPr>
                  <a:t>$\alpha=0$</a:t>
                </a:r>
                <a:r>
                  <a:rPr sz="2400" b="0">
                    <a:solidFill>
                      <a:srgbClr val="111827"/>
                    </a:solidFill>
                    <a:latin typeface="Arial"/>
                  </a:rPr>
                  <a:t>: </a:t>
                </a:r>
                <a:r>
                  <a:rPr lang="en-IN" sz="2400">
                    <a:solidFill>
                      <a:srgbClr val="111827"/>
                    </a:solidFill>
                    <a:latin typeface="Cambria Math" panose="02040503050406030204" pitchFamily="18" charset="0"/>
                  </a:rPr>
                  <a:t>$[\vec a\ \vec b\ \vec c]=-10$</a:t>
                </a:r>
                <a:r>
                  <a:rPr sz="2400" b="0">
                    <a:solidFill>
                      <a:srgbClr val="111827"/>
                    </a:solidFill>
                    <a:latin typeface="Arial"/>
                  </a:rPr>
                  <a:t>, </a:t>
                </a:r>
                <a:r>
                  <a:rPr lang="en-IN" sz="2400">
                    <a:solidFill>
                      <a:srgbClr val="111827"/>
                    </a:solidFill>
                    <a:latin typeface="Cambria Math" panose="02040503050406030204" pitchFamily="18" charset="0"/>
                  </a:rPr>
                  <a:t>$\vec a\cdot\vec b=6$</a:t>
                </a:r>
                <a:r>
                  <a:rPr sz="2400" b="0">
                    <a:solidFill>
                      <a:srgbClr val="111827"/>
                    </a:solidFill>
                    <a:latin typeface="Arial"/>
                  </a:rPr>
                  <a:t>, </a:t>
                </a:r>
                <a:r>
                  <a:rPr lang="en-IN" sz="2400">
                    <a:solidFill>
                      <a:srgbClr val="111827"/>
                    </a:solidFill>
                    <a:latin typeface="Cambria Math" panose="02040503050406030204" pitchFamily="18" charset="0"/>
                  </a:rPr>
                  <a:t>$\vec b\cdot\vec c=0$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Product </a:t>
                </a:r>
                <a:r>
                  <a:rPr lang="en-IN" sz="2400">
                    <a:solidFill>
                      <a:srgbClr val="111827"/>
                    </a:solidFill>
                    <a:latin typeface="Cambria Math" panose="02040503050406030204" pitchFamily="18" charset="0"/>
                  </a:rPr>
                  <a:t>$=-10\{6\vec c-\vec a\cdot0\}=-60\vec c=-60\left(2\hat{i}+\hat{k}\right)$</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α</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r>
                          <a:rPr lang="en-IN" sz="2800" i="1">
                            <a:solidFill>
                              <a:srgbClr val="15803D"/>
                            </a:solidFill>
                            <a:latin typeface="Cambria Math" panose="02040503050406030204" pitchFamily="18" charset="0"/>
                          </a:rPr>
                          <m:t>3</m:t>
                        </m:r>
                      </m:den>
                    </m:f>
                  </m:oMath>
                </a14:m>
                <a:r>
                  <a:rPr sz="2800" b="1">
                    <a:solidFill>
                      <a:srgbClr val="15803D"/>
                    </a:solidFill>
                    <a:latin typeface="Arial"/>
                  </a:rPr>
                  <a:t> only; for </a:t>
                </a:r>
                <a14:m>
                  <m:oMath xmlns:m="http://schemas.openxmlformats.org/officeDocument/2006/math">
                    <m:r>
                      <a:rPr lang="en-IN" sz="2800" i="1">
                        <a:solidFill>
                          <a:srgbClr val="15803D"/>
                        </a:solidFill>
                        <a:latin typeface="Cambria Math" panose="02040503050406030204" pitchFamily="18" charset="0"/>
                      </a:rPr>
                      <m:t>α</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r>
                  <a:rPr sz="2800" b="1">
                    <a:solidFill>
                      <a:srgbClr val="15803D"/>
                    </a:solidFill>
                    <a:latin typeface="Arial"/>
                  </a:rPr>
                  <a:t> the vector product is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60</m:t>
                    </m:r>
                    <m:d>
                      <m:dPr>
                        <m:begChr m:val="("/>
                        <m:sepChr m:val=""/>
                        <m:endChr m:val=")"/>
                        <m:grow/>
                        <m:ctrlPr>
                          <a:rPr lang="en-IN" sz="2800" i="1">
                            <a:solidFill>
                              <a:srgbClr val="15803D"/>
                            </a:solidFill>
                            <a:latin typeface="Cambria Math" panose="02040503050406030204" pitchFamily="18" charset="0"/>
                          </a:rPr>
                        </m:ctrlPr>
                      </m:dPr>
                      <m:e>
                        <m:r>
                          <a:rPr lang="en-IN" sz="2800" i="1">
                            <a:solidFill>
                              <a:srgbClr val="15803D"/>
                            </a:solidFill>
                            <a:latin typeface="Cambria Math" panose="02040503050406030204" pitchFamily="18" charset="0"/>
                          </a:rPr>
                          <m:t>2</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𝑖</m:t>
                            </m:r>
                          </m:e>
                        </m:acc>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𝑘</m:t>
                            </m:r>
                          </m:e>
                        </m:acc>
                      </m:e>
                    </m: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$\alpha=\frac{2}{3}$</a:t>
                </a:r>
                <a:r>
                  <a:rPr sz="2800" b="1">
                    <a:solidFill>
                      <a:srgbClr val="15803D"/>
                    </a:solidFill>
                    <a:latin typeface="Arial"/>
                  </a:rPr>
                  <a:t> only; for </a:t>
                </a:r>
                <a:r>
                  <a:rPr lang="en-IN" sz="2800">
                    <a:solidFill>
                      <a:srgbClr val="15803D"/>
                    </a:solidFill>
                    <a:latin typeface="Cambria Math" panose="02040503050406030204" pitchFamily="18" charset="0"/>
                  </a:rPr>
                  <a:t>$\alpha=0$</a:t>
                </a:r>
                <a:r>
                  <a:rPr sz="2800" b="1">
                    <a:solidFill>
                      <a:srgbClr val="15803D"/>
                    </a:solidFill>
                    <a:latin typeface="Arial"/>
                  </a:rPr>
                  <a:t> the vector product is </a:t>
                </a:r>
                <a:r>
                  <a:rPr lang="en-IN" sz="2800">
                    <a:solidFill>
                      <a:srgbClr val="15803D"/>
                    </a:solidFill>
                    <a:latin typeface="Cambria Math" panose="02040503050406030204" pitchFamily="18" charset="0"/>
                  </a:rPr>
                  <a:t>$-60\left(2\hat{i}+\hat{k}\right)$</a:t>
                </a:r>
                <a:endParaRPr sz="2800">
                  <a:solidFill>
                    <a:srgbClr val="15803D"/>
                  </a:solidFill>
                </a:endParaRPr>
              </a:p>
            </p:txBody>
          </p:sp>
        </mc:Fallback>
      </mc:AlternateContent>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and more generally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cross product of two vectors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 iff one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 or they are parallel; this splits a vector equation into a few clean cases.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iff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are coplanar.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the three vectors are coplanar exactly when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a\times\vec b)\times(\vec b\times\vec c)=[\vec a\ \vec b\ \vec c]\,\vec b$</a:t>
                </a:r>
                <a:r>
                  <a:rPr sz="2400" b="0">
                    <a:solidFill>
                      <a:srgbClr val="111827"/>
                    </a:solidFill>
                    <a:latin typeface="Arial"/>
                  </a:rPr>
                  <a:t>, and more generally </a:t>
                </a:r>
                <a:r>
                  <a:rPr lang="en-IN" sz="2400">
                    <a:solidFill>
                      <a:srgbClr val="111827"/>
                    </a:solidFill>
                    <a:latin typeface="Cambria Math" panose="02040503050406030204" pitchFamily="18" charset="0"/>
                  </a:rPr>
                  <a:t>$(\vec a\times\vec b)\times(\vec c\times\vec d)=[\vec a\ \vec b\ \vec d]\,\vec c-[\vec a\ \vec b\ \vec c]\,\vec 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cross product of two vectors is </a:t>
                </a:r>
                <a:r>
                  <a:rPr lang="en-IN" sz="2400">
                    <a:solidFill>
                      <a:srgbClr val="111827"/>
                    </a:solidFill>
                    <a:latin typeface="Cambria Math" panose="02040503050406030204" pitchFamily="18" charset="0"/>
                  </a:rPr>
                  <a:t>$\vec0$</a:t>
                </a:r>
                <a:r>
                  <a:rPr sz="2400" b="0">
                    <a:solidFill>
                      <a:srgbClr val="111827"/>
                    </a:solidFill>
                    <a:latin typeface="Arial"/>
                  </a:rPr>
                  <a:t> iff one is </a:t>
                </a:r>
                <a:r>
                  <a:rPr lang="en-IN" sz="2400">
                    <a:solidFill>
                      <a:srgbClr val="111827"/>
                    </a:solidFill>
                    <a:latin typeface="Cambria Math" panose="02040503050406030204" pitchFamily="18" charset="0"/>
                  </a:rPr>
                  <a:t>$\vec0$</a:t>
                </a:r>
                <a:r>
                  <a:rPr sz="2400" b="0">
                    <a:solidFill>
                      <a:srgbClr val="111827"/>
                    </a:solidFill>
                    <a:latin typeface="Arial"/>
                  </a:rPr>
                  <a:t> or they are parallel; this splits a vector equation into a few clean cases.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a\times(\vec b\times\vec c)=\vec b(\vec a\cdot\vec c)-\vec c(\vec a\cdot\vec b)$</a:t>
                </a:r>
                <a:r>
                  <a:rPr sz="2400" b="0">
                    <a:solidFill>
                      <a:srgbClr val="111827"/>
                    </a:solidFill>
                    <a:latin typeface="Arial"/>
                  </a:rPr>
                  <a:t>; </a:t>
                </a:r>
                <a:r>
                  <a:rPr lang="en-IN" sz="2400">
                    <a:solidFill>
                      <a:srgbClr val="111827"/>
                    </a:solidFill>
                    <a:latin typeface="Cambria Math" panose="02040503050406030204" pitchFamily="18" charset="0"/>
                  </a:rPr>
                  <a:t>$[\vec a\ \vec b\ \vec c]=0$</a:t>
                </a:r>
                <a:r>
                  <a:rPr sz="2400" b="0">
                    <a:solidFill>
                      <a:srgbClr val="111827"/>
                    </a:solidFill>
                    <a:latin typeface="Arial"/>
                  </a:rPr>
                  <a:t> iff </a:t>
                </a:r>
                <a:r>
                  <a:rPr lang="en-IN" sz="2400">
                    <a:solidFill>
                      <a:srgbClr val="111827"/>
                    </a:solidFill>
                    <a:latin typeface="Cambria Math" panose="02040503050406030204" pitchFamily="18" charset="0"/>
                  </a:rPr>
                  <a:t>$\vec a,\vec b,\vec c$</a:t>
                </a:r>
                <a:r>
                  <a:rPr sz="2400" b="0">
                    <a:solidFill>
                      <a:srgbClr val="111827"/>
                    </a:solidFill>
                    <a:latin typeface="Arial"/>
                  </a:rPr>
                  <a:t> are coplanar.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$[\vec a\ \vec b\ \vec c]=15\alpha-10$</a:t>
                </a:r>
                <a:r>
                  <a:rPr sz="2400" b="0">
                    <a:solidFill>
                      <a:srgbClr val="111827"/>
                    </a:solidFill>
                    <a:latin typeface="Arial"/>
                  </a:rPr>
                  <a:t>, so the three vectors are coplanar exactly when </a:t>
                </a:r>
                <a:r>
                  <a:rPr lang="en-IN" sz="2400">
                    <a:solidFill>
                      <a:srgbClr val="111827"/>
                    </a:solidFill>
                    <a:latin typeface="Cambria Math" panose="02040503050406030204" pitchFamily="18" charset="0"/>
                  </a:rPr>
                  <a:t>$\alpha=\frac23$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figure shows non-zero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oMath>
                </a14:m>
                <a:r>
                  <a:rPr sz="2400" b="0">
                    <a:solidFill>
                      <a:srgbClr val="111827"/>
                    </a:solidFill>
                    <a:latin typeface="Arial"/>
                  </a:rPr>
                  <a:t>, where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oMath>
                </a14:m>
                <a:r>
                  <a:rPr sz="2400" b="0">
                    <a:solidFill>
                      <a:srgbClr val="111827"/>
                    </a:solidFill>
                    <a:latin typeface="Arial"/>
                  </a:rPr>
                  <a:t> is orthogonal to the line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oMath>
                </a14:m>
                <a:r>
                  <a:rPr sz="2400" b="0">
                    <a:solidFill>
                      <a:srgbClr val="111827"/>
                    </a:solidFill>
                    <a:latin typeface="Arial"/>
                  </a:rPr>
                  <a:t> make equal angles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with the line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comes in from the lower left towards the point on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oMath>
                </a14:m>
                <a:r>
                  <a:rPr sz="2400" b="0">
                    <a:solidFill>
                      <a:srgbClr val="111827"/>
                    </a:solidFill>
                    <a:latin typeface="Arial"/>
                  </a:rPr>
                  <a:t> goes out to the lower right,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oMath>
                </a14:m>
                <a:r>
                  <a:rPr sz="2400" b="0">
                    <a:solidFill>
                      <a:srgbClr val="111827"/>
                    </a:solidFill>
                    <a:latin typeface="Arial"/>
                  </a:rPr>
                  <a:t> points straight down). Assuming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oMath>
                </a14:m>
                <a:r>
                  <a:rPr sz="2400" b="0">
                    <a:solidFill>
                      <a:srgbClr val="111827"/>
                    </a:solidFill>
                    <a:latin typeface="Arial"/>
                  </a:rPr>
                  <a:t> is expressed as a linear combination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oMath>
                </a14:m>
                <a:r>
                  <a:rPr sz="2400" b="0">
                    <a:solidFill>
                      <a:srgbClr val="111827"/>
                    </a:solidFill>
                    <a:latin typeface="Arial"/>
                  </a:rPr>
                  <a:t> as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oMath>
                </a14:m>
                <a:r>
                  <a:rPr sz="2400" b="0">
                    <a:solidFill>
                      <a:srgbClr val="111827"/>
                    </a:solidFill>
                    <a:latin typeface="Arial"/>
                  </a:rPr>
                  <a:t>, find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figure shows non-zero vectors </a:t>
                </a:r>
                <a:r>
                  <a:rPr lang="en-IN" sz="2400">
                    <a:solidFill>
                      <a:srgbClr val="111827"/>
                    </a:solidFill>
                    <a:latin typeface="Cambria Math" panose="02040503050406030204" pitchFamily="18" charset="0"/>
                  </a:rPr>
                  <a:t>$\vec{v}$</a:t>
                </a:r>
                <a:r>
                  <a:rPr sz="2400" b="0">
                    <a:solidFill>
                      <a:srgbClr val="111827"/>
                    </a:solidFill>
                    <a:latin typeface="Arial"/>
                  </a:rPr>
                  <a:t>, </a:t>
                </a:r>
                <a:r>
                  <a:rPr lang="en-IN" sz="2400">
                    <a:solidFill>
                      <a:srgbClr val="111827"/>
                    </a:solidFill>
                    <a:latin typeface="Cambria Math" panose="02040503050406030204" pitchFamily="18" charset="0"/>
                  </a:rPr>
                  <a:t>$\vec{w}$</a:t>
                </a:r>
                <a:r>
                  <a:rPr sz="2400" b="0">
                    <a:solidFill>
                      <a:srgbClr val="111827"/>
                    </a:solidFill>
                    <a:latin typeface="Arial"/>
                  </a:rPr>
                  <a:t> and </a:t>
                </a:r>
                <a:r>
                  <a:rPr lang="en-IN" sz="2400">
                    <a:solidFill>
                      <a:srgbClr val="111827"/>
                    </a:solidFill>
                    <a:latin typeface="Cambria Math" panose="02040503050406030204" pitchFamily="18" charset="0"/>
                  </a:rPr>
                  <a:t>$\vec{z}$</a:t>
                </a:r>
                <a:r>
                  <a:rPr sz="2400" b="0">
                    <a:solidFill>
                      <a:srgbClr val="111827"/>
                    </a:solidFill>
                    <a:latin typeface="Arial"/>
                  </a:rPr>
                  <a:t>, where </a:t>
                </a:r>
                <a:r>
                  <a:rPr lang="en-IN" sz="2400">
                    <a:solidFill>
                      <a:srgbClr val="111827"/>
                    </a:solidFill>
                    <a:latin typeface="Cambria Math" panose="02040503050406030204" pitchFamily="18" charset="0"/>
                  </a:rPr>
                  <a:t>$\vec z$</a:t>
                </a:r>
                <a:r>
                  <a:rPr sz="2400" b="0">
                    <a:solidFill>
                      <a:srgbClr val="111827"/>
                    </a:solidFill>
                    <a:latin typeface="Arial"/>
                  </a:rPr>
                  <a:t> is orthogonal to the line </a:t>
                </a:r>
                <a:r>
                  <a:rPr lang="en-IN" sz="2400">
                    <a:solidFill>
                      <a:srgbClr val="111827"/>
                    </a:solidFill>
                    <a:latin typeface="Cambria Math" panose="02040503050406030204" pitchFamily="18" charset="0"/>
                  </a:rPr>
                  <a:t>$L$</a:t>
                </a:r>
                <a:r>
                  <a:rPr sz="2400" b="0">
                    <a:solidFill>
                      <a:srgbClr val="111827"/>
                    </a:solidFill>
                    <a:latin typeface="Arial"/>
                  </a:rPr>
                  <a:t>, and </a:t>
                </a:r>
                <a:r>
                  <a:rPr lang="en-IN" sz="2400">
                    <a:solidFill>
                      <a:srgbClr val="111827"/>
                    </a:solidFill>
                    <a:latin typeface="Cambria Math" panose="02040503050406030204" pitchFamily="18" charset="0"/>
                  </a:rPr>
                  <a:t>$\vec v$</a:t>
                </a:r>
                <a:r>
                  <a:rPr sz="2400" b="0">
                    <a:solidFill>
                      <a:srgbClr val="111827"/>
                    </a:solidFill>
                    <a:latin typeface="Arial"/>
                  </a:rPr>
                  <a:t> and </a:t>
                </a:r>
                <a:r>
                  <a:rPr lang="en-IN" sz="2400">
                    <a:solidFill>
                      <a:srgbClr val="111827"/>
                    </a:solidFill>
                    <a:latin typeface="Cambria Math" panose="02040503050406030204" pitchFamily="18" charset="0"/>
                  </a:rPr>
                  <a:t>$\vec w$</a:t>
                </a:r>
                <a:r>
                  <a:rPr sz="2400" b="0">
                    <a:solidFill>
                      <a:srgbClr val="111827"/>
                    </a:solidFill>
                    <a:latin typeface="Arial"/>
                  </a:rPr>
                  <a:t> make equal angles </a:t>
                </a:r>
                <a:r>
                  <a:rPr lang="en-IN" sz="2400">
                    <a:solidFill>
                      <a:srgbClr val="111827"/>
                    </a:solidFill>
                    <a:latin typeface="Cambria Math" panose="02040503050406030204" pitchFamily="18" charset="0"/>
                  </a:rPr>
                  <a:t>$\beta$</a:t>
                </a:r>
                <a:r>
                  <a:rPr sz="2400" b="0">
                    <a:solidFill>
                      <a:srgbClr val="111827"/>
                    </a:solidFill>
                    <a:latin typeface="Arial"/>
                  </a:rPr>
                  <a:t> with the line </a:t>
                </a:r>
                <a:r>
                  <a:rPr lang="en-IN" sz="2400">
                    <a:solidFill>
                      <a:srgbClr val="111827"/>
                    </a:solidFill>
                    <a:latin typeface="Cambria Math" panose="02040503050406030204" pitchFamily="18" charset="0"/>
                  </a:rPr>
                  <a:t>$L$</a:t>
                </a:r>
                <a:r>
                  <a:rPr sz="2400" b="0">
                    <a:solidFill>
                      <a:srgbClr val="111827"/>
                    </a:solidFill>
                    <a:latin typeface="Arial"/>
                  </a:rPr>
                  <a:t> (</a:t>
                </a:r>
                <a:r>
                  <a:rPr lang="en-IN" sz="2400">
                    <a:solidFill>
                      <a:srgbClr val="111827"/>
                    </a:solidFill>
                    <a:latin typeface="Cambria Math" panose="02040503050406030204" pitchFamily="18" charset="0"/>
                  </a:rPr>
                  <a:t>$\vec v$</a:t>
                </a:r>
                <a:r>
                  <a:rPr sz="2400" b="0">
                    <a:solidFill>
                      <a:srgbClr val="111827"/>
                    </a:solidFill>
                    <a:latin typeface="Arial"/>
                  </a:rPr>
                  <a:t> comes in from the lower left towards the point on </a:t>
                </a:r>
                <a:r>
                  <a:rPr lang="en-IN" sz="2400">
                    <a:solidFill>
                      <a:srgbClr val="111827"/>
                    </a:solidFill>
                    <a:latin typeface="Cambria Math" panose="02040503050406030204" pitchFamily="18" charset="0"/>
                  </a:rPr>
                  <a:t>$L$</a:t>
                </a:r>
                <a:r>
                  <a:rPr sz="2400" b="0">
                    <a:solidFill>
                      <a:srgbClr val="111827"/>
                    </a:solidFill>
                    <a:latin typeface="Arial"/>
                  </a:rPr>
                  <a:t>, </a:t>
                </a:r>
                <a:r>
                  <a:rPr lang="en-IN" sz="2400">
                    <a:solidFill>
                      <a:srgbClr val="111827"/>
                    </a:solidFill>
                    <a:latin typeface="Cambria Math" panose="02040503050406030204" pitchFamily="18" charset="0"/>
                  </a:rPr>
                  <a:t>$\vec w$</a:t>
                </a:r>
                <a:r>
                  <a:rPr sz="2400" b="0">
                    <a:solidFill>
                      <a:srgbClr val="111827"/>
                    </a:solidFill>
                    <a:latin typeface="Arial"/>
                  </a:rPr>
                  <a:t> goes out to the lower right, and </a:t>
                </a:r>
                <a:r>
                  <a:rPr lang="en-IN" sz="2400">
                    <a:solidFill>
                      <a:srgbClr val="111827"/>
                    </a:solidFill>
                    <a:latin typeface="Cambria Math" panose="02040503050406030204" pitchFamily="18" charset="0"/>
                  </a:rPr>
                  <a:t>$\vec z$</a:t>
                </a:r>
                <a:r>
                  <a:rPr sz="2400" b="0">
                    <a:solidFill>
                      <a:srgbClr val="111827"/>
                    </a:solidFill>
                    <a:latin typeface="Arial"/>
                  </a:rPr>
                  <a:t> points straight down). Assuming </a:t>
                </a:r>
                <a:r>
                  <a:rPr lang="en-IN" sz="2400">
                    <a:solidFill>
                      <a:srgbClr val="111827"/>
                    </a:solidFill>
                    <a:latin typeface="Cambria Math" panose="02040503050406030204" pitchFamily="18" charset="0"/>
                  </a:rPr>
                  <a:t>$|\vec{v}|=|\vec{w}|$</a:t>
                </a:r>
                <a:r>
                  <a:rPr sz="2400" b="0">
                    <a:solidFill>
                      <a:srgbClr val="111827"/>
                    </a:solidFill>
                    <a:latin typeface="Arial"/>
                  </a:rPr>
                  <a:t>, if </a:t>
                </a:r>
                <a:r>
                  <a:rPr lang="en-IN" sz="2400">
                    <a:solidFill>
                      <a:srgbClr val="111827"/>
                    </a:solidFill>
                    <a:latin typeface="Cambria Math" panose="02040503050406030204" pitchFamily="18" charset="0"/>
                  </a:rPr>
                  <a:t>$\vec{w}$</a:t>
                </a:r>
                <a:r>
                  <a:rPr sz="2400" b="0">
                    <a:solidFill>
                      <a:srgbClr val="111827"/>
                    </a:solidFill>
                    <a:latin typeface="Arial"/>
                  </a:rPr>
                  <a:t> is expressed as a linear combination of </a:t>
                </a:r>
                <a:r>
                  <a:rPr lang="en-IN" sz="2400">
                    <a:solidFill>
                      <a:srgbClr val="111827"/>
                    </a:solidFill>
                    <a:latin typeface="Cambria Math" panose="02040503050406030204" pitchFamily="18" charset="0"/>
                  </a:rPr>
                  <a:t>$\vec{v}$</a:t>
                </a:r>
                <a:r>
                  <a:rPr sz="2400" b="0">
                    <a:solidFill>
                      <a:srgbClr val="111827"/>
                    </a:solidFill>
                    <a:latin typeface="Arial"/>
                  </a:rPr>
                  <a:t> and </a:t>
                </a:r>
                <a:r>
                  <a:rPr lang="en-IN" sz="2400">
                    <a:solidFill>
                      <a:srgbClr val="111827"/>
                    </a:solidFill>
                    <a:latin typeface="Cambria Math" panose="02040503050406030204" pitchFamily="18" charset="0"/>
                  </a:rPr>
                  <a:t>$\vec{z}$</a:t>
                </a:r>
                <a:r>
                  <a:rPr sz="2400" b="0">
                    <a:solidFill>
                      <a:srgbClr val="111827"/>
                    </a:solidFill>
                    <a:latin typeface="Arial"/>
                  </a:rPr>
                  <a:t> as </a:t>
                </a:r>
                <a:r>
                  <a:rPr lang="en-IN" sz="2400">
                    <a:solidFill>
                      <a:srgbClr val="111827"/>
                    </a:solidFill>
                    <a:latin typeface="Cambria Math" panose="02040503050406030204" pitchFamily="18" charset="0"/>
                  </a:rPr>
                  <a:t>$\vec{w}=x\vec{v}+y\vec{z}$</a:t>
                </a:r>
                <a:r>
                  <a:rPr sz="2400" b="0">
                    <a:solidFill>
                      <a:srgbClr val="111827"/>
                    </a:solidFill>
                    <a:latin typeface="Arial"/>
                  </a:rPr>
                  <a:t>, find </a:t>
                </a:r>
                <a:r>
                  <a:rPr lang="en-IN" sz="2400">
                    <a:solidFill>
                      <a:srgbClr val="111827"/>
                    </a:solidFill>
                    <a:latin typeface="Cambria Math" panose="02040503050406030204" pitchFamily="18" charset="0"/>
                  </a:rPr>
                  <a:t>$x$</a:t>
                </a:r>
                <a:r>
                  <a:rPr sz="2400" b="0">
                    <a:solidFill>
                      <a:srgbClr val="111827"/>
                    </a:solidFill>
                    <a:latin typeface="Arial"/>
                  </a:rPr>
                  <a:t> and </a:t>
                </a:r>
                <a:r>
                  <a:rPr lang="en-IN" sz="2400">
                    <a:solidFill>
                      <a:srgbClr val="111827"/>
                    </a:solidFill>
                    <a:latin typeface="Cambria Math" panose="02040503050406030204" pitchFamily="18" charset="0"/>
                  </a:rPr>
                  <a:t>$y$</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Dot product of vectors and angle between vectors, Linear combination of vectors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Dot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𝑤</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𝑣</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𝑧</m:t>
                        </m:r>
                      </m:e>
                    </m:acc>
                  </m:oMath>
                </a14:m>
                <a:r>
                  <a:rPr sz="2400" b="0">
                    <a:solidFill>
                      <a:srgbClr val="78350F"/>
                    </a:solidFill>
                    <a:latin typeface="Arial"/>
                  </a:rPr>
                  <a:t> with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𝑣</m:t>
                        </m:r>
                      </m:e>
                    </m:acc>
                  </m:oMath>
                </a14:m>
                <a:r>
                  <a:rPr sz="2400" b="0">
                    <a:solidFill>
                      <a:srgbClr val="78350F"/>
                    </a:solidFill>
                    <a:latin typeface="Arial"/>
                  </a:rPr>
                  <a:t> and with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𝑤</m:t>
                        </m:r>
                      </m:e>
                    </m:acc>
                  </m:oMath>
                </a14:m>
                <a:r>
                  <a:rPr sz="2400" b="0">
                    <a:solidFill>
                      <a:srgbClr val="78350F"/>
                    </a:solidFill>
                    <a:latin typeface="Arial"/>
                  </a:rPr>
                  <a:t>; the angle between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𝑣</m:t>
                        </m:r>
                      </m:e>
                    </m:acc>
                  </m:oMath>
                </a14:m>
                <a:r>
                  <a:rPr sz="2400" b="0">
                    <a:solidFill>
                      <a:srgbClr val="78350F"/>
                    </a:solidFill>
                    <a:latin typeface="Arial"/>
                  </a:rPr>
                  <a:t> and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𝑧</m:t>
                        </m:r>
                      </m:e>
                    </m:acc>
                  </m:oMath>
                </a14:m>
                <a:r>
                  <a:rPr sz="2400" b="0">
                    <a:solidFill>
                      <a:srgbClr val="78350F"/>
                    </a:solidFill>
                    <a:latin typeface="Arial"/>
                  </a:rPr>
                  <a:t> is </a:t>
                </a:r>
                <a14:m>
                  <m:oMath xmlns:m="http://schemas.openxmlformats.org/officeDocument/2006/math">
                    <m:sSup>
                      <m:e>
                        <m:r>
                          <a:rPr lang="en-IN" sz="2400" i="1">
                            <a:solidFill>
                              <a:srgbClr val="78350F"/>
                            </a:solidFill>
                            <a:latin typeface="Cambria Math" panose="02040503050406030204" pitchFamily="18" charset="0"/>
                          </a:rPr>
                          <m:t>90</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oMath>
                </a14:m>
                <a:r>
                  <a:rPr sz="2400" b="0">
                    <a:solidFill>
                      <a:srgbClr val="78350F"/>
                    </a:solidFill>
                    <a:latin typeface="Arial"/>
                  </a:rPr>
                  <a:t> and between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𝑤</m:t>
                        </m:r>
                      </m:e>
                    </m:acc>
                  </m:oMath>
                </a14:m>
                <a:r>
                  <a:rPr sz="2400" b="0">
                    <a:solidFill>
                      <a:srgbClr val="78350F"/>
                    </a:solidFill>
                    <a:latin typeface="Arial"/>
                  </a:rPr>
                  <a:t> and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𝑧</m:t>
                        </m:r>
                      </m:e>
                    </m:acc>
                  </m:oMath>
                </a14:m>
                <a:r>
                  <a:rPr sz="2400" b="0">
                    <a:solidFill>
                      <a:srgbClr val="78350F"/>
                    </a:solidFill>
                    <a:latin typeface="Arial"/>
                  </a:rPr>
                  <a:t> is </a:t>
                </a:r>
                <a14:m>
                  <m:oMath xmlns:m="http://schemas.openxmlformats.org/officeDocument/2006/math">
                    <m:sSup>
                      <m:e>
                        <m:r>
                          <a:rPr lang="en-IN" sz="2400" i="1">
                            <a:solidFill>
                              <a:srgbClr val="78350F"/>
                            </a:solidFill>
                            <a:latin typeface="Cambria Math" panose="02040503050406030204" pitchFamily="18" charset="0"/>
                          </a:rPr>
                          <m:t>90</m:t>
                        </m:r>
                      </m:e>
                      <m:sup>
                        <m:r>
                          <m:rPr>
                            <m:sty m:val="p"/>
                          </m:rPr>
                          <a:rPr lang="en-IN" sz="2400">
                            <a:solidFill>
                              <a:srgbClr val="78350F"/>
                            </a:solidFill>
                            <a:latin typeface="Cambria Math" panose="02040503050406030204" pitchFamily="18" charset="0"/>
                          </a:rPr>
                          <m:t>∘</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β</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Dot </a:t>
                </a:r>
                <a:r>
                  <a:rPr lang="en-IN" sz="2400">
                    <a:solidFill>
                      <a:srgbClr val="78350F"/>
                    </a:solidFill>
                    <a:latin typeface="Cambria Math" panose="02040503050406030204" pitchFamily="18" charset="0"/>
                  </a:rPr>
                  <a:t>$\vec w=x\vec v+y\vec z$</a:t>
                </a:r>
                <a:r>
                  <a:rPr sz="2400" b="0">
                    <a:solidFill>
                      <a:srgbClr val="78350F"/>
                    </a:solidFill>
                    <a:latin typeface="Arial"/>
                  </a:rPr>
                  <a:t> with </a:t>
                </a:r>
                <a:r>
                  <a:rPr lang="en-IN" sz="2400">
                    <a:solidFill>
                      <a:srgbClr val="78350F"/>
                    </a:solidFill>
                    <a:latin typeface="Cambria Math" panose="02040503050406030204" pitchFamily="18" charset="0"/>
                  </a:rPr>
                  <a:t>$\vec v$</a:t>
                </a:r>
                <a:r>
                  <a:rPr sz="2400" b="0">
                    <a:solidFill>
                      <a:srgbClr val="78350F"/>
                    </a:solidFill>
                    <a:latin typeface="Arial"/>
                  </a:rPr>
                  <a:t> and with </a:t>
                </a:r>
                <a:r>
                  <a:rPr lang="en-IN" sz="2400">
                    <a:solidFill>
                      <a:srgbClr val="78350F"/>
                    </a:solidFill>
                    <a:latin typeface="Cambria Math" panose="02040503050406030204" pitchFamily="18" charset="0"/>
                  </a:rPr>
                  <a:t>$\vec w$</a:t>
                </a:r>
                <a:r>
                  <a:rPr sz="2400" b="0">
                    <a:solidFill>
                      <a:srgbClr val="78350F"/>
                    </a:solidFill>
                    <a:latin typeface="Arial"/>
                  </a:rPr>
                  <a:t>; the angle between </a:t>
                </a:r>
                <a:r>
                  <a:rPr lang="en-IN" sz="2400">
                    <a:solidFill>
                      <a:srgbClr val="78350F"/>
                    </a:solidFill>
                    <a:latin typeface="Cambria Math" panose="02040503050406030204" pitchFamily="18" charset="0"/>
                  </a:rPr>
                  <a:t>$\vec v$</a:t>
                </a:r>
                <a:r>
                  <a:rPr sz="2400" b="0">
                    <a:solidFill>
                      <a:srgbClr val="78350F"/>
                    </a:solidFill>
                    <a:latin typeface="Arial"/>
                  </a:rPr>
                  <a:t> and </a:t>
                </a:r>
                <a:r>
                  <a:rPr lang="en-IN" sz="2400">
                    <a:solidFill>
                      <a:srgbClr val="78350F"/>
                    </a:solidFill>
                    <a:latin typeface="Cambria Math" panose="02040503050406030204" pitchFamily="18" charset="0"/>
                  </a:rPr>
                  <a:t>$\vec z$</a:t>
                </a:r>
                <a:r>
                  <a:rPr sz="2400" b="0">
                    <a:solidFill>
                      <a:srgbClr val="78350F"/>
                    </a:solidFill>
                    <a:latin typeface="Arial"/>
                  </a:rPr>
                  <a:t> is </a:t>
                </a:r>
                <a:r>
                  <a:rPr lang="en-IN" sz="2400">
                    <a:solidFill>
                      <a:srgbClr val="78350F"/>
                    </a:solidFill>
                    <a:latin typeface="Cambria Math" panose="02040503050406030204" pitchFamily="18" charset="0"/>
                  </a:rPr>
                  <a:t>$90^\circ+\beta$</a:t>
                </a:r>
                <a:r>
                  <a:rPr sz="2400" b="0">
                    <a:solidFill>
                      <a:srgbClr val="78350F"/>
                    </a:solidFill>
                    <a:latin typeface="Arial"/>
                  </a:rPr>
                  <a:t> and between </a:t>
                </a:r>
                <a:r>
                  <a:rPr lang="en-IN" sz="2400">
                    <a:solidFill>
                      <a:srgbClr val="78350F"/>
                    </a:solidFill>
                    <a:latin typeface="Cambria Math" panose="02040503050406030204" pitchFamily="18" charset="0"/>
                  </a:rPr>
                  <a:t>$\vec w$</a:t>
                </a:r>
                <a:r>
                  <a:rPr sz="2400" b="0">
                    <a:solidFill>
                      <a:srgbClr val="78350F"/>
                    </a:solidFill>
                    <a:latin typeface="Arial"/>
                  </a:rPr>
                  <a:t> and </a:t>
                </a:r>
                <a:r>
                  <a:rPr lang="en-IN" sz="2400">
                    <a:solidFill>
                      <a:srgbClr val="78350F"/>
                    </a:solidFill>
                    <a:latin typeface="Cambria Math" panose="02040503050406030204" pitchFamily="18" charset="0"/>
                  </a:rPr>
                  <a:t>$\vec z$</a:t>
                </a:r>
                <a:r>
                  <a:rPr sz="2400" b="0">
                    <a:solidFill>
                      <a:srgbClr val="78350F"/>
                    </a:solidFill>
                    <a:latin typeface="Arial"/>
                  </a:rPr>
                  <a:t> is </a:t>
                </a:r>
                <a:r>
                  <a:rPr lang="en-IN" sz="2400">
                    <a:solidFill>
                      <a:srgbClr val="78350F"/>
                    </a:solidFill>
                    <a:latin typeface="Cambria Math" panose="02040503050406030204" pitchFamily="18" charset="0"/>
                  </a:rPr>
                  <a:t>$90^\circ-\beta$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276088"/>
                <a:ext cx="10725912" cy="13990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Angles: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oMath>
                </a14:m>
                <a:r>
                  <a:rPr sz="2400" b="0">
                    <a:solidFill>
                      <a:srgbClr val="111827"/>
                    </a:solidFill>
                    <a:latin typeface="Arial"/>
                  </a:rPr>
                  <a:t> make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oMath>
                </a14:m>
                <a:r>
                  <a:rPr sz="2400" b="0">
                    <a:solidFill>
                      <a:srgbClr val="111827"/>
                    </a:solidFill>
                    <a:latin typeface="Arial"/>
                  </a:rPr>
                  <a:t> with each other;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oMath>
                </a14:m>
                <a:r>
                  <a:rPr sz="2400" b="0">
                    <a:solidFill>
                      <a:srgbClr val="111827"/>
                    </a:solidFill>
                    <a:latin typeface="Arial"/>
                  </a:rPr>
                  <a:t> make </a:t>
                </a:r>
                <a14:m>
                  <m:oMath xmlns:m="http://schemas.openxmlformats.org/officeDocument/2006/math">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oMath>
                </a14:m>
                <a:r>
                  <a:rPr sz="2400" b="0">
                    <a:solidFill>
                      <a:srgbClr val="111827"/>
                    </a:solidFill>
                    <a:latin typeface="Arial"/>
                  </a:rPr>
                  <a:t> make </a:t>
                </a:r>
                <a14:m>
                  <m:oMath xmlns:m="http://schemas.openxmlformats.org/officeDocument/2006/math">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276088"/>
                <a:ext cx="10725912" cy="13990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$\vec{w}=x\vec{v}+y\vec{z}$</a:t>
                </a:r>
                <a:r>
                  <a:rPr sz="2400" b="0">
                    <a:solidFill>
                      <a:srgbClr val="111827"/>
                    </a:solidFill>
                    <a:latin typeface="Arial"/>
                  </a:rPr>
                  <a:t> and </a:t>
                </a:r>
                <a:r>
                  <a:rPr lang="en-IN" sz="2400">
                    <a:solidFill>
                      <a:srgbClr val="111827"/>
                    </a:solidFill>
                    <a:latin typeface="Cambria Math" panose="02040503050406030204" pitchFamily="18" charset="0"/>
                  </a:rPr>
                  <a:t>$|\vec v|=|\vec w|$</a:t>
                </a:r>
                <a:r>
                  <a:rPr sz="2400" b="0">
                    <a:solidFill>
                      <a:srgbClr val="111827"/>
                    </a:solidFill>
                    <a:latin typeface="Arial"/>
                  </a:rPr>
                  <a:t>. Angles: </a:t>
                </a:r>
                <a:r>
                  <a:rPr lang="en-IN" sz="2400">
                    <a:solidFill>
                      <a:srgbClr val="111827"/>
                    </a:solidFill>
                    <a:latin typeface="Cambria Math" panose="02040503050406030204" pitchFamily="18" charset="0"/>
                  </a:rPr>
                  <a:t>$\vec v,\vec w$</a:t>
                </a:r>
                <a:r>
                  <a:rPr sz="2400" b="0">
                    <a:solidFill>
                      <a:srgbClr val="111827"/>
                    </a:solidFill>
                    <a:latin typeface="Arial"/>
                  </a:rPr>
                  <a:t> make </a:t>
                </a:r>
                <a:r>
                  <a:rPr lang="en-IN" sz="2400">
                    <a:solidFill>
                      <a:srgbClr val="111827"/>
                    </a:solidFill>
                    <a:latin typeface="Cambria Math" panose="02040503050406030204" pitchFamily="18" charset="0"/>
                  </a:rPr>
                  <a:t>$2\beta$</a:t>
                </a:r>
                <a:r>
                  <a:rPr sz="2400" b="0">
                    <a:solidFill>
                      <a:srgbClr val="111827"/>
                    </a:solidFill>
                    <a:latin typeface="Arial"/>
                  </a:rPr>
                  <a:t> with each other; </a:t>
                </a:r>
                <a:r>
                  <a:rPr lang="en-IN" sz="2400">
                    <a:solidFill>
                      <a:srgbClr val="111827"/>
                    </a:solidFill>
                    <a:latin typeface="Cambria Math" panose="02040503050406030204" pitchFamily="18" charset="0"/>
                  </a:rPr>
                  <a:t>$\vec v,\vec z$</a:t>
                </a:r>
                <a:r>
                  <a:rPr sz="2400" b="0">
                    <a:solidFill>
                      <a:srgbClr val="111827"/>
                    </a:solidFill>
                    <a:latin typeface="Arial"/>
                  </a:rPr>
                  <a:t> make </a:t>
                </a:r>
                <a:r>
                  <a:rPr lang="en-IN" sz="2400">
                    <a:solidFill>
                      <a:srgbClr val="111827"/>
                    </a:solidFill>
                    <a:latin typeface="Cambria Math" panose="02040503050406030204" pitchFamily="18" charset="0"/>
                  </a:rPr>
                  <a:t>$90^\circ+\beta$</a:t>
                </a:r>
                <a:r>
                  <a:rPr sz="2400" b="0">
                    <a:solidFill>
                      <a:srgbClr val="111827"/>
                    </a:solidFill>
                    <a:latin typeface="Arial"/>
                  </a:rPr>
                  <a:t>; </a:t>
                </a:r>
                <a:r>
                  <a:rPr lang="en-IN" sz="2400">
                    <a:solidFill>
                      <a:srgbClr val="111827"/>
                    </a:solidFill>
                    <a:latin typeface="Cambria Math" panose="02040503050406030204" pitchFamily="18" charset="0"/>
                  </a:rPr>
                  <a:t>$\vec w,\vec z$</a:t>
                </a:r>
                <a:r>
                  <a:rPr sz="2400" b="0">
                    <a:solidFill>
                      <a:srgbClr val="111827"/>
                    </a:solidFill>
                    <a:latin typeface="Arial"/>
                  </a:rPr>
                  <a:t> make </a:t>
                </a:r>
                <a:r>
                  <a:rPr lang="en-IN" sz="2400">
                    <a:solidFill>
                      <a:srgbClr val="111827"/>
                    </a:solidFill>
                    <a:latin typeface="Cambria Math" panose="02040503050406030204" pitchFamily="18" charset="0"/>
                  </a:rPr>
                  <a:t>$90^\circ-\beta$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Dot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use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β</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oMath>
                </a14:m>
                <a:r>
                  <a:rPr sz="2400" b="0">
                    <a:solidFill>
                      <a:srgbClr val="111827"/>
                    </a:solidFill>
                    <a:latin typeface="Arial"/>
                  </a:rPr>
                  <a: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β</m:t>
                    </m:r>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(1) and (2):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Dot with </a:t>
                </a:r>
                <a:r>
                  <a:rPr lang="en-IN" sz="2400">
                    <a:solidFill>
                      <a:srgbClr val="111827"/>
                    </a:solidFill>
                    <a:latin typeface="Cambria Math" panose="02040503050406030204" pitchFamily="18" charset="0"/>
                  </a:rPr>
                  <a:t>$\vec v$</a:t>
                </a:r>
                <a:r>
                  <a:rPr sz="2400" b="0">
                    <a:solidFill>
                      <a:srgbClr val="111827"/>
                    </a:solidFill>
                    <a:latin typeface="Arial"/>
                  </a:rPr>
                  <a:t>: </a:t>
                </a:r>
                <a:r>
                  <a:rPr lang="en-IN" sz="2400">
                    <a:solidFill>
                      <a:srgbClr val="111827"/>
                    </a:solidFill>
                    <a:latin typeface="Cambria Math" panose="02040503050406030204" pitchFamily="18" charset="0"/>
                  </a:rPr>
                  <a:t>$\vec w\cdot\vec v=x|\vec v|^2+y\,\vec z\cdot\vec v$</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v||\vec w|\cos2\beta=x|\vec v|^2+y|\vec z||\vec v|\cos(90^\circ+\beta)$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r>
                  <a:rPr lang="en-IN" sz="2400">
                    <a:solidFill>
                      <a:srgbClr val="111827"/>
                    </a:solidFill>
                    <a:latin typeface="Cambria Math" panose="02040503050406030204" pitchFamily="18" charset="0"/>
                  </a:rPr>
                  <a:t>$|\vec v|$</a:t>
                </a:r>
                <a:r>
                  <a:rPr sz="2400" b="0">
                    <a:solidFill>
                      <a:srgbClr val="111827"/>
                    </a:solidFill>
                    <a:latin typeface="Arial"/>
                  </a:rPr>
                  <a:t> and use </a:t>
                </a:r>
                <a:r>
                  <a:rPr lang="en-IN" sz="2400">
                    <a:solidFill>
                      <a:srgbClr val="111827"/>
                    </a:solidFill>
                    <a:latin typeface="Cambria Math" panose="02040503050406030204" pitchFamily="18" charset="0"/>
                  </a:rPr>
                  <a:t>$|\vec v|=|\vec w|$</a:t>
                </a:r>
                <a:r>
                  <a:rPr sz="2400" b="0">
                    <a:solidFill>
                      <a:srgbClr val="111827"/>
                    </a:solidFill>
                    <a:latin typeface="Arial"/>
                  </a:rPr>
                  <a:t>: </a:t>
                </a:r>
                <a:r>
                  <a:rPr lang="en-IN" sz="2400">
                    <a:solidFill>
                      <a:srgbClr val="111827"/>
                    </a:solidFill>
                    <a:latin typeface="Cambria Math" panose="02040503050406030204" pitchFamily="18" charset="0"/>
                  </a:rPr>
                  <a:t>$|\vec w|\cos2\beta=x|\vec w|-y|\vec z|\sin\beta$</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a:t>
                </a:r>
                <a:r>
                  <a:rPr lang="en-IN" sz="2400">
                    <a:solidFill>
                      <a:srgbClr val="111827"/>
                    </a:solidFill>
                    <a:latin typeface="Cambria Math" panose="02040503050406030204" pitchFamily="18" charset="0"/>
                  </a:rPr>
                  <a:t>$\vec w=x\vec v+y\vec z$</a:t>
                </a:r>
                <a:r>
                  <a:rPr sz="2400" b="0">
                    <a:solidFill>
                      <a:srgbClr val="111827"/>
                    </a:solidFill>
                    <a:latin typeface="Arial"/>
                  </a:rPr>
                  <a:t> with </a:t>
                </a:r>
                <a:r>
                  <a:rPr lang="en-IN" sz="2400">
                    <a:solidFill>
                      <a:srgbClr val="111827"/>
                    </a:solidFill>
                    <a:latin typeface="Cambria Math" panose="02040503050406030204" pitchFamily="18" charset="0"/>
                  </a:rPr>
                  <a:t>$\vec w$</a:t>
                </a:r>
                <a:r>
                  <a:rPr sz="2400" b="0">
                    <a:solidFill>
                      <a:srgbClr val="111827"/>
                    </a:solidFill>
                    <a:latin typeface="Arial"/>
                  </a:rPr>
                  <a:t>: </a:t>
                </a:r>
                <a:r>
                  <a:rPr lang="en-IN" sz="2400">
                    <a:solidFill>
                      <a:srgbClr val="111827"/>
                    </a:solidFill>
                    <a:latin typeface="Cambria Math" panose="02040503050406030204" pitchFamily="18" charset="0"/>
                  </a:rPr>
                  <a:t>$|\vec w|^2=x|\vec v||\vec w|\cos2\beta+y|\vec z||\vec w|\cos(90^\circ-\beta)$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r>
                  <a:rPr lang="en-IN" sz="2400">
                    <a:solidFill>
                      <a:srgbClr val="111827"/>
                    </a:solidFill>
                    <a:latin typeface="Cambria Math" panose="02040503050406030204" pitchFamily="18" charset="0"/>
                  </a:rPr>
                  <a:t>$|\vec w|$</a:t>
                </a:r>
                <a:r>
                  <a:rPr sz="2400" b="0">
                    <a:solidFill>
                      <a:srgbClr val="111827"/>
                    </a:solidFill>
                    <a:latin typeface="Arial"/>
                  </a:rPr>
                  <a:t>: </a:t>
                </a:r>
                <a:r>
                  <a:rPr lang="en-IN" sz="2400">
                    <a:solidFill>
                      <a:srgbClr val="111827"/>
                    </a:solidFill>
                    <a:latin typeface="Cambria Math" panose="02040503050406030204" pitchFamily="18" charset="0"/>
                  </a:rPr>
                  <a:t>$|\vec w|=x|\vec w|\cos2\beta+y|\vec z|\sin\beta$</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(1) and (2): </a:t>
                </a:r>
                <a:r>
                  <a:rPr lang="en-IN" sz="2400">
                    <a:solidFill>
                      <a:srgbClr val="111827"/>
                    </a:solidFill>
                    <a:latin typeface="Cambria Math" panose="02040503050406030204" pitchFamily="18" charset="0"/>
                  </a:rPr>
                  <a:t>$|\vec w|(1+\cos2\beta)=x|\vec w|(1+\cos2\beta)$</a:t>
                </a:r>
                <a:r>
                  <a:rPr sz="2400" b="0">
                    <a:solidFill>
                      <a:srgbClr val="111827"/>
                    </a:solidFill>
                    <a:latin typeface="Arial"/>
                  </a:rPr>
                  <a:t>, so </a:t>
                </a:r>
                <a:r>
                  <a:rPr lang="en-IN" sz="2400">
                    <a:solidFill>
                      <a:srgbClr val="111827"/>
                    </a:solidFill>
                    <a:latin typeface="Cambria Math" panose="02040503050406030204" pitchFamily="18" charset="0"/>
                  </a:rPr>
                  <a:t>$x=1$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in (2):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β</m:t>
                        </m:r>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β</m:t>
                        </m:r>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$x=1$</a:t>
                </a:r>
                <a:r>
                  <a:rPr sz="2400" b="0">
                    <a:solidFill>
                      <a:srgbClr val="111827"/>
                    </a:solidFill>
                    <a:latin typeface="Arial"/>
                  </a:rPr>
                  <a:t> in (2): </a:t>
                </a:r>
                <a:r>
                  <a:rPr lang="en-IN" sz="2400">
                    <a:solidFill>
                      <a:srgbClr val="111827"/>
                    </a:solidFill>
                    <a:latin typeface="Cambria Math" panose="02040503050406030204" pitchFamily="18" charset="0"/>
                  </a:rPr>
                  <a:t>$y|\vec z|\sin\beta=|\vec w|(1-\cos2\beta)=2|\vec w|\sin^2\beta$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$y=\frac{2|\vec w|\sin\beta}{|\vec z|}=\frac{2|\vec v|\sin\beta}{|\vec z|}$</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r>
                  <a:rPr sz="2800" b="1">
                    <a:solidFill>
                      <a:srgbClr val="15803D"/>
                    </a:solidFill>
                    <a:latin typeface="Arial"/>
                  </a:rPr>
                  <a:t> and </a:t>
                </a:r>
                <a14:m>
                  <m:oMath xmlns:m="http://schemas.openxmlformats.org/officeDocument/2006/math">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𝑣</m:t>
                            </m:r>
                          </m:e>
                        </m:acc>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sin</m:t>
                        </m:r>
                        <m:r>
                          <a:rPr lang="en-IN" sz="2800" i="1">
                            <a:solidFill>
                              <a:srgbClr val="15803D"/>
                            </a:solidFill>
                            <a:latin typeface="Cambria Math" panose="02040503050406030204" pitchFamily="18" charset="0"/>
                          </a:rPr>
                          <m:t>β</m:t>
                        </m:r>
                      </m:num>
                      <m:den>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𝑧</m:t>
                            </m:r>
                          </m:e>
                        </m:acc>
                        <m:r>
                          <m:rPr>
                            <m:sty m:val="p"/>
                          </m:rPr>
                          <a:rPr lang="en-IN" sz="2800">
                            <a:solidFill>
                              <a:srgbClr val="15803D"/>
                            </a:solidFill>
                            <a:latin typeface="Cambria Math" panose="02040503050406030204" pitchFamily="18" charset="0"/>
                          </a:rPr>
                          <m:t>|</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$x=1$</a:t>
                </a:r>
                <a:r>
                  <a:rPr sz="2800" b="1">
                    <a:solidFill>
                      <a:srgbClr val="15803D"/>
                    </a:solidFill>
                    <a:latin typeface="Arial"/>
                  </a:rPr>
                  <a:t> and </a:t>
                </a:r>
                <a:r>
                  <a:rPr lang="en-IN" sz="2800">
                    <a:solidFill>
                      <a:srgbClr val="15803D"/>
                    </a:solidFill>
                    <a:latin typeface="Cambria Math" panose="02040503050406030204" pitchFamily="18" charset="0"/>
                  </a:rPr>
                  <a:t>$y=\frac{2|\vec{v}|\sin\beta}{|\vec{z}|}$</a:t>
                </a:r>
                <a:endParaRPr sz="2800">
                  <a:solidFill>
                    <a:srgbClr val="15803D"/>
                  </a:solidFill>
                </a:endParaRPr>
              </a:p>
            </p:txBody>
          </p:sp>
        </mc:Fallback>
      </mc:AlternateContent>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Place </a:t>
                </a:r>
                <a14:m>
                  <m:oMath xmlns:m="http://schemas.openxmlformats.org/officeDocument/2006/math">
                    <m:r>
                      <a:rPr lang="en-IN" sz="2400" i="1">
                        <a:solidFill>
                          <a:srgbClr val="78350F"/>
                        </a:solidFill>
                        <a:latin typeface="Cambria Math" panose="02040503050406030204" pitchFamily="18" charset="0"/>
                      </a:rPr>
                      <m:t>𝐿</m:t>
                    </m:r>
                  </m:oMath>
                </a14:m>
                <a:r>
                  <a:rPr sz="2400" b="0">
                    <a:solidFill>
                      <a:srgbClr val="78350F"/>
                    </a:solidFill>
                    <a:latin typeface="Arial"/>
                  </a:rPr>
                  <a:t> along the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-axis and write the three vectors in components; compare the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-components.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Place </a:t>
                </a:r>
                <a:r>
                  <a:rPr lang="en-IN" sz="2400">
                    <a:solidFill>
                      <a:srgbClr val="78350F"/>
                    </a:solidFill>
                    <a:latin typeface="Cambria Math" panose="02040503050406030204" pitchFamily="18" charset="0"/>
                  </a:rPr>
                  <a:t>$L$</a:t>
                </a:r>
                <a:r>
                  <a:rPr sz="2400" b="0">
                    <a:solidFill>
                      <a:srgbClr val="78350F"/>
                    </a:solidFill>
                    <a:latin typeface="Arial"/>
                  </a:rPr>
                  <a:t> along the </a:t>
                </a:r>
                <a:r>
                  <a:rPr lang="en-IN" sz="2400">
                    <a:solidFill>
                      <a:srgbClr val="78350F"/>
                    </a:solidFill>
                    <a:latin typeface="Cambria Math" panose="02040503050406030204" pitchFamily="18" charset="0"/>
                  </a:rPr>
                  <a:t>$x$</a:t>
                </a:r>
                <a:r>
                  <a:rPr sz="2400" b="0">
                    <a:solidFill>
                      <a:srgbClr val="78350F"/>
                    </a:solidFill>
                    <a:latin typeface="Arial"/>
                  </a:rPr>
                  <a:t>-axis and write the three vectors in components; compare the </a:t>
                </a:r>
                <a:r>
                  <a:rPr lang="en-IN" sz="2400">
                    <a:solidFill>
                      <a:srgbClr val="78350F"/>
                    </a:solidFill>
                    <a:latin typeface="Cambria Math" panose="02040503050406030204" pitchFamily="18" charset="0"/>
                  </a:rPr>
                  <a:t>$x$</a:t>
                </a:r>
                <a:r>
                  <a:rPr sz="2400" b="0">
                    <a:solidFill>
                      <a:srgbClr val="78350F"/>
                    </a:solidFill>
                    <a:latin typeface="Arial"/>
                  </a:rPr>
                  <a:t>- and </a:t>
                </a:r>
                <a:r>
                  <a:rPr lang="en-IN" sz="2400">
                    <a:solidFill>
                      <a:srgbClr val="78350F"/>
                    </a:solidFill>
                    <a:latin typeface="Cambria Math" panose="02040503050406030204" pitchFamily="18" charset="0"/>
                  </a:rPr>
                  <a:t>$y$</a:t>
                </a:r>
                <a:r>
                  <a:rPr sz="2400" b="0">
                    <a:solidFill>
                      <a:srgbClr val="78350F"/>
                    </a:solidFill>
                    <a:latin typeface="Arial"/>
                  </a:rPr>
                  <a:t>-components.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as the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-axis. Then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(rising to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(falling from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using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oMath>
                </a14:m>
                <a:r>
                  <a:rPr sz="2400" b="0">
                    <a:solidFill>
                      <a:srgbClr val="111827"/>
                    </a:solidFill>
                    <a:latin typeface="Arial"/>
                  </a:rPr>
                  <a:t> in components: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-component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vector is not perpendicular to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in the figure),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$L$</a:t>
                </a:r>
                <a:r>
                  <a:rPr sz="2400" b="0">
                    <a:solidFill>
                      <a:srgbClr val="111827"/>
                    </a:solidFill>
                    <a:latin typeface="Arial"/>
                  </a:rPr>
                  <a:t> as the </a:t>
                </a:r>
                <a:r>
                  <a:rPr lang="en-IN" sz="2400">
                    <a:solidFill>
                      <a:srgbClr val="111827"/>
                    </a:solidFill>
                    <a:latin typeface="Cambria Math" panose="02040503050406030204" pitchFamily="18" charset="0"/>
                  </a:rPr>
                  <a:t>$x$</a:t>
                </a:r>
                <a:r>
                  <a:rPr sz="2400" b="0">
                    <a:solidFill>
                      <a:srgbClr val="111827"/>
                    </a:solidFill>
                    <a:latin typeface="Arial"/>
                  </a:rPr>
                  <a:t>-axis. Then </a:t>
                </a:r>
                <a:r>
                  <a:rPr lang="en-IN" sz="2400">
                    <a:solidFill>
                      <a:srgbClr val="111827"/>
                    </a:solidFill>
                    <a:latin typeface="Cambria Math" panose="02040503050406030204" pitchFamily="18" charset="0"/>
                  </a:rPr>
                  <a:t>$\vec z=|\vec z|(0,-1)$</a:t>
                </a:r>
                <a:r>
                  <a:rPr sz="2400" b="0">
                    <a:solidFill>
                      <a:srgbClr val="111827"/>
                    </a:solidFill>
                    <a:latin typeface="Arial"/>
                  </a:rPr>
                  <a:t>, </a:t>
                </a:r>
                <a:r>
                  <a:rPr lang="en-IN" sz="2400">
                    <a:solidFill>
                      <a:srgbClr val="111827"/>
                    </a:solidFill>
                    <a:latin typeface="Cambria Math" panose="02040503050406030204" pitchFamily="18" charset="0"/>
                  </a:rPr>
                  <a:t>$\vec v=|\vec v|(\cos\beta,\sin\beta)$</a:t>
                </a:r>
                <a:r>
                  <a:rPr sz="2400" b="0">
                    <a:solidFill>
                      <a:srgbClr val="111827"/>
                    </a:solidFill>
                    <a:latin typeface="Arial"/>
                  </a:rPr>
                  <a:t> (rising to </a:t>
                </a:r>
                <a:r>
                  <a:rPr lang="en-IN" sz="2400">
                    <a:solidFill>
                      <a:srgbClr val="111827"/>
                    </a:solidFill>
                    <a:latin typeface="Cambria Math" panose="02040503050406030204" pitchFamily="18" charset="0"/>
                  </a:rPr>
                  <a:t>$L$</a:t>
                </a:r>
                <a:r>
                  <a:rPr sz="2400" b="0">
                    <a:solidFill>
                      <a:srgbClr val="111827"/>
                    </a:solidFill>
                    <a:latin typeface="Arial"/>
                  </a:rPr>
                  <a:t>) and </a:t>
                </a:r>
                <a:r>
                  <a:rPr lang="en-IN" sz="2400">
                    <a:solidFill>
                      <a:srgbClr val="111827"/>
                    </a:solidFill>
                    <a:latin typeface="Cambria Math" panose="02040503050406030204" pitchFamily="18" charset="0"/>
                  </a:rPr>
                  <a:t>$\vec w=|\vec v|(\cos\beta,-\sin\beta)$</a:t>
                </a:r>
                <a:r>
                  <a:rPr sz="2400" b="0">
                    <a:solidFill>
                      <a:srgbClr val="111827"/>
                    </a:solidFill>
                    <a:latin typeface="Arial"/>
                  </a:rPr>
                  <a:t> (falling from </a:t>
                </a:r>
                <a:r>
                  <a:rPr lang="en-IN" sz="2400">
                    <a:solidFill>
                      <a:srgbClr val="111827"/>
                    </a:solidFill>
                    <a:latin typeface="Cambria Math" panose="02040503050406030204" pitchFamily="18" charset="0"/>
                  </a:rPr>
                  <a:t>$L$</a:t>
                </a:r>
                <a:r>
                  <a:rPr sz="2400" b="0">
                    <a:solidFill>
                      <a:srgbClr val="111827"/>
                    </a:solidFill>
                    <a:latin typeface="Arial"/>
                  </a:rPr>
                  <a:t>), using </a:t>
                </a:r>
                <a:r>
                  <a:rPr lang="en-IN" sz="2400">
                    <a:solidFill>
                      <a:srgbClr val="111827"/>
                    </a:solidFill>
                    <a:latin typeface="Cambria Math" panose="02040503050406030204" pitchFamily="18" charset="0"/>
                  </a:rPr>
                  <a:t>$|\vec w|=|\vec v|$</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w=x\vec v+y\vec z$</a:t>
                </a:r>
                <a:r>
                  <a:rPr sz="2400" b="0">
                    <a:solidFill>
                      <a:srgbClr val="111827"/>
                    </a:solidFill>
                    <a:latin typeface="Arial"/>
                  </a:rPr>
                  <a:t> in components: </a:t>
                </a:r>
                <a:r>
                  <a:rPr lang="en-IN" sz="2400">
                    <a:solidFill>
                      <a:srgbClr val="111827"/>
                    </a:solidFill>
                    <a:latin typeface="Cambria Math" panose="02040503050406030204" pitchFamily="18" charset="0"/>
                  </a:rPr>
                  <a:t>$x$</a:t>
                </a:r>
                <a:r>
                  <a:rPr sz="2400" b="0">
                    <a:solidFill>
                      <a:srgbClr val="111827"/>
                    </a:solidFill>
                    <a:latin typeface="Arial"/>
                  </a:rPr>
                  <a:t>-component </a:t>
                </a:r>
                <a:r>
                  <a:rPr lang="en-IN" sz="2400">
                    <a:solidFill>
                      <a:srgbClr val="111827"/>
                    </a:solidFill>
                    <a:latin typeface="Cambria Math" panose="02040503050406030204" pitchFamily="18" charset="0"/>
                  </a:rPr>
                  <a:t>$|\vec v|\cos\beta=x|\vec v|\cos\beta$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$\cos\beta\neq0$</a:t>
                </a:r>
                <a:r>
                  <a:rPr sz="2400" b="0">
                    <a:solidFill>
                      <a:srgbClr val="111827"/>
                    </a:solidFill>
                    <a:latin typeface="Arial"/>
                  </a:rPr>
                  <a:t> (the vector is not perpendicular to </a:t>
                </a:r>
                <a:r>
                  <a:rPr lang="en-IN" sz="2400">
                    <a:solidFill>
                      <a:srgbClr val="111827"/>
                    </a:solidFill>
                    <a:latin typeface="Cambria Math" panose="02040503050406030204" pitchFamily="18" charset="0"/>
                  </a:rPr>
                  <a:t>$L$</a:t>
                </a:r>
                <a:r>
                  <a:rPr sz="2400" b="0">
                    <a:solidFill>
                      <a:srgbClr val="111827"/>
                    </a:solidFill>
                    <a:latin typeface="Arial"/>
                  </a:rPr>
                  <a:t> in the figure), </a:t>
                </a:r>
                <a:r>
                  <a:rPr lang="en-IN" sz="2400">
                    <a:solidFill>
                      <a:srgbClr val="111827"/>
                    </a:solidFill>
                    <a:latin typeface="Cambria Math" panose="02040503050406030204" pitchFamily="18" charset="0"/>
                  </a:rPr>
                  <a:t>$x=1$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-component: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β</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β</m:t>
                        </m:r>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a:t>
                </a:r>
                <a:r>
                  <a:rPr sz="2400" b="0">
                    <a:solidFill>
                      <a:srgbClr val="111827"/>
                    </a:solidFill>
                    <a:latin typeface="Arial"/>
                  </a:rPr>
                  <a:t>-component: </a:t>
                </a:r>
                <a:r>
                  <a:rPr lang="en-IN" sz="2400">
                    <a:solidFill>
                      <a:srgbClr val="111827"/>
                    </a:solidFill>
                    <a:latin typeface="Cambria Math" panose="02040503050406030204" pitchFamily="18" charset="0"/>
                  </a:rPr>
                  <a:t>$-|\vec v|\sin\beta=x|\vec v|\sin\beta-y|\vec 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$x=1$</a:t>
                </a:r>
                <a:r>
                  <a:rPr sz="2400" b="0">
                    <a:solidFill>
                      <a:srgbClr val="111827"/>
                    </a:solidFill>
                    <a:latin typeface="Arial"/>
                  </a:rPr>
                  <a:t>: </a:t>
                </a:r>
                <a:r>
                  <a:rPr lang="en-IN" sz="2400">
                    <a:solidFill>
                      <a:srgbClr val="111827"/>
                    </a:solidFill>
                    <a:latin typeface="Cambria Math" panose="02040503050406030204" pitchFamily="18" charset="0"/>
                  </a:rPr>
                  <a:t>$y|\vec z|=2|\vec v|\sin\beta$</a:t>
                </a:r>
                <a:r>
                  <a:rPr sz="2400" b="0">
                    <a:solidFill>
                      <a:srgbClr val="111827"/>
                    </a:solidFill>
                    <a:latin typeface="Arial"/>
                  </a:rPr>
                  <a:t>, so </a:t>
                </a:r>
                <a:r>
                  <a:rPr lang="en-IN" sz="2400">
                    <a:solidFill>
                      <a:srgbClr val="111827"/>
                    </a:solidFill>
                    <a:latin typeface="Cambria Math" panose="02040503050406030204" pitchFamily="18" charset="0"/>
                  </a:rPr>
                  <a:t>$y=\frac{2|\vec v|\sin\beta}{|\vec z|}$</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r>
                  <a:rPr sz="2800" b="1">
                    <a:solidFill>
                      <a:srgbClr val="15803D"/>
                    </a:solidFill>
                    <a:latin typeface="Arial"/>
                  </a:rPr>
                  <a:t> and </a:t>
                </a:r>
                <a14:m>
                  <m:oMath xmlns:m="http://schemas.openxmlformats.org/officeDocument/2006/math">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𝑣</m:t>
                            </m:r>
                          </m:e>
                        </m:acc>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sin</m:t>
                        </m:r>
                        <m:r>
                          <a:rPr lang="en-IN" sz="2800" i="1">
                            <a:solidFill>
                              <a:srgbClr val="15803D"/>
                            </a:solidFill>
                            <a:latin typeface="Cambria Math" panose="02040503050406030204" pitchFamily="18" charset="0"/>
                          </a:rPr>
                          <m:t>β</m:t>
                        </m:r>
                      </m:num>
                      <m:den>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𝑧</m:t>
                            </m:r>
                          </m:e>
                        </m:acc>
                        <m:r>
                          <m:rPr>
                            <m:sty m:val="p"/>
                          </m:rPr>
                          <a:rPr lang="en-IN" sz="2800">
                            <a:solidFill>
                              <a:srgbClr val="15803D"/>
                            </a:solidFill>
                            <a:latin typeface="Cambria Math" panose="02040503050406030204" pitchFamily="18" charset="0"/>
                          </a:rPr>
                          <m:t>|</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$x=1$</a:t>
                </a:r>
                <a:r>
                  <a:rPr sz="2800" b="1">
                    <a:solidFill>
                      <a:srgbClr val="15803D"/>
                    </a:solidFill>
                    <a:latin typeface="Arial"/>
                  </a:rPr>
                  <a:t> and </a:t>
                </a:r>
                <a:r>
                  <a:rPr lang="en-IN" sz="2800">
                    <a:solidFill>
                      <a:srgbClr val="15803D"/>
                    </a:solidFill>
                    <a:latin typeface="Cambria Math" panose="02040503050406030204" pitchFamily="18" charset="0"/>
                  </a:rPr>
                  <a:t>$y=\frac{2|\vec{v}|\sin\beta}{|\vec{z}|}$</a:t>
                </a:r>
                <a:endParaRPr sz="2800">
                  <a:solidFill>
                    <a:srgbClr val="15803D"/>
                  </a:solidFill>
                </a:endParaRPr>
              </a:p>
            </p:txBody>
          </p:sp>
        </mc:Fallback>
      </mc:AlternateContent>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Reflection (mirror) formula: the reflection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in a surface with unit normal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oMath>
                </a14:m>
                <a:r>
                  <a:rPr sz="2400" b="0">
                    <a:solidFill>
                      <a:srgbClr val="111827"/>
                    </a:solidFill>
                    <a:latin typeface="Arial"/>
                  </a:rPr>
                  <a:t>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oMath>
                </a14:m>
                <a:r>
                  <a:rPr sz="2400" b="0">
                    <a:solidFill>
                      <a:srgbClr val="111827"/>
                    </a:solidFill>
                    <a:latin typeface="Arial"/>
                  </a:rPr>
                  <a:t>; here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β</m:t>
                        </m:r>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oMath>
                </a14:m>
                <a:r>
                  <a:rPr sz="2400" b="0">
                    <a:solidFill>
                      <a:srgbClr val="111827"/>
                    </a:solidFill>
                    <a:latin typeface="Arial"/>
                  </a:rPr>
                  <a:t> is exactly that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find coefficients in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oMath>
                </a14:m>
                <a:r>
                  <a:rPr sz="2400" b="0">
                    <a:solidFill>
                      <a:srgbClr val="111827"/>
                    </a:solidFill>
                    <a:latin typeface="Arial"/>
                  </a:rPr>
                  <a:t> without coordinates, dot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and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oMath>
                </a14:m>
                <a:r>
                  <a:rPr sz="2400" b="0">
                    <a:solidFill>
                      <a:srgbClr val="111827"/>
                    </a:solidFill>
                    <a:latin typeface="Arial"/>
                  </a:rPr>
                  <a:t> (or with any two convenient vectors) to get two linear equations.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Angle bookkeeping: 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𝐿</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makes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then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makes </a:t>
                </a:r>
                <a14:m>
                  <m:oMath xmlns:m="http://schemas.openxmlformats.org/officeDocument/2006/math">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Reflection (mirror) formula: the reflection of </a:t>
                </a:r>
                <a:r>
                  <a:rPr lang="en-IN" sz="2400">
                    <a:solidFill>
                      <a:srgbClr val="111827"/>
                    </a:solidFill>
                    <a:latin typeface="Cambria Math" panose="02040503050406030204" pitchFamily="18" charset="0"/>
                  </a:rPr>
                  <a:t>$\vec v$</a:t>
                </a:r>
                <a:r>
                  <a:rPr sz="2400" b="0">
                    <a:solidFill>
                      <a:srgbClr val="111827"/>
                    </a:solidFill>
                    <a:latin typeface="Arial"/>
                  </a:rPr>
                  <a:t> in a surface with unit normal </a:t>
                </a:r>
                <a:r>
                  <a:rPr lang="en-IN" sz="2400">
                    <a:solidFill>
                      <a:srgbClr val="111827"/>
                    </a:solidFill>
                    <a:latin typeface="Cambria Math" panose="02040503050406030204" pitchFamily="18" charset="0"/>
                  </a:rPr>
                  <a:t>$\hat n$</a:t>
                </a:r>
                <a:r>
                  <a:rPr sz="2400" b="0">
                    <a:solidFill>
                      <a:srgbClr val="111827"/>
                    </a:solidFill>
                    <a:latin typeface="Arial"/>
                  </a:rPr>
                  <a:t> is </a:t>
                </a:r>
                <a:r>
                  <a:rPr lang="en-IN" sz="2400">
                    <a:solidFill>
                      <a:srgbClr val="111827"/>
                    </a:solidFill>
                    <a:latin typeface="Cambria Math" panose="02040503050406030204" pitchFamily="18" charset="0"/>
                  </a:rPr>
                  <a:t>$\vec v-2(\vec v\cdot\hat n)\hat n$</a:t>
                </a:r>
                <a:r>
                  <a:rPr sz="2400" b="0">
                    <a:solidFill>
                      <a:srgbClr val="111827"/>
                    </a:solidFill>
                    <a:latin typeface="Arial"/>
                  </a:rPr>
                  <a:t>; here </a:t>
                </a:r>
                <a:r>
                  <a:rPr lang="en-IN" sz="2400">
                    <a:solidFill>
                      <a:srgbClr val="111827"/>
                    </a:solidFill>
                    <a:latin typeface="Cambria Math" panose="02040503050406030204" pitchFamily="18" charset="0"/>
                  </a:rPr>
                  <a:t>$\vec w=\vec v+\frac{2|\vec v|\sin\beta}{|\vec z|}\vec z$</a:t>
                </a:r>
                <a:r>
                  <a:rPr sz="2400" b="0">
                    <a:solidFill>
                      <a:srgbClr val="111827"/>
                    </a:solidFill>
                    <a:latin typeface="Arial"/>
                  </a:rPr>
                  <a:t> is exactly that with </a:t>
                </a:r>
                <a:r>
                  <a:rPr lang="en-IN" sz="2400">
                    <a:solidFill>
                      <a:srgbClr val="111827"/>
                    </a:solidFill>
                    <a:latin typeface="Cambria Math" panose="02040503050406030204" pitchFamily="18" charset="0"/>
                  </a:rPr>
                  <a:t>$\hat n=\frac{\vec z}{|\vec 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find coefficients in </a:t>
                </a:r>
                <a:r>
                  <a:rPr lang="en-IN" sz="2400">
                    <a:solidFill>
                      <a:srgbClr val="111827"/>
                    </a:solidFill>
                    <a:latin typeface="Cambria Math" panose="02040503050406030204" pitchFamily="18" charset="0"/>
                  </a:rPr>
                  <a:t>$\vec w=x\vec v+y\vec z$</a:t>
                </a:r>
                <a:r>
                  <a:rPr sz="2400" b="0">
                    <a:solidFill>
                      <a:srgbClr val="111827"/>
                    </a:solidFill>
                    <a:latin typeface="Arial"/>
                  </a:rPr>
                  <a:t> without coordinates, dot with </a:t>
                </a:r>
                <a:r>
                  <a:rPr lang="en-IN" sz="2400">
                    <a:solidFill>
                      <a:srgbClr val="111827"/>
                    </a:solidFill>
                    <a:latin typeface="Cambria Math" panose="02040503050406030204" pitchFamily="18" charset="0"/>
                  </a:rPr>
                  <a:t>$\vec v$</a:t>
                </a:r>
                <a:r>
                  <a:rPr sz="2400" b="0">
                    <a:solidFill>
                      <a:srgbClr val="111827"/>
                    </a:solidFill>
                    <a:latin typeface="Arial"/>
                  </a:rPr>
                  <a:t> and with </a:t>
                </a:r>
                <a:r>
                  <a:rPr lang="en-IN" sz="2400">
                    <a:solidFill>
                      <a:srgbClr val="111827"/>
                    </a:solidFill>
                    <a:latin typeface="Cambria Math" panose="02040503050406030204" pitchFamily="18" charset="0"/>
                  </a:rPr>
                  <a:t>$\vec w$</a:t>
                </a:r>
                <a:r>
                  <a:rPr sz="2400" b="0">
                    <a:solidFill>
                      <a:srgbClr val="111827"/>
                    </a:solidFill>
                    <a:latin typeface="Arial"/>
                  </a:rPr>
                  <a:t> (or with any two convenient vectors) to get two linear equations.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Angle bookkeeping: if </a:t>
                </a:r>
                <a:r>
                  <a:rPr lang="en-IN" sz="2400">
                    <a:solidFill>
                      <a:srgbClr val="111827"/>
                    </a:solidFill>
                    <a:latin typeface="Cambria Math" panose="02040503050406030204" pitchFamily="18" charset="0"/>
                  </a:rPr>
                  <a:t>$\vec z\perp L$</a:t>
                </a:r>
                <a:r>
                  <a:rPr sz="2400" b="0">
                    <a:solidFill>
                      <a:srgbClr val="111827"/>
                    </a:solidFill>
                    <a:latin typeface="Arial"/>
                  </a:rPr>
                  <a:t> and </a:t>
                </a:r>
                <a:r>
                  <a:rPr lang="en-IN" sz="2400">
                    <a:solidFill>
                      <a:srgbClr val="111827"/>
                    </a:solidFill>
                    <a:latin typeface="Cambria Math" panose="02040503050406030204" pitchFamily="18" charset="0"/>
                  </a:rPr>
                  <a:t>$\vec v$</a:t>
                </a:r>
                <a:r>
                  <a:rPr sz="2400" b="0">
                    <a:solidFill>
                      <a:srgbClr val="111827"/>
                    </a:solidFill>
                    <a:latin typeface="Arial"/>
                  </a:rPr>
                  <a:t> makes </a:t>
                </a:r>
                <a:r>
                  <a:rPr lang="en-IN" sz="2400">
                    <a:solidFill>
                      <a:srgbClr val="111827"/>
                    </a:solidFill>
                    <a:latin typeface="Cambria Math" panose="02040503050406030204" pitchFamily="18" charset="0"/>
                  </a:rPr>
                  <a:t>$\beta$</a:t>
                </a:r>
                <a:r>
                  <a:rPr sz="2400" b="0">
                    <a:solidFill>
                      <a:srgbClr val="111827"/>
                    </a:solidFill>
                    <a:latin typeface="Arial"/>
                  </a:rPr>
                  <a:t> with </a:t>
                </a:r>
                <a:r>
                  <a:rPr lang="en-IN" sz="2400">
                    <a:solidFill>
                      <a:srgbClr val="111827"/>
                    </a:solidFill>
                    <a:latin typeface="Cambria Math" panose="02040503050406030204" pitchFamily="18" charset="0"/>
                  </a:rPr>
                  <a:t>$L$</a:t>
                </a:r>
                <a:r>
                  <a:rPr sz="2400" b="0">
                    <a:solidFill>
                      <a:srgbClr val="111827"/>
                    </a:solidFill>
                    <a:latin typeface="Arial"/>
                  </a:rPr>
                  <a:t>, then </a:t>
                </a:r>
                <a:r>
                  <a:rPr lang="en-IN" sz="2400">
                    <a:solidFill>
                      <a:srgbClr val="111827"/>
                    </a:solidFill>
                    <a:latin typeface="Cambria Math" panose="02040503050406030204" pitchFamily="18" charset="0"/>
                  </a:rPr>
                  <a:t>$\vec v$</a:t>
                </a:r>
                <a:r>
                  <a:rPr sz="2400" b="0">
                    <a:solidFill>
                      <a:srgbClr val="111827"/>
                    </a:solidFill>
                    <a:latin typeface="Arial"/>
                  </a:rPr>
                  <a:t> makes </a:t>
                </a:r>
                <a:r>
                  <a:rPr lang="en-IN" sz="2400">
                    <a:solidFill>
                      <a:srgbClr val="111827"/>
                    </a:solidFill>
                    <a:latin typeface="Cambria Math" panose="02040503050406030204" pitchFamily="18" charset="0"/>
                  </a:rPr>
                  <a:t>$90^\circ\mp\beta$</a:t>
                </a:r>
                <a:r>
                  <a:rPr sz="2400" b="0">
                    <a:solidFill>
                      <a:srgbClr val="111827"/>
                    </a:solidFill>
                    <a:latin typeface="Arial"/>
                  </a:rPr>
                  <a:t> with </a:t>
                </a:r>
                <a:r>
                  <a:rPr lang="en-IN" sz="2400">
                    <a:solidFill>
                      <a:srgbClr val="111827"/>
                    </a:solidFill>
                    <a:latin typeface="Cambria Math" panose="02040503050406030204" pitchFamily="18" charset="0"/>
                  </a:rPr>
                  <a:t>$\vec z$</a:t>
                </a:r>
                <a:r>
                  <a:rPr sz="2400" b="0">
                    <a:solidFill>
                      <a:srgbClr val="111827"/>
                    </a:solidFill>
                    <a:latin typeface="Arial"/>
                  </a:rPr>
                  <a:t>, so </a:t>
                </a:r>
                <a:r>
                  <a:rPr lang="en-IN" sz="2400">
                    <a:solidFill>
                      <a:srgbClr val="111827"/>
                    </a:solidFill>
                    <a:latin typeface="Cambria Math" panose="02040503050406030204" pitchFamily="18" charset="0"/>
                  </a:rPr>
                  <a:t>$\vec v\cdot\vec z=\mp|\vec v||\vec z|\sin\beta$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non-zero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such that no three of them are coplanar. Prove that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oMath>
                </a14:m>
                <a:r>
                  <a:rPr sz="2400" b="0">
                    <a:solidFill>
                      <a:srgbClr val="111827"/>
                    </a:solidFill>
                    <a:latin typeface="Arial"/>
                  </a:rPr>
                  <a:t>. Hence prove that 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are the position vectors of the vertices of a plane quadrilateral, then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non-zero vectors </a:t>
                </a:r>
                <a:r>
                  <a:rPr lang="en-IN" sz="2400">
                    <a:solidFill>
                      <a:srgbClr val="111827"/>
                    </a:solidFill>
                    <a:latin typeface="Cambria Math" panose="02040503050406030204" pitchFamily="18" charset="0"/>
                  </a:rPr>
                  <a:t>$\vec{a},\vec{b},\vec{c},\vec{d}$</a:t>
                </a:r>
                <a:r>
                  <a:rPr sz="2400" b="0">
                    <a:solidFill>
                      <a:srgbClr val="111827"/>
                    </a:solidFill>
                    <a:latin typeface="Arial"/>
                  </a:rPr>
                  <a:t> such that no three of them are coplanar. Prove that </a:t>
                </a:r>
                <a:r>
                  <a:rPr lang="en-IN" sz="2400">
                    <a:solidFill>
                      <a:srgbClr val="111827"/>
                    </a:solidFill>
                    <a:latin typeface="Cambria Math" panose="02040503050406030204" pitchFamily="18" charset="0"/>
                  </a:rPr>
                  <a:t>$\vec{a}\left[\vec{b}\ \vec{c}\ \vec{d}\right]+\vec{c}\left[\vec{a}\ \vec{b}\ \vec{d}\right]=\vec{b}\left[\vec{a}\ \vec{c}\ \vec{d}\right]+\vec{d}\left[\vec{a}\ \vec{b}\ \vec{c}\right]$</a:t>
                </a:r>
                <a:r>
                  <a:rPr sz="2400" b="0">
                    <a:solidFill>
                      <a:srgbClr val="111827"/>
                    </a:solidFill>
                    <a:latin typeface="Arial"/>
                  </a:rPr>
                  <a:t>. Hence prove that if </a:t>
                </a:r>
                <a:r>
                  <a:rPr lang="en-IN" sz="2400">
                    <a:solidFill>
                      <a:srgbClr val="111827"/>
                    </a:solidFill>
                    <a:latin typeface="Cambria Math" panose="02040503050406030204" pitchFamily="18" charset="0"/>
                  </a:rPr>
                  <a:t>$\vec a,\vec b,\vec c,\vec d$</a:t>
                </a:r>
                <a:r>
                  <a:rPr sz="2400" b="0">
                    <a:solidFill>
                      <a:srgbClr val="111827"/>
                    </a:solidFill>
                    <a:latin typeface="Arial"/>
                  </a:rPr>
                  <a:t> are the position vectors of the vertices of a plane quadrilateral, then </a:t>
                </a:r>
                <a:r>
                  <a:rPr lang="en-IN" sz="2400">
                    <a:solidFill>
                      <a:srgbClr val="111827"/>
                    </a:solidFill>
                    <a:latin typeface="Cambria Math" panose="02040503050406030204" pitchFamily="18" charset="0"/>
                  </a:rPr>
                  <a:t>$\frac{\left[\vec{b}\ \vec{c}\ \vec{d}\right]+\left[\vec{a}\ \vec{b}\ \vec{d}\right]}{\left[\vec{a}\ \vec{c}\ \vec{d}\right]+\left[\vec{a}\ \vec{b}\ \vec{c}\right]}=1$</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437032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Scalar triple product and linear independence of vectors, Coplanarity of points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oMath>
                </a14:m>
                <a:r>
                  <a:rPr sz="2400" b="0">
                    <a:solidFill>
                      <a:srgbClr val="78350F"/>
                    </a:solidFill>
                    <a:latin typeface="Arial"/>
                  </a:rPr>
                  <a:t> form a basis, so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oMath>
                </a14:m>
                <a:r>
                  <a:rPr sz="2400" b="0">
                    <a:solidFill>
                      <a:srgbClr val="78350F"/>
                    </a:solidFill>
                    <a:latin typeface="Arial"/>
                  </a:rPr>
                  <a:t> with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oMath>
                </a14:m>
                <a:r>
                  <a:rPr sz="2400" b="0">
                    <a:solidFill>
                      <a:srgbClr val="78350F"/>
                    </a:solidFill>
                    <a:latin typeface="Arial"/>
                  </a:rPr>
                  <a:t> read off by triple products; plane points give a vanishing volume.</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$\vec b,\vec c,\vec d$</a:t>
                </a:r>
                <a:r>
                  <a:rPr sz="2400" b="0">
                    <a:solidFill>
                      <a:srgbClr val="78350F"/>
                    </a:solidFill>
                    <a:latin typeface="Arial"/>
                  </a:rPr>
                  <a:t> form a basis, so </a:t>
                </a:r>
                <a:r>
                  <a:rPr lang="en-IN" sz="2400">
                    <a:solidFill>
                      <a:srgbClr val="78350F"/>
                    </a:solidFill>
                    <a:latin typeface="Cambria Math" panose="02040503050406030204" pitchFamily="18" charset="0"/>
                  </a:rPr>
                  <a:t>$\vec a=x\vec b+y\vec c+z\vec d$</a:t>
                </a:r>
                <a:r>
                  <a:rPr sz="2400" b="0">
                    <a:solidFill>
                      <a:srgbClr val="78350F"/>
                    </a:solidFill>
                    <a:latin typeface="Arial"/>
                  </a:rPr>
                  <a:t> with </a:t>
                </a:r>
                <a:r>
                  <a:rPr lang="en-IN" sz="2400">
                    <a:solidFill>
                      <a:srgbClr val="78350F"/>
                    </a:solidFill>
                    <a:latin typeface="Cambria Math" panose="02040503050406030204" pitchFamily="18" charset="0"/>
                  </a:rPr>
                  <a:t>$x,y,z$</a:t>
                </a:r>
                <a:r>
                  <a:rPr sz="2400" b="0">
                    <a:solidFill>
                      <a:srgbClr val="78350F"/>
                    </a:solidFill>
                    <a:latin typeface="Arial"/>
                  </a:rPr>
                  <a:t> read off by triple products; plane points give a vanishing volume.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 three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are coplanar,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are non-coplanar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Hence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for some scalars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the triple product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oMath>
                </a14:m>
                <a:r>
                  <a:rPr sz="2400" b="0">
                    <a:solidFill>
                      <a:srgbClr val="111827"/>
                    </a:solidFill>
                    <a:latin typeface="Arial"/>
                  </a:rPr>
                  <a:t>, since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repeated give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in the other slots: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No three of </a:t>
                </a:r>
                <a:r>
                  <a:rPr lang="en-IN" sz="2400">
                    <a:solidFill>
                      <a:srgbClr val="111827"/>
                    </a:solidFill>
                    <a:latin typeface="Cambria Math" panose="02040503050406030204" pitchFamily="18" charset="0"/>
                  </a:rPr>
                  <a:t>$\vec a,\vec b,\vec c,\vec d$</a:t>
                </a:r>
                <a:r>
                  <a:rPr sz="2400" b="0">
                    <a:solidFill>
                      <a:srgbClr val="111827"/>
                    </a:solidFill>
                    <a:latin typeface="Arial"/>
                  </a:rPr>
                  <a:t> are coplanar, so </a:t>
                </a:r>
                <a:r>
                  <a:rPr lang="en-IN" sz="2400">
                    <a:solidFill>
                      <a:srgbClr val="111827"/>
                    </a:solidFill>
                    <a:latin typeface="Cambria Math" panose="02040503050406030204" pitchFamily="18" charset="0"/>
                  </a:rPr>
                  <a:t>$\vec b,\vec c,\vec d$</a:t>
                </a:r>
                <a:r>
                  <a:rPr sz="2400" b="0">
                    <a:solidFill>
                      <a:srgbClr val="111827"/>
                    </a:solidFill>
                    <a:latin typeface="Arial"/>
                  </a:rPr>
                  <a:t> are non-coplanar and </a:t>
                </a:r>
                <a:r>
                  <a:rPr lang="en-IN" sz="2400">
                    <a:solidFill>
                      <a:srgbClr val="111827"/>
                    </a:solidFill>
                    <a:latin typeface="Cambria Math" panose="02040503050406030204" pitchFamily="18" charset="0"/>
                  </a:rPr>
                  <a:t>$\left[\vec{b}\ \vec{c}\ \vec{d}\right]\neq0$</a:t>
                </a:r>
                <a:r>
                  <a:rPr sz="2400" b="0">
                    <a:solidFill>
                      <a:srgbClr val="111827"/>
                    </a:solidFill>
                    <a:latin typeface="Arial"/>
                  </a:rPr>
                  <a:t>. Hence </a:t>
                </a:r>
                <a:r>
                  <a:rPr lang="en-IN" sz="2400">
                    <a:solidFill>
                      <a:srgbClr val="111827"/>
                    </a:solidFill>
                    <a:latin typeface="Cambria Math" panose="02040503050406030204" pitchFamily="18" charset="0"/>
                  </a:rPr>
                  <a:t>$\vec{a}=x\vec{b}+y\vec{c}+z\vec{d}$</a:t>
                </a:r>
                <a:r>
                  <a:rPr sz="2400" b="0">
                    <a:solidFill>
                      <a:srgbClr val="111827"/>
                    </a:solidFill>
                    <a:latin typeface="Arial"/>
                  </a:rPr>
                  <a:t> for some scalars </a:t>
                </a:r>
                <a:r>
                  <a:rPr lang="en-IN" sz="2400">
                    <a:solidFill>
                      <a:srgbClr val="111827"/>
                    </a:solidFill>
                    <a:latin typeface="Cambria Math" panose="02040503050406030204" pitchFamily="18" charset="0"/>
                  </a:rPr>
                  <a:t>$x,y,z$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the triple product with </a:t>
                </a:r>
                <a:r>
                  <a:rPr lang="en-IN" sz="2400">
                    <a:solidFill>
                      <a:srgbClr val="111827"/>
                    </a:solidFill>
                    <a:latin typeface="Cambria Math" panose="02040503050406030204" pitchFamily="18" charset="0"/>
                  </a:rPr>
                  <a:t>$\vec c,\vec d$</a:t>
                </a:r>
                <a:r>
                  <a:rPr sz="2400" b="0">
                    <a:solidFill>
                      <a:srgbClr val="111827"/>
                    </a:solidFill>
                    <a:latin typeface="Arial"/>
                  </a:rPr>
                  <a:t>: </a:t>
                </a:r>
                <a:r>
                  <a:rPr lang="en-IN" sz="2400">
                    <a:solidFill>
                      <a:srgbClr val="111827"/>
                    </a:solidFill>
                    <a:latin typeface="Cambria Math" panose="02040503050406030204" pitchFamily="18" charset="0"/>
                  </a:rPr>
                  <a:t>$\left[\vec{a}\ \vec{c}\ \vec{d}\right]=x\left[\vec{b}\ \vec{c}\ \vec{d}\right]$</a:t>
                </a:r>
                <a:r>
                  <a:rPr sz="2400" b="0">
                    <a:solidFill>
                      <a:srgbClr val="111827"/>
                    </a:solidFill>
                    <a:latin typeface="Arial"/>
                  </a:rPr>
                  <a:t>, since </a:t>
                </a:r>
                <a:r>
                  <a:rPr lang="en-IN" sz="2400">
                    <a:solidFill>
                      <a:srgbClr val="111827"/>
                    </a:solidFill>
                    <a:latin typeface="Cambria Math" panose="02040503050406030204" pitchFamily="18" charset="0"/>
                  </a:rPr>
                  <a:t>$\vec c$</a:t>
                </a:r>
                <a:r>
                  <a:rPr sz="2400" b="0">
                    <a:solidFill>
                      <a:srgbClr val="111827"/>
                    </a:solidFill>
                    <a:latin typeface="Arial"/>
                  </a:rPr>
                  <a:t> and </a:t>
                </a:r>
                <a:r>
                  <a:rPr lang="en-IN" sz="2400">
                    <a:solidFill>
                      <a:srgbClr val="111827"/>
                    </a:solidFill>
                    <a:latin typeface="Cambria Math" panose="02040503050406030204" pitchFamily="18" charset="0"/>
                  </a:rPr>
                  <a:t>$\vec d$</a:t>
                </a:r>
                <a:r>
                  <a:rPr sz="2400" b="0">
                    <a:solidFill>
                      <a:srgbClr val="111827"/>
                    </a:solidFill>
                    <a:latin typeface="Arial"/>
                  </a:rPr>
                  <a:t> repeated give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$\vec b,\vec d$</a:t>
                </a:r>
                <a:r>
                  <a:rPr sz="2400" b="0">
                    <a:solidFill>
                      <a:srgbClr val="111827"/>
                    </a:solidFill>
                    <a:latin typeface="Arial"/>
                  </a:rPr>
                  <a:t> in the other slots: </a:t>
                </a:r>
                <a:r>
                  <a:rPr lang="en-IN" sz="2400">
                    <a:solidFill>
                      <a:srgbClr val="111827"/>
                    </a:solidFill>
                    <a:latin typeface="Cambria Math" panose="02040503050406030204" pitchFamily="18" charset="0"/>
                  </a:rPr>
                  <a:t>$\left[\vec{a}\ \vec{b}\ \vec{d}\right]=y\left[\vec{c}\ \vec{b}\ \vec{d}\right]=-y\left[\vec{b}\ \vec{c}\ \vec{d}\right]$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by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$\vec b,\vec c$</a:t>
                </a:r>
                <a:r>
                  <a:rPr sz="2400" b="0">
                    <a:solidFill>
                      <a:srgbClr val="111827"/>
                    </a:solidFill>
                    <a:latin typeface="Arial"/>
                  </a:rPr>
                  <a:t>: </a:t>
                </a:r>
                <a:r>
                  <a:rPr lang="en-IN" sz="2400">
                    <a:solidFill>
                      <a:srgbClr val="111827"/>
                    </a:solidFill>
                    <a:latin typeface="Cambria Math" panose="02040503050406030204" pitchFamily="18" charset="0"/>
                  </a:rPr>
                  <a:t>$\left[\vec{a}\ \vec{b}\ \vec{c}\right]=z\left[\vec{d}\ \vec{b}\ \vec{c}\right]=z\left[\vec{b}\ \vec{c}\ \vec{d}\right]$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$x=\frac{\left[\vec{a}\ \vec{c}\ \vec{d}\right]}{\left[\vec{b}\ \vec{c}\ \vec{d}\right]}$</a:t>
                </a:r>
                <a:r>
                  <a:rPr sz="2400" b="0">
                    <a:solidFill>
                      <a:srgbClr val="111827"/>
                    </a:solidFill>
                    <a:latin typeface="Arial"/>
                  </a:rPr>
                  <a:t>, </a:t>
                </a:r>
                <a:r>
                  <a:rPr lang="en-IN" sz="2400">
                    <a:solidFill>
                      <a:srgbClr val="111827"/>
                    </a:solidFill>
                    <a:latin typeface="Cambria Math" panose="02040503050406030204" pitchFamily="18" charset="0"/>
                  </a:rPr>
                  <a:t>$y=-\frac{\left[\vec{a}\ \vec{b}\ \vec{d}\right]}{\left[\vec{b}\ \vec{c}\ \vec{d}\right]}$</a:t>
                </a:r>
                <a:r>
                  <a:rPr sz="2400" b="0">
                    <a:solidFill>
                      <a:srgbClr val="111827"/>
                    </a:solidFill>
                    <a:latin typeface="Arial"/>
                  </a:rPr>
                  <a:t>, </a:t>
                </a:r>
                <a:r>
                  <a:rPr lang="en-IN" sz="2400">
                    <a:solidFill>
                      <a:srgbClr val="111827"/>
                    </a:solidFill>
                    <a:latin typeface="Cambria Math" panose="02040503050406030204" pitchFamily="18" charset="0"/>
                  </a:rPr>
                  <a:t>$z=\frac{\left[\vec{a}\ \vec{b}\ \vec{c}\right]}{\left[\vec{b}\ \vec{c}\ \vec{d}\right]}$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a:t>
                </a:r>
                <a:r>
                  <a:rPr lang="en-IN" sz="2400">
                    <a:solidFill>
                      <a:srgbClr val="111827"/>
                    </a:solidFill>
                    <a:latin typeface="Cambria Math" panose="02040503050406030204" pitchFamily="18" charset="0"/>
                  </a:rPr>
                  <a:t>$\vec a=x\vec b+y\vec c+z\vec d$</a:t>
                </a:r>
                <a:r>
                  <a:rPr sz="2400" b="0">
                    <a:solidFill>
                      <a:srgbClr val="111827"/>
                    </a:solidFill>
                    <a:latin typeface="Arial"/>
                  </a:rPr>
                  <a:t> by </a:t>
                </a:r>
                <a:r>
                  <a:rPr lang="en-IN" sz="2400">
                    <a:solidFill>
                      <a:srgbClr val="111827"/>
                    </a:solidFill>
                    <a:latin typeface="Cambria Math" panose="02040503050406030204" pitchFamily="18" charset="0"/>
                  </a:rPr>
                  <a:t>$\left[\vec{b}\ \vec{c}\ \vec{d}\right]$</a:t>
                </a:r>
                <a:r>
                  <a:rPr sz="2400" b="0">
                    <a:solidFill>
                      <a:srgbClr val="111827"/>
                    </a:solidFill>
                    <a:latin typeface="Arial"/>
                  </a:rPr>
                  <a:t>: </a:t>
                </a:r>
                <a:r>
                  <a:rPr lang="en-IN" sz="2400">
                    <a:solidFill>
                      <a:srgbClr val="111827"/>
                    </a:solidFill>
                    <a:latin typeface="Cambria Math" panose="02040503050406030204" pitchFamily="18" charset="0"/>
                  </a:rPr>
                  <a:t>$\vec a\left[\vec{b}\ \vec{c}\ \vec{d}\right]=\vec b\left[\vec{a}\ \vec{c}\ \vec{d}\right]-\vec c\left[\vec{a}\ \vec{b}\ \vec{d}\right]+\vec d\left[\vec{a}\ \vec{b}\ \vec{c}\right]$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Rearranged: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oMath>
                </a14:m>
                <a:r>
                  <a:rPr sz="2400" b="0">
                    <a:solidFill>
                      <a:srgbClr val="111827"/>
                    </a:solidFill>
                    <a:latin typeface="Arial"/>
                  </a:rPr>
                  <a:t>. This proves the first part.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(2) 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are vertices of a plane quadrilateral, the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lie in that plane, so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Rearranged: </a:t>
                </a:r>
                <a:r>
                  <a:rPr lang="en-IN" sz="2400">
                    <a:solidFill>
                      <a:srgbClr val="111827"/>
                    </a:solidFill>
                    <a:latin typeface="Cambria Math" panose="02040503050406030204" pitchFamily="18" charset="0"/>
                  </a:rPr>
                  <a:t>$\vec a\left[\vec{b}\ \vec{c}\ \vec{d}\right]+\vec c\left[\vec{a}\ \vec{b}\ \vec{d}\right]=\vec b\left[\vec{a}\ \vec{c}\ \vec{d}\right]+\vec d\left[\vec{a}\ \vec{b}\ \vec{c}\right]$</a:t>
                </a:r>
                <a:r>
                  <a:rPr sz="2400" b="0">
                    <a:solidFill>
                      <a:srgbClr val="111827"/>
                    </a:solidFill>
                    <a:latin typeface="Arial"/>
                  </a:rPr>
                  <a:t>. This proves the first part.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(2) If </a:t>
                </a:r>
                <a:r>
                  <a:rPr lang="en-IN" sz="2400">
                    <a:solidFill>
                      <a:srgbClr val="111827"/>
                    </a:solidFill>
                    <a:latin typeface="Cambria Math" panose="02040503050406030204" pitchFamily="18" charset="0"/>
                  </a:rPr>
                  <a:t>$\vec a,\vec b,\vec c,\vec d$</a:t>
                </a:r>
                <a:r>
                  <a:rPr sz="2400" b="0">
                    <a:solidFill>
                      <a:srgbClr val="111827"/>
                    </a:solidFill>
                    <a:latin typeface="Arial"/>
                  </a:rPr>
                  <a:t> are vertices of a plane quadrilateral, the vectors </a:t>
                </a:r>
                <a:r>
                  <a:rPr lang="en-IN" sz="2400">
                    <a:solidFill>
                      <a:srgbClr val="111827"/>
                    </a:solidFill>
                    <a:latin typeface="Cambria Math" panose="02040503050406030204" pitchFamily="18" charset="0"/>
                  </a:rPr>
                  <a:t>$\vec a-\vec b$</a:t>
                </a:r>
                <a:r>
                  <a:rPr sz="2400" b="0">
                    <a:solidFill>
                      <a:srgbClr val="111827"/>
                    </a:solidFill>
                    <a:latin typeface="Arial"/>
                  </a:rPr>
                  <a:t>, </a:t>
                </a:r>
                <a:r>
                  <a:rPr lang="en-IN" sz="2400">
                    <a:solidFill>
                      <a:srgbClr val="111827"/>
                    </a:solidFill>
                    <a:latin typeface="Cambria Math" panose="02040503050406030204" pitchFamily="18" charset="0"/>
                  </a:rPr>
                  <a:t>$\vec b-\vec c$</a:t>
                </a:r>
                <a:r>
                  <a:rPr sz="2400" b="0">
                    <a:solidFill>
                      <a:srgbClr val="111827"/>
                    </a:solidFill>
                    <a:latin typeface="Arial"/>
                  </a:rPr>
                  <a:t>, </a:t>
                </a:r>
                <a:r>
                  <a:rPr lang="en-IN" sz="2400">
                    <a:solidFill>
                      <a:srgbClr val="111827"/>
                    </a:solidFill>
                    <a:latin typeface="Cambria Math" panose="02040503050406030204" pitchFamily="18" charset="0"/>
                  </a:rPr>
                  <a:t>$\vec c-\vec d$</a:t>
                </a:r>
                <a:r>
                  <a:rPr sz="2400" b="0">
                    <a:solidFill>
                      <a:srgbClr val="111827"/>
                    </a:solidFill>
                    <a:latin typeface="Arial"/>
                  </a:rPr>
                  <a:t> lie in that plane, so </a:t>
                </a:r>
                <a:r>
                  <a:rPr lang="en-IN" sz="2400">
                    <a:solidFill>
                      <a:srgbClr val="111827"/>
                    </a:solidFill>
                    <a:latin typeface="Cambria Math" panose="02040503050406030204" pitchFamily="18" charset="0"/>
                  </a:rPr>
                  <a:t>$[(\vec a-\vec b)\times(\vec b-\vec c)]\cdot(\vec c-\vec d)=0$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a-\vec b)\times(\vec b-\vec c)=\vec a\times\vec b-\vec a\times\vec c+\vec b\times\vec c$</a:t>
                </a:r>
                <a:r>
                  <a:rPr sz="2400" b="0">
                    <a:solidFill>
                      <a:srgbClr val="111827"/>
                    </a:solidFill>
                    <a:latin typeface="Arial"/>
                  </a:rPr>
                  <a:t> (as </a:t>
                </a:r>
                <a:r>
                  <a:rPr lang="en-IN" sz="2400">
                    <a:solidFill>
                      <a:srgbClr val="111827"/>
                    </a:solidFill>
                    <a:latin typeface="Cambria Math" panose="02040503050406030204" pitchFamily="18" charset="0"/>
                  </a:rPr>
                  <a:t>$\vec b\times\vec b=\vec 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Dot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(terms with a repeated vector vanish):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denominator being non-zero).</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Dot with </a:t>
                </a:r>
                <a:r>
                  <a:rPr lang="en-IN" sz="2400">
                    <a:solidFill>
                      <a:srgbClr val="111827"/>
                    </a:solidFill>
                    <a:latin typeface="Cambria Math" panose="02040503050406030204" pitchFamily="18" charset="0"/>
                  </a:rPr>
                  <a:t>$\vec c-\vec d$</a:t>
                </a:r>
                <a:r>
                  <a:rPr sz="2400" b="0">
                    <a:solidFill>
                      <a:srgbClr val="111827"/>
                    </a:solidFill>
                    <a:latin typeface="Arial"/>
                  </a:rPr>
                  <a:t> (terms with a repeated vector vanish): </a:t>
                </a:r>
                <a:r>
                  <a:rPr lang="en-IN" sz="2400">
                    <a:solidFill>
                      <a:srgbClr val="111827"/>
                    </a:solidFill>
                    <a:latin typeface="Cambria Math" panose="02040503050406030204" pitchFamily="18" charset="0"/>
                  </a:rPr>
                  <a:t>$\left[\vec{a}\ \vec{b}\ \vec{c}\right]-\left[\vec{a}\ \vec{b}\ \vec{d}\right]+\left[\vec{a}\ \vec{c}\ \vec{d}\right]-\left[\vec{b}\ \vec{c}\ \vec{d}\right]=0$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$\left[\vec{a}\ \vec{b}\ \vec{c}\right]+\left[\vec{a}\ \vec{c}\ \vec{d}\right]=\left[\vec{a}\ \vec{b}\ \vec{d}\right]+\left[\vec{b}\ \vec{c}\ \vec{d}\right]$</a:t>
                </a:r>
                <a:r>
                  <a:rPr sz="2400" b="0">
                    <a:solidFill>
                      <a:srgbClr val="111827"/>
                    </a:solidFill>
                    <a:latin typeface="Arial"/>
                  </a:rPr>
                  <a:t>, i.e. </a:t>
                </a:r>
                <a:r>
                  <a:rPr lang="en-IN" sz="2400">
                    <a:solidFill>
                      <a:srgbClr val="111827"/>
                    </a:solidFill>
                    <a:latin typeface="Cambria Math" panose="02040503050406030204" pitchFamily="18" charset="0"/>
                  </a:rPr>
                  <a:t>$\frac{\left[\vec{b}\ \vec{c}\ \vec{d}\right]+\left[\vec{a}\ \vec{b}\ \vec{d}\right]}{\left[\vec{a}\ \vec{c}\ \vec{d}\right]+\left[\vec{a}\ \vec{b}\ \vec{c}\right]}=1$</a:t>
                </a:r>
                <a:r>
                  <a:rPr sz="2400" b="0">
                    <a:solidFill>
                      <a:srgbClr val="111827"/>
                    </a:solidFill>
                    <a:latin typeface="Arial"/>
                  </a:rPr>
                  <a:t> (the denominator being non-zero).</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Both statements are proved (the ratio equals </a:t>
                </a:r>
                <a14:m>
                  <m:oMath xmlns:m="http://schemas.openxmlformats.org/officeDocument/2006/math">
                    <m:r>
                      <a:rPr lang="en-IN" sz="2800" i="1">
                        <a:solidFill>
                          <a:srgbClr val="15803D"/>
                        </a:solidFill>
                        <a:latin typeface="Cambria Math" panose="02040503050406030204" pitchFamily="18" charset="0"/>
                      </a:rPr>
                      <m:t>1</m:t>
                    </m:r>
                  </m:oMath>
                </a14:m>
                <a:r>
                  <a:rPr sz="2800" b="1">
                    <a:solidFill>
                      <a:srgbClr val="15803D"/>
                    </a:solidFill>
                    <a:latin typeface="Arial"/>
                  </a:rPr>
                  <a:t>).</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Both statements are proved (the ratio equals </a:t>
                </a:r>
                <a:r>
                  <a:rPr lang="en-IN" sz="2800">
                    <a:solidFill>
                      <a:srgbClr val="15803D"/>
                    </a:solidFill>
                    <a:latin typeface="Cambria Math" panose="02040503050406030204" pitchFamily="18" charset="0"/>
                  </a:rPr>
                  <a:t>$1$</a:t>
                </a:r>
                <a:r>
                  <a:rPr sz="2800" b="1">
                    <a:solidFill>
                      <a:srgbClr val="15803D"/>
                    </a:solidFill>
                    <a:latin typeface="Arial"/>
                  </a:rPr>
                  <a:t>).</a:t>
                </a:r>
                <a:endParaRPr sz="2800">
                  <a:solidFill>
                    <a:srgbClr val="15803D"/>
                  </a:solidFill>
                </a:endParaRPr>
              </a:p>
            </p:txBody>
          </p:sp>
        </mc:Fallback>
      </mc:AlternateContent>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 determinant: expanding a </a:t>
                </a:r>
                <a14:m>
                  <m:oMath xmlns:m="http://schemas.openxmlformats.org/officeDocument/2006/math">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determinant with a repeated column (or a column of ones) gives both identities.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a determinant: expanding a </a:t>
                </a:r>
                <a:r>
                  <a:rPr lang="en-IN" sz="2400">
                    <a:solidFill>
                      <a:srgbClr val="78350F"/>
                    </a:solidFill>
                    <a:latin typeface="Cambria Math" panose="02040503050406030204" pitchFamily="18" charset="0"/>
                  </a:rPr>
                  <a:t>$4\times4$</a:t>
                </a:r>
                <a:r>
                  <a:rPr sz="2400" b="0">
                    <a:solidFill>
                      <a:srgbClr val="78350F"/>
                    </a:solidFill>
                    <a:latin typeface="Arial"/>
                  </a:rPr>
                  <a:t> determinant with a repeated column (or a column of ones) gives both identities.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Consider the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determinant whose rows are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Two of its columns are equal, so it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along the first column: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𝑖</m:t>
                        </m:r>
                      </m:sub>
                    </m:sSub>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𝑖</m:t>
                        </m:r>
                      </m:sub>
                    </m:sSub>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𝑖</m:t>
                        </m:r>
                      </m:sub>
                    </m:sSub>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𝑑</m:t>
                        </m:r>
                      </m:e>
                      <m:sub>
                        <m:r>
                          <a:rPr lang="en-IN" sz="2400" i="1">
                            <a:solidFill>
                              <a:srgbClr val="111827"/>
                            </a:solidFill>
                            <a:latin typeface="Cambria Math" panose="02040503050406030204" pitchFamily="18" charset="0"/>
                          </a:rPr>
                          <m:t>𝑖</m:t>
                        </m:r>
                      </m:sub>
                    </m:sSub>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Combining the three components: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 which rearranges to the required identity.</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Consider the </a:t>
                </a:r>
                <a:r>
                  <a:rPr lang="en-IN" sz="2400">
                    <a:solidFill>
                      <a:srgbClr val="111827"/>
                    </a:solidFill>
                    <a:latin typeface="Cambria Math" panose="02040503050406030204" pitchFamily="18" charset="0"/>
                  </a:rPr>
                  <a:t>$4\times4$</a:t>
                </a:r>
                <a:r>
                  <a:rPr sz="2400" b="0">
                    <a:solidFill>
                      <a:srgbClr val="111827"/>
                    </a:solidFill>
                    <a:latin typeface="Arial"/>
                  </a:rPr>
                  <a:t> determinant whose rows are </a:t>
                </a:r>
                <a:r>
                  <a:rPr lang="en-IN" sz="2400">
                    <a:solidFill>
                      <a:srgbClr val="111827"/>
                    </a:solidFill>
                    <a:latin typeface="Cambria Math" panose="02040503050406030204" pitchFamily="18" charset="0"/>
                  </a:rPr>
                  <a:t>$(a_i,a_1,a_2,a_3)$</a:t>
                </a:r>
                <a:r>
                  <a:rPr sz="2400" b="0">
                    <a:solidFill>
                      <a:srgbClr val="111827"/>
                    </a:solidFill>
                    <a:latin typeface="Arial"/>
                  </a:rPr>
                  <a:t>, </a:t>
                </a:r>
                <a:r>
                  <a:rPr lang="en-IN" sz="2400">
                    <a:solidFill>
                      <a:srgbClr val="111827"/>
                    </a:solidFill>
                    <a:latin typeface="Cambria Math" panose="02040503050406030204" pitchFamily="18" charset="0"/>
                  </a:rPr>
                  <a:t>$(b_i,b_1,b_2,b_3)$</a:t>
                </a:r>
                <a:r>
                  <a:rPr sz="2400" b="0">
                    <a:solidFill>
                      <a:srgbClr val="111827"/>
                    </a:solidFill>
                    <a:latin typeface="Arial"/>
                  </a:rPr>
                  <a:t>, </a:t>
                </a:r>
                <a:r>
                  <a:rPr lang="en-IN" sz="2400">
                    <a:solidFill>
                      <a:srgbClr val="111827"/>
                    </a:solidFill>
                    <a:latin typeface="Cambria Math" panose="02040503050406030204" pitchFamily="18" charset="0"/>
                  </a:rPr>
                  <a:t>$(c_i,c_1,c_2,c_3)$</a:t>
                </a:r>
                <a:r>
                  <a:rPr sz="2400" b="0">
                    <a:solidFill>
                      <a:srgbClr val="111827"/>
                    </a:solidFill>
                    <a:latin typeface="Arial"/>
                  </a:rPr>
                  <a:t>, </a:t>
                </a:r>
                <a:r>
                  <a:rPr lang="en-IN" sz="2400">
                    <a:solidFill>
                      <a:srgbClr val="111827"/>
                    </a:solidFill>
                    <a:latin typeface="Cambria Math" panose="02040503050406030204" pitchFamily="18" charset="0"/>
                  </a:rPr>
                  <a:t>$(d_i,d_1,d_2,d_3)$</a:t>
                </a:r>
                <a:r>
                  <a:rPr sz="2400" b="0">
                    <a:solidFill>
                      <a:srgbClr val="111827"/>
                    </a:solidFill>
                    <a:latin typeface="Arial"/>
                  </a:rPr>
                  <a:t>, for </a:t>
                </a:r>
                <a:r>
                  <a:rPr lang="en-IN" sz="2400">
                    <a:solidFill>
                      <a:srgbClr val="111827"/>
                    </a:solidFill>
                    <a:latin typeface="Cambria Math" panose="02040503050406030204" pitchFamily="18" charset="0"/>
                  </a:rPr>
                  <a:t>$i=1,2,3$</a:t>
                </a:r>
                <a:r>
                  <a:rPr sz="2400" b="0">
                    <a:solidFill>
                      <a:srgbClr val="111827"/>
                    </a:solidFill>
                    <a:latin typeface="Arial"/>
                  </a:rPr>
                  <a:t>. Two of its columns are equal, so it is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along the first column: </a:t>
                </a:r>
                <a:r>
                  <a:rPr lang="en-IN" sz="2400">
                    <a:solidFill>
                      <a:srgbClr val="111827"/>
                    </a:solidFill>
                    <a:latin typeface="Cambria Math" panose="02040503050406030204" pitchFamily="18" charset="0"/>
                  </a:rPr>
                  <a:t>$a_i\left[\vec{b}\ \vec{c}\ \vec{d}\right]-b_i\left[\vec{a}\ \vec{c}\ \vec{d}\right]+c_i\left[\vec{a}\ \vec{b}\ \vec{d}\right]-d_i\left[\vec{a}\ \vec{b}\ \vec{c}\right]=0$</a:t>
                </a:r>
                <a:r>
                  <a:rPr sz="2400" b="0">
                    <a:solidFill>
                      <a:srgbClr val="111827"/>
                    </a:solidFill>
                    <a:latin typeface="Arial"/>
                  </a:rPr>
                  <a:t>, for </a:t>
                </a:r>
                <a:r>
                  <a:rPr lang="en-IN" sz="2400">
                    <a:solidFill>
                      <a:srgbClr val="111827"/>
                    </a:solidFill>
                    <a:latin typeface="Cambria Math" panose="02040503050406030204" pitchFamily="18" charset="0"/>
                  </a:rPr>
                  <a:t>$i=1,2,3$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Combining the three components: </a:t>
                </a:r>
                <a:r>
                  <a:rPr lang="en-IN" sz="2400">
                    <a:solidFill>
                      <a:srgbClr val="111827"/>
                    </a:solidFill>
                    <a:latin typeface="Cambria Math" panose="02040503050406030204" pitchFamily="18" charset="0"/>
                  </a:rPr>
                  <a:t>$\vec a\left[\vec{b}\ \vec{c}\ \vec{d}\right]-\vec b\left[\vec{a}\ \vec{c}\ \vec{d}\right]+\vec c\left[\vec{a}\ \vec{b}\ \vec{d}\right]-\vec d\left[\vec{a}\ \vec{b}\ \vec{c}\right]=\vec0$</a:t>
                </a:r>
                <a:r>
                  <a:rPr sz="2400" b="0">
                    <a:solidFill>
                      <a:srgbClr val="111827"/>
                    </a:solidFill>
                    <a:latin typeface="Arial"/>
                  </a:rPr>
                  <a:t>, which rearranges to the required identity.</a:t>
                </a:r>
                <a:endParaRPr sz="2400">
                  <a:solidFill>
                    <a:srgbClr val="111827"/>
                  </a:solidFill>
                </a:endParaRPr>
              </a:p>
            </p:txBody>
          </p:sp>
        </mc:Fallback>
      </mc:AlternateContent>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(2): four points are coplanar iff the determinant with rows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vanishes (the volume of the tetrahedron they span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along the column of ones: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oMath>
                </a14:m>
                <a:r>
                  <a:rPr sz="2400" b="0">
                    <a:solidFill>
                      <a:srgbClr val="111827"/>
                    </a:solidFill>
                    <a:latin typeface="Arial"/>
                  </a:rPr>
                  <a:t>, and the ratio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(denominator non-zero).</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(2): four points are coplanar iff the determinant with rows </a:t>
                </a:r>
                <a:r>
                  <a:rPr lang="en-IN" sz="2400">
                    <a:solidFill>
                      <a:srgbClr val="111827"/>
                    </a:solidFill>
                    <a:latin typeface="Cambria Math" panose="02040503050406030204" pitchFamily="18" charset="0"/>
                  </a:rPr>
                  <a:t>$(1,\vec a),(1,\vec b),(1,\vec c),(1,\vec d)$</a:t>
                </a:r>
                <a:r>
                  <a:rPr sz="2400" b="0">
                    <a:solidFill>
                      <a:srgbClr val="111827"/>
                    </a:solidFill>
                    <a:latin typeface="Arial"/>
                  </a:rPr>
                  <a:t> vanishes (the volume of the tetrahedron they span is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along the column of ones: </a:t>
                </a:r>
                <a:r>
                  <a:rPr lang="en-IN" sz="2400">
                    <a:solidFill>
                      <a:srgbClr val="111827"/>
                    </a:solidFill>
                    <a:latin typeface="Cambria Math" panose="02040503050406030204" pitchFamily="18" charset="0"/>
                  </a:rPr>
                  <a:t>$\left[\vec{b}\ \vec{c}\ \vec{d}\right]-\left[\vec{a}\ \vec{c}\ \vec{d}\right]+\left[\vec{a}\ \vec{b}\ \vec{d}\right]-\left[\vec{a}\ \vec{b}\ \vec{c}\right]=0$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r>
                  <a:rPr lang="en-IN" sz="2400">
                    <a:solidFill>
                      <a:srgbClr val="111827"/>
                    </a:solidFill>
                    <a:latin typeface="Cambria Math" panose="02040503050406030204" pitchFamily="18" charset="0"/>
                  </a:rPr>
                  <a:t>$\left[\vec{b}\ \vec{c}\ \vec{d}\right]+\left[\vec{a}\ \vec{b}\ \vec{d}\right]=\left[\vec{a}\ \vec{c}\ \vec{d}\right]+\left[\vec{a}\ \vec{b}\ \vec{c}\right]$</a:t>
                </a:r>
                <a:r>
                  <a:rPr sz="2400" b="0">
                    <a:solidFill>
                      <a:srgbClr val="111827"/>
                    </a:solidFill>
                    <a:latin typeface="Arial"/>
                  </a:rPr>
                  <a:t>, and the ratio is </a:t>
                </a:r>
                <a:r>
                  <a:rPr lang="en-IN" sz="2400">
                    <a:solidFill>
                      <a:srgbClr val="111827"/>
                    </a:solidFill>
                    <a:latin typeface="Cambria Math" panose="02040503050406030204" pitchFamily="18" charset="0"/>
                  </a:rPr>
                  <a:t>$1$</a:t>
                </a:r>
                <a:r>
                  <a:rPr sz="2400" b="0">
                    <a:solidFill>
                      <a:srgbClr val="111827"/>
                    </a:solidFill>
                    <a:latin typeface="Arial"/>
                  </a:rPr>
                  <a:t> (denominator non-zero).</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Both statements are proved (the ratio equals </a:t>
                </a:r>
                <a14:m>
                  <m:oMath xmlns:m="http://schemas.openxmlformats.org/officeDocument/2006/math">
                    <m:r>
                      <a:rPr lang="en-IN" sz="2800" i="1">
                        <a:solidFill>
                          <a:srgbClr val="15803D"/>
                        </a:solidFill>
                        <a:latin typeface="Cambria Math" panose="02040503050406030204" pitchFamily="18" charset="0"/>
                      </a:rPr>
                      <m:t>1</m:t>
                    </m:r>
                  </m:oMath>
                </a14:m>
                <a:r>
                  <a:rPr sz="2800" b="1">
                    <a:solidFill>
                      <a:srgbClr val="15803D"/>
                    </a:solidFill>
                    <a:latin typeface="Arial"/>
                  </a:rPr>
                  <a:t>).</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Both statements are proved (the ratio equals </a:t>
                </a:r>
                <a:r>
                  <a:rPr lang="en-IN" sz="2800">
                    <a:solidFill>
                      <a:srgbClr val="15803D"/>
                    </a:solidFill>
                    <a:latin typeface="Cambria Math" panose="02040503050406030204" pitchFamily="18" charset="0"/>
                  </a:rPr>
                  <a:t>$1$</a:t>
                </a:r>
                <a:r>
                  <a:rPr sz="2800" b="1">
                    <a:solidFill>
                      <a:srgbClr val="15803D"/>
                    </a:solidFill>
                    <a:latin typeface="Arial"/>
                  </a:rPr>
                  <a:t>).</a:t>
                </a:r>
                <a:endParaRPr sz="2800">
                  <a:solidFill>
                    <a:srgbClr val="15803D"/>
                  </a:solidFill>
                </a:endParaRPr>
              </a:p>
            </p:txBody>
          </p:sp>
        </mc:Fallback>
      </mc:AlternateContent>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four vectors in space: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Four points with position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are coplanar iff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any four vectors in space: </a:t>
                </a:r>
                <a:r>
                  <a:rPr lang="en-IN" sz="2400">
                    <a:solidFill>
                      <a:srgbClr val="111827"/>
                    </a:solidFill>
                    <a:latin typeface="Cambria Math" panose="02040503050406030204" pitchFamily="18" charset="0"/>
                  </a:rPr>
                  <a:t>$\vec a[\vec b\ \vec c\ \vec d]-\vec b[\vec a\ \vec c\ \vec d]+\vec c[\vec a\ \vec b\ \vec d]-\vec d[\vec a\ \vec b\ \vec c]=\vec0$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Four points with position vectors </a:t>
                </a:r>
                <a:r>
                  <a:rPr lang="en-IN" sz="2400">
                    <a:solidFill>
                      <a:srgbClr val="111827"/>
                    </a:solidFill>
                    <a:latin typeface="Cambria Math" panose="02040503050406030204" pitchFamily="18" charset="0"/>
                  </a:rPr>
                  <a:t>$\vec a,\vec b,\vec c,\vec d$</a:t>
                </a:r>
                <a:r>
                  <a:rPr sz="2400" b="0">
                    <a:solidFill>
                      <a:srgbClr val="111827"/>
                    </a:solidFill>
                    <a:latin typeface="Arial"/>
                  </a:rPr>
                  <a:t> are coplanar iff </a:t>
                </a:r>
                <a:r>
                  <a:rPr lang="en-IN" sz="2400">
                    <a:solidFill>
                      <a:srgbClr val="111827"/>
                    </a:solidFill>
                    <a:latin typeface="Cambria Math" panose="02040503050406030204" pitchFamily="18" charset="0"/>
                  </a:rPr>
                  <a:t>$[\vec b\ \vec c\ \vec d]-[\vec a\ \vec c\ \vec d]+[\vec a\ \vec b\ \vec d]-[\vec a\ \vec b\ \vec c]=0$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are non-coplanar, the coefficients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(Cramer's rule).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Triple products vanish whenever two vectors are equal, which is why dotting with a suitable cross product isolates one coefficient.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$\vec b,\vec c,\vec d$</a:t>
                </a:r>
                <a:r>
                  <a:rPr sz="2400" b="0">
                    <a:solidFill>
                      <a:srgbClr val="111827"/>
                    </a:solidFill>
                    <a:latin typeface="Arial"/>
                  </a:rPr>
                  <a:t> are non-coplanar, the coefficients of </a:t>
                </a:r>
                <a:r>
                  <a:rPr lang="en-IN" sz="2400">
                    <a:solidFill>
                      <a:srgbClr val="111827"/>
                    </a:solidFill>
                    <a:latin typeface="Cambria Math" panose="02040503050406030204" pitchFamily="18" charset="0"/>
                  </a:rPr>
                  <a:t>$\vec a=x\vec b+y\vec c+z\vec d$</a:t>
                </a:r>
                <a:r>
                  <a:rPr sz="2400" b="0">
                    <a:solidFill>
                      <a:srgbClr val="111827"/>
                    </a:solidFill>
                    <a:latin typeface="Arial"/>
                  </a:rPr>
                  <a:t> are </a:t>
                </a:r>
                <a:r>
                  <a:rPr lang="en-IN" sz="2400">
                    <a:solidFill>
                      <a:srgbClr val="111827"/>
                    </a:solidFill>
                    <a:latin typeface="Cambria Math" panose="02040503050406030204" pitchFamily="18" charset="0"/>
                  </a:rPr>
                  <a:t>$x=\frac{[\vec a\ \vec c\ \vec d]}{[\vec b\ \vec c\ \vec d]}$</a:t>
                </a:r>
                <a:r>
                  <a:rPr sz="2400" b="0">
                    <a:solidFill>
                      <a:srgbClr val="111827"/>
                    </a:solidFill>
                    <a:latin typeface="Arial"/>
                  </a:rPr>
                  <a:t>, </a:t>
                </a:r>
                <a:r>
                  <a:rPr lang="en-IN" sz="2400">
                    <a:solidFill>
                      <a:srgbClr val="111827"/>
                    </a:solidFill>
                    <a:latin typeface="Cambria Math" panose="02040503050406030204" pitchFamily="18" charset="0"/>
                  </a:rPr>
                  <a:t>$y=\frac{[\vec b\ \vec a\ \vec d]}{[\vec b\ \vec c\ \vec d]}$</a:t>
                </a:r>
                <a:r>
                  <a:rPr sz="2400" b="0">
                    <a:solidFill>
                      <a:srgbClr val="111827"/>
                    </a:solidFill>
                    <a:latin typeface="Arial"/>
                  </a:rPr>
                  <a:t>, </a:t>
                </a:r>
                <a:r>
                  <a:rPr lang="en-IN" sz="2400">
                    <a:solidFill>
                      <a:srgbClr val="111827"/>
                    </a:solidFill>
                    <a:latin typeface="Cambria Math" panose="02040503050406030204" pitchFamily="18" charset="0"/>
                  </a:rPr>
                  <a:t>$z=\frac{[\vec b\ \vec c\ \vec a]}{[\vec b\ \vec c\ \vec d]}$</a:t>
                </a:r>
                <a:r>
                  <a:rPr sz="2400" b="0">
                    <a:solidFill>
                      <a:srgbClr val="111827"/>
                    </a:solidFill>
                    <a:latin typeface="Arial"/>
                  </a:rPr>
                  <a:t> (Cramer's rule).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Triple products vanish whenever two vectors are equal, which is why dotting with a suitable cross product isolates one coefficient.</a:t>
                </a:r>
                <a:endParaRPr sz="2400">
                  <a:solidFill>
                    <a:srgbClr val="111827"/>
                  </a:solidFill>
                </a:endParaRPr>
              </a:p>
            </p:txBody>
          </p:sp>
        </mc:Fallback>
      </mc:AlternateContent>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If the vector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oMath>
                </a14:m>
                <a:r>
                  <a:rPr sz="2400" b="0">
                    <a:solidFill>
                      <a:srgbClr val="111827"/>
                    </a:solidFill>
                    <a:latin typeface="Arial"/>
                  </a:rPr>
                  <a:t> can be expressed as a linear combination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are scalars, find the value of </a:t>
                </a:r>
                <a14:m>
                  <m:oMath xmlns:m="http://schemas.openxmlformats.org/officeDocument/2006/math">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$\vec{A}=\hat{i}-2\hat{j}+3\hat{k}$</a:t>
                </a:r>
                <a:r>
                  <a:rPr sz="2400" b="0">
                    <a:solidFill>
                      <a:srgbClr val="111827"/>
                    </a:solidFill>
                    <a:latin typeface="Arial"/>
                  </a:rPr>
                  <a:t>, </a:t>
                </a:r>
                <a:r>
                  <a:rPr lang="en-IN" sz="2400">
                    <a:solidFill>
                      <a:srgbClr val="111827"/>
                    </a:solidFill>
                    <a:latin typeface="Cambria Math" panose="02040503050406030204" pitchFamily="18" charset="0"/>
                  </a:rPr>
                  <a:t>$\vec{B}=2\hat{i}+\hat{j}-\hat{k}$</a:t>
                </a:r>
                <a:r>
                  <a:rPr sz="2400" b="0">
                    <a:solidFill>
                      <a:srgbClr val="111827"/>
                    </a:solidFill>
                    <a:latin typeface="Arial"/>
                  </a:rPr>
                  <a:t>, </a:t>
                </a:r>
                <a:r>
                  <a:rPr lang="en-IN" sz="2400">
                    <a:solidFill>
                      <a:srgbClr val="111827"/>
                    </a:solidFill>
                    <a:latin typeface="Cambria Math" panose="02040503050406030204" pitchFamily="18" charset="0"/>
                  </a:rPr>
                  <a:t>$\vec{C}=\hat{j}+\hat{k}$</a:t>
                </a:r>
                <a:r>
                  <a:rPr sz="2400" b="0">
                    <a:solidFill>
                      <a:srgbClr val="111827"/>
                    </a:solidFill>
                    <a:latin typeface="Arial"/>
                  </a:rPr>
                  <a:t>. If the vector </a:t>
                </a:r>
                <a:r>
                  <a:rPr lang="en-IN" sz="2400">
                    <a:solidFill>
                      <a:srgbClr val="111827"/>
                    </a:solidFill>
                    <a:latin typeface="Cambria Math" panose="02040503050406030204" pitchFamily="18" charset="0"/>
                  </a:rPr>
                  <a:t>$\vec{B}\times\vec{C}$</a:t>
                </a:r>
                <a:r>
                  <a:rPr sz="2400" b="0">
                    <a:solidFill>
                      <a:srgbClr val="111827"/>
                    </a:solidFill>
                    <a:latin typeface="Arial"/>
                  </a:rPr>
                  <a:t> can be expressed as a linear combination </a:t>
                </a:r>
                <a:r>
                  <a:rPr lang="en-IN" sz="2400">
                    <a:solidFill>
                      <a:srgbClr val="111827"/>
                    </a:solidFill>
                    <a:latin typeface="Cambria Math" panose="02040503050406030204" pitchFamily="18" charset="0"/>
                  </a:rPr>
                  <a:t>$\vec{B}\times\vec{C}=x\vec{A}+y\vec{B}+z\vec{C}$</a:t>
                </a:r>
                <a:r>
                  <a:rPr sz="2400" b="0">
                    <a:solidFill>
                      <a:srgbClr val="111827"/>
                    </a:solidFill>
                    <a:latin typeface="Arial"/>
                  </a:rPr>
                  <a:t>, where </a:t>
                </a:r>
                <a:r>
                  <a:rPr lang="en-IN" sz="2400">
                    <a:solidFill>
                      <a:srgbClr val="111827"/>
                    </a:solidFill>
                    <a:latin typeface="Cambria Math" panose="02040503050406030204" pitchFamily="18" charset="0"/>
                  </a:rPr>
                  <a:t>$x,y,z$</a:t>
                </a:r>
                <a:r>
                  <a:rPr sz="2400" b="0">
                    <a:solidFill>
                      <a:srgbClr val="111827"/>
                    </a:solidFill>
                    <a:latin typeface="Arial"/>
                  </a:rPr>
                  <a:t> are scalars, find the value of </a:t>
                </a:r>
                <a:r>
                  <a:rPr lang="en-IN" sz="2400">
                    <a:solidFill>
                      <a:srgbClr val="111827"/>
                    </a:solidFill>
                    <a:latin typeface="Cambria Math" panose="02040503050406030204" pitchFamily="18" charset="0"/>
                  </a:rPr>
                  <a:t>$100x+10y+8z$</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Cross product of vectors, Linear combination of non-coplanar vectors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Compute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𝐵</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𝐶</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then match components to get three linear equations in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Compute </a:t>
                </a:r>
                <a:r>
                  <a:rPr lang="en-IN" sz="2400">
                    <a:solidFill>
                      <a:srgbClr val="78350F"/>
                    </a:solidFill>
                    <a:latin typeface="Cambria Math" panose="02040503050406030204" pitchFamily="18" charset="0"/>
                  </a:rPr>
                  <a:t>$\vec B\times\vec C=2(1,-1,1)$</a:t>
                </a:r>
                <a:r>
                  <a:rPr sz="2400" b="0">
                    <a:solidFill>
                      <a:srgbClr val="78350F"/>
                    </a:solidFill>
                    <a:latin typeface="Arial"/>
                  </a:rPr>
                  <a:t>, then match components to get three linear equations in </a:t>
                </a:r>
                <a:r>
                  <a:rPr lang="en-IN" sz="2400">
                    <a:solidFill>
                      <a:srgbClr val="78350F"/>
                    </a:solidFill>
                    <a:latin typeface="Cambria Math" panose="02040503050406030204" pitchFamily="18" charset="0"/>
                  </a:rPr>
                  <a:t>$x,y,z$</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mr>
                          <m:mr>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Components: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...(ii).</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A=(1,-2,3)$</a:t>
                </a:r>
                <a:r>
                  <a:rPr sz="2400" b="0">
                    <a:solidFill>
                      <a:srgbClr val="111827"/>
                    </a:solidFill>
                    <a:latin typeface="Arial"/>
                  </a:rPr>
                  <a:t>, </a:t>
                </a:r>
                <a:r>
                  <a:rPr lang="en-IN" sz="2400">
                    <a:solidFill>
                      <a:srgbClr val="111827"/>
                    </a:solidFill>
                    <a:latin typeface="Cambria Math" panose="02040503050406030204" pitchFamily="18" charset="0"/>
                  </a:rPr>
                  <a:t>$\vec B=(2,1,-1)$</a:t>
                </a:r>
                <a:r>
                  <a:rPr sz="2400" b="0">
                    <a:solidFill>
                      <a:srgbClr val="111827"/>
                    </a:solidFill>
                    <a:latin typeface="Arial"/>
                  </a:rPr>
                  <a:t>, </a:t>
                </a:r>
                <a:r>
                  <a:rPr lang="en-IN" sz="2400">
                    <a:solidFill>
                      <a:srgbClr val="111827"/>
                    </a:solidFill>
                    <a:latin typeface="Cambria Math" panose="02040503050406030204" pitchFamily="18" charset="0"/>
                  </a:rPr>
                  <a:t>$\vec C=(0,1,1)$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B\times\vec C=\left|\begin{matrix}\hat i&amp;\hat j&amp;\hat k\\2&amp;1&amp;-1\\0&amp;1&amp;1\end{matrix}\right|=2(1,-1,1)$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$2(1,-1,1)=x(1,-2,3)+y(2,1,-1)+z(0,1,1)$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Components: </a:t>
                </a:r>
                <a:r>
                  <a:rPr lang="en-IN" sz="2400">
                    <a:solidFill>
                      <a:srgbClr val="111827"/>
                    </a:solidFill>
                    <a:latin typeface="Cambria Math" panose="02040503050406030204" pitchFamily="18" charset="0"/>
                  </a:rPr>
                  <a:t>$x+2y=2$</a:t>
                </a:r>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$-2x+y+z=-2$</a:t>
                </a:r>
                <a:r>
                  <a:rPr sz="2400" b="0">
                    <a:solidFill>
                      <a:srgbClr val="111827"/>
                    </a:solidFill>
                    <a:latin typeface="Arial"/>
                  </a:rPr>
                  <a:t> ...(ii).</a:t>
                </a:r>
                <a:endParaRPr sz="2400">
                  <a:solidFill>
                    <a:srgbClr val="111827"/>
                  </a:solidFill>
                </a:endParaRPr>
              </a:p>
            </p:txBody>
          </p:sp>
        </mc:Fallback>
      </mc:AlternateContent>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(iii)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(ii):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oMath>
                </a14:m>
                <a:r>
                  <a:rPr sz="2400" b="0">
                    <a:solidFill>
                      <a:srgbClr val="111827"/>
                    </a:solidFill>
                    <a:latin typeface="Arial"/>
                  </a:rPr>
                  <a:t> from (i): </a:t>
                </a:r>
                <a14:m>
                  <m:oMath xmlns:m="http://schemas.openxmlformats.org/officeDocument/2006/math">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(ii):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$3x-y+z=2$</a:t>
                </a:r>
                <a:r>
                  <a:rPr sz="2400" b="0">
                    <a:solidFill>
                      <a:srgbClr val="111827"/>
                    </a:solidFill>
                    <a:latin typeface="Arial"/>
                  </a:rPr>
                  <a:t> ...(iii).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(iii) </a:t>
                </a:r>
                <a:r>
                  <a:rPr lang="en-IN" sz="2400">
                    <a:solidFill>
                      <a:srgbClr val="111827"/>
                    </a:solidFill>
                    <a:latin typeface="Cambria Math" panose="02040503050406030204" pitchFamily="18" charset="0"/>
                  </a:rPr>
                  <a:t>$-$</a:t>
                </a:r>
                <a:r>
                  <a:rPr sz="2400" b="0">
                    <a:solidFill>
                      <a:srgbClr val="111827"/>
                    </a:solidFill>
                    <a:latin typeface="Arial"/>
                  </a:rPr>
                  <a:t> (ii): </a:t>
                </a:r>
                <a:r>
                  <a:rPr lang="en-IN" sz="2400">
                    <a:solidFill>
                      <a:srgbClr val="111827"/>
                    </a:solidFill>
                    <a:latin typeface="Cambria Math" panose="02040503050406030204" pitchFamily="18" charset="0"/>
                  </a:rPr>
                  <a:t>$5x-2y=4$</a:t>
                </a:r>
                <a:r>
                  <a:rPr sz="2400" b="0">
                    <a:solidFill>
                      <a:srgbClr val="111827"/>
                    </a:solidFill>
                    <a:latin typeface="Arial"/>
                  </a:rPr>
                  <a:t>; with </a:t>
                </a:r>
                <a:r>
                  <a:rPr lang="en-IN" sz="2400">
                    <a:solidFill>
                      <a:srgbClr val="111827"/>
                    </a:solidFill>
                    <a:latin typeface="Cambria Math" panose="02040503050406030204" pitchFamily="18" charset="0"/>
                  </a:rPr>
                  <a:t>$x=2-2y$</a:t>
                </a:r>
                <a:r>
                  <a:rPr sz="2400" b="0">
                    <a:solidFill>
                      <a:srgbClr val="111827"/>
                    </a:solidFill>
                    <a:latin typeface="Arial"/>
                  </a:rPr>
                  <a:t> from (i): </a:t>
                </a:r>
                <a:r>
                  <a:rPr lang="en-IN" sz="2400">
                    <a:solidFill>
                      <a:srgbClr val="111827"/>
                    </a:solidFill>
                    <a:latin typeface="Cambria Math" panose="02040503050406030204" pitchFamily="18" charset="0"/>
                  </a:rPr>
                  <a:t>$10-12y=4$</a:t>
                </a:r>
                <a:r>
                  <a:rPr sz="2400" b="0">
                    <a:solidFill>
                      <a:srgbClr val="111827"/>
                    </a:solidFill>
                    <a:latin typeface="Arial"/>
                  </a:rPr>
                  <a:t>, so </a:t>
                </a:r>
                <a:r>
                  <a:rPr lang="en-IN" sz="2400">
                    <a:solidFill>
                      <a:srgbClr val="111827"/>
                    </a:solidFill>
                    <a:latin typeface="Cambria Math" panose="02040503050406030204" pitchFamily="18" charset="0"/>
                  </a:rPr>
                  <a:t>$y=\frac12$</a:t>
                </a:r>
                <a:r>
                  <a:rPr sz="2400" b="0">
                    <a:solidFill>
                      <a:srgbClr val="111827"/>
                    </a:solidFill>
                    <a:latin typeface="Arial"/>
                  </a:rPr>
                  <a:t>, </a:t>
                </a:r>
                <a:r>
                  <a:rPr lang="en-IN" sz="2400">
                    <a:solidFill>
                      <a:srgbClr val="111827"/>
                    </a:solidFill>
                    <a:latin typeface="Cambria Math" panose="02040503050406030204" pitchFamily="18" charset="0"/>
                  </a:rPr>
                  <a:t>$x=1$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(ii): </a:t>
                </a:r>
                <a:r>
                  <a:rPr lang="en-IN" sz="2400">
                    <a:solidFill>
                      <a:srgbClr val="111827"/>
                    </a:solidFill>
                    <a:latin typeface="Cambria Math" panose="02040503050406030204" pitchFamily="18" charset="0"/>
                  </a:rPr>
                  <a:t>$z=-2+2x-y=-\frac12$</a:t>
                </a:r>
                <a:r>
                  <a:rPr sz="2400" b="0">
                    <a:solidFill>
                      <a:srgbClr val="111827"/>
                    </a:solidFill>
                    <a:latin typeface="Arial"/>
                  </a:rPr>
                  <a:t>. So </a:t>
                </a:r>
                <a:r>
                  <a:rPr lang="en-IN" sz="2400">
                    <a:solidFill>
                      <a:srgbClr val="111827"/>
                    </a:solidFill>
                    <a:latin typeface="Cambria Math" panose="02040503050406030204" pitchFamily="18" charset="0"/>
                  </a:rPr>
                  <a:t>$x=1,\ y=\frac12,\ z=-\frac12$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$100x+10y+8z=100+5-4=101$</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101</a:t>
            </a:r>
            <a:endParaRPr sz="2800">
              <a:solidFill>
                <a:srgbClr val="15803D"/>
              </a:solidFill>
            </a:endParaRP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Dot both sides with the reciprocal vectors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𝐵</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𝐶</m:t>
                        </m:r>
                      </m:e>
                    </m:acc>
                  </m:oMath>
                </a14:m>
                <a:r>
                  <a:rPr sz="2400" b="0">
                    <a:solidFill>
                      <a:srgbClr val="78350F"/>
                    </a:solidFill>
                    <a:latin typeface="Arial"/>
                  </a:rPr>
                  <a:t>,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𝐶</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𝐴</m:t>
                        </m:r>
                      </m:e>
                    </m:acc>
                  </m:oMath>
                </a14:m>
                <a:r>
                  <a:rPr sz="2400" b="0">
                    <a:solidFill>
                      <a:srgbClr val="78350F"/>
                    </a:solidFill>
                    <a:latin typeface="Arial"/>
                  </a:rPr>
                  <a:t>,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𝐴</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𝐵</m:t>
                        </m:r>
                      </m:e>
                    </m:acc>
                  </m:oMath>
                </a14:m>
                <a:r>
                  <a:rPr sz="2400" b="0">
                    <a:solidFill>
                      <a:srgbClr val="78350F"/>
                    </a:solidFill>
                    <a:latin typeface="Arial"/>
                  </a:rPr>
                  <a:t> to isolate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oMath>
                </a14:m>
                <a:r>
                  <a:rPr sz="2400" b="0">
                    <a:solidFill>
                      <a:srgbClr val="78350F"/>
                    </a:solidFill>
                    <a:latin typeface="Arial"/>
                  </a:rPr>
                  <a:t> one at a time.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Dot both sides with the reciprocal vectors </a:t>
                </a:r>
                <a:r>
                  <a:rPr lang="en-IN" sz="2400">
                    <a:solidFill>
                      <a:srgbClr val="78350F"/>
                    </a:solidFill>
                    <a:latin typeface="Cambria Math" panose="02040503050406030204" pitchFamily="18" charset="0"/>
                  </a:rPr>
                  <a:t>$\vec B\times\vec C$</a:t>
                </a:r>
                <a:r>
                  <a:rPr sz="2400" b="0">
                    <a:solidFill>
                      <a:srgbClr val="78350F"/>
                    </a:solidFill>
                    <a:latin typeface="Arial"/>
                  </a:rPr>
                  <a:t>, </a:t>
                </a:r>
                <a:r>
                  <a:rPr lang="en-IN" sz="2400">
                    <a:solidFill>
                      <a:srgbClr val="78350F"/>
                    </a:solidFill>
                    <a:latin typeface="Cambria Math" panose="02040503050406030204" pitchFamily="18" charset="0"/>
                  </a:rPr>
                  <a:t>$\vec C\times\vec A$</a:t>
                </a:r>
                <a:r>
                  <a:rPr sz="2400" b="0">
                    <a:solidFill>
                      <a:srgbClr val="78350F"/>
                    </a:solidFill>
                    <a:latin typeface="Arial"/>
                  </a:rPr>
                  <a:t>, </a:t>
                </a:r>
                <a:r>
                  <a:rPr lang="en-IN" sz="2400">
                    <a:solidFill>
                      <a:srgbClr val="78350F"/>
                    </a:solidFill>
                    <a:latin typeface="Cambria Math" panose="02040503050406030204" pitchFamily="18" charset="0"/>
                  </a:rPr>
                  <a:t>$\vec A\times\vec B$</a:t>
                </a:r>
                <a:r>
                  <a:rPr sz="2400" b="0">
                    <a:solidFill>
                      <a:srgbClr val="78350F"/>
                    </a:solidFill>
                    <a:latin typeface="Arial"/>
                  </a:rPr>
                  <a:t> to isolate </a:t>
                </a:r>
                <a:r>
                  <a:rPr lang="en-IN" sz="2400">
                    <a:solidFill>
                      <a:srgbClr val="78350F"/>
                    </a:solidFill>
                    <a:latin typeface="Cambria Math" panose="02040503050406030204" pitchFamily="18" charset="0"/>
                  </a:rPr>
                  <a:t>$x,y,z$</a:t>
                </a:r>
                <a:r>
                  <a:rPr sz="2400" b="0">
                    <a:solidFill>
                      <a:srgbClr val="78350F"/>
                    </a:solidFill>
                    <a:latin typeface="Arial"/>
                  </a:rPr>
                  <a:t> one at a time.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oMath>
                </a14:m>
                <a:r>
                  <a:rPr sz="2400" b="0">
                    <a:solidFill>
                      <a:srgbClr val="111827"/>
                    </a:solidFill>
                    <a:latin typeface="Arial"/>
                  </a:rPr>
                  <a:t> are a basis.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oMath>
                </a14:m>
                <a:r>
                  <a:rPr sz="2400" b="0">
                    <a:solidFill>
                      <a:srgbClr val="111827"/>
                    </a:solidFill>
                    <a:latin typeface="Arial"/>
                  </a:rPr>
                  <a: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m:t>
                        </m:r>
                      </m:num>
                      <m:den>
                        <m:r>
                          <a:rPr lang="en-IN" sz="2400" i="1">
                            <a:solidFill>
                              <a:srgbClr val="111827"/>
                            </a:solidFill>
                            <a:latin typeface="Cambria Math" panose="02040503050406030204" pitchFamily="18" charset="0"/>
                          </a:rPr>
                          <m:t>12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 \vec B\ \vec C]=\vec A\cdot(\vec B\times\vec C)=(1,-2,3)\cdot(2,-2,2)=12\neq0$</a:t>
                </a:r>
                <a:r>
                  <a:rPr sz="2400" b="0">
                    <a:solidFill>
                      <a:srgbClr val="111827"/>
                    </a:solidFill>
                    <a:latin typeface="Arial"/>
                  </a:rPr>
                  <a:t>, so </a:t>
                </a:r>
                <a:r>
                  <a:rPr lang="en-IN" sz="2400">
                    <a:solidFill>
                      <a:srgbClr val="111827"/>
                    </a:solidFill>
                    <a:latin typeface="Cambria Math" panose="02040503050406030204" pitchFamily="18" charset="0"/>
                  </a:rPr>
                  <a:t>$\vec A,\vec B,\vec C$</a:t>
                </a:r>
                <a:r>
                  <a:rPr sz="2400" b="0">
                    <a:solidFill>
                      <a:srgbClr val="111827"/>
                    </a:solidFill>
                    <a:latin typeface="Arial"/>
                  </a:rPr>
                  <a:t> are a basis.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a:t>
                </a:r>
                <a:r>
                  <a:rPr lang="en-IN" sz="2400">
                    <a:solidFill>
                      <a:srgbClr val="111827"/>
                    </a:solidFill>
                    <a:latin typeface="Cambria Math" panose="02040503050406030204" pitchFamily="18" charset="0"/>
                  </a:rPr>
                  <a:t>$\vec B\times\vec C=x\vec A+y\vec B+z\vec C$</a:t>
                </a:r>
                <a:r>
                  <a:rPr sz="2400" b="0">
                    <a:solidFill>
                      <a:srgbClr val="111827"/>
                    </a:solidFill>
                    <a:latin typeface="Arial"/>
                  </a:rPr>
                  <a:t> with </a:t>
                </a:r>
                <a:r>
                  <a:rPr lang="en-IN" sz="2400">
                    <a:solidFill>
                      <a:srgbClr val="111827"/>
                    </a:solidFill>
                    <a:latin typeface="Cambria Math" panose="02040503050406030204" pitchFamily="18" charset="0"/>
                  </a:rPr>
                  <a:t>$\vec B\times\vec C$</a:t>
                </a:r>
                <a:r>
                  <a:rPr sz="2400" b="0">
                    <a:solidFill>
                      <a:srgbClr val="111827"/>
                    </a:solidFill>
                    <a:latin typeface="Arial"/>
                  </a:rPr>
                  <a:t>: </a:t>
                </a:r>
                <a:r>
                  <a:rPr lang="en-IN" sz="2400">
                    <a:solidFill>
                      <a:srgbClr val="111827"/>
                    </a:solidFill>
                    <a:latin typeface="Cambria Math" panose="02040503050406030204" pitchFamily="18" charset="0"/>
                  </a:rPr>
                  <a:t>$|\vec B\times\vec C|^2=x[\vec A\ \vec B\ \vec C]$</a:t>
                </a:r>
                <a:r>
                  <a:rPr sz="2400" b="0">
                    <a:solidFill>
                      <a:srgbClr val="111827"/>
                    </a:solidFill>
                    <a:latin typeface="Arial"/>
                  </a:rPr>
                  <a:t>, so </a:t>
                </a:r>
                <a:r>
                  <a:rPr lang="en-IN" sz="2400">
                    <a:solidFill>
                      <a:srgbClr val="111827"/>
                    </a:solidFill>
                    <a:latin typeface="Cambria Math" panose="02040503050406030204" pitchFamily="18" charset="0"/>
                  </a:rPr>
                  <a:t>$x=\frac{12}{12}=1$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with </a:t>
                </a:r>
                <a:r>
                  <a:rPr lang="en-IN" sz="2400">
                    <a:solidFill>
                      <a:srgbClr val="111827"/>
                    </a:solidFill>
                    <a:latin typeface="Cambria Math" panose="02040503050406030204" pitchFamily="18" charset="0"/>
                  </a:rPr>
                  <a:t>$\vec C\times\vec A$</a:t>
                </a:r>
                <a:r>
                  <a:rPr sz="2400" b="0">
                    <a:solidFill>
                      <a:srgbClr val="111827"/>
                    </a:solidFill>
                    <a:latin typeface="Arial"/>
                  </a:rPr>
                  <a:t>: </a:t>
                </a:r>
                <a:r>
                  <a:rPr lang="en-IN" sz="2400">
                    <a:solidFill>
                      <a:srgbClr val="111827"/>
                    </a:solidFill>
                    <a:latin typeface="Cambria Math" panose="02040503050406030204" pitchFamily="18" charset="0"/>
                  </a:rPr>
                  <a:t>$(\vec B\times\vec C)\cdot(\vec C\times\vec A)=(\vec B\cdot\vec C)(\vec C\cdot\vec A)-(\vec B\cdot\vec A)(\vec C\cdot\vec C)=0-(-3)(2)=6=y[\vec A\ \vec B\ \vec C]$</a:t>
                </a:r>
                <a:r>
                  <a:rPr sz="2400" b="0">
                    <a:solidFill>
                      <a:srgbClr val="111827"/>
                    </a:solidFill>
                    <a:latin typeface="Arial"/>
                  </a:rPr>
                  <a:t>, so </a:t>
                </a:r>
                <a:r>
                  <a:rPr lang="en-IN" sz="2400">
                    <a:solidFill>
                      <a:srgbClr val="111827"/>
                    </a:solidFill>
                    <a:latin typeface="Cambria Math" panose="02040503050406030204" pitchFamily="18" charset="0"/>
                  </a:rPr>
                  <a:t>$y=\frac12$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Dot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100</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Dot with </a:t>
                </a:r>
                <a:r>
                  <a:rPr lang="en-IN" sz="2400">
                    <a:solidFill>
                      <a:srgbClr val="111827"/>
                    </a:solidFill>
                    <a:latin typeface="Cambria Math" panose="02040503050406030204" pitchFamily="18" charset="0"/>
                  </a:rPr>
                  <a:t>$\vec A\times\vec B$</a:t>
                </a:r>
                <a:r>
                  <a:rPr sz="2400" b="0">
                    <a:solidFill>
                      <a:srgbClr val="111827"/>
                    </a:solidFill>
                    <a:latin typeface="Arial"/>
                  </a:rPr>
                  <a:t>: </a:t>
                </a:r>
                <a:r>
                  <a:rPr lang="en-IN" sz="2400">
                    <a:solidFill>
                      <a:srgbClr val="111827"/>
                    </a:solidFill>
                    <a:latin typeface="Cambria Math" panose="02040503050406030204" pitchFamily="18" charset="0"/>
                  </a:rPr>
                  <a:t>$(\vec B\times\vec C)\cdot(\vec A\times\vec B)=(\vec B\cdot\vec A)(\vec C\cdot\vec B)-(\vec B\cdot\vec B)(\vec C\cdot\vec A)=0-6\cdot1=-6=z[\vec A\ \vec B\ \vec C]$</a:t>
                </a:r>
                <a:r>
                  <a:rPr sz="2400" b="0">
                    <a:solidFill>
                      <a:srgbClr val="111827"/>
                    </a:solidFill>
                    <a:latin typeface="Arial"/>
                  </a:rPr>
                  <a:t>, so </a:t>
                </a:r>
                <a:r>
                  <a:rPr lang="en-IN" sz="2400">
                    <a:solidFill>
                      <a:srgbClr val="111827"/>
                    </a:solidFill>
                    <a:latin typeface="Cambria Math" panose="02040503050406030204" pitchFamily="18" charset="0"/>
                  </a:rPr>
                  <a:t>$z=-\frac12$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$100x+10y+8z=100+5-4=101$</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101</a:t>
            </a:r>
            <a:endParaRPr sz="2800">
              <a:solidFill>
                <a:srgbClr val="15803D"/>
              </a:solidFill>
            </a:endParaRP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any vector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Lagrange's identity: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linear combination of three vectors exists for every target only when they are non-coplanar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here it is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$[\vec A\ \vec B\ \vec C]\neq0$</a:t>
                </a:r>
                <a:r>
                  <a:rPr sz="2400" b="0">
                    <a:solidFill>
                      <a:srgbClr val="111827"/>
                    </a:solidFill>
                    <a:latin typeface="Arial"/>
                  </a:rPr>
                  <a:t>, any vector </a:t>
                </a:r>
                <a:r>
                  <a:rPr lang="en-IN" sz="2400">
                    <a:solidFill>
                      <a:srgbClr val="111827"/>
                    </a:solidFill>
                    <a:latin typeface="Cambria Math" panose="02040503050406030204" pitchFamily="18" charset="0"/>
                  </a:rPr>
                  <a:t>$\vec V=\frac{(\vec V\cdot(\vec B\times\vec C))\vec A+(\vec V\cdot(\vec C\times\vec A))\vec B+(\vec V\cdot(\vec A\times\vec B))\vec C}{[\vec A\ \vec B\ \vec 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Lagrange's identity: </a:t>
                </a:r>
                <a:r>
                  <a:rPr lang="en-IN" sz="2400">
                    <a:solidFill>
                      <a:srgbClr val="111827"/>
                    </a:solidFill>
                    <a:latin typeface="Cambria Math" panose="02040503050406030204" pitchFamily="18" charset="0"/>
                  </a:rPr>
                  <a:t>$(\vec p\times\vec q)\cdot(\vec r\times\vec s)=(\vec p\cdot\vec r)(\vec q\cdot\vec s)-(\vec p\cdot\vec s)(\vec q\cdot\vec 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linear combination of three vectors exists for every target only when they are non-coplanar (</a:t>
                </a:r>
                <a:r>
                  <a:rPr lang="en-IN" sz="2400">
                    <a:solidFill>
                      <a:srgbClr val="111827"/>
                    </a:solidFill>
                    <a:latin typeface="Cambria Math" panose="02040503050406030204" pitchFamily="18" charset="0"/>
                  </a:rPr>
                  <a:t>$[\vec A\ \vec B\ \vec C]\neq0$</a:t>
                </a:r>
                <a:r>
                  <a:rPr sz="2400" b="0">
                    <a:solidFill>
                      <a:srgbClr val="111827"/>
                    </a:solidFill>
                    <a:latin typeface="Arial"/>
                  </a:rPr>
                  <a:t>); here it is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0</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mr>
                        </m:m>
                      </m:e>
                    </m:d>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2</m:t>
                              </m:r>
                            </m:e>
                          </m:mr>
                          <m:mr>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0</m:t>
                              </m:r>
                            </m:e>
                          </m:mr>
                        </m:m>
                      </m:e>
                    </m:d>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mr>
                        </m:m>
                      </m:e>
                    </m:d>
                  </m:oMath>
                </a14:m>
                <a:r>
                  <a:rPr sz="2400" b="0">
                    <a:solidFill>
                      <a:srgbClr val="111827"/>
                    </a:solidFill>
                    <a:latin typeface="Arial"/>
                  </a:rPr>
                  <a:t>. Find the numbers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α</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s>
                            <m:ctrlPr>
                              <a:rPr lang="en-IN" sz="2400" i="1">
                                <a:solidFill>
                                  <a:srgbClr val="111827"/>
                                </a:solidFill>
                                <a:latin typeface="Cambria Math" panose="02040503050406030204" pitchFamily="18" charset="0"/>
                              </a:rPr>
                            </m:ctrlPr>
                          </m:mP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e>
                          </m:mr>
                          <m:mr>
                            <m:e>
                              <m:r>
                                <a:rPr lang="en-IN" sz="2400" i="1">
                                  <a:solidFill>
                                    <a:srgbClr val="111827"/>
                                  </a:solidFill>
                                  <a:latin typeface="Cambria Math" panose="02040503050406030204" pitchFamily="18" charset="0"/>
                                </a:rPr>
                                <m:t>6</m:t>
                              </m:r>
                            </m:e>
                          </m:mr>
                        </m:m>
                      </m:e>
                    </m:d>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$\vec{a}=\begin{pmatrix}1\\0\\-3\end{pmatrix}$</a:t>
                </a:r>
                <a:r>
                  <a:rPr sz="2400" b="0">
                    <a:solidFill>
                      <a:srgbClr val="111827"/>
                    </a:solidFill>
                    <a:latin typeface="Arial"/>
                  </a:rPr>
                  <a:t>, </a:t>
                </a:r>
                <a:r>
                  <a:rPr lang="en-IN" sz="2400">
                    <a:solidFill>
                      <a:srgbClr val="111827"/>
                    </a:solidFill>
                    <a:latin typeface="Cambria Math" panose="02040503050406030204" pitchFamily="18" charset="0"/>
                  </a:rPr>
                  <a:t>$\vec{b}=\begin{pmatrix}2\\1\\0\end{pmatrix}$</a:t>
                </a:r>
                <a:r>
                  <a:rPr sz="2400" b="0">
                    <a:solidFill>
                      <a:srgbClr val="111827"/>
                    </a:solidFill>
                    <a:latin typeface="Arial"/>
                  </a:rPr>
                  <a:t>, </a:t>
                </a:r>
                <a:r>
                  <a:rPr lang="en-IN" sz="2400">
                    <a:solidFill>
                      <a:srgbClr val="111827"/>
                    </a:solidFill>
                    <a:latin typeface="Cambria Math" panose="02040503050406030204" pitchFamily="18" charset="0"/>
                  </a:rPr>
                  <a:t>$\vec{c}=\begin{pmatrix}1\\-1\\1\end{pmatrix}$</a:t>
                </a:r>
                <a:r>
                  <a:rPr sz="2400" b="0">
                    <a:solidFill>
                      <a:srgbClr val="111827"/>
                    </a:solidFill>
                    <a:latin typeface="Arial"/>
                  </a:rPr>
                  <a:t>. Find the numbers </a:t>
                </a:r>
                <a:r>
                  <a:rPr lang="en-IN" sz="2400">
                    <a:solidFill>
                      <a:srgbClr val="111827"/>
                    </a:solidFill>
                    <a:latin typeface="Cambria Math" panose="02040503050406030204" pitchFamily="18" charset="0"/>
                  </a:rPr>
                  <a:t>$\alpha,\beta,\gamma$</a:t>
                </a:r>
                <a:r>
                  <a:rPr sz="2400" b="0">
                    <a:solidFill>
                      <a:srgbClr val="111827"/>
                    </a:solidFill>
                    <a:latin typeface="Arial"/>
                  </a:rPr>
                  <a:t> such that </a:t>
                </a:r>
                <a:r>
                  <a:rPr lang="en-IN" sz="2400">
                    <a:solidFill>
                      <a:srgbClr val="111827"/>
                    </a:solidFill>
                    <a:latin typeface="Cambria Math" panose="02040503050406030204" pitchFamily="18" charset="0"/>
                  </a:rPr>
                  <a:t>$\alpha\vec{a}+\beta\vec{b}+\gamma\vec{c}=\begin{pmatrix}-2\\-5\\6\end{pmatrix}$</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8887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Linear combination of vectors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0(Easier than JEE Main Level)</a:t>
            </a:r>
            <a:endParaRPr sz="2400">
              <a:solidFill>
                <a:srgbClr val="111827"/>
              </a:solidFill>
            </a:endParaRP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Equating components turns the vector equation into a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linear system.</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Equating components turns the vector equation into a </a:t>
                </a:r>
                <a:r>
                  <a:rPr lang="en-IN" sz="2400">
                    <a:solidFill>
                      <a:srgbClr val="78350F"/>
                    </a:solidFill>
                    <a:latin typeface="Cambria Math" panose="02040503050406030204" pitchFamily="18" charset="0"/>
                  </a:rPr>
                  <a:t>$3\times3$</a:t>
                </a:r>
                <a:r>
                  <a:rPr sz="2400" b="0">
                    <a:solidFill>
                      <a:srgbClr val="78350F"/>
                    </a:solidFill>
                    <a:latin typeface="Arial"/>
                  </a:rPr>
                  <a:t> linear system.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Equate the three components of </a:t>
                </a:r>
                <a14:m>
                  <m:oMath xmlns:m="http://schemas.openxmlformats.org/officeDocument/2006/math">
                    <m:r>
                      <a:rPr lang="en-IN" sz="2400" i="1">
                        <a:solidFill>
                          <a:srgbClr val="111827"/>
                        </a:solidFill>
                        <a:latin typeface="Cambria Math" panose="02040503050406030204" pitchFamily="18" charset="0"/>
                      </a:rPr>
                      <m:t>α</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component: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component: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Third component: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Equate the three components of </a:t>
                </a:r>
                <a:r>
                  <a:rPr lang="en-IN" sz="2400">
                    <a:solidFill>
                      <a:srgbClr val="111827"/>
                    </a:solidFill>
                    <a:latin typeface="Cambria Math" panose="02040503050406030204" pitchFamily="18" charset="0"/>
                  </a:rPr>
                  <a:t>$\alpha\vec a+\beta\vec b+\gamma\vec c$</a:t>
                </a:r>
                <a:r>
                  <a:rPr sz="2400" b="0">
                    <a:solidFill>
                      <a:srgbClr val="111827"/>
                    </a:solidFill>
                    <a:latin typeface="Arial"/>
                  </a:rPr>
                  <a:t> with </a:t>
                </a:r>
                <a:r>
                  <a:rPr lang="en-IN" sz="2400">
                    <a:solidFill>
                      <a:srgbClr val="111827"/>
                    </a:solidFill>
                    <a:latin typeface="Cambria Math" panose="02040503050406030204" pitchFamily="18" charset="0"/>
                  </a:rPr>
                  <a:t>$(-2,-5,6)$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First component: </a:t>
                </a:r>
                <a:r>
                  <a:rPr lang="en-IN" sz="2400">
                    <a:solidFill>
                      <a:srgbClr val="111827"/>
                    </a:solidFill>
                    <a:latin typeface="Cambria Math" panose="02040503050406030204" pitchFamily="18" charset="0"/>
                  </a:rPr>
                  <a:t>$\alpha+2\beta+\gamma=-2$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Second component: </a:t>
                </a:r>
                <a:r>
                  <a:rPr lang="en-IN" sz="2400">
                    <a:solidFill>
                      <a:srgbClr val="111827"/>
                    </a:solidFill>
                    <a:latin typeface="Cambria Math" panose="02040503050406030204" pitchFamily="18" charset="0"/>
                  </a:rPr>
                  <a:t>$\beta-\gamma=-5$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Third component: </a:t>
                </a:r>
                <a:r>
                  <a:rPr lang="en-IN" sz="2400">
                    <a:solidFill>
                      <a:srgbClr val="111827"/>
                    </a:solidFill>
                    <a:latin typeface="Cambria Math" panose="02040503050406030204" pitchFamily="18" charset="0"/>
                  </a:rPr>
                  <a:t>$-3\alpha+\gamma=6$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second and third: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in the first: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second and third: </a:t>
                </a:r>
                <a:r>
                  <a:rPr lang="en-IN" sz="2400">
                    <a:solidFill>
                      <a:srgbClr val="111827"/>
                    </a:solidFill>
                    <a:latin typeface="Cambria Math" panose="02040503050406030204" pitchFamily="18" charset="0"/>
                  </a:rPr>
                  <a:t>$\beta=\gamma-5$</a:t>
                </a:r>
                <a:r>
                  <a:rPr sz="2400" b="0">
                    <a:solidFill>
                      <a:srgbClr val="111827"/>
                    </a:solidFill>
                    <a:latin typeface="Arial"/>
                  </a:rPr>
                  <a:t> and </a:t>
                </a:r>
                <a:r>
                  <a:rPr lang="en-IN" sz="2400">
                    <a:solidFill>
                      <a:srgbClr val="111827"/>
                    </a:solidFill>
                    <a:latin typeface="Cambria Math" panose="02040503050406030204" pitchFamily="18" charset="0"/>
                  </a:rPr>
                  <a:t>$\alpha=\frac{\gamma-6}{3}$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in the first: </a:t>
                </a:r>
                <a:r>
                  <a:rPr lang="en-IN" sz="2400">
                    <a:solidFill>
                      <a:srgbClr val="111827"/>
                    </a:solidFill>
                    <a:latin typeface="Cambria Math" panose="02040503050406030204" pitchFamily="18" charset="0"/>
                  </a:rPr>
                  <a:t>$\frac{\gamma-6}{3}+2\gamma-10+\gamma=-2$</a:t>
                </a:r>
                <a:r>
                  <a:rPr sz="2400" b="0">
                    <a:solidFill>
                      <a:srgbClr val="111827"/>
                    </a:solidFill>
                    <a:latin typeface="Arial"/>
                  </a:rPr>
                  <a:t>, so </a:t>
                </a:r>
                <a:r>
                  <a:rPr lang="en-IN" sz="2400">
                    <a:solidFill>
                      <a:srgbClr val="111827"/>
                    </a:solidFill>
                    <a:latin typeface="Cambria Math" panose="02040503050406030204" pitchFamily="18" charset="0"/>
                  </a:rPr>
                  <a:t>$\gamma-6+9\gamma-30=-6$</a:t>
                </a:r>
                <a:r>
                  <a:rPr sz="2400" b="0">
                    <a:solidFill>
                      <a:srgbClr val="111827"/>
                    </a:solidFill>
                    <a:latin typeface="Arial"/>
                  </a:rPr>
                  <a:t>, giving </a:t>
                </a:r>
                <a:r>
                  <a:rPr lang="en-IN" sz="2400">
                    <a:solidFill>
                      <a:srgbClr val="111827"/>
                    </a:solidFill>
                    <a:latin typeface="Cambria Math" panose="02040503050406030204" pitchFamily="18" charset="0"/>
                  </a:rPr>
                  <a:t>$10\gamma=30$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$\gamma=3$</a:t>
                </a:r>
                <a:r>
                  <a:rPr sz="2400" b="0">
                    <a:solidFill>
                      <a:srgbClr val="111827"/>
                    </a:solidFill>
                    <a:latin typeface="Arial"/>
                  </a:rPr>
                  <a:t>, then </a:t>
                </a:r>
                <a:r>
                  <a:rPr lang="en-IN" sz="2400">
                    <a:solidFill>
                      <a:srgbClr val="111827"/>
                    </a:solidFill>
                    <a:latin typeface="Cambria Math" panose="02040503050406030204" pitchFamily="18" charset="0"/>
                  </a:rPr>
                  <a:t>$\beta=-2$</a:t>
                </a:r>
                <a:r>
                  <a:rPr sz="2400" b="0">
                    <a:solidFill>
                      <a:srgbClr val="111827"/>
                    </a:solidFill>
                    <a:latin typeface="Arial"/>
                  </a:rPr>
                  <a:t> and </a:t>
                </a:r>
                <a:r>
                  <a:rPr lang="en-IN" sz="2400">
                    <a:solidFill>
                      <a:srgbClr val="111827"/>
                    </a:solidFill>
                    <a:latin typeface="Cambria Math" panose="02040503050406030204" pitchFamily="18" charset="0"/>
                  </a:rPr>
                  <a:t>$\alpha=-1$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$-1-4+3=-2$</a:t>
                </a:r>
                <a:r>
                  <a:rPr sz="2400" b="0">
                    <a:solidFill>
                      <a:srgbClr val="111827"/>
                    </a:solidFill>
                    <a:latin typeface="Arial"/>
                  </a:rPr>
                  <a:t>, </a:t>
                </a:r>
                <a:r>
                  <a:rPr lang="en-IN" sz="2400">
                    <a:solidFill>
                      <a:srgbClr val="111827"/>
                    </a:solidFill>
                    <a:latin typeface="Cambria Math" panose="02040503050406030204" pitchFamily="18" charset="0"/>
                  </a:rPr>
                  <a:t>$-2-3=-5$</a:t>
                </a:r>
                <a:r>
                  <a:rPr sz="2400" b="0">
                    <a:solidFill>
                      <a:srgbClr val="111827"/>
                    </a:solidFill>
                    <a:latin typeface="Arial"/>
                  </a:rPr>
                  <a:t>, </a:t>
                </a:r>
                <a:r>
                  <a:rPr lang="en-IN" sz="2400">
                    <a:solidFill>
                      <a:srgbClr val="111827"/>
                    </a:solidFill>
                    <a:latin typeface="Cambria Math" panose="02040503050406030204" pitchFamily="18" charset="0"/>
                  </a:rPr>
                  <a:t>$3+3=6$</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α</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r>
                  <a:rPr sz="2800" b="1">
                    <a:solidFill>
                      <a:srgbClr val="15803D"/>
                    </a:solidFill>
                    <a:latin typeface="Arial"/>
                  </a:rPr>
                  <a:t>, </a:t>
                </a:r>
                <a14:m>
                  <m:oMath xmlns:m="http://schemas.openxmlformats.org/officeDocument/2006/math">
                    <m:r>
                      <a:rPr lang="en-IN" sz="2800" i="1">
                        <a:solidFill>
                          <a:srgbClr val="15803D"/>
                        </a:solidFill>
                        <a:latin typeface="Cambria Math" panose="02040503050406030204" pitchFamily="18" charset="0"/>
                      </a:rPr>
                      <m:t>β</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oMath>
                </a14:m>
                <a:r>
                  <a:rPr sz="2800" b="1">
                    <a:solidFill>
                      <a:srgbClr val="15803D"/>
                    </a:solidFill>
                    <a:latin typeface="Arial"/>
                  </a:rPr>
                  <a:t>, </a:t>
                </a:r>
                <a14:m>
                  <m:oMath xmlns:m="http://schemas.openxmlformats.org/officeDocument/2006/math">
                    <m:r>
                      <a:rPr lang="en-IN" sz="2800" i="1">
                        <a:solidFill>
                          <a:srgbClr val="15803D"/>
                        </a:solidFill>
                        <a:latin typeface="Cambria Math" panose="02040503050406030204" pitchFamily="18" charset="0"/>
                      </a:rPr>
                      <m:t>γ</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$\alpha=-1$</a:t>
                </a:r>
                <a:r>
                  <a:rPr sz="2800" b="1">
                    <a:solidFill>
                      <a:srgbClr val="15803D"/>
                    </a:solidFill>
                    <a:latin typeface="Arial"/>
                  </a:rPr>
                  <a:t>, </a:t>
                </a:r>
                <a:r>
                  <a:rPr lang="en-IN" sz="2800">
                    <a:solidFill>
                      <a:srgbClr val="15803D"/>
                    </a:solidFill>
                    <a:latin typeface="Cambria Math" panose="02040503050406030204" pitchFamily="18" charset="0"/>
                  </a:rPr>
                  <a:t>$\beta=-2$</a:t>
                </a:r>
                <a:r>
                  <a:rPr sz="2800" b="1">
                    <a:solidFill>
                      <a:srgbClr val="15803D"/>
                    </a:solidFill>
                    <a:latin typeface="Arial"/>
                  </a:rPr>
                  <a:t>, </a:t>
                </a:r>
                <a:r>
                  <a:rPr lang="en-IN" sz="2800">
                    <a:solidFill>
                      <a:srgbClr val="15803D"/>
                    </a:solidFill>
                    <a:latin typeface="Cambria Math" panose="02040503050406030204" pitchFamily="18" charset="0"/>
                  </a:rPr>
                  <a:t>$\gamma=3$</a:t>
                </a:r>
                <a:endParaRPr sz="2800">
                  <a:solidFill>
                    <a:srgbClr val="15803D"/>
                  </a:solidFill>
                </a:endParaRPr>
              </a:p>
            </p:txBody>
          </p:sp>
        </mc:Fallback>
      </mc:AlternateContent>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Cramer's rule in triple-product form: </a:t>
                </a:r>
                <a14:m>
                  <m:oMath xmlns:m="http://schemas.openxmlformats.org/officeDocument/2006/math">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num>
                      <m:den>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and similarly for </a:t>
                </a:r>
                <a14:m>
                  <m:oMath xmlns:m="http://schemas.openxmlformats.org/officeDocument/2006/math">
                    <m:r>
                      <a:rPr lang="en-IN" sz="2400" i="1">
                        <a:solidFill>
                          <a:srgbClr val="78350F"/>
                        </a:solidFill>
                        <a:latin typeface="Cambria Math" panose="02040503050406030204" pitchFamily="18" charset="0"/>
                      </a:rPr>
                      <m:t>β</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γ</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Cramer's rule in triple-product form: </a:t>
                </a:r>
                <a:r>
                  <a:rPr lang="en-IN" sz="2400">
                    <a:solidFill>
                      <a:srgbClr val="78350F"/>
                    </a:solidFill>
                    <a:latin typeface="Cambria Math" panose="02040503050406030204" pitchFamily="18" charset="0"/>
                  </a:rPr>
                  <a:t>$\alpha=\frac{[\vec r\ \vec b\ \vec c]}{[\vec a\ \vec b\ \vec c]}$</a:t>
                </a:r>
                <a:r>
                  <a:rPr sz="2400" b="0">
                    <a:solidFill>
                      <a:srgbClr val="78350F"/>
                    </a:solidFill>
                    <a:latin typeface="Arial"/>
                  </a:rPr>
                  <a:t> and similarly for </a:t>
                </a:r>
                <a:r>
                  <a:rPr lang="en-IN" sz="2400">
                    <a:solidFill>
                      <a:srgbClr val="78350F"/>
                    </a:solidFill>
                    <a:latin typeface="Cambria Math" panose="02040503050406030204" pitchFamily="18" charset="0"/>
                  </a:rPr>
                  <a:t>$\beta,\gamma$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1</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e>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6</m:t>
                              </m:r>
                            </m:e>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$\vec r=(-2,-5,6)$</a:t>
                </a:r>
                <a:r>
                  <a:rPr sz="2400" b="0">
                    <a:solidFill>
                      <a:srgbClr val="111827"/>
                    </a:solidFill>
                    <a:latin typeface="Arial"/>
                  </a:rPr>
                  <a:t>. </a:t>
                </a:r>
                <a:r>
                  <a:rPr lang="en-IN" sz="2400">
                    <a:solidFill>
                      <a:srgbClr val="111827"/>
                    </a:solidFill>
                    <a:latin typeface="Cambria Math" panose="02040503050406030204" pitchFamily="18" charset="0"/>
                  </a:rPr>
                  <a:t>$[\vec a\ \vec b\ \vec c]=\left|\begin{matrix}1&amp;2&amp;1\\0&amp;1&amp;-1\\-3&amp;0&amp;1\end{matrix}\right|=1(1)-2(-3)+1(3)=10$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$\alpha=\frac{[\vec r\ \vec b\ \vec c]}{10}$</a:t>
                </a:r>
                <a:r>
                  <a:rPr sz="2400" b="0">
                    <a:solidFill>
                      <a:srgbClr val="111827"/>
                    </a:solidFill>
                    <a:latin typeface="Arial"/>
                  </a:rPr>
                  <a:t>, with </a:t>
                </a:r>
                <a:r>
                  <a:rPr lang="en-IN" sz="2400">
                    <a:solidFill>
                      <a:srgbClr val="111827"/>
                    </a:solidFill>
                    <a:latin typeface="Cambria Math" panose="02040503050406030204" pitchFamily="18" charset="0"/>
                  </a:rPr>
                  <a:t>$[\vec r\ \vec b\ \vec c]=\left|\begin{matrix}-2&amp;2&amp;1\\-5&amp;1&amp;-1\\6&amp;0&amp;1\end{matrix}\right|=-2(1)-2(1)+1(-6)=-10$</a:t>
                </a:r>
                <a:r>
                  <a:rPr sz="2400" b="0">
                    <a:solidFill>
                      <a:srgbClr val="111827"/>
                    </a:solidFill>
                    <a:latin typeface="Arial"/>
                  </a:rPr>
                  <a:t>, so </a:t>
                </a:r>
                <a:r>
                  <a:rPr lang="en-IN" sz="2400">
                    <a:solidFill>
                      <a:srgbClr val="111827"/>
                    </a:solidFill>
                    <a:latin typeface="Cambria Math" panose="02040503050406030204" pitchFamily="18" charset="0"/>
                  </a:rPr>
                  <a:t>$\alpha=-1$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with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0</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e>
                              <m:r>
                                <a:rPr lang="en-IN" sz="2400" i="1">
                                  <a:solidFill>
                                    <a:srgbClr val="111827"/>
                                  </a:solidFill>
                                  <a:latin typeface="Cambria Math" panose="02040503050406030204" pitchFamily="18" charset="0"/>
                                </a:rPr>
                                <m:t>6</m:t>
                              </m:r>
                            </m:e>
                            <m:e>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10</m:t>
                        </m:r>
                      </m:den>
                    </m:f>
                  </m:oMath>
                </a14:m>
                <a:r>
                  <a:rPr sz="2400" b="0">
                    <a:solidFill>
                      <a:srgbClr val="111827"/>
                    </a:solidFill>
                    <a:latin typeface="Arial"/>
                  </a:rPr>
                  <a:t>, with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2</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m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e>
                          </m:m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6</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$\beta=\frac{[\vec a\ \vec r\ \vec c]}{10}$</a:t>
                </a:r>
                <a:r>
                  <a:rPr sz="2400" b="0">
                    <a:solidFill>
                      <a:srgbClr val="111827"/>
                    </a:solidFill>
                    <a:latin typeface="Arial"/>
                  </a:rPr>
                  <a:t>, with </a:t>
                </a:r>
                <a:r>
                  <a:rPr lang="en-IN" sz="2400">
                    <a:solidFill>
                      <a:srgbClr val="111827"/>
                    </a:solidFill>
                    <a:latin typeface="Cambria Math" panose="02040503050406030204" pitchFamily="18" charset="0"/>
                  </a:rPr>
                  <a:t>$\left|\begin{matrix}1&amp;-2&amp;1\\0&amp;-5&amp;-1\\-3&amp;6&amp;1\end{matrix}\right|=1(-5+6)+2(0-3)+1(0-15)=-20$</a:t>
                </a:r>
                <a:r>
                  <a:rPr sz="2400" b="0">
                    <a:solidFill>
                      <a:srgbClr val="111827"/>
                    </a:solidFill>
                    <a:latin typeface="Arial"/>
                  </a:rPr>
                  <a:t>, so </a:t>
                </a:r>
                <a:r>
                  <a:rPr lang="en-IN" sz="2400">
                    <a:solidFill>
                      <a:srgbClr val="111827"/>
                    </a:solidFill>
                    <a:latin typeface="Cambria Math" panose="02040503050406030204" pitchFamily="18" charset="0"/>
                  </a:rPr>
                  <a:t>$\beta=-2$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$\gamma=\frac{[\vec a\ \vec b\ \vec r]}{10}$</a:t>
                </a:r>
                <a:r>
                  <a:rPr sz="2400" b="0">
                    <a:solidFill>
                      <a:srgbClr val="111827"/>
                    </a:solidFill>
                    <a:latin typeface="Arial"/>
                  </a:rPr>
                  <a:t>, with </a:t>
                </a:r>
                <a:r>
                  <a:rPr lang="en-IN" sz="2400">
                    <a:solidFill>
                      <a:srgbClr val="111827"/>
                    </a:solidFill>
                    <a:latin typeface="Cambria Math" panose="02040503050406030204" pitchFamily="18" charset="0"/>
                  </a:rPr>
                  <a:t>$\left|\begin{matrix}1&amp;2&amp;-2\\0&amp;1&amp;-5\\-3&amp;0&amp;6\end{matrix}\right|=1(6)-2(-15)-2(3)=30$</a:t>
                </a:r>
                <a:r>
                  <a:rPr sz="2400" b="0">
                    <a:solidFill>
                      <a:srgbClr val="111827"/>
                    </a:solidFill>
                    <a:latin typeface="Arial"/>
                  </a:rPr>
                  <a:t>, so </a:t>
                </a:r>
                <a:r>
                  <a:rPr lang="en-IN" sz="2400">
                    <a:solidFill>
                      <a:srgbClr val="111827"/>
                    </a:solidFill>
                    <a:latin typeface="Cambria Math" panose="02040503050406030204" pitchFamily="18" charset="0"/>
                  </a:rPr>
                  <a:t>$\gamma=3$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α</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oMath>
                </a14:m>
                <a:r>
                  <a:rPr sz="2800" b="1">
                    <a:solidFill>
                      <a:srgbClr val="15803D"/>
                    </a:solidFill>
                    <a:latin typeface="Arial"/>
                  </a:rPr>
                  <a:t>, </a:t>
                </a:r>
                <a14:m>
                  <m:oMath xmlns:m="http://schemas.openxmlformats.org/officeDocument/2006/math">
                    <m:r>
                      <a:rPr lang="en-IN" sz="2800" i="1">
                        <a:solidFill>
                          <a:srgbClr val="15803D"/>
                        </a:solidFill>
                        <a:latin typeface="Cambria Math" panose="02040503050406030204" pitchFamily="18" charset="0"/>
                      </a:rPr>
                      <m:t>β</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oMath>
                </a14:m>
                <a:r>
                  <a:rPr sz="2800" b="1">
                    <a:solidFill>
                      <a:srgbClr val="15803D"/>
                    </a:solidFill>
                    <a:latin typeface="Arial"/>
                  </a:rPr>
                  <a:t>, </a:t>
                </a:r>
                <a14:m>
                  <m:oMath xmlns:m="http://schemas.openxmlformats.org/officeDocument/2006/math">
                    <m:r>
                      <a:rPr lang="en-IN" sz="2800" i="1">
                        <a:solidFill>
                          <a:srgbClr val="15803D"/>
                        </a:solidFill>
                        <a:latin typeface="Cambria Math" panose="02040503050406030204" pitchFamily="18" charset="0"/>
                      </a:rPr>
                      <m:t>γ</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$\alpha=-1$</a:t>
                </a:r>
                <a:r>
                  <a:rPr sz="2800" b="1">
                    <a:solidFill>
                      <a:srgbClr val="15803D"/>
                    </a:solidFill>
                    <a:latin typeface="Arial"/>
                  </a:rPr>
                  <a:t>, </a:t>
                </a:r>
                <a:r>
                  <a:rPr lang="en-IN" sz="2800">
                    <a:solidFill>
                      <a:srgbClr val="15803D"/>
                    </a:solidFill>
                    <a:latin typeface="Cambria Math" panose="02040503050406030204" pitchFamily="18" charset="0"/>
                  </a:rPr>
                  <a:t>$\beta=-2$</a:t>
                </a:r>
                <a:r>
                  <a:rPr sz="2800" b="1">
                    <a:solidFill>
                      <a:srgbClr val="15803D"/>
                    </a:solidFill>
                    <a:latin typeface="Arial"/>
                  </a:rPr>
                  <a:t>, </a:t>
                </a:r>
                <a:r>
                  <a:rPr lang="en-IN" sz="2800">
                    <a:solidFill>
                      <a:srgbClr val="15803D"/>
                    </a:solidFill>
                    <a:latin typeface="Cambria Math" panose="02040503050406030204" pitchFamily="18" charset="0"/>
                  </a:rPr>
                  <a:t>$\gamma=3$</a:t>
                </a:r>
                <a:endParaRPr sz="2800">
                  <a:solidFill>
                    <a:srgbClr val="15803D"/>
                  </a:solidFill>
                </a:endParaRPr>
              </a:p>
            </p:txBody>
          </p:sp>
        </mc:Fallback>
      </mc:AlternateContent>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93C47D"/>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0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vector equation </a:t>
                </a:r>
                <a14:m>
                  <m:oMath xmlns:m="http://schemas.openxmlformats.org/officeDocument/2006/math">
                    <m:r>
                      <a:rPr lang="en-IN" sz="2400" i="1">
                        <a:solidFill>
                          <a:srgbClr val="111827"/>
                        </a:solidFill>
                        <a:latin typeface="Cambria Math" panose="02040503050406030204" pitchFamily="18" charset="0"/>
                      </a:rPr>
                      <m:t>α</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has a unique solution iff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and then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etc.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substitute back into all three component equations to catch arithmetic slips.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vector equation </a:t>
                </a:r>
                <a:r>
                  <a:rPr lang="en-IN" sz="2400">
                    <a:solidFill>
                      <a:srgbClr val="111827"/>
                    </a:solidFill>
                    <a:latin typeface="Cambria Math" panose="02040503050406030204" pitchFamily="18" charset="0"/>
                  </a:rPr>
                  <a:t>$\alpha\vec a+\beta\vec b+\gamma\vec c=\vec r$</a:t>
                </a:r>
                <a:r>
                  <a:rPr sz="2400" b="0">
                    <a:solidFill>
                      <a:srgbClr val="111827"/>
                    </a:solidFill>
                    <a:latin typeface="Arial"/>
                  </a:rPr>
                  <a:t> has a unique solution iff </a:t>
                </a:r>
                <a:r>
                  <a:rPr lang="en-IN" sz="2400">
                    <a:solidFill>
                      <a:srgbClr val="111827"/>
                    </a:solidFill>
                    <a:latin typeface="Cambria Math" panose="02040503050406030204" pitchFamily="18" charset="0"/>
                  </a:rPr>
                  <a:t>$[\vec a\ \vec b\ \vec c]\neq0$</a:t>
                </a:r>
                <a:r>
                  <a:rPr sz="2400" b="0">
                    <a:solidFill>
                      <a:srgbClr val="111827"/>
                    </a:solidFill>
                    <a:latin typeface="Arial"/>
                  </a:rPr>
                  <a:t> (here </a:t>
                </a:r>
                <a:r>
                  <a:rPr lang="en-IN" sz="2400">
                    <a:solidFill>
                      <a:srgbClr val="111827"/>
                    </a:solidFill>
                    <a:latin typeface="Cambria Math" panose="02040503050406030204" pitchFamily="18" charset="0"/>
                  </a:rPr>
                  <a:t>$10$</a:t>
                </a:r>
                <a:r>
                  <a:rPr sz="2400" b="0">
                    <a:solidFill>
                      <a:srgbClr val="111827"/>
                    </a:solidFill>
                    <a:latin typeface="Arial"/>
                  </a:rPr>
                  <a:t>), and then </a:t>
                </a:r>
                <a:r>
                  <a:rPr lang="en-IN" sz="2400">
                    <a:solidFill>
                      <a:srgbClr val="111827"/>
                    </a:solidFill>
                    <a:latin typeface="Cambria Math" panose="02040503050406030204" pitchFamily="18" charset="0"/>
                  </a:rPr>
                  <a:t>$\alpha=\frac{[\vec r\ \vec b\ \vec c]}{[\vec a\ \vec b\ \vec c]}$</a:t>
                </a:r>
                <a:r>
                  <a:rPr sz="2400" b="0">
                    <a:solidFill>
                      <a:srgbClr val="111827"/>
                    </a:solidFill>
                    <a:latin typeface="Arial"/>
                  </a:rPr>
                  <a:t> etc.</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Always substitute back into all three component equations to catch arithmetic slips.</a:t>
                </a:r>
                <a:endParaRPr sz="2400">
                  <a:solidFill>
                    <a:srgbClr val="111827"/>
                  </a:solidFill>
                </a:endParaRPr>
              </a:p>
            </p:txBody>
          </p:sp>
        </mc:Fallback>
      </mc:AlternateContent>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three-dimensional vector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oMath>
                </a14:m>
                <a:r>
                  <a:rPr sz="2400" b="0">
                    <a:solidFill>
                      <a:srgbClr val="111827"/>
                    </a:solidFill>
                    <a:latin typeface="Arial"/>
                  </a:rPr>
                  <a:t> satisfy </a:t>
                </a:r>
                <a14:m>
                  <m:oMath xmlns:m="http://schemas.openxmlformats.org/officeDocument/2006/math">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If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𝑚</m:t>
                        </m:r>
                      </m:e>
                    </m:rad>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cr m:val="double-struck"/>
                        <m:sty m:val="p"/>
                      </m:rPr>
                      <a:rPr lang="en-IN" sz="2400">
                        <a:solidFill>
                          <a:srgbClr val="111827"/>
                        </a:solidFill>
                        <a:latin typeface="Cambria Math" panose="02040503050406030204" pitchFamily="18" charset="0"/>
                      </a:rPr>
                      <m:t>N</m:t>
                    </m:r>
                  </m:oMath>
                </a14:m>
                <a:r>
                  <a:rPr sz="2400" b="0">
                    <a:solidFill>
                      <a:srgbClr val="111827"/>
                    </a:solidFill>
                    <a:latin typeface="Arial"/>
                  </a:rPr>
                  <a:t>, find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 three-dimensional vector </a:t>
                </a:r>
                <a:r>
                  <a:rPr lang="en-IN" sz="2400">
                    <a:solidFill>
                      <a:srgbClr val="111827"/>
                    </a:solidFill>
                    <a:latin typeface="Cambria Math" panose="02040503050406030204" pitchFamily="18" charset="0"/>
                  </a:rPr>
                  <a:t>$\vec{V}$</a:t>
                </a:r>
                <a:r>
                  <a:rPr sz="2400" b="0">
                    <a:solidFill>
                      <a:srgbClr val="111827"/>
                    </a:solidFill>
                    <a:latin typeface="Arial"/>
                  </a:rPr>
                  <a:t> satisfy </a:t>
                </a:r>
                <a:r>
                  <a:rPr lang="en-IN" sz="2400">
                    <a:solidFill>
                      <a:srgbClr val="111827"/>
                    </a:solidFill>
                    <a:latin typeface="Cambria Math" panose="02040503050406030204" pitchFamily="18" charset="0"/>
                  </a:rPr>
                  <a:t>$2\vec{V}+\vec{V}\times(\hat{i}+2\hat{j})=2\hat{i}+\hat{k}$</a:t>
                </a:r>
                <a:r>
                  <a:rPr sz="2400" b="0">
                    <a:solidFill>
                      <a:srgbClr val="111827"/>
                    </a:solidFill>
                    <a:latin typeface="Arial"/>
                  </a:rPr>
                  <a:t>. If </a:t>
                </a:r>
                <a:r>
                  <a:rPr lang="en-IN" sz="2400">
                    <a:solidFill>
                      <a:srgbClr val="111827"/>
                    </a:solidFill>
                    <a:latin typeface="Cambria Math" panose="02040503050406030204" pitchFamily="18" charset="0"/>
                  </a:rPr>
                  <a:t>$3|\vec{V}|=\sqrt{m}$</a:t>
                </a:r>
                <a:r>
                  <a:rPr sz="2400" b="0">
                    <a:solidFill>
                      <a:srgbClr val="111827"/>
                    </a:solidFill>
                    <a:latin typeface="Arial"/>
                  </a:rPr>
                  <a:t> where </a:t>
                </a:r>
                <a:r>
                  <a:rPr lang="en-IN" sz="2400">
                    <a:solidFill>
                      <a:srgbClr val="111827"/>
                    </a:solidFill>
                    <a:latin typeface="Cambria Math" panose="02040503050406030204" pitchFamily="18" charset="0"/>
                  </a:rPr>
                  <a:t>$m\in\mathbb{N}$</a:t>
                </a:r>
                <a:r>
                  <a:rPr sz="2400" b="0">
                    <a:solidFill>
                      <a:srgbClr val="111827"/>
                    </a:solidFill>
                    <a:latin typeface="Arial"/>
                  </a:rPr>
                  <a:t>, find </a:t>
                </a:r>
                <a:r>
                  <a:rPr lang="en-IN" sz="2400">
                    <a:solidFill>
                      <a:srgbClr val="111827"/>
                    </a:solidFill>
                    <a:latin typeface="Cambria Math" panose="02040503050406030204" pitchFamily="18" charset="0"/>
                  </a:rPr>
                  <a:t>$m$</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Vector equation: dot and cross product identities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Dot with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𝑖</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𝑗</m:t>
                        </m:r>
                      </m:e>
                    </m:acc>
                  </m:oMath>
                </a14:m>
                <a:r>
                  <a:rPr sz="2400" b="0">
                    <a:solidFill>
                      <a:srgbClr val="78350F"/>
                    </a:solidFill>
                    <a:latin typeface="Arial"/>
                  </a:rPr>
                  <a:t> to get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𝑉</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𝑖</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𝑗</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then take the squared magnitude of both sides.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Dot with </a:t>
                </a:r>
                <a:r>
                  <a:rPr lang="en-IN" sz="2400">
                    <a:solidFill>
                      <a:srgbClr val="78350F"/>
                    </a:solidFill>
                    <a:latin typeface="Cambria Math" panose="02040503050406030204" pitchFamily="18" charset="0"/>
                  </a:rPr>
                  <a:t>$\hat i+2\hat j$</a:t>
                </a:r>
                <a:r>
                  <a:rPr sz="2400" b="0">
                    <a:solidFill>
                      <a:srgbClr val="78350F"/>
                    </a:solidFill>
                    <a:latin typeface="Arial"/>
                  </a:rPr>
                  <a:t> to get </a:t>
                </a:r>
                <a:r>
                  <a:rPr lang="en-IN" sz="2400">
                    <a:solidFill>
                      <a:srgbClr val="78350F"/>
                    </a:solidFill>
                    <a:latin typeface="Cambria Math" panose="02040503050406030204" pitchFamily="18" charset="0"/>
                  </a:rPr>
                  <a:t>$\vec V\cdot(\hat i+2\hat j)=1$</a:t>
                </a:r>
                <a:r>
                  <a:rPr sz="2400" b="0">
                    <a:solidFill>
                      <a:srgbClr val="78350F"/>
                    </a:solidFill>
                    <a:latin typeface="Arial"/>
                  </a:rPr>
                  <a:t>, then take the squared magnitude of both sides.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𝑚</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squared magnitudes: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$\vec u=\hat i+2\hat j$</a:t>
                </a:r>
                <a:r>
                  <a:rPr sz="2400" b="0">
                    <a:solidFill>
                      <a:srgbClr val="111827"/>
                    </a:solidFill>
                    <a:latin typeface="Arial"/>
                  </a:rPr>
                  <a:t>, so </a:t>
                </a:r>
                <a:r>
                  <a:rPr lang="en-IN" sz="2400">
                    <a:solidFill>
                      <a:srgbClr val="111827"/>
                    </a:solidFill>
                    <a:latin typeface="Cambria Math" panose="02040503050406030204" pitchFamily="18" charset="0"/>
                  </a:rPr>
                  <a:t>$2\vec V+\vec V\times\vec u=2\hat i+\hat k$</a:t>
                </a:r>
                <a:r>
                  <a:rPr sz="2400" b="0">
                    <a:solidFill>
                      <a:srgbClr val="111827"/>
                    </a:solidFill>
                    <a:latin typeface="Arial"/>
                  </a:rPr>
                  <a:t> and </a:t>
                </a:r>
                <a:r>
                  <a:rPr lang="en-IN" sz="2400">
                    <a:solidFill>
                      <a:srgbClr val="111827"/>
                    </a:solidFill>
                    <a:latin typeface="Cambria Math" panose="02040503050406030204" pitchFamily="18" charset="0"/>
                  </a:rPr>
                  <a:t>$3|\vec V|=\sqrt 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with </a:t>
                </a:r>
                <a:r>
                  <a:rPr lang="en-IN" sz="2400">
                    <a:solidFill>
                      <a:srgbClr val="111827"/>
                    </a:solidFill>
                    <a:latin typeface="Cambria Math" panose="02040503050406030204" pitchFamily="18" charset="0"/>
                  </a:rPr>
                  <a:t>$\vec u$</a:t>
                </a:r>
                <a:r>
                  <a:rPr sz="2400" b="0">
                    <a:solidFill>
                      <a:srgbClr val="111827"/>
                    </a:solidFill>
                    <a:latin typeface="Arial"/>
                  </a:rPr>
                  <a:t>: </a:t>
                </a:r>
                <a:r>
                  <a:rPr lang="en-IN" sz="2400">
                    <a:solidFill>
                      <a:srgbClr val="111827"/>
                    </a:solidFill>
                    <a:latin typeface="Cambria Math" panose="02040503050406030204" pitchFamily="18" charset="0"/>
                  </a:rPr>
                  <a:t>$2\vec V\cdot\vec u+(\vec V\times\vec u)\cdot\vec u=2\hat i\cdot\vec u+\hat k\cdot\vec u$</a:t>
                </a:r>
                <a:r>
                  <a:rPr sz="2400" b="0">
                    <a:solidFill>
                      <a:srgbClr val="111827"/>
                    </a:solidFill>
                    <a:latin typeface="Arial"/>
                  </a:rPr>
                  <a:t>, i.e. </a:t>
                </a:r>
                <a:r>
                  <a:rPr lang="en-IN" sz="2400">
                    <a:solidFill>
                      <a:srgbClr val="111827"/>
                    </a:solidFill>
                    <a:latin typeface="Cambria Math" panose="02040503050406030204" pitchFamily="18" charset="0"/>
                  </a:rPr>
                  <a:t>$2\vec V\cdot\vec u=2$</a:t>
                </a:r>
                <a:r>
                  <a:rPr sz="2400" b="0">
                    <a:solidFill>
                      <a:srgbClr val="111827"/>
                    </a:solidFill>
                    <a:latin typeface="Arial"/>
                  </a:rPr>
                  <a:t>, so </a:t>
                </a:r>
                <a:r>
                  <a:rPr lang="en-IN" sz="2400">
                    <a:solidFill>
                      <a:srgbClr val="111827"/>
                    </a:solidFill>
                    <a:latin typeface="Cambria Math" panose="02040503050406030204" pitchFamily="18" charset="0"/>
                  </a:rPr>
                  <a:t>$\vec V\cdot\vec u=1$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squared magnitudes: </a:t>
                </a:r>
                <a:r>
                  <a:rPr lang="en-IN" sz="2400">
                    <a:solidFill>
                      <a:srgbClr val="111827"/>
                    </a:solidFill>
                    <a:latin typeface="Cambria Math" panose="02040503050406030204" pitchFamily="18" charset="0"/>
                  </a:rPr>
                  <a:t>$|2\vec V+\vec V\times\vec u|^2=|2\hat i+\hat k|^2=5$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$4|\vec V|^2+|\vec V\times\vec u|^2+4\vec V\cdot(\vec V\times\vec u)=5$</a:t>
                </a:r>
                <a:r>
                  <a:rPr sz="2400" b="0">
                    <a:solidFill>
                      <a:srgbClr val="111827"/>
                    </a:solidFill>
                    <a:latin typeface="Arial"/>
                  </a:rPr>
                  <a:t>, and </a:t>
                </a:r>
                <a:r>
                  <a:rPr lang="en-IN" sz="2400">
                    <a:solidFill>
                      <a:srgbClr val="111827"/>
                    </a:solidFill>
                    <a:latin typeface="Cambria Math" panose="02040503050406030204" pitchFamily="18" charset="0"/>
                  </a:rPr>
                  <a:t>$\vec V\cdot(\vec V\times\vec u)=0$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(using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V\times\vec u|^2=\vec V\cdot(\vec u\times(\vec V\times\vec u))=\vec V\cdot\left(\vec V|\vec u|^2-\vec u(\vec u\cdot\vec V)\right)=5|\vec V|^2-(\vec V\cdot\vec u)^2$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$4|\vec V|^2+5|\vec V|^2-1=5$</a:t>
                </a:r>
                <a:r>
                  <a:rPr sz="2400" b="0">
                    <a:solidFill>
                      <a:srgbClr val="111827"/>
                    </a:solidFill>
                    <a:latin typeface="Arial"/>
                  </a:rPr>
                  <a:t> (using </a:t>
                </a:r>
                <a:r>
                  <a:rPr lang="en-IN" sz="2400">
                    <a:solidFill>
                      <a:srgbClr val="111827"/>
                    </a:solidFill>
                    <a:latin typeface="Cambria Math" panose="02040503050406030204" pitchFamily="18" charset="0"/>
                  </a:rPr>
                  <a:t>$\vec V\cdot\vec u=1$</a:t>
                </a:r>
                <a:r>
                  <a:rPr sz="2400" b="0">
                    <a:solidFill>
                      <a:srgbClr val="111827"/>
                    </a:solidFill>
                    <a:latin typeface="Arial"/>
                  </a:rPr>
                  <a:t>, </a:t>
                </a:r>
                <a:r>
                  <a:rPr lang="en-IN" sz="2400">
                    <a:solidFill>
                      <a:srgbClr val="111827"/>
                    </a:solidFill>
                    <a:latin typeface="Cambria Math" panose="02040503050406030204" pitchFamily="18" charset="0"/>
                  </a:rPr>
                  <a:t>$|\vec u|^2=5$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$9|\vec V|^2=6$</a:t>
                </a:r>
                <a:r>
                  <a:rPr sz="2400" b="0">
                    <a:solidFill>
                      <a:srgbClr val="111827"/>
                    </a:solidFill>
                    <a:latin typeface="Arial"/>
                  </a:rPr>
                  <a:t>, so </a:t>
                </a:r>
                <a:r>
                  <a:rPr lang="en-IN" sz="2400">
                    <a:solidFill>
                      <a:srgbClr val="111827"/>
                    </a:solidFill>
                    <a:latin typeface="Cambria Math" panose="02040503050406030204" pitchFamily="18" charset="0"/>
                  </a:rPr>
                  <a:t>$3|\vec V|=\sqrt6$</a:t>
                </a:r>
                <a:r>
                  <a:rPr sz="2400" b="0">
                    <a:solidFill>
                      <a:srgbClr val="111827"/>
                    </a:solidFill>
                    <a:latin typeface="Arial"/>
                  </a:rPr>
                  <a:t> and </a:t>
                </a:r>
                <a:r>
                  <a:rPr lang="en-IN" sz="2400">
                    <a:solidFill>
                      <a:srgbClr val="111827"/>
                    </a:solidFill>
                    <a:latin typeface="Cambria Math" panose="02040503050406030204" pitchFamily="18" charset="0"/>
                  </a:rPr>
                  <a:t>$m=6$</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6</a:t>
            </a:r>
            <a:endParaRPr sz="2800">
              <a:solidFill>
                <a:srgbClr val="15803D"/>
              </a:solidFill>
            </a:endParaRP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𝑉</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𝑝</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𝑞</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𝑟</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solve the resulting </a:t>
                </a:r>
                <a14:m>
                  <m:oMath xmlns:m="http://schemas.openxmlformats.org/officeDocument/2006/math">
                    <m:r>
                      <a:rPr lang="en-IN" sz="2400" i="1">
                        <a:solidFill>
                          <a:srgbClr val="78350F"/>
                        </a:solidFill>
                        <a:latin typeface="Cambria Math" panose="02040503050406030204" pitchFamily="18" charset="0"/>
                      </a:rPr>
                      <m:t>3</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linear system and compute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𝑉</m:t>
                        </m:r>
                      </m:e>
                    </m:acc>
                    <m:r>
                      <m:rPr>
                        <m:sty m:val="p"/>
                      </m:rPr>
                      <a:rPr lang="en-IN" sz="2400">
                        <a:solidFill>
                          <a:srgbClr val="78350F"/>
                        </a:solidFill>
                        <a:latin typeface="Cambria Math" panose="02040503050406030204" pitchFamily="18" charset="0"/>
                      </a:rPr>
                      <m:t>|</m:t>
                    </m:r>
                  </m:oMath>
                </a14:m>
                <a:r>
                  <a:rPr sz="2400" b="0">
                    <a:solidFill>
                      <a:srgbClr val="78350F"/>
                    </a:solidFill>
                    <a:latin typeface="Arial"/>
                  </a:rPr>
                  <a:t> directly.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r>
                  <a:rPr lang="en-IN" sz="2400">
                    <a:solidFill>
                      <a:srgbClr val="78350F"/>
                    </a:solidFill>
                    <a:latin typeface="Cambria Math" panose="02040503050406030204" pitchFamily="18" charset="0"/>
                  </a:rPr>
                  <a:t>$\vec V=(p,q,r)$</a:t>
                </a:r>
                <a:r>
                  <a:rPr sz="2400" b="0">
                    <a:solidFill>
                      <a:srgbClr val="78350F"/>
                    </a:solidFill>
                    <a:latin typeface="Arial"/>
                  </a:rPr>
                  <a:t>, solve the resulting </a:t>
                </a:r>
                <a:r>
                  <a:rPr lang="en-IN" sz="2400">
                    <a:solidFill>
                      <a:srgbClr val="78350F"/>
                    </a:solidFill>
                    <a:latin typeface="Cambria Math" panose="02040503050406030204" pitchFamily="18" charset="0"/>
                  </a:rPr>
                  <a:t>$3\times3$</a:t>
                </a:r>
                <a:r>
                  <a:rPr sz="2400" b="0">
                    <a:solidFill>
                      <a:srgbClr val="78350F"/>
                    </a:solidFill>
                    <a:latin typeface="Arial"/>
                  </a:rPr>
                  <a:t> linear system and compute </a:t>
                </a:r>
                <a:r>
                  <a:rPr lang="en-IN" sz="2400">
                    <a:solidFill>
                      <a:srgbClr val="78350F"/>
                    </a:solidFill>
                    <a:latin typeface="Cambria Math" panose="02040503050406030204" pitchFamily="18" charset="0"/>
                  </a:rPr>
                  <a:t>$|\vec V|$</a:t>
                </a:r>
                <a:r>
                  <a:rPr sz="2400" b="0">
                    <a:solidFill>
                      <a:srgbClr val="78350F"/>
                    </a:solidFill>
                    <a:latin typeface="Arial"/>
                  </a:rPr>
                  <a:t> directly.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a:t>
                </a:r>
                <a14:m>
                  <m:oMath xmlns:m="http://schemas.openxmlformats.org/officeDocument/2006/math">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the first two: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Substitute in the third: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V\times(\hat i+2\hat j)=(p,q,r)\times(1,2,0)=(-2r,\ r,\ 2p-q)$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a:t>
                </a:r>
                <a:r>
                  <a:rPr lang="en-IN" sz="2400">
                    <a:solidFill>
                      <a:srgbClr val="111827"/>
                    </a:solidFill>
                    <a:latin typeface="Cambria Math" panose="02040503050406030204" pitchFamily="18" charset="0"/>
                  </a:rPr>
                  <a:t>$2\vec V+\vec V\times\vec u=(2,0,1)$</a:t>
                </a:r>
                <a:r>
                  <a:rPr sz="2400" b="0">
                    <a:solidFill>
                      <a:srgbClr val="111827"/>
                    </a:solidFill>
                    <a:latin typeface="Arial"/>
                  </a:rPr>
                  <a:t> gives </a:t>
                </a:r>
                <a:r>
                  <a:rPr lang="en-IN" sz="2400">
                    <a:solidFill>
                      <a:srgbClr val="111827"/>
                    </a:solidFill>
                    <a:latin typeface="Cambria Math" panose="02040503050406030204" pitchFamily="18" charset="0"/>
                  </a:rPr>
                  <a:t>$2p-2r=2$</a:t>
                </a:r>
                <a:r>
                  <a:rPr sz="2400" b="0">
                    <a:solidFill>
                      <a:srgbClr val="111827"/>
                    </a:solidFill>
                    <a:latin typeface="Arial"/>
                  </a:rPr>
                  <a:t>, </a:t>
                </a:r>
                <a:r>
                  <a:rPr lang="en-IN" sz="2400">
                    <a:solidFill>
                      <a:srgbClr val="111827"/>
                    </a:solidFill>
                    <a:latin typeface="Cambria Math" panose="02040503050406030204" pitchFamily="18" charset="0"/>
                  </a:rPr>
                  <a:t>$2q+r=0$</a:t>
                </a:r>
                <a:r>
                  <a:rPr sz="2400" b="0">
                    <a:solidFill>
                      <a:srgbClr val="111827"/>
                    </a:solidFill>
                    <a:latin typeface="Arial"/>
                  </a:rPr>
                  <a:t>, </a:t>
                </a:r>
                <a:r>
                  <a:rPr lang="en-IN" sz="2400">
                    <a:solidFill>
                      <a:srgbClr val="111827"/>
                    </a:solidFill>
                    <a:latin typeface="Cambria Math" panose="02040503050406030204" pitchFamily="18" charset="0"/>
                  </a:rPr>
                  <a:t>$2r+2p-q=1$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the first two: </a:t>
                </a:r>
                <a:r>
                  <a:rPr lang="en-IN" sz="2400">
                    <a:solidFill>
                      <a:srgbClr val="111827"/>
                    </a:solidFill>
                    <a:latin typeface="Cambria Math" panose="02040503050406030204" pitchFamily="18" charset="0"/>
                  </a:rPr>
                  <a:t>$p=1+r$</a:t>
                </a:r>
                <a:r>
                  <a:rPr sz="2400" b="0">
                    <a:solidFill>
                      <a:srgbClr val="111827"/>
                    </a:solidFill>
                    <a:latin typeface="Arial"/>
                  </a:rPr>
                  <a:t>, </a:t>
                </a:r>
                <a:r>
                  <a:rPr lang="en-IN" sz="2400">
                    <a:solidFill>
                      <a:srgbClr val="111827"/>
                    </a:solidFill>
                    <a:latin typeface="Cambria Math" panose="02040503050406030204" pitchFamily="18" charset="0"/>
                  </a:rPr>
                  <a:t>$q=-\frac r2$</a:t>
                </a:r>
                <a:r>
                  <a:rPr sz="2400" b="0">
                    <a:solidFill>
                      <a:srgbClr val="111827"/>
                    </a:solidFill>
                    <a:latin typeface="Arial"/>
                  </a:rPr>
                  <a:t>. Substitute in the third: </a:t>
                </a:r>
                <a:r>
                  <a:rPr lang="en-IN" sz="2400">
                    <a:solidFill>
                      <a:srgbClr val="111827"/>
                    </a:solidFill>
                    <a:latin typeface="Cambria Math" panose="02040503050406030204" pitchFamily="18" charset="0"/>
                  </a:rPr>
                  <a:t>$2r+2+2r+\frac r2=1$</a:t>
                </a:r>
                <a:r>
                  <a:rPr sz="2400" b="0">
                    <a:solidFill>
                      <a:srgbClr val="111827"/>
                    </a:solidFill>
                    <a:latin typeface="Arial"/>
                  </a:rPr>
                  <a:t>, so </a:t>
                </a:r>
                <a:r>
                  <a:rPr lang="en-IN" sz="2400">
                    <a:solidFill>
                      <a:srgbClr val="111827"/>
                    </a:solidFill>
                    <a:latin typeface="Cambria Math" panose="02040503050406030204" pitchFamily="18" charset="0"/>
                  </a:rPr>
                  <a:t>$\frac92r=-1$</a:t>
                </a:r>
                <a:r>
                  <a:rPr sz="2400" b="0">
                    <a:solidFill>
                      <a:srgbClr val="111827"/>
                    </a:solidFill>
                    <a:latin typeface="Arial"/>
                  </a:rPr>
                  <a:t>, </a:t>
                </a:r>
                <a:r>
                  <a:rPr lang="en-IN" sz="2400">
                    <a:solidFill>
                      <a:srgbClr val="111827"/>
                    </a:solidFill>
                    <a:latin typeface="Cambria Math" panose="02040503050406030204" pitchFamily="18" charset="0"/>
                  </a:rPr>
                  <a:t>$r=-\frac29$</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81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54</m:t>
                        </m:r>
                      </m:num>
                      <m:den>
                        <m:r>
                          <a:rPr lang="en-IN" sz="2400" i="1">
                            <a:solidFill>
                              <a:srgbClr val="111827"/>
                            </a:solidFill>
                            <a:latin typeface="Cambria Math" panose="02040503050406030204" pitchFamily="18" charset="0"/>
                          </a:rPr>
                          <m:t>81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$p=\frac79$</a:t>
                </a:r>
                <a:r>
                  <a:rPr sz="2400" b="0">
                    <a:solidFill>
                      <a:srgbClr val="111827"/>
                    </a:solidFill>
                    <a:latin typeface="Arial"/>
                  </a:rPr>
                  <a:t>, </a:t>
                </a:r>
                <a:r>
                  <a:rPr lang="en-IN" sz="2400">
                    <a:solidFill>
                      <a:srgbClr val="111827"/>
                    </a:solidFill>
                    <a:latin typeface="Cambria Math" panose="02040503050406030204" pitchFamily="18" charset="0"/>
                  </a:rPr>
                  <a:t>$q=\frac19$</a:t>
                </a:r>
                <a:r>
                  <a:rPr sz="2400" b="0">
                    <a:solidFill>
                      <a:srgbClr val="111827"/>
                    </a:solidFill>
                    <a:latin typeface="Arial"/>
                  </a:rPr>
                  <a:t>, so </a:t>
                </a:r>
                <a:r>
                  <a:rPr lang="en-IN" sz="2400">
                    <a:solidFill>
                      <a:srgbClr val="111827"/>
                    </a:solidFill>
                    <a:latin typeface="Cambria Math" panose="02040503050406030204" pitchFamily="18" charset="0"/>
                  </a:rPr>
                  <a:t>$\vec V=\frac19(7,1,-2)$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V|^2=\frac{49+1+4}{81}=\frac{54}{81}=\frac23$</a:t>
                </a:r>
                <a:r>
                  <a:rPr sz="2400" b="0">
                    <a:solidFill>
                      <a:srgbClr val="111827"/>
                    </a:solidFill>
                    <a:latin typeface="Arial"/>
                  </a:rPr>
                  <a:t>, so </a:t>
                </a:r>
                <a:r>
                  <a:rPr lang="en-IN" sz="2400">
                    <a:solidFill>
                      <a:srgbClr val="111827"/>
                    </a:solidFill>
                    <a:latin typeface="Cambria Math" panose="02040503050406030204" pitchFamily="18" charset="0"/>
                  </a:rPr>
                  <a:t>$3|\vec V|=\sqrt{9\cdot\frac23}=\sqrt6$</a:t>
                </a:r>
                <a:r>
                  <a:rPr sz="2400" b="0">
                    <a:solidFill>
                      <a:srgbClr val="111827"/>
                    </a:solidFill>
                    <a:latin typeface="Arial"/>
                  </a:rPr>
                  <a:t> and </a:t>
                </a:r>
                <a:r>
                  <a:rPr lang="en-IN" sz="2400">
                    <a:solidFill>
                      <a:srgbClr val="111827"/>
                    </a:solidFill>
                    <a:latin typeface="Cambria Math" panose="02040503050406030204" pitchFamily="18" charset="0"/>
                  </a:rPr>
                  <a:t>$m=6$</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6</a:t>
            </a:r>
            <a:endParaRPr sz="2800">
              <a:solidFill>
                <a:srgbClr val="15803D"/>
              </a:solidFill>
            </a:endParaRP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19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oMath>
                </a14:m>
                <a:r>
                  <a:rPr sz="2400" b="0">
                    <a:solidFill>
                      <a:srgbClr val="111827"/>
                    </a:solidFill>
                    <a:latin typeface="Arial"/>
                  </a:rPr>
                  <a:t> fixed: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dotting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oMath>
                </a14:m>
                <a:r>
                  <a:rPr sz="2400" b="0">
                    <a:solidFill>
                      <a:srgbClr val="111827"/>
                    </a:solidFill>
                    <a:latin typeface="Arial"/>
                  </a:rPr>
                  <a:t> and squaring both sides removes the cross product.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(Lagrange's identity).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a:t>
                </a:r>
                <a14:m>
                  <m:oMath xmlns:m="http://schemas.openxmlformats.org/officeDocument/2006/math">
                    <m:r>
                      <a:rPr lang="en-IN" sz="2400" i="1">
                        <a:solidFill>
                          <a:srgbClr val="111827"/>
                        </a:solidFill>
                        <a:latin typeface="Cambria Math" panose="02040503050406030204" pitchFamily="18" charset="0"/>
                      </a:rPr>
                      <m:t>𝑘</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has the unique solution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num>
                      <m:den>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𝑘</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here this gives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𝑉</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$\vec u$</a:t>
                </a:r>
                <a:r>
                  <a:rPr sz="2400" b="0">
                    <a:solidFill>
                      <a:srgbClr val="111827"/>
                    </a:solidFill>
                    <a:latin typeface="Arial"/>
                  </a:rPr>
                  <a:t> fixed: </a:t>
                </a:r>
                <a:r>
                  <a:rPr lang="en-IN" sz="2400">
                    <a:solidFill>
                      <a:srgbClr val="111827"/>
                    </a:solidFill>
                    <a:latin typeface="Cambria Math" panose="02040503050406030204" pitchFamily="18" charset="0"/>
                  </a:rPr>
                  <a:t>$(\vec V\times\vec u)\cdot\vec u=0$</a:t>
                </a:r>
                <a:r>
                  <a:rPr sz="2400" b="0">
                    <a:solidFill>
                      <a:srgbClr val="111827"/>
                    </a:solidFill>
                    <a:latin typeface="Arial"/>
                  </a:rPr>
                  <a:t> and </a:t>
                </a:r>
                <a:r>
                  <a:rPr lang="en-IN" sz="2400">
                    <a:solidFill>
                      <a:srgbClr val="111827"/>
                    </a:solidFill>
                    <a:latin typeface="Cambria Math" panose="02040503050406030204" pitchFamily="18" charset="0"/>
                  </a:rPr>
                  <a:t>$\vec V\cdot(\vec V\times\vec u)=0$</a:t>
                </a:r>
                <a:r>
                  <a:rPr sz="2400" b="0">
                    <a:solidFill>
                      <a:srgbClr val="111827"/>
                    </a:solidFill>
                    <a:latin typeface="Arial"/>
                  </a:rPr>
                  <a:t>, so dotting with </a:t>
                </a:r>
                <a:r>
                  <a:rPr lang="en-IN" sz="2400">
                    <a:solidFill>
                      <a:srgbClr val="111827"/>
                    </a:solidFill>
                    <a:latin typeface="Cambria Math" panose="02040503050406030204" pitchFamily="18" charset="0"/>
                  </a:rPr>
                  <a:t>$\vec u$</a:t>
                </a:r>
                <a:r>
                  <a:rPr sz="2400" b="0">
                    <a:solidFill>
                      <a:srgbClr val="111827"/>
                    </a:solidFill>
                    <a:latin typeface="Arial"/>
                  </a:rPr>
                  <a:t> and squaring both sides removes the cross product.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V\times\vec u|^2=|\vec V|^2|\vec u|^2-(\vec V\cdot\vec u)^2$</a:t>
                </a:r>
                <a:r>
                  <a:rPr sz="2400" b="0">
                    <a:solidFill>
                      <a:srgbClr val="111827"/>
                    </a:solidFill>
                    <a:latin typeface="Arial"/>
                  </a:rPr>
                  <a:t> (Lagrange's identity).</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equation </a:t>
                </a:r>
                <a:r>
                  <a:rPr lang="en-IN" sz="2400">
                    <a:solidFill>
                      <a:srgbClr val="111827"/>
                    </a:solidFill>
                    <a:latin typeface="Cambria Math" panose="02040503050406030204" pitchFamily="18" charset="0"/>
                  </a:rPr>
                  <a:t>$k\vec V+\vec V\times\vec u=\vec w$</a:t>
                </a:r>
                <a:r>
                  <a:rPr sz="2400" b="0">
                    <a:solidFill>
                      <a:srgbClr val="111827"/>
                    </a:solidFill>
                    <a:latin typeface="Arial"/>
                  </a:rPr>
                  <a:t> (</a:t>
                </a:r>
                <a:r>
                  <a:rPr lang="en-IN" sz="2400">
                    <a:solidFill>
                      <a:srgbClr val="111827"/>
                    </a:solidFill>
                    <a:latin typeface="Cambria Math" panose="02040503050406030204" pitchFamily="18" charset="0"/>
                  </a:rPr>
                  <a:t>$k\neq0$</a:t>
                </a:r>
                <a:r>
                  <a:rPr sz="2400" b="0">
                    <a:solidFill>
                      <a:srgbClr val="111827"/>
                    </a:solidFill>
                    <a:latin typeface="Arial"/>
                  </a:rPr>
                  <a:t>) has the unique solution </a:t>
                </a:r>
                <a:r>
                  <a:rPr lang="en-IN" sz="2400">
                    <a:solidFill>
                      <a:srgbClr val="111827"/>
                    </a:solidFill>
                    <a:latin typeface="Cambria Math" panose="02040503050406030204" pitchFamily="18" charset="0"/>
                  </a:rPr>
                  <a:t>$\vec V=\frac{k^2\vec w+(\vec u\cdot\vec w)\vec u+k\,\vec u\times\vec w}{k(k^2+|\vec u|^2)}$</a:t>
                </a:r>
                <a:r>
                  <a:rPr sz="2400" b="0">
                    <a:solidFill>
                      <a:srgbClr val="111827"/>
                    </a:solidFill>
                    <a:latin typeface="Arial"/>
                  </a:rPr>
                  <a:t>; here this gives </a:t>
                </a:r>
                <a:r>
                  <a:rPr lang="en-IN" sz="2400">
                    <a:solidFill>
                      <a:srgbClr val="111827"/>
                    </a:solidFill>
                    <a:latin typeface="Cambria Math" panose="02040503050406030204" pitchFamily="18" charset="0"/>
                  </a:rPr>
                  <a:t>$\vec V=\frac19(7,1,-2)$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oMath>
                </a14:m>
                <a:r>
                  <a:rPr sz="2400" b="0">
                    <a:solidFill>
                      <a:srgbClr val="111827"/>
                    </a:solidFill>
                    <a:latin typeface="Arial"/>
                  </a:rPr>
                  <a:t> are two non-zero and non-collinear vectors satisfying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γ</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oMath>
                </a14:m>
                <a:r>
                  <a:rPr sz="2400" b="0">
                    <a:solidFill>
                      <a:srgbClr val="111827"/>
                    </a:solidFill>
                    <a:latin typeface="Arial"/>
                  </a:rPr>
                  <a:t> are three distinct real numbers, then find the value of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$\vec{x},\vec{y}$</a:t>
                </a:r>
                <a:r>
                  <a:rPr sz="2400" b="0">
                    <a:solidFill>
                      <a:srgbClr val="111827"/>
                    </a:solidFill>
                    <a:latin typeface="Arial"/>
                  </a:rPr>
                  <a:t> are two non-zero and non-collinear vectors satisfying </a:t>
                </a:r>
                <a:r>
                  <a:rPr lang="en-IN" sz="2400">
                    <a:solidFill>
                      <a:srgbClr val="111827"/>
                    </a:solidFill>
                    <a:latin typeface="Cambria Math" panose="02040503050406030204" pitchFamily="18" charset="0"/>
                  </a:rPr>
                  <a:t>$[(a-2)\alpha^2+(b-3)\alpha+c]\vec{x}+[(a-2)\beta^2+(b-3)\beta+c]\vec{y}+[(a-2)\gamma^2+(b-3)\gamma+c](\vec{x}\times\vec{y})=\vec{0}$</a:t>
                </a:r>
                <a:r>
                  <a:rPr sz="2400" b="0">
                    <a:solidFill>
                      <a:srgbClr val="111827"/>
                    </a:solidFill>
                    <a:latin typeface="Arial"/>
                  </a:rPr>
                  <a:t>, where </a:t>
                </a:r>
                <a:r>
                  <a:rPr lang="en-IN" sz="2400">
                    <a:solidFill>
                      <a:srgbClr val="111827"/>
                    </a:solidFill>
                    <a:latin typeface="Cambria Math" panose="02040503050406030204" pitchFamily="18" charset="0"/>
                  </a:rPr>
                  <a:t>$\alpha,\beta,\gamma$</a:t>
                </a:r>
                <a:r>
                  <a:rPr sz="2400" b="0">
                    <a:solidFill>
                      <a:srgbClr val="111827"/>
                    </a:solidFill>
                    <a:latin typeface="Arial"/>
                  </a:rPr>
                  <a:t> are three distinct real numbers, then find the value of </a:t>
                </a:r>
                <a:r>
                  <a:rPr lang="en-IN" sz="2400">
                    <a:solidFill>
                      <a:srgbClr val="111827"/>
                    </a:solidFill>
                    <a:latin typeface="Cambria Math" panose="02040503050406030204" pitchFamily="18" charset="0"/>
                  </a:rPr>
                  <a:t>$a^2+b^2+c^2$</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8887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Linear independence and coplanarity of vectors, Polynomial identity (roots of a quadratic)</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𝑥</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𝑦</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𝑥</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𝑦</m:t>
                        </m:r>
                      </m:e>
                    </m:acc>
                  </m:oMath>
                </a14:m>
                <a:r>
                  <a:rPr sz="2400" b="0">
                    <a:solidFill>
                      <a:srgbClr val="78350F"/>
                    </a:solidFill>
                    <a:latin typeface="Arial"/>
                  </a:rPr>
                  <a:t> are independent, so each bracket is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a quadratic with three distinct roots is identically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$\vec x,\vec y,\vec x\times\vec y$</a:t>
                </a:r>
                <a:r>
                  <a:rPr sz="2400" b="0">
                    <a:solidFill>
                      <a:srgbClr val="78350F"/>
                    </a:solidFill>
                    <a:latin typeface="Arial"/>
                  </a:rPr>
                  <a:t> are independent, so each bracket is </a:t>
                </a:r>
                <a:r>
                  <a:rPr lang="en-IN" sz="2400">
                    <a:solidFill>
                      <a:srgbClr val="78350F"/>
                    </a:solidFill>
                    <a:latin typeface="Cambria Math" panose="02040503050406030204" pitchFamily="18" charset="0"/>
                  </a:rPr>
                  <a:t>$0$</a:t>
                </a:r>
                <a:r>
                  <a:rPr sz="2400" b="0">
                    <a:solidFill>
                      <a:srgbClr val="78350F"/>
                    </a:solidFill>
                    <a:latin typeface="Arial"/>
                  </a:rPr>
                  <a:t>: a quadratic with three distinct roots is identically </a:t>
                </a:r>
                <a:r>
                  <a:rPr lang="en-IN" sz="2400">
                    <a:solidFill>
                      <a:srgbClr val="78350F"/>
                    </a:solidFill>
                    <a:latin typeface="Cambria Math" panose="02040503050406030204" pitchFamily="18" charset="0"/>
                  </a:rPr>
                  <a:t>$0$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oMath>
                </a14:m>
                <a:r>
                  <a:rPr sz="2400" b="0">
                    <a:solidFill>
                      <a:srgbClr val="111827"/>
                    </a:solidFill>
                    <a:latin typeface="Arial"/>
                  </a:rPr>
                  <a:t> are non-collinear,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oMath>
                </a14:m>
                <a:r>
                  <a:rPr sz="2400" b="0">
                    <a:solidFill>
                      <a:srgbClr val="111827"/>
                    </a:solidFill>
                    <a:latin typeface="Arial"/>
                  </a:rPr>
                  <a:t> are non-coplanar, hence linearly independent.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each coefficient is zero: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α</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γ</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equation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satisfied by three distinct values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x,\vec y$</a:t>
                </a:r>
                <a:r>
                  <a:rPr sz="2400" b="0">
                    <a:solidFill>
                      <a:srgbClr val="111827"/>
                    </a:solidFill>
                    <a:latin typeface="Arial"/>
                  </a:rPr>
                  <a:t> are non-collinear, so </a:t>
                </a:r>
                <a:r>
                  <a:rPr lang="en-IN" sz="2400">
                    <a:solidFill>
                      <a:srgbClr val="111827"/>
                    </a:solidFill>
                    <a:latin typeface="Cambria Math" panose="02040503050406030204" pitchFamily="18" charset="0"/>
                  </a:rPr>
                  <a:t>$\vec x,\vec y,\vec x\times\vec y$</a:t>
                </a:r>
                <a:r>
                  <a:rPr sz="2400" b="0">
                    <a:solidFill>
                      <a:srgbClr val="111827"/>
                    </a:solidFill>
                    <a:latin typeface="Arial"/>
                  </a:rPr>
                  <a:t> are non-coplanar, hence linearly independent.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each coefficient is zero: </a:t>
                </a:r>
                <a:r>
                  <a:rPr lang="en-IN" sz="2400">
                    <a:solidFill>
                      <a:srgbClr val="111827"/>
                    </a:solidFill>
                    <a:latin typeface="Cambria Math" panose="02040503050406030204" pitchFamily="18" charset="0"/>
                  </a:rPr>
                  <a:t>$(a-2)\alpha^2+(b-3)\alpha+c=0$</a:t>
                </a:r>
                <a:r>
                  <a:rPr sz="2400" b="0">
                    <a:solidFill>
                      <a:srgbClr val="111827"/>
                    </a:solidFill>
                    <a:latin typeface="Arial"/>
                  </a:rPr>
                  <a:t>, </a:t>
                </a:r>
                <a:r>
                  <a:rPr lang="en-IN" sz="2400">
                    <a:solidFill>
                      <a:srgbClr val="111827"/>
                    </a:solidFill>
                    <a:latin typeface="Cambria Math" panose="02040503050406030204" pitchFamily="18" charset="0"/>
                  </a:rPr>
                  <a:t>$(a-2)\beta^2+(b-3)\beta+c=0$</a:t>
                </a:r>
                <a:r>
                  <a:rPr sz="2400" b="0">
                    <a:solidFill>
                      <a:srgbClr val="111827"/>
                    </a:solidFill>
                    <a:latin typeface="Arial"/>
                  </a:rPr>
                  <a:t> and </a:t>
                </a:r>
                <a:r>
                  <a:rPr lang="en-IN" sz="2400">
                    <a:solidFill>
                      <a:srgbClr val="111827"/>
                    </a:solidFill>
                    <a:latin typeface="Cambria Math" panose="02040503050406030204" pitchFamily="18" charset="0"/>
                  </a:rPr>
                  <a:t>$(a-2)\gamma^2+(b-3)\gamma+c=0$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equation </a:t>
                </a:r>
                <a:r>
                  <a:rPr lang="en-IN" sz="2400">
                    <a:solidFill>
                      <a:srgbClr val="111827"/>
                    </a:solidFill>
                    <a:latin typeface="Cambria Math" panose="02040503050406030204" pitchFamily="18" charset="0"/>
                  </a:rPr>
                  <a:t>$(a-2)t^2+(b-3)t+c=0$</a:t>
                </a:r>
                <a:r>
                  <a:rPr sz="2400" b="0">
                    <a:solidFill>
                      <a:srgbClr val="111827"/>
                    </a:solidFill>
                    <a:latin typeface="Arial"/>
                  </a:rPr>
                  <a:t> is satisfied by three distinct values </a:t>
                </a:r>
                <a:r>
                  <a:rPr lang="en-IN" sz="2400">
                    <a:solidFill>
                      <a:srgbClr val="111827"/>
                    </a:solidFill>
                    <a:latin typeface="Cambria Math" panose="02040503050406030204" pitchFamily="18" charset="0"/>
                  </a:rPr>
                  <a:t>$t=\alpha,\beta,\gamma$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quadratic with three distinct roots is an identity: all coefficients vanish.</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quadratic with three distinct roots is an identity: all coefficients vanish.</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$a-2=0\Rightarrow a=2$</a:t>
                </a:r>
                <a:r>
                  <a:rPr sz="2400" b="0">
                    <a:solidFill>
                      <a:srgbClr val="111827"/>
                    </a:solidFill>
                    <a:latin typeface="Arial"/>
                  </a:rPr>
                  <a:t>; </a:t>
                </a:r>
                <a:r>
                  <a:rPr lang="en-IN" sz="2400">
                    <a:solidFill>
                      <a:srgbClr val="111827"/>
                    </a:solidFill>
                    <a:latin typeface="Cambria Math" panose="02040503050406030204" pitchFamily="18" charset="0"/>
                  </a:rPr>
                  <a:t>$b-3=0\Rightarrow b=3$</a:t>
                </a:r>
                <a:r>
                  <a:rPr sz="2400" b="0">
                    <a:solidFill>
                      <a:srgbClr val="111827"/>
                    </a:solidFill>
                    <a:latin typeface="Arial"/>
                  </a:rPr>
                  <a:t>; </a:t>
                </a:r>
                <a:r>
                  <a:rPr lang="en-IN" sz="2400">
                    <a:solidFill>
                      <a:srgbClr val="111827"/>
                    </a:solidFill>
                    <a:latin typeface="Cambria Math" panose="02040503050406030204" pitchFamily="18" charset="0"/>
                  </a:rPr>
                  <a:t>$c=0$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$a^2+b^2+c^2=4+9+0=13$</a:t>
                </a:r>
                <a:r>
                  <a:rPr sz="2400" b="0">
                    <a:solidFill>
                      <a:srgbClr val="111827"/>
                    </a:solidFill>
                    <a:latin typeface="Arial"/>
                  </a:rPr>
                  <a:t>.</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13</a:t>
            </a:r>
            <a:endParaRPr sz="2800">
              <a:solidFill>
                <a:srgbClr val="15803D"/>
              </a:solidFill>
            </a:endParaRP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non-collinear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oMath>
                </a14:m>
                <a:r>
                  <a:rPr sz="2400" b="0">
                    <a:solidFill>
                      <a:srgbClr val="111827"/>
                    </a:solidFill>
                    <a:latin typeface="Arial"/>
                  </a:rPr>
                  <a:t>, the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oMath>
                </a14:m>
                <a:r>
                  <a:rPr sz="2400" b="0">
                    <a:solidFill>
                      <a:srgbClr val="111827"/>
                    </a:solidFill>
                    <a:latin typeface="Arial"/>
                  </a:rPr>
                  <a:t> are independent: dotting </a:t>
                </a:r>
                <a14:m>
                  <m:oMath xmlns:m="http://schemas.openxmlformats.org/officeDocument/2006/math">
                    <m:r>
                      <a:rPr lang="en-IN" sz="2400" i="1">
                        <a:solidFill>
                          <a:srgbClr val="111827"/>
                        </a:solidFill>
                        <a:latin typeface="Cambria Math" panose="02040503050406030204" pitchFamily="18" charset="0"/>
                      </a:rPr>
                      <m:t>𝑝</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polynomial of degree at most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with more than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distinct roots is the zero polynomial; the same follows from the non-zero Vandermonde determinant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Recognition cue: a coefficient pattern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the same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points to a polynomial-roots argument.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non-collinear </a:t>
                </a:r>
                <a:r>
                  <a:rPr lang="en-IN" sz="2400">
                    <a:solidFill>
                      <a:srgbClr val="111827"/>
                    </a:solidFill>
                    <a:latin typeface="Cambria Math" panose="02040503050406030204" pitchFamily="18" charset="0"/>
                  </a:rPr>
                  <a:t>$\vec x,\vec y$</a:t>
                </a:r>
                <a:r>
                  <a:rPr sz="2400" b="0">
                    <a:solidFill>
                      <a:srgbClr val="111827"/>
                    </a:solidFill>
                    <a:latin typeface="Arial"/>
                  </a:rPr>
                  <a:t>, the vectors </a:t>
                </a:r>
                <a:r>
                  <a:rPr lang="en-IN" sz="2400">
                    <a:solidFill>
                      <a:srgbClr val="111827"/>
                    </a:solidFill>
                    <a:latin typeface="Cambria Math" panose="02040503050406030204" pitchFamily="18" charset="0"/>
                  </a:rPr>
                  <a:t>$\vec x,\vec y,\vec x\times\vec y$</a:t>
                </a:r>
                <a:r>
                  <a:rPr sz="2400" b="0">
                    <a:solidFill>
                      <a:srgbClr val="111827"/>
                    </a:solidFill>
                    <a:latin typeface="Arial"/>
                  </a:rPr>
                  <a:t> are independent: dotting </a:t>
                </a:r>
                <a:r>
                  <a:rPr lang="en-IN" sz="2400">
                    <a:solidFill>
                      <a:srgbClr val="111827"/>
                    </a:solidFill>
                    <a:latin typeface="Cambria Math" panose="02040503050406030204" pitchFamily="18" charset="0"/>
                  </a:rPr>
                  <a:t>$p\vec x+q\vec y+r(\vec x\times\vec y)=\vec0$</a:t>
                </a:r>
                <a:r>
                  <a:rPr sz="2400" b="0">
                    <a:solidFill>
                      <a:srgbClr val="111827"/>
                    </a:solidFill>
                    <a:latin typeface="Arial"/>
                  </a:rPr>
                  <a:t> with </a:t>
                </a:r>
                <a:r>
                  <a:rPr lang="en-IN" sz="2400">
                    <a:solidFill>
                      <a:srgbClr val="111827"/>
                    </a:solidFill>
                    <a:latin typeface="Cambria Math" panose="02040503050406030204" pitchFamily="18" charset="0"/>
                  </a:rPr>
                  <a:t>$\vec x\times\vec y$</a:t>
                </a:r>
                <a:r>
                  <a:rPr sz="2400" b="0">
                    <a:solidFill>
                      <a:srgbClr val="111827"/>
                    </a:solidFill>
                    <a:latin typeface="Arial"/>
                  </a:rPr>
                  <a:t> gives </a:t>
                </a:r>
                <a:r>
                  <a:rPr lang="en-IN" sz="2400">
                    <a:solidFill>
                      <a:srgbClr val="111827"/>
                    </a:solidFill>
                    <a:latin typeface="Cambria Math" panose="02040503050406030204" pitchFamily="18" charset="0"/>
                  </a:rPr>
                  <a:t>$r=0$</a:t>
                </a:r>
                <a:r>
                  <a:rPr sz="2400" b="0">
                    <a:solidFill>
                      <a:srgbClr val="111827"/>
                    </a:solidFill>
                    <a:latin typeface="Arial"/>
                  </a:rPr>
                  <a:t>, then </a:t>
                </a:r>
                <a:r>
                  <a:rPr lang="en-IN" sz="2400">
                    <a:solidFill>
                      <a:srgbClr val="111827"/>
                    </a:solidFill>
                    <a:latin typeface="Cambria Math" panose="02040503050406030204" pitchFamily="18" charset="0"/>
                  </a:rPr>
                  <a:t>$p=q=0$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polynomial of degree at most </a:t>
                </a:r>
                <a:r>
                  <a:rPr lang="en-IN" sz="2400">
                    <a:solidFill>
                      <a:srgbClr val="111827"/>
                    </a:solidFill>
                    <a:latin typeface="Cambria Math" panose="02040503050406030204" pitchFamily="18" charset="0"/>
                  </a:rPr>
                  <a:t>$n$</a:t>
                </a:r>
                <a:r>
                  <a:rPr sz="2400" b="0">
                    <a:solidFill>
                      <a:srgbClr val="111827"/>
                    </a:solidFill>
                    <a:latin typeface="Arial"/>
                  </a:rPr>
                  <a:t> with more than </a:t>
                </a:r>
                <a:r>
                  <a:rPr lang="en-IN" sz="2400">
                    <a:solidFill>
                      <a:srgbClr val="111827"/>
                    </a:solidFill>
                    <a:latin typeface="Cambria Math" panose="02040503050406030204" pitchFamily="18" charset="0"/>
                  </a:rPr>
                  <a:t>$n$</a:t>
                </a:r>
                <a:r>
                  <a:rPr sz="2400" b="0">
                    <a:solidFill>
                      <a:srgbClr val="111827"/>
                    </a:solidFill>
                    <a:latin typeface="Arial"/>
                  </a:rPr>
                  <a:t> distinct roots is the zero polynomial; the same follows from the non-zero Vandermonde determinant </a:t>
                </a:r>
                <a:r>
                  <a:rPr lang="en-IN" sz="2400">
                    <a:solidFill>
                      <a:srgbClr val="111827"/>
                    </a:solidFill>
                    <a:latin typeface="Cambria Math" panose="02040503050406030204" pitchFamily="18" charset="0"/>
                  </a:rPr>
                  <a:t>$(\alpha-\beta)(\beta-\gamma)(\gamma-\alpha)$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Recognition cue: a coefficient pattern </a:t>
                </a:r>
                <a:r>
                  <a:rPr lang="en-IN" sz="2400">
                    <a:solidFill>
                      <a:srgbClr val="111827"/>
                    </a:solidFill>
                    <a:latin typeface="Cambria Math" panose="02040503050406030204" pitchFamily="18" charset="0"/>
                  </a:rPr>
                  <a:t>$f(\alpha),f(\beta),f(\gamma)$</a:t>
                </a:r>
                <a:r>
                  <a:rPr sz="2400" b="0">
                    <a:solidFill>
                      <a:srgbClr val="111827"/>
                    </a:solidFill>
                    <a:latin typeface="Arial"/>
                  </a:rPr>
                  <a:t> with the same </a:t>
                </a:r>
                <a:r>
                  <a:rPr lang="en-IN" sz="2400">
                    <a:solidFill>
                      <a:srgbClr val="111827"/>
                    </a:solidFill>
                    <a:latin typeface="Cambria Math" panose="02040503050406030204" pitchFamily="18" charset="0"/>
                  </a:rPr>
                  <a:t>$f$</a:t>
                </a:r>
                <a:r>
                  <a:rPr sz="2400" b="0">
                    <a:solidFill>
                      <a:srgbClr val="111827"/>
                    </a:solidFill>
                    <a:latin typeface="Arial"/>
                  </a:rPr>
                  <a:t> points to a polynomial-roots argument.</a:t>
                </a:r>
                <a:endParaRPr sz="2400">
                  <a:solidFill>
                    <a:srgbClr val="111827"/>
                  </a:solidFill>
                </a:endParaRPr>
              </a:p>
            </p:txBody>
          </p:sp>
        </mc:Fallback>
      </mc:AlternateContent>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diagonals of a parallelogram are given by the vectors </a:t>
                </a:r>
                <a14:m>
                  <m:oMath xmlns:m="http://schemas.openxmlformats.org/officeDocument/2006/math">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Determine its sides and also the area.</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diagonals of a parallelogram are given by the vectors </a:t>
                </a:r>
                <a:r>
                  <a:rPr lang="en-IN" sz="2400">
                    <a:solidFill>
                      <a:srgbClr val="111827"/>
                    </a:solidFill>
                    <a:latin typeface="Cambria Math" panose="02040503050406030204" pitchFamily="18" charset="0"/>
                  </a:rPr>
                  <a:t>$2\hat{i}+3\hat{j}-6\hat{k}$</a:t>
                </a:r>
                <a:r>
                  <a:rPr sz="2400" b="0">
                    <a:solidFill>
                      <a:srgbClr val="111827"/>
                    </a:solidFill>
                    <a:latin typeface="Arial"/>
                  </a:rPr>
                  <a:t> and </a:t>
                </a:r>
                <a:r>
                  <a:rPr lang="en-IN" sz="2400">
                    <a:solidFill>
                      <a:srgbClr val="111827"/>
                    </a:solidFill>
                    <a:latin typeface="Cambria Math" panose="02040503050406030204" pitchFamily="18" charset="0"/>
                  </a:rPr>
                  <a:t>$3\hat{i}-4\hat{j}-\hat{k}$</a:t>
                </a:r>
                <a:r>
                  <a:rPr sz="2400" b="0">
                    <a:solidFill>
                      <a:srgbClr val="111827"/>
                    </a:solidFill>
                    <a:latin typeface="Arial"/>
                  </a:rPr>
                  <a:t>. Determine its sides and also the area.</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Parallelogram: sides and area using vectors (cross product)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If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oMath>
                </a14:m>
                <a:r>
                  <a:rPr sz="2400" b="0">
                    <a:solidFill>
                      <a:srgbClr val="78350F"/>
                    </a:solidFill>
                    <a:latin typeface="Arial"/>
                  </a:rPr>
                  <a:t> are the sides then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oMath>
                </a14:m>
                <a:r>
                  <a:rPr sz="2400" b="0">
                    <a:solidFill>
                      <a:srgbClr val="78350F"/>
                    </a:solidFill>
                    <a:latin typeface="Arial"/>
                  </a:rPr>
                  <a:t> and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oMath>
                </a14:m>
                <a:r>
                  <a:rPr sz="2400" b="0">
                    <a:solidFill>
                      <a:srgbClr val="78350F"/>
                    </a:solidFill>
                    <a:latin typeface="Arial"/>
                  </a:rPr>
                  <a:t> are the diagonals, and area </a:t>
                </a:r>
                <a14:m>
                  <m:oMath xmlns:m="http://schemas.openxmlformats.org/officeDocument/2006/math">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sSub>
                      <m:e>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If </a:t>
                </a:r>
                <a:r>
                  <a:rPr lang="en-IN" sz="2400">
                    <a:solidFill>
                      <a:srgbClr val="78350F"/>
                    </a:solidFill>
                    <a:latin typeface="Cambria Math" panose="02040503050406030204" pitchFamily="18" charset="0"/>
                  </a:rPr>
                  <a:t>$\vec a,\vec b$</a:t>
                </a:r>
                <a:r>
                  <a:rPr sz="2400" b="0">
                    <a:solidFill>
                      <a:srgbClr val="78350F"/>
                    </a:solidFill>
                    <a:latin typeface="Arial"/>
                  </a:rPr>
                  <a:t> are the sides then </a:t>
                </a:r>
                <a:r>
                  <a:rPr lang="en-IN" sz="2400">
                    <a:solidFill>
                      <a:srgbClr val="78350F"/>
                    </a:solidFill>
                    <a:latin typeface="Cambria Math" panose="02040503050406030204" pitchFamily="18" charset="0"/>
                  </a:rPr>
                  <a:t>$\vec a+\vec b$</a:t>
                </a:r>
                <a:r>
                  <a:rPr sz="2400" b="0">
                    <a:solidFill>
                      <a:srgbClr val="78350F"/>
                    </a:solidFill>
                    <a:latin typeface="Arial"/>
                  </a:rPr>
                  <a:t> and </a:t>
                </a:r>
                <a:r>
                  <a:rPr lang="en-IN" sz="2400">
                    <a:solidFill>
                      <a:srgbClr val="78350F"/>
                    </a:solidFill>
                    <a:latin typeface="Cambria Math" panose="02040503050406030204" pitchFamily="18" charset="0"/>
                  </a:rPr>
                  <a:t>$\vec a-\vec b$</a:t>
                </a:r>
                <a:r>
                  <a:rPr sz="2400" b="0">
                    <a:solidFill>
                      <a:srgbClr val="78350F"/>
                    </a:solidFill>
                    <a:latin typeface="Arial"/>
                  </a:rPr>
                  <a:t> are the diagonals, and area </a:t>
                </a:r>
                <a:r>
                  <a:rPr lang="en-IN" sz="2400">
                    <a:solidFill>
                      <a:srgbClr val="78350F"/>
                    </a:solidFill>
                    <a:latin typeface="Cambria Math" panose="02040503050406030204" pitchFamily="18" charset="0"/>
                  </a:rPr>
                  <a:t>$=\frac12|\vec d_1\times\vec d_2|$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be adjacent sides. Then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2</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and halving: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Subtracting and halving: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$\vec a,\vec b$</a:t>
                </a:r>
                <a:r>
                  <a:rPr sz="2400" b="0">
                    <a:solidFill>
                      <a:srgbClr val="111827"/>
                    </a:solidFill>
                    <a:latin typeface="Arial"/>
                  </a:rPr>
                  <a:t> be adjacent sides. Then </a:t>
                </a:r>
                <a:r>
                  <a:rPr lang="en-IN" sz="2400">
                    <a:solidFill>
                      <a:srgbClr val="111827"/>
                    </a:solidFill>
                    <a:latin typeface="Cambria Math" panose="02040503050406030204" pitchFamily="18" charset="0"/>
                  </a:rPr>
                  <a:t>$\vec a+\vec b=(2,3,-6)=\vec d_1$</a:t>
                </a:r>
                <a:r>
                  <a:rPr sz="2400" b="0">
                    <a:solidFill>
                      <a:srgbClr val="111827"/>
                    </a:solidFill>
                    <a:latin typeface="Arial"/>
                  </a:rPr>
                  <a:t> and </a:t>
                </a:r>
                <a:r>
                  <a:rPr lang="en-IN" sz="2400">
                    <a:solidFill>
                      <a:srgbClr val="111827"/>
                    </a:solidFill>
                    <a:latin typeface="Cambria Math" panose="02040503050406030204" pitchFamily="18" charset="0"/>
                  </a:rPr>
                  <a:t>$\vec a-\vec b=(3,-4,-1)=\vec d_2$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and halving: </a:t>
                </a:r>
                <a:r>
                  <a:rPr lang="en-IN" sz="2400">
                    <a:solidFill>
                      <a:srgbClr val="111827"/>
                    </a:solidFill>
                    <a:latin typeface="Cambria Math" panose="02040503050406030204" pitchFamily="18" charset="0"/>
                  </a:rPr>
                  <a:t>$\vec a=\frac{\vec d_1+\vec d_2}{2}=\left(\frac52,-\frac12,-\frac72\right)$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Subtracting and halving: </a:t>
                </a:r>
                <a:r>
                  <a:rPr lang="en-IN" sz="2400">
                    <a:solidFill>
                      <a:srgbClr val="111827"/>
                    </a:solidFill>
                    <a:latin typeface="Cambria Math" panose="02040503050406030204" pitchFamily="18" charset="0"/>
                  </a:rPr>
                  <a:t>$\vec b=\frac{\vec d_1-\vec d_2}{2}=\left(-\frac12,\frac72,-\frac52\right)$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diagonals split the parallelogram into four triangles).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mr>
                          <m:mr>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3</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e>
                          </m:mr>
                          <m:mr>
                            <m:e>
                              <m:r>
                                <a:rPr lang="en-IN" sz="2400" i="1">
                                  <a:solidFill>
                                    <a:srgbClr val="111827"/>
                                  </a:solidFill>
                                  <a:latin typeface="Cambria Math" panose="02040503050406030204" pitchFamily="18" charset="0"/>
                                </a:rPr>
                                <m:t>3</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
                      </m:e>
                    </m: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27</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17</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729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289</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1274</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1274</m:t>
                        </m:r>
                      </m:e>
                    </m:rad>
                  </m:oMath>
                </a14:m>
                <a:r>
                  <a:rPr sz="2400" b="0">
                    <a:solidFill>
                      <a:srgbClr val="111827"/>
                    </a:solidFill>
                    <a:latin typeface="Arial"/>
                  </a:rPr>
                  <a:t> square units.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$=\frac12|\vec d_1\times\vec d_2|$</a:t>
                </a:r>
                <a:r>
                  <a:rPr sz="2400" b="0">
                    <a:solidFill>
                      <a:srgbClr val="111827"/>
                    </a:solidFill>
                    <a:latin typeface="Arial"/>
                  </a:rPr>
                  <a:t> (the diagonals split the parallelogram into four triangles).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d_1\times\vec d_2=\left|\begin{matrix}\hat i&amp;\hat j&amp;\hat k\\2&amp;3&amp;-6\\3&amp;-4&amp;-1\end{matrix}\right|$</a:t>
                </a:r>
                <a:r>
                  <a:rPr sz="2400" b="0">
                    <a:solidFill>
                      <a:srgbClr val="111827"/>
                    </a:solidFill>
                    <a:latin typeface="Arial"/>
                  </a:rPr>
                  <a:t> </a:t>
                </a:r>
                <a:r>
                  <a:rPr lang="en-IN" sz="2400">
                    <a:solidFill>
                      <a:srgbClr val="111827"/>
                    </a:solidFill>
                    <a:latin typeface="Cambria Math" panose="02040503050406030204" pitchFamily="18" charset="0"/>
                  </a:rPr>
                  <a:t>$=\hat i(-3-24)-\hat j(-2+18)+\hat k(-8-9)$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$=-27\hat i-16\hat j-17\hat 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d_1\times\vec d_2|=\sqrt{729+256+289}=\sqrt{1274}$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$=\frac12\sqrt{1274}$</a:t>
                </a:r>
                <a:r>
                  <a:rPr sz="2400" b="0">
                    <a:solidFill>
                      <a:srgbClr val="111827"/>
                    </a:solidFill>
                    <a:latin typeface="Arial"/>
                  </a:rPr>
                  <a:t> square units.</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Sides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d>
                      <m:dPr>
                        <m:begChr m:val="("/>
                        <m:sepChr m:val=""/>
                        <m:endChr m:val=")"/>
                        <m:grow/>
                        <m:ctrlPr>
                          <a:rPr lang="en-IN" sz="2800" i="1">
                            <a:solidFill>
                              <a:srgbClr val="15803D"/>
                            </a:solidFill>
                            <a:latin typeface="Cambria Math" panose="02040503050406030204" pitchFamily="18" charset="0"/>
                          </a:rPr>
                        </m:ctrlPr>
                      </m:dPr>
                      <m:e>
                        <m:r>
                          <a:rPr lang="en-IN" sz="2800" i="1">
                            <a:solidFill>
                              <a:srgbClr val="15803D"/>
                            </a:solidFill>
                            <a:latin typeface="Cambria Math" panose="02040503050406030204" pitchFamily="18" charset="0"/>
                          </a:rPr>
                          <m:t>5</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𝑖</m:t>
                            </m:r>
                          </m:e>
                        </m:acc>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𝑗</m:t>
                            </m:r>
                          </m:e>
                        </m:acc>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7</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𝑘</m:t>
                            </m:r>
                          </m:e>
                        </m:acc>
                      </m:e>
                    </m:d>
                  </m:oMath>
                </a14:m>
                <a:r>
                  <a:rPr sz="2800" b="1">
                    <a:solidFill>
                      <a:srgbClr val="15803D"/>
                    </a:solidFill>
                    <a:latin typeface="Arial"/>
                  </a:rPr>
                  <a:t> and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d>
                      <m:dPr>
                        <m:begChr m:val="("/>
                        <m:sepChr m:val=""/>
                        <m:endChr m:val=")"/>
                        <m:grow/>
                        <m:ctrlPr>
                          <a:rPr lang="en-IN" sz="2800" i="1">
                            <a:solidFill>
                              <a:srgbClr val="15803D"/>
                            </a:solidFill>
                            <a:latin typeface="Cambria Math" panose="02040503050406030204" pitchFamily="18" charset="0"/>
                          </a:rPr>
                        </m:ctrlPr>
                      </m:dPr>
                      <m:e>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𝑖</m:t>
                            </m:r>
                          </m:e>
                        </m:acc>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7</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𝑗</m:t>
                            </m:r>
                          </m:e>
                        </m:acc>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5</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𝑘</m:t>
                            </m:r>
                          </m:e>
                        </m:acc>
                      </m:e>
                    </m:d>
                  </m:oMath>
                </a14:m>
                <a:r>
                  <a:rPr sz="2800" b="1">
                    <a:solidFill>
                      <a:srgbClr val="15803D"/>
                    </a:solidFill>
                    <a:latin typeface="Arial"/>
                  </a:rPr>
                  <a:t>; area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1274</m:t>
                        </m:r>
                      </m:e>
                    </m:rad>
                  </m:oMath>
                </a14:m>
                <a:r>
                  <a:rPr sz="2800" b="1">
                    <a:solidFill>
                      <a:srgbClr val="15803D"/>
                    </a:solidFill>
                    <a:latin typeface="Arial"/>
                  </a:rPr>
                  <a:t> sq. units</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Sides </a:t>
                </a:r>
                <a:r>
                  <a:rPr lang="en-IN" sz="2800">
                    <a:solidFill>
                      <a:srgbClr val="15803D"/>
                    </a:solidFill>
                    <a:latin typeface="Cambria Math" panose="02040503050406030204" pitchFamily="18" charset="0"/>
                  </a:rPr>
                  <a:t>$\frac12\left(5\hat i-\hat j-7\hat k\right)$</a:t>
                </a:r>
                <a:r>
                  <a:rPr sz="2800" b="1">
                    <a:solidFill>
                      <a:srgbClr val="15803D"/>
                    </a:solidFill>
                    <a:latin typeface="Arial"/>
                  </a:rPr>
                  <a:t> and </a:t>
                </a:r>
                <a:r>
                  <a:rPr lang="en-IN" sz="2800">
                    <a:solidFill>
                      <a:srgbClr val="15803D"/>
                    </a:solidFill>
                    <a:latin typeface="Cambria Math" panose="02040503050406030204" pitchFamily="18" charset="0"/>
                  </a:rPr>
                  <a:t>$\frac12\left(-\hat i+7\hat j-5\hat k\right)$</a:t>
                </a:r>
                <a:r>
                  <a:rPr sz="2800" b="1">
                    <a:solidFill>
                      <a:srgbClr val="15803D"/>
                    </a:solidFill>
                    <a:latin typeface="Arial"/>
                  </a:rPr>
                  <a:t>; area </a:t>
                </a:r>
                <a:r>
                  <a:rPr lang="en-IN" sz="2800">
                    <a:solidFill>
                      <a:srgbClr val="15803D"/>
                    </a:solidFill>
                    <a:latin typeface="Cambria Math" panose="02040503050406030204" pitchFamily="18" charset="0"/>
                  </a:rPr>
                  <a:t>$\frac12\sqrt{1274}$</a:t>
                </a:r>
                <a:r>
                  <a:rPr sz="2800" b="1">
                    <a:solidFill>
                      <a:srgbClr val="15803D"/>
                    </a:solidFill>
                    <a:latin typeface="Arial"/>
                  </a:rPr>
                  <a:t> sq. units</a:t>
                </a:r>
                <a:endParaRPr sz="2800">
                  <a:solidFill>
                    <a:srgbClr val="15803D"/>
                  </a:solidFill>
                </a:endParaRPr>
              </a:p>
            </p:txBody>
          </p:sp>
        </mc:Fallback>
      </mc:AlternateContent>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diagonals are perpendicular, so the parallelogram is a rhombus and its area is half the product of the diagonals.</a:t>
            </a:r>
            <a:endParaRPr sz="2400">
              <a:solidFill>
                <a:srgbClr val="78350F"/>
              </a:solidFill>
            </a:endParaRPr>
          </a:p>
        </p:txBody>
      </p:sp>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the diagonals are perpendicular.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parallelogram with perpendicular diagonals is a rhombus, 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26</m:t>
                        </m:r>
                      </m:e>
                    </m:ra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d_1\cdot\vec d_2=6-12+6=0$</a:t>
                </a:r>
                <a:r>
                  <a:rPr sz="2400" b="0">
                    <a:solidFill>
                      <a:srgbClr val="111827"/>
                    </a:solidFill>
                    <a:latin typeface="Arial"/>
                  </a:rPr>
                  <a:t>, so the diagonals are perpendicular.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parallelogram with perpendicular diagonals is a rhombus, so </a:t>
                </a:r>
                <a:r>
                  <a:rPr lang="en-IN" sz="2400">
                    <a:solidFill>
                      <a:srgbClr val="111827"/>
                    </a:solidFill>
                    <a:latin typeface="Cambria Math" panose="02040503050406030204" pitchFamily="18" charset="0"/>
                  </a:rPr>
                  <a:t>$|\vec a|=|\vec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d_1|=\sqrt{4+9+36}=7$</a:t>
                </a:r>
                <a:r>
                  <a:rPr sz="2400" b="0">
                    <a:solidFill>
                      <a:srgbClr val="111827"/>
                    </a:solidFill>
                    <a:latin typeface="Arial"/>
                  </a:rPr>
                  <a:t> and </a:t>
                </a:r>
                <a:r>
                  <a:rPr lang="en-IN" sz="2400">
                    <a:solidFill>
                      <a:srgbClr val="111827"/>
                    </a:solidFill>
                    <a:latin typeface="Cambria Math" panose="02040503050406030204" pitchFamily="18" charset="0"/>
                  </a:rPr>
                  <a:t>$|\vec d_2|=\sqrt{9+16+1}=\sqrt{26}$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26</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1274</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side has length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2</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75</m:t>
                        </m:r>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 matching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for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side vectors themselves are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as before.</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$=\frac12|\vec d_1||\vec d_2|=\frac12\cdot7\sqrt{26}=\frac12\sqrt{1274}$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Each side has length </a:t>
                </a:r>
                <a:r>
                  <a:rPr lang="en-IN" sz="2400">
                    <a:solidFill>
                      <a:srgbClr val="111827"/>
                    </a:solidFill>
                    <a:latin typeface="Cambria Math" panose="02040503050406030204" pitchFamily="18" charset="0"/>
                  </a:rPr>
                  <a:t>$\frac12\sqrt{|\vec d_1|^2+|\vec d_2|^2}=\frac12\sqrt{75}=\frac{5\sqrt3}{2}$</a:t>
                </a:r>
                <a:r>
                  <a:rPr sz="2400" b="0">
                    <a:solidFill>
                      <a:srgbClr val="111827"/>
                    </a:solidFill>
                    <a:latin typeface="Arial"/>
                  </a:rPr>
                  <a:t>, matching </a:t>
                </a:r>
                <a:r>
                  <a:rPr lang="en-IN" sz="2400">
                    <a:solidFill>
                      <a:srgbClr val="111827"/>
                    </a:solidFill>
                    <a:latin typeface="Cambria Math" panose="02040503050406030204" pitchFamily="18" charset="0"/>
                  </a:rPr>
                  <a:t>$|\vec a|^2=\frac{25+1+49}{4}$</a:t>
                </a:r>
                <a:r>
                  <a:rPr sz="2400" b="0">
                    <a:solidFill>
                      <a:srgbClr val="111827"/>
                    </a:solidFill>
                    <a:latin typeface="Arial"/>
                  </a:rPr>
                  <a:t> for </a:t>
                </a:r>
                <a:r>
                  <a:rPr lang="en-IN" sz="2400">
                    <a:solidFill>
                      <a:srgbClr val="111827"/>
                    </a:solidFill>
                    <a:latin typeface="Cambria Math" panose="02040503050406030204" pitchFamily="18" charset="0"/>
                  </a:rPr>
                  <a:t>$\vec a=\frac12(5,-1,-7)$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side vectors themselves are </a:t>
                </a:r>
                <a:r>
                  <a:rPr lang="en-IN" sz="2400">
                    <a:solidFill>
                      <a:srgbClr val="111827"/>
                    </a:solidFill>
                    <a:latin typeface="Cambria Math" panose="02040503050406030204" pitchFamily="18" charset="0"/>
                  </a:rPr>
                  <a:t>$\frac{\vec d_1\pm\vec d_2}{2}$</a:t>
                </a:r>
                <a:r>
                  <a:rPr sz="2400" b="0">
                    <a:solidFill>
                      <a:srgbClr val="111827"/>
                    </a:solidFill>
                    <a:latin typeface="Arial"/>
                  </a:rPr>
                  <a:t>, as before.</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Sides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d>
                      <m:dPr>
                        <m:begChr m:val="("/>
                        <m:sepChr m:val=""/>
                        <m:endChr m:val=")"/>
                        <m:grow/>
                        <m:ctrlPr>
                          <a:rPr lang="en-IN" sz="2800" i="1">
                            <a:solidFill>
                              <a:srgbClr val="15803D"/>
                            </a:solidFill>
                            <a:latin typeface="Cambria Math" panose="02040503050406030204" pitchFamily="18" charset="0"/>
                          </a:rPr>
                        </m:ctrlPr>
                      </m:dPr>
                      <m:e>
                        <m:r>
                          <a:rPr lang="en-IN" sz="2800" i="1">
                            <a:solidFill>
                              <a:srgbClr val="15803D"/>
                            </a:solidFill>
                            <a:latin typeface="Cambria Math" panose="02040503050406030204" pitchFamily="18" charset="0"/>
                          </a:rPr>
                          <m:t>5</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𝑖</m:t>
                            </m:r>
                          </m:e>
                        </m:acc>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𝑗</m:t>
                            </m:r>
                          </m:e>
                        </m:acc>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7</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𝑘</m:t>
                            </m:r>
                          </m:e>
                        </m:acc>
                      </m:e>
                    </m:d>
                  </m:oMath>
                </a14:m>
                <a:r>
                  <a:rPr sz="2800" b="1">
                    <a:solidFill>
                      <a:srgbClr val="15803D"/>
                    </a:solidFill>
                    <a:latin typeface="Arial"/>
                  </a:rPr>
                  <a:t> and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d>
                      <m:dPr>
                        <m:begChr m:val="("/>
                        <m:sepChr m:val=""/>
                        <m:endChr m:val=")"/>
                        <m:grow/>
                        <m:ctrlPr>
                          <a:rPr lang="en-IN" sz="2800" i="1">
                            <a:solidFill>
                              <a:srgbClr val="15803D"/>
                            </a:solidFill>
                            <a:latin typeface="Cambria Math" panose="02040503050406030204" pitchFamily="18" charset="0"/>
                          </a:rPr>
                        </m:ctrlPr>
                      </m:dPr>
                      <m:e>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𝑖</m:t>
                            </m:r>
                          </m:e>
                        </m:acc>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7</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𝑗</m:t>
                            </m:r>
                          </m:e>
                        </m:acc>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5</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𝑘</m:t>
                            </m:r>
                          </m:e>
                        </m:acc>
                      </m:e>
                    </m:d>
                  </m:oMath>
                </a14:m>
                <a:r>
                  <a:rPr sz="2800" b="1">
                    <a:solidFill>
                      <a:srgbClr val="15803D"/>
                    </a:solidFill>
                    <a:latin typeface="Arial"/>
                  </a:rPr>
                  <a:t>; area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1274</m:t>
                        </m:r>
                      </m:e>
                    </m:rad>
                  </m:oMath>
                </a14:m>
                <a:r>
                  <a:rPr sz="2800" b="1">
                    <a:solidFill>
                      <a:srgbClr val="15803D"/>
                    </a:solidFill>
                    <a:latin typeface="Arial"/>
                  </a:rPr>
                  <a:t> sq. units</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Sides </a:t>
                </a:r>
                <a:r>
                  <a:rPr lang="en-IN" sz="2800">
                    <a:solidFill>
                      <a:srgbClr val="15803D"/>
                    </a:solidFill>
                    <a:latin typeface="Cambria Math" panose="02040503050406030204" pitchFamily="18" charset="0"/>
                  </a:rPr>
                  <a:t>$\frac12\left(5\hat i-\hat j-7\hat k\right)$</a:t>
                </a:r>
                <a:r>
                  <a:rPr sz="2800" b="1">
                    <a:solidFill>
                      <a:srgbClr val="15803D"/>
                    </a:solidFill>
                    <a:latin typeface="Arial"/>
                  </a:rPr>
                  <a:t> and </a:t>
                </a:r>
                <a:r>
                  <a:rPr lang="en-IN" sz="2800">
                    <a:solidFill>
                      <a:srgbClr val="15803D"/>
                    </a:solidFill>
                    <a:latin typeface="Cambria Math" panose="02040503050406030204" pitchFamily="18" charset="0"/>
                  </a:rPr>
                  <a:t>$\frac12\left(-\hat i+7\hat j-5\hat k\right)$</a:t>
                </a:r>
                <a:r>
                  <a:rPr sz="2800" b="1">
                    <a:solidFill>
                      <a:srgbClr val="15803D"/>
                    </a:solidFill>
                    <a:latin typeface="Arial"/>
                  </a:rPr>
                  <a:t>; area </a:t>
                </a:r>
                <a:r>
                  <a:rPr lang="en-IN" sz="2800">
                    <a:solidFill>
                      <a:srgbClr val="15803D"/>
                    </a:solidFill>
                    <a:latin typeface="Cambria Math" panose="02040503050406030204" pitchFamily="18" charset="0"/>
                  </a:rPr>
                  <a:t>$\frac12\sqrt{1274}$</a:t>
                </a:r>
                <a:r>
                  <a:rPr sz="2800" b="1">
                    <a:solidFill>
                      <a:srgbClr val="15803D"/>
                    </a:solidFill>
                    <a:latin typeface="Arial"/>
                  </a:rPr>
                  <a:t> sq. units</a:t>
                </a:r>
                <a:endParaRPr sz="2800">
                  <a:solidFill>
                    <a:srgbClr val="15803D"/>
                  </a:solidFill>
                </a:endParaRPr>
              </a:p>
            </p:txBody>
          </p:sp>
        </mc:Fallback>
      </mc:AlternateContent>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Sides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and diagonals </a:t>
                </a: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t>
                </a: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2</m:t>
                            </m:r>
                          </m:sub>
                        </m:sSub>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area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Parallelogram law: </a:t>
                </a:r>
                <a14:m>
                  <m:oMath xmlns:m="http://schemas.openxmlformats.org/officeDocument/2006/math">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2</m:t>
                        </m:r>
                      </m:sub>
                    </m:sSub>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49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Diagonals perpendicular (</a:t>
                </a: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iff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(rhombus); then 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Sides </a:t>
                </a:r>
                <a:r>
                  <a:rPr lang="en-IN" sz="2400">
                    <a:solidFill>
                      <a:srgbClr val="111827"/>
                    </a:solidFill>
                    <a:latin typeface="Cambria Math" panose="02040503050406030204" pitchFamily="18" charset="0"/>
                  </a:rPr>
                  <a:t>$\vec a,\vec b$</a:t>
                </a:r>
                <a:r>
                  <a:rPr sz="2400" b="0">
                    <a:solidFill>
                      <a:srgbClr val="111827"/>
                    </a:solidFill>
                    <a:latin typeface="Arial"/>
                  </a:rPr>
                  <a:t> and diagonals </a:t>
                </a:r>
                <a:r>
                  <a:rPr lang="en-IN" sz="2400">
                    <a:solidFill>
                      <a:srgbClr val="111827"/>
                    </a:solidFill>
                    <a:latin typeface="Cambria Math" panose="02040503050406030204" pitchFamily="18" charset="0"/>
                  </a:rPr>
                  <a:t>$\vec d_1=\vec a+\vec b$</a:t>
                </a:r>
                <a:r>
                  <a:rPr sz="2400" b="0">
                    <a:solidFill>
                      <a:srgbClr val="111827"/>
                    </a:solidFill>
                    <a:latin typeface="Arial"/>
                  </a:rPr>
                  <a:t>, </a:t>
                </a:r>
                <a:r>
                  <a:rPr lang="en-IN" sz="2400">
                    <a:solidFill>
                      <a:srgbClr val="111827"/>
                    </a:solidFill>
                    <a:latin typeface="Cambria Math" panose="02040503050406030204" pitchFamily="18" charset="0"/>
                  </a:rPr>
                  <a:t>$\vec d_2=\vec a-\vec b$</a:t>
                </a:r>
                <a:r>
                  <a:rPr sz="2400" b="0">
                    <a:solidFill>
                      <a:srgbClr val="111827"/>
                    </a:solidFill>
                    <a:latin typeface="Arial"/>
                  </a:rPr>
                  <a:t>: </a:t>
                </a:r>
                <a:r>
                  <a:rPr lang="en-IN" sz="2400">
                    <a:solidFill>
                      <a:srgbClr val="111827"/>
                    </a:solidFill>
                    <a:latin typeface="Cambria Math" panose="02040503050406030204" pitchFamily="18" charset="0"/>
                  </a:rPr>
                  <a:t>$\vec a=\frac{\vec d_1+\vec d_2}{2}$</a:t>
                </a:r>
                <a:r>
                  <a:rPr sz="2400" b="0">
                    <a:solidFill>
                      <a:srgbClr val="111827"/>
                    </a:solidFill>
                    <a:latin typeface="Arial"/>
                  </a:rPr>
                  <a:t>, </a:t>
                </a:r>
                <a:r>
                  <a:rPr lang="en-IN" sz="2400">
                    <a:solidFill>
                      <a:srgbClr val="111827"/>
                    </a:solidFill>
                    <a:latin typeface="Cambria Math" panose="02040503050406030204" pitchFamily="18" charset="0"/>
                  </a:rPr>
                  <a:t>$\vec b=\frac{\vec d_1-\vec d_2}{2}$</a:t>
                </a:r>
                <a:r>
                  <a:rPr sz="2400" b="0">
                    <a:solidFill>
                      <a:srgbClr val="111827"/>
                    </a:solidFill>
                    <a:latin typeface="Arial"/>
                  </a:rPr>
                  <a:t>, area </a:t>
                </a:r>
                <a:r>
                  <a:rPr lang="en-IN" sz="2400">
                    <a:solidFill>
                      <a:srgbClr val="111827"/>
                    </a:solidFill>
                    <a:latin typeface="Cambria Math" panose="02040503050406030204" pitchFamily="18" charset="0"/>
                  </a:rPr>
                  <a:t>$=|\vec a\times\vec b|=\frac12|\vec d_1\times\vec d_2|$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Parallelogram law: </a:t>
                </a:r>
                <a:r>
                  <a:rPr lang="en-IN" sz="2400">
                    <a:solidFill>
                      <a:srgbClr val="111827"/>
                    </a:solidFill>
                    <a:latin typeface="Cambria Math" panose="02040503050406030204" pitchFamily="18" charset="0"/>
                  </a:rPr>
                  <a:t>$|\vec d_1|^2+|\vec d_2|^2=2(|\vec a|^2+|\vec b|^2)$</a:t>
                </a:r>
                <a:r>
                  <a:rPr sz="2400" b="0">
                    <a:solidFill>
                      <a:srgbClr val="111827"/>
                    </a:solidFill>
                    <a:latin typeface="Arial"/>
                  </a:rPr>
                  <a:t>; here </a:t>
                </a:r>
                <a:r>
                  <a:rPr lang="en-IN" sz="2400">
                    <a:solidFill>
                      <a:srgbClr val="111827"/>
                    </a:solidFill>
                    <a:latin typeface="Cambria Math" panose="02040503050406030204" pitchFamily="18" charset="0"/>
                  </a:rPr>
                  <a:t>$49+26=75=2\cdot\frac{75}{2}$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Diagonals perpendicular (</a:t>
                </a:r>
                <a:r>
                  <a:rPr lang="en-IN" sz="2400">
                    <a:solidFill>
                      <a:srgbClr val="111827"/>
                    </a:solidFill>
                    <a:latin typeface="Cambria Math" panose="02040503050406030204" pitchFamily="18" charset="0"/>
                  </a:rPr>
                  <a:t>$\vec d_1\cdot\vec d_2=0$</a:t>
                </a:r>
                <a:r>
                  <a:rPr sz="2400" b="0">
                    <a:solidFill>
                      <a:srgbClr val="111827"/>
                    </a:solidFill>
                    <a:latin typeface="Arial"/>
                  </a:rPr>
                  <a:t>) iff </a:t>
                </a:r>
                <a:r>
                  <a:rPr lang="en-IN" sz="2400">
                    <a:solidFill>
                      <a:srgbClr val="111827"/>
                    </a:solidFill>
                    <a:latin typeface="Cambria Math" panose="02040503050406030204" pitchFamily="18" charset="0"/>
                  </a:rPr>
                  <a:t>$|\vec a|=|\vec b|$</a:t>
                </a:r>
                <a:r>
                  <a:rPr sz="2400" b="0">
                    <a:solidFill>
                      <a:srgbClr val="111827"/>
                    </a:solidFill>
                    <a:latin typeface="Arial"/>
                  </a:rPr>
                  <a:t> (rhombus); then area </a:t>
                </a:r>
                <a:r>
                  <a:rPr lang="en-IN" sz="2400">
                    <a:solidFill>
                      <a:srgbClr val="111827"/>
                    </a:solidFill>
                    <a:latin typeface="Cambria Math" panose="02040503050406030204" pitchFamily="18" charset="0"/>
                  </a:rPr>
                  <a:t>$=\frac12|\vec d_1||\vec d_2|$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value of </a:t>
                </a: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 such that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are all non-zero and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value of </a:t>
                </a:r>
                <a:r>
                  <a:rPr lang="en-IN" sz="2400">
                    <a:solidFill>
                      <a:srgbClr val="111827"/>
                    </a:solidFill>
                    <a:latin typeface="Cambria Math" panose="02040503050406030204" pitchFamily="18" charset="0"/>
                  </a:rPr>
                  <a:t>$\lambda$</a:t>
                </a:r>
                <a:r>
                  <a:rPr sz="2400" b="0">
                    <a:solidFill>
                      <a:srgbClr val="111827"/>
                    </a:solidFill>
                    <a:latin typeface="Arial"/>
                  </a:rPr>
                  <a:t> such that </a:t>
                </a:r>
                <a:r>
                  <a:rPr lang="en-IN" sz="2400">
                    <a:solidFill>
                      <a:srgbClr val="111827"/>
                    </a:solidFill>
                    <a:latin typeface="Cambria Math" panose="02040503050406030204" pitchFamily="18" charset="0"/>
                  </a:rPr>
                  <a:t>$a,b,c$</a:t>
                </a:r>
                <a:r>
                  <a:rPr sz="2400" b="0">
                    <a:solidFill>
                      <a:srgbClr val="111827"/>
                    </a:solidFill>
                    <a:latin typeface="Arial"/>
                  </a:rPr>
                  <a:t> are all non-zero and </a:t>
                </a:r>
                <a:r>
                  <a:rPr lang="en-IN" sz="2400">
                    <a:solidFill>
                      <a:srgbClr val="111827"/>
                    </a:solidFill>
                    <a:latin typeface="Cambria Math" panose="02040503050406030204" pitchFamily="18" charset="0"/>
                  </a:rPr>
                  <a:t>$(-4\hat{i}+5\hat{j})a+(3\hat{i}-3\hat{j}+\hat{k})b+(\hat{i}+\hat{j}+3\hat{k})c=\lambda(a\hat{i}+b\hat{j}+c\hat{k})$</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Homogeneous linear system and determinants (non-trivial solution)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Equating components gives a homogeneous system in </a:t>
                </a:r>
                <a14:m>
                  <m:oMath xmlns:m="http://schemas.openxmlformats.org/officeDocument/2006/math">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oMath>
                </a14:m>
                <a:r>
                  <a:rPr sz="2400" b="0">
                    <a:solidFill>
                      <a:srgbClr val="78350F"/>
                    </a:solidFill>
                    <a:latin typeface="Arial"/>
                  </a:rPr>
                  <a:t>; a non-zero solution needs its determinant to vanish.</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Equating components gives a homogeneous system in </a:t>
                </a:r>
                <a:r>
                  <a:rPr lang="en-IN" sz="2400">
                    <a:solidFill>
                      <a:srgbClr val="78350F"/>
                    </a:solidFill>
                    <a:latin typeface="Cambria Math" panose="02040503050406030204" pitchFamily="18" charset="0"/>
                  </a:rPr>
                  <a:t>$a,b,c$</a:t>
                </a:r>
                <a:r>
                  <a:rPr sz="2400" b="0">
                    <a:solidFill>
                      <a:srgbClr val="78350F"/>
                    </a:solidFill>
                    <a:latin typeface="Arial"/>
                  </a:rPr>
                  <a:t>; a non-zero solution needs its determinant to vanish.</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Components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𝑎</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Components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𝑏</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Components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𝑐</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homogeneous system has a non-zero solution only if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e>
                            <m:e>
                              <m:r>
                                <a:rPr lang="en-IN" sz="2400" i="1">
                                  <a:solidFill>
                                    <a:srgbClr val="111827"/>
                                  </a:solidFill>
                                  <a:latin typeface="Cambria Math" panose="02040503050406030204" pitchFamily="18" charset="0"/>
                                </a:rPr>
                                <m:t>3</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5</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along the first column: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Components of </a:t>
                </a:r>
                <a:r>
                  <a:rPr lang="en-IN" sz="2400">
                    <a:solidFill>
                      <a:srgbClr val="111827"/>
                    </a:solidFill>
                    <a:latin typeface="Cambria Math" panose="02040503050406030204" pitchFamily="18" charset="0"/>
                  </a:rPr>
                  <a:t>$\hat i$</a:t>
                </a:r>
                <a:r>
                  <a:rPr sz="2400" b="0">
                    <a:solidFill>
                      <a:srgbClr val="111827"/>
                    </a:solidFill>
                    <a:latin typeface="Arial"/>
                  </a:rPr>
                  <a:t>: </a:t>
                </a:r>
                <a:r>
                  <a:rPr lang="en-IN" sz="2400">
                    <a:solidFill>
                      <a:srgbClr val="111827"/>
                    </a:solidFill>
                    <a:latin typeface="Cambria Math" panose="02040503050406030204" pitchFamily="18" charset="0"/>
                  </a:rPr>
                  <a:t>$-4a+3b+c=\lambda a$</a:t>
                </a:r>
                <a:r>
                  <a:rPr sz="2400" b="0">
                    <a:solidFill>
                      <a:srgbClr val="111827"/>
                    </a:solidFill>
                    <a:latin typeface="Arial"/>
                  </a:rPr>
                  <a:t>, i.e. </a:t>
                </a:r>
                <a:r>
                  <a:rPr lang="en-IN" sz="2400">
                    <a:solidFill>
                      <a:srgbClr val="111827"/>
                    </a:solidFill>
                    <a:latin typeface="Cambria Math" panose="02040503050406030204" pitchFamily="18" charset="0"/>
                  </a:rPr>
                  <a:t>$(-4-\lambda)a+3b+c=0$</a:t>
                </a:r>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Components of </a:t>
                </a:r>
                <a:r>
                  <a:rPr lang="en-IN" sz="2400">
                    <a:solidFill>
                      <a:srgbClr val="111827"/>
                    </a:solidFill>
                    <a:latin typeface="Cambria Math" panose="02040503050406030204" pitchFamily="18" charset="0"/>
                  </a:rPr>
                  <a:t>$\hat j$</a:t>
                </a:r>
                <a:r>
                  <a:rPr sz="2400" b="0">
                    <a:solidFill>
                      <a:srgbClr val="111827"/>
                    </a:solidFill>
                    <a:latin typeface="Arial"/>
                  </a:rPr>
                  <a:t>: </a:t>
                </a:r>
                <a:r>
                  <a:rPr lang="en-IN" sz="2400">
                    <a:solidFill>
                      <a:srgbClr val="111827"/>
                    </a:solidFill>
                    <a:latin typeface="Cambria Math" panose="02040503050406030204" pitchFamily="18" charset="0"/>
                  </a:rPr>
                  <a:t>$5a-3b+c=\lambda b$</a:t>
                </a:r>
                <a:r>
                  <a:rPr sz="2400" b="0">
                    <a:solidFill>
                      <a:srgbClr val="111827"/>
                    </a:solidFill>
                    <a:latin typeface="Arial"/>
                  </a:rPr>
                  <a:t>, i.e. </a:t>
                </a:r>
                <a:r>
                  <a:rPr lang="en-IN" sz="2400">
                    <a:solidFill>
                      <a:srgbClr val="111827"/>
                    </a:solidFill>
                    <a:latin typeface="Cambria Math" panose="02040503050406030204" pitchFamily="18" charset="0"/>
                  </a:rPr>
                  <a:t>$5a-(3+\lambda)b+c=0$</a:t>
                </a:r>
                <a:r>
                  <a:rPr sz="2400" b="0">
                    <a:solidFill>
                      <a:srgbClr val="111827"/>
                    </a:solidFill>
                    <a:latin typeface="Arial"/>
                  </a:rPr>
                  <a:t>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Components of </a:t>
                </a:r>
                <a:r>
                  <a:rPr lang="en-IN" sz="2400">
                    <a:solidFill>
                      <a:srgbClr val="111827"/>
                    </a:solidFill>
                    <a:latin typeface="Cambria Math" panose="02040503050406030204" pitchFamily="18" charset="0"/>
                  </a:rPr>
                  <a:t>$\hat k$</a:t>
                </a:r>
                <a:r>
                  <a:rPr sz="2400" b="0">
                    <a:solidFill>
                      <a:srgbClr val="111827"/>
                    </a:solidFill>
                    <a:latin typeface="Arial"/>
                  </a:rPr>
                  <a:t>: </a:t>
                </a:r>
                <a:r>
                  <a:rPr lang="en-IN" sz="2400">
                    <a:solidFill>
                      <a:srgbClr val="111827"/>
                    </a:solidFill>
                    <a:latin typeface="Cambria Math" panose="02040503050406030204" pitchFamily="18" charset="0"/>
                  </a:rPr>
                  <a:t>$b+3c=\lambda c$</a:t>
                </a:r>
                <a:r>
                  <a:rPr sz="2400" b="0">
                    <a:solidFill>
                      <a:srgbClr val="111827"/>
                    </a:solidFill>
                    <a:latin typeface="Arial"/>
                  </a:rPr>
                  <a:t>, i.e. </a:t>
                </a:r>
                <a:r>
                  <a:rPr lang="en-IN" sz="2400">
                    <a:solidFill>
                      <a:srgbClr val="111827"/>
                    </a:solidFill>
                    <a:latin typeface="Cambria Math" panose="02040503050406030204" pitchFamily="18" charset="0"/>
                  </a:rPr>
                  <a:t>$b+(3-\lambda)c=0$</a:t>
                </a:r>
                <a:r>
                  <a:rPr sz="2400" b="0">
                    <a:solidFill>
                      <a:srgbClr val="111827"/>
                    </a:solidFill>
                    <a:latin typeface="Arial"/>
                  </a:rPr>
                  <a:t> ...(iii).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homogeneous system has a non-zero solution only if </a:t>
                </a:r>
                <a:r>
                  <a:rPr lang="en-IN" sz="2400">
                    <a:solidFill>
                      <a:srgbClr val="111827"/>
                    </a:solidFill>
                    <a:latin typeface="Cambria Math" panose="02040503050406030204" pitchFamily="18" charset="0"/>
                  </a:rPr>
                  <a:t>$\left|\begin{matrix}-4-\lambda&amp;3&amp;1\\5&amp;-3-\lambda&amp;1\\0&amp;1&amp;3-\lambda\end{matrix}\right|=0$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along the first column: </a:t>
                </a:r>
                <a:r>
                  <a:rPr lang="en-IN" sz="2400">
                    <a:solidFill>
                      <a:srgbClr val="111827"/>
                    </a:solidFill>
                    <a:latin typeface="Cambria Math" panose="02040503050406030204" pitchFamily="18" charset="0"/>
                  </a:rPr>
                  <a:t>$(-4-\lambda)\left[(-3-\lambda)(3-\lambda)-1\right]-5\left[3(3-\lambda)-1\right]=0$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oMath>
                </a14:m>
                <a:r>
                  <a:rPr sz="2400" b="0">
                    <a:solidFill>
                      <a:srgbClr val="111827"/>
                    </a:solidFill>
                    <a:latin typeface="Arial"/>
                  </a:rPr>
                  <a:t>, so this is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out: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100</m:t>
                            </m:r>
                          </m:e>
                        </m:rad>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29</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Non-zero check: from (iii)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29</m:t>
                        </m:r>
                      </m:e>
                    </m:rad>
                  </m:oMath>
                </a14:m>
                <a:r>
                  <a:rPr sz="2400" b="0">
                    <a:solidFill>
                      <a:srgbClr val="111827"/>
                    </a:solidFill>
                    <a:latin typeface="Arial"/>
                  </a:rPr>
                  <a:t> gives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 all non-zero.</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$(-3-\lambda)(3-\lambda)=\lambda^2-9$</a:t>
                </a:r>
                <a:r>
                  <a:rPr sz="2400" b="0">
                    <a:solidFill>
                      <a:srgbClr val="111827"/>
                    </a:solidFill>
                    <a:latin typeface="Arial"/>
                  </a:rPr>
                  <a:t>, so this is </a:t>
                </a:r>
                <a:r>
                  <a:rPr lang="en-IN" sz="2400">
                    <a:solidFill>
                      <a:srgbClr val="111827"/>
                    </a:solidFill>
                    <a:latin typeface="Cambria Math" panose="02040503050406030204" pitchFamily="18" charset="0"/>
                  </a:rPr>
                  <a:t>$(-4-\lambda)(\lambda^2-10)-5(8-3\lambda)=0$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Multiply out: </a:t>
                </a:r>
                <a:r>
                  <a:rPr lang="en-IN" sz="2400">
                    <a:solidFill>
                      <a:srgbClr val="111827"/>
                    </a:solidFill>
                    <a:latin typeface="Cambria Math" panose="02040503050406030204" pitchFamily="18" charset="0"/>
                  </a:rPr>
                  <a:t>$-4\lambda^2+40-\lambda^3+10\lambda-40+15\lambda=0$</a:t>
                </a:r>
                <a:r>
                  <a:rPr sz="2400" b="0">
                    <a:solidFill>
                      <a:srgbClr val="111827"/>
                    </a:solidFill>
                    <a:latin typeface="Arial"/>
                  </a:rPr>
                  <a:t>, i.e. </a:t>
                </a:r>
                <a:r>
                  <a:rPr lang="en-IN" sz="2400">
                    <a:solidFill>
                      <a:srgbClr val="111827"/>
                    </a:solidFill>
                    <a:latin typeface="Cambria Math" panose="02040503050406030204" pitchFamily="18" charset="0"/>
                  </a:rPr>
                  <a:t>$\lambda^3+4\lambda^2-25\lambda=0$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Factor: </a:t>
                </a:r>
                <a:r>
                  <a:rPr lang="en-IN" sz="2400">
                    <a:solidFill>
                      <a:srgbClr val="111827"/>
                    </a:solidFill>
                    <a:latin typeface="Cambria Math" panose="02040503050406030204" pitchFamily="18" charset="0"/>
                  </a:rPr>
                  <a:t>$\lambda(\lambda^2+4\lambda-25)=0$</a:t>
                </a:r>
                <a:r>
                  <a:rPr sz="2400" b="0">
                    <a:solidFill>
                      <a:srgbClr val="111827"/>
                    </a:solidFill>
                    <a:latin typeface="Arial"/>
                  </a:rPr>
                  <a:t>, so </a:t>
                </a:r>
                <a:r>
                  <a:rPr lang="en-IN" sz="2400">
                    <a:solidFill>
                      <a:srgbClr val="111827"/>
                    </a:solidFill>
                    <a:latin typeface="Cambria Math" panose="02040503050406030204" pitchFamily="18" charset="0"/>
                  </a:rPr>
                  <a:t>$\lambda=0$</a:t>
                </a:r>
                <a:r>
                  <a:rPr sz="2400" b="0">
                    <a:solidFill>
                      <a:srgbClr val="111827"/>
                    </a:solidFill>
                    <a:latin typeface="Arial"/>
                  </a:rPr>
                  <a:t> or </a:t>
                </a:r>
                <a:r>
                  <a:rPr lang="en-IN" sz="2400">
                    <a:solidFill>
                      <a:srgbClr val="111827"/>
                    </a:solidFill>
                    <a:latin typeface="Cambria Math" panose="02040503050406030204" pitchFamily="18" charset="0"/>
                  </a:rPr>
                  <a:t>$\lambda=\frac{-4\pm\sqrt{16+100}}{2}=-2\pm\sqrt{29}$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Non-zero check: from (iii) </a:t>
                </a:r>
                <a:r>
                  <a:rPr lang="en-IN" sz="2400">
                    <a:solidFill>
                      <a:srgbClr val="111827"/>
                    </a:solidFill>
                    <a:latin typeface="Cambria Math" panose="02040503050406030204" pitchFamily="18" charset="0"/>
                  </a:rPr>
                  <a:t>$b=(\lambda-3)c$</a:t>
                </a:r>
                <a:r>
                  <a:rPr sz="2400" b="0">
                    <a:solidFill>
                      <a:srgbClr val="111827"/>
                    </a:solidFill>
                    <a:latin typeface="Arial"/>
                  </a:rPr>
                  <a:t>; </a:t>
                </a:r>
                <a:r>
                  <a:rPr lang="en-IN" sz="2400">
                    <a:solidFill>
                      <a:srgbClr val="111827"/>
                    </a:solidFill>
                    <a:latin typeface="Cambria Math" panose="02040503050406030204" pitchFamily="18" charset="0"/>
                  </a:rPr>
                  <a:t>$\lambda=0$</a:t>
                </a:r>
                <a:r>
                  <a:rPr sz="2400" b="0">
                    <a:solidFill>
                      <a:srgbClr val="111827"/>
                    </a:solidFill>
                    <a:latin typeface="Arial"/>
                  </a:rPr>
                  <a:t> gives </a:t>
                </a:r>
                <a:r>
                  <a:rPr lang="en-IN" sz="2400">
                    <a:solidFill>
                      <a:srgbClr val="111827"/>
                    </a:solidFill>
                    <a:latin typeface="Cambria Math" panose="02040503050406030204" pitchFamily="18" charset="0"/>
                  </a:rPr>
                  <a:t>$(a,b,c)\propto(-2,-3,1)$</a:t>
                </a:r>
                <a:r>
                  <a:rPr sz="2400" b="0">
                    <a:solidFill>
                      <a:srgbClr val="111827"/>
                    </a:solidFill>
                    <a:latin typeface="Arial"/>
                  </a:rPr>
                  <a:t>; </a:t>
                </a:r>
                <a:r>
                  <a:rPr lang="en-IN" sz="2400">
                    <a:solidFill>
                      <a:srgbClr val="111827"/>
                    </a:solidFill>
                    <a:latin typeface="Cambria Math" panose="02040503050406030204" pitchFamily="18" charset="0"/>
                  </a:rPr>
                  <a:t>$\lambda=-2\pm\sqrt{29}$</a:t>
                </a:r>
                <a:r>
                  <a:rPr sz="2400" b="0">
                    <a:solidFill>
                      <a:srgbClr val="111827"/>
                    </a:solidFill>
                    <a:latin typeface="Arial"/>
                  </a:rPr>
                  <a:t> gives </a:t>
                </a:r>
                <a:r>
                  <a:rPr lang="en-IN" sz="2400">
                    <a:solidFill>
                      <a:srgbClr val="111827"/>
                    </a:solidFill>
                    <a:latin typeface="Cambria Math" panose="02040503050406030204" pitchFamily="18" charset="0"/>
                  </a:rPr>
                  <a:t>$\left(\frac{15-4\lambda}{5},\lambda-3,1\right)$</a:t>
                </a:r>
                <a:r>
                  <a:rPr sz="2400" b="0">
                    <a:solidFill>
                      <a:srgbClr val="111827"/>
                    </a:solidFill>
                    <a:latin typeface="Arial"/>
                  </a:rPr>
                  <a:t>, all non-zero.</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λ</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r>
                  <a:rPr sz="2800" b="1">
                    <a:solidFill>
                      <a:srgbClr val="15803D"/>
                    </a:solidFill>
                    <a:latin typeface="Arial"/>
                  </a:rPr>
                  <a:t> or </a:t>
                </a:r>
                <a14:m>
                  <m:oMath xmlns:m="http://schemas.openxmlformats.org/officeDocument/2006/math">
                    <m:r>
                      <a:rPr lang="en-IN" sz="2800" i="1">
                        <a:solidFill>
                          <a:srgbClr val="15803D"/>
                        </a:solidFill>
                        <a:latin typeface="Cambria Math" panose="02040503050406030204" pitchFamily="18" charset="0"/>
                      </a:rPr>
                      <m:t>λ</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29</m:t>
                        </m:r>
                      </m:e>
                    </m:ra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$\lambda=0$</a:t>
                </a:r>
                <a:r>
                  <a:rPr sz="2800" b="1">
                    <a:solidFill>
                      <a:srgbClr val="15803D"/>
                    </a:solidFill>
                    <a:latin typeface="Arial"/>
                  </a:rPr>
                  <a:t> or </a:t>
                </a:r>
                <a:r>
                  <a:rPr lang="en-IN" sz="2800">
                    <a:solidFill>
                      <a:srgbClr val="15803D"/>
                    </a:solidFill>
                    <a:latin typeface="Cambria Math" panose="02040503050406030204" pitchFamily="18" charset="0"/>
                  </a:rPr>
                  <a:t>$\lambda=-2\pm\sqrt{29}$</a:t>
                </a:r>
                <a:endParaRPr sz="2800">
                  <a:solidFill>
                    <a:srgbClr val="15803D"/>
                  </a:solidFill>
                </a:endParaRPr>
              </a:p>
            </p:txBody>
          </p:sp>
        </mc:Fallback>
      </mc:AlternateContent>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Eliminate instead of using a determinant: scale </a:t>
                </a:r>
                <a14:m>
                  <m:oMath xmlns:m="http://schemas.openxmlformats.org/officeDocument/2006/math">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express </a:t>
                </a:r>
                <a14:m>
                  <m:oMath xmlns:m="http://schemas.openxmlformats.org/officeDocument/2006/math">
                    <m:r>
                      <a:rPr lang="en-IN" sz="2400" i="1">
                        <a:solidFill>
                          <a:srgbClr val="78350F"/>
                        </a:solidFill>
                        <a:latin typeface="Cambria Math" panose="02040503050406030204" pitchFamily="18" charset="0"/>
                      </a:rPr>
                      <m:t>𝑏</m:t>
                    </m:r>
                  </m:oMath>
                </a14:m>
                <a:r>
                  <a:rPr sz="2400" b="0">
                    <a:solidFill>
                      <a:srgbClr val="78350F"/>
                    </a:solidFill>
                    <a:latin typeface="Arial"/>
                  </a:rPr>
                  <a:t> then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 in </a:t>
                </a:r>
                <a14:m>
                  <m:oMath xmlns:m="http://schemas.openxmlformats.org/officeDocument/2006/math">
                    <m:r>
                      <a:rPr lang="en-IN" sz="2400" i="1">
                        <a:solidFill>
                          <a:srgbClr val="78350F"/>
                        </a:solidFill>
                        <a:latin typeface="Cambria Math" panose="02040503050406030204" pitchFamily="18" charset="0"/>
                      </a:rPr>
                      <m:t>λ</m:t>
                    </m:r>
                  </m:oMath>
                </a14:m>
                <a:r>
                  <a:rPr sz="2400" b="0">
                    <a:solidFill>
                      <a:srgbClr val="78350F"/>
                    </a:solidFill>
                    <a:latin typeface="Arial"/>
                  </a:rPr>
                  <a:t> from (iii) and (ii), and substitute in (i).</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Eliminate instead of using a determinant: scale </a:t>
                </a:r>
                <a:r>
                  <a:rPr lang="en-IN" sz="2400">
                    <a:solidFill>
                      <a:srgbClr val="78350F"/>
                    </a:solidFill>
                    <a:latin typeface="Cambria Math" panose="02040503050406030204" pitchFamily="18" charset="0"/>
                  </a:rPr>
                  <a:t>$c=1$</a:t>
                </a:r>
                <a:r>
                  <a:rPr sz="2400" b="0">
                    <a:solidFill>
                      <a:srgbClr val="78350F"/>
                    </a:solidFill>
                    <a:latin typeface="Arial"/>
                  </a:rPr>
                  <a:t>, express </a:t>
                </a:r>
                <a:r>
                  <a:rPr lang="en-IN" sz="2400">
                    <a:solidFill>
                      <a:srgbClr val="78350F"/>
                    </a:solidFill>
                    <a:latin typeface="Cambria Math" panose="02040503050406030204" pitchFamily="18" charset="0"/>
                  </a:rPr>
                  <a:t>$b$</a:t>
                </a:r>
                <a:r>
                  <a:rPr sz="2400" b="0">
                    <a:solidFill>
                      <a:srgbClr val="78350F"/>
                    </a:solidFill>
                    <a:latin typeface="Arial"/>
                  </a:rPr>
                  <a:t> then </a:t>
                </a:r>
                <a:r>
                  <a:rPr lang="en-IN" sz="2400">
                    <a:solidFill>
                      <a:srgbClr val="78350F"/>
                    </a:solidFill>
                    <a:latin typeface="Cambria Math" panose="02040503050406030204" pitchFamily="18" charset="0"/>
                  </a:rPr>
                  <a:t>$a$</a:t>
                </a:r>
                <a:r>
                  <a:rPr sz="2400" b="0">
                    <a:solidFill>
                      <a:srgbClr val="78350F"/>
                    </a:solidFill>
                    <a:latin typeface="Arial"/>
                  </a:rPr>
                  <a:t> in </a:t>
                </a:r>
                <a:r>
                  <a:rPr lang="en-IN" sz="2400">
                    <a:solidFill>
                      <a:srgbClr val="78350F"/>
                    </a:solidFill>
                    <a:latin typeface="Cambria Math" panose="02040503050406030204" pitchFamily="18" charset="0"/>
                  </a:rPr>
                  <a:t>$\lambda$</a:t>
                </a:r>
                <a:r>
                  <a:rPr sz="2400" b="0">
                    <a:solidFill>
                      <a:srgbClr val="78350F"/>
                    </a:solidFill>
                    <a:latin typeface="Arial"/>
                  </a:rPr>
                  <a:t> from (iii) and (ii), and substitute in (i).</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(iii) gives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(ii) gives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by homogeneity take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(iii):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5</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in (i):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$c=0$</a:t>
                </a:r>
                <a:r>
                  <a:rPr sz="2400" b="0">
                    <a:solidFill>
                      <a:srgbClr val="111827"/>
                    </a:solidFill>
                    <a:latin typeface="Arial"/>
                  </a:rPr>
                  <a:t> then (iii) gives </a:t>
                </a:r>
                <a:r>
                  <a:rPr lang="en-IN" sz="2400">
                    <a:solidFill>
                      <a:srgbClr val="111827"/>
                    </a:solidFill>
                    <a:latin typeface="Cambria Math" panose="02040503050406030204" pitchFamily="18" charset="0"/>
                  </a:rPr>
                  <a:t>$b=0$</a:t>
                </a:r>
                <a:r>
                  <a:rPr sz="2400" b="0">
                    <a:solidFill>
                      <a:srgbClr val="111827"/>
                    </a:solidFill>
                    <a:latin typeface="Arial"/>
                  </a:rPr>
                  <a:t> and (ii) gives </a:t>
                </a:r>
                <a:r>
                  <a:rPr lang="en-IN" sz="2400">
                    <a:solidFill>
                      <a:srgbClr val="111827"/>
                    </a:solidFill>
                    <a:latin typeface="Cambria Math" panose="02040503050406030204" pitchFamily="18" charset="0"/>
                  </a:rPr>
                  <a:t>$a=0$</a:t>
                </a:r>
                <a:r>
                  <a:rPr sz="2400" b="0">
                    <a:solidFill>
                      <a:srgbClr val="111827"/>
                    </a:solidFill>
                    <a:latin typeface="Arial"/>
                  </a:rPr>
                  <a:t>; so </a:t>
                </a:r>
                <a:r>
                  <a:rPr lang="en-IN" sz="2400">
                    <a:solidFill>
                      <a:srgbClr val="111827"/>
                    </a:solidFill>
                    <a:latin typeface="Cambria Math" panose="02040503050406030204" pitchFamily="18" charset="0"/>
                  </a:rPr>
                  <a:t>$c\neq0$</a:t>
                </a:r>
                <a:r>
                  <a:rPr sz="2400" b="0">
                    <a:solidFill>
                      <a:srgbClr val="111827"/>
                    </a:solidFill>
                    <a:latin typeface="Arial"/>
                  </a:rPr>
                  <a:t> and by homogeneity take </a:t>
                </a:r>
                <a:r>
                  <a:rPr lang="en-IN" sz="2400">
                    <a:solidFill>
                      <a:srgbClr val="111827"/>
                    </a:solidFill>
                    <a:latin typeface="Cambria Math" panose="02040503050406030204" pitchFamily="18" charset="0"/>
                  </a:rPr>
                  <a:t>$c=1$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(iii): </a:t>
                </a:r>
                <a:r>
                  <a:rPr lang="en-IN" sz="2400">
                    <a:solidFill>
                      <a:srgbClr val="111827"/>
                    </a:solidFill>
                    <a:latin typeface="Cambria Math" panose="02040503050406030204" pitchFamily="18" charset="0"/>
                  </a:rPr>
                  <a:t>$b=\lambda-3$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(ii): </a:t>
                </a:r>
                <a:r>
                  <a:rPr lang="en-IN" sz="2400">
                    <a:solidFill>
                      <a:srgbClr val="111827"/>
                    </a:solidFill>
                    <a:latin typeface="Cambria Math" panose="02040503050406030204" pitchFamily="18" charset="0"/>
                  </a:rPr>
                  <a:t>$5a=(3+\lambda)b-c=(3+\lambda)(\lambda-3)-1=\lambda^2-10$</a:t>
                </a:r>
                <a:r>
                  <a:rPr sz="2400" b="0">
                    <a:solidFill>
                      <a:srgbClr val="111827"/>
                    </a:solidFill>
                    <a:latin typeface="Arial"/>
                  </a:rPr>
                  <a:t>, so </a:t>
                </a:r>
                <a:r>
                  <a:rPr lang="en-IN" sz="2400">
                    <a:solidFill>
                      <a:srgbClr val="111827"/>
                    </a:solidFill>
                    <a:latin typeface="Cambria Math" panose="02040503050406030204" pitchFamily="18" charset="0"/>
                  </a:rPr>
                  <a:t>$a=\frac{\lambda^2-10}{5}$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Substitute in (i): </a:t>
                </a:r>
                <a:r>
                  <a:rPr lang="en-IN" sz="2400">
                    <a:solidFill>
                      <a:srgbClr val="111827"/>
                    </a:solidFill>
                    <a:latin typeface="Cambria Math" panose="02040503050406030204" pitchFamily="18" charset="0"/>
                  </a:rPr>
                  <a:t>$(-4-\lambda)\frac{\lambda^2-10}{5}+3(\lambda-3)+1=0$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29</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oMath>
                </a14:m>
                <a:r>
                  <a:rPr sz="2400" b="0">
                    <a:solidFill>
                      <a:srgbClr val="111827"/>
                    </a:solidFill>
                    <a:latin typeface="Arial"/>
                  </a:rPr>
                  <a:t> are non-zero: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these values, and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(using </a:t>
                </a:r>
                <a14:m>
                  <m:oMath xmlns:m="http://schemas.openxmlformats.org/officeDocument/2006/math">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λ</m:t>
                    </m:r>
                  </m:oMath>
                </a14:m>
                <a:r>
                  <a:rPr sz="2400" b="0">
                    <a:solidFill>
                      <a:srgbClr val="111827"/>
                    </a:solidFill>
                    <a:latin typeface="Arial"/>
                  </a:rPr>
                  <a:t> for the roots of the quadratic; for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Multiply by </a:t>
                </a:r>
                <a:r>
                  <a:rPr lang="en-IN" sz="2400">
                    <a:solidFill>
                      <a:srgbClr val="111827"/>
                    </a:solidFill>
                    <a:latin typeface="Cambria Math" panose="02040503050406030204" pitchFamily="18" charset="0"/>
                  </a:rPr>
                  <a:t>$5$</a:t>
                </a:r>
                <a:r>
                  <a:rPr sz="2400" b="0">
                    <a:solidFill>
                      <a:srgbClr val="111827"/>
                    </a:solidFill>
                    <a:latin typeface="Arial"/>
                  </a:rPr>
                  <a:t>: </a:t>
                </a:r>
                <a:r>
                  <a:rPr lang="en-IN" sz="2400">
                    <a:solidFill>
                      <a:srgbClr val="111827"/>
                    </a:solidFill>
                    <a:latin typeface="Cambria Math" panose="02040503050406030204" pitchFamily="18" charset="0"/>
                  </a:rPr>
                  <a:t>$-(4+\lambda)(\lambda^2-10)+15\lambda-40=0$</a:t>
                </a:r>
                <a:r>
                  <a:rPr sz="2400" b="0">
                    <a:solidFill>
                      <a:srgbClr val="111827"/>
                    </a:solidFill>
                    <a:latin typeface="Arial"/>
                  </a:rPr>
                  <a:t>, i.e. </a:t>
                </a:r>
                <a:r>
                  <a:rPr lang="en-IN" sz="2400">
                    <a:solidFill>
                      <a:srgbClr val="111827"/>
                    </a:solidFill>
                    <a:latin typeface="Cambria Math" panose="02040503050406030204" pitchFamily="18" charset="0"/>
                  </a:rPr>
                  <a:t>$-\lambda^3-4\lambda^2+25\lambda=0$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$\lambda(\lambda^2+4\lambda-25)=0$</a:t>
                </a:r>
                <a:r>
                  <a:rPr sz="2400" b="0">
                    <a:solidFill>
                      <a:srgbClr val="111827"/>
                    </a:solidFill>
                    <a:latin typeface="Arial"/>
                  </a:rPr>
                  <a:t>: </a:t>
                </a:r>
                <a:r>
                  <a:rPr lang="en-IN" sz="2400">
                    <a:solidFill>
                      <a:srgbClr val="111827"/>
                    </a:solidFill>
                    <a:latin typeface="Cambria Math" panose="02040503050406030204" pitchFamily="18" charset="0"/>
                  </a:rPr>
                  <a:t>$\lambda=0$</a:t>
                </a:r>
                <a:r>
                  <a:rPr sz="2400" b="0">
                    <a:solidFill>
                      <a:srgbClr val="111827"/>
                    </a:solidFill>
                    <a:latin typeface="Arial"/>
                  </a:rPr>
                  <a:t> or </a:t>
                </a:r>
                <a:r>
                  <a:rPr lang="en-IN" sz="2400">
                    <a:solidFill>
                      <a:srgbClr val="111827"/>
                    </a:solidFill>
                    <a:latin typeface="Cambria Math" panose="02040503050406030204" pitchFamily="18" charset="0"/>
                  </a:rPr>
                  <a:t>$-2\pm\sqrt{29}$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that </a:t>
                </a:r>
                <a:r>
                  <a:rPr lang="en-IN" sz="2400">
                    <a:solidFill>
                      <a:srgbClr val="111827"/>
                    </a:solidFill>
                    <a:latin typeface="Cambria Math" panose="02040503050406030204" pitchFamily="18" charset="0"/>
                  </a:rPr>
                  <a:t>$a,b$</a:t>
                </a:r>
                <a:r>
                  <a:rPr sz="2400" b="0">
                    <a:solidFill>
                      <a:srgbClr val="111827"/>
                    </a:solidFill>
                    <a:latin typeface="Arial"/>
                  </a:rPr>
                  <a:t> are non-zero: </a:t>
                </a:r>
                <a:r>
                  <a:rPr lang="en-IN" sz="2400">
                    <a:solidFill>
                      <a:srgbClr val="111827"/>
                    </a:solidFill>
                    <a:latin typeface="Cambria Math" panose="02040503050406030204" pitchFamily="18" charset="0"/>
                  </a:rPr>
                  <a:t>$b=\lambda-3\neq0$</a:t>
                </a:r>
                <a:r>
                  <a:rPr sz="2400" b="0">
                    <a:solidFill>
                      <a:srgbClr val="111827"/>
                    </a:solidFill>
                    <a:latin typeface="Arial"/>
                  </a:rPr>
                  <a:t> for these values, and </a:t>
                </a:r>
                <a:r>
                  <a:rPr lang="en-IN" sz="2400">
                    <a:solidFill>
                      <a:srgbClr val="111827"/>
                    </a:solidFill>
                    <a:latin typeface="Cambria Math" panose="02040503050406030204" pitchFamily="18" charset="0"/>
                  </a:rPr>
                  <a:t>$a=\frac{\lambda^2-10}{5}=\frac{15-4\lambda}{5}\neq0$</a:t>
                </a:r>
                <a:r>
                  <a:rPr sz="2400" b="0">
                    <a:solidFill>
                      <a:srgbClr val="111827"/>
                    </a:solidFill>
                    <a:latin typeface="Arial"/>
                  </a:rPr>
                  <a:t> since </a:t>
                </a:r>
                <a:r>
                  <a:rPr lang="en-IN" sz="2400">
                    <a:solidFill>
                      <a:srgbClr val="111827"/>
                    </a:solidFill>
                    <a:latin typeface="Cambria Math" panose="02040503050406030204" pitchFamily="18" charset="0"/>
                  </a:rPr>
                  <a:t>$\lambda\neq\frac{15}{4}$</a:t>
                </a:r>
                <a:r>
                  <a:rPr sz="2400" b="0">
                    <a:solidFill>
                      <a:srgbClr val="111827"/>
                    </a:solidFill>
                    <a:latin typeface="Arial"/>
                  </a:rPr>
                  <a:t> (using </a:t>
                </a:r>
                <a:r>
                  <a:rPr lang="en-IN" sz="2400">
                    <a:solidFill>
                      <a:srgbClr val="111827"/>
                    </a:solidFill>
                    <a:latin typeface="Cambria Math" panose="02040503050406030204" pitchFamily="18" charset="0"/>
                  </a:rPr>
                  <a:t>$\lambda^2=25-4\lambda$</a:t>
                </a:r>
                <a:r>
                  <a:rPr sz="2400" b="0">
                    <a:solidFill>
                      <a:srgbClr val="111827"/>
                    </a:solidFill>
                    <a:latin typeface="Arial"/>
                  </a:rPr>
                  <a:t> for the roots of the quadratic; for </a:t>
                </a:r>
                <a:r>
                  <a:rPr lang="en-IN" sz="2400">
                    <a:solidFill>
                      <a:srgbClr val="111827"/>
                    </a:solidFill>
                    <a:latin typeface="Cambria Math" panose="02040503050406030204" pitchFamily="18" charset="0"/>
                  </a:rPr>
                  <a:t>$\lambda=0$</a:t>
                </a:r>
                <a:r>
                  <a:rPr sz="2400" b="0">
                    <a:solidFill>
                      <a:srgbClr val="111827"/>
                    </a:solidFill>
                    <a:latin typeface="Arial"/>
                  </a:rPr>
                  <a:t>, </a:t>
                </a:r>
                <a:r>
                  <a:rPr lang="en-IN" sz="2400">
                    <a:solidFill>
                      <a:srgbClr val="111827"/>
                    </a:solidFill>
                    <a:latin typeface="Cambria Math" panose="02040503050406030204" pitchFamily="18" charset="0"/>
                  </a:rPr>
                  <a:t>$a=-2$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λ</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r>
                  <a:rPr sz="2800" b="1">
                    <a:solidFill>
                      <a:srgbClr val="15803D"/>
                    </a:solidFill>
                    <a:latin typeface="Arial"/>
                  </a:rPr>
                  <a:t> or </a:t>
                </a:r>
                <a14:m>
                  <m:oMath xmlns:m="http://schemas.openxmlformats.org/officeDocument/2006/math">
                    <m:r>
                      <a:rPr lang="en-IN" sz="2800" i="1">
                        <a:solidFill>
                          <a:srgbClr val="15803D"/>
                        </a:solidFill>
                        <a:latin typeface="Cambria Math" panose="02040503050406030204" pitchFamily="18" charset="0"/>
                      </a:rPr>
                      <m:t>λ</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r>
                      <m:rPr>
                        <m:sty m:val="p"/>
                      </m:rPr>
                      <a:rPr lang="en-IN" sz="2800">
                        <a:solidFill>
                          <a:srgbClr val="15803D"/>
                        </a:solidFill>
                        <a:latin typeface="Cambria Math" panose="02040503050406030204" pitchFamily="18" charset="0"/>
                      </a:rPr>
                      <m:t>±</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29</m:t>
                        </m:r>
                      </m:e>
                    </m:ra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$\lambda=0$</a:t>
                </a:r>
                <a:r>
                  <a:rPr sz="2800" b="1">
                    <a:solidFill>
                      <a:srgbClr val="15803D"/>
                    </a:solidFill>
                    <a:latin typeface="Arial"/>
                  </a:rPr>
                  <a:t> or </a:t>
                </a:r>
                <a:r>
                  <a:rPr lang="en-IN" sz="2800">
                    <a:solidFill>
                      <a:srgbClr val="15803D"/>
                    </a:solidFill>
                    <a:latin typeface="Cambria Math" panose="02040503050406030204" pitchFamily="18" charset="0"/>
                  </a:rPr>
                  <a:t>$\lambda=-2\pm\sqrt{29}$</a:t>
                </a:r>
                <a:endParaRPr sz="2800">
                  <a:solidFill>
                    <a:srgbClr val="15803D"/>
                  </a:solidFill>
                </a:endParaRPr>
              </a:p>
            </p:txBody>
          </p:sp>
        </mc:Fallback>
      </mc:AlternateContent>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a:t>
                </a:r>
                <a14:m>
                  <m:oMath xmlns:m="http://schemas.openxmlformats.org/officeDocument/2006/math">
                    <m:r>
                      <a:rPr lang="en-IN" sz="2400" i="1">
                        <a:solidFill>
                          <a:srgbClr val="111827"/>
                        </a:solidFill>
                        <a:latin typeface="Cambria Math" panose="02040503050406030204" pitchFamily="18" charset="0"/>
                      </a:rPr>
                      <m:t>𝑀</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has a non-zero solution iff </a:t>
                </a:r>
                <a14:m>
                  <m:oMath xmlns:m="http://schemas.openxmlformats.org/officeDocument/2006/math">
                    <m:r>
                      <m:rPr>
                        <m:sty m:val="p"/>
                      </m:rPr>
                      <a:rPr lang="en-IN" sz="2400">
                        <a:solidFill>
                          <a:srgbClr val="111827"/>
                        </a:solidFill>
                        <a:latin typeface="Cambria Math" panose="02040503050406030204" pitchFamily="18" charset="0"/>
                      </a:rPr>
                      <m:t>det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λ</m:t>
                    </m:r>
                  </m:oMath>
                </a14:m>
                <a:r>
                  <a:rPr sz="2400" b="0">
                    <a:solidFill>
                      <a:srgbClr val="111827"/>
                    </a:solidFill>
                    <a:latin typeface="Arial"/>
                  </a:rPr>
                  <a:t> is an eigenvalue of the matrix of coefficients, here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e>
                              <m:r>
                                <a:rPr lang="en-IN" sz="2400" i="1">
                                  <a:solidFill>
                                    <a:srgbClr val="111827"/>
                                  </a:solidFill>
                                  <a:latin typeface="Cambria Math" panose="02040503050406030204" pitchFamily="18" charset="0"/>
                                </a:rPr>
                                <m:t>3</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5</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0</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3</m:t>
                              </m:r>
                            </m:e>
                          </m:mr>
                        </m:m>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matrix, </a:t>
                </a:r>
                <a14:m>
                  <m:oMath xmlns:m="http://schemas.openxmlformats.org/officeDocument/2006/math">
                    <m:r>
                      <m:rPr>
                        <m:sty m:val="p"/>
                      </m:rPr>
                      <a:rPr lang="en-IN" sz="2400">
                        <a:solidFill>
                          <a:srgbClr val="111827"/>
                        </a:solidFill>
                        <a:latin typeface="Cambria Math" panose="02040503050406030204" pitchFamily="18" charset="0"/>
                      </a:rPr>
                      <m:t>det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m:t>
                    </m:r>
                    <m:r>
                      <m:rPr>
                        <m:sty m:val="p"/>
                      </m:rPr>
                      <a:rPr lang="en-IN" sz="2400">
                        <a:solidFill>
                          <a:srgbClr val="111827"/>
                        </a:solidFill>
                        <a:latin typeface="Cambria Math" panose="02040503050406030204" pitchFamily="18" charset="0"/>
                      </a:rPr>
                      <m:t>r</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nor/>
                      </m:rPr>
                      <a:rPr lang="en-IN" sz="2400" i="1">
                        <a:solidFill>
                          <a:srgbClr val="111827"/>
                        </a:solidFill>
                        <a:latin typeface="Cambria Math" panose="02040503050406030204" pitchFamily="18" charset="0"/>
                      </a:rPr>
                      <m:t>𝑠𝑢𝑚 𝑜𝑓 𝑝𝑟𝑖𝑛𝑐𝑖𝑝𝑎𝑙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nor/>
                      </m:rPr>
                      <a:rPr lang="en-IN" sz="2400" i="1">
                        <a:solidFill>
                          <a:srgbClr val="111827"/>
                        </a:solidFill>
                        <a:latin typeface="Cambria Math" panose="02040503050406030204" pitchFamily="18" charset="0"/>
                      </a:rPr>
                      <m:t> 𝑚𝑖𝑛𝑜𝑟𝑠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𝑀</m:t>
                    </m:r>
                  </m:oMath>
                </a14:m>
                <a:r>
                  <a:rPr sz="2400" b="0">
                    <a:solidFill>
                      <a:srgbClr val="111827"/>
                    </a:solidFill>
                    <a:latin typeface="Arial"/>
                  </a:rPr>
                  <a:t>; here </a:t>
                </a:r>
                <a14:m>
                  <m:oMath xmlns:m="http://schemas.openxmlformats.org/officeDocument/2006/math">
                    <m:r>
                      <m:rPr>
                        <m:sty m:val="p"/>
                      </m:rPr>
                      <a:rPr lang="en-IN" sz="2400">
                        <a:solidFill>
                          <a:srgbClr val="111827"/>
                        </a:solidFill>
                        <a:latin typeface="Cambria Math" panose="02040503050406030204" pitchFamily="18" charset="0"/>
                      </a:rPr>
                      <m:t>t</m:t>
                    </m:r>
                    <m:r>
                      <m:rPr>
                        <m:sty m:val="p"/>
                      </m:rPr>
                      <a:rPr lang="en-IN" sz="2400">
                        <a:solidFill>
                          <a:srgbClr val="111827"/>
                        </a:solidFill>
                        <a:latin typeface="Cambria Math" panose="02040503050406030204" pitchFamily="18" charset="0"/>
                      </a:rPr>
                      <m:t>r</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minors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giving </a:t>
                </a:r>
                <a14:m>
                  <m:oMath xmlns:m="http://schemas.openxmlformats.org/officeDocument/2006/math">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a:rPr lang="en-IN" sz="2400" i="1">
                        <a:solidFill>
                          <a:srgbClr val="111827"/>
                        </a:solidFill>
                        <a:latin typeface="Cambria Math" panose="02040503050406030204" pitchFamily="18" charset="0"/>
                      </a:rPr>
                      <m:t>λ</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the roots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29</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29</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t</m:t>
                    </m:r>
                    <m:r>
                      <m:rPr>
                        <m:sty m:val="p"/>
                      </m:rPr>
                      <a:rPr lang="en-IN" sz="2400">
                        <a:solidFill>
                          <a:srgbClr val="111827"/>
                        </a:solidFill>
                        <a:latin typeface="Cambria Math" panose="02040503050406030204" pitchFamily="18" charset="0"/>
                      </a:rPr>
                      <m:t>r</m:t>
                    </m:r>
                    <m:r>
                      <a:rPr lang="en-IN" sz="2400" i="1">
                        <a:solidFill>
                          <a:srgbClr val="111827"/>
                        </a:solidFill>
                        <a:latin typeface="Cambria Math" panose="02040503050406030204" pitchFamily="18" charset="0"/>
                      </a:rPr>
                      <m:t>𝑀</m:t>
                    </m:r>
                  </m:oMath>
                </a14:m>
                <a:r>
                  <a:rPr sz="2400" b="0">
                    <a:solidFill>
                      <a:srgbClr val="111827"/>
                    </a:solidFill>
                    <a:latin typeface="Arial"/>
                  </a:rPr>
                  <a:t>: a quick check on the cubic.</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a:t>
                </a:r>
                <a:r>
                  <a:rPr lang="en-IN" sz="2400">
                    <a:solidFill>
                      <a:srgbClr val="111827"/>
                    </a:solidFill>
                    <a:latin typeface="Cambria Math" panose="02040503050406030204" pitchFamily="18" charset="0"/>
                  </a:rPr>
                  <a:t>$M\vec x=\lambda\vec x$</a:t>
                </a:r>
                <a:r>
                  <a:rPr sz="2400" b="0">
                    <a:solidFill>
                      <a:srgbClr val="111827"/>
                    </a:solidFill>
                    <a:latin typeface="Arial"/>
                  </a:rPr>
                  <a:t> has a non-zero solution iff </a:t>
                </a:r>
                <a:r>
                  <a:rPr lang="en-IN" sz="2400">
                    <a:solidFill>
                      <a:srgbClr val="111827"/>
                    </a:solidFill>
                    <a:latin typeface="Cambria Math" panose="02040503050406030204" pitchFamily="18" charset="0"/>
                  </a:rPr>
                  <a:t>$\det(M-\lambda I)=0$</a:t>
                </a:r>
                <a:r>
                  <a:rPr sz="2400" b="0">
                    <a:solidFill>
                      <a:srgbClr val="111827"/>
                    </a:solidFill>
                    <a:latin typeface="Arial"/>
                  </a:rPr>
                  <a:t>: </a:t>
                </a:r>
                <a:r>
                  <a:rPr lang="en-IN" sz="2400">
                    <a:solidFill>
                      <a:srgbClr val="111827"/>
                    </a:solidFill>
                    <a:latin typeface="Cambria Math" panose="02040503050406030204" pitchFamily="18" charset="0"/>
                  </a:rPr>
                  <a:t>$\lambda$</a:t>
                </a:r>
                <a:r>
                  <a:rPr sz="2400" b="0">
                    <a:solidFill>
                      <a:srgbClr val="111827"/>
                    </a:solidFill>
                    <a:latin typeface="Arial"/>
                  </a:rPr>
                  <a:t> is an eigenvalue of the matrix of coefficients, here </a:t>
                </a:r>
                <a:r>
                  <a:rPr lang="en-IN" sz="2400">
                    <a:solidFill>
                      <a:srgbClr val="111827"/>
                    </a:solidFill>
                    <a:latin typeface="Cambria Math" panose="02040503050406030204" pitchFamily="18" charset="0"/>
                  </a:rPr>
                  <a:t>$M=\begin{pmatrix}-4&amp;3&amp;1\\5&amp;-3&amp;1\\0&amp;1&amp;3\end{pmatrix}$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a:t>
                </a:r>
                <a:r>
                  <a:rPr lang="en-IN" sz="2400">
                    <a:solidFill>
                      <a:srgbClr val="111827"/>
                    </a:solidFill>
                    <a:latin typeface="Cambria Math" panose="02040503050406030204" pitchFamily="18" charset="0"/>
                  </a:rPr>
                  <a:t>$3\times3$</a:t>
                </a:r>
                <a:r>
                  <a:rPr sz="2400" b="0">
                    <a:solidFill>
                      <a:srgbClr val="111827"/>
                    </a:solidFill>
                    <a:latin typeface="Arial"/>
                  </a:rPr>
                  <a:t> matrix, </a:t>
                </a:r>
                <a:r>
                  <a:rPr lang="en-IN" sz="2400">
                    <a:solidFill>
                      <a:srgbClr val="111827"/>
                    </a:solidFill>
                    <a:latin typeface="Cambria Math" panose="02040503050406030204" pitchFamily="18" charset="0"/>
                  </a:rPr>
                  <a:t>$\det(\lambda I-M)=\lambda^3-(\mathrm{tr}M)\lambda^2+(\text{sum of principal }2\times2\text{ minors})\lambda-\det M$</a:t>
                </a:r>
                <a:r>
                  <a:rPr sz="2400" b="0">
                    <a:solidFill>
                      <a:srgbClr val="111827"/>
                    </a:solidFill>
                    <a:latin typeface="Arial"/>
                  </a:rPr>
                  <a:t>; here </a:t>
                </a:r>
                <a:r>
                  <a:rPr lang="en-IN" sz="2400">
                    <a:solidFill>
                      <a:srgbClr val="111827"/>
                    </a:solidFill>
                    <a:latin typeface="Cambria Math" panose="02040503050406030204" pitchFamily="18" charset="0"/>
                  </a:rPr>
                  <a:t>$\mathrm{tr}M=-4$</a:t>
                </a:r>
                <a:r>
                  <a:rPr sz="2400" b="0">
                    <a:solidFill>
                      <a:srgbClr val="111827"/>
                    </a:solidFill>
                    <a:latin typeface="Arial"/>
                  </a:rPr>
                  <a:t>, minors sum </a:t>
                </a:r>
                <a:r>
                  <a:rPr lang="en-IN" sz="2400">
                    <a:solidFill>
                      <a:srgbClr val="111827"/>
                    </a:solidFill>
                    <a:latin typeface="Cambria Math" panose="02040503050406030204" pitchFamily="18" charset="0"/>
                  </a:rPr>
                  <a:t>$-25$</a:t>
                </a:r>
                <a:r>
                  <a:rPr sz="2400" b="0">
                    <a:solidFill>
                      <a:srgbClr val="111827"/>
                    </a:solidFill>
                    <a:latin typeface="Arial"/>
                  </a:rPr>
                  <a:t>, </a:t>
                </a:r>
                <a:r>
                  <a:rPr lang="en-IN" sz="2400">
                    <a:solidFill>
                      <a:srgbClr val="111827"/>
                    </a:solidFill>
                    <a:latin typeface="Cambria Math" panose="02040503050406030204" pitchFamily="18" charset="0"/>
                  </a:rPr>
                  <a:t>$\det M=0$</a:t>
                </a:r>
                <a:r>
                  <a:rPr sz="2400" b="0">
                    <a:solidFill>
                      <a:srgbClr val="111827"/>
                    </a:solidFill>
                    <a:latin typeface="Arial"/>
                  </a:rPr>
                  <a:t>, giving </a:t>
                </a:r>
                <a:r>
                  <a:rPr lang="en-IN" sz="2400">
                    <a:solidFill>
                      <a:srgbClr val="111827"/>
                    </a:solidFill>
                    <a:latin typeface="Cambria Math" panose="02040503050406030204" pitchFamily="18" charset="0"/>
                  </a:rPr>
                  <a:t>$\lambda^3+4\lambda^2-25\lambda$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Sum of the roots </a:t>
                </a:r>
                <a:r>
                  <a:rPr lang="en-IN" sz="2400">
                    <a:solidFill>
                      <a:srgbClr val="111827"/>
                    </a:solidFill>
                    <a:latin typeface="Cambria Math" panose="02040503050406030204" pitchFamily="18" charset="0"/>
                  </a:rPr>
                  <a:t>$0+(-2+\sqrt{29})+(-2-\sqrt{29})=-4=\mathrm{tr}M$</a:t>
                </a:r>
                <a:r>
                  <a:rPr sz="2400" b="0">
                    <a:solidFill>
                      <a:srgbClr val="111827"/>
                    </a:solidFill>
                    <a:latin typeface="Arial"/>
                  </a:rPr>
                  <a:t>: a quick check on the cubic.</a:t>
                </a:r>
                <a:endParaRPr sz="2400">
                  <a:solidFill>
                    <a:srgbClr val="111827"/>
                  </a:solidFill>
                </a:endParaRPr>
              </a:p>
            </p:txBody>
          </p:sp>
        </mc:Fallback>
      </mc:AlternateContent>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vector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which is perpendicular to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Find the vector </a:t>
                </a:r>
                <a:r>
                  <a:rPr lang="en-IN" sz="2400">
                    <a:solidFill>
                      <a:srgbClr val="111827"/>
                    </a:solidFill>
                    <a:latin typeface="Cambria Math" panose="02040503050406030204" pitchFamily="18" charset="0"/>
                  </a:rPr>
                  <a:t>$\vec{r}$</a:t>
                </a:r>
                <a:r>
                  <a:rPr sz="2400" b="0">
                    <a:solidFill>
                      <a:srgbClr val="111827"/>
                    </a:solidFill>
                    <a:latin typeface="Arial"/>
                  </a:rPr>
                  <a:t> which is perpendicular to </a:t>
                </a:r>
                <a:r>
                  <a:rPr lang="en-IN" sz="2400">
                    <a:solidFill>
                      <a:srgbClr val="111827"/>
                    </a:solidFill>
                    <a:latin typeface="Cambria Math" panose="02040503050406030204" pitchFamily="18" charset="0"/>
                  </a:rPr>
                  <a:t>$\vec{a}=\hat{i}-2\hat{j}+5\hat{k}$</a:t>
                </a:r>
                <a:r>
                  <a:rPr sz="2400" b="0">
                    <a:solidFill>
                      <a:srgbClr val="111827"/>
                    </a:solidFill>
                    <a:latin typeface="Arial"/>
                  </a:rPr>
                  <a:t> and </a:t>
                </a:r>
                <a:r>
                  <a:rPr lang="en-IN" sz="2400">
                    <a:solidFill>
                      <a:srgbClr val="111827"/>
                    </a:solidFill>
                    <a:latin typeface="Cambria Math" panose="02040503050406030204" pitchFamily="18" charset="0"/>
                  </a:rPr>
                  <a:t>$\vec{b}=2\hat{i}+3\hat{j}-\hat{k}$</a:t>
                </a:r>
                <a:r>
                  <a:rPr sz="2400" b="0">
                    <a:solidFill>
                      <a:srgbClr val="111827"/>
                    </a:solidFill>
                    <a:latin typeface="Arial"/>
                  </a:rPr>
                  <a:t> and </a:t>
                </a:r>
                <a:r>
                  <a:rPr lang="en-IN" sz="2400">
                    <a:solidFill>
                      <a:srgbClr val="111827"/>
                    </a:solidFill>
                    <a:latin typeface="Cambria Math" panose="02040503050406030204" pitchFamily="18" charset="0"/>
                  </a:rPr>
                  <a:t>$\vec{r}\cdot\left(2\hat{i}+\hat{j}+\hat{k}\right)+8=0$</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24612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Cross product (vector perpendicular to two vectors), Plane and dot product condition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1(JEE Main Level)</a:t>
            </a:r>
            <a:endParaRPr sz="2400">
              <a:solidFill>
                <a:srgbClr val="111827"/>
              </a:solidFill>
            </a:endParaRP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vector perpendicular to both is </a:t>
                </a:r>
                <a14:m>
                  <m:oMath xmlns:m="http://schemas.openxmlformats.org/officeDocument/2006/math">
                    <m:r>
                      <a:rPr lang="en-IN" sz="2400" i="1">
                        <a:solidFill>
                          <a:srgbClr val="78350F"/>
                        </a:solidFill>
                        <a:latin typeface="Cambria Math" panose="02040503050406030204" pitchFamily="18" charset="0"/>
                      </a:rPr>
                      <m:t>λ</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 dot-product condition fixes </a:t>
                </a:r>
                <a14:m>
                  <m:oMath xmlns:m="http://schemas.openxmlformats.org/officeDocument/2006/math">
                    <m:r>
                      <a:rPr lang="en-IN" sz="2400" i="1">
                        <a:solidFill>
                          <a:srgbClr val="78350F"/>
                        </a:solidFill>
                        <a:latin typeface="Cambria Math" panose="02040503050406030204" pitchFamily="18" charset="0"/>
                      </a:rPr>
                      <m:t>λ</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vector perpendicular to both is </a:t>
                </a:r>
                <a:r>
                  <a:rPr lang="en-IN" sz="2400">
                    <a:solidFill>
                      <a:srgbClr val="78350F"/>
                    </a:solidFill>
                    <a:latin typeface="Cambria Math" panose="02040503050406030204" pitchFamily="18" charset="0"/>
                  </a:rPr>
                  <a:t>$\lambda(\vec a\times\vec b)$</a:t>
                </a:r>
                <a:r>
                  <a:rPr sz="2400" b="0">
                    <a:solidFill>
                      <a:srgbClr val="78350F"/>
                    </a:solidFill>
                    <a:latin typeface="Arial"/>
                  </a:rPr>
                  <a:t>; the dot-product condition fixes </a:t>
                </a:r>
                <a:r>
                  <a:rPr lang="en-IN" sz="2400">
                    <a:solidFill>
                      <a:srgbClr val="78350F"/>
                    </a:solidFill>
                    <a:latin typeface="Cambria Math" panose="02040503050406030204" pitchFamily="18" charset="0"/>
                  </a:rPr>
                  <a:t>$\lambda$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mr>
                          <m:mr>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5</m:t>
                              </m:r>
                            </m:e>
                          </m:mr>
                          <m:mr>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3</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r\perp\vec a$</a:t>
                </a:r>
                <a:r>
                  <a:rPr sz="2400" b="0">
                    <a:solidFill>
                      <a:srgbClr val="111827"/>
                    </a:solidFill>
                    <a:latin typeface="Arial"/>
                  </a:rPr>
                  <a:t> and </a:t>
                </a:r>
                <a:r>
                  <a:rPr lang="en-IN" sz="2400">
                    <a:solidFill>
                      <a:srgbClr val="111827"/>
                    </a:solidFill>
                    <a:latin typeface="Cambria Math" panose="02040503050406030204" pitchFamily="18" charset="0"/>
                  </a:rPr>
                  <a:t>$\vec r\perp\vec b$</a:t>
                </a:r>
                <a:r>
                  <a:rPr sz="2400" b="0">
                    <a:solidFill>
                      <a:srgbClr val="111827"/>
                    </a:solidFill>
                    <a:latin typeface="Arial"/>
                  </a:rPr>
                  <a:t>, so </a:t>
                </a:r>
                <a:r>
                  <a:rPr lang="en-IN" sz="2400">
                    <a:solidFill>
                      <a:srgbClr val="111827"/>
                    </a:solidFill>
                    <a:latin typeface="Cambria Math" panose="02040503050406030204" pitchFamily="18" charset="0"/>
                  </a:rPr>
                  <a:t>$\vec r=\lambda(\vec a\times\vec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a\times\vec b=\left|\begin{matrix}\hat i&amp;\hat j&amp;\hat k\\1&amp;-2&amp;5\\2&amp;3&amp;-1\end{matrix}\right|=-13\hat i+11\hat j+7\hat 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$\vec r=\lambda(-13\hat i+11\hat j+7\hat k)$</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r\cdot(2,1,1)=-8$</a:t>
                </a:r>
                <a:r>
                  <a:rPr sz="2400" b="0">
                    <a:solidFill>
                      <a:srgbClr val="111827"/>
                    </a:solidFill>
                    <a:latin typeface="Arial"/>
                  </a:rPr>
                  <a:t> gives </a:t>
                </a:r>
                <a:r>
                  <a:rPr lang="en-IN" sz="2400">
                    <a:solidFill>
                      <a:srgbClr val="111827"/>
                    </a:solidFill>
                    <a:latin typeface="Cambria Math" panose="02040503050406030204" pitchFamily="18" charset="0"/>
                  </a:rPr>
                  <a:t>$\lambda(-26+11+7)=-8$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$\lambda(-8)=-8$</a:t>
                </a:r>
                <a:r>
                  <a:rPr sz="2400" b="0">
                    <a:solidFill>
                      <a:srgbClr val="111827"/>
                    </a:solidFill>
                    <a:latin typeface="Arial"/>
                  </a:rPr>
                  <a:t>, so </a:t>
                </a:r>
                <a:r>
                  <a:rPr lang="en-IN" sz="2400">
                    <a:solidFill>
                      <a:srgbClr val="111827"/>
                    </a:solidFill>
                    <a:latin typeface="Cambria Math" panose="02040503050406030204" pitchFamily="18" charset="0"/>
                  </a:rPr>
                  <a:t>$\lambda=1$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r=-13\hat i+11\hat j+7\hat k$</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𝑟</m:t>
                        </m:r>
                      </m:e>
                    </m:acc>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13</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𝑖</m:t>
                        </m:r>
                      </m:e>
                    </m:acc>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11</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𝑗</m:t>
                        </m:r>
                      </m:e>
                    </m:acc>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7</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𝑘</m:t>
                        </m:r>
                      </m:e>
                    </m:acc>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$\vec r=-13\hat{i}+11\hat{j}+7\hat{k}$</a:t>
                </a:r>
                <a:endParaRPr sz="2800">
                  <a:solidFill>
                    <a:srgbClr val="15803D"/>
                  </a:solidFill>
                </a:endParaRPr>
              </a:p>
            </p:txBody>
          </p:sp>
        </mc:Fallback>
      </mc:AlternateContent>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solve the three linear equations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8</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r>
                  <a:rPr lang="en-IN" sz="2400">
                    <a:solidFill>
                      <a:srgbClr val="78350F"/>
                    </a:solidFill>
                    <a:latin typeface="Cambria Math" panose="02040503050406030204" pitchFamily="18" charset="0"/>
                  </a:rPr>
                  <a:t>$\vec r=(x,y,z)$</a:t>
                </a:r>
                <a:r>
                  <a:rPr sz="2400" b="0">
                    <a:solidFill>
                      <a:srgbClr val="78350F"/>
                    </a:solidFill>
                    <a:latin typeface="Arial"/>
                  </a:rPr>
                  <a:t> and solve the three linear equations </a:t>
                </a:r>
                <a:r>
                  <a:rPr lang="en-IN" sz="2400">
                    <a:solidFill>
                      <a:srgbClr val="78350F"/>
                    </a:solidFill>
                    <a:latin typeface="Cambria Math" panose="02040503050406030204" pitchFamily="18" charset="0"/>
                  </a:rPr>
                  <a:t>$\vec r\cdot\vec a=0$</a:t>
                </a:r>
                <a:r>
                  <a:rPr sz="2400" b="0">
                    <a:solidFill>
                      <a:srgbClr val="78350F"/>
                    </a:solidFill>
                    <a:latin typeface="Arial"/>
                  </a:rPr>
                  <a:t>, </a:t>
                </a:r>
                <a:r>
                  <a:rPr lang="en-IN" sz="2400">
                    <a:solidFill>
                      <a:srgbClr val="78350F"/>
                    </a:solidFill>
                    <a:latin typeface="Cambria Math" panose="02040503050406030204" pitchFamily="18" charset="0"/>
                  </a:rPr>
                  <a:t>$\vec r\cdot\vec b=0$</a:t>
                </a:r>
                <a:r>
                  <a:rPr sz="2400" b="0">
                    <a:solidFill>
                      <a:srgbClr val="78350F"/>
                    </a:solidFill>
                    <a:latin typeface="Arial"/>
                  </a:rPr>
                  <a:t>, </a:t>
                </a:r>
                <a:r>
                  <a:rPr lang="en-IN" sz="2400">
                    <a:solidFill>
                      <a:srgbClr val="78350F"/>
                    </a:solidFill>
                    <a:latin typeface="Cambria Math" panose="02040503050406030204" pitchFamily="18" charset="0"/>
                  </a:rPr>
                  <a:t>$\vec r\cdot(2,1,1)=-8$</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...(3).</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(1)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(2):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r\cdot\vec a=0$</a:t>
                </a:r>
                <a:r>
                  <a:rPr sz="2400" b="0">
                    <a:solidFill>
                      <a:srgbClr val="111827"/>
                    </a:solidFill>
                    <a:latin typeface="Arial"/>
                  </a:rPr>
                  <a:t>: </a:t>
                </a:r>
                <a:r>
                  <a:rPr lang="en-IN" sz="2400">
                    <a:solidFill>
                      <a:srgbClr val="111827"/>
                    </a:solidFill>
                    <a:latin typeface="Cambria Math" panose="02040503050406030204" pitchFamily="18" charset="0"/>
                  </a:rPr>
                  <a:t>$x-2y+5z=0$</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r\cdot\vec b=0$</a:t>
                </a:r>
                <a:r>
                  <a:rPr sz="2400" b="0">
                    <a:solidFill>
                      <a:srgbClr val="111827"/>
                    </a:solidFill>
                    <a:latin typeface="Arial"/>
                  </a:rPr>
                  <a:t>: </a:t>
                </a:r>
                <a:r>
                  <a:rPr lang="en-IN" sz="2400">
                    <a:solidFill>
                      <a:srgbClr val="111827"/>
                    </a:solidFill>
                    <a:latin typeface="Cambria Math" panose="02040503050406030204" pitchFamily="18" charset="0"/>
                  </a:rPr>
                  <a:t>$2x+3y-z=0$</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r\cdot(2,1,1)=-8$</a:t>
                </a:r>
                <a:r>
                  <a:rPr sz="2400" b="0">
                    <a:solidFill>
                      <a:srgbClr val="111827"/>
                    </a:solidFill>
                    <a:latin typeface="Arial"/>
                  </a:rPr>
                  <a:t>: </a:t>
                </a:r>
                <a:r>
                  <a:rPr lang="en-IN" sz="2400">
                    <a:solidFill>
                      <a:srgbClr val="111827"/>
                    </a:solidFill>
                    <a:latin typeface="Cambria Math" panose="02040503050406030204" pitchFamily="18" charset="0"/>
                  </a:rPr>
                  <a:t>$2x+y+z=-8$</a:t>
                </a:r>
                <a:r>
                  <a:rPr sz="2400" b="0">
                    <a:solidFill>
                      <a:srgbClr val="111827"/>
                    </a:solidFill>
                    <a:latin typeface="Arial"/>
                  </a:rPr>
                  <a:t> ...(3).</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$2\times$</a:t>
                </a:r>
                <a:r>
                  <a:rPr sz="2400" b="0">
                    <a:solidFill>
                      <a:srgbClr val="111827"/>
                    </a:solidFill>
                    <a:latin typeface="Arial"/>
                  </a:rPr>
                  <a:t>(1) </a:t>
                </a:r>
                <a:r>
                  <a:rPr lang="en-IN" sz="2400">
                    <a:solidFill>
                      <a:srgbClr val="111827"/>
                    </a:solidFill>
                    <a:latin typeface="Cambria Math" panose="02040503050406030204" pitchFamily="18" charset="0"/>
                  </a:rPr>
                  <a:t>$-$</a:t>
                </a:r>
                <a:r>
                  <a:rPr sz="2400" b="0">
                    <a:solidFill>
                      <a:srgbClr val="111827"/>
                    </a:solidFill>
                    <a:latin typeface="Arial"/>
                  </a:rPr>
                  <a:t> (2): </a:t>
                </a:r>
                <a:r>
                  <a:rPr lang="en-IN" sz="2400">
                    <a:solidFill>
                      <a:srgbClr val="111827"/>
                    </a:solidFill>
                    <a:latin typeface="Cambria Math" panose="02040503050406030204" pitchFamily="18" charset="0"/>
                  </a:rPr>
                  <a:t>$-7y+11z=0$</a:t>
                </a:r>
                <a:r>
                  <a:rPr sz="2400" b="0">
                    <a:solidFill>
                      <a:srgbClr val="111827"/>
                    </a:solidFill>
                    <a:latin typeface="Arial"/>
                  </a:rPr>
                  <a:t>, so </a:t>
                </a:r>
                <a:r>
                  <a:rPr lang="en-IN" sz="2400">
                    <a:solidFill>
                      <a:srgbClr val="111827"/>
                    </a:solidFill>
                    <a:latin typeface="Cambria Math" panose="02040503050406030204" pitchFamily="18" charset="0"/>
                  </a:rPr>
                  <a:t>$y=\frac{11z}{7}$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(1):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13</m:t>
                        </m:r>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in (3):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26</m:t>
                        </m:r>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11</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(1): </a:t>
                </a:r>
                <a:r>
                  <a:rPr lang="en-IN" sz="2400">
                    <a:solidFill>
                      <a:srgbClr val="111827"/>
                    </a:solidFill>
                    <a:latin typeface="Cambria Math" panose="02040503050406030204" pitchFamily="18" charset="0"/>
                  </a:rPr>
                  <a:t>$x=2y-5z=\frac{22z-35z}{7}=-\frac{13z}{7}$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in (3): </a:t>
                </a:r>
                <a:r>
                  <a:rPr lang="en-IN" sz="2400">
                    <a:solidFill>
                      <a:srgbClr val="111827"/>
                    </a:solidFill>
                    <a:latin typeface="Cambria Math" panose="02040503050406030204" pitchFamily="18" charset="0"/>
                  </a:rPr>
                  <a:t>$-\frac{26z}{7}+\frac{11z}{7}+\frac{7z}{7}=-\frac{8z}{7}=-8$</a:t>
                </a:r>
                <a:r>
                  <a:rPr sz="2400" b="0">
                    <a:solidFill>
                      <a:srgbClr val="111827"/>
                    </a:solidFill>
                    <a:latin typeface="Arial"/>
                  </a:rPr>
                  <a:t>, so </a:t>
                </a:r>
                <a:r>
                  <a:rPr lang="en-IN" sz="2400">
                    <a:solidFill>
                      <a:srgbClr val="111827"/>
                    </a:solidFill>
                    <a:latin typeface="Cambria Math" panose="02040503050406030204" pitchFamily="18" charset="0"/>
                  </a:rPr>
                  <a:t>$z=7$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$y=11$</a:t>
                </a:r>
                <a:r>
                  <a:rPr sz="2400" b="0">
                    <a:solidFill>
                      <a:srgbClr val="111827"/>
                    </a:solidFill>
                    <a:latin typeface="Arial"/>
                  </a:rPr>
                  <a:t>, </a:t>
                </a:r>
                <a:r>
                  <a:rPr lang="en-IN" sz="2400">
                    <a:solidFill>
                      <a:srgbClr val="111827"/>
                    </a:solidFill>
                    <a:latin typeface="Cambria Math" panose="02040503050406030204" pitchFamily="18" charset="0"/>
                  </a:rPr>
                  <a:t>$x=-13$</a:t>
                </a:r>
                <a:r>
                  <a:rPr sz="2400" b="0">
                    <a:solidFill>
                      <a:srgbClr val="111827"/>
                    </a:solidFill>
                    <a:latin typeface="Arial"/>
                  </a:rPr>
                  <a:t>: </a:t>
                </a:r>
                <a:r>
                  <a:rPr lang="en-IN" sz="2400">
                    <a:solidFill>
                      <a:srgbClr val="111827"/>
                    </a:solidFill>
                    <a:latin typeface="Cambria Math" panose="02040503050406030204" pitchFamily="18" charset="0"/>
                  </a:rPr>
                  <a:t>$\vec r=-13\hat i+11\hat j+7\hat k$</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𝑟</m:t>
                        </m:r>
                      </m:e>
                    </m:acc>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13</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𝑖</m:t>
                        </m:r>
                      </m:e>
                    </m:acc>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11</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𝑗</m:t>
                        </m:r>
                      </m:e>
                    </m:acc>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7</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𝑘</m:t>
                        </m:r>
                      </m:e>
                    </m:acc>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$\vec r=-13\hat{i}+11\hat{j}+7\hat{k}$</a:t>
                </a:r>
                <a:endParaRPr sz="2800">
                  <a:solidFill>
                    <a:srgbClr val="15803D"/>
                  </a:solidFill>
                </a:endParaRPr>
              </a:p>
            </p:txBody>
          </p:sp>
        </mc:Fallback>
      </mc:AlternateContent>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B6D7A8"/>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1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set of vectors perpendicular to two non-parallel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is the line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one more linear condition (as here) picks a single vector.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instead the extra condition is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here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169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49</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339</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set of vectors perpendicular to two non-parallel vectors </a:t>
                </a:r>
                <a:r>
                  <a:rPr lang="en-IN" sz="2400">
                    <a:solidFill>
                      <a:srgbClr val="111827"/>
                    </a:solidFill>
                    <a:latin typeface="Cambria Math" panose="02040503050406030204" pitchFamily="18" charset="0"/>
                  </a:rPr>
                  <a:t>$\vec a,\vec b$</a:t>
                </a:r>
                <a:r>
                  <a:rPr sz="2400" b="0">
                    <a:solidFill>
                      <a:srgbClr val="111827"/>
                    </a:solidFill>
                    <a:latin typeface="Arial"/>
                  </a:rPr>
                  <a:t> is the line </a:t>
                </a:r>
                <a:r>
                  <a:rPr lang="en-IN" sz="2400">
                    <a:solidFill>
                      <a:srgbClr val="111827"/>
                    </a:solidFill>
                    <a:latin typeface="Cambria Math" panose="02040503050406030204" pitchFamily="18" charset="0"/>
                  </a:rPr>
                  <a:t>$\{\lambda(\vec a\times\vec b)\}$</a:t>
                </a:r>
                <a:r>
                  <a:rPr sz="2400" b="0">
                    <a:solidFill>
                      <a:srgbClr val="111827"/>
                    </a:solidFill>
                    <a:latin typeface="Arial"/>
                  </a:rPr>
                  <a:t>; one more linear condition (as here) picks a single vector.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instead the extra condition is </a:t>
                </a:r>
                <a:r>
                  <a:rPr lang="en-IN" sz="2400">
                    <a:solidFill>
                      <a:srgbClr val="111827"/>
                    </a:solidFill>
                    <a:latin typeface="Cambria Math" panose="02040503050406030204" pitchFamily="18" charset="0"/>
                  </a:rPr>
                  <a:t>$|\vec r|=k$</a:t>
                </a:r>
                <a:r>
                  <a:rPr sz="2400" b="0">
                    <a:solidFill>
                      <a:srgbClr val="111827"/>
                    </a:solidFill>
                    <a:latin typeface="Arial"/>
                  </a:rPr>
                  <a:t>, then </a:t>
                </a:r>
                <a:r>
                  <a:rPr lang="en-IN" sz="2400">
                    <a:solidFill>
                      <a:srgbClr val="111827"/>
                    </a:solidFill>
                    <a:latin typeface="Cambria Math" panose="02040503050406030204" pitchFamily="18" charset="0"/>
                  </a:rPr>
                  <a:t>$\lambda=\pm\frac{k}{|\vec a\times\vec b|}$</a:t>
                </a:r>
                <a:r>
                  <a:rPr sz="2400" b="0">
                    <a:solidFill>
                      <a:srgbClr val="111827"/>
                    </a:solidFill>
                    <a:latin typeface="Arial"/>
                  </a:rPr>
                  <a:t>; here </a:t>
                </a:r>
                <a:r>
                  <a:rPr lang="en-IN" sz="2400">
                    <a:solidFill>
                      <a:srgbClr val="111827"/>
                    </a:solidFill>
                    <a:latin typeface="Cambria Math" panose="02040503050406030204" pitchFamily="18" charset="0"/>
                  </a:rPr>
                  <a:t>$|\vec a\times\vec b|=\sqrt{169+121+49}=\sqrt{339}$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$\vec r\cdot\vec a=-13-22+35=0$</a:t>
                </a:r>
                <a:r>
                  <a:rPr sz="2400" b="0">
                    <a:solidFill>
                      <a:srgbClr val="111827"/>
                    </a:solidFill>
                    <a:latin typeface="Arial"/>
                  </a:rPr>
                  <a:t> and </a:t>
                </a:r>
                <a:r>
                  <a:rPr lang="en-IN" sz="2400">
                    <a:solidFill>
                      <a:srgbClr val="111827"/>
                    </a:solidFill>
                    <a:latin typeface="Cambria Math" panose="02040503050406030204" pitchFamily="18" charset="0"/>
                  </a:rPr>
                  <a:t>$\vec r\cdot\vec b=-26+33-7=0$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Two vertices of a triangle are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 and its orthocentre is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 Find the position vector of the third vertex.</a:t>
                </a:r>
                <a:endParaRPr sz="2400">
                  <a:solidFill>
                    <a:srgbClr val="111827"/>
                  </a:solidFill>
                </a:endParaRPr>
              </a:p>
            </p:txBody>
          </p:sp>
        </mc:Choice>
        <mc:Fallback>
          <p:sp>
            <p:nvSpPr>
              <p:cNvPr id="4" name="Rounded Rectangle 3"/>
              <p:cNvSpPr/>
              <p:nvPr/>
            </p:nvSpPr>
            <p:spPr>
              <a:xfrm>
                <a:off x="731520" y="1280160"/>
                <a:ext cx="10725912" cy="17373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Two vertices of a triangle are at </a:t>
                </a:r>
                <a:r>
                  <a:rPr lang="en-IN" sz="2400">
                    <a:solidFill>
                      <a:srgbClr val="111827"/>
                    </a:solidFill>
                    <a:latin typeface="Cambria Math" panose="02040503050406030204" pitchFamily="18" charset="0"/>
                  </a:rPr>
                  <a:t>$-\hat{i}+3\hat{j}$</a:t>
                </a:r>
                <a:r>
                  <a:rPr sz="2400" b="0">
                    <a:solidFill>
                      <a:srgbClr val="111827"/>
                    </a:solidFill>
                    <a:latin typeface="Arial"/>
                  </a:rPr>
                  <a:t> and </a:t>
                </a:r>
                <a:r>
                  <a:rPr lang="en-IN" sz="2400">
                    <a:solidFill>
                      <a:srgbClr val="111827"/>
                    </a:solidFill>
                    <a:latin typeface="Cambria Math" panose="02040503050406030204" pitchFamily="18" charset="0"/>
                  </a:rPr>
                  <a:t>$2\hat{i}+5\hat{j}$</a:t>
                </a:r>
                <a:r>
                  <a:rPr sz="2400" b="0">
                    <a:solidFill>
                      <a:srgbClr val="111827"/>
                    </a:solidFill>
                    <a:latin typeface="Arial"/>
                  </a:rPr>
                  <a:t> and its orthocentre is at </a:t>
                </a:r>
                <a:r>
                  <a:rPr lang="en-IN" sz="2400">
                    <a:solidFill>
                      <a:srgbClr val="111827"/>
                    </a:solidFill>
                    <a:latin typeface="Cambria Math" panose="02040503050406030204" pitchFamily="18" charset="0"/>
                  </a:rPr>
                  <a:t>$\hat{i}+2\hat{j}$</a:t>
                </a:r>
                <a:r>
                  <a:rPr sz="2400" b="0">
                    <a:solidFill>
                      <a:srgbClr val="111827"/>
                    </a:solidFill>
                    <a:latin typeface="Arial"/>
                  </a:rPr>
                  <a:t>. Find the position vector of the third vertex.</a:t>
                </a:r>
                <a:endParaRPr sz="2400">
                  <a:solidFill>
                    <a:srgbClr val="111827"/>
                  </a:solidFill>
                </a:endParaRPr>
              </a:p>
            </p:txBody>
          </p:sp>
        </mc:Fallback>
      </mc:AlternateContent>
      <p:sp>
        <p:nvSpPr>
          <p:cNvPr id="5" name="Rectangle 4"/>
          <p:cNvSpPr/>
          <p:nvPr/>
        </p:nvSpPr>
        <p:spPr>
          <a:xfrm>
            <a:off x="731520" y="324612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Orthocentre of a triangle using vectors (perpendicularity by dot product)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line from each known vertex to the orthocentre is perpendicular to the side through the third vertex: two dot-product equations.</a:t>
            </a:r>
            <a:endParaRPr sz="24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orthocentre </a:t>
                </a:r>
                <a14:m>
                  <m:oMath xmlns:m="http://schemas.openxmlformats.org/officeDocument/2006/math">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Direction of altitude from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(line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𝐻</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𝐻</m:t>
                        </m:r>
                      </m:e>
                    </m:acc>
                  </m:oMath>
                </a14:m>
                <a:r>
                  <a:rPr sz="2400" b="0">
                    <a:solidFill>
                      <a:srgbClr val="111827"/>
                    </a:solidFill>
                    <a:latin typeface="Arial"/>
                  </a:rPr>
                  <a:t> is along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Direction of altitude from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(line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𝐻</m:t>
                    </m:r>
                  </m:oMath>
                </a14:m>
                <a:r>
                  <a:rPr sz="2400" b="0">
                    <a:solidFill>
                      <a:srgbClr val="111827"/>
                    </a:solidFill>
                    <a:latin typeface="Arial"/>
                  </a:rPr>
                  <a:t>): along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Sides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altitude from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is perpendicular to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...(i).</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$P(-1,3)$</a:t>
                </a:r>
                <a:r>
                  <a:rPr sz="2400" b="0">
                    <a:solidFill>
                      <a:srgbClr val="111827"/>
                    </a:solidFill>
                    <a:latin typeface="Arial"/>
                  </a:rPr>
                  <a:t>, </a:t>
                </a:r>
                <a:r>
                  <a:rPr lang="en-IN" sz="2400">
                    <a:solidFill>
                      <a:srgbClr val="111827"/>
                    </a:solidFill>
                    <a:latin typeface="Cambria Math" panose="02040503050406030204" pitchFamily="18" charset="0"/>
                  </a:rPr>
                  <a:t>$Q(2,5)$</a:t>
                </a:r>
                <a:r>
                  <a:rPr sz="2400" b="0">
                    <a:solidFill>
                      <a:srgbClr val="111827"/>
                    </a:solidFill>
                    <a:latin typeface="Arial"/>
                  </a:rPr>
                  <a:t>, </a:t>
                </a:r>
                <a:r>
                  <a:rPr lang="en-IN" sz="2400">
                    <a:solidFill>
                      <a:srgbClr val="111827"/>
                    </a:solidFill>
                    <a:latin typeface="Cambria Math" panose="02040503050406030204" pitchFamily="18" charset="0"/>
                  </a:rPr>
                  <a:t>$C(\alpha,\beta)$</a:t>
                </a:r>
                <a:r>
                  <a:rPr sz="2400" b="0">
                    <a:solidFill>
                      <a:srgbClr val="111827"/>
                    </a:solidFill>
                    <a:latin typeface="Arial"/>
                  </a:rPr>
                  <a:t> and orthocentre </a:t>
                </a:r>
                <a:r>
                  <a:rPr lang="en-IN" sz="2400">
                    <a:solidFill>
                      <a:srgbClr val="111827"/>
                    </a:solidFill>
                    <a:latin typeface="Cambria Math" panose="02040503050406030204" pitchFamily="18" charset="0"/>
                  </a:rPr>
                  <a:t>$H(1,2)$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Direction of altitude from </a:t>
                </a:r>
                <a:r>
                  <a:rPr lang="en-IN" sz="2400">
                    <a:solidFill>
                      <a:srgbClr val="111827"/>
                    </a:solidFill>
                    <a:latin typeface="Cambria Math" panose="02040503050406030204" pitchFamily="18" charset="0"/>
                  </a:rPr>
                  <a:t>$Q$</a:t>
                </a:r>
                <a:r>
                  <a:rPr sz="2400" b="0">
                    <a:solidFill>
                      <a:srgbClr val="111827"/>
                    </a:solidFill>
                    <a:latin typeface="Arial"/>
                  </a:rPr>
                  <a:t> (line </a:t>
                </a:r>
                <a:r>
                  <a:rPr lang="en-IN" sz="2400">
                    <a:solidFill>
                      <a:srgbClr val="111827"/>
                    </a:solidFill>
                    <a:latin typeface="Cambria Math" panose="02040503050406030204" pitchFamily="18" charset="0"/>
                  </a:rPr>
                  <a:t>$QH$</a:t>
                </a:r>
                <a:r>
                  <a:rPr sz="2400" b="0">
                    <a:solidFill>
                      <a:srgbClr val="111827"/>
                    </a:solidFill>
                    <a:latin typeface="Arial"/>
                  </a:rPr>
                  <a:t>): </a:t>
                </a:r>
                <a:r>
                  <a:rPr lang="en-IN" sz="2400">
                    <a:solidFill>
                      <a:srgbClr val="111827"/>
                    </a:solidFill>
                    <a:latin typeface="Cambria Math" panose="02040503050406030204" pitchFamily="18" charset="0"/>
                  </a:rPr>
                  <a:t>$\vec{QH}$</a:t>
                </a:r>
                <a:r>
                  <a:rPr sz="2400" b="0">
                    <a:solidFill>
                      <a:srgbClr val="111827"/>
                    </a:solidFill>
                    <a:latin typeface="Arial"/>
                  </a:rPr>
                  <a:t> is along </a:t>
                </a:r>
                <a:r>
                  <a:rPr lang="en-IN" sz="2400">
                    <a:solidFill>
                      <a:srgbClr val="111827"/>
                    </a:solidFill>
                    <a:latin typeface="Cambria Math" panose="02040503050406030204" pitchFamily="18" charset="0"/>
                  </a:rPr>
                  <a:t>$(1,3)$</a:t>
                </a:r>
                <a:r>
                  <a:rPr sz="2400" b="0">
                    <a:solidFill>
                      <a:srgbClr val="111827"/>
                    </a:solidFill>
                    <a:latin typeface="Arial"/>
                  </a:rPr>
                  <a:t>. Direction of altitude from </a:t>
                </a:r>
                <a:r>
                  <a:rPr lang="en-IN" sz="2400">
                    <a:solidFill>
                      <a:srgbClr val="111827"/>
                    </a:solidFill>
                    <a:latin typeface="Cambria Math" panose="02040503050406030204" pitchFamily="18" charset="0"/>
                  </a:rPr>
                  <a:t>$P$</a:t>
                </a:r>
                <a:r>
                  <a:rPr sz="2400" b="0">
                    <a:solidFill>
                      <a:srgbClr val="111827"/>
                    </a:solidFill>
                    <a:latin typeface="Arial"/>
                  </a:rPr>
                  <a:t> (line </a:t>
                </a:r>
                <a:r>
                  <a:rPr lang="en-IN" sz="2400">
                    <a:solidFill>
                      <a:srgbClr val="111827"/>
                    </a:solidFill>
                    <a:latin typeface="Cambria Math" panose="02040503050406030204" pitchFamily="18" charset="0"/>
                  </a:rPr>
                  <a:t>$PH$</a:t>
                </a:r>
                <a:r>
                  <a:rPr sz="2400" b="0">
                    <a:solidFill>
                      <a:srgbClr val="111827"/>
                    </a:solidFill>
                    <a:latin typeface="Arial"/>
                  </a:rPr>
                  <a:t>): along </a:t>
                </a:r>
                <a:r>
                  <a:rPr lang="en-IN" sz="2400">
                    <a:solidFill>
                      <a:srgbClr val="111827"/>
                    </a:solidFill>
                    <a:latin typeface="Cambria Math" panose="02040503050406030204" pitchFamily="18" charset="0"/>
                  </a:rPr>
                  <a:t>$(2,-1)$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Sides at </a:t>
                </a:r>
                <a:r>
                  <a:rPr lang="en-IN" sz="2400">
                    <a:solidFill>
                      <a:srgbClr val="111827"/>
                    </a:solidFill>
                    <a:latin typeface="Cambria Math" panose="02040503050406030204" pitchFamily="18" charset="0"/>
                  </a:rPr>
                  <a:t>$C$</a:t>
                </a:r>
                <a:r>
                  <a:rPr sz="2400" b="0">
                    <a:solidFill>
                      <a:srgbClr val="111827"/>
                    </a:solidFill>
                    <a:latin typeface="Arial"/>
                  </a:rPr>
                  <a:t>: </a:t>
                </a:r>
                <a:r>
                  <a:rPr lang="en-IN" sz="2400">
                    <a:solidFill>
                      <a:srgbClr val="111827"/>
                    </a:solidFill>
                    <a:latin typeface="Cambria Math" panose="02040503050406030204" pitchFamily="18" charset="0"/>
                  </a:rPr>
                  <a:t>$\vec{PC}=(\alpha+1,\beta-3)$</a:t>
                </a:r>
                <a:r>
                  <a:rPr sz="2400" b="0">
                    <a:solidFill>
                      <a:srgbClr val="111827"/>
                    </a:solidFill>
                    <a:latin typeface="Arial"/>
                  </a:rPr>
                  <a:t> and </a:t>
                </a:r>
                <a:r>
                  <a:rPr lang="en-IN" sz="2400">
                    <a:solidFill>
                      <a:srgbClr val="111827"/>
                    </a:solidFill>
                    <a:latin typeface="Cambria Math" panose="02040503050406030204" pitchFamily="18" charset="0"/>
                  </a:rPr>
                  <a:t>$\vec{QC}=(\alpha-2,\beta-5)$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altitude from </a:t>
                </a:r>
                <a:r>
                  <a:rPr lang="en-IN" sz="2400">
                    <a:solidFill>
                      <a:srgbClr val="111827"/>
                    </a:solidFill>
                    <a:latin typeface="Cambria Math" panose="02040503050406030204" pitchFamily="18" charset="0"/>
                  </a:rPr>
                  <a:t>$Q$</a:t>
                </a:r>
                <a:r>
                  <a:rPr sz="2400" b="0">
                    <a:solidFill>
                      <a:srgbClr val="111827"/>
                    </a:solidFill>
                    <a:latin typeface="Arial"/>
                  </a:rPr>
                  <a:t> is perpendicular to </a:t>
                </a:r>
                <a:r>
                  <a:rPr lang="en-IN" sz="2400">
                    <a:solidFill>
                      <a:srgbClr val="111827"/>
                    </a:solidFill>
                    <a:latin typeface="Cambria Math" panose="02040503050406030204" pitchFamily="18" charset="0"/>
                  </a:rPr>
                  <a:t>$PC$</a:t>
                </a:r>
                <a:r>
                  <a:rPr sz="2400" b="0">
                    <a:solidFill>
                      <a:srgbClr val="111827"/>
                    </a:solidFill>
                    <a:latin typeface="Arial"/>
                  </a:rPr>
                  <a:t>: </a:t>
                </a:r>
                <a:r>
                  <a:rPr lang="en-IN" sz="2400">
                    <a:solidFill>
                      <a:srgbClr val="111827"/>
                    </a:solidFill>
                    <a:latin typeface="Cambria Math" panose="02040503050406030204" pitchFamily="18" charset="0"/>
                  </a:rPr>
                  <a:t>$(1,3)\cdot(\alpha+1,\beta-3)=0$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$\alpha+1+3\beta-9=0$</a:t>
                </a:r>
                <a:r>
                  <a:rPr sz="2400" b="0">
                    <a:solidFill>
                      <a:srgbClr val="111827"/>
                    </a:solidFill>
                    <a:latin typeface="Arial"/>
                  </a:rPr>
                  <a:t>, i.e. </a:t>
                </a:r>
                <a:r>
                  <a:rPr lang="en-IN" sz="2400">
                    <a:solidFill>
                      <a:srgbClr val="111827"/>
                    </a:solidFill>
                    <a:latin typeface="Cambria Math" panose="02040503050406030204" pitchFamily="18" charset="0"/>
                  </a:rPr>
                  <a:t>$\alpha+3\beta=8$</a:t>
                </a:r>
                <a:r>
                  <a:rPr sz="2400" b="0">
                    <a:solidFill>
                      <a:srgbClr val="111827"/>
                    </a:solidFill>
                    <a:latin typeface="Arial"/>
                  </a:rPr>
                  <a:t> ...(i).</a:t>
                </a:r>
                <a:endParaRPr sz="2400">
                  <a:solidFill>
                    <a:srgbClr val="111827"/>
                  </a:solidFill>
                </a:endParaRPr>
              </a:p>
            </p:txBody>
          </p:sp>
        </mc:Fallback>
      </mc:AlternateContent>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altitude from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perpendicular to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𝐶</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(ii): </a:t>
                </a:r>
                <a14:m>
                  <m:oMath xmlns:m="http://schemas.openxmlformats.org/officeDocument/2006/math">
                    <m:r>
                      <a:rPr lang="en-IN" sz="2400" i="1">
                        <a:solidFill>
                          <a:srgbClr val="111827"/>
                        </a:solidFill>
                        <a:latin typeface="Cambria Math" panose="02040503050406030204" pitchFamily="18" charset="0"/>
                      </a:rPr>
                      <m:t>7</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(ii): </a:t>
                </a:r>
                <a14:m>
                  <m:oMath xmlns:m="http://schemas.openxmlformats.org/officeDocument/2006/math">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third vertex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7</m:t>
                            </m:r>
                          </m:den>
                        </m:f>
                      </m:e>
                    </m:d>
                  </m:oMath>
                </a14:m>
                <a:r>
                  <a:rPr sz="2400" b="0">
                    <a:solidFill>
                      <a:srgbClr val="111827"/>
                    </a:solidFill>
                    <a:latin typeface="Arial"/>
                  </a:rPr>
                  <a:t>, i.e.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7</m:t>
                        </m:r>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7</m:t>
                        </m:r>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altitude from </a:t>
                </a:r>
                <a:r>
                  <a:rPr lang="en-IN" sz="2400">
                    <a:solidFill>
                      <a:srgbClr val="111827"/>
                    </a:solidFill>
                    <a:latin typeface="Cambria Math" panose="02040503050406030204" pitchFamily="18" charset="0"/>
                  </a:rPr>
                  <a:t>$P$</a:t>
                </a:r>
                <a:r>
                  <a:rPr sz="2400" b="0">
                    <a:solidFill>
                      <a:srgbClr val="111827"/>
                    </a:solidFill>
                    <a:latin typeface="Arial"/>
                  </a:rPr>
                  <a:t> is perpendicular to </a:t>
                </a:r>
                <a:r>
                  <a:rPr lang="en-IN" sz="2400">
                    <a:solidFill>
                      <a:srgbClr val="111827"/>
                    </a:solidFill>
                    <a:latin typeface="Cambria Math" panose="02040503050406030204" pitchFamily="18" charset="0"/>
                  </a:rPr>
                  <a:t>$QC$</a:t>
                </a:r>
                <a:r>
                  <a:rPr sz="2400" b="0">
                    <a:solidFill>
                      <a:srgbClr val="111827"/>
                    </a:solidFill>
                    <a:latin typeface="Arial"/>
                  </a:rPr>
                  <a:t>: </a:t>
                </a:r>
                <a:r>
                  <a:rPr lang="en-IN" sz="2400">
                    <a:solidFill>
                      <a:srgbClr val="111827"/>
                    </a:solidFill>
                    <a:latin typeface="Cambria Math" panose="02040503050406030204" pitchFamily="18" charset="0"/>
                  </a:rPr>
                  <a:t>$(2,-1)\cdot(\alpha-2,\beta-5)=0$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$2\alpha-4-\beta+5=0$</a:t>
                </a:r>
                <a:r>
                  <a:rPr sz="2400" b="0">
                    <a:solidFill>
                      <a:srgbClr val="111827"/>
                    </a:solidFill>
                    <a:latin typeface="Arial"/>
                  </a:rPr>
                  <a:t>, i.e. </a:t>
                </a:r>
                <a:r>
                  <a:rPr lang="en-IN" sz="2400">
                    <a:solidFill>
                      <a:srgbClr val="111827"/>
                    </a:solidFill>
                    <a:latin typeface="Cambria Math" panose="02040503050406030204" pitchFamily="18" charset="0"/>
                  </a:rPr>
                  <a:t>$2\alpha-\beta=-1$</a:t>
                </a:r>
                <a:r>
                  <a:rPr sz="2400" b="0">
                    <a:solidFill>
                      <a:srgbClr val="111827"/>
                    </a:solidFill>
                    <a:latin typeface="Arial"/>
                  </a:rPr>
                  <a:t>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 </a:t>
                </a:r>
                <a:r>
                  <a:rPr lang="en-IN" sz="2400">
                    <a:solidFill>
                      <a:srgbClr val="111827"/>
                    </a:solidFill>
                    <a:latin typeface="Cambria Math" panose="02040503050406030204" pitchFamily="18" charset="0"/>
                  </a:rPr>
                  <a:t>$+\,3\times$</a:t>
                </a:r>
                <a:r>
                  <a:rPr sz="2400" b="0">
                    <a:solidFill>
                      <a:srgbClr val="111827"/>
                    </a:solidFill>
                    <a:latin typeface="Arial"/>
                  </a:rPr>
                  <a:t>(ii): </a:t>
                </a:r>
                <a:r>
                  <a:rPr lang="en-IN" sz="2400">
                    <a:solidFill>
                      <a:srgbClr val="111827"/>
                    </a:solidFill>
                    <a:latin typeface="Cambria Math" panose="02040503050406030204" pitchFamily="18" charset="0"/>
                  </a:rPr>
                  <a:t>$7\alpha=5$</a:t>
                </a:r>
                <a:r>
                  <a:rPr sz="2400" b="0">
                    <a:solidFill>
                      <a:srgbClr val="111827"/>
                    </a:solidFill>
                    <a:latin typeface="Arial"/>
                  </a:rPr>
                  <a:t>, so </a:t>
                </a:r>
                <a:r>
                  <a:rPr lang="en-IN" sz="2400">
                    <a:solidFill>
                      <a:srgbClr val="111827"/>
                    </a:solidFill>
                    <a:latin typeface="Cambria Math" panose="02040503050406030204" pitchFamily="18" charset="0"/>
                  </a:rPr>
                  <a:t>$\alpha=\frac57$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(ii): </a:t>
                </a:r>
                <a:r>
                  <a:rPr lang="en-IN" sz="2400">
                    <a:solidFill>
                      <a:srgbClr val="111827"/>
                    </a:solidFill>
                    <a:latin typeface="Cambria Math" panose="02040503050406030204" pitchFamily="18" charset="0"/>
                  </a:rPr>
                  <a:t>$\beta=2\alpha+1=\frac{10}{7}+1=\frac{17}{7}$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third vertex is </a:t>
                </a:r>
                <a:r>
                  <a:rPr lang="en-IN" sz="2400">
                    <a:solidFill>
                      <a:srgbClr val="111827"/>
                    </a:solidFill>
                    <a:latin typeface="Cambria Math" panose="02040503050406030204" pitchFamily="18" charset="0"/>
                  </a:rPr>
                  <a:t>$\left(\frac57,\frac{17}{7}\right)$</a:t>
                </a:r>
                <a:r>
                  <a:rPr sz="2400" b="0">
                    <a:solidFill>
                      <a:srgbClr val="111827"/>
                    </a:solidFill>
                    <a:latin typeface="Arial"/>
                  </a:rPr>
                  <a:t>, i.e. </a:t>
                </a:r>
                <a:r>
                  <a:rPr lang="en-IN" sz="2400">
                    <a:solidFill>
                      <a:srgbClr val="111827"/>
                    </a:solidFill>
                    <a:latin typeface="Cambria Math" panose="02040503050406030204" pitchFamily="18" charset="0"/>
                  </a:rPr>
                  <a:t>$\frac57\hat i+\frac{17}{7}\hat j$</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m:t>
                        </m:r>
                      </m:num>
                      <m:den>
                        <m:r>
                          <a:rPr lang="en-IN" sz="2800" i="1">
                            <a:solidFill>
                              <a:srgbClr val="15803D"/>
                            </a:solidFill>
                            <a:latin typeface="Cambria Math" panose="02040503050406030204" pitchFamily="18" charset="0"/>
                          </a:rPr>
                          <m:t>7</m:t>
                        </m:r>
                      </m:den>
                    </m:f>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𝑖</m:t>
                        </m:r>
                      </m:e>
                    </m:acc>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17</m:t>
                        </m:r>
                      </m:num>
                      <m:den>
                        <m:r>
                          <a:rPr lang="en-IN" sz="2800" i="1">
                            <a:solidFill>
                              <a:srgbClr val="15803D"/>
                            </a:solidFill>
                            <a:latin typeface="Cambria Math" panose="02040503050406030204" pitchFamily="18" charset="0"/>
                          </a:rPr>
                          <m:t>7</m:t>
                        </m:r>
                      </m:den>
                    </m:f>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𝑗</m:t>
                        </m:r>
                      </m:e>
                    </m:acc>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$\frac{5}{7}\hat{i}+\frac{17}{7}\hat{j}$</a:t>
                </a:r>
                <a:endParaRPr sz="2800">
                  <a:solidFill>
                    <a:srgbClr val="15803D"/>
                  </a:solidFill>
                </a:endParaRPr>
              </a:p>
            </p:txBody>
          </p:sp>
        </mc:Fallback>
      </mc:AlternateContent>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Coordinate geometry with slopes: intersect the two lines through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𝑄</m:t>
                    </m:r>
                  </m:oMath>
                </a14:m>
                <a:r>
                  <a:rPr sz="2400" b="0">
                    <a:solidFill>
                      <a:srgbClr val="78350F"/>
                    </a:solidFill>
                    <a:latin typeface="Arial"/>
                  </a:rPr>
                  <a:t> perpendicular to the altitudes </a:t>
                </a:r>
                <a14:m>
                  <m:oMath xmlns:m="http://schemas.openxmlformats.org/officeDocument/2006/math">
                    <m:r>
                      <a:rPr lang="en-IN" sz="2400" i="1">
                        <a:solidFill>
                          <a:srgbClr val="78350F"/>
                        </a:solidFill>
                        <a:latin typeface="Cambria Math" panose="02040503050406030204" pitchFamily="18" charset="0"/>
                      </a:rPr>
                      <m:t>𝑄</m:t>
                    </m:r>
                    <m:r>
                      <a:rPr lang="en-IN" sz="2400" i="1">
                        <a:solidFill>
                          <a:srgbClr val="78350F"/>
                        </a:solidFill>
                        <a:latin typeface="Cambria Math" panose="02040503050406030204" pitchFamily="18" charset="0"/>
                      </a:rPr>
                      <m:t>𝐻</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𝐻</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Coordinate geometry with slopes: intersect the two lines through </a:t>
                </a:r>
                <a:r>
                  <a:rPr lang="en-IN" sz="2400">
                    <a:solidFill>
                      <a:srgbClr val="78350F"/>
                    </a:solidFill>
                    <a:latin typeface="Cambria Math" panose="02040503050406030204" pitchFamily="18" charset="0"/>
                  </a:rPr>
                  <a:t>$P$</a:t>
                </a:r>
                <a:r>
                  <a:rPr sz="2400" b="0">
                    <a:solidFill>
                      <a:srgbClr val="78350F"/>
                    </a:solidFill>
                    <a:latin typeface="Arial"/>
                  </a:rPr>
                  <a:t> and </a:t>
                </a:r>
                <a:r>
                  <a:rPr lang="en-IN" sz="2400">
                    <a:solidFill>
                      <a:srgbClr val="78350F"/>
                    </a:solidFill>
                    <a:latin typeface="Cambria Math" panose="02040503050406030204" pitchFamily="18" charset="0"/>
                  </a:rPr>
                  <a:t>$Q$</a:t>
                </a:r>
                <a:r>
                  <a:rPr sz="2400" b="0">
                    <a:solidFill>
                      <a:srgbClr val="78350F"/>
                    </a:solidFill>
                    <a:latin typeface="Arial"/>
                  </a:rPr>
                  <a:t> perpendicular to the altitudes </a:t>
                </a:r>
                <a:r>
                  <a:rPr lang="en-IN" sz="2400">
                    <a:solidFill>
                      <a:srgbClr val="78350F"/>
                    </a:solidFill>
                    <a:latin typeface="Cambria Math" panose="02040503050406030204" pitchFamily="18" charset="0"/>
                  </a:rPr>
                  <a:t>$QH$</a:t>
                </a:r>
                <a:r>
                  <a:rPr sz="2400" b="0">
                    <a:solidFill>
                      <a:srgbClr val="78350F"/>
                    </a:solidFill>
                    <a:latin typeface="Arial"/>
                  </a:rPr>
                  <a:t> and </a:t>
                </a:r>
                <a:r>
                  <a:rPr lang="en-IN" sz="2400">
                    <a:solidFill>
                      <a:srgbClr val="78350F"/>
                    </a:solidFill>
                    <a:latin typeface="Cambria Math" panose="02040503050406030204" pitchFamily="18" charset="0"/>
                  </a:rPr>
                  <a:t>$PH$</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Slope of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𝐻</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side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𝐻</m:t>
                    </m:r>
                  </m:oMath>
                </a14:m>
                <a:r>
                  <a:rPr sz="2400" b="0">
                    <a:solidFill>
                      <a:srgbClr val="111827"/>
                    </a:solidFill>
                    <a:latin typeface="Arial"/>
                  </a:rPr>
                  <a:t> has slope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a:t>
                </a:r>
                <a14:m>
                  <m:oMath xmlns:m="http://schemas.openxmlformats.org/officeDocument/2006/math">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𝐻</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side </a:t>
                </a:r>
                <a14:m>
                  <m:oMath xmlns:m="http://schemas.openxmlformats.org/officeDocument/2006/math">
                    <m:r>
                      <a:rPr lang="en-IN" sz="2400" i="1">
                        <a:solidFill>
                          <a:srgbClr val="111827"/>
                        </a:solidFill>
                        <a:latin typeface="Cambria Math" panose="02040503050406030204" pitchFamily="18" charset="0"/>
                      </a:rPr>
                      <m:t>𝑄</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𝐻</m:t>
                    </m:r>
                  </m:oMath>
                </a14:m>
                <a:r>
                  <a:rPr sz="2400" b="0">
                    <a:solidFill>
                      <a:srgbClr val="111827"/>
                    </a:solidFill>
                    <a:latin typeface="Arial"/>
                  </a:rPr>
                  <a:t> has slope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from the second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7</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Slope of </a:t>
                </a:r>
                <a:r>
                  <a:rPr lang="en-IN" sz="2400">
                    <a:solidFill>
                      <a:srgbClr val="111827"/>
                    </a:solidFill>
                    <a:latin typeface="Cambria Math" panose="02040503050406030204" pitchFamily="18" charset="0"/>
                  </a:rPr>
                  <a:t>$QH$</a:t>
                </a:r>
                <a:r>
                  <a:rPr sz="2400" b="0">
                    <a:solidFill>
                      <a:srgbClr val="111827"/>
                    </a:solidFill>
                    <a:latin typeface="Arial"/>
                  </a:rPr>
                  <a:t>: </a:t>
                </a:r>
                <a:r>
                  <a:rPr lang="en-IN" sz="2400">
                    <a:solidFill>
                      <a:srgbClr val="111827"/>
                    </a:solidFill>
                    <a:latin typeface="Cambria Math" panose="02040503050406030204" pitchFamily="18" charset="0"/>
                  </a:rPr>
                  <a:t>$\frac{5-2}{2-1}=3$</a:t>
                </a:r>
                <a:r>
                  <a:rPr sz="2400" b="0">
                    <a:solidFill>
                      <a:srgbClr val="111827"/>
                    </a:solidFill>
                    <a:latin typeface="Arial"/>
                  </a:rPr>
                  <a:t>, so side </a:t>
                </a:r>
                <a:r>
                  <a:rPr lang="en-IN" sz="2400">
                    <a:solidFill>
                      <a:srgbClr val="111827"/>
                    </a:solidFill>
                    <a:latin typeface="Cambria Math" panose="02040503050406030204" pitchFamily="18" charset="0"/>
                  </a:rPr>
                  <a:t>$PC\perp QH$</a:t>
                </a:r>
                <a:r>
                  <a:rPr sz="2400" b="0">
                    <a:solidFill>
                      <a:srgbClr val="111827"/>
                    </a:solidFill>
                    <a:latin typeface="Arial"/>
                  </a:rPr>
                  <a:t> has slope </a:t>
                </a:r>
                <a:r>
                  <a:rPr lang="en-IN" sz="2400">
                    <a:solidFill>
                      <a:srgbClr val="111827"/>
                    </a:solidFill>
                    <a:latin typeface="Cambria Math" panose="02040503050406030204" pitchFamily="18" charset="0"/>
                  </a:rPr>
                  <a:t>$-\frac13$</a:t>
                </a:r>
                <a:r>
                  <a:rPr sz="2400" b="0">
                    <a:solidFill>
                      <a:srgbClr val="111827"/>
                    </a:solidFill>
                    <a:latin typeface="Arial"/>
                  </a:rPr>
                  <a:t>: </a:t>
                </a:r>
                <a:r>
                  <a:rPr lang="en-IN" sz="2400">
                    <a:solidFill>
                      <a:srgbClr val="111827"/>
                    </a:solidFill>
                    <a:latin typeface="Cambria Math" panose="02040503050406030204" pitchFamily="18" charset="0"/>
                  </a:rPr>
                  <a:t>$y-3=-\frac13(x+1)$</a:t>
                </a:r>
                <a:r>
                  <a:rPr sz="2400" b="0">
                    <a:solidFill>
                      <a:srgbClr val="111827"/>
                    </a:solidFill>
                    <a:latin typeface="Arial"/>
                  </a:rPr>
                  <a:t>, i.e. </a:t>
                </a:r>
                <a:r>
                  <a:rPr lang="en-IN" sz="2400">
                    <a:solidFill>
                      <a:srgbClr val="111827"/>
                    </a:solidFill>
                    <a:latin typeface="Cambria Math" panose="02040503050406030204" pitchFamily="18" charset="0"/>
                  </a:rPr>
                  <a:t>$x+3y=8$</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Slope of </a:t>
                </a:r>
                <a:r>
                  <a:rPr lang="en-IN" sz="2400">
                    <a:solidFill>
                      <a:srgbClr val="111827"/>
                    </a:solidFill>
                    <a:latin typeface="Cambria Math" panose="02040503050406030204" pitchFamily="18" charset="0"/>
                  </a:rPr>
                  <a:t>$PH$</a:t>
                </a:r>
                <a:r>
                  <a:rPr sz="2400" b="0">
                    <a:solidFill>
                      <a:srgbClr val="111827"/>
                    </a:solidFill>
                    <a:latin typeface="Arial"/>
                  </a:rPr>
                  <a:t>: </a:t>
                </a:r>
                <a:r>
                  <a:rPr lang="en-IN" sz="2400">
                    <a:solidFill>
                      <a:srgbClr val="111827"/>
                    </a:solidFill>
                    <a:latin typeface="Cambria Math" panose="02040503050406030204" pitchFamily="18" charset="0"/>
                  </a:rPr>
                  <a:t>$\frac{3-2}{-1-1}=-\frac12$</a:t>
                </a:r>
                <a:r>
                  <a:rPr sz="2400" b="0">
                    <a:solidFill>
                      <a:srgbClr val="111827"/>
                    </a:solidFill>
                    <a:latin typeface="Arial"/>
                  </a:rPr>
                  <a:t>, so side </a:t>
                </a:r>
                <a:r>
                  <a:rPr lang="en-IN" sz="2400">
                    <a:solidFill>
                      <a:srgbClr val="111827"/>
                    </a:solidFill>
                    <a:latin typeface="Cambria Math" panose="02040503050406030204" pitchFamily="18" charset="0"/>
                  </a:rPr>
                  <a:t>$QC\perp PH$</a:t>
                </a:r>
                <a:r>
                  <a:rPr sz="2400" b="0">
                    <a:solidFill>
                      <a:srgbClr val="111827"/>
                    </a:solidFill>
                    <a:latin typeface="Arial"/>
                  </a:rPr>
                  <a:t> has slope </a:t>
                </a:r>
                <a:r>
                  <a:rPr lang="en-IN" sz="2400">
                    <a:solidFill>
                      <a:srgbClr val="111827"/>
                    </a:solidFill>
                    <a:latin typeface="Cambria Math" panose="02040503050406030204" pitchFamily="18" charset="0"/>
                  </a:rPr>
                  <a:t>$2$</a:t>
                </a:r>
                <a:r>
                  <a:rPr sz="2400" b="0">
                    <a:solidFill>
                      <a:srgbClr val="111827"/>
                    </a:solidFill>
                    <a:latin typeface="Arial"/>
                  </a:rPr>
                  <a:t>: </a:t>
                </a:r>
                <a:r>
                  <a:rPr lang="en-IN" sz="2400">
                    <a:solidFill>
                      <a:srgbClr val="111827"/>
                    </a:solidFill>
                    <a:latin typeface="Cambria Math" panose="02040503050406030204" pitchFamily="18" charset="0"/>
                  </a:rPr>
                  <a:t>$y-5=2(x-2)$</a:t>
                </a:r>
                <a:r>
                  <a:rPr sz="2400" b="0">
                    <a:solidFill>
                      <a:srgbClr val="111827"/>
                    </a:solidFill>
                    <a:latin typeface="Arial"/>
                  </a:rPr>
                  <a:t>, i.e. </a:t>
                </a:r>
                <a:r>
                  <a:rPr lang="en-IN" sz="2400">
                    <a:solidFill>
                      <a:srgbClr val="111827"/>
                    </a:solidFill>
                    <a:latin typeface="Cambria Math" panose="02040503050406030204" pitchFamily="18" charset="0"/>
                  </a:rPr>
                  <a:t>$2x-y=-1$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Solve </a:t>
                </a:r>
                <a:r>
                  <a:rPr lang="en-IN" sz="2400">
                    <a:solidFill>
                      <a:srgbClr val="111827"/>
                    </a:solidFill>
                    <a:latin typeface="Cambria Math" panose="02040503050406030204" pitchFamily="18" charset="0"/>
                  </a:rPr>
                  <a:t>$x+3y=8$</a:t>
                </a:r>
                <a:r>
                  <a:rPr sz="2400" b="0">
                    <a:solidFill>
                      <a:srgbClr val="111827"/>
                    </a:solidFill>
                    <a:latin typeface="Arial"/>
                  </a:rPr>
                  <a:t> and </a:t>
                </a:r>
                <a:r>
                  <a:rPr lang="en-IN" sz="2400">
                    <a:solidFill>
                      <a:srgbClr val="111827"/>
                    </a:solidFill>
                    <a:latin typeface="Cambria Math" panose="02040503050406030204" pitchFamily="18" charset="0"/>
                  </a:rPr>
                  <a:t>$2x-y=-1$</a:t>
                </a:r>
                <a:r>
                  <a:rPr sz="2400" b="0">
                    <a:solidFill>
                      <a:srgbClr val="111827"/>
                    </a:solidFill>
                    <a:latin typeface="Arial"/>
                  </a:rPr>
                  <a:t>: from the second </a:t>
                </a:r>
                <a:r>
                  <a:rPr lang="en-IN" sz="2400">
                    <a:solidFill>
                      <a:srgbClr val="111827"/>
                    </a:solidFill>
                    <a:latin typeface="Cambria Math" panose="02040503050406030204" pitchFamily="18" charset="0"/>
                  </a:rPr>
                  <a:t>$y=2x+1$</a:t>
                </a:r>
                <a:r>
                  <a:rPr sz="2400" b="0">
                    <a:solidFill>
                      <a:srgbClr val="111827"/>
                    </a:solidFill>
                    <a:latin typeface="Arial"/>
                  </a:rPr>
                  <a:t>; then </a:t>
                </a:r>
                <a:r>
                  <a:rPr lang="en-IN" sz="2400">
                    <a:solidFill>
                      <a:srgbClr val="111827"/>
                    </a:solidFill>
                    <a:latin typeface="Cambria Math" panose="02040503050406030204" pitchFamily="18" charset="0"/>
                  </a:rPr>
                  <a:t>$x+6x+3=8$</a:t>
                </a:r>
                <a:r>
                  <a:rPr sz="2400" b="0">
                    <a:solidFill>
                      <a:srgbClr val="111827"/>
                    </a:solidFill>
                    <a:latin typeface="Arial"/>
                  </a:rPr>
                  <a:t>, so </a:t>
                </a:r>
                <a:r>
                  <a:rPr lang="en-IN" sz="2400">
                    <a:solidFill>
                      <a:srgbClr val="111827"/>
                    </a:solidFill>
                    <a:latin typeface="Cambria Math" panose="02040503050406030204" pitchFamily="18" charset="0"/>
                  </a:rPr>
                  <a:t>$x=\frac57$</a:t>
                </a:r>
                <a:r>
                  <a:rPr sz="2400" b="0">
                    <a:solidFill>
                      <a:srgbClr val="111827"/>
                    </a:solidFill>
                    <a:latin typeface="Arial"/>
                  </a:rPr>
                  <a:t>, </a:t>
                </a:r>
                <a:r>
                  <a:rPr lang="en-IN" sz="2400">
                    <a:solidFill>
                      <a:srgbClr val="111827"/>
                    </a:solidFill>
                    <a:latin typeface="Cambria Math" panose="02040503050406030204" pitchFamily="18" charset="0"/>
                  </a:rPr>
                  <a:t>$y=\frac{17}{7}$</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Check that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𝐻</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7</m:t>
                            </m:r>
                          </m:den>
                        </m:f>
                      </m:e>
                    </m:d>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third vertex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7</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17</m:t>
                            </m:r>
                          </m:num>
                          <m:den>
                            <m:r>
                              <a:rPr lang="en-IN" sz="2400" i="1">
                                <a:solidFill>
                                  <a:srgbClr val="111827"/>
                                </a:solidFill>
                                <a:latin typeface="Cambria Math" panose="02040503050406030204" pitchFamily="18" charset="0"/>
                              </a:rPr>
                              <m:t>7</m:t>
                            </m:r>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Check that </a:t>
                </a:r>
                <a:r>
                  <a:rPr lang="en-IN" sz="2400">
                    <a:solidFill>
                      <a:srgbClr val="111827"/>
                    </a:solidFill>
                    <a:latin typeface="Cambria Math" panose="02040503050406030204" pitchFamily="18" charset="0"/>
                  </a:rPr>
                  <a:t>$CH\perp PQ$</a:t>
                </a:r>
                <a:r>
                  <a:rPr sz="2400" b="0">
                    <a:solidFill>
                      <a:srgbClr val="111827"/>
                    </a:solidFill>
                    <a:latin typeface="Arial"/>
                  </a:rPr>
                  <a:t>: </a:t>
                </a:r>
                <a:r>
                  <a:rPr lang="en-IN" sz="2400">
                    <a:solidFill>
                      <a:srgbClr val="111827"/>
                    </a:solidFill>
                    <a:latin typeface="Cambria Math" panose="02040503050406030204" pitchFamily="18" charset="0"/>
                  </a:rPr>
                  <a:t>$\vec{PQ}=(3,2)$</a:t>
                </a:r>
                <a:r>
                  <a:rPr sz="2400" b="0">
                    <a:solidFill>
                      <a:srgbClr val="111827"/>
                    </a:solidFill>
                    <a:latin typeface="Arial"/>
                  </a:rPr>
                  <a:t> and </a:t>
                </a:r>
                <a:r>
                  <a:rPr lang="en-IN" sz="2400">
                    <a:solidFill>
                      <a:srgbClr val="111827"/>
                    </a:solidFill>
                    <a:latin typeface="Cambria Math" panose="02040503050406030204" pitchFamily="18" charset="0"/>
                  </a:rPr>
                  <a:t>$\vec{CH}=\left(\frac27,-\frac37\right)$</a:t>
                </a:r>
                <a:r>
                  <a:rPr sz="2400" b="0">
                    <a:solidFill>
                      <a:srgbClr val="111827"/>
                    </a:solidFill>
                    <a:latin typeface="Arial"/>
                  </a:rPr>
                  <a:t> give </a:t>
                </a:r>
                <a:r>
                  <a:rPr lang="en-IN" sz="2400">
                    <a:solidFill>
                      <a:srgbClr val="111827"/>
                    </a:solidFill>
                    <a:latin typeface="Cambria Math" panose="02040503050406030204" pitchFamily="18" charset="0"/>
                  </a:rPr>
                  <a:t>$3\cdot\frac27-2\cdot\frac37=0$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third vertex is </a:t>
                </a:r>
                <a:r>
                  <a:rPr lang="en-IN" sz="2400">
                    <a:solidFill>
                      <a:srgbClr val="111827"/>
                    </a:solidFill>
                    <a:latin typeface="Cambria Math" panose="02040503050406030204" pitchFamily="18" charset="0"/>
                  </a:rPr>
                  <a:t>$\left(\frac57,\frac{17}{7}\right)$</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m:t>
                        </m:r>
                      </m:num>
                      <m:den>
                        <m:r>
                          <a:rPr lang="en-IN" sz="2800" i="1">
                            <a:solidFill>
                              <a:srgbClr val="15803D"/>
                            </a:solidFill>
                            <a:latin typeface="Cambria Math" panose="02040503050406030204" pitchFamily="18" charset="0"/>
                          </a:rPr>
                          <m:t>7</m:t>
                        </m:r>
                      </m:den>
                    </m:f>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𝑖</m:t>
                        </m:r>
                      </m:e>
                    </m:acc>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17</m:t>
                        </m:r>
                      </m:num>
                      <m:den>
                        <m:r>
                          <a:rPr lang="en-IN" sz="2800" i="1">
                            <a:solidFill>
                              <a:srgbClr val="15803D"/>
                            </a:solidFill>
                            <a:latin typeface="Cambria Math" panose="02040503050406030204" pitchFamily="18" charset="0"/>
                          </a:rPr>
                          <m:t>7</m:t>
                        </m:r>
                      </m:den>
                    </m:f>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𝑗</m:t>
                        </m:r>
                      </m:e>
                    </m:acc>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$\frac{5}{7}\hat{i}+\frac{17}{7}\hat{j}$</a:t>
                </a:r>
                <a:endParaRPr sz="2800">
                  <a:solidFill>
                    <a:srgbClr val="15803D"/>
                  </a:solidFill>
                </a:endParaRPr>
              </a:p>
            </p:txBody>
          </p:sp>
        </mc:Fallback>
      </mc:AlternateContent>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Orthocentre </a:t>
                </a:r>
                <a14:m>
                  <m:oMath xmlns:m="http://schemas.openxmlformats.org/officeDocument/2006/math">
                    <m:r>
                      <a:rPr lang="en-IN" sz="2400" i="1">
                        <a:solidFill>
                          <a:srgbClr val="111827"/>
                        </a:solidFill>
                        <a:latin typeface="Cambria Math" panose="02040503050406030204" pitchFamily="18" charset="0"/>
                      </a:rPr>
                      <m:t>𝐻</m:t>
                    </m:r>
                  </m:oMath>
                </a14:m>
                <a:r>
                  <a:rPr sz="2400" b="0">
                    <a:solidFill>
                      <a:srgbClr val="111827"/>
                    </a:solidFill>
                    <a:latin typeface="Arial"/>
                  </a:rPr>
                  <a:t> condition: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𝐻</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each vertex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with opposite side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any two of the three conditions imply the third.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circumcentre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and centroid </a:t>
                </a:r>
                <a14:m>
                  <m:oMath xmlns:m="http://schemas.openxmlformats.org/officeDocument/2006/math">
                    <m:r>
                      <a:rPr lang="en-IN" sz="2400" i="1">
                        <a:solidFill>
                          <a:srgbClr val="111827"/>
                        </a:solidFill>
                        <a:latin typeface="Cambria Math" panose="02040503050406030204" pitchFamily="18" charset="0"/>
                      </a:rPr>
                      <m:t>𝐺</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𝐻</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𝐻</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𝐺</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e>
                    </m:acc>
                  </m:oMath>
                </a14:m>
                <a:r>
                  <a:rPr sz="2400" b="0">
                    <a:solidFill>
                      <a:srgbClr val="111827"/>
                    </a:solidFill>
                    <a:latin typeface="Arial"/>
                  </a:rPr>
                  <a:t> (Euler line); here </a:t>
                </a:r>
                <a14:m>
                  <m:oMath xmlns:m="http://schemas.openxmlformats.org/officeDocument/2006/math">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59</m:t>
                            </m:r>
                          </m:num>
                          <m:den>
                            <m:r>
                              <a:rPr lang="en-IN" sz="2400" i="1">
                                <a:solidFill>
                                  <a:srgbClr val="111827"/>
                                </a:solidFill>
                                <a:latin typeface="Cambria Math" panose="02040503050406030204" pitchFamily="18" charset="0"/>
                              </a:rPr>
                              <m:t>14</m:t>
                            </m:r>
                          </m:den>
                        </m:f>
                      </m:e>
                    </m:d>
                  </m:oMath>
                </a14:m>
                <a:r>
                  <a:rPr sz="2400" b="0">
                    <a:solidFill>
                      <a:srgbClr val="111827"/>
                    </a:solidFill>
                    <a:latin typeface="Arial"/>
                  </a:rPr>
                  <a:t> and the formula returns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third condition acts as a free check: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𝐻</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𝑄</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holds for the answer.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Orthocentre </a:t>
                </a:r>
                <a:r>
                  <a:rPr lang="en-IN" sz="2400">
                    <a:solidFill>
                      <a:srgbClr val="111827"/>
                    </a:solidFill>
                    <a:latin typeface="Cambria Math" panose="02040503050406030204" pitchFamily="18" charset="0"/>
                  </a:rPr>
                  <a:t>$H$</a:t>
                </a:r>
                <a:r>
                  <a:rPr sz="2400" b="0">
                    <a:solidFill>
                      <a:srgbClr val="111827"/>
                    </a:solidFill>
                    <a:latin typeface="Arial"/>
                  </a:rPr>
                  <a:t> condition: </a:t>
                </a:r>
                <a:r>
                  <a:rPr lang="en-IN" sz="2400">
                    <a:solidFill>
                      <a:srgbClr val="111827"/>
                    </a:solidFill>
                    <a:latin typeface="Cambria Math" panose="02040503050406030204" pitchFamily="18" charset="0"/>
                  </a:rPr>
                  <a:t>$(\vec A-\vec H)\cdot(\vec B-\vec C)=0$</a:t>
                </a:r>
                <a:r>
                  <a:rPr sz="2400" b="0">
                    <a:solidFill>
                      <a:srgbClr val="111827"/>
                    </a:solidFill>
                    <a:latin typeface="Arial"/>
                  </a:rPr>
                  <a:t> for each vertex </a:t>
                </a:r>
                <a:r>
                  <a:rPr lang="en-IN" sz="2400">
                    <a:solidFill>
                      <a:srgbClr val="111827"/>
                    </a:solidFill>
                    <a:latin typeface="Cambria Math" panose="02040503050406030204" pitchFamily="18" charset="0"/>
                  </a:rPr>
                  <a:t>$A$</a:t>
                </a:r>
                <a:r>
                  <a:rPr sz="2400" b="0">
                    <a:solidFill>
                      <a:srgbClr val="111827"/>
                    </a:solidFill>
                    <a:latin typeface="Arial"/>
                  </a:rPr>
                  <a:t> with opposite side </a:t>
                </a:r>
                <a:r>
                  <a:rPr lang="en-IN" sz="2400">
                    <a:solidFill>
                      <a:srgbClr val="111827"/>
                    </a:solidFill>
                    <a:latin typeface="Cambria Math" panose="02040503050406030204" pitchFamily="18" charset="0"/>
                  </a:rPr>
                  <a:t>$BC$</a:t>
                </a:r>
                <a:r>
                  <a:rPr sz="2400" b="0">
                    <a:solidFill>
                      <a:srgbClr val="111827"/>
                    </a:solidFill>
                    <a:latin typeface="Arial"/>
                  </a:rPr>
                  <a:t>; any two of the three conditions imply the third.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circumcentre </a:t>
                </a:r>
                <a:r>
                  <a:rPr lang="en-IN" sz="2400">
                    <a:solidFill>
                      <a:srgbClr val="111827"/>
                    </a:solidFill>
                    <a:latin typeface="Cambria Math" panose="02040503050406030204" pitchFamily="18" charset="0"/>
                  </a:rPr>
                  <a:t>$O$</a:t>
                </a:r>
                <a:r>
                  <a:rPr sz="2400" b="0">
                    <a:solidFill>
                      <a:srgbClr val="111827"/>
                    </a:solidFill>
                    <a:latin typeface="Arial"/>
                  </a:rPr>
                  <a:t> and centroid </a:t>
                </a:r>
                <a:r>
                  <a:rPr lang="en-IN" sz="2400">
                    <a:solidFill>
                      <a:srgbClr val="111827"/>
                    </a:solidFill>
                    <a:latin typeface="Cambria Math" panose="02040503050406030204" pitchFamily="18" charset="0"/>
                  </a:rPr>
                  <a:t>$G$</a:t>
                </a:r>
                <a:r>
                  <a:rPr sz="2400" b="0">
                    <a:solidFill>
                      <a:srgbClr val="111827"/>
                    </a:solidFill>
                    <a:latin typeface="Arial"/>
                  </a:rPr>
                  <a:t>: </a:t>
                </a:r>
                <a:r>
                  <a:rPr lang="en-IN" sz="2400">
                    <a:solidFill>
                      <a:srgbClr val="111827"/>
                    </a:solidFill>
                    <a:latin typeface="Cambria Math" panose="02040503050406030204" pitchFamily="18" charset="0"/>
                  </a:rPr>
                  <a:t>$\vec H=\vec A+\vec B+\vec C-2\vec O$</a:t>
                </a:r>
                <a:r>
                  <a:rPr sz="2400" b="0">
                    <a:solidFill>
                      <a:srgbClr val="111827"/>
                    </a:solidFill>
                    <a:latin typeface="Arial"/>
                  </a:rPr>
                  <a:t> and </a:t>
                </a:r>
                <a:r>
                  <a:rPr lang="en-IN" sz="2400">
                    <a:solidFill>
                      <a:srgbClr val="111827"/>
                    </a:solidFill>
                    <a:latin typeface="Cambria Math" panose="02040503050406030204" pitchFamily="18" charset="0"/>
                  </a:rPr>
                  <a:t>$\vec H=3\vec G-2\vec O$</a:t>
                </a:r>
                <a:r>
                  <a:rPr sz="2400" b="0">
                    <a:solidFill>
                      <a:srgbClr val="111827"/>
                    </a:solidFill>
                    <a:latin typeface="Arial"/>
                  </a:rPr>
                  <a:t> (Euler line); here </a:t>
                </a:r>
                <a:r>
                  <a:rPr lang="en-IN" sz="2400">
                    <a:solidFill>
                      <a:srgbClr val="111827"/>
                    </a:solidFill>
                    <a:latin typeface="Cambria Math" panose="02040503050406030204" pitchFamily="18" charset="0"/>
                  </a:rPr>
                  <a:t>$O=\left(\frac5{14},\frac{59}{14}\right)$</a:t>
                </a:r>
                <a:r>
                  <a:rPr sz="2400" b="0">
                    <a:solidFill>
                      <a:srgbClr val="111827"/>
                    </a:solidFill>
                    <a:latin typeface="Arial"/>
                  </a:rPr>
                  <a:t> and the formula returns </a:t>
                </a:r>
                <a:r>
                  <a:rPr lang="en-IN" sz="2400">
                    <a:solidFill>
                      <a:srgbClr val="111827"/>
                    </a:solidFill>
                    <a:latin typeface="Cambria Math" panose="02040503050406030204" pitchFamily="18" charset="0"/>
                  </a:rPr>
                  <a:t>$(1,2)$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third condition acts as a free check: </a:t>
                </a:r>
                <a:r>
                  <a:rPr lang="en-IN" sz="2400">
                    <a:solidFill>
                      <a:srgbClr val="111827"/>
                    </a:solidFill>
                    <a:latin typeface="Cambria Math" panose="02040503050406030204" pitchFamily="18" charset="0"/>
                  </a:rPr>
                  <a:t>$\vec{CH}\cdot\vec{PQ}=0$</a:t>
                </a:r>
                <a:r>
                  <a:rPr sz="2400" b="0">
                    <a:solidFill>
                      <a:srgbClr val="111827"/>
                    </a:solidFill>
                    <a:latin typeface="Arial"/>
                  </a:rPr>
                  <a:t> holds for the answer.</a:t>
                </a:r>
                <a:endParaRPr sz="2400">
                  <a:solidFill>
                    <a:srgbClr val="111827"/>
                  </a:solidFill>
                </a:endParaRPr>
              </a:p>
            </p:txBody>
          </p:sp>
        </mc:Fallback>
      </mc:AlternateContent>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where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continuous functions. 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nonzero vectors for all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 then show that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parallel for some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$\vec{A}(t)=f_1(t)\hat{i}+f_2(t)\hat{j}$</a:t>
                </a:r>
                <a:r>
                  <a:rPr sz="2400" b="0">
                    <a:solidFill>
                      <a:srgbClr val="111827"/>
                    </a:solidFill>
                    <a:latin typeface="Arial"/>
                  </a:rPr>
                  <a:t> and </a:t>
                </a:r>
                <a:r>
                  <a:rPr lang="en-IN" sz="2400">
                    <a:solidFill>
                      <a:srgbClr val="111827"/>
                    </a:solidFill>
                    <a:latin typeface="Cambria Math" panose="02040503050406030204" pitchFamily="18" charset="0"/>
                  </a:rPr>
                  <a:t>$\vec{B}(t)=g_1(t)\hat{i}+g_2(t)\hat{j}$</a:t>
                </a:r>
                <a:r>
                  <a:rPr sz="2400" b="0">
                    <a:solidFill>
                      <a:srgbClr val="111827"/>
                    </a:solidFill>
                    <a:latin typeface="Arial"/>
                  </a:rPr>
                  <a:t>, </a:t>
                </a:r>
                <a:r>
                  <a:rPr lang="en-IN" sz="2400">
                    <a:solidFill>
                      <a:srgbClr val="111827"/>
                    </a:solidFill>
                    <a:latin typeface="Cambria Math" panose="02040503050406030204" pitchFamily="18" charset="0"/>
                  </a:rPr>
                  <a:t>$t\in[0,1]$</a:t>
                </a:r>
                <a:r>
                  <a:rPr sz="2400" b="0">
                    <a:solidFill>
                      <a:srgbClr val="111827"/>
                    </a:solidFill>
                    <a:latin typeface="Arial"/>
                  </a:rPr>
                  <a:t>, where </a:t>
                </a:r>
                <a:r>
                  <a:rPr lang="en-IN" sz="2400">
                    <a:solidFill>
                      <a:srgbClr val="111827"/>
                    </a:solidFill>
                    <a:latin typeface="Cambria Math" panose="02040503050406030204" pitchFamily="18" charset="0"/>
                  </a:rPr>
                  <a:t>$f_1,f_2,g_1,g_2$</a:t>
                </a:r>
                <a:r>
                  <a:rPr sz="2400" b="0">
                    <a:solidFill>
                      <a:srgbClr val="111827"/>
                    </a:solidFill>
                    <a:latin typeface="Arial"/>
                  </a:rPr>
                  <a:t> are continuous functions. If </a:t>
                </a:r>
                <a:r>
                  <a:rPr lang="en-IN" sz="2400">
                    <a:solidFill>
                      <a:srgbClr val="111827"/>
                    </a:solidFill>
                    <a:latin typeface="Cambria Math" panose="02040503050406030204" pitchFamily="18" charset="0"/>
                  </a:rPr>
                  <a:t>$\vec{A}(t)$</a:t>
                </a:r>
                <a:r>
                  <a:rPr sz="2400" b="0">
                    <a:solidFill>
                      <a:srgbClr val="111827"/>
                    </a:solidFill>
                    <a:latin typeface="Arial"/>
                  </a:rPr>
                  <a:t> and </a:t>
                </a:r>
                <a:r>
                  <a:rPr lang="en-IN" sz="2400">
                    <a:solidFill>
                      <a:srgbClr val="111827"/>
                    </a:solidFill>
                    <a:latin typeface="Cambria Math" panose="02040503050406030204" pitchFamily="18" charset="0"/>
                  </a:rPr>
                  <a:t>$\vec{B}(t)$</a:t>
                </a:r>
                <a:r>
                  <a:rPr sz="2400" b="0">
                    <a:solidFill>
                      <a:srgbClr val="111827"/>
                    </a:solidFill>
                    <a:latin typeface="Arial"/>
                  </a:rPr>
                  <a:t> are nonzero vectors for all </a:t>
                </a:r>
                <a:r>
                  <a:rPr lang="en-IN" sz="2400">
                    <a:solidFill>
                      <a:srgbClr val="111827"/>
                    </a:solidFill>
                    <a:latin typeface="Cambria Math" panose="02040503050406030204" pitchFamily="18" charset="0"/>
                  </a:rPr>
                  <a:t>$t$</a:t>
                </a:r>
                <a:r>
                  <a:rPr sz="2400" b="0">
                    <a:solidFill>
                      <a:srgbClr val="111827"/>
                    </a:solidFill>
                    <a:latin typeface="Arial"/>
                  </a:rPr>
                  <a:t> and </a:t>
                </a:r>
                <a:r>
                  <a:rPr lang="en-IN" sz="2400">
                    <a:solidFill>
                      <a:srgbClr val="111827"/>
                    </a:solidFill>
                    <a:latin typeface="Cambria Math" panose="02040503050406030204" pitchFamily="18" charset="0"/>
                  </a:rPr>
                  <a:t>$\vec{A}(0)=2\hat{i}+3\hat{j}$</a:t>
                </a:r>
                <a:r>
                  <a:rPr sz="2400" b="0">
                    <a:solidFill>
                      <a:srgbClr val="111827"/>
                    </a:solidFill>
                    <a:latin typeface="Arial"/>
                  </a:rPr>
                  <a:t>, </a:t>
                </a:r>
                <a:r>
                  <a:rPr lang="en-IN" sz="2400">
                    <a:solidFill>
                      <a:srgbClr val="111827"/>
                    </a:solidFill>
                    <a:latin typeface="Cambria Math" panose="02040503050406030204" pitchFamily="18" charset="0"/>
                  </a:rPr>
                  <a:t>$\vec{A}(1)=6\hat{i}+2\hat{j}$</a:t>
                </a:r>
                <a:r>
                  <a:rPr sz="2400" b="0">
                    <a:solidFill>
                      <a:srgbClr val="111827"/>
                    </a:solidFill>
                    <a:latin typeface="Arial"/>
                  </a:rPr>
                  <a:t>, </a:t>
                </a:r>
                <a:r>
                  <a:rPr lang="en-IN" sz="2400">
                    <a:solidFill>
                      <a:srgbClr val="111827"/>
                    </a:solidFill>
                    <a:latin typeface="Cambria Math" panose="02040503050406030204" pitchFamily="18" charset="0"/>
                  </a:rPr>
                  <a:t>$\vec{B}(0)=3\hat{i}+2\hat{j}$</a:t>
                </a:r>
                <a:r>
                  <a:rPr sz="2400" b="0">
                    <a:solidFill>
                      <a:srgbClr val="111827"/>
                    </a:solidFill>
                    <a:latin typeface="Arial"/>
                  </a:rPr>
                  <a:t>, </a:t>
                </a:r>
                <a:r>
                  <a:rPr lang="en-IN" sz="2400">
                    <a:solidFill>
                      <a:srgbClr val="111827"/>
                    </a:solidFill>
                    <a:latin typeface="Cambria Math" panose="02040503050406030204" pitchFamily="18" charset="0"/>
                  </a:rPr>
                  <a:t>$\vec{B}(1)=2\hat{i}+6\hat{j}$</a:t>
                </a:r>
                <a:r>
                  <a:rPr sz="2400" b="0">
                    <a:solidFill>
                      <a:srgbClr val="111827"/>
                    </a:solidFill>
                    <a:latin typeface="Arial"/>
                  </a:rPr>
                  <a:t>, then show that </a:t>
                </a:r>
                <a:r>
                  <a:rPr lang="en-IN" sz="2400">
                    <a:solidFill>
                      <a:srgbClr val="111827"/>
                    </a:solidFill>
                    <a:latin typeface="Cambria Math" panose="02040503050406030204" pitchFamily="18" charset="0"/>
                  </a:rPr>
                  <a:t>$\vec{A}(t)$</a:t>
                </a:r>
                <a:r>
                  <a:rPr sz="2400" b="0">
                    <a:solidFill>
                      <a:srgbClr val="111827"/>
                    </a:solidFill>
                    <a:latin typeface="Arial"/>
                  </a:rPr>
                  <a:t> and </a:t>
                </a:r>
                <a:r>
                  <a:rPr lang="en-IN" sz="2400">
                    <a:solidFill>
                      <a:srgbClr val="111827"/>
                    </a:solidFill>
                    <a:latin typeface="Cambria Math" panose="02040503050406030204" pitchFamily="18" charset="0"/>
                  </a:rPr>
                  <a:t>$\vec{B}(t)$</a:t>
                </a:r>
                <a:r>
                  <a:rPr sz="2400" b="0">
                    <a:solidFill>
                      <a:srgbClr val="111827"/>
                    </a:solidFill>
                    <a:latin typeface="Arial"/>
                  </a:rPr>
                  <a:t> are parallel for some </a:t>
                </a:r>
                <a:r>
                  <a:rPr lang="en-IN" sz="2400">
                    <a:solidFill>
                      <a:srgbClr val="111827"/>
                    </a:solidFill>
                    <a:latin typeface="Cambria Math" panose="02040503050406030204" pitchFamily="18" charset="0"/>
                  </a:rPr>
                  <a:t>$t$</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8887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Parallel vectors and cross product, Intermediate value theorem</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Parallel means </a:t>
                </a:r>
                <a14:m>
                  <m:oMath xmlns:m="http://schemas.openxmlformats.org/officeDocument/2006/math">
                    <m:sSub>
                      <m:e>
                        <m:r>
                          <a:rPr lang="en-IN" sz="2400" i="1">
                            <a:solidFill>
                              <a:srgbClr val="78350F"/>
                            </a:solidFill>
                            <a:latin typeface="Cambria Math" panose="02040503050406030204" pitchFamily="18" charset="0"/>
                          </a:rPr>
                          <m:t>𝑓</m:t>
                        </m:r>
                      </m:e>
                      <m:sub>
                        <m:r>
                          <a:rPr lang="en-IN" sz="2400" i="1">
                            <a:solidFill>
                              <a:srgbClr val="78350F"/>
                            </a:solidFill>
                            <a:latin typeface="Cambria Math" panose="02040503050406030204" pitchFamily="18" charset="0"/>
                          </a:rPr>
                          <m:t>1</m:t>
                        </m:r>
                      </m:sub>
                    </m:sSub>
                    <m:sSub>
                      <m:e>
                        <m:r>
                          <a:rPr lang="en-IN" sz="2400" i="1">
                            <a:solidFill>
                              <a:srgbClr val="78350F"/>
                            </a:solidFill>
                            <a:latin typeface="Cambria Math" panose="02040503050406030204" pitchFamily="18" charset="0"/>
                          </a:rPr>
                          <m:t>𝑔</m:t>
                        </m:r>
                      </m:e>
                      <m:sub>
                        <m:r>
                          <a:rPr lang="en-IN" sz="2400" i="1">
                            <a:solidFill>
                              <a:srgbClr val="78350F"/>
                            </a:solidFill>
                            <a:latin typeface="Cambria Math" panose="02040503050406030204" pitchFamily="18" charset="0"/>
                          </a:rPr>
                          <m:t>2</m:t>
                        </m:r>
                      </m:sub>
                    </m:sSub>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𝑓</m:t>
                        </m:r>
                      </m:e>
                      <m:sub>
                        <m:r>
                          <a:rPr lang="en-IN" sz="2400" i="1">
                            <a:solidFill>
                              <a:srgbClr val="78350F"/>
                            </a:solidFill>
                            <a:latin typeface="Cambria Math" panose="02040503050406030204" pitchFamily="18" charset="0"/>
                          </a:rPr>
                          <m:t>2</m:t>
                        </m:r>
                      </m:sub>
                    </m:sSub>
                    <m:sSub>
                      <m:e>
                        <m:r>
                          <a:rPr lang="en-IN" sz="2400" i="1">
                            <a:solidFill>
                              <a:srgbClr val="78350F"/>
                            </a:solidFill>
                            <a:latin typeface="Cambria Math" panose="02040503050406030204" pitchFamily="18" charset="0"/>
                          </a:rPr>
                          <m:t>𝑔</m:t>
                        </m:r>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this is a continuous function of </a:t>
                </a:r>
                <a14:m>
                  <m:oMath xmlns:m="http://schemas.openxmlformats.org/officeDocument/2006/math">
                    <m:r>
                      <a:rPr lang="en-IN" sz="2400" i="1">
                        <a:solidFill>
                          <a:srgbClr val="78350F"/>
                        </a:solidFill>
                        <a:latin typeface="Cambria Math" panose="02040503050406030204" pitchFamily="18" charset="0"/>
                      </a:rPr>
                      <m:t>𝑡</m:t>
                    </m:r>
                  </m:oMath>
                </a14:m>
                <a:r>
                  <a:rPr sz="2400" b="0">
                    <a:solidFill>
                      <a:srgbClr val="78350F"/>
                    </a:solidFill>
                    <a:latin typeface="Arial"/>
                  </a:rPr>
                  <a:t> whose values at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1</m:t>
                    </m:r>
                  </m:oMath>
                </a14:m>
                <a:r>
                  <a:rPr sz="2400" b="0">
                    <a:solidFill>
                      <a:srgbClr val="78350F"/>
                    </a:solidFill>
                    <a:latin typeface="Arial"/>
                  </a:rPr>
                  <a:t> have opposite signs, so the intermediate value theorem applies.</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Parallel means </a:t>
                </a:r>
                <a:r>
                  <a:rPr lang="en-IN" sz="2400">
                    <a:solidFill>
                      <a:srgbClr val="78350F"/>
                    </a:solidFill>
                    <a:latin typeface="Cambria Math" panose="02040503050406030204" pitchFamily="18" charset="0"/>
                  </a:rPr>
                  <a:t>$f_1g_2-f_2g_1=0$</a:t>
                </a:r>
                <a:r>
                  <a:rPr sz="2400" b="0">
                    <a:solidFill>
                      <a:srgbClr val="78350F"/>
                    </a:solidFill>
                    <a:latin typeface="Arial"/>
                  </a:rPr>
                  <a:t>; this is a continuous function of </a:t>
                </a:r>
                <a:r>
                  <a:rPr lang="en-IN" sz="2400">
                    <a:solidFill>
                      <a:srgbClr val="78350F"/>
                    </a:solidFill>
                    <a:latin typeface="Cambria Math" panose="02040503050406030204" pitchFamily="18" charset="0"/>
                  </a:rPr>
                  <a:t>$t$</a:t>
                </a:r>
                <a:r>
                  <a:rPr sz="2400" b="0">
                    <a:solidFill>
                      <a:srgbClr val="78350F"/>
                    </a:solidFill>
                    <a:latin typeface="Arial"/>
                  </a:rPr>
                  <a:t> whose values at </a:t>
                </a:r>
                <a:r>
                  <a:rPr lang="en-IN" sz="2400">
                    <a:solidFill>
                      <a:srgbClr val="78350F"/>
                    </a:solidFill>
                    <a:latin typeface="Cambria Math" panose="02040503050406030204" pitchFamily="18" charset="0"/>
                  </a:rPr>
                  <a:t>$0$</a:t>
                </a:r>
                <a:r>
                  <a:rPr sz="2400" b="0">
                    <a:solidFill>
                      <a:srgbClr val="78350F"/>
                    </a:solidFill>
                    <a:latin typeface="Arial"/>
                  </a:rPr>
                  <a:t> and </a:t>
                </a:r>
                <a:r>
                  <a:rPr lang="en-IN" sz="2400">
                    <a:solidFill>
                      <a:srgbClr val="78350F"/>
                    </a:solidFill>
                    <a:latin typeface="Cambria Math" panose="02040503050406030204" pitchFamily="18" charset="0"/>
                  </a:rPr>
                  <a:t>$1$</a:t>
                </a:r>
                <a:r>
                  <a:rPr sz="2400" b="0">
                    <a:solidFill>
                      <a:srgbClr val="78350F"/>
                    </a:solidFill>
                    <a:latin typeface="Arial"/>
                  </a:rPr>
                  <a:t> have opposite signs, so the intermediate value theorem applies.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nonzero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parallel for some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if and only if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um>
                      <m:den>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num>
                      <m:den>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i.e.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Define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are continuous,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is continuous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Two nonzero vectors </a:t>
                </a:r>
                <a:r>
                  <a:rPr lang="en-IN" sz="2400">
                    <a:solidFill>
                      <a:srgbClr val="111827"/>
                    </a:solidFill>
                    <a:latin typeface="Cambria Math" panose="02040503050406030204" pitchFamily="18" charset="0"/>
                  </a:rPr>
                  <a:t>$\vec{A}(t),\vec{B}(t)$</a:t>
                </a:r>
                <a:r>
                  <a:rPr sz="2400" b="0">
                    <a:solidFill>
                      <a:srgbClr val="111827"/>
                    </a:solidFill>
                    <a:latin typeface="Arial"/>
                  </a:rPr>
                  <a:t> are parallel for some </a:t>
                </a:r>
                <a:r>
                  <a:rPr lang="en-IN" sz="2400">
                    <a:solidFill>
                      <a:srgbClr val="111827"/>
                    </a:solidFill>
                    <a:latin typeface="Cambria Math" panose="02040503050406030204" pitchFamily="18" charset="0"/>
                  </a:rPr>
                  <a:t>$t\in[0,1]$</a:t>
                </a:r>
                <a:r>
                  <a:rPr sz="2400" b="0">
                    <a:solidFill>
                      <a:srgbClr val="111827"/>
                    </a:solidFill>
                    <a:latin typeface="Arial"/>
                  </a:rPr>
                  <a:t> if and only if </a:t>
                </a:r>
                <a:r>
                  <a:rPr lang="en-IN" sz="2400">
                    <a:solidFill>
                      <a:srgbClr val="111827"/>
                    </a:solidFill>
                    <a:latin typeface="Cambria Math" panose="02040503050406030204" pitchFamily="18" charset="0"/>
                  </a:rPr>
                  <a:t>$\frac{f_1(t)}{g_1(t)}=\frac{f_2(t)}{g_2(t)}$</a:t>
                </a:r>
                <a:r>
                  <a:rPr sz="2400" b="0">
                    <a:solidFill>
                      <a:srgbClr val="111827"/>
                    </a:solidFill>
                    <a:latin typeface="Arial"/>
                  </a:rPr>
                  <a:t>, i.e. </a:t>
                </a:r>
                <a:r>
                  <a:rPr lang="en-IN" sz="2400">
                    <a:solidFill>
                      <a:srgbClr val="111827"/>
                    </a:solidFill>
                    <a:latin typeface="Cambria Math" panose="02040503050406030204" pitchFamily="18" charset="0"/>
                  </a:rPr>
                  <a:t>$f_1(t)g_2(t)=f_2(t)g_1(t)$</a:t>
                </a:r>
                <a:r>
                  <a:rPr sz="2400" b="0">
                    <a:solidFill>
                      <a:srgbClr val="111827"/>
                    </a:solidFill>
                    <a:latin typeface="Arial"/>
                  </a:rPr>
                  <a:t> for some </a:t>
                </a:r>
                <a:r>
                  <a:rPr lang="en-IN" sz="2400">
                    <a:solidFill>
                      <a:srgbClr val="111827"/>
                    </a:solidFill>
                    <a:latin typeface="Cambria Math" panose="02040503050406030204" pitchFamily="18" charset="0"/>
                  </a:rPr>
                  <a:t>$t\in[0,1]$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Define </a:t>
                </a:r>
                <a:r>
                  <a:rPr lang="en-IN" sz="2400">
                    <a:solidFill>
                      <a:srgbClr val="111827"/>
                    </a:solidFill>
                    <a:latin typeface="Cambria Math" panose="02040503050406030204" pitchFamily="18" charset="0"/>
                  </a:rPr>
                  <a:t>$h(t)=f_1(t)g_2(t)-f_2(t)g_1(t)$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$f_1,f_2,g_1,g_2$</a:t>
                </a:r>
                <a:r>
                  <a:rPr sz="2400" b="0">
                    <a:solidFill>
                      <a:srgbClr val="111827"/>
                    </a:solidFill>
                    <a:latin typeface="Arial"/>
                  </a:rPr>
                  <a:t> are continuous, </a:t>
                </a:r>
                <a:r>
                  <a:rPr lang="en-IN" sz="2400">
                    <a:solidFill>
                      <a:srgbClr val="111827"/>
                    </a:solidFill>
                    <a:latin typeface="Cambria Math" panose="02040503050406030204" pitchFamily="18" charset="0"/>
                  </a:rPr>
                  <a:t>$h$</a:t>
                </a:r>
                <a:r>
                  <a:rPr sz="2400" b="0">
                    <a:solidFill>
                      <a:srgbClr val="111827"/>
                    </a:solidFill>
                    <a:latin typeface="Arial"/>
                  </a:rPr>
                  <a:t> is continuous on </a:t>
                </a:r>
                <a:r>
                  <a:rPr lang="en-IN" sz="2400">
                    <a:solidFill>
                      <a:srgbClr val="111827"/>
                    </a:solidFill>
                    <a:latin typeface="Cambria Math" panose="02040503050406030204" pitchFamily="18" charset="0"/>
                  </a:rPr>
                  <a:t>$[0,1]$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$h(0)=f_1(0)g_2(0)-f_2(0)g_1(0)=2\times2-3\times3=-5&lt;0$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is continuous and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intermediate value theorem there is some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this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parallel vectors.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$h(1)=f_1(1)g_2(1)-f_2(1)g_1(1)=6\times6-2\times2=32&gt;0$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$h$</a:t>
                </a:r>
                <a:r>
                  <a:rPr sz="2400" b="0">
                    <a:solidFill>
                      <a:srgbClr val="111827"/>
                    </a:solidFill>
                    <a:latin typeface="Arial"/>
                  </a:rPr>
                  <a:t> is continuous and </a:t>
                </a:r>
                <a:r>
                  <a:rPr lang="en-IN" sz="2400">
                    <a:solidFill>
                      <a:srgbClr val="111827"/>
                    </a:solidFill>
                    <a:latin typeface="Cambria Math" panose="02040503050406030204" pitchFamily="18" charset="0"/>
                  </a:rPr>
                  <a:t>$h(0)\cdot h(1)&lt;0$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intermediate value theorem there is some </a:t>
                </a:r>
                <a:r>
                  <a:rPr lang="en-IN" sz="2400">
                    <a:solidFill>
                      <a:srgbClr val="111827"/>
                    </a:solidFill>
                    <a:latin typeface="Cambria Math" panose="02040503050406030204" pitchFamily="18" charset="0"/>
                  </a:rPr>
                  <a:t>$t\in(0,1)$</a:t>
                </a:r>
                <a:r>
                  <a:rPr sz="2400" b="0">
                    <a:solidFill>
                      <a:srgbClr val="111827"/>
                    </a:solidFill>
                    <a:latin typeface="Arial"/>
                  </a:rPr>
                  <a:t> with </a:t>
                </a:r>
                <a:r>
                  <a:rPr lang="en-IN" sz="2400">
                    <a:solidFill>
                      <a:srgbClr val="111827"/>
                    </a:solidFill>
                    <a:latin typeface="Cambria Math" panose="02040503050406030204" pitchFamily="18" charset="0"/>
                  </a:rPr>
                  <a:t>$h(t)=0$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this </a:t>
                </a:r>
                <a:r>
                  <a:rPr lang="en-IN" sz="2400">
                    <a:solidFill>
                      <a:srgbClr val="111827"/>
                    </a:solidFill>
                    <a:latin typeface="Cambria Math" panose="02040503050406030204" pitchFamily="18" charset="0"/>
                  </a:rPr>
                  <a:t>$t$</a:t>
                </a:r>
                <a:r>
                  <a:rPr sz="2400" b="0">
                    <a:solidFill>
                      <a:srgbClr val="111827"/>
                    </a:solidFill>
                    <a:latin typeface="Arial"/>
                  </a:rPr>
                  <a:t>, </a:t>
                </a:r>
                <a:r>
                  <a:rPr lang="en-IN" sz="2400">
                    <a:solidFill>
                      <a:srgbClr val="111827"/>
                    </a:solidFill>
                    <a:latin typeface="Cambria Math" panose="02040503050406030204" pitchFamily="18" charset="0"/>
                  </a:rPr>
                  <a:t>$\vec{A}(t)$</a:t>
                </a:r>
                <a:r>
                  <a:rPr sz="2400" b="0">
                    <a:solidFill>
                      <a:srgbClr val="111827"/>
                    </a:solidFill>
                    <a:latin typeface="Arial"/>
                  </a:rPr>
                  <a:t> and </a:t>
                </a:r>
                <a:r>
                  <a:rPr lang="en-IN" sz="2400">
                    <a:solidFill>
                      <a:srgbClr val="111827"/>
                    </a:solidFill>
                    <a:latin typeface="Cambria Math" panose="02040503050406030204" pitchFamily="18" charset="0"/>
                  </a:rPr>
                  <a:t>$\vec{B}(t)$</a:t>
                </a:r>
                <a:r>
                  <a:rPr sz="2400" b="0">
                    <a:solidFill>
                      <a:srgbClr val="111827"/>
                    </a:solidFill>
                    <a:latin typeface="Arial"/>
                  </a:rPr>
                  <a:t> are parallel vectors.</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Shown: </a:t>
                </a:r>
                <a14:m>
                  <m:oMath xmlns:m="http://schemas.openxmlformats.org/officeDocument/2006/math">
                    <m:sSub>
                      <m:e>
                        <m:r>
                          <a:rPr lang="en-IN" sz="2800" i="1">
                            <a:solidFill>
                              <a:srgbClr val="15803D"/>
                            </a:solidFill>
                            <a:latin typeface="Cambria Math" panose="02040503050406030204" pitchFamily="18" charset="0"/>
                          </a:rPr>
                          <m:t>𝑓</m:t>
                        </m:r>
                      </m:e>
                      <m:sub>
                        <m:r>
                          <a:rPr lang="en-IN" sz="2800" i="1">
                            <a:solidFill>
                              <a:srgbClr val="15803D"/>
                            </a:solidFill>
                            <a:latin typeface="Cambria Math" panose="02040503050406030204" pitchFamily="18" charset="0"/>
                          </a:rPr>
                          <m:t>1</m:t>
                        </m:r>
                      </m:sub>
                    </m:sSub>
                    <m:sSub>
                      <m:e>
                        <m:r>
                          <a:rPr lang="en-IN" sz="2800" i="1">
                            <a:solidFill>
                              <a:srgbClr val="15803D"/>
                            </a:solidFill>
                            <a:latin typeface="Cambria Math" panose="02040503050406030204" pitchFamily="18" charset="0"/>
                          </a:rPr>
                          <m:t>𝑔</m:t>
                        </m:r>
                      </m:e>
                      <m:sub>
                        <m:r>
                          <a:rPr lang="en-IN" sz="2800" i="1">
                            <a:solidFill>
                              <a:srgbClr val="15803D"/>
                            </a:solidFill>
                            <a:latin typeface="Cambria Math" panose="02040503050406030204" pitchFamily="18" charset="0"/>
                          </a:rPr>
                          <m:t>2</m:t>
                        </m:r>
                      </m:sub>
                    </m:sSub>
                    <m:r>
                      <m:rPr>
                        <m:sty m:val="p"/>
                      </m:rPr>
                      <a:rPr lang="en-IN" sz="2800">
                        <a:solidFill>
                          <a:srgbClr val="15803D"/>
                        </a:solidFill>
                        <a:latin typeface="Cambria Math" panose="02040503050406030204" pitchFamily="18" charset="0"/>
                      </a:rPr>
                      <m:t>−</m:t>
                    </m:r>
                    <m:sSub>
                      <m:e>
                        <m:r>
                          <a:rPr lang="en-IN" sz="2800" i="1">
                            <a:solidFill>
                              <a:srgbClr val="15803D"/>
                            </a:solidFill>
                            <a:latin typeface="Cambria Math" panose="02040503050406030204" pitchFamily="18" charset="0"/>
                          </a:rPr>
                          <m:t>𝑓</m:t>
                        </m:r>
                      </m:e>
                      <m:sub>
                        <m:r>
                          <a:rPr lang="en-IN" sz="2800" i="1">
                            <a:solidFill>
                              <a:srgbClr val="15803D"/>
                            </a:solidFill>
                            <a:latin typeface="Cambria Math" panose="02040503050406030204" pitchFamily="18" charset="0"/>
                          </a:rPr>
                          <m:t>2</m:t>
                        </m:r>
                      </m:sub>
                    </m:sSub>
                    <m:sSub>
                      <m:e>
                        <m:r>
                          <a:rPr lang="en-IN" sz="2800" i="1">
                            <a:solidFill>
                              <a:srgbClr val="15803D"/>
                            </a:solidFill>
                            <a:latin typeface="Cambria Math" panose="02040503050406030204" pitchFamily="18" charset="0"/>
                          </a:rPr>
                          <m:t>𝑔</m:t>
                        </m:r>
                      </m:e>
                      <m:sub>
                        <m:r>
                          <a:rPr lang="en-IN" sz="2800" i="1">
                            <a:solidFill>
                              <a:srgbClr val="15803D"/>
                            </a:solidFill>
                            <a:latin typeface="Cambria Math" panose="02040503050406030204" pitchFamily="18" charset="0"/>
                          </a:rPr>
                          <m:t>1</m:t>
                        </m:r>
                      </m:sub>
                    </m:sSub>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oMath>
                </a14:m>
                <a:r>
                  <a:rPr sz="2800" b="1">
                    <a:solidFill>
                      <a:srgbClr val="15803D"/>
                    </a:solidFill>
                    <a:latin typeface="Arial"/>
                  </a:rPr>
                  <a:t> for some </a:t>
                </a:r>
                <a14:m>
                  <m:oMath xmlns:m="http://schemas.openxmlformats.org/officeDocument/2006/math">
                    <m:r>
                      <a:rPr lang="en-IN" sz="2800" i="1">
                        <a:solidFill>
                          <a:srgbClr val="15803D"/>
                        </a:solidFill>
                        <a:latin typeface="Cambria Math" panose="02040503050406030204" pitchFamily="18" charset="0"/>
                      </a:rPr>
                      <m:t>𝑡</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0</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Shown: </a:t>
                </a:r>
                <a:r>
                  <a:rPr lang="en-IN" sz="2800">
                    <a:solidFill>
                      <a:srgbClr val="15803D"/>
                    </a:solidFill>
                    <a:latin typeface="Cambria Math" panose="02040503050406030204" pitchFamily="18" charset="0"/>
                  </a:rPr>
                  <a:t>$f_1g_2-f_2g_1=0$</a:t>
                </a:r>
                <a:r>
                  <a:rPr sz="2800" b="1">
                    <a:solidFill>
                      <a:srgbClr val="15803D"/>
                    </a:solidFill>
                    <a:latin typeface="Arial"/>
                  </a:rPr>
                  <a:t> for some </a:t>
                </a:r>
                <a:r>
                  <a:rPr lang="en-IN" sz="2800">
                    <a:solidFill>
                      <a:srgbClr val="15803D"/>
                    </a:solidFill>
                    <a:latin typeface="Cambria Math" panose="02040503050406030204" pitchFamily="18" charset="0"/>
                  </a:rPr>
                  <a:t>$t\in(0,1)$</a:t>
                </a:r>
                <a:endParaRPr sz="2800">
                  <a:solidFill>
                    <a:srgbClr val="15803D"/>
                  </a:solidFill>
                </a:endParaRPr>
              </a:p>
            </p:txBody>
          </p:sp>
        </mc:Fallback>
      </mc:AlternateContent>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the plane, nonzero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are parallel exactly when </a:t>
                </a:r>
                <a14:m>
                  <m:oMath xmlns:m="http://schemas.openxmlformats.org/officeDocument/2006/math">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2D cross product); this avoids dividing by a component that may be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Intermediate value theorem: if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is continuous 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some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'Show that something happens for some </a:t>
                </a:r>
                <a14:m>
                  <m:oMath xmlns:m="http://schemas.openxmlformats.org/officeDocument/2006/math">
                    <m:r>
                      <a:rPr lang="en-IN" sz="2400" i="1">
                        <a:solidFill>
                          <a:srgbClr val="111827"/>
                        </a:solidFill>
                        <a:latin typeface="Cambria Math" panose="02040503050406030204" pitchFamily="18" charset="0"/>
                      </a:rPr>
                      <m:t>𝑡</m:t>
                    </m:r>
                  </m:oMath>
                </a14:m>
                <a:r>
                  <a:rPr sz="2400" b="0">
                    <a:solidFill>
                      <a:srgbClr val="111827"/>
                    </a:solidFill>
                    <a:latin typeface="Arial"/>
                  </a:rPr>
                  <a:t>' often means build a continuous </a:t>
                </a:r>
                <a14:m>
                  <m:oMath xmlns:m="http://schemas.openxmlformats.org/officeDocument/2006/math">
                    <m:r>
                      <a:rPr lang="en-IN" sz="2400" i="1">
                        <a:solidFill>
                          <a:srgbClr val="111827"/>
                        </a:solidFill>
                        <a:latin typeface="Cambria Math" panose="02040503050406030204" pitchFamily="18" charset="0"/>
                      </a:rPr>
                      <m:t>ℎ</m:t>
                    </m:r>
                  </m:oMath>
                </a14:m>
                <a:r>
                  <a:rPr sz="2400" b="0">
                    <a:solidFill>
                      <a:srgbClr val="111827"/>
                    </a:solidFill>
                    <a:latin typeface="Arial"/>
                  </a:rPr>
                  <a:t> and find a sign change.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same idea gives: if a continuous nonzero vector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turns from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's side to the other side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oMath>
                </a14:m>
                <a:r>
                  <a:rPr sz="2400" b="0">
                    <a:solidFill>
                      <a:srgbClr val="111827"/>
                    </a:solidFill>
                    <a:latin typeface="Arial"/>
                  </a:rPr>
                  <a:t>, they must be parallel at some moment (sign change of the cross product).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Instance: with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𝑓</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the endpoints give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the plane, nonzero </a:t>
                </a:r>
                <a:r>
                  <a:rPr lang="en-IN" sz="2400">
                    <a:solidFill>
                      <a:srgbClr val="111827"/>
                    </a:solidFill>
                    <a:latin typeface="Cambria Math" panose="02040503050406030204" pitchFamily="18" charset="0"/>
                  </a:rPr>
                  <a:t>$\vec{A}=(f_1,f_2)$</a:t>
                </a:r>
                <a:r>
                  <a:rPr sz="2400" b="0">
                    <a:solidFill>
                      <a:srgbClr val="111827"/>
                    </a:solidFill>
                    <a:latin typeface="Arial"/>
                  </a:rPr>
                  <a:t> and </a:t>
                </a:r>
                <a:r>
                  <a:rPr lang="en-IN" sz="2400">
                    <a:solidFill>
                      <a:srgbClr val="111827"/>
                    </a:solidFill>
                    <a:latin typeface="Cambria Math" panose="02040503050406030204" pitchFamily="18" charset="0"/>
                  </a:rPr>
                  <a:t>$\vec{B}=(g_1,g_2)$</a:t>
                </a:r>
                <a:r>
                  <a:rPr sz="2400" b="0">
                    <a:solidFill>
                      <a:srgbClr val="111827"/>
                    </a:solidFill>
                    <a:latin typeface="Arial"/>
                  </a:rPr>
                  <a:t> are parallel exactly when </a:t>
                </a:r>
                <a:r>
                  <a:rPr lang="en-IN" sz="2400">
                    <a:solidFill>
                      <a:srgbClr val="111827"/>
                    </a:solidFill>
                    <a:latin typeface="Cambria Math" panose="02040503050406030204" pitchFamily="18" charset="0"/>
                  </a:rPr>
                  <a:t>$f_1g_2-f_2g_1=0$</a:t>
                </a:r>
                <a:r>
                  <a:rPr sz="2400" b="0">
                    <a:solidFill>
                      <a:srgbClr val="111827"/>
                    </a:solidFill>
                    <a:latin typeface="Arial"/>
                  </a:rPr>
                  <a:t> (the 2D cross product); this avoids dividing by a component that may be </a:t>
                </a:r>
                <a:r>
                  <a:rPr lang="en-IN" sz="2400">
                    <a:solidFill>
                      <a:srgbClr val="111827"/>
                    </a:solidFill>
                    <a:latin typeface="Cambria Math" panose="02040503050406030204" pitchFamily="18" charset="0"/>
                  </a:rPr>
                  <a: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Intermediate value theorem: if </a:t>
                </a:r>
                <a:r>
                  <a:rPr lang="en-IN" sz="2400">
                    <a:solidFill>
                      <a:srgbClr val="111827"/>
                    </a:solidFill>
                    <a:latin typeface="Cambria Math" panose="02040503050406030204" pitchFamily="18" charset="0"/>
                  </a:rPr>
                  <a:t>$h$</a:t>
                </a:r>
                <a:r>
                  <a:rPr sz="2400" b="0">
                    <a:solidFill>
                      <a:srgbClr val="111827"/>
                    </a:solidFill>
                    <a:latin typeface="Arial"/>
                  </a:rPr>
                  <a:t> is continuous on </a:t>
                </a:r>
                <a:r>
                  <a:rPr lang="en-IN" sz="2400">
                    <a:solidFill>
                      <a:srgbClr val="111827"/>
                    </a:solidFill>
                    <a:latin typeface="Cambria Math" panose="02040503050406030204" pitchFamily="18" charset="0"/>
                  </a:rPr>
                  <a:t>$[p,q]$</a:t>
                </a:r>
                <a:r>
                  <a:rPr sz="2400" b="0">
                    <a:solidFill>
                      <a:srgbClr val="111827"/>
                    </a:solidFill>
                    <a:latin typeface="Arial"/>
                  </a:rPr>
                  <a:t> and </a:t>
                </a:r>
                <a:r>
                  <a:rPr lang="en-IN" sz="2400">
                    <a:solidFill>
                      <a:srgbClr val="111827"/>
                    </a:solidFill>
                    <a:latin typeface="Cambria Math" panose="02040503050406030204" pitchFamily="18" charset="0"/>
                  </a:rPr>
                  <a:t>$h(p)h(q)&lt;0$</a:t>
                </a:r>
                <a:r>
                  <a:rPr sz="2400" b="0">
                    <a:solidFill>
                      <a:srgbClr val="111827"/>
                    </a:solidFill>
                    <a:latin typeface="Arial"/>
                  </a:rPr>
                  <a:t>, then </a:t>
                </a:r>
                <a:r>
                  <a:rPr lang="en-IN" sz="2400">
                    <a:solidFill>
                      <a:srgbClr val="111827"/>
                    </a:solidFill>
                    <a:latin typeface="Cambria Math" panose="02040503050406030204" pitchFamily="18" charset="0"/>
                  </a:rPr>
                  <a:t>$h(t)=0$</a:t>
                </a:r>
                <a:r>
                  <a:rPr sz="2400" b="0">
                    <a:solidFill>
                      <a:srgbClr val="111827"/>
                    </a:solidFill>
                    <a:latin typeface="Arial"/>
                  </a:rPr>
                  <a:t> for some </a:t>
                </a:r>
                <a:r>
                  <a:rPr lang="en-IN" sz="2400">
                    <a:solidFill>
                      <a:srgbClr val="111827"/>
                    </a:solidFill>
                    <a:latin typeface="Cambria Math" panose="02040503050406030204" pitchFamily="18" charset="0"/>
                  </a:rPr>
                  <a:t>$t\in(p,q)$</a:t>
                </a:r>
                <a:r>
                  <a:rPr sz="2400" b="0">
                    <a:solidFill>
                      <a:srgbClr val="111827"/>
                    </a:solidFill>
                    <a:latin typeface="Arial"/>
                  </a:rPr>
                  <a:t>. 'Show that something happens for some </a:t>
                </a:r>
                <a:r>
                  <a:rPr lang="en-IN" sz="2400">
                    <a:solidFill>
                      <a:srgbClr val="111827"/>
                    </a:solidFill>
                    <a:latin typeface="Cambria Math" panose="02040503050406030204" pitchFamily="18" charset="0"/>
                  </a:rPr>
                  <a:t>$t$</a:t>
                </a:r>
                <a:r>
                  <a:rPr sz="2400" b="0">
                    <a:solidFill>
                      <a:srgbClr val="111827"/>
                    </a:solidFill>
                    <a:latin typeface="Arial"/>
                  </a:rPr>
                  <a:t>' often means build a continuous </a:t>
                </a:r>
                <a:r>
                  <a:rPr lang="en-IN" sz="2400">
                    <a:solidFill>
                      <a:srgbClr val="111827"/>
                    </a:solidFill>
                    <a:latin typeface="Cambria Math" panose="02040503050406030204" pitchFamily="18" charset="0"/>
                  </a:rPr>
                  <a:t>$h$</a:t>
                </a:r>
                <a:r>
                  <a:rPr sz="2400" b="0">
                    <a:solidFill>
                      <a:srgbClr val="111827"/>
                    </a:solidFill>
                    <a:latin typeface="Arial"/>
                  </a:rPr>
                  <a:t> and find a sign change.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same idea gives: if a continuous nonzero vector </a:t>
                </a:r>
                <a:r>
                  <a:rPr lang="en-IN" sz="2400">
                    <a:solidFill>
                      <a:srgbClr val="111827"/>
                    </a:solidFill>
                    <a:latin typeface="Cambria Math" panose="02040503050406030204" pitchFamily="18" charset="0"/>
                  </a:rPr>
                  <a:t>$\vec{A}(t)$</a:t>
                </a:r>
                <a:r>
                  <a:rPr sz="2400" b="0">
                    <a:solidFill>
                      <a:srgbClr val="111827"/>
                    </a:solidFill>
                    <a:latin typeface="Arial"/>
                  </a:rPr>
                  <a:t> turns from </a:t>
                </a:r>
                <a:r>
                  <a:rPr lang="en-IN" sz="2400">
                    <a:solidFill>
                      <a:srgbClr val="111827"/>
                    </a:solidFill>
                    <a:latin typeface="Cambria Math" panose="02040503050406030204" pitchFamily="18" charset="0"/>
                  </a:rPr>
                  <a:t>$\vec{B}(0)$</a:t>
                </a:r>
                <a:r>
                  <a:rPr sz="2400" b="0">
                    <a:solidFill>
                      <a:srgbClr val="111827"/>
                    </a:solidFill>
                    <a:latin typeface="Arial"/>
                  </a:rPr>
                  <a:t>'s side to the other side of </a:t>
                </a:r>
                <a:r>
                  <a:rPr lang="en-IN" sz="2400">
                    <a:solidFill>
                      <a:srgbClr val="111827"/>
                    </a:solidFill>
                    <a:latin typeface="Cambria Math" panose="02040503050406030204" pitchFamily="18" charset="0"/>
                  </a:rPr>
                  <a:t>$\vec{B}$</a:t>
                </a:r>
                <a:r>
                  <a:rPr sz="2400" b="0">
                    <a:solidFill>
                      <a:srgbClr val="111827"/>
                    </a:solidFill>
                    <a:latin typeface="Arial"/>
                  </a:rPr>
                  <a:t>, they must be parallel at some moment (sign change of the cross product).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Instance: with </a:t>
                </a:r>
                <a:r>
                  <a:rPr lang="en-IN" sz="2400">
                    <a:solidFill>
                      <a:srgbClr val="111827"/>
                    </a:solidFill>
                    <a:latin typeface="Cambria Math" panose="02040503050406030204" pitchFamily="18" charset="0"/>
                  </a:rPr>
                  <a:t>$h(t)=f_1g_2-f_2g_1$</a:t>
                </a:r>
                <a:r>
                  <a:rPr sz="2400" b="0">
                    <a:solidFill>
                      <a:srgbClr val="111827"/>
                    </a:solidFill>
                    <a:latin typeface="Arial"/>
                  </a:rPr>
                  <a:t>, the endpoints give </a:t>
                </a:r>
                <a:r>
                  <a:rPr lang="en-IN" sz="2400">
                    <a:solidFill>
                      <a:srgbClr val="111827"/>
                    </a:solidFill>
                    <a:latin typeface="Cambria Math" panose="02040503050406030204" pitchFamily="18" charset="0"/>
                  </a:rPr>
                  <a:t>$h(0)=2\cdot2-3\cdot3=-5$</a:t>
                </a:r>
                <a:r>
                  <a:rPr sz="2400" b="0">
                    <a:solidFill>
                      <a:srgbClr val="111827"/>
                    </a:solidFill>
                    <a:latin typeface="Arial"/>
                  </a:rPr>
                  <a:t> and </a:t>
                </a:r>
                <a:r>
                  <a:rPr lang="en-IN" sz="2400">
                    <a:solidFill>
                      <a:srgbClr val="111827"/>
                    </a:solidFill>
                    <a:latin typeface="Cambria Math" panose="02040503050406030204" pitchFamily="18" charset="0"/>
                  </a:rPr>
                  <a:t>$h(1)=6\cdot6-2\cdot2=32$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𝑉</m:t>
                    </m:r>
                  </m:oMath>
                </a14:m>
                <a:r>
                  <a:rPr sz="2400" b="0">
                    <a:solidFill>
                      <a:srgbClr val="111827"/>
                    </a:solidFill>
                    <a:latin typeface="Arial"/>
                  </a:rPr>
                  <a:t> be the volume of the parallelepiped formed by the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3</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3</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If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𝑟</m:t>
                        </m:r>
                      </m:sub>
                    </m:sSub>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are non-negative real numbers and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3</m:t>
                        </m:r>
                      </m:sup>
                      <m:e>
                        <m:d>
                          <m:dPr>
                            <m:begChr m:val="("/>
                            <m:sepChr m:val=""/>
                            <m:endChr m:val=")"/>
                            <m:grow/>
                            <m:ctrlPr>
                              <a:rPr lang="en-IN" sz="2400" i="1">
                                <a:solidFill>
                                  <a:srgbClr val="111827"/>
                                </a:solidFill>
                                <a:latin typeface="Cambria Math" panose="02040503050406030204" pitchFamily="18" charset="0"/>
                              </a:rPr>
                            </m:ctrlPr>
                          </m:dPr>
                          <m:e>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𝑟</m:t>
                                </m:r>
                              </m:sub>
                            </m:sSub>
                          </m:e>
                        </m:d>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𝐿</m:t>
                    </m:r>
                  </m:oMath>
                </a14:m>
                <a:r>
                  <a:rPr sz="2400" b="0">
                    <a:solidFill>
                      <a:srgbClr val="111827"/>
                    </a:solidFill>
                    <a:latin typeface="Arial"/>
                  </a:rPr>
                  <a:t>, show that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𝐿</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751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a:t>
                </a:r>
                <a:r>
                  <a:rPr sz="2400" b="0">
                    <a:solidFill>
                      <a:srgbClr val="111827"/>
                    </a:solidFill>
                    <a:latin typeface="Arial"/>
                  </a:rPr>
                  <a:t> be the volume of the parallelepiped formed by the vectors </a:t>
                </a:r>
                <a:r>
                  <a:rPr lang="en-IN" sz="2400">
                    <a:solidFill>
                      <a:srgbClr val="111827"/>
                    </a:solidFill>
                    <a:latin typeface="Cambria Math" panose="02040503050406030204" pitchFamily="18" charset="0"/>
                  </a:rPr>
                  <a:t>$\vec{a}=a_1\hat{i}+a_2\hat{j}+a_3\hat{k}$</a:t>
                </a:r>
                <a:r>
                  <a:rPr sz="2400" b="0">
                    <a:solidFill>
                      <a:srgbClr val="111827"/>
                    </a:solidFill>
                    <a:latin typeface="Arial"/>
                  </a:rPr>
                  <a:t>, </a:t>
                </a:r>
                <a:r>
                  <a:rPr lang="en-IN" sz="2400">
                    <a:solidFill>
                      <a:srgbClr val="111827"/>
                    </a:solidFill>
                    <a:latin typeface="Cambria Math" panose="02040503050406030204" pitchFamily="18" charset="0"/>
                  </a:rPr>
                  <a:t>$\vec{b}=b_1\hat{i}+b_2\hat{j}+b_3\hat{k}$</a:t>
                </a:r>
                <a:r>
                  <a:rPr sz="2400" b="0">
                    <a:solidFill>
                      <a:srgbClr val="111827"/>
                    </a:solidFill>
                    <a:latin typeface="Arial"/>
                  </a:rPr>
                  <a:t>, </a:t>
                </a:r>
                <a:r>
                  <a:rPr lang="en-IN" sz="2400">
                    <a:solidFill>
                      <a:srgbClr val="111827"/>
                    </a:solidFill>
                    <a:latin typeface="Cambria Math" panose="02040503050406030204" pitchFamily="18" charset="0"/>
                  </a:rPr>
                  <a:t>$\vec{c}=c_1\hat{i}+c_2\hat{j}+c_3\hat{k}$</a:t>
                </a:r>
                <a:r>
                  <a:rPr sz="2400" b="0">
                    <a:solidFill>
                      <a:srgbClr val="111827"/>
                    </a:solidFill>
                    <a:latin typeface="Arial"/>
                  </a:rPr>
                  <a:t>. If </a:t>
                </a:r>
                <a:r>
                  <a:rPr lang="en-IN" sz="2400">
                    <a:solidFill>
                      <a:srgbClr val="111827"/>
                    </a:solidFill>
                    <a:latin typeface="Cambria Math" panose="02040503050406030204" pitchFamily="18" charset="0"/>
                  </a:rPr>
                  <a:t>$a_r,b_r,c_r$</a:t>
                </a:r>
                <a:r>
                  <a:rPr sz="2400" b="0">
                    <a:solidFill>
                      <a:srgbClr val="111827"/>
                    </a:solidFill>
                    <a:latin typeface="Arial"/>
                  </a:rPr>
                  <a:t>, where </a:t>
                </a:r>
                <a:r>
                  <a:rPr lang="en-IN" sz="2400">
                    <a:solidFill>
                      <a:srgbClr val="111827"/>
                    </a:solidFill>
                    <a:latin typeface="Cambria Math" panose="02040503050406030204" pitchFamily="18" charset="0"/>
                  </a:rPr>
                  <a:t>$r=1,2,3$</a:t>
                </a:r>
                <a:r>
                  <a:rPr sz="2400" b="0">
                    <a:solidFill>
                      <a:srgbClr val="111827"/>
                    </a:solidFill>
                    <a:latin typeface="Arial"/>
                  </a:rPr>
                  <a:t>, are non-negative real numbers and </a:t>
                </a:r>
                <a:r>
                  <a:rPr lang="en-IN" sz="2400">
                    <a:solidFill>
                      <a:srgbClr val="111827"/>
                    </a:solidFill>
                    <a:latin typeface="Cambria Math" panose="02040503050406030204" pitchFamily="18" charset="0"/>
                  </a:rPr>
                  <a:t>$\sum_{r=1}^{3}\left(a_r+b_r+c_r\right)=3L$</a:t>
                </a:r>
                <a:r>
                  <a:rPr sz="2400" b="0">
                    <a:solidFill>
                      <a:srgbClr val="111827"/>
                    </a:solidFill>
                    <a:latin typeface="Arial"/>
                  </a:rPr>
                  <a:t>, show that </a:t>
                </a:r>
                <a:r>
                  <a:rPr lang="en-IN" sz="2400">
                    <a:solidFill>
                      <a:srgbClr val="111827"/>
                    </a:solidFill>
                    <a:latin typeface="Cambria Math" panose="02040503050406030204" pitchFamily="18" charset="0"/>
                  </a:rPr>
                  <a:t>$V\le L^3$</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4260596"/>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Scalar triple product and volume of a parallelepiped, AM-GM inequality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Group the nine entries by columns: AM-GM on the three column sums gives </a:t>
                </a:r>
                <a14:m>
                  <m:oMath xmlns:m="http://schemas.openxmlformats.org/officeDocument/2006/math">
                    <m:sSup>
                      <m:e>
                        <m:r>
                          <a:rPr lang="en-IN" sz="2400" i="1">
                            <a:solidFill>
                              <a:srgbClr val="78350F"/>
                            </a:solidFill>
                            <a:latin typeface="Cambria Math" panose="02040503050406030204" pitchFamily="18" charset="0"/>
                          </a:rPr>
                          <m:t>𝐿</m:t>
                        </m:r>
                      </m:e>
                      <m:sup>
                        <m:r>
                          <a:rPr lang="en-IN" sz="2400" i="1">
                            <a:solidFill>
                              <a:srgbClr val="78350F"/>
                            </a:solidFill>
                            <a:latin typeface="Cambria Math" panose="02040503050406030204" pitchFamily="18" charset="0"/>
                          </a:rPr>
                          <m:t>3</m:t>
                        </m:r>
                      </m:sup>
                    </m:sSup>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1</m:t>
                        </m:r>
                      </m:sub>
                    </m:sSub>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2</m:t>
                        </m:r>
                      </m:sub>
                    </m:sSub>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 and every term of the determinant appears (with plus sign) in that product.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Group the nine entries by columns: AM-GM on the three column sums gives </a:t>
                </a:r>
                <a:r>
                  <a:rPr lang="en-IN" sz="2400">
                    <a:solidFill>
                      <a:srgbClr val="78350F"/>
                    </a:solidFill>
                    <a:latin typeface="Cambria Math" panose="02040503050406030204" pitchFamily="18" charset="0"/>
                  </a:rPr>
                  <a:t>$L^3\ge S_1S_2S_3$</a:t>
                </a:r>
                <a:r>
                  <a:rPr sz="2400" b="0">
                    <a:solidFill>
                      <a:srgbClr val="78350F"/>
                    </a:solidFill>
                    <a:latin typeface="Arial"/>
                  </a:rPr>
                  <a:t>, and every term of the determinant appears (with plus sign) in that product.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volume is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the modulus of the determinant with rows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 where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all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𝐿</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AM-GM: </a:t>
                </a:r>
                <a14:m>
                  <m:oMath xmlns:m="http://schemas.openxmlformats.org/officeDocument/2006/math">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e>
                        </m:d>
                      </m:e>
                      <m: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up>
                    </m:sSup>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𝐿</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volume is </a:t>
                </a:r>
                <a:r>
                  <a:rPr lang="en-IN" sz="2400">
                    <a:solidFill>
                      <a:srgbClr val="111827"/>
                    </a:solidFill>
                    <a:latin typeface="Cambria Math" panose="02040503050406030204" pitchFamily="18" charset="0"/>
                  </a:rPr>
                  <a:t>$V=\left|[\vec{a}\ \vec{b}\ \vec{c}]\right|$</a:t>
                </a:r>
                <a:r>
                  <a:rPr sz="2400" b="0">
                    <a:solidFill>
                      <a:srgbClr val="111827"/>
                    </a:solidFill>
                    <a:latin typeface="Arial"/>
                  </a:rPr>
                  <a:t>, the modulus of the determinant with rows </a:t>
                </a:r>
                <a:r>
                  <a:rPr lang="en-IN" sz="2400">
                    <a:solidFill>
                      <a:srgbClr val="111827"/>
                    </a:solidFill>
                    <a:latin typeface="Cambria Math" panose="02040503050406030204" pitchFamily="18" charset="0"/>
                  </a:rPr>
                  <a:t>$(a_1,a_2,a_3)$</a:t>
                </a:r>
                <a:r>
                  <a:rPr sz="2400" b="0">
                    <a:solidFill>
                      <a:srgbClr val="111827"/>
                    </a:solidFill>
                    <a:latin typeface="Arial"/>
                  </a:rPr>
                  <a:t>, </a:t>
                </a:r>
                <a:r>
                  <a:rPr lang="en-IN" sz="2400">
                    <a:solidFill>
                      <a:srgbClr val="111827"/>
                    </a:solidFill>
                    <a:latin typeface="Cambria Math" panose="02040503050406030204" pitchFamily="18" charset="0"/>
                  </a:rPr>
                  <a:t>$(b_1,b_2,b_3)$</a:t>
                </a:r>
                <a:r>
                  <a:rPr sz="2400" b="0">
                    <a:solidFill>
                      <a:srgbClr val="111827"/>
                    </a:solidFill>
                    <a:latin typeface="Arial"/>
                  </a:rPr>
                  <a:t>, </a:t>
                </a:r>
                <a:r>
                  <a:rPr lang="en-IN" sz="2400">
                    <a:solidFill>
                      <a:srgbClr val="111827"/>
                    </a:solidFill>
                    <a:latin typeface="Cambria Math" panose="02040503050406030204" pitchFamily="18" charset="0"/>
                  </a:rPr>
                  <a:t>$(c_1,c_2,c_3)$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t>
                </a:r>
                <a:r>
                  <a:rPr lang="en-IN" sz="2400">
                    <a:solidFill>
                      <a:srgbClr val="111827"/>
                    </a:solidFill>
                    <a:latin typeface="Cambria Math" panose="02040503050406030204" pitchFamily="18" charset="0"/>
                  </a:rPr>
                  <a:t>$[\vec{a}\ \vec{b}\ \vec{c}]=P-N$</a:t>
                </a:r>
                <a:r>
                  <a:rPr sz="2400" b="0">
                    <a:solidFill>
                      <a:srgbClr val="111827"/>
                    </a:solidFill>
                    <a:latin typeface="Arial"/>
                  </a:rPr>
                  <a:t> where </a:t>
                </a:r>
                <a:r>
                  <a:rPr lang="en-IN" sz="2400">
                    <a:solidFill>
                      <a:srgbClr val="111827"/>
                    </a:solidFill>
                    <a:latin typeface="Cambria Math" panose="02040503050406030204" pitchFamily="18" charset="0"/>
                  </a:rPr>
                  <a:t>$P=a_1b_2c_3+a_2b_3c_1+a_3b_1c_2$</a:t>
                </a:r>
                <a:r>
                  <a:rPr sz="2400" b="0">
                    <a:solidFill>
                      <a:srgbClr val="111827"/>
                    </a:solidFill>
                    <a:latin typeface="Arial"/>
                  </a:rPr>
                  <a:t> and </a:t>
                </a:r>
                <a:r>
                  <a:rPr lang="en-IN" sz="2400">
                    <a:solidFill>
                      <a:srgbClr val="111827"/>
                    </a:solidFill>
                    <a:latin typeface="Cambria Math" panose="02040503050406030204" pitchFamily="18" charset="0"/>
                  </a:rPr>
                  <a:t>$N=a_1b_3c_2+a_2b_1c_3+a_3b_2c_1$</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$S_1=a_1+b_1+c_1$</a:t>
                </a:r>
                <a:r>
                  <a:rPr sz="2400" b="0">
                    <a:solidFill>
                      <a:srgbClr val="111827"/>
                    </a:solidFill>
                    <a:latin typeface="Arial"/>
                  </a:rPr>
                  <a:t>, </a:t>
                </a:r>
                <a:r>
                  <a:rPr lang="en-IN" sz="2400">
                    <a:solidFill>
                      <a:srgbClr val="111827"/>
                    </a:solidFill>
                    <a:latin typeface="Cambria Math" panose="02040503050406030204" pitchFamily="18" charset="0"/>
                  </a:rPr>
                  <a:t>$S_2=a_2+b_2+c_2$</a:t>
                </a:r>
                <a:r>
                  <a:rPr sz="2400" b="0">
                    <a:solidFill>
                      <a:srgbClr val="111827"/>
                    </a:solidFill>
                    <a:latin typeface="Arial"/>
                  </a:rPr>
                  <a:t>, </a:t>
                </a:r>
                <a:r>
                  <a:rPr lang="en-IN" sz="2400">
                    <a:solidFill>
                      <a:srgbClr val="111827"/>
                    </a:solidFill>
                    <a:latin typeface="Cambria Math" panose="02040503050406030204" pitchFamily="18" charset="0"/>
                  </a:rPr>
                  <a:t>$S_3=a_3+b_3+c_3$</a:t>
                </a:r>
                <a:r>
                  <a:rPr sz="2400" b="0">
                    <a:solidFill>
                      <a:srgbClr val="111827"/>
                    </a:solidFill>
                    <a:latin typeface="Arial"/>
                  </a:rPr>
                  <a:t>, all </a:t>
                </a:r>
                <a:r>
                  <a:rPr lang="en-IN" sz="2400">
                    <a:solidFill>
                      <a:srgbClr val="111827"/>
                    </a:solidFill>
                    <a:latin typeface="Cambria Math" panose="02040503050406030204" pitchFamily="18" charset="0"/>
                  </a:rPr>
                  <a:t>$\ge0$</a:t>
                </a:r>
                <a:r>
                  <a:rPr sz="2400" b="0">
                    <a:solidFill>
                      <a:srgbClr val="111827"/>
                    </a:solidFill>
                    <a:latin typeface="Arial"/>
                  </a:rPr>
                  <a:t>, with </a:t>
                </a:r>
                <a:r>
                  <a:rPr lang="en-IN" sz="2400">
                    <a:solidFill>
                      <a:srgbClr val="111827"/>
                    </a:solidFill>
                    <a:latin typeface="Cambria Math" panose="02040503050406030204" pitchFamily="18" charset="0"/>
                  </a:rPr>
                  <a:t>$S_1+S_2+S_3=3L$</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AM-GM: </a:t>
                </a:r>
                <a:r>
                  <a:rPr lang="en-IN" sz="2400">
                    <a:solidFill>
                      <a:srgbClr val="111827"/>
                    </a:solidFill>
                    <a:latin typeface="Cambria Math" panose="02040503050406030204" pitchFamily="18" charset="0"/>
                  </a:rPr>
                  <a:t>$\frac{S_1+S_2+S_3}{3}\ge\left(S_1S_2S_3\right)^{1/3}$</a:t>
                </a:r>
                <a:r>
                  <a:rPr sz="2400" b="0">
                    <a:solidFill>
                      <a:srgbClr val="111827"/>
                    </a:solidFill>
                    <a:latin typeface="Arial"/>
                  </a:rPr>
                  <a:t>, i.e. </a:t>
                </a:r>
                <a:r>
                  <a:rPr lang="en-IN" sz="2400">
                    <a:solidFill>
                      <a:srgbClr val="111827"/>
                    </a:solidFill>
                    <a:latin typeface="Cambria Math" panose="02040503050406030204" pitchFamily="18" charset="0"/>
                  </a:rPr>
                  <a:t>$L\ge\left(S_1S_2S_3\right)^{1/3}$</a:t>
                </a:r>
                <a:r>
                  <a:rPr sz="2400" b="0">
                    <a:solidFill>
                      <a:srgbClr val="111827"/>
                    </a:solidFill>
                    <a:latin typeface="Arial"/>
                  </a:rPr>
                  <a:t>, so </a:t>
                </a:r>
                <a:r>
                  <a:rPr lang="en-IN" sz="2400">
                    <a:solidFill>
                      <a:srgbClr val="111827"/>
                    </a:solidFill>
                    <a:latin typeface="Cambria Math" panose="02040503050406030204" pitchFamily="18" charset="0"/>
                  </a:rPr>
                  <a:t>$L^3\ge S_1S_2S_3$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Expanding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27</m:t>
                    </m:r>
                  </m:oMath>
                </a14:m>
                <a:r>
                  <a:rPr sz="2400" b="0">
                    <a:solidFill>
                      <a:srgbClr val="111827"/>
                    </a:solidFill>
                    <a:latin typeface="Arial"/>
                  </a:rPr>
                  <a:t> terms: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24</m:t>
                    </m:r>
                  </m:oMath>
                </a14:m>
                <a:r>
                  <a:rPr sz="2400" b="0">
                    <a:solidFill>
                      <a:srgbClr val="111827"/>
                    </a:solidFill>
                    <a:latin typeface="Arial"/>
                  </a:rPr>
                  <a:t> more such terms, all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because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𝑟</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r>
                          <a:rPr lang="en-IN" sz="2400" i="1">
                            <a:solidFill>
                              <a:srgbClr val="111827"/>
                            </a:solidFill>
                            <a:latin typeface="Cambria Math" panose="02040503050406030204" pitchFamily="18" charset="0"/>
                          </a:rPr>
                          <m:t>𝐿</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3</m:t>
                        </m:r>
                      </m:sub>
                    </m:sSub>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product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also contains the three terms of </a:t>
                </a:r>
                <a14:m>
                  <m:oMath xmlns:m="http://schemas.openxmlformats.org/officeDocument/2006/math">
                    <m:r>
                      <a:rPr lang="en-IN" sz="2400" i="1">
                        <a:solidFill>
                          <a:srgbClr val="111827"/>
                        </a:solidFill>
                        <a:latin typeface="Cambria Math" panose="02040503050406030204" pitchFamily="18" charset="0"/>
                      </a:rPr>
                      <m:t>𝑁</m:t>
                    </m:r>
                  </m:oMath>
                </a14:m>
                <a:r>
                  <a:rPr sz="2400" b="0">
                    <a:solidFill>
                      <a:srgbClr val="111827"/>
                    </a:solidFill>
                    <a:latin typeface="Arial"/>
                  </a:rPr>
                  <a:t> (and the rest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in the same way </a:t>
                </a:r>
                <a14:m>
                  <m:oMath xmlns:m="http://schemas.openxmlformats.org/officeDocument/2006/math">
                    <m:sSup>
                      <m:e>
                        <m:r>
                          <a:rPr lang="en-IN" sz="2400" i="1">
                            <a:solidFill>
                              <a:srgbClr val="111827"/>
                            </a:solidFill>
                            <a:latin typeface="Cambria Math" panose="02040503050406030204" pitchFamily="18" charset="0"/>
                          </a:rPr>
                          <m:t>𝐿</m:t>
                        </m:r>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𝐿</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𝐿</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𝐿</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(1),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𝑁</m:t>
                        </m:r>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𝐿</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Hence proved.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Expanding </a:t>
                </a:r>
                <a:r>
                  <a:rPr lang="en-IN" sz="2400">
                    <a:solidFill>
                      <a:srgbClr val="111827"/>
                    </a:solidFill>
                    <a:latin typeface="Cambria Math" panose="02040503050406030204" pitchFamily="18" charset="0"/>
                  </a:rPr>
                  <a:t>$S_1S_2S_3$</a:t>
                </a:r>
                <a:r>
                  <a:rPr sz="2400" b="0">
                    <a:solidFill>
                      <a:srgbClr val="111827"/>
                    </a:solidFill>
                    <a:latin typeface="Arial"/>
                  </a:rPr>
                  <a:t> gives </a:t>
                </a:r>
                <a:r>
                  <a:rPr lang="en-IN" sz="2400">
                    <a:solidFill>
                      <a:srgbClr val="111827"/>
                    </a:solidFill>
                    <a:latin typeface="Cambria Math" panose="02040503050406030204" pitchFamily="18" charset="0"/>
                  </a:rPr>
                  <a:t>$27$</a:t>
                </a:r>
                <a:r>
                  <a:rPr sz="2400" b="0">
                    <a:solidFill>
                      <a:srgbClr val="111827"/>
                    </a:solidFill>
                    <a:latin typeface="Arial"/>
                  </a:rPr>
                  <a:t> terms: </a:t>
                </a:r>
                <a:r>
                  <a:rPr lang="en-IN" sz="2400">
                    <a:solidFill>
                      <a:srgbClr val="111827"/>
                    </a:solidFill>
                    <a:latin typeface="Cambria Math" panose="02040503050406030204" pitchFamily="18" charset="0"/>
                  </a:rPr>
                  <a:t>$a_1b_2c_3+a_2b_3c_1+a_3b_1c_2$</a:t>
                </a:r>
                <a:r>
                  <a:rPr sz="2400" b="0">
                    <a:solidFill>
                      <a:srgbClr val="111827"/>
                    </a:solidFill>
                    <a:latin typeface="Arial"/>
                  </a:rPr>
                  <a:t> and </a:t>
                </a:r>
                <a:r>
                  <a:rPr lang="en-IN" sz="2400">
                    <a:solidFill>
                      <a:srgbClr val="111827"/>
                    </a:solidFill>
                    <a:latin typeface="Cambria Math" panose="02040503050406030204" pitchFamily="18" charset="0"/>
                  </a:rPr>
                  <a:t>$24$</a:t>
                </a:r>
                <a:r>
                  <a:rPr sz="2400" b="0">
                    <a:solidFill>
                      <a:srgbClr val="111827"/>
                    </a:solidFill>
                    <a:latin typeface="Arial"/>
                  </a:rPr>
                  <a:t> more such terms, all </a:t>
                </a:r>
                <a:r>
                  <a:rPr lang="en-IN" sz="2400">
                    <a:solidFill>
                      <a:srgbClr val="111827"/>
                    </a:solidFill>
                    <a:latin typeface="Cambria Math" panose="02040503050406030204" pitchFamily="18" charset="0"/>
                  </a:rPr>
                  <a:t>$\ge0$</a:t>
                </a:r>
                <a:r>
                  <a:rPr sz="2400" b="0">
                    <a:solidFill>
                      <a:srgbClr val="111827"/>
                    </a:solidFill>
                    <a:latin typeface="Arial"/>
                  </a:rPr>
                  <a:t> because </a:t>
                </a:r>
                <a:r>
                  <a:rPr lang="en-IN" sz="2400">
                    <a:solidFill>
                      <a:srgbClr val="111827"/>
                    </a:solidFill>
                    <a:latin typeface="Cambria Math" panose="02040503050406030204" pitchFamily="18" charset="0"/>
                  </a:rPr>
                  <a:t>$a_r,b_r,c_r\ge0$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$L^3\ge S_1S_2S_3\ge a_1b_2c_3+a_2b_3c_1+a_3b_1c_2=P$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product </a:t>
                </a:r>
                <a:r>
                  <a:rPr lang="en-IN" sz="2400">
                    <a:solidFill>
                      <a:srgbClr val="111827"/>
                    </a:solidFill>
                    <a:latin typeface="Cambria Math" panose="02040503050406030204" pitchFamily="18" charset="0"/>
                  </a:rPr>
                  <a:t>$S_1S_2S_3$</a:t>
                </a:r>
                <a:r>
                  <a:rPr sz="2400" b="0">
                    <a:solidFill>
                      <a:srgbClr val="111827"/>
                    </a:solidFill>
                    <a:latin typeface="Arial"/>
                  </a:rPr>
                  <a:t> also contains the three terms of </a:t>
                </a:r>
                <a:r>
                  <a:rPr lang="en-IN" sz="2400">
                    <a:solidFill>
                      <a:srgbClr val="111827"/>
                    </a:solidFill>
                    <a:latin typeface="Cambria Math" panose="02040503050406030204" pitchFamily="18" charset="0"/>
                  </a:rPr>
                  <a:t>$N$</a:t>
                </a:r>
                <a:r>
                  <a:rPr sz="2400" b="0">
                    <a:solidFill>
                      <a:srgbClr val="111827"/>
                    </a:solidFill>
                    <a:latin typeface="Arial"/>
                  </a:rPr>
                  <a:t> (and the rest are </a:t>
                </a:r>
                <a:r>
                  <a:rPr lang="en-IN" sz="2400">
                    <a:solidFill>
                      <a:srgbClr val="111827"/>
                    </a:solidFill>
                    <a:latin typeface="Cambria Math" panose="02040503050406030204" pitchFamily="18" charset="0"/>
                  </a:rPr>
                  <a:t>$\ge0$</a:t>
                </a:r>
                <a:r>
                  <a:rPr sz="2400" b="0">
                    <a:solidFill>
                      <a:srgbClr val="111827"/>
                    </a:solidFill>
                    <a:latin typeface="Arial"/>
                  </a:rPr>
                  <a:t>), so in the same way </a:t>
                </a:r>
                <a:r>
                  <a:rPr lang="en-IN" sz="2400">
                    <a:solidFill>
                      <a:srgbClr val="111827"/>
                    </a:solidFill>
                    <a:latin typeface="Cambria Math" panose="02040503050406030204" pitchFamily="18" charset="0"/>
                  </a:rPr>
                  <a:t>$L^3\ge N$</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$P,N\ge0$</a:t>
                </a:r>
                <a:r>
                  <a:rPr sz="2400" b="0">
                    <a:solidFill>
                      <a:srgbClr val="111827"/>
                    </a:solidFill>
                    <a:latin typeface="Arial"/>
                  </a:rPr>
                  <a:t>: </a:t>
                </a:r>
                <a:r>
                  <a:rPr lang="en-IN" sz="2400">
                    <a:solidFill>
                      <a:srgbClr val="111827"/>
                    </a:solidFill>
                    <a:latin typeface="Cambria Math" panose="02040503050406030204" pitchFamily="18" charset="0"/>
                  </a:rPr>
                  <a:t>$P-N\le P\le L^3$</a:t>
                </a:r>
                <a:r>
                  <a:rPr sz="2400" b="0">
                    <a:solidFill>
                      <a:srgbClr val="111827"/>
                    </a:solidFill>
                    <a:latin typeface="Arial"/>
                  </a:rPr>
                  <a:t> and </a:t>
                </a:r>
                <a:r>
                  <a:rPr lang="en-IN" sz="2400">
                    <a:solidFill>
                      <a:srgbClr val="111827"/>
                    </a:solidFill>
                    <a:latin typeface="Cambria Math" panose="02040503050406030204" pitchFamily="18" charset="0"/>
                  </a:rPr>
                  <a:t>$N-P\le N\le L^3$</a:t>
                </a:r>
                <a:r>
                  <a:rPr sz="2400" b="0">
                    <a:solidFill>
                      <a:srgbClr val="111827"/>
                    </a:solidFill>
                    <a:latin typeface="Arial"/>
                  </a:rPr>
                  <a:t>, so </a:t>
                </a:r>
                <a:r>
                  <a:rPr lang="en-IN" sz="2400">
                    <a:solidFill>
                      <a:srgbClr val="111827"/>
                    </a:solidFill>
                    <a:latin typeface="Cambria Math" panose="02040503050406030204" pitchFamily="18" charset="0"/>
                  </a:rPr>
                  <a:t>$\left|P-N\right|\le L^3$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(1), </a:t>
                </a:r>
                <a:r>
                  <a:rPr lang="en-IN" sz="2400">
                    <a:solidFill>
                      <a:srgbClr val="111827"/>
                    </a:solidFill>
                    <a:latin typeface="Cambria Math" panose="02040503050406030204" pitchFamily="18" charset="0"/>
                  </a:rPr>
                  <a:t>$V=\left|P-N\right|\le L^3$</a:t>
                </a:r>
                <a:r>
                  <a:rPr sz="2400" b="0">
                    <a:solidFill>
                      <a:srgbClr val="111827"/>
                    </a:solidFill>
                    <a:latin typeface="Arial"/>
                  </a:rPr>
                  <a:t>. Hence proved.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a:t>
                </a:r>
                <a14:m>
                  <m:oMath xmlns:m="http://schemas.openxmlformats.org/officeDocument/2006/math">
                    <m:r>
                      <a:rPr lang="en-IN" sz="2800" i="1">
                        <a:solidFill>
                          <a:srgbClr val="15803D"/>
                        </a:solidFill>
                        <a:latin typeface="Cambria Math" panose="02040503050406030204" pitchFamily="18" charset="0"/>
                      </a:rPr>
                      <m:t>𝑉</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𝐿</m:t>
                        </m:r>
                      </m:e>
                      <m:sup>
                        <m:r>
                          <a:rPr lang="en-IN" sz="2800" i="1">
                            <a:solidFill>
                              <a:srgbClr val="15803D"/>
                            </a:solidFill>
                            <a:latin typeface="Cambria Math" panose="02040503050406030204" pitchFamily="18" charset="0"/>
                          </a:rPr>
                          <m:t>3</m:t>
                        </m:r>
                      </m:sup>
                    </m:sSup>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a:t>
                </a:r>
                <a:r>
                  <a:rPr lang="en-IN" sz="2800">
                    <a:solidFill>
                      <a:srgbClr val="15803D"/>
                    </a:solidFill>
                    <a:latin typeface="Cambria Math" panose="02040503050406030204" pitchFamily="18" charset="0"/>
                  </a:rPr>
                  <a:t>$V\le L^3$</a:t>
                </a:r>
                <a:endParaRPr sz="2800">
                  <a:solidFill>
                    <a:srgbClr val="15803D"/>
                  </a:solidFill>
                </a:endParaRPr>
              </a:p>
            </p:txBody>
          </p:sp>
        </mc:Fallback>
      </mc:AlternateContent>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Hadamard: </a:t>
                </a:r>
                <a14:m>
                  <m:oMath xmlns:m="http://schemas.openxmlformats.org/officeDocument/2006/math">
                    <m:r>
                      <a:rPr lang="en-IN" sz="2400" i="1">
                        <a:solidFill>
                          <a:srgbClr val="78350F"/>
                        </a:solidFill>
                        <a:latin typeface="Cambria Math" panose="02040503050406030204" pitchFamily="18" charset="0"/>
                      </a:rPr>
                      <m:t>𝑉</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(lengths of the column vectors) </a:t>
                </a:r>
                <a14:m>
                  <m:oMath xmlns:m="http://schemas.openxmlformats.org/officeDocument/2006/math">
                    <m:r>
                      <m:rPr>
                        <m:sty m:val="p"/>
                      </m:rPr>
                      <a:rPr lang="en-IN" sz="2400">
                        <a:solidFill>
                          <a:srgbClr val="78350F"/>
                        </a:solidFill>
                        <a:latin typeface="Cambria Math" panose="02040503050406030204" pitchFamily="18" charset="0"/>
                      </a:rPr>
                      <m:t>≤</m:t>
                    </m:r>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1</m:t>
                        </m:r>
                      </m:sub>
                    </m:sSub>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2</m:t>
                        </m:r>
                      </m:sub>
                    </m:sSub>
                    <m:sSub>
                      <m:e>
                        <m:r>
                          <a:rPr lang="en-IN" sz="2400" i="1">
                            <a:solidFill>
                              <a:srgbClr val="78350F"/>
                            </a:solidFill>
                            <a:latin typeface="Cambria Math" panose="02040503050406030204" pitchFamily="18" charset="0"/>
                          </a:rPr>
                          <m:t>𝑆</m:t>
                        </m:r>
                      </m:e>
                      <m:sub>
                        <m:r>
                          <a:rPr lang="en-IN" sz="2400" i="1">
                            <a:solidFill>
                              <a:srgbClr val="78350F"/>
                            </a:solidFill>
                            <a:latin typeface="Cambria Math" panose="02040503050406030204" pitchFamily="18" charset="0"/>
                          </a:rPr>
                          <m:t>3</m:t>
                        </m:r>
                      </m:sub>
                    </m:sSub>
                  </m:oMath>
                </a14:m>
                <a:r>
                  <a:rPr sz="2400" b="0">
                    <a:solidFill>
                      <a:srgbClr val="78350F"/>
                    </a:solidFill>
                    <a:latin typeface="Arial"/>
                  </a:rPr>
                  <a:t>, then AM-GM.</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Hadamard: </a:t>
                </a:r>
                <a:r>
                  <a:rPr lang="en-IN" sz="2400">
                    <a:solidFill>
                      <a:srgbClr val="78350F"/>
                    </a:solidFill>
                    <a:latin typeface="Cambria Math" panose="02040503050406030204" pitchFamily="18" charset="0"/>
                  </a:rPr>
                  <a:t>$V\le\prod$</a:t>
                </a:r>
                <a:r>
                  <a:rPr sz="2400" b="0">
                    <a:solidFill>
                      <a:srgbClr val="78350F"/>
                    </a:solidFill>
                    <a:latin typeface="Arial"/>
                  </a:rPr>
                  <a:t> (lengths of the column vectors) </a:t>
                </a:r>
                <a:r>
                  <a:rPr lang="en-IN" sz="2400">
                    <a:solidFill>
                      <a:srgbClr val="78350F"/>
                    </a:solidFill>
                    <a:latin typeface="Cambria Math" panose="02040503050406030204" pitchFamily="18" charset="0"/>
                  </a:rPr>
                  <a:t>$\le S_1S_2S_3$</a:t>
                </a:r>
                <a:r>
                  <a:rPr sz="2400" b="0">
                    <a:solidFill>
                      <a:srgbClr val="78350F"/>
                    </a:solidFill>
                    <a:latin typeface="Arial"/>
                  </a:rPr>
                  <a:t>, then AM-GM.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determinant of the matrix with rows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equals that of its transpose, so </a:t>
                </a:r>
                <a14:m>
                  <m:oMath xmlns:m="http://schemas.openxmlformats.org/officeDocument/2006/math">
                    <m:r>
                      <a:rPr lang="en-IN" sz="2400" i="1">
                        <a:solidFill>
                          <a:srgbClr val="111827"/>
                        </a:solidFill>
                        <a:latin typeface="Cambria Math" panose="02040503050406030204" pitchFamily="18" charset="0"/>
                      </a:rPr>
                      <m:t>𝑉</m:t>
                    </m:r>
                  </m:oMath>
                </a14:m>
                <a:r>
                  <a:rPr sz="2400" b="0">
                    <a:solidFill>
                      <a:srgbClr val="111827"/>
                    </a:solidFill>
                    <a:latin typeface="Arial"/>
                  </a:rPr>
                  <a:t> is also the volume of the parallelepiped with edge vectors the columns </a:t>
                </a:r>
                <a14:m>
                  <m:oMath xmlns:m="http://schemas.openxmlformats.org/officeDocument/2006/math">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parallelepiped's volume is at most the product of its edge lengths (volume = base area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height, each factor at most the product of the lengths), so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Because all entries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bSup>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𝑗</m:t>
                                </m:r>
                              </m:sub>
                            </m:sSub>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(the cross terms are non-negative), so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𝑗</m:t>
                        </m:r>
                      </m:sub>
                    </m:sSub>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determinant of the matrix with rows </a:t>
                </a:r>
                <a:r>
                  <a:rPr lang="en-IN" sz="2400">
                    <a:solidFill>
                      <a:srgbClr val="111827"/>
                    </a:solidFill>
                    <a:latin typeface="Cambria Math" panose="02040503050406030204" pitchFamily="18" charset="0"/>
                  </a:rPr>
                  <a:t>$\vec a,\vec b,\vec c$</a:t>
                </a:r>
                <a:r>
                  <a:rPr sz="2400" b="0">
                    <a:solidFill>
                      <a:srgbClr val="111827"/>
                    </a:solidFill>
                    <a:latin typeface="Arial"/>
                  </a:rPr>
                  <a:t> equals that of its transpose, so </a:t>
                </a:r>
                <a:r>
                  <a:rPr lang="en-IN" sz="2400">
                    <a:solidFill>
                      <a:srgbClr val="111827"/>
                    </a:solidFill>
                    <a:latin typeface="Cambria Math" panose="02040503050406030204" pitchFamily="18" charset="0"/>
                  </a:rPr>
                  <a:t>$V$</a:t>
                </a:r>
                <a:r>
                  <a:rPr sz="2400" b="0">
                    <a:solidFill>
                      <a:srgbClr val="111827"/>
                    </a:solidFill>
                    <a:latin typeface="Arial"/>
                  </a:rPr>
                  <a:t> is also the volume of the parallelepiped with edge vectors the columns </a:t>
                </a:r>
                <a:r>
                  <a:rPr lang="en-IN" sz="2400">
                    <a:solidFill>
                      <a:srgbClr val="111827"/>
                    </a:solidFill>
                    <a:latin typeface="Cambria Math" panose="02040503050406030204" pitchFamily="18" charset="0"/>
                  </a:rPr>
                  <a:t>$C_j=(a_j,b_j,c_j)$</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parallelepiped's volume is at most the product of its edge lengths (volume = base area </a:t>
                </a:r>
                <a:r>
                  <a:rPr lang="en-IN" sz="2400">
                    <a:solidFill>
                      <a:srgbClr val="111827"/>
                    </a:solidFill>
                    <a:latin typeface="Cambria Math" panose="02040503050406030204" pitchFamily="18" charset="0"/>
                  </a:rPr>
                  <a:t>$\times$</a:t>
                </a:r>
                <a:r>
                  <a:rPr sz="2400" b="0">
                    <a:solidFill>
                      <a:srgbClr val="111827"/>
                    </a:solidFill>
                    <a:latin typeface="Arial"/>
                  </a:rPr>
                  <a:t> height, each factor at most the product of the lengths), so </a:t>
                </a:r>
                <a:r>
                  <a:rPr lang="en-IN" sz="2400">
                    <a:solidFill>
                      <a:srgbClr val="111827"/>
                    </a:solidFill>
                    <a:latin typeface="Cambria Math" panose="02040503050406030204" pitchFamily="18" charset="0"/>
                  </a:rPr>
                  <a:t>$V\le|C_1||C_2||C_3|$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Because all entries are </a:t>
                </a:r>
                <a:r>
                  <a:rPr lang="en-IN" sz="2400">
                    <a:solidFill>
                      <a:srgbClr val="111827"/>
                    </a:solidFill>
                    <a:latin typeface="Cambria Math" panose="02040503050406030204" pitchFamily="18" charset="0"/>
                  </a:rPr>
                  <a:t>$\ge0$</a:t>
                </a:r>
                <a:r>
                  <a:rPr sz="2400" b="0">
                    <a:solidFill>
                      <a:srgbClr val="111827"/>
                    </a:solidFill>
                    <a:latin typeface="Arial"/>
                  </a:rPr>
                  <a:t>, </a:t>
                </a:r>
                <a:r>
                  <a:rPr lang="en-IN" sz="2400">
                    <a:solidFill>
                      <a:srgbClr val="111827"/>
                    </a:solidFill>
                    <a:latin typeface="Cambria Math" panose="02040503050406030204" pitchFamily="18" charset="0"/>
                  </a:rPr>
                  <a:t>$a_j^2+b_j^2+c_j^2\le\left(a_j+b_j+c_j\right)^2$</a:t>
                </a:r>
                <a:r>
                  <a:rPr sz="2400" b="0">
                    <a:solidFill>
                      <a:srgbClr val="111827"/>
                    </a:solidFill>
                    <a:latin typeface="Arial"/>
                  </a:rPr>
                  <a:t> (the cross terms are non-negative), so </a:t>
                </a:r>
                <a:r>
                  <a:rPr lang="en-IN" sz="2400">
                    <a:solidFill>
                      <a:srgbClr val="111827"/>
                    </a:solidFill>
                    <a:latin typeface="Cambria Math" panose="02040503050406030204" pitchFamily="18" charset="0"/>
                  </a:rPr>
                  <a:t>$|C_j|\le S_j$</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AM-GM on the non-negative numbers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3</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𝐿</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𝐿</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$V\le S_1S_2S_3$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AM-GM on the non-negative numbers </a:t>
                </a:r>
                <a:r>
                  <a:rPr lang="en-IN" sz="2400">
                    <a:solidFill>
                      <a:srgbClr val="111827"/>
                    </a:solidFill>
                    <a:latin typeface="Cambria Math" panose="02040503050406030204" pitchFamily="18" charset="0"/>
                  </a:rPr>
                  <a:t>$S_1,S_2,S_3$</a:t>
                </a:r>
                <a:r>
                  <a:rPr sz="2400" b="0">
                    <a:solidFill>
                      <a:srgbClr val="111827"/>
                    </a:solidFill>
                    <a:latin typeface="Arial"/>
                  </a:rPr>
                  <a:t>: </a:t>
                </a:r>
                <a:r>
                  <a:rPr lang="en-IN" sz="2400">
                    <a:solidFill>
                      <a:srgbClr val="111827"/>
                    </a:solidFill>
                    <a:latin typeface="Cambria Math" panose="02040503050406030204" pitchFamily="18" charset="0"/>
                  </a:rPr>
                  <a:t>$S_1S_2S_3\le\left(\frac{S_1+S_2+S_3}{3}\right)^3=L^3$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$V\le L^3$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a:t>
                </a:r>
                <a14:m>
                  <m:oMath xmlns:m="http://schemas.openxmlformats.org/officeDocument/2006/math">
                    <m:r>
                      <a:rPr lang="en-IN" sz="2800" i="1">
                        <a:solidFill>
                          <a:srgbClr val="15803D"/>
                        </a:solidFill>
                        <a:latin typeface="Cambria Math" panose="02040503050406030204" pitchFamily="18" charset="0"/>
                      </a:rPr>
                      <m:t>𝑉</m:t>
                    </m:r>
                    <m:r>
                      <m:rPr>
                        <m:sty m:val="p"/>
                      </m:rPr>
                      <a:rPr lang="en-IN" sz="2800">
                        <a:solidFill>
                          <a:srgbClr val="15803D"/>
                        </a:solidFill>
                        <a:latin typeface="Cambria Math" panose="02040503050406030204" pitchFamily="18" charset="0"/>
                      </a:rPr>
                      <m:t>≤</m:t>
                    </m:r>
                    <m:sSup>
                      <m:e>
                        <m:r>
                          <a:rPr lang="en-IN" sz="2800" i="1">
                            <a:solidFill>
                              <a:srgbClr val="15803D"/>
                            </a:solidFill>
                            <a:latin typeface="Cambria Math" panose="02040503050406030204" pitchFamily="18" charset="0"/>
                          </a:rPr>
                          <m:t>𝐿</m:t>
                        </m:r>
                      </m:e>
                      <m:sup>
                        <m:r>
                          <a:rPr lang="en-IN" sz="2800" i="1">
                            <a:solidFill>
                              <a:srgbClr val="15803D"/>
                            </a:solidFill>
                            <a:latin typeface="Cambria Math" panose="02040503050406030204" pitchFamily="18" charset="0"/>
                          </a:rPr>
                          <m:t>3</m:t>
                        </m:r>
                      </m:sup>
                    </m:sSup>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a:t>
                </a:r>
                <a:r>
                  <a:rPr lang="en-IN" sz="2800">
                    <a:solidFill>
                      <a:srgbClr val="15803D"/>
                    </a:solidFill>
                    <a:latin typeface="Cambria Math" panose="02040503050406030204" pitchFamily="18" charset="0"/>
                  </a:rPr>
                  <a:t>$V\le L^3$</a:t>
                </a:r>
                <a:endParaRPr sz="2800">
                  <a:solidFill>
                    <a:srgbClr val="15803D"/>
                  </a:solidFill>
                </a:endParaRPr>
              </a:p>
            </p:txBody>
          </p:sp>
        </mc:Fallback>
      </mc:AlternateContent>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Hadamard's inequality: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det</m:t>
                        </m:r>
                        <m:r>
                          <a:rPr lang="en-IN" sz="2400" i="1">
                            <a:solidFill>
                              <a:srgbClr val="111827"/>
                            </a:solidFill>
                            <a:latin typeface="Cambria Math" panose="02040503050406030204" pitchFamily="18" charset="0"/>
                          </a:rPr>
                          <m:t>𝑀</m:t>
                        </m:r>
                      </m:e>
                    </m:d>
                    <m:r>
                      <m:rPr>
                        <m:sty m:val="p"/>
                      </m:rPr>
                      <a:rPr lang="en-IN" sz="2400">
                        <a:solidFill>
                          <a:srgbClr val="111827"/>
                        </a:solidFill>
                        <a:latin typeface="Cambria Math" panose="02040503050406030204" pitchFamily="18" charset="0"/>
                      </a:rPr>
                      <m:t>≤</m:t>
                    </m:r>
                    <m:nary>
                      <m:naryPr>
                        <m:chr m:val="∏"/>
                        <m:limLoc m:val="undOvr"/>
                        <m:subHide m:val="off"/>
                        <m:supHide m:val="on"/>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𝑗</m:t>
                        </m:r>
                      </m:sub>
                      <m:sup>
                        <m:r>
                          <a:rPr lang="en-IN" sz="2400" i="1">
                            <a:solidFill>
                              <a:srgbClr val="111827"/>
                            </a:solidFill>
                            <a:latin typeface="Cambria Math" panose="02040503050406030204" pitchFamily="18" charset="0"/>
                          </a:rPr>
                          <m:t>​</m:t>
                        </m:r>
                      </m:sup>
                      <m:e>
                        <m:r>
                          <m:rPr>
                            <m:sty m:val="p"/>
                          </m:rPr>
                          <a:rPr lang="en-IN" sz="2400">
                            <a:solidFill>
                              <a:srgbClr val="111827"/>
                            </a:solidFill>
                            <a:latin typeface="Cambria Math" panose="02040503050406030204" pitchFamily="18" charset="0"/>
                          </a:rPr>
                          <m:t>∥</m:t>
                        </m:r>
                      </m:e>
                    </m:nary>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over the columns (or rows) of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geometrically, a parallelepiped's volume is at most the product of its edge lengths, with equality for a rectangular box.</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non-negative entries,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(sum of entries of </a:t>
                </a:r>
                <a14:m>
                  <m:oMath xmlns:m="http://schemas.openxmlformats.org/officeDocument/2006/math">
                    <m:sSub>
                      <m:e>
                        <m:r>
                          <a:rPr lang="en-IN" sz="2400" i="1">
                            <a:solidFill>
                              <a:srgbClr val="111827"/>
                            </a:solidFill>
                            <a:latin typeface="Cambria Math" panose="02040503050406030204" pitchFamily="18" charset="0"/>
                          </a:rPr>
                          <m:t>𝐶</m:t>
                        </m:r>
                      </m:e>
                      <m:sub>
                        <m:r>
                          <a:rPr lang="en-IN" sz="2400" i="1">
                            <a:solidFill>
                              <a:srgbClr val="111827"/>
                            </a:solidFill>
                            <a:latin typeface="Cambria Math" panose="02040503050406030204" pitchFamily="18" charset="0"/>
                          </a:rPr>
                          <m:t>𝑗</m:t>
                        </m:r>
                      </m:sub>
                    </m:sSub>
                  </m:oMath>
                </a14:m>
                <a:r>
                  <a:rPr sz="2400" b="0">
                    <a:solidFill>
                      <a:srgbClr val="111827"/>
                    </a:solidFill>
                    <a:latin typeface="Arial"/>
                  </a:rPr>
                  <a:t>), since </a:t>
                </a:r>
                <a14:m>
                  <m:oMath xmlns:m="http://schemas.openxmlformats.org/officeDocument/2006/math">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when all </a:t>
                </a:r>
                <a14:m>
                  <m:oMath xmlns:m="http://schemas.openxmlformats.org/officeDocument/2006/math">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AM-GM: for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with sum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𝐿</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𝐿</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 with equality iff </a:t>
                </a:r>
                <a14:m>
                  <m:oMath xmlns:m="http://schemas.openxmlformats.org/officeDocument/2006/math">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𝑆</m:t>
                        </m:r>
                      </m:e>
                      <m:sub>
                        <m:r>
                          <a:rPr lang="en-IN" sz="2400" i="1">
                            <a:solidFill>
                              <a:srgbClr val="111827"/>
                            </a:solidFill>
                            <a:latin typeface="Cambria Math" panose="02040503050406030204" pitchFamily="18" charset="0"/>
                          </a:rPr>
                          <m:t>3</m:t>
                        </m:r>
                      </m:sub>
                    </m:sSub>
                  </m:oMath>
                </a14:m>
                <a:r>
                  <a:rPr sz="2400" b="0">
                    <a:solidFill>
                      <a:srgbClr val="111827"/>
                    </a:solidFill>
                    <a:latin typeface="Arial"/>
                  </a:rPr>
                  <a:t>. Example: the identity matrix has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𝐿</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𝑉</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𝐿</m:t>
                        </m:r>
                      </m:e>
                      <m:sup>
                        <m:r>
                          <a:rPr lang="en-IN" sz="2400" i="1">
                            <a:solidFill>
                              <a:srgbClr val="111827"/>
                            </a:solidFill>
                            <a:latin typeface="Cambria Math" panose="02040503050406030204" pitchFamily="18" charset="0"/>
                          </a:rPr>
                          <m:t>3</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expansion of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𝑏</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𝑐</m:t>
                        </m:r>
                      </m:e>
                      <m:sub>
                        <m:r>
                          <a:rPr lang="en-IN" sz="2400" i="1">
                            <a:solidFill>
                              <a:srgbClr val="111827"/>
                            </a:solidFill>
                            <a:latin typeface="Cambria Math" panose="02040503050406030204" pitchFamily="18" charset="0"/>
                          </a:rPr>
                          <m:t>𝑗</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contains every 'one entry from each column' product, hence all six determinant terms (3 positive, 3 negative) each with plus sign.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Hadamard's inequality: </a:t>
                </a:r>
                <a:r>
                  <a:rPr lang="en-IN" sz="2400">
                    <a:solidFill>
                      <a:srgbClr val="111827"/>
                    </a:solidFill>
                    <a:latin typeface="Cambria Math" panose="02040503050406030204" pitchFamily="18" charset="0"/>
                  </a:rPr>
                  <a:t>$\left|\det M\right|\le\prod_j\|C_j\|$</a:t>
                </a:r>
                <a:r>
                  <a:rPr sz="2400" b="0">
                    <a:solidFill>
                      <a:srgbClr val="111827"/>
                    </a:solidFill>
                    <a:latin typeface="Arial"/>
                  </a:rPr>
                  <a:t> over the columns (or rows) of </a:t>
                </a:r>
                <a:r>
                  <a:rPr lang="en-IN" sz="2400">
                    <a:solidFill>
                      <a:srgbClr val="111827"/>
                    </a:solidFill>
                    <a:latin typeface="Cambria Math" panose="02040503050406030204" pitchFamily="18" charset="0"/>
                  </a:rPr>
                  <a:t>$M$</a:t>
                </a:r>
                <a:r>
                  <a:rPr sz="2400" b="0">
                    <a:solidFill>
                      <a:srgbClr val="111827"/>
                    </a:solidFill>
                    <a:latin typeface="Arial"/>
                  </a:rPr>
                  <a:t>; geometrically, a parallelepiped's volume is at most the product of its edge lengths, with equality for a rectangular box.</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non-negative entries, </a:t>
                </a:r>
                <a:r>
                  <a:rPr lang="en-IN" sz="2400">
                    <a:solidFill>
                      <a:srgbClr val="111827"/>
                    </a:solidFill>
                    <a:latin typeface="Cambria Math" panose="02040503050406030204" pitchFamily="18" charset="0"/>
                  </a:rPr>
                  <a:t>$\|C_j\|\le$</a:t>
                </a:r>
                <a:r>
                  <a:rPr sz="2400" b="0">
                    <a:solidFill>
                      <a:srgbClr val="111827"/>
                    </a:solidFill>
                    <a:latin typeface="Arial"/>
                  </a:rPr>
                  <a:t> (sum of entries of </a:t>
                </a:r>
                <a:r>
                  <a:rPr lang="en-IN" sz="2400">
                    <a:solidFill>
                      <a:srgbClr val="111827"/>
                    </a:solidFill>
                    <a:latin typeface="Cambria Math" panose="02040503050406030204" pitchFamily="18" charset="0"/>
                  </a:rPr>
                  <a:t>$C_j$</a:t>
                </a:r>
                <a:r>
                  <a:rPr sz="2400" b="0">
                    <a:solidFill>
                      <a:srgbClr val="111827"/>
                    </a:solidFill>
                    <a:latin typeface="Arial"/>
                  </a:rPr>
                  <a:t>), since </a:t>
                </a:r>
                <a:r>
                  <a:rPr lang="en-IN" sz="2400">
                    <a:solidFill>
                      <a:srgbClr val="111827"/>
                    </a:solidFill>
                    <a:latin typeface="Cambria Math" panose="02040503050406030204" pitchFamily="18" charset="0"/>
                  </a:rPr>
                  <a:t>$\sum x_i^2\le\left(\sum x_i\right)^2$</a:t>
                </a:r>
                <a:r>
                  <a:rPr sz="2400" b="0">
                    <a:solidFill>
                      <a:srgbClr val="111827"/>
                    </a:solidFill>
                    <a:latin typeface="Arial"/>
                  </a:rPr>
                  <a:t> when all </a:t>
                </a:r>
                <a:r>
                  <a:rPr lang="en-IN" sz="2400">
                    <a:solidFill>
                      <a:srgbClr val="111827"/>
                    </a:solidFill>
                    <a:latin typeface="Cambria Math" panose="02040503050406030204" pitchFamily="18" charset="0"/>
                  </a:rPr>
                  <a:t>$x_i\ge0$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AM-GM: for </a:t>
                </a:r>
                <a:r>
                  <a:rPr lang="en-IN" sz="2400">
                    <a:solidFill>
                      <a:srgbClr val="111827"/>
                    </a:solidFill>
                    <a:latin typeface="Cambria Math" panose="02040503050406030204" pitchFamily="18" charset="0"/>
                  </a:rPr>
                  <a:t>$S_1,S_2,S_3\ge0$</a:t>
                </a:r>
                <a:r>
                  <a:rPr sz="2400" b="0">
                    <a:solidFill>
                      <a:srgbClr val="111827"/>
                    </a:solidFill>
                    <a:latin typeface="Arial"/>
                  </a:rPr>
                  <a:t> with sum </a:t>
                </a:r>
                <a:r>
                  <a:rPr lang="en-IN" sz="2400">
                    <a:solidFill>
                      <a:srgbClr val="111827"/>
                    </a:solidFill>
                    <a:latin typeface="Cambria Math" panose="02040503050406030204" pitchFamily="18" charset="0"/>
                  </a:rPr>
                  <a:t>$3L$</a:t>
                </a:r>
                <a:r>
                  <a:rPr sz="2400" b="0">
                    <a:solidFill>
                      <a:srgbClr val="111827"/>
                    </a:solidFill>
                    <a:latin typeface="Arial"/>
                  </a:rPr>
                  <a:t>, </a:t>
                </a:r>
                <a:r>
                  <a:rPr lang="en-IN" sz="2400">
                    <a:solidFill>
                      <a:srgbClr val="111827"/>
                    </a:solidFill>
                    <a:latin typeface="Cambria Math" panose="02040503050406030204" pitchFamily="18" charset="0"/>
                  </a:rPr>
                  <a:t>$S_1S_2S_3\le L^3$</a:t>
                </a:r>
                <a:r>
                  <a:rPr sz="2400" b="0">
                    <a:solidFill>
                      <a:srgbClr val="111827"/>
                    </a:solidFill>
                    <a:latin typeface="Arial"/>
                  </a:rPr>
                  <a:t>, with equality iff </a:t>
                </a:r>
                <a:r>
                  <a:rPr lang="en-IN" sz="2400">
                    <a:solidFill>
                      <a:srgbClr val="111827"/>
                    </a:solidFill>
                    <a:latin typeface="Cambria Math" panose="02040503050406030204" pitchFamily="18" charset="0"/>
                  </a:rPr>
                  <a:t>$S_1=S_2=S_3$</a:t>
                </a:r>
                <a:r>
                  <a:rPr sz="2400" b="0">
                    <a:solidFill>
                      <a:srgbClr val="111827"/>
                    </a:solidFill>
                    <a:latin typeface="Arial"/>
                  </a:rPr>
                  <a:t>. Example: the identity matrix has </a:t>
                </a:r>
                <a:r>
                  <a:rPr lang="en-IN" sz="2400">
                    <a:solidFill>
                      <a:srgbClr val="111827"/>
                    </a:solidFill>
                    <a:latin typeface="Cambria Math" panose="02040503050406030204" pitchFamily="18" charset="0"/>
                  </a:rPr>
                  <a:t>$V=1$</a:t>
                </a:r>
                <a:r>
                  <a:rPr sz="2400" b="0">
                    <a:solidFill>
                      <a:srgbClr val="111827"/>
                    </a:solidFill>
                    <a:latin typeface="Arial"/>
                  </a:rPr>
                  <a:t>, </a:t>
                </a:r>
                <a:r>
                  <a:rPr lang="en-IN" sz="2400">
                    <a:solidFill>
                      <a:srgbClr val="111827"/>
                    </a:solidFill>
                    <a:latin typeface="Cambria Math" panose="02040503050406030204" pitchFamily="18" charset="0"/>
                  </a:rPr>
                  <a:t>$3L=3$</a:t>
                </a:r>
                <a:r>
                  <a:rPr sz="2400" b="0">
                    <a:solidFill>
                      <a:srgbClr val="111827"/>
                    </a:solidFill>
                    <a:latin typeface="Arial"/>
                  </a:rPr>
                  <a:t>, so </a:t>
                </a:r>
                <a:r>
                  <a:rPr lang="en-IN" sz="2400">
                    <a:solidFill>
                      <a:srgbClr val="111827"/>
                    </a:solidFill>
                    <a:latin typeface="Cambria Math" panose="02040503050406030204" pitchFamily="18" charset="0"/>
                  </a:rPr>
                  <a:t>$L=1$</a:t>
                </a:r>
                <a:r>
                  <a:rPr sz="2400" b="0">
                    <a:solidFill>
                      <a:srgbClr val="111827"/>
                    </a:solidFill>
                    <a:latin typeface="Arial"/>
                  </a:rPr>
                  <a:t> and </a:t>
                </a:r>
                <a:r>
                  <a:rPr lang="en-IN" sz="2400">
                    <a:solidFill>
                      <a:srgbClr val="111827"/>
                    </a:solidFill>
                    <a:latin typeface="Cambria Math" panose="02040503050406030204" pitchFamily="18" charset="0"/>
                  </a:rPr>
                  <a:t>$V=L^3$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expansion of </a:t>
                </a:r>
                <a:r>
                  <a:rPr lang="en-IN" sz="2400">
                    <a:solidFill>
                      <a:srgbClr val="111827"/>
                    </a:solidFill>
                    <a:latin typeface="Cambria Math" panose="02040503050406030204" pitchFamily="18" charset="0"/>
                  </a:rPr>
                  <a:t>$\prod(a_j+b_j+c_j)$</a:t>
                </a:r>
                <a:r>
                  <a:rPr sz="2400" b="0">
                    <a:solidFill>
                      <a:srgbClr val="111827"/>
                    </a:solidFill>
                    <a:latin typeface="Arial"/>
                  </a:rPr>
                  <a:t> contains every 'one entry from each column' product, hence all six determinant terms (3 positive, 3 negative) each with plus sign.</a:t>
                </a:r>
                <a:endParaRPr sz="2400">
                  <a:solidFill>
                    <a:srgbClr val="111827"/>
                  </a:solidFill>
                </a:endParaRPr>
              </a:p>
            </p:txBody>
          </p:sp>
        </mc:Fallback>
      </mc:AlternateContent>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907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oMath>
                </a14:m>
                <a:r>
                  <a:rPr sz="2400" b="0">
                    <a:solidFill>
                      <a:srgbClr val="111827"/>
                    </a:solidFill>
                    <a:latin typeface="Arial"/>
                  </a:rPr>
                  <a:t> are three non-coplanar unit vectors and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oMath>
                </a14:m>
                <a:r>
                  <a:rPr sz="2400" b="0">
                    <a:solidFill>
                      <a:srgbClr val="111827"/>
                    </a:solidFill>
                    <a:latin typeface="Arial"/>
                  </a:rPr>
                  <a:t> are the angles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oMath>
                </a14:m>
                <a:r>
                  <a:rPr sz="2400" b="0">
                    <a:solidFill>
                      <a:srgbClr val="111827"/>
                    </a:solidFill>
                    <a:latin typeface="Arial"/>
                  </a:rPr>
                  <a:t> respectively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oMath>
                </a14:m>
                <a:r>
                  <a:rPr sz="2400" b="0">
                    <a:solidFill>
                      <a:srgbClr val="111827"/>
                    </a:solidFill>
                    <a:latin typeface="Arial"/>
                  </a:rPr>
                  <a:t> are unit vectors along the bisectors of the angles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oMath>
                </a14:m>
                <a:r>
                  <a:rPr sz="2400" b="0">
                    <a:solidFill>
                      <a:srgbClr val="111827"/>
                    </a:solidFill>
                    <a:latin typeface="Arial"/>
                  </a:rPr>
                  <a:t> respectively. Prove that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16</m:t>
                        </m:r>
                      </m:den>
                    </m:f>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e>
                        </m:d>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sec</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2</m:t>
                        </m:r>
                      </m:den>
                    </m:f>
                    <m:sSup>
                      <m:e>
                        <m:r>
                          <m:rPr>
                            <m:sty m:val="p"/>
                          </m:rPr>
                          <a:rPr lang="en-IN" sz="2400">
                            <a:solidFill>
                              <a:srgbClr val="111827"/>
                            </a:solidFill>
                            <a:latin typeface="Cambria Math" panose="02040503050406030204" pitchFamily="18" charset="0"/>
                          </a:rPr>
                          <m:t>sec</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2</m:t>
                        </m:r>
                      </m:den>
                    </m:f>
                    <m:sSup>
                      <m:e>
                        <m:r>
                          <m:rPr>
                            <m:sty m:val="p"/>
                          </m:rPr>
                          <a:rPr lang="en-IN" sz="2400">
                            <a:solidFill>
                              <a:srgbClr val="111827"/>
                            </a:solidFill>
                            <a:latin typeface="Cambria Math" panose="02040503050406030204" pitchFamily="18" charset="0"/>
                          </a:rPr>
                          <m:t>sec</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γ</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31907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$\vec{u},\vec{v},\vec{w}$</a:t>
                </a:r>
                <a:r>
                  <a:rPr sz="2400" b="0">
                    <a:solidFill>
                      <a:srgbClr val="111827"/>
                    </a:solidFill>
                    <a:latin typeface="Arial"/>
                  </a:rPr>
                  <a:t> are three non-coplanar unit vectors and </a:t>
                </a:r>
                <a:r>
                  <a:rPr lang="en-IN" sz="2400">
                    <a:solidFill>
                      <a:srgbClr val="111827"/>
                    </a:solidFill>
                    <a:latin typeface="Cambria Math" panose="02040503050406030204" pitchFamily="18" charset="0"/>
                  </a:rPr>
                  <a:t>$\alpha,\beta,\gamma$</a:t>
                </a:r>
                <a:r>
                  <a:rPr sz="2400" b="0">
                    <a:solidFill>
                      <a:srgbClr val="111827"/>
                    </a:solidFill>
                    <a:latin typeface="Arial"/>
                  </a:rPr>
                  <a:t> are the angles between </a:t>
                </a:r>
                <a:r>
                  <a:rPr lang="en-IN" sz="2400">
                    <a:solidFill>
                      <a:srgbClr val="111827"/>
                    </a:solidFill>
                    <a:latin typeface="Cambria Math" panose="02040503050406030204" pitchFamily="18" charset="0"/>
                  </a:rPr>
                  <a:t>$\vec{u}$</a:t>
                </a:r>
                <a:r>
                  <a:rPr sz="2400" b="0">
                    <a:solidFill>
                      <a:srgbClr val="111827"/>
                    </a:solidFill>
                    <a:latin typeface="Arial"/>
                  </a:rPr>
                  <a:t> and </a:t>
                </a:r>
                <a:r>
                  <a:rPr lang="en-IN" sz="2400">
                    <a:solidFill>
                      <a:srgbClr val="111827"/>
                    </a:solidFill>
                    <a:latin typeface="Cambria Math" panose="02040503050406030204" pitchFamily="18" charset="0"/>
                  </a:rPr>
                  <a:t>$\vec{v}$</a:t>
                </a:r>
                <a:r>
                  <a:rPr sz="2400" b="0">
                    <a:solidFill>
                      <a:srgbClr val="111827"/>
                    </a:solidFill>
                    <a:latin typeface="Arial"/>
                  </a:rPr>
                  <a:t>, </a:t>
                </a:r>
                <a:r>
                  <a:rPr lang="en-IN" sz="2400">
                    <a:solidFill>
                      <a:srgbClr val="111827"/>
                    </a:solidFill>
                    <a:latin typeface="Cambria Math" panose="02040503050406030204" pitchFamily="18" charset="0"/>
                  </a:rPr>
                  <a:t>$\vec{v}$</a:t>
                </a:r>
                <a:r>
                  <a:rPr sz="2400" b="0">
                    <a:solidFill>
                      <a:srgbClr val="111827"/>
                    </a:solidFill>
                    <a:latin typeface="Arial"/>
                  </a:rPr>
                  <a:t> and </a:t>
                </a:r>
                <a:r>
                  <a:rPr lang="en-IN" sz="2400">
                    <a:solidFill>
                      <a:srgbClr val="111827"/>
                    </a:solidFill>
                    <a:latin typeface="Cambria Math" panose="02040503050406030204" pitchFamily="18" charset="0"/>
                  </a:rPr>
                  <a:t>$\vec{w}$</a:t>
                </a:r>
                <a:r>
                  <a:rPr sz="2400" b="0">
                    <a:solidFill>
                      <a:srgbClr val="111827"/>
                    </a:solidFill>
                    <a:latin typeface="Arial"/>
                  </a:rPr>
                  <a:t>, </a:t>
                </a:r>
                <a:r>
                  <a:rPr lang="en-IN" sz="2400">
                    <a:solidFill>
                      <a:srgbClr val="111827"/>
                    </a:solidFill>
                    <a:latin typeface="Cambria Math" panose="02040503050406030204" pitchFamily="18" charset="0"/>
                  </a:rPr>
                  <a:t>$\vec{w}$</a:t>
                </a:r>
                <a:r>
                  <a:rPr sz="2400" b="0">
                    <a:solidFill>
                      <a:srgbClr val="111827"/>
                    </a:solidFill>
                    <a:latin typeface="Arial"/>
                  </a:rPr>
                  <a:t> and </a:t>
                </a:r>
                <a:r>
                  <a:rPr lang="en-IN" sz="2400">
                    <a:solidFill>
                      <a:srgbClr val="111827"/>
                    </a:solidFill>
                    <a:latin typeface="Cambria Math" panose="02040503050406030204" pitchFamily="18" charset="0"/>
                  </a:rPr>
                  <a:t>$\vec{u}$</a:t>
                </a:r>
                <a:r>
                  <a:rPr sz="2400" b="0">
                    <a:solidFill>
                      <a:srgbClr val="111827"/>
                    </a:solidFill>
                    <a:latin typeface="Arial"/>
                  </a:rPr>
                  <a:t> respectively and </a:t>
                </a:r>
                <a:r>
                  <a:rPr lang="en-IN" sz="2400">
                    <a:solidFill>
                      <a:srgbClr val="111827"/>
                    </a:solidFill>
                    <a:latin typeface="Cambria Math" panose="02040503050406030204" pitchFamily="18" charset="0"/>
                  </a:rPr>
                  <a:t>$\vec{x},\vec{y},\vec{z}$</a:t>
                </a:r>
                <a:r>
                  <a:rPr sz="2400" b="0">
                    <a:solidFill>
                      <a:srgbClr val="111827"/>
                    </a:solidFill>
                    <a:latin typeface="Arial"/>
                  </a:rPr>
                  <a:t> are unit vectors along the bisectors of the angles </a:t>
                </a:r>
                <a:r>
                  <a:rPr lang="en-IN" sz="2400">
                    <a:solidFill>
                      <a:srgbClr val="111827"/>
                    </a:solidFill>
                    <a:latin typeface="Cambria Math" panose="02040503050406030204" pitchFamily="18" charset="0"/>
                  </a:rPr>
                  <a:t>$\alpha,\beta,\gamma$</a:t>
                </a:r>
                <a:r>
                  <a:rPr sz="2400" b="0">
                    <a:solidFill>
                      <a:srgbClr val="111827"/>
                    </a:solidFill>
                    <a:latin typeface="Arial"/>
                  </a:rPr>
                  <a:t> respectively. Prove that </a:t>
                </a:r>
                <a:r>
                  <a:rPr lang="en-IN" sz="2400">
                    <a:solidFill>
                      <a:srgbClr val="111827"/>
                    </a:solidFill>
                    <a:latin typeface="Cambria Math" panose="02040503050406030204" pitchFamily="18" charset="0"/>
                  </a:rPr>
                  <a:t>$\left[\vec{x}\times\vec{y}\ \ \vec{y}\times\vec{z}\ \ \vec{z}\times\vec{x}\right]=\frac{1}{16}\left[\vec{u}\ \vec{v}\ \vec{w}\right]^2\sec^2\frac{\alpha}{2}\sec^2\frac{\beta}{2}\sec^2\frac{\gamma}{2}$</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4699508"/>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bisector vector, Scalar and vector triple products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72639"/>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diagonal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𝑢</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𝑣</m:t>
                        </m:r>
                      </m:e>
                    </m:acc>
                  </m:oMath>
                </a14:m>
                <a:r>
                  <a:rPr sz="2400" b="0">
                    <a:solidFill>
                      <a:srgbClr val="78350F"/>
                    </a:solidFill>
                    <a:latin typeface="Arial"/>
                  </a:rPr>
                  <a:t> of the rhombus on unit vectors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𝑢</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𝑣</m:t>
                        </m:r>
                      </m:e>
                    </m:acc>
                  </m:oMath>
                </a14:m>
                <a:r>
                  <a:rPr sz="2400" b="0">
                    <a:solidFill>
                      <a:srgbClr val="78350F"/>
                    </a:solidFill>
                    <a:latin typeface="Arial"/>
                  </a:rPr>
                  <a:t> bisects their angle and has length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cos</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α</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so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𝑥</m:t>
                        </m:r>
                      </m:e>
                    </m:acc>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𝑢</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𝑣</m:t>
                            </m:r>
                          </m:e>
                        </m:acc>
                      </m:num>
                      <m:den>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cos</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then use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𝑥</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𝑦</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𝑦</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𝑧</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𝑧</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𝑥</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𝑥</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𝑦</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𝑧</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2072639"/>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diagonal </a:t>
                </a:r>
                <a:r>
                  <a:rPr lang="en-IN" sz="2400">
                    <a:solidFill>
                      <a:srgbClr val="78350F"/>
                    </a:solidFill>
                    <a:latin typeface="Cambria Math" panose="02040503050406030204" pitchFamily="18" charset="0"/>
                  </a:rPr>
                  <a:t>$\vec u+\vec v$</a:t>
                </a:r>
                <a:r>
                  <a:rPr sz="2400" b="0">
                    <a:solidFill>
                      <a:srgbClr val="78350F"/>
                    </a:solidFill>
                    <a:latin typeface="Arial"/>
                  </a:rPr>
                  <a:t> of the rhombus on unit vectors </a:t>
                </a:r>
                <a:r>
                  <a:rPr lang="en-IN" sz="2400">
                    <a:solidFill>
                      <a:srgbClr val="78350F"/>
                    </a:solidFill>
                    <a:latin typeface="Cambria Math" panose="02040503050406030204" pitchFamily="18" charset="0"/>
                  </a:rPr>
                  <a:t>$\vec u,\vec v$</a:t>
                </a:r>
                <a:r>
                  <a:rPr sz="2400" b="0">
                    <a:solidFill>
                      <a:srgbClr val="78350F"/>
                    </a:solidFill>
                    <a:latin typeface="Arial"/>
                  </a:rPr>
                  <a:t> bisects their angle and has length </a:t>
                </a:r>
                <a:r>
                  <a:rPr lang="en-IN" sz="2400">
                    <a:solidFill>
                      <a:srgbClr val="78350F"/>
                    </a:solidFill>
                    <a:latin typeface="Cambria Math" panose="02040503050406030204" pitchFamily="18" charset="0"/>
                  </a:rPr>
                  <a:t>$2\cos\frac{\alpha}{2}$</a:t>
                </a:r>
                <a:r>
                  <a:rPr sz="2400" b="0">
                    <a:solidFill>
                      <a:srgbClr val="78350F"/>
                    </a:solidFill>
                    <a:latin typeface="Arial"/>
                  </a:rPr>
                  <a:t>, so </a:t>
                </a:r>
                <a:r>
                  <a:rPr lang="en-IN" sz="2400">
                    <a:solidFill>
                      <a:srgbClr val="78350F"/>
                    </a:solidFill>
                    <a:latin typeface="Cambria Math" panose="02040503050406030204" pitchFamily="18" charset="0"/>
                  </a:rPr>
                  <a:t>$\vec x=\frac{\vec u+\vec v}{2\cos(\alpha/2)}$</a:t>
                </a:r>
                <a:r>
                  <a:rPr sz="2400" b="0">
                    <a:solidFill>
                      <a:srgbClr val="78350F"/>
                    </a:solidFill>
                    <a:latin typeface="Arial"/>
                  </a:rPr>
                  <a:t>; then use </a:t>
                </a:r>
                <a:r>
                  <a:rPr lang="en-IN" sz="2400">
                    <a:solidFill>
                      <a:srgbClr val="78350F"/>
                    </a:solidFill>
                    <a:latin typeface="Cambria Math" panose="02040503050406030204" pitchFamily="18" charset="0"/>
                  </a:rPr>
                  <a:t>$[\vec x\times\vec y\ \vec y\times\vec z\ \vec z\times\vec x]=[\vec x\ \vec y\ \vec z]^2$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489959"/>
                <a:ext cx="10725912" cy="31851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and complete the parallelogram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oMath>
                </a14:m>
                <a:r>
                  <a:rPr sz="2400" b="0">
                    <a:solidFill>
                      <a:srgbClr val="111827"/>
                    </a:solidFill>
                    <a:latin typeface="Arial"/>
                  </a:rPr>
                  <a:t>; as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it is a rhombus, so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oMath>
                </a14:m>
                <a:r>
                  <a:rPr sz="2400" b="0">
                    <a:solidFill>
                      <a:srgbClr val="111827"/>
                    </a:solidFill>
                    <a:latin typeface="Arial"/>
                  </a:rPr>
                  <a:t> bisects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lies along the bisector,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e>
                        </m:d>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3489959"/>
                <a:ext cx="10725912" cy="31851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$\overrightarrow{OA}=\vec u$</a:t>
                </a:r>
                <a:r>
                  <a:rPr sz="2400" b="0">
                    <a:solidFill>
                      <a:srgbClr val="111827"/>
                    </a:solidFill>
                    <a:latin typeface="Arial"/>
                  </a:rPr>
                  <a:t>, </a:t>
                </a:r>
                <a:r>
                  <a:rPr lang="en-IN" sz="2400">
                    <a:solidFill>
                      <a:srgbClr val="111827"/>
                    </a:solidFill>
                    <a:latin typeface="Cambria Math" panose="02040503050406030204" pitchFamily="18" charset="0"/>
                  </a:rPr>
                  <a:t>$\overrightarrow{OB}=\vec v$</a:t>
                </a:r>
                <a:r>
                  <a:rPr sz="2400" b="0">
                    <a:solidFill>
                      <a:srgbClr val="111827"/>
                    </a:solidFill>
                    <a:latin typeface="Arial"/>
                  </a:rPr>
                  <a:t> and complete the parallelogram </a:t>
                </a:r>
                <a:r>
                  <a:rPr lang="en-IN" sz="2400">
                    <a:solidFill>
                      <a:srgbClr val="111827"/>
                    </a:solidFill>
                    <a:latin typeface="Cambria Math" panose="02040503050406030204" pitchFamily="18" charset="0"/>
                  </a:rPr>
                  <a:t>$OAPB$</a:t>
                </a:r>
                <a:r>
                  <a:rPr sz="2400" b="0">
                    <a:solidFill>
                      <a:srgbClr val="111827"/>
                    </a:solidFill>
                    <a:latin typeface="Arial"/>
                  </a:rPr>
                  <a:t>; as </a:t>
                </a:r>
                <a:r>
                  <a:rPr lang="en-IN" sz="2400">
                    <a:solidFill>
                      <a:srgbClr val="111827"/>
                    </a:solidFill>
                    <a:latin typeface="Cambria Math" panose="02040503050406030204" pitchFamily="18" charset="0"/>
                  </a:rPr>
                  <a:t>$|\vec u|=|\vec v|=1$</a:t>
                </a:r>
                <a:r>
                  <a:rPr sz="2400" b="0">
                    <a:solidFill>
                      <a:srgbClr val="111827"/>
                    </a:solidFill>
                    <a:latin typeface="Arial"/>
                  </a:rPr>
                  <a:t> it is a rhombus, so </a:t>
                </a:r>
                <a:r>
                  <a:rPr lang="en-IN" sz="2400">
                    <a:solidFill>
                      <a:srgbClr val="111827"/>
                    </a:solidFill>
                    <a:latin typeface="Cambria Math" panose="02040503050406030204" pitchFamily="18" charset="0"/>
                  </a:rPr>
                  <a:t>$OP$</a:t>
                </a:r>
                <a:r>
                  <a:rPr sz="2400" b="0">
                    <a:solidFill>
                      <a:srgbClr val="111827"/>
                    </a:solidFill>
                    <a:latin typeface="Arial"/>
                  </a:rPr>
                  <a:t> bisects </a:t>
                </a:r>
                <a:r>
                  <a:rPr lang="en-IN" sz="2400">
                    <a:solidFill>
                      <a:srgbClr val="111827"/>
                    </a:solidFill>
                    <a:latin typeface="Cambria Math" panose="02040503050406030204" pitchFamily="18" charset="0"/>
                  </a:rPr>
                  <a:t>$\angle AOB=\alpha$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$\overrightarrow{OP}=\vec u+\vec v$</a:t>
                </a:r>
                <a:r>
                  <a:rPr sz="2400" b="0">
                    <a:solidFill>
                      <a:srgbClr val="111827"/>
                    </a:solidFill>
                    <a:latin typeface="Arial"/>
                  </a:rPr>
                  <a:t> lies along the bisector, so </a:t>
                </a:r>
                <a:r>
                  <a:rPr lang="en-IN" sz="2400">
                    <a:solidFill>
                      <a:srgbClr val="111827"/>
                    </a:solidFill>
                    <a:latin typeface="Cambria Math" panose="02040503050406030204" pitchFamily="18" charset="0"/>
                  </a:rPr>
                  <a:t>$\vec x=\frac{\vec u+\vec v}{\left|\vec u+\vec v\right|}$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sec</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e>
                    </m:d>
                  </m:oMath>
                </a14:m>
                <a:r>
                  <a:rPr sz="2400" b="0">
                    <a:solidFill>
                      <a:srgbClr val="111827"/>
                    </a:solidFill>
                    <a:latin typeface="Arial"/>
                  </a:rPr>
                  <a:t>; similarly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sec</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e>
                    </m:d>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sec</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γ</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d>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vector triple product,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e>
                    </m:d>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e>
                    </m:d>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e>
                    </m:d>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oMath>
                </a14:m>
                <a:r>
                  <a:rPr sz="2400" b="0">
                    <a:solidFill>
                      <a:srgbClr val="111827"/>
                    </a:solidFill>
                    <a:latin typeface="Arial"/>
                  </a:rPr>
                  <a:t> (as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expression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e>
                    </m:d>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r>
                      <a:rPr lang="en-IN" sz="2400" i="1">
                        <a:solidFill>
                          <a:srgbClr val="111827"/>
                        </a:solidFill>
                        <a:latin typeface="Cambria Math" panose="02040503050406030204" pitchFamily="18" charset="0"/>
                      </a:rPr>
                      <m:t> </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e>
                    </m:d>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$\left|\vec u+\vec v\right|^2=1+1+2\vec u\cdot\vec v=2+2\cos\alpha=4\cos^2\frac{\alpha}{2}$</a:t>
                </a:r>
                <a:r>
                  <a:rPr sz="2400" b="0">
                    <a:solidFill>
                      <a:srgbClr val="111827"/>
                    </a:solidFill>
                    <a:latin typeface="Arial"/>
                  </a:rPr>
                  <a:t>, so </a:t>
                </a:r>
                <a:r>
                  <a:rPr lang="en-IN" sz="2400">
                    <a:solidFill>
                      <a:srgbClr val="111827"/>
                    </a:solidFill>
                    <a:latin typeface="Cambria Math" panose="02040503050406030204" pitchFamily="18" charset="0"/>
                  </a:rPr>
                  <a:t>$\left|\vec u+\vec v\right|=2\cos\frac{\alpha}{2}$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$\vec x=\frac12\sec\frac{\alpha}{2}\left(\vec u+\vec v\right)$</a:t>
                </a:r>
                <a:r>
                  <a:rPr sz="2400" b="0">
                    <a:solidFill>
                      <a:srgbClr val="111827"/>
                    </a:solidFill>
                    <a:latin typeface="Arial"/>
                  </a:rPr>
                  <a:t>; similarly </a:t>
                </a:r>
                <a:r>
                  <a:rPr lang="en-IN" sz="2400">
                    <a:solidFill>
                      <a:srgbClr val="111827"/>
                    </a:solidFill>
                    <a:latin typeface="Cambria Math" panose="02040503050406030204" pitchFamily="18" charset="0"/>
                  </a:rPr>
                  <a:t>$\vec y=\frac12\sec\frac{\beta}{2}\left(\vec v+\vec w\right)$</a:t>
                </a:r>
                <a:r>
                  <a:rPr sz="2400" b="0">
                    <a:solidFill>
                      <a:srgbClr val="111827"/>
                    </a:solidFill>
                    <a:latin typeface="Arial"/>
                  </a:rPr>
                  <a:t> and </a:t>
                </a:r>
                <a:r>
                  <a:rPr lang="en-IN" sz="2400">
                    <a:solidFill>
                      <a:srgbClr val="111827"/>
                    </a:solidFill>
                    <a:latin typeface="Cambria Math" panose="02040503050406030204" pitchFamily="18" charset="0"/>
                  </a:rPr>
                  <a:t>$\vec z=\frac12\sec\frac{\gamma}{2}\left(\vec w+\vec u\right)$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$\left[\vec x\times\vec y\ \ \vec y\times\vec z\ \ \vec z\times\vec x\right]=\left(\vec x\times\vec y\right)\cdot\left[\left(\vec y\times\vec z\right)\times\left(\vec z\times\vec x\right)\right]$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the vector triple product, </a:t>
                </a:r>
                <a:r>
                  <a:rPr lang="en-IN" sz="2400">
                    <a:solidFill>
                      <a:srgbClr val="111827"/>
                    </a:solidFill>
                    <a:latin typeface="Cambria Math" panose="02040503050406030204" pitchFamily="18" charset="0"/>
                  </a:rPr>
                  <a:t>$\left(\vec y\times\vec z\right)\times\left(\vec z\times\vec x\right)=\left[\vec y\ \vec z\ \vec x\right]\vec z-\left[\vec y\ \vec z\ \vec z\right]\vec x=\left[\vec x\ \vec y\ \vec z\right]\vec z$</a:t>
                </a:r>
                <a:r>
                  <a:rPr sz="2400" b="0">
                    <a:solidFill>
                      <a:srgbClr val="111827"/>
                    </a:solidFill>
                    <a:latin typeface="Arial"/>
                  </a:rPr>
                  <a:t> (as </a:t>
                </a:r>
                <a:r>
                  <a:rPr lang="en-IN" sz="2400">
                    <a:solidFill>
                      <a:srgbClr val="111827"/>
                    </a:solidFill>
                    <a:latin typeface="Cambria Math" panose="02040503050406030204" pitchFamily="18" charset="0"/>
                  </a:rPr>
                  <a:t>$\left[\vec y\ \vec z\ \vec z\right]=0$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expression is </a:t>
                </a:r>
                <a:r>
                  <a:rPr lang="en-IN" sz="2400">
                    <a:solidFill>
                      <a:srgbClr val="111827"/>
                    </a:solidFill>
                    <a:latin typeface="Cambria Math" panose="02040503050406030204" pitchFamily="18" charset="0"/>
                  </a:rPr>
                  <a:t>$\left(\vec x\times\vec y\right)\cdot\vec z\,\left[\vec x\ \vec y\ \vec z\right]=\left[\vec x\ \vec y\ \vec z\right]^2$</a:t>
                </a:r>
                <a:r>
                  <a:rPr sz="2400" b="0">
                    <a:solidFill>
                      <a:srgbClr val="111827"/>
                    </a:solidFill>
                    <a:latin typeface="Arial"/>
                  </a:rPr>
                  <a:t> ...(i).</a:t>
                </a:r>
                <a:endParaRPr sz="2400">
                  <a:solidFill>
                    <a:srgbClr val="111827"/>
                  </a:solidFill>
                </a:endParaRPr>
              </a:p>
            </p:txBody>
          </p:sp>
        </mc:Fallback>
      </mc:AlternateContent>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sec</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sec</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sec</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γ</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d>
                      </m:e>
                    </m:d>
                  </m:oMath>
                </a14:m>
                <a:r>
                  <a:rPr sz="2400" b="0">
                    <a:solidFill>
                      <a:srgbClr val="111827"/>
                    </a:solidFill>
                    <a:latin typeface="Arial"/>
                  </a:rPr>
                  <a:t>, every triple product with a repeated vector vanishes, leaving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e>
                    </m: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$\left[\vec x\ \vec y\ \vec z\right]=\frac18\sec\frac{\alpha}{2}\sec\frac{\beta}{2}\sec\frac{\gamma}{2}\left[\vec u+\vec v\ \ \vec v+\vec w\ \ \vec w+\vec u\right]$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Expanding </a:t>
                </a:r>
                <a:r>
                  <a:rPr lang="en-IN" sz="2400">
                    <a:solidFill>
                      <a:srgbClr val="111827"/>
                    </a:solidFill>
                    <a:latin typeface="Cambria Math" panose="02040503050406030204" pitchFamily="18" charset="0"/>
                  </a:rPr>
                  <a:t>$\left(\vec u+\vec v\right)\cdot\left[\left(\vec v+\vec w\right)\times\left(\vec w+\vec u\right)\right]$</a:t>
                </a:r>
                <a:r>
                  <a:rPr sz="2400" b="0">
                    <a:solidFill>
                      <a:srgbClr val="111827"/>
                    </a:solidFill>
                    <a:latin typeface="Arial"/>
                  </a:rPr>
                  <a:t>, every triple product with a repeated vector vanishes, leaving </a:t>
                </a:r>
                <a:r>
                  <a:rPr lang="en-IN" sz="2400">
                    <a:solidFill>
                      <a:srgbClr val="111827"/>
                    </a:solidFill>
                    <a:latin typeface="Cambria Math" panose="02040503050406030204" pitchFamily="18" charset="0"/>
                  </a:rPr>
                  <a:t>$\left[\vec u\ \vec v\ \vec w\right]+\left[\vec v\ \vec w\ \vec u\right]=2\left[\vec u\ \vec v\ \vec w\right]$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sec</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sec</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sec</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γ</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e>
                    </m:d>
                  </m:oMath>
                </a14:m>
                <a:r>
                  <a:rPr sz="2400" b="0">
                    <a:solidFill>
                      <a:srgbClr val="111827"/>
                    </a:solidFill>
                    <a:latin typeface="Arial"/>
                  </a:rPr>
                  <a:t>, and squaring,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𝑧</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16</m:t>
                        </m:r>
                      </m:den>
                    </m:f>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e>
                        </m:d>
                      </m:e>
                      <m:sup>
                        <m:r>
                          <a:rPr lang="en-IN" sz="2400" i="1">
                            <a:solidFill>
                              <a:srgbClr val="111827"/>
                            </a:solidFill>
                            <a:latin typeface="Cambria Math" panose="02040503050406030204" pitchFamily="18" charset="0"/>
                          </a:rPr>
                          <m:t>2</m:t>
                        </m:r>
                      </m:sup>
                    </m:sSup>
                    <m:sSup>
                      <m:e>
                        <m:r>
                          <m:rPr>
                            <m:sty m:val="p"/>
                          </m:rPr>
                          <a:rPr lang="en-IN" sz="2400">
                            <a:solidFill>
                              <a:srgbClr val="111827"/>
                            </a:solidFill>
                            <a:latin typeface="Cambria Math" panose="02040503050406030204" pitchFamily="18" charset="0"/>
                          </a:rPr>
                          <m:t>sec</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2</m:t>
                        </m:r>
                      </m:den>
                    </m:f>
                    <m:sSup>
                      <m:e>
                        <m:r>
                          <m:rPr>
                            <m:sty m:val="p"/>
                          </m:rPr>
                          <a:rPr lang="en-IN" sz="2400">
                            <a:solidFill>
                              <a:srgbClr val="111827"/>
                            </a:solidFill>
                            <a:latin typeface="Cambria Math" panose="02040503050406030204" pitchFamily="18" charset="0"/>
                          </a:rPr>
                          <m:t>sec</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2</m:t>
                        </m:r>
                      </m:den>
                    </m:f>
                    <m:sSup>
                      <m:e>
                        <m:r>
                          <m:rPr>
                            <m:sty m:val="p"/>
                          </m:rPr>
                          <a:rPr lang="en-IN" sz="2400">
                            <a:solidFill>
                              <a:srgbClr val="111827"/>
                            </a:solidFill>
                            <a:latin typeface="Cambria Math" panose="02040503050406030204" pitchFamily="18" charset="0"/>
                          </a:rPr>
                          <m:t>sec</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γ</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(i) and (ii) the required result follows.</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$\left[\vec x\ \vec y\ \vec z\right]=\frac14\sec\frac{\alpha}{2}\sec\frac{\beta}{2}\sec\frac{\gamma}{2}\left[\vec u\ \vec v\ \vec w\right]$</a:t>
                </a:r>
                <a:r>
                  <a:rPr sz="2400" b="0">
                    <a:solidFill>
                      <a:srgbClr val="111827"/>
                    </a:solidFill>
                    <a:latin typeface="Arial"/>
                  </a:rPr>
                  <a:t>, and squaring, </a:t>
                </a:r>
                <a:r>
                  <a:rPr lang="en-IN" sz="2400">
                    <a:solidFill>
                      <a:srgbClr val="111827"/>
                    </a:solidFill>
                    <a:latin typeface="Cambria Math" panose="02040503050406030204" pitchFamily="18" charset="0"/>
                  </a:rPr>
                  <a:t>$\left[\vec x\ \vec y\ \vec z\right]^2=\frac1{16}\left[\vec u\ \vec v\ \vec w\right]^2\sec^2\frac{\alpha}{2}\sec^2\frac{\beta}{2}\sec^2\frac{\gamma}{2}$</a:t>
                </a:r>
                <a:r>
                  <a:rPr sz="2400" b="0">
                    <a:solidFill>
                      <a:srgbClr val="111827"/>
                    </a:solidFill>
                    <a:latin typeface="Arial"/>
                  </a:rPr>
                  <a:t>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(i) and (ii) the required result follows.</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a:t>
            </a:r>
            <a:endParaRPr sz="2800">
              <a:solidFill>
                <a:srgbClr val="15803D"/>
              </a:solidFill>
            </a:endParaRP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unit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at angle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π</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bisects the angle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α</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non-unit vectors the bisector direction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for any three vectors.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triple product with a repeated vector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and it is unchanged by cyclic permutation; use this to drop terms on expansion.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unit vectors </a:t>
                </a:r>
                <a:r>
                  <a:rPr lang="en-IN" sz="2400">
                    <a:solidFill>
                      <a:srgbClr val="111827"/>
                    </a:solidFill>
                    <a:latin typeface="Cambria Math" panose="02040503050406030204" pitchFamily="18" charset="0"/>
                  </a:rPr>
                  <a:t>$\vec u,\vec v$</a:t>
                </a:r>
                <a:r>
                  <a:rPr sz="2400" b="0">
                    <a:solidFill>
                      <a:srgbClr val="111827"/>
                    </a:solidFill>
                    <a:latin typeface="Arial"/>
                  </a:rPr>
                  <a:t> at angle </a:t>
                </a:r>
                <a:r>
                  <a:rPr lang="en-IN" sz="2400">
                    <a:solidFill>
                      <a:srgbClr val="111827"/>
                    </a:solidFill>
                    <a:latin typeface="Cambria Math" panose="02040503050406030204" pitchFamily="18" charset="0"/>
                  </a:rPr>
                  <a:t>$\alpha&lt;\pi$</a:t>
                </a:r>
                <a:r>
                  <a:rPr sz="2400" b="0">
                    <a:solidFill>
                      <a:srgbClr val="111827"/>
                    </a:solidFill>
                    <a:latin typeface="Arial"/>
                  </a:rPr>
                  <a:t>, </a:t>
                </a:r>
                <a:r>
                  <a:rPr lang="en-IN" sz="2400">
                    <a:solidFill>
                      <a:srgbClr val="111827"/>
                    </a:solidFill>
                    <a:latin typeface="Cambria Math" panose="02040503050406030204" pitchFamily="18" charset="0"/>
                  </a:rPr>
                  <a:t>$\vec u+\vec v$</a:t>
                </a:r>
                <a:r>
                  <a:rPr sz="2400" b="0">
                    <a:solidFill>
                      <a:srgbClr val="111827"/>
                    </a:solidFill>
                    <a:latin typeface="Arial"/>
                  </a:rPr>
                  <a:t> bisects the angle and </a:t>
                </a:r>
                <a:r>
                  <a:rPr lang="en-IN" sz="2400">
                    <a:solidFill>
                      <a:srgbClr val="111827"/>
                    </a:solidFill>
                    <a:latin typeface="Cambria Math" panose="02040503050406030204" pitchFamily="18" charset="0"/>
                  </a:rPr>
                  <a:t>$\left|\vec u+\vec v\right|=2\cos\frac\alpha2$</a:t>
                </a:r>
                <a:r>
                  <a:rPr sz="2400" b="0">
                    <a:solidFill>
                      <a:srgbClr val="111827"/>
                    </a:solidFill>
                    <a:latin typeface="Arial"/>
                  </a:rPr>
                  <a:t>; for non-unit vectors the bisector direction is </a:t>
                </a:r>
                <a:r>
                  <a:rPr lang="en-IN" sz="2400">
                    <a:solidFill>
                      <a:srgbClr val="111827"/>
                    </a:solidFill>
                    <a:latin typeface="Cambria Math" panose="02040503050406030204" pitchFamily="18" charset="0"/>
                  </a:rPr>
                  <a:t>$\hat u+\hat v$</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$\left[\vec a\times\vec b\ \ \vec b\times\vec c\ \ \vec c\times\vec a\right]=\left[\vec a\ \vec b\ \vec c\right]^2$</a:t>
                </a:r>
                <a:r>
                  <a:rPr sz="2400" b="0">
                    <a:solidFill>
                      <a:srgbClr val="111827"/>
                    </a:solidFill>
                    <a:latin typeface="Arial"/>
                  </a:rPr>
                  <a:t> for any three vectors.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$\left[\vec a+\vec b\ \ \vec b+\vec c\ \ \vec c+\vec a\right]=2\left[\vec a\ \vec b\ \vec c\right]$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triple product with a repeated vector is </a:t>
                </a:r>
                <a:r>
                  <a:rPr lang="en-IN" sz="2400">
                    <a:solidFill>
                      <a:srgbClr val="111827"/>
                    </a:solidFill>
                    <a:latin typeface="Cambria Math" panose="02040503050406030204" pitchFamily="18" charset="0"/>
                  </a:rPr>
                  <a:t>$0$</a:t>
                </a:r>
                <a:r>
                  <a:rPr sz="2400" b="0">
                    <a:solidFill>
                      <a:srgbClr val="111827"/>
                    </a:solidFill>
                    <a:latin typeface="Arial"/>
                  </a:rPr>
                  <a:t>, and it is unchanged by cyclic permutation; use this to drop terms on expansion.</a:t>
                </a:r>
                <a:endParaRPr sz="2400">
                  <a:solidFill>
                    <a:srgbClr val="111827"/>
                  </a:solidFill>
                </a:endParaRPr>
              </a:p>
            </p:txBody>
          </p:sp>
        </mc:Fallback>
      </mc:AlternateContent>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23342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are the position vectors of the points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respectively. If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equals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 is obtuse, then find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323342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lang="en-IN" sz="2400">
                    <a:solidFill>
                      <a:srgbClr val="111827"/>
                    </a:solidFill>
                    <a:latin typeface="Cambria Math" panose="02040503050406030204" pitchFamily="18" charset="0"/>
                  </a:rPr>
                  <a:t>$\vec a,\vec b,\vec c$</a:t>
                </a:r>
                <a:r>
                  <a:rPr sz="2400" b="0">
                    <a:solidFill>
                      <a:srgbClr val="111827"/>
                    </a:solidFill>
                    <a:latin typeface="Arial"/>
                  </a:rPr>
                  <a:t> and </a:t>
                </a:r>
                <a:r>
                  <a:rPr lang="en-IN" sz="2400">
                    <a:solidFill>
                      <a:srgbClr val="111827"/>
                    </a:solidFill>
                    <a:latin typeface="Cambria Math" panose="02040503050406030204" pitchFamily="18" charset="0"/>
                  </a:rPr>
                  <a:t>$\vec d$</a:t>
                </a:r>
                <a:r>
                  <a:rPr sz="2400" b="0">
                    <a:solidFill>
                      <a:srgbClr val="111827"/>
                    </a:solidFill>
                    <a:latin typeface="Arial"/>
                  </a:rPr>
                  <a:t> are the position vectors of the points </a:t>
                </a:r>
                <a:r>
                  <a:rPr lang="en-IN" sz="2400">
                    <a:solidFill>
                      <a:srgbClr val="111827"/>
                    </a:solidFill>
                    <a:latin typeface="Cambria Math" panose="02040503050406030204" pitchFamily="18" charset="0"/>
                  </a:rPr>
                  <a:t>$A(x,y,z)$</a:t>
                </a:r>
                <a:r>
                  <a:rPr sz="2400" b="0">
                    <a:solidFill>
                      <a:srgbClr val="111827"/>
                    </a:solidFill>
                    <a:latin typeface="Arial"/>
                  </a:rPr>
                  <a:t>, </a:t>
                </a:r>
                <a:r>
                  <a:rPr lang="en-IN" sz="2400">
                    <a:solidFill>
                      <a:srgbClr val="111827"/>
                    </a:solidFill>
                    <a:latin typeface="Cambria Math" panose="02040503050406030204" pitchFamily="18" charset="0"/>
                  </a:rPr>
                  <a:t>$B(y,-2z,3x)$</a:t>
                </a:r>
                <a:r>
                  <a:rPr sz="2400" b="0">
                    <a:solidFill>
                      <a:srgbClr val="111827"/>
                    </a:solidFill>
                    <a:latin typeface="Arial"/>
                  </a:rPr>
                  <a:t>, </a:t>
                </a:r>
                <a:r>
                  <a:rPr lang="en-IN" sz="2400">
                    <a:solidFill>
                      <a:srgbClr val="111827"/>
                    </a:solidFill>
                    <a:latin typeface="Cambria Math" panose="02040503050406030204" pitchFamily="18" charset="0"/>
                  </a:rPr>
                  <a:t>$C(2z,3x,-y)$</a:t>
                </a:r>
                <a:r>
                  <a:rPr sz="2400" b="0">
                    <a:solidFill>
                      <a:srgbClr val="111827"/>
                    </a:solidFill>
                    <a:latin typeface="Arial"/>
                  </a:rPr>
                  <a:t> and </a:t>
                </a:r>
                <a:r>
                  <a:rPr lang="en-IN" sz="2400">
                    <a:solidFill>
                      <a:srgbClr val="111827"/>
                    </a:solidFill>
                    <a:latin typeface="Cambria Math" panose="02040503050406030204" pitchFamily="18" charset="0"/>
                  </a:rPr>
                  <a:t>$D(1,-1,2)$</a:t>
                </a:r>
                <a:r>
                  <a:rPr sz="2400" b="0">
                    <a:solidFill>
                      <a:srgbClr val="111827"/>
                    </a:solidFill>
                    <a:latin typeface="Arial"/>
                  </a:rPr>
                  <a:t> respectively. If </a:t>
                </a:r>
                <a:r>
                  <a:rPr lang="en-IN" sz="2400">
                    <a:solidFill>
                      <a:srgbClr val="111827"/>
                    </a:solidFill>
                    <a:latin typeface="Cambria Math" panose="02040503050406030204" pitchFamily="18" charset="0"/>
                  </a:rPr>
                  <a:t>$\left|\vec a\right|=2\sqrt3$</a:t>
                </a:r>
                <a:r>
                  <a:rPr sz="2400" b="0">
                    <a:solidFill>
                      <a:srgbClr val="111827"/>
                    </a:solidFill>
                    <a:latin typeface="Arial"/>
                  </a:rPr>
                  <a:t>, the angle between </a:t>
                </a:r>
                <a:r>
                  <a:rPr lang="en-IN" sz="2400">
                    <a:solidFill>
                      <a:srgbClr val="111827"/>
                    </a:solidFill>
                    <a:latin typeface="Cambria Math" panose="02040503050406030204" pitchFamily="18" charset="0"/>
                  </a:rPr>
                  <a:t>$\vec a$</a:t>
                </a:r>
                <a:r>
                  <a:rPr sz="2400" b="0">
                    <a:solidFill>
                      <a:srgbClr val="111827"/>
                    </a:solidFill>
                    <a:latin typeface="Arial"/>
                  </a:rPr>
                  <a:t> and </a:t>
                </a:r>
                <a:r>
                  <a:rPr lang="en-IN" sz="2400">
                    <a:solidFill>
                      <a:srgbClr val="111827"/>
                    </a:solidFill>
                    <a:latin typeface="Cambria Math" panose="02040503050406030204" pitchFamily="18" charset="0"/>
                  </a:rPr>
                  <a:t>$\vec b$</a:t>
                </a:r>
                <a:r>
                  <a:rPr sz="2400" b="0">
                    <a:solidFill>
                      <a:srgbClr val="111827"/>
                    </a:solidFill>
                    <a:latin typeface="Arial"/>
                  </a:rPr>
                  <a:t> equals the angle between </a:t>
                </a:r>
                <a:r>
                  <a:rPr lang="en-IN" sz="2400">
                    <a:solidFill>
                      <a:srgbClr val="111827"/>
                    </a:solidFill>
                    <a:latin typeface="Cambria Math" panose="02040503050406030204" pitchFamily="18" charset="0"/>
                  </a:rPr>
                  <a:t>$\vec a$</a:t>
                </a:r>
                <a:r>
                  <a:rPr sz="2400" b="0">
                    <a:solidFill>
                      <a:srgbClr val="111827"/>
                    </a:solidFill>
                    <a:latin typeface="Arial"/>
                  </a:rPr>
                  <a:t> and </a:t>
                </a:r>
                <a:r>
                  <a:rPr lang="en-IN" sz="2400">
                    <a:solidFill>
                      <a:srgbClr val="111827"/>
                    </a:solidFill>
                    <a:latin typeface="Cambria Math" panose="02040503050406030204" pitchFamily="18" charset="0"/>
                  </a:rPr>
                  <a:t>$\vec c$</a:t>
                </a:r>
                <a:r>
                  <a:rPr sz="2400" b="0">
                    <a:solidFill>
                      <a:srgbClr val="111827"/>
                    </a:solidFill>
                    <a:latin typeface="Arial"/>
                  </a:rPr>
                  <a:t>, the angle between </a:t>
                </a:r>
                <a:r>
                  <a:rPr lang="en-IN" sz="2400">
                    <a:solidFill>
                      <a:srgbClr val="111827"/>
                    </a:solidFill>
                    <a:latin typeface="Cambria Math" panose="02040503050406030204" pitchFamily="18" charset="0"/>
                  </a:rPr>
                  <a:t>$\vec a$</a:t>
                </a:r>
                <a:r>
                  <a:rPr sz="2400" b="0">
                    <a:solidFill>
                      <a:srgbClr val="111827"/>
                    </a:solidFill>
                    <a:latin typeface="Arial"/>
                  </a:rPr>
                  <a:t> and </a:t>
                </a:r>
                <a:r>
                  <a:rPr lang="en-IN" sz="2400">
                    <a:solidFill>
                      <a:srgbClr val="111827"/>
                    </a:solidFill>
                    <a:latin typeface="Cambria Math" panose="02040503050406030204" pitchFamily="18" charset="0"/>
                  </a:rPr>
                  <a:t>$\vec d$</a:t>
                </a:r>
                <a:r>
                  <a:rPr sz="2400" b="0">
                    <a:solidFill>
                      <a:srgbClr val="111827"/>
                    </a:solidFill>
                    <a:latin typeface="Arial"/>
                  </a:rPr>
                  <a:t> is </a:t>
                </a:r>
                <a:r>
                  <a:rPr lang="en-IN" sz="2400">
                    <a:solidFill>
                      <a:srgbClr val="111827"/>
                    </a:solidFill>
                    <a:latin typeface="Cambria Math" panose="02040503050406030204" pitchFamily="18" charset="0"/>
                  </a:rPr>
                  <a:t>$\frac{\pi}{2}$</a:t>
                </a:r>
                <a:r>
                  <a:rPr sz="2400" b="0">
                    <a:solidFill>
                      <a:srgbClr val="111827"/>
                    </a:solidFill>
                    <a:latin typeface="Arial"/>
                  </a:rPr>
                  <a:t>, and the angle between </a:t>
                </a:r>
                <a:r>
                  <a:rPr lang="en-IN" sz="2400">
                    <a:solidFill>
                      <a:srgbClr val="111827"/>
                    </a:solidFill>
                    <a:latin typeface="Cambria Math" panose="02040503050406030204" pitchFamily="18" charset="0"/>
                  </a:rPr>
                  <a:t>$\vec a$</a:t>
                </a:r>
                <a:r>
                  <a:rPr sz="2400" b="0">
                    <a:solidFill>
                      <a:srgbClr val="111827"/>
                    </a:solidFill>
                    <a:latin typeface="Arial"/>
                  </a:rPr>
                  <a:t> and </a:t>
                </a:r>
                <a:r>
                  <a:rPr lang="en-IN" sz="2400">
                    <a:solidFill>
                      <a:srgbClr val="111827"/>
                    </a:solidFill>
                    <a:latin typeface="Cambria Math" panose="02040503050406030204" pitchFamily="18" charset="0"/>
                  </a:rPr>
                  <a:t>$\hat j$</a:t>
                </a:r>
                <a:r>
                  <a:rPr sz="2400" b="0">
                    <a:solidFill>
                      <a:srgbClr val="111827"/>
                    </a:solidFill>
                    <a:latin typeface="Arial"/>
                  </a:rPr>
                  <a:t> is obtuse, then find </a:t>
                </a:r>
                <a:r>
                  <a:rPr lang="en-IN" sz="2400">
                    <a:solidFill>
                      <a:srgbClr val="111827"/>
                    </a:solidFill>
                    <a:latin typeface="Cambria Math" panose="02040503050406030204" pitchFamily="18" charset="0"/>
                  </a:rPr>
                  <a:t>$x,y,z$</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474218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Dot product and angle between vectors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e>
                    </m:d>
                  </m:oMath>
                </a14:m>
                <a:r>
                  <a:rPr sz="2400" b="0">
                    <a:solidFill>
                      <a:srgbClr val="78350F"/>
                    </a:solidFill>
                    <a:latin typeface="Arial"/>
                  </a:rPr>
                  <a:t> identically, so equal angles with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oMath>
                </a14:m>
                <a:r>
                  <a:rPr sz="2400" b="0">
                    <a:solidFill>
                      <a:srgbClr val="78350F"/>
                    </a:solidFill>
                    <a:latin typeface="Arial"/>
                  </a:rPr>
                  <a:t> means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oMath>
                </a14:m>
                <a:r>
                  <a:rPr sz="2400" b="0">
                    <a:solidFill>
                      <a:srgbClr val="78350F"/>
                    </a:solidFill>
                    <a:latin typeface="Arial"/>
                  </a:rPr>
                  <a:t>; together with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this reduces to a perfect square.</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$\left|\vec b\right|=\left|\vec c\right|$</a:t>
                </a:r>
                <a:r>
                  <a:rPr sz="2400" b="0">
                    <a:solidFill>
                      <a:srgbClr val="78350F"/>
                    </a:solidFill>
                    <a:latin typeface="Arial"/>
                  </a:rPr>
                  <a:t> identically, so equal angles with </a:t>
                </a:r>
                <a:r>
                  <a:rPr lang="en-IN" sz="2400">
                    <a:solidFill>
                      <a:srgbClr val="78350F"/>
                    </a:solidFill>
                    <a:latin typeface="Cambria Math" panose="02040503050406030204" pitchFamily="18" charset="0"/>
                  </a:rPr>
                  <a:t>$\vec a$</a:t>
                </a:r>
                <a:r>
                  <a:rPr sz="2400" b="0">
                    <a:solidFill>
                      <a:srgbClr val="78350F"/>
                    </a:solidFill>
                    <a:latin typeface="Arial"/>
                  </a:rPr>
                  <a:t> means </a:t>
                </a:r>
                <a:r>
                  <a:rPr lang="en-IN" sz="2400">
                    <a:solidFill>
                      <a:srgbClr val="78350F"/>
                    </a:solidFill>
                    <a:latin typeface="Cambria Math" panose="02040503050406030204" pitchFamily="18" charset="0"/>
                  </a:rPr>
                  <a:t>$\vec a\cdot\vec b=\vec a\cdot\vec c$</a:t>
                </a:r>
                <a:r>
                  <a:rPr sz="2400" b="0">
                    <a:solidFill>
                      <a:srgbClr val="78350F"/>
                    </a:solidFill>
                    <a:latin typeface="Arial"/>
                  </a:rPr>
                  <a:t>; together with </a:t>
                </a:r>
                <a:r>
                  <a:rPr lang="en-IN" sz="2400">
                    <a:solidFill>
                      <a:srgbClr val="78350F"/>
                    </a:solidFill>
                    <a:latin typeface="Cambria Math" panose="02040503050406030204" pitchFamily="18" charset="0"/>
                  </a:rPr>
                  <a:t>$\vec a\cdot\vec d=0$</a:t>
                </a:r>
                <a:r>
                  <a:rPr sz="2400" b="0">
                    <a:solidFill>
                      <a:srgbClr val="78350F"/>
                    </a:solidFill>
                    <a:latin typeface="Arial"/>
                  </a:rPr>
                  <a:t> this reduces to a perfect square.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 is obtuse,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later, the PDF states it as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...(iii).</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a=(x,y,z)$</a:t>
                </a:r>
                <a:r>
                  <a:rPr sz="2400" b="0">
                    <a:solidFill>
                      <a:srgbClr val="111827"/>
                    </a:solidFill>
                    <a:latin typeface="Arial"/>
                  </a:rPr>
                  <a:t>, </a:t>
                </a:r>
                <a:r>
                  <a:rPr lang="en-IN" sz="2400">
                    <a:solidFill>
                      <a:srgbClr val="111827"/>
                    </a:solidFill>
                    <a:latin typeface="Cambria Math" panose="02040503050406030204" pitchFamily="18" charset="0"/>
                  </a:rPr>
                  <a:t>$\vec b=(y,-2z,3x)$</a:t>
                </a:r>
                <a:r>
                  <a:rPr sz="2400" b="0">
                    <a:solidFill>
                      <a:srgbClr val="111827"/>
                    </a:solidFill>
                    <a:latin typeface="Arial"/>
                  </a:rPr>
                  <a:t>, </a:t>
                </a:r>
                <a:r>
                  <a:rPr lang="en-IN" sz="2400">
                    <a:solidFill>
                      <a:srgbClr val="111827"/>
                    </a:solidFill>
                    <a:latin typeface="Cambria Math" panose="02040503050406030204" pitchFamily="18" charset="0"/>
                  </a:rPr>
                  <a:t>$\vec c=(2z,3x,-y)$</a:t>
                </a:r>
                <a:r>
                  <a:rPr sz="2400" b="0">
                    <a:solidFill>
                      <a:srgbClr val="111827"/>
                    </a:solidFill>
                    <a:latin typeface="Arial"/>
                  </a:rPr>
                  <a:t>, </a:t>
                </a:r>
                <a:r>
                  <a:rPr lang="en-IN" sz="2400">
                    <a:solidFill>
                      <a:srgbClr val="111827"/>
                    </a:solidFill>
                    <a:latin typeface="Cambria Math" panose="02040503050406030204" pitchFamily="18" charset="0"/>
                  </a:rPr>
                  <a:t>$\vec d=(1,-1,2)$</a:t>
                </a:r>
                <a:r>
                  <a:rPr sz="2400" b="0">
                    <a:solidFill>
                      <a:srgbClr val="111827"/>
                    </a:solidFill>
                    <a:latin typeface="Arial"/>
                  </a:rPr>
                  <a:t> and </a:t>
                </a:r>
                <a:r>
                  <a:rPr lang="en-IN" sz="2400">
                    <a:solidFill>
                      <a:srgbClr val="111827"/>
                    </a:solidFill>
                    <a:latin typeface="Cambria Math" panose="02040503050406030204" pitchFamily="18" charset="0"/>
                  </a:rPr>
                  <a:t>$\left|\vec a\right|=2\sqrt3$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angle between </a:t>
                </a:r>
                <a:r>
                  <a:rPr lang="en-IN" sz="2400">
                    <a:solidFill>
                      <a:srgbClr val="111827"/>
                    </a:solidFill>
                    <a:latin typeface="Cambria Math" panose="02040503050406030204" pitchFamily="18" charset="0"/>
                  </a:rPr>
                  <a:t>$\vec a$</a:t>
                </a:r>
                <a:r>
                  <a:rPr sz="2400" b="0">
                    <a:solidFill>
                      <a:srgbClr val="111827"/>
                    </a:solidFill>
                    <a:latin typeface="Arial"/>
                  </a:rPr>
                  <a:t> and </a:t>
                </a:r>
                <a:r>
                  <a:rPr lang="en-IN" sz="2400">
                    <a:solidFill>
                      <a:srgbClr val="111827"/>
                    </a:solidFill>
                    <a:latin typeface="Cambria Math" panose="02040503050406030204" pitchFamily="18" charset="0"/>
                  </a:rPr>
                  <a:t>$\vec d$</a:t>
                </a:r>
                <a:r>
                  <a:rPr sz="2400" b="0">
                    <a:solidFill>
                      <a:srgbClr val="111827"/>
                    </a:solidFill>
                    <a:latin typeface="Arial"/>
                  </a:rPr>
                  <a:t> is </a:t>
                </a:r>
                <a:r>
                  <a:rPr lang="en-IN" sz="2400">
                    <a:solidFill>
                      <a:srgbClr val="111827"/>
                    </a:solidFill>
                    <a:latin typeface="Cambria Math" panose="02040503050406030204" pitchFamily="18" charset="0"/>
                  </a:rPr>
                  <a:t>$90^\circ$</a:t>
                </a:r>
                <a:r>
                  <a:rPr sz="2400" b="0">
                    <a:solidFill>
                      <a:srgbClr val="111827"/>
                    </a:solidFill>
                    <a:latin typeface="Arial"/>
                  </a:rPr>
                  <a:t>, so </a:t>
                </a:r>
                <a:r>
                  <a:rPr lang="en-IN" sz="2400">
                    <a:solidFill>
                      <a:srgbClr val="111827"/>
                    </a:solidFill>
                    <a:latin typeface="Cambria Math" panose="02040503050406030204" pitchFamily="18" charset="0"/>
                  </a:rPr>
                  <a:t>$\vec a\cdot\vec d=0$</a:t>
                </a:r>
                <a:r>
                  <a:rPr sz="2400" b="0">
                    <a:solidFill>
                      <a:srgbClr val="111827"/>
                    </a:solidFill>
                    <a:latin typeface="Arial"/>
                  </a:rPr>
                  <a:t>: </a:t>
                </a:r>
                <a:r>
                  <a:rPr lang="en-IN" sz="2400">
                    <a:solidFill>
                      <a:srgbClr val="111827"/>
                    </a:solidFill>
                    <a:latin typeface="Cambria Math" panose="02040503050406030204" pitchFamily="18" charset="0"/>
                  </a:rPr>
                  <a:t>$x-y+2z=0$</a:t>
                </a:r>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angle between </a:t>
                </a:r>
                <a:r>
                  <a:rPr lang="en-IN" sz="2400">
                    <a:solidFill>
                      <a:srgbClr val="111827"/>
                    </a:solidFill>
                    <a:latin typeface="Cambria Math" panose="02040503050406030204" pitchFamily="18" charset="0"/>
                  </a:rPr>
                  <a:t>$\vec a$</a:t>
                </a:r>
                <a:r>
                  <a:rPr sz="2400" b="0">
                    <a:solidFill>
                      <a:srgbClr val="111827"/>
                    </a:solidFill>
                    <a:latin typeface="Arial"/>
                  </a:rPr>
                  <a:t> and </a:t>
                </a:r>
                <a:r>
                  <a:rPr lang="en-IN" sz="2400">
                    <a:solidFill>
                      <a:srgbClr val="111827"/>
                    </a:solidFill>
                    <a:latin typeface="Cambria Math" panose="02040503050406030204" pitchFamily="18" charset="0"/>
                  </a:rPr>
                  <a:t>$\hat j$</a:t>
                </a:r>
                <a:r>
                  <a:rPr sz="2400" b="0">
                    <a:solidFill>
                      <a:srgbClr val="111827"/>
                    </a:solidFill>
                    <a:latin typeface="Arial"/>
                  </a:rPr>
                  <a:t> is obtuse, so </a:t>
                </a:r>
                <a:r>
                  <a:rPr lang="en-IN" sz="2400">
                    <a:solidFill>
                      <a:srgbClr val="111827"/>
                    </a:solidFill>
                    <a:latin typeface="Cambria Math" panose="02040503050406030204" pitchFamily="18" charset="0"/>
                  </a:rPr>
                  <a:t>$\vec a\cdot\hat j=y&lt;0$</a:t>
                </a:r>
                <a:r>
                  <a:rPr sz="2400" b="0">
                    <a:solidFill>
                      <a:srgbClr val="111827"/>
                    </a:solidFill>
                    <a:latin typeface="Arial"/>
                  </a:rPr>
                  <a:t> (since </a:t>
                </a:r>
                <a:r>
                  <a:rPr lang="en-IN" sz="2400">
                    <a:solidFill>
                      <a:srgbClr val="111827"/>
                    </a:solidFill>
                    <a:latin typeface="Cambria Math" panose="02040503050406030204" pitchFamily="18" charset="0"/>
                  </a:rPr>
                  <a:t>$y=z$</a:t>
                </a:r>
                <a:r>
                  <a:rPr sz="2400" b="0">
                    <a:solidFill>
                      <a:srgbClr val="111827"/>
                    </a:solidFill>
                    <a:latin typeface="Arial"/>
                  </a:rPr>
                  <a:t> later, the PDF states it as </a:t>
                </a:r>
                <a:r>
                  <a:rPr lang="en-IN" sz="2400">
                    <a:solidFill>
                      <a:srgbClr val="111827"/>
                    </a:solidFill>
                    <a:latin typeface="Cambria Math" panose="02040503050406030204" pitchFamily="18" charset="0"/>
                  </a:rPr>
                  <a:t>$z&lt;0$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$\left|\vec a\right|^2=x^2+y^2+z^2=12$</a:t>
                </a:r>
                <a:r>
                  <a:rPr sz="2400" b="0">
                    <a:solidFill>
                      <a:srgbClr val="111827"/>
                    </a:solidFill>
                    <a:latin typeface="Arial"/>
                  </a:rPr>
                  <a:t> ...(iii).</a:t>
                </a:r>
                <a:endParaRPr sz="2400">
                  <a:solidFill>
                    <a:srgbClr val="111827"/>
                  </a:solidFill>
                </a:endParaRPr>
              </a:p>
            </p:txBody>
          </p:sp>
        </mc:Fallback>
      </mc:AlternateContent>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den>
                    </m:f>
                  </m:oMath>
                </a14:m>
                <a:r>
                  <a:rPr sz="2400" b="0">
                    <a:solidFill>
                      <a:srgbClr val="111827"/>
                    </a:solidFill>
                    <a:latin typeface="Arial"/>
                  </a:rPr>
                  <a:t> we get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(i),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oMath>
                </a14:m>
                <a:r>
                  <a:rPr sz="2400" b="0">
                    <a:solidFill>
                      <a:srgbClr val="111827"/>
                    </a:solidFill>
                    <a:latin typeface="Arial"/>
                  </a:rPr>
                  <a:t>. Put this in (ii):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𝑧</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$\left|\vec b\right|^2=y^2+4z^2+9x^2$</a:t>
                </a:r>
                <a:r>
                  <a:rPr sz="2400" b="0">
                    <a:solidFill>
                      <a:srgbClr val="111827"/>
                    </a:solidFill>
                    <a:latin typeface="Arial"/>
                  </a:rPr>
                  <a:t> and </a:t>
                </a:r>
                <a:r>
                  <a:rPr lang="en-IN" sz="2400">
                    <a:solidFill>
                      <a:srgbClr val="111827"/>
                    </a:solidFill>
                    <a:latin typeface="Cambria Math" panose="02040503050406030204" pitchFamily="18" charset="0"/>
                  </a:rPr>
                  <a:t>$\left|\vec c\right|^2=4z^2+9x^2+y^2$</a:t>
                </a:r>
                <a:r>
                  <a:rPr sz="2400" b="0">
                    <a:solidFill>
                      <a:srgbClr val="111827"/>
                    </a:solidFill>
                    <a:latin typeface="Arial"/>
                  </a:rPr>
                  <a:t>, so </a:t>
                </a:r>
                <a:r>
                  <a:rPr lang="en-IN" sz="2400">
                    <a:solidFill>
                      <a:srgbClr val="111827"/>
                    </a:solidFill>
                    <a:latin typeface="Cambria Math" panose="02040503050406030204" pitchFamily="18" charset="0"/>
                  </a:rPr>
                  <a:t>$\left|\vec b\right|=\left|\vec c\right|$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a:t>
                </a:r>
                <a:r>
                  <a:rPr lang="en-IN" sz="2400">
                    <a:solidFill>
                      <a:srgbClr val="111827"/>
                    </a:solidFill>
                    <a:latin typeface="Cambria Math" panose="02040503050406030204" pitchFamily="18" charset="0"/>
                  </a:rPr>
                  <a:t>$\cos\theta=\frac{\vec a\cdot\vec b}{\left|\vec a\right|\left|\vec b\right|}=\frac{\vec a\cdot\vec c}{\left|\vec a\right|\left|\vec c\right|}$</a:t>
                </a:r>
                <a:r>
                  <a:rPr sz="2400" b="0">
                    <a:solidFill>
                      <a:srgbClr val="111827"/>
                    </a:solidFill>
                    <a:latin typeface="Arial"/>
                  </a:rPr>
                  <a:t> we get </a:t>
                </a:r>
                <a:r>
                  <a:rPr lang="en-IN" sz="2400">
                    <a:solidFill>
                      <a:srgbClr val="111827"/>
                    </a:solidFill>
                    <a:latin typeface="Cambria Math" panose="02040503050406030204" pitchFamily="18" charset="0"/>
                  </a:rPr>
                  <a:t>$\vec a\cdot\vec b=\vec a\cdot\vec c$</a:t>
                </a:r>
                <a:r>
                  <a:rPr sz="2400" b="0">
                    <a:solidFill>
                      <a:srgbClr val="111827"/>
                    </a:solidFill>
                    <a:latin typeface="Arial"/>
                  </a:rPr>
                  <a:t>: </a:t>
                </a:r>
                <a:r>
                  <a:rPr lang="en-IN" sz="2400">
                    <a:solidFill>
                      <a:srgbClr val="111827"/>
                    </a:solidFill>
                    <a:latin typeface="Cambria Math" panose="02040503050406030204" pitchFamily="18" charset="0"/>
                  </a:rPr>
                  <a:t>$xy-2yz+3xz=2xz+3xy-yz$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$2xy+yz-xz=0$</a:t>
                </a:r>
                <a:r>
                  <a:rPr sz="2400" b="0">
                    <a:solidFill>
                      <a:srgbClr val="111827"/>
                    </a:solidFill>
                    <a:latin typeface="Arial"/>
                  </a:rPr>
                  <a:t>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(i), </a:t>
                </a:r>
                <a:r>
                  <a:rPr lang="en-IN" sz="2400">
                    <a:solidFill>
                      <a:srgbClr val="111827"/>
                    </a:solidFill>
                    <a:latin typeface="Cambria Math" panose="02040503050406030204" pitchFamily="18" charset="0"/>
                  </a:rPr>
                  <a:t>$y=x+2z$</a:t>
                </a:r>
                <a:r>
                  <a:rPr sz="2400" b="0">
                    <a:solidFill>
                      <a:srgbClr val="111827"/>
                    </a:solidFill>
                    <a:latin typeface="Arial"/>
                  </a:rPr>
                  <a:t>. Put this in (ii): </a:t>
                </a:r>
                <a:r>
                  <a:rPr lang="en-IN" sz="2400">
                    <a:solidFill>
                      <a:srgbClr val="111827"/>
                    </a:solidFill>
                    <a:latin typeface="Cambria Math" panose="02040503050406030204" pitchFamily="18" charset="0"/>
                  </a:rPr>
                  <a:t>$(2x+z)y=xz$</a:t>
                </a:r>
                <a:r>
                  <a:rPr sz="2400" b="0">
                    <a:solidFill>
                      <a:srgbClr val="111827"/>
                    </a:solidFill>
                    <a:latin typeface="Arial"/>
                  </a:rPr>
                  <a:t>, so </a:t>
                </a:r>
                <a:r>
                  <a:rPr lang="en-IN" sz="2400">
                    <a:solidFill>
                      <a:srgbClr val="111827"/>
                    </a:solidFill>
                    <a:latin typeface="Cambria Math" panose="02040503050406030204" pitchFamily="18" charset="0"/>
                  </a:rPr>
                  <a:t>$(2x+z)(x+2z)=xz$</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𝑧</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in (iii):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we need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$2x^2+5xz+2z^2=xz$</a:t>
                </a:r>
                <a:r>
                  <a:rPr sz="2400" b="0">
                    <a:solidFill>
                      <a:srgbClr val="111827"/>
                    </a:solidFill>
                    <a:latin typeface="Arial"/>
                  </a:rPr>
                  <a:t>, so </a:t>
                </a:r>
                <a:r>
                  <a:rPr lang="en-IN" sz="2400">
                    <a:solidFill>
                      <a:srgbClr val="111827"/>
                    </a:solidFill>
                    <a:latin typeface="Cambria Math" panose="02040503050406030204" pitchFamily="18" charset="0"/>
                  </a:rPr>
                  <a:t>$2x^2+4xz+2z^2=0$</a:t>
                </a:r>
                <a:r>
                  <a:rPr sz="2400" b="0">
                    <a:solidFill>
                      <a:srgbClr val="111827"/>
                    </a:solidFill>
                    <a:latin typeface="Arial"/>
                  </a:rPr>
                  <a:t>, i.e. </a:t>
                </a:r>
                <a:r>
                  <a:rPr lang="en-IN" sz="2400">
                    <a:solidFill>
                      <a:srgbClr val="111827"/>
                    </a:solidFill>
                    <a:latin typeface="Cambria Math" panose="02040503050406030204" pitchFamily="18" charset="0"/>
                  </a:rPr>
                  <a:t>$(x+z)^2=0$</a:t>
                </a:r>
                <a:r>
                  <a:rPr sz="2400" b="0">
                    <a:solidFill>
                      <a:srgbClr val="111827"/>
                    </a:solidFill>
                    <a:latin typeface="Arial"/>
                  </a:rPr>
                  <a:t> and </a:t>
                </a:r>
                <a:r>
                  <a:rPr lang="en-IN" sz="2400">
                    <a:solidFill>
                      <a:srgbClr val="111827"/>
                    </a:solidFill>
                    <a:latin typeface="Cambria Math" panose="02040503050406030204" pitchFamily="18" charset="0"/>
                  </a:rPr>
                  <a:t>$x=-z$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Then </a:t>
                </a:r>
                <a:r>
                  <a:rPr lang="en-IN" sz="2400">
                    <a:solidFill>
                      <a:srgbClr val="111827"/>
                    </a:solidFill>
                    <a:latin typeface="Cambria Math" panose="02040503050406030204" pitchFamily="18" charset="0"/>
                  </a:rPr>
                  <a:t>$y=x+2z=z$</a:t>
                </a:r>
                <a:r>
                  <a:rPr sz="2400" b="0">
                    <a:solidFill>
                      <a:srgbClr val="111827"/>
                    </a:solidFill>
                    <a:latin typeface="Arial"/>
                  </a:rPr>
                  <a:t>, so </a:t>
                </a:r>
                <a:r>
                  <a:rPr lang="en-IN" sz="2400">
                    <a:solidFill>
                      <a:srgbClr val="111827"/>
                    </a:solidFill>
                    <a:latin typeface="Cambria Math" panose="02040503050406030204" pitchFamily="18" charset="0"/>
                  </a:rPr>
                  <a:t>$x=-y=-z$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in (iii): </a:t>
                </a:r>
                <a:r>
                  <a:rPr lang="en-IN" sz="2400">
                    <a:solidFill>
                      <a:srgbClr val="111827"/>
                    </a:solidFill>
                    <a:latin typeface="Cambria Math" panose="02040503050406030204" pitchFamily="18" charset="0"/>
                  </a:rPr>
                  <a:t>$3x^2=12$</a:t>
                </a:r>
                <a:r>
                  <a:rPr sz="2400" b="0">
                    <a:solidFill>
                      <a:srgbClr val="111827"/>
                    </a:solidFill>
                    <a:latin typeface="Arial"/>
                  </a:rPr>
                  <a:t>, so </a:t>
                </a:r>
                <a:r>
                  <a:rPr lang="en-IN" sz="2400">
                    <a:solidFill>
                      <a:srgbClr val="111827"/>
                    </a:solidFill>
                    <a:latin typeface="Cambria Math" panose="02040503050406030204" pitchFamily="18" charset="0"/>
                  </a:rPr>
                  <a:t>$x=\pm2$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$\vec a\cdot\hat j=y&lt;0$</a:t>
                </a:r>
                <a:r>
                  <a:rPr sz="2400" b="0">
                    <a:solidFill>
                      <a:srgbClr val="111827"/>
                    </a:solidFill>
                    <a:latin typeface="Arial"/>
                  </a:rPr>
                  <a:t> we need </a:t>
                </a:r>
                <a:r>
                  <a:rPr lang="en-IN" sz="2400">
                    <a:solidFill>
                      <a:srgbClr val="111827"/>
                    </a:solidFill>
                    <a:latin typeface="Cambria Math" panose="02040503050406030204" pitchFamily="18" charset="0"/>
                  </a:rPr>
                  <a:t>$y=z&lt;0$</a:t>
                </a:r>
                <a:r>
                  <a:rPr sz="2400" b="0">
                    <a:solidFill>
                      <a:srgbClr val="111827"/>
                    </a:solidFill>
                    <a:latin typeface="Arial"/>
                  </a:rPr>
                  <a:t>, so </a:t>
                </a:r>
                <a:r>
                  <a:rPr lang="en-IN" sz="2400">
                    <a:solidFill>
                      <a:srgbClr val="111827"/>
                    </a:solidFill>
                    <a:latin typeface="Cambria Math" panose="02040503050406030204" pitchFamily="18" charset="0"/>
                  </a:rPr>
                  <a:t>$z=-2$</a:t>
                </a:r>
                <a:r>
                  <a:rPr sz="2400" b="0">
                    <a:solidFill>
                      <a:srgbClr val="111827"/>
                    </a:solidFill>
                    <a:latin typeface="Arial"/>
                  </a:rPr>
                  <a:t>, </a:t>
                </a:r>
                <a:r>
                  <a:rPr lang="en-IN" sz="2400">
                    <a:solidFill>
                      <a:srgbClr val="111827"/>
                    </a:solidFill>
                    <a:latin typeface="Cambria Math" panose="02040503050406030204" pitchFamily="18" charset="0"/>
                  </a:rPr>
                  <a:t>$y=-2$</a:t>
                </a:r>
                <a:r>
                  <a:rPr sz="2400" b="0">
                    <a:solidFill>
                      <a:srgbClr val="111827"/>
                    </a:solidFill>
                    <a:latin typeface="Arial"/>
                  </a:rPr>
                  <a:t>, </a:t>
                </a:r>
                <a:r>
                  <a:rPr lang="en-IN" sz="2400">
                    <a:solidFill>
                      <a:srgbClr val="111827"/>
                    </a:solidFill>
                    <a:latin typeface="Cambria Math" panose="02040503050406030204" pitchFamily="18" charset="0"/>
                  </a:rPr>
                  <a:t>$x=2$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𝑥</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oMath>
                </a14:m>
                <a:r>
                  <a:rPr sz="2800" b="1">
                    <a:solidFill>
                      <a:srgbClr val="15803D"/>
                    </a:solidFill>
                    <a:latin typeface="Arial"/>
                  </a:rPr>
                  <a:t>, </a:t>
                </a:r>
                <a14:m>
                  <m:oMath xmlns:m="http://schemas.openxmlformats.org/officeDocument/2006/math">
                    <m:r>
                      <a:rPr lang="en-IN" sz="2800" i="1">
                        <a:solidFill>
                          <a:srgbClr val="15803D"/>
                        </a:solidFill>
                        <a:latin typeface="Cambria Math" panose="02040503050406030204" pitchFamily="18" charset="0"/>
                      </a:rPr>
                      <m:t>𝑦</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oMath>
                </a14:m>
                <a:r>
                  <a:rPr sz="2800" b="1">
                    <a:solidFill>
                      <a:srgbClr val="15803D"/>
                    </a:solidFill>
                    <a:latin typeface="Arial"/>
                  </a:rPr>
                  <a:t>, </a:t>
                </a:r>
                <a14:m>
                  <m:oMath xmlns:m="http://schemas.openxmlformats.org/officeDocument/2006/math">
                    <m:r>
                      <a:rPr lang="en-IN" sz="2800" i="1">
                        <a:solidFill>
                          <a:srgbClr val="15803D"/>
                        </a:solidFill>
                        <a:latin typeface="Cambria Math" panose="02040503050406030204" pitchFamily="18" charset="0"/>
                      </a:rPr>
                      <m:t>𝑧</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$x=2$</a:t>
                </a:r>
                <a:r>
                  <a:rPr sz="2800" b="1">
                    <a:solidFill>
                      <a:srgbClr val="15803D"/>
                    </a:solidFill>
                    <a:latin typeface="Arial"/>
                  </a:rPr>
                  <a:t>, </a:t>
                </a:r>
                <a:r>
                  <a:rPr lang="en-IN" sz="2800">
                    <a:solidFill>
                      <a:srgbClr val="15803D"/>
                    </a:solidFill>
                    <a:latin typeface="Cambria Math" panose="02040503050406030204" pitchFamily="18" charset="0"/>
                  </a:rPr>
                  <a:t>$y=-2$</a:t>
                </a:r>
                <a:r>
                  <a:rPr sz="2800" b="1">
                    <a:solidFill>
                      <a:srgbClr val="15803D"/>
                    </a:solidFill>
                    <a:latin typeface="Arial"/>
                  </a:rPr>
                  <a:t>, </a:t>
                </a:r>
                <a:r>
                  <a:rPr lang="en-IN" sz="2800">
                    <a:solidFill>
                      <a:srgbClr val="15803D"/>
                    </a:solidFill>
                    <a:latin typeface="Cambria Math" panose="02040503050406030204" pitchFamily="18" charset="0"/>
                  </a:rPr>
                  <a:t>$z=-2$</a:t>
                </a:r>
                <a:endParaRPr sz="2800">
                  <a:solidFill>
                    <a:srgbClr val="15803D"/>
                  </a:solidFill>
                </a:endParaRPr>
              </a:p>
            </p:txBody>
          </p:sp>
        </mc:Fallback>
      </mc:AlternateContent>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oMath>
                </a14:m>
                <a:r>
                  <a:rPr sz="2400" b="0">
                    <a:solidFill>
                      <a:srgbClr val="111827"/>
                    </a:solidFill>
                    <a:latin typeface="Arial"/>
                  </a:rPr>
                  <a:t>, then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makes equal angles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iff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 is obtuse iff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(similarly for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use it to choose among sign-symmetric solutions.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condition like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is a perfect square, so it forces a linear relation rather than giving two roots; look for such squares after substituting a linear constraint.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both of length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56</m:t>
                        </m:r>
                      </m:e>
                    </m:rad>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24</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$\left|\vec b\right|=\left|\vec c\right|$</a:t>
                </a:r>
                <a:r>
                  <a:rPr sz="2400" b="0">
                    <a:solidFill>
                      <a:srgbClr val="111827"/>
                    </a:solidFill>
                    <a:latin typeface="Arial"/>
                  </a:rPr>
                  <a:t>, then </a:t>
                </a:r>
                <a:r>
                  <a:rPr lang="en-IN" sz="2400">
                    <a:solidFill>
                      <a:srgbClr val="111827"/>
                    </a:solidFill>
                    <a:latin typeface="Cambria Math" panose="02040503050406030204" pitchFamily="18" charset="0"/>
                  </a:rPr>
                  <a:t>$\vec a$</a:t>
                </a:r>
                <a:r>
                  <a:rPr sz="2400" b="0">
                    <a:solidFill>
                      <a:srgbClr val="111827"/>
                    </a:solidFill>
                    <a:latin typeface="Arial"/>
                  </a:rPr>
                  <a:t> makes equal angles with </a:t>
                </a:r>
                <a:r>
                  <a:rPr lang="en-IN" sz="2400">
                    <a:solidFill>
                      <a:srgbClr val="111827"/>
                    </a:solidFill>
                    <a:latin typeface="Cambria Math" panose="02040503050406030204" pitchFamily="18" charset="0"/>
                  </a:rPr>
                  <a:t>$\vec b$</a:t>
                </a:r>
                <a:r>
                  <a:rPr sz="2400" b="0">
                    <a:solidFill>
                      <a:srgbClr val="111827"/>
                    </a:solidFill>
                    <a:latin typeface="Arial"/>
                  </a:rPr>
                  <a:t> and </a:t>
                </a:r>
                <a:r>
                  <a:rPr lang="en-IN" sz="2400">
                    <a:solidFill>
                      <a:srgbClr val="111827"/>
                    </a:solidFill>
                    <a:latin typeface="Cambria Math" panose="02040503050406030204" pitchFamily="18" charset="0"/>
                  </a:rPr>
                  <a:t>$\vec c$</a:t>
                </a:r>
                <a:r>
                  <a:rPr sz="2400" b="0">
                    <a:solidFill>
                      <a:srgbClr val="111827"/>
                    </a:solidFill>
                    <a:latin typeface="Arial"/>
                  </a:rPr>
                  <a:t> iff </a:t>
                </a:r>
                <a:r>
                  <a:rPr lang="en-IN" sz="2400">
                    <a:solidFill>
                      <a:srgbClr val="111827"/>
                    </a:solidFill>
                    <a:latin typeface="Cambria Math" panose="02040503050406030204" pitchFamily="18" charset="0"/>
                  </a:rPr>
                  <a:t>$\vec a\cdot\left(\vec b-\vec c\right)=0$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angle between </a:t>
                </a:r>
                <a:r>
                  <a:rPr lang="en-IN" sz="2400">
                    <a:solidFill>
                      <a:srgbClr val="111827"/>
                    </a:solidFill>
                    <a:latin typeface="Cambria Math" panose="02040503050406030204" pitchFamily="18" charset="0"/>
                  </a:rPr>
                  <a:t>$\vec a=(x,y,z)$</a:t>
                </a:r>
                <a:r>
                  <a:rPr sz="2400" b="0">
                    <a:solidFill>
                      <a:srgbClr val="111827"/>
                    </a:solidFill>
                    <a:latin typeface="Arial"/>
                  </a:rPr>
                  <a:t> and </a:t>
                </a:r>
                <a:r>
                  <a:rPr lang="en-IN" sz="2400">
                    <a:solidFill>
                      <a:srgbClr val="111827"/>
                    </a:solidFill>
                    <a:latin typeface="Cambria Math" panose="02040503050406030204" pitchFamily="18" charset="0"/>
                  </a:rPr>
                  <a:t>$\hat j$</a:t>
                </a:r>
                <a:r>
                  <a:rPr sz="2400" b="0">
                    <a:solidFill>
                      <a:srgbClr val="111827"/>
                    </a:solidFill>
                    <a:latin typeface="Arial"/>
                  </a:rPr>
                  <a:t> is obtuse iff </a:t>
                </a:r>
                <a:r>
                  <a:rPr lang="en-IN" sz="2400">
                    <a:solidFill>
                      <a:srgbClr val="111827"/>
                    </a:solidFill>
                    <a:latin typeface="Cambria Math" panose="02040503050406030204" pitchFamily="18" charset="0"/>
                  </a:rPr>
                  <a:t>$y&lt;0$</a:t>
                </a:r>
                <a:r>
                  <a:rPr sz="2400" b="0">
                    <a:solidFill>
                      <a:srgbClr val="111827"/>
                    </a:solidFill>
                    <a:latin typeface="Arial"/>
                  </a:rPr>
                  <a:t> (similarly for </a:t>
                </a:r>
                <a:r>
                  <a:rPr lang="en-IN" sz="2400">
                    <a:solidFill>
                      <a:srgbClr val="111827"/>
                    </a:solidFill>
                    <a:latin typeface="Cambria Math" panose="02040503050406030204" pitchFamily="18" charset="0"/>
                  </a:rPr>
                  <a:t>$\hat i,\hat k$</a:t>
                </a:r>
                <a:r>
                  <a:rPr sz="2400" b="0">
                    <a:solidFill>
                      <a:srgbClr val="111827"/>
                    </a:solidFill>
                    <a:latin typeface="Arial"/>
                  </a:rPr>
                  <a:t> with </a:t>
                </a:r>
                <a:r>
                  <a:rPr lang="en-IN" sz="2400">
                    <a:solidFill>
                      <a:srgbClr val="111827"/>
                    </a:solidFill>
                    <a:latin typeface="Cambria Math" panose="02040503050406030204" pitchFamily="18" charset="0"/>
                  </a:rPr>
                  <a:t>$x,z$</a:t>
                </a:r>
                <a:r>
                  <a:rPr sz="2400" b="0">
                    <a:solidFill>
                      <a:srgbClr val="111827"/>
                    </a:solidFill>
                    <a:latin typeface="Arial"/>
                  </a:rPr>
                  <a:t>): use it to choose among sign-symmetric solutions.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condition like </a:t>
                </a:r>
                <a:r>
                  <a:rPr lang="en-IN" sz="2400">
                    <a:solidFill>
                      <a:srgbClr val="111827"/>
                    </a:solidFill>
                    <a:latin typeface="Cambria Math" panose="02040503050406030204" pitchFamily="18" charset="0"/>
                  </a:rPr>
                  <a:t>$2x^2+4xz+2z^2=0$</a:t>
                </a:r>
                <a:r>
                  <a:rPr sz="2400" b="0">
                    <a:solidFill>
                      <a:srgbClr val="111827"/>
                    </a:solidFill>
                    <a:latin typeface="Arial"/>
                  </a:rPr>
                  <a:t> is a perfect square, so it forces a linear relation rather than giving two roots; look for such squares after substituting a linear constraint.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for </a:t>
                </a:r>
                <a:r>
                  <a:rPr lang="en-IN" sz="2400">
                    <a:solidFill>
                      <a:srgbClr val="111827"/>
                    </a:solidFill>
                    <a:latin typeface="Cambria Math" panose="02040503050406030204" pitchFamily="18" charset="0"/>
                  </a:rPr>
                  <a:t>$(2,-2,-2)$</a:t>
                </a:r>
                <a:r>
                  <a:rPr sz="2400" b="0">
                    <a:solidFill>
                      <a:srgbClr val="111827"/>
                    </a:solidFill>
                    <a:latin typeface="Arial"/>
                  </a:rPr>
                  <a:t>: </a:t>
                </a:r>
                <a:r>
                  <a:rPr lang="en-IN" sz="2400">
                    <a:solidFill>
                      <a:srgbClr val="111827"/>
                    </a:solidFill>
                    <a:latin typeface="Cambria Math" panose="02040503050406030204" pitchFamily="18" charset="0"/>
                  </a:rPr>
                  <a:t>$\vec b=(-2,4,6)$</a:t>
                </a:r>
                <a:r>
                  <a:rPr sz="2400" b="0">
                    <a:solidFill>
                      <a:srgbClr val="111827"/>
                    </a:solidFill>
                    <a:latin typeface="Arial"/>
                  </a:rPr>
                  <a:t> and </a:t>
                </a:r>
                <a:r>
                  <a:rPr lang="en-IN" sz="2400">
                    <a:solidFill>
                      <a:srgbClr val="111827"/>
                    </a:solidFill>
                    <a:latin typeface="Cambria Math" panose="02040503050406030204" pitchFamily="18" charset="0"/>
                  </a:rPr>
                  <a:t>$\vec c=(-4,6,2)$</a:t>
                </a:r>
                <a:r>
                  <a:rPr sz="2400" b="0">
                    <a:solidFill>
                      <a:srgbClr val="111827"/>
                    </a:solidFill>
                    <a:latin typeface="Arial"/>
                  </a:rPr>
                  <a:t>, both of length </a:t>
                </a:r>
                <a:r>
                  <a:rPr lang="en-IN" sz="2400">
                    <a:solidFill>
                      <a:srgbClr val="111827"/>
                    </a:solidFill>
                    <a:latin typeface="Cambria Math" panose="02040503050406030204" pitchFamily="18" charset="0"/>
                  </a:rPr>
                  <a:t>$\sqrt{56}$</a:t>
                </a:r>
                <a:r>
                  <a:rPr sz="2400" b="0">
                    <a:solidFill>
                      <a:srgbClr val="111827"/>
                    </a:solidFill>
                    <a:latin typeface="Arial"/>
                  </a:rPr>
                  <a:t>, and </a:t>
                </a:r>
                <a:r>
                  <a:rPr lang="en-IN" sz="2400">
                    <a:solidFill>
                      <a:srgbClr val="111827"/>
                    </a:solidFill>
                    <a:latin typeface="Cambria Math" panose="02040503050406030204" pitchFamily="18" charset="0"/>
                  </a:rPr>
                  <a:t>$\vec a\cdot\vec b=\vec a\cdot\vec c=-24$</a:t>
                </a:r>
                <a:r>
                  <a:rPr sz="2400" b="0">
                    <a:solidFill>
                      <a:srgbClr val="111827"/>
                    </a:solidFill>
                    <a:latin typeface="Arial"/>
                  </a:rPr>
                  <a:t>, </a:t>
                </a:r>
                <a:r>
                  <a:rPr lang="en-IN" sz="2400">
                    <a:solidFill>
                      <a:srgbClr val="111827"/>
                    </a:solidFill>
                    <a:latin typeface="Cambria Math" panose="02040503050406030204" pitchFamily="18" charset="0"/>
                  </a:rPr>
                  <a:t>$\vec a\cdot\vec d=0$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oMath>
                </a14:m>
                <a:r>
                  <a:rPr sz="2400" b="0">
                    <a:solidFill>
                      <a:srgbClr val="111827"/>
                    </a:solidFill>
                    <a:latin typeface="Arial"/>
                  </a:rPr>
                  <a:t> are nonzero constant vectors and the scalar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is chosen such that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oMath>
                </a14:m>
                <a:r>
                  <a:rPr sz="2400" b="0">
                    <a:solidFill>
                      <a:srgbClr val="111827"/>
                    </a:solidFill>
                    <a:latin typeface="Arial"/>
                  </a:rPr>
                  <a:t> is minimum, then show that the value of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is equal to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00812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$\vec r$</a:t>
                </a:r>
                <a:r>
                  <a:rPr sz="2400" b="0">
                    <a:solidFill>
                      <a:srgbClr val="111827"/>
                    </a:solidFill>
                    <a:latin typeface="Arial"/>
                  </a:rPr>
                  <a:t> and </a:t>
                </a:r>
                <a:r>
                  <a:rPr lang="en-IN" sz="2400">
                    <a:solidFill>
                      <a:srgbClr val="111827"/>
                    </a:solidFill>
                    <a:latin typeface="Cambria Math" panose="02040503050406030204" pitchFamily="18" charset="0"/>
                  </a:rPr>
                  <a:t>$\vec s$</a:t>
                </a:r>
                <a:r>
                  <a:rPr sz="2400" b="0">
                    <a:solidFill>
                      <a:srgbClr val="111827"/>
                    </a:solidFill>
                    <a:latin typeface="Arial"/>
                  </a:rPr>
                  <a:t> are nonzero constant vectors and the scalar </a:t>
                </a:r>
                <a:r>
                  <a:rPr lang="en-IN" sz="2400">
                    <a:solidFill>
                      <a:srgbClr val="111827"/>
                    </a:solidFill>
                    <a:latin typeface="Cambria Math" panose="02040503050406030204" pitchFamily="18" charset="0"/>
                  </a:rPr>
                  <a:t>$b$</a:t>
                </a:r>
                <a:r>
                  <a:rPr sz="2400" b="0">
                    <a:solidFill>
                      <a:srgbClr val="111827"/>
                    </a:solidFill>
                    <a:latin typeface="Arial"/>
                  </a:rPr>
                  <a:t> is chosen such that </a:t>
                </a:r>
                <a:r>
                  <a:rPr lang="en-IN" sz="2400">
                    <a:solidFill>
                      <a:srgbClr val="111827"/>
                    </a:solidFill>
                    <a:latin typeface="Cambria Math" panose="02040503050406030204" pitchFamily="18" charset="0"/>
                  </a:rPr>
                  <a:t>$\left|\vec r+b\vec s\right|$</a:t>
                </a:r>
                <a:r>
                  <a:rPr sz="2400" b="0">
                    <a:solidFill>
                      <a:srgbClr val="111827"/>
                    </a:solidFill>
                    <a:latin typeface="Arial"/>
                  </a:rPr>
                  <a:t> is minimum, then show that the value of </a:t>
                </a:r>
                <a:r>
                  <a:rPr lang="en-IN" sz="2400">
                    <a:solidFill>
                      <a:srgbClr val="111827"/>
                    </a:solidFill>
                    <a:latin typeface="Cambria Math" panose="02040503050406030204" pitchFamily="18" charset="0"/>
                  </a:rPr>
                  <a:t>$\left|b\vec s\right|^2+\left|\vec r+b\vec s\right|^2$</a:t>
                </a:r>
                <a:r>
                  <a:rPr sz="2400" b="0">
                    <a:solidFill>
                      <a:srgbClr val="111827"/>
                    </a:solidFill>
                    <a:latin typeface="Arial"/>
                  </a:rPr>
                  <a:t> is equal to </a:t>
                </a:r>
                <a:r>
                  <a:rPr lang="en-IN" sz="2400">
                    <a:solidFill>
                      <a:srgbClr val="111827"/>
                    </a:solidFill>
                    <a:latin typeface="Cambria Math" panose="02040503050406030204" pitchFamily="18" charset="0"/>
                  </a:rPr>
                  <a:t>$\left|\vec r\right|^2$</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516884"/>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Dot product and orthogonal projection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the minimum, </a:t>
                </a:r>
                <a14:m>
                  <m:oMath xmlns:m="http://schemas.openxmlformats.org/officeDocument/2006/math">
                    <m:r>
                      <a:rPr lang="en-IN" sz="2400" i="1">
                        <a:solidFill>
                          <a:srgbClr val="78350F"/>
                        </a:solidFill>
                        <a:latin typeface="Cambria Math" panose="02040503050406030204" pitchFamily="18" charset="0"/>
                      </a:rPr>
                      <m:t>𝑏</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𝑠</m:t>
                            </m:r>
                          </m:e>
                        </m:acc>
                      </m:num>
                      <m:den>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𝑠</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den>
                    </m:f>
                  </m:oMath>
                </a14:m>
                <a:r>
                  <a:rPr sz="2400" b="0">
                    <a:solidFill>
                      <a:srgbClr val="78350F"/>
                    </a:solidFill>
                    <a:latin typeface="Arial"/>
                  </a:rPr>
                  <a:t>, which makes </a:t>
                </a:r>
                <a14:m>
                  <m:oMath xmlns:m="http://schemas.openxmlformats.org/officeDocument/2006/math">
                    <m:r>
                      <a:rPr lang="en-IN" sz="2400" i="1">
                        <a:solidFill>
                          <a:srgbClr val="78350F"/>
                        </a:solidFill>
                        <a:latin typeface="Cambria Math" panose="02040503050406030204" pitchFamily="18" charset="0"/>
                      </a:rPr>
                      <m:t>𝑏</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𝑠</m:t>
                        </m:r>
                      </m:e>
                    </m:acc>
                  </m:oMath>
                </a14:m>
                <a:r>
                  <a:rPr sz="2400" b="0">
                    <a:solidFill>
                      <a:srgbClr val="78350F"/>
                    </a:solidFill>
                    <a:latin typeface="Arial"/>
                  </a:rPr>
                  <a:t> cancel the cross term </a:t>
                </a:r>
                <a14:m>
                  <m:oMath xmlns:m="http://schemas.openxmlformats.org/officeDocument/2006/math">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𝑏</m:t>
                    </m:r>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𝑠</m:t>
                        </m:r>
                      </m:e>
                    </m:acc>
                  </m:oMath>
                </a14:m>
                <a:r>
                  <a:rPr sz="2400" b="0">
                    <a:solidFill>
                      <a:srgbClr val="78350F"/>
                    </a:solidFill>
                    <a:latin typeface="Arial"/>
                  </a:rPr>
                  <a:t> exactly.</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At the minimum, </a:t>
                </a:r>
                <a:r>
                  <a:rPr lang="en-IN" sz="2400">
                    <a:solidFill>
                      <a:srgbClr val="78350F"/>
                    </a:solidFill>
                    <a:latin typeface="Cambria Math" panose="02040503050406030204" pitchFamily="18" charset="0"/>
                  </a:rPr>
                  <a:t>$b=-\frac{\vec r\cdot\vec s}{|\vec s|^2}$</a:t>
                </a:r>
                <a:r>
                  <a:rPr sz="2400" b="0">
                    <a:solidFill>
                      <a:srgbClr val="78350F"/>
                    </a:solidFill>
                    <a:latin typeface="Arial"/>
                  </a:rPr>
                  <a:t>, which makes </a:t>
                </a:r>
                <a:r>
                  <a:rPr lang="en-IN" sz="2400">
                    <a:solidFill>
                      <a:srgbClr val="78350F"/>
                    </a:solidFill>
                    <a:latin typeface="Cambria Math" panose="02040503050406030204" pitchFamily="18" charset="0"/>
                  </a:rPr>
                  <a:t>$b\vec s$</a:t>
                </a:r>
                <a:r>
                  <a:rPr sz="2400" b="0">
                    <a:solidFill>
                      <a:srgbClr val="78350F"/>
                    </a:solidFill>
                    <a:latin typeface="Arial"/>
                  </a:rPr>
                  <a:t> cancel the cross term </a:t>
                </a:r>
                <a:r>
                  <a:rPr lang="en-IN" sz="2400">
                    <a:solidFill>
                      <a:srgbClr val="78350F"/>
                    </a:solidFill>
                    <a:latin typeface="Cambria Math" panose="02040503050406030204" pitchFamily="18" charset="0"/>
                  </a:rPr>
                  <a:t>$2b\,\vec r\cdot\vec s$</a:t>
                </a:r>
                <a:r>
                  <a:rPr sz="2400" b="0">
                    <a:solidFill>
                      <a:srgbClr val="78350F"/>
                    </a:solidFill>
                    <a:latin typeface="Arial"/>
                  </a:rPr>
                  <a:t> exactly.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Minimising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oMath>
                </a14:m>
                <a:r>
                  <a:rPr sz="2400" b="0">
                    <a:solidFill>
                      <a:srgbClr val="111827"/>
                    </a:solidFill>
                    <a:latin typeface="Arial"/>
                  </a:rPr>
                  <a:t> is the same as minimising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oMath>
                </a14:m>
                <a:r>
                  <a:rPr sz="2400" b="0">
                    <a:solidFill>
                      <a:srgbClr val="111827"/>
                    </a:solidFill>
                    <a:latin typeface="Arial"/>
                  </a:rPr>
                  <a:t> under the square root.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rad>
                      </m:den>
                    </m:f>
                  </m:oMath>
                </a14:m>
                <a:r>
                  <a:rPr sz="2400" b="0">
                    <a:solidFill>
                      <a:srgbClr val="111827"/>
                    </a:solidFill>
                    <a:latin typeface="Arial"/>
                  </a:rPr>
                  <a:t>, which is zero when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num>
                      <m:den>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(it is a minimum: </a:t>
                </a:r>
                <a14:m>
                  <m:oMath xmlns:m="http://schemas.openxmlformats.org/officeDocument/2006/math">
                    <m:sSup>
                      <m:e>
                        <m:r>
                          <a:rPr lang="en-IN" sz="2400" i="1">
                            <a:solidFill>
                              <a:srgbClr val="111827"/>
                            </a:solidFill>
                            <a:latin typeface="Cambria Math" panose="02040503050406030204" pitchFamily="18" charset="0"/>
                          </a:rPr>
                          <m:t>𝑓</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changes sign from negative to positive there).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Minimising </a:t>
                </a:r>
                <a:r>
                  <a:rPr lang="en-IN" sz="2400">
                    <a:solidFill>
                      <a:srgbClr val="111827"/>
                    </a:solidFill>
                    <a:latin typeface="Cambria Math" panose="02040503050406030204" pitchFamily="18" charset="0"/>
                  </a:rPr>
                  <a:t>$\left|\vec r+b\vec s\right|$</a:t>
                </a:r>
                <a:r>
                  <a:rPr sz="2400" b="0">
                    <a:solidFill>
                      <a:srgbClr val="111827"/>
                    </a:solidFill>
                    <a:latin typeface="Arial"/>
                  </a:rPr>
                  <a:t> is the same as minimising </a:t>
                </a:r>
                <a:r>
                  <a:rPr lang="en-IN" sz="2400">
                    <a:solidFill>
                      <a:srgbClr val="111827"/>
                    </a:solidFill>
                    <a:latin typeface="Cambria Math" panose="02040503050406030204" pitchFamily="18" charset="0"/>
                  </a:rPr>
                  <a:t>$f(b)=\left|\vec r\right|^2+b^2\left|\vec s\right|^2+2b\,\vec r\cdot\vec s$</a:t>
                </a:r>
                <a:r>
                  <a:rPr sz="2400" b="0">
                    <a:solidFill>
                      <a:srgbClr val="111827"/>
                    </a:solidFill>
                    <a:latin typeface="Arial"/>
                  </a:rPr>
                  <a:t> under the square root.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$f'(b)=\frac{2b\left|\vec s\right|^2+2\,\vec r\cdot\vec s}{2\sqrt{\left|\vec r\right|^2+b^2\left|\vec s\right|^2+2b\,\vec r\cdot\vec s}}$</a:t>
                </a:r>
                <a:r>
                  <a:rPr sz="2400" b="0">
                    <a:solidFill>
                      <a:srgbClr val="111827"/>
                    </a:solidFill>
                    <a:latin typeface="Arial"/>
                  </a:rPr>
                  <a:t>, which is zero when </a:t>
                </a:r>
                <a:r>
                  <a:rPr lang="en-IN" sz="2400">
                    <a:solidFill>
                      <a:srgbClr val="111827"/>
                    </a:solidFill>
                    <a:latin typeface="Cambria Math" panose="02040503050406030204" pitchFamily="18" charset="0"/>
                  </a:rPr>
                  <a:t>$2b\left|\vec s\right|^2+2\,\vec r\cdot\vec s=0$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$b=-\frac{\vec r\cdot\vec s}{\left|\vec s\right|^2}$</a:t>
                </a:r>
                <a:r>
                  <a:rPr sz="2400" b="0">
                    <a:solidFill>
                      <a:srgbClr val="111827"/>
                    </a:solidFill>
                    <a:latin typeface="Arial"/>
                  </a:rPr>
                  <a:t> (it is a minimum: </a:t>
                </a:r>
                <a:r>
                  <a:rPr lang="en-IN" sz="2400">
                    <a:solidFill>
                      <a:srgbClr val="111827"/>
                    </a:solidFill>
                    <a:latin typeface="Cambria Math" panose="02040503050406030204" pitchFamily="18" charset="0"/>
                  </a:rPr>
                  <a:t>$f'$</a:t>
                </a:r>
                <a:r>
                  <a:rPr sz="2400" b="0">
                    <a:solidFill>
                      <a:srgbClr val="111827"/>
                    </a:solidFill>
                    <a:latin typeface="Arial"/>
                  </a:rPr>
                  <a:t> changes sign from negative to positive there).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$\left|b\vec s\right|^2+\left|\vec r+b\vec s\right|^2=b^2\left|\vec s\right|^2+\left|\vec r\right|^2+b^2\left|\vec s\right|^2+2b\,\vec r\cdot\vec s$</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𝑏</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oMath>
                </a14:m>
                <a:r>
                  <a:rPr sz="2400" b="0">
                    <a:solidFill>
                      <a:srgbClr val="111827"/>
                    </a:solidFill>
                    <a:latin typeface="Arial"/>
                  </a:rPr>
                  <a:t>, we get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value is </a:t>
                </a:r>
                <a14:m>
                  <m:oMath xmlns:m="http://schemas.openxmlformats.org/officeDocument/2006/math">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$=2b^2\left|\vec s\right|^2+\left|\vec r\right|^2+2b\,\vec r\cdot\vec 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$b\left|\vec s\right|^2=-\vec r\cdot\vec s$</a:t>
                </a:r>
                <a:r>
                  <a:rPr sz="2400" b="0">
                    <a:solidFill>
                      <a:srgbClr val="111827"/>
                    </a:solidFill>
                    <a:latin typeface="Arial"/>
                  </a:rPr>
                  <a:t>, we get </a:t>
                </a:r>
                <a:r>
                  <a:rPr lang="en-IN" sz="2400">
                    <a:solidFill>
                      <a:srgbClr val="111827"/>
                    </a:solidFill>
                    <a:latin typeface="Cambria Math" panose="02040503050406030204" pitchFamily="18" charset="0"/>
                  </a:rPr>
                  <a:t>$2b\,\vec r\cdot\vec s=-2b^2\left|\vec s\right|^2$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value is </a:t>
                </a:r>
                <a:r>
                  <a:rPr lang="en-IN" sz="2400">
                    <a:solidFill>
                      <a:srgbClr val="111827"/>
                    </a:solidFill>
                    <a:latin typeface="Cambria Math" panose="02040503050406030204" pitchFamily="18" charset="0"/>
                  </a:rPr>
                  <a:t>$2b^2\left|\vec s\right|^2+\left|\vec r\right|^2-2b^2\left|\vec s\right|^2=\left|\vec r\right|^2$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the value equals </a:t>
                </a:r>
                <a14:m>
                  <m:oMath xmlns:m="http://schemas.openxmlformats.org/officeDocument/2006/math">
                    <m:sSup>
                      <m:e>
                        <m:d>
                          <m:dPr>
                            <m:begChr m:val="|"/>
                            <m:sepChr m:val=""/>
                            <m:endChr m:val="|"/>
                            <m:grow/>
                            <m:ctrlPr>
                              <a:rPr lang="en-IN" sz="2800" i="1">
                                <a:solidFill>
                                  <a:srgbClr val="15803D"/>
                                </a:solidFill>
                                <a:latin typeface="Cambria Math" panose="02040503050406030204" pitchFamily="18" charset="0"/>
                              </a:rPr>
                            </m:ctrlPr>
                          </m:dPr>
                          <m:e>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𝑟</m:t>
                                </m:r>
                              </m:e>
                            </m:acc>
                          </m:e>
                        </m:d>
                      </m:e>
                      <m:sup>
                        <m:r>
                          <a:rPr lang="en-IN" sz="2800" i="1">
                            <a:solidFill>
                              <a:srgbClr val="15803D"/>
                            </a:solidFill>
                            <a:latin typeface="Cambria Math" panose="02040503050406030204" pitchFamily="18" charset="0"/>
                          </a:rPr>
                          <m:t>2</m:t>
                        </m:r>
                      </m:sup>
                    </m:sSup>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the value equals </a:t>
                </a:r>
                <a:r>
                  <a:rPr lang="en-IN" sz="2800">
                    <a:solidFill>
                      <a:srgbClr val="15803D"/>
                    </a:solidFill>
                    <a:latin typeface="Cambria Math" panose="02040503050406030204" pitchFamily="18" charset="0"/>
                  </a:rPr>
                  <a:t>$\left|\vec r\right|^2$</a:t>
                </a:r>
                <a:endParaRPr sz="2800">
                  <a:solidFill>
                    <a:srgbClr val="15803D"/>
                  </a:solidFill>
                </a:endParaRPr>
              </a:p>
            </p:txBody>
          </p:sp>
        </mc:Fallback>
      </mc:AlternateContent>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shortest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𝑠</m:t>
                            </m:r>
                          </m:e>
                        </m:acc>
                      </m:e>
                    </m:d>
                  </m:oMath>
                </a14:m>
                <a:r>
                  <a:rPr sz="2400" b="0">
                    <a:solidFill>
                      <a:srgbClr val="78350F"/>
                    </a:solidFill>
                    <a:latin typeface="Arial"/>
                  </a:rPr>
                  <a:t> occurs at the perpendicular foot, so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𝑏</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𝑠</m:t>
                            </m:r>
                          </m:e>
                        </m:acc>
                      </m:e>
                    </m:d>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𝑠</m:t>
                        </m:r>
                      </m:e>
                    </m:acc>
                  </m:oMath>
                </a14:m>
                <a:r>
                  <a:rPr sz="2400" b="0">
                    <a:solidFill>
                      <a:srgbClr val="78350F"/>
                    </a:solidFill>
                    <a:latin typeface="Arial"/>
                  </a:rPr>
                  <a:t> and Pythagoras gives the result.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The shortest </a:t>
                </a:r>
                <a:r>
                  <a:rPr lang="en-IN" sz="2400">
                    <a:solidFill>
                      <a:srgbClr val="78350F"/>
                    </a:solidFill>
                    <a:latin typeface="Cambria Math" panose="02040503050406030204" pitchFamily="18" charset="0"/>
                  </a:rPr>
                  <a:t>$\left|\vec r+b\vec s\right|$</a:t>
                </a:r>
                <a:r>
                  <a:rPr sz="2400" b="0">
                    <a:solidFill>
                      <a:srgbClr val="78350F"/>
                    </a:solidFill>
                    <a:latin typeface="Arial"/>
                  </a:rPr>
                  <a:t> occurs at the perpendicular foot, so </a:t>
                </a:r>
                <a:r>
                  <a:rPr lang="en-IN" sz="2400">
                    <a:solidFill>
                      <a:srgbClr val="78350F"/>
                    </a:solidFill>
                    <a:latin typeface="Cambria Math" panose="02040503050406030204" pitchFamily="18" charset="0"/>
                  </a:rPr>
                  <a:t>$\left(\vec r+b\vec s\right)\perp\vec s$</a:t>
                </a:r>
                <a:r>
                  <a:rPr sz="2400" b="0">
                    <a:solidFill>
                      <a:srgbClr val="78350F"/>
                    </a:solidFill>
                    <a:latin typeface="Arial"/>
                  </a:rPr>
                  <a:t> and Pythagoras gives the result.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points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real) trace the straight line through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parallel to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oMath>
                </a14:m>
                <a:r>
                  <a:rPr sz="2400" b="0">
                    <a:solidFill>
                      <a:srgbClr val="111827"/>
                    </a:solidFill>
                    <a:latin typeface="Arial"/>
                  </a:rPr>
                  <a:t> is the distance of its point from the origin.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distance is least at the foot of the perpendicular from the origin, 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the chosen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oMath>
                </a14:m>
                <a:r>
                  <a:rPr sz="2400" b="0">
                    <a:solidFill>
                      <a:srgbClr val="111827"/>
                    </a:solidFill>
                    <a:latin typeface="Arial"/>
                  </a:rPr>
                  <a:t> is perpendicular to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oMath>
                </a14:m>
                <a:r>
                  <a:rPr sz="2400" b="0">
                    <a:solidFill>
                      <a:srgbClr val="111827"/>
                    </a:solidFill>
                    <a:latin typeface="Arial"/>
                  </a:rPr>
                  <a:t>, and therefore also perpendicular to </a:t>
                </a:r>
                <a14:m>
                  <m:oMath xmlns:m="http://schemas.openxmlformats.org/officeDocument/2006/math">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points </a:t>
                </a:r>
                <a:r>
                  <a:rPr lang="en-IN" sz="2400">
                    <a:solidFill>
                      <a:srgbClr val="111827"/>
                    </a:solidFill>
                    <a:latin typeface="Cambria Math" panose="02040503050406030204" pitchFamily="18" charset="0"/>
                  </a:rPr>
                  <a:t>$\vec r+b\vec s$</a:t>
                </a:r>
                <a:r>
                  <a:rPr sz="2400" b="0">
                    <a:solidFill>
                      <a:srgbClr val="111827"/>
                    </a:solidFill>
                    <a:latin typeface="Arial"/>
                  </a:rPr>
                  <a:t> (</a:t>
                </a:r>
                <a:r>
                  <a:rPr lang="en-IN" sz="2400">
                    <a:solidFill>
                      <a:srgbClr val="111827"/>
                    </a:solidFill>
                    <a:latin typeface="Cambria Math" panose="02040503050406030204" pitchFamily="18" charset="0"/>
                  </a:rPr>
                  <a:t>$b$</a:t>
                </a:r>
                <a:r>
                  <a:rPr sz="2400" b="0">
                    <a:solidFill>
                      <a:srgbClr val="111827"/>
                    </a:solidFill>
                    <a:latin typeface="Arial"/>
                  </a:rPr>
                  <a:t> real) trace the straight line through </a:t>
                </a:r>
                <a:r>
                  <a:rPr lang="en-IN" sz="2400">
                    <a:solidFill>
                      <a:srgbClr val="111827"/>
                    </a:solidFill>
                    <a:latin typeface="Cambria Math" panose="02040503050406030204" pitchFamily="18" charset="0"/>
                  </a:rPr>
                  <a:t>$\vec r$</a:t>
                </a:r>
                <a:r>
                  <a:rPr sz="2400" b="0">
                    <a:solidFill>
                      <a:srgbClr val="111827"/>
                    </a:solidFill>
                    <a:latin typeface="Arial"/>
                  </a:rPr>
                  <a:t> parallel to </a:t>
                </a:r>
                <a:r>
                  <a:rPr lang="en-IN" sz="2400">
                    <a:solidFill>
                      <a:srgbClr val="111827"/>
                    </a:solidFill>
                    <a:latin typeface="Cambria Math" panose="02040503050406030204" pitchFamily="18" charset="0"/>
                  </a:rPr>
                  <a:t>$\vec s$</a:t>
                </a:r>
                <a:r>
                  <a:rPr sz="2400" b="0">
                    <a:solidFill>
                      <a:srgbClr val="111827"/>
                    </a:solidFill>
                    <a:latin typeface="Arial"/>
                  </a:rPr>
                  <a:t>; </a:t>
                </a:r>
                <a:r>
                  <a:rPr lang="en-IN" sz="2400">
                    <a:solidFill>
                      <a:srgbClr val="111827"/>
                    </a:solidFill>
                    <a:latin typeface="Cambria Math" panose="02040503050406030204" pitchFamily="18" charset="0"/>
                  </a:rPr>
                  <a:t>$\left|\vec r+b\vec s\right|$</a:t>
                </a:r>
                <a:r>
                  <a:rPr sz="2400" b="0">
                    <a:solidFill>
                      <a:srgbClr val="111827"/>
                    </a:solidFill>
                    <a:latin typeface="Arial"/>
                  </a:rPr>
                  <a:t> is the distance of its point from the origin.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distance is least at the foot of the perpendicular from the origin, so </a:t>
                </a:r>
                <a:r>
                  <a:rPr lang="en-IN" sz="2400">
                    <a:solidFill>
                      <a:srgbClr val="111827"/>
                    </a:solidFill>
                    <a:latin typeface="Cambria Math" panose="02040503050406030204" pitchFamily="18" charset="0"/>
                  </a:rPr>
                  <a:t>$\left(\vec r+b\vec s\right)\cdot\vec s=0$</a:t>
                </a:r>
                <a:r>
                  <a:rPr sz="2400" b="0">
                    <a:solidFill>
                      <a:srgbClr val="111827"/>
                    </a:solidFill>
                    <a:latin typeface="Arial"/>
                  </a:rPr>
                  <a:t> at the chosen </a:t>
                </a:r>
                <a:r>
                  <a:rPr lang="en-IN" sz="2400">
                    <a:solidFill>
                      <a:srgbClr val="111827"/>
                    </a:solidFill>
                    <a:latin typeface="Cambria Math" panose="02040503050406030204" pitchFamily="18" charset="0"/>
                  </a:rPr>
                  <a:t>$b$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$\vec r+b\vec s$</a:t>
                </a:r>
                <a:r>
                  <a:rPr sz="2400" b="0">
                    <a:solidFill>
                      <a:srgbClr val="111827"/>
                    </a:solidFill>
                    <a:latin typeface="Arial"/>
                  </a:rPr>
                  <a:t> is perpendicular to </a:t>
                </a:r>
                <a:r>
                  <a:rPr lang="en-IN" sz="2400">
                    <a:solidFill>
                      <a:srgbClr val="111827"/>
                    </a:solidFill>
                    <a:latin typeface="Cambria Math" panose="02040503050406030204" pitchFamily="18" charset="0"/>
                  </a:rPr>
                  <a:t>$\vec s$</a:t>
                </a:r>
                <a:r>
                  <a:rPr sz="2400" b="0">
                    <a:solidFill>
                      <a:srgbClr val="111827"/>
                    </a:solidFill>
                    <a:latin typeface="Arial"/>
                  </a:rPr>
                  <a:t>, and therefore also perpendicular to </a:t>
                </a:r>
                <a:r>
                  <a:rPr lang="en-IN" sz="2400">
                    <a:solidFill>
                      <a:srgbClr val="111827"/>
                    </a:solidFill>
                    <a:latin typeface="Cambria Math" panose="02040503050406030204" pitchFamily="18" charset="0"/>
                  </a:rPr>
                  <a:t>$b\vec s$</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oMath>
                </a14:m>
                <a:r>
                  <a:rPr sz="2400" b="0">
                    <a:solidFill>
                      <a:srgbClr val="111827"/>
                    </a:solidFill>
                    <a:latin typeface="Arial"/>
                  </a:rPr>
                  <a:t>, a sum of two perpendicular vectors.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Pythagoras,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which is the required value.</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$\vec r=\left(\vec r+b\vec s\right)+\left(-b\vec s\right)$</a:t>
                </a:r>
                <a:r>
                  <a:rPr sz="2400" b="0">
                    <a:solidFill>
                      <a:srgbClr val="111827"/>
                    </a:solidFill>
                    <a:latin typeface="Arial"/>
                  </a:rPr>
                  <a:t>, a sum of two perpendicular vectors.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By Pythagoras, </a:t>
                </a:r>
                <a:r>
                  <a:rPr lang="en-IN" sz="2400">
                    <a:solidFill>
                      <a:srgbClr val="111827"/>
                    </a:solidFill>
                    <a:latin typeface="Cambria Math" panose="02040503050406030204" pitchFamily="18" charset="0"/>
                  </a:rPr>
                  <a:t>$\left|\vec r\right|^2=\left|\vec r+b\vec s\right|^2+\left|-b\vec s\right|^2=\left|\vec r+b\vec s\right|^2+\left|b\vec s\right|^2$</a:t>
                </a:r>
                <a:r>
                  <a:rPr sz="2400" b="0">
                    <a:solidFill>
                      <a:srgbClr val="111827"/>
                    </a:solidFill>
                    <a:latin typeface="Arial"/>
                  </a:rPr>
                  <a:t>, which is the required value.</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the value equals </a:t>
                </a:r>
                <a14:m>
                  <m:oMath xmlns:m="http://schemas.openxmlformats.org/officeDocument/2006/math">
                    <m:sSup>
                      <m:e>
                        <m:d>
                          <m:dPr>
                            <m:begChr m:val="|"/>
                            <m:sepChr m:val=""/>
                            <m:endChr m:val="|"/>
                            <m:grow/>
                            <m:ctrlPr>
                              <a:rPr lang="en-IN" sz="2800" i="1">
                                <a:solidFill>
                                  <a:srgbClr val="15803D"/>
                                </a:solidFill>
                                <a:latin typeface="Cambria Math" panose="02040503050406030204" pitchFamily="18" charset="0"/>
                              </a:rPr>
                            </m:ctrlPr>
                          </m:dPr>
                          <m:e>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𝑟</m:t>
                                </m:r>
                              </m:e>
                            </m:acc>
                          </m:e>
                        </m:d>
                      </m:e>
                      <m:sup>
                        <m:r>
                          <a:rPr lang="en-IN" sz="2800" i="1">
                            <a:solidFill>
                              <a:srgbClr val="15803D"/>
                            </a:solidFill>
                            <a:latin typeface="Cambria Math" panose="02040503050406030204" pitchFamily="18" charset="0"/>
                          </a:rPr>
                          <m:t>2</m:t>
                        </m:r>
                      </m:sup>
                    </m:sSup>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the value equals </a:t>
                </a:r>
                <a:r>
                  <a:rPr lang="en-IN" sz="2800">
                    <a:solidFill>
                      <a:srgbClr val="15803D"/>
                    </a:solidFill>
                    <a:latin typeface="Cambria Math" panose="02040503050406030204" pitchFamily="18" charset="0"/>
                  </a:rPr>
                  <a:t>$\left|\vec r\right|^2$</a:t>
                </a:r>
                <a:endParaRPr sz="2800">
                  <a:solidFill>
                    <a:srgbClr val="15803D"/>
                  </a:solidFill>
                </a:endParaRPr>
              </a:p>
            </p:txBody>
          </p:sp>
        </mc:Fallback>
      </mc:AlternateContent>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29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scalar </a:t>
                </a:r>
                <a14:m>
                  <m:oMath xmlns:m="http://schemas.openxmlformats.org/officeDocument/2006/math">
                    <m:r>
                      <a:rPr lang="en-IN" sz="2400" i="1">
                        <a:solidFill>
                          <a:srgbClr val="111827"/>
                        </a:solidFill>
                        <a:latin typeface="Cambria Math" panose="02040503050406030204" pitchFamily="18" charset="0"/>
                      </a:rPr>
                      <m:t>𝑏</m:t>
                    </m:r>
                  </m:oMath>
                </a14:m>
                <a:r>
                  <a:rPr sz="2400" b="0">
                    <a:solidFill>
                      <a:srgbClr val="111827"/>
                    </a:solidFill>
                    <a:latin typeface="Arial"/>
                  </a:rPr>
                  <a:t> minimising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num>
                      <m:den>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then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oMath>
                </a14:m>
                <a:r>
                  <a:rPr sz="2400" b="0">
                    <a:solidFill>
                      <a:srgbClr val="111827"/>
                    </a:solidFill>
                    <a:latin typeface="Arial"/>
                  </a:rPr>
                  <a:t> is the component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perpendicular to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oMath>
                </a14:m>
                <a:r>
                  <a:rPr sz="2400" b="0">
                    <a:solidFill>
                      <a:srgbClr val="111827"/>
                    </a:solidFill>
                    <a:latin typeface="Arial"/>
                  </a:rPr>
                  <a:t> is the projection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Minimum value: </a:t>
                </a:r>
                <a14:m>
                  <m:oMath xmlns:m="http://schemas.openxmlformats.org/officeDocument/2006/math">
                    <m:sSub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b>
                        <m:r>
                          <m:rPr>
                            <m:sty m:val="p"/>
                          </m:rPr>
                          <a:rPr lang="en-IN" sz="2400">
                            <a:solidFill>
                              <a:srgbClr val="111827"/>
                            </a:solidFill>
                            <a:latin typeface="Cambria Math" panose="02040503050406030204" pitchFamily="18" charset="0"/>
                          </a:rPr>
                          <m:t>min</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(valid for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Pythagoras form: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𝑝</m:t>
                    </m:r>
                  </m:oMath>
                </a14:m>
                <a:r>
                  <a:rPr sz="2400" b="0">
                    <a:solidFill>
                      <a:srgbClr val="111827"/>
                    </a:solidFill>
                    <a:latin typeface="Arial"/>
                  </a:rPr>
                  <a:t> the length of the projection 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the length of the perpendicular part, is the identity behind this question.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Example: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scalar </a:t>
                </a:r>
                <a:r>
                  <a:rPr lang="en-IN" sz="2400">
                    <a:solidFill>
                      <a:srgbClr val="111827"/>
                    </a:solidFill>
                    <a:latin typeface="Cambria Math" panose="02040503050406030204" pitchFamily="18" charset="0"/>
                  </a:rPr>
                  <a:t>$b$</a:t>
                </a:r>
                <a:r>
                  <a:rPr sz="2400" b="0">
                    <a:solidFill>
                      <a:srgbClr val="111827"/>
                    </a:solidFill>
                    <a:latin typeface="Arial"/>
                  </a:rPr>
                  <a:t> minimising </a:t>
                </a:r>
                <a:r>
                  <a:rPr lang="en-IN" sz="2400">
                    <a:solidFill>
                      <a:srgbClr val="111827"/>
                    </a:solidFill>
                    <a:latin typeface="Cambria Math" panose="02040503050406030204" pitchFamily="18" charset="0"/>
                  </a:rPr>
                  <a:t>$\left|\vec r+b\vec s\right|$</a:t>
                </a:r>
                <a:r>
                  <a:rPr sz="2400" b="0">
                    <a:solidFill>
                      <a:srgbClr val="111827"/>
                    </a:solidFill>
                    <a:latin typeface="Arial"/>
                  </a:rPr>
                  <a:t> is </a:t>
                </a:r>
                <a:r>
                  <a:rPr lang="en-IN" sz="2400">
                    <a:solidFill>
                      <a:srgbClr val="111827"/>
                    </a:solidFill>
                    <a:latin typeface="Cambria Math" panose="02040503050406030204" pitchFamily="18" charset="0"/>
                  </a:rPr>
                  <a:t>$b=-\frac{\vec r\cdot\vec s}{\left|\vec s\right|^2}$</a:t>
                </a:r>
                <a:r>
                  <a:rPr sz="2400" b="0">
                    <a:solidFill>
                      <a:srgbClr val="111827"/>
                    </a:solidFill>
                    <a:latin typeface="Arial"/>
                  </a:rPr>
                  <a:t>; then </a:t>
                </a:r>
                <a:r>
                  <a:rPr lang="en-IN" sz="2400">
                    <a:solidFill>
                      <a:srgbClr val="111827"/>
                    </a:solidFill>
                    <a:latin typeface="Cambria Math" panose="02040503050406030204" pitchFamily="18" charset="0"/>
                  </a:rPr>
                  <a:t>$\vec r+b\vec s$</a:t>
                </a:r>
                <a:r>
                  <a:rPr sz="2400" b="0">
                    <a:solidFill>
                      <a:srgbClr val="111827"/>
                    </a:solidFill>
                    <a:latin typeface="Arial"/>
                  </a:rPr>
                  <a:t> is the component of </a:t>
                </a:r>
                <a:r>
                  <a:rPr lang="en-IN" sz="2400">
                    <a:solidFill>
                      <a:srgbClr val="111827"/>
                    </a:solidFill>
                    <a:latin typeface="Cambria Math" panose="02040503050406030204" pitchFamily="18" charset="0"/>
                  </a:rPr>
                  <a:t>$\vec r$</a:t>
                </a:r>
                <a:r>
                  <a:rPr sz="2400" b="0">
                    <a:solidFill>
                      <a:srgbClr val="111827"/>
                    </a:solidFill>
                    <a:latin typeface="Arial"/>
                  </a:rPr>
                  <a:t> perpendicular to </a:t>
                </a:r>
                <a:r>
                  <a:rPr lang="en-IN" sz="2400">
                    <a:solidFill>
                      <a:srgbClr val="111827"/>
                    </a:solidFill>
                    <a:latin typeface="Cambria Math" panose="02040503050406030204" pitchFamily="18" charset="0"/>
                  </a:rPr>
                  <a:t>$\vec s$</a:t>
                </a:r>
                <a:r>
                  <a:rPr sz="2400" b="0">
                    <a:solidFill>
                      <a:srgbClr val="111827"/>
                    </a:solidFill>
                    <a:latin typeface="Arial"/>
                  </a:rPr>
                  <a:t> (and </a:t>
                </a:r>
                <a:r>
                  <a:rPr lang="en-IN" sz="2400">
                    <a:solidFill>
                      <a:srgbClr val="111827"/>
                    </a:solidFill>
                    <a:latin typeface="Cambria Math" panose="02040503050406030204" pitchFamily="18" charset="0"/>
                  </a:rPr>
                  <a:t>$-b\vec s$</a:t>
                </a:r>
                <a:r>
                  <a:rPr sz="2400" b="0">
                    <a:solidFill>
                      <a:srgbClr val="111827"/>
                    </a:solidFill>
                    <a:latin typeface="Arial"/>
                  </a:rPr>
                  <a:t> is the projection of </a:t>
                </a:r>
                <a:r>
                  <a:rPr lang="en-IN" sz="2400">
                    <a:solidFill>
                      <a:srgbClr val="111827"/>
                    </a:solidFill>
                    <a:latin typeface="Cambria Math" panose="02040503050406030204" pitchFamily="18" charset="0"/>
                  </a:rPr>
                  <a:t>$\vec r$</a:t>
                </a:r>
                <a:r>
                  <a:rPr sz="2400" b="0">
                    <a:solidFill>
                      <a:srgbClr val="111827"/>
                    </a:solidFill>
                    <a:latin typeface="Arial"/>
                  </a:rPr>
                  <a:t> on </a:t>
                </a:r>
                <a:r>
                  <a:rPr lang="en-IN" sz="2400">
                    <a:solidFill>
                      <a:srgbClr val="111827"/>
                    </a:solidFill>
                    <a:latin typeface="Cambria Math" panose="02040503050406030204" pitchFamily="18" charset="0"/>
                  </a:rPr>
                  <a:t>$\vec 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Minimum value: </a:t>
                </a:r>
                <a:r>
                  <a:rPr lang="en-IN" sz="2400">
                    <a:solidFill>
                      <a:srgbClr val="111827"/>
                    </a:solidFill>
                    <a:latin typeface="Cambria Math" panose="02040503050406030204" pitchFamily="18" charset="0"/>
                  </a:rPr>
                  <a:t>$\left|\vec r+b\vec s\right|^2_{\min}=\left|\vec r\right|^2-\frac{(\vec r\cdot\vec s)^2}{\left|\vec s\right|^2}$</a:t>
                </a:r>
                <a:r>
                  <a:rPr sz="2400" b="0">
                    <a:solidFill>
                      <a:srgbClr val="111827"/>
                    </a:solidFill>
                    <a:latin typeface="Arial"/>
                  </a:rPr>
                  <a:t> (valid for </a:t>
                </a:r>
                <a:r>
                  <a:rPr lang="en-IN" sz="2400">
                    <a:solidFill>
                      <a:srgbClr val="111827"/>
                    </a:solidFill>
                    <a:latin typeface="Cambria Math" panose="02040503050406030204" pitchFamily="18" charset="0"/>
                  </a:rPr>
                  <a:t>$\vec s\neq\vec 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Pythagoras form: </a:t>
                </a:r>
                <a:r>
                  <a:rPr lang="en-IN" sz="2400">
                    <a:solidFill>
                      <a:srgbClr val="111827"/>
                    </a:solidFill>
                    <a:latin typeface="Cambria Math" panose="02040503050406030204" pitchFamily="18" charset="0"/>
                  </a:rPr>
                  <a:t>$\left|\vec r\right|^2=p^2+n^2$</a:t>
                </a:r>
                <a:r>
                  <a:rPr sz="2400" b="0">
                    <a:solidFill>
                      <a:srgbClr val="111827"/>
                    </a:solidFill>
                    <a:latin typeface="Arial"/>
                  </a:rPr>
                  <a:t>, with </a:t>
                </a:r>
                <a:r>
                  <a:rPr lang="en-IN" sz="2400">
                    <a:solidFill>
                      <a:srgbClr val="111827"/>
                    </a:solidFill>
                    <a:latin typeface="Cambria Math" panose="02040503050406030204" pitchFamily="18" charset="0"/>
                  </a:rPr>
                  <a:t>$p$</a:t>
                </a:r>
                <a:r>
                  <a:rPr sz="2400" b="0">
                    <a:solidFill>
                      <a:srgbClr val="111827"/>
                    </a:solidFill>
                    <a:latin typeface="Arial"/>
                  </a:rPr>
                  <a:t> the length of the projection on </a:t>
                </a:r>
                <a:r>
                  <a:rPr lang="en-IN" sz="2400">
                    <a:solidFill>
                      <a:srgbClr val="111827"/>
                    </a:solidFill>
                    <a:latin typeface="Cambria Math" panose="02040503050406030204" pitchFamily="18" charset="0"/>
                  </a:rPr>
                  <a:t>$\vec s$</a:t>
                </a:r>
                <a:r>
                  <a:rPr sz="2400" b="0">
                    <a:solidFill>
                      <a:srgbClr val="111827"/>
                    </a:solidFill>
                    <a:latin typeface="Arial"/>
                  </a:rPr>
                  <a:t> and </a:t>
                </a:r>
                <a:r>
                  <a:rPr lang="en-IN" sz="2400">
                    <a:solidFill>
                      <a:srgbClr val="111827"/>
                    </a:solidFill>
                    <a:latin typeface="Cambria Math" panose="02040503050406030204" pitchFamily="18" charset="0"/>
                  </a:rPr>
                  <a:t>$n$</a:t>
                </a:r>
                <a:r>
                  <a:rPr sz="2400" b="0">
                    <a:solidFill>
                      <a:srgbClr val="111827"/>
                    </a:solidFill>
                    <a:latin typeface="Arial"/>
                  </a:rPr>
                  <a:t> the length of the perpendicular part, is the identity behind this question.</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Example: </a:t>
                </a:r>
                <a:r>
                  <a:rPr lang="en-IN" sz="2400">
                    <a:solidFill>
                      <a:srgbClr val="111827"/>
                    </a:solidFill>
                    <a:latin typeface="Cambria Math" panose="02040503050406030204" pitchFamily="18" charset="0"/>
                  </a:rPr>
                  <a:t>$\vec r=(1,2,0)$</a:t>
                </a:r>
                <a:r>
                  <a:rPr sz="2400" b="0">
                    <a:solidFill>
                      <a:srgbClr val="111827"/>
                    </a:solidFill>
                    <a:latin typeface="Arial"/>
                  </a:rPr>
                  <a:t>, </a:t>
                </a:r>
                <a:r>
                  <a:rPr lang="en-IN" sz="2400">
                    <a:solidFill>
                      <a:srgbClr val="111827"/>
                    </a:solidFill>
                    <a:latin typeface="Cambria Math" panose="02040503050406030204" pitchFamily="18" charset="0"/>
                  </a:rPr>
                  <a:t>$\vec s=(1,0,0)$</a:t>
                </a:r>
                <a:r>
                  <a:rPr sz="2400" b="0">
                    <a:solidFill>
                      <a:srgbClr val="111827"/>
                    </a:solidFill>
                    <a:latin typeface="Arial"/>
                  </a:rPr>
                  <a:t> gives </a:t>
                </a:r>
                <a:r>
                  <a:rPr lang="en-IN" sz="2400">
                    <a:solidFill>
                      <a:srgbClr val="111827"/>
                    </a:solidFill>
                    <a:latin typeface="Cambria Math" panose="02040503050406030204" pitchFamily="18" charset="0"/>
                  </a:rPr>
                  <a:t>$b=-1$</a:t>
                </a:r>
                <a:r>
                  <a:rPr sz="2400" b="0">
                    <a:solidFill>
                      <a:srgbClr val="111827"/>
                    </a:solidFill>
                    <a:latin typeface="Arial"/>
                  </a:rPr>
                  <a:t>, </a:t>
                </a:r>
                <a:r>
                  <a:rPr lang="en-IN" sz="2400">
                    <a:solidFill>
                      <a:srgbClr val="111827"/>
                    </a:solidFill>
                    <a:latin typeface="Cambria Math" panose="02040503050406030204" pitchFamily="18" charset="0"/>
                  </a:rPr>
                  <a:t>$\left|b\vec s\right|^2+\left|\vec r+b\vec s\right|^2=1+4=5=\left|\vec r\right|^2$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34314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Given four nonzero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The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are coplanar but not collinear pair by pair, and vector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is not coplanar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If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and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then prove that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equals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e>
                    </m:d>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334314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Given four nonzero vectors </a:t>
                </a:r>
                <a:r>
                  <a:rPr lang="en-IN" sz="2400">
                    <a:solidFill>
                      <a:srgbClr val="111827"/>
                    </a:solidFill>
                    <a:latin typeface="Cambria Math" panose="02040503050406030204" pitchFamily="18" charset="0"/>
                  </a:rPr>
                  <a:t>$\vec a,\vec b,\vec c$</a:t>
                </a:r>
                <a:r>
                  <a:rPr sz="2400" b="0">
                    <a:solidFill>
                      <a:srgbClr val="111827"/>
                    </a:solidFill>
                    <a:latin typeface="Arial"/>
                  </a:rPr>
                  <a:t> and </a:t>
                </a:r>
                <a:r>
                  <a:rPr lang="en-IN" sz="2400">
                    <a:solidFill>
                      <a:srgbClr val="111827"/>
                    </a:solidFill>
                    <a:latin typeface="Cambria Math" panose="02040503050406030204" pitchFamily="18" charset="0"/>
                  </a:rPr>
                  <a:t>$\vec d$</a:t>
                </a:r>
                <a:r>
                  <a:rPr sz="2400" b="0">
                    <a:solidFill>
                      <a:srgbClr val="111827"/>
                    </a:solidFill>
                    <a:latin typeface="Arial"/>
                  </a:rPr>
                  <a:t>. The vectors </a:t>
                </a:r>
                <a:r>
                  <a:rPr lang="en-IN" sz="2400">
                    <a:solidFill>
                      <a:srgbClr val="111827"/>
                    </a:solidFill>
                    <a:latin typeface="Cambria Math" panose="02040503050406030204" pitchFamily="18" charset="0"/>
                  </a:rPr>
                  <a:t>$\vec a,\vec b$</a:t>
                </a:r>
                <a:r>
                  <a:rPr sz="2400" b="0">
                    <a:solidFill>
                      <a:srgbClr val="111827"/>
                    </a:solidFill>
                    <a:latin typeface="Arial"/>
                  </a:rPr>
                  <a:t> and </a:t>
                </a:r>
                <a:r>
                  <a:rPr lang="en-IN" sz="2400">
                    <a:solidFill>
                      <a:srgbClr val="111827"/>
                    </a:solidFill>
                    <a:latin typeface="Cambria Math" panose="02040503050406030204" pitchFamily="18" charset="0"/>
                  </a:rPr>
                  <a:t>$\vec c$</a:t>
                </a:r>
                <a:r>
                  <a:rPr sz="2400" b="0">
                    <a:solidFill>
                      <a:srgbClr val="111827"/>
                    </a:solidFill>
                    <a:latin typeface="Arial"/>
                  </a:rPr>
                  <a:t> are coplanar but not collinear pair by pair, and vector </a:t>
                </a:r>
                <a:r>
                  <a:rPr lang="en-IN" sz="2400">
                    <a:solidFill>
                      <a:srgbClr val="111827"/>
                    </a:solidFill>
                    <a:latin typeface="Cambria Math" panose="02040503050406030204" pitchFamily="18" charset="0"/>
                  </a:rPr>
                  <a:t>$\vec d$</a:t>
                </a:r>
                <a:r>
                  <a:rPr sz="2400" b="0">
                    <a:solidFill>
                      <a:srgbClr val="111827"/>
                    </a:solidFill>
                    <a:latin typeface="Arial"/>
                  </a:rPr>
                  <a:t> is not coplanar with </a:t>
                </a:r>
                <a:r>
                  <a:rPr lang="en-IN" sz="2400">
                    <a:solidFill>
                      <a:srgbClr val="111827"/>
                    </a:solidFill>
                    <a:latin typeface="Cambria Math" panose="02040503050406030204" pitchFamily="18" charset="0"/>
                  </a:rPr>
                  <a:t>$\vec a,\vec b$</a:t>
                </a:r>
                <a:r>
                  <a:rPr sz="2400" b="0">
                    <a:solidFill>
                      <a:srgbClr val="111827"/>
                    </a:solidFill>
                    <a:latin typeface="Arial"/>
                  </a:rPr>
                  <a:t> and </a:t>
                </a:r>
                <a:r>
                  <a:rPr lang="en-IN" sz="2400">
                    <a:solidFill>
                      <a:srgbClr val="111827"/>
                    </a:solidFill>
                    <a:latin typeface="Cambria Math" panose="02040503050406030204" pitchFamily="18" charset="0"/>
                  </a:rPr>
                  <a:t>$\vec c$</a:t>
                </a:r>
                <a:r>
                  <a:rPr sz="2400" b="0">
                    <a:solidFill>
                      <a:srgbClr val="111827"/>
                    </a:solidFill>
                    <a:latin typeface="Arial"/>
                  </a:rPr>
                  <a:t>. If the angle between </a:t>
                </a:r>
                <a:r>
                  <a:rPr lang="en-IN" sz="2400">
                    <a:solidFill>
                      <a:srgbClr val="111827"/>
                    </a:solidFill>
                    <a:latin typeface="Cambria Math" panose="02040503050406030204" pitchFamily="18" charset="0"/>
                  </a:rPr>
                  <a:t>$\vec a$</a:t>
                </a:r>
                <a:r>
                  <a:rPr sz="2400" b="0">
                    <a:solidFill>
                      <a:srgbClr val="111827"/>
                    </a:solidFill>
                    <a:latin typeface="Arial"/>
                  </a:rPr>
                  <a:t> and </a:t>
                </a:r>
                <a:r>
                  <a:rPr lang="en-IN" sz="2400">
                    <a:solidFill>
                      <a:srgbClr val="111827"/>
                    </a:solidFill>
                    <a:latin typeface="Cambria Math" panose="02040503050406030204" pitchFamily="18" charset="0"/>
                  </a:rPr>
                  <a:t>$\vec b$</a:t>
                </a:r>
                <a:r>
                  <a:rPr sz="2400" b="0">
                    <a:solidFill>
                      <a:srgbClr val="111827"/>
                    </a:solidFill>
                    <a:latin typeface="Arial"/>
                  </a:rPr>
                  <a:t> is </a:t>
                </a:r>
                <a:r>
                  <a:rPr lang="en-IN" sz="2400">
                    <a:solidFill>
                      <a:srgbClr val="111827"/>
                    </a:solidFill>
                    <a:latin typeface="Cambria Math" panose="02040503050406030204" pitchFamily="18" charset="0"/>
                  </a:rPr>
                  <a:t>$\frac{\pi}{3}$</a:t>
                </a:r>
                <a:r>
                  <a:rPr sz="2400" b="0">
                    <a:solidFill>
                      <a:srgbClr val="111827"/>
                    </a:solidFill>
                    <a:latin typeface="Arial"/>
                  </a:rPr>
                  <a:t>, the angle between </a:t>
                </a:r>
                <a:r>
                  <a:rPr lang="en-IN" sz="2400">
                    <a:solidFill>
                      <a:srgbClr val="111827"/>
                    </a:solidFill>
                    <a:latin typeface="Cambria Math" panose="02040503050406030204" pitchFamily="18" charset="0"/>
                  </a:rPr>
                  <a:t>$\vec b$</a:t>
                </a:r>
                <a:r>
                  <a:rPr sz="2400" b="0">
                    <a:solidFill>
                      <a:srgbClr val="111827"/>
                    </a:solidFill>
                    <a:latin typeface="Arial"/>
                  </a:rPr>
                  <a:t> and </a:t>
                </a:r>
                <a:r>
                  <a:rPr lang="en-IN" sz="2400">
                    <a:solidFill>
                      <a:srgbClr val="111827"/>
                    </a:solidFill>
                    <a:latin typeface="Cambria Math" panose="02040503050406030204" pitchFamily="18" charset="0"/>
                  </a:rPr>
                  <a:t>$\vec c$</a:t>
                </a:r>
                <a:r>
                  <a:rPr sz="2400" b="0">
                    <a:solidFill>
                      <a:srgbClr val="111827"/>
                    </a:solidFill>
                    <a:latin typeface="Arial"/>
                  </a:rPr>
                  <a:t> is </a:t>
                </a:r>
                <a:r>
                  <a:rPr lang="en-IN" sz="2400">
                    <a:solidFill>
                      <a:srgbClr val="111827"/>
                    </a:solidFill>
                    <a:latin typeface="Cambria Math" panose="02040503050406030204" pitchFamily="18" charset="0"/>
                  </a:rPr>
                  <a:t>$\frac{\pi}{3}$</a:t>
                </a:r>
                <a:r>
                  <a:rPr sz="2400" b="0">
                    <a:solidFill>
                      <a:srgbClr val="111827"/>
                    </a:solidFill>
                    <a:latin typeface="Arial"/>
                  </a:rPr>
                  <a:t>, the angle between </a:t>
                </a:r>
                <a:r>
                  <a:rPr lang="en-IN" sz="2400">
                    <a:solidFill>
                      <a:srgbClr val="111827"/>
                    </a:solidFill>
                    <a:latin typeface="Cambria Math" panose="02040503050406030204" pitchFamily="18" charset="0"/>
                  </a:rPr>
                  <a:t>$\vec d$</a:t>
                </a:r>
                <a:r>
                  <a:rPr sz="2400" b="0">
                    <a:solidFill>
                      <a:srgbClr val="111827"/>
                    </a:solidFill>
                    <a:latin typeface="Arial"/>
                  </a:rPr>
                  <a:t> and </a:t>
                </a:r>
                <a:r>
                  <a:rPr lang="en-IN" sz="2400">
                    <a:solidFill>
                      <a:srgbClr val="111827"/>
                    </a:solidFill>
                    <a:latin typeface="Cambria Math" panose="02040503050406030204" pitchFamily="18" charset="0"/>
                  </a:rPr>
                  <a:t>$\vec a$</a:t>
                </a:r>
                <a:r>
                  <a:rPr sz="2400" b="0">
                    <a:solidFill>
                      <a:srgbClr val="111827"/>
                    </a:solidFill>
                    <a:latin typeface="Arial"/>
                  </a:rPr>
                  <a:t> is </a:t>
                </a:r>
                <a:r>
                  <a:rPr lang="en-IN" sz="2400">
                    <a:solidFill>
                      <a:srgbClr val="111827"/>
                    </a:solidFill>
                    <a:latin typeface="Cambria Math" panose="02040503050406030204" pitchFamily="18" charset="0"/>
                  </a:rPr>
                  <a:t>$\alpha$</a:t>
                </a:r>
                <a:r>
                  <a:rPr sz="2400" b="0">
                    <a:solidFill>
                      <a:srgbClr val="111827"/>
                    </a:solidFill>
                    <a:latin typeface="Arial"/>
                  </a:rPr>
                  <a:t> and the angle between </a:t>
                </a:r>
                <a:r>
                  <a:rPr lang="en-IN" sz="2400">
                    <a:solidFill>
                      <a:srgbClr val="111827"/>
                    </a:solidFill>
                    <a:latin typeface="Cambria Math" panose="02040503050406030204" pitchFamily="18" charset="0"/>
                  </a:rPr>
                  <a:t>$\vec d$</a:t>
                </a:r>
                <a:r>
                  <a:rPr sz="2400" b="0">
                    <a:solidFill>
                      <a:srgbClr val="111827"/>
                    </a:solidFill>
                    <a:latin typeface="Arial"/>
                  </a:rPr>
                  <a:t> and </a:t>
                </a:r>
                <a:r>
                  <a:rPr lang="en-IN" sz="2400">
                    <a:solidFill>
                      <a:srgbClr val="111827"/>
                    </a:solidFill>
                    <a:latin typeface="Cambria Math" panose="02040503050406030204" pitchFamily="18" charset="0"/>
                  </a:rPr>
                  <a:t>$\vec b$</a:t>
                </a:r>
                <a:r>
                  <a:rPr sz="2400" b="0">
                    <a:solidFill>
                      <a:srgbClr val="111827"/>
                    </a:solidFill>
                    <a:latin typeface="Arial"/>
                  </a:rPr>
                  <a:t> is </a:t>
                </a:r>
                <a:r>
                  <a:rPr lang="en-IN" sz="2400">
                    <a:solidFill>
                      <a:srgbClr val="111827"/>
                    </a:solidFill>
                    <a:latin typeface="Cambria Math" panose="02040503050406030204" pitchFamily="18" charset="0"/>
                  </a:rPr>
                  <a:t>$\beta$</a:t>
                </a:r>
                <a:r>
                  <a:rPr sz="2400" b="0">
                    <a:solidFill>
                      <a:srgbClr val="111827"/>
                    </a:solidFill>
                    <a:latin typeface="Arial"/>
                  </a:rPr>
                  <a:t>, then prove that the angle between </a:t>
                </a:r>
                <a:r>
                  <a:rPr lang="en-IN" sz="2400">
                    <a:solidFill>
                      <a:srgbClr val="111827"/>
                    </a:solidFill>
                    <a:latin typeface="Cambria Math" panose="02040503050406030204" pitchFamily="18" charset="0"/>
                  </a:rPr>
                  <a:t>$\vec d$</a:t>
                </a:r>
                <a:r>
                  <a:rPr sz="2400" b="0">
                    <a:solidFill>
                      <a:srgbClr val="111827"/>
                    </a:solidFill>
                    <a:latin typeface="Arial"/>
                  </a:rPr>
                  <a:t> and </a:t>
                </a:r>
                <a:r>
                  <a:rPr lang="en-IN" sz="2400">
                    <a:solidFill>
                      <a:srgbClr val="111827"/>
                    </a:solidFill>
                    <a:latin typeface="Cambria Math" panose="02040503050406030204" pitchFamily="18" charset="0"/>
                  </a:rPr>
                  <a:t>$\vec c$</a:t>
                </a:r>
                <a:r>
                  <a:rPr sz="2400" b="0">
                    <a:solidFill>
                      <a:srgbClr val="111827"/>
                    </a:solidFill>
                    <a:latin typeface="Arial"/>
                  </a:rPr>
                  <a:t> equals </a:t>
                </a:r>
                <a:r>
                  <a:rPr lang="en-IN" sz="2400">
                    <a:solidFill>
                      <a:srgbClr val="111827"/>
                    </a:solidFill>
                    <a:latin typeface="Cambria Math" panose="02040503050406030204" pitchFamily="18" charset="0"/>
                  </a:rPr>
                  <a:t>$\cos^{-1}\left(\cos\beta-\cos\alpha\right)$</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4851908"/>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Subjective Type(4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Coplanar vectors and angle between vectors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 the plane of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oMath>
                </a14:m>
                <a:r>
                  <a:rPr sz="2400" b="0">
                    <a:solidFill>
                      <a:srgbClr val="78350F"/>
                    </a:solidFill>
                    <a:latin typeface="Arial"/>
                  </a:rPr>
                  <a:t>, write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oMath>
                </a14:m>
                <a:r>
                  <a:rPr sz="2400" b="0">
                    <a:solidFill>
                      <a:srgbClr val="78350F"/>
                    </a:solidFill>
                    <a:latin typeface="Arial"/>
                  </a:rPr>
                  <a:t>; dotting with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oMath>
                </a14:m>
                <a:r>
                  <a:rPr sz="2400" b="0">
                    <a:solidFill>
                      <a:srgbClr val="78350F"/>
                    </a:solidFill>
                    <a:latin typeface="Arial"/>
                  </a:rPr>
                  <a:t> and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oMath>
                </a14:m>
                <a:r>
                  <a:rPr sz="2400" b="0">
                    <a:solidFill>
                      <a:srgbClr val="78350F"/>
                    </a:solidFill>
                    <a:latin typeface="Arial"/>
                  </a:rPr>
                  <a:t> gives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num>
                      <m:den>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and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num>
                      <m:den>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i.e.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In the plane of </a:t>
                </a:r>
                <a:r>
                  <a:rPr lang="en-IN" sz="2400">
                    <a:solidFill>
                      <a:srgbClr val="78350F"/>
                    </a:solidFill>
                    <a:latin typeface="Cambria Math" panose="02040503050406030204" pitchFamily="18" charset="0"/>
                  </a:rPr>
                  <a:t>$\vec a,\vec b,\vec c$</a:t>
                </a:r>
                <a:r>
                  <a:rPr sz="2400" b="0">
                    <a:solidFill>
                      <a:srgbClr val="78350F"/>
                    </a:solidFill>
                    <a:latin typeface="Arial"/>
                  </a:rPr>
                  <a:t>, write </a:t>
                </a:r>
                <a:r>
                  <a:rPr lang="en-IN" sz="2400">
                    <a:solidFill>
                      <a:srgbClr val="78350F"/>
                    </a:solidFill>
                    <a:latin typeface="Cambria Math" panose="02040503050406030204" pitchFamily="18" charset="0"/>
                  </a:rPr>
                  <a:t>$\vec c=x\vec a+y\vec b$</a:t>
                </a:r>
                <a:r>
                  <a:rPr sz="2400" b="0">
                    <a:solidFill>
                      <a:srgbClr val="78350F"/>
                    </a:solidFill>
                    <a:latin typeface="Arial"/>
                  </a:rPr>
                  <a:t>; dotting with </a:t>
                </a:r>
                <a:r>
                  <a:rPr lang="en-IN" sz="2400">
                    <a:solidFill>
                      <a:srgbClr val="78350F"/>
                    </a:solidFill>
                    <a:latin typeface="Cambria Math" panose="02040503050406030204" pitchFamily="18" charset="0"/>
                  </a:rPr>
                  <a:t>$\vec b$</a:t>
                </a:r>
                <a:r>
                  <a:rPr sz="2400" b="0">
                    <a:solidFill>
                      <a:srgbClr val="78350F"/>
                    </a:solidFill>
                    <a:latin typeface="Arial"/>
                  </a:rPr>
                  <a:t> and </a:t>
                </a:r>
                <a:r>
                  <a:rPr lang="en-IN" sz="2400">
                    <a:solidFill>
                      <a:srgbClr val="78350F"/>
                    </a:solidFill>
                    <a:latin typeface="Cambria Math" panose="02040503050406030204" pitchFamily="18" charset="0"/>
                  </a:rPr>
                  <a:t>$\vec c$</a:t>
                </a:r>
                <a:r>
                  <a:rPr sz="2400" b="0">
                    <a:solidFill>
                      <a:srgbClr val="78350F"/>
                    </a:solidFill>
                    <a:latin typeface="Arial"/>
                  </a:rPr>
                  <a:t> gives </a:t>
                </a:r>
                <a:r>
                  <a:rPr lang="en-IN" sz="2400">
                    <a:solidFill>
                      <a:srgbClr val="78350F"/>
                    </a:solidFill>
                    <a:latin typeface="Cambria Math" panose="02040503050406030204" pitchFamily="18" charset="0"/>
                  </a:rPr>
                  <a:t>$\frac{x|\vec a|}{|\vec c|}=-1$</a:t>
                </a:r>
                <a:r>
                  <a:rPr sz="2400" b="0">
                    <a:solidFill>
                      <a:srgbClr val="78350F"/>
                    </a:solidFill>
                    <a:latin typeface="Arial"/>
                  </a:rPr>
                  <a:t> and </a:t>
                </a:r>
                <a:r>
                  <a:rPr lang="en-IN" sz="2400">
                    <a:solidFill>
                      <a:srgbClr val="78350F"/>
                    </a:solidFill>
                    <a:latin typeface="Cambria Math" panose="02040503050406030204" pitchFamily="18" charset="0"/>
                  </a:rPr>
                  <a:t>$\frac{y|\vec b|}{|\vec c|}=1$</a:t>
                </a:r>
                <a:r>
                  <a:rPr sz="2400" b="0">
                    <a:solidFill>
                      <a:srgbClr val="78350F"/>
                    </a:solidFill>
                    <a:latin typeface="Arial"/>
                  </a:rPr>
                  <a:t>, i.e. </a:t>
                </a:r>
                <a:r>
                  <a:rPr lang="en-IN" sz="2400">
                    <a:solidFill>
                      <a:srgbClr val="78350F"/>
                    </a:solidFill>
                    <a:latin typeface="Cambria Math" panose="02040503050406030204" pitchFamily="18" charset="0"/>
                  </a:rPr>
                  <a:t>$\hat c=\hat b-\hat 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be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are coplanar and not collinear,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β</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den>
                    </m:f>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den>
                    </m:f>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β</m:t>
                    </m:r>
                  </m:oMath>
                </a14:m>
                <a:r>
                  <a:rPr sz="2400" b="0">
                    <a:solidFill>
                      <a:srgbClr val="111827"/>
                    </a:solidFill>
                    <a:latin typeface="Arial"/>
                  </a:rPr>
                  <a:t> ...(1).</a:t>
                </a:r>
                <a:endParaRPr sz="2400">
                  <a:solidFill>
                    <a:srgbClr val="111827"/>
                  </a:solidFill>
                </a:endParaRPr>
              </a:p>
            </p:txBody>
          </p:sp>
        </mc:Choice>
        <mc:Fallback>
          <p:sp>
            <p:nvSpPr>
              <p:cNvPr id="5" name="Rectangle 4"/>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the angle between </a:t>
                </a:r>
                <a:r>
                  <a:rPr lang="en-IN" sz="2400">
                    <a:solidFill>
                      <a:srgbClr val="111827"/>
                    </a:solidFill>
                    <a:latin typeface="Cambria Math" panose="02040503050406030204" pitchFamily="18" charset="0"/>
                  </a:rPr>
                  <a:t>$\vec d$</a:t>
                </a:r>
                <a:r>
                  <a:rPr sz="2400" b="0">
                    <a:solidFill>
                      <a:srgbClr val="111827"/>
                    </a:solidFill>
                    <a:latin typeface="Arial"/>
                  </a:rPr>
                  <a:t> and </a:t>
                </a:r>
                <a:r>
                  <a:rPr lang="en-IN" sz="2400">
                    <a:solidFill>
                      <a:srgbClr val="111827"/>
                    </a:solidFill>
                    <a:latin typeface="Cambria Math" panose="02040503050406030204" pitchFamily="18" charset="0"/>
                  </a:rPr>
                  <a:t>$\vec c$</a:t>
                </a:r>
                <a:r>
                  <a:rPr sz="2400" b="0">
                    <a:solidFill>
                      <a:srgbClr val="111827"/>
                    </a:solidFill>
                    <a:latin typeface="Arial"/>
                  </a:rPr>
                  <a:t> be </a:t>
                </a:r>
                <a:r>
                  <a:rPr lang="en-IN" sz="2400">
                    <a:solidFill>
                      <a:srgbClr val="111827"/>
                    </a:solidFill>
                    <a:latin typeface="Cambria Math" panose="02040503050406030204" pitchFamily="18" charset="0"/>
                  </a:rPr>
                  <a:t>$\theta$</a:t>
                </a:r>
                <a:r>
                  <a:rPr sz="2400" b="0">
                    <a:solidFill>
                      <a:srgbClr val="111827"/>
                    </a:solidFill>
                    <a:latin typeface="Arial"/>
                  </a:rPr>
                  <a:t>. </a:t>
                </a:r>
                <a:r>
                  <a:rPr lang="en-IN" sz="2400">
                    <a:solidFill>
                      <a:srgbClr val="111827"/>
                    </a:solidFill>
                    <a:latin typeface="Cambria Math" panose="02040503050406030204" pitchFamily="18" charset="0"/>
                  </a:rPr>
                  <a:t>$\vec a,\vec b,\vec c$</a:t>
                </a:r>
                <a:r>
                  <a:rPr sz="2400" b="0">
                    <a:solidFill>
                      <a:srgbClr val="111827"/>
                    </a:solidFill>
                    <a:latin typeface="Arial"/>
                  </a:rPr>
                  <a:t> are coplanar and not collinear, so </a:t>
                </a:r>
                <a:r>
                  <a:rPr lang="en-IN" sz="2400">
                    <a:solidFill>
                      <a:srgbClr val="111827"/>
                    </a:solidFill>
                    <a:latin typeface="Cambria Math" panose="02040503050406030204" pitchFamily="18" charset="0"/>
                  </a:rPr>
                  <a:t>$\vec c=x\vec a+y\vec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with </a:t>
                </a:r>
                <a:r>
                  <a:rPr lang="en-IN" sz="2400">
                    <a:solidFill>
                      <a:srgbClr val="111827"/>
                    </a:solidFill>
                    <a:latin typeface="Cambria Math" panose="02040503050406030204" pitchFamily="18" charset="0"/>
                  </a:rPr>
                  <a:t>$\vec b$</a:t>
                </a:r>
                <a:r>
                  <a:rPr sz="2400" b="0">
                    <a:solidFill>
                      <a:srgbClr val="111827"/>
                    </a:solidFill>
                    <a:latin typeface="Arial"/>
                  </a:rPr>
                  <a:t>: </a:t>
                </a:r>
                <a:r>
                  <a:rPr lang="en-IN" sz="2400">
                    <a:solidFill>
                      <a:srgbClr val="111827"/>
                    </a:solidFill>
                    <a:latin typeface="Cambria Math" panose="02040503050406030204" pitchFamily="18" charset="0"/>
                  </a:rPr>
                  <a:t>$\vec b\cdot\vec c=x\,\vec a\cdot\vec b+y\left|\vec b\right|^2$</a:t>
                </a:r>
                <a:r>
                  <a:rPr sz="2400" b="0">
                    <a:solidFill>
                      <a:srgbClr val="111827"/>
                    </a:solidFill>
                    <a:latin typeface="Arial"/>
                  </a:rPr>
                  <a:t> ...(a).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with </a:t>
                </a:r>
                <a:r>
                  <a:rPr lang="en-IN" sz="2400">
                    <a:solidFill>
                      <a:srgbClr val="111827"/>
                    </a:solidFill>
                    <a:latin typeface="Cambria Math" panose="02040503050406030204" pitchFamily="18" charset="0"/>
                  </a:rPr>
                  <a:t>$\vec d$</a:t>
                </a:r>
                <a:r>
                  <a:rPr sz="2400" b="0">
                    <a:solidFill>
                      <a:srgbClr val="111827"/>
                    </a:solidFill>
                    <a:latin typeface="Arial"/>
                  </a:rPr>
                  <a:t>: </a:t>
                </a:r>
                <a:r>
                  <a:rPr lang="en-IN" sz="2400">
                    <a:solidFill>
                      <a:srgbClr val="111827"/>
                    </a:solidFill>
                    <a:latin typeface="Cambria Math" panose="02040503050406030204" pitchFamily="18" charset="0"/>
                  </a:rPr>
                  <a:t>$\vec d\cdot\vec c=x\,\vec d\cdot\vec a+y\,\vec d\cdot\vec b$</a:t>
                </a:r>
                <a:r>
                  <a:rPr sz="2400" b="0">
                    <a:solidFill>
                      <a:srgbClr val="111827"/>
                    </a:solidFill>
                    <a:latin typeface="Arial"/>
                  </a:rPr>
                  <a:t>, so </a:t>
                </a:r>
                <a:r>
                  <a:rPr lang="en-IN" sz="2400">
                    <a:solidFill>
                      <a:srgbClr val="111827"/>
                    </a:solidFill>
                    <a:latin typeface="Cambria Math" panose="02040503050406030204" pitchFamily="18" charset="0"/>
                  </a:rPr>
                  <a:t>$\left|\vec d\right|\left|\vec c\right|\cos\theta=x\left|\vec d\right|\left|\vec a\right|\cos\alpha+y\left|\vec d\right|\left|\vec b\right|\cos\beta$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Divide by </a:t>
                </a:r>
                <a:r>
                  <a:rPr lang="en-IN" sz="2400">
                    <a:solidFill>
                      <a:srgbClr val="111827"/>
                    </a:solidFill>
                    <a:latin typeface="Cambria Math" panose="02040503050406030204" pitchFamily="18" charset="0"/>
                  </a:rPr>
                  <a:t>$\left|\vec d\right|\left|\vec c\right|$</a:t>
                </a:r>
                <a:r>
                  <a:rPr sz="2400" b="0">
                    <a:solidFill>
                      <a:srgbClr val="111827"/>
                    </a:solidFill>
                    <a:latin typeface="Arial"/>
                  </a:rPr>
                  <a:t>: </a:t>
                </a:r>
                <a:r>
                  <a:rPr lang="en-IN" sz="2400">
                    <a:solidFill>
                      <a:srgbClr val="111827"/>
                    </a:solidFill>
                    <a:latin typeface="Cambria Math" panose="02040503050406030204" pitchFamily="18" charset="0"/>
                  </a:rPr>
                  <a:t>$\cos\theta=x\frac{\left|\vec a\right|}{\left|\vec c\right|}\cos\alpha+y\frac{\left|\vec b\right|}{\left|\vec c\right|}\cos\beta$</a:t>
                </a:r>
                <a:r>
                  <a:rPr sz="2400" b="0">
                    <a:solidFill>
                      <a:srgbClr val="111827"/>
                    </a:solidFill>
                    <a:latin typeface="Arial"/>
                  </a:rPr>
                  <a:t> ...(1).</a:t>
                </a:r>
                <a:endParaRPr sz="2400">
                  <a:solidFill>
                    <a:srgbClr val="111827"/>
                  </a:solidFill>
                </a:endParaRPr>
              </a:p>
            </p:txBody>
          </p:sp>
        </mc:Fallback>
      </mc:AlternateContent>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(a) with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dividing by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den>
                    </m:f>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The coplanar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have angle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each step on opposite sides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so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(it cannot be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as they are not collinear).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den>
                    </m:f>
                  </m:oMath>
                </a14:m>
                <a:r>
                  <a:rPr sz="2400" b="0">
                    <a:solidFill>
                      <a:srgbClr val="111827"/>
                    </a:solidFill>
                    <a:latin typeface="Arial"/>
                  </a:rPr>
                  <a:t> ...(3).</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(a) with </a:t>
                </a:r>
                <a:r>
                  <a:rPr lang="en-IN" sz="2400">
                    <a:solidFill>
                      <a:srgbClr val="111827"/>
                    </a:solidFill>
                    <a:latin typeface="Cambria Math" panose="02040503050406030204" pitchFamily="18" charset="0"/>
                  </a:rPr>
                  <a:t>$\left|\vec b\right|\left|\vec c\right|\cos\frac\pi3=x\left|\vec b\right|\left|\vec a\right|\cos\frac\pi3+y\left|\vec b\right|^2$</a:t>
                </a:r>
                <a:r>
                  <a:rPr sz="2400" b="0">
                    <a:solidFill>
                      <a:srgbClr val="111827"/>
                    </a:solidFill>
                    <a:latin typeface="Arial"/>
                  </a:rPr>
                  <a:t> and dividing by </a:t>
                </a:r>
                <a:r>
                  <a:rPr lang="en-IN" sz="2400">
                    <a:solidFill>
                      <a:srgbClr val="111827"/>
                    </a:solidFill>
                    <a:latin typeface="Cambria Math" panose="02040503050406030204" pitchFamily="18" charset="0"/>
                  </a:rPr>
                  <a:t>$\left|\vec b\right|\left|\vec c\right|$</a:t>
                </a:r>
                <a:r>
                  <a:rPr sz="2400" b="0">
                    <a:solidFill>
                      <a:srgbClr val="111827"/>
                    </a:solidFill>
                    <a:latin typeface="Arial"/>
                  </a:rPr>
                  <a:t>: </a:t>
                </a:r>
                <a:r>
                  <a:rPr lang="en-IN" sz="2400">
                    <a:solidFill>
                      <a:srgbClr val="111827"/>
                    </a:solidFill>
                    <a:latin typeface="Cambria Math" panose="02040503050406030204" pitchFamily="18" charset="0"/>
                  </a:rPr>
                  <a:t>$\frac12=\frac{x}{2}\frac{\left|\vec a\right|}{\left|\vec c\right|}+y\frac{\left|\vec b\right|}{\left|\vec c\right|}$</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with </a:t>
                </a:r>
                <a:r>
                  <a:rPr lang="en-IN" sz="2400">
                    <a:solidFill>
                      <a:srgbClr val="111827"/>
                    </a:solidFill>
                    <a:latin typeface="Cambria Math" panose="02040503050406030204" pitchFamily="18" charset="0"/>
                  </a:rPr>
                  <a:t>$\vec c$</a:t>
                </a:r>
                <a:r>
                  <a:rPr sz="2400" b="0">
                    <a:solidFill>
                      <a:srgbClr val="111827"/>
                    </a:solidFill>
                    <a:latin typeface="Arial"/>
                  </a:rPr>
                  <a:t>: </a:t>
                </a:r>
                <a:r>
                  <a:rPr lang="en-IN" sz="2400">
                    <a:solidFill>
                      <a:srgbClr val="111827"/>
                    </a:solidFill>
                    <a:latin typeface="Cambria Math" panose="02040503050406030204" pitchFamily="18" charset="0"/>
                  </a:rPr>
                  <a:t>$\left|\vec c\right|^2=x\,\vec a\cdot\vec c+y\,\vec b\cdot\vec c$</a:t>
                </a:r>
                <a:r>
                  <a:rPr sz="2400" b="0">
                    <a:solidFill>
                      <a:srgbClr val="111827"/>
                    </a:solidFill>
                    <a:latin typeface="Arial"/>
                  </a:rPr>
                  <a:t>. The coplanar </a:t>
                </a:r>
                <a:r>
                  <a:rPr lang="en-IN" sz="2400">
                    <a:solidFill>
                      <a:srgbClr val="111827"/>
                    </a:solidFill>
                    <a:latin typeface="Cambria Math" panose="02040503050406030204" pitchFamily="18" charset="0"/>
                  </a:rPr>
                  <a:t>$\vec a,\vec b,\vec c$</a:t>
                </a:r>
                <a:r>
                  <a:rPr sz="2400" b="0">
                    <a:solidFill>
                      <a:srgbClr val="111827"/>
                    </a:solidFill>
                    <a:latin typeface="Arial"/>
                  </a:rPr>
                  <a:t> have angle </a:t>
                </a:r>
                <a:r>
                  <a:rPr lang="en-IN" sz="2400">
                    <a:solidFill>
                      <a:srgbClr val="111827"/>
                    </a:solidFill>
                    <a:latin typeface="Cambria Math" panose="02040503050406030204" pitchFamily="18" charset="0"/>
                  </a:rPr>
                  <a:t>$\frac\pi3$</a:t>
                </a:r>
                <a:r>
                  <a:rPr sz="2400" b="0">
                    <a:solidFill>
                      <a:srgbClr val="111827"/>
                    </a:solidFill>
                    <a:latin typeface="Arial"/>
                  </a:rPr>
                  <a:t> at each step on opposite sides of </a:t>
                </a:r>
                <a:r>
                  <a:rPr lang="en-IN" sz="2400">
                    <a:solidFill>
                      <a:srgbClr val="111827"/>
                    </a:solidFill>
                    <a:latin typeface="Cambria Math" panose="02040503050406030204" pitchFamily="18" charset="0"/>
                  </a:rPr>
                  <a:t>$\vec b$</a:t>
                </a:r>
                <a:r>
                  <a:rPr sz="2400" b="0">
                    <a:solidFill>
                      <a:srgbClr val="111827"/>
                    </a:solidFill>
                    <a:latin typeface="Arial"/>
                  </a:rPr>
                  <a:t>, so the angle between </a:t>
                </a:r>
                <a:r>
                  <a:rPr lang="en-IN" sz="2400">
                    <a:solidFill>
                      <a:srgbClr val="111827"/>
                    </a:solidFill>
                    <a:latin typeface="Cambria Math" panose="02040503050406030204" pitchFamily="18" charset="0"/>
                  </a:rPr>
                  <a:t>$\vec a$</a:t>
                </a:r>
                <a:r>
                  <a:rPr sz="2400" b="0">
                    <a:solidFill>
                      <a:srgbClr val="111827"/>
                    </a:solidFill>
                    <a:latin typeface="Arial"/>
                  </a:rPr>
                  <a:t> and </a:t>
                </a:r>
                <a:r>
                  <a:rPr lang="en-IN" sz="2400">
                    <a:solidFill>
                      <a:srgbClr val="111827"/>
                    </a:solidFill>
                    <a:latin typeface="Cambria Math" panose="02040503050406030204" pitchFamily="18" charset="0"/>
                  </a:rPr>
                  <a:t>$\vec c$</a:t>
                </a:r>
                <a:r>
                  <a:rPr sz="2400" b="0">
                    <a:solidFill>
                      <a:srgbClr val="111827"/>
                    </a:solidFill>
                    <a:latin typeface="Arial"/>
                  </a:rPr>
                  <a:t> is </a:t>
                </a:r>
                <a:r>
                  <a:rPr lang="en-IN" sz="2400">
                    <a:solidFill>
                      <a:srgbClr val="111827"/>
                    </a:solidFill>
                    <a:latin typeface="Cambria Math" panose="02040503050406030204" pitchFamily="18" charset="0"/>
                  </a:rPr>
                  <a:t>$\frac{2\pi}{3}$</a:t>
                </a:r>
                <a:r>
                  <a:rPr sz="2400" b="0">
                    <a:solidFill>
                      <a:srgbClr val="111827"/>
                    </a:solidFill>
                    <a:latin typeface="Arial"/>
                  </a:rPr>
                  <a:t> (it cannot be </a:t>
                </a:r>
                <a:r>
                  <a:rPr lang="en-IN" sz="2400">
                    <a:solidFill>
                      <a:srgbClr val="111827"/>
                    </a:solidFill>
                    <a:latin typeface="Cambria Math" panose="02040503050406030204" pitchFamily="18" charset="0"/>
                  </a:rPr>
                  <a:t>$0$</a:t>
                </a:r>
                <a:r>
                  <a:rPr sz="2400" b="0">
                    <a:solidFill>
                      <a:srgbClr val="111827"/>
                    </a:solidFill>
                    <a:latin typeface="Arial"/>
                  </a:rPr>
                  <a:t>, as they are not collinear).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$\left|\vec c\right|^2=x\left|\vec a\right|\left|\vec c\right|\cos\frac{2\pi}{3}+y\left|\vec b\right|\left|\vec c\right|\cos\frac\pi3$</a:t>
                </a:r>
                <a:r>
                  <a:rPr sz="2400" b="0">
                    <a:solidFill>
                      <a:srgbClr val="111827"/>
                    </a:solidFill>
                    <a:latin typeface="Arial"/>
                  </a:rPr>
                  <a:t>, i.e. </a:t>
                </a:r>
                <a:r>
                  <a:rPr lang="en-IN" sz="2400">
                    <a:solidFill>
                      <a:srgbClr val="111827"/>
                    </a:solidFill>
                    <a:latin typeface="Cambria Math" panose="02040503050406030204" pitchFamily="18" charset="0"/>
                  </a:rPr>
                  <a:t>$2=-x\frac{\left|\vec a\right|}{\left|\vec c\right|}+y\frac{\left|\vec b\right|}{\left|\vec c\right|}$</a:t>
                </a:r>
                <a:r>
                  <a:rPr sz="2400" b="0">
                    <a:solidFill>
                      <a:srgbClr val="111827"/>
                    </a:solidFill>
                    <a:latin typeface="Arial"/>
                  </a:rPr>
                  <a:t> ...(3).</a:t>
                </a:r>
                <a:endParaRPr sz="2400">
                  <a:solidFill>
                    <a:srgbClr val="111827"/>
                  </a:solidFill>
                </a:endParaRPr>
              </a:p>
            </p:txBody>
          </p:sp>
        </mc:Fallback>
      </mc:AlternateContent>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num>
                      <m:den>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den>
                    </m:f>
                  </m:oMath>
                </a14:m>
                <a:r>
                  <a:rPr sz="2400" b="0">
                    <a:solidFill>
                      <a:srgbClr val="111827"/>
                    </a:solidFill>
                    <a:latin typeface="Arial"/>
                  </a:rPr>
                  <a:t>. (2) is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𝑌</m:t>
                    </m:r>
                  </m:oMath>
                </a14:m>
                <a:r>
                  <a:rPr sz="2400" b="0">
                    <a:solidFill>
                      <a:srgbClr val="111827"/>
                    </a:solidFill>
                    <a:latin typeface="Arial"/>
                  </a:rPr>
                  <a:t> and (3) is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𝑌</m:t>
                    </m:r>
                  </m:oMath>
                </a14:m>
                <a:r>
                  <a:rPr sz="2400" b="0">
                    <a:solidFill>
                      <a:srgbClr val="111827"/>
                    </a:solidFill>
                    <a:latin typeface="Arial"/>
                  </a:rPr>
                  <a:t>. Adding: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𝑌</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𝑌</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𝑋</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these in (1):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e>
                    </m: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$X=\frac{x\left|\vec a\right|}{\left|\vec c\right|}$</a:t>
                </a:r>
                <a:r>
                  <a:rPr sz="2400" b="0">
                    <a:solidFill>
                      <a:srgbClr val="111827"/>
                    </a:solidFill>
                    <a:latin typeface="Arial"/>
                  </a:rPr>
                  <a:t>, </a:t>
                </a:r>
                <a:r>
                  <a:rPr lang="en-IN" sz="2400">
                    <a:solidFill>
                      <a:srgbClr val="111827"/>
                    </a:solidFill>
                    <a:latin typeface="Cambria Math" panose="02040503050406030204" pitchFamily="18" charset="0"/>
                  </a:rPr>
                  <a:t>$Y=\frac{y\left|\vec b\right|}{\left|\vec c\right|}$</a:t>
                </a:r>
                <a:r>
                  <a:rPr sz="2400" b="0">
                    <a:solidFill>
                      <a:srgbClr val="111827"/>
                    </a:solidFill>
                    <a:latin typeface="Arial"/>
                  </a:rPr>
                  <a:t>. (2) is </a:t>
                </a:r>
                <a:r>
                  <a:rPr lang="en-IN" sz="2400">
                    <a:solidFill>
                      <a:srgbClr val="111827"/>
                    </a:solidFill>
                    <a:latin typeface="Cambria Math" panose="02040503050406030204" pitchFamily="18" charset="0"/>
                  </a:rPr>
                  <a:t>$1=X+2Y$</a:t>
                </a:r>
                <a:r>
                  <a:rPr sz="2400" b="0">
                    <a:solidFill>
                      <a:srgbClr val="111827"/>
                    </a:solidFill>
                    <a:latin typeface="Arial"/>
                  </a:rPr>
                  <a:t> and (3) is </a:t>
                </a:r>
                <a:r>
                  <a:rPr lang="en-IN" sz="2400">
                    <a:solidFill>
                      <a:srgbClr val="111827"/>
                    </a:solidFill>
                    <a:latin typeface="Cambria Math" panose="02040503050406030204" pitchFamily="18" charset="0"/>
                  </a:rPr>
                  <a:t>$2=-X+Y$</a:t>
                </a:r>
                <a:r>
                  <a:rPr sz="2400" b="0">
                    <a:solidFill>
                      <a:srgbClr val="111827"/>
                    </a:solidFill>
                    <a:latin typeface="Arial"/>
                  </a:rPr>
                  <a:t>. Adding: </a:t>
                </a:r>
                <a:r>
                  <a:rPr lang="en-IN" sz="2400">
                    <a:solidFill>
                      <a:srgbClr val="111827"/>
                    </a:solidFill>
                    <a:latin typeface="Cambria Math" panose="02040503050406030204" pitchFamily="18" charset="0"/>
                  </a:rPr>
                  <a:t>$3=3Y$</a:t>
                </a:r>
                <a:r>
                  <a:rPr sz="2400" b="0">
                    <a:solidFill>
                      <a:srgbClr val="111827"/>
                    </a:solidFill>
                    <a:latin typeface="Arial"/>
                  </a:rPr>
                  <a:t>, so </a:t>
                </a:r>
                <a:r>
                  <a:rPr lang="en-IN" sz="2400">
                    <a:solidFill>
                      <a:srgbClr val="111827"/>
                    </a:solidFill>
                    <a:latin typeface="Cambria Math" panose="02040503050406030204" pitchFamily="18" charset="0"/>
                  </a:rPr>
                  <a:t>$Y=1$</a:t>
                </a:r>
                <a:r>
                  <a:rPr sz="2400" b="0">
                    <a:solidFill>
                      <a:srgbClr val="111827"/>
                    </a:solidFill>
                    <a:latin typeface="Arial"/>
                  </a:rPr>
                  <a:t> and </a:t>
                </a:r>
                <a:r>
                  <a:rPr lang="en-IN" sz="2400">
                    <a:solidFill>
                      <a:srgbClr val="111827"/>
                    </a:solidFill>
                    <a:latin typeface="Cambria Math" panose="02040503050406030204" pitchFamily="18" charset="0"/>
                  </a:rPr>
                  <a:t>$X=-1$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these in (1): </a:t>
                </a:r>
                <a:r>
                  <a:rPr lang="en-IN" sz="2400">
                    <a:solidFill>
                      <a:srgbClr val="111827"/>
                    </a:solidFill>
                    <a:latin typeface="Cambria Math" panose="02040503050406030204" pitchFamily="18" charset="0"/>
                  </a:rPr>
                  <a:t>$\cos\theta=-\cos\alpha+\cos\beta=\cos\beta-\cos\alpha$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$\theta=\cos^{-1}\left(\cos\beta-\cos\alpha\right)$</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the angle is </a:t>
                </a:r>
                <a14:m>
                  <m:oMath xmlns:m="http://schemas.openxmlformats.org/officeDocument/2006/math">
                    <m:sSup>
                      <m:e>
                        <m:r>
                          <m:rPr>
                            <m:sty m:val="p"/>
                          </m:rPr>
                          <a:rPr lang="en-IN" sz="2800">
                            <a:solidFill>
                              <a:srgbClr val="15803D"/>
                            </a:solidFill>
                            <a:latin typeface="Cambria Math" panose="02040503050406030204" pitchFamily="18" charset="0"/>
                          </a:rPr>
                          <m:t>cos</m:t>
                        </m:r>
                      </m:e>
                      <m: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p>
                    </m:sSup>
                    <m:d>
                      <m:dPr>
                        <m:begChr m:val="("/>
                        <m:sepChr m:val=""/>
                        <m:endChr m:val=")"/>
                        <m:grow/>
                        <m:ctrlPr>
                          <a:rPr lang="en-IN" sz="2800" i="1">
                            <a:solidFill>
                              <a:srgbClr val="15803D"/>
                            </a:solidFill>
                            <a:latin typeface="Cambria Math" panose="02040503050406030204" pitchFamily="18" charset="0"/>
                          </a:rPr>
                        </m:ctrlPr>
                      </m:dPr>
                      <m:e>
                        <m:r>
                          <m:rPr>
                            <m:sty m:val="p"/>
                          </m:rPr>
                          <a:rPr lang="en-IN" sz="2800">
                            <a:solidFill>
                              <a:srgbClr val="15803D"/>
                            </a:solidFill>
                            <a:latin typeface="Cambria Math" panose="02040503050406030204" pitchFamily="18" charset="0"/>
                          </a:rPr>
                          <m:t>cos</m:t>
                        </m:r>
                        <m:r>
                          <a:rPr lang="en-IN" sz="2800" i="1">
                            <a:solidFill>
                              <a:srgbClr val="15803D"/>
                            </a:solidFill>
                            <a:latin typeface="Cambria Math" panose="02040503050406030204" pitchFamily="18" charset="0"/>
                          </a:rPr>
                          <m:t>β</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cos</m:t>
                        </m:r>
                        <m:r>
                          <a:rPr lang="en-IN" sz="2800" i="1">
                            <a:solidFill>
                              <a:srgbClr val="15803D"/>
                            </a:solidFill>
                            <a:latin typeface="Cambria Math" panose="02040503050406030204" pitchFamily="18" charset="0"/>
                          </a:rPr>
                          <m:t>α</m:t>
                        </m:r>
                      </m:e>
                    </m: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Proved: the angle is </a:t>
                </a:r>
                <a:r>
                  <a:rPr lang="en-IN" sz="2800">
                    <a:solidFill>
                      <a:srgbClr val="15803D"/>
                    </a:solidFill>
                    <a:latin typeface="Cambria Math" panose="02040503050406030204" pitchFamily="18" charset="0"/>
                  </a:rPr>
                  <a:t>$\cos^{-1}\left(\cos\beta-\cos\alpha\right)$</a:t>
                </a:r>
                <a:endParaRPr sz="2800">
                  <a:solidFill>
                    <a:srgbClr val="15803D"/>
                  </a:solidFill>
                </a:endParaRPr>
              </a:p>
            </p:txBody>
          </p:sp>
        </mc:Fallback>
      </mc:AlternateContent>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Three unit vectors in a plane at </a:t>
                </a:r>
                <a14:m>
                  <m:oMath xmlns:m="http://schemas.openxmlformats.org/officeDocument/2006/math">
                    <m:sSup>
                      <m:e>
                        <m:r>
                          <a:rPr lang="en-IN" sz="2400" i="1">
                            <a:solidFill>
                              <a:srgbClr val="78350F"/>
                            </a:solidFill>
                            <a:latin typeface="Cambria Math" panose="02040503050406030204" pitchFamily="18" charset="0"/>
                          </a:rPr>
                          <m:t>60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steps satisfy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oMath>
                </a14:m>
                <a:r>
                  <a:rPr sz="2400" b="0">
                    <a:solidFill>
                      <a:srgbClr val="78350F"/>
                    </a:solidFill>
                    <a:latin typeface="Arial"/>
                  </a:rPr>
                  <a:t> (rhombus), so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Three unit vectors in a plane at </a:t>
                </a:r>
                <a:r>
                  <a:rPr lang="en-IN" sz="2400">
                    <a:solidFill>
                      <a:srgbClr val="78350F"/>
                    </a:solidFill>
                    <a:latin typeface="Cambria Math" panose="02040503050406030204" pitchFamily="18" charset="0"/>
                  </a:rPr>
                  <a:t>$60^\circ$</a:t>
                </a:r>
                <a:r>
                  <a:rPr sz="2400" b="0">
                    <a:solidFill>
                      <a:srgbClr val="78350F"/>
                    </a:solidFill>
                    <a:latin typeface="Arial"/>
                  </a:rPr>
                  <a:t> steps satisfy </a:t>
                </a:r>
                <a:r>
                  <a:rPr lang="en-IN" sz="2400">
                    <a:solidFill>
                      <a:srgbClr val="78350F"/>
                    </a:solidFill>
                    <a:latin typeface="Cambria Math" panose="02040503050406030204" pitchFamily="18" charset="0"/>
                  </a:rPr>
                  <a:t>$\hat a+\hat c=\hat b$</a:t>
                </a:r>
                <a:r>
                  <a:rPr sz="2400" b="0">
                    <a:solidFill>
                      <a:srgbClr val="78350F"/>
                    </a:solidFill>
                    <a:latin typeface="Arial"/>
                  </a:rPr>
                  <a:t> (rhombus), so </a:t>
                </a:r>
                <a:r>
                  <a:rPr lang="en-IN" sz="2400">
                    <a:solidFill>
                      <a:srgbClr val="78350F"/>
                    </a:solidFill>
                    <a:latin typeface="Cambria Math" panose="02040503050406030204" pitchFamily="18" charset="0"/>
                  </a:rPr>
                  <a:t>$\hat d\cdot\hat c=\hat d\cdot\hat b-\hat d\cdot\hat 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are coplanar,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and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are not collinear,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lie on opposite sides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(same side would make them parallel).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axes in that plane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e>
                    </m:d>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(the rhombus with unit sides and a </a:t>
                </a:r>
                <a14:m>
                  <m:oMath xmlns:m="http://schemas.openxmlformats.org/officeDocument/2006/math">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angle).</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 a,\vec b,\vec c$</a:t>
                </a:r>
                <a:r>
                  <a:rPr sz="2400" b="0">
                    <a:solidFill>
                      <a:srgbClr val="111827"/>
                    </a:solidFill>
                    <a:latin typeface="Arial"/>
                  </a:rPr>
                  <a:t> are coplanar, the angle between </a:t>
                </a:r>
                <a:r>
                  <a:rPr lang="en-IN" sz="2400">
                    <a:solidFill>
                      <a:srgbClr val="111827"/>
                    </a:solidFill>
                    <a:latin typeface="Cambria Math" panose="02040503050406030204" pitchFamily="18" charset="0"/>
                  </a:rPr>
                  <a:t>$\vec a,\vec b$</a:t>
                </a:r>
                <a:r>
                  <a:rPr sz="2400" b="0">
                    <a:solidFill>
                      <a:srgbClr val="111827"/>
                    </a:solidFill>
                    <a:latin typeface="Arial"/>
                  </a:rPr>
                  <a:t> and between </a:t>
                </a:r>
                <a:r>
                  <a:rPr lang="en-IN" sz="2400">
                    <a:solidFill>
                      <a:srgbClr val="111827"/>
                    </a:solidFill>
                    <a:latin typeface="Cambria Math" panose="02040503050406030204" pitchFamily="18" charset="0"/>
                  </a:rPr>
                  <a:t>$\vec b,\vec c$</a:t>
                </a:r>
                <a:r>
                  <a:rPr sz="2400" b="0">
                    <a:solidFill>
                      <a:srgbClr val="111827"/>
                    </a:solidFill>
                    <a:latin typeface="Arial"/>
                  </a:rPr>
                  <a:t> is </a:t>
                </a:r>
                <a:r>
                  <a:rPr lang="en-IN" sz="2400">
                    <a:solidFill>
                      <a:srgbClr val="111827"/>
                    </a:solidFill>
                    <a:latin typeface="Cambria Math" panose="02040503050406030204" pitchFamily="18" charset="0"/>
                  </a:rPr>
                  <a:t>$\frac\pi3$</a:t>
                </a:r>
                <a:r>
                  <a:rPr sz="2400" b="0">
                    <a:solidFill>
                      <a:srgbClr val="111827"/>
                    </a:solidFill>
                    <a:latin typeface="Arial"/>
                  </a:rPr>
                  <a:t>, and </a:t>
                </a:r>
                <a:r>
                  <a:rPr lang="en-IN" sz="2400">
                    <a:solidFill>
                      <a:srgbClr val="111827"/>
                    </a:solidFill>
                    <a:latin typeface="Cambria Math" panose="02040503050406030204" pitchFamily="18" charset="0"/>
                  </a:rPr>
                  <a:t>$\vec a,\vec c$</a:t>
                </a:r>
                <a:r>
                  <a:rPr sz="2400" b="0">
                    <a:solidFill>
                      <a:srgbClr val="111827"/>
                    </a:solidFill>
                    <a:latin typeface="Arial"/>
                  </a:rPr>
                  <a:t> are not collinear, so </a:t>
                </a:r>
                <a:r>
                  <a:rPr lang="en-IN" sz="2400">
                    <a:solidFill>
                      <a:srgbClr val="111827"/>
                    </a:solidFill>
                    <a:latin typeface="Cambria Math" panose="02040503050406030204" pitchFamily="18" charset="0"/>
                  </a:rPr>
                  <a:t>$\hat a$</a:t>
                </a:r>
                <a:r>
                  <a:rPr sz="2400" b="0">
                    <a:solidFill>
                      <a:srgbClr val="111827"/>
                    </a:solidFill>
                    <a:latin typeface="Arial"/>
                  </a:rPr>
                  <a:t> and </a:t>
                </a:r>
                <a:r>
                  <a:rPr lang="en-IN" sz="2400">
                    <a:solidFill>
                      <a:srgbClr val="111827"/>
                    </a:solidFill>
                    <a:latin typeface="Cambria Math" panose="02040503050406030204" pitchFamily="18" charset="0"/>
                  </a:rPr>
                  <a:t>$\hat c$</a:t>
                </a:r>
                <a:r>
                  <a:rPr sz="2400" b="0">
                    <a:solidFill>
                      <a:srgbClr val="111827"/>
                    </a:solidFill>
                    <a:latin typeface="Arial"/>
                  </a:rPr>
                  <a:t> lie on opposite sides of </a:t>
                </a:r>
                <a:r>
                  <a:rPr lang="en-IN" sz="2400">
                    <a:solidFill>
                      <a:srgbClr val="111827"/>
                    </a:solidFill>
                    <a:latin typeface="Cambria Math" panose="02040503050406030204" pitchFamily="18" charset="0"/>
                  </a:rPr>
                  <a:t>$\hat b$</a:t>
                </a:r>
                <a:r>
                  <a:rPr sz="2400" b="0">
                    <a:solidFill>
                      <a:srgbClr val="111827"/>
                    </a:solidFill>
                    <a:latin typeface="Arial"/>
                  </a:rPr>
                  <a:t> (same side would make them parallel).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Take axes in that plane with </a:t>
                </a:r>
                <a:r>
                  <a:rPr lang="en-IN" sz="2400">
                    <a:solidFill>
                      <a:srgbClr val="111827"/>
                    </a:solidFill>
                    <a:latin typeface="Cambria Math" panose="02040503050406030204" pitchFamily="18" charset="0"/>
                  </a:rPr>
                  <a:t>$\hat b=(1,0)$</a:t>
                </a:r>
                <a:r>
                  <a:rPr sz="2400" b="0">
                    <a:solidFill>
                      <a:srgbClr val="111827"/>
                    </a:solidFill>
                    <a:latin typeface="Arial"/>
                  </a:rPr>
                  <a:t>. Then </a:t>
                </a:r>
                <a:r>
                  <a:rPr lang="en-IN" sz="2400">
                    <a:solidFill>
                      <a:srgbClr val="111827"/>
                    </a:solidFill>
                    <a:latin typeface="Cambria Math" panose="02040503050406030204" pitchFamily="18" charset="0"/>
                  </a:rPr>
                  <a:t>$\hat a=\left(\cos60^\circ,-\sin60^\circ\right)$</a:t>
                </a:r>
                <a:r>
                  <a:rPr sz="2400" b="0">
                    <a:solidFill>
                      <a:srgbClr val="111827"/>
                    </a:solidFill>
                    <a:latin typeface="Arial"/>
                  </a:rPr>
                  <a:t> and </a:t>
                </a:r>
                <a:r>
                  <a:rPr lang="en-IN" sz="2400">
                    <a:solidFill>
                      <a:srgbClr val="111827"/>
                    </a:solidFill>
                    <a:latin typeface="Cambria Math" panose="02040503050406030204" pitchFamily="18" charset="0"/>
                  </a:rPr>
                  <a:t>$\hat c=\left(\cos60^\circ,\sin60^\circ\right)$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Adding, </a:t>
                </a:r>
                <a:r>
                  <a:rPr lang="en-IN" sz="2400">
                    <a:solidFill>
                      <a:srgbClr val="111827"/>
                    </a:solidFill>
                    <a:latin typeface="Cambria Math" panose="02040503050406030204" pitchFamily="18" charset="0"/>
                  </a:rPr>
                  <a:t>$\hat a+\hat c=\left(2\cos60^\circ,0\right)=(1,0)=\hat b$</a:t>
                </a:r>
                <a:r>
                  <a:rPr sz="2400" b="0">
                    <a:solidFill>
                      <a:srgbClr val="111827"/>
                    </a:solidFill>
                    <a:latin typeface="Arial"/>
                  </a:rPr>
                  <a:t>, so </a:t>
                </a:r>
                <a:r>
                  <a:rPr lang="en-IN" sz="2400">
                    <a:solidFill>
                      <a:srgbClr val="111827"/>
                    </a:solidFill>
                    <a:latin typeface="Cambria Math" panose="02040503050406030204" pitchFamily="18" charset="0"/>
                  </a:rPr>
                  <a:t>$\hat c=\hat b-\hat a$</a:t>
                </a:r>
                <a:r>
                  <a:rPr sz="2400" b="0">
                    <a:solidFill>
                      <a:srgbClr val="111827"/>
                    </a:solidFill>
                    <a:latin typeface="Arial"/>
                  </a:rPr>
                  <a:t> (the rhombus with unit sides and a </a:t>
                </a:r>
                <a:r>
                  <a:rPr lang="en-IN" sz="2400">
                    <a:solidFill>
                      <a:srgbClr val="111827"/>
                    </a:solidFill>
                    <a:latin typeface="Cambria Math" panose="02040503050406030204" pitchFamily="18" charset="0"/>
                  </a:rPr>
                  <a:t>$120^\circ$</a:t>
                </a:r>
                <a:r>
                  <a:rPr sz="2400" b="0">
                    <a:solidFill>
                      <a:srgbClr val="111827"/>
                    </a:solidFill>
                    <a:latin typeface="Arial"/>
                  </a:rPr>
                  <a:t> angle).</a:t>
                </a:r>
                <a:endParaRPr sz="2400">
                  <a:solidFill>
                    <a:srgbClr val="111827"/>
                  </a:solidFill>
                </a:endParaRPr>
              </a:p>
            </p:txBody>
          </p:sp>
        </mc:Fallback>
      </mc:AlternateContent>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Dot with the unit vector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These dot products are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β</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Dot with the unit vector </a:t>
                </a:r>
                <a:r>
                  <a:rPr lang="en-IN" sz="2400">
                    <a:solidFill>
                      <a:srgbClr val="111827"/>
                    </a:solidFill>
                    <a:latin typeface="Cambria Math" panose="02040503050406030204" pitchFamily="18" charset="0"/>
                  </a:rPr>
                  <a:t>$\hat d$</a:t>
                </a:r>
                <a:r>
                  <a:rPr sz="2400" b="0">
                    <a:solidFill>
                      <a:srgbClr val="111827"/>
                    </a:solidFill>
                    <a:latin typeface="Arial"/>
                  </a:rPr>
                  <a:t>: </a:t>
                </a:r>
                <a:r>
                  <a:rPr lang="en-IN" sz="2400">
                    <a:solidFill>
                      <a:srgbClr val="111827"/>
                    </a:solidFill>
                    <a:latin typeface="Cambria Math" panose="02040503050406030204" pitchFamily="18" charset="0"/>
                  </a:rPr>
                  <a:t>$\hat d\cdot\hat c=\hat d\cdot\hat b-\hat d\cdot\hat 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These dot products are </a:t>
                </a:r>
                <a:r>
                  <a:rPr lang="en-IN" sz="2400">
                    <a:solidFill>
                      <a:srgbClr val="111827"/>
                    </a:solidFill>
                    <a:latin typeface="Cambria Math" panose="02040503050406030204" pitchFamily="18" charset="0"/>
                  </a:rPr>
                  <a:t>$\cos\theta$</a:t>
                </a:r>
                <a:r>
                  <a:rPr sz="2400" b="0">
                    <a:solidFill>
                      <a:srgbClr val="111827"/>
                    </a:solidFill>
                    <a:latin typeface="Arial"/>
                  </a:rPr>
                  <a:t>, </a:t>
                </a:r>
                <a:r>
                  <a:rPr lang="en-IN" sz="2400">
                    <a:solidFill>
                      <a:srgbClr val="111827"/>
                    </a:solidFill>
                    <a:latin typeface="Cambria Math" panose="02040503050406030204" pitchFamily="18" charset="0"/>
                  </a:rPr>
                  <a:t>$\cos\beta$</a:t>
                </a:r>
                <a:r>
                  <a:rPr sz="2400" b="0">
                    <a:solidFill>
                      <a:srgbClr val="111827"/>
                    </a:solidFill>
                    <a:latin typeface="Arial"/>
                  </a:rPr>
                  <a:t>, </a:t>
                </a:r>
                <a:r>
                  <a:rPr lang="en-IN" sz="2400">
                    <a:solidFill>
                      <a:srgbClr val="111827"/>
                    </a:solidFill>
                    <a:latin typeface="Cambria Math" panose="02040503050406030204" pitchFamily="18" charset="0"/>
                  </a:rPr>
                  <a:t>$\cos\alpha$</a:t>
                </a:r>
                <a:r>
                  <a:rPr sz="2400" b="0">
                    <a:solidFill>
                      <a:srgbClr val="111827"/>
                    </a:solidFill>
                    <a:latin typeface="Arial"/>
                  </a:rPr>
                  <a:t>, so </a:t>
                </a:r>
                <a:r>
                  <a:rPr lang="en-IN" sz="2400">
                    <a:solidFill>
                      <a:srgbClr val="111827"/>
                    </a:solidFill>
                    <a:latin typeface="Cambria Math" panose="02040503050406030204" pitchFamily="18" charset="0"/>
                  </a:rPr>
                  <a:t>$\cos\theta=\cos\beta-\cos\alpha$</a:t>
                </a:r>
                <a:r>
                  <a:rPr sz="2400" b="0">
                    <a:solidFill>
                      <a:srgbClr val="111827"/>
                    </a:solidFill>
                    <a:latin typeface="Arial"/>
                  </a:rPr>
                  <a:t>, giving </a:t>
                </a:r>
                <a:r>
                  <a:rPr lang="en-IN" sz="2400">
                    <a:solidFill>
                      <a:srgbClr val="111827"/>
                    </a:solidFill>
                    <a:latin typeface="Cambria Math" panose="02040503050406030204" pitchFamily="18" charset="0"/>
                  </a:rPr>
                  <a:t>$\theta=\cos^{-1}\left(\cos\beta-\cos\alpha\right)$</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the angle is </a:t>
                </a:r>
                <a14:m>
                  <m:oMath xmlns:m="http://schemas.openxmlformats.org/officeDocument/2006/math">
                    <m:sSup>
                      <m:e>
                        <m:r>
                          <m:rPr>
                            <m:sty m:val="p"/>
                          </m:rPr>
                          <a:rPr lang="en-IN" sz="2800">
                            <a:solidFill>
                              <a:srgbClr val="15803D"/>
                            </a:solidFill>
                            <a:latin typeface="Cambria Math" panose="02040503050406030204" pitchFamily="18" charset="0"/>
                          </a:rPr>
                          <m:t>cos</m:t>
                        </m:r>
                      </m:e>
                      <m:sup>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sup>
                    </m:sSup>
                    <m:d>
                      <m:dPr>
                        <m:begChr m:val="("/>
                        <m:sepChr m:val=""/>
                        <m:endChr m:val=")"/>
                        <m:grow/>
                        <m:ctrlPr>
                          <a:rPr lang="en-IN" sz="2800" i="1">
                            <a:solidFill>
                              <a:srgbClr val="15803D"/>
                            </a:solidFill>
                            <a:latin typeface="Cambria Math" panose="02040503050406030204" pitchFamily="18" charset="0"/>
                          </a:rPr>
                        </m:ctrlPr>
                      </m:dPr>
                      <m:e>
                        <m:r>
                          <m:rPr>
                            <m:sty m:val="p"/>
                          </m:rPr>
                          <a:rPr lang="en-IN" sz="2800">
                            <a:solidFill>
                              <a:srgbClr val="15803D"/>
                            </a:solidFill>
                            <a:latin typeface="Cambria Math" panose="02040503050406030204" pitchFamily="18" charset="0"/>
                          </a:rPr>
                          <m:t>cos</m:t>
                        </m:r>
                        <m:r>
                          <a:rPr lang="en-IN" sz="2800" i="1">
                            <a:solidFill>
                              <a:srgbClr val="15803D"/>
                            </a:solidFill>
                            <a:latin typeface="Cambria Math" panose="02040503050406030204" pitchFamily="18" charset="0"/>
                          </a:rPr>
                          <m:t>β</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cos</m:t>
                        </m:r>
                        <m:r>
                          <a:rPr lang="en-IN" sz="2800" i="1">
                            <a:solidFill>
                              <a:srgbClr val="15803D"/>
                            </a:solidFill>
                            <a:latin typeface="Cambria Math" panose="02040503050406030204" pitchFamily="18" charset="0"/>
                          </a:rPr>
                          <m:t>α</m:t>
                        </m:r>
                      </m:e>
                    </m: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Proved: the angle is </a:t>
                </a:r>
                <a:r>
                  <a:rPr lang="en-IN" sz="2800">
                    <a:solidFill>
                      <a:srgbClr val="15803D"/>
                    </a:solidFill>
                    <a:latin typeface="Cambria Math" panose="02040503050406030204" pitchFamily="18" charset="0"/>
                  </a:rPr>
                  <a:t>$\cos^{-1}\left(\cos\beta-\cos\alpha\right)$</a:t>
                </a:r>
                <a:endParaRPr sz="2800">
                  <a:solidFill>
                    <a:srgbClr val="15803D"/>
                  </a:solidFill>
                </a:endParaRPr>
              </a:p>
            </p:txBody>
          </p:sp>
        </mc:Fallback>
      </mc:AlternateContent>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are coplanar unit vectors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each at angle </a:t>
                </a:r>
                <a14:m>
                  <m:oMath xmlns:m="http://schemas.openxmlformats.org/officeDocument/2006/math">
                    <m:r>
                      <a:rPr lang="en-IN" sz="2400" i="1">
                        <a:solidFill>
                          <a:srgbClr val="111827"/>
                        </a:solidFill>
                        <a:latin typeface="Cambria Math" panose="02040503050406030204" pitchFamily="18" charset="0"/>
                      </a:rPr>
                      <m:t>φ</m:t>
                    </m:r>
                  </m:oMath>
                </a14:m>
                <a:r>
                  <a:rPr sz="2400" b="0">
                    <a:solidFill>
                      <a:srgbClr val="111827"/>
                    </a:solidFill>
                    <a:latin typeface="Arial"/>
                  </a:rPr>
                  <a:t> from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then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φ</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φ</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this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vector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φ</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so cosines of angles with coplanar vectors satisfy the same linear relation as the vectors.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Coplanarity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means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dotting with each vector gives a linear system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oMath>
                </a14:m>
                <a:r>
                  <a:rPr sz="2400" b="0">
                    <a:solidFill>
                      <a:srgbClr val="111827"/>
                    </a:solidFill>
                    <a:latin typeface="Arial"/>
                  </a:rPr>
                  <a:t>): then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consistent with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$\hat a,\hat b,\hat c$</a:t>
                </a:r>
                <a:r>
                  <a:rPr sz="2400" b="0">
                    <a:solidFill>
                      <a:srgbClr val="111827"/>
                    </a:solidFill>
                    <a:latin typeface="Arial"/>
                  </a:rPr>
                  <a:t> are coplanar unit vectors with </a:t>
                </a:r>
                <a:r>
                  <a:rPr lang="en-IN" sz="2400">
                    <a:solidFill>
                      <a:srgbClr val="111827"/>
                    </a:solidFill>
                    <a:latin typeface="Cambria Math" panose="02040503050406030204" pitchFamily="18" charset="0"/>
                  </a:rPr>
                  <a:t>$\hat b$</a:t>
                </a:r>
                <a:r>
                  <a:rPr sz="2400" b="0">
                    <a:solidFill>
                      <a:srgbClr val="111827"/>
                    </a:solidFill>
                    <a:latin typeface="Arial"/>
                  </a:rPr>
                  <a:t> between </a:t>
                </a:r>
                <a:r>
                  <a:rPr lang="en-IN" sz="2400">
                    <a:solidFill>
                      <a:srgbClr val="111827"/>
                    </a:solidFill>
                    <a:latin typeface="Cambria Math" panose="02040503050406030204" pitchFamily="18" charset="0"/>
                  </a:rPr>
                  <a:t>$\hat a$</a:t>
                </a:r>
                <a:r>
                  <a:rPr sz="2400" b="0">
                    <a:solidFill>
                      <a:srgbClr val="111827"/>
                    </a:solidFill>
                    <a:latin typeface="Arial"/>
                  </a:rPr>
                  <a:t> and </a:t>
                </a:r>
                <a:r>
                  <a:rPr lang="en-IN" sz="2400">
                    <a:solidFill>
                      <a:srgbClr val="111827"/>
                    </a:solidFill>
                    <a:latin typeface="Cambria Math" panose="02040503050406030204" pitchFamily="18" charset="0"/>
                  </a:rPr>
                  <a:t>$\hat c$</a:t>
                </a:r>
                <a:r>
                  <a:rPr sz="2400" b="0">
                    <a:solidFill>
                      <a:srgbClr val="111827"/>
                    </a:solidFill>
                    <a:latin typeface="Arial"/>
                  </a:rPr>
                  <a:t>, each at angle </a:t>
                </a:r>
                <a:r>
                  <a:rPr lang="en-IN" sz="2400">
                    <a:solidFill>
                      <a:srgbClr val="111827"/>
                    </a:solidFill>
                    <a:latin typeface="Cambria Math" panose="02040503050406030204" pitchFamily="18" charset="0"/>
                  </a:rPr>
                  <a:t>$\varphi$</a:t>
                </a:r>
                <a:r>
                  <a:rPr sz="2400" b="0">
                    <a:solidFill>
                      <a:srgbClr val="111827"/>
                    </a:solidFill>
                    <a:latin typeface="Arial"/>
                  </a:rPr>
                  <a:t> from </a:t>
                </a:r>
                <a:r>
                  <a:rPr lang="en-IN" sz="2400">
                    <a:solidFill>
                      <a:srgbClr val="111827"/>
                    </a:solidFill>
                    <a:latin typeface="Cambria Math" panose="02040503050406030204" pitchFamily="18" charset="0"/>
                  </a:rPr>
                  <a:t>$\hat b$</a:t>
                </a:r>
                <a:r>
                  <a:rPr sz="2400" b="0">
                    <a:solidFill>
                      <a:srgbClr val="111827"/>
                    </a:solidFill>
                    <a:latin typeface="Arial"/>
                  </a:rPr>
                  <a:t>, then </a:t>
                </a:r>
                <a:r>
                  <a:rPr lang="en-IN" sz="2400">
                    <a:solidFill>
                      <a:srgbClr val="111827"/>
                    </a:solidFill>
                    <a:latin typeface="Cambria Math" panose="02040503050406030204" pitchFamily="18" charset="0"/>
                  </a:rPr>
                  <a:t>$\hat a+\hat c=2\cos\varphi\,\hat b$</a:t>
                </a:r>
                <a:r>
                  <a:rPr sz="2400" b="0">
                    <a:solidFill>
                      <a:srgbClr val="111827"/>
                    </a:solidFill>
                    <a:latin typeface="Arial"/>
                  </a:rPr>
                  <a:t>; for </a:t>
                </a:r>
                <a:r>
                  <a:rPr lang="en-IN" sz="2400">
                    <a:solidFill>
                      <a:srgbClr val="111827"/>
                    </a:solidFill>
                    <a:latin typeface="Cambria Math" panose="02040503050406030204" pitchFamily="18" charset="0"/>
                  </a:rPr>
                  <a:t>$\varphi=60^\circ$</a:t>
                </a:r>
                <a:r>
                  <a:rPr sz="2400" b="0">
                    <a:solidFill>
                      <a:srgbClr val="111827"/>
                    </a:solidFill>
                    <a:latin typeface="Arial"/>
                  </a:rPr>
                  <a:t> this is </a:t>
                </a:r>
                <a:r>
                  <a:rPr lang="en-IN" sz="2400">
                    <a:solidFill>
                      <a:srgbClr val="111827"/>
                    </a:solidFill>
                    <a:latin typeface="Cambria Math" panose="02040503050406030204" pitchFamily="18" charset="0"/>
                  </a:rPr>
                  <a:t>$\hat a+\hat c=\hat 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vector </a:t>
                </a:r>
                <a:r>
                  <a:rPr lang="en-IN" sz="2400">
                    <a:solidFill>
                      <a:srgbClr val="111827"/>
                    </a:solidFill>
                    <a:latin typeface="Cambria Math" panose="02040503050406030204" pitchFamily="18" charset="0"/>
                  </a:rPr>
                  <a:t>$\vec d$</a:t>
                </a:r>
                <a:r>
                  <a:rPr sz="2400" b="0">
                    <a:solidFill>
                      <a:srgbClr val="111827"/>
                    </a:solidFill>
                    <a:latin typeface="Arial"/>
                  </a:rPr>
                  <a:t>: </a:t>
                </a:r>
                <a:r>
                  <a:rPr lang="en-IN" sz="2400">
                    <a:solidFill>
                      <a:srgbClr val="111827"/>
                    </a:solidFill>
                    <a:latin typeface="Cambria Math" panose="02040503050406030204" pitchFamily="18" charset="0"/>
                  </a:rPr>
                  <a:t>$\hat d\cdot\left(\hat a+\hat c\right)=2\cos\varphi\,\hat d\cdot\hat b$</a:t>
                </a:r>
                <a:r>
                  <a:rPr sz="2400" b="0">
                    <a:solidFill>
                      <a:srgbClr val="111827"/>
                    </a:solidFill>
                    <a:latin typeface="Arial"/>
                  </a:rPr>
                  <a:t>, so cosines of angles with coplanar vectors satisfy the same linear relation as the vectors.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Coplanarity of </a:t>
                </a:r>
                <a:r>
                  <a:rPr lang="en-IN" sz="2400">
                    <a:solidFill>
                      <a:srgbClr val="111827"/>
                    </a:solidFill>
                    <a:latin typeface="Cambria Math" panose="02040503050406030204" pitchFamily="18" charset="0"/>
                  </a:rPr>
                  <a:t>$\vec a,\vec b,\vec c$</a:t>
                </a:r>
                <a:r>
                  <a:rPr sz="2400" b="0">
                    <a:solidFill>
                      <a:srgbClr val="111827"/>
                    </a:solidFill>
                    <a:latin typeface="Arial"/>
                  </a:rPr>
                  <a:t> means </a:t>
                </a:r>
                <a:r>
                  <a:rPr lang="en-IN" sz="2400">
                    <a:solidFill>
                      <a:srgbClr val="111827"/>
                    </a:solidFill>
                    <a:latin typeface="Cambria Math" panose="02040503050406030204" pitchFamily="18" charset="0"/>
                  </a:rPr>
                  <a:t>$\vec c=x\vec a+y\vec b$</a:t>
                </a:r>
                <a:r>
                  <a:rPr sz="2400" b="0">
                    <a:solidFill>
                      <a:srgbClr val="111827"/>
                    </a:solidFill>
                    <a:latin typeface="Arial"/>
                  </a:rPr>
                  <a:t>; dotting with each vector gives a linear system for </a:t>
                </a:r>
                <a:r>
                  <a:rPr lang="en-IN" sz="2400">
                    <a:solidFill>
                      <a:srgbClr val="111827"/>
                    </a:solidFill>
                    <a:latin typeface="Cambria Math" panose="02040503050406030204" pitchFamily="18" charset="0"/>
                  </a:rPr>
                  <a:t>$x,y$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$\alpha=\beta$</a:t>
                </a:r>
                <a:r>
                  <a:rPr sz="2400" b="0">
                    <a:solidFill>
                      <a:srgbClr val="111827"/>
                    </a:solidFill>
                    <a:latin typeface="Arial"/>
                  </a:rPr>
                  <a:t>): then </a:t>
                </a:r>
                <a:r>
                  <a:rPr lang="en-IN" sz="2400">
                    <a:solidFill>
                      <a:srgbClr val="111827"/>
                    </a:solidFill>
                    <a:latin typeface="Cambria Math" panose="02040503050406030204" pitchFamily="18" charset="0"/>
                  </a:rPr>
                  <a:t>$\hat d\cdot\hat c=0$</a:t>
                </a:r>
                <a:r>
                  <a:rPr sz="2400" b="0">
                    <a:solidFill>
                      <a:srgbClr val="111827"/>
                    </a:solidFill>
                    <a:latin typeface="Arial"/>
                  </a:rPr>
                  <a:t>, i.e. </a:t>
                </a:r>
                <a:r>
                  <a:rPr lang="en-IN" sz="2400">
                    <a:solidFill>
                      <a:srgbClr val="111827"/>
                    </a:solidFill>
                    <a:latin typeface="Cambria Math" panose="02040503050406030204" pitchFamily="18" charset="0"/>
                  </a:rPr>
                  <a:t>$\vec d\perp\vec c$</a:t>
                </a:r>
                <a:r>
                  <a:rPr sz="2400" b="0">
                    <a:solidFill>
                      <a:srgbClr val="111827"/>
                    </a:solidFill>
                    <a:latin typeface="Arial"/>
                  </a:rPr>
                  <a:t>, consistent with </a:t>
                </a:r>
                <a:r>
                  <a:rPr lang="en-IN" sz="2400">
                    <a:solidFill>
                      <a:srgbClr val="111827"/>
                    </a:solidFill>
                    <a:latin typeface="Cambria Math" panose="02040503050406030204" pitchFamily="18" charset="0"/>
                  </a:rPr>
                  <a:t>$\cos\beta-\cos\alpha=0$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position vectors of the vertices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of a tetrahedron are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respectively. The altitude from the vertex </a:t>
                </a:r>
                <a14:m>
                  <m:oMath xmlns:m="http://schemas.openxmlformats.org/officeDocument/2006/math">
                    <m:r>
                      <a:rPr lang="en-IN" sz="2400" i="1">
                        <a:solidFill>
                          <a:srgbClr val="111827"/>
                        </a:solidFill>
                        <a:latin typeface="Cambria Math" panose="02040503050406030204" pitchFamily="18" charset="0"/>
                      </a:rPr>
                      <m:t>𝐷</m:t>
                    </m:r>
                  </m:oMath>
                </a14:m>
                <a:r>
                  <a:rPr sz="2400" b="0">
                    <a:solidFill>
                      <a:srgbClr val="111827"/>
                    </a:solidFill>
                    <a:latin typeface="Arial"/>
                  </a:rPr>
                  <a:t> to the opposite face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meets the median line through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of the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at a point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If the length of side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and the volume of the tetrahedron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3</m:t>
                        </m:r>
                      </m:den>
                    </m:f>
                  </m:oMath>
                </a14:m>
                <a:r>
                  <a:rPr sz="2400" b="0">
                    <a:solidFill>
                      <a:srgbClr val="111827"/>
                    </a:solidFill>
                    <a:latin typeface="Arial"/>
                  </a:rPr>
                  <a:t>, then find all possible position vectors of the point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86156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position vectors of the vertices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$B$</a:t>
                </a:r>
                <a:r>
                  <a:rPr sz="2400" b="0">
                    <a:solidFill>
                      <a:srgbClr val="111827"/>
                    </a:solidFill>
                    <a:latin typeface="Arial"/>
                  </a:rPr>
                  <a:t> and </a:t>
                </a:r>
                <a:r>
                  <a:rPr lang="en-IN" sz="2400">
                    <a:solidFill>
                      <a:srgbClr val="111827"/>
                    </a:solidFill>
                    <a:latin typeface="Cambria Math" panose="02040503050406030204" pitchFamily="18" charset="0"/>
                  </a:rPr>
                  <a:t>$C$</a:t>
                </a:r>
                <a:r>
                  <a:rPr sz="2400" b="0">
                    <a:solidFill>
                      <a:srgbClr val="111827"/>
                    </a:solidFill>
                    <a:latin typeface="Arial"/>
                  </a:rPr>
                  <a:t> of a tetrahedron are </a:t>
                </a:r>
                <a:r>
                  <a:rPr lang="en-IN" sz="2400">
                    <a:solidFill>
                      <a:srgbClr val="111827"/>
                    </a:solidFill>
                    <a:latin typeface="Cambria Math" panose="02040503050406030204" pitchFamily="18" charset="0"/>
                  </a:rPr>
                  <a:t>$(1,1,1)$</a:t>
                </a:r>
                <a:r>
                  <a:rPr sz="2400" b="0">
                    <a:solidFill>
                      <a:srgbClr val="111827"/>
                    </a:solidFill>
                    <a:latin typeface="Arial"/>
                  </a:rPr>
                  <a:t>, </a:t>
                </a:r>
                <a:r>
                  <a:rPr lang="en-IN" sz="2400">
                    <a:solidFill>
                      <a:srgbClr val="111827"/>
                    </a:solidFill>
                    <a:latin typeface="Cambria Math" panose="02040503050406030204" pitchFamily="18" charset="0"/>
                  </a:rPr>
                  <a:t>$(1,0,0)$</a:t>
                </a:r>
                <a:r>
                  <a:rPr sz="2400" b="0">
                    <a:solidFill>
                      <a:srgbClr val="111827"/>
                    </a:solidFill>
                    <a:latin typeface="Arial"/>
                  </a:rPr>
                  <a:t> and </a:t>
                </a:r>
                <a:r>
                  <a:rPr lang="en-IN" sz="2400">
                    <a:solidFill>
                      <a:srgbClr val="111827"/>
                    </a:solidFill>
                    <a:latin typeface="Cambria Math" panose="02040503050406030204" pitchFamily="18" charset="0"/>
                  </a:rPr>
                  <a:t>$(3,0,0)$</a:t>
                </a:r>
                <a:r>
                  <a:rPr sz="2400" b="0">
                    <a:solidFill>
                      <a:srgbClr val="111827"/>
                    </a:solidFill>
                    <a:latin typeface="Arial"/>
                  </a:rPr>
                  <a:t> respectively. The altitude from the vertex </a:t>
                </a:r>
                <a:r>
                  <a:rPr lang="en-IN" sz="2400">
                    <a:solidFill>
                      <a:srgbClr val="111827"/>
                    </a:solidFill>
                    <a:latin typeface="Cambria Math" panose="02040503050406030204" pitchFamily="18" charset="0"/>
                  </a:rPr>
                  <a:t>$D$</a:t>
                </a:r>
                <a:r>
                  <a:rPr sz="2400" b="0">
                    <a:solidFill>
                      <a:srgbClr val="111827"/>
                    </a:solidFill>
                    <a:latin typeface="Arial"/>
                  </a:rPr>
                  <a:t> to the opposite face </a:t>
                </a:r>
                <a:r>
                  <a:rPr lang="en-IN" sz="2400">
                    <a:solidFill>
                      <a:srgbClr val="111827"/>
                    </a:solidFill>
                    <a:latin typeface="Cambria Math" panose="02040503050406030204" pitchFamily="18" charset="0"/>
                  </a:rPr>
                  <a:t>$ABC$</a:t>
                </a:r>
                <a:r>
                  <a:rPr sz="2400" b="0">
                    <a:solidFill>
                      <a:srgbClr val="111827"/>
                    </a:solidFill>
                    <a:latin typeface="Arial"/>
                  </a:rPr>
                  <a:t> meets the median line through </a:t>
                </a:r>
                <a:r>
                  <a:rPr lang="en-IN" sz="2400">
                    <a:solidFill>
                      <a:srgbClr val="111827"/>
                    </a:solidFill>
                    <a:latin typeface="Cambria Math" panose="02040503050406030204" pitchFamily="18" charset="0"/>
                  </a:rPr>
                  <a:t>$A$</a:t>
                </a:r>
                <a:r>
                  <a:rPr sz="2400" b="0">
                    <a:solidFill>
                      <a:srgbClr val="111827"/>
                    </a:solidFill>
                    <a:latin typeface="Arial"/>
                  </a:rPr>
                  <a:t> of the triangle </a:t>
                </a:r>
                <a:r>
                  <a:rPr lang="en-IN" sz="2400">
                    <a:solidFill>
                      <a:srgbClr val="111827"/>
                    </a:solidFill>
                    <a:latin typeface="Cambria Math" panose="02040503050406030204" pitchFamily="18" charset="0"/>
                  </a:rPr>
                  <a:t>$ABC$</a:t>
                </a:r>
                <a:r>
                  <a:rPr sz="2400" b="0">
                    <a:solidFill>
                      <a:srgbClr val="111827"/>
                    </a:solidFill>
                    <a:latin typeface="Arial"/>
                  </a:rPr>
                  <a:t> at a point </a:t>
                </a:r>
                <a:r>
                  <a:rPr lang="en-IN" sz="2400">
                    <a:solidFill>
                      <a:srgbClr val="111827"/>
                    </a:solidFill>
                    <a:latin typeface="Cambria Math" panose="02040503050406030204" pitchFamily="18" charset="0"/>
                  </a:rPr>
                  <a:t>$E$</a:t>
                </a:r>
                <a:r>
                  <a:rPr sz="2400" b="0">
                    <a:solidFill>
                      <a:srgbClr val="111827"/>
                    </a:solidFill>
                    <a:latin typeface="Arial"/>
                  </a:rPr>
                  <a:t>. If the length of side </a:t>
                </a:r>
                <a:r>
                  <a:rPr lang="en-IN" sz="2400">
                    <a:solidFill>
                      <a:srgbClr val="111827"/>
                    </a:solidFill>
                    <a:latin typeface="Cambria Math" panose="02040503050406030204" pitchFamily="18" charset="0"/>
                  </a:rPr>
                  <a:t>$AD$</a:t>
                </a:r>
                <a:r>
                  <a:rPr sz="2400" b="0">
                    <a:solidFill>
                      <a:srgbClr val="111827"/>
                    </a:solidFill>
                    <a:latin typeface="Arial"/>
                  </a:rPr>
                  <a:t> is </a:t>
                </a:r>
                <a:r>
                  <a:rPr lang="en-IN" sz="2400">
                    <a:solidFill>
                      <a:srgbClr val="111827"/>
                    </a:solidFill>
                    <a:latin typeface="Cambria Math" panose="02040503050406030204" pitchFamily="18" charset="0"/>
                  </a:rPr>
                  <a:t>$4$</a:t>
                </a:r>
                <a:r>
                  <a:rPr sz="2400" b="0">
                    <a:solidFill>
                      <a:srgbClr val="111827"/>
                    </a:solidFill>
                    <a:latin typeface="Arial"/>
                  </a:rPr>
                  <a:t> and the volume of the tetrahedron is </a:t>
                </a:r>
                <a:r>
                  <a:rPr lang="en-IN" sz="2400">
                    <a:solidFill>
                      <a:srgbClr val="111827"/>
                    </a:solidFill>
                    <a:latin typeface="Cambria Math" panose="02040503050406030204" pitchFamily="18" charset="0"/>
                  </a:rPr>
                  <a:t>$\frac{2\sqrt2}{3}$</a:t>
                </a:r>
                <a:r>
                  <a:rPr sz="2400" b="0">
                    <a:solidFill>
                      <a:srgbClr val="111827"/>
                    </a:solidFill>
                    <a:latin typeface="Arial"/>
                  </a:rPr>
                  <a:t>, then find all possible position vectors of the point </a:t>
                </a:r>
                <a:r>
                  <a:rPr lang="en-IN" sz="2400">
                    <a:solidFill>
                      <a:srgbClr val="111827"/>
                    </a:solidFill>
                    <a:latin typeface="Cambria Math" panose="02040503050406030204" pitchFamily="18" charset="0"/>
                  </a:rPr>
                  <a:t>$E$</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4370323"/>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Section formula and median of a triangle, Volume of a tetrahedron and altitude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volume fixes the height </a:t>
                </a:r>
                <a14:m>
                  <m:oMath xmlns:m="http://schemas.openxmlformats.org/officeDocument/2006/math">
                    <m:r>
                      <a:rPr lang="en-IN" sz="2400" i="1">
                        <a:solidFill>
                          <a:srgbClr val="78350F"/>
                        </a:solidFill>
                        <a:latin typeface="Cambria Math" panose="02040503050406030204" pitchFamily="18" charset="0"/>
                      </a:rPr>
                      <m:t>𝐷</m:t>
                    </m:r>
                    <m:r>
                      <a:rPr lang="en-IN" sz="2400" i="1">
                        <a:solidFill>
                          <a:srgbClr val="78350F"/>
                        </a:solidFill>
                        <a:latin typeface="Cambria Math" panose="02040503050406030204" pitchFamily="18" charset="0"/>
                      </a:rPr>
                      <m:t>𝐸</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so in the right triangle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𝐷</m:t>
                    </m:r>
                    <m:r>
                      <a:rPr lang="en-IN" sz="2400" i="1">
                        <a:solidFill>
                          <a:srgbClr val="78350F"/>
                        </a:solidFill>
                        <a:latin typeface="Cambria Math" panose="02040503050406030204" pitchFamily="18" charset="0"/>
                      </a:rPr>
                      <m:t>𝐸</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𝐴</m:t>
                    </m:r>
                    <m:sSup>
                      <m:e>
                        <m:r>
                          <a:rPr lang="en-IN" sz="2400" i="1">
                            <a:solidFill>
                              <a:srgbClr val="78350F"/>
                            </a:solidFill>
                            <a:latin typeface="Cambria Math" panose="02040503050406030204" pitchFamily="18" charset="0"/>
                          </a:rPr>
                          <m:t>𝐸</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16</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12</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𝐸</m:t>
                    </m:r>
                  </m:oMath>
                </a14:m>
                <a:r>
                  <a:rPr sz="2400" b="0">
                    <a:solidFill>
                      <a:srgbClr val="78350F"/>
                    </a:solidFill>
                    <a:latin typeface="Arial"/>
                  </a:rPr>
                  <a:t> is a point of line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𝐹</m:t>
                    </m:r>
                  </m:oMath>
                </a14:m>
                <a:r>
                  <a:rPr sz="2400" b="0">
                    <a:solidFill>
                      <a:srgbClr val="78350F"/>
                    </a:solidFill>
                    <a:latin typeface="Arial"/>
                  </a:rPr>
                  <a:t> at distance </a:t>
                </a:r>
                <a14:m>
                  <m:oMath xmlns:m="http://schemas.openxmlformats.org/officeDocument/2006/math">
                    <m:r>
                      <a:rPr lang="en-IN" sz="2400" i="1">
                        <a:solidFill>
                          <a:srgbClr val="78350F"/>
                        </a:solidFill>
                        <a:latin typeface="Cambria Math" panose="02040503050406030204" pitchFamily="18" charset="0"/>
                      </a:rPr>
                      <m:t>2</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oMath>
                </a14:m>
                <a:r>
                  <a:rPr sz="2400" b="0">
                    <a:solidFill>
                      <a:srgbClr val="78350F"/>
                    </a:solidFill>
                    <a:latin typeface="Arial"/>
                  </a:rPr>
                  <a:t> from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on either side.</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volume fixes the height </a:t>
                </a:r>
                <a:r>
                  <a:rPr lang="en-IN" sz="2400">
                    <a:solidFill>
                      <a:srgbClr val="78350F"/>
                    </a:solidFill>
                    <a:latin typeface="Cambria Math" panose="02040503050406030204" pitchFamily="18" charset="0"/>
                  </a:rPr>
                  <a:t>$DE=2$</a:t>
                </a:r>
                <a:r>
                  <a:rPr sz="2400" b="0">
                    <a:solidFill>
                      <a:srgbClr val="78350F"/>
                    </a:solidFill>
                    <a:latin typeface="Arial"/>
                  </a:rPr>
                  <a:t>, so in the right triangle </a:t>
                </a:r>
                <a:r>
                  <a:rPr lang="en-IN" sz="2400">
                    <a:solidFill>
                      <a:srgbClr val="78350F"/>
                    </a:solidFill>
                    <a:latin typeface="Cambria Math" panose="02040503050406030204" pitchFamily="18" charset="0"/>
                  </a:rPr>
                  <a:t>$ADE$</a:t>
                </a:r>
                <a:r>
                  <a:rPr sz="2400" b="0">
                    <a:solidFill>
                      <a:srgbClr val="78350F"/>
                    </a:solidFill>
                    <a:latin typeface="Arial"/>
                  </a:rPr>
                  <a:t>, </a:t>
                </a:r>
                <a:r>
                  <a:rPr lang="en-IN" sz="2400">
                    <a:solidFill>
                      <a:srgbClr val="78350F"/>
                    </a:solidFill>
                    <a:latin typeface="Cambria Math" panose="02040503050406030204" pitchFamily="18" charset="0"/>
                  </a:rPr>
                  <a:t>$AE^2=16-4=12$</a:t>
                </a:r>
                <a:r>
                  <a:rPr sz="2400" b="0">
                    <a:solidFill>
                      <a:srgbClr val="78350F"/>
                    </a:solidFill>
                    <a:latin typeface="Arial"/>
                  </a:rPr>
                  <a:t>; </a:t>
                </a:r>
                <a:r>
                  <a:rPr lang="en-IN" sz="2400">
                    <a:solidFill>
                      <a:srgbClr val="78350F"/>
                    </a:solidFill>
                    <a:latin typeface="Cambria Math" panose="02040503050406030204" pitchFamily="18" charset="0"/>
                  </a:rPr>
                  <a:t>$E$</a:t>
                </a:r>
                <a:r>
                  <a:rPr sz="2400" b="0">
                    <a:solidFill>
                      <a:srgbClr val="78350F"/>
                    </a:solidFill>
                    <a:latin typeface="Arial"/>
                  </a:rPr>
                  <a:t> is a point of line </a:t>
                </a:r>
                <a:r>
                  <a:rPr lang="en-IN" sz="2400">
                    <a:solidFill>
                      <a:srgbClr val="78350F"/>
                    </a:solidFill>
                    <a:latin typeface="Cambria Math" panose="02040503050406030204" pitchFamily="18" charset="0"/>
                  </a:rPr>
                  <a:t>$AF$</a:t>
                </a:r>
                <a:r>
                  <a:rPr sz="2400" b="0">
                    <a:solidFill>
                      <a:srgbClr val="78350F"/>
                    </a:solidFill>
                    <a:latin typeface="Arial"/>
                  </a:rPr>
                  <a:t> at distance </a:t>
                </a:r>
                <a:r>
                  <a:rPr lang="en-IN" sz="2400">
                    <a:solidFill>
                      <a:srgbClr val="78350F"/>
                    </a:solidFill>
                    <a:latin typeface="Cambria Math" panose="02040503050406030204" pitchFamily="18" charset="0"/>
                  </a:rPr>
                  <a:t>$2\sqrt3$</a:t>
                </a:r>
                <a:r>
                  <a:rPr sz="2400" b="0">
                    <a:solidFill>
                      <a:srgbClr val="78350F"/>
                    </a:solidFill>
                    <a:latin typeface="Arial"/>
                  </a:rPr>
                  <a:t> from </a:t>
                </a:r>
                <a:r>
                  <a:rPr lang="en-IN" sz="2400">
                    <a:solidFill>
                      <a:srgbClr val="78350F"/>
                    </a:solidFill>
                    <a:latin typeface="Cambria Math" panose="02040503050406030204" pitchFamily="18" charset="0"/>
                  </a:rPr>
                  <a:t>$A$</a:t>
                </a:r>
                <a:r>
                  <a:rPr sz="2400" b="0">
                    <a:solidFill>
                      <a:srgbClr val="78350F"/>
                    </a:solidFill>
                    <a:latin typeface="Arial"/>
                  </a:rPr>
                  <a:t>, on either side.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𝐹</m:t>
                    </m:r>
                  </m:oMath>
                </a14:m>
                <a:r>
                  <a:rPr sz="2400" b="0">
                    <a:solidFill>
                      <a:srgbClr val="111827"/>
                    </a:solidFill>
                    <a:latin typeface="Arial"/>
                  </a:rPr>
                  <a:t> is the midpoint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oMath>
                </a14:m>
                <a:r>
                  <a:rPr sz="2400" b="0">
                    <a:solidFill>
                      <a:srgbClr val="111827"/>
                    </a:solidFill>
                    <a:latin typeface="Arial"/>
                  </a:rPr>
                  <a:t>; the median through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the line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𝐹</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𝐸</m:t>
                    </m:r>
                  </m:oMath>
                </a14:m>
                <a:r>
                  <a:rPr sz="2400" b="0">
                    <a:solidFill>
                      <a:srgbClr val="111827"/>
                    </a:solidFill>
                    <a:latin typeface="Arial"/>
                  </a:rPr>
                  <a:t> is the altitude to plane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lies in that plane, so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oMath>
                </a14:m>
                <a:r>
                  <a:rPr sz="2400" b="0">
                    <a:solidFill>
                      <a:srgbClr val="111827"/>
                    </a:solidFill>
                    <a:latin typeface="Arial"/>
                  </a:rPr>
                  <a:t>. Let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divide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𝐹</m:t>
                    </m:r>
                  </m:oMath>
                </a14:m>
                <a:r>
                  <a:rPr sz="2400" b="0">
                    <a:solidFill>
                      <a:srgbClr val="111827"/>
                    </a:solidFill>
                    <a:latin typeface="Arial"/>
                  </a:rPr>
                  <a:t> in the ratio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num>
                      <m:den>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is the midpoint of </a:t>
                </a:r>
                <a:r>
                  <a:rPr lang="en-IN" sz="2400">
                    <a:solidFill>
                      <a:srgbClr val="111827"/>
                    </a:solidFill>
                    <a:latin typeface="Cambria Math" panose="02040503050406030204" pitchFamily="18" charset="0"/>
                  </a:rPr>
                  <a:t>$BC$</a:t>
                </a:r>
                <a:r>
                  <a:rPr sz="2400" b="0">
                    <a:solidFill>
                      <a:srgbClr val="111827"/>
                    </a:solidFill>
                    <a:latin typeface="Arial"/>
                  </a:rPr>
                  <a:t>, so </a:t>
                </a:r>
                <a:r>
                  <a:rPr lang="en-IN" sz="2400">
                    <a:solidFill>
                      <a:srgbClr val="111827"/>
                    </a:solidFill>
                    <a:latin typeface="Cambria Math" panose="02040503050406030204" pitchFamily="18" charset="0"/>
                  </a:rPr>
                  <a:t>$F=(2,0,0)=2\hat i$</a:t>
                </a:r>
                <a:r>
                  <a:rPr sz="2400" b="0">
                    <a:solidFill>
                      <a:srgbClr val="111827"/>
                    </a:solidFill>
                    <a:latin typeface="Arial"/>
                  </a:rPr>
                  <a:t>; the median through </a:t>
                </a:r>
                <a:r>
                  <a:rPr lang="en-IN" sz="2400">
                    <a:solidFill>
                      <a:srgbClr val="111827"/>
                    </a:solidFill>
                    <a:latin typeface="Cambria Math" panose="02040503050406030204" pitchFamily="18" charset="0"/>
                  </a:rPr>
                  <a:t>$A$</a:t>
                </a:r>
                <a:r>
                  <a:rPr sz="2400" b="0">
                    <a:solidFill>
                      <a:srgbClr val="111827"/>
                    </a:solidFill>
                    <a:latin typeface="Arial"/>
                  </a:rPr>
                  <a:t> is the line </a:t>
                </a:r>
                <a:r>
                  <a:rPr lang="en-IN" sz="2400">
                    <a:solidFill>
                      <a:srgbClr val="111827"/>
                    </a:solidFill>
                    <a:latin typeface="Cambria Math" panose="02040503050406030204" pitchFamily="18" charset="0"/>
                  </a:rPr>
                  <a:t>$AF$</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$DE$</a:t>
                </a:r>
                <a:r>
                  <a:rPr sz="2400" b="0">
                    <a:solidFill>
                      <a:srgbClr val="111827"/>
                    </a:solidFill>
                    <a:latin typeface="Arial"/>
                  </a:rPr>
                  <a:t> is the altitude to plane </a:t>
                </a:r>
                <a:r>
                  <a:rPr lang="en-IN" sz="2400">
                    <a:solidFill>
                      <a:srgbClr val="111827"/>
                    </a:solidFill>
                    <a:latin typeface="Cambria Math" panose="02040503050406030204" pitchFamily="18" charset="0"/>
                  </a:rPr>
                  <a:t>$ABC$</a:t>
                </a:r>
                <a:r>
                  <a:rPr sz="2400" b="0">
                    <a:solidFill>
                      <a:srgbClr val="111827"/>
                    </a:solidFill>
                    <a:latin typeface="Arial"/>
                  </a:rPr>
                  <a:t> and </a:t>
                </a:r>
                <a:r>
                  <a:rPr lang="en-IN" sz="2400">
                    <a:solidFill>
                      <a:srgbClr val="111827"/>
                    </a:solidFill>
                    <a:latin typeface="Cambria Math" panose="02040503050406030204" pitchFamily="18" charset="0"/>
                  </a:rPr>
                  <a:t>$E$</a:t>
                </a:r>
                <a:r>
                  <a:rPr sz="2400" b="0">
                    <a:solidFill>
                      <a:srgbClr val="111827"/>
                    </a:solidFill>
                    <a:latin typeface="Arial"/>
                  </a:rPr>
                  <a:t> lies in that plane, so </a:t>
                </a:r>
                <a:r>
                  <a:rPr lang="en-IN" sz="2400">
                    <a:solidFill>
                      <a:srgbClr val="111827"/>
                    </a:solidFill>
                    <a:latin typeface="Cambria Math" panose="02040503050406030204" pitchFamily="18" charset="0"/>
                  </a:rPr>
                  <a:t>$DE\perp AE$</a:t>
                </a:r>
                <a:r>
                  <a:rPr sz="2400" b="0">
                    <a:solidFill>
                      <a:srgbClr val="111827"/>
                    </a:solidFill>
                    <a:latin typeface="Arial"/>
                  </a:rPr>
                  <a:t>. Let </a:t>
                </a:r>
                <a:r>
                  <a:rPr lang="en-IN" sz="2400">
                    <a:solidFill>
                      <a:srgbClr val="111827"/>
                    </a:solidFill>
                    <a:latin typeface="Cambria Math" panose="02040503050406030204" pitchFamily="18" charset="0"/>
                  </a:rPr>
                  <a:t>$E$</a:t>
                </a:r>
                <a:r>
                  <a:rPr sz="2400" b="0">
                    <a:solidFill>
                      <a:srgbClr val="111827"/>
                    </a:solidFill>
                    <a:latin typeface="Arial"/>
                  </a:rPr>
                  <a:t> divide </a:t>
                </a:r>
                <a:r>
                  <a:rPr lang="en-IN" sz="2400">
                    <a:solidFill>
                      <a:srgbClr val="111827"/>
                    </a:solidFill>
                    <a:latin typeface="Cambria Math" panose="02040503050406030204" pitchFamily="18" charset="0"/>
                  </a:rPr>
                  <a:t>$AF$</a:t>
                </a:r>
                <a:r>
                  <a:rPr sz="2400" b="0">
                    <a:solidFill>
                      <a:srgbClr val="111827"/>
                    </a:solidFill>
                    <a:latin typeface="Arial"/>
                  </a:rPr>
                  <a:t> in the ratio </a:t>
                </a:r>
                <a:r>
                  <a:rPr lang="en-IN" sz="2400">
                    <a:solidFill>
                      <a:srgbClr val="111827"/>
                    </a:solidFill>
                    <a:latin typeface="Cambria Math" panose="02040503050406030204" pitchFamily="18" charset="0"/>
                  </a:rPr>
                  <a:t>$\lambda:1$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$E=\frac{2\lambda\hat i+1\left(\hat i+\hat j+\hat k\right)}{\lambda+1}=\frac{2\lambda+1}{\lambda+1}\hat i+\frac{1}{\lambda+1}\hat j+\frac{1}{\lambda+1}\hat k$</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of base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e>
                        </m:acc>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e>
                    </m: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Volume = one third of base area times height: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𝐷</m:t>
                    </m:r>
                  </m:oMath>
                </a14:m>
                <a:r>
                  <a:rPr sz="2400" b="0">
                    <a:solidFill>
                      <a:srgbClr val="111827"/>
                    </a:solidFill>
                    <a:latin typeface="Arial"/>
                  </a:rPr>
                  <a:t> is a right angle, </a:t>
                </a: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𝐷</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𝐸</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sSup>
                      <m:e>
                        <m:r>
                          <a:rPr lang="en-IN" sz="2400" i="1">
                            <a:solidFill>
                              <a:srgbClr val="111827"/>
                            </a:solidFill>
                            <a:latin typeface="Cambria Math" panose="02040503050406030204" pitchFamily="18" charset="0"/>
                          </a:rPr>
                          <m:t>𝐸</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𝐸</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𝐸</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𝐸</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Area of base </a:t>
                </a:r>
                <a:r>
                  <a:rPr lang="en-IN" sz="2400">
                    <a:solidFill>
                      <a:srgbClr val="111827"/>
                    </a:solidFill>
                    <a:latin typeface="Cambria Math" panose="02040503050406030204" pitchFamily="18" charset="0"/>
                  </a:rPr>
                  <a:t>$=\frac12\left|\overrightarrow{BC}\times\overrightarrow{BA}\right|=\frac12\left|2\hat i\times\left(\hat j+\hat k\right)\right|=\sqrt2$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Volume = one third of base area times height: </a:t>
                </a:r>
                <a:r>
                  <a:rPr lang="en-IN" sz="2400">
                    <a:solidFill>
                      <a:srgbClr val="111827"/>
                    </a:solidFill>
                    <a:latin typeface="Cambria Math" panose="02040503050406030204" pitchFamily="18" charset="0"/>
                  </a:rPr>
                  <a:t>$\frac13\sqrt2\cdot DE=\frac{2\sqrt2}{3}$</a:t>
                </a:r>
                <a:r>
                  <a:rPr sz="2400" b="0">
                    <a:solidFill>
                      <a:srgbClr val="111827"/>
                    </a:solidFill>
                    <a:latin typeface="Arial"/>
                  </a:rPr>
                  <a:t>, so </a:t>
                </a:r>
                <a:r>
                  <a:rPr lang="en-IN" sz="2400">
                    <a:solidFill>
                      <a:srgbClr val="111827"/>
                    </a:solidFill>
                    <a:latin typeface="Cambria Math" panose="02040503050406030204" pitchFamily="18" charset="0"/>
                  </a:rPr>
                  <a:t>$DE=2$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As </a:t>
                </a:r>
                <a:r>
                  <a:rPr lang="en-IN" sz="2400">
                    <a:solidFill>
                      <a:srgbClr val="111827"/>
                    </a:solidFill>
                    <a:latin typeface="Cambria Math" panose="02040503050406030204" pitchFamily="18" charset="0"/>
                  </a:rPr>
                  <a:t>$\angle AED$</a:t>
                </a:r>
                <a:r>
                  <a:rPr sz="2400" b="0">
                    <a:solidFill>
                      <a:srgbClr val="111827"/>
                    </a:solidFill>
                    <a:latin typeface="Arial"/>
                  </a:rPr>
                  <a:t> is a right angle, </a:t>
                </a:r>
                <a:r>
                  <a:rPr lang="en-IN" sz="2400">
                    <a:solidFill>
                      <a:srgbClr val="111827"/>
                    </a:solidFill>
                    <a:latin typeface="Cambria Math" panose="02040503050406030204" pitchFamily="18" charset="0"/>
                  </a:rPr>
                  <a:t>$AD^2=AE^2+DE^2$</a:t>
                </a:r>
                <a:r>
                  <a:rPr sz="2400" b="0">
                    <a:solidFill>
                      <a:srgbClr val="111827"/>
                    </a:solidFill>
                    <a:latin typeface="Arial"/>
                  </a:rPr>
                  <a:t>, so </a:t>
                </a:r>
                <a:r>
                  <a:rPr lang="en-IN" sz="2400">
                    <a:solidFill>
                      <a:srgbClr val="111827"/>
                    </a:solidFill>
                    <a:latin typeface="Cambria Math" panose="02040503050406030204" pitchFamily="18" charset="0"/>
                  </a:rPr>
                  <a:t>$AE^2=16-4=12$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$\overrightarrow{AE}=\vec E-\vec A=\frac{\lambda}{\lambda+1}\hat i-\frac{\lambda}{\lambda+1}\hat j-\frac{\lambda}{\lambda+1}\hat 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$\left|\overrightarrow{AE}\right|^2=\frac{3\lambda^2}{(\lambda+1)^2}=12$</a:t>
                </a:r>
                <a:r>
                  <a:rPr sz="2400" b="0">
                    <a:solidFill>
                      <a:srgbClr val="111827"/>
                    </a:solidFill>
                    <a:latin typeface="Arial"/>
                  </a:rPr>
                  <a:t>, so </a:t>
                </a:r>
                <a:r>
                  <a:rPr lang="en-IN" sz="2400">
                    <a:solidFill>
                      <a:srgbClr val="111827"/>
                    </a:solidFill>
                    <a:latin typeface="Cambria Math" panose="02040503050406030204" pitchFamily="18" charset="0"/>
                  </a:rPr>
                  <a:t>$\lambda^2=4(\lambda+1)^2$</a:t>
                </a:r>
                <a:r>
                  <a:rPr sz="2400" b="0">
                    <a:solidFill>
                      <a:srgbClr val="111827"/>
                    </a:solidFill>
                    <a:latin typeface="Arial"/>
                  </a:rPr>
                  <a:t>, i.e. </a:t>
                </a:r>
                <a:r>
                  <a:rPr lang="en-IN" sz="2400">
                    <a:solidFill>
                      <a:srgbClr val="111827"/>
                    </a:solidFill>
                    <a:latin typeface="Cambria Math" panose="02040503050406030204" pitchFamily="18" charset="0"/>
                  </a:rPr>
                  <a:t>$\lambda=\pm2(\lambda+1)$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Solving,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possible positions of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are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Solving, </a:t>
                </a:r>
                <a:r>
                  <a:rPr lang="en-IN" sz="2400">
                    <a:solidFill>
                      <a:srgbClr val="111827"/>
                    </a:solidFill>
                    <a:latin typeface="Cambria Math" panose="02040503050406030204" pitchFamily="18" charset="0"/>
                  </a:rPr>
                  <a:t>$\lambda=-2$</a:t>
                </a:r>
                <a:r>
                  <a:rPr sz="2400" b="0">
                    <a:solidFill>
                      <a:srgbClr val="111827"/>
                    </a:solidFill>
                    <a:latin typeface="Arial"/>
                  </a:rPr>
                  <a:t> or </a:t>
                </a:r>
                <a:r>
                  <a:rPr lang="en-IN" sz="2400">
                    <a:solidFill>
                      <a:srgbClr val="111827"/>
                    </a:solidFill>
                    <a:latin typeface="Cambria Math" panose="02040503050406030204" pitchFamily="18" charset="0"/>
                  </a:rPr>
                  <a:t>$\lambda=-\frac23$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$\lambda=-2$</a:t>
                </a:r>
                <a:r>
                  <a:rPr sz="2400" b="0">
                    <a:solidFill>
                      <a:srgbClr val="111827"/>
                    </a:solidFill>
                    <a:latin typeface="Arial"/>
                  </a:rPr>
                  <a:t>: </a:t>
                </a:r>
                <a:r>
                  <a:rPr lang="en-IN" sz="2400">
                    <a:solidFill>
                      <a:srgbClr val="111827"/>
                    </a:solidFill>
                    <a:latin typeface="Cambria Math" panose="02040503050406030204" pitchFamily="18" charset="0"/>
                  </a:rPr>
                  <a:t>$E=\frac{-3\hat i+\hat j+\hat k}{-1}=3\hat i-\hat j-\hat 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$\lambda=-\frac23$</a:t>
                </a:r>
                <a:r>
                  <a:rPr sz="2400" b="0">
                    <a:solidFill>
                      <a:srgbClr val="111827"/>
                    </a:solidFill>
                    <a:latin typeface="Arial"/>
                  </a:rPr>
                  <a:t>: </a:t>
                </a:r>
                <a:r>
                  <a:rPr lang="en-IN" sz="2400">
                    <a:solidFill>
                      <a:srgbClr val="111827"/>
                    </a:solidFill>
                    <a:latin typeface="Cambria Math" panose="02040503050406030204" pitchFamily="18" charset="0"/>
                  </a:rPr>
                  <a:t>$E=\frac{-\frac13\hat i+\hat j+\hat k}{\frac13}=-\hat i+3\hat j+3\hat 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possible positions of </a:t>
                </a:r>
                <a:r>
                  <a:rPr lang="en-IN" sz="2400">
                    <a:solidFill>
                      <a:srgbClr val="111827"/>
                    </a:solidFill>
                    <a:latin typeface="Cambria Math" panose="02040503050406030204" pitchFamily="18" charset="0"/>
                  </a:rPr>
                  <a:t>$E$</a:t>
                </a:r>
                <a:r>
                  <a:rPr sz="2400" b="0">
                    <a:solidFill>
                      <a:srgbClr val="111827"/>
                    </a:solidFill>
                    <a:latin typeface="Arial"/>
                  </a:rPr>
                  <a:t> are </a:t>
                </a:r>
                <a:r>
                  <a:rPr lang="en-IN" sz="2400">
                    <a:solidFill>
                      <a:srgbClr val="111827"/>
                    </a:solidFill>
                    <a:latin typeface="Cambria Math" panose="02040503050406030204" pitchFamily="18" charset="0"/>
                  </a:rPr>
                  <a:t>$(-1,3,3)$</a:t>
                </a:r>
                <a:r>
                  <a:rPr sz="2400" b="0">
                    <a:solidFill>
                      <a:srgbClr val="111827"/>
                    </a:solidFill>
                    <a:latin typeface="Arial"/>
                  </a:rPr>
                  <a:t> and </a:t>
                </a:r>
                <a:r>
                  <a:rPr lang="en-IN" sz="2400">
                    <a:solidFill>
                      <a:srgbClr val="111827"/>
                    </a:solidFill>
                    <a:latin typeface="Cambria Math" panose="02040503050406030204" pitchFamily="18" charset="0"/>
                  </a:rPr>
                  <a:t>$(3,-1,-1)$</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oMath>
                </a14:m>
                <a:r>
                  <a:rPr sz="2800" b="1">
                    <a:solidFill>
                      <a:srgbClr val="15803D"/>
                    </a:solidFill>
                    <a:latin typeface="Arial"/>
                  </a:rPr>
                  <a:t> and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oMath>
                </a14:m>
                <a:r>
                  <a:rPr sz="2800" b="1">
                    <a:solidFill>
                      <a:srgbClr val="15803D"/>
                    </a:solidFill>
                    <a:latin typeface="Arial"/>
                  </a:rPr>
                  <a:t>, i.e. </a:t>
                </a:r>
                <a14:m>
                  <m:oMath xmlns:m="http://schemas.openxmlformats.org/officeDocument/2006/math">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𝑖</m:t>
                        </m:r>
                      </m:e>
                    </m:acc>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𝑗</m:t>
                        </m:r>
                      </m:e>
                    </m:acc>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𝑘</m:t>
                        </m:r>
                      </m:e>
                    </m:acc>
                  </m:oMath>
                </a14:m>
                <a:r>
                  <a:rPr sz="2800" b="1">
                    <a:solidFill>
                      <a:srgbClr val="15803D"/>
                    </a:solidFill>
                    <a:latin typeface="Arial"/>
                  </a:rPr>
                  <a:t> and </a:t>
                </a:r>
                <a14:m>
                  <m:oMath xmlns:m="http://schemas.openxmlformats.org/officeDocument/2006/math">
                    <m:r>
                      <a:rPr lang="en-IN" sz="2800" i="1">
                        <a:solidFill>
                          <a:srgbClr val="15803D"/>
                        </a:solidFill>
                        <a:latin typeface="Cambria Math" panose="02040503050406030204" pitchFamily="18" charset="0"/>
                      </a:rPr>
                      <m:t>3</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𝑖</m:t>
                        </m:r>
                      </m:e>
                    </m:acc>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𝑗</m:t>
                        </m:r>
                      </m:e>
                    </m:acc>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𝑘</m:t>
                        </m:r>
                      </m:e>
                    </m:acc>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$(-1,3,3)$</a:t>
                </a:r>
                <a:r>
                  <a:rPr sz="2800" b="1">
                    <a:solidFill>
                      <a:srgbClr val="15803D"/>
                    </a:solidFill>
                    <a:latin typeface="Arial"/>
                  </a:rPr>
                  <a:t> and </a:t>
                </a:r>
                <a:r>
                  <a:rPr lang="en-IN" sz="2800">
                    <a:solidFill>
                      <a:srgbClr val="15803D"/>
                    </a:solidFill>
                    <a:latin typeface="Cambria Math" panose="02040503050406030204" pitchFamily="18" charset="0"/>
                  </a:rPr>
                  <a:t>$(3,-1,-1)$</a:t>
                </a:r>
                <a:r>
                  <a:rPr sz="2800" b="1">
                    <a:solidFill>
                      <a:srgbClr val="15803D"/>
                    </a:solidFill>
                    <a:latin typeface="Arial"/>
                  </a:rPr>
                  <a:t>, i.e. </a:t>
                </a:r>
                <a:r>
                  <a:rPr lang="en-IN" sz="2800">
                    <a:solidFill>
                      <a:srgbClr val="15803D"/>
                    </a:solidFill>
                    <a:latin typeface="Cambria Math" panose="02040503050406030204" pitchFamily="18" charset="0"/>
                  </a:rPr>
                  <a:t>$-\hat{i}+3\hat{j}+3\hat{k}$</a:t>
                </a:r>
                <a:r>
                  <a:rPr sz="2800" b="1">
                    <a:solidFill>
                      <a:srgbClr val="15803D"/>
                    </a:solidFill>
                    <a:latin typeface="Arial"/>
                  </a:rPr>
                  <a:t> and </a:t>
                </a:r>
                <a:r>
                  <a:rPr lang="en-IN" sz="2800">
                    <a:solidFill>
                      <a:srgbClr val="15803D"/>
                    </a:solidFill>
                    <a:latin typeface="Cambria Math" panose="02040503050406030204" pitchFamily="18" charset="0"/>
                  </a:rPr>
                  <a:t>$3\hat{i}-\hat{j}-\hat{k}$</a:t>
                </a:r>
                <a:endParaRPr sz="2800">
                  <a:solidFill>
                    <a:srgbClr val="15803D"/>
                  </a:solidFill>
                </a:endParaRPr>
              </a:p>
            </p:txBody>
          </p:sp>
        </mc:Fallback>
      </mc:AlternateContent>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Find </a:t>
                </a:r>
                <a14:m>
                  <m:oMath xmlns:m="http://schemas.openxmlformats.org/officeDocument/2006/math">
                    <m:r>
                      <a:rPr lang="en-IN" sz="2400" i="1">
                        <a:solidFill>
                          <a:srgbClr val="78350F"/>
                        </a:solidFill>
                        <a:latin typeface="Cambria Math" panose="02040503050406030204" pitchFamily="18" charset="0"/>
                      </a:rPr>
                      <m:t>𝐷</m:t>
                    </m:r>
                  </m:oMath>
                </a14:m>
                <a:r>
                  <a:rPr sz="2400" b="0">
                    <a:solidFill>
                      <a:srgbClr val="78350F"/>
                    </a:solidFill>
                    <a:latin typeface="Arial"/>
                  </a:rPr>
                  <a:t> first with coordinates: height </a:t>
                </a:r>
                <a14:m>
                  <m:oMath xmlns:m="http://schemas.openxmlformats.org/officeDocument/2006/math">
                    <m:r>
                      <a:rPr lang="en-IN" sz="2400" i="1">
                        <a:solidFill>
                          <a:srgbClr val="78350F"/>
                        </a:solidFill>
                        <a:latin typeface="Cambria Math" panose="02040503050406030204" pitchFamily="18" charset="0"/>
                      </a:rPr>
                      <m:t>2</m:t>
                    </m:r>
                  </m:oMath>
                </a14:m>
                <a:r>
                  <a:rPr sz="2400" b="0">
                    <a:solidFill>
                      <a:srgbClr val="78350F"/>
                    </a:solidFill>
                    <a:latin typeface="Arial"/>
                  </a:rPr>
                  <a:t> from plane </a:t>
                </a:r>
                <a14:m>
                  <m:oMath xmlns:m="http://schemas.openxmlformats.org/officeDocument/2006/math">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𝑧</m:t>
                    </m:r>
                  </m:oMath>
                </a14:m>
                <a:r>
                  <a:rPr sz="2400" b="0">
                    <a:solidFill>
                      <a:srgbClr val="78350F"/>
                    </a:solidFill>
                    <a:latin typeface="Arial"/>
                  </a:rPr>
                  <a:t>, foot on the median, and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𝐷</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give </a:t>
                </a:r>
                <a14:m>
                  <m:oMath xmlns:m="http://schemas.openxmlformats.org/officeDocument/2006/math">
                    <m:r>
                      <a:rPr lang="en-IN" sz="2400" i="1">
                        <a:solidFill>
                          <a:srgbClr val="78350F"/>
                        </a:solidFill>
                        <a:latin typeface="Cambria Math" panose="02040503050406030204" pitchFamily="18" charset="0"/>
                      </a:rPr>
                      <m:t>𝐸</m:t>
                    </m:r>
                  </m:oMath>
                </a14:m>
                <a:r>
                  <a:rPr sz="2400" b="0">
                    <a:solidFill>
                      <a:srgbClr val="78350F"/>
                    </a:solidFill>
                    <a:latin typeface="Arial"/>
                  </a:rPr>
                  <a:t> directly.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Find </a:t>
                </a:r>
                <a:r>
                  <a:rPr lang="en-IN" sz="2400">
                    <a:solidFill>
                      <a:srgbClr val="78350F"/>
                    </a:solidFill>
                    <a:latin typeface="Cambria Math" panose="02040503050406030204" pitchFamily="18" charset="0"/>
                  </a:rPr>
                  <a:t>$D$</a:t>
                </a:r>
                <a:r>
                  <a:rPr sz="2400" b="0">
                    <a:solidFill>
                      <a:srgbClr val="78350F"/>
                    </a:solidFill>
                    <a:latin typeface="Arial"/>
                  </a:rPr>
                  <a:t> first with coordinates: height </a:t>
                </a:r>
                <a:r>
                  <a:rPr lang="en-IN" sz="2400">
                    <a:solidFill>
                      <a:srgbClr val="78350F"/>
                    </a:solidFill>
                    <a:latin typeface="Cambria Math" panose="02040503050406030204" pitchFamily="18" charset="0"/>
                  </a:rPr>
                  <a:t>$2$</a:t>
                </a:r>
                <a:r>
                  <a:rPr sz="2400" b="0">
                    <a:solidFill>
                      <a:srgbClr val="78350F"/>
                    </a:solidFill>
                    <a:latin typeface="Arial"/>
                  </a:rPr>
                  <a:t> from plane </a:t>
                </a:r>
                <a:r>
                  <a:rPr lang="en-IN" sz="2400">
                    <a:solidFill>
                      <a:srgbClr val="78350F"/>
                    </a:solidFill>
                    <a:latin typeface="Cambria Math" panose="02040503050406030204" pitchFamily="18" charset="0"/>
                  </a:rPr>
                  <a:t>$y=z$</a:t>
                </a:r>
                <a:r>
                  <a:rPr sz="2400" b="0">
                    <a:solidFill>
                      <a:srgbClr val="78350F"/>
                    </a:solidFill>
                    <a:latin typeface="Arial"/>
                  </a:rPr>
                  <a:t>, foot on the median, and </a:t>
                </a:r>
                <a:r>
                  <a:rPr lang="en-IN" sz="2400">
                    <a:solidFill>
                      <a:srgbClr val="78350F"/>
                    </a:solidFill>
                    <a:latin typeface="Cambria Math" panose="02040503050406030204" pitchFamily="18" charset="0"/>
                  </a:rPr>
                  <a:t>$AD=4$</a:t>
                </a:r>
                <a:r>
                  <a:rPr sz="2400" b="0">
                    <a:solidFill>
                      <a:srgbClr val="78350F"/>
                    </a:solidFill>
                    <a:latin typeface="Arial"/>
                  </a:rPr>
                  <a:t> give </a:t>
                </a:r>
                <a:r>
                  <a:rPr lang="en-IN" sz="2400">
                    <a:solidFill>
                      <a:srgbClr val="78350F"/>
                    </a:solidFill>
                    <a:latin typeface="Cambria Math" panose="02040503050406030204" pitchFamily="18" charset="0"/>
                  </a:rPr>
                  <a:t>$E$</a:t>
                </a:r>
                <a:r>
                  <a:rPr sz="2400" b="0">
                    <a:solidFill>
                      <a:srgbClr val="78350F"/>
                    </a:solidFill>
                    <a:latin typeface="Arial"/>
                  </a:rPr>
                  <a:t> directly.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 normal to plane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plane is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 (it contains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 and volume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ℎ</m:t>
                    </m:r>
                  </m:oMath>
                </a14:m>
                <a:r>
                  <a:rPr sz="2400" b="0">
                    <a:solidFill>
                      <a:srgbClr val="111827"/>
                    </a:solidFill>
                    <a:latin typeface="Arial"/>
                  </a:rPr>
                  <a:t> give height </a:t>
                </a:r>
                <a14:m>
                  <m:oMath xmlns:m="http://schemas.openxmlformats.org/officeDocument/2006/math">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e>
                        </m: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foot of the altitude is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$\overrightarrow{BC}=(2,0,0)$</a:t>
                </a:r>
                <a:r>
                  <a:rPr sz="2400" b="0">
                    <a:solidFill>
                      <a:srgbClr val="111827"/>
                    </a:solidFill>
                    <a:latin typeface="Arial"/>
                  </a:rPr>
                  <a:t> and </a:t>
                </a:r>
                <a:r>
                  <a:rPr lang="en-IN" sz="2400">
                    <a:solidFill>
                      <a:srgbClr val="111827"/>
                    </a:solidFill>
                    <a:latin typeface="Cambria Math" panose="02040503050406030204" pitchFamily="18" charset="0"/>
                  </a:rPr>
                  <a:t>$\overrightarrow{BA}=(0,1,1)$</a:t>
                </a:r>
                <a:r>
                  <a:rPr sz="2400" b="0">
                    <a:solidFill>
                      <a:srgbClr val="111827"/>
                    </a:solidFill>
                    <a:latin typeface="Arial"/>
                  </a:rPr>
                  <a:t>, so a normal to plane </a:t>
                </a:r>
                <a:r>
                  <a:rPr lang="en-IN" sz="2400">
                    <a:solidFill>
                      <a:srgbClr val="111827"/>
                    </a:solidFill>
                    <a:latin typeface="Cambria Math" panose="02040503050406030204" pitchFamily="18" charset="0"/>
                  </a:rPr>
                  <a:t>$ABC$</a:t>
                </a:r>
                <a:r>
                  <a:rPr sz="2400" b="0">
                    <a:solidFill>
                      <a:srgbClr val="111827"/>
                    </a:solidFill>
                    <a:latin typeface="Arial"/>
                  </a:rPr>
                  <a:t> is </a:t>
                </a:r>
                <a:r>
                  <a:rPr lang="en-IN" sz="2400">
                    <a:solidFill>
                      <a:srgbClr val="111827"/>
                    </a:solidFill>
                    <a:latin typeface="Cambria Math" panose="02040503050406030204" pitchFamily="18" charset="0"/>
                  </a:rPr>
                  <a:t>$(0,1,-1)$</a:t>
                </a:r>
                <a:r>
                  <a:rPr sz="2400" b="0">
                    <a:solidFill>
                      <a:srgbClr val="111827"/>
                    </a:solidFill>
                    <a:latin typeface="Arial"/>
                  </a:rPr>
                  <a:t> and the plane is </a:t>
                </a:r>
                <a:r>
                  <a:rPr lang="en-IN" sz="2400">
                    <a:solidFill>
                      <a:srgbClr val="111827"/>
                    </a:solidFill>
                    <a:latin typeface="Cambria Math" panose="02040503050406030204" pitchFamily="18" charset="0"/>
                  </a:rPr>
                  <a:t>$y=z$</a:t>
                </a:r>
                <a:r>
                  <a:rPr sz="2400" b="0">
                    <a:solidFill>
                      <a:srgbClr val="111827"/>
                    </a:solidFill>
                    <a:latin typeface="Arial"/>
                  </a:rPr>
                  <a:t> (it contains </a:t>
                </a:r>
                <a:r>
                  <a:rPr lang="en-IN" sz="2400">
                    <a:solidFill>
                      <a:srgbClr val="111827"/>
                    </a:solidFill>
                    <a:latin typeface="Cambria Math" panose="02040503050406030204" pitchFamily="18" charset="0"/>
                  </a:rPr>
                  <a:t>$A$</a:t>
                </a:r>
                <a:r>
                  <a:rPr sz="2400" b="0">
                    <a:solidFill>
                      <a:srgbClr val="111827"/>
                    </a:solidFill>
                    <a:latin typeface="Arial"/>
                  </a:rPr>
                  <a:t>, </a:t>
                </a:r>
                <a:r>
                  <a:rPr lang="en-IN" sz="2400">
                    <a:solidFill>
                      <a:srgbClr val="111827"/>
                    </a:solidFill>
                    <a:latin typeface="Cambria Math" panose="02040503050406030204" pitchFamily="18" charset="0"/>
                  </a:rPr>
                  <a:t>$B$</a:t>
                </a:r>
                <a:r>
                  <a:rPr sz="2400" b="0">
                    <a:solidFill>
                      <a:srgbClr val="111827"/>
                    </a:solidFill>
                    <a:latin typeface="Arial"/>
                  </a:rPr>
                  <a:t>, </a:t>
                </a:r>
                <a:r>
                  <a:rPr lang="en-IN" sz="2400">
                    <a:solidFill>
                      <a:srgbClr val="111827"/>
                    </a:solidFill>
                    <a:latin typeface="Cambria Math" panose="02040503050406030204" pitchFamily="18" charset="0"/>
                  </a:rPr>
                  <a:t>$C$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t>
                </a:r>
                <a:r>
                  <a:rPr lang="en-IN" sz="2400">
                    <a:solidFill>
                      <a:srgbClr val="111827"/>
                    </a:solidFill>
                    <a:latin typeface="Cambria Math" panose="02040503050406030204" pitchFamily="18" charset="0"/>
                  </a:rPr>
                  <a:t>$ABC=\sqrt2$</a:t>
                </a:r>
                <a:r>
                  <a:rPr sz="2400" b="0">
                    <a:solidFill>
                      <a:srgbClr val="111827"/>
                    </a:solidFill>
                    <a:latin typeface="Arial"/>
                  </a:rPr>
                  <a:t> and volume </a:t>
                </a:r>
                <a:r>
                  <a:rPr lang="en-IN" sz="2400">
                    <a:solidFill>
                      <a:srgbClr val="111827"/>
                    </a:solidFill>
                    <a:latin typeface="Cambria Math" panose="02040503050406030204" pitchFamily="18" charset="0"/>
                  </a:rPr>
                  <a:t>$\frac{2\sqrt2}{3}=\frac13\sqrt2\,h$</a:t>
                </a:r>
                <a:r>
                  <a:rPr sz="2400" b="0">
                    <a:solidFill>
                      <a:srgbClr val="111827"/>
                    </a:solidFill>
                    <a:latin typeface="Arial"/>
                  </a:rPr>
                  <a:t> give height </a:t>
                </a:r>
                <a:r>
                  <a:rPr lang="en-IN" sz="2400">
                    <a:solidFill>
                      <a:srgbClr val="111827"/>
                    </a:solidFill>
                    <a:latin typeface="Cambria Math" panose="02040503050406030204" pitchFamily="18" charset="0"/>
                  </a:rPr>
                  <a:t>$h=2$</a:t>
                </a:r>
                <a:r>
                  <a:rPr sz="2400" b="0">
                    <a:solidFill>
                      <a:srgbClr val="111827"/>
                    </a:solidFill>
                    <a:latin typeface="Arial"/>
                  </a:rPr>
                  <a:t>, so </a:t>
                </a:r>
                <a:r>
                  <a:rPr lang="en-IN" sz="2400">
                    <a:solidFill>
                      <a:srgbClr val="111827"/>
                    </a:solidFill>
                    <a:latin typeface="Cambria Math" panose="02040503050406030204" pitchFamily="18" charset="0"/>
                  </a:rPr>
                  <a:t>$D=(p,q,r)$</a:t>
                </a:r>
                <a:r>
                  <a:rPr sz="2400" b="0">
                    <a:solidFill>
                      <a:srgbClr val="111827"/>
                    </a:solidFill>
                    <a:latin typeface="Arial"/>
                  </a:rPr>
                  <a:t> has </a:t>
                </a:r>
                <a:r>
                  <a:rPr lang="en-IN" sz="2400">
                    <a:solidFill>
                      <a:srgbClr val="111827"/>
                    </a:solidFill>
                    <a:latin typeface="Cambria Math" panose="02040503050406030204" pitchFamily="18" charset="0"/>
                  </a:rPr>
                  <a:t>$\frac{\left|q-r\right|}{\sqrt2}=2$</a:t>
                </a:r>
                <a:r>
                  <a:rPr sz="2400" b="0">
                    <a:solidFill>
                      <a:srgbClr val="111827"/>
                    </a:solidFill>
                    <a:latin typeface="Arial"/>
                  </a:rPr>
                  <a:t>, i.e. </a:t>
                </a:r>
                <a:r>
                  <a:rPr lang="en-IN" sz="2400">
                    <a:solidFill>
                      <a:srgbClr val="111827"/>
                    </a:solidFill>
                    <a:latin typeface="Cambria Math" panose="02040503050406030204" pitchFamily="18" charset="0"/>
                  </a:rPr>
                  <a:t>$q-r=\pm2\sqrt2$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foot of the altitude is </a:t>
                </a:r>
                <a:r>
                  <a:rPr lang="en-IN" sz="2400">
                    <a:solidFill>
                      <a:srgbClr val="111827"/>
                    </a:solidFill>
                    <a:latin typeface="Cambria Math" panose="02040503050406030204" pitchFamily="18" charset="0"/>
                  </a:rPr>
                  <a:t>$E=D-\frac{q-r}{2}(0,1,-1)=\left(p,\frac{q+r}{2},\frac{q+r}{2}\right)$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lies on line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𝐹</m:t>
                    </m:r>
                  </m:oMath>
                </a14:m>
                <a:r>
                  <a:rPr sz="2400" b="0">
                    <a:solidFill>
                      <a:srgbClr val="111827"/>
                    </a:solidFill>
                    <a:latin typeface="Arial"/>
                  </a:rPr>
                  <a:t>: points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 Put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𝐷</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agree with the first method.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a:t>
                </a:r>
                <a:r>
                  <a:rPr sz="2400" b="0">
                    <a:solidFill>
                      <a:srgbClr val="111827"/>
                    </a:solidFill>
                    <a:latin typeface="Arial"/>
                  </a:rPr>
                  <a:t> lies on line </a:t>
                </a:r>
                <a:r>
                  <a:rPr lang="en-IN" sz="2400">
                    <a:solidFill>
                      <a:srgbClr val="111827"/>
                    </a:solidFill>
                    <a:latin typeface="Cambria Math" panose="02040503050406030204" pitchFamily="18" charset="0"/>
                  </a:rPr>
                  <a:t>$AF$</a:t>
                </a:r>
                <a:r>
                  <a:rPr sz="2400" b="0">
                    <a:solidFill>
                      <a:srgbClr val="111827"/>
                    </a:solidFill>
                    <a:latin typeface="Arial"/>
                  </a:rPr>
                  <a:t>: points </a:t>
                </a:r>
                <a:r>
                  <a:rPr lang="en-IN" sz="2400">
                    <a:solidFill>
                      <a:srgbClr val="111827"/>
                    </a:solidFill>
                    <a:latin typeface="Cambria Math" panose="02040503050406030204" pitchFamily="18" charset="0"/>
                  </a:rPr>
                  <a:t>$(1+t,1-t,1-t)$</a:t>
                </a:r>
                <a:r>
                  <a:rPr sz="2400" b="0">
                    <a:solidFill>
                      <a:srgbClr val="111827"/>
                    </a:solidFill>
                    <a:latin typeface="Arial"/>
                  </a:rPr>
                  <a:t>, so </a:t>
                </a:r>
                <a:r>
                  <a:rPr lang="en-IN" sz="2400">
                    <a:solidFill>
                      <a:srgbClr val="111827"/>
                    </a:solidFill>
                    <a:latin typeface="Cambria Math" panose="02040503050406030204" pitchFamily="18" charset="0"/>
                  </a:rPr>
                  <a:t>$p-1=-\left(\frac{q+r}{2}-1\right)$</a:t>
                </a:r>
                <a:r>
                  <a:rPr sz="2400" b="0">
                    <a:solidFill>
                      <a:srgbClr val="111827"/>
                    </a:solidFill>
                    <a:latin typeface="Arial"/>
                  </a:rPr>
                  <a:t>. Put </a:t>
                </a:r>
                <a:r>
                  <a:rPr lang="en-IN" sz="2400">
                    <a:solidFill>
                      <a:srgbClr val="111827"/>
                    </a:solidFill>
                    <a:latin typeface="Cambria Math" panose="02040503050406030204" pitchFamily="18" charset="0"/>
                  </a:rPr>
                  <a:t>$m=\frac{q+r}{2}-1$</a:t>
                </a:r>
                <a:r>
                  <a:rPr sz="2400" b="0">
                    <a:solidFill>
                      <a:srgbClr val="111827"/>
                    </a:solidFill>
                    <a:latin typeface="Arial"/>
                  </a:rPr>
                  <a:t>, </a:t>
                </a:r>
                <a:r>
                  <a:rPr lang="en-IN" sz="2400">
                    <a:solidFill>
                      <a:srgbClr val="111827"/>
                    </a:solidFill>
                    <a:latin typeface="Cambria Math" panose="02040503050406030204" pitchFamily="18" charset="0"/>
                  </a:rPr>
                  <a:t>$s=\frac{q-r}{2}$</a:t>
                </a:r>
                <a:r>
                  <a:rPr sz="2400" b="0">
                    <a:solidFill>
                      <a:srgbClr val="111827"/>
                    </a:solidFill>
                    <a:latin typeface="Arial"/>
                  </a:rPr>
                  <a:t> (</a:t>
                </a:r>
                <a:r>
                  <a:rPr lang="en-IN" sz="2400">
                    <a:solidFill>
                      <a:srgbClr val="111827"/>
                    </a:solidFill>
                    <a:latin typeface="Cambria Math" panose="02040503050406030204" pitchFamily="18" charset="0"/>
                  </a:rPr>
                  <a:t>$s^2=2$</a:t>
                </a:r>
                <a:r>
                  <a:rPr sz="2400" b="0">
                    <a:solidFill>
                      <a:srgbClr val="111827"/>
                    </a:solidFill>
                    <a:latin typeface="Arial"/>
                  </a:rPr>
                  <a:t>) and </a:t>
                </a:r>
                <a:r>
                  <a:rPr lang="en-IN" sz="2400">
                    <a:solidFill>
                      <a:srgbClr val="111827"/>
                    </a:solidFill>
                    <a:latin typeface="Cambria Math" panose="02040503050406030204" pitchFamily="18" charset="0"/>
                  </a:rPr>
                  <a:t>$p-1=-m$</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$\overrightarrow{AD}=(p-1,\,m+s,\,m-s)$</a:t>
                </a:r>
                <a:r>
                  <a:rPr sz="2400" b="0">
                    <a:solidFill>
                      <a:srgbClr val="111827"/>
                    </a:solidFill>
                    <a:latin typeface="Arial"/>
                  </a:rPr>
                  <a:t>, so </a:t>
                </a:r>
                <a:r>
                  <a:rPr lang="en-IN" sz="2400">
                    <a:solidFill>
                      <a:srgbClr val="111827"/>
                    </a:solidFill>
                    <a:latin typeface="Cambria Math" panose="02040503050406030204" pitchFamily="18" charset="0"/>
                  </a:rPr>
                  <a:t>$AD^2=(p-1)^2+(m+s)^2+(m-s)^2=m^2+2m^2+2s^2=3m^2+4=16$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$m^2=4$</a:t>
                </a:r>
                <a:r>
                  <a:rPr sz="2400" b="0">
                    <a:solidFill>
                      <a:srgbClr val="111827"/>
                    </a:solidFill>
                    <a:latin typeface="Arial"/>
                  </a:rPr>
                  <a:t>, i.e. </a:t>
                </a:r>
                <a:r>
                  <a:rPr lang="en-IN" sz="2400">
                    <a:solidFill>
                      <a:srgbClr val="111827"/>
                    </a:solidFill>
                    <a:latin typeface="Cambria Math" panose="02040503050406030204" pitchFamily="18" charset="0"/>
                  </a:rPr>
                  <a:t>$m=\pm2$</a:t>
                </a:r>
                <a:r>
                  <a:rPr sz="2400" b="0">
                    <a:solidFill>
                      <a:srgbClr val="111827"/>
                    </a:solidFill>
                    <a:latin typeface="Arial"/>
                  </a:rPr>
                  <a:t> and </a:t>
                </a:r>
                <a:r>
                  <a:rPr lang="en-IN" sz="2400">
                    <a:solidFill>
                      <a:srgbClr val="111827"/>
                    </a:solidFill>
                    <a:latin typeface="Cambria Math" panose="02040503050406030204" pitchFamily="18" charset="0"/>
                  </a:rPr>
                  <a:t>$p-1=\mp2$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$E=(p,1+m,1+m)=(1-m,\,1+m,\,1+m)$</a:t>
                </a:r>
                <a:r>
                  <a:rPr sz="2400" b="0">
                    <a:solidFill>
                      <a:srgbClr val="111827"/>
                    </a:solidFill>
                    <a:latin typeface="Arial"/>
                  </a:rPr>
                  <a:t>: for </a:t>
                </a:r>
                <a:r>
                  <a:rPr lang="en-IN" sz="2400">
                    <a:solidFill>
                      <a:srgbClr val="111827"/>
                    </a:solidFill>
                    <a:latin typeface="Cambria Math" panose="02040503050406030204" pitchFamily="18" charset="0"/>
                  </a:rPr>
                  <a:t>$m=-2$</a:t>
                </a:r>
                <a:r>
                  <a:rPr sz="2400" b="0">
                    <a:solidFill>
                      <a:srgbClr val="111827"/>
                    </a:solidFill>
                    <a:latin typeface="Arial"/>
                  </a:rPr>
                  <a:t>, </a:t>
                </a:r>
                <a:r>
                  <a:rPr lang="en-IN" sz="2400">
                    <a:solidFill>
                      <a:srgbClr val="111827"/>
                    </a:solidFill>
                    <a:latin typeface="Cambria Math" panose="02040503050406030204" pitchFamily="18" charset="0"/>
                  </a:rPr>
                  <a:t>$E=(3,-1,-1)$</a:t>
                </a:r>
                <a:r>
                  <a:rPr sz="2400" b="0">
                    <a:solidFill>
                      <a:srgbClr val="111827"/>
                    </a:solidFill>
                    <a:latin typeface="Arial"/>
                  </a:rPr>
                  <a:t>; for </a:t>
                </a:r>
                <a:r>
                  <a:rPr lang="en-IN" sz="2400">
                    <a:solidFill>
                      <a:srgbClr val="111827"/>
                    </a:solidFill>
                    <a:latin typeface="Cambria Math" panose="02040503050406030204" pitchFamily="18" charset="0"/>
                  </a:rPr>
                  <a:t>$m=2$</a:t>
                </a:r>
                <a:r>
                  <a:rPr sz="2400" b="0">
                    <a:solidFill>
                      <a:srgbClr val="111827"/>
                    </a:solidFill>
                    <a:latin typeface="Arial"/>
                  </a:rPr>
                  <a:t>, </a:t>
                </a:r>
                <a:r>
                  <a:rPr lang="en-IN" sz="2400">
                    <a:solidFill>
                      <a:srgbClr val="111827"/>
                    </a:solidFill>
                    <a:latin typeface="Cambria Math" panose="02040503050406030204" pitchFamily="18" charset="0"/>
                  </a:rPr>
                  <a:t>$E=(-1,3,3)$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agree with the first method.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oMath>
                </a14:m>
                <a:r>
                  <a:rPr sz="2800" b="1">
                    <a:solidFill>
                      <a:srgbClr val="15803D"/>
                    </a:solidFill>
                    <a:latin typeface="Arial"/>
                  </a:rPr>
                  <a:t> and </a:t>
                </a:r>
                <a14:m>
                  <m:oMath xmlns:m="http://schemas.openxmlformats.org/officeDocument/2006/math">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1</m:t>
                    </m:r>
                    <m:r>
                      <m:rPr>
                        <m:sty m:val="p"/>
                      </m:rPr>
                      <a:rPr lang="en-IN" sz="2800">
                        <a:solidFill>
                          <a:srgbClr val="15803D"/>
                        </a:solidFill>
                        <a:latin typeface="Cambria Math" panose="02040503050406030204" pitchFamily="18" charset="0"/>
                      </a:rPr>
                      <m:t>)</m:t>
                    </m:r>
                  </m:oMath>
                </a14:m>
                <a:r>
                  <a:rPr sz="2800" b="1">
                    <a:solidFill>
                      <a:srgbClr val="15803D"/>
                    </a:solidFill>
                    <a:latin typeface="Arial"/>
                  </a:rPr>
                  <a:t>, i.e. </a:t>
                </a:r>
                <a14:m>
                  <m:oMath xmlns:m="http://schemas.openxmlformats.org/officeDocument/2006/math">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𝑖</m:t>
                        </m:r>
                      </m:e>
                    </m:acc>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𝑗</m:t>
                        </m:r>
                      </m:e>
                    </m:acc>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3</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𝑘</m:t>
                        </m:r>
                      </m:e>
                    </m:acc>
                  </m:oMath>
                </a14:m>
                <a:r>
                  <a:rPr sz="2800" b="1">
                    <a:solidFill>
                      <a:srgbClr val="15803D"/>
                    </a:solidFill>
                    <a:latin typeface="Arial"/>
                  </a:rPr>
                  <a:t> and </a:t>
                </a:r>
                <a14:m>
                  <m:oMath xmlns:m="http://schemas.openxmlformats.org/officeDocument/2006/math">
                    <m:r>
                      <a:rPr lang="en-IN" sz="2800" i="1">
                        <a:solidFill>
                          <a:srgbClr val="15803D"/>
                        </a:solidFill>
                        <a:latin typeface="Cambria Math" panose="02040503050406030204" pitchFamily="18" charset="0"/>
                      </a:rPr>
                      <m:t>3</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𝑖</m:t>
                        </m:r>
                      </m:e>
                    </m:acc>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𝑗</m:t>
                        </m:r>
                      </m:e>
                    </m:acc>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𝑘</m:t>
                        </m:r>
                      </m:e>
                    </m:acc>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$(-1,3,3)$</a:t>
                </a:r>
                <a:r>
                  <a:rPr sz="2800" b="1">
                    <a:solidFill>
                      <a:srgbClr val="15803D"/>
                    </a:solidFill>
                    <a:latin typeface="Arial"/>
                  </a:rPr>
                  <a:t> and </a:t>
                </a:r>
                <a:r>
                  <a:rPr lang="en-IN" sz="2800">
                    <a:solidFill>
                      <a:srgbClr val="15803D"/>
                    </a:solidFill>
                    <a:latin typeface="Cambria Math" panose="02040503050406030204" pitchFamily="18" charset="0"/>
                  </a:rPr>
                  <a:t>$(3,-1,-1)$</a:t>
                </a:r>
                <a:r>
                  <a:rPr sz="2800" b="1">
                    <a:solidFill>
                      <a:srgbClr val="15803D"/>
                    </a:solidFill>
                    <a:latin typeface="Arial"/>
                  </a:rPr>
                  <a:t>, i.e. </a:t>
                </a:r>
                <a:r>
                  <a:rPr lang="en-IN" sz="2800">
                    <a:solidFill>
                      <a:srgbClr val="15803D"/>
                    </a:solidFill>
                    <a:latin typeface="Cambria Math" panose="02040503050406030204" pitchFamily="18" charset="0"/>
                  </a:rPr>
                  <a:t>$-\hat{i}+3\hat{j}+3\hat{k}$</a:t>
                </a:r>
                <a:r>
                  <a:rPr sz="2800" b="1">
                    <a:solidFill>
                      <a:srgbClr val="15803D"/>
                    </a:solidFill>
                    <a:latin typeface="Arial"/>
                  </a:rPr>
                  <a:t> and </a:t>
                </a:r>
                <a:r>
                  <a:rPr lang="en-IN" sz="2800">
                    <a:solidFill>
                      <a:srgbClr val="15803D"/>
                    </a:solidFill>
                    <a:latin typeface="Cambria Math" panose="02040503050406030204" pitchFamily="18" charset="0"/>
                  </a:rPr>
                  <a:t>$3\hat{i}-\hat{j}-\hat{k}$</a:t>
                </a:r>
                <a:endParaRPr sz="2800">
                  <a:solidFill>
                    <a:srgbClr val="15803D"/>
                  </a:solidFill>
                </a:endParaRPr>
              </a:p>
            </p:txBody>
          </p:sp>
        </mc:Fallback>
      </mc:AlternateContent>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Volume of a tetrahedron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(base area)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(height), and also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e>
                        </m:acc>
                        <m:r>
                          <m:rPr>
                            <m:sty m:val="p"/>
                          </m:rPr>
                          <a:rPr lang="en-IN" sz="2400">
                            <a:solidFill>
                              <a:srgbClr val="111827"/>
                            </a:solidFill>
                            <a:latin typeface="Cambria Math" panose="02040503050406030204" pitchFamily="18" charset="0"/>
                          </a:rPr>
                          <m:t>]</m:t>
                        </m:r>
                      </m:e>
                    </m:d>
                  </m:oMath>
                </a14:m>
                <a:r>
                  <a:rPr sz="2400" b="0">
                    <a:solidFill>
                      <a:srgbClr val="111827"/>
                    </a:solidFill>
                    <a:latin typeface="Arial"/>
                  </a:rPr>
                  <a:t>. The altitude's foot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lies in the base plane,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𝐸</m:t>
                    </m:r>
                  </m:oMath>
                </a14:m>
                <a:r>
                  <a:rPr sz="2400" b="0">
                    <a:solidFill>
                      <a:srgbClr val="111827"/>
                    </a:solidFill>
                    <a:latin typeface="Arial"/>
                  </a:rPr>
                  <a:t> is right-angled at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point on a given line at a given distance </a:t>
                </a:r>
                <a14:m>
                  <m:oMath xmlns:m="http://schemas.openxmlformats.org/officeDocument/2006/math">
                    <m:r>
                      <a:rPr lang="en-IN" sz="2400" i="1">
                        <a:solidFill>
                          <a:srgbClr val="111827"/>
                        </a:solidFill>
                        <a:latin typeface="Cambria Math" panose="02040503050406030204" pitchFamily="18" charset="0"/>
                      </a:rPr>
                      <m:t>ℓ</m:t>
                    </m:r>
                  </m:oMath>
                </a14:m>
                <a:r>
                  <a:rPr sz="2400" b="0">
                    <a:solidFill>
                      <a:srgbClr val="111827"/>
                    </a:solidFill>
                    <a:latin typeface="Arial"/>
                  </a:rPr>
                  <a:t> from a given point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always has two solutions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ℓ</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oMath>
                </a14:m>
                <a:r>
                  <a:rPr sz="2400" b="0">
                    <a:solidFill>
                      <a:srgbClr val="111827"/>
                    </a:solidFill>
                    <a:latin typeface="Arial"/>
                  </a:rPr>
                  <a:t>; in ratio language this is the negative ratio, i.e. a point of the line outside the segment.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Volume of a tetrahedron </a:t>
                </a:r>
                <a:r>
                  <a:rPr lang="en-IN" sz="2400">
                    <a:solidFill>
                      <a:srgbClr val="111827"/>
                    </a:solidFill>
                    <a:latin typeface="Cambria Math" panose="02040503050406030204" pitchFamily="18" charset="0"/>
                  </a:rPr>
                  <a:t>$=\frac13\times$</a:t>
                </a:r>
                <a:r>
                  <a:rPr sz="2400" b="0">
                    <a:solidFill>
                      <a:srgbClr val="111827"/>
                    </a:solidFill>
                    <a:latin typeface="Arial"/>
                  </a:rPr>
                  <a:t> (base area) </a:t>
                </a:r>
                <a:r>
                  <a:rPr lang="en-IN" sz="2400">
                    <a:solidFill>
                      <a:srgbClr val="111827"/>
                    </a:solidFill>
                    <a:latin typeface="Cambria Math" panose="02040503050406030204" pitchFamily="18" charset="0"/>
                  </a:rPr>
                  <a:t>$\times$</a:t>
                </a:r>
                <a:r>
                  <a:rPr sz="2400" b="0">
                    <a:solidFill>
                      <a:srgbClr val="111827"/>
                    </a:solidFill>
                    <a:latin typeface="Arial"/>
                  </a:rPr>
                  <a:t> (height), and also </a:t>
                </a:r>
                <a:r>
                  <a:rPr lang="en-IN" sz="2400">
                    <a:solidFill>
                      <a:srgbClr val="111827"/>
                    </a:solidFill>
                    <a:latin typeface="Cambria Math" panose="02040503050406030204" pitchFamily="18" charset="0"/>
                  </a:rPr>
                  <a:t>$\frac16\left|[\overrightarrow{AB}\ \overrightarrow{AC}\ \overrightarrow{AD}]\right|$</a:t>
                </a:r>
                <a:r>
                  <a:rPr sz="2400" b="0">
                    <a:solidFill>
                      <a:srgbClr val="111827"/>
                    </a:solidFill>
                    <a:latin typeface="Arial"/>
                  </a:rPr>
                  <a:t>. The altitude's foot </a:t>
                </a:r>
                <a:r>
                  <a:rPr lang="en-IN" sz="2400">
                    <a:solidFill>
                      <a:srgbClr val="111827"/>
                    </a:solidFill>
                    <a:latin typeface="Cambria Math" panose="02040503050406030204" pitchFamily="18" charset="0"/>
                  </a:rPr>
                  <a:t>$E$</a:t>
                </a:r>
                <a:r>
                  <a:rPr sz="2400" b="0">
                    <a:solidFill>
                      <a:srgbClr val="111827"/>
                    </a:solidFill>
                    <a:latin typeface="Arial"/>
                  </a:rPr>
                  <a:t> lies in the base plane, so </a:t>
                </a:r>
                <a:r>
                  <a:rPr lang="en-IN" sz="2400">
                    <a:solidFill>
                      <a:srgbClr val="111827"/>
                    </a:solidFill>
                    <a:latin typeface="Cambria Math" panose="02040503050406030204" pitchFamily="18" charset="0"/>
                  </a:rPr>
                  <a:t>$\triangle ADE$</a:t>
                </a:r>
                <a:r>
                  <a:rPr sz="2400" b="0">
                    <a:solidFill>
                      <a:srgbClr val="111827"/>
                    </a:solidFill>
                    <a:latin typeface="Arial"/>
                  </a:rPr>
                  <a:t> is right-angled at </a:t>
                </a:r>
                <a:r>
                  <a:rPr lang="en-IN" sz="2400">
                    <a:solidFill>
                      <a:srgbClr val="111827"/>
                    </a:solidFill>
                    <a:latin typeface="Cambria Math" panose="02040503050406030204" pitchFamily="18" charset="0"/>
                  </a:rPr>
                  <a:t>$E$</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point on a given line at a given distance </a:t>
                </a:r>
                <a:r>
                  <a:rPr lang="en-IN" sz="2400">
                    <a:solidFill>
                      <a:srgbClr val="111827"/>
                    </a:solidFill>
                    <a:latin typeface="Cambria Math" panose="02040503050406030204" pitchFamily="18" charset="0"/>
                  </a:rPr>
                  <a:t>$\ell$</a:t>
                </a:r>
                <a:r>
                  <a:rPr sz="2400" b="0">
                    <a:solidFill>
                      <a:srgbClr val="111827"/>
                    </a:solidFill>
                    <a:latin typeface="Arial"/>
                  </a:rPr>
                  <a:t> from a given point </a:t>
                </a:r>
                <a:r>
                  <a:rPr lang="en-IN" sz="2400">
                    <a:solidFill>
                      <a:srgbClr val="111827"/>
                    </a:solidFill>
                    <a:latin typeface="Cambria Math" panose="02040503050406030204" pitchFamily="18" charset="0"/>
                  </a:rPr>
                  <a:t>$A$</a:t>
                </a:r>
                <a:r>
                  <a:rPr sz="2400" b="0">
                    <a:solidFill>
                      <a:srgbClr val="111827"/>
                    </a:solidFill>
                    <a:latin typeface="Arial"/>
                  </a:rPr>
                  <a:t> always has two solutions </a:t>
                </a:r>
                <a:r>
                  <a:rPr lang="en-IN" sz="2400">
                    <a:solidFill>
                      <a:srgbClr val="111827"/>
                    </a:solidFill>
                    <a:latin typeface="Cambria Math" panose="02040503050406030204" pitchFamily="18" charset="0"/>
                  </a:rPr>
                  <a:t>$A\pm\ell\hat u$</a:t>
                </a:r>
                <a:r>
                  <a:rPr sz="2400" b="0">
                    <a:solidFill>
                      <a:srgbClr val="111827"/>
                    </a:solidFill>
                    <a:latin typeface="Arial"/>
                  </a:rPr>
                  <a:t>; in ratio language this is the negative ratio, i.e. a point of the line outside the segment.</a:t>
                </a:r>
                <a:endParaRPr sz="2400">
                  <a:solidFill>
                    <a:srgbClr val="111827"/>
                  </a:solidFill>
                </a:endParaRPr>
              </a:p>
            </p:txBody>
          </p:sp>
        </mc:Fallback>
      </mc:AlternateContent>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median line through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is the line through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and the midpoint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e>
                        </m:acc>
                      </m:num>
                      <m:den>
                        <m:r>
                          <a:rPr lang="en-IN" sz="2400" i="1">
                            <a:solidFill>
                              <a:srgbClr val="111827"/>
                            </a:solidFill>
                            <a:latin typeface="Cambria Math" panose="02040503050406030204" pitchFamily="18" charset="0"/>
                          </a:rPr>
                          <m:t>2</m:t>
                        </m:r>
                      </m:den>
                    </m:f>
                  </m:oMath>
                </a14:m>
                <a:r>
                  <a:rPr sz="2400" b="0">
                    <a:solidFill>
                      <a:srgbClr val="111827"/>
                    </a:solidFill>
                    <a:latin typeface="Arial"/>
                  </a:rPr>
                  <a:t> of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the problem says 'median line', so points beyond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𝐹</m:t>
                    </m:r>
                  </m:oMath>
                </a14:m>
                <a:r>
                  <a:rPr sz="2400" b="0">
                    <a:solidFill>
                      <a:srgbClr val="111827"/>
                    </a:solidFill>
                    <a:latin typeface="Arial"/>
                  </a:rPr>
                  <a:t> are allowed.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for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𝐸</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𝐷</m:t>
                    </m:r>
                    <m:sSup>
                      <m:e>
                        <m:r>
                          <a:rPr lang="en-IN" sz="2400" i="1">
                            <a:solidFill>
                              <a:srgbClr val="111827"/>
                            </a:solidFill>
                            <a:latin typeface="Cambria Math" panose="02040503050406030204" pitchFamily="18" charset="0"/>
                          </a:rPr>
                          <m:t>𝐸</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sSup>
                      <m:e>
                        <m:r>
                          <a:rPr lang="en-IN" sz="2400" i="1">
                            <a:solidFill>
                              <a:srgbClr val="111827"/>
                            </a:solidFill>
                            <a:latin typeface="Cambria Math" panose="02040503050406030204" pitchFamily="18" charset="0"/>
                          </a:rPr>
                          <m:t>𝐷</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median line through </a:t>
                </a:r>
                <a:r>
                  <a:rPr lang="en-IN" sz="2400">
                    <a:solidFill>
                      <a:srgbClr val="111827"/>
                    </a:solidFill>
                    <a:latin typeface="Cambria Math" panose="02040503050406030204" pitchFamily="18" charset="0"/>
                  </a:rPr>
                  <a:t>$A$</a:t>
                </a:r>
                <a:r>
                  <a:rPr sz="2400" b="0">
                    <a:solidFill>
                      <a:srgbClr val="111827"/>
                    </a:solidFill>
                    <a:latin typeface="Arial"/>
                  </a:rPr>
                  <a:t> is the line through </a:t>
                </a:r>
                <a:r>
                  <a:rPr lang="en-IN" sz="2400">
                    <a:solidFill>
                      <a:srgbClr val="111827"/>
                    </a:solidFill>
                    <a:latin typeface="Cambria Math" panose="02040503050406030204" pitchFamily="18" charset="0"/>
                  </a:rPr>
                  <a:t>$A$</a:t>
                </a:r>
                <a:r>
                  <a:rPr sz="2400" b="0">
                    <a:solidFill>
                      <a:srgbClr val="111827"/>
                    </a:solidFill>
                    <a:latin typeface="Arial"/>
                  </a:rPr>
                  <a:t> and the midpoint </a:t>
                </a:r>
                <a:r>
                  <a:rPr lang="en-IN" sz="2400">
                    <a:solidFill>
                      <a:srgbClr val="111827"/>
                    </a:solidFill>
                    <a:latin typeface="Cambria Math" panose="02040503050406030204" pitchFamily="18" charset="0"/>
                  </a:rPr>
                  <a:t>$F=\frac{\vec B+\vec C}{2}$</a:t>
                </a:r>
                <a:r>
                  <a:rPr sz="2400" b="0">
                    <a:solidFill>
                      <a:srgbClr val="111827"/>
                    </a:solidFill>
                    <a:latin typeface="Arial"/>
                  </a:rPr>
                  <a:t> of </a:t>
                </a:r>
                <a:r>
                  <a:rPr lang="en-IN" sz="2400">
                    <a:solidFill>
                      <a:srgbClr val="111827"/>
                    </a:solidFill>
                    <a:latin typeface="Cambria Math" panose="02040503050406030204" pitchFamily="18" charset="0"/>
                  </a:rPr>
                  <a:t>$BC$</a:t>
                </a:r>
                <a:r>
                  <a:rPr sz="2400" b="0">
                    <a:solidFill>
                      <a:srgbClr val="111827"/>
                    </a:solidFill>
                    <a:latin typeface="Arial"/>
                  </a:rPr>
                  <a:t>; the problem says 'median line', so points beyond </a:t>
                </a:r>
                <a:r>
                  <a:rPr lang="en-IN" sz="2400">
                    <a:solidFill>
                      <a:srgbClr val="111827"/>
                    </a:solidFill>
                    <a:latin typeface="Cambria Math" panose="02040503050406030204" pitchFamily="18" charset="0"/>
                  </a:rPr>
                  <a:t>$A$</a:t>
                </a:r>
                <a:r>
                  <a:rPr sz="2400" b="0">
                    <a:solidFill>
                      <a:srgbClr val="111827"/>
                    </a:solidFill>
                    <a:latin typeface="Arial"/>
                  </a:rPr>
                  <a:t> or </a:t>
                </a:r>
                <a:r>
                  <a:rPr lang="en-IN" sz="2400">
                    <a:solidFill>
                      <a:srgbClr val="111827"/>
                    </a:solidFill>
                    <a:latin typeface="Cambria Math" panose="02040503050406030204" pitchFamily="18" charset="0"/>
                  </a:rPr>
                  <a:t>$F$</a:t>
                </a:r>
                <a:r>
                  <a:rPr sz="2400" b="0">
                    <a:solidFill>
                      <a:srgbClr val="111827"/>
                    </a:solidFill>
                    <a:latin typeface="Arial"/>
                  </a:rPr>
                  <a:t> are allowed.</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for </a:t>
                </a:r>
                <a:r>
                  <a:rPr lang="en-IN" sz="2400">
                    <a:solidFill>
                      <a:srgbClr val="111827"/>
                    </a:solidFill>
                    <a:latin typeface="Cambria Math" panose="02040503050406030204" pitchFamily="18" charset="0"/>
                  </a:rPr>
                  <a:t>$E=(3,-1,-1)$</a:t>
                </a:r>
                <a:r>
                  <a:rPr sz="2400" b="0">
                    <a:solidFill>
                      <a:srgbClr val="111827"/>
                    </a:solidFill>
                    <a:latin typeface="Arial"/>
                  </a:rPr>
                  <a:t>, </a:t>
                </a:r>
                <a:r>
                  <a:rPr lang="en-IN" sz="2400">
                    <a:solidFill>
                      <a:srgbClr val="111827"/>
                    </a:solidFill>
                    <a:latin typeface="Cambria Math" panose="02040503050406030204" pitchFamily="18" charset="0"/>
                  </a:rPr>
                  <a:t>$\left|E-A\right|^2=4+4+4=12$</a:t>
                </a:r>
                <a:r>
                  <a:rPr sz="2400" b="0">
                    <a:solidFill>
                      <a:srgbClr val="111827"/>
                    </a:solidFill>
                    <a:latin typeface="Arial"/>
                  </a:rPr>
                  <a:t> and </a:t>
                </a:r>
                <a:r>
                  <a:rPr lang="en-IN" sz="2400">
                    <a:solidFill>
                      <a:srgbClr val="111827"/>
                    </a:solidFill>
                    <a:latin typeface="Cambria Math" panose="02040503050406030204" pitchFamily="18" charset="0"/>
                  </a:rPr>
                  <a:t>$AE^2+DE^2=12+4=16=AD^2$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length of the edge of the regular tetrahedron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is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Points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𝐹</m:t>
                    </m:r>
                  </m:oMath>
                </a14:m>
                <a:r>
                  <a:rPr sz="2400" b="0">
                    <a:solidFill>
                      <a:srgbClr val="111827"/>
                    </a:solidFill>
                    <a:latin typeface="Arial"/>
                  </a:rPr>
                  <a:t> are taken on the edges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respectively such that </a:t>
                </a: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divides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𝐴</m:t>
                        </m:r>
                      </m:e>
                    </m:acc>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𝐹</m:t>
                    </m:r>
                  </m:oMath>
                </a14:m>
                <a:r>
                  <a:rPr sz="2400" b="0">
                    <a:solidFill>
                      <a:srgbClr val="111827"/>
                    </a:solidFill>
                    <a:latin typeface="Arial"/>
                  </a:rPr>
                  <a:t> divides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e>
                    </m:acc>
                  </m:oMath>
                </a14:m>
                <a:r>
                  <a:rPr sz="2400" b="0">
                    <a:solidFill>
                      <a:srgbClr val="111827"/>
                    </a:solidFill>
                    <a:latin typeface="Arial"/>
                  </a:rPr>
                  <a:t> in the ratio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each. Then find the area of triangle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𝐹</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379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The length of the edge of the regular tetrahedron </a:t>
                </a:r>
                <a:r>
                  <a:rPr lang="en-IN" sz="2400">
                    <a:solidFill>
                      <a:srgbClr val="111827"/>
                    </a:solidFill>
                    <a:latin typeface="Cambria Math" panose="02040503050406030204" pitchFamily="18" charset="0"/>
                  </a:rPr>
                  <a:t>$DABC$</a:t>
                </a:r>
                <a:r>
                  <a:rPr sz="2400" b="0">
                    <a:solidFill>
                      <a:srgbClr val="111827"/>
                    </a:solidFill>
                    <a:latin typeface="Arial"/>
                  </a:rPr>
                  <a:t> is </a:t>
                </a:r>
                <a:r>
                  <a:rPr lang="en-IN" sz="2400">
                    <a:solidFill>
                      <a:srgbClr val="111827"/>
                    </a:solidFill>
                    <a:latin typeface="Cambria Math" panose="02040503050406030204" pitchFamily="18" charset="0"/>
                  </a:rPr>
                  <a:t>$a$</a:t>
                </a:r>
                <a:r>
                  <a:rPr sz="2400" b="0">
                    <a:solidFill>
                      <a:srgbClr val="111827"/>
                    </a:solidFill>
                    <a:latin typeface="Arial"/>
                  </a:rPr>
                  <a:t>. Points </a:t>
                </a:r>
                <a:r>
                  <a:rPr lang="en-IN" sz="2400">
                    <a:solidFill>
                      <a:srgbClr val="111827"/>
                    </a:solidFill>
                    <a:latin typeface="Cambria Math" panose="02040503050406030204" pitchFamily="18" charset="0"/>
                  </a:rPr>
                  <a:t>$E$</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are taken on the edges </a:t>
                </a:r>
                <a:r>
                  <a:rPr lang="en-IN" sz="2400">
                    <a:solidFill>
                      <a:srgbClr val="111827"/>
                    </a:solidFill>
                    <a:latin typeface="Cambria Math" panose="02040503050406030204" pitchFamily="18" charset="0"/>
                  </a:rPr>
                  <a:t>$AD$</a:t>
                </a:r>
                <a:r>
                  <a:rPr sz="2400" b="0">
                    <a:solidFill>
                      <a:srgbClr val="111827"/>
                    </a:solidFill>
                    <a:latin typeface="Arial"/>
                  </a:rPr>
                  <a:t> and </a:t>
                </a:r>
                <a:r>
                  <a:rPr lang="en-IN" sz="2400">
                    <a:solidFill>
                      <a:srgbClr val="111827"/>
                    </a:solidFill>
                    <a:latin typeface="Cambria Math" panose="02040503050406030204" pitchFamily="18" charset="0"/>
                  </a:rPr>
                  <a:t>$BD$</a:t>
                </a:r>
                <a:r>
                  <a:rPr sz="2400" b="0">
                    <a:solidFill>
                      <a:srgbClr val="111827"/>
                    </a:solidFill>
                    <a:latin typeface="Arial"/>
                  </a:rPr>
                  <a:t> respectively such that </a:t>
                </a:r>
                <a:r>
                  <a:rPr lang="en-IN" sz="2400">
                    <a:solidFill>
                      <a:srgbClr val="111827"/>
                    </a:solidFill>
                    <a:latin typeface="Cambria Math" panose="02040503050406030204" pitchFamily="18" charset="0"/>
                  </a:rPr>
                  <a:t>$E$</a:t>
                </a:r>
                <a:r>
                  <a:rPr sz="2400" b="0">
                    <a:solidFill>
                      <a:srgbClr val="111827"/>
                    </a:solidFill>
                    <a:latin typeface="Arial"/>
                  </a:rPr>
                  <a:t> divides </a:t>
                </a:r>
                <a:r>
                  <a:rPr lang="en-IN" sz="2400">
                    <a:solidFill>
                      <a:srgbClr val="111827"/>
                    </a:solidFill>
                    <a:latin typeface="Cambria Math" panose="02040503050406030204" pitchFamily="18" charset="0"/>
                  </a:rPr>
                  <a:t>$\overrightarrow{DA}$</a:t>
                </a:r>
                <a:r>
                  <a:rPr sz="2400" b="0">
                    <a:solidFill>
                      <a:srgbClr val="111827"/>
                    </a:solidFill>
                    <a:latin typeface="Arial"/>
                  </a:rPr>
                  <a:t> and </a:t>
                </a:r>
                <a:r>
                  <a:rPr lang="en-IN" sz="2400">
                    <a:solidFill>
                      <a:srgbClr val="111827"/>
                    </a:solidFill>
                    <a:latin typeface="Cambria Math" panose="02040503050406030204" pitchFamily="18" charset="0"/>
                  </a:rPr>
                  <a:t>$F$</a:t>
                </a:r>
                <a:r>
                  <a:rPr sz="2400" b="0">
                    <a:solidFill>
                      <a:srgbClr val="111827"/>
                    </a:solidFill>
                    <a:latin typeface="Arial"/>
                  </a:rPr>
                  <a:t> divides </a:t>
                </a:r>
                <a:r>
                  <a:rPr lang="en-IN" sz="2400">
                    <a:solidFill>
                      <a:srgbClr val="111827"/>
                    </a:solidFill>
                    <a:latin typeface="Cambria Math" panose="02040503050406030204" pitchFamily="18" charset="0"/>
                  </a:rPr>
                  <a:t>$\overrightarrow{BD}$</a:t>
                </a:r>
                <a:r>
                  <a:rPr sz="2400" b="0">
                    <a:solidFill>
                      <a:srgbClr val="111827"/>
                    </a:solidFill>
                    <a:latin typeface="Arial"/>
                  </a:rPr>
                  <a:t> in the ratio </a:t>
                </a:r>
                <a:r>
                  <a:rPr lang="en-IN" sz="2400">
                    <a:solidFill>
                      <a:srgbClr val="111827"/>
                    </a:solidFill>
                    <a:latin typeface="Cambria Math" panose="02040503050406030204" pitchFamily="18" charset="0"/>
                  </a:rPr>
                  <a:t>$2:1$</a:t>
                </a:r>
                <a:r>
                  <a:rPr sz="2400" b="0">
                    <a:solidFill>
                      <a:srgbClr val="111827"/>
                    </a:solidFill>
                    <a:latin typeface="Arial"/>
                  </a:rPr>
                  <a:t> each. Then find the area of triangle </a:t>
                </a:r>
                <a:r>
                  <a:rPr lang="en-IN" sz="2400">
                    <a:solidFill>
                      <a:srgbClr val="111827"/>
                    </a:solidFill>
                    <a:latin typeface="Cambria Math" panose="02040503050406030204" pitchFamily="18" charset="0"/>
                  </a:rPr>
                  <a:t>$CEF$</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888739"/>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Dot product and lengths in a regular tetrahedron, Area of a triangle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Take </a:t>
                </a:r>
                <a14:m>
                  <m:oMath xmlns:m="http://schemas.openxmlformats.org/officeDocument/2006/math">
                    <m:r>
                      <a:rPr lang="en-IN" sz="2400" i="1">
                        <a:solidFill>
                          <a:srgbClr val="78350F"/>
                        </a:solidFill>
                        <a:latin typeface="Cambria Math" panose="02040503050406030204" pitchFamily="18" charset="0"/>
                      </a:rPr>
                      <m:t>𝐴</m:t>
                    </m:r>
                  </m:oMath>
                </a14:m>
                <a:r>
                  <a:rPr sz="2400" b="0">
                    <a:solidFill>
                      <a:srgbClr val="78350F"/>
                    </a:solidFill>
                    <a:latin typeface="Arial"/>
                  </a:rPr>
                  <a:t> as origin; the edge vectors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oMath>
                </a14:m>
                <a:r>
                  <a:rPr sz="2400" b="0">
                    <a:solidFill>
                      <a:srgbClr val="78350F"/>
                    </a:solidFill>
                    <a:latin typeface="Arial"/>
                  </a:rPr>
                  <a:t> have length </a:t>
                </a:r>
                <a14:m>
                  <m:oMath xmlns:m="http://schemas.openxmlformats.org/officeDocument/2006/math">
                    <m:r>
                      <a:rPr lang="en-IN" sz="2400" i="1">
                        <a:solidFill>
                          <a:srgbClr val="78350F"/>
                        </a:solidFill>
                        <a:latin typeface="Cambria Math" panose="02040503050406030204" pitchFamily="18" charset="0"/>
                      </a:rPr>
                      <m:t>𝑎</m:t>
                    </m:r>
                  </m:oMath>
                </a14:m>
                <a:r>
                  <a:rPr sz="2400" b="0">
                    <a:solidFill>
                      <a:srgbClr val="78350F"/>
                    </a:solidFill>
                    <a:latin typeface="Arial"/>
                  </a:rPr>
                  <a:t> and pairwise dot product </a:t>
                </a:r>
                <a14:m>
                  <m:oMath xmlns:m="http://schemas.openxmlformats.org/officeDocument/2006/math">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𝑎</m:t>
                            </m:r>
                          </m:e>
                          <m:sup>
                            <m:r>
                              <a:rPr lang="en-IN" sz="2400" i="1">
                                <a:solidFill>
                                  <a:srgbClr val="78350F"/>
                                </a:solidFill>
                                <a:latin typeface="Cambria Math" panose="02040503050406030204" pitchFamily="18" charset="0"/>
                              </a:rPr>
                              <m:t>2</m:t>
                            </m:r>
                          </m:sup>
                        </m:sSup>
                      </m:num>
                      <m:den>
                        <m:r>
                          <a:rPr lang="en-IN" sz="2400" i="1">
                            <a:solidFill>
                              <a:srgbClr val="78350F"/>
                            </a:solidFill>
                            <a:latin typeface="Cambria Math" panose="02040503050406030204" pitchFamily="18" charset="0"/>
                          </a:rPr>
                          <m:t>2</m:t>
                        </m:r>
                      </m:den>
                    </m:f>
                  </m:oMath>
                </a14:m>
                <a:r>
                  <a:rPr sz="2400" b="0">
                    <a:solidFill>
                      <a:srgbClr val="78350F"/>
                    </a:solidFill>
                    <a:latin typeface="Arial"/>
                  </a:rPr>
                  <a:t>, which gives all three sides of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𝐸</m:t>
                    </m:r>
                    <m:r>
                      <a:rPr lang="en-IN" sz="2400" i="1">
                        <a:solidFill>
                          <a:srgbClr val="78350F"/>
                        </a:solidFill>
                        <a:latin typeface="Cambria Math" panose="02040503050406030204" pitchFamily="18" charset="0"/>
                      </a:rPr>
                      <m:t>𝐹</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Take </a:t>
                </a:r>
                <a:r>
                  <a:rPr lang="en-IN" sz="2400">
                    <a:solidFill>
                      <a:srgbClr val="78350F"/>
                    </a:solidFill>
                    <a:latin typeface="Cambria Math" panose="02040503050406030204" pitchFamily="18" charset="0"/>
                  </a:rPr>
                  <a:t>$A$</a:t>
                </a:r>
                <a:r>
                  <a:rPr sz="2400" b="0">
                    <a:solidFill>
                      <a:srgbClr val="78350F"/>
                    </a:solidFill>
                    <a:latin typeface="Arial"/>
                  </a:rPr>
                  <a:t> as origin; the edge vectors </a:t>
                </a:r>
                <a:r>
                  <a:rPr lang="en-IN" sz="2400">
                    <a:solidFill>
                      <a:srgbClr val="78350F"/>
                    </a:solidFill>
                    <a:latin typeface="Cambria Math" panose="02040503050406030204" pitchFamily="18" charset="0"/>
                  </a:rPr>
                  <a:t>$\vec b,\vec c,\vec d$</a:t>
                </a:r>
                <a:r>
                  <a:rPr sz="2400" b="0">
                    <a:solidFill>
                      <a:srgbClr val="78350F"/>
                    </a:solidFill>
                    <a:latin typeface="Arial"/>
                  </a:rPr>
                  <a:t> have length </a:t>
                </a:r>
                <a:r>
                  <a:rPr lang="en-IN" sz="2400">
                    <a:solidFill>
                      <a:srgbClr val="78350F"/>
                    </a:solidFill>
                    <a:latin typeface="Cambria Math" panose="02040503050406030204" pitchFamily="18" charset="0"/>
                  </a:rPr>
                  <a:t>$a$</a:t>
                </a:r>
                <a:r>
                  <a:rPr sz="2400" b="0">
                    <a:solidFill>
                      <a:srgbClr val="78350F"/>
                    </a:solidFill>
                    <a:latin typeface="Arial"/>
                  </a:rPr>
                  <a:t> and pairwise dot product </a:t>
                </a:r>
                <a:r>
                  <a:rPr lang="en-IN" sz="2400">
                    <a:solidFill>
                      <a:srgbClr val="78350F"/>
                    </a:solidFill>
                    <a:latin typeface="Cambria Math" panose="02040503050406030204" pitchFamily="18" charset="0"/>
                  </a:rPr>
                  <a:t>$\frac{a^2}{2}$</a:t>
                </a:r>
                <a:r>
                  <a:rPr sz="2400" b="0">
                    <a:solidFill>
                      <a:srgbClr val="78350F"/>
                    </a:solidFill>
                    <a:latin typeface="Arial"/>
                  </a:rPr>
                  <a:t>, which gives all three sides of </a:t>
                </a:r>
                <a:r>
                  <a:rPr lang="en-IN" sz="2400">
                    <a:solidFill>
                      <a:srgbClr val="78350F"/>
                    </a:solidFill>
                    <a:latin typeface="Cambria Math" panose="02040503050406030204" pitchFamily="18" charset="0"/>
                  </a:rPr>
                  <a:t>$\triangle CEF$</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as origin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𝐶</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𝐷</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All edges equal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and every face angle is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𝐸</m:t>
                    </m:r>
                  </m:oMath>
                </a14:m>
                <a:r>
                  <a:rPr sz="2400" b="0">
                    <a:solidFill>
                      <a:srgbClr val="111827"/>
                    </a:solidFill>
                    <a:latin typeface="Arial"/>
                  </a:rPr>
                  <a:t> divides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𝐴</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𝐷</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𝐹</m:t>
                    </m:r>
                  </m:oMath>
                </a14:m>
                <a:r>
                  <a:rPr sz="2400" b="0">
                    <a:solidFill>
                      <a:srgbClr val="111827"/>
                    </a:solidFill>
                    <a:latin typeface="Arial"/>
                  </a:rPr>
                  <a:t> divides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𝐷</m:t>
                    </m:r>
                  </m:oMath>
                </a14:m>
                <a:r>
                  <a:rPr sz="2400" b="0">
                    <a:solidFill>
                      <a:srgbClr val="111827"/>
                    </a:solidFill>
                    <a:latin typeface="Arial"/>
                  </a:rPr>
                  <a:t> in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𝐹</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Also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$A$</a:t>
                </a:r>
                <a:r>
                  <a:rPr sz="2400" b="0">
                    <a:solidFill>
                      <a:srgbClr val="111827"/>
                    </a:solidFill>
                    <a:latin typeface="Arial"/>
                  </a:rPr>
                  <a:t> as origin with </a:t>
                </a:r>
                <a:r>
                  <a:rPr lang="en-IN" sz="2400">
                    <a:solidFill>
                      <a:srgbClr val="111827"/>
                    </a:solidFill>
                    <a:latin typeface="Cambria Math" panose="02040503050406030204" pitchFamily="18" charset="0"/>
                  </a:rPr>
                  <a:t>$\overrightarrow{AB}=\vec b$</a:t>
                </a:r>
                <a:r>
                  <a:rPr sz="2400" b="0">
                    <a:solidFill>
                      <a:srgbClr val="111827"/>
                    </a:solidFill>
                    <a:latin typeface="Arial"/>
                  </a:rPr>
                  <a:t>, </a:t>
                </a:r>
                <a:r>
                  <a:rPr lang="en-IN" sz="2400">
                    <a:solidFill>
                      <a:srgbClr val="111827"/>
                    </a:solidFill>
                    <a:latin typeface="Cambria Math" panose="02040503050406030204" pitchFamily="18" charset="0"/>
                  </a:rPr>
                  <a:t>$\overrightarrow{AC}=\vec c$</a:t>
                </a:r>
                <a:r>
                  <a:rPr sz="2400" b="0">
                    <a:solidFill>
                      <a:srgbClr val="111827"/>
                    </a:solidFill>
                    <a:latin typeface="Arial"/>
                  </a:rPr>
                  <a:t>, </a:t>
                </a:r>
                <a:r>
                  <a:rPr lang="en-IN" sz="2400">
                    <a:solidFill>
                      <a:srgbClr val="111827"/>
                    </a:solidFill>
                    <a:latin typeface="Cambria Math" panose="02040503050406030204" pitchFamily="18" charset="0"/>
                  </a:rPr>
                  <a:t>$\overrightarrow{AD}=\vec d$</a:t>
                </a:r>
                <a:r>
                  <a:rPr sz="2400" b="0">
                    <a:solidFill>
                      <a:srgbClr val="111827"/>
                    </a:solidFill>
                    <a:latin typeface="Arial"/>
                  </a:rPr>
                  <a:t>. All edges equal </a:t>
                </a:r>
                <a:r>
                  <a:rPr lang="en-IN" sz="2400">
                    <a:solidFill>
                      <a:srgbClr val="111827"/>
                    </a:solidFill>
                    <a:latin typeface="Cambria Math" panose="02040503050406030204" pitchFamily="18" charset="0"/>
                  </a:rPr>
                  <a:t>$a$</a:t>
                </a:r>
                <a:r>
                  <a:rPr sz="2400" b="0">
                    <a:solidFill>
                      <a:srgbClr val="111827"/>
                    </a:solidFill>
                    <a:latin typeface="Arial"/>
                  </a:rPr>
                  <a:t> and every face angle is </a:t>
                </a:r>
                <a:r>
                  <a:rPr lang="en-IN" sz="2400">
                    <a:solidFill>
                      <a:srgbClr val="111827"/>
                    </a:solidFill>
                    <a:latin typeface="Cambria Math" panose="02040503050406030204" pitchFamily="18" charset="0"/>
                  </a:rPr>
                  <a:t>$60^\circ$</a:t>
                </a:r>
                <a:r>
                  <a:rPr sz="2400" b="0">
                    <a:solidFill>
                      <a:srgbClr val="111827"/>
                    </a:solidFill>
                    <a:latin typeface="Arial"/>
                  </a:rPr>
                  <a:t>, so </a:t>
                </a:r>
                <a:r>
                  <a:rPr lang="en-IN" sz="2400">
                    <a:solidFill>
                      <a:srgbClr val="111827"/>
                    </a:solidFill>
                    <a:latin typeface="Cambria Math" panose="02040503050406030204" pitchFamily="18" charset="0"/>
                  </a:rPr>
                  <a:t>$\left|\vec b\right|=\left|\vec c\right|=\left|\vec d\right|=a$</a:t>
                </a:r>
                <a:r>
                  <a:rPr sz="2400" b="0">
                    <a:solidFill>
                      <a:srgbClr val="111827"/>
                    </a:solidFill>
                    <a:latin typeface="Arial"/>
                  </a:rPr>
                  <a:t> and </a:t>
                </a:r>
                <a:r>
                  <a:rPr lang="en-IN" sz="2400">
                    <a:solidFill>
                      <a:srgbClr val="111827"/>
                    </a:solidFill>
                    <a:latin typeface="Cambria Math" panose="02040503050406030204" pitchFamily="18" charset="0"/>
                  </a:rPr>
                  <a:t>$\vec b\cdot\vec c=\vec c\cdot\vec d=\vec b\cdot\vec d=\frac{a^2}{2}$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a:t>
                </a:r>
                <a:r>
                  <a:rPr sz="2400" b="0">
                    <a:solidFill>
                      <a:srgbClr val="111827"/>
                    </a:solidFill>
                    <a:latin typeface="Arial"/>
                  </a:rPr>
                  <a:t> divides </a:t>
                </a:r>
                <a:r>
                  <a:rPr lang="en-IN" sz="2400">
                    <a:solidFill>
                      <a:srgbClr val="111827"/>
                    </a:solidFill>
                    <a:latin typeface="Cambria Math" panose="02040503050406030204" pitchFamily="18" charset="0"/>
                  </a:rPr>
                  <a:t>$DA$</a:t>
                </a:r>
                <a:r>
                  <a:rPr sz="2400" b="0">
                    <a:solidFill>
                      <a:srgbClr val="111827"/>
                    </a:solidFill>
                    <a:latin typeface="Arial"/>
                  </a:rPr>
                  <a:t> in </a:t>
                </a:r>
                <a:r>
                  <a:rPr lang="en-IN" sz="2400">
                    <a:solidFill>
                      <a:srgbClr val="111827"/>
                    </a:solidFill>
                    <a:latin typeface="Cambria Math" panose="02040503050406030204" pitchFamily="18" charset="0"/>
                  </a:rPr>
                  <a:t>$2:1$</a:t>
                </a:r>
                <a:r>
                  <a:rPr sz="2400" b="0">
                    <a:solidFill>
                      <a:srgbClr val="111827"/>
                    </a:solidFill>
                    <a:latin typeface="Arial"/>
                  </a:rPr>
                  <a:t>, so </a:t>
                </a:r>
                <a:r>
                  <a:rPr lang="en-IN" sz="2400">
                    <a:solidFill>
                      <a:srgbClr val="111827"/>
                    </a:solidFill>
                    <a:latin typeface="Cambria Math" panose="02040503050406030204" pitchFamily="18" charset="0"/>
                  </a:rPr>
                  <a:t>$DE:EA=2:1$</a:t>
                </a:r>
                <a:r>
                  <a:rPr sz="2400" b="0">
                    <a:solidFill>
                      <a:srgbClr val="111827"/>
                    </a:solidFill>
                    <a:latin typeface="Arial"/>
                  </a:rPr>
                  <a:t> and </a:t>
                </a:r>
                <a:r>
                  <a:rPr lang="en-IN" sz="2400">
                    <a:solidFill>
                      <a:srgbClr val="111827"/>
                    </a:solidFill>
                    <a:latin typeface="Cambria Math" panose="02040503050406030204" pitchFamily="18" charset="0"/>
                  </a:rPr>
                  <a:t>$E=\frac{\vec d}{3}$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$F$</a:t>
                </a:r>
                <a:r>
                  <a:rPr sz="2400" b="0">
                    <a:solidFill>
                      <a:srgbClr val="111827"/>
                    </a:solidFill>
                    <a:latin typeface="Arial"/>
                  </a:rPr>
                  <a:t> divides </a:t>
                </a:r>
                <a:r>
                  <a:rPr lang="en-IN" sz="2400">
                    <a:solidFill>
                      <a:srgbClr val="111827"/>
                    </a:solidFill>
                    <a:latin typeface="Cambria Math" panose="02040503050406030204" pitchFamily="18" charset="0"/>
                  </a:rPr>
                  <a:t>$BD$</a:t>
                </a:r>
                <a:r>
                  <a:rPr sz="2400" b="0">
                    <a:solidFill>
                      <a:srgbClr val="111827"/>
                    </a:solidFill>
                    <a:latin typeface="Arial"/>
                  </a:rPr>
                  <a:t> in </a:t>
                </a:r>
                <a:r>
                  <a:rPr lang="en-IN" sz="2400">
                    <a:solidFill>
                      <a:srgbClr val="111827"/>
                    </a:solidFill>
                    <a:latin typeface="Cambria Math" panose="02040503050406030204" pitchFamily="18" charset="0"/>
                  </a:rPr>
                  <a:t>$2:1$</a:t>
                </a:r>
                <a:r>
                  <a:rPr sz="2400" b="0">
                    <a:solidFill>
                      <a:srgbClr val="111827"/>
                    </a:solidFill>
                    <a:latin typeface="Arial"/>
                  </a:rPr>
                  <a:t>, so </a:t>
                </a:r>
                <a:r>
                  <a:rPr lang="en-IN" sz="2400">
                    <a:solidFill>
                      <a:srgbClr val="111827"/>
                    </a:solidFill>
                    <a:latin typeface="Cambria Math" panose="02040503050406030204" pitchFamily="18" charset="0"/>
                  </a:rPr>
                  <a:t>$BF:FD=2:1$</a:t>
                </a:r>
                <a:r>
                  <a:rPr sz="2400" b="0">
                    <a:solidFill>
                      <a:srgbClr val="111827"/>
                    </a:solidFill>
                    <a:latin typeface="Arial"/>
                  </a:rPr>
                  <a:t> and </a:t>
                </a:r>
                <a:r>
                  <a:rPr lang="en-IN" sz="2400">
                    <a:solidFill>
                      <a:srgbClr val="111827"/>
                    </a:solidFill>
                    <a:latin typeface="Cambria Math" panose="02040503050406030204" pitchFamily="18" charset="0"/>
                  </a:rPr>
                  <a:t>$F=\frac{2\vec d+\vec b}{3}$</a:t>
                </a:r>
                <a:r>
                  <a:rPr sz="2400" b="0">
                    <a:solidFill>
                      <a:srgbClr val="111827"/>
                    </a:solidFill>
                    <a:latin typeface="Arial"/>
                  </a:rPr>
                  <a:t>. Also </a:t>
                </a:r>
                <a:r>
                  <a:rPr lang="en-IN" sz="2400">
                    <a:solidFill>
                      <a:srgbClr val="111827"/>
                    </a:solidFill>
                    <a:latin typeface="Cambria Math" panose="02040503050406030204" pitchFamily="18" charset="0"/>
                  </a:rPr>
                  <a:t>$C=\vec 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sSup>
                      <m:e>
                        <m:r>
                          <a:rPr lang="en-IN" sz="2400" i="1">
                            <a:solidFill>
                              <a:srgbClr val="111827"/>
                            </a:solidFill>
                            <a:latin typeface="Cambria Math" panose="02040503050406030204" pitchFamily="18" charset="0"/>
                          </a:rPr>
                          <m:t>𝐸</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sSup>
                      <m:e>
                        <m:r>
                          <a:rPr lang="en-IN" sz="2400" i="1">
                            <a:solidFill>
                              <a:srgbClr val="111827"/>
                            </a:solidFill>
                            <a:latin typeface="Cambria Math" panose="02040503050406030204" pitchFamily="18" charset="0"/>
                          </a:rPr>
                          <m:t>𝐹</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𝐹</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𝐸</m:t>
                    </m:r>
                    <m:sSup>
                      <m:e>
                        <m:r>
                          <a:rPr lang="en-IN" sz="2400" i="1">
                            <a:solidFill>
                              <a:srgbClr val="111827"/>
                            </a:solidFill>
                            <a:latin typeface="Cambria Math" panose="02040503050406030204" pitchFamily="18" charset="0"/>
                          </a:rPr>
                          <m:t>𝐹</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9</m:t>
                        </m:r>
                      </m:den>
                    </m:f>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$CE=\left|\frac{\vec d}{3}-\vec c\right|$</a:t>
                </a:r>
                <a:r>
                  <a:rPr sz="2400" b="0">
                    <a:solidFill>
                      <a:srgbClr val="111827"/>
                    </a:solidFill>
                    <a:latin typeface="Arial"/>
                  </a:rPr>
                  <a:t>: </a:t>
                </a:r>
                <a:r>
                  <a:rPr lang="en-IN" sz="2400">
                    <a:solidFill>
                      <a:srgbClr val="111827"/>
                    </a:solidFill>
                    <a:latin typeface="Cambria Math" panose="02040503050406030204" pitchFamily="18" charset="0"/>
                  </a:rPr>
                  <a:t>$CE^2=\frac{a^2}{9}+a^2-\frac23\cdot\frac{a^2}{2}=\frac{7a^2}{9}$</a:t>
                </a:r>
                <a:r>
                  <a:rPr sz="2400" b="0">
                    <a:solidFill>
                      <a:srgbClr val="111827"/>
                    </a:solidFill>
                    <a:latin typeface="Arial"/>
                  </a:rPr>
                  <a:t>, so </a:t>
                </a:r>
                <a:r>
                  <a:rPr lang="en-IN" sz="2400">
                    <a:solidFill>
                      <a:srgbClr val="111827"/>
                    </a:solidFill>
                    <a:latin typeface="Cambria Math" panose="02040503050406030204" pitchFamily="18" charset="0"/>
                  </a:rPr>
                  <a:t>$CE=\frac{\sqrt7a}{3}$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$CF=\left|\frac{2\vec d+\vec b}{3}-\vec c\right|$</a:t>
                </a:r>
                <a:r>
                  <a:rPr sz="2400" b="0">
                    <a:solidFill>
                      <a:srgbClr val="111827"/>
                    </a:solidFill>
                    <a:latin typeface="Arial"/>
                  </a:rPr>
                  <a:t>: </a:t>
                </a:r>
                <a:r>
                  <a:rPr lang="en-IN" sz="2400">
                    <a:solidFill>
                      <a:srgbClr val="111827"/>
                    </a:solidFill>
                    <a:latin typeface="Cambria Math" panose="02040503050406030204" pitchFamily="18" charset="0"/>
                  </a:rPr>
                  <a:t>$CF^2=\frac{4a^2}{9}+\frac{a^2}{9}+a^2+2\left(\frac29\cdot\frac{a^2}{2}-\frac13\cdot\frac{a^2}{2}-\frac23\cdot\frac{a^2}{2}\right)=\frac{7a^2}{9}$</a:t>
                </a:r>
                <a:r>
                  <a:rPr sz="2400" b="0">
                    <a:solidFill>
                      <a:srgbClr val="111827"/>
                    </a:solidFill>
                    <a:latin typeface="Arial"/>
                  </a:rPr>
                  <a:t>, so </a:t>
                </a:r>
                <a:r>
                  <a:rPr lang="en-IN" sz="2400">
                    <a:solidFill>
                      <a:srgbClr val="111827"/>
                    </a:solidFill>
                    <a:latin typeface="Cambria Math" panose="02040503050406030204" pitchFamily="18" charset="0"/>
                  </a:rPr>
                  <a:t>$CF=\frac{\sqrt7a}{3}$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$\overrightarrow{EF}=\frac{\vec b+\vec d}{3}$</a:t>
                </a:r>
                <a:r>
                  <a:rPr sz="2400" b="0">
                    <a:solidFill>
                      <a:srgbClr val="111827"/>
                    </a:solidFill>
                    <a:latin typeface="Arial"/>
                  </a:rPr>
                  <a:t>: </a:t>
                </a:r>
                <a:r>
                  <a:rPr lang="en-IN" sz="2400">
                    <a:solidFill>
                      <a:srgbClr val="111827"/>
                    </a:solidFill>
                    <a:latin typeface="Cambria Math" panose="02040503050406030204" pitchFamily="18" charset="0"/>
                  </a:rPr>
                  <a:t>$EF^2=\frac19\left(a^2+a^2+2\cdot\frac{a^2}{2}\right)=\frac{a^2}{3}$</a:t>
                </a:r>
                <a:r>
                  <a:rPr sz="2400" b="0">
                    <a:solidFill>
                      <a:srgbClr val="111827"/>
                    </a:solidFill>
                    <a:latin typeface="Arial"/>
                  </a:rPr>
                  <a:t>, so </a:t>
                </a:r>
                <a:r>
                  <a:rPr lang="en-IN" sz="2400">
                    <a:solidFill>
                      <a:srgbClr val="111827"/>
                    </a:solidFill>
                    <a:latin typeface="Cambria Math" panose="02040503050406030204" pitchFamily="18" charset="0"/>
                  </a:rPr>
                  <a:t>$EF=\frac{a}{\sqrt3}$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𝐹</m:t>
                    </m:r>
                  </m:oMath>
                </a14:m>
                <a:r>
                  <a:rPr sz="2400" b="0">
                    <a:solidFill>
                      <a:srgbClr val="111827"/>
                    </a:solidFill>
                    <a:latin typeface="Arial"/>
                  </a:rPr>
                  <a:t>, triangle </a:t>
                </a:r>
                <a14:m>
                  <m:oMath xmlns:m="http://schemas.openxmlformats.org/officeDocument/2006/math">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𝐹</m:t>
                    </m:r>
                  </m:oMath>
                </a14:m>
                <a:r>
                  <a:rPr sz="2400" b="0">
                    <a:solidFill>
                      <a:srgbClr val="111827"/>
                    </a:solidFill>
                    <a:latin typeface="Arial"/>
                  </a:rPr>
                  <a:t> is isosceles with base </a:t>
                </a:r>
                <a14:m>
                  <m:oMath xmlns:m="http://schemas.openxmlformats.org/officeDocument/2006/math">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𝐹</m:t>
                    </m:r>
                  </m:oMath>
                </a14:m>
                <a:r>
                  <a:rPr sz="2400" b="0">
                    <a:solidFill>
                      <a:srgbClr val="111827"/>
                    </a:solidFill>
                    <a:latin typeface="Arial"/>
                  </a:rPr>
                  <a:t> (Heron's formula reduces to this). The altitude from </a:t>
                </a:r>
                <a14:m>
                  <m:oMath xmlns:m="http://schemas.openxmlformats.org/officeDocument/2006/math">
                    <m:r>
                      <a:rPr lang="en-IN" sz="2400" i="1">
                        <a:solidFill>
                          <a:srgbClr val="111827"/>
                        </a:solidFill>
                        <a:latin typeface="Cambria Math" panose="02040503050406030204" pitchFamily="18" charset="0"/>
                      </a:rPr>
                      <m:t>𝐶</m:t>
                    </m:r>
                  </m:oMath>
                </a14:m>
                <a:r>
                  <a:rPr sz="2400" b="0">
                    <a:solidFill>
                      <a:srgbClr val="111827"/>
                    </a:solidFill>
                    <a:latin typeface="Arial"/>
                  </a:rPr>
                  <a:t> is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𝐶</m:t>
                        </m:r>
                        <m:sSup>
                          <m:e>
                            <m:r>
                              <a:rPr lang="en-IN" sz="2400" i="1">
                                <a:solidFill>
                                  <a:srgbClr val="111827"/>
                                </a:solidFill>
                                <a:latin typeface="Cambria Math" panose="02040503050406030204" pitchFamily="18" charset="0"/>
                              </a:rPr>
                              <m:t>𝐸</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𝐸</m:t>
                            </m:r>
                            <m:sSup>
                              <m:e>
                                <m:r>
                                  <a:rPr lang="en-IN" sz="2400" i="1">
                                    <a:solidFill>
                                      <a:srgbClr val="111827"/>
                                    </a:solidFill>
                                    <a:latin typeface="Cambria Math" panose="02040503050406030204" pitchFamily="18" charset="0"/>
                                  </a:rPr>
                                  <m:t>𝐹</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4</m:t>
                            </m:r>
                          </m:den>
                        </m:f>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12</m:t>
                            </m:r>
                          </m:den>
                        </m:f>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36</m:t>
                            </m:r>
                          </m:den>
                        </m:f>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𝐸</m:t>
                    </m:r>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$CE=CF$</a:t>
                </a:r>
                <a:r>
                  <a:rPr sz="2400" b="0">
                    <a:solidFill>
                      <a:srgbClr val="111827"/>
                    </a:solidFill>
                    <a:latin typeface="Arial"/>
                  </a:rPr>
                  <a:t>, triangle </a:t>
                </a:r>
                <a:r>
                  <a:rPr lang="en-IN" sz="2400">
                    <a:solidFill>
                      <a:srgbClr val="111827"/>
                    </a:solidFill>
                    <a:latin typeface="Cambria Math" panose="02040503050406030204" pitchFamily="18" charset="0"/>
                  </a:rPr>
                  <a:t>$CEF$</a:t>
                </a:r>
                <a:r>
                  <a:rPr sz="2400" b="0">
                    <a:solidFill>
                      <a:srgbClr val="111827"/>
                    </a:solidFill>
                    <a:latin typeface="Arial"/>
                  </a:rPr>
                  <a:t> is isosceles with base </a:t>
                </a:r>
                <a:r>
                  <a:rPr lang="en-IN" sz="2400">
                    <a:solidFill>
                      <a:srgbClr val="111827"/>
                    </a:solidFill>
                    <a:latin typeface="Cambria Math" panose="02040503050406030204" pitchFamily="18" charset="0"/>
                  </a:rPr>
                  <a:t>$EF$</a:t>
                </a:r>
                <a:r>
                  <a:rPr sz="2400" b="0">
                    <a:solidFill>
                      <a:srgbClr val="111827"/>
                    </a:solidFill>
                    <a:latin typeface="Arial"/>
                  </a:rPr>
                  <a:t> (Heron's formula reduces to this). The altitude from </a:t>
                </a:r>
                <a:r>
                  <a:rPr lang="en-IN" sz="2400">
                    <a:solidFill>
                      <a:srgbClr val="111827"/>
                    </a:solidFill>
                    <a:latin typeface="Cambria Math" panose="02040503050406030204" pitchFamily="18" charset="0"/>
                  </a:rPr>
                  <a:t>$C$</a:t>
                </a:r>
                <a:r>
                  <a:rPr sz="2400" b="0">
                    <a:solidFill>
                      <a:srgbClr val="111827"/>
                    </a:solidFill>
                    <a:latin typeface="Arial"/>
                  </a:rPr>
                  <a:t> is </a:t>
                </a:r>
                <a:r>
                  <a:rPr lang="en-IN" sz="2400">
                    <a:solidFill>
                      <a:srgbClr val="111827"/>
                    </a:solidFill>
                    <a:latin typeface="Cambria Math" panose="02040503050406030204" pitchFamily="18" charset="0"/>
                  </a:rPr>
                  <a:t>$\sqrt{CE^2-\frac{EF^2}{4}}=\sqrt{\frac{7a^2}{9}-\frac{a^2}{12}}=\sqrt{\frac{25a^2}{36}}=\frac{5a}{6}$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$=\frac12\cdot EF\cdot\frac{5a}{6}=\frac12\cdot\frac{a}{\sqrt3}\cdot\frac{5a}{6}=\frac{5a^2}{12\sqrt3}$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m:t>
                        </m:r>
                        <m:sSup>
                          <m:e>
                            <m:r>
                              <a:rPr lang="en-IN" sz="2800" i="1">
                                <a:solidFill>
                                  <a:srgbClr val="15803D"/>
                                </a:solidFill>
                                <a:latin typeface="Cambria Math" panose="02040503050406030204" pitchFamily="18" charset="0"/>
                              </a:rPr>
                              <m:t>𝑎</m:t>
                            </m:r>
                          </m:e>
                          <m:sup>
                            <m:r>
                              <a:rPr lang="en-IN" sz="2800" i="1">
                                <a:solidFill>
                                  <a:srgbClr val="15803D"/>
                                </a:solidFill>
                                <a:latin typeface="Cambria Math" panose="02040503050406030204" pitchFamily="18" charset="0"/>
                              </a:rPr>
                              <m:t>2</m:t>
                            </m:r>
                          </m:sup>
                        </m:sSup>
                      </m:num>
                      <m:den>
                        <m:r>
                          <a:rPr lang="en-IN" sz="2800" i="1">
                            <a:solidFill>
                              <a:srgbClr val="15803D"/>
                            </a:solidFill>
                            <a:latin typeface="Cambria Math" panose="02040503050406030204" pitchFamily="18" charset="0"/>
                          </a:rPr>
                          <m:t>12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oMath>
                </a14:m>
                <a:r>
                  <a:rPr sz="2800" b="1">
                    <a:solidFill>
                      <a:srgbClr val="15803D"/>
                    </a:solidFill>
                    <a:latin typeface="Arial"/>
                  </a:rPr>
                  <a:t> square units</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$\frac{5a^2}{12\sqrt3}$</a:t>
                </a:r>
                <a:r>
                  <a:rPr sz="2800" b="1">
                    <a:solidFill>
                      <a:srgbClr val="15803D"/>
                    </a:solidFill>
                    <a:latin typeface="Arial"/>
                  </a:rPr>
                  <a:t> square units</a:t>
                </a:r>
                <a:endParaRPr sz="2800">
                  <a:solidFill>
                    <a:srgbClr val="15803D"/>
                  </a:solidFill>
                </a:endParaRPr>
              </a:p>
            </p:txBody>
          </p:sp>
        </mc:Fallback>
      </mc:AlternateContent>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coordinates for the regular tetrahedron and compute the area as half the modulus of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𝐸</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𝐶</m:t>
                        </m:r>
                        <m:r>
                          <a:rPr lang="en-IN" sz="2400" i="1">
                            <a:solidFill>
                              <a:srgbClr val="78350F"/>
                            </a:solidFill>
                            <a:latin typeface="Cambria Math" panose="02040503050406030204" pitchFamily="18" charset="0"/>
                          </a:rPr>
                          <m:t>𝐹</m:t>
                        </m:r>
                      </m:e>
                    </m:acc>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coordinates for the regular tetrahedron and compute the area as half the modulus of </a:t>
                </a:r>
                <a:r>
                  <a:rPr lang="en-IN" sz="2400">
                    <a:solidFill>
                      <a:srgbClr val="78350F"/>
                    </a:solidFill>
                    <a:latin typeface="Cambria Math" panose="02040503050406030204" pitchFamily="18" charset="0"/>
                  </a:rPr>
                  <a:t>$\overrightarrow{CE}\times\overrightarrow{CF}$</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Place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rad>
                      </m:e>
                    </m:d>
                  </m:oMath>
                </a14:m>
                <a:r>
                  <a:rPr sz="2400" b="0">
                    <a:solidFill>
                      <a:srgbClr val="111827"/>
                    </a:solidFill>
                    <a:latin typeface="Arial"/>
                  </a:rPr>
                  <a:t>; all six edges equal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𝐷</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9</m:t>
                            </m:r>
                          </m:den>
                        </m:f>
                      </m:e>
                    </m:d>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𝐹</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𝐷</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9</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9</m:t>
                            </m:r>
                          </m:den>
                        </m:f>
                      </m:e>
                    </m:d>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𝐹</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18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9</m:t>
                            </m:r>
                          </m:den>
                        </m:f>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Place </a:t>
                </a:r>
                <a:r>
                  <a:rPr lang="en-IN" sz="2400">
                    <a:solidFill>
                      <a:srgbClr val="111827"/>
                    </a:solidFill>
                    <a:latin typeface="Cambria Math" panose="02040503050406030204" pitchFamily="18" charset="0"/>
                  </a:rPr>
                  <a:t>$A=(0,0,0)$</a:t>
                </a:r>
                <a:r>
                  <a:rPr sz="2400" b="0">
                    <a:solidFill>
                      <a:srgbClr val="111827"/>
                    </a:solidFill>
                    <a:latin typeface="Arial"/>
                  </a:rPr>
                  <a:t>, </a:t>
                </a:r>
                <a:r>
                  <a:rPr lang="en-IN" sz="2400">
                    <a:solidFill>
                      <a:srgbClr val="111827"/>
                    </a:solidFill>
                    <a:latin typeface="Cambria Math" panose="02040503050406030204" pitchFamily="18" charset="0"/>
                  </a:rPr>
                  <a:t>$B=(a,0,0)$</a:t>
                </a:r>
                <a:r>
                  <a:rPr sz="2400" b="0">
                    <a:solidFill>
                      <a:srgbClr val="111827"/>
                    </a:solidFill>
                    <a:latin typeface="Arial"/>
                  </a:rPr>
                  <a:t>, </a:t>
                </a:r>
                <a:r>
                  <a:rPr lang="en-IN" sz="2400">
                    <a:solidFill>
                      <a:srgbClr val="111827"/>
                    </a:solidFill>
                    <a:latin typeface="Cambria Math" panose="02040503050406030204" pitchFamily="18" charset="0"/>
                  </a:rPr>
                  <a:t>$C=\left(\frac a2,\frac{\sqrt3a}{2},0\right)$</a:t>
                </a:r>
                <a:r>
                  <a:rPr sz="2400" b="0">
                    <a:solidFill>
                      <a:srgbClr val="111827"/>
                    </a:solidFill>
                    <a:latin typeface="Arial"/>
                  </a:rPr>
                  <a:t>, </a:t>
                </a:r>
                <a:r>
                  <a:rPr lang="en-IN" sz="2400">
                    <a:solidFill>
                      <a:srgbClr val="111827"/>
                    </a:solidFill>
                    <a:latin typeface="Cambria Math" panose="02040503050406030204" pitchFamily="18" charset="0"/>
                  </a:rPr>
                  <a:t>$D=\left(\frac a2,\frac{a}{2\sqrt3},a\sqrt{\frac23}\right)$</a:t>
                </a:r>
                <a:r>
                  <a:rPr sz="2400" b="0">
                    <a:solidFill>
                      <a:srgbClr val="111827"/>
                    </a:solidFill>
                    <a:latin typeface="Arial"/>
                  </a:rPr>
                  <a:t>; all six edges equal </a:t>
                </a:r>
                <a:r>
                  <a:rPr lang="en-IN" sz="2400">
                    <a:solidFill>
                      <a:srgbClr val="111827"/>
                    </a:solidFill>
                    <a:latin typeface="Cambria Math" panose="02040503050406030204" pitchFamily="18" charset="0"/>
                  </a:rPr>
                  <a: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$E=\frac D3=\left(\frac a6,\frac{\sqrt3a}{18},\frac{\sqrt6a}{9}\right)$</a:t>
                </a:r>
                <a:r>
                  <a:rPr sz="2400" b="0">
                    <a:solidFill>
                      <a:srgbClr val="111827"/>
                    </a:solidFill>
                    <a:latin typeface="Arial"/>
                  </a:rPr>
                  <a:t> and </a:t>
                </a:r>
                <a:r>
                  <a:rPr lang="en-IN" sz="2400">
                    <a:solidFill>
                      <a:srgbClr val="111827"/>
                    </a:solidFill>
                    <a:latin typeface="Cambria Math" panose="02040503050406030204" pitchFamily="18" charset="0"/>
                  </a:rPr>
                  <a:t>$F=\frac{2D+B}{3}=\left(\frac{2a}{3},\frac{\sqrt3a}{9},\frac{2\sqrt6a}{9}\right)$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$\overrightarrow{CE}=\left(-\frac a3,-\frac{4\sqrt3a}{9},\frac{\sqrt6a}{9}\right)$</a:t>
                </a:r>
                <a:r>
                  <a:rPr sz="2400" b="0">
                    <a:solidFill>
                      <a:srgbClr val="111827"/>
                    </a:solidFill>
                    <a:latin typeface="Arial"/>
                  </a:rPr>
                  <a:t> and </a:t>
                </a:r>
                <a:r>
                  <a:rPr lang="en-IN" sz="2400">
                    <a:solidFill>
                      <a:srgbClr val="111827"/>
                    </a:solidFill>
                    <a:latin typeface="Cambria Math" panose="02040503050406030204" pitchFamily="18" charset="0"/>
                  </a:rPr>
                  <a:t>$\overrightarrow{CF}=\left(\frac a6,-\frac{7\sqrt3a}{18},\frac{2\sqrt6a}{9}\right)$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𝐹</m:t>
                        </m:r>
                      </m:e>
                    </m:acc>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6</m:t>
                                </m:r>
                              </m:e>
                            </m:rad>
                          </m:num>
                          <m:den>
                            <m:r>
                              <a:rPr lang="en-IN" sz="2400" i="1">
                                <a:solidFill>
                                  <a:srgbClr val="111827"/>
                                </a:solidFill>
                                <a:latin typeface="Cambria Math" panose="02040503050406030204" pitchFamily="18" charset="0"/>
                              </a:rPr>
                              <m:t>54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54</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Its squared length is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4</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150</m:t>
                            </m:r>
                          </m:num>
                          <m:den>
                            <m:r>
                              <a:rPr lang="en-IN" sz="2400" i="1">
                                <a:solidFill>
                                  <a:srgbClr val="111827"/>
                                </a:solidFill>
                                <a:latin typeface="Cambria Math" panose="02040503050406030204" pitchFamily="18" charset="0"/>
                              </a:rPr>
                              <m:t>2916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363</m:t>
                            </m:r>
                          </m:num>
                          <m:den>
                            <m:r>
                              <a:rPr lang="en-IN" sz="2400" i="1">
                                <a:solidFill>
                                  <a:srgbClr val="111827"/>
                                </a:solidFill>
                                <a:latin typeface="Cambria Math" panose="02040503050406030204" pitchFamily="18" charset="0"/>
                              </a:rPr>
                              <m:t>2916</m:t>
                            </m:r>
                          </m:den>
                        </m:f>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4</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675</m:t>
                        </m:r>
                      </m:num>
                      <m:den>
                        <m:r>
                          <a:rPr lang="en-IN" sz="2400" i="1">
                            <a:solidFill>
                              <a:srgbClr val="111827"/>
                            </a:solidFill>
                            <a:latin typeface="Cambria Math" panose="02040503050406030204" pitchFamily="18" charset="0"/>
                          </a:rPr>
                          <m:t>2916</m:t>
                        </m:r>
                      </m:den>
                    </m:f>
                  </m:oMath>
                </a14:m>
                <a:r>
                  <a:rPr sz="2400" b="0">
                    <a:solidFill>
                      <a:srgbClr val="111827"/>
                    </a:solidFill>
                    <a:latin typeface="Arial"/>
                  </a:rPr>
                  <a:t>, 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𝐹</m:t>
                            </m:r>
                          </m:e>
                        </m:acc>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54</m:t>
                        </m:r>
                      </m:den>
                    </m:f>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18</m:t>
                        </m:r>
                      </m:den>
                    </m:f>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18</m:t>
                        </m:r>
                      </m:den>
                    </m:f>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12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$\overrightarrow{CE}\times\overrightarrow{CF}=a^2\left(-\frac{\sqrt2}{6},\ \frac{5\sqrt6}{54},\ \frac{11\sqrt3}{54}\right)$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Its squared length is </a:t>
                </a:r>
                <a:r>
                  <a:rPr lang="en-IN" sz="2400">
                    <a:solidFill>
                      <a:srgbClr val="111827"/>
                    </a:solidFill>
                    <a:latin typeface="Cambria Math" panose="02040503050406030204" pitchFamily="18" charset="0"/>
                  </a:rPr>
                  <a:t>$a^4\left(\frac{2}{36}+\frac{150}{2916}+\frac{363}{2916}\right)=a^4\cdot\frac{675}{2916}$</a:t>
                </a:r>
                <a:r>
                  <a:rPr sz="2400" b="0">
                    <a:solidFill>
                      <a:srgbClr val="111827"/>
                    </a:solidFill>
                    <a:latin typeface="Arial"/>
                  </a:rPr>
                  <a:t>, so </a:t>
                </a:r>
                <a:r>
                  <a:rPr lang="en-IN" sz="2400">
                    <a:solidFill>
                      <a:srgbClr val="111827"/>
                    </a:solidFill>
                    <a:latin typeface="Cambria Math" panose="02040503050406030204" pitchFamily="18" charset="0"/>
                  </a:rPr>
                  <a:t>$\left|\overrightarrow{CE}\times\overrightarrow{CF}\right|=\frac{15\sqrt3}{54}a^2=\frac{5\sqrt3}{18}a^2$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a:t>
                </a:r>
                <a:r>
                  <a:rPr lang="en-IN" sz="2400">
                    <a:solidFill>
                      <a:srgbClr val="111827"/>
                    </a:solidFill>
                    <a:latin typeface="Cambria Math" panose="02040503050406030204" pitchFamily="18" charset="0"/>
                  </a:rPr>
                  <a:t>$=\frac12\cdot\frac{5\sqrt3}{18}a^2=\frac{5\sqrt3a^2}{36}=\frac{5a^2}{12\sqrt3}$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5</m:t>
                        </m:r>
                        <m:sSup>
                          <m:e>
                            <m:r>
                              <a:rPr lang="en-IN" sz="2800" i="1">
                                <a:solidFill>
                                  <a:srgbClr val="15803D"/>
                                </a:solidFill>
                                <a:latin typeface="Cambria Math" panose="02040503050406030204" pitchFamily="18" charset="0"/>
                              </a:rPr>
                              <m:t>𝑎</m:t>
                            </m:r>
                          </m:e>
                          <m:sup>
                            <m:r>
                              <a:rPr lang="en-IN" sz="2800" i="1">
                                <a:solidFill>
                                  <a:srgbClr val="15803D"/>
                                </a:solidFill>
                                <a:latin typeface="Cambria Math" panose="02040503050406030204" pitchFamily="18" charset="0"/>
                              </a:rPr>
                              <m:t>2</m:t>
                            </m:r>
                          </m:sup>
                        </m:sSup>
                      </m:num>
                      <m:den>
                        <m:r>
                          <a:rPr lang="en-IN" sz="2800" i="1">
                            <a:solidFill>
                              <a:srgbClr val="15803D"/>
                            </a:solidFill>
                            <a:latin typeface="Cambria Math" panose="02040503050406030204" pitchFamily="18" charset="0"/>
                          </a:rPr>
                          <m:t>12</m:t>
                        </m:r>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oMath>
                </a14:m>
                <a:r>
                  <a:rPr sz="2800" b="1">
                    <a:solidFill>
                      <a:srgbClr val="15803D"/>
                    </a:solidFill>
                    <a:latin typeface="Arial"/>
                  </a:rPr>
                  <a:t> square units</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$\frac{5a^2}{12\sqrt3}$</a:t>
                </a:r>
                <a:r>
                  <a:rPr sz="2800" b="1">
                    <a:solidFill>
                      <a:srgbClr val="15803D"/>
                    </a:solidFill>
                    <a:latin typeface="Arial"/>
                  </a:rPr>
                  <a:t> square units</a:t>
                </a:r>
                <a:endParaRPr sz="2800">
                  <a:solidFill>
                    <a:srgbClr val="15803D"/>
                  </a:solidFill>
                </a:endParaRPr>
              </a:p>
            </p:txBody>
          </p:sp>
        </mc:Fallback>
      </mc:AlternateContent>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regular tetrahedron with a vertex as origin, the three edge vectors from it satisfy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 every length is then </a:t>
                </a: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𝑝</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𝑝</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𝑞</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a:rPr lang="en-IN" sz="2400" i="1">
                            <a:solidFill>
                              <a:srgbClr val="111827"/>
                            </a:solidFill>
                            <a:latin typeface="Cambria Math" panose="02040503050406030204" pitchFamily="18" charset="0"/>
                          </a:rPr>
                          <m:t>𝑝</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 triangle with sides given by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oMath>
                </a14:m>
                <a:r>
                  <a:rPr sz="2400" b="0">
                    <a:solidFill>
                      <a:srgbClr val="111827"/>
                    </a:solidFill>
                    <a:latin typeface="Arial"/>
                  </a:rPr>
                  <a:t> from a vertex: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ad>
                      <m:radPr>
                        <m:degHide m:val="on"/>
                        <m:ctrlPr>
                          <a:rPr lang="en-IN" sz="2400" i="1">
                            <a:solidFill>
                              <a:srgbClr val="111827"/>
                            </a:solidFill>
                            <a:latin typeface="Cambria Math" panose="02040503050406030204" pitchFamily="18" charset="0"/>
                          </a:rPr>
                        </m:ctrlPr>
                      </m:radPr>
                      <m:deg/>
                      <m:e>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e>
                            </m:d>
                          </m:e>
                          <m:sup>
                            <m:r>
                              <a:rPr lang="en-IN" sz="2400" i="1">
                                <a:solidFill>
                                  <a:srgbClr val="111827"/>
                                </a:solidFill>
                                <a:latin typeface="Cambria Math" panose="02040503050406030204" pitchFamily="18" charset="0"/>
                              </a:rPr>
                              <m:t>2</m:t>
                            </m:r>
                          </m:sup>
                        </m:sSup>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(Lagrange identity), avoiding Heron.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regular tetrahedron with a vertex as origin, the three edge vectors from it satisfy </a:t>
                </a:r>
                <a:r>
                  <a:rPr lang="en-IN" sz="2400">
                    <a:solidFill>
                      <a:srgbClr val="111827"/>
                    </a:solidFill>
                    <a:latin typeface="Cambria Math" panose="02040503050406030204" pitchFamily="18" charset="0"/>
                  </a:rPr>
                  <a:t>$\left|\vec u\right|=a$</a:t>
                </a:r>
                <a:r>
                  <a:rPr sz="2400" b="0">
                    <a:solidFill>
                      <a:srgbClr val="111827"/>
                    </a:solidFill>
                    <a:latin typeface="Arial"/>
                  </a:rPr>
                  <a:t> and </a:t>
                </a:r>
                <a:r>
                  <a:rPr lang="en-IN" sz="2400">
                    <a:solidFill>
                      <a:srgbClr val="111827"/>
                    </a:solidFill>
                    <a:latin typeface="Cambria Math" panose="02040503050406030204" pitchFamily="18" charset="0"/>
                  </a:rPr>
                  <a:t>$\vec u\cdot\vec v=\frac{a^2}{2}$</a:t>
                </a:r>
                <a:r>
                  <a:rPr sz="2400" b="0">
                    <a:solidFill>
                      <a:srgbClr val="111827"/>
                    </a:solidFill>
                    <a:latin typeface="Arial"/>
                  </a:rPr>
                  <a:t>; every length is then </a:t>
                </a:r>
                <a:r>
                  <a:rPr lang="en-IN" sz="2400">
                    <a:solidFill>
                      <a:srgbClr val="111827"/>
                    </a:solidFill>
                    <a:latin typeface="Cambria Math" panose="02040503050406030204" pitchFamily="18" charset="0"/>
                  </a:rPr>
                  <a:t>$\left|p\vec u+q\vec v+r\vec w\right|^2=a^2\left(p^2+q^2+r^2+pq+qr+rp\right)$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Area of a triangle with sides given by vectors </a:t>
                </a:r>
                <a:r>
                  <a:rPr lang="en-IN" sz="2400">
                    <a:solidFill>
                      <a:srgbClr val="111827"/>
                    </a:solidFill>
                    <a:latin typeface="Cambria Math" panose="02040503050406030204" pitchFamily="18" charset="0"/>
                  </a:rPr>
                  <a:t>$\vec p,\vec q$</a:t>
                </a:r>
                <a:r>
                  <a:rPr sz="2400" b="0">
                    <a:solidFill>
                      <a:srgbClr val="111827"/>
                    </a:solidFill>
                    <a:latin typeface="Arial"/>
                  </a:rPr>
                  <a:t> from a vertex: </a:t>
                </a:r>
                <a:r>
                  <a:rPr lang="en-IN" sz="2400">
                    <a:solidFill>
                      <a:srgbClr val="111827"/>
                    </a:solidFill>
                    <a:latin typeface="Cambria Math" panose="02040503050406030204" pitchFamily="18" charset="0"/>
                  </a:rPr>
                  <a:t>$\frac12\sqrt{\left|\vec p\right|^2\left|\vec q\right|^2-(\vec p\cdot\vec q)^2}$</a:t>
                </a:r>
                <a:r>
                  <a:rPr sz="2400" b="0">
                    <a:solidFill>
                      <a:srgbClr val="111827"/>
                    </a:solidFill>
                    <a:latin typeface="Arial"/>
                  </a:rPr>
                  <a:t> (Lagrange identity), avoiding Heron.</a:t>
                </a:r>
                <a:endParaRPr sz="2400">
                  <a:solidFill>
                    <a:srgbClr val="111827"/>
                  </a:solidFill>
                </a:endParaRPr>
              </a:p>
            </p:txBody>
          </p:sp>
        </mc:Fallback>
      </mc:AlternateContent>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isosceles triangle with equal sides </a:t>
                </a:r>
                <a14:m>
                  <m:oMath xmlns:m="http://schemas.openxmlformats.org/officeDocument/2006/math">
                    <m:r>
                      <a:rPr lang="en-IN" sz="2400" i="1">
                        <a:solidFill>
                          <a:srgbClr val="111827"/>
                        </a:solidFill>
                        <a:latin typeface="Cambria Math" panose="02040503050406030204" pitchFamily="18" charset="0"/>
                      </a:rPr>
                      <m:t>ℓ</m:t>
                    </m:r>
                  </m:oMath>
                </a14:m>
                <a:r>
                  <a:rPr sz="2400" b="0">
                    <a:solidFill>
                      <a:srgbClr val="111827"/>
                    </a:solidFill>
                    <a:latin typeface="Arial"/>
                  </a:rPr>
                  <a:t> and base </a:t>
                </a:r>
                <a14:m>
                  <m:oMath xmlns:m="http://schemas.openxmlformats.org/officeDocument/2006/math">
                    <m:r>
                      <a:rPr lang="en-IN" sz="2400" i="1">
                        <a:solidFill>
                          <a:srgbClr val="111827"/>
                        </a:solidFill>
                        <a:latin typeface="Cambria Math" panose="02040503050406030204" pitchFamily="18" charset="0"/>
                      </a:rPr>
                      <m:t>β</m:t>
                    </m:r>
                  </m:oMath>
                </a14:m>
                <a:r>
                  <a:rPr sz="2400" b="0">
                    <a:solidFill>
                      <a:srgbClr val="111827"/>
                    </a:solidFill>
                    <a:latin typeface="Arial"/>
                  </a:rPr>
                  <a:t>, area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β</m:t>
                        </m:r>
                      </m:num>
                      <m:den>
                        <m:r>
                          <a:rPr lang="en-IN" sz="2400" i="1">
                            <a:solidFill>
                              <a:srgbClr val="111827"/>
                            </a:solidFill>
                            <a:latin typeface="Cambria Math" panose="02040503050406030204" pitchFamily="18" charset="0"/>
                          </a:rPr>
                          <m:t>4</m:t>
                        </m:r>
                      </m:den>
                    </m:f>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ℓ</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here </a:t>
                </a:r>
                <a14:m>
                  <m:oMath xmlns:m="http://schemas.openxmlformats.org/officeDocument/2006/math">
                    <m:sSup>
                      <m:e>
                        <m:r>
                          <a:rPr lang="en-IN" sz="2400" i="1">
                            <a:solidFill>
                              <a:srgbClr val="111827"/>
                            </a:solidFill>
                            <a:latin typeface="Cambria Math" panose="02040503050406030204" pitchFamily="18" charset="0"/>
                          </a:rPr>
                          <m:t>ℓ</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7</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9</m:t>
                        </m:r>
                      </m:den>
                    </m:f>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β</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𝐸</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𝐶</m:t>
                        </m:r>
                        <m:r>
                          <a:rPr lang="en-IN" sz="2400" i="1">
                            <a:solidFill>
                              <a:srgbClr val="111827"/>
                            </a:solidFill>
                            <a:latin typeface="Cambria Math" panose="02040503050406030204" pitchFamily="18" charset="0"/>
                          </a:rPr>
                          <m:t>𝐹</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11</m:t>
                        </m:r>
                      </m:num>
                      <m:den>
                        <m:r>
                          <a:rPr lang="en-IN" sz="2400" i="1">
                            <a:solidFill>
                              <a:srgbClr val="111827"/>
                            </a:solidFill>
                            <a:latin typeface="Cambria Math" panose="02040503050406030204" pitchFamily="18" charset="0"/>
                          </a:rPr>
                          <m:t>18</m:t>
                        </m:r>
                      </m:den>
                    </m:f>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49</m:t>
                            </m:r>
                          </m:num>
                          <m:den>
                            <m:r>
                              <a:rPr lang="en-IN" sz="2400" i="1">
                                <a:solidFill>
                                  <a:srgbClr val="111827"/>
                                </a:solidFill>
                                <a:latin typeface="Cambria Math" panose="02040503050406030204" pitchFamily="18" charset="0"/>
                              </a:rPr>
                              <m:t>81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121</m:t>
                            </m:r>
                          </m:num>
                          <m:den>
                            <m:r>
                              <a:rPr lang="en-IN" sz="2400" i="1">
                                <a:solidFill>
                                  <a:srgbClr val="111827"/>
                                </a:solidFill>
                                <a:latin typeface="Cambria Math" panose="02040503050406030204" pitchFamily="18" charset="0"/>
                              </a:rPr>
                              <m:t>324</m:t>
                            </m:r>
                          </m:den>
                        </m:f>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36</m:t>
                        </m:r>
                      </m:den>
                    </m:f>
                  </m:oMath>
                </a14:m>
                <a:r>
                  <a:rPr sz="2400" b="0">
                    <a:solidFill>
                      <a:srgbClr val="111827"/>
                    </a:solidFill>
                    <a:latin typeface="Arial"/>
                  </a:rPr>
                  <a:t>, equal to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12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an isosceles triangle with equal sides </a:t>
                </a:r>
                <a:r>
                  <a:rPr lang="en-IN" sz="2400">
                    <a:solidFill>
                      <a:srgbClr val="111827"/>
                    </a:solidFill>
                    <a:latin typeface="Cambria Math" panose="02040503050406030204" pitchFamily="18" charset="0"/>
                  </a:rPr>
                  <a:t>$\ell$</a:t>
                </a:r>
                <a:r>
                  <a:rPr sz="2400" b="0">
                    <a:solidFill>
                      <a:srgbClr val="111827"/>
                    </a:solidFill>
                    <a:latin typeface="Arial"/>
                  </a:rPr>
                  <a:t> and base </a:t>
                </a:r>
                <a:r>
                  <a:rPr lang="en-IN" sz="2400">
                    <a:solidFill>
                      <a:srgbClr val="111827"/>
                    </a:solidFill>
                    <a:latin typeface="Cambria Math" panose="02040503050406030204" pitchFamily="18" charset="0"/>
                  </a:rPr>
                  <a:t>$\beta$</a:t>
                </a:r>
                <a:r>
                  <a:rPr sz="2400" b="0">
                    <a:solidFill>
                      <a:srgbClr val="111827"/>
                    </a:solidFill>
                    <a:latin typeface="Arial"/>
                  </a:rPr>
                  <a:t>, area </a:t>
                </a:r>
                <a:r>
                  <a:rPr lang="en-IN" sz="2400">
                    <a:solidFill>
                      <a:srgbClr val="111827"/>
                    </a:solidFill>
                    <a:latin typeface="Cambria Math" panose="02040503050406030204" pitchFamily="18" charset="0"/>
                  </a:rPr>
                  <a:t>$=\frac\beta4\sqrt{4\ell^2-\beta^2}$</a:t>
                </a:r>
                <a:r>
                  <a:rPr sz="2400" b="0">
                    <a:solidFill>
                      <a:srgbClr val="111827"/>
                    </a:solidFill>
                    <a:latin typeface="Arial"/>
                  </a:rPr>
                  <a:t>; here </a:t>
                </a:r>
                <a:r>
                  <a:rPr lang="en-IN" sz="2400">
                    <a:solidFill>
                      <a:srgbClr val="111827"/>
                    </a:solidFill>
                    <a:latin typeface="Cambria Math" panose="02040503050406030204" pitchFamily="18" charset="0"/>
                  </a:rPr>
                  <a:t>$\ell^2=\frac{7a^2}{9}$</a:t>
                </a:r>
                <a:r>
                  <a:rPr sz="2400" b="0">
                    <a:solidFill>
                      <a:srgbClr val="111827"/>
                    </a:solidFill>
                    <a:latin typeface="Arial"/>
                  </a:rPr>
                  <a:t>, </a:t>
                </a:r>
                <a:r>
                  <a:rPr lang="en-IN" sz="2400">
                    <a:solidFill>
                      <a:srgbClr val="111827"/>
                    </a:solidFill>
                    <a:latin typeface="Cambria Math" panose="02040503050406030204" pitchFamily="18" charset="0"/>
                  </a:rPr>
                  <a:t>$\beta^2=\frac{a^2}{3}$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with </a:t>
                </a:r>
                <a:r>
                  <a:rPr lang="en-IN" sz="2400">
                    <a:solidFill>
                      <a:srgbClr val="111827"/>
                    </a:solidFill>
                    <a:latin typeface="Cambria Math" panose="02040503050406030204" pitchFamily="18" charset="0"/>
                  </a:rPr>
                  <a:t>$a=1$</a:t>
                </a:r>
                <a:r>
                  <a:rPr sz="2400" b="0">
                    <a:solidFill>
                      <a:srgbClr val="111827"/>
                    </a:solidFill>
                    <a:latin typeface="Arial"/>
                  </a:rPr>
                  <a:t>: </a:t>
                </a:r>
                <a:r>
                  <a:rPr lang="en-IN" sz="2400">
                    <a:solidFill>
                      <a:srgbClr val="111827"/>
                    </a:solidFill>
                    <a:latin typeface="Cambria Math" panose="02040503050406030204" pitchFamily="18" charset="0"/>
                  </a:rPr>
                  <a:t>$\overrightarrow{CE}\cdot\overrightarrow{CF}=\frac{11}{18}$</a:t>
                </a:r>
                <a:r>
                  <a:rPr sz="2400" b="0">
                    <a:solidFill>
                      <a:srgbClr val="111827"/>
                    </a:solidFill>
                    <a:latin typeface="Arial"/>
                  </a:rPr>
                  <a:t> and </a:t>
                </a:r>
                <a:r>
                  <a:rPr lang="en-IN" sz="2400">
                    <a:solidFill>
                      <a:srgbClr val="111827"/>
                    </a:solidFill>
                    <a:latin typeface="Cambria Math" panose="02040503050406030204" pitchFamily="18" charset="0"/>
                  </a:rPr>
                  <a:t>$\frac12\sqrt{\frac{49}{81}-\frac{121}{324}}=\frac{5\sqrt3}{36}$</a:t>
                </a:r>
                <a:r>
                  <a:rPr sz="2400" b="0">
                    <a:solidFill>
                      <a:srgbClr val="111827"/>
                    </a:solidFill>
                    <a:latin typeface="Arial"/>
                  </a:rPr>
                  <a:t>, equal to </a:t>
                </a:r>
                <a:r>
                  <a:rPr lang="en-IN" sz="2400">
                    <a:solidFill>
                      <a:srgbClr val="111827"/>
                    </a:solidFill>
                    <a:latin typeface="Cambria Math" panose="02040503050406030204" pitchFamily="18" charset="0"/>
                  </a:rPr>
                  <a:t>$\frac{5}{12\sqrt3}$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Given three points on the </a:t>
                </a:r>
                <a14:m>
                  <m:oMath xmlns:m="http://schemas.openxmlformats.org/officeDocument/2006/math">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𝑦</m:t>
                    </m:r>
                  </m:oMath>
                </a14:m>
                <a:r>
                  <a:rPr sz="2400" b="0">
                    <a:solidFill>
                      <a:srgbClr val="111827"/>
                    </a:solidFill>
                    <a:latin typeface="Arial"/>
                  </a:rPr>
                  <a:t> plane </a:t>
                </a:r>
                <a14:m>
                  <m:oMath xmlns:m="http://schemas.openxmlformats.org/officeDocument/2006/math">
                    <m:r>
                      <a:rPr lang="en-IN" sz="2400" i="1">
                        <a:solidFill>
                          <a:srgbClr val="111827"/>
                        </a:solidFill>
                        <a:latin typeface="Cambria Math" panose="02040503050406030204" pitchFamily="18" charset="0"/>
                      </a:rPr>
                      <m:t>𝑂</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Point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is moving on the plane satisfying the condition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If the maximum and minimum values of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e>
                        </m:acc>
                      </m:e>
                    </m:d>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e>
                        </m:acc>
                      </m:e>
                    </m:d>
                  </m:oMath>
                </a14:m>
                <a:r>
                  <a:rPr sz="2400" b="0">
                    <a:solidFill>
                      <a:srgbClr val="111827"/>
                    </a:solidFill>
                    <a:latin typeface="Arial"/>
                  </a:rPr>
                  <a:t> are </a:t>
                </a:r>
                <a14:m>
                  <m:oMath xmlns:m="http://schemas.openxmlformats.org/officeDocument/2006/math">
                    <m:r>
                      <a:rPr lang="en-IN" sz="2400" i="1">
                        <a:solidFill>
                          <a:srgbClr val="111827"/>
                        </a:solidFill>
                        <a:latin typeface="Cambria Math" panose="02040503050406030204" pitchFamily="18" charset="0"/>
                      </a:rPr>
                      <m:t>𝑀</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𝑚</m:t>
                    </m:r>
                  </m:oMath>
                </a14:m>
                <a:r>
                  <a:rPr sz="2400" b="0">
                    <a:solidFill>
                      <a:srgbClr val="111827"/>
                    </a:solidFill>
                    <a:latin typeface="Arial"/>
                  </a:rPr>
                  <a:t> respectively, then find the value of </a:t>
                </a:r>
                <a14:m>
                  <m:oMath xmlns:m="http://schemas.openxmlformats.org/officeDocument/2006/math">
                    <m:sSup>
                      <m:e>
                        <m:r>
                          <a:rPr lang="en-IN" sz="2400" i="1">
                            <a:solidFill>
                              <a:srgbClr val="111827"/>
                            </a:solidFill>
                            <a:latin typeface="Cambria Math" panose="02040503050406030204" pitchFamily="18" charset="0"/>
                          </a:rPr>
                          <m:t>𝑀</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312369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Given three points on the </a:t>
                </a:r>
                <a:r>
                  <a:rPr lang="en-IN" sz="2400">
                    <a:solidFill>
                      <a:srgbClr val="111827"/>
                    </a:solidFill>
                    <a:latin typeface="Cambria Math" panose="02040503050406030204" pitchFamily="18" charset="0"/>
                  </a:rPr>
                  <a:t>$xy$</a:t>
                </a:r>
                <a:r>
                  <a:rPr sz="2400" b="0">
                    <a:solidFill>
                      <a:srgbClr val="111827"/>
                    </a:solidFill>
                    <a:latin typeface="Arial"/>
                  </a:rPr>
                  <a:t> plane </a:t>
                </a:r>
                <a:r>
                  <a:rPr lang="en-IN" sz="2400">
                    <a:solidFill>
                      <a:srgbClr val="111827"/>
                    </a:solidFill>
                    <a:latin typeface="Cambria Math" panose="02040503050406030204" pitchFamily="18" charset="0"/>
                  </a:rPr>
                  <a:t>$O(0,0)$</a:t>
                </a:r>
                <a:r>
                  <a:rPr sz="2400" b="0">
                    <a:solidFill>
                      <a:srgbClr val="111827"/>
                    </a:solidFill>
                    <a:latin typeface="Arial"/>
                  </a:rPr>
                  <a:t>, </a:t>
                </a:r>
                <a:r>
                  <a:rPr lang="en-IN" sz="2400">
                    <a:solidFill>
                      <a:srgbClr val="111827"/>
                    </a:solidFill>
                    <a:latin typeface="Cambria Math" panose="02040503050406030204" pitchFamily="18" charset="0"/>
                  </a:rPr>
                  <a:t>$A(1,0)$</a:t>
                </a:r>
                <a:r>
                  <a:rPr sz="2400" b="0">
                    <a:solidFill>
                      <a:srgbClr val="111827"/>
                    </a:solidFill>
                    <a:latin typeface="Arial"/>
                  </a:rPr>
                  <a:t> and </a:t>
                </a:r>
                <a:r>
                  <a:rPr lang="en-IN" sz="2400">
                    <a:solidFill>
                      <a:srgbClr val="111827"/>
                    </a:solidFill>
                    <a:latin typeface="Cambria Math" panose="02040503050406030204" pitchFamily="18" charset="0"/>
                  </a:rPr>
                  <a:t>$B(-1,0)$</a:t>
                </a:r>
                <a:r>
                  <a:rPr sz="2400" b="0">
                    <a:solidFill>
                      <a:srgbClr val="111827"/>
                    </a:solidFill>
                    <a:latin typeface="Arial"/>
                  </a:rPr>
                  <a:t>. Point </a:t>
                </a:r>
                <a:r>
                  <a:rPr lang="en-IN" sz="2400">
                    <a:solidFill>
                      <a:srgbClr val="111827"/>
                    </a:solidFill>
                    <a:latin typeface="Cambria Math" panose="02040503050406030204" pitchFamily="18" charset="0"/>
                  </a:rPr>
                  <a:t>$P$</a:t>
                </a:r>
                <a:r>
                  <a:rPr sz="2400" b="0">
                    <a:solidFill>
                      <a:srgbClr val="111827"/>
                    </a:solidFill>
                    <a:latin typeface="Arial"/>
                  </a:rPr>
                  <a:t> is moving on the plane satisfying the condition </a:t>
                </a:r>
                <a:r>
                  <a:rPr lang="en-IN" sz="2400">
                    <a:solidFill>
                      <a:srgbClr val="111827"/>
                    </a:solidFill>
                    <a:latin typeface="Cambria Math" panose="02040503050406030204" pitchFamily="18" charset="0"/>
                  </a:rPr>
                  <a:t>$\overrightarrow{PA}\cdot\overrightarrow{PB}+3\left(\overrightarrow{OA}\cdot\overrightarrow{OB}\right)=0$</a:t>
                </a:r>
                <a:r>
                  <a:rPr sz="2400" b="0">
                    <a:solidFill>
                      <a:srgbClr val="111827"/>
                    </a:solidFill>
                    <a:latin typeface="Arial"/>
                  </a:rPr>
                  <a:t>. If the maximum and minimum values of </a:t>
                </a:r>
                <a:r>
                  <a:rPr lang="en-IN" sz="2400">
                    <a:solidFill>
                      <a:srgbClr val="111827"/>
                    </a:solidFill>
                    <a:latin typeface="Cambria Math" panose="02040503050406030204" pitchFamily="18" charset="0"/>
                  </a:rPr>
                  <a:t>$\left|\overrightarrow{PA}\right|\left|\overrightarrow{PB}\right|$</a:t>
                </a:r>
                <a:r>
                  <a:rPr sz="2400" b="0">
                    <a:solidFill>
                      <a:srgbClr val="111827"/>
                    </a:solidFill>
                    <a:latin typeface="Arial"/>
                  </a:rPr>
                  <a:t> are </a:t>
                </a:r>
                <a:r>
                  <a:rPr lang="en-IN" sz="2400">
                    <a:solidFill>
                      <a:srgbClr val="111827"/>
                    </a:solidFill>
                    <a:latin typeface="Cambria Math" panose="02040503050406030204" pitchFamily="18" charset="0"/>
                  </a:rPr>
                  <a:t>$M$</a:t>
                </a:r>
                <a:r>
                  <a:rPr sz="2400" b="0">
                    <a:solidFill>
                      <a:srgbClr val="111827"/>
                    </a:solidFill>
                    <a:latin typeface="Arial"/>
                  </a:rPr>
                  <a:t> and </a:t>
                </a:r>
                <a:r>
                  <a:rPr lang="en-IN" sz="2400">
                    <a:solidFill>
                      <a:srgbClr val="111827"/>
                    </a:solidFill>
                    <a:latin typeface="Cambria Math" panose="02040503050406030204" pitchFamily="18" charset="0"/>
                  </a:rPr>
                  <a:t>$m$</a:t>
                </a:r>
                <a:r>
                  <a:rPr sz="2400" b="0">
                    <a:solidFill>
                      <a:srgbClr val="111827"/>
                    </a:solidFill>
                    <a:latin typeface="Arial"/>
                  </a:rPr>
                  <a:t> respectively, then find the value of </a:t>
                </a:r>
                <a:r>
                  <a:rPr lang="en-IN" sz="2400">
                    <a:solidFill>
                      <a:srgbClr val="111827"/>
                    </a:solidFill>
                    <a:latin typeface="Cambria Math" panose="02040503050406030204" pitchFamily="18" charset="0"/>
                  </a:rPr>
                  <a:t>$M^2+m^2$</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4632452"/>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(4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Dot product of vectors, Locus of a point (circle)</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condition is the circle </a:t>
                </a:r>
                <a14:m>
                  <m:oMath xmlns:m="http://schemas.openxmlformats.org/officeDocument/2006/math">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sSup>
                      <m:e>
                        <m:r>
                          <a:rPr lang="en-IN" sz="2400" i="1">
                            <a:solidFill>
                              <a:srgbClr val="78350F"/>
                            </a:solidFill>
                            <a:latin typeface="Cambria Math" panose="02040503050406030204" pitchFamily="18" charset="0"/>
                          </a:rPr>
                          <m:t>𝑦</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oMath>
                </a14:m>
                <a:r>
                  <a:rPr sz="2400" b="0">
                    <a:solidFill>
                      <a:srgbClr val="78350F"/>
                    </a:solidFill>
                    <a:latin typeface="Arial"/>
                  </a:rPr>
                  <a:t>; then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25</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4</m:t>
                        </m:r>
                        <m:sSup>
                          <m:e>
                            <m:r>
                              <a:rPr lang="en-IN" sz="2400" i="1">
                                <a:solidFill>
                                  <a:srgbClr val="78350F"/>
                                </a:solidFill>
                                <a:latin typeface="Cambria Math" panose="02040503050406030204" pitchFamily="18" charset="0"/>
                              </a:rPr>
                              <m:t>𝑥</m:t>
                            </m:r>
                          </m:e>
                          <m:sup>
                            <m:r>
                              <a:rPr lang="en-IN" sz="2400" i="1">
                                <a:solidFill>
                                  <a:srgbClr val="78350F"/>
                                </a:solidFill>
                                <a:latin typeface="Cambria Math" panose="02040503050406030204" pitchFamily="18" charset="0"/>
                              </a:rPr>
                              <m:t>2</m:t>
                            </m:r>
                          </m:sup>
                        </m:sSup>
                      </m:e>
                    </m:rad>
                  </m:oMath>
                </a14:m>
                <a:r>
                  <a:rPr sz="2400" b="0">
                    <a:solidFill>
                      <a:srgbClr val="78350F"/>
                    </a:solidFill>
                    <a:latin typeface="Arial"/>
                  </a:rPr>
                  <a:t>, so only the range of </a:t>
                </a:r>
                <a14:m>
                  <m:oMath xmlns:m="http://schemas.openxmlformats.org/officeDocument/2006/math">
                    <m:r>
                      <a:rPr lang="en-IN" sz="2400" i="1">
                        <a:solidFill>
                          <a:srgbClr val="78350F"/>
                        </a:solidFill>
                        <a:latin typeface="Cambria Math" panose="02040503050406030204" pitchFamily="18" charset="0"/>
                      </a:rPr>
                      <m:t>𝑥</m:t>
                    </m:r>
                  </m:oMath>
                </a14:m>
                <a:r>
                  <a:rPr sz="2400" b="0">
                    <a:solidFill>
                      <a:srgbClr val="78350F"/>
                    </a:solidFill>
                    <a:latin typeface="Arial"/>
                  </a:rPr>
                  <a:t> on the circle matters.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The condition is the circle </a:t>
                </a:r>
                <a:r>
                  <a:rPr lang="en-IN" sz="2400">
                    <a:solidFill>
                      <a:srgbClr val="78350F"/>
                    </a:solidFill>
                    <a:latin typeface="Cambria Math" panose="02040503050406030204" pitchFamily="18" charset="0"/>
                  </a:rPr>
                  <a:t>$x^2+y^2=4$</a:t>
                </a:r>
                <a:r>
                  <a:rPr sz="2400" b="0">
                    <a:solidFill>
                      <a:srgbClr val="78350F"/>
                    </a:solidFill>
                    <a:latin typeface="Arial"/>
                  </a:rPr>
                  <a:t>; then </a:t>
                </a:r>
                <a:r>
                  <a:rPr lang="en-IN" sz="2400">
                    <a:solidFill>
                      <a:srgbClr val="78350F"/>
                    </a:solidFill>
                    <a:latin typeface="Cambria Math" panose="02040503050406030204" pitchFamily="18" charset="0"/>
                  </a:rPr>
                  <a:t>$|PA||PB|=\sqrt{25-4x^2}$</a:t>
                </a:r>
                <a:r>
                  <a:rPr sz="2400" b="0">
                    <a:solidFill>
                      <a:srgbClr val="78350F"/>
                    </a:solidFill>
                    <a:latin typeface="Arial"/>
                  </a:rPr>
                  <a:t>, so only the range of </a:t>
                </a:r>
                <a:r>
                  <a:rPr lang="en-IN" sz="2400">
                    <a:solidFill>
                      <a:srgbClr val="78350F"/>
                    </a:solidFill>
                    <a:latin typeface="Cambria Math" panose="02040503050406030204" pitchFamily="18" charset="0"/>
                  </a:rPr>
                  <a:t>$x$</a:t>
                </a:r>
                <a:r>
                  <a:rPr sz="2400" b="0">
                    <a:solidFill>
                      <a:srgbClr val="78350F"/>
                    </a:solidFill>
                    <a:latin typeface="Arial"/>
                  </a:rPr>
                  <a:t> on the circle matters.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condition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becomes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e>
                        </m:acc>
                      </m:e>
                    </m:d>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e>
                        </m:acc>
                      </m:e>
                    </m: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e>
                    </m:rad>
                    <m:rad>
                      <m:radPr>
                        <m:degHide m:val="on"/>
                        <m:ctrlPr>
                          <a:rPr lang="en-IN" sz="2400" i="1">
                            <a:solidFill>
                              <a:srgbClr val="111827"/>
                            </a:solidFill>
                            <a:latin typeface="Cambria Math" panose="02040503050406030204" pitchFamily="18" charset="0"/>
                          </a:rPr>
                        </m:ctrlPr>
                      </m:radPr>
                      <m:deg/>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$P=(x,y)$</a:t>
                </a:r>
                <a:r>
                  <a:rPr sz="2400" b="0">
                    <a:solidFill>
                      <a:srgbClr val="111827"/>
                    </a:solidFill>
                    <a:latin typeface="Arial"/>
                  </a:rPr>
                  <a:t>. Then </a:t>
                </a:r>
                <a:r>
                  <a:rPr lang="en-IN" sz="2400">
                    <a:solidFill>
                      <a:srgbClr val="111827"/>
                    </a:solidFill>
                    <a:latin typeface="Cambria Math" panose="02040503050406030204" pitchFamily="18" charset="0"/>
                  </a:rPr>
                  <a:t>$\overrightarrow{PA}=(1-x)\hat i-y\hat j$</a:t>
                </a:r>
                <a:r>
                  <a:rPr sz="2400" b="0">
                    <a:solidFill>
                      <a:srgbClr val="111827"/>
                    </a:solidFill>
                    <a:latin typeface="Arial"/>
                  </a:rPr>
                  <a:t> and </a:t>
                </a:r>
                <a:r>
                  <a:rPr lang="en-IN" sz="2400">
                    <a:solidFill>
                      <a:srgbClr val="111827"/>
                    </a:solidFill>
                    <a:latin typeface="Cambria Math" panose="02040503050406030204" pitchFamily="18" charset="0"/>
                  </a:rPr>
                  <a:t>$\overrightarrow{PB}=-(1+x)\hat i-y\hat j$</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$\overrightarrow{PA}\cdot\overrightarrow{PB}=-(1-x)(1+x)+y^2=x^2-1+y^2$</a:t>
                </a:r>
                <a:r>
                  <a:rPr sz="2400" b="0">
                    <a:solidFill>
                      <a:srgbClr val="111827"/>
                    </a:solidFill>
                    <a:latin typeface="Arial"/>
                  </a:rPr>
                  <a:t> and </a:t>
                </a:r>
                <a:r>
                  <a:rPr lang="en-IN" sz="2400">
                    <a:solidFill>
                      <a:srgbClr val="111827"/>
                    </a:solidFill>
                    <a:latin typeface="Cambria Math" panose="02040503050406030204" pitchFamily="18" charset="0"/>
                  </a:rPr>
                  <a:t>$\overrightarrow{OA}\cdot\overrightarrow{OB}=-1$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condition </a:t>
                </a:r>
                <a:r>
                  <a:rPr lang="en-IN" sz="2400">
                    <a:solidFill>
                      <a:srgbClr val="111827"/>
                    </a:solidFill>
                    <a:latin typeface="Cambria Math" panose="02040503050406030204" pitchFamily="18" charset="0"/>
                  </a:rPr>
                  <a:t>$\overrightarrow{PA}\cdot\overrightarrow{PB}+3\,\overrightarrow{OA}\cdot\overrightarrow{OB}=0$</a:t>
                </a:r>
                <a:r>
                  <a:rPr sz="2400" b="0">
                    <a:solidFill>
                      <a:srgbClr val="111827"/>
                    </a:solidFill>
                    <a:latin typeface="Arial"/>
                  </a:rPr>
                  <a:t> becomes </a:t>
                </a:r>
                <a:r>
                  <a:rPr lang="en-IN" sz="2400">
                    <a:solidFill>
                      <a:srgbClr val="111827"/>
                    </a:solidFill>
                    <a:latin typeface="Cambria Math" panose="02040503050406030204" pitchFamily="18" charset="0"/>
                  </a:rPr>
                  <a:t>$\left(x^2-1\right)+y^2-3=0$</a:t>
                </a:r>
                <a:r>
                  <a:rPr sz="2400" b="0">
                    <a:solidFill>
                      <a:srgbClr val="111827"/>
                    </a:solidFill>
                    <a:latin typeface="Arial"/>
                  </a:rPr>
                  <a:t>, i.e. </a:t>
                </a:r>
                <a:r>
                  <a:rPr lang="en-IN" sz="2400">
                    <a:solidFill>
                      <a:srgbClr val="111827"/>
                    </a:solidFill>
                    <a:latin typeface="Cambria Math" panose="02040503050406030204" pitchFamily="18" charset="0"/>
                  </a:rPr>
                  <a:t>$x^2+y^2=4$</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$\left|\overrightarrow{PA}\right|\left|\overrightarrow{PB}\right|=\sqrt{(x-1)^2+y^2}\sqrt{(x+1)^2+y^2}$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(1):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e>
                        </m:acc>
                      </m:e>
                    </m:d>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e>
                        </m:acc>
                      </m:e>
                    </m: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e>
                    </m:rad>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e>
                    </m:rad>
                  </m:oMath>
                </a14:m>
                <a:r>
                  <a:rPr sz="2400" b="0">
                    <a:solidFill>
                      <a:srgbClr val="111827"/>
                    </a:solidFill>
                    <a:latin typeface="Arial"/>
                  </a:rPr>
                  <a:t>, with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(from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maximum 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the minimum is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𝑀</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Using (1): </a:t>
                </a:r>
                <a:r>
                  <a:rPr lang="en-IN" sz="2400">
                    <a:solidFill>
                      <a:srgbClr val="111827"/>
                    </a:solidFill>
                    <a:latin typeface="Cambria Math" panose="02040503050406030204" pitchFamily="18" charset="0"/>
                  </a:rPr>
                  <a:t>$(x-1)^2+y^2=5-2x$</a:t>
                </a:r>
                <a:r>
                  <a:rPr sz="2400" b="0">
                    <a:solidFill>
                      <a:srgbClr val="111827"/>
                    </a:solidFill>
                    <a:latin typeface="Arial"/>
                  </a:rPr>
                  <a:t> and </a:t>
                </a:r>
                <a:r>
                  <a:rPr lang="en-IN" sz="2400">
                    <a:solidFill>
                      <a:srgbClr val="111827"/>
                    </a:solidFill>
                    <a:latin typeface="Cambria Math" panose="02040503050406030204" pitchFamily="18" charset="0"/>
                  </a:rPr>
                  <a:t>$(x+1)^2+y^2=5+2x$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$\left|\overrightarrow{PA}\right|\left|\overrightarrow{PB}\right|=\sqrt{5-2x}\sqrt{5+2x}=\sqrt{25-4x^2}$</a:t>
                </a:r>
                <a:r>
                  <a:rPr sz="2400" b="0">
                    <a:solidFill>
                      <a:srgbClr val="111827"/>
                    </a:solidFill>
                    <a:latin typeface="Arial"/>
                  </a:rPr>
                  <a:t>, with </a:t>
                </a:r>
                <a:r>
                  <a:rPr lang="en-IN" sz="2400">
                    <a:solidFill>
                      <a:srgbClr val="111827"/>
                    </a:solidFill>
                    <a:latin typeface="Cambria Math" panose="02040503050406030204" pitchFamily="18" charset="0"/>
                  </a:rPr>
                  <a:t>$x\in[-2,2]$</a:t>
                </a:r>
                <a:r>
                  <a:rPr sz="2400" b="0">
                    <a:solidFill>
                      <a:srgbClr val="111827"/>
                    </a:solidFill>
                    <a:latin typeface="Arial"/>
                  </a:rPr>
                  <a:t> (from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maximum is at </a:t>
                </a:r>
                <a:r>
                  <a:rPr lang="en-IN" sz="2400">
                    <a:solidFill>
                      <a:srgbClr val="111827"/>
                    </a:solidFill>
                    <a:latin typeface="Cambria Math" panose="02040503050406030204" pitchFamily="18" charset="0"/>
                  </a:rPr>
                  <a:t>$x=0$</a:t>
                </a:r>
                <a:r>
                  <a:rPr sz="2400" b="0">
                    <a:solidFill>
                      <a:srgbClr val="111827"/>
                    </a:solidFill>
                    <a:latin typeface="Arial"/>
                  </a:rPr>
                  <a:t>: </a:t>
                </a:r>
                <a:r>
                  <a:rPr lang="en-IN" sz="2400">
                    <a:solidFill>
                      <a:srgbClr val="111827"/>
                    </a:solidFill>
                    <a:latin typeface="Cambria Math" panose="02040503050406030204" pitchFamily="18" charset="0"/>
                  </a:rPr>
                  <a:t>$M=\sqrt{25}=5$</a:t>
                </a:r>
                <a:r>
                  <a:rPr sz="2400" b="0">
                    <a:solidFill>
                      <a:srgbClr val="111827"/>
                    </a:solidFill>
                    <a:latin typeface="Arial"/>
                  </a:rPr>
                  <a:t>; the minimum is at </a:t>
                </a:r>
                <a:r>
                  <a:rPr lang="en-IN" sz="2400">
                    <a:solidFill>
                      <a:srgbClr val="111827"/>
                    </a:solidFill>
                    <a:latin typeface="Cambria Math" panose="02040503050406030204" pitchFamily="18" charset="0"/>
                  </a:rPr>
                  <a:t>$x=\pm2$</a:t>
                </a:r>
                <a:r>
                  <a:rPr sz="2400" b="0">
                    <a:solidFill>
                      <a:srgbClr val="111827"/>
                    </a:solidFill>
                    <a:latin typeface="Arial"/>
                  </a:rPr>
                  <a:t>: </a:t>
                </a:r>
                <a:r>
                  <a:rPr lang="en-IN" sz="2400">
                    <a:solidFill>
                      <a:srgbClr val="111827"/>
                    </a:solidFill>
                    <a:latin typeface="Cambria Math" panose="02040503050406030204" pitchFamily="18" charset="0"/>
                  </a:rPr>
                  <a:t>$m=\sqrt{25-16}=3$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$M^2+m^2=25+9=34$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
                      <a:rPr lang="en-IN" sz="2800" i="1">
                        <a:solidFill>
                          <a:srgbClr val="15803D"/>
                        </a:solidFill>
                        <a:latin typeface="Cambria Math" panose="02040503050406030204" pitchFamily="18" charset="0"/>
                      </a:rPr>
                      <m:t>34</m:t>
                    </m:r>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$34$</a:t>
                </a:r>
                <a:endParaRPr sz="2800">
                  <a:solidFill>
                    <a:srgbClr val="15803D"/>
                  </a:solidFill>
                </a:endParaRPr>
              </a:p>
            </p:txBody>
          </p:sp>
        </mc:Fallback>
      </mc:AlternateContent>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Treat </a:t>
                </a:r>
                <a14:m>
                  <m:oMath xmlns:m="http://schemas.openxmlformats.org/officeDocument/2006/math">
                    <m:r>
                      <a:rPr lang="en-IN" sz="2400" i="1">
                        <a:solidFill>
                          <a:srgbClr val="78350F"/>
                        </a:solidFill>
                        <a:latin typeface="Cambria Math" panose="02040503050406030204" pitchFamily="18" charset="0"/>
                      </a:rPr>
                      <m:t>𝑃</m:t>
                    </m:r>
                  </m:oMath>
                </a14:m>
                <a:r>
                  <a:rPr sz="2400" b="0">
                    <a:solidFill>
                      <a:srgbClr val="78350F"/>
                    </a:solidFill>
                    <a:latin typeface="Arial"/>
                  </a:rPr>
                  <a:t> as </a:t>
                </a:r>
                <a14:m>
                  <m:oMath xmlns:m="http://schemas.openxmlformats.org/officeDocument/2006/math">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𝑖</m:t>
                    </m:r>
                    <m:r>
                      <a:rPr lang="en-IN" sz="2400" i="1">
                        <a:solidFill>
                          <a:srgbClr val="78350F"/>
                        </a:solidFill>
                        <a:latin typeface="Cambria Math" panose="02040503050406030204" pitchFamily="18" charset="0"/>
                      </a:rPr>
                      <m:t>𝑦</m:t>
                    </m:r>
                  </m:oMath>
                </a14:m>
                <a:r>
                  <a:rPr sz="2400" b="0">
                    <a:solidFill>
                      <a:srgbClr val="78350F"/>
                    </a:solidFill>
                    <a:latin typeface="Arial"/>
                  </a:rPr>
                  <a:t>: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𝐴</m:t>
                        </m:r>
                      </m:e>
                    </m:d>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𝑃</m:t>
                        </m:r>
                        <m:r>
                          <a:rPr lang="en-IN" sz="2400" i="1">
                            <a:solidFill>
                              <a:srgbClr val="78350F"/>
                            </a:solidFill>
                            <a:latin typeface="Cambria Math" panose="02040503050406030204" pitchFamily="18" charset="0"/>
                          </a:rPr>
                          <m:t>𝐵</m:t>
                        </m:r>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e>
                    </m:d>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e>
                    </m:d>
                    <m:r>
                      <m:rPr>
                        <m:sty m:val="p"/>
                      </m:rPr>
                      <a:rPr lang="en-IN" sz="2400">
                        <a:solidFill>
                          <a:srgbClr val="78350F"/>
                        </a:solidFill>
                        <a:latin typeface="Cambria Math" panose="02040503050406030204" pitchFamily="18" charset="0"/>
                      </a:rPr>
                      <m:t>=</m:t>
                    </m:r>
                    <m:d>
                      <m:dPr>
                        <m:begChr m:val="|"/>
                        <m:sepChr m:val=""/>
                        <m:endChr m:val="|"/>
                        <m:grow/>
                        <m:ctrlPr>
                          <a:rPr lang="en-IN" sz="2400" i="1">
                            <a:solidFill>
                              <a:srgbClr val="78350F"/>
                            </a:solidFill>
                            <a:latin typeface="Cambria Math" panose="02040503050406030204" pitchFamily="18" charset="0"/>
                          </a:rPr>
                        </m:ctrlPr>
                      </m:dPr>
                      <m:e>
                        <m:sSup>
                          <m:e>
                            <m:r>
                              <a:rPr lang="en-IN" sz="2400" i="1">
                                <a:solidFill>
                                  <a:srgbClr val="78350F"/>
                                </a:solidFill>
                                <a:latin typeface="Cambria Math" panose="02040503050406030204" pitchFamily="18" charset="0"/>
                              </a:rPr>
                              <m:t>𝑧</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e>
                    </m:d>
                  </m:oMath>
                </a14:m>
                <a:r>
                  <a:rPr sz="2400" b="0">
                    <a:solidFill>
                      <a:srgbClr val="78350F"/>
                    </a:solidFill>
                    <a:latin typeface="Arial"/>
                  </a:rPr>
                  <a:t> with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r>
                          <a:rPr lang="en-IN" sz="2400" i="1">
                            <a:solidFill>
                              <a:srgbClr val="78350F"/>
                            </a:solidFill>
                            <a:latin typeface="Cambria Math" panose="02040503050406030204" pitchFamily="18" charset="0"/>
                          </a:rPr>
                          <m:t>𝑧</m:t>
                        </m:r>
                      </m:e>
                    </m: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and use the triangle inequality.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Treat </a:t>
                </a:r>
                <a:r>
                  <a:rPr lang="en-IN" sz="2400">
                    <a:solidFill>
                      <a:srgbClr val="78350F"/>
                    </a:solidFill>
                    <a:latin typeface="Cambria Math" panose="02040503050406030204" pitchFamily="18" charset="0"/>
                  </a:rPr>
                  <a:t>$P$</a:t>
                </a:r>
                <a:r>
                  <a:rPr sz="2400" b="0">
                    <a:solidFill>
                      <a:srgbClr val="78350F"/>
                    </a:solidFill>
                    <a:latin typeface="Arial"/>
                  </a:rPr>
                  <a:t> as </a:t>
                </a:r>
                <a:r>
                  <a:rPr lang="en-IN" sz="2400">
                    <a:solidFill>
                      <a:srgbClr val="78350F"/>
                    </a:solidFill>
                    <a:latin typeface="Cambria Math" panose="02040503050406030204" pitchFamily="18" charset="0"/>
                  </a:rPr>
                  <a:t>$z=x+iy$</a:t>
                </a:r>
                <a:r>
                  <a:rPr sz="2400" b="0">
                    <a:solidFill>
                      <a:srgbClr val="78350F"/>
                    </a:solidFill>
                    <a:latin typeface="Arial"/>
                  </a:rPr>
                  <a:t>: </a:t>
                </a:r>
                <a:r>
                  <a:rPr lang="en-IN" sz="2400">
                    <a:solidFill>
                      <a:srgbClr val="78350F"/>
                    </a:solidFill>
                    <a:latin typeface="Cambria Math" panose="02040503050406030204" pitchFamily="18" charset="0"/>
                  </a:rPr>
                  <a:t>$\left|PA\right|\left|PB\right|=\left|z-1\right|\left|z+1\right|=\left|z^2-1\right|$</a:t>
                </a:r>
                <a:r>
                  <a:rPr sz="2400" b="0">
                    <a:solidFill>
                      <a:srgbClr val="78350F"/>
                    </a:solidFill>
                    <a:latin typeface="Arial"/>
                  </a:rPr>
                  <a:t> with </a:t>
                </a:r>
                <a:r>
                  <a:rPr lang="en-IN" sz="2400">
                    <a:solidFill>
                      <a:srgbClr val="78350F"/>
                    </a:solidFill>
                    <a:latin typeface="Cambria Math" panose="02040503050406030204" pitchFamily="18" charset="0"/>
                  </a:rPr>
                  <a:t>$\left|z\right|=2$</a:t>
                </a:r>
                <a:r>
                  <a:rPr sz="2400" b="0">
                    <a:solidFill>
                      <a:srgbClr val="78350F"/>
                    </a:solidFill>
                    <a:latin typeface="Arial"/>
                  </a:rPr>
                  <a:t>, and use the triangle inequality.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the condition reduces to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𝑖</m:t>
                    </m:r>
                    <m:r>
                      <a:rPr lang="en-IN" sz="2400" i="1">
                        <a:solidFill>
                          <a:srgbClr val="111827"/>
                        </a:solidFill>
                        <a:latin typeface="Cambria Math" panose="02040503050406030204" pitchFamily="18" charset="0"/>
                      </a:rPr>
                      <m:t>𝑦</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e>
                    </m:d>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the triangle inequality gives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before, the condition reduces to </a:t>
                </a:r>
                <a:r>
                  <a:rPr lang="en-IN" sz="2400">
                    <a:solidFill>
                      <a:srgbClr val="111827"/>
                    </a:solidFill>
                    <a:latin typeface="Cambria Math" panose="02040503050406030204" pitchFamily="18" charset="0"/>
                  </a:rPr>
                  <a:t>$x^2+y^2=4$</a:t>
                </a:r>
                <a:r>
                  <a:rPr sz="2400" b="0">
                    <a:solidFill>
                      <a:srgbClr val="111827"/>
                    </a:solidFill>
                    <a:latin typeface="Arial"/>
                  </a:rPr>
                  <a:t>, i.e. </a:t>
                </a:r>
                <a:r>
                  <a:rPr lang="en-IN" sz="2400">
                    <a:solidFill>
                      <a:srgbClr val="111827"/>
                    </a:solidFill>
                    <a:latin typeface="Cambria Math" panose="02040503050406030204" pitchFamily="18" charset="0"/>
                  </a:rPr>
                  <a:t>$|z|=2$</a:t>
                </a:r>
                <a:r>
                  <a:rPr sz="2400" b="0">
                    <a:solidFill>
                      <a:srgbClr val="111827"/>
                    </a:solidFill>
                    <a:latin typeface="Arial"/>
                  </a:rPr>
                  <a:t> for </a:t>
                </a:r>
                <a:r>
                  <a:rPr lang="en-IN" sz="2400">
                    <a:solidFill>
                      <a:srgbClr val="111827"/>
                    </a:solidFill>
                    <a:latin typeface="Cambria Math" panose="02040503050406030204" pitchFamily="18" charset="0"/>
                  </a:rPr>
                  <a:t>$z=x+iy$</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$\left|PA\right|\left|PB\right|=\left|z-1\right|\left|z+1\right|=\left|z^2-1\right|$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$\left|z^2\right|=4$</a:t>
                </a:r>
                <a:r>
                  <a:rPr sz="2400" b="0">
                    <a:solidFill>
                      <a:srgbClr val="111827"/>
                    </a:solidFill>
                    <a:latin typeface="Arial"/>
                  </a:rPr>
                  <a:t>, the triangle inequality gives </a:t>
                </a:r>
                <a:r>
                  <a:rPr lang="en-IN" sz="2400">
                    <a:solidFill>
                      <a:srgbClr val="111827"/>
                    </a:solidFill>
                    <a:latin typeface="Cambria Math" panose="02040503050406030204" pitchFamily="18" charset="0"/>
                  </a:rPr>
                  <a:t>$\left|z^2\right|-1\le\left|z^2-1\right|\le\left|z^2\right|+1$</a:t>
                </a:r>
                <a:r>
                  <a:rPr sz="2400" b="0">
                    <a:solidFill>
                      <a:srgbClr val="111827"/>
                    </a:solidFill>
                    <a:latin typeface="Arial"/>
                  </a:rPr>
                  <a:t>, i.e. </a:t>
                </a:r>
                <a:r>
                  <a:rPr lang="en-IN" sz="2400">
                    <a:solidFill>
                      <a:srgbClr val="111827"/>
                    </a:solidFill>
                    <a:latin typeface="Cambria Math" panose="02040503050406030204" pitchFamily="18" charset="0"/>
                  </a:rPr>
                  <a:t>$3\le\left|z^2-1\right|\le5$</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bounds are attained: </a:t>
                </a:r>
                <a14:m>
                  <m:oMath xmlns:m="http://schemas.openxmlformats.org/officeDocument/2006/math">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(z=2) gives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𝑚</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𝑀</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Both bounds are attained: </a:t>
                </a:r>
                <a:r>
                  <a:rPr lang="en-IN" sz="2400">
                    <a:solidFill>
                      <a:srgbClr val="111827"/>
                    </a:solidFill>
                    <a:latin typeface="Cambria Math" panose="02040503050406030204" pitchFamily="18" charset="0"/>
                  </a:rPr>
                  <a:t>$z^2=4$</a:t>
                </a:r>
                <a:r>
                  <a:rPr sz="2400" b="0">
                    <a:solidFill>
                      <a:srgbClr val="111827"/>
                    </a:solidFill>
                    <a:latin typeface="Arial"/>
                  </a:rPr>
                  <a:t> (z=2) gives </a:t>
                </a:r>
                <a:r>
                  <a:rPr lang="en-IN" sz="2400">
                    <a:solidFill>
                      <a:srgbClr val="111827"/>
                    </a:solidFill>
                    <a:latin typeface="Cambria Math" panose="02040503050406030204" pitchFamily="18" charset="0"/>
                  </a:rPr>
                  <a:t>$3$</a:t>
                </a:r>
                <a:r>
                  <a:rPr sz="2400" b="0">
                    <a:solidFill>
                      <a:srgbClr val="111827"/>
                    </a:solidFill>
                    <a:latin typeface="Arial"/>
                  </a:rPr>
                  <a:t>, and </a:t>
                </a:r>
                <a:r>
                  <a:rPr lang="en-IN" sz="2400">
                    <a:solidFill>
                      <a:srgbClr val="111827"/>
                    </a:solidFill>
                    <a:latin typeface="Cambria Math" panose="02040503050406030204" pitchFamily="18" charset="0"/>
                  </a:rPr>
                  <a:t>$z^2=-4$</a:t>
                </a:r>
                <a:r>
                  <a:rPr sz="2400" b="0">
                    <a:solidFill>
                      <a:srgbClr val="111827"/>
                    </a:solidFill>
                    <a:latin typeface="Arial"/>
                  </a:rPr>
                  <a:t> (</a:t>
                </a:r>
                <a:r>
                  <a:rPr lang="en-IN" sz="2400">
                    <a:solidFill>
                      <a:srgbClr val="111827"/>
                    </a:solidFill>
                    <a:latin typeface="Cambria Math" panose="02040503050406030204" pitchFamily="18" charset="0"/>
                  </a:rPr>
                  <a:t>$z=2i$</a:t>
                </a:r>
                <a:r>
                  <a:rPr sz="2400" b="0">
                    <a:solidFill>
                      <a:srgbClr val="111827"/>
                    </a:solidFill>
                    <a:latin typeface="Arial"/>
                  </a:rPr>
                  <a:t>) gives </a:t>
                </a:r>
                <a:r>
                  <a:rPr lang="en-IN" sz="2400">
                    <a:solidFill>
                      <a:srgbClr val="111827"/>
                    </a:solidFill>
                    <a:latin typeface="Cambria Math" panose="02040503050406030204" pitchFamily="18" charset="0"/>
                  </a:rPr>
                  <a:t>$5$</a:t>
                </a:r>
                <a:r>
                  <a:rPr sz="2400" b="0">
                    <a:solidFill>
                      <a:srgbClr val="111827"/>
                    </a:solidFill>
                    <a:latin typeface="Arial"/>
                  </a:rPr>
                  <a:t>. So </a:t>
                </a:r>
                <a:r>
                  <a:rPr lang="en-IN" sz="2400">
                    <a:solidFill>
                      <a:srgbClr val="111827"/>
                    </a:solidFill>
                    <a:latin typeface="Cambria Math" panose="02040503050406030204" pitchFamily="18" charset="0"/>
                  </a:rPr>
                  <a:t>$M=5$</a:t>
                </a:r>
                <a:r>
                  <a:rPr sz="2400" b="0">
                    <a:solidFill>
                      <a:srgbClr val="111827"/>
                    </a:solidFill>
                    <a:latin typeface="Arial"/>
                  </a:rPr>
                  <a:t>, </a:t>
                </a:r>
                <a:r>
                  <a:rPr lang="en-IN" sz="2400">
                    <a:solidFill>
                      <a:srgbClr val="111827"/>
                    </a:solidFill>
                    <a:latin typeface="Cambria Math" panose="02040503050406030204" pitchFamily="18" charset="0"/>
                  </a:rPr>
                  <a:t>$m=3$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$M^2+m^2=25+9=34$</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
                      <a:rPr lang="en-IN" sz="2800" i="1">
                        <a:solidFill>
                          <a:srgbClr val="15803D"/>
                        </a:solidFill>
                        <a:latin typeface="Cambria Math" panose="02040503050406030204" pitchFamily="18" charset="0"/>
                      </a:rPr>
                      <m:t>34</m:t>
                    </m:r>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$34$</a:t>
                </a:r>
                <a:endParaRPr sz="2800">
                  <a:solidFill>
                    <a:srgbClr val="15803D"/>
                  </a:solidFill>
                </a:endParaRPr>
              </a:p>
            </p:txBody>
          </p:sp>
        </mc:Fallback>
      </mc:AlternateContent>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4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diametrically opposite points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of a circle with centre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and radius </a:t>
                </a:r>
                <a14:m>
                  <m:oMath xmlns:m="http://schemas.openxmlformats.org/officeDocument/2006/math">
                    <m:r>
                      <a:rPr lang="en-IN" sz="2400" i="1">
                        <a:solidFill>
                          <a:srgbClr val="111827"/>
                        </a:solidFill>
                        <a:latin typeface="Cambria Math" panose="02040503050406030204" pitchFamily="18" charset="0"/>
                      </a:rPr>
                      <m:t>𝑟</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oMath>
                </a14:m>
                <a:r>
                  <a:rPr sz="2400" b="0">
                    <a:solidFill>
                      <a:srgbClr val="111827"/>
                    </a:solidFill>
                    <a:latin typeface="Arial"/>
                  </a:rPr>
                  <a:t> relative to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𝑃</m:t>
                        </m:r>
                        <m:r>
                          <a:rPr lang="en-IN" sz="2400" i="1">
                            <a:solidFill>
                              <a:srgbClr val="111827"/>
                            </a:solidFill>
                            <a:latin typeface="Cambria Math" panose="02040503050406030204" pitchFamily="18" charset="0"/>
                          </a:rPr>
                          <m:t>𝐵</m:t>
                        </m:r>
                      </m:e>
                    </m:acc>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𝑃</m:t>
                            </m:r>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𝑟</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for every point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the condition here has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𝑧</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𝑅</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𝑧</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 ranges over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𝑅</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 both ends attained.</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s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𝑧</m:t>
                                </m:r>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oMath>
                </a14:m>
                <a:r>
                  <a:rPr sz="2400" b="0">
                    <a:solidFill>
                      <a:srgbClr val="111827"/>
                    </a:solidFill>
                    <a:latin typeface="Arial"/>
                  </a:rPr>
                  <a:t> (parallelogram law), so when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sum of squares of the distances to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is the constant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diametrically opposite points </a:t>
                </a:r>
                <a:r>
                  <a:rPr lang="en-IN" sz="2400">
                    <a:solidFill>
                      <a:srgbClr val="111827"/>
                    </a:solidFill>
                    <a:latin typeface="Cambria Math" panose="02040503050406030204" pitchFamily="18" charset="0"/>
                  </a:rPr>
                  <a:t>$A,B$</a:t>
                </a:r>
                <a:r>
                  <a:rPr sz="2400" b="0">
                    <a:solidFill>
                      <a:srgbClr val="111827"/>
                    </a:solidFill>
                    <a:latin typeface="Arial"/>
                  </a:rPr>
                  <a:t> of a circle with centre </a:t>
                </a:r>
                <a:r>
                  <a:rPr lang="en-IN" sz="2400">
                    <a:solidFill>
                      <a:srgbClr val="111827"/>
                    </a:solidFill>
                    <a:latin typeface="Cambria Math" panose="02040503050406030204" pitchFamily="18" charset="0"/>
                  </a:rPr>
                  <a:t>$O$</a:t>
                </a:r>
                <a:r>
                  <a:rPr sz="2400" b="0">
                    <a:solidFill>
                      <a:srgbClr val="111827"/>
                    </a:solidFill>
                    <a:latin typeface="Arial"/>
                  </a:rPr>
                  <a:t> and radius </a:t>
                </a:r>
                <a:r>
                  <a:rPr lang="en-IN" sz="2400">
                    <a:solidFill>
                      <a:srgbClr val="111827"/>
                    </a:solidFill>
                    <a:latin typeface="Cambria Math" panose="02040503050406030204" pitchFamily="18" charset="0"/>
                  </a:rPr>
                  <a:t>$r$</a:t>
                </a:r>
                <a:r>
                  <a:rPr sz="2400" b="0">
                    <a:solidFill>
                      <a:srgbClr val="111827"/>
                    </a:solidFill>
                    <a:latin typeface="Arial"/>
                  </a:rPr>
                  <a:t> (</a:t>
                </a:r>
                <a:r>
                  <a:rPr lang="en-IN" sz="2400">
                    <a:solidFill>
                      <a:srgbClr val="111827"/>
                    </a:solidFill>
                    <a:latin typeface="Cambria Math" panose="02040503050406030204" pitchFamily="18" charset="0"/>
                  </a:rPr>
                  <a:t>$B=-A$</a:t>
                </a:r>
                <a:r>
                  <a:rPr sz="2400" b="0">
                    <a:solidFill>
                      <a:srgbClr val="111827"/>
                    </a:solidFill>
                    <a:latin typeface="Arial"/>
                  </a:rPr>
                  <a:t> relative to </a:t>
                </a:r>
                <a:r>
                  <a:rPr lang="en-IN" sz="2400">
                    <a:solidFill>
                      <a:srgbClr val="111827"/>
                    </a:solidFill>
                    <a:latin typeface="Cambria Math" panose="02040503050406030204" pitchFamily="18" charset="0"/>
                  </a:rPr>
                  <a:t>$O$</a:t>
                </a:r>
                <a:r>
                  <a:rPr sz="2400" b="0">
                    <a:solidFill>
                      <a:srgbClr val="111827"/>
                    </a:solidFill>
                    <a:latin typeface="Arial"/>
                  </a:rPr>
                  <a:t>): </a:t>
                </a:r>
                <a:r>
                  <a:rPr lang="en-IN" sz="2400">
                    <a:solidFill>
                      <a:srgbClr val="111827"/>
                    </a:solidFill>
                    <a:latin typeface="Cambria Math" panose="02040503050406030204" pitchFamily="18" charset="0"/>
                  </a:rPr>
                  <a:t>$\overrightarrow{PA}\cdot\overrightarrow{PB}=\left|OP\right|^2-r^2$</a:t>
                </a:r>
                <a:r>
                  <a:rPr sz="2400" b="0">
                    <a:solidFill>
                      <a:srgbClr val="111827"/>
                    </a:solidFill>
                    <a:latin typeface="Arial"/>
                  </a:rPr>
                  <a:t> for every point </a:t>
                </a:r>
                <a:r>
                  <a:rPr lang="en-IN" sz="2400">
                    <a:solidFill>
                      <a:srgbClr val="111827"/>
                    </a:solidFill>
                    <a:latin typeface="Cambria Math" panose="02040503050406030204" pitchFamily="18" charset="0"/>
                  </a:rPr>
                  <a:t>$P$</a:t>
                </a:r>
                <a:r>
                  <a:rPr sz="2400" b="0">
                    <a:solidFill>
                      <a:srgbClr val="111827"/>
                    </a:solidFill>
                    <a:latin typeface="Arial"/>
                  </a:rPr>
                  <a:t>; the condition here has </a:t>
                </a:r>
                <a:r>
                  <a:rPr lang="en-IN" sz="2400">
                    <a:solidFill>
                      <a:srgbClr val="111827"/>
                    </a:solidFill>
                    <a:latin typeface="Cambria Math" panose="02040503050406030204" pitchFamily="18" charset="0"/>
                  </a:rPr>
                  <a:t>$OA=1$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$\left|z\right|=R&gt;1$</a:t>
                </a:r>
                <a:r>
                  <a:rPr sz="2400" b="0">
                    <a:solidFill>
                      <a:srgbClr val="111827"/>
                    </a:solidFill>
                    <a:latin typeface="Arial"/>
                  </a:rPr>
                  <a:t>: </a:t>
                </a:r>
                <a:r>
                  <a:rPr lang="en-IN" sz="2400">
                    <a:solidFill>
                      <a:srgbClr val="111827"/>
                    </a:solidFill>
                    <a:latin typeface="Cambria Math" panose="02040503050406030204" pitchFamily="18" charset="0"/>
                  </a:rPr>
                  <a:t>$\left|z-1\right|\left|z+1\right|=\left|z^2-1\right|$</a:t>
                </a:r>
                <a:r>
                  <a:rPr sz="2400" b="0">
                    <a:solidFill>
                      <a:srgbClr val="111827"/>
                    </a:solidFill>
                    <a:latin typeface="Arial"/>
                  </a:rPr>
                  <a:t> ranges over </a:t>
                </a:r>
                <a:r>
                  <a:rPr lang="en-IN" sz="2400">
                    <a:solidFill>
                      <a:srgbClr val="111827"/>
                    </a:solidFill>
                    <a:latin typeface="Cambria Math" panose="02040503050406030204" pitchFamily="18" charset="0"/>
                  </a:rPr>
                  <a:t>$\left[R^2-1,R^2+1\right]$</a:t>
                </a:r>
                <a:r>
                  <a:rPr sz="2400" b="0">
                    <a:solidFill>
                      <a:srgbClr val="111827"/>
                    </a:solidFill>
                    <a:latin typeface="Arial"/>
                  </a:rPr>
                  <a:t>, both ends attained.</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$\left|z-1\right|^2+\left|z+1\right|^2=2\left(\left|z\right|^2+1\right)$</a:t>
                </a:r>
                <a:r>
                  <a:rPr sz="2400" b="0">
                    <a:solidFill>
                      <a:srgbClr val="111827"/>
                    </a:solidFill>
                    <a:latin typeface="Arial"/>
                  </a:rPr>
                  <a:t> (parallelogram law), so when </a:t>
                </a:r>
                <a:r>
                  <a:rPr lang="en-IN" sz="2400">
                    <a:solidFill>
                      <a:srgbClr val="111827"/>
                    </a:solidFill>
                    <a:latin typeface="Cambria Math" panose="02040503050406030204" pitchFamily="18" charset="0"/>
                  </a:rPr>
                  <a:t>$|z|=2$</a:t>
                </a:r>
                <a:r>
                  <a:rPr sz="2400" b="0">
                    <a:solidFill>
                      <a:srgbClr val="111827"/>
                    </a:solidFill>
                    <a:latin typeface="Arial"/>
                  </a:rPr>
                  <a:t> the sum of squares of the distances to </a:t>
                </a:r>
                <a:r>
                  <a:rPr lang="en-IN" sz="2400">
                    <a:solidFill>
                      <a:srgbClr val="111827"/>
                    </a:solidFill>
                    <a:latin typeface="Cambria Math" panose="02040503050406030204" pitchFamily="18" charset="0"/>
                  </a:rPr>
                  <a:t>$A,B$</a:t>
                </a:r>
                <a:r>
                  <a:rPr sz="2400" b="0">
                    <a:solidFill>
                      <a:srgbClr val="111827"/>
                    </a:solidFill>
                    <a:latin typeface="Arial"/>
                  </a:rPr>
                  <a:t> is the constant </a:t>
                </a:r>
                <a:r>
                  <a:rPr lang="en-IN" sz="2400">
                    <a:solidFill>
                      <a:srgbClr val="111827"/>
                    </a:solidFill>
                    <a:latin typeface="Cambria Math" panose="02040503050406030204" pitchFamily="18" charset="0"/>
                  </a:rPr>
                  <a:t>$10$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a:t>
                </a:r>
                <a:r>
                  <a:rPr lang="en-IN" sz="2400">
                    <a:solidFill>
                      <a:srgbClr val="111827"/>
                    </a:solidFill>
                    <a:latin typeface="Cambria Math" panose="02040503050406030204" pitchFamily="18" charset="0"/>
                  </a:rPr>
                  <a:t>$P=(0,2)$</a:t>
                </a:r>
                <a:r>
                  <a:rPr sz="2400" b="0">
                    <a:solidFill>
                      <a:srgbClr val="111827"/>
                    </a:solidFill>
                    <a:latin typeface="Arial"/>
                  </a:rPr>
                  <a:t> gives </a:t>
                </a:r>
                <a:r>
                  <a:rPr lang="en-IN" sz="2400">
                    <a:solidFill>
                      <a:srgbClr val="111827"/>
                    </a:solidFill>
                    <a:latin typeface="Cambria Math" panose="02040503050406030204" pitchFamily="18" charset="0"/>
                  </a:rPr>
                  <a:t>$\sqrt5\cdot\sqrt5=5$</a:t>
                </a:r>
                <a:r>
                  <a:rPr sz="2400" b="0">
                    <a:solidFill>
                      <a:srgbClr val="111827"/>
                    </a:solidFill>
                    <a:latin typeface="Arial"/>
                  </a:rPr>
                  <a:t> and </a:t>
                </a:r>
                <a:r>
                  <a:rPr lang="en-IN" sz="2400">
                    <a:solidFill>
                      <a:srgbClr val="111827"/>
                    </a:solidFill>
                    <a:latin typeface="Cambria Math" panose="02040503050406030204" pitchFamily="18" charset="0"/>
                  </a:rPr>
                  <a:t>$P=(2,0)$</a:t>
                </a:r>
                <a:r>
                  <a:rPr sz="2400" b="0">
                    <a:solidFill>
                      <a:srgbClr val="111827"/>
                    </a:solidFill>
                    <a:latin typeface="Arial"/>
                  </a:rPr>
                  <a:t> gives </a:t>
                </a:r>
                <a:r>
                  <a:rPr lang="en-IN" sz="2400">
                    <a:solidFill>
                      <a:srgbClr val="111827"/>
                    </a:solidFill>
                    <a:latin typeface="Cambria Math" panose="02040503050406030204" pitchFamily="18" charset="0"/>
                  </a:rPr>
                  <a:t>$1\cdot3=3$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2</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Paragraph Based Questions</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Q34 – Q42</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3 marks each (no marks printed - JEE Advanced default of 3 assumed)</a:t>
            </a:r>
            <a:endParaRPr sz="2800">
              <a:solidFill>
                <a:srgbClr val="FFFFFF"/>
              </a:solidFill>
            </a:endParaRP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78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Also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has the value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12</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10</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8</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6</m:t>
                    </m:r>
                  </m:oMath>
                </a14:m>
                <a:endParaRPr sz="2400">
                  <a:solidFill>
                    <a:srgbClr val="111827"/>
                  </a:solidFill>
                </a:endParaRPr>
              </a:p>
            </p:txBody>
          </p:sp>
        </mc:Choice>
        <mc:Fallback>
          <p:sp>
            <p:nvSpPr>
              <p:cNvPr id="4" name="Rounded Rectangle 3"/>
              <p:cNvSpPr/>
              <p:nvPr/>
            </p:nvSpPr>
            <p:spPr>
              <a:xfrm>
                <a:off x="731520" y="1280160"/>
                <a:ext cx="10725912" cy="2878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$|\vec{a}|=|\vec{b}|=2$</a:t>
                </a:r>
                <a:r>
                  <a:rPr sz="2400" b="0">
                    <a:solidFill>
                      <a:srgbClr val="111827"/>
                    </a:solidFill>
                    <a:latin typeface="Arial"/>
                  </a:rPr>
                  <a:t> and </a:t>
                </a:r>
                <a:r>
                  <a:rPr lang="en-IN" sz="2400">
                    <a:solidFill>
                      <a:srgbClr val="111827"/>
                    </a:solidFill>
                    <a:latin typeface="Cambria Math" panose="02040503050406030204" pitchFamily="18" charset="0"/>
                  </a:rPr>
                  <a:t>$|\vec{c}|=1$</a:t>
                </a:r>
                <a:r>
                  <a:rPr sz="2400" b="0">
                    <a:solidFill>
                      <a:srgbClr val="111827"/>
                    </a:solidFill>
                    <a:latin typeface="Arial"/>
                  </a:rPr>
                  <a:t>. Also </a:t>
                </a:r>
                <a:r>
                  <a:rPr lang="en-IN" sz="2400">
                    <a:solidFill>
                      <a:srgbClr val="111827"/>
                    </a:solidFill>
                    <a:latin typeface="Cambria Math" panose="02040503050406030204" pitchFamily="18" charset="0"/>
                  </a:rPr>
                  <a:t>$(\vec{a}-\vec{c})\cdot(\vec{b}-\vec{c})=0$</a:t>
                </a:r>
                <a:r>
                  <a:rPr sz="2400" b="0">
                    <a:solidFill>
                      <a:srgbClr val="111827"/>
                    </a:solidFill>
                    <a:latin typeface="Arial"/>
                  </a:rPr>
                  <a:t> and </a:t>
                </a:r>
                <a:r>
                  <a:rPr lang="en-IN" sz="2400">
                    <a:solidFill>
                      <a:srgbClr val="111827"/>
                    </a:solidFill>
                    <a:latin typeface="Cambria Math" panose="02040503050406030204" pitchFamily="18" charset="0"/>
                  </a:rPr>
                  <a:t>$|\vec{a}-\vec{b}|^2+|\vec{a}+\vec{b}|^2=16$</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lang="en-IN" sz="2400">
                    <a:solidFill>
                      <a:srgbClr val="111827"/>
                    </a:solidFill>
                    <a:latin typeface="Cambria Math" panose="02040503050406030204" pitchFamily="18" charset="0"/>
                  </a:rPr>
                  <a:t>$|\vec{a}-\vec{b}|^2+2\vec{c}\cdot(\vec{a}+\vec{b})$</a:t>
                </a:r>
                <a:r>
                  <a:rPr sz="2400" b="0">
                    <a:solidFill>
                      <a:srgbClr val="111827"/>
                    </a:solidFill>
                    <a:latin typeface="Arial"/>
                  </a:rPr>
                  <a:t> has the value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$12$</a:t>
                </a:r>
                <a:r>
                  <a:rPr sz="2400" b="0">
                    <a:solidFill>
                      <a:srgbClr val="111827"/>
                    </a:solidFill>
                    <a:latin typeface="Arial"/>
                  </a:rPr>
                  <a:t>   (B) </a:t>
                </a:r>
                <a:r>
                  <a:rPr lang="en-IN" sz="2400">
                    <a:solidFill>
                      <a:srgbClr val="111827"/>
                    </a:solidFill>
                    <a:latin typeface="Cambria Math" panose="02040503050406030204" pitchFamily="18" charset="0"/>
                  </a:rPr>
                  <a:t>$10$</a:t>
                </a:r>
                <a:r>
                  <a:rPr sz="2400" b="0">
                    <a:solidFill>
                      <a:srgbClr val="111827"/>
                    </a:solidFill>
                    <a:latin typeface="Arial"/>
                  </a:rPr>
                  <a:t>   (C) </a:t>
                </a:r>
                <a:r>
                  <a:rPr lang="en-IN" sz="2400">
                    <a:solidFill>
                      <a:srgbClr val="111827"/>
                    </a:solidFill>
                    <a:latin typeface="Cambria Math" panose="02040503050406030204" pitchFamily="18" charset="0"/>
                  </a:rPr>
                  <a:t>$8$</a:t>
                </a:r>
                <a:r>
                  <a:rPr sz="2400" b="0">
                    <a:solidFill>
                      <a:srgbClr val="111827"/>
                    </a:solidFill>
                    <a:latin typeface="Arial"/>
                  </a:rPr>
                  <a:t>   (D) </a:t>
                </a:r>
                <a:r>
                  <a:rPr lang="en-IN" sz="2400">
                    <a:solidFill>
                      <a:srgbClr val="111827"/>
                    </a:solidFill>
                    <a:latin typeface="Cambria Math" panose="02040503050406030204" pitchFamily="18" charset="0"/>
                  </a:rPr>
                  <a:t>$6$</a:t>
                </a:r>
                <a:endParaRPr sz="2400">
                  <a:solidFill>
                    <a:srgbClr val="111827"/>
                  </a:solidFill>
                </a:endParaRPr>
              </a:p>
            </p:txBody>
          </p:sp>
        </mc:Fallback>
      </mc:AlternateContent>
      <p:sp>
        <p:nvSpPr>
          <p:cNvPr id="5" name="Rectangle 4"/>
          <p:cNvSpPr/>
          <p:nvPr/>
        </p:nvSpPr>
        <p:spPr>
          <a:xfrm>
            <a:off x="731520" y="4387596"/>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Dot product and magnitude of vectors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oMath>
                </a14:m>
                <a:r>
                  <a:rPr sz="2400" b="0">
                    <a:solidFill>
                      <a:srgbClr val="78350F"/>
                    </a:solidFill>
                    <a:latin typeface="Arial"/>
                  </a:rPr>
                  <a:t> makes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the sum of the squares of the two perpendicular sides.</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$(\vec{a}-\vec{c})\perp(\vec{b}-\vec{c})$</a:t>
                </a:r>
                <a:r>
                  <a:rPr sz="2400" b="0">
                    <a:solidFill>
                      <a:srgbClr val="78350F"/>
                    </a:solidFill>
                    <a:latin typeface="Arial"/>
                  </a:rPr>
                  <a:t> makes </a:t>
                </a:r>
                <a:r>
                  <a:rPr lang="en-IN" sz="2400">
                    <a:solidFill>
                      <a:srgbClr val="78350F"/>
                    </a:solidFill>
                    <a:latin typeface="Cambria Math" panose="02040503050406030204" pitchFamily="18" charset="0"/>
                  </a:rPr>
                  <a:t>$|\vec{a}-\vec{b}|^2$</a:t>
                </a:r>
                <a:r>
                  <a:rPr sz="2400" b="0">
                    <a:solidFill>
                      <a:srgbClr val="78350F"/>
                    </a:solidFill>
                    <a:latin typeface="Arial"/>
                  </a:rPr>
                  <a:t> the sum of the squares of the two perpendicular sides.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...(1),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last term is zero because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$|\vec{a}-\vec{b}|^2+|\vec{a}+\vec{b}|^2=16$</a:t>
                </a:r>
                <a:r>
                  <a:rPr sz="2400" b="0">
                    <a:solidFill>
                      <a:srgbClr val="111827"/>
                    </a:solidFill>
                    <a:latin typeface="Arial"/>
                  </a:rPr>
                  <a:t> ...(1), </a:t>
                </a:r>
                <a:r>
                  <a:rPr lang="en-IN" sz="2400">
                    <a:solidFill>
                      <a:srgbClr val="111827"/>
                    </a:solidFill>
                    <a:latin typeface="Cambria Math" panose="02040503050406030204" pitchFamily="18" charset="0"/>
                  </a:rPr>
                  <a:t>$|\vec{a}|=|\vec{b}|=2$</a:t>
                </a:r>
                <a:r>
                  <a:rPr sz="2400" b="0">
                    <a:solidFill>
                      <a:srgbClr val="111827"/>
                    </a:solidFill>
                    <a:latin typeface="Arial"/>
                  </a:rPr>
                  <a:t> and </a:t>
                </a:r>
                <a:r>
                  <a:rPr lang="en-IN" sz="2400">
                    <a:solidFill>
                      <a:srgbClr val="111827"/>
                    </a:solidFill>
                    <a:latin typeface="Cambria Math" panose="02040503050406030204" pitchFamily="18" charset="0"/>
                  </a:rPr>
                  <a:t>$|\vec{c}|=1$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Write </a:t>
                </a:r>
                <a:r>
                  <a:rPr lang="en-IN" sz="2400">
                    <a:solidFill>
                      <a:srgbClr val="111827"/>
                    </a:solidFill>
                    <a:latin typeface="Cambria Math" panose="02040503050406030204" pitchFamily="18" charset="0"/>
                  </a:rPr>
                  <a:t>$\vec{a}-\vec{b}=(\vec{a}-\vec{c})-(\vec{b}-\vec{c})$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$|\vec{a}-\vec{b}|^2=(\vec{a}-\vec{c})^2+(\vec{b}-\vec{c})^2-2(\vec{a}-\vec{c})\cdot(\vec{b}-\vec{c})$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last term is zero because </a:t>
                </a:r>
                <a:r>
                  <a:rPr lang="en-IN" sz="2400">
                    <a:solidFill>
                      <a:srgbClr val="111827"/>
                    </a:solidFill>
                    <a:latin typeface="Cambria Math" panose="02040503050406030204" pitchFamily="18" charset="0"/>
                  </a:rPr>
                  <a:t>$(\vec{a}-\vec{c})\cdot(\vec{b}-\vec{c})=0$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sSup>
                      <m:e>
                        <m:r>
                          <a:rPr lang="en-IN" sz="2400" i="1">
                            <a:solidFill>
                              <a:srgbClr val="111827"/>
                            </a:solidFill>
                            <a:latin typeface="Cambria Math" panose="02040503050406030204" pitchFamily="18" charset="0"/>
                          </a:rPr>
                          <m:t>𝑐</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$|\vec{a}-\vec{b}|^2=a^2+c^2-2\vec{a}\cdot\vec{c}+b^2+c^2-2\vec{b}\cdot\vec{c}$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$a^2=b^2=4$</a:t>
                </a:r>
                <a:r>
                  <a:rPr sz="2400" b="0">
                    <a:solidFill>
                      <a:srgbClr val="111827"/>
                    </a:solidFill>
                    <a:latin typeface="Arial"/>
                  </a:rPr>
                  <a:t> and </a:t>
                </a:r>
                <a:r>
                  <a:rPr lang="en-IN" sz="2400">
                    <a:solidFill>
                      <a:srgbClr val="111827"/>
                    </a:solidFill>
                    <a:latin typeface="Cambria Math" panose="02040503050406030204" pitchFamily="18" charset="0"/>
                  </a:rPr>
                  <a:t>$c^2=1$</a:t>
                </a:r>
                <a:r>
                  <a:rPr sz="2400" b="0">
                    <a:solidFill>
                      <a:srgbClr val="111827"/>
                    </a:solidFill>
                    <a:latin typeface="Arial"/>
                  </a:rPr>
                  <a:t>: </a:t>
                </a:r>
                <a:r>
                  <a:rPr lang="en-IN" sz="2400">
                    <a:solidFill>
                      <a:srgbClr val="111827"/>
                    </a:solidFill>
                    <a:latin typeface="Cambria Math" panose="02040503050406030204" pitchFamily="18" charset="0"/>
                  </a:rPr>
                  <a:t>$|\vec{a}-\vec{b}|^2=10-2(\vec{a}\cdot\vec{c}+\vec{b}\cdot\vec{c})$</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$|\vec{a}-\vec{b}|^2+2\vec{c}\cdot(\vec{a}+\vec{b})=10$</a:t>
                </a:r>
                <a:r>
                  <a:rPr sz="2400" b="0">
                    <a:solidFill>
                      <a:srgbClr val="111827"/>
                    </a:solidFill>
                    <a:latin typeface="Arial"/>
                  </a:rPr>
                  <a:t>, option (B).</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10</a:t>
            </a:r>
            <a:endParaRPr sz="2800">
              <a:solidFill>
                <a:srgbClr val="15803D"/>
              </a:solidFill>
            </a:endParaRPr>
          </a:p>
        </p:txBody>
      </p:sp>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Thales: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puts </a:t>
                </a:r>
                <a14:m>
                  <m:oMath xmlns:m="http://schemas.openxmlformats.org/officeDocument/2006/math">
                    <m:r>
                      <a:rPr lang="en-IN" sz="2400" i="1">
                        <a:solidFill>
                          <a:srgbClr val="78350F"/>
                        </a:solidFill>
                        <a:latin typeface="Cambria Math" panose="02040503050406030204" pitchFamily="18" charset="0"/>
                      </a:rPr>
                      <m:t>𝑐</m:t>
                    </m:r>
                  </m:oMath>
                </a14:m>
                <a:r>
                  <a:rPr sz="2400" b="0">
                    <a:solidFill>
                      <a:srgbClr val="78350F"/>
                    </a:solidFill>
                    <a:latin typeface="Arial"/>
                  </a:rPr>
                  <a:t> on the circle with diameter </a:t>
                </a:r>
                <a14:m>
                  <m:oMath xmlns:m="http://schemas.openxmlformats.org/officeDocument/2006/math">
                    <m:r>
                      <a:rPr lang="en-IN" sz="2400" i="1">
                        <a:solidFill>
                          <a:srgbClr val="78350F"/>
                        </a:solidFill>
                        <a:latin typeface="Cambria Math" panose="02040503050406030204" pitchFamily="18" charset="0"/>
                      </a:rPr>
                      <m:t>𝐴</m:t>
                    </m:r>
                    <m:r>
                      <a:rPr lang="en-IN" sz="2400" i="1">
                        <a:solidFill>
                          <a:srgbClr val="78350F"/>
                        </a:solidFill>
                        <a:latin typeface="Cambria Math" panose="02040503050406030204" pitchFamily="18" charset="0"/>
                      </a:rPr>
                      <m:t>𝐵</m:t>
                    </m:r>
                  </m:oMath>
                </a14:m>
                <a:r>
                  <a:rPr sz="2400" b="0">
                    <a:solidFill>
                      <a:srgbClr val="78350F"/>
                    </a:solidFill>
                    <a:latin typeface="Arial"/>
                  </a:rPr>
                  <a:t>, so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𝑚</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oMath>
                </a14:m>
                <a:r>
                  <a:rPr sz="2400" b="0">
                    <a:solidFill>
                      <a:srgbClr val="78350F"/>
                    </a:solidFill>
                    <a:latin typeface="Arial"/>
                  </a:rPr>
                  <a:t> for the midpoint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𝑚</m:t>
                        </m:r>
                      </m:e>
                    </m:acc>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num>
                      <m:den>
                        <m:r>
                          <a:rPr lang="en-IN" sz="2400" i="1">
                            <a:solidFill>
                              <a:srgbClr val="78350F"/>
                            </a:solidFill>
                            <a:latin typeface="Cambria Math" panose="02040503050406030204" pitchFamily="18" charset="0"/>
                          </a:rPr>
                          <m:t>2</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Thales: </a:t>
                </a:r>
                <a:r>
                  <a:rPr lang="en-IN" sz="2400">
                    <a:solidFill>
                      <a:srgbClr val="78350F"/>
                    </a:solidFill>
                    <a:latin typeface="Cambria Math" panose="02040503050406030204" pitchFamily="18" charset="0"/>
                  </a:rPr>
                  <a:t>$(\vec{a}-\vec{c})\cdot(\vec{b}-\vec{c})=0$</a:t>
                </a:r>
                <a:r>
                  <a:rPr sz="2400" b="0">
                    <a:solidFill>
                      <a:srgbClr val="78350F"/>
                    </a:solidFill>
                    <a:latin typeface="Arial"/>
                  </a:rPr>
                  <a:t> puts </a:t>
                </a:r>
                <a:r>
                  <a:rPr lang="en-IN" sz="2400">
                    <a:solidFill>
                      <a:srgbClr val="78350F"/>
                    </a:solidFill>
                    <a:latin typeface="Cambria Math" panose="02040503050406030204" pitchFamily="18" charset="0"/>
                  </a:rPr>
                  <a:t>$c$</a:t>
                </a:r>
                <a:r>
                  <a:rPr sz="2400" b="0">
                    <a:solidFill>
                      <a:srgbClr val="78350F"/>
                    </a:solidFill>
                    <a:latin typeface="Arial"/>
                  </a:rPr>
                  <a:t> on the circle with diameter </a:t>
                </a:r>
                <a:r>
                  <a:rPr lang="en-IN" sz="2400">
                    <a:solidFill>
                      <a:srgbClr val="78350F"/>
                    </a:solidFill>
                    <a:latin typeface="Cambria Math" panose="02040503050406030204" pitchFamily="18" charset="0"/>
                  </a:rPr>
                  <a:t>$AB$</a:t>
                </a:r>
                <a:r>
                  <a:rPr sz="2400" b="0">
                    <a:solidFill>
                      <a:srgbClr val="78350F"/>
                    </a:solidFill>
                    <a:latin typeface="Arial"/>
                  </a:rPr>
                  <a:t>, so </a:t>
                </a:r>
                <a:r>
                  <a:rPr lang="en-IN" sz="2400">
                    <a:solidFill>
                      <a:srgbClr val="78350F"/>
                    </a:solidFill>
                    <a:latin typeface="Cambria Math" panose="02040503050406030204" pitchFamily="18" charset="0"/>
                  </a:rPr>
                  <a:t>$|\vec{c}-\vec{m}|=\frac{1}{2}|\vec{a}-\vec{b}|$</a:t>
                </a:r>
                <a:r>
                  <a:rPr sz="2400" b="0">
                    <a:solidFill>
                      <a:srgbClr val="78350F"/>
                    </a:solidFill>
                    <a:latin typeface="Arial"/>
                  </a:rPr>
                  <a:t> for the midpoint </a:t>
                </a:r>
                <a:r>
                  <a:rPr lang="en-IN" sz="2400">
                    <a:solidFill>
                      <a:srgbClr val="78350F"/>
                    </a:solidFill>
                    <a:latin typeface="Cambria Math" panose="02040503050406030204" pitchFamily="18" charset="0"/>
                  </a:rPr>
                  <a:t>$\vec{m}=\frac{\vec{a}+\vec{b}}{2}$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Their dot product is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given condition (1) with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hence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$\vec{m}=\frac{\vec{a}+\vec{b}}{2}$</a:t>
                </a:r>
                <a:r>
                  <a:rPr sz="2400" b="0">
                    <a:solidFill>
                      <a:srgbClr val="111827"/>
                    </a:solidFill>
                    <a:latin typeface="Arial"/>
                  </a:rPr>
                  <a:t> and </a:t>
                </a:r>
                <a:r>
                  <a:rPr lang="en-IN" sz="2400">
                    <a:solidFill>
                      <a:srgbClr val="111827"/>
                    </a:solidFill>
                    <a:latin typeface="Cambria Math" panose="02040503050406030204" pitchFamily="18" charset="0"/>
                  </a:rPr>
                  <a:t>$\vec{d}=\frac{\vec{a}-\vec{b}}{2}$</a:t>
                </a:r>
                <a:r>
                  <a:rPr sz="2400" b="0">
                    <a:solidFill>
                      <a:srgbClr val="111827"/>
                    </a:solidFill>
                    <a:latin typeface="Arial"/>
                  </a:rPr>
                  <a:t>. Then </a:t>
                </a:r>
                <a:r>
                  <a:rPr lang="en-IN" sz="2400">
                    <a:solidFill>
                      <a:srgbClr val="111827"/>
                    </a:solidFill>
                    <a:latin typeface="Cambria Math" panose="02040503050406030204" pitchFamily="18" charset="0"/>
                  </a:rPr>
                  <a:t>$\vec{a}-\vec{c}=(\vec{m}-\vec{c})+\vec{d}$</a:t>
                </a:r>
                <a:r>
                  <a:rPr sz="2400" b="0">
                    <a:solidFill>
                      <a:srgbClr val="111827"/>
                    </a:solidFill>
                    <a:latin typeface="Arial"/>
                  </a:rPr>
                  <a:t> and </a:t>
                </a:r>
                <a:r>
                  <a:rPr lang="en-IN" sz="2400">
                    <a:solidFill>
                      <a:srgbClr val="111827"/>
                    </a:solidFill>
                    <a:latin typeface="Cambria Math" panose="02040503050406030204" pitchFamily="18" charset="0"/>
                  </a:rPr>
                  <a:t>$\vec{b}-\vec{c}=(\vec{m}-\vec{c})-\vec{d}$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Their dot product is </a:t>
                </a:r>
                <a:r>
                  <a:rPr lang="en-IN" sz="2400">
                    <a:solidFill>
                      <a:srgbClr val="111827"/>
                    </a:solidFill>
                    <a:latin typeface="Cambria Math" panose="02040503050406030204" pitchFamily="18" charset="0"/>
                  </a:rPr>
                  <a:t>$|\vec{m}-\vec{c}|^2-|\vec{d}|^2=0$</a:t>
                </a:r>
                <a:r>
                  <a:rPr sz="2400" b="0">
                    <a:solidFill>
                      <a:srgbClr val="111827"/>
                    </a:solidFill>
                    <a:latin typeface="Arial"/>
                  </a:rPr>
                  <a:t>, so </a:t>
                </a:r>
                <a:r>
                  <a:rPr lang="en-IN" sz="2400">
                    <a:solidFill>
                      <a:srgbClr val="111827"/>
                    </a:solidFill>
                    <a:latin typeface="Cambria Math" panose="02040503050406030204" pitchFamily="18" charset="0"/>
                  </a:rPr>
                  <a:t>$|\vec{m}-\vec{c}|^2=|\vec{d}|^2$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given condition (1) with </a:t>
                </a:r>
                <a:r>
                  <a:rPr lang="en-IN" sz="2400">
                    <a:solidFill>
                      <a:srgbClr val="111827"/>
                    </a:solidFill>
                    <a:latin typeface="Cambria Math" panose="02040503050406030204" pitchFamily="18" charset="0"/>
                  </a:rPr>
                  <a:t>$|\vec{a}+\vec{b}|^2=4|\vec{m}|^2$</a:t>
                </a:r>
                <a:r>
                  <a:rPr sz="2400" b="0">
                    <a:solidFill>
                      <a:srgbClr val="111827"/>
                    </a:solidFill>
                    <a:latin typeface="Arial"/>
                  </a:rPr>
                  <a:t> gives </a:t>
                </a:r>
                <a:r>
                  <a:rPr lang="en-IN" sz="2400">
                    <a:solidFill>
                      <a:srgbClr val="111827"/>
                    </a:solidFill>
                    <a:latin typeface="Cambria Math" panose="02040503050406030204" pitchFamily="18" charset="0"/>
                  </a:rPr>
                  <a:t>$|\vec{a}-\vec{b}|^2=16-4|\vec{m}|^2$</a:t>
                </a:r>
                <a:r>
                  <a:rPr sz="2400" b="0">
                    <a:solidFill>
                      <a:srgbClr val="111827"/>
                    </a:solidFill>
                    <a:latin typeface="Arial"/>
                  </a:rPr>
                  <a:t>, hence </a:t>
                </a:r>
                <a:r>
                  <a:rPr lang="en-IN" sz="2400">
                    <a:solidFill>
                      <a:srgbClr val="111827"/>
                    </a:solidFill>
                    <a:latin typeface="Cambria Math" panose="02040503050406030204" pitchFamily="18" charset="0"/>
                  </a:rPr>
                  <a:t>$|\vec{d}|^2=4-|\vec{m}|^2$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Equating: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oMath>
                </a14:m>
                <a:r>
                  <a:rPr sz="2400" b="0">
                    <a:solidFill>
                      <a:srgbClr val="111827"/>
                    </a:solidFill>
                    <a:latin typeface="Arial"/>
                  </a:rPr>
                  <a:t>, so the required value is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equals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oMath>
                </a14:m>
                <a:r>
                  <a:rPr sz="2400" b="0">
                    <a:solidFill>
                      <a:srgbClr val="111827"/>
                    </a:solidFill>
                    <a:latin typeface="Arial"/>
                  </a:rPr>
                  <a:t> by (*).</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$|\vec{m}-\vec{c}|^2=|\vec{m}|^2-2\vec{m}\cdot\vec{c}+1$</a:t>
                </a:r>
                <a:r>
                  <a:rPr sz="2400" b="0">
                    <a:solidFill>
                      <a:srgbClr val="111827"/>
                    </a:solidFill>
                    <a:latin typeface="Arial"/>
                  </a:rPr>
                  <a:t>. Equating: </a:t>
                </a:r>
                <a:r>
                  <a:rPr lang="en-IN" sz="2400">
                    <a:solidFill>
                      <a:srgbClr val="111827"/>
                    </a:solidFill>
                    <a:latin typeface="Cambria Math" panose="02040503050406030204" pitchFamily="18" charset="0"/>
                  </a:rPr>
                  <a:t>$|\vec{m}|^2-2\vec{m}\cdot\vec{c}+1=4-|\vec{m}|^2$</a:t>
                </a:r>
                <a:r>
                  <a:rPr sz="2400" b="0">
                    <a:solidFill>
                      <a:srgbClr val="111827"/>
                    </a:solidFill>
                    <a:latin typeface="Arial"/>
                  </a:rPr>
                  <a:t>, i.e. </a:t>
                </a:r>
                <a:r>
                  <a:rPr lang="en-IN" sz="2400">
                    <a:solidFill>
                      <a:srgbClr val="111827"/>
                    </a:solidFill>
                    <a:latin typeface="Cambria Math" panose="02040503050406030204" pitchFamily="18" charset="0"/>
                  </a:rPr>
                  <a:t>$2|\vec{m}|^2-2\vec{m}\cdot\vec{c}=3$</a:t>
                </a:r>
                <a:r>
                  <a:rPr sz="2400" b="0">
                    <a:solidFill>
                      <a:srgbClr val="111827"/>
                    </a:solidFill>
                    <a:latin typeface="Arial"/>
                  </a:rPr>
                  <a:t> ...(*).</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$2\vec{c}\cdot(\vec{a}+\vec{b})=4\vec{c}\cdot\vec{m}$</a:t>
                </a:r>
                <a:r>
                  <a:rPr sz="2400" b="0">
                    <a:solidFill>
                      <a:srgbClr val="111827"/>
                    </a:solidFill>
                    <a:latin typeface="Arial"/>
                  </a:rPr>
                  <a:t>, so the required value is </a:t>
                </a:r>
                <a:r>
                  <a:rPr lang="en-IN" sz="2400">
                    <a:solidFill>
                      <a:srgbClr val="111827"/>
                    </a:solidFill>
                    <a:latin typeface="Cambria Math" panose="02040503050406030204" pitchFamily="18" charset="0"/>
                  </a:rPr>
                  <a:t>$16-4|\vec{m}|^2+4\vec{m}\cdot\vec{c}$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equals </a:t>
                </a:r>
                <a:r>
                  <a:rPr lang="en-IN" sz="2400">
                    <a:solidFill>
                      <a:srgbClr val="111827"/>
                    </a:solidFill>
                    <a:latin typeface="Cambria Math" panose="02040503050406030204" pitchFamily="18" charset="0"/>
                  </a:rPr>
                  <a:t>$16-2\left(2|\vec{m}|^2-2\vec{m}\cdot\vec{c}\right)=16-2(3)=10$</a:t>
                </a:r>
                <a:r>
                  <a:rPr sz="2400" b="0">
                    <a:solidFill>
                      <a:srgbClr val="111827"/>
                    </a:solidFill>
                    <a:latin typeface="Arial"/>
                  </a:rPr>
                  <a:t> by (*).</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10</a:t>
            </a:r>
            <a:endParaRPr sz="2800">
              <a:solidFill>
                <a:srgbClr val="15803D"/>
              </a:solidFill>
            </a:endParaRPr>
          </a:p>
        </p:txBody>
      </p:sp>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Parallelogram law: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e>
                    </m:d>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so the given sum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is automatically true and adds no new information.</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lies on the sphere (circle in a plane) with diameter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oMath>
                </a14:m>
                <a:r>
                  <a:rPr sz="2400" b="0">
                    <a:solidFill>
                      <a:srgbClr val="111827"/>
                    </a:solidFill>
                    <a:latin typeface="Arial"/>
                  </a:rPr>
                  <a:t> the midpoint.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Perpendicular vectors satisfy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use this when a condition says two difference vectors are orthogonal.</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Parallelogram law: </a:t>
                </a:r>
                <a:r>
                  <a:rPr lang="en-IN" sz="2400">
                    <a:solidFill>
                      <a:srgbClr val="111827"/>
                    </a:solidFill>
                    <a:latin typeface="Cambria Math" panose="02040503050406030204" pitchFamily="18" charset="0"/>
                  </a:rPr>
                  <a:t>$|\vec{u}+\vec{v}|^2+|\vec{u}-\vec{v}|^2=2\left(|\vec{u}|^2+|\vec{v}|^2\right)$</a:t>
                </a:r>
                <a:r>
                  <a:rPr sz="2400" b="0">
                    <a:solidFill>
                      <a:srgbClr val="111827"/>
                    </a:solidFill>
                    <a:latin typeface="Arial"/>
                  </a:rPr>
                  <a:t>. Here </a:t>
                </a:r>
                <a:r>
                  <a:rPr lang="en-IN" sz="2400">
                    <a:solidFill>
                      <a:srgbClr val="111827"/>
                    </a:solidFill>
                    <a:latin typeface="Cambria Math" panose="02040503050406030204" pitchFamily="18" charset="0"/>
                  </a:rPr>
                  <a:t>$2(4+4)=16$</a:t>
                </a:r>
                <a:r>
                  <a:rPr sz="2400" b="0">
                    <a:solidFill>
                      <a:srgbClr val="111827"/>
                    </a:solidFill>
                    <a:latin typeface="Arial"/>
                  </a:rPr>
                  <a:t>, so the given sum </a:t>
                </a:r>
                <a:r>
                  <a:rPr lang="en-IN" sz="2400">
                    <a:solidFill>
                      <a:srgbClr val="111827"/>
                    </a:solidFill>
                    <a:latin typeface="Cambria Math" panose="02040503050406030204" pitchFamily="18" charset="0"/>
                  </a:rPr>
                  <a:t>$=16$</a:t>
                </a:r>
                <a:r>
                  <a:rPr sz="2400" b="0">
                    <a:solidFill>
                      <a:srgbClr val="111827"/>
                    </a:solidFill>
                    <a:latin typeface="Arial"/>
                  </a:rPr>
                  <a:t> is automatically true and adds no new information.</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$(\vec{a}-\vec{c})\cdot(\vec{b}-\vec{c})=0\iff \vec{c}$</a:t>
                </a:r>
                <a:r>
                  <a:rPr sz="2400" b="0">
                    <a:solidFill>
                      <a:srgbClr val="111827"/>
                    </a:solidFill>
                    <a:latin typeface="Arial"/>
                  </a:rPr>
                  <a:t> lies on the sphere (circle in a plane) with diameter </a:t>
                </a:r>
                <a:r>
                  <a:rPr lang="en-IN" sz="2400">
                    <a:solidFill>
                      <a:srgbClr val="111827"/>
                    </a:solidFill>
                    <a:latin typeface="Cambria Math" panose="02040503050406030204" pitchFamily="18" charset="0"/>
                  </a:rPr>
                  <a:t>$AB$</a:t>
                </a:r>
                <a:r>
                  <a:rPr sz="2400" b="0">
                    <a:solidFill>
                      <a:srgbClr val="111827"/>
                    </a:solidFill>
                    <a:latin typeface="Arial"/>
                  </a:rPr>
                  <a:t> </a:t>
                </a:r>
                <a:r>
                  <a:rPr lang="en-IN" sz="2400">
                    <a:solidFill>
                      <a:srgbClr val="111827"/>
                    </a:solidFill>
                    <a:latin typeface="Cambria Math" panose="02040503050406030204" pitchFamily="18" charset="0"/>
                  </a:rPr>
                  <a:t>$\iff |\vec{c}-\vec{m}|=\frac{|\vec{a}-\vec{b}|}{2}$</a:t>
                </a:r>
                <a:r>
                  <a:rPr sz="2400" b="0">
                    <a:solidFill>
                      <a:srgbClr val="111827"/>
                    </a:solidFill>
                    <a:latin typeface="Arial"/>
                  </a:rPr>
                  <a:t> with </a:t>
                </a:r>
                <a:r>
                  <a:rPr lang="en-IN" sz="2400">
                    <a:solidFill>
                      <a:srgbClr val="111827"/>
                    </a:solidFill>
                    <a:latin typeface="Cambria Math" panose="02040503050406030204" pitchFamily="18" charset="0"/>
                  </a:rPr>
                  <a:t>$\vec{m}$</a:t>
                </a:r>
                <a:r>
                  <a:rPr sz="2400" b="0">
                    <a:solidFill>
                      <a:srgbClr val="111827"/>
                    </a:solidFill>
                    <a:latin typeface="Arial"/>
                  </a:rPr>
                  <a:t> the midpoint.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Perpendicular vectors satisfy </a:t>
                </a:r>
                <a:r>
                  <a:rPr lang="en-IN" sz="2400">
                    <a:solidFill>
                      <a:srgbClr val="111827"/>
                    </a:solidFill>
                    <a:latin typeface="Cambria Math" panose="02040503050406030204" pitchFamily="18" charset="0"/>
                  </a:rPr>
                  <a:t>$|\vec{u}-\vec{v}|^2=|\vec{u}|^2+|\vec{v}|^2=|\vec{u}+\vec{v}|^2$</a:t>
                </a:r>
                <a:r>
                  <a:rPr sz="2400" b="0">
                    <a:solidFill>
                      <a:srgbClr val="111827"/>
                    </a:solidFill>
                    <a:latin typeface="Arial"/>
                  </a:rPr>
                  <a:t>; use this when a condition says two difference vectors are orthogonal.</a:t>
                </a:r>
                <a:endParaRPr sz="2400">
                  <a:solidFill>
                    <a:srgbClr val="111827"/>
                  </a:solidFill>
                </a:endParaRPr>
              </a:p>
            </p:txBody>
          </p:sp>
        </mc:Fallback>
      </mc:AlternateContent>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506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Also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equals: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6</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7</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8</m:t>
                    </m:r>
                  </m:oMath>
                </a14:m>
                <a:endParaRPr sz="2400">
                  <a:solidFill>
                    <a:srgbClr val="111827"/>
                  </a:solidFill>
                </a:endParaRPr>
              </a:p>
            </p:txBody>
          </p:sp>
        </mc:Choice>
        <mc:Fallback>
          <p:sp>
            <p:nvSpPr>
              <p:cNvPr id="4" name="Rounded Rectangle 3"/>
              <p:cNvSpPr/>
              <p:nvPr/>
            </p:nvSpPr>
            <p:spPr>
              <a:xfrm>
                <a:off x="731520" y="1280160"/>
                <a:ext cx="10725912" cy="2506979"/>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$|\vec{a}|=|\vec{b}|=2$</a:t>
                </a:r>
                <a:r>
                  <a:rPr sz="2400" b="0">
                    <a:solidFill>
                      <a:srgbClr val="111827"/>
                    </a:solidFill>
                    <a:latin typeface="Arial"/>
                  </a:rPr>
                  <a:t> and </a:t>
                </a:r>
                <a:r>
                  <a:rPr lang="en-IN" sz="2400">
                    <a:solidFill>
                      <a:srgbClr val="111827"/>
                    </a:solidFill>
                    <a:latin typeface="Cambria Math" panose="02040503050406030204" pitchFamily="18" charset="0"/>
                  </a:rPr>
                  <a:t>$|\vec{c}|=1$</a:t>
                </a:r>
                <a:r>
                  <a:rPr sz="2400" b="0">
                    <a:solidFill>
                      <a:srgbClr val="111827"/>
                    </a:solidFill>
                    <a:latin typeface="Arial"/>
                  </a:rPr>
                  <a:t>. Also </a:t>
                </a:r>
                <a:r>
                  <a:rPr lang="en-IN" sz="2400">
                    <a:solidFill>
                      <a:srgbClr val="111827"/>
                    </a:solidFill>
                    <a:latin typeface="Cambria Math" panose="02040503050406030204" pitchFamily="18" charset="0"/>
                  </a:rPr>
                  <a:t>$(\vec{a}-\vec{c})\cdot(\vec{b}-\vec{c})=0$</a:t>
                </a:r>
                <a:r>
                  <a:rPr sz="2400" b="0">
                    <a:solidFill>
                      <a:srgbClr val="111827"/>
                    </a:solidFill>
                    <a:latin typeface="Arial"/>
                  </a:rPr>
                  <a:t> and </a:t>
                </a:r>
                <a:r>
                  <a:rPr lang="en-IN" sz="2400">
                    <a:solidFill>
                      <a:srgbClr val="111827"/>
                    </a:solidFill>
                    <a:latin typeface="Cambria Math" panose="02040503050406030204" pitchFamily="18" charset="0"/>
                  </a:rPr>
                  <a:t>$|\vec{a}-\vec{b}|^2+|\vec{a}+\vec{b}|^2=16$</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lang="en-IN" sz="2400">
                    <a:solidFill>
                      <a:srgbClr val="111827"/>
                    </a:solidFill>
                    <a:latin typeface="Cambria Math" panose="02040503050406030204" pitchFamily="18" charset="0"/>
                  </a:rPr>
                  <a:t>$|\vec{a}+\vec{b}-\vec{c}|^2$</a:t>
                </a:r>
                <a:r>
                  <a:rPr sz="2400" b="0">
                    <a:solidFill>
                      <a:srgbClr val="111827"/>
                    </a:solidFill>
                    <a:latin typeface="Arial"/>
                  </a:rPr>
                  <a:t> equals: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$5$</a:t>
                </a:r>
                <a:r>
                  <a:rPr sz="2400" b="0">
                    <a:solidFill>
                      <a:srgbClr val="111827"/>
                    </a:solidFill>
                    <a:latin typeface="Arial"/>
                  </a:rPr>
                  <a:t>   (B) </a:t>
                </a:r>
                <a:r>
                  <a:rPr lang="en-IN" sz="2400">
                    <a:solidFill>
                      <a:srgbClr val="111827"/>
                    </a:solidFill>
                    <a:latin typeface="Cambria Math" panose="02040503050406030204" pitchFamily="18" charset="0"/>
                  </a:rPr>
                  <a:t>$6$</a:t>
                </a:r>
                <a:r>
                  <a:rPr sz="2400" b="0">
                    <a:solidFill>
                      <a:srgbClr val="111827"/>
                    </a:solidFill>
                    <a:latin typeface="Arial"/>
                  </a:rPr>
                  <a:t>   (C) </a:t>
                </a:r>
                <a:r>
                  <a:rPr lang="en-IN" sz="2400">
                    <a:solidFill>
                      <a:srgbClr val="111827"/>
                    </a:solidFill>
                    <a:latin typeface="Cambria Math" panose="02040503050406030204" pitchFamily="18" charset="0"/>
                  </a:rPr>
                  <a:t>$7$</a:t>
                </a:r>
                <a:r>
                  <a:rPr sz="2400" b="0">
                    <a:solidFill>
                      <a:srgbClr val="111827"/>
                    </a:solidFill>
                    <a:latin typeface="Arial"/>
                  </a:rPr>
                  <a:t>   (D) </a:t>
                </a:r>
                <a:r>
                  <a:rPr lang="en-IN" sz="2400">
                    <a:solidFill>
                      <a:srgbClr val="111827"/>
                    </a:solidFill>
                    <a:latin typeface="Cambria Math" panose="02040503050406030204" pitchFamily="18" charset="0"/>
                  </a:rPr>
                  <a:t>$8$</a:t>
                </a:r>
                <a:endParaRPr sz="2400">
                  <a:solidFill>
                    <a:srgbClr val="111827"/>
                  </a:solidFill>
                </a:endParaRPr>
              </a:p>
            </p:txBody>
          </p:sp>
        </mc:Fallback>
      </mc:AlternateContent>
      <p:sp>
        <p:nvSpPr>
          <p:cNvPr id="5" name="Rectangle 4"/>
          <p:cNvSpPr/>
          <p:nvPr/>
        </p:nvSpPr>
        <p:spPr>
          <a:xfrm>
            <a:off x="731520" y="4015739"/>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Dot product and magnitude of vectors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Eliminate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between (1) and (2) to get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oMath>
                </a14:m>
                <a:r>
                  <a:rPr sz="2400" b="0">
                    <a:solidFill>
                      <a:srgbClr val="78350F"/>
                    </a:solidFill>
                    <a:latin typeface="Arial"/>
                  </a:rPr>
                  <a:t>, then complete the square with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Eliminate </a:t>
                </a:r>
                <a:r>
                  <a:rPr lang="en-IN" sz="2400">
                    <a:solidFill>
                      <a:srgbClr val="78350F"/>
                    </a:solidFill>
                    <a:latin typeface="Cambria Math" panose="02040503050406030204" pitchFamily="18" charset="0"/>
                  </a:rPr>
                  <a:t>$|\vec{a}-\vec{b}|^2$</a:t>
                </a:r>
                <a:r>
                  <a:rPr sz="2400" b="0">
                    <a:solidFill>
                      <a:srgbClr val="78350F"/>
                    </a:solidFill>
                    <a:latin typeface="Arial"/>
                  </a:rPr>
                  <a:t> between (1) and (2) to get </a:t>
                </a:r>
                <a:r>
                  <a:rPr lang="en-IN" sz="2400">
                    <a:solidFill>
                      <a:srgbClr val="78350F"/>
                    </a:solidFill>
                    <a:latin typeface="Cambria Math" panose="02040503050406030204" pitchFamily="18" charset="0"/>
                  </a:rPr>
                  <a:t>$|\vec{a}+\vec{b}|^2-2\vec{c}\cdot(\vec{a}+\vec{b})$</a:t>
                </a:r>
                <a:r>
                  <a:rPr sz="2400" b="0">
                    <a:solidFill>
                      <a:srgbClr val="78350F"/>
                    </a:solidFill>
                    <a:latin typeface="Arial"/>
                  </a:rPr>
                  <a:t>, then complete the square with </a:t>
                </a:r>
                <a:r>
                  <a:rPr lang="en-IN" sz="2400">
                    <a:solidFill>
                      <a:srgbClr val="78350F"/>
                    </a:solidFill>
                    <a:latin typeface="Cambria Math" panose="02040503050406030204" pitchFamily="18" charset="0"/>
                  </a:rPr>
                  <a:t>$|\vec{c}|^2$</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Recall (1):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and (2):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substitute in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get </a:t>
                </a:r>
                <a14:m>
                  <m:oMath xmlns:m="http://schemas.openxmlformats.org/officeDocument/2006/math">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Recall (1): </a:t>
                </a:r>
                <a:r>
                  <a:rPr lang="en-IN" sz="2400">
                    <a:solidFill>
                      <a:srgbClr val="111827"/>
                    </a:solidFill>
                    <a:latin typeface="Cambria Math" panose="02040503050406030204" pitchFamily="18" charset="0"/>
                  </a:rPr>
                  <a:t>$|\vec{a}-\vec{b}|^2+|\vec{a}+\vec{b}|^2=16$</a:t>
                </a:r>
                <a:r>
                  <a:rPr sz="2400" b="0">
                    <a:solidFill>
                      <a:srgbClr val="111827"/>
                    </a:solidFill>
                    <a:latin typeface="Arial"/>
                  </a:rPr>
                  <a:t> and (2): </a:t>
                </a:r>
                <a:r>
                  <a:rPr lang="en-IN" sz="2400">
                    <a:solidFill>
                      <a:srgbClr val="111827"/>
                    </a:solidFill>
                    <a:latin typeface="Cambria Math" panose="02040503050406030204" pitchFamily="18" charset="0"/>
                  </a:rPr>
                  <a:t>$|\vec{a}-\vec{b}|^2=10-2(\vec{a}\cdot\vec{c}+\vec{b}\cdot\vec{c})$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(1), </a:t>
                </a:r>
                <a:r>
                  <a:rPr lang="en-IN" sz="2400">
                    <a:solidFill>
                      <a:srgbClr val="111827"/>
                    </a:solidFill>
                    <a:latin typeface="Cambria Math" panose="02040503050406030204" pitchFamily="18" charset="0"/>
                  </a:rPr>
                  <a:t>$|\vec{a}-\vec{b}|^2=16-|\vec{a}+\vec{b}|^2$</a:t>
                </a:r>
                <a:r>
                  <a:rPr sz="2400" b="0">
                    <a:solidFill>
                      <a:srgbClr val="111827"/>
                    </a:solidFill>
                    <a:latin typeface="Arial"/>
                  </a:rPr>
                  <a:t>; substitute in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get </a:t>
                </a:r>
                <a:r>
                  <a:rPr lang="en-IN" sz="2400">
                    <a:solidFill>
                      <a:srgbClr val="111827"/>
                    </a:solidFill>
                    <a:latin typeface="Cambria Math" panose="02040503050406030204" pitchFamily="18" charset="0"/>
                  </a:rPr>
                  <a:t>$16-|\vec{a}+\vec{b}|^2=10-2(\vec{a}\cdot\vec{c}+\vec{b}\cdot\vec{c})$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Rearranging: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a:t>
                </a:r>
                <a14:m>
                  <m:oMath xmlns:m="http://schemas.openxmlformats.org/officeDocument/2006/math">
                    <m:sSup>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to both sides: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sup>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left side is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Rearranging: </a:t>
                </a:r>
                <a:r>
                  <a:rPr lang="en-IN" sz="2400">
                    <a:solidFill>
                      <a:srgbClr val="111827"/>
                    </a:solidFill>
                    <a:latin typeface="Cambria Math" panose="02040503050406030204" pitchFamily="18" charset="0"/>
                  </a:rPr>
                  <a:t>$|\vec{a}+\vec{b}|^2-2\vec{c}\cdot(\vec{a}+\vec{b})=6$</a:t>
                </a:r>
                <a:r>
                  <a:rPr sz="2400" b="0">
                    <a:solidFill>
                      <a:srgbClr val="111827"/>
                    </a:solidFill>
                    <a:latin typeface="Arial"/>
                  </a:rPr>
                  <a:t> ...(3).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Add </a:t>
                </a:r>
                <a:r>
                  <a:rPr lang="en-IN" sz="2400">
                    <a:solidFill>
                      <a:srgbClr val="111827"/>
                    </a:solidFill>
                    <a:latin typeface="Cambria Math" panose="02040503050406030204" pitchFamily="18" charset="0"/>
                  </a:rPr>
                  <a:t>$\vec{c}^{\,2}=1$</a:t>
                </a:r>
                <a:r>
                  <a:rPr sz="2400" b="0">
                    <a:solidFill>
                      <a:srgbClr val="111827"/>
                    </a:solidFill>
                    <a:latin typeface="Arial"/>
                  </a:rPr>
                  <a:t> to both sides: </a:t>
                </a:r>
                <a:r>
                  <a:rPr lang="en-IN" sz="2400">
                    <a:solidFill>
                      <a:srgbClr val="111827"/>
                    </a:solidFill>
                    <a:latin typeface="Cambria Math" panose="02040503050406030204" pitchFamily="18" charset="0"/>
                  </a:rPr>
                  <a:t>$|\vec{a}+\vec{b}|^2-2\vec{c}\cdot(\vec{a}+\vec{b})+\vec{c}^{\,2}=6+1=7$</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left side is </a:t>
                </a:r>
                <a:r>
                  <a:rPr lang="en-IN" sz="2400">
                    <a:solidFill>
                      <a:srgbClr val="111827"/>
                    </a:solidFill>
                    <a:latin typeface="Cambria Math" panose="02040503050406030204" pitchFamily="18" charset="0"/>
                  </a:rPr>
                  <a:t>$|\vec{a}+\vec{b}-\vec{c}|^2$</a:t>
                </a:r>
                <a:r>
                  <a:rPr sz="2400" b="0">
                    <a:solidFill>
                      <a:srgbClr val="111827"/>
                    </a:solidFill>
                    <a:latin typeface="Arial"/>
                  </a:rPr>
                  <a:t>, so </a:t>
                </a:r>
                <a:r>
                  <a:rPr lang="en-IN" sz="2400">
                    <a:solidFill>
                      <a:srgbClr val="111827"/>
                    </a:solidFill>
                    <a:latin typeface="Cambria Math" panose="02040503050406030204" pitchFamily="18" charset="0"/>
                  </a:rPr>
                  <a:t>$|\vec{a}+\vec{b}-\vec{c}|^2=7$</a:t>
                </a:r>
                <a:r>
                  <a:rPr sz="2400" b="0">
                    <a:solidFill>
                      <a:srgbClr val="111827"/>
                    </a:solidFill>
                    <a:latin typeface="Arial"/>
                  </a:rPr>
                  <a:t>, option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 7</a:t>
            </a:r>
            <a:endParaRPr sz="2800">
              <a:solidFill>
                <a:srgbClr val="15803D"/>
              </a:solidFill>
            </a:endParaRP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midpoint form of the Thales relation: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𝑚</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𝑚</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oMath>
                </a14:m>
                <a:r>
                  <a:rPr sz="2400" b="0">
                    <a:solidFill>
                      <a:srgbClr val="78350F"/>
                    </a:solidFill>
                    <a:latin typeface="Arial"/>
                  </a:rPr>
                  <a:t> gives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𝑚</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at once.</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the midpoint form of the Thales relation: </a:t>
                </a:r>
                <a:r>
                  <a:rPr lang="en-IN" sz="2400">
                    <a:solidFill>
                      <a:srgbClr val="78350F"/>
                    </a:solidFill>
                    <a:latin typeface="Cambria Math" panose="02040503050406030204" pitchFamily="18" charset="0"/>
                  </a:rPr>
                  <a:t>$2|\vec{m}|^2-2\vec{m}\cdot\vec{c}=3$</a:t>
                </a:r>
                <a:r>
                  <a:rPr sz="2400" b="0">
                    <a:solidFill>
                      <a:srgbClr val="78350F"/>
                    </a:solidFill>
                    <a:latin typeface="Arial"/>
                  </a:rPr>
                  <a:t> gives </a:t>
                </a:r>
                <a:r>
                  <a:rPr lang="en-IN" sz="2400">
                    <a:solidFill>
                      <a:srgbClr val="78350F"/>
                    </a:solidFill>
                    <a:latin typeface="Cambria Math" panose="02040503050406030204" pitchFamily="18" charset="0"/>
                  </a:rPr>
                  <a:t>$|2\vec{m}-\vec{c}|^2$</a:t>
                </a:r>
                <a:r>
                  <a:rPr sz="2400" b="0">
                    <a:solidFill>
                      <a:srgbClr val="78350F"/>
                    </a:solidFill>
                    <a:latin typeface="Arial"/>
                  </a:rPr>
                  <a:t> at once.</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As in Q34 (Thales,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the parallelogram law, we obtain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need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a:t>
                </a:r>
                <a14:m>
                  <m:oMath xmlns:m="http://schemas.openxmlformats.org/officeDocument/2006/math">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𝑚</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7</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32613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$\vec{m}=\frac{\vec{a}+\vec{b}}{2}$</a:t>
                </a:r>
                <a:r>
                  <a:rPr sz="2400" b="0">
                    <a:solidFill>
                      <a:srgbClr val="111827"/>
                    </a:solidFill>
                    <a:latin typeface="Arial"/>
                  </a:rPr>
                  <a:t>. As in Q34 (Thales, </a:t>
                </a:r>
                <a:r>
                  <a:rPr lang="en-IN" sz="2400">
                    <a:solidFill>
                      <a:srgbClr val="111827"/>
                    </a:solidFill>
                    <a:latin typeface="Cambria Math" panose="02040503050406030204" pitchFamily="18" charset="0"/>
                  </a:rPr>
                  <a:t>$(\vec{a}-\vec{c})\cdot(\vec{b}-\vec{c})=0\Rightarrow|\vec{m}-\vec{c}|=\frac{|\vec{a}-\vec{b}|}{2}$</a:t>
                </a:r>
                <a:r>
                  <a:rPr sz="2400" b="0">
                    <a:solidFill>
                      <a:srgbClr val="111827"/>
                    </a:solidFill>
                    <a:latin typeface="Arial"/>
                  </a:rPr>
                  <a:t>) and the parallelogram law, we obtain </a:t>
                </a:r>
                <a:r>
                  <a:rPr lang="en-IN" sz="2400">
                    <a:solidFill>
                      <a:srgbClr val="111827"/>
                    </a:solidFill>
                    <a:latin typeface="Cambria Math" panose="02040503050406030204" pitchFamily="18" charset="0"/>
                  </a:rPr>
                  <a:t>$2|\vec{m}|^2-2\vec{m}\cdot\vec{c}=3$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We need </a:t>
                </a:r>
                <a:r>
                  <a:rPr lang="en-IN" sz="2400">
                    <a:solidFill>
                      <a:srgbClr val="111827"/>
                    </a:solidFill>
                    <a:latin typeface="Cambria Math" panose="02040503050406030204" pitchFamily="18" charset="0"/>
                  </a:rPr>
                  <a:t>$|\vec{a}+\vec{b}-\vec{c}|^2=|2\vec{m}-\vec{c}|^2$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Expand: </a:t>
                </a:r>
                <a:r>
                  <a:rPr lang="en-IN" sz="2400">
                    <a:solidFill>
                      <a:srgbClr val="111827"/>
                    </a:solidFill>
                    <a:latin typeface="Cambria Math" panose="02040503050406030204" pitchFamily="18" charset="0"/>
                  </a:rPr>
                  <a:t>$|2\vec{m}-\vec{c}|^2=4|\vec{m}|^2-4\vec{m}\cdot\vec{c}+|\vec{c}|^2$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is </a:t>
                </a:r>
                <a:r>
                  <a:rPr lang="en-IN" sz="2400">
                    <a:solidFill>
                      <a:srgbClr val="111827"/>
                    </a:solidFill>
                    <a:latin typeface="Cambria Math" panose="02040503050406030204" pitchFamily="18" charset="0"/>
                  </a:rPr>
                  <a:t>$2\left(2|\vec{m}|^2-2\vec{m}\cdot\vec{c}\right)+1=2(3)+1=7$</a:t>
                </a:r>
                <a:r>
                  <a:rPr sz="2400" b="0">
                    <a:solidFill>
                      <a:srgbClr val="111827"/>
                    </a:solidFill>
                    <a:latin typeface="Arial"/>
                  </a:rPr>
                  <a:t>.</a:t>
                </a:r>
                <a:endParaRPr sz="2400">
                  <a:solidFill>
                    <a:srgbClr val="111827"/>
                  </a:solidFill>
                </a:endParaRPr>
              </a:p>
            </p:txBody>
          </p:sp>
        </mc:Fallback>
      </mc:AlternateContent>
      <p:sp>
        <p:nvSpPr>
          <p:cNvPr id="7" name="Rounded Rectangle 6"/>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 7</a:t>
            </a:r>
            <a:endParaRPr sz="2800">
              <a:solidFill>
                <a:srgbClr val="15803D"/>
              </a:solidFill>
            </a:endParaRP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 relation of the form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is the same as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(completing the square). Here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Because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only appears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through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treat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as a single vector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oMath>
                </a14:m>
                <a:r>
                  <a:rPr sz="2400" b="0">
                    <a:solidFill>
                      <a:srgbClr val="111827"/>
                    </a:solidFill>
                    <a:latin typeface="Arial"/>
                  </a:rPr>
                  <a:t> and think of the data as one relation between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$|\vec{u}-\vec{c}|^2=|\vec{u}|^2-2\vec{u}\cdot\vec{c}+|\vec{c}|^2$</a:t>
                </a:r>
                <a:r>
                  <a:rPr sz="2400" b="0">
                    <a:solidFill>
                      <a:srgbClr val="111827"/>
                    </a:solidFill>
                    <a:latin typeface="Arial"/>
                  </a:rPr>
                  <a:t>: a relation of the form </a:t>
                </a:r>
                <a:r>
                  <a:rPr lang="en-IN" sz="2400">
                    <a:solidFill>
                      <a:srgbClr val="111827"/>
                    </a:solidFill>
                    <a:latin typeface="Cambria Math" panose="02040503050406030204" pitchFamily="18" charset="0"/>
                  </a:rPr>
                  <a:t>$|\vec{u}|^2-2\vec{u}\cdot\vec{c}=k$</a:t>
                </a:r>
                <a:r>
                  <a:rPr sz="2400" b="0">
                    <a:solidFill>
                      <a:srgbClr val="111827"/>
                    </a:solidFill>
                    <a:latin typeface="Arial"/>
                  </a:rPr>
                  <a:t> is the same as </a:t>
                </a:r>
                <a:r>
                  <a:rPr lang="en-IN" sz="2400">
                    <a:solidFill>
                      <a:srgbClr val="111827"/>
                    </a:solidFill>
                    <a:latin typeface="Cambria Math" panose="02040503050406030204" pitchFamily="18" charset="0"/>
                  </a:rPr>
                  <a:t>$|\vec{u}-\vec{c}|^2=k+|\vec{c}|^2$</a:t>
                </a:r>
                <a:r>
                  <a:rPr sz="2400" b="0">
                    <a:solidFill>
                      <a:srgbClr val="111827"/>
                    </a:solidFill>
                    <a:latin typeface="Arial"/>
                  </a:rPr>
                  <a:t> (completing the square). Here </a:t>
                </a:r>
                <a:r>
                  <a:rPr lang="en-IN" sz="2400">
                    <a:solidFill>
                      <a:srgbClr val="111827"/>
                    </a:solidFill>
                    <a:latin typeface="Cambria Math" panose="02040503050406030204" pitchFamily="18" charset="0"/>
                  </a:rPr>
                  <a:t>$\vec{u}=\vec{a}+\vec{b}$</a:t>
                </a:r>
                <a:r>
                  <a:rPr sz="2400" b="0">
                    <a:solidFill>
                      <a:srgbClr val="111827"/>
                    </a:solidFill>
                    <a:latin typeface="Arial"/>
                  </a:rPr>
                  <a:t>, </a:t>
                </a:r>
                <a:r>
                  <a:rPr lang="en-IN" sz="2400">
                    <a:solidFill>
                      <a:srgbClr val="111827"/>
                    </a:solidFill>
                    <a:latin typeface="Cambria Math" panose="02040503050406030204" pitchFamily="18" charset="0"/>
                  </a:rPr>
                  <a:t>$k=6$</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Because </a:t>
                </a:r>
                <a:r>
                  <a:rPr lang="en-IN" sz="2400">
                    <a:solidFill>
                      <a:srgbClr val="111827"/>
                    </a:solidFill>
                    <a:latin typeface="Cambria Math" panose="02040503050406030204" pitchFamily="18" charset="0"/>
                  </a:rPr>
                  <a:t>$\vec{c}\cdot(\vec{a}+\vec{b})$</a:t>
                </a:r>
                <a:r>
                  <a:rPr sz="2400" b="0">
                    <a:solidFill>
                      <a:srgbClr val="111827"/>
                    </a:solidFill>
                    <a:latin typeface="Arial"/>
                  </a:rPr>
                  <a:t> only appears with </a:t>
                </a:r>
                <a:r>
                  <a:rPr lang="en-IN" sz="2400">
                    <a:solidFill>
                      <a:srgbClr val="111827"/>
                    </a:solidFill>
                    <a:latin typeface="Cambria Math" panose="02040503050406030204" pitchFamily="18" charset="0"/>
                  </a:rPr>
                  <a:t>$\vec{c}$</a:t>
                </a:r>
                <a:r>
                  <a:rPr sz="2400" b="0">
                    <a:solidFill>
                      <a:srgbClr val="111827"/>
                    </a:solidFill>
                    <a:latin typeface="Arial"/>
                  </a:rPr>
                  <a:t> through </a:t>
                </a:r>
                <a:r>
                  <a:rPr lang="en-IN" sz="2400">
                    <a:solidFill>
                      <a:srgbClr val="111827"/>
                    </a:solidFill>
                    <a:latin typeface="Cambria Math" panose="02040503050406030204" pitchFamily="18" charset="0"/>
                  </a:rPr>
                  <a:t>$\vec{a}+\vec{b}$</a:t>
                </a:r>
                <a:r>
                  <a:rPr sz="2400" b="0">
                    <a:solidFill>
                      <a:srgbClr val="111827"/>
                    </a:solidFill>
                    <a:latin typeface="Arial"/>
                  </a:rPr>
                  <a:t>, treat </a:t>
                </a:r>
                <a:r>
                  <a:rPr lang="en-IN" sz="2400">
                    <a:solidFill>
                      <a:srgbClr val="111827"/>
                    </a:solidFill>
                    <a:latin typeface="Cambria Math" panose="02040503050406030204" pitchFamily="18" charset="0"/>
                  </a:rPr>
                  <a:t>$\vec{a}+\vec{b}$</a:t>
                </a:r>
                <a:r>
                  <a:rPr sz="2400" b="0">
                    <a:solidFill>
                      <a:srgbClr val="111827"/>
                    </a:solidFill>
                    <a:latin typeface="Arial"/>
                  </a:rPr>
                  <a:t> as a single vector </a:t>
                </a:r>
                <a:r>
                  <a:rPr lang="en-IN" sz="2400">
                    <a:solidFill>
                      <a:srgbClr val="111827"/>
                    </a:solidFill>
                    <a:latin typeface="Cambria Math" panose="02040503050406030204" pitchFamily="18" charset="0"/>
                  </a:rPr>
                  <a:t>$\vec{u}$</a:t>
                </a:r>
                <a:r>
                  <a:rPr sz="2400" b="0">
                    <a:solidFill>
                      <a:srgbClr val="111827"/>
                    </a:solidFill>
                    <a:latin typeface="Arial"/>
                  </a:rPr>
                  <a:t> and think of the data as one relation between </a:t>
                </a:r>
                <a:r>
                  <a:rPr lang="en-IN" sz="2400">
                    <a:solidFill>
                      <a:srgbClr val="111827"/>
                    </a:solidFill>
                    <a:latin typeface="Cambria Math" panose="02040503050406030204" pitchFamily="18" charset="0"/>
                  </a:rPr>
                  <a:t>$|\vec{u}|$</a:t>
                </a:r>
                <a:r>
                  <a:rPr sz="2400" b="0">
                    <a:solidFill>
                      <a:srgbClr val="111827"/>
                    </a:solidFill>
                    <a:latin typeface="Arial"/>
                  </a:rPr>
                  <a:t> and </a:t>
                </a:r>
                <a:r>
                  <a:rPr lang="en-IN" sz="2400">
                    <a:solidFill>
                      <a:srgbClr val="111827"/>
                    </a:solidFill>
                    <a:latin typeface="Cambria Math" panose="02040503050406030204" pitchFamily="18" charset="0"/>
                  </a:rPr>
                  <a:t>$\vec{u}\cdot\vec{c}$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78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Also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difference of the maximum and minimum value of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(B) </a:t>
                </a:r>
                <a14:m>
                  <m:oMath xmlns:m="http://schemas.openxmlformats.org/officeDocument/2006/math">
                    <m:r>
                      <a:rPr lang="en-IN" sz="2400" i="1">
                        <a:solidFill>
                          <a:srgbClr val="111827"/>
                        </a:solidFill>
                        <a:latin typeface="Cambria Math" panose="02040503050406030204" pitchFamily="18" charset="0"/>
                      </a:rPr>
                      <m:t>3</m:t>
                    </m:r>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4</m:t>
                    </m:r>
                  </m:oMath>
                </a14:m>
                <a:r>
                  <a:rPr sz="2400" b="0">
                    <a:solidFill>
                      <a:srgbClr val="111827"/>
                    </a:solidFill>
                    <a:latin typeface="Arial"/>
                  </a:rPr>
                  <a:t>   (D) </a:t>
                </a:r>
                <a14:m>
                  <m:oMath xmlns:m="http://schemas.openxmlformats.org/officeDocument/2006/math">
                    <m:r>
                      <a:rPr lang="en-IN" sz="2400" i="1">
                        <a:solidFill>
                          <a:srgbClr val="111827"/>
                        </a:solidFill>
                        <a:latin typeface="Cambria Math" panose="02040503050406030204" pitchFamily="18" charset="0"/>
                      </a:rPr>
                      <m:t>1</m:t>
                    </m:r>
                  </m:oMath>
                </a14:m>
                <a:endParaRPr sz="2400">
                  <a:solidFill>
                    <a:srgbClr val="111827"/>
                  </a:solidFill>
                </a:endParaRPr>
              </a:p>
            </p:txBody>
          </p:sp>
        </mc:Choice>
        <mc:Fallback>
          <p:sp>
            <p:nvSpPr>
              <p:cNvPr id="4" name="Rounded Rectangle 3"/>
              <p:cNvSpPr/>
              <p:nvPr/>
            </p:nvSpPr>
            <p:spPr>
              <a:xfrm>
                <a:off x="731520" y="1280160"/>
                <a:ext cx="10725912" cy="28788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$|\vec{a}|=|\vec{b}|=2$</a:t>
                </a:r>
                <a:r>
                  <a:rPr sz="2400" b="0">
                    <a:solidFill>
                      <a:srgbClr val="111827"/>
                    </a:solidFill>
                    <a:latin typeface="Arial"/>
                  </a:rPr>
                  <a:t> and </a:t>
                </a:r>
                <a:r>
                  <a:rPr lang="en-IN" sz="2400">
                    <a:solidFill>
                      <a:srgbClr val="111827"/>
                    </a:solidFill>
                    <a:latin typeface="Cambria Math" panose="02040503050406030204" pitchFamily="18" charset="0"/>
                  </a:rPr>
                  <a:t>$|\vec{c}|=1$</a:t>
                </a:r>
                <a:r>
                  <a:rPr sz="2400" b="0">
                    <a:solidFill>
                      <a:srgbClr val="111827"/>
                    </a:solidFill>
                    <a:latin typeface="Arial"/>
                  </a:rPr>
                  <a:t>. Also </a:t>
                </a:r>
                <a:r>
                  <a:rPr lang="en-IN" sz="2400">
                    <a:solidFill>
                      <a:srgbClr val="111827"/>
                    </a:solidFill>
                    <a:latin typeface="Cambria Math" panose="02040503050406030204" pitchFamily="18" charset="0"/>
                  </a:rPr>
                  <a:t>$(\vec{a}-\vec{c})\cdot(\vec{b}-\vec{c})=0$</a:t>
                </a:r>
                <a:r>
                  <a:rPr sz="2400" b="0">
                    <a:solidFill>
                      <a:srgbClr val="111827"/>
                    </a:solidFill>
                    <a:latin typeface="Arial"/>
                  </a:rPr>
                  <a:t> and </a:t>
                </a:r>
                <a:r>
                  <a:rPr lang="en-IN" sz="2400">
                    <a:solidFill>
                      <a:srgbClr val="111827"/>
                    </a:solidFill>
                    <a:latin typeface="Cambria Math" panose="02040503050406030204" pitchFamily="18" charset="0"/>
                  </a:rPr>
                  <a:t>$|\vec{a}-\vec{b}|^2+|\vec{a}+\vec{b}|^2=16$</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difference of the maximum and minimum value of </a:t>
                </a:r>
                <a:r>
                  <a:rPr lang="en-IN" sz="2400">
                    <a:solidFill>
                      <a:srgbClr val="111827"/>
                    </a:solidFill>
                    <a:latin typeface="Cambria Math" panose="02040503050406030204" pitchFamily="18" charset="0"/>
                  </a:rPr>
                  <a:t>$|\vec{a}+\vec{b}|$</a:t>
                </a:r>
                <a:r>
                  <a:rPr sz="2400" b="0">
                    <a:solidFill>
                      <a:srgbClr val="111827"/>
                    </a:solidFill>
                    <a:latin typeface="Arial"/>
                  </a:rPr>
                  <a:t> is equal to:</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$2$</a:t>
                </a:r>
                <a:r>
                  <a:rPr sz="2400" b="0">
                    <a:solidFill>
                      <a:srgbClr val="111827"/>
                    </a:solidFill>
                    <a:latin typeface="Arial"/>
                  </a:rPr>
                  <a:t>   (B) </a:t>
                </a:r>
                <a:r>
                  <a:rPr lang="en-IN" sz="2400">
                    <a:solidFill>
                      <a:srgbClr val="111827"/>
                    </a:solidFill>
                    <a:latin typeface="Cambria Math" panose="02040503050406030204" pitchFamily="18" charset="0"/>
                  </a:rPr>
                  <a:t>$3$</a:t>
                </a:r>
                <a:r>
                  <a:rPr sz="2400" b="0">
                    <a:solidFill>
                      <a:srgbClr val="111827"/>
                    </a:solidFill>
                    <a:latin typeface="Arial"/>
                  </a:rPr>
                  <a:t>   (C) </a:t>
                </a:r>
                <a:r>
                  <a:rPr lang="en-IN" sz="2400">
                    <a:solidFill>
                      <a:srgbClr val="111827"/>
                    </a:solidFill>
                    <a:latin typeface="Cambria Math" panose="02040503050406030204" pitchFamily="18" charset="0"/>
                  </a:rPr>
                  <a:t>$4$</a:t>
                </a:r>
                <a:r>
                  <a:rPr sz="2400" b="0">
                    <a:solidFill>
                      <a:srgbClr val="111827"/>
                    </a:solidFill>
                    <a:latin typeface="Arial"/>
                  </a:rPr>
                  <a:t>   (D) </a:t>
                </a:r>
                <a:r>
                  <a:rPr lang="en-IN" sz="2400">
                    <a:solidFill>
                      <a:srgbClr val="111827"/>
                    </a:solidFill>
                    <a:latin typeface="Cambria Math" panose="02040503050406030204" pitchFamily="18" charset="0"/>
                  </a:rPr>
                  <a:t>$1$</a:t>
                </a:r>
                <a:endParaRPr sz="2400">
                  <a:solidFill>
                    <a:srgbClr val="111827"/>
                  </a:solidFill>
                </a:endParaRPr>
              </a:p>
            </p:txBody>
          </p:sp>
        </mc:Fallback>
      </mc:AlternateContent>
      <p:sp>
        <p:nvSpPr>
          <p:cNvPr id="5" name="Rectangle 4"/>
          <p:cNvSpPr/>
          <p:nvPr/>
        </p:nvSpPr>
        <p:spPr>
          <a:xfrm>
            <a:off x="731520" y="4387596"/>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Dot product, magnitude and triangle inequality for vectors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7</m:t>
                        </m:r>
                      </m:e>
                    </m:rad>
                  </m:oMath>
                </a14:m>
                <a:r>
                  <a:rPr sz="2400" b="0">
                    <a:solidFill>
                      <a:srgbClr val="78350F"/>
                    </a:solidFill>
                    <a:latin typeface="Arial"/>
                  </a:rPr>
                  <a:t> is fixed and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so the triangle inequality traps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oMath>
                </a14:m>
                <a:r>
                  <a:rPr sz="2400" b="0">
                    <a:solidFill>
                      <a:srgbClr val="78350F"/>
                    </a:solidFill>
                    <a:latin typeface="Arial"/>
                  </a:rPr>
                  <a:t> in </a:t>
                </a:r>
                <a14:m>
                  <m:oMath xmlns:m="http://schemas.openxmlformats.org/officeDocument/2006/math">
                    <m:d>
                      <m:dPr>
                        <m:begChr m:val="["/>
                        <m:sepChr m:val=""/>
                        <m:endChr m:val="]"/>
                        <m:grow/>
                        <m:ctrlPr>
                          <a:rPr lang="en-IN" sz="2400" i="1">
                            <a:solidFill>
                              <a:srgbClr val="78350F"/>
                            </a:solidFill>
                            <a:latin typeface="Cambria Math" panose="02040503050406030204" pitchFamily="18" charset="0"/>
                          </a:rPr>
                        </m:ctrlPr>
                      </m:dPr>
                      <m:e>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7</m:t>
                            </m:r>
                          </m:e>
                        </m:ra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7</m:t>
                            </m:r>
                          </m:e>
                        </m:rad>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e>
                    </m:d>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$|\vec{a}+\vec{b}-\vec{c}|=\sqrt{7}$</a:t>
                </a:r>
                <a:r>
                  <a:rPr sz="2400" b="0">
                    <a:solidFill>
                      <a:srgbClr val="78350F"/>
                    </a:solidFill>
                    <a:latin typeface="Arial"/>
                  </a:rPr>
                  <a:t> is fixed and </a:t>
                </a:r>
                <a:r>
                  <a:rPr lang="en-IN" sz="2400">
                    <a:solidFill>
                      <a:srgbClr val="78350F"/>
                    </a:solidFill>
                    <a:latin typeface="Cambria Math" panose="02040503050406030204" pitchFamily="18" charset="0"/>
                  </a:rPr>
                  <a:t>$|\vec{c}|=1$</a:t>
                </a:r>
                <a:r>
                  <a:rPr sz="2400" b="0">
                    <a:solidFill>
                      <a:srgbClr val="78350F"/>
                    </a:solidFill>
                    <a:latin typeface="Arial"/>
                  </a:rPr>
                  <a:t>, so the triangle inequality traps </a:t>
                </a:r>
                <a:r>
                  <a:rPr lang="en-IN" sz="2400">
                    <a:solidFill>
                      <a:srgbClr val="78350F"/>
                    </a:solidFill>
                    <a:latin typeface="Cambria Math" panose="02040503050406030204" pitchFamily="18" charset="0"/>
                  </a:rPr>
                  <a:t>$|\vec{a}+\vec{b}|$</a:t>
                </a:r>
                <a:r>
                  <a:rPr sz="2400" b="0">
                    <a:solidFill>
                      <a:srgbClr val="78350F"/>
                    </a:solidFill>
                    <a:latin typeface="Arial"/>
                  </a:rPr>
                  <a:t> in </a:t>
                </a:r>
                <a:r>
                  <a:rPr lang="en-IN" sz="2400">
                    <a:solidFill>
                      <a:srgbClr val="78350F"/>
                    </a:solidFill>
                    <a:latin typeface="Cambria Math" panose="02040503050406030204" pitchFamily="18" charset="0"/>
                  </a:rPr>
                  <a:t>$\left[\sqrt{7}-1,\sqrt{7}+1\right]$</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Q35,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Triangle inequality: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Equivalently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Q35, </a:t>
                </a:r>
                <a:r>
                  <a:rPr lang="en-IN" sz="2400">
                    <a:solidFill>
                      <a:srgbClr val="111827"/>
                    </a:solidFill>
                    <a:latin typeface="Cambria Math" panose="02040503050406030204" pitchFamily="18" charset="0"/>
                  </a:rPr>
                  <a:t>$|\vec{a}+\vec{b}-\vec{c}|=\sqrt{7}$</a:t>
                </a:r>
                <a:r>
                  <a:rPr sz="2400" b="0">
                    <a:solidFill>
                      <a:srgbClr val="111827"/>
                    </a:solidFill>
                    <a:latin typeface="Arial"/>
                  </a:rPr>
                  <a:t>, and </a:t>
                </a:r>
                <a:r>
                  <a:rPr lang="en-IN" sz="2400">
                    <a:solidFill>
                      <a:srgbClr val="111827"/>
                    </a:solidFill>
                    <a:latin typeface="Cambria Math" panose="02040503050406030204" pitchFamily="18" charset="0"/>
                  </a:rPr>
                  <a:t>$|\vec{c}|=1$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Triangle inequality: </a:t>
                </a:r>
                <a:r>
                  <a:rPr lang="en-IN" sz="2400">
                    <a:solidFill>
                      <a:srgbClr val="111827"/>
                    </a:solidFill>
                    <a:latin typeface="Cambria Math" panose="02040503050406030204" pitchFamily="18" charset="0"/>
                  </a:rPr>
                  <a:t>$|\vec{a}+\vec{b}|-|\vec{c}|\le|\vec{a}+\vec{b}-\vec{c}|\le|\vec{a}+\vec{b}|+|\vec{c}|$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Equivalently </a:t>
                </a:r>
                <a:r>
                  <a:rPr lang="en-IN" sz="2400">
                    <a:solidFill>
                      <a:srgbClr val="111827"/>
                    </a:solidFill>
                    <a:latin typeface="Cambria Math" panose="02040503050406030204" pitchFamily="18" charset="0"/>
                  </a:rPr>
                  <a:t>$|\vec{a}+\vec{b}-\vec{c}|-|\vec{c}|\le|\vec{a}+\vec{b}|\le|\vec{a}+\vec{b}-\vec{c}|+|\vec{c}|$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$\sqrt{7}-1\le|\vec{a}+\vec{b}|\le\sqrt{7}+1$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b>
                      <m:e>
                        <m:r>
                          <m:rPr>
                            <m:sty m:val="p"/>
                          </m:rPr>
                          <a:rPr lang="en-IN" sz="2400">
                            <a:solidFill>
                              <a:srgbClr val="111827"/>
                            </a:solidFill>
                            <a:latin typeface="Cambria Math" panose="02040503050406030204" pitchFamily="18" charset="0"/>
                          </a:rPr>
                          <m:t>|</m:t>
                        </m:r>
                      </m:e>
                      <m:sub>
                        <m:r>
                          <m:rPr>
                            <m:sty m:val="p"/>
                          </m:rPr>
                          <a:rPr lang="en-IN" sz="2400">
                            <a:solidFill>
                              <a:srgbClr val="111827"/>
                            </a:solidFill>
                            <a:latin typeface="Cambria Math" panose="02040503050406030204" pitchFamily="18" charset="0"/>
                          </a:rPr>
                          <m:t>max</m:t>
                        </m:r>
                      </m:sub>
                    </m:sSub>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b>
                      <m:e>
                        <m:r>
                          <m:rPr>
                            <m:sty m:val="p"/>
                          </m:rPr>
                          <a:rPr lang="en-IN" sz="2400">
                            <a:solidFill>
                              <a:srgbClr val="111827"/>
                            </a:solidFill>
                            <a:latin typeface="Cambria Math" panose="02040503050406030204" pitchFamily="18" charset="0"/>
                          </a:rPr>
                          <m:t>|</m:t>
                        </m:r>
                      </m:e>
                      <m:sub>
                        <m:r>
                          <m:rPr>
                            <m:sty m:val="p"/>
                          </m:rPr>
                          <a:rPr lang="en-IN" sz="2400">
                            <a:solidFill>
                              <a:srgbClr val="111827"/>
                            </a:solidFill>
                            <a:latin typeface="Cambria Math" panose="02040503050406030204" pitchFamily="18" charset="0"/>
                          </a:rPr>
                          <m:t>min</m:t>
                        </m:r>
                      </m:sub>
                    </m:sSub>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Difference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option (A).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Note: from (1),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e>
                    </m:ra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e>
                    </m:rad>
                  </m:oMath>
                </a14:m>
                <a:r>
                  <a:rPr sz="2400" b="0">
                    <a:solidFill>
                      <a:srgbClr val="111827"/>
                    </a:solidFill>
                    <a:latin typeface="Arial"/>
                  </a:rPr>
                  <a:t>, i.e.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as well.</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$|\vec{a}+\vec{b}|_{\max}=\sqrt{7}+1$</a:t>
                </a:r>
                <a:r>
                  <a:rPr sz="2400" b="0">
                    <a:solidFill>
                      <a:srgbClr val="111827"/>
                    </a:solidFill>
                    <a:latin typeface="Arial"/>
                  </a:rPr>
                  <a:t> and </a:t>
                </a:r>
                <a:r>
                  <a:rPr lang="en-IN" sz="2400">
                    <a:solidFill>
                      <a:srgbClr val="111827"/>
                    </a:solidFill>
                    <a:latin typeface="Cambria Math" panose="02040503050406030204" pitchFamily="18" charset="0"/>
                  </a:rPr>
                  <a:t>$|\vec{a}+\vec{b}|_{\min}=\sqrt{7}-1$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Difference </a:t>
                </a:r>
                <a:r>
                  <a:rPr lang="en-IN" sz="2400">
                    <a:solidFill>
                      <a:srgbClr val="111827"/>
                    </a:solidFill>
                    <a:latin typeface="Cambria Math" panose="02040503050406030204" pitchFamily="18" charset="0"/>
                  </a:rPr>
                  <a:t>$=(\sqrt{7}+1)-(\sqrt{7}-1)=2$</a:t>
                </a:r>
                <a:r>
                  <a:rPr sz="2400" b="0">
                    <a:solidFill>
                      <a:srgbClr val="111827"/>
                    </a:solidFill>
                    <a:latin typeface="Arial"/>
                  </a:rPr>
                  <a:t>, option (A).</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Note: from (1), </a:t>
                </a:r>
                <a:r>
                  <a:rPr lang="en-IN" sz="2400">
                    <a:solidFill>
                      <a:srgbClr val="111827"/>
                    </a:solidFill>
                    <a:latin typeface="Cambria Math" panose="02040503050406030204" pitchFamily="18" charset="0"/>
                  </a:rPr>
                  <a:t>$\sqrt{16-(8+2\sqrt{7})}\le|\vec{a}-\vec{b}|\le\sqrt{16-(8-2\sqrt{7})}$</a:t>
                </a:r>
                <a:r>
                  <a:rPr sz="2400" b="0">
                    <a:solidFill>
                      <a:srgbClr val="111827"/>
                    </a:solidFill>
                    <a:latin typeface="Arial"/>
                  </a:rPr>
                  <a:t>, i.e. </a:t>
                </a:r>
                <a:r>
                  <a:rPr lang="en-IN" sz="2400">
                    <a:solidFill>
                      <a:srgbClr val="111827"/>
                    </a:solidFill>
                    <a:latin typeface="Cambria Math" panose="02040503050406030204" pitchFamily="18" charset="0"/>
                  </a:rPr>
                  <a:t>$\sqrt{7}-1\le|\vec{a}-\vec{b}|\le\sqrt{7}+1$</a:t>
                </a:r>
                <a:r>
                  <a:rPr sz="2400" b="0">
                    <a:solidFill>
                      <a:srgbClr val="111827"/>
                    </a:solidFill>
                    <a:latin typeface="Arial"/>
                  </a:rPr>
                  <a:t> as well.</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2</a:t>
            </a:r>
            <a:endParaRPr sz="2800">
              <a:solidFill>
                <a:srgbClr val="15803D"/>
              </a:solidFill>
            </a:endParaRP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Let </a:t>
                </a:r>
                <a14:m>
                  <m:oMath xmlns:m="http://schemas.openxmlformats.org/officeDocument/2006/math">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oMath>
                </a14:m>
                <a:r>
                  <a:rPr sz="2400" b="0">
                    <a:solidFill>
                      <a:srgbClr val="78350F"/>
                    </a:solidFill>
                    <a:latin typeface="Arial"/>
                  </a:rPr>
                  <a:t>; relation (3) gives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sSup>
                          <m:e>
                            <m:r>
                              <a:rPr lang="en-IN" sz="2400" i="1">
                                <a:solidFill>
                                  <a:srgbClr val="78350F"/>
                                </a:solidFill>
                                <a:latin typeface="Cambria Math" panose="02040503050406030204" pitchFamily="18" charset="0"/>
                              </a:rPr>
                              <m:t>𝑠</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and Cauchy-Schwarz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𝑠</m:t>
                    </m:r>
                  </m:oMath>
                </a14:m>
                <a:r>
                  <a:rPr sz="2400" b="0">
                    <a:solidFill>
                      <a:srgbClr val="78350F"/>
                    </a:solidFill>
                    <a:latin typeface="Arial"/>
                  </a:rPr>
                  <a:t> yields a quadratic inequality.</a:t>
                </a:r>
                <a:endParaRPr sz="2400">
                  <a:solidFill>
                    <a:srgbClr val="78350F"/>
                  </a:solidFill>
                </a:endParaRPr>
              </a:p>
            </p:txBody>
          </p:sp>
        </mc:Choice>
        <mc:Fallback>
          <p:sp>
            <p:nvSpPr>
              <p:cNvPr id="5" name="Rounded Rectangle 4"/>
              <p:cNvSpPr/>
              <p:nvPr/>
            </p:nvSpPr>
            <p:spPr>
              <a:xfrm>
                <a:off x="731520" y="1280160"/>
                <a:ext cx="10725912" cy="1591056"/>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Let </a:t>
                </a:r>
                <a:r>
                  <a:rPr lang="en-IN" sz="2400">
                    <a:solidFill>
                      <a:srgbClr val="78350F"/>
                    </a:solidFill>
                    <a:latin typeface="Cambria Math" panose="02040503050406030204" pitchFamily="18" charset="0"/>
                  </a:rPr>
                  <a:t>$s=|\vec{a}+\vec{b}|$</a:t>
                </a:r>
                <a:r>
                  <a:rPr sz="2400" b="0">
                    <a:solidFill>
                      <a:srgbClr val="78350F"/>
                    </a:solidFill>
                    <a:latin typeface="Arial"/>
                  </a:rPr>
                  <a:t>; relation (3) gives </a:t>
                </a:r>
                <a:r>
                  <a:rPr lang="en-IN" sz="2400">
                    <a:solidFill>
                      <a:srgbClr val="78350F"/>
                    </a:solidFill>
                    <a:latin typeface="Cambria Math" panose="02040503050406030204" pitchFamily="18" charset="0"/>
                  </a:rPr>
                  <a:t>$\vec{c}\cdot(\vec{a}+\vec{b})=\frac{s^2-6}{2}$</a:t>
                </a:r>
                <a:r>
                  <a:rPr sz="2400" b="0">
                    <a:solidFill>
                      <a:srgbClr val="78350F"/>
                    </a:solidFill>
                    <a:latin typeface="Arial"/>
                  </a:rPr>
                  <a:t> and Cauchy-Schwarz </a:t>
                </a:r>
                <a:r>
                  <a:rPr lang="en-IN" sz="2400">
                    <a:solidFill>
                      <a:srgbClr val="78350F"/>
                    </a:solidFill>
                    <a:latin typeface="Cambria Math" panose="02040503050406030204" pitchFamily="18" charset="0"/>
                  </a:rPr>
                  <a:t>$|\vec{c}\cdot(\vec{a}+\vec{b})|\le s$</a:t>
                </a:r>
                <a:r>
                  <a:rPr sz="2400" b="0">
                    <a:solidFill>
                      <a:srgbClr val="78350F"/>
                    </a:solidFill>
                    <a:latin typeface="Arial"/>
                  </a:rPr>
                  <a:t> yields a quadratic inequality.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Relation (3) reads </a:t>
                </a:r>
                <a14:m>
                  <m:oMath xmlns:m="http://schemas.openxmlformats.org/officeDocument/2006/math">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Cauchy-Schwarz gives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oMath>
                </a14:m>
                <a:r>
                  <a:rPr sz="2400" b="0">
                    <a:solidFill>
                      <a:srgbClr val="111827"/>
                    </a:solidFill>
                    <a:latin typeface="Arial"/>
                  </a:rPr>
                  <a:t>, i.e. </a:t>
                </a:r>
                <a14:m>
                  <m:oMath xmlns:m="http://schemas.openxmlformats.org/officeDocument/2006/math">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𝑠</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oMath>
                </a14:m>
                <a:r>
                  <a:rPr sz="2400" b="0">
                    <a:solidFill>
                      <a:srgbClr val="111827"/>
                    </a:solidFill>
                    <a:latin typeface="Arial"/>
                  </a:rPr>
                  <a:t> (taking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008375"/>
                <a:ext cx="10725912" cy="36667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Put </a:t>
                </a:r>
                <a:r>
                  <a:rPr lang="en-IN" sz="2400">
                    <a:solidFill>
                      <a:srgbClr val="111827"/>
                    </a:solidFill>
                    <a:latin typeface="Cambria Math" panose="02040503050406030204" pitchFamily="18" charset="0"/>
                  </a:rPr>
                  <a:t>$s=|\vec{a}+\vec{b}|$</a:t>
                </a:r>
                <a:r>
                  <a:rPr sz="2400" b="0">
                    <a:solidFill>
                      <a:srgbClr val="111827"/>
                    </a:solidFill>
                    <a:latin typeface="Arial"/>
                  </a:rPr>
                  <a:t>. Relation (3) reads </a:t>
                </a:r>
                <a:r>
                  <a:rPr lang="en-IN" sz="2400">
                    <a:solidFill>
                      <a:srgbClr val="111827"/>
                    </a:solidFill>
                    <a:latin typeface="Cambria Math" panose="02040503050406030204" pitchFamily="18" charset="0"/>
                  </a:rPr>
                  <a:t>$s^2-2\vec{c}\cdot(\vec{a}+\vec{b})=6$</a:t>
                </a:r>
                <a:r>
                  <a:rPr sz="2400" b="0">
                    <a:solidFill>
                      <a:srgbClr val="111827"/>
                    </a:solidFill>
                    <a:latin typeface="Arial"/>
                  </a:rPr>
                  <a:t>, so </a:t>
                </a:r>
                <a:r>
                  <a:rPr lang="en-IN" sz="2400">
                    <a:solidFill>
                      <a:srgbClr val="111827"/>
                    </a:solidFill>
                    <a:latin typeface="Cambria Math" panose="02040503050406030204" pitchFamily="18" charset="0"/>
                  </a:rPr>
                  <a:t>$\vec{c}\cdot(\vec{a}+\vec{b})=\frac{s^2-6}{2}$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$|\vec{c}|=1$</a:t>
                </a:r>
                <a:r>
                  <a:rPr sz="2400" b="0">
                    <a:solidFill>
                      <a:srgbClr val="111827"/>
                    </a:solidFill>
                    <a:latin typeface="Arial"/>
                  </a:rPr>
                  <a:t>, Cauchy-Schwarz gives </a:t>
                </a:r>
                <a:r>
                  <a:rPr lang="en-IN" sz="2400">
                    <a:solidFill>
                      <a:srgbClr val="111827"/>
                    </a:solidFill>
                    <a:latin typeface="Cambria Math" panose="02040503050406030204" pitchFamily="18" charset="0"/>
                  </a:rPr>
                  <a:t>$\left|\vec{c}\cdot(\vec{a}+\vec{b})\right|\le s$</a:t>
                </a:r>
                <a:r>
                  <a:rPr sz="2400" b="0">
                    <a:solidFill>
                      <a:srgbClr val="111827"/>
                    </a:solidFill>
                    <a:latin typeface="Arial"/>
                  </a:rPr>
                  <a:t>, i.e. </a:t>
                </a:r>
                <a:r>
                  <a:rPr lang="en-IN" sz="2400">
                    <a:solidFill>
                      <a:srgbClr val="111827"/>
                    </a:solidFill>
                    <a:latin typeface="Cambria Math" panose="02040503050406030204" pitchFamily="18" charset="0"/>
                  </a:rPr>
                  <a:t>$|s^2-6|\le 2s$</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$s^2-2s-6\le0$</a:t>
                </a:r>
                <a:r>
                  <a:rPr sz="2400" b="0">
                    <a:solidFill>
                      <a:srgbClr val="111827"/>
                    </a:solidFill>
                    <a:latin typeface="Arial"/>
                  </a:rPr>
                  <a:t> gives </a:t>
                </a:r>
                <a:r>
                  <a:rPr lang="en-IN" sz="2400">
                    <a:solidFill>
                      <a:srgbClr val="111827"/>
                    </a:solidFill>
                    <a:latin typeface="Cambria Math" panose="02040503050406030204" pitchFamily="18" charset="0"/>
                  </a:rPr>
                  <a:t>$s\le1+\sqrt{7}$</a:t>
                </a:r>
                <a:r>
                  <a:rPr sz="2400" b="0">
                    <a:solidFill>
                      <a:srgbClr val="111827"/>
                    </a:solidFill>
                    <a:latin typeface="Arial"/>
                  </a:rPr>
                  <a:t> (taking </a:t>
                </a:r>
                <a:r>
                  <a:rPr lang="en-IN" sz="2400">
                    <a:solidFill>
                      <a:srgbClr val="111827"/>
                    </a:solidFill>
                    <a:latin typeface="Cambria Math" panose="02040503050406030204" pitchFamily="18" charset="0"/>
                  </a:rPr>
                  <a:t>$s\ge0$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(taking </a:t>
                </a:r>
                <a14:m>
                  <m:oMath xmlns:m="http://schemas.openxmlformats.org/officeDocument/2006/math">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Every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in this range is possible, because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𝑠</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then makes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maximum is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 minimum is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difference is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$s^2+2s-6\ge0$</a:t>
                </a:r>
                <a:r>
                  <a:rPr sz="2400" b="0">
                    <a:solidFill>
                      <a:srgbClr val="111827"/>
                    </a:solidFill>
                    <a:latin typeface="Arial"/>
                  </a:rPr>
                  <a:t> gives </a:t>
                </a:r>
                <a:r>
                  <a:rPr lang="en-IN" sz="2400">
                    <a:solidFill>
                      <a:srgbClr val="111827"/>
                    </a:solidFill>
                    <a:latin typeface="Cambria Math" panose="02040503050406030204" pitchFamily="18" charset="0"/>
                  </a:rPr>
                  <a:t>$s\ge\sqrt{7}-1$</a:t>
                </a:r>
                <a:r>
                  <a:rPr sz="2400" b="0">
                    <a:solidFill>
                      <a:srgbClr val="111827"/>
                    </a:solidFill>
                    <a:latin typeface="Arial"/>
                  </a:rPr>
                  <a:t> (taking </a:t>
                </a:r>
                <a:r>
                  <a:rPr lang="en-IN" sz="2400">
                    <a:solidFill>
                      <a:srgbClr val="111827"/>
                    </a:solidFill>
                    <a:latin typeface="Cambria Math" panose="02040503050406030204" pitchFamily="18" charset="0"/>
                  </a:rPr>
                  <a:t>$s\ge0$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Every </a:t>
                </a:r>
                <a:r>
                  <a:rPr lang="en-IN" sz="2400">
                    <a:solidFill>
                      <a:srgbClr val="111827"/>
                    </a:solidFill>
                    <a:latin typeface="Cambria Math" panose="02040503050406030204" pitchFamily="18" charset="0"/>
                  </a:rPr>
                  <a:t>$s$</a:t>
                </a:r>
                <a:r>
                  <a:rPr sz="2400" b="0">
                    <a:solidFill>
                      <a:srgbClr val="111827"/>
                    </a:solidFill>
                    <a:latin typeface="Arial"/>
                  </a:rPr>
                  <a:t> in this range is possible, because </a:t>
                </a:r>
                <a:r>
                  <a:rPr lang="en-IN" sz="2400">
                    <a:solidFill>
                      <a:srgbClr val="111827"/>
                    </a:solidFill>
                    <a:latin typeface="Cambria Math" panose="02040503050406030204" pitchFamily="18" charset="0"/>
                  </a:rPr>
                  <a:t>$0\le s\le4=|\vec{a}|+|\vec{b}|$</a:t>
                </a:r>
                <a:r>
                  <a:rPr sz="2400" b="0">
                    <a:solidFill>
                      <a:srgbClr val="111827"/>
                    </a:solidFill>
                    <a:latin typeface="Arial"/>
                  </a:rPr>
                  <a:t> and </a:t>
                </a:r>
                <a:r>
                  <a:rPr lang="en-IN" sz="2400">
                    <a:solidFill>
                      <a:srgbClr val="111827"/>
                    </a:solidFill>
                    <a:latin typeface="Cambria Math" panose="02040503050406030204" pitchFamily="18" charset="0"/>
                  </a:rPr>
                  <a:t>$\vec{a}\cdot\vec{b}=\frac{s^2-8}{2}$</a:t>
                </a:r>
                <a:r>
                  <a:rPr sz="2400" b="0">
                    <a:solidFill>
                      <a:srgbClr val="111827"/>
                    </a:solidFill>
                    <a:latin typeface="Arial"/>
                  </a:rPr>
                  <a:t> then makes </a:t>
                </a:r>
                <a:r>
                  <a:rPr lang="en-IN" sz="2400">
                    <a:solidFill>
                      <a:srgbClr val="111827"/>
                    </a:solidFill>
                    <a:latin typeface="Cambria Math" panose="02040503050406030204" pitchFamily="18" charset="0"/>
                  </a:rPr>
                  <a:t>$(\vec{a}-\vec{c})\cdot(\vec{b}-\vec{c})=\vec{a}\cdot\vec{b}-\vec{c}\cdot(\vec{a}+\vec{b})+1=0$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maximum is </a:t>
                </a:r>
                <a:r>
                  <a:rPr lang="en-IN" sz="2400">
                    <a:solidFill>
                      <a:srgbClr val="111827"/>
                    </a:solidFill>
                    <a:latin typeface="Cambria Math" panose="02040503050406030204" pitchFamily="18" charset="0"/>
                  </a:rPr>
                  <a:t>$\sqrt{7}+1$</a:t>
                </a:r>
                <a:r>
                  <a:rPr sz="2400" b="0">
                    <a:solidFill>
                      <a:srgbClr val="111827"/>
                    </a:solidFill>
                    <a:latin typeface="Arial"/>
                  </a:rPr>
                  <a:t>, the minimum is </a:t>
                </a:r>
                <a:r>
                  <a:rPr lang="en-IN" sz="2400">
                    <a:solidFill>
                      <a:srgbClr val="111827"/>
                    </a:solidFill>
                    <a:latin typeface="Cambria Math" panose="02040503050406030204" pitchFamily="18" charset="0"/>
                  </a:rPr>
                  <a:t>$\sqrt{7}-1$</a:t>
                </a:r>
                <a:r>
                  <a:rPr sz="2400" b="0">
                    <a:solidFill>
                      <a:srgbClr val="111827"/>
                    </a:solidFill>
                    <a:latin typeface="Arial"/>
                  </a:rPr>
                  <a:t>, and the difference is </a:t>
                </a:r>
                <a:r>
                  <a:rPr lang="en-IN" sz="2400">
                    <a:solidFill>
                      <a:srgbClr val="111827"/>
                    </a:solidFill>
                    <a:latin typeface="Cambria Math" panose="02040503050406030204" pitchFamily="18" charset="0"/>
                  </a:rPr>
                  <a:t>$2$</a:t>
                </a:r>
                <a:r>
                  <a:rPr sz="2400" b="0">
                    <a:solidFill>
                      <a:srgbClr val="111827"/>
                    </a:solidFill>
                    <a:latin typeface="Arial"/>
                  </a:rPr>
                  <a:t>.</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2</a:t>
            </a:r>
            <a:endParaRPr sz="2800">
              <a:solidFill>
                <a:srgbClr val="15803D"/>
              </a:solidFill>
            </a:endParaRP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is fixed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oMath>
                </a14:m>
                <a:r>
                  <a:rPr sz="2400" b="0">
                    <a:solidFill>
                      <a:srgbClr val="111827"/>
                    </a:solidFill>
                    <a:latin typeface="Arial"/>
                  </a:rPr>
                  <a:t>, then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satisfies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𝑙</m:t>
                    </m:r>
                  </m:oMath>
                </a14:m>
                <a:r>
                  <a:rPr sz="2400" b="0">
                    <a:solidFill>
                      <a:srgbClr val="111827"/>
                    </a:solidFill>
                    <a:latin typeface="Arial"/>
                  </a:rPr>
                  <a:t>; both ends are attained when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(same or opposite direction). Always check the ends are compatible with the other constraints.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Reverse triangle inequality: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of lengths </a:t>
                </a:r>
                <a14:m>
                  <m:oMath xmlns:m="http://schemas.openxmlformats.org/officeDocument/2006/math">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𝑞</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the interval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7</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3.65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lies inside it and is not cut down further.</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$|\vec{w}|=k$</a:t>
                </a:r>
                <a:r>
                  <a:rPr sz="2400" b="0">
                    <a:solidFill>
                      <a:srgbClr val="111827"/>
                    </a:solidFill>
                    <a:latin typeface="Arial"/>
                  </a:rPr>
                  <a:t> is fixed and </a:t>
                </a:r>
                <a:r>
                  <a:rPr lang="en-IN" sz="2400">
                    <a:solidFill>
                      <a:srgbClr val="111827"/>
                    </a:solidFill>
                    <a:latin typeface="Cambria Math" panose="02040503050406030204" pitchFamily="18" charset="0"/>
                  </a:rPr>
                  <a:t>$|\vec{c}|=l$</a:t>
                </a:r>
                <a:r>
                  <a:rPr sz="2400" b="0">
                    <a:solidFill>
                      <a:srgbClr val="111827"/>
                    </a:solidFill>
                    <a:latin typeface="Arial"/>
                  </a:rPr>
                  <a:t>, then </a:t>
                </a:r>
                <a:r>
                  <a:rPr lang="en-IN" sz="2400">
                    <a:solidFill>
                      <a:srgbClr val="111827"/>
                    </a:solidFill>
                    <a:latin typeface="Cambria Math" panose="02040503050406030204" pitchFamily="18" charset="0"/>
                  </a:rPr>
                  <a:t>$\vec{u}=\vec{w}+\vec{c}$</a:t>
                </a:r>
                <a:r>
                  <a:rPr sz="2400" b="0">
                    <a:solidFill>
                      <a:srgbClr val="111827"/>
                    </a:solidFill>
                    <a:latin typeface="Arial"/>
                  </a:rPr>
                  <a:t> satisfies </a:t>
                </a:r>
                <a:r>
                  <a:rPr lang="en-IN" sz="2400">
                    <a:solidFill>
                      <a:srgbClr val="111827"/>
                    </a:solidFill>
                    <a:latin typeface="Cambria Math" panose="02040503050406030204" pitchFamily="18" charset="0"/>
                  </a:rPr>
                  <a:t>$|k-l|\le|\vec{u}|\le k+l$</a:t>
                </a:r>
                <a:r>
                  <a:rPr sz="2400" b="0">
                    <a:solidFill>
                      <a:srgbClr val="111827"/>
                    </a:solidFill>
                    <a:latin typeface="Arial"/>
                  </a:rPr>
                  <a:t>; both ends are attained when </a:t>
                </a:r>
                <a:r>
                  <a:rPr lang="en-IN" sz="2400">
                    <a:solidFill>
                      <a:srgbClr val="111827"/>
                    </a:solidFill>
                    <a:latin typeface="Cambria Math" panose="02040503050406030204" pitchFamily="18" charset="0"/>
                  </a:rPr>
                  <a:t>$\vec{w}\parallel\vec{c}$</a:t>
                </a:r>
                <a:r>
                  <a:rPr sz="2400" b="0">
                    <a:solidFill>
                      <a:srgbClr val="111827"/>
                    </a:solidFill>
                    <a:latin typeface="Arial"/>
                  </a:rPr>
                  <a:t> (same or opposite direction). Always check the ends are compatible with the other constraints.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Reverse triangle inequality: </a:t>
                </a:r>
                <a:r>
                  <a:rPr lang="en-IN" sz="2400">
                    <a:solidFill>
                      <a:srgbClr val="111827"/>
                    </a:solidFill>
                    <a:latin typeface="Cambria Math" panose="02040503050406030204" pitchFamily="18" charset="0"/>
                  </a:rPr>
                  <a:t>$\left||\vec{u}|-|\vec{v}|\right|\le|\vec{u}\pm\vec{v}|\le|\vec{u}|+|\vec{v}|$</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any vectors </a:t>
                </a:r>
                <a:r>
                  <a:rPr lang="en-IN" sz="2400">
                    <a:solidFill>
                      <a:srgbClr val="111827"/>
                    </a:solidFill>
                    <a:latin typeface="Cambria Math" panose="02040503050406030204" pitchFamily="18" charset="0"/>
                  </a:rPr>
                  <a:t>$\vec{a},\vec{b}$</a:t>
                </a:r>
                <a:r>
                  <a:rPr sz="2400" b="0">
                    <a:solidFill>
                      <a:srgbClr val="111827"/>
                    </a:solidFill>
                    <a:latin typeface="Arial"/>
                  </a:rPr>
                  <a:t> of lengths </a:t>
                </a:r>
                <a:r>
                  <a:rPr lang="en-IN" sz="2400">
                    <a:solidFill>
                      <a:srgbClr val="111827"/>
                    </a:solidFill>
                    <a:latin typeface="Cambria Math" panose="02040503050406030204" pitchFamily="18" charset="0"/>
                  </a:rPr>
                  <a:t>$p,q$</a:t>
                </a:r>
                <a:r>
                  <a:rPr sz="2400" b="0">
                    <a:solidFill>
                      <a:srgbClr val="111827"/>
                    </a:solidFill>
                    <a:latin typeface="Arial"/>
                  </a:rPr>
                  <a:t>: </a:t>
                </a:r>
                <a:r>
                  <a:rPr lang="en-IN" sz="2400">
                    <a:solidFill>
                      <a:srgbClr val="111827"/>
                    </a:solidFill>
                    <a:latin typeface="Cambria Math" panose="02040503050406030204" pitchFamily="18" charset="0"/>
                  </a:rPr>
                  <a:t>$|p-q|\le|\vec{a}+\vec{b}|\le p+q$</a:t>
                </a:r>
                <a:r>
                  <a:rPr sz="2400" b="0">
                    <a:solidFill>
                      <a:srgbClr val="111827"/>
                    </a:solidFill>
                    <a:latin typeface="Arial"/>
                  </a:rPr>
                  <a:t>. Here </a:t>
                </a:r>
                <a:r>
                  <a:rPr lang="en-IN" sz="2400">
                    <a:solidFill>
                      <a:srgbClr val="111827"/>
                    </a:solidFill>
                    <a:latin typeface="Cambria Math" panose="02040503050406030204" pitchFamily="18" charset="0"/>
                  </a:rPr>
                  <a:t>$0\le|\vec{a}+\vec{b}|\le4$</a:t>
                </a:r>
                <a:r>
                  <a:rPr sz="2400" b="0">
                    <a:solidFill>
                      <a:srgbClr val="111827"/>
                    </a:solidFill>
                    <a:latin typeface="Arial"/>
                  </a:rPr>
                  <a:t>, so the interval </a:t>
                </a:r>
                <a:r>
                  <a:rPr lang="en-IN" sz="2400">
                    <a:solidFill>
                      <a:srgbClr val="111827"/>
                    </a:solidFill>
                    <a:latin typeface="Cambria Math" panose="02040503050406030204" pitchFamily="18" charset="0"/>
                  </a:rPr>
                  <a:t>$\left[\sqrt{7}-1,\sqrt{7}+1\right]\approx[1.65,3.65]$</a:t>
                </a:r>
                <a:r>
                  <a:rPr sz="2400" b="0">
                    <a:solidFill>
                      <a:srgbClr val="111827"/>
                    </a:solidFill>
                    <a:latin typeface="Arial"/>
                  </a:rPr>
                  <a:t> lies inside it and is not cut down further.</a:t>
                </a:r>
                <a:endParaRPr sz="2400">
                  <a:solidFill>
                    <a:srgbClr val="111827"/>
                  </a:solidFill>
                </a:endParaRPr>
              </a:p>
            </p:txBody>
          </p:sp>
        </mc:Fallback>
      </mc:AlternateContent>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4701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three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such that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value of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2</m:t>
                            </m:r>
                          </m:e>
                        </m:rad>
                        <m:r>
                          <a:rPr lang="en-IN" sz="2400" i="1">
                            <a:solidFill>
                              <a:srgbClr val="111827"/>
                            </a:solidFill>
                            <a:latin typeface="Cambria Math" panose="02040503050406030204" pitchFamily="18" charset="0"/>
                          </a:rPr>
                          <m:t>𝑐</m:t>
                        </m:r>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(B)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(C)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(D) greater than zero</a:t>
                </a:r>
                <a:endParaRPr sz="2400">
                  <a:solidFill>
                    <a:srgbClr val="111827"/>
                  </a:solidFill>
                </a:endParaRPr>
              </a:p>
            </p:txBody>
          </p:sp>
        </mc:Choice>
        <mc:Fallback>
          <p:sp>
            <p:nvSpPr>
              <p:cNvPr id="4" name="Rounded Rectangle 3"/>
              <p:cNvSpPr/>
              <p:nvPr/>
            </p:nvSpPr>
            <p:spPr>
              <a:xfrm>
                <a:off x="731520" y="1280160"/>
                <a:ext cx="10725912" cy="3470147"/>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three vectors </a:t>
                </a:r>
                <a:r>
                  <a:rPr lang="en-IN" sz="2400">
                    <a:solidFill>
                      <a:srgbClr val="111827"/>
                    </a:solidFill>
                    <a:latin typeface="Cambria Math" panose="02040503050406030204" pitchFamily="18" charset="0"/>
                  </a:rPr>
                  <a:t>$\vec{p}$</a:t>
                </a:r>
                <a:r>
                  <a:rPr sz="2400" b="0">
                    <a:solidFill>
                      <a:srgbClr val="111827"/>
                    </a:solidFill>
                    <a:latin typeface="Arial"/>
                  </a:rPr>
                  <a:t>, </a:t>
                </a:r>
                <a:r>
                  <a:rPr lang="en-IN" sz="2400">
                    <a:solidFill>
                      <a:srgbClr val="111827"/>
                    </a:solidFill>
                    <a:latin typeface="Cambria Math" panose="02040503050406030204" pitchFamily="18" charset="0"/>
                  </a:rPr>
                  <a:t>$\vec{q}$</a:t>
                </a:r>
                <a:r>
                  <a:rPr sz="2400" b="0">
                    <a:solidFill>
                      <a:srgbClr val="111827"/>
                    </a:solidFill>
                    <a:latin typeface="Arial"/>
                  </a:rPr>
                  <a:t> and </a:t>
                </a:r>
                <a:r>
                  <a:rPr lang="en-IN" sz="2400">
                    <a:solidFill>
                      <a:srgbClr val="111827"/>
                    </a:solidFill>
                    <a:latin typeface="Cambria Math" panose="02040503050406030204" pitchFamily="18" charset="0"/>
                  </a:rPr>
                  <a:t>$\vec{r}$</a:t>
                </a:r>
                <a:r>
                  <a:rPr sz="2400" b="0">
                    <a:solidFill>
                      <a:srgbClr val="111827"/>
                    </a:solidFill>
                    <a:latin typeface="Arial"/>
                  </a:rPr>
                  <a:t> such that </a:t>
                </a:r>
                <a:r>
                  <a:rPr lang="en-IN" sz="2400">
                    <a:solidFill>
                      <a:srgbClr val="111827"/>
                    </a:solidFill>
                    <a:latin typeface="Cambria Math" panose="02040503050406030204" pitchFamily="18" charset="0"/>
                  </a:rPr>
                  <a:t>$\vec{p}=\hat{i}+\hat{j}+\hat{k}$</a:t>
                </a:r>
                <a:r>
                  <a:rPr sz="2400" b="0">
                    <a:solidFill>
                      <a:srgbClr val="111827"/>
                    </a:solidFill>
                    <a:latin typeface="Arial"/>
                  </a:rPr>
                  <a:t>, </a:t>
                </a:r>
                <a:r>
                  <a:rPr lang="en-IN" sz="2400">
                    <a:solidFill>
                      <a:srgbClr val="111827"/>
                    </a:solidFill>
                    <a:latin typeface="Cambria Math" panose="02040503050406030204" pitchFamily="18" charset="0"/>
                  </a:rPr>
                  <a:t>$\vec{q}=\hat{i}-\hat{j}+\hat{k}$</a:t>
                </a:r>
                <a:r>
                  <a:rPr sz="2400" b="0">
                    <a:solidFill>
                      <a:srgbClr val="111827"/>
                    </a:solidFill>
                    <a:latin typeface="Arial"/>
                  </a:rPr>
                  <a:t>, </a:t>
                </a:r>
                <a:r>
                  <a:rPr lang="en-IN" sz="2400">
                    <a:solidFill>
                      <a:srgbClr val="111827"/>
                    </a:solidFill>
                    <a:latin typeface="Cambria Math" panose="02040503050406030204" pitchFamily="18" charset="0"/>
                  </a:rPr>
                  <a:t>$\vec{p}\times\vec{r}=\vec{q}+c\vec{p}$</a:t>
                </a:r>
                <a:r>
                  <a:rPr sz="2400" b="0">
                    <a:solidFill>
                      <a:srgbClr val="111827"/>
                    </a:solidFill>
                    <a:latin typeface="Arial"/>
                  </a:rPr>
                  <a:t> and </a:t>
                </a:r>
                <a:r>
                  <a:rPr lang="en-IN" sz="2400">
                    <a:solidFill>
                      <a:srgbClr val="111827"/>
                    </a:solidFill>
                    <a:latin typeface="Cambria Math" panose="02040503050406030204" pitchFamily="18" charset="0"/>
                  </a:rPr>
                  <a:t>$\vec{p}\cdot\vec{r}=2$</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The value of </a:t>
                </a:r>
                <a:r>
                  <a:rPr lang="en-IN" sz="2400">
                    <a:solidFill>
                      <a:srgbClr val="111827"/>
                    </a:solidFill>
                    <a:latin typeface="Cambria Math" panose="02040503050406030204" pitchFamily="18" charset="0"/>
                  </a:rPr>
                  <a:t>$[\vec{p}\,\vec{q}\,\vec{r}]$</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$-\frac{5\sqrt{2}c}{|\vec{r}|}$</a:t>
                </a:r>
                <a:r>
                  <a:rPr sz="2400" b="0">
                    <a:solidFill>
                      <a:srgbClr val="111827"/>
                    </a:solidFill>
                    <a:latin typeface="Arial"/>
                  </a:rPr>
                  <a:t>   (B) </a:t>
                </a:r>
                <a:r>
                  <a:rPr lang="en-IN" sz="2400">
                    <a:solidFill>
                      <a:srgbClr val="111827"/>
                    </a:solidFill>
                    <a:latin typeface="Cambria Math" panose="02040503050406030204" pitchFamily="18" charset="0"/>
                  </a:rPr>
                  <a:t>$-\frac{8}{3}$</a:t>
                </a:r>
                <a:r>
                  <a:rPr sz="2400" b="0">
                    <a:solidFill>
                      <a:srgbClr val="111827"/>
                    </a:solidFill>
                    <a:latin typeface="Arial"/>
                  </a:rPr>
                  <a:t>   (C) </a:t>
                </a:r>
                <a:r>
                  <a:rPr lang="en-IN" sz="2400">
                    <a:solidFill>
                      <a:srgbClr val="111827"/>
                    </a:solidFill>
                    <a:latin typeface="Cambria Math" panose="02040503050406030204" pitchFamily="18" charset="0"/>
                  </a:rPr>
                  <a:t>$0$</a:t>
                </a:r>
                <a:r>
                  <a:rPr sz="2400" b="0">
                    <a:solidFill>
                      <a:srgbClr val="111827"/>
                    </a:solidFill>
                    <a:latin typeface="Arial"/>
                  </a:rPr>
                  <a:t>   (D) greater than zero</a:t>
                </a:r>
                <a:endParaRPr sz="2400">
                  <a:solidFill>
                    <a:srgbClr val="111827"/>
                  </a:solidFill>
                </a:endParaRPr>
              </a:p>
            </p:txBody>
          </p:sp>
        </mc:Fallback>
      </mc:AlternateContent>
      <p:sp>
        <p:nvSpPr>
          <p:cNvPr id="5" name="Rectangle 4"/>
          <p:cNvSpPr/>
          <p:nvPr/>
        </p:nvSpPr>
        <p:spPr>
          <a:xfrm>
            <a:off x="731520" y="4978907"/>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Vector triple product and scalar triple product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Cross with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oMath>
                </a14:m>
                <a:r>
                  <a:rPr sz="2400" b="0">
                    <a:solidFill>
                      <a:srgbClr val="78350F"/>
                    </a:solidFill>
                    <a:latin typeface="Arial"/>
                  </a:rPr>
                  <a:t> to get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oMath>
                </a14:m>
                <a:r>
                  <a:rPr sz="2400" b="0">
                    <a:solidFill>
                      <a:srgbClr val="78350F"/>
                    </a:solidFill>
                    <a:latin typeface="Arial"/>
                  </a:rPr>
                  <a:t> in terms of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𝑞</m:t>
                        </m:r>
                      </m:e>
                    </m:acc>
                  </m:oMath>
                </a14:m>
                <a:r>
                  <a:rPr sz="2400" b="0">
                    <a:solidFill>
                      <a:srgbClr val="78350F"/>
                    </a:solidFill>
                    <a:latin typeface="Arial"/>
                  </a:rPr>
                  <a:t>, and dot with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oMath>
                </a14:m>
                <a:r>
                  <a:rPr sz="2400" b="0">
                    <a:solidFill>
                      <a:srgbClr val="78350F"/>
                    </a:solidFill>
                    <a:latin typeface="Arial"/>
                  </a:rPr>
                  <a:t> to get </a:t>
                </a:r>
                <a14:m>
                  <m:oMath xmlns:m="http://schemas.openxmlformats.org/officeDocument/2006/math">
                    <m:r>
                      <a:rPr lang="en-IN" sz="2400" i="1">
                        <a:solidFill>
                          <a:srgbClr val="78350F"/>
                        </a:solidFill>
                        <a:latin typeface="Cambria Math" panose="02040503050406030204" pitchFamily="18" charset="0"/>
                      </a:rPr>
                      <m:t>𝑐</m:t>
                    </m:r>
                  </m:oMath>
                </a14:m>
                <a:r>
                  <a:rPr sz="2400" b="0">
                    <a:solidFill>
                      <a:srgbClr val="78350F"/>
                    </a:solidFill>
                    <a:latin typeface="Arial"/>
                  </a:rPr>
                  <a:t>, using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Cross with </a:t>
                </a:r>
                <a:r>
                  <a:rPr lang="en-IN" sz="2400">
                    <a:solidFill>
                      <a:srgbClr val="78350F"/>
                    </a:solidFill>
                    <a:latin typeface="Cambria Math" panose="02040503050406030204" pitchFamily="18" charset="0"/>
                  </a:rPr>
                  <a:t>$\vec{p}$</a:t>
                </a:r>
                <a:r>
                  <a:rPr sz="2400" b="0">
                    <a:solidFill>
                      <a:srgbClr val="78350F"/>
                    </a:solidFill>
                    <a:latin typeface="Arial"/>
                  </a:rPr>
                  <a:t> to get </a:t>
                </a:r>
                <a:r>
                  <a:rPr lang="en-IN" sz="2400">
                    <a:solidFill>
                      <a:srgbClr val="78350F"/>
                    </a:solidFill>
                    <a:latin typeface="Cambria Math" panose="02040503050406030204" pitchFamily="18" charset="0"/>
                  </a:rPr>
                  <a:t>$\vec{r}$</a:t>
                </a:r>
                <a:r>
                  <a:rPr sz="2400" b="0">
                    <a:solidFill>
                      <a:srgbClr val="78350F"/>
                    </a:solidFill>
                    <a:latin typeface="Arial"/>
                  </a:rPr>
                  <a:t> in terms of </a:t>
                </a:r>
                <a:r>
                  <a:rPr lang="en-IN" sz="2400">
                    <a:solidFill>
                      <a:srgbClr val="78350F"/>
                    </a:solidFill>
                    <a:latin typeface="Cambria Math" panose="02040503050406030204" pitchFamily="18" charset="0"/>
                  </a:rPr>
                  <a:t>$\vec{p}\times\vec{q}$</a:t>
                </a:r>
                <a:r>
                  <a:rPr sz="2400" b="0">
                    <a:solidFill>
                      <a:srgbClr val="78350F"/>
                    </a:solidFill>
                    <a:latin typeface="Arial"/>
                  </a:rPr>
                  <a:t>, and dot with </a:t>
                </a:r>
                <a:r>
                  <a:rPr lang="en-IN" sz="2400">
                    <a:solidFill>
                      <a:srgbClr val="78350F"/>
                    </a:solidFill>
                    <a:latin typeface="Cambria Math" panose="02040503050406030204" pitchFamily="18" charset="0"/>
                  </a:rPr>
                  <a:t>$\vec{p}$</a:t>
                </a:r>
                <a:r>
                  <a:rPr sz="2400" b="0">
                    <a:solidFill>
                      <a:srgbClr val="78350F"/>
                    </a:solidFill>
                    <a:latin typeface="Arial"/>
                  </a:rPr>
                  <a:t> to get </a:t>
                </a:r>
                <a:r>
                  <a:rPr lang="en-IN" sz="2400">
                    <a:solidFill>
                      <a:srgbClr val="78350F"/>
                    </a:solidFill>
                    <a:latin typeface="Cambria Math" panose="02040503050406030204" pitchFamily="18" charset="0"/>
                  </a:rPr>
                  <a:t>$c$</a:t>
                </a:r>
                <a:r>
                  <a:rPr sz="2400" b="0">
                    <a:solidFill>
                      <a:srgbClr val="78350F"/>
                    </a:solidFill>
                    <a:latin typeface="Arial"/>
                  </a:rPr>
                  <a:t>, using </a:t>
                </a:r>
                <a:r>
                  <a:rPr lang="en-IN" sz="2400">
                    <a:solidFill>
                      <a:srgbClr val="78350F"/>
                    </a:solidFill>
                    <a:latin typeface="Cambria Math" panose="02040503050406030204" pitchFamily="18" charset="0"/>
                  </a:rPr>
                  <a:t>$\vec{p}\times(\vec{p}\times\vec{r})=(\vec{p}\cdot\vec{r})\vec{p}-(\vec{p}\cdot\vec{p})\vec{r}$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oMath>
                </a14:m>
                <a:r>
                  <a:rPr sz="2400" b="0">
                    <a:solidFill>
                      <a:srgbClr val="111827"/>
                    </a:solidFill>
                    <a:latin typeface="Arial"/>
                  </a:rPr>
                  <a:t> (as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oMath>
                </a14:m>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giving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num>
                      <m:den>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den>
                    </m:f>
                  </m:oMath>
                </a14:m>
                <a:r>
                  <a:rPr sz="2400" b="0">
                    <a:solidFill>
                      <a:srgbClr val="111827"/>
                    </a:solidFill>
                    <a:latin typeface="Arial"/>
                  </a:rPr>
                  <a:t> ...(ii).</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Given </a:t>
                </a:r>
                <a:r>
                  <a:rPr lang="en-IN" sz="2400">
                    <a:solidFill>
                      <a:srgbClr val="111827"/>
                    </a:solidFill>
                    <a:latin typeface="Cambria Math" panose="02040503050406030204" pitchFamily="18" charset="0"/>
                  </a:rPr>
                  <a:t>$\vec{p}=\hat{i}+\hat{j}+\hat{k}$</a:t>
                </a:r>
                <a:r>
                  <a:rPr sz="2400" b="0">
                    <a:solidFill>
                      <a:srgbClr val="111827"/>
                    </a:solidFill>
                    <a:latin typeface="Arial"/>
                  </a:rPr>
                  <a:t>, </a:t>
                </a:r>
                <a:r>
                  <a:rPr lang="en-IN" sz="2400">
                    <a:solidFill>
                      <a:srgbClr val="111827"/>
                    </a:solidFill>
                    <a:latin typeface="Cambria Math" panose="02040503050406030204" pitchFamily="18" charset="0"/>
                  </a:rPr>
                  <a:t>$\vec{q}=\hat{i}-\hat{j}+\hat{k}$</a:t>
                </a:r>
                <a:r>
                  <a:rPr sz="2400" b="0">
                    <a:solidFill>
                      <a:srgbClr val="111827"/>
                    </a:solidFill>
                    <a:latin typeface="Arial"/>
                  </a:rPr>
                  <a:t>, </a:t>
                </a:r>
                <a:r>
                  <a:rPr lang="en-IN" sz="2400">
                    <a:solidFill>
                      <a:srgbClr val="111827"/>
                    </a:solidFill>
                    <a:latin typeface="Cambria Math" panose="02040503050406030204" pitchFamily="18" charset="0"/>
                  </a:rPr>
                  <a:t>$\vec{p}\times\vec{r}=\vec{q}+c\vec{p}$</a:t>
                </a:r>
                <a:r>
                  <a:rPr sz="2400" b="0">
                    <a:solidFill>
                      <a:srgbClr val="111827"/>
                    </a:solidFill>
                    <a:latin typeface="Arial"/>
                  </a:rPr>
                  <a:t> and </a:t>
                </a:r>
                <a:r>
                  <a:rPr lang="en-IN" sz="2400">
                    <a:solidFill>
                      <a:srgbClr val="111827"/>
                    </a:solidFill>
                    <a:latin typeface="Cambria Math" panose="02040503050406030204" pitchFamily="18" charset="0"/>
                  </a:rPr>
                  <a:t>$\vec{p}\cdot\vec{r}=2$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Cross with </a:t>
                </a:r>
                <a:r>
                  <a:rPr lang="en-IN" sz="2400">
                    <a:solidFill>
                      <a:srgbClr val="111827"/>
                    </a:solidFill>
                    <a:latin typeface="Cambria Math" panose="02040503050406030204" pitchFamily="18" charset="0"/>
                  </a:rPr>
                  <a:t>$\vec{p}$</a:t>
                </a:r>
                <a:r>
                  <a:rPr sz="2400" b="0">
                    <a:solidFill>
                      <a:srgbClr val="111827"/>
                    </a:solidFill>
                    <a:latin typeface="Arial"/>
                  </a:rPr>
                  <a:t>: </a:t>
                </a:r>
                <a:r>
                  <a:rPr lang="en-IN" sz="2400">
                    <a:solidFill>
                      <a:srgbClr val="111827"/>
                    </a:solidFill>
                    <a:latin typeface="Cambria Math" panose="02040503050406030204" pitchFamily="18" charset="0"/>
                  </a:rPr>
                  <a:t>$\vec{p}\times(\vec{p}\times\vec{r})=\vec{p}\times(\vec{q}+c\vec{p})$</a:t>
                </a:r>
                <a:r>
                  <a:rPr sz="2400" b="0">
                    <a:solidFill>
                      <a:srgbClr val="111827"/>
                    </a:solidFill>
                    <a:latin typeface="Arial"/>
                  </a:rPr>
                  <a:t>, so </a:t>
                </a:r>
                <a:r>
                  <a:rPr lang="en-IN" sz="2400">
                    <a:solidFill>
                      <a:srgbClr val="111827"/>
                    </a:solidFill>
                    <a:latin typeface="Cambria Math" panose="02040503050406030204" pitchFamily="18" charset="0"/>
                  </a:rPr>
                  <a:t>$(\vec{p}\cdot\vec{r})\vec{p}-(\vec{p}\cdot\vec{p})\vec{r}=\vec{p}\times\vec{q}$</a:t>
                </a:r>
                <a:r>
                  <a:rPr sz="2400" b="0">
                    <a:solidFill>
                      <a:srgbClr val="111827"/>
                    </a:solidFill>
                    <a:latin typeface="Arial"/>
                  </a:rPr>
                  <a:t> (as </a:t>
                </a:r>
                <a:r>
                  <a:rPr lang="en-IN" sz="2400">
                    <a:solidFill>
                      <a:srgbClr val="111827"/>
                    </a:solidFill>
                    <a:latin typeface="Cambria Math" panose="02040503050406030204" pitchFamily="18" charset="0"/>
                  </a:rPr>
                  <a:t>$\vec{p}\times\vec{p}=\vec{0}$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$(\vec{p}\cdot\vec{p})\vec{r}=(\vec{p}\cdot\vec{r})\vec{p}-\vec{p}\times\vec{q}$</a:t>
                </a:r>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with </a:t>
                </a:r>
                <a:r>
                  <a:rPr lang="en-IN" sz="2400">
                    <a:solidFill>
                      <a:srgbClr val="111827"/>
                    </a:solidFill>
                    <a:latin typeface="Cambria Math" panose="02040503050406030204" pitchFamily="18" charset="0"/>
                  </a:rPr>
                  <a:t>$\vec{p}$</a:t>
                </a:r>
                <a:r>
                  <a:rPr sz="2400" b="0">
                    <a:solidFill>
                      <a:srgbClr val="111827"/>
                    </a:solidFill>
                    <a:latin typeface="Arial"/>
                  </a:rPr>
                  <a:t>: </a:t>
                </a:r>
                <a:r>
                  <a:rPr lang="en-IN" sz="2400">
                    <a:solidFill>
                      <a:srgbClr val="111827"/>
                    </a:solidFill>
                    <a:latin typeface="Cambria Math" panose="02040503050406030204" pitchFamily="18" charset="0"/>
                  </a:rPr>
                  <a:t>$\vec{p}\cdot(\vec{p}\times\vec{r})=\vec{p}\cdot(\vec{q}+c\vec{p})$</a:t>
                </a:r>
                <a:r>
                  <a:rPr sz="2400" b="0">
                    <a:solidFill>
                      <a:srgbClr val="111827"/>
                    </a:solidFill>
                    <a:latin typeface="Arial"/>
                  </a:rPr>
                  <a:t>, so </a:t>
                </a:r>
                <a:r>
                  <a:rPr lang="en-IN" sz="2400">
                    <a:solidFill>
                      <a:srgbClr val="111827"/>
                    </a:solidFill>
                    <a:latin typeface="Cambria Math" panose="02040503050406030204" pitchFamily="18" charset="0"/>
                  </a:rPr>
                  <a:t>$0=\vec{p}\cdot\vec{q}+c(\vec{p}\cdot\vec{p})$</a:t>
                </a:r>
                <a:r>
                  <a:rPr sz="2400" b="0">
                    <a:solidFill>
                      <a:srgbClr val="111827"/>
                    </a:solidFill>
                    <a:latin typeface="Arial"/>
                  </a:rPr>
                  <a:t>, giving </a:t>
                </a:r>
                <a:r>
                  <a:rPr lang="en-IN" sz="2400">
                    <a:solidFill>
                      <a:srgbClr val="111827"/>
                    </a:solidFill>
                    <a:latin typeface="Cambria Math" panose="02040503050406030204" pitchFamily="18" charset="0"/>
                  </a:rPr>
                  <a:t>$c=-\frac{\vec{p}\cdot\vec{q}}{\vec{p}\cdot\vec{p}}$</a:t>
                </a:r>
                <a:r>
                  <a:rPr sz="2400" b="0">
                    <a:solidFill>
                      <a:srgbClr val="111827"/>
                    </a:solidFill>
                    <a:latin typeface="Arial"/>
                  </a:rPr>
                  <a:t> ...(ii).</a:t>
                </a:r>
                <a:endParaRPr sz="2400">
                  <a:solidFill>
                    <a:srgbClr val="111827"/>
                  </a:solidFill>
                </a:endParaRPr>
              </a:p>
            </p:txBody>
          </p:sp>
        </mc:Fallback>
      </mc:AlternateContent>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...(iii),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...(iv).</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e>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...(v).</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(iii), (iv), (v) in (i) and (ii): </a:t>
                </a:r>
                <a14:m>
                  <m:oMath xmlns:m="http://schemas.openxmlformats.org/officeDocument/2006/math">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...(vii).</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$\vec{p}\cdot\vec{p}=3$</a:t>
                </a:r>
                <a:r>
                  <a:rPr sz="2400" b="0">
                    <a:solidFill>
                      <a:srgbClr val="111827"/>
                    </a:solidFill>
                    <a:latin typeface="Arial"/>
                  </a:rPr>
                  <a:t> ...(iii), and </a:t>
                </a:r>
                <a:r>
                  <a:rPr lang="en-IN" sz="2400">
                    <a:solidFill>
                      <a:srgbClr val="111827"/>
                    </a:solidFill>
                    <a:latin typeface="Cambria Math" panose="02040503050406030204" pitchFamily="18" charset="0"/>
                  </a:rPr>
                  <a:t>$\vec{p}\cdot\vec{q}=1-1+1=1$</a:t>
                </a:r>
                <a:r>
                  <a:rPr sz="2400" b="0">
                    <a:solidFill>
                      <a:srgbClr val="111827"/>
                    </a:solidFill>
                    <a:latin typeface="Arial"/>
                  </a:rPr>
                  <a:t> ...(iv).</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$\vec{p}\times\vec{q}=\left|\begin{matrix}\hat{i}&amp;\hat{j}&amp;\hat{k}\\1&amp;1&amp;1\\1&amp;-1&amp;1\end{matrix}\right|=2\hat{i}-2\hat{k}$</a:t>
                </a:r>
                <a:r>
                  <a:rPr sz="2400" b="0">
                    <a:solidFill>
                      <a:srgbClr val="111827"/>
                    </a:solidFill>
                    <a:latin typeface="Arial"/>
                  </a:rPr>
                  <a:t> ...(v).</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Using (iii), (iv), (v) in (i) and (ii): </a:t>
                </a:r>
                <a:r>
                  <a:rPr lang="en-IN" sz="2400">
                    <a:solidFill>
                      <a:srgbClr val="111827"/>
                    </a:solidFill>
                    <a:latin typeface="Cambria Math" panose="02040503050406030204" pitchFamily="18" charset="0"/>
                  </a:rPr>
                  <a:t>$3\vec{r}=2\vec{p}-2\hat{i}+2\hat{k}$</a:t>
                </a:r>
                <a:r>
                  <a:rPr sz="2400" b="0">
                    <a:solidFill>
                      <a:srgbClr val="111827"/>
                    </a:solidFill>
                    <a:latin typeface="Arial"/>
                  </a:rPr>
                  <a:t> and </a:t>
                </a:r>
                <a:r>
                  <a:rPr lang="en-IN" sz="2400">
                    <a:solidFill>
                      <a:srgbClr val="111827"/>
                    </a:solidFill>
                    <a:latin typeface="Cambria Math" panose="02040503050406030204" pitchFamily="18" charset="0"/>
                  </a:rPr>
                  <a:t>$c=-\frac{1}{3}$</a:t>
                </a:r>
                <a:r>
                  <a:rPr sz="2400" b="0">
                    <a:solidFill>
                      <a:srgbClr val="111827"/>
                    </a:solidFill>
                    <a:latin typeface="Arial"/>
                  </a:rPr>
                  <a:t> ...(vii).</a:t>
                </a:r>
                <a:endParaRPr sz="2400">
                  <a:solidFill>
                    <a:srgbClr val="111827"/>
                  </a:solidFill>
                </a:endParaRPr>
              </a:p>
            </p:txBody>
          </p:sp>
        </mc:Fallback>
      </mc:AlternateContent>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...(vi).</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0</m:t>
                              </m:r>
                            </m:e>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mr>
                        </m:m>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...(viii), option (B).</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$\vec{r}=\frac{1}{3}\left[2\hat{i}+2\hat{j}+2\hat{k}-2\hat{i}+2\hat{k}\right]=\frac{2}{3}(\hat{j}+2\hat{k})$</a:t>
                </a:r>
                <a:r>
                  <a:rPr sz="2400" b="0">
                    <a:solidFill>
                      <a:srgbClr val="111827"/>
                    </a:solidFill>
                    <a:latin typeface="Arial"/>
                  </a:rPr>
                  <a:t> ...(vi).</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$[\vec{p}\,\vec{q}\,\vec{r}]=\left|\begin{matrix}1&amp;1&amp;1\\1&amp;-1&amp;1\\0&amp;\frac{2}{3}&amp;\frac{4}{3}\end{matrix}\right|=\left(-\frac{4}{3}-\frac{2}{3}\right)-1\left(\frac{4}{3}\right)+1\left(\frac{2}{3}\right)$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$[\vec{p}\,\vec{q}\,\vec{r}]=-2-\frac{2}{3}=-\frac{8}{3}$</a:t>
                </a:r>
                <a:r>
                  <a:rPr sz="2400" b="0">
                    <a:solidFill>
                      <a:srgbClr val="111827"/>
                    </a:solidFill>
                    <a:latin typeface="Arial"/>
                  </a:rPr>
                  <a:t> ...(viii), option (B).</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14:m>
                  <m:oMath xmlns:m="http://schemas.openxmlformats.org/officeDocument/2006/math">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8</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(B) </a:t>
                </a:r>
                <a:r>
                  <a:rPr lang="en-IN" sz="2800">
                    <a:solidFill>
                      <a:srgbClr val="15803D"/>
                    </a:solidFill>
                    <a:latin typeface="Cambria Math" panose="02040503050406030204" pitchFamily="18" charset="0"/>
                  </a:rPr>
                  <a:t>$-\frac{8}{3}$</a:t>
                </a:r>
                <a:endParaRPr sz="2800">
                  <a:solidFill>
                    <a:srgbClr val="15803D"/>
                  </a:solidFill>
                </a:endParaRPr>
              </a:p>
            </p:txBody>
          </p:sp>
        </mc:Fallback>
      </mc:AlternateContent>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Work in components: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oMath>
                </a14:m>
                <a:r>
                  <a:rPr sz="2400" b="0">
                    <a:solidFill>
                      <a:srgbClr val="78350F"/>
                    </a:solidFill>
                    <a:latin typeface="Arial"/>
                  </a:rPr>
                  <a:t> is perpendicular to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oMath>
                </a14:m>
                <a:r>
                  <a:rPr sz="2400" b="0">
                    <a:solidFill>
                      <a:srgbClr val="78350F"/>
                    </a:solidFill>
                    <a:latin typeface="Arial"/>
                  </a:rPr>
                  <a:t>, so the sum of its components is </a:t>
                </a:r>
                <a14:m>
                  <m:oMath xmlns:m="http://schemas.openxmlformats.org/officeDocument/2006/math">
                    <m:r>
                      <a:rPr lang="en-IN" sz="2400" i="1">
                        <a:solidFill>
                          <a:srgbClr val="78350F"/>
                        </a:solidFill>
                        <a:latin typeface="Cambria Math" panose="02040503050406030204" pitchFamily="18" charset="0"/>
                      </a:rPr>
                      <m:t>0</m:t>
                    </m:r>
                  </m:oMath>
                </a14:m>
                <a:r>
                  <a:rPr sz="2400" b="0">
                    <a:solidFill>
                      <a:srgbClr val="78350F"/>
                    </a:solidFill>
                    <a:latin typeface="Arial"/>
                  </a:rPr>
                  <a:t>, which gives </a:t>
                </a:r>
                <a14:m>
                  <m:oMath xmlns:m="http://schemas.openxmlformats.org/officeDocument/2006/math">
                    <m:r>
                      <a:rPr lang="en-IN" sz="2400" i="1">
                        <a:solidFill>
                          <a:srgbClr val="78350F"/>
                        </a:solidFill>
                        <a:latin typeface="Cambria Math" panose="02040503050406030204" pitchFamily="18" charset="0"/>
                      </a:rPr>
                      <m:t>𝑐</m:t>
                    </m:r>
                  </m:oMath>
                </a14:m>
                <a:r>
                  <a:rPr sz="2400" b="0">
                    <a:solidFill>
                      <a:srgbClr val="78350F"/>
                    </a:solidFill>
                    <a:latin typeface="Arial"/>
                  </a:rPr>
                  <a:t> and then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oMath>
                </a14:m>
                <a:r>
                  <a:rPr sz="2400" b="0">
                    <a:solidFill>
                      <a:srgbClr val="78350F"/>
                    </a:solidFill>
                    <a:latin typeface="Arial"/>
                  </a:rPr>
                  <a:t> by a linear system.</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Work in components: </a:t>
                </a:r>
                <a:r>
                  <a:rPr lang="en-IN" sz="2400">
                    <a:solidFill>
                      <a:srgbClr val="78350F"/>
                    </a:solidFill>
                    <a:latin typeface="Cambria Math" panose="02040503050406030204" pitchFamily="18" charset="0"/>
                  </a:rPr>
                  <a:t>$\vec{p}\times\vec{r}$</a:t>
                </a:r>
                <a:r>
                  <a:rPr sz="2400" b="0">
                    <a:solidFill>
                      <a:srgbClr val="78350F"/>
                    </a:solidFill>
                    <a:latin typeface="Arial"/>
                  </a:rPr>
                  <a:t> is perpendicular to </a:t>
                </a:r>
                <a:r>
                  <a:rPr lang="en-IN" sz="2400">
                    <a:solidFill>
                      <a:srgbClr val="78350F"/>
                    </a:solidFill>
                    <a:latin typeface="Cambria Math" panose="02040503050406030204" pitchFamily="18" charset="0"/>
                  </a:rPr>
                  <a:t>$\vec{p}$</a:t>
                </a:r>
                <a:r>
                  <a:rPr sz="2400" b="0">
                    <a:solidFill>
                      <a:srgbClr val="78350F"/>
                    </a:solidFill>
                    <a:latin typeface="Arial"/>
                  </a:rPr>
                  <a:t>, so the sum of its components is </a:t>
                </a:r>
                <a:r>
                  <a:rPr lang="en-IN" sz="2400">
                    <a:solidFill>
                      <a:srgbClr val="78350F"/>
                    </a:solidFill>
                    <a:latin typeface="Cambria Math" panose="02040503050406030204" pitchFamily="18" charset="0"/>
                  </a:rPr>
                  <a:t>$0$</a:t>
                </a:r>
                <a:r>
                  <a:rPr sz="2400" b="0">
                    <a:solidFill>
                      <a:srgbClr val="78350F"/>
                    </a:solidFill>
                    <a:latin typeface="Arial"/>
                  </a:rPr>
                  <a:t>, which gives </a:t>
                </a:r>
                <a:r>
                  <a:rPr lang="en-IN" sz="2400">
                    <a:solidFill>
                      <a:srgbClr val="78350F"/>
                    </a:solidFill>
                    <a:latin typeface="Cambria Math" panose="02040503050406030204" pitchFamily="18" charset="0"/>
                  </a:rPr>
                  <a:t>$c$</a:t>
                </a:r>
                <a:r>
                  <a:rPr sz="2400" b="0">
                    <a:solidFill>
                      <a:srgbClr val="78350F"/>
                    </a:solidFill>
                    <a:latin typeface="Arial"/>
                  </a:rPr>
                  <a:t> and then </a:t>
                </a:r>
                <a:r>
                  <a:rPr lang="en-IN" sz="2400">
                    <a:solidFill>
                      <a:srgbClr val="78350F"/>
                    </a:solidFill>
                    <a:latin typeface="Cambria Math" panose="02040503050406030204" pitchFamily="18" charset="0"/>
                  </a:rPr>
                  <a:t>$\vec{r}$</a:t>
                </a:r>
                <a:r>
                  <a:rPr sz="2400" b="0">
                    <a:solidFill>
                      <a:srgbClr val="78350F"/>
                    </a:solidFill>
                    <a:latin typeface="Arial"/>
                  </a:rPr>
                  <a:t> by a linear system.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right side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components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sum to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(it is perpendicular to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$\vec{r}=(x,y,z)$</a:t>
                </a:r>
                <a:r>
                  <a:rPr sz="2400" b="0">
                    <a:solidFill>
                      <a:srgbClr val="111827"/>
                    </a:solidFill>
                    <a:latin typeface="Arial"/>
                  </a:rPr>
                  <a:t>. Then </a:t>
                </a:r>
                <a:r>
                  <a:rPr lang="en-IN" sz="2400">
                    <a:solidFill>
                      <a:srgbClr val="111827"/>
                    </a:solidFill>
                    <a:latin typeface="Cambria Math" panose="02040503050406030204" pitchFamily="18" charset="0"/>
                  </a:rPr>
                  <a:t>$\vec{p}\times\vec{r}=(z-y,\;x-z,\;y-x)$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right side is </a:t>
                </a:r>
                <a:r>
                  <a:rPr lang="en-IN" sz="2400">
                    <a:solidFill>
                      <a:srgbClr val="111827"/>
                    </a:solidFill>
                    <a:latin typeface="Cambria Math" panose="02040503050406030204" pitchFamily="18" charset="0"/>
                  </a:rPr>
                  <a:t>$\vec{q}+c\vec{p}=(1+c,\;c-1,\;1+c)$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components of </a:t>
                </a:r>
                <a:r>
                  <a:rPr lang="en-IN" sz="2400">
                    <a:solidFill>
                      <a:srgbClr val="111827"/>
                    </a:solidFill>
                    <a:latin typeface="Cambria Math" panose="02040503050406030204" pitchFamily="18" charset="0"/>
                  </a:rPr>
                  <a:t>$\vec{p}\times\vec{r}$</a:t>
                </a:r>
                <a:r>
                  <a:rPr sz="2400" b="0">
                    <a:solidFill>
                      <a:srgbClr val="111827"/>
                    </a:solidFill>
                    <a:latin typeface="Arial"/>
                  </a:rPr>
                  <a:t> sum to </a:t>
                </a:r>
                <a:r>
                  <a:rPr lang="en-IN" sz="2400">
                    <a:solidFill>
                      <a:srgbClr val="111827"/>
                    </a:solidFill>
                    <a:latin typeface="Cambria Math" panose="02040503050406030204" pitchFamily="18" charset="0"/>
                  </a:rPr>
                  <a:t>$0$</a:t>
                </a:r>
                <a:r>
                  <a:rPr sz="2400" b="0">
                    <a:solidFill>
                      <a:srgbClr val="111827"/>
                    </a:solidFill>
                    <a:latin typeface="Arial"/>
                  </a:rPr>
                  <a:t> (it is perpendicular to </a:t>
                </a:r>
                <a:r>
                  <a:rPr lang="en-IN" sz="2400">
                    <a:solidFill>
                      <a:srgbClr val="111827"/>
                    </a:solidFill>
                    <a:latin typeface="Cambria Math" panose="02040503050406030204" pitchFamily="18" charset="0"/>
                  </a:rPr>
                  <a:t>$\vec{p}$</a:t>
                </a:r>
                <a:r>
                  <a:rPr sz="2400" b="0">
                    <a:solidFill>
                      <a:srgbClr val="111827"/>
                    </a:solidFill>
                    <a:latin typeface="Arial"/>
                  </a:rPr>
                  <a:t>), so </a:t>
                </a:r>
                <a:r>
                  <a:rPr lang="en-IN" sz="2400">
                    <a:solidFill>
                      <a:srgbClr val="111827"/>
                    </a:solidFill>
                    <a:latin typeface="Cambria Math" panose="02040503050406030204" pitchFamily="18" charset="0"/>
                  </a:rPr>
                  <a:t>$(1+c)+(c-1)+(1+c)=0$</a:t>
                </a:r>
                <a:r>
                  <a:rPr sz="2400" b="0">
                    <a:solidFill>
                      <a:srgbClr val="111827"/>
                    </a:solidFill>
                    <a:latin typeface="Arial"/>
                  </a:rPr>
                  <a:t>, i.e. </a:t>
                </a:r>
                <a:r>
                  <a:rPr lang="en-IN" sz="2400">
                    <a:solidFill>
                      <a:srgbClr val="111827"/>
                    </a:solidFill>
                    <a:latin typeface="Cambria Math" panose="02040503050406030204" pitchFamily="18" charset="0"/>
                  </a:rPr>
                  <a:t>$c=-\frac{1}{3}$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Thus </a:t>
                </a:r>
                <a:r>
                  <a:rPr lang="en-IN" sz="2400">
                    <a:solidFill>
                      <a:srgbClr val="111827"/>
                    </a:solidFill>
                    <a:latin typeface="Cambria Math" panose="02040503050406030204" pitchFamily="18" charset="0"/>
                  </a:rPr>
                  <a:t>$z-y=\frac{2}{3}$</a:t>
                </a:r>
                <a:r>
                  <a:rPr sz="2400" b="0">
                    <a:solidFill>
                      <a:srgbClr val="111827"/>
                    </a:solidFill>
                    <a:latin typeface="Arial"/>
                  </a:rPr>
                  <a:t>, </a:t>
                </a:r>
                <a:r>
                  <a:rPr lang="en-IN" sz="2400">
                    <a:solidFill>
                      <a:srgbClr val="111827"/>
                    </a:solidFill>
                    <a:latin typeface="Cambria Math" panose="02040503050406030204" pitchFamily="18" charset="0"/>
                  </a:rPr>
                  <a:t>$x-z=-\frac{4}{3}$</a:t>
                </a:r>
                <a:r>
                  <a:rPr sz="2400" b="0">
                    <a:solidFill>
                      <a:srgbClr val="111827"/>
                    </a:solidFill>
                    <a:latin typeface="Arial"/>
                  </a:rPr>
                  <a:t>, </a:t>
                </a:r>
                <a:r>
                  <a:rPr lang="en-IN" sz="2400">
                    <a:solidFill>
                      <a:srgbClr val="111827"/>
                    </a:solidFill>
                    <a:latin typeface="Cambria Math" panose="02040503050406030204" pitchFamily="18" charset="0"/>
                  </a:rPr>
                  <a:t>$y-x=\frac{2}{3}$</a:t>
                </a:r>
                <a:r>
                  <a:rPr sz="2400" b="0">
                    <a:solidFill>
                      <a:srgbClr val="111827"/>
                    </a:solidFill>
                    <a:latin typeface="Arial"/>
                  </a:rPr>
                  <a:t>, and </a:t>
                </a:r>
                <a:r>
                  <a:rPr lang="en-IN" sz="2400">
                    <a:solidFill>
                      <a:srgbClr val="111827"/>
                    </a:solidFill>
                    <a:latin typeface="Cambria Math" panose="02040503050406030204" pitchFamily="18" charset="0"/>
                  </a:rPr>
                  <a:t>$\vec{p}\cdot\vec{r}=x+y+z=2$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differences,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the differences, </a:t>
                </a:r>
                <a:r>
                  <a:rPr lang="en-IN" sz="2400">
                    <a:solidFill>
                      <a:srgbClr val="111827"/>
                    </a:solidFill>
                    <a:latin typeface="Cambria Math" panose="02040503050406030204" pitchFamily="18" charset="0"/>
                  </a:rPr>
                  <a:t>$y=x+\frac{2}{3}$</a:t>
                </a:r>
                <a:r>
                  <a:rPr sz="2400" b="0">
                    <a:solidFill>
                      <a:srgbClr val="111827"/>
                    </a:solidFill>
                    <a:latin typeface="Arial"/>
                  </a:rPr>
                  <a:t> and </a:t>
                </a:r>
                <a:r>
                  <a:rPr lang="en-IN" sz="2400">
                    <a:solidFill>
                      <a:srgbClr val="111827"/>
                    </a:solidFill>
                    <a:latin typeface="Cambria Math" panose="02040503050406030204" pitchFamily="18" charset="0"/>
                  </a:rPr>
                  <a:t>$z=x+\frac{4}{3}$</a:t>
                </a:r>
                <a:r>
                  <a:rPr sz="2400" b="0">
                    <a:solidFill>
                      <a:srgbClr val="111827"/>
                    </a:solidFill>
                    <a:latin typeface="Arial"/>
                  </a:rPr>
                  <a:t>; then </a:t>
                </a:r>
                <a:r>
                  <a:rPr lang="en-IN" sz="2400">
                    <a:solidFill>
                      <a:srgbClr val="111827"/>
                    </a:solidFill>
                    <a:latin typeface="Cambria Math" panose="02040503050406030204" pitchFamily="18" charset="0"/>
                  </a:rPr>
                  <a:t>$3x+2=2$</a:t>
                </a:r>
                <a:r>
                  <a:rPr sz="2400" b="0">
                    <a:solidFill>
                      <a:srgbClr val="111827"/>
                    </a:solidFill>
                    <a:latin typeface="Arial"/>
                  </a:rPr>
                  <a:t> gives </a:t>
                </a:r>
                <a:r>
                  <a:rPr lang="en-IN" sz="2400">
                    <a:solidFill>
                      <a:srgbClr val="111827"/>
                    </a:solidFill>
                    <a:latin typeface="Cambria Math" panose="02040503050406030204" pitchFamily="18" charset="0"/>
                  </a:rPr>
                  <a:t>$x=0$</a:t>
                </a:r>
                <a:r>
                  <a:rPr sz="2400" b="0">
                    <a:solidFill>
                      <a:srgbClr val="111827"/>
                    </a:solidFill>
                    <a:latin typeface="Arial"/>
                  </a:rPr>
                  <a:t>, so </a:t>
                </a:r>
                <a:r>
                  <a:rPr lang="en-IN" sz="2400">
                    <a:solidFill>
                      <a:srgbClr val="111827"/>
                    </a:solidFill>
                    <a:latin typeface="Cambria Math" panose="02040503050406030204" pitchFamily="18" charset="0"/>
                  </a:rPr>
                  <a:t>$\vec{r}=\left(0,\frac{2}{3},\frac{4}{3}\right)$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Use </a:t>
                </a:r>
                <a:r>
                  <a:rPr lang="en-IN" sz="2400">
                    <a:solidFill>
                      <a:srgbClr val="111827"/>
                    </a:solidFill>
                    <a:latin typeface="Cambria Math" panose="02040503050406030204" pitchFamily="18" charset="0"/>
                  </a:rPr>
                  <a:t>$[\vec{p}\,\vec{q}\,\vec{r}]=\vec{r}\cdot(\vec{p}\times\vec{q})$</a:t>
                </a:r>
                <a:r>
                  <a:rPr sz="2400" b="0">
                    <a:solidFill>
                      <a:srgbClr val="111827"/>
                    </a:solidFill>
                    <a:latin typeface="Arial"/>
                  </a:rPr>
                  <a:t> with </a:t>
                </a:r>
                <a:r>
                  <a:rPr lang="en-IN" sz="2400">
                    <a:solidFill>
                      <a:srgbClr val="111827"/>
                    </a:solidFill>
                    <a:latin typeface="Cambria Math" panose="02040503050406030204" pitchFamily="18" charset="0"/>
                  </a:rPr>
                  <a:t>$\vec{p}\times\vec{q}=(2,0,-2)$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$[\vec{p}\,\vec{q}\,\vec{r}]=0\cdot2+\frac{2}{3}\cdot0+\frac{4}{3}(-2)=-\frac{8}{3}$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14:m>
                  <m:oMath xmlns:m="http://schemas.openxmlformats.org/officeDocument/2006/math">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8</m:t>
                        </m:r>
                      </m:num>
                      <m:den>
                        <m:r>
                          <a:rPr lang="en-IN" sz="2800" i="1">
                            <a:solidFill>
                              <a:srgbClr val="15803D"/>
                            </a:solidFill>
                            <a:latin typeface="Cambria Math" panose="02040503050406030204" pitchFamily="18" charset="0"/>
                          </a:rPr>
                          <m:t>3</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(B) </a:t>
                </a:r>
                <a:r>
                  <a:rPr lang="en-IN" sz="2800">
                    <a:solidFill>
                      <a:srgbClr val="15803D"/>
                    </a:solidFill>
                    <a:latin typeface="Cambria Math" panose="02040503050406030204" pitchFamily="18" charset="0"/>
                  </a:rPr>
                  <a:t>$-\frac{8}{3}$</a:t>
                </a:r>
                <a:endParaRPr sz="2800">
                  <a:solidFill>
                    <a:srgbClr val="15803D"/>
                  </a:solidFill>
                </a:endParaRPr>
              </a:p>
            </p:txBody>
          </p:sp>
        </mc:Fallback>
      </mc:AlternateContent>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oMath>
                </a14:m>
                <a:r>
                  <a:rPr sz="2400" b="0">
                    <a:solidFill>
                      <a:srgbClr val="111827"/>
                    </a:solidFill>
                    <a:latin typeface="Arial"/>
                  </a:rPr>
                  <a:t> is solvable only 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given also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the solution is unique: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𝑘</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 (for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Cyclic invariance: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choose the form whose cross product is already known (here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pair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is the vector analogue of two scalar equations: the cross product fixes the part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perpendicular to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oMath>
                </a14:m>
                <a:r>
                  <a:rPr sz="2400" b="0">
                    <a:solidFill>
                      <a:srgbClr val="111827"/>
                    </a:solidFill>
                    <a:latin typeface="Arial"/>
                  </a:rPr>
                  <a:t>, the dot product fixes the part along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equation </a:t>
                </a:r>
                <a:r>
                  <a:rPr lang="en-IN" sz="2400">
                    <a:solidFill>
                      <a:srgbClr val="111827"/>
                    </a:solidFill>
                    <a:latin typeface="Cambria Math" panose="02040503050406030204" pitchFamily="18" charset="0"/>
                  </a:rPr>
                  <a:t>$\vec{p}\times\vec{r}=\vec{w}$</a:t>
                </a:r>
                <a:r>
                  <a:rPr sz="2400" b="0">
                    <a:solidFill>
                      <a:srgbClr val="111827"/>
                    </a:solidFill>
                    <a:latin typeface="Arial"/>
                  </a:rPr>
                  <a:t> is solvable only if </a:t>
                </a:r>
                <a:r>
                  <a:rPr lang="en-IN" sz="2400">
                    <a:solidFill>
                      <a:srgbClr val="111827"/>
                    </a:solidFill>
                    <a:latin typeface="Cambria Math" panose="02040503050406030204" pitchFamily="18" charset="0"/>
                  </a:rPr>
                  <a:t>$\vec{w}\cdot\vec{p}=0$</a:t>
                </a:r>
                <a:r>
                  <a:rPr sz="2400" b="0">
                    <a:solidFill>
                      <a:srgbClr val="111827"/>
                    </a:solidFill>
                    <a:latin typeface="Arial"/>
                  </a:rPr>
                  <a:t>. Then, given also </a:t>
                </a:r>
                <a:r>
                  <a:rPr lang="en-IN" sz="2400">
                    <a:solidFill>
                      <a:srgbClr val="111827"/>
                    </a:solidFill>
                    <a:latin typeface="Cambria Math" panose="02040503050406030204" pitchFamily="18" charset="0"/>
                  </a:rPr>
                  <a:t>$\vec{p}\cdot\vec{r}=k$</a:t>
                </a:r>
                <a:r>
                  <a:rPr sz="2400" b="0">
                    <a:solidFill>
                      <a:srgbClr val="111827"/>
                    </a:solidFill>
                    <a:latin typeface="Arial"/>
                  </a:rPr>
                  <a:t>, the solution is unique: </a:t>
                </a:r>
                <a:r>
                  <a:rPr lang="en-IN" sz="2400">
                    <a:solidFill>
                      <a:srgbClr val="111827"/>
                    </a:solidFill>
                    <a:latin typeface="Cambria Math" panose="02040503050406030204" pitchFamily="18" charset="0"/>
                  </a:rPr>
                  <a:t>$\vec{r}=\frac{k\vec{p}-\vec{p}\times\vec{w}}{|\vec{p}|^2}$</a:t>
                </a:r>
                <a:r>
                  <a:rPr sz="2400" b="0">
                    <a:solidFill>
                      <a:srgbClr val="111827"/>
                    </a:solidFill>
                    <a:latin typeface="Arial"/>
                  </a:rPr>
                  <a:t> (for </a:t>
                </a:r>
                <a:r>
                  <a:rPr lang="en-IN" sz="2400">
                    <a:solidFill>
                      <a:srgbClr val="111827"/>
                    </a:solidFill>
                    <a:latin typeface="Cambria Math" panose="02040503050406030204" pitchFamily="18" charset="0"/>
                  </a:rPr>
                  <a:t>$\vec{p}\neq\vec{0}$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Cyclic invariance: </a:t>
                </a:r>
                <a:r>
                  <a:rPr lang="en-IN" sz="2400">
                    <a:solidFill>
                      <a:srgbClr val="111827"/>
                    </a:solidFill>
                    <a:latin typeface="Cambria Math" panose="02040503050406030204" pitchFamily="18" charset="0"/>
                  </a:rPr>
                  <a:t>$[\vec{a}\,\vec{b}\,\vec{c}]=\vec{a}\cdot(\vec{b}\times\vec{c})=\vec{c}\cdot(\vec{a}\times\vec{b})$</a:t>
                </a:r>
                <a:r>
                  <a:rPr sz="2400" b="0">
                    <a:solidFill>
                      <a:srgbClr val="111827"/>
                    </a:solidFill>
                    <a:latin typeface="Arial"/>
                  </a:rPr>
                  <a:t>; choose the form whose cross product is already known (here </a:t>
                </a:r>
                <a:r>
                  <a:rPr lang="en-IN" sz="2400">
                    <a:solidFill>
                      <a:srgbClr val="111827"/>
                    </a:solidFill>
                    <a:latin typeface="Cambria Math" panose="02040503050406030204" pitchFamily="18" charset="0"/>
                  </a:rPr>
                  <a:t>$\vec{p}\times\vec{q}$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pair </a:t>
                </a:r>
                <a:r>
                  <a:rPr lang="en-IN" sz="2400">
                    <a:solidFill>
                      <a:srgbClr val="111827"/>
                    </a:solidFill>
                    <a:latin typeface="Cambria Math" panose="02040503050406030204" pitchFamily="18" charset="0"/>
                  </a:rPr>
                  <a:t>$\vec{p}\times\vec{r}=\vec{w}$</a:t>
                </a:r>
                <a:r>
                  <a:rPr sz="2400" b="0">
                    <a:solidFill>
                      <a:srgbClr val="111827"/>
                    </a:solidFill>
                    <a:latin typeface="Arial"/>
                  </a:rPr>
                  <a:t>, </a:t>
                </a:r>
                <a:r>
                  <a:rPr lang="en-IN" sz="2400">
                    <a:solidFill>
                      <a:srgbClr val="111827"/>
                    </a:solidFill>
                    <a:latin typeface="Cambria Math" panose="02040503050406030204" pitchFamily="18" charset="0"/>
                  </a:rPr>
                  <a:t>$\vec{p}\cdot\vec{r}=k$</a:t>
                </a:r>
                <a:r>
                  <a:rPr sz="2400" b="0">
                    <a:solidFill>
                      <a:srgbClr val="111827"/>
                    </a:solidFill>
                    <a:latin typeface="Arial"/>
                  </a:rPr>
                  <a:t> is the vector analogue of two scalar equations: the cross product fixes the part of </a:t>
                </a:r>
                <a:r>
                  <a:rPr lang="en-IN" sz="2400">
                    <a:solidFill>
                      <a:srgbClr val="111827"/>
                    </a:solidFill>
                    <a:latin typeface="Cambria Math" panose="02040503050406030204" pitchFamily="18" charset="0"/>
                  </a:rPr>
                  <a:t>$\vec{r}$</a:t>
                </a:r>
                <a:r>
                  <a:rPr sz="2400" b="0">
                    <a:solidFill>
                      <a:srgbClr val="111827"/>
                    </a:solidFill>
                    <a:latin typeface="Arial"/>
                  </a:rPr>
                  <a:t> perpendicular to </a:t>
                </a:r>
                <a:r>
                  <a:rPr lang="en-IN" sz="2400">
                    <a:solidFill>
                      <a:srgbClr val="111827"/>
                    </a:solidFill>
                    <a:latin typeface="Cambria Math" panose="02040503050406030204" pitchFamily="18" charset="0"/>
                  </a:rPr>
                  <a:t>$\vec{p}$</a:t>
                </a:r>
                <a:r>
                  <a:rPr sz="2400" b="0">
                    <a:solidFill>
                      <a:srgbClr val="111827"/>
                    </a:solidFill>
                    <a:latin typeface="Arial"/>
                  </a:rPr>
                  <a:t>, the dot product fixes the part along </a:t>
                </a:r>
                <a:r>
                  <a:rPr lang="en-IN" sz="2400">
                    <a:solidFill>
                      <a:srgbClr val="111827"/>
                    </a:solidFill>
                    <a:latin typeface="Cambria Math" panose="02040503050406030204" pitchFamily="18" charset="0"/>
                  </a:rPr>
                  <a:t>$\vec{p}$</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29463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three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such that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is a vector such that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then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𝑐</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 unit vector</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indeterminate, as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oMath>
                </a14:m>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oMath>
                </a14:m>
                <a:endParaRPr sz="2400">
                  <a:solidFill>
                    <a:srgbClr val="111827"/>
                  </a:solidFill>
                </a:endParaRPr>
              </a:p>
            </p:txBody>
          </p:sp>
        </mc:Choice>
        <mc:Fallback>
          <p:sp>
            <p:nvSpPr>
              <p:cNvPr id="4" name="Rounded Rectangle 3"/>
              <p:cNvSpPr/>
              <p:nvPr/>
            </p:nvSpPr>
            <p:spPr>
              <a:xfrm>
                <a:off x="731520" y="1280160"/>
                <a:ext cx="10725912" cy="4294632"/>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three vectors </a:t>
                </a:r>
                <a:r>
                  <a:rPr lang="en-IN" sz="2400">
                    <a:solidFill>
                      <a:srgbClr val="111827"/>
                    </a:solidFill>
                    <a:latin typeface="Cambria Math" panose="02040503050406030204" pitchFamily="18" charset="0"/>
                  </a:rPr>
                  <a:t>$\vec{p}$</a:t>
                </a:r>
                <a:r>
                  <a:rPr sz="2400" b="0">
                    <a:solidFill>
                      <a:srgbClr val="111827"/>
                    </a:solidFill>
                    <a:latin typeface="Arial"/>
                  </a:rPr>
                  <a:t>, </a:t>
                </a:r>
                <a:r>
                  <a:rPr lang="en-IN" sz="2400">
                    <a:solidFill>
                      <a:srgbClr val="111827"/>
                    </a:solidFill>
                    <a:latin typeface="Cambria Math" panose="02040503050406030204" pitchFamily="18" charset="0"/>
                  </a:rPr>
                  <a:t>$\vec{q}$</a:t>
                </a:r>
                <a:r>
                  <a:rPr sz="2400" b="0">
                    <a:solidFill>
                      <a:srgbClr val="111827"/>
                    </a:solidFill>
                    <a:latin typeface="Arial"/>
                  </a:rPr>
                  <a:t> and </a:t>
                </a:r>
                <a:r>
                  <a:rPr lang="en-IN" sz="2400">
                    <a:solidFill>
                      <a:srgbClr val="111827"/>
                    </a:solidFill>
                    <a:latin typeface="Cambria Math" panose="02040503050406030204" pitchFamily="18" charset="0"/>
                  </a:rPr>
                  <a:t>$\vec{r}$</a:t>
                </a:r>
                <a:r>
                  <a:rPr sz="2400" b="0">
                    <a:solidFill>
                      <a:srgbClr val="111827"/>
                    </a:solidFill>
                    <a:latin typeface="Arial"/>
                  </a:rPr>
                  <a:t> such that </a:t>
                </a:r>
                <a:r>
                  <a:rPr lang="en-IN" sz="2400">
                    <a:solidFill>
                      <a:srgbClr val="111827"/>
                    </a:solidFill>
                    <a:latin typeface="Cambria Math" panose="02040503050406030204" pitchFamily="18" charset="0"/>
                  </a:rPr>
                  <a:t>$\vec{p}=\hat{i}+\hat{j}+\hat{k}$</a:t>
                </a:r>
                <a:r>
                  <a:rPr sz="2400" b="0">
                    <a:solidFill>
                      <a:srgbClr val="111827"/>
                    </a:solidFill>
                    <a:latin typeface="Arial"/>
                  </a:rPr>
                  <a:t>, </a:t>
                </a:r>
                <a:r>
                  <a:rPr lang="en-IN" sz="2400">
                    <a:solidFill>
                      <a:srgbClr val="111827"/>
                    </a:solidFill>
                    <a:latin typeface="Cambria Math" panose="02040503050406030204" pitchFamily="18" charset="0"/>
                  </a:rPr>
                  <a:t>$\vec{q}=\hat{i}-\hat{j}+\hat{k}$</a:t>
                </a:r>
                <a:r>
                  <a:rPr sz="2400" b="0">
                    <a:solidFill>
                      <a:srgbClr val="111827"/>
                    </a:solidFill>
                    <a:latin typeface="Arial"/>
                  </a:rPr>
                  <a:t>, </a:t>
                </a:r>
                <a:r>
                  <a:rPr lang="en-IN" sz="2400">
                    <a:solidFill>
                      <a:srgbClr val="111827"/>
                    </a:solidFill>
                    <a:latin typeface="Cambria Math" panose="02040503050406030204" pitchFamily="18" charset="0"/>
                  </a:rPr>
                  <a:t>$\vec{p}\times\vec{r}=\vec{q}+c\vec{p}$</a:t>
                </a:r>
                <a:r>
                  <a:rPr sz="2400" b="0">
                    <a:solidFill>
                      <a:srgbClr val="111827"/>
                    </a:solidFill>
                    <a:latin typeface="Arial"/>
                  </a:rPr>
                  <a:t> and </a:t>
                </a:r>
                <a:r>
                  <a:rPr lang="en-IN" sz="2400">
                    <a:solidFill>
                      <a:srgbClr val="111827"/>
                    </a:solidFill>
                    <a:latin typeface="Cambria Math" panose="02040503050406030204" pitchFamily="18" charset="0"/>
                  </a:rPr>
                  <a:t>$\vec{p}\cdot\vec{r}=2$</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$\vec{x}$</a:t>
                </a:r>
                <a:r>
                  <a:rPr sz="2400" b="0">
                    <a:solidFill>
                      <a:srgbClr val="111827"/>
                    </a:solidFill>
                    <a:latin typeface="Arial"/>
                  </a:rPr>
                  <a:t> is a vector such that </a:t>
                </a:r>
                <a:r>
                  <a:rPr lang="en-IN" sz="2400">
                    <a:solidFill>
                      <a:srgbClr val="111827"/>
                    </a:solidFill>
                    <a:latin typeface="Cambria Math" panose="02040503050406030204" pitchFamily="18" charset="0"/>
                  </a:rPr>
                  <a:t>$[\vec{p}\,\vec{q}\,\vec{r}]\vec{x}=(\vec{p}\times\vec{q})\times\vec{r}$</a:t>
                </a:r>
                <a:r>
                  <a:rPr sz="2400" b="0">
                    <a:solidFill>
                      <a:srgbClr val="111827"/>
                    </a:solidFill>
                    <a:latin typeface="Arial"/>
                  </a:rPr>
                  <a:t>, then </a:t>
                </a:r>
                <a:r>
                  <a:rPr lang="en-IN" sz="2400">
                    <a:solidFill>
                      <a:srgbClr val="111827"/>
                    </a:solidFill>
                    <a:latin typeface="Cambria Math" panose="02040503050406030204" pitchFamily="18" charset="0"/>
                  </a:rPr>
                  <a:t>$\vec{x}$</a:t>
                </a:r>
                <a:r>
                  <a:rPr sz="2400" b="0">
                    <a:solidFill>
                      <a:srgbClr val="111827"/>
                    </a:solidFill>
                    <a:latin typeface="Arial"/>
                  </a:rPr>
                  <a:t> is: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$c\left(\hat{i}-2\hat{j}+\hat{k}\right)$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 unit vector</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indeterminate, as </a:t>
                </a:r>
                <a:r>
                  <a:rPr lang="en-IN" sz="2400">
                    <a:solidFill>
                      <a:srgbClr val="111827"/>
                    </a:solidFill>
                    <a:latin typeface="Cambria Math" panose="02040503050406030204" pitchFamily="18" charset="0"/>
                  </a:rPr>
                  <a:t>$[\vec{p}\,\vec{q}\,\vec{r}]$</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$-\frac{1}{2}\left(\hat{i}-2\hat{j}+\hat{k}\right)$</a:t>
                </a:r>
                <a:endParaRPr sz="2400">
                  <a:solidFill>
                    <a:srgbClr val="111827"/>
                  </a:solidFill>
                </a:endParaRPr>
              </a:p>
            </p:txBody>
          </p:sp>
        </mc:Fallback>
      </mc:AlternateContent>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ectangle 3"/>
          <p:cNvSpPr/>
          <p:nvPr/>
        </p:nvSpPr>
        <p:spPr>
          <a:xfrm>
            <a:off x="731520" y="1280160"/>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Vector triple product and scalar triple product</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𝑞</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𝑞</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𝑞</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oMath>
                </a14:m>
                <a:r>
                  <a:rPr sz="2400" b="0">
                    <a:solidFill>
                      <a:srgbClr val="78350F"/>
                    </a:solidFill>
                    <a:latin typeface="Arial"/>
                  </a:rPr>
                  <a:t> expresses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𝑥</m:t>
                        </m:r>
                      </m:e>
                    </m:acc>
                  </m:oMath>
                </a14:m>
                <a:r>
                  <a:rPr sz="2400" b="0">
                    <a:solidFill>
                      <a:srgbClr val="78350F"/>
                    </a:solidFill>
                    <a:latin typeface="Arial"/>
                  </a:rPr>
                  <a:t> in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𝑞</m:t>
                        </m:r>
                      </m:e>
                    </m:acc>
                  </m:oMath>
                </a14:m>
                <a:r>
                  <a:rPr sz="2400" b="0">
                    <a:solidFill>
                      <a:srgbClr val="78350F"/>
                    </a:solidFill>
                    <a:latin typeface="Arial"/>
                  </a:rPr>
                  <a:t> and the values from Q37.</a:t>
                </a:r>
                <a:endParaRPr sz="2400">
                  <a:solidFill>
                    <a:srgbClr val="78350F"/>
                  </a:solidFill>
                </a:endParaRPr>
              </a:p>
            </p:txBody>
          </p:sp>
        </mc:Choice>
        <mc:Fallback>
          <p:sp>
            <p:nvSpPr>
              <p:cNvPr id="5" name="Rounded Rectangle 4"/>
              <p:cNvSpPr/>
              <p:nvPr/>
            </p:nvSpPr>
            <p:spPr>
              <a:xfrm>
                <a:off x="731520" y="3438144"/>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$(\vec{p}\times\vec{q})\times\vec{r}=(\vec{p}\cdot\vec{r})\vec{q}-(\vec{q}\cdot\vec{r})\vec{p}$</a:t>
                </a:r>
                <a:r>
                  <a:rPr sz="2400" b="0">
                    <a:solidFill>
                      <a:srgbClr val="78350F"/>
                    </a:solidFill>
                    <a:latin typeface="Arial"/>
                  </a:rPr>
                  <a:t> expresses </a:t>
                </a:r>
                <a:r>
                  <a:rPr lang="en-IN" sz="2400">
                    <a:solidFill>
                      <a:srgbClr val="78350F"/>
                    </a:solidFill>
                    <a:latin typeface="Cambria Math" panose="02040503050406030204" pitchFamily="18" charset="0"/>
                  </a:rPr>
                  <a:t>$\vec{x}$</a:t>
                </a:r>
                <a:r>
                  <a:rPr sz="2400" b="0">
                    <a:solidFill>
                      <a:srgbClr val="78350F"/>
                    </a:solidFill>
                    <a:latin typeface="Arial"/>
                  </a:rPr>
                  <a:t> in </a:t>
                </a:r>
                <a:r>
                  <a:rPr lang="en-IN" sz="2400">
                    <a:solidFill>
                      <a:srgbClr val="78350F"/>
                    </a:solidFill>
                    <a:latin typeface="Cambria Math" panose="02040503050406030204" pitchFamily="18" charset="0"/>
                  </a:rPr>
                  <a:t>$\vec{p},\vec{q}$</a:t>
                </a:r>
                <a:r>
                  <a:rPr sz="2400" b="0">
                    <a:solidFill>
                      <a:srgbClr val="78350F"/>
                    </a:solidFill>
                    <a:latin typeface="Arial"/>
                  </a:rPr>
                  <a:t> and the values from Q37.</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and from Q37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684776"/>
                <a:ext cx="10725912" cy="1990344"/>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$[\vec{p}\,\vec{q}\,\vec{r}]\vec{x}=(\vec{p}\times\vec{q})\times\vec{r}$</a:t>
                </a:r>
                <a:r>
                  <a:rPr sz="2400" b="0">
                    <a:solidFill>
                      <a:srgbClr val="111827"/>
                    </a:solidFill>
                    <a:latin typeface="Arial"/>
                  </a:rPr>
                  <a:t>, and from Q37 </a:t>
                </a:r>
                <a:r>
                  <a:rPr lang="en-IN" sz="2400">
                    <a:solidFill>
                      <a:srgbClr val="111827"/>
                    </a:solidFill>
                    <a:latin typeface="Cambria Math" panose="02040503050406030204" pitchFamily="18" charset="0"/>
                  </a:rPr>
                  <a:t>$[\vec{p}\,\vec{q}\,\vec{r}]=-\frac{8}{3}$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the right side: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e>
                    </m:d>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(verify: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e>
                    </m:d>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Expand the right side: </a:t>
                </a:r>
                <a:r>
                  <a:rPr lang="en-IN" sz="2400">
                    <a:solidFill>
                      <a:srgbClr val="111827"/>
                    </a:solidFill>
                    <a:latin typeface="Cambria Math" panose="02040503050406030204" pitchFamily="18" charset="0"/>
                  </a:rPr>
                  <a:t>$(\vec{p}\times\vec{q})\times\vec{r}=(\vec{p}\cdot\vec{r})\vec{q}-(\vec{q}\cdot\vec{r})\vec{p}$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$\left(-\frac{8}{3}\right)\vec{x}=(\vec{p}\cdot\vec{r})\vec{q}-(\vec{q}\cdot\vec{r})\vec{p}$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$\vec{p}\cdot\vec{r}=2$</a:t>
                </a:r>
                <a:r>
                  <a:rPr sz="2400" b="0">
                    <a:solidFill>
                      <a:srgbClr val="111827"/>
                    </a:solidFill>
                    <a:latin typeface="Arial"/>
                  </a:rPr>
                  <a:t> and </a:t>
                </a:r>
                <a:r>
                  <a:rPr lang="en-IN" sz="2400">
                    <a:solidFill>
                      <a:srgbClr val="111827"/>
                    </a:solidFill>
                    <a:latin typeface="Cambria Math" panose="02040503050406030204" pitchFamily="18" charset="0"/>
                  </a:rPr>
                  <a:t>$\vec{q}\cdot\vec{r}=\frac{2}{3}$</a:t>
                </a:r>
                <a:r>
                  <a:rPr sz="2400" b="0">
                    <a:solidFill>
                      <a:srgbClr val="111827"/>
                    </a:solidFill>
                    <a:latin typeface="Arial"/>
                  </a:rPr>
                  <a:t> (verify: </a:t>
                </a:r>
                <a:r>
                  <a:rPr lang="en-IN" sz="2400">
                    <a:solidFill>
                      <a:srgbClr val="111827"/>
                    </a:solidFill>
                    <a:latin typeface="Cambria Math" panose="02040503050406030204" pitchFamily="18" charset="0"/>
                  </a:rPr>
                  <a:t>$\vec{r}=\frac{2}{3}(\hat{j}+2\hat{k})$</a:t>
                </a:r>
                <a:r>
                  <a:rPr sz="2400" b="0">
                    <a:solidFill>
                      <a:srgbClr val="111827"/>
                    </a:solidFill>
                    <a:latin typeface="Arial"/>
                  </a:rPr>
                  <a:t>, so </a:t>
                </a:r>
                <a:r>
                  <a:rPr lang="en-IN" sz="2400">
                    <a:solidFill>
                      <a:srgbClr val="111827"/>
                    </a:solidFill>
                    <a:latin typeface="Cambria Math" panose="02040503050406030204" pitchFamily="18" charset="0"/>
                  </a:rPr>
                  <a:t>$-\frac{2}{3}+\frac{4}{3}=\frac{2}{3}$</a:t>
                </a:r>
                <a:r>
                  <a:rPr sz="2400" b="0">
                    <a:solidFill>
                      <a:srgbClr val="111827"/>
                    </a:solidFill>
                    <a:latin typeface="Arial"/>
                  </a:rPr>
                  <a:t>), </a:t>
                </a:r>
                <a:r>
                  <a:rPr lang="en-IN" sz="2400">
                    <a:solidFill>
                      <a:srgbClr val="111827"/>
                    </a:solidFill>
                    <a:latin typeface="Cambria Math" panose="02040503050406030204" pitchFamily="18" charset="0"/>
                  </a:rPr>
                  <a:t>$\left(-\frac{8}{3}\right)\vec{x}=2\vec{q}-\frac{2\vec{p}}{3}$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oMath>
                </a14:m>
                <a:r>
                  <a:rPr sz="2400" b="0">
                    <a:solidFill>
                      <a:srgbClr val="111827"/>
                    </a:solidFill>
                    <a:latin typeface="Arial"/>
                  </a:rPr>
                  <a:t>, option (D).</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$\vec{x}=-\frac{3}{8}\cdot\frac{2}{3}(3\vec{q}-\vec{p})=-\frac{1}{4}(3\vec{q}-\vec{p})$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$3\vec{q}-\vec{p}=3\hat{i}-3\hat{j}+3\hat{k}-\hat{i}-\hat{j}-\hat{k}=2\hat{i}-4\hat{j}+2\hat{k}$</a:t>
                </a:r>
                <a:r>
                  <a:rPr sz="2400" b="0">
                    <a:solidFill>
                      <a:srgbClr val="111827"/>
                    </a:solidFill>
                    <a:latin typeface="Arial"/>
                  </a:rPr>
                  <a:t>, so </a:t>
                </a:r>
                <a:r>
                  <a:rPr lang="en-IN" sz="2400">
                    <a:solidFill>
                      <a:srgbClr val="111827"/>
                    </a:solidFill>
                    <a:latin typeface="Cambria Math" panose="02040503050406030204" pitchFamily="18" charset="0"/>
                  </a:rPr>
                  <a:t>$\vec{x}=-\frac{1}{4}\left(2\hat{i}-4\hat{j}+2\hat{k}\right)$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$\vec{x}=-\frac{1}{2}\left(\hat{i}-2\hat{j}+\hat{k}\right)$</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14:m>
                  <m:oMath xmlns:m="http://schemas.openxmlformats.org/officeDocument/2006/math">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d>
                      <m:dPr>
                        <m:begChr m:val="("/>
                        <m:sepChr m:val=""/>
                        <m:endChr m:val=")"/>
                        <m:grow/>
                        <m:ctrlPr>
                          <a:rPr lang="en-IN" sz="2800" i="1">
                            <a:solidFill>
                              <a:srgbClr val="15803D"/>
                            </a:solidFill>
                            <a:latin typeface="Cambria Math" panose="02040503050406030204" pitchFamily="18" charset="0"/>
                          </a:rPr>
                        </m:ctrlPr>
                      </m:dPr>
                      <m:e>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𝑖</m:t>
                            </m:r>
                          </m:e>
                        </m:acc>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𝑗</m:t>
                            </m:r>
                          </m:e>
                        </m:acc>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𝑘</m:t>
                            </m:r>
                          </m:e>
                        </m:acc>
                      </m:e>
                    </m: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(D) </a:t>
                </a:r>
                <a:r>
                  <a:rPr lang="en-IN" sz="2800">
                    <a:solidFill>
                      <a:srgbClr val="15803D"/>
                    </a:solidFill>
                    <a:latin typeface="Cambria Math" panose="02040503050406030204" pitchFamily="18" charset="0"/>
                  </a:rPr>
                  <a:t>$-\frac{1}{2}\left(\hat{i}-2\hat{j}+\hat{k}\right)$</a:t>
                </a:r>
                <a:endParaRPr sz="2800">
                  <a:solidFill>
                    <a:srgbClr val="15803D"/>
                  </a:solidFill>
                </a:endParaRPr>
              </a:p>
            </p:txBody>
          </p:sp>
        </mc:Fallback>
      </mc:AlternateContent>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Skip the identity: compute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𝑞</m:t>
                        </m:r>
                      </m:e>
                    </m:acc>
                  </m:oMath>
                </a14:m>
                <a:r>
                  <a:rPr sz="2400" b="0">
                    <a:solidFill>
                      <a:srgbClr val="78350F"/>
                    </a:solidFill>
                    <a:latin typeface="Arial"/>
                  </a:rPr>
                  <a:t> and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oMath>
                </a14:m>
                <a:r>
                  <a:rPr sz="2400" b="0">
                    <a:solidFill>
                      <a:srgbClr val="78350F"/>
                    </a:solidFill>
                    <a:latin typeface="Arial"/>
                  </a:rPr>
                  <a:t> in components and take the cross product directly.</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Skip the identity: compute </a:t>
                </a:r>
                <a:r>
                  <a:rPr lang="en-IN" sz="2400">
                    <a:solidFill>
                      <a:srgbClr val="78350F"/>
                    </a:solidFill>
                    <a:latin typeface="Cambria Math" panose="02040503050406030204" pitchFamily="18" charset="0"/>
                  </a:rPr>
                  <a:t>$\vec{p}\times\vec{q}$</a:t>
                </a:r>
                <a:r>
                  <a:rPr sz="2400" b="0">
                    <a:solidFill>
                      <a:srgbClr val="78350F"/>
                    </a:solidFill>
                    <a:latin typeface="Arial"/>
                  </a:rPr>
                  <a:t> and </a:t>
                </a:r>
                <a:r>
                  <a:rPr lang="en-IN" sz="2400">
                    <a:solidFill>
                      <a:srgbClr val="78350F"/>
                    </a:solidFill>
                    <a:latin typeface="Cambria Math" panose="02040503050406030204" pitchFamily="18" charset="0"/>
                  </a:rPr>
                  <a:t>$\vec{r}$</a:t>
                </a:r>
                <a:r>
                  <a:rPr sz="2400" b="0">
                    <a:solidFill>
                      <a:srgbClr val="78350F"/>
                    </a:solidFill>
                    <a:latin typeface="Arial"/>
                  </a:rPr>
                  <a:t> in components and take the cross product directly.</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Q37,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equals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Q37, </a:t>
                </a:r>
                <a:r>
                  <a:rPr lang="en-IN" sz="2400">
                    <a:solidFill>
                      <a:srgbClr val="111827"/>
                    </a:solidFill>
                    <a:latin typeface="Cambria Math" panose="02040503050406030204" pitchFamily="18" charset="0"/>
                  </a:rPr>
                  <a:t>$\vec{p}\times\vec{q}=(2,0,-2)$</a:t>
                </a:r>
                <a:r>
                  <a:rPr sz="2400" b="0">
                    <a:solidFill>
                      <a:srgbClr val="111827"/>
                    </a:solidFill>
                    <a:latin typeface="Arial"/>
                  </a:rPr>
                  <a:t>, </a:t>
                </a:r>
                <a:r>
                  <a:rPr lang="en-IN" sz="2400">
                    <a:solidFill>
                      <a:srgbClr val="111827"/>
                    </a:solidFill>
                    <a:latin typeface="Cambria Math" panose="02040503050406030204" pitchFamily="18" charset="0"/>
                  </a:rPr>
                  <a:t>$\vec{r}=\left(0,\frac{2}{3},\frac{4}{3}\right)$</a:t>
                </a:r>
                <a:r>
                  <a:rPr sz="2400" b="0">
                    <a:solidFill>
                      <a:srgbClr val="111827"/>
                    </a:solidFill>
                    <a:latin typeface="Arial"/>
                  </a:rPr>
                  <a:t> and </a:t>
                </a:r>
                <a:r>
                  <a:rPr lang="en-IN" sz="2400">
                    <a:solidFill>
                      <a:srgbClr val="111827"/>
                    </a:solidFill>
                    <a:latin typeface="Cambria Math" panose="02040503050406030204" pitchFamily="18" charset="0"/>
                  </a:rPr>
                  <a:t>$[\vec{p}\,\vec{q}\,\vec{r}]=-\frac{8}{3}$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$(\vec{p}\times\vec{q})\times\vec{r}=\left(0\cdot\frac{4}{3}-(-2)\frac{2}{3},\;(-2)\cdot0-2\cdot\frac{4}{3},\;2\cdot\frac{2}{3}-0\cdot0\right)$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equals </a:t>
                </a:r>
                <a:r>
                  <a:rPr lang="en-IN" sz="2400">
                    <a:solidFill>
                      <a:srgbClr val="111827"/>
                    </a:solidFill>
                    <a:latin typeface="Cambria Math" panose="02040503050406030204" pitchFamily="18" charset="0"/>
                  </a:rPr>
                  <a:t>$\left(\frac{4}{3},-\frac{8}{3},\frac{4}{3}\right)$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by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oMath>
                </a14:m>
                <a:r>
                  <a:rPr sz="2400" b="0">
                    <a:solidFill>
                      <a:srgbClr val="111827"/>
                    </a:solidFill>
                    <a:latin typeface="Arial"/>
                  </a:rPr>
                  <a:t>, option (D).</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Divide by </a:t>
                </a:r>
                <a:r>
                  <a:rPr lang="en-IN" sz="2400">
                    <a:solidFill>
                      <a:srgbClr val="111827"/>
                    </a:solidFill>
                    <a:latin typeface="Cambria Math" panose="02040503050406030204" pitchFamily="18" charset="0"/>
                  </a:rPr>
                  <a:t>$-\frac{8}{3}$</a:t>
                </a:r>
                <a:r>
                  <a:rPr sz="2400" b="0">
                    <a:solidFill>
                      <a:srgbClr val="111827"/>
                    </a:solidFill>
                    <a:latin typeface="Arial"/>
                  </a:rPr>
                  <a:t>: </a:t>
                </a:r>
                <a:r>
                  <a:rPr lang="en-IN" sz="2400">
                    <a:solidFill>
                      <a:srgbClr val="111827"/>
                    </a:solidFill>
                    <a:latin typeface="Cambria Math" panose="02040503050406030204" pitchFamily="18" charset="0"/>
                  </a:rPr>
                  <a:t>$\vec{x}=\left(-\frac{1}{2},1,-\frac{1}{2}\right)$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That is </a:t>
                </a:r>
                <a:r>
                  <a:rPr lang="en-IN" sz="2400">
                    <a:solidFill>
                      <a:srgbClr val="111827"/>
                    </a:solidFill>
                    <a:latin typeface="Cambria Math" panose="02040503050406030204" pitchFamily="18" charset="0"/>
                  </a:rPr>
                  <a:t>$\vec{x}=-\frac{1}{2}\left(\hat{i}-2\hat{j}+\hat{k}\right)$</a:t>
                </a:r>
                <a:r>
                  <a:rPr sz="2400" b="0">
                    <a:solidFill>
                      <a:srgbClr val="111827"/>
                    </a:solidFill>
                    <a:latin typeface="Arial"/>
                  </a:rPr>
                  <a:t>, option (D).</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14:m>
                  <m:oMath xmlns:m="http://schemas.openxmlformats.org/officeDocument/2006/math">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
                          <a:rPr lang="en-IN" sz="2800" i="1">
                            <a:solidFill>
                              <a:srgbClr val="15803D"/>
                            </a:solidFill>
                            <a:latin typeface="Cambria Math" panose="02040503050406030204" pitchFamily="18" charset="0"/>
                          </a:rPr>
                          <m:t>2</m:t>
                        </m:r>
                      </m:den>
                    </m:f>
                    <m:d>
                      <m:dPr>
                        <m:begChr m:val="("/>
                        <m:sepChr m:val=""/>
                        <m:endChr m:val=")"/>
                        <m:grow/>
                        <m:ctrlPr>
                          <a:rPr lang="en-IN" sz="2800" i="1">
                            <a:solidFill>
                              <a:srgbClr val="15803D"/>
                            </a:solidFill>
                            <a:latin typeface="Cambria Math" panose="02040503050406030204" pitchFamily="18" charset="0"/>
                          </a:rPr>
                        </m:ctrlPr>
                      </m:dPr>
                      <m:e>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𝑖</m:t>
                            </m:r>
                          </m:e>
                        </m:acc>
                        <m:r>
                          <m:rPr>
                            <m:sty m:val="p"/>
                          </m:rPr>
                          <a:rPr lang="en-IN" sz="2800">
                            <a:solidFill>
                              <a:srgbClr val="15803D"/>
                            </a:solidFill>
                            <a:latin typeface="Cambria Math" panose="02040503050406030204" pitchFamily="18" charset="0"/>
                          </a:rPr>
                          <m:t>−</m:t>
                        </m:r>
                        <m:r>
                          <a:rPr lang="en-IN" sz="2800" i="1">
                            <a:solidFill>
                              <a:srgbClr val="15803D"/>
                            </a:solidFill>
                            <a:latin typeface="Cambria Math" panose="02040503050406030204" pitchFamily="18" charset="0"/>
                          </a:rPr>
                          <m:t>2</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𝑗</m:t>
                            </m:r>
                          </m:e>
                        </m:acc>
                        <m:r>
                          <m:rPr>
                            <m:sty m:val="p"/>
                          </m:rPr>
                          <a:rPr lang="en-IN" sz="2800">
                            <a:solidFill>
                              <a:srgbClr val="15803D"/>
                            </a:solidFill>
                            <a:latin typeface="Cambria Math" panose="02040503050406030204" pitchFamily="18" charset="0"/>
                          </a:rPr>
                          <m:t>+</m:t>
                        </m:r>
                        <m:acc>
                          <m:accPr>
                            <m:chr m:val="̂"/>
                            <m:ctrlPr>
                              <a:rPr lang="en-IN" sz="2800" i="1">
                                <a:solidFill>
                                  <a:srgbClr val="15803D"/>
                                </a:solidFill>
                                <a:latin typeface="Cambria Math" panose="02040503050406030204" pitchFamily="18" charset="0"/>
                              </a:rPr>
                            </m:ctrlPr>
                          </m:accPr>
                          <m:e>
                            <m:r>
                              <a:rPr lang="en-IN" sz="2800" i="1">
                                <a:solidFill>
                                  <a:srgbClr val="15803D"/>
                                </a:solidFill>
                                <a:latin typeface="Cambria Math" panose="02040503050406030204" pitchFamily="18" charset="0"/>
                              </a:rPr>
                              <m:t>𝑘</m:t>
                            </m:r>
                          </m:e>
                        </m:acc>
                      </m:e>
                    </m: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(D) </a:t>
                </a:r>
                <a:r>
                  <a:rPr lang="en-IN" sz="2800">
                    <a:solidFill>
                      <a:srgbClr val="15803D"/>
                    </a:solidFill>
                    <a:latin typeface="Cambria Math" panose="02040503050406030204" pitchFamily="18" charset="0"/>
                  </a:rPr>
                  <a:t>$-\frac{1}{2}\left(\hat{i}-2\hat{j}+\hat{k}\right)$</a:t>
                </a:r>
                <a:endParaRPr sz="2800">
                  <a:solidFill>
                    <a:srgbClr val="15803D"/>
                  </a:solidFill>
                </a:endParaRPr>
              </a:p>
            </p:txBody>
          </p:sp>
        </mc:Fallback>
      </mc:AlternateContent>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38</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lies in the plane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(it is perpendicular to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whereas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lies in the plane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The two are different in general.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is in the plane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oMath>
                </a14:m>
                <a:r>
                  <a:rPr sz="2400" b="0">
                    <a:solidFill>
                      <a:srgbClr val="111827"/>
                    </a:solidFill>
                    <a:latin typeface="Arial"/>
                  </a:rPr>
                  <a:t>. Check: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equation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has the unique solution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option (C) 'indeterminate' is wrong since the triple product is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$(\vec{a}\times\vec{b})\times\vec{c}=(\vec{a}\cdot\vec{c})\vec{b}-(\vec{b}\cdot\vec{c})\vec{a}$</a:t>
                </a:r>
                <a:r>
                  <a:rPr sz="2400" b="0">
                    <a:solidFill>
                      <a:srgbClr val="111827"/>
                    </a:solidFill>
                    <a:latin typeface="Arial"/>
                  </a:rPr>
                  <a:t> lies in the plane of </a:t>
                </a:r>
                <a:r>
                  <a:rPr lang="en-IN" sz="2400">
                    <a:solidFill>
                      <a:srgbClr val="111827"/>
                    </a:solidFill>
                    <a:latin typeface="Cambria Math" panose="02040503050406030204" pitchFamily="18" charset="0"/>
                  </a:rPr>
                  <a:t>$\vec{a},\vec{b}$</a:t>
                </a:r>
                <a:r>
                  <a:rPr sz="2400" b="0">
                    <a:solidFill>
                      <a:srgbClr val="111827"/>
                    </a:solidFill>
                    <a:latin typeface="Arial"/>
                  </a:rPr>
                  <a:t> (it is perpendicular to </a:t>
                </a:r>
                <a:r>
                  <a:rPr lang="en-IN" sz="2400">
                    <a:solidFill>
                      <a:srgbClr val="111827"/>
                    </a:solidFill>
                    <a:latin typeface="Cambria Math" panose="02040503050406030204" pitchFamily="18" charset="0"/>
                  </a:rPr>
                  <a:t>$\vec{a}\times\vec{b}$</a:t>
                </a:r>
                <a:r>
                  <a:rPr sz="2400" b="0">
                    <a:solidFill>
                      <a:srgbClr val="111827"/>
                    </a:solidFill>
                    <a:latin typeface="Arial"/>
                  </a:rPr>
                  <a:t>), whereas </a:t>
                </a:r>
                <a:r>
                  <a:rPr lang="en-IN" sz="2400">
                    <a:solidFill>
                      <a:srgbClr val="111827"/>
                    </a:solidFill>
                    <a:latin typeface="Cambria Math" panose="02040503050406030204" pitchFamily="18" charset="0"/>
                  </a:rPr>
                  <a:t>$\vec{a}\times(\vec{b}\times\vec{c})=(\vec{a}\cdot\vec{c})\vec{b}-(\vec{a}\cdot\vec{b})\vec{c}$</a:t>
                </a:r>
                <a:r>
                  <a:rPr sz="2400" b="0">
                    <a:solidFill>
                      <a:srgbClr val="111827"/>
                    </a:solidFill>
                    <a:latin typeface="Arial"/>
                  </a:rPr>
                  <a:t> lies in the plane of </a:t>
                </a:r>
                <a:r>
                  <a:rPr lang="en-IN" sz="2400">
                    <a:solidFill>
                      <a:srgbClr val="111827"/>
                    </a:solidFill>
                    <a:latin typeface="Cambria Math" panose="02040503050406030204" pitchFamily="18" charset="0"/>
                  </a:rPr>
                  <a:t>$\vec{b},\vec{c}$</a:t>
                </a:r>
                <a:r>
                  <a:rPr sz="2400" b="0">
                    <a:solidFill>
                      <a:srgbClr val="111827"/>
                    </a:solidFill>
                    <a:latin typeface="Arial"/>
                  </a:rPr>
                  <a:t>. The two are different in general.</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a:t>
                </a:r>
                <a:r>
                  <a:rPr lang="en-IN" sz="2400">
                    <a:solidFill>
                      <a:srgbClr val="111827"/>
                    </a:solidFill>
                    <a:latin typeface="Cambria Math" panose="02040503050406030204" pitchFamily="18" charset="0"/>
                  </a:rPr>
                  <a:t>$\vec{x}$</a:t>
                </a:r>
                <a:r>
                  <a:rPr sz="2400" b="0">
                    <a:solidFill>
                      <a:srgbClr val="111827"/>
                    </a:solidFill>
                    <a:latin typeface="Arial"/>
                  </a:rPr>
                  <a:t> is in the plane of </a:t>
                </a:r>
                <a:r>
                  <a:rPr lang="en-IN" sz="2400">
                    <a:solidFill>
                      <a:srgbClr val="111827"/>
                    </a:solidFill>
                    <a:latin typeface="Cambria Math" panose="02040503050406030204" pitchFamily="18" charset="0"/>
                  </a:rPr>
                  <a:t>$\vec{p},\vec{q}$</a:t>
                </a:r>
                <a:r>
                  <a:rPr sz="2400" b="0">
                    <a:solidFill>
                      <a:srgbClr val="111827"/>
                    </a:solidFill>
                    <a:latin typeface="Arial"/>
                  </a:rPr>
                  <a:t>: </a:t>
                </a:r>
                <a:r>
                  <a:rPr lang="en-IN" sz="2400">
                    <a:solidFill>
                      <a:srgbClr val="111827"/>
                    </a:solidFill>
                    <a:latin typeface="Cambria Math" panose="02040503050406030204" pitchFamily="18" charset="0"/>
                  </a:rPr>
                  <a:t>$\vec{x}=\frac{1}{4}\vec{p}-\frac{3}{4}\vec{q}$</a:t>
                </a:r>
                <a:r>
                  <a:rPr sz="2400" b="0">
                    <a:solidFill>
                      <a:srgbClr val="111827"/>
                    </a:solidFill>
                    <a:latin typeface="Arial"/>
                  </a:rPr>
                  <a:t>. Check: </a:t>
                </a:r>
                <a:r>
                  <a:rPr lang="en-IN" sz="2400">
                    <a:solidFill>
                      <a:srgbClr val="111827"/>
                    </a:solidFill>
                    <a:latin typeface="Cambria Math" panose="02040503050406030204" pitchFamily="18" charset="0"/>
                  </a:rPr>
                  <a:t>$\vec{x}\cdot(\vec{p}\times\vec{q})=0$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$[\vec{a}\,\vec{b}\,\vec{c}]\neq0$</a:t>
                </a:r>
                <a:r>
                  <a:rPr sz="2400" b="0">
                    <a:solidFill>
                      <a:srgbClr val="111827"/>
                    </a:solidFill>
                    <a:latin typeface="Arial"/>
                  </a:rPr>
                  <a:t> the equation </a:t>
                </a:r>
                <a:r>
                  <a:rPr lang="en-IN" sz="2400">
                    <a:solidFill>
                      <a:srgbClr val="111827"/>
                    </a:solidFill>
                    <a:latin typeface="Cambria Math" panose="02040503050406030204" pitchFamily="18" charset="0"/>
                  </a:rPr>
                  <a:t>$[\vec{a}\,\vec{b}\,\vec{c}]\vec{x}=\vec{v}$</a:t>
                </a:r>
                <a:r>
                  <a:rPr sz="2400" b="0">
                    <a:solidFill>
                      <a:srgbClr val="111827"/>
                    </a:solidFill>
                    <a:latin typeface="Arial"/>
                  </a:rPr>
                  <a:t> has the unique solution </a:t>
                </a:r>
                <a:r>
                  <a:rPr lang="en-IN" sz="2400">
                    <a:solidFill>
                      <a:srgbClr val="111827"/>
                    </a:solidFill>
                    <a:latin typeface="Cambria Math" panose="02040503050406030204" pitchFamily="18" charset="0"/>
                  </a:rPr>
                  <a:t>$\vec{x}=\frac{\vec{v}}{[\vec{a}\,\vec{b}\,\vec{c}]}$</a:t>
                </a:r>
                <a:r>
                  <a:rPr sz="2400" b="0">
                    <a:solidFill>
                      <a:srgbClr val="111827"/>
                    </a:solidFill>
                    <a:latin typeface="Arial"/>
                  </a:rPr>
                  <a:t>; option (C) 'indeterminate' is wrong since the triple product is </a:t>
                </a:r>
                <a:r>
                  <a:rPr lang="en-IN" sz="2400">
                    <a:solidFill>
                      <a:srgbClr val="111827"/>
                    </a:solidFill>
                    <a:latin typeface="Cambria Math" panose="02040503050406030204" pitchFamily="18" charset="0"/>
                  </a:rPr>
                  <a:t>$-\frac{8}{3}\neq0$</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92861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three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such that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oMath>
                </a14:m>
                <a:r>
                  <a:rPr sz="2400" b="0">
                    <a:solidFill>
                      <a:srgbClr val="111827"/>
                    </a:solidFill>
                    <a:latin typeface="Arial"/>
                  </a:rPr>
                  <a:t> is a vector satisfying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as in Q38):</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are collinear</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are coplanar</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represent the coterminous edges of a tetrahedron whose volume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cubic units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represent the coterminous edges of a parallelepiped whose volume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cubic units</a:t>
                </a:r>
                <a:endParaRPr sz="2400">
                  <a:solidFill>
                    <a:srgbClr val="111827"/>
                  </a:solidFill>
                </a:endParaRPr>
              </a:p>
            </p:txBody>
          </p:sp>
        </mc:Choice>
        <mc:Fallback>
          <p:sp>
            <p:nvSpPr>
              <p:cNvPr id="4" name="Rounded Rectangle 3"/>
              <p:cNvSpPr/>
              <p:nvPr/>
            </p:nvSpPr>
            <p:spPr>
              <a:xfrm>
                <a:off x="731520" y="1280160"/>
                <a:ext cx="10725912" cy="492861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Consider the three vectors </a:t>
                </a:r>
                <a:r>
                  <a:rPr lang="en-IN" sz="2400">
                    <a:solidFill>
                      <a:srgbClr val="111827"/>
                    </a:solidFill>
                    <a:latin typeface="Cambria Math" panose="02040503050406030204" pitchFamily="18" charset="0"/>
                  </a:rPr>
                  <a:t>$\vec{p}$</a:t>
                </a:r>
                <a:r>
                  <a:rPr sz="2400" b="0">
                    <a:solidFill>
                      <a:srgbClr val="111827"/>
                    </a:solidFill>
                    <a:latin typeface="Arial"/>
                  </a:rPr>
                  <a:t>, </a:t>
                </a:r>
                <a:r>
                  <a:rPr lang="en-IN" sz="2400">
                    <a:solidFill>
                      <a:srgbClr val="111827"/>
                    </a:solidFill>
                    <a:latin typeface="Cambria Math" panose="02040503050406030204" pitchFamily="18" charset="0"/>
                  </a:rPr>
                  <a:t>$\vec{q}$</a:t>
                </a:r>
                <a:r>
                  <a:rPr sz="2400" b="0">
                    <a:solidFill>
                      <a:srgbClr val="111827"/>
                    </a:solidFill>
                    <a:latin typeface="Arial"/>
                  </a:rPr>
                  <a:t> and </a:t>
                </a:r>
                <a:r>
                  <a:rPr lang="en-IN" sz="2400">
                    <a:solidFill>
                      <a:srgbClr val="111827"/>
                    </a:solidFill>
                    <a:latin typeface="Cambria Math" panose="02040503050406030204" pitchFamily="18" charset="0"/>
                  </a:rPr>
                  <a:t>$\vec{r}$</a:t>
                </a:r>
                <a:r>
                  <a:rPr sz="2400" b="0">
                    <a:solidFill>
                      <a:srgbClr val="111827"/>
                    </a:solidFill>
                    <a:latin typeface="Arial"/>
                  </a:rPr>
                  <a:t> such that </a:t>
                </a:r>
                <a:r>
                  <a:rPr lang="en-IN" sz="2400">
                    <a:solidFill>
                      <a:srgbClr val="111827"/>
                    </a:solidFill>
                    <a:latin typeface="Cambria Math" panose="02040503050406030204" pitchFamily="18" charset="0"/>
                  </a:rPr>
                  <a:t>$\vec{p}=\hat{i}+\hat{j}+\hat{k}$</a:t>
                </a:r>
                <a:r>
                  <a:rPr sz="2400" b="0">
                    <a:solidFill>
                      <a:srgbClr val="111827"/>
                    </a:solidFill>
                    <a:latin typeface="Arial"/>
                  </a:rPr>
                  <a:t>, </a:t>
                </a:r>
                <a:r>
                  <a:rPr lang="en-IN" sz="2400">
                    <a:solidFill>
                      <a:srgbClr val="111827"/>
                    </a:solidFill>
                    <a:latin typeface="Cambria Math" panose="02040503050406030204" pitchFamily="18" charset="0"/>
                  </a:rPr>
                  <a:t>$\vec{q}=\hat{i}-\hat{j}+\hat{k}$</a:t>
                </a:r>
                <a:r>
                  <a:rPr sz="2400" b="0">
                    <a:solidFill>
                      <a:srgbClr val="111827"/>
                    </a:solidFill>
                    <a:latin typeface="Arial"/>
                  </a:rPr>
                  <a:t>, </a:t>
                </a:r>
                <a:r>
                  <a:rPr lang="en-IN" sz="2400">
                    <a:solidFill>
                      <a:srgbClr val="111827"/>
                    </a:solidFill>
                    <a:latin typeface="Cambria Math" panose="02040503050406030204" pitchFamily="18" charset="0"/>
                  </a:rPr>
                  <a:t>$\vec{p}\times\vec{r}=\vec{q}+c\vec{p}$</a:t>
                </a:r>
                <a:r>
                  <a:rPr sz="2400" b="0">
                    <a:solidFill>
                      <a:srgbClr val="111827"/>
                    </a:solidFill>
                    <a:latin typeface="Arial"/>
                  </a:rPr>
                  <a:t> and </a:t>
                </a:r>
                <a:r>
                  <a:rPr lang="en-IN" sz="2400">
                    <a:solidFill>
                      <a:srgbClr val="111827"/>
                    </a:solidFill>
                    <a:latin typeface="Cambria Math" panose="02040503050406030204" pitchFamily="18" charset="0"/>
                  </a:rPr>
                  <a:t>$\vec{p}\cdot\vec{r}=2$</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$\vec{y}$</a:t>
                </a:r>
                <a:r>
                  <a:rPr sz="2400" b="0">
                    <a:solidFill>
                      <a:srgbClr val="111827"/>
                    </a:solidFill>
                    <a:latin typeface="Arial"/>
                  </a:rPr>
                  <a:t> is a vector satisfying </a:t>
                </a:r>
                <a:r>
                  <a:rPr lang="en-IN" sz="2400">
                    <a:solidFill>
                      <a:srgbClr val="111827"/>
                    </a:solidFill>
                    <a:latin typeface="Cambria Math" panose="02040503050406030204" pitchFamily="18" charset="0"/>
                  </a:rPr>
                  <a:t>$(1+c)\vec{y}=\vec{p}\times(\vec{q}\times\vec{r})$</a:t>
                </a:r>
                <a:r>
                  <a:rPr sz="2400" b="0">
                    <a:solidFill>
                      <a:srgbClr val="111827"/>
                    </a:solidFill>
                    <a:latin typeface="Arial"/>
                  </a:rPr>
                  <a:t>, then the vectors </a:t>
                </a:r>
                <a:r>
                  <a:rPr lang="en-IN" sz="2400">
                    <a:solidFill>
                      <a:srgbClr val="111827"/>
                    </a:solidFill>
                    <a:latin typeface="Cambria Math" panose="02040503050406030204" pitchFamily="18" charset="0"/>
                  </a:rPr>
                  <a:t>$\vec{x},\vec{y},\vec{r}$</a:t>
                </a:r>
                <a:r>
                  <a:rPr sz="2400" b="0">
                    <a:solidFill>
                      <a:srgbClr val="111827"/>
                    </a:solidFill>
                    <a:latin typeface="Arial"/>
                  </a:rPr>
                  <a:t> (with </a:t>
                </a:r>
                <a:r>
                  <a:rPr lang="en-IN" sz="2400">
                    <a:solidFill>
                      <a:srgbClr val="111827"/>
                    </a:solidFill>
                    <a:latin typeface="Cambria Math" panose="02040503050406030204" pitchFamily="18" charset="0"/>
                  </a:rPr>
                  <a:t>$\vec{x}$</a:t>
                </a:r>
                <a:r>
                  <a:rPr sz="2400" b="0">
                    <a:solidFill>
                      <a:srgbClr val="111827"/>
                    </a:solidFill>
                    <a:latin typeface="Arial"/>
                  </a:rPr>
                  <a:t> as in Q38):</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(A) are collinear</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(B) are coplanar</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 represent the coterminous edges of a tetrahedron whose volume is </a:t>
                </a:r>
                <a:r>
                  <a:rPr lang="en-IN" sz="2400">
                    <a:solidFill>
                      <a:srgbClr val="111827"/>
                    </a:solidFill>
                    <a:latin typeface="Cambria Math" panose="02040503050406030204" pitchFamily="18" charset="0"/>
                  </a:rPr>
                  <a:t>$|c|$</a:t>
                </a:r>
                <a:r>
                  <a:rPr sz="2400" b="0">
                    <a:solidFill>
                      <a:srgbClr val="111827"/>
                    </a:solidFill>
                    <a:latin typeface="Arial"/>
                  </a:rPr>
                  <a:t> cubic units</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(D) represent the coterminous edges of a parallelepiped whose volume is </a:t>
                </a:r>
                <a:r>
                  <a:rPr lang="en-IN" sz="2400">
                    <a:solidFill>
                      <a:srgbClr val="111827"/>
                    </a:solidFill>
                    <a:latin typeface="Cambria Math" panose="02040503050406030204" pitchFamily="18" charset="0"/>
                  </a:rPr>
                  <a:t>$|c|$</a:t>
                </a:r>
                <a:r>
                  <a:rPr sz="2400" b="0">
                    <a:solidFill>
                      <a:srgbClr val="111827"/>
                    </a:solidFill>
                    <a:latin typeface="Arial"/>
                  </a:rPr>
                  <a:t> cubic units</a:t>
                </a:r>
                <a:endParaRPr sz="2400">
                  <a:solidFill>
                    <a:srgbClr val="111827"/>
                  </a:solidFill>
                </a:endParaRPr>
              </a:p>
            </p:txBody>
          </p:sp>
        </mc:Fallback>
      </mc:AlternateContent>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ectangle 3"/>
          <p:cNvSpPr/>
          <p:nvPr/>
        </p:nvSpPr>
        <p:spPr>
          <a:xfrm>
            <a:off x="731520" y="128016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Paragraph Based Single Correct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Vector triple product and volume of a tetrahedron</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066288"/>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tetrahedron on three coterminous edges has volume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6</m:t>
                        </m:r>
                      </m:den>
                    </m:f>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𝑥</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𝑦</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compare it with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𝑐</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3</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066288"/>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tetrahedron on three coterminous edges has volume </a:t>
                </a:r>
                <a:r>
                  <a:rPr lang="en-IN" sz="2400">
                    <a:solidFill>
                      <a:srgbClr val="78350F"/>
                    </a:solidFill>
                    <a:latin typeface="Cambria Math" panose="02040503050406030204" pitchFamily="18" charset="0"/>
                  </a:rPr>
                  <a:t>$\frac{1}{6}|[\vec{x}\,\vec{y}\,\vec{r}]|$</a:t>
                </a:r>
                <a:r>
                  <a:rPr sz="2400" b="0">
                    <a:solidFill>
                      <a:srgbClr val="78350F"/>
                    </a:solidFill>
                    <a:latin typeface="Arial"/>
                  </a:rPr>
                  <a:t>; compare it with </a:t>
                </a:r>
                <a:r>
                  <a:rPr lang="en-IN" sz="2400">
                    <a:solidFill>
                      <a:srgbClr val="78350F"/>
                    </a:solidFill>
                    <a:latin typeface="Cambria Math" panose="02040503050406030204" pitchFamily="18" charset="0"/>
                  </a:rPr>
                  <a:t>$|c|=\frac{1}{3}$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532376"/>
                <a:ext cx="10725912" cy="214274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(vii), </a:t>
                </a:r>
                <a14:m>
                  <m:oMath xmlns:m="http://schemas.openxmlformats.org/officeDocument/2006/math">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4532376"/>
                <a:ext cx="10725912" cy="214274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(vii), </a:t>
                </a:r>
                <a:r>
                  <a:rPr lang="en-IN" sz="2400">
                    <a:solidFill>
                      <a:srgbClr val="111827"/>
                    </a:solidFill>
                    <a:latin typeface="Cambria Math" panose="02040503050406030204" pitchFamily="18" charset="0"/>
                  </a:rPr>
                  <a:t>$c=-\frac{1}{3}$</a:t>
                </a:r>
                <a:r>
                  <a:rPr sz="2400" b="0">
                    <a:solidFill>
                      <a:srgbClr val="111827"/>
                    </a:solidFill>
                    <a:latin typeface="Arial"/>
                  </a:rPr>
                  <a:t>, so </a:t>
                </a:r>
                <a:r>
                  <a:rPr lang="en-IN" sz="2400">
                    <a:solidFill>
                      <a:srgbClr val="111827"/>
                    </a:solidFill>
                    <a:latin typeface="Cambria Math" panose="02040503050406030204" pitchFamily="18" charset="0"/>
                  </a:rPr>
                  <a:t>$1+c=\frac{2}{3}$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$\left(1-\frac{1}{3}\right)\vec{y}=\vec{p}\times(\vec{q}\times\vec{r})=(\vec{p}\cdot\vec{r})\vec{q}-(\vec{p}\cdot\vec{q})\vec{r}$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from (iv):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e>
                              <m:r>
                                <a:rPr lang="en-IN" sz="2400" i="1">
                                  <a:solidFill>
                                    <a:srgbClr val="111827"/>
                                  </a:solidFill>
                                  <a:latin typeface="Cambria Math" panose="02040503050406030204" pitchFamily="18" charset="0"/>
                                </a:rPr>
                                <m:t>1</m:t>
                              </m:r>
                            </m:e>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e>
                          </m:mr>
                          <m:mr>
                            <m:e>
                              <m:r>
                                <a:rPr lang="en-IN" sz="2400" i="1">
                                  <a:solidFill>
                                    <a:srgbClr val="111827"/>
                                  </a:solidFill>
                                  <a:latin typeface="Cambria Math" panose="02040503050406030204" pitchFamily="18" charset="0"/>
                                </a:rPr>
                                <m:t>3</m:t>
                              </m:r>
                            </m:e>
                            <m:e>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e>
                            <m:e>
                              <m:r>
                                <a:rPr lang="en-IN" sz="2400" i="1">
                                  <a:solidFill>
                                    <a:srgbClr val="111827"/>
                                  </a:solidFill>
                                  <a:latin typeface="Cambria Math" panose="02040503050406030204" pitchFamily="18" charset="0"/>
                                </a:rPr>
                                <m:t>1</m:t>
                              </m:r>
                            </m:e>
                          </m:mr>
                          <m:mr>
                            <m:e>
                              <m:r>
                                <a:rPr lang="en-IN" sz="2400" i="1">
                                  <a:solidFill>
                                    <a:srgbClr val="111827"/>
                                  </a:solidFill>
                                  <a:latin typeface="Cambria Math" panose="02040503050406030204" pitchFamily="18" charset="0"/>
                                </a:rPr>
                                <m:t>0</m:t>
                              </m:r>
                            </m:e>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mr>
                        </m:m>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$\vec{p}\cdot\vec{r}=2$</a:t>
                </a:r>
                <a:r>
                  <a:rPr sz="2400" b="0">
                    <a:solidFill>
                      <a:srgbClr val="111827"/>
                    </a:solidFill>
                    <a:latin typeface="Arial"/>
                  </a:rPr>
                  <a:t> and </a:t>
                </a:r>
                <a:r>
                  <a:rPr lang="en-IN" sz="2400">
                    <a:solidFill>
                      <a:srgbClr val="111827"/>
                    </a:solidFill>
                    <a:latin typeface="Cambria Math" panose="02040503050406030204" pitchFamily="18" charset="0"/>
                  </a:rPr>
                  <a:t>$\vec{p}\cdot\vec{q}=1$</a:t>
                </a:r>
                <a:r>
                  <a:rPr sz="2400" b="0">
                    <a:solidFill>
                      <a:srgbClr val="111827"/>
                    </a:solidFill>
                    <a:latin typeface="Arial"/>
                  </a:rPr>
                  <a:t> from (iv): </a:t>
                </a:r>
                <a:r>
                  <a:rPr lang="en-IN" sz="2400">
                    <a:solidFill>
                      <a:srgbClr val="111827"/>
                    </a:solidFill>
                    <a:latin typeface="Cambria Math" panose="02040503050406030204" pitchFamily="18" charset="0"/>
                  </a:rPr>
                  <a:t>$\frac{2}{3}\vec{y}=2\vec{q}-\vec{r}$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$\vec{y}=\frac{3}{2}\left(2\hat{i}-2\hat{j}+2\hat{k}-\frac{2}{3}\hat{j}-\frac{4}{3}\hat{k}\right)=\frac{3}{2}\cdot\frac{6\hat{i}-8\hat{j}+2\hat{k}}{3}$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$\vec{y}=3\hat{i}-4\hat{j}+\hat{k}$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$[\vec{x}\,\vec{y}\,\vec{r}]=\left|\begin{matrix}-\frac{1}{2}&amp;1&amp;-\frac{1}{2}\\3&amp;-4&amp;1\\0&amp;\frac{2}{3}&amp;\frac{4}{3}\end{matrix}\right|=-\frac{1}{2}\left(-\frac{16}{3}-\frac{2}{3}\right)-1(4)-\frac{1}{2}(2)$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$[\vec{x}\,\vec{y}\,\vec{r}]=3-4-1=-2$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$\left|\frac{1}{6}[\vec{x}\,\vec{y}\,\vec{r}]\right|=\left|-\frac{1}{3}\right|=|c|$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are coterminous edges of a tetrahedron of volume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option (C).</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$\vec{x},\vec{y},\vec{r}$</a:t>
                </a:r>
                <a:r>
                  <a:rPr sz="2400" b="0">
                    <a:solidFill>
                      <a:srgbClr val="111827"/>
                    </a:solidFill>
                    <a:latin typeface="Arial"/>
                  </a:rPr>
                  <a:t> are coterminous edges of a tetrahedron of volume </a:t>
                </a:r>
                <a:r>
                  <a:rPr lang="en-IN" sz="2400">
                    <a:solidFill>
                      <a:srgbClr val="111827"/>
                    </a:solidFill>
                    <a:latin typeface="Cambria Math" panose="02040503050406030204" pitchFamily="18" charset="0"/>
                  </a:rPr>
                  <a:t>$|c|$</a:t>
                </a:r>
                <a:r>
                  <a:rPr sz="2400" b="0">
                    <a:solidFill>
                      <a:srgbClr val="111827"/>
                    </a:solidFill>
                    <a:latin typeface="Arial"/>
                  </a:rPr>
                  <a:t>, option (C).</a:t>
                </a:r>
                <a:endParaRPr sz="2400">
                  <a:solidFill>
                    <a:srgbClr val="111827"/>
                  </a:solidFill>
                </a:endParaRPr>
              </a:p>
            </p:txBody>
          </p:sp>
        </mc:Fallback>
      </mc:AlternateContent>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(C)</a:t>
            </a:r>
            <a:endParaRPr sz="2800">
              <a:solidFill>
                <a:srgbClr val="15803D"/>
              </a:solidFill>
            </a:endParaRP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multilinearity of the triple product: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𝑦</m:t>
                        </m:r>
                      </m:e>
                    </m:acc>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num>
                      <m:den>
                        <m:r>
                          <a:rPr lang="en-IN" sz="2400" i="1">
                            <a:solidFill>
                              <a:srgbClr val="78350F"/>
                            </a:solidFill>
                            <a:latin typeface="Cambria Math" panose="02040503050406030204" pitchFamily="18" charset="0"/>
                          </a:rPr>
                          <m:t>2</m:t>
                        </m:r>
                      </m:den>
                    </m:f>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𝑞</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𝑥</m:t>
                        </m:r>
                      </m:e>
                    </m:acc>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4</m:t>
                        </m:r>
                      </m:den>
                    </m:f>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3</m:t>
                        </m:r>
                      </m:num>
                      <m:den>
                        <m:r>
                          <a:rPr lang="en-IN" sz="2400" i="1">
                            <a:solidFill>
                              <a:srgbClr val="78350F"/>
                            </a:solidFill>
                            <a:latin typeface="Cambria Math" panose="02040503050406030204" pitchFamily="18" charset="0"/>
                          </a:rPr>
                          <m:t>4</m:t>
                        </m:r>
                      </m:den>
                    </m:f>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𝑞</m:t>
                        </m:r>
                      </m:e>
                    </m:acc>
                  </m:oMath>
                </a14:m>
                <a:r>
                  <a:rPr sz="2400" b="0">
                    <a:solidFill>
                      <a:srgbClr val="78350F"/>
                    </a:solidFill>
                    <a:latin typeface="Arial"/>
                  </a:rPr>
                  <a:t>, so everything reduces to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𝑞</m:t>
                        </m:r>
                      </m:e>
                    </m:acc>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𝑟</m:t>
                        </m:r>
                      </m:e>
                    </m:acc>
                    <m:r>
                      <m:rPr>
                        <m:sty m:val="p"/>
                      </m:rPr>
                      <a:rPr lang="en-IN" sz="2400">
                        <a:solidFill>
                          <a:srgbClr val="78350F"/>
                        </a:solidFill>
                        <a:latin typeface="Cambria Math" panose="02040503050406030204" pitchFamily="18" charset="0"/>
                      </a:rPr>
                      <m:t>]</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81051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Use multilinearity of the triple product: </a:t>
                </a:r>
                <a:r>
                  <a:rPr lang="en-IN" sz="2400">
                    <a:solidFill>
                      <a:srgbClr val="78350F"/>
                    </a:solidFill>
                    <a:latin typeface="Cambria Math" panose="02040503050406030204" pitchFamily="18" charset="0"/>
                  </a:rPr>
                  <a:t>$\vec{y}=\frac{3}{2}(2\vec{q}-\vec{r})$</a:t>
                </a:r>
                <a:r>
                  <a:rPr sz="2400" b="0">
                    <a:solidFill>
                      <a:srgbClr val="78350F"/>
                    </a:solidFill>
                    <a:latin typeface="Arial"/>
                  </a:rPr>
                  <a:t> and </a:t>
                </a:r>
                <a:r>
                  <a:rPr lang="en-IN" sz="2400">
                    <a:solidFill>
                      <a:srgbClr val="78350F"/>
                    </a:solidFill>
                    <a:latin typeface="Cambria Math" panose="02040503050406030204" pitchFamily="18" charset="0"/>
                  </a:rPr>
                  <a:t>$\vec{x}=\frac{1}{4}\vec{p}-\frac{3}{4}\vec{q}$</a:t>
                </a:r>
                <a:r>
                  <a:rPr sz="2400" b="0">
                    <a:solidFill>
                      <a:srgbClr val="78350F"/>
                    </a:solidFill>
                    <a:latin typeface="Arial"/>
                  </a:rPr>
                  <a:t>, so everything reduces to </a:t>
                </a:r>
                <a:r>
                  <a:rPr lang="en-IN" sz="2400">
                    <a:solidFill>
                      <a:srgbClr val="78350F"/>
                    </a:solidFill>
                    <a:latin typeface="Cambria Math" panose="02040503050406030204" pitchFamily="18" charset="0"/>
                  </a:rPr>
                  <a:t>$[\vec{p}\,\vec{q}\,\vec{r}]$</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and, from Q38,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oMath>
                </a14:m>
                <a:r>
                  <a:rPr sz="2400" b="0">
                    <a:solidFill>
                      <a:srgbClr val="111827"/>
                    </a:solidFill>
                    <a:latin typeface="Arial"/>
                  </a:rPr>
                  <a:t> part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oMath>
                </a14:m>
                <a:r>
                  <a:rPr sz="2400" b="0">
                    <a:solidFill>
                      <a:srgbClr val="111827"/>
                    </a:solidFill>
                    <a:latin typeface="Arial"/>
                  </a:rPr>
                  <a:t> drops out (repeated vector), 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the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oMath>
                </a14:m>
                <a:r>
                  <a:rPr sz="2400" b="0">
                    <a:solidFill>
                      <a:srgbClr val="111827"/>
                    </a:solidFill>
                    <a:latin typeface="Arial"/>
                  </a:rPr>
                  <a:t> part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oMath>
                </a14:m>
                <a:r>
                  <a:rPr sz="2400" b="0">
                    <a:solidFill>
                      <a:srgbClr val="111827"/>
                    </a:solidFill>
                    <a:latin typeface="Arial"/>
                  </a:rPr>
                  <a:t> drops out: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227832"/>
                <a:ext cx="10725912" cy="344728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$\vec{y}=\frac{3}{2}(2\vec{q}-\vec{r})=3\vec{q}-\frac{3}{2}\vec{r}$</a:t>
                </a:r>
                <a:r>
                  <a:rPr sz="2400" b="0">
                    <a:solidFill>
                      <a:srgbClr val="111827"/>
                    </a:solidFill>
                    <a:latin typeface="Arial"/>
                  </a:rPr>
                  <a:t> and, from Q38, </a:t>
                </a:r>
                <a:r>
                  <a:rPr lang="en-IN" sz="2400">
                    <a:solidFill>
                      <a:srgbClr val="111827"/>
                    </a:solidFill>
                    <a:latin typeface="Cambria Math" panose="02040503050406030204" pitchFamily="18" charset="0"/>
                  </a:rPr>
                  <a:t>$\vec{x}=\frac{1}{4}\vec{p}-\frac{3}{4}\vec{q}$</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t>
                </a:r>
                <a:r>
                  <a:rPr lang="en-IN" sz="2400">
                    <a:solidFill>
                      <a:srgbClr val="111827"/>
                    </a:solidFill>
                    <a:latin typeface="Cambria Math" panose="02040503050406030204" pitchFamily="18" charset="0"/>
                  </a:rPr>
                  <a:t>$[\vec{x}\,\vec{y}\,\vec{r}]$</a:t>
                </a:r>
                <a:r>
                  <a:rPr sz="2400" b="0">
                    <a:solidFill>
                      <a:srgbClr val="111827"/>
                    </a:solidFill>
                    <a:latin typeface="Arial"/>
                  </a:rPr>
                  <a:t> the </a:t>
                </a:r>
                <a:r>
                  <a:rPr lang="en-IN" sz="2400">
                    <a:solidFill>
                      <a:srgbClr val="111827"/>
                    </a:solidFill>
                    <a:latin typeface="Cambria Math" panose="02040503050406030204" pitchFamily="18" charset="0"/>
                  </a:rPr>
                  <a:t>$\vec{r}$</a:t>
                </a:r>
                <a:r>
                  <a:rPr sz="2400" b="0">
                    <a:solidFill>
                      <a:srgbClr val="111827"/>
                    </a:solidFill>
                    <a:latin typeface="Arial"/>
                  </a:rPr>
                  <a:t> part of </a:t>
                </a:r>
                <a:r>
                  <a:rPr lang="en-IN" sz="2400">
                    <a:solidFill>
                      <a:srgbClr val="111827"/>
                    </a:solidFill>
                    <a:latin typeface="Cambria Math" panose="02040503050406030204" pitchFamily="18" charset="0"/>
                  </a:rPr>
                  <a:t>$\vec{y}$</a:t>
                </a:r>
                <a:r>
                  <a:rPr sz="2400" b="0">
                    <a:solidFill>
                      <a:srgbClr val="111827"/>
                    </a:solidFill>
                    <a:latin typeface="Arial"/>
                  </a:rPr>
                  <a:t> drops out (repeated vector), so </a:t>
                </a:r>
                <a:r>
                  <a:rPr lang="en-IN" sz="2400">
                    <a:solidFill>
                      <a:srgbClr val="111827"/>
                    </a:solidFill>
                    <a:latin typeface="Cambria Math" panose="02040503050406030204" pitchFamily="18" charset="0"/>
                  </a:rPr>
                  <a:t>$[\vec{x}\,\vec{y}\,\vec{r}]=3[\vec{x}\,\vec{q}\,\vec{r}]$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Similarly the </a:t>
                </a:r>
                <a:r>
                  <a:rPr lang="en-IN" sz="2400">
                    <a:solidFill>
                      <a:srgbClr val="111827"/>
                    </a:solidFill>
                    <a:latin typeface="Cambria Math" panose="02040503050406030204" pitchFamily="18" charset="0"/>
                  </a:rPr>
                  <a:t>$\vec{q}$</a:t>
                </a:r>
                <a:r>
                  <a:rPr sz="2400" b="0">
                    <a:solidFill>
                      <a:srgbClr val="111827"/>
                    </a:solidFill>
                    <a:latin typeface="Arial"/>
                  </a:rPr>
                  <a:t> part of </a:t>
                </a:r>
                <a:r>
                  <a:rPr lang="en-IN" sz="2400">
                    <a:solidFill>
                      <a:srgbClr val="111827"/>
                    </a:solidFill>
                    <a:latin typeface="Cambria Math" panose="02040503050406030204" pitchFamily="18" charset="0"/>
                  </a:rPr>
                  <a:t>$\vec{x}$</a:t>
                </a:r>
                <a:r>
                  <a:rPr sz="2400" b="0">
                    <a:solidFill>
                      <a:srgbClr val="111827"/>
                    </a:solidFill>
                    <a:latin typeface="Arial"/>
                  </a:rPr>
                  <a:t> drops out: </a:t>
                </a:r>
                <a:r>
                  <a:rPr lang="en-IN" sz="2400">
                    <a:solidFill>
                      <a:srgbClr val="111827"/>
                    </a:solidFill>
                    <a:latin typeface="Cambria Math" panose="02040503050406030204" pitchFamily="18" charset="0"/>
                  </a:rPr>
                  <a:t>$[\vec{x}\,\vec{q}\,\vec{r}]=\frac{1}{4}[\vec{p}\,\vec{q}\,\vec{r}]$</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𝑞</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𝑥</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𝑦</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𝑟</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Volume of the tetrahedron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parallelepiped would have volume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the triple product is non-zero, so they are not coplanar or collinear. Option (C).</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$[\vec{p}\,\vec{q}\,\vec{r}]=-\frac{8}{3}$</a:t>
                </a:r>
                <a:r>
                  <a:rPr sz="2400" b="0">
                    <a:solidFill>
                      <a:srgbClr val="111827"/>
                    </a:solidFill>
                    <a:latin typeface="Arial"/>
                  </a:rPr>
                  <a:t>: </a:t>
                </a:r>
                <a:r>
                  <a:rPr lang="en-IN" sz="2400">
                    <a:solidFill>
                      <a:srgbClr val="111827"/>
                    </a:solidFill>
                    <a:latin typeface="Cambria Math" panose="02040503050406030204" pitchFamily="18" charset="0"/>
                  </a:rPr>
                  <a:t>$[\vec{x}\,\vec{q}\,\vec{r}]=-\frac{2}{3}$</a:t>
                </a:r>
                <a:r>
                  <a:rPr sz="2400" b="0">
                    <a:solidFill>
                      <a:srgbClr val="111827"/>
                    </a:solidFill>
                    <a:latin typeface="Arial"/>
                  </a:rPr>
                  <a:t> and </a:t>
                </a:r>
                <a:r>
                  <a:rPr lang="en-IN" sz="2400">
                    <a:solidFill>
                      <a:srgbClr val="111827"/>
                    </a:solidFill>
                    <a:latin typeface="Cambria Math" panose="02040503050406030204" pitchFamily="18" charset="0"/>
                  </a:rPr>
                  <a:t>$[\vec{x}\,\vec{y}\,\vec{r}]=3\left(-\frac{2}{3}\right)=-2$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Volume of the tetrahedron </a:t>
                </a:r>
                <a:r>
                  <a:rPr lang="en-IN" sz="2400">
                    <a:solidFill>
                      <a:srgbClr val="111827"/>
                    </a:solidFill>
                    <a:latin typeface="Cambria Math" panose="02040503050406030204" pitchFamily="18" charset="0"/>
                  </a:rPr>
                  <a:t>$=\frac{2}{6}=\frac{1}{3}=|c|$</a:t>
                </a:r>
                <a:r>
                  <a:rPr sz="2400" b="0">
                    <a:solidFill>
                      <a:srgbClr val="111827"/>
                    </a:solidFill>
                    <a:latin typeface="Arial"/>
                  </a:rPr>
                  <a:t>; the parallelepiped would have volume </a:t>
                </a:r>
                <a:r>
                  <a:rPr lang="en-IN" sz="2400">
                    <a:solidFill>
                      <a:srgbClr val="111827"/>
                    </a:solidFill>
                    <a:latin typeface="Cambria Math" panose="02040503050406030204" pitchFamily="18" charset="0"/>
                  </a:rPr>
                  <a:t>$2\neq|c|$</a:t>
                </a:r>
                <a:r>
                  <a:rPr sz="2400" b="0">
                    <a:solidFill>
                      <a:srgbClr val="111827"/>
                    </a:solidFill>
                    <a:latin typeface="Arial"/>
                  </a:rPr>
                  <a:t> and the triple product is non-zero, so they are not coplanar or collinear. Option (C).</a:t>
                </a:r>
                <a:endParaRPr sz="2400">
                  <a:solidFill>
                    <a:srgbClr val="111827"/>
                  </a:solidFill>
                </a:endParaRPr>
              </a:p>
            </p:txBody>
          </p:sp>
        </mc:Fallback>
      </mc:AlternateContent>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(C)</a:t>
            </a:r>
            <a:endParaRPr sz="2800">
              <a:solidFill>
                <a:srgbClr val="15803D"/>
              </a:solidFill>
            </a:endParaRP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39</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Volumes on three coterminous edges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oMath>
                </a14:m>
                <a:r>
                  <a:rPr sz="2400" b="0">
                    <a:solidFill>
                      <a:srgbClr val="111827"/>
                    </a:solidFill>
                    <a:latin typeface="Arial"/>
                  </a:rPr>
                  <a:t>: parallelepiped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tetrahedron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triangular prism on a base triangle spanned by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oMath>
                </a14:m>
                <a:r>
                  <a:rPr sz="2400" b="0">
                    <a:solidFill>
                      <a:srgbClr val="111827"/>
                    </a:solidFill>
                    <a:latin typeface="Arial"/>
                  </a:rPr>
                  <a:t> also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Triple product is multilinear and vanishes if two arguments are equal or proportional, so replacing a vector by a combination of others only changes the coefficient of the surviving term.</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('BAC minus CAB'); the result lies in the plane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Non-zero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means non-coplanar (so also not collinear); this eliminates options (A), (B) immediately once the value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is known.</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Volumes on three coterminous edges </a:t>
                </a:r>
                <a:r>
                  <a:rPr lang="en-IN" sz="2400">
                    <a:solidFill>
                      <a:srgbClr val="111827"/>
                    </a:solidFill>
                    <a:latin typeface="Cambria Math" panose="02040503050406030204" pitchFamily="18" charset="0"/>
                  </a:rPr>
                  <a:t>$\vec{u},\vec{v},\vec{w}$</a:t>
                </a:r>
                <a:r>
                  <a:rPr sz="2400" b="0">
                    <a:solidFill>
                      <a:srgbClr val="111827"/>
                    </a:solidFill>
                    <a:latin typeface="Arial"/>
                  </a:rPr>
                  <a:t>: parallelepiped </a:t>
                </a:r>
                <a:r>
                  <a:rPr lang="en-IN" sz="2400">
                    <a:solidFill>
                      <a:srgbClr val="111827"/>
                    </a:solidFill>
                    <a:latin typeface="Cambria Math" panose="02040503050406030204" pitchFamily="18" charset="0"/>
                  </a:rPr>
                  <a:t>$=|[\vec{u}\,\vec{v}\,\vec{w}]|$</a:t>
                </a:r>
                <a:r>
                  <a:rPr sz="2400" b="0">
                    <a:solidFill>
                      <a:srgbClr val="111827"/>
                    </a:solidFill>
                    <a:latin typeface="Arial"/>
                  </a:rPr>
                  <a:t>, tetrahedron </a:t>
                </a:r>
                <a:r>
                  <a:rPr lang="en-IN" sz="2400">
                    <a:solidFill>
                      <a:srgbClr val="111827"/>
                    </a:solidFill>
                    <a:latin typeface="Cambria Math" panose="02040503050406030204" pitchFamily="18" charset="0"/>
                  </a:rPr>
                  <a:t>$=\frac{1}{6}|[\vec{u}\,\vec{v}\,\vec{w}]|$</a:t>
                </a:r>
                <a:r>
                  <a:rPr sz="2400" b="0">
                    <a:solidFill>
                      <a:srgbClr val="111827"/>
                    </a:solidFill>
                    <a:latin typeface="Arial"/>
                  </a:rPr>
                  <a:t>, triangular prism on a base triangle spanned by </a:t>
                </a:r>
                <a:r>
                  <a:rPr lang="en-IN" sz="2400">
                    <a:solidFill>
                      <a:srgbClr val="111827"/>
                    </a:solidFill>
                    <a:latin typeface="Cambria Math" panose="02040503050406030204" pitchFamily="18" charset="0"/>
                  </a:rPr>
                  <a:t>$\vec{u},\vec{v}$</a:t>
                </a:r>
                <a:r>
                  <a:rPr sz="2400" b="0">
                    <a:solidFill>
                      <a:srgbClr val="111827"/>
                    </a:solidFill>
                    <a:latin typeface="Arial"/>
                  </a:rPr>
                  <a:t> also </a:t>
                </a:r>
                <a:r>
                  <a:rPr lang="en-IN" sz="2400">
                    <a:solidFill>
                      <a:srgbClr val="111827"/>
                    </a:solidFill>
                    <a:latin typeface="Cambria Math" panose="02040503050406030204" pitchFamily="18" charset="0"/>
                  </a:rPr>
                  <a:t>$\frac{1}{2}|[\vec{u}\,\vec{v}\,\vec{w}]|$</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Triple product is multilinear and vanishes if two arguments are equal or proportional, so replacing a vector by a combination of others only changes the coefficient of the surviving term.</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$\vec{a}\times(\vec{b}\times\vec{c})=(\vec{a}\cdot\vec{c})\vec{b}-(\vec{a}\cdot\vec{b})\vec{c}$</a:t>
                </a:r>
                <a:r>
                  <a:rPr sz="2400" b="0">
                    <a:solidFill>
                      <a:srgbClr val="111827"/>
                    </a:solidFill>
                    <a:latin typeface="Arial"/>
                  </a:rPr>
                  <a:t> ('BAC minus CAB'); the result lies in the plane of </a:t>
                </a:r>
                <a:r>
                  <a:rPr lang="en-IN" sz="2400">
                    <a:solidFill>
                      <a:srgbClr val="111827"/>
                    </a:solidFill>
                    <a:latin typeface="Cambria Math" panose="02040503050406030204" pitchFamily="18" charset="0"/>
                  </a:rPr>
                  <a:t>$\vec{b},\vec{c}$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Non-zero </a:t>
                </a:r>
                <a:r>
                  <a:rPr lang="en-IN" sz="2400">
                    <a:solidFill>
                      <a:srgbClr val="111827"/>
                    </a:solidFill>
                    <a:latin typeface="Cambria Math" panose="02040503050406030204" pitchFamily="18" charset="0"/>
                  </a:rPr>
                  <a:t>$[\vec{u}\,\vec{v}\,\vec{w}]$</a:t>
                </a:r>
                <a:r>
                  <a:rPr sz="2400" b="0">
                    <a:solidFill>
                      <a:srgbClr val="111827"/>
                    </a:solidFill>
                    <a:latin typeface="Arial"/>
                  </a:rPr>
                  <a:t> means non-coplanar (so also not collinear); this eliminates options (A), (B) immediately once the value </a:t>
                </a:r>
                <a:r>
                  <a:rPr lang="en-IN" sz="2400">
                    <a:solidFill>
                      <a:srgbClr val="111827"/>
                    </a:solidFill>
                    <a:latin typeface="Cambria Math" panose="02040503050406030204" pitchFamily="18" charset="0"/>
                  </a:rPr>
                  <a:t>$-2$</a:t>
                </a:r>
                <a:r>
                  <a:rPr sz="2400" b="0">
                    <a:solidFill>
                      <a:srgbClr val="111827"/>
                    </a:solidFill>
                    <a:latin typeface="Arial"/>
                  </a:rPr>
                  <a:t> is known.</a:t>
                </a:r>
                <a:endParaRPr sz="2400">
                  <a:solidFill>
                    <a:srgbClr val="111827"/>
                  </a:solidFill>
                </a:endParaRPr>
              </a:p>
            </p:txBody>
          </p:sp>
        </mc:Fallback>
      </mc:AlternateContent>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Suppose the three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on a plane satisfy the condition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is perpendicular to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Find the angle formed by </a:t>
                </a:r>
                <a14:m>
                  <m:oMath xmlns:m="http://schemas.openxmlformats.org/officeDocument/2006/math">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44348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Suppose the three vectors </a:t>
                </a:r>
                <a:r>
                  <a:rPr lang="en-IN" sz="2400">
                    <a:solidFill>
                      <a:srgbClr val="111827"/>
                    </a:solidFill>
                    <a:latin typeface="Cambria Math" panose="02040503050406030204" pitchFamily="18" charset="0"/>
                  </a:rPr>
                  <a:t>$\vec{a},\vec{b},\vec{c}$</a:t>
                </a:r>
                <a:r>
                  <a:rPr sz="2400" b="0">
                    <a:solidFill>
                      <a:srgbClr val="111827"/>
                    </a:solidFill>
                    <a:latin typeface="Arial"/>
                  </a:rPr>
                  <a:t> on a plane satisfy the condition </a:t>
                </a:r>
                <a:r>
                  <a:rPr lang="en-IN" sz="2400">
                    <a:solidFill>
                      <a:srgbClr val="111827"/>
                    </a:solidFill>
                    <a:latin typeface="Cambria Math" panose="02040503050406030204" pitchFamily="18" charset="0"/>
                  </a:rPr>
                  <a:t>$|\vec{a}|=|\vec{b}|=|\vec{c}|=|\vec{a}+\vec{b}|=1$</a:t>
                </a:r>
                <a:r>
                  <a:rPr sz="2400" b="0">
                    <a:solidFill>
                      <a:srgbClr val="111827"/>
                    </a:solidFill>
                    <a:latin typeface="Arial"/>
                  </a:rPr>
                  <a:t>; </a:t>
                </a:r>
                <a:r>
                  <a:rPr lang="en-IN" sz="2400">
                    <a:solidFill>
                      <a:srgbClr val="111827"/>
                    </a:solidFill>
                    <a:latin typeface="Cambria Math" panose="02040503050406030204" pitchFamily="18" charset="0"/>
                  </a:rPr>
                  <a:t>$\vec{c}$</a:t>
                </a:r>
                <a:r>
                  <a:rPr sz="2400" b="0">
                    <a:solidFill>
                      <a:srgbClr val="111827"/>
                    </a:solidFill>
                    <a:latin typeface="Arial"/>
                  </a:rPr>
                  <a:t> is perpendicular to </a:t>
                </a:r>
                <a:r>
                  <a:rPr lang="en-IN" sz="2400">
                    <a:solidFill>
                      <a:srgbClr val="111827"/>
                    </a:solidFill>
                    <a:latin typeface="Cambria Math" panose="02040503050406030204" pitchFamily="18" charset="0"/>
                  </a:rPr>
                  <a:t>$\vec{a}$</a:t>
                </a:r>
                <a:r>
                  <a:rPr sz="2400" b="0">
                    <a:solidFill>
                      <a:srgbClr val="111827"/>
                    </a:solidFill>
                    <a:latin typeface="Arial"/>
                  </a:rPr>
                  <a:t> and </a:t>
                </a:r>
                <a:r>
                  <a:rPr lang="en-IN" sz="2400">
                    <a:solidFill>
                      <a:srgbClr val="111827"/>
                    </a:solidFill>
                    <a:latin typeface="Cambria Math" panose="02040503050406030204" pitchFamily="18" charset="0"/>
                  </a:rPr>
                  <a:t>$\vec{b}\cdot\vec{c}&gt;0$</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Find the angle formed by </a:t>
                </a:r>
                <a:r>
                  <a:rPr lang="en-IN" sz="2400">
                    <a:solidFill>
                      <a:srgbClr val="111827"/>
                    </a:solidFill>
                    <a:latin typeface="Cambria Math" panose="02040503050406030204" pitchFamily="18" charset="0"/>
                  </a:rPr>
                  <a:t>$2\vec{a}+\vec{b}$</a:t>
                </a:r>
                <a:r>
                  <a:rPr sz="2400" b="0">
                    <a:solidFill>
                      <a:srgbClr val="111827"/>
                    </a:solidFill>
                    <a:latin typeface="Arial"/>
                  </a:rPr>
                  <a:t> and </a:t>
                </a:r>
                <a:r>
                  <a:rPr lang="en-IN" sz="2400">
                    <a:solidFill>
                      <a:srgbClr val="111827"/>
                    </a:solidFill>
                    <a:latin typeface="Cambria Math" panose="02040503050406030204" pitchFamily="18" charset="0"/>
                  </a:rPr>
                  <a:t>$\vec{b}$</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3952239"/>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Angle between vectors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with unit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oMath>
                </a14:m>
                <a:r>
                  <a:rPr sz="2400" b="0">
                    <a:solidFill>
                      <a:srgbClr val="78350F"/>
                    </a:solidFill>
                    <a:latin typeface="Arial"/>
                  </a:rPr>
                  <a:t> forces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den>
                    </m:f>
                  </m:oMath>
                </a14:m>
                <a:r>
                  <a:rPr sz="2400" b="0">
                    <a:solidFill>
                      <a:srgbClr val="78350F"/>
                    </a:solidFill>
                    <a:latin typeface="Arial"/>
                  </a:rPr>
                  <a:t>, which makes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$|\vec{a}+\vec{b}|=1$</a:t>
                </a:r>
                <a:r>
                  <a:rPr sz="2400" b="0">
                    <a:solidFill>
                      <a:srgbClr val="78350F"/>
                    </a:solidFill>
                    <a:latin typeface="Arial"/>
                  </a:rPr>
                  <a:t> with unit </a:t>
                </a:r>
                <a:r>
                  <a:rPr lang="en-IN" sz="2400">
                    <a:solidFill>
                      <a:srgbClr val="78350F"/>
                    </a:solidFill>
                    <a:latin typeface="Cambria Math" panose="02040503050406030204" pitchFamily="18" charset="0"/>
                  </a:rPr>
                  <a:t>$\vec{a},\vec{b}$</a:t>
                </a:r>
                <a:r>
                  <a:rPr sz="2400" b="0">
                    <a:solidFill>
                      <a:srgbClr val="78350F"/>
                    </a:solidFill>
                    <a:latin typeface="Arial"/>
                  </a:rPr>
                  <a:t> forces </a:t>
                </a:r>
                <a:r>
                  <a:rPr lang="en-IN" sz="2400">
                    <a:solidFill>
                      <a:srgbClr val="78350F"/>
                    </a:solidFill>
                    <a:latin typeface="Cambria Math" panose="02040503050406030204" pitchFamily="18" charset="0"/>
                  </a:rPr>
                  <a:t>$\vec{a}\cdot\vec{b}=-\frac{1}{2}$</a:t>
                </a:r>
                <a:r>
                  <a:rPr sz="2400" b="0">
                    <a:solidFill>
                      <a:srgbClr val="78350F"/>
                    </a:solidFill>
                    <a:latin typeface="Arial"/>
                  </a:rPr>
                  <a:t>, which makes </a:t>
                </a:r>
                <a:r>
                  <a:rPr lang="en-IN" sz="2400">
                    <a:solidFill>
                      <a:srgbClr val="78350F"/>
                    </a:solidFill>
                    <a:latin typeface="Cambria Math" panose="02040503050406030204" pitchFamily="18" charset="0"/>
                  </a:rPr>
                  <a:t>$\vec{b}\cdot(2\vec{a}+\vec{b})=0$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with angle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gives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$|\vec{a}|=|\vec{b}|=1$</a:t>
                </a:r>
                <a:r>
                  <a:rPr sz="2400" b="0">
                    <a:solidFill>
                      <a:srgbClr val="111827"/>
                    </a:solidFill>
                    <a:latin typeface="Arial"/>
                  </a:rPr>
                  <a:t> and </a:t>
                </a:r>
                <a:r>
                  <a:rPr lang="en-IN" sz="2400">
                    <a:solidFill>
                      <a:srgbClr val="111827"/>
                    </a:solidFill>
                    <a:latin typeface="Cambria Math" panose="02040503050406030204" pitchFamily="18" charset="0"/>
                  </a:rPr>
                  <a:t>$|\vec{a}+\vec{b}|=1$</a:t>
                </a:r>
                <a:r>
                  <a:rPr sz="2400" b="0">
                    <a:solidFill>
                      <a:srgbClr val="111827"/>
                    </a:solidFill>
                    <a:latin typeface="Arial"/>
                  </a:rPr>
                  <a:t>, so with angle </a:t>
                </a:r>
                <a:r>
                  <a:rPr lang="en-IN" sz="2400">
                    <a:solidFill>
                      <a:srgbClr val="111827"/>
                    </a:solidFill>
                    <a:latin typeface="Cambria Math" panose="02040503050406030204" pitchFamily="18" charset="0"/>
                  </a:rPr>
                  <a:t>$\theta$</a:t>
                </a:r>
                <a:r>
                  <a:rPr sz="2400" b="0">
                    <a:solidFill>
                      <a:srgbClr val="111827"/>
                    </a:solidFill>
                    <a:latin typeface="Arial"/>
                  </a:rPr>
                  <a:t> between </a:t>
                </a:r>
                <a:r>
                  <a:rPr lang="en-IN" sz="2400">
                    <a:solidFill>
                      <a:srgbClr val="111827"/>
                    </a:solidFill>
                    <a:latin typeface="Cambria Math" panose="02040503050406030204" pitchFamily="18" charset="0"/>
                  </a:rPr>
                  <a:t>$\vec{a}$</a:t>
                </a:r>
                <a:r>
                  <a:rPr sz="2400" b="0">
                    <a:solidFill>
                      <a:srgbClr val="111827"/>
                    </a:solidFill>
                    <a:latin typeface="Arial"/>
                  </a:rPr>
                  <a:t> and </a:t>
                </a:r>
                <a:r>
                  <a:rPr lang="en-IN" sz="2400">
                    <a:solidFill>
                      <a:srgbClr val="111827"/>
                    </a:solidFill>
                    <a:latin typeface="Cambria Math" panose="02040503050406030204" pitchFamily="18" charset="0"/>
                  </a:rPr>
                  <a:t>$\vec{b}$</a:t>
                </a:r>
                <a:r>
                  <a:rPr sz="2400" b="0">
                    <a:solidFill>
                      <a:srgbClr val="111827"/>
                    </a:solidFill>
                    <a:latin typeface="Arial"/>
                  </a:rPr>
                  <a:t>: </a:t>
                </a:r>
                <a:r>
                  <a:rPr lang="en-IN" sz="2400">
                    <a:solidFill>
                      <a:srgbClr val="111827"/>
                    </a:solidFill>
                    <a:latin typeface="Cambria Math" panose="02040503050406030204" pitchFamily="18" charset="0"/>
                  </a:rPr>
                  <a:t>$|\vec{a}+\vec{b}|^2=a^2+b^2+2ab\cos\theta=1$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This gives </a:t>
                </a:r>
                <a:r>
                  <a:rPr lang="en-IN" sz="2400">
                    <a:solidFill>
                      <a:srgbClr val="111827"/>
                    </a:solidFill>
                    <a:latin typeface="Cambria Math" panose="02040503050406030204" pitchFamily="18" charset="0"/>
                  </a:rPr>
                  <a:t>$2+2\cos\theta=1$</a:t>
                </a:r>
                <a:r>
                  <a:rPr sz="2400" b="0">
                    <a:solidFill>
                      <a:srgbClr val="111827"/>
                    </a:solidFill>
                    <a:latin typeface="Arial"/>
                  </a:rPr>
                  <a:t>, so </a:t>
                </a:r>
                <a:r>
                  <a:rPr lang="en-IN" sz="2400">
                    <a:solidFill>
                      <a:srgbClr val="111827"/>
                    </a:solidFill>
                    <a:latin typeface="Cambria Math" panose="02040503050406030204" pitchFamily="18" charset="0"/>
                  </a:rPr>
                  <a:t>$\cos\theta=-\frac{1}{2}$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$\vec{a}\cdot\vec{b}=-\frac{1}{2}$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r>
                      <a:rPr lang="en-IN" sz="2400" i="1">
                        <a:solidFill>
                          <a:srgbClr val="111827"/>
                        </a:solidFill>
                        <a:latin typeface="Cambria Math" panose="02040503050406030204" pitchFamily="18" charset="0"/>
                      </a:rPr>
                      <m:t>ϕ</m:t>
                    </m:r>
                  </m:oMath>
                </a14:m>
                <a:r>
                  <a:rPr sz="2400" b="0">
                    <a:solidFill>
                      <a:srgbClr val="111827"/>
                    </a:solidFill>
                    <a:latin typeface="Arial"/>
                  </a:rPr>
                  <a:t> be the angle between </a:t>
                </a:r>
                <a14:m>
                  <m:oMath xmlns:m="http://schemas.openxmlformats.org/officeDocument/2006/math">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numerator is </a:t>
                </a:r>
                <a14:m>
                  <m:oMath xmlns:m="http://schemas.openxmlformats.org/officeDocument/2006/math">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the denominator is non-zero: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ϕ</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$\phi$</a:t>
                </a:r>
                <a:r>
                  <a:rPr sz="2400" b="0">
                    <a:solidFill>
                      <a:srgbClr val="111827"/>
                    </a:solidFill>
                    <a:latin typeface="Arial"/>
                  </a:rPr>
                  <a:t> be the angle between </a:t>
                </a:r>
                <a:r>
                  <a:rPr lang="en-IN" sz="2400">
                    <a:solidFill>
                      <a:srgbClr val="111827"/>
                    </a:solidFill>
                    <a:latin typeface="Cambria Math" panose="02040503050406030204" pitchFamily="18" charset="0"/>
                  </a:rPr>
                  <a:t>$2\vec{a}+\vec{b}$</a:t>
                </a:r>
                <a:r>
                  <a:rPr sz="2400" b="0">
                    <a:solidFill>
                      <a:srgbClr val="111827"/>
                    </a:solidFill>
                    <a:latin typeface="Arial"/>
                  </a:rPr>
                  <a:t> and </a:t>
                </a:r>
                <a:r>
                  <a:rPr lang="en-IN" sz="2400">
                    <a:solidFill>
                      <a:srgbClr val="111827"/>
                    </a:solidFill>
                    <a:latin typeface="Cambria Math" panose="02040503050406030204" pitchFamily="18" charset="0"/>
                  </a:rPr>
                  <a:t>$\vec{b}$</a:t>
                </a:r>
                <a:r>
                  <a:rPr sz="2400" b="0">
                    <a:solidFill>
                      <a:srgbClr val="111827"/>
                    </a:solidFill>
                    <a:latin typeface="Arial"/>
                  </a:rPr>
                  <a:t>: </a:t>
                </a:r>
                <a:r>
                  <a:rPr lang="en-IN" sz="2400">
                    <a:solidFill>
                      <a:srgbClr val="111827"/>
                    </a:solidFill>
                    <a:latin typeface="Cambria Math" panose="02040503050406030204" pitchFamily="18" charset="0"/>
                  </a:rPr>
                  <a:t>$\cos\phi=\frac{\vec{b}\cdot(2\vec{a}+\vec{b})}{|\vec{b}||2\vec{a}+\vec{b}|}$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numerator is </a:t>
                </a:r>
                <a:r>
                  <a:rPr lang="en-IN" sz="2400">
                    <a:solidFill>
                      <a:srgbClr val="111827"/>
                    </a:solidFill>
                    <a:latin typeface="Cambria Math" panose="02040503050406030204" pitchFamily="18" charset="0"/>
                  </a:rPr>
                  <a:t>$2\vec{a}\cdot\vec{b}+|\vec{b}|^2=-1+1=0$</a:t>
                </a:r>
                <a:r>
                  <a:rPr sz="2400" b="0">
                    <a:solidFill>
                      <a:srgbClr val="111827"/>
                    </a:solidFill>
                    <a:latin typeface="Arial"/>
                  </a:rPr>
                  <a:t> (and the denominator is non-zero: </a:t>
                </a:r>
                <a:r>
                  <a:rPr lang="en-IN" sz="2400">
                    <a:solidFill>
                      <a:srgbClr val="111827"/>
                    </a:solidFill>
                    <a:latin typeface="Cambria Math" panose="02040503050406030204" pitchFamily="18" charset="0"/>
                  </a:rPr>
                  <a:t>$|2\vec{a}+\vec{b}|^2=4+1-2=3$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$\cos\phi=0$</a:t>
                </a:r>
                <a:r>
                  <a:rPr sz="2400" b="0">
                    <a:solidFill>
                      <a:srgbClr val="111827"/>
                    </a:solidFill>
                    <a:latin typeface="Arial"/>
                  </a:rPr>
                  <a:t> and </a:t>
                </a:r>
                <a:r>
                  <a:rPr lang="en-IN" sz="2400">
                    <a:solidFill>
                      <a:srgbClr val="111827"/>
                    </a:solidFill>
                    <a:latin typeface="Cambria Math" panose="02040503050406030204" pitchFamily="18" charset="0"/>
                  </a:rPr>
                  <a:t>$\phi=\frac{\pi}{2}$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$\frac{\pi}{2}$</a:t>
                </a:r>
                <a:endParaRPr sz="2800">
                  <a:solidFill>
                    <a:srgbClr val="15803D"/>
                  </a:solidFill>
                </a:endParaRPr>
              </a:p>
            </p:txBody>
          </p:sp>
        </mc:Fallback>
      </mc:AlternateContent>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Rhombus: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oMath>
                </a14:m>
                <a:r>
                  <a:rPr sz="2400" b="0">
                    <a:solidFill>
                      <a:srgbClr val="78350F"/>
                    </a:solidFill>
                    <a:latin typeface="Arial"/>
                  </a:rPr>
                  <a:t> and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oMath>
                </a14:m>
                <a:r>
                  <a:rPr sz="2400" b="0">
                    <a:solidFill>
                      <a:srgbClr val="78350F"/>
                    </a:solidFill>
                    <a:latin typeface="Arial"/>
                  </a:rPr>
                  <a:t> are unit vectors at </a:t>
                </a:r>
                <a14:m>
                  <m:oMath xmlns:m="http://schemas.openxmlformats.org/officeDocument/2006/math">
                    <m:sSup>
                      <m:e>
                        <m:r>
                          <a:rPr lang="en-IN" sz="2400" i="1">
                            <a:solidFill>
                              <a:srgbClr val="78350F"/>
                            </a:solidFill>
                            <a:latin typeface="Cambria Math" panose="02040503050406030204" pitchFamily="18" charset="0"/>
                          </a:rPr>
                          <m:t>60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and </a:t>
                </a:r>
                <a14:m>
                  <m:oMath xmlns:m="http://schemas.openxmlformats.org/officeDocument/2006/math">
                    <m:r>
                      <a:rPr lang="en-IN" sz="2400" i="1">
                        <a:solidFill>
                          <a:srgbClr val="78350F"/>
                        </a:solidFill>
                        <a:latin typeface="Cambria Math" panose="02040503050406030204" pitchFamily="18" charset="0"/>
                      </a:rPr>
                      <m:t>2</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oMath>
                </a14:m>
                <a:r>
                  <a:rPr sz="2400" b="0">
                    <a:solidFill>
                      <a:srgbClr val="78350F"/>
                    </a:solidFill>
                    <a:latin typeface="Arial"/>
                  </a:rPr>
                  <a:t>,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oMath>
                </a14:m>
                <a:r>
                  <a:rPr sz="2400" b="0">
                    <a:solidFill>
                      <a:srgbClr val="78350F"/>
                    </a:solidFill>
                    <a:latin typeface="Arial"/>
                  </a:rPr>
                  <a:t> are the two diagonals of the rhombus they span.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Rhombus: </a:t>
                </a:r>
                <a:r>
                  <a:rPr lang="en-IN" sz="2400">
                    <a:solidFill>
                      <a:srgbClr val="78350F"/>
                    </a:solidFill>
                    <a:latin typeface="Cambria Math" panose="02040503050406030204" pitchFamily="18" charset="0"/>
                  </a:rPr>
                  <a:t>$\vec{a}$</a:t>
                </a:r>
                <a:r>
                  <a:rPr sz="2400" b="0">
                    <a:solidFill>
                      <a:srgbClr val="78350F"/>
                    </a:solidFill>
                    <a:latin typeface="Arial"/>
                  </a:rPr>
                  <a:t> and </a:t>
                </a:r>
                <a:r>
                  <a:rPr lang="en-IN" sz="2400">
                    <a:solidFill>
                      <a:srgbClr val="78350F"/>
                    </a:solidFill>
                    <a:latin typeface="Cambria Math" panose="02040503050406030204" pitchFamily="18" charset="0"/>
                  </a:rPr>
                  <a:t>$\vec{a}+\vec{b}$</a:t>
                </a:r>
                <a:r>
                  <a:rPr sz="2400" b="0">
                    <a:solidFill>
                      <a:srgbClr val="78350F"/>
                    </a:solidFill>
                    <a:latin typeface="Arial"/>
                  </a:rPr>
                  <a:t> are unit vectors at </a:t>
                </a:r>
                <a:r>
                  <a:rPr lang="en-IN" sz="2400">
                    <a:solidFill>
                      <a:srgbClr val="78350F"/>
                    </a:solidFill>
                    <a:latin typeface="Cambria Math" panose="02040503050406030204" pitchFamily="18" charset="0"/>
                  </a:rPr>
                  <a:t>$60^\circ$</a:t>
                </a:r>
                <a:r>
                  <a:rPr sz="2400" b="0">
                    <a:solidFill>
                      <a:srgbClr val="78350F"/>
                    </a:solidFill>
                    <a:latin typeface="Arial"/>
                  </a:rPr>
                  <a:t>, and </a:t>
                </a:r>
                <a:r>
                  <a:rPr lang="en-IN" sz="2400">
                    <a:solidFill>
                      <a:srgbClr val="78350F"/>
                    </a:solidFill>
                    <a:latin typeface="Cambria Math" panose="02040503050406030204" pitchFamily="18" charset="0"/>
                  </a:rPr>
                  <a:t>$2\vec{a}+\vec{b}$</a:t>
                </a:r>
                <a:r>
                  <a:rPr sz="2400" b="0">
                    <a:solidFill>
                      <a:srgbClr val="78350F"/>
                    </a:solidFill>
                    <a:latin typeface="Arial"/>
                  </a:rPr>
                  <a:t>, </a:t>
                </a:r>
                <a:r>
                  <a:rPr lang="en-IN" sz="2400">
                    <a:solidFill>
                      <a:srgbClr val="78350F"/>
                    </a:solidFill>
                    <a:latin typeface="Cambria Math" panose="02040503050406030204" pitchFamily="18" charset="0"/>
                  </a:rPr>
                  <a:t>$\vec{b}$</a:t>
                </a:r>
                <a:r>
                  <a:rPr sz="2400" b="0">
                    <a:solidFill>
                      <a:srgbClr val="78350F"/>
                    </a:solidFill>
                    <a:latin typeface="Arial"/>
                  </a:rPr>
                  <a:t> are the two diagonals of the rhombus they span.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the unit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make an angle of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They are adjacent sides of a rhombus (all sides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$\vec{a}\cdot(\vec{a}+\vec{b})=1-\frac{1}{2}=\frac{1}{2}$</a:t>
                </a:r>
                <a:r>
                  <a:rPr sz="2400" b="0">
                    <a:solidFill>
                      <a:srgbClr val="111827"/>
                    </a:solidFill>
                    <a:latin typeface="Arial"/>
                  </a:rPr>
                  <a:t>, so the unit vectors </a:t>
                </a:r>
                <a:r>
                  <a:rPr lang="en-IN" sz="2400">
                    <a:solidFill>
                      <a:srgbClr val="111827"/>
                    </a:solidFill>
                    <a:latin typeface="Cambria Math" panose="02040503050406030204" pitchFamily="18" charset="0"/>
                  </a:rPr>
                  <a:t>$\vec{a}$</a:t>
                </a:r>
                <a:r>
                  <a:rPr sz="2400" b="0">
                    <a:solidFill>
                      <a:srgbClr val="111827"/>
                    </a:solidFill>
                    <a:latin typeface="Arial"/>
                  </a:rPr>
                  <a:t> and </a:t>
                </a:r>
                <a:r>
                  <a:rPr lang="en-IN" sz="2400">
                    <a:solidFill>
                      <a:srgbClr val="111827"/>
                    </a:solidFill>
                    <a:latin typeface="Cambria Math" panose="02040503050406030204" pitchFamily="18" charset="0"/>
                  </a:rPr>
                  <a:t>$\vec{a}+\vec{b}$</a:t>
                </a:r>
                <a:r>
                  <a:rPr sz="2400" b="0">
                    <a:solidFill>
                      <a:srgbClr val="111827"/>
                    </a:solidFill>
                    <a:latin typeface="Arial"/>
                  </a:rPr>
                  <a:t> make an angle of </a:t>
                </a:r>
                <a:r>
                  <a:rPr lang="en-IN" sz="2400">
                    <a:solidFill>
                      <a:srgbClr val="111827"/>
                    </a:solidFill>
                    <a:latin typeface="Cambria Math" panose="02040503050406030204" pitchFamily="18" charset="0"/>
                  </a:rPr>
                  <a:t>$60^\circ$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They are adjacent sides of a rhombus (all sides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Its diagonals are the sum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and the difference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Diagonals of a rhombus are perpendicular, so the angle between </a:t>
                </a:r>
                <a14:m>
                  <m:oMath xmlns:m="http://schemas.openxmlformats.org/officeDocument/2006/math">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Its diagonals are the sum </a:t>
                </a:r>
                <a:r>
                  <a:rPr lang="en-IN" sz="2400">
                    <a:solidFill>
                      <a:srgbClr val="111827"/>
                    </a:solidFill>
                    <a:latin typeface="Cambria Math" panose="02040503050406030204" pitchFamily="18" charset="0"/>
                  </a:rPr>
                  <a:t>$\vec{a}+(\vec{a}+\vec{b})=2\vec{a}+\vec{b}$</a:t>
                </a:r>
                <a:r>
                  <a:rPr sz="2400" b="0">
                    <a:solidFill>
                      <a:srgbClr val="111827"/>
                    </a:solidFill>
                    <a:latin typeface="Arial"/>
                  </a:rPr>
                  <a:t> and the difference </a:t>
                </a:r>
                <a:r>
                  <a:rPr lang="en-IN" sz="2400">
                    <a:solidFill>
                      <a:srgbClr val="111827"/>
                    </a:solidFill>
                    <a:latin typeface="Cambria Math" panose="02040503050406030204" pitchFamily="18" charset="0"/>
                  </a:rPr>
                  <a:t>$(\vec{a}+\vec{b})-\vec{a}=\vec{b}$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Diagonals of a rhombus are perpendicular, so the angle between </a:t>
                </a:r>
                <a:r>
                  <a:rPr lang="en-IN" sz="2400">
                    <a:solidFill>
                      <a:srgbClr val="111827"/>
                    </a:solidFill>
                    <a:latin typeface="Cambria Math" panose="02040503050406030204" pitchFamily="18" charset="0"/>
                  </a:rPr>
                  <a:t>$2\vec{a}+\vec{b}$</a:t>
                </a:r>
                <a:r>
                  <a:rPr sz="2400" b="0">
                    <a:solidFill>
                      <a:srgbClr val="111827"/>
                    </a:solidFill>
                    <a:latin typeface="Arial"/>
                  </a:rPr>
                  <a:t> and </a:t>
                </a:r>
                <a:r>
                  <a:rPr lang="en-IN" sz="2400">
                    <a:solidFill>
                      <a:srgbClr val="111827"/>
                    </a:solidFill>
                    <a:latin typeface="Cambria Math" panose="02040503050406030204" pitchFamily="18" charset="0"/>
                  </a:rPr>
                  <a:t>$\vec{b}$</a:t>
                </a:r>
                <a:r>
                  <a:rPr sz="2400" b="0">
                    <a:solidFill>
                      <a:srgbClr val="111827"/>
                    </a:solidFill>
                    <a:latin typeface="Arial"/>
                  </a:rPr>
                  <a:t> is </a:t>
                </a:r>
                <a:r>
                  <a:rPr lang="en-IN" sz="2400">
                    <a:solidFill>
                      <a:srgbClr val="111827"/>
                    </a:solidFill>
                    <a:latin typeface="Cambria Math" panose="02040503050406030204" pitchFamily="18" charset="0"/>
                  </a:rPr>
                  <a:t>$\frac{\pi}{2}$</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π</m:t>
                        </m:r>
                      </m:num>
                      <m:den>
                        <m:r>
                          <a:rPr lang="en-IN" sz="2800" i="1">
                            <a:solidFill>
                              <a:srgbClr val="15803D"/>
                            </a:solidFill>
                            <a:latin typeface="Cambria Math" panose="02040503050406030204" pitchFamily="18" charset="0"/>
                          </a:rPr>
                          <m:t>2</m:t>
                        </m:r>
                      </m:den>
                    </m:f>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$\frac{\pi}{2}$</a:t>
                </a:r>
                <a:endParaRPr sz="2800">
                  <a:solidFill>
                    <a:srgbClr val="15803D"/>
                  </a:solidFill>
                </a:endParaRPr>
              </a:p>
            </p:txBody>
          </p:sp>
        </mc:Fallback>
      </mc:AlternateContent>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40</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unit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angle </a:t>
                </a:r>
                <a14:m>
                  <m:oMath xmlns:m="http://schemas.openxmlformats.org/officeDocument/2006/math">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then also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(rhombus diagonals); here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are both unit.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More generally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unit vectors </a:t>
                </a:r>
                <a:r>
                  <a:rPr lang="en-IN" sz="2400">
                    <a:solidFill>
                      <a:srgbClr val="111827"/>
                    </a:solidFill>
                    <a:latin typeface="Cambria Math" panose="02040503050406030204" pitchFamily="18" charset="0"/>
                  </a:rPr>
                  <a:t>$\vec{a},\vec{b}$</a:t>
                </a:r>
                <a:r>
                  <a:rPr sz="2400" b="0">
                    <a:solidFill>
                      <a:srgbClr val="111827"/>
                    </a:solidFill>
                    <a:latin typeface="Arial"/>
                  </a:rPr>
                  <a:t>: </a:t>
                </a:r>
                <a:r>
                  <a:rPr lang="en-IN" sz="2400">
                    <a:solidFill>
                      <a:srgbClr val="111827"/>
                    </a:solidFill>
                    <a:latin typeface="Cambria Math" panose="02040503050406030204" pitchFamily="18" charset="0"/>
                  </a:rPr>
                  <a:t>$|\vec{a}+\vec{b}|=1\iff\vec{a}\cdot\vec{b}=-\frac{1}{2}\iff$</a:t>
                </a:r>
                <a:r>
                  <a:rPr sz="2400" b="0">
                    <a:solidFill>
                      <a:srgbClr val="111827"/>
                    </a:solidFill>
                    <a:latin typeface="Arial"/>
                  </a:rPr>
                  <a:t> angle </a:t>
                </a:r>
                <a:r>
                  <a:rPr lang="en-IN" sz="2400">
                    <a:solidFill>
                      <a:srgbClr val="111827"/>
                    </a:solidFill>
                    <a:latin typeface="Cambria Math" panose="02040503050406030204" pitchFamily="18" charset="0"/>
                  </a:rPr>
                  <a:t>$120^\circ$</a:t>
                </a:r>
                <a:r>
                  <a:rPr sz="2400" b="0">
                    <a:solidFill>
                      <a:srgbClr val="111827"/>
                    </a:solidFill>
                    <a:latin typeface="Arial"/>
                  </a:rPr>
                  <a:t>; then also </a:t>
                </a:r>
                <a:r>
                  <a:rPr lang="en-IN" sz="2400">
                    <a:solidFill>
                      <a:srgbClr val="111827"/>
                    </a:solidFill>
                    <a:latin typeface="Cambria Math" panose="02040503050406030204" pitchFamily="18" charset="0"/>
                  </a:rPr>
                  <a:t>$|\vec{a}-\vec{b}|=\sqrt{3}$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$(\vec{u}+\vec{v})\perp(\vec{u}-\vec{v})\iff|\vec{u}|=|\vec{v}|$</a:t>
                </a:r>
                <a:r>
                  <a:rPr sz="2400" b="0">
                    <a:solidFill>
                      <a:srgbClr val="111827"/>
                    </a:solidFill>
                    <a:latin typeface="Arial"/>
                  </a:rPr>
                  <a:t> (rhombus diagonals); here </a:t>
                </a:r>
                <a:r>
                  <a:rPr lang="en-IN" sz="2400">
                    <a:solidFill>
                      <a:srgbClr val="111827"/>
                    </a:solidFill>
                    <a:latin typeface="Cambria Math" panose="02040503050406030204" pitchFamily="18" charset="0"/>
                  </a:rPr>
                  <a:t>$\vec{u}=\vec{a}+\vec{b}$</a:t>
                </a:r>
                <a:r>
                  <a:rPr sz="2400" b="0">
                    <a:solidFill>
                      <a:srgbClr val="111827"/>
                    </a:solidFill>
                    <a:latin typeface="Arial"/>
                  </a:rPr>
                  <a:t>, </a:t>
                </a:r>
                <a:r>
                  <a:rPr lang="en-IN" sz="2400">
                    <a:solidFill>
                      <a:srgbClr val="111827"/>
                    </a:solidFill>
                    <a:latin typeface="Cambria Math" panose="02040503050406030204" pitchFamily="18" charset="0"/>
                  </a:rPr>
                  <a:t>$\vec{v}=\vec{a}$</a:t>
                </a:r>
                <a:r>
                  <a:rPr sz="2400" b="0">
                    <a:solidFill>
                      <a:srgbClr val="111827"/>
                    </a:solidFill>
                    <a:latin typeface="Arial"/>
                  </a:rPr>
                  <a:t> are both unit.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More generally </a:t>
                </a:r>
                <a:r>
                  <a:rPr lang="en-IN" sz="2400">
                    <a:solidFill>
                      <a:srgbClr val="111827"/>
                    </a:solidFill>
                    <a:latin typeface="Cambria Math" panose="02040503050406030204" pitchFamily="18" charset="0"/>
                  </a:rPr>
                  <a:t>$(2\vec{a}+\vec{b})\perp\vec{b}\iff\vec{a}\cdot\vec{b}=-\frac{|\vec{b}|^2}{2}$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31871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Suppose the three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on a plane satisfy the condition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is perpendicular to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If the vector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is expressed as a linear combination </a:t>
                </a:r>
                <a14:m>
                  <m:oMath xmlns:m="http://schemas.openxmlformats.org/officeDocument/2006/math">
                    <m:r>
                      <a:rPr lang="en-IN" sz="2400" i="1">
                        <a:solidFill>
                          <a:srgbClr val="111827"/>
                        </a:solidFill>
                        <a:latin typeface="Cambria Math" panose="02040503050406030204" pitchFamily="18" charset="0"/>
                      </a:rPr>
                      <m:t>λ</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then find the ordered pair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318719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Suppose the three vectors </a:t>
                </a:r>
                <a:r>
                  <a:rPr lang="en-IN" sz="2400">
                    <a:solidFill>
                      <a:srgbClr val="111827"/>
                    </a:solidFill>
                    <a:latin typeface="Cambria Math" panose="02040503050406030204" pitchFamily="18" charset="0"/>
                  </a:rPr>
                  <a:t>$\vec{a},\vec{b},\vec{c}$</a:t>
                </a:r>
                <a:r>
                  <a:rPr sz="2400" b="0">
                    <a:solidFill>
                      <a:srgbClr val="111827"/>
                    </a:solidFill>
                    <a:latin typeface="Arial"/>
                  </a:rPr>
                  <a:t> on a plane satisfy the condition </a:t>
                </a:r>
                <a:r>
                  <a:rPr lang="en-IN" sz="2400">
                    <a:solidFill>
                      <a:srgbClr val="111827"/>
                    </a:solidFill>
                    <a:latin typeface="Cambria Math" panose="02040503050406030204" pitchFamily="18" charset="0"/>
                  </a:rPr>
                  <a:t>$|\vec{a}|=|\vec{b}|=|\vec{c}|=|\vec{a}+\vec{b}|=1$</a:t>
                </a:r>
                <a:r>
                  <a:rPr sz="2400" b="0">
                    <a:solidFill>
                      <a:srgbClr val="111827"/>
                    </a:solidFill>
                    <a:latin typeface="Arial"/>
                  </a:rPr>
                  <a:t>; </a:t>
                </a:r>
                <a:r>
                  <a:rPr lang="en-IN" sz="2400">
                    <a:solidFill>
                      <a:srgbClr val="111827"/>
                    </a:solidFill>
                    <a:latin typeface="Cambria Math" panose="02040503050406030204" pitchFamily="18" charset="0"/>
                  </a:rPr>
                  <a:t>$\vec{c}$</a:t>
                </a:r>
                <a:r>
                  <a:rPr sz="2400" b="0">
                    <a:solidFill>
                      <a:srgbClr val="111827"/>
                    </a:solidFill>
                    <a:latin typeface="Arial"/>
                  </a:rPr>
                  <a:t> is perpendicular to </a:t>
                </a:r>
                <a:r>
                  <a:rPr lang="en-IN" sz="2400">
                    <a:solidFill>
                      <a:srgbClr val="111827"/>
                    </a:solidFill>
                    <a:latin typeface="Cambria Math" panose="02040503050406030204" pitchFamily="18" charset="0"/>
                  </a:rPr>
                  <a:t>$\vec{a}$</a:t>
                </a:r>
                <a:r>
                  <a:rPr sz="2400" b="0">
                    <a:solidFill>
                      <a:srgbClr val="111827"/>
                    </a:solidFill>
                    <a:latin typeface="Arial"/>
                  </a:rPr>
                  <a:t> and </a:t>
                </a:r>
                <a:r>
                  <a:rPr lang="en-IN" sz="2400">
                    <a:solidFill>
                      <a:srgbClr val="111827"/>
                    </a:solidFill>
                    <a:latin typeface="Cambria Math" panose="02040503050406030204" pitchFamily="18" charset="0"/>
                  </a:rPr>
                  <a:t>$\vec{b}\cdot\vec{c}&gt;0$</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If the vector </a:t>
                </a:r>
                <a:r>
                  <a:rPr lang="en-IN" sz="2400">
                    <a:solidFill>
                      <a:srgbClr val="111827"/>
                    </a:solidFill>
                    <a:latin typeface="Cambria Math" panose="02040503050406030204" pitchFamily="18" charset="0"/>
                  </a:rPr>
                  <a:t>$\vec{c}$</a:t>
                </a:r>
                <a:r>
                  <a:rPr sz="2400" b="0">
                    <a:solidFill>
                      <a:srgbClr val="111827"/>
                    </a:solidFill>
                    <a:latin typeface="Arial"/>
                  </a:rPr>
                  <a:t> is expressed as a linear combination </a:t>
                </a:r>
                <a:r>
                  <a:rPr lang="en-IN" sz="2400">
                    <a:solidFill>
                      <a:srgbClr val="111827"/>
                    </a:solidFill>
                    <a:latin typeface="Cambria Math" panose="02040503050406030204" pitchFamily="18" charset="0"/>
                  </a:rPr>
                  <a:t>$\lambda\vec{a}+\mu\vec{b}$</a:t>
                </a:r>
                <a:r>
                  <a:rPr sz="2400" b="0">
                    <a:solidFill>
                      <a:srgbClr val="111827"/>
                    </a:solidFill>
                    <a:latin typeface="Arial"/>
                  </a:rPr>
                  <a:t>, then find the ordered pair </a:t>
                </a:r>
                <a:r>
                  <a:rPr lang="en-IN" sz="2400">
                    <a:solidFill>
                      <a:srgbClr val="111827"/>
                    </a:solidFill>
                    <a:latin typeface="Cambria Math" panose="02040503050406030204" pitchFamily="18" charset="0"/>
                  </a:rPr>
                  <a:t>$(\lambda,\mu)$</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4695952"/>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Linear combination of coplanar vectors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Dotting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λ</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μ</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oMath>
                </a14:m>
                <a:r>
                  <a:rPr sz="2400" b="0">
                    <a:solidFill>
                      <a:srgbClr val="78350F"/>
                    </a:solidFill>
                    <a:latin typeface="Arial"/>
                  </a:rPr>
                  <a:t> with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oMath>
                </a14:m>
                <a:r>
                  <a:rPr sz="2400" b="0">
                    <a:solidFill>
                      <a:srgbClr val="78350F"/>
                    </a:solidFill>
                    <a:latin typeface="Arial"/>
                  </a:rPr>
                  <a:t> (using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oMath>
                </a14:m>
                <a:r>
                  <a:rPr sz="2400" b="0">
                    <a:solidFill>
                      <a:srgbClr val="78350F"/>
                    </a:solidFill>
                    <a:latin typeface="Arial"/>
                  </a:rPr>
                  <a:t>) gives </a:t>
                </a:r>
                <a14:m>
                  <m:oMath xmlns:m="http://schemas.openxmlformats.org/officeDocument/2006/math">
                    <m:r>
                      <a:rPr lang="en-IN" sz="2400" i="1">
                        <a:solidFill>
                          <a:srgbClr val="78350F"/>
                        </a:solidFill>
                        <a:latin typeface="Cambria Math" panose="02040503050406030204" pitchFamily="18" charset="0"/>
                      </a:rPr>
                      <m:t>μ</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λ</m:t>
                    </m:r>
                  </m:oMath>
                </a14:m>
                <a:r>
                  <a:rPr sz="2400" b="0">
                    <a:solidFill>
                      <a:srgbClr val="78350F"/>
                    </a:solidFill>
                    <a:latin typeface="Arial"/>
                  </a:rPr>
                  <a:t>; then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fixes </a:t>
                </a:r>
                <a14:m>
                  <m:oMath xmlns:m="http://schemas.openxmlformats.org/officeDocument/2006/math">
                    <m:r>
                      <a:rPr lang="en-IN" sz="2400" i="1">
                        <a:solidFill>
                          <a:srgbClr val="78350F"/>
                        </a:solidFill>
                        <a:latin typeface="Cambria Math" panose="02040503050406030204" pitchFamily="18" charset="0"/>
                      </a:rPr>
                      <m:t>λ</m:t>
                    </m:r>
                  </m:oMath>
                </a14:m>
                <a:r>
                  <a:rPr sz="2400" b="0">
                    <a:solidFill>
                      <a:srgbClr val="78350F"/>
                    </a:solidFill>
                    <a:latin typeface="Arial"/>
                  </a:rPr>
                  <a:t>, and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 fixes its sign.</a:t>
                </a:r>
                <a:endParaRPr sz="2400">
                  <a:solidFill>
                    <a:srgbClr val="78350F"/>
                  </a:solidFill>
                </a:endParaRPr>
              </a:p>
            </p:txBody>
          </p:sp>
        </mc:Choice>
        <mc:Fallback>
          <p:sp>
            <p:nvSpPr>
              <p:cNvPr id="4" name="Rounded Rectangle 3"/>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Dotting </a:t>
                </a:r>
                <a:r>
                  <a:rPr lang="en-IN" sz="2400">
                    <a:solidFill>
                      <a:srgbClr val="78350F"/>
                    </a:solidFill>
                    <a:latin typeface="Cambria Math" panose="02040503050406030204" pitchFamily="18" charset="0"/>
                  </a:rPr>
                  <a:t>$\vec{c}=\lambda\vec{a}+\mu\vec{b}$</a:t>
                </a:r>
                <a:r>
                  <a:rPr sz="2400" b="0">
                    <a:solidFill>
                      <a:srgbClr val="78350F"/>
                    </a:solidFill>
                    <a:latin typeface="Arial"/>
                  </a:rPr>
                  <a:t> with </a:t>
                </a:r>
                <a:r>
                  <a:rPr lang="en-IN" sz="2400">
                    <a:solidFill>
                      <a:srgbClr val="78350F"/>
                    </a:solidFill>
                    <a:latin typeface="Cambria Math" panose="02040503050406030204" pitchFamily="18" charset="0"/>
                  </a:rPr>
                  <a:t>$\vec{a}$</a:t>
                </a:r>
                <a:r>
                  <a:rPr sz="2400" b="0">
                    <a:solidFill>
                      <a:srgbClr val="78350F"/>
                    </a:solidFill>
                    <a:latin typeface="Arial"/>
                  </a:rPr>
                  <a:t> (using </a:t>
                </a:r>
                <a:r>
                  <a:rPr lang="en-IN" sz="2400">
                    <a:solidFill>
                      <a:srgbClr val="78350F"/>
                    </a:solidFill>
                    <a:latin typeface="Cambria Math" panose="02040503050406030204" pitchFamily="18" charset="0"/>
                  </a:rPr>
                  <a:t>$\vec{a}\cdot\vec{c}=0$</a:t>
                </a:r>
                <a:r>
                  <a:rPr sz="2400" b="0">
                    <a:solidFill>
                      <a:srgbClr val="78350F"/>
                    </a:solidFill>
                    <a:latin typeface="Arial"/>
                  </a:rPr>
                  <a:t>) gives </a:t>
                </a:r>
                <a:r>
                  <a:rPr lang="en-IN" sz="2400">
                    <a:solidFill>
                      <a:srgbClr val="78350F"/>
                    </a:solidFill>
                    <a:latin typeface="Cambria Math" panose="02040503050406030204" pitchFamily="18" charset="0"/>
                  </a:rPr>
                  <a:t>$\mu=2\lambda$</a:t>
                </a:r>
                <a:r>
                  <a:rPr sz="2400" b="0">
                    <a:solidFill>
                      <a:srgbClr val="78350F"/>
                    </a:solidFill>
                    <a:latin typeface="Arial"/>
                  </a:rPr>
                  <a:t>; then </a:t>
                </a:r>
                <a:r>
                  <a:rPr lang="en-IN" sz="2400">
                    <a:solidFill>
                      <a:srgbClr val="78350F"/>
                    </a:solidFill>
                    <a:latin typeface="Cambria Math" panose="02040503050406030204" pitchFamily="18" charset="0"/>
                  </a:rPr>
                  <a:t>$|\vec{c}|=1$</a:t>
                </a:r>
                <a:r>
                  <a:rPr sz="2400" b="0">
                    <a:solidFill>
                      <a:srgbClr val="78350F"/>
                    </a:solidFill>
                    <a:latin typeface="Arial"/>
                  </a:rPr>
                  <a:t> fixes </a:t>
                </a:r>
                <a:r>
                  <a:rPr lang="en-IN" sz="2400">
                    <a:solidFill>
                      <a:srgbClr val="78350F"/>
                    </a:solidFill>
                    <a:latin typeface="Cambria Math" panose="02040503050406030204" pitchFamily="18" charset="0"/>
                  </a:rPr>
                  <a:t>$\lambda$</a:t>
                </a:r>
                <a:r>
                  <a:rPr sz="2400" b="0">
                    <a:solidFill>
                      <a:srgbClr val="78350F"/>
                    </a:solidFill>
                    <a:latin typeface="Arial"/>
                  </a:rPr>
                  <a:t>, and </a:t>
                </a:r>
                <a:r>
                  <a:rPr lang="en-IN" sz="2400">
                    <a:solidFill>
                      <a:srgbClr val="78350F"/>
                    </a:solidFill>
                    <a:latin typeface="Cambria Math" panose="02040503050406030204" pitchFamily="18" charset="0"/>
                  </a:rPr>
                  <a:t>$\vec{b}\cdot\vec{c}&gt;0$</a:t>
                </a:r>
                <a:r>
                  <a:rPr sz="2400" b="0">
                    <a:solidFill>
                      <a:srgbClr val="78350F"/>
                    </a:solidFill>
                    <a:latin typeface="Arial"/>
                  </a:rPr>
                  <a:t> fixes its sign.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μ</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μ</m:t>
                        </m:r>
                      </m:e>
                      <m:sup>
                        <m:r>
                          <a:rPr lang="en-IN" sz="2400" i="1">
                            <a:solidFill>
                              <a:srgbClr val="111827"/>
                            </a:solidFill>
                            <a:latin typeface="Cambria Math" panose="02040503050406030204" pitchFamily="18" charset="0"/>
                          </a:rPr>
                          <m:t>2</m:t>
                        </m:r>
                      </m:sup>
                    </m:sSup>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$|\vec{a}+\vec{b}|^2=a^2+b^2+2ab\cos\theta=1$</a:t>
                </a:r>
                <a:r>
                  <a:rPr sz="2400" b="0">
                    <a:solidFill>
                      <a:srgbClr val="111827"/>
                    </a:solidFill>
                    <a:latin typeface="Arial"/>
                  </a:rPr>
                  <a:t> gives </a:t>
                </a:r>
                <a:r>
                  <a:rPr lang="en-IN" sz="2400">
                    <a:solidFill>
                      <a:srgbClr val="111827"/>
                    </a:solidFill>
                    <a:latin typeface="Cambria Math" panose="02040503050406030204" pitchFamily="18" charset="0"/>
                  </a:rPr>
                  <a:t>$\cos\theta=-\frac{1}{2}$</a:t>
                </a:r>
                <a:r>
                  <a:rPr sz="2400" b="0">
                    <a:solidFill>
                      <a:srgbClr val="111827"/>
                    </a:solidFill>
                    <a:latin typeface="Arial"/>
                  </a:rPr>
                  <a:t>, so </a:t>
                </a:r>
                <a:r>
                  <a:rPr lang="en-IN" sz="2400">
                    <a:solidFill>
                      <a:srgbClr val="111827"/>
                    </a:solidFill>
                    <a:latin typeface="Cambria Math" panose="02040503050406030204" pitchFamily="18" charset="0"/>
                  </a:rPr>
                  <a:t>$\vec{a}\cdot\vec{b}=-\frac{1}{2}$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$\vec{c}=\lambda\vec{a}+\mu\vec{b}$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with </a:t>
                </a:r>
                <a:r>
                  <a:rPr lang="en-IN" sz="2400">
                    <a:solidFill>
                      <a:srgbClr val="111827"/>
                    </a:solidFill>
                    <a:latin typeface="Cambria Math" panose="02040503050406030204" pitchFamily="18" charset="0"/>
                  </a:rPr>
                  <a:t>$\vec{a}$</a:t>
                </a:r>
                <a:r>
                  <a:rPr sz="2400" b="0">
                    <a:solidFill>
                      <a:srgbClr val="111827"/>
                    </a:solidFill>
                    <a:latin typeface="Arial"/>
                  </a:rPr>
                  <a:t>: </a:t>
                </a:r>
                <a:r>
                  <a:rPr lang="en-IN" sz="2400">
                    <a:solidFill>
                      <a:srgbClr val="111827"/>
                    </a:solidFill>
                    <a:latin typeface="Cambria Math" panose="02040503050406030204" pitchFamily="18" charset="0"/>
                  </a:rPr>
                  <a:t>$\vec{c}\cdot\vec{a}=\lambda a^2+\mu(\vec{a}\cdot\vec{b})$</a:t>
                </a:r>
                <a:r>
                  <a:rPr sz="2400" b="0">
                    <a:solidFill>
                      <a:srgbClr val="111827"/>
                    </a:solidFill>
                    <a:latin typeface="Arial"/>
                  </a:rPr>
                  <a:t>, so </a:t>
                </a:r>
                <a:r>
                  <a:rPr lang="en-IN" sz="2400">
                    <a:solidFill>
                      <a:srgbClr val="111827"/>
                    </a:solidFill>
                    <a:latin typeface="Cambria Math" panose="02040503050406030204" pitchFamily="18" charset="0"/>
                  </a:rPr>
                  <a:t>$0=\lambda-\frac{\mu}{2}$</a:t>
                </a:r>
                <a:r>
                  <a:rPr sz="2400" b="0">
                    <a:solidFill>
                      <a:srgbClr val="111827"/>
                    </a:solidFill>
                    <a:latin typeface="Arial"/>
                  </a:rPr>
                  <a:t>, i.e. </a:t>
                </a:r>
                <a:r>
                  <a:rPr lang="en-IN" sz="2400">
                    <a:solidFill>
                      <a:srgbClr val="111827"/>
                    </a:solidFill>
                    <a:latin typeface="Cambria Math" panose="02040503050406030204" pitchFamily="18" charset="0"/>
                  </a:rPr>
                  <a:t>$\mu=2\lambda$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Now </a:t>
                </a:r>
                <a:r>
                  <a:rPr lang="en-IN" sz="2400">
                    <a:solidFill>
                      <a:srgbClr val="111827"/>
                    </a:solidFill>
                    <a:latin typeface="Cambria Math" panose="02040503050406030204" pitchFamily="18" charset="0"/>
                  </a:rPr>
                  <a:t>$|\vec{c}|=1$</a:t>
                </a:r>
                <a:r>
                  <a:rPr sz="2400" b="0">
                    <a:solidFill>
                      <a:srgbClr val="111827"/>
                    </a:solidFill>
                    <a:latin typeface="Arial"/>
                  </a:rPr>
                  <a:t>: </a:t>
                </a:r>
                <a:r>
                  <a:rPr lang="en-IN" sz="2400">
                    <a:solidFill>
                      <a:srgbClr val="111827"/>
                    </a:solidFill>
                    <a:latin typeface="Cambria Math" panose="02040503050406030204" pitchFamily="18" charset="0"/>
                  </a:rPr>
                  <a:t>$\lambda^2a^2+\mu^2b^2+2\lambda\mu(\vec{a}\cdot\vec{b})=1$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$\lambda^2+4\lambda^2-2\lambda^2=1$</a:t>
                </a:r>
                <a:r>
                  <a:rPr sz="2400" b="0">
                    <a:solidFill>
                      <a:srgbClr val="111827"/>
                    </a:solidFill>
                    <a:latin typeface="Arial"/>
                  </a:rPr>
                  <a:t>, so </a:t>
                </a:r>
                <a:r>
                  <a:rPr lang="en-IN" sz="2400">
                    <a:solidFill>
                      <a:srgbClr val="111827"/>
                    </a:solidFill>
                    <a:latin typeface="Cambria Math" panose="02040503050406030204" pitchFamily="18" charset="0"/>
                  </a:rPr>
                  <a:t>$3\lambda^2=1$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Note: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sSup>
                      <m:e>
                        <m:r>
                          <a:rPr lang="en-IN" sz="2400" i="1">
                            <a:solidFill>
                              <a:srgbClr val="111827"/>
                            </a:solidFill>
                            <a:latin typeface="Cambria Math" panose="02040503050406030204" pitchFamily="18" charset="0"/>
                          </a:rPr>
                          <m:t>𝑏</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&gt;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λ</m:t>
                    </m:r>
                  </m:oMath>
                </a14:m>
                <a:r>
                  <a:rPr sz="2400" b="0">
                    <a:solidFill>
                      <a:srgbClr val="111827"/>
                    </a:solidFill>
                    <a:latin typeface="Arial"/>
                  </a:rPr>
                  <a:t> this means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$\lambda=\pm\frac{1}{\sqrt{3}}$</a:t>
                </a:r>
                <a:r>
                  <a:rPr sz="2400" b="0">
                    <a:solidFill>
                      <a:srgbClr val="111827"/>
                    </a:solidFill>
                    <a:latin typeface="Arial"/>
                  </a:rPr>
                  <a:t> and </a:t>
                </a:r>
                <a:r>
                  <a:rPr lang="en-IN" sz="2400">
                    <a:solidFill>
                      <a:srgbClr val="111827"/>
                    </a:solidFill>
                    <a:latin typeface="Cambria Math" panose="02040503050406030204" pitchFamily="18" charset="0"/>
                  </a:rPr>
                  <a:t>$\mu=2\lambda$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Note: </a:t>
                </a:r>
                <a:r>
                  <a:rPr lang="en-IN" sz="2400">
                    <a:solidFill>
                      <a:srgbClr val="111827"/>
                    </a:solidFill>
                    <a:latin typeface="Cambria Math" panose="02040503050406030204" pitchFamily="18" charset="0"/>
                  </a:rPr>
                  <a:t>$\vec{b}\cdot\vec{c}&gt;0$</a:t>
                </a:r>
                <a:r>
                  <a:rPr sz="2400" b="0">
                    <a:solidFill>
                      <a:srgbClr val="111827"/>
                    </a:solidFill>
                    <a:latin typeface="Arial"/>
                  </a:rPr>
                  <a:t> gives </a:t>
                </a:r>
                <a:r>
                  <a:rPr lang="en-IN" sz="2400">
                    <a:solidFill>
                      <a:srgbClr val="111827"/>
                    </a:solidFill>
                    <a:latin typeface="Cambria Math" panose="02040503050406030204" pitchFamily="18" charset="0"/>
                  </a:rPr>
                  <a:t>$\lambda(\vec{a}\cdot\vec{b})+\mu b^2&gt;0$</a:t>
                </a:r>
                <a:r>
                  <a:rPr sz="2400" b="0">
                    <a:solidFill>
                      <a:srgbClr val="111827"/>
                    </a:solidFill>
                    <a:latin typeface="Arial"/>
                  </a:rPr>
                  <a:t>, i.e. </a:t>
                </a:r>
                <a:r>
                  <a:rPr lang="en-IN" sz="2400">
                    <a:solidFill>
                      <a:srgbClr val="111827"/>
                    </a:solidFill>
                    <a:latin typeface="Cambria Math" panose="02040503050406030204" pitchFamily="18" charset="0"/>
                  </a:rPr>
                  <a:t>$\mu-\frac{\lambda}{2}&gt;0$</a:t>
                </a:r>
                <a:r>
                  <a:rPr sz="2400" b="0">
                    <a:solidFill>
                      <a:srgbClr val="111827"/>
                    </a:solidFill>
                    <a:latin typeface="Arial"/>
                  </a:rPr>
                  <a:t>, so </a:t>
                </a:r>
                <a:r>
                  <a:rPr lang="en-IN" sz="2400">
                    <a:solidFill>
                      <a:srgbClr val="111827"/>
                    </a:solidFill>
                    <a:latin typeface="Cambria Math" panose="02040503050406030204" pitchFamily="18" charset="0"/>
                  </a:rPr>
                  <a:t>$\mu&gt;\frac{\lambda}{2}$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With </a:t>
                </a:r>
                <a:r>
                  <a:rPr lang="en-IN" sz="2400">
                    <a:solidFill>
                      <a:srgbClr val="111827"/>
                    </a:solidFill>
                    <a:latin typeface="Cambria Math" panose="02040503050406030204" pitchFamily="18" charset="0"/>
                  </a:rPr>
                  <a:t>$\mu=2\lambda$</a:t>
                </a:r>
                <a:r>
                  <a:rPr sz="2400" b="0">
                    <a:solidFill>
                      <a:srgbClr val="111827"/>
                    </a:solidFill>
                    <a:latin typeface="Arial"/>
                  </a:rPr>
                  <a:t> this means </a:t>
                </a:r>
                <a:r>
                  <a:rPr lang="en-IN" sz="2400">
                    <a:solidFill>
                      <a:srgbClr val="111827"/>
                    </a:solidFill>
                    <a:latin typeface="Cambria Math" panose="02040503050406030204" pitchFamily="18" charset="0"/>
                  </a:rPr>
                  <a:t>$\frac{3\lambda}{2}&gt;0$</a:t>
                </a:r>
                <a:r>
                  <a:rPr sz="2400" b="0">
                    <a:solidFill>
                      <a:srgbClr val="111827"/>
                    </a:solidFill>
                    <a:latin typeface="Arial"/>
                  </a:rPr>
                  <a:t>, so </a:t>
                </a:r>
                <a:r>
                  <a:rPr lang="en-IN" sz="2400">
                    <a:solidFill>
                      <a:srgbClr val="111827"/>
                    </a:solidFill>
                    <a:latin typeface="Cambria Math" panose="02040503050406030204" pitchFamily="18" charset="0"/>
                  </a:rPr>
                  <a:t>$\lambda&gt;0$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Therefore </a:t>
                </a:r>
                <a:r>
                  <a:rPr lang="en-IN" sz="2400">
                    <a:solidFill>
                      <a:srgbClr val="111827"/>
                    </a:solidFill>
                    <a:latin typeface="Cambria Math" panose="02040503050406030204" pitchFamily="18" charset="0"/>
                  </a:rPr>
                  <a:t>$\lambda=\frac{1}{\sqrt{3}}$</a:t>
                </a:r>
                <a:r>
                  <a:rPr sz="2400" b="0">
                    <a:solidFill>
                      <a:srgbClr val="111827"/>
                    </a:solidFill>
                    <a:latin typeface="Arial"/>
                  </a:rPr>
                  <a:t> and </a:t>
                </a:r>
                <a:r>
                  <a:rPr lang="en-IN" sz="2400">
                    <a:solidFill>
                      <a:srgbClr val="111827"/>
                    </a:solidFill>
                    <a:latin typeface="Cambria Math" panose="02040503050406030204" pitchFamily="18" charset="0"/>
                  </a:rPr>
                  <a:t>$\mu=\frac{2}{\sqrt{3}}$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e>
                    </m: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$\left(\frac{1}{\sqrt{3}},\frac{2}{\sqrt{3}}\right)$</a:t>
                </a:r>
                <a:endParaRPr sz="2800">
                  <a:solidFill>
                    <a:srgbClr val="15803D"/>
                  </a:solidFill>
                </a:endParaRPr>
              </a:p>
            </p:txBody>
          </p:sp>
        </mc:Fallback>
      </mc:AlternateContent>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Place the vectors in coordinates: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oMath>
                </a14:m>
                <a:r>
                  <a:rPr sz="2400" b="0">
                    <a:solidFill>
                      <a:srgbClr val="78350F"/>
                    </a:solidFill>
                    <a:latin typeface="Arial"/>
                  </a:rPr>
                  <a:t> at </a:t>
                </a:r>
                <a14:m>
                  <m:oMath xmlns:m="http://schemas.openxmlformats.org/officeDocument/2006/math">
                    <m:sSup>
                      <m:e>
                        <m:r>
                          <a:rPr lang="en-IN" sz="2400" i="1">
                            <a:solidFill>
                              <a:srgbClr val="78350F"/>
                            </a:solidFill>
                            <a:latin typeface="Cambria Math" panose="02040503050406030204" pitchFamily="18" charset="0"/>
                          </a:rPr>
                          <m:t>120</m:t>
                        </m:r>
                      </m:e>
                      <m:sup>
                        <m:r>
                          <m:rPr>
                            <m:sty m:val="p"/>
                          </m:rPr>
                          <a:rPr lang="en-IN" sz="2400">
                            <a:solidFill>
                              <a:srgbClr val="78350F"/>
                            </a:solidFill>
                            <a:latin typeface="Cambria Math" panose="02040503050406030204" pitchFamily="18" charset="0"/>
                          </a:rPr>
                          <m:t>∘</m:t>
                        </m:r>
                      </m:sup>
                    </m:sSup>
                  </m:oMath>
                </a14:m>
                <a:r>
                  <a:rPr sz="2400" b="0">
                    <a:solidFill>
                      <a:srgbClr val="78350F"/>
                    </a:solidFill>
                    <a:latin typeface="Arial"/>
                  </a:rPr>
                  <a:t>,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0</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and solve the </a:t>
                </a:r>
                <a14:m>
                  <m:oMath xmlns:m="http://schemas.openxmlformats.org/officeDocument/2006/math">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oMath>
                </a14:m>
                <a:r>
                  <a:rPr sz="2400" b="0">
                    <a:solidFill>
                      <a:srgbClr val="78350F"/>
                    </a:solidFill>
                    <a:latin typeface="Arial"/>
                  </a:rPr>
                  <a:t> linear system.</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Place the vectors in coordinates: </a:t>
                </a:r>
                <a:r>
                  <a:rPr lang="en-IN" sz="2400">
                    <a:solidFill>
                      <a:srgbClr val="78350F"/>
                    </a:solidFill>
                    <a:latin typeface="Cambria Math" panose="02040503050406030204" pitchFamily="18" charset="0"/>
                  </a:rPr>
                  <a:t>$\vec{a}=(1,0)$</a:t>
                </a:r>
                <a:r>
                  <a:rPr sz="2400" b="0">
                    <a:solidFill>
                      <a:srgbClr val="78350F"/>
                    </a:solidFill>
                    <a:latin typeface="Arial"/>
                  </a:rPr>
                  <a:t>, </a:t>
                </a:r>
                <a:r>
                  <a:rPr lang="en-IN" sz="2400">
                    <a:solidFill>
                      <a:srgbClr val="78350F"/>
                    </a:solidFill>
                    <a:latin typeface="Cambria Math" panose="02040503050406030204" pitchFamily="18" charset="0"/>
                  </a:rPr>
                  <a:t>$\vec{b}$</a:t>
                </a:r>
                <a:r>
                  <a:rPr sz="2400" b="0">
                    <a:solidFill>
                      <a:srgbClr val="78350F"/>
                    </a:solidFill>
                    <a:latin typeface="Arial"/>
                  </a:rPr>
                  <a:t> at </a:t>
                </a:r>
                <a:r>
                  <a:rPr lang="en-IN" sz="2400">
                    <a:solidFill>
                      <a:srgbClr val="78350F"/>
                    </a:solidFill>
                    <a:latin typeface="Cambria Math" panose="02040503050406030204" pitchFamily="18" charset="0"/>
                  </a:rPr>
                  <a:t>$120^\circ$</a:t>
                </a:r>
                <a:r>
                  <a:rPr sz="2400" b="0">
                    <a:solidFill>
                      <a:srgbClr val="78350F"/>
                    </a:solidFill>
                    <a:latin typeface="Arial"/>
                  </a:rPr>
                  <a:t>, </a:t>
                </a:r>
                <a:r>
                  <a:rPr lang="en-IN" sz="2400">
                    <a:solidFill>
                      <a:srgbClr val="78350F"/>
                    </a:solidFill>
                    <a:latin typeface="Cambria Math" panose="02040503050406030204" pitchFamily="18" charset="0"/>
                  </a:rPr>
                  <a:t>$\vec{c}=(0,1)$</a:t>
                </a:r>
                <a:r>
                  <a:rPr sz="2400" b="0">
                    <a:solidFill>
                      <a:srgbClr val="78350F"/>
                    </a:solidFill>
                    <a:latin typeface="Arial"/>
                  </a:rPr>
                  <a:t> and solve the </a:t>
                </a:r>
                <a:r>
                  <a:rPr lang="en-IN" sz="2400">
                    <a:solidFill>
                      <a:srgbClr val="78350F"/>
                    </a:solidFill>
                    <a:latin typeface="Cambria Math" panose="02040503050406030204" pitchFamily="18" charset="0"/>
                  </a:rPr>
                  <a:t>$2\times2$</a:t>
                </a:r>
                <a:r>
                  <a:rPr sz="2400" b="0">
                    <a:solidFill>
                      <a:srgbClr val="78350F"/>
                    </a:solidFill>
                    <a:latin typeface="Arial"/>
                  </a:rPr>
                  <a:t> linear system.</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Since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e>
                    </m:d>
                  </m:oMath>
                </a14:m>
                <a:r>
                  <a:rPr sz="2400" b="0">
                    <a:solidFill>
                      <a:srgbClr val="111827"/>
                    </a:solidFill>
                    <a:latin typeface="Arial"/>
                  </a:rPr>
                  <a:t> (reflect the axes if needed).</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selects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λ</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μ</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μ</m:t>
                        </m:r>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Take </a:t>
                </a:r>
                <a:r>
                  <a:rPr lang="en-IN" sz="2400">
                    <a:solidFill>
                      <a:srgbClr val="111827"/>
                    </a:solidFill>
                    <a:latin typeface="Cambria Math" panose="02040503050406030204" pitchFamily="18" charset="0"/>
                  </a:rPr>
                  <a:t>$\vec{a}=(1,0)$</a:t>
                </a:r>
                <a:r>
                  <a:rPr sz="2400" b="0">
                    <a:solidFill>
                      <a:srgbClr val="111827"/>
                    </a:solidFill>
                    <a:latin typeface="Arial"/>
                  </a:rPr>
                  <a:t>. Since the angle between </a:t>
                </a:r>
                <a:r>
                  <a:rPr lang="en-IN" sz="2400">
                    <a:solidFill>
                      <a:srgbClr val="111827"/>
                    </a:solidFill>
                    <a:latin typeface="Cambria Math" panose="02040503050406030204" pitchFamily="18" charset="0"/>
                  </a:rPr>
                  <a:t>$\vec{a}$</a:t>
                </a:r>
                <a:r>
                  <a:rPr sz="2400" b="0">
                    <a:solidFill>
                      <a:srgbClr val="111827"/>
                    </a:solidFill>
                    <a:latin typeface="Arial"/>
                  </a:rPr>
                  <a:t> and </a:t>
                </a:r>
                <a:r>
                  <a:rPr lang="en-IN" sz="2400">
                    <a:solidFill>
                      <a:srgbClr val="111827"/>
                    </a:solidFill>
                    <a:latin typeface="Cambria Math" panose="02040503050406030204" pitchFamily="18" charset="0"/>
                  </a:rPr>
                  <a:t>$\vec{b}$</a:t>
                </a:r>
                <a:r>
                  <a:rPr sz="2400" b="0">
                    <a:solidFill>
                      <a:srgbClr val="111827"/>
                    </a:solidFill>
                    <a:latin typeface="Arial"/>
                  </a:rPr>
                  <a:t> is </a:t>
                </a:r>
                <a:r>
                  <a:rPr lang="en-IN" sz="2400">
                    <a:solidFill>
                      <a:srgbClr val="111827"/>
                    </a:solidFill>
                    <a:latin typeface="Cambria Math" panose="02040503050406030204" pitchFamily="18" charset="0"/>
                  </a:rPr>
                  <a:t>$120^\circ$</a:t>
                </a:r>
                <a:r>
                  <a:rPr sz="2400" b="0">
                    <a:solidFill>
                      <a:srgbClr val="111827"/>
                    </a:solidFill>
                    <a:latin typeface="Arial"/>
                  </a:rPr>
                  <a:t>, </a:t>
                </a:r>
                <a:r>
                  <a:rPr lang="en-IN" sz="2400">
                    <a:solidFill>
                      <a:srgbClr val="111827"/>
                    </a:solidFill>
                    <a:latin typeface="Cambria Math" panose="02040503050406030204" pitchFamily="18" charset="0"/>
                  </a:rPr>
                  <a:t>$\vec{b}=\left(-\frac{1}{2},\frac{\sqrt{3}}{2}\right)$</a:t>
                </a:r>
                <a:r>
                  <a:rPr sz="2400" b="0">
                    <a:solidFill>
                      <a:srgbClr val="111827"/>
                    </a:solidFill>
                    <a:latin typeface="Arial"/>
                  </a:rPr>
                  <a:t> (reflect the axes if needed).</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$\vec{c}\perp\vec{a}$</a:t>
                </a:r>
                <a:r>
                  <a:rPr sz="2400" b="0">
                    <a:solidFill>
                      <a:srgbClr val="111827"/>
                    </a:solidFill>
                    <a:latin typeface="Arial"/>
                  </a:rPr>
                  <a:t> and </a:t>
                </a:r>
                <a:r>
                  <a:rPr lang="en-IN" sz="2400">
                    <a:solidFill>
                      <a:srgbClr val="111827"/>
                    </a:solidFill>
                    <a:latin typeface="Cambria Math" panose="02040503050406030204" pitchFamily="18" charset="0"/>
                  </a:rPr>
                  <a:t>$|\vec{c}|=1$</a:t>
                </a:r>
                <a:r>
                  <a:rPr sz="2400" b="0">
                    <a:solidFill>
                      <a:srgbClr val="111827"/>
                    </a:solidFill>
                    <a:latin typeface="Arial"/>
                  </a:rPr>
                  <a:t> give </a:t>
                </a:r>
                <a:r>
                  <a:rPr lang="en-IN" sz="2400">
                    <a:solidFill>
                      <a:srgbClr val="111827"/>
                    </a:solidFill>
                    <a:latin typeface="Cambria Math" panose="02040503050406030204" pitchFamily="18" charset="0"/>
                  </a:rPr>
                  <a:t>$\vec{c}=(0,\pm1)$</a:t>
                </a:r>
                <a:r>
                  <a:rPr sz="2400" b="0">
                    <a:solidFill>
                      <a:srgbClr val="111827"/>
                    </a:solidFill>
                    <a:latin typeface="Arial"/>
                  </a:rPr>
                  <a:t>; </a:t>
                </a:r>
                <a:r>
                  <a:rPr lang="en-IN" sz="2400">
                    <a:solidFill>
                      <a:srgbClr val="111827"/>
                    </a:solidFill>
                    <a:latin typeface="Cambria Math" panose="02040503050406030204" pitchFamily="18" charset="0"/>
                  </a:rPr>
                  <a:t>$\vec{b}\cdot\vec{c}&gt;0$</a:t>
                </a:r>
                <a:r>
                  <a:rPr sz="2400" b="0">
                    <a:solidFill>
                      <a:srgbClr val="111827"/>
                    </a:solidFill>
                    <a:latin typeface="Arial"/>
                  </a:rPr>
                  <a:t> selects </a:t>
                </a:r>
                <a:r>
                  <a:rPr lang="en-IN" sz="2400">
                    <a:solidFill>
                      <a:srgbClr val="111827"/>
                    </a:solidFill>
                    <a:latin typeface="Cambria Math" panose="02040503050406030204" pitchFamily="18" charset="0"/>
                  </a:rPr>
                  <a:t>$\vec{c}=(0,1)$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$\lambda\vec{a}+\mu\vec{b}=\left(\lambda-\frac{\mu}{2},\frac{\sqrt{3}}{2}\mu\right)=(0,1)$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second component gives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the first gives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μ</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e>
                    </m: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The second component gives </a:t>
                </a:r>
                <a:r>
                  <a:rPr lang="en-IN" sz="2400">
                    <a:solidFill>
                      <a:srgbClr val="111827"/>
                    </a:solidFill>
                    <a:latin typeface="Cambria Math" panose="02040503050406030204" pitchFamily="18" charset="0"/>
                  </a:rPr>
                  <a:t>$\mu=\frac{2}{\sqrt{3}}$</a:t>
                </a:r>
                <a:r>
                  <a:rPr sz="2400" b="0">
                    <a:solidFill>
                      <a:srgbClr val="111827"/>
                    </a:solidFill>
                    <a:latin typeface="Arial"/>
                  </a:rPr>
                  <a:t>; the first gives </a:t>
                </a:r>
                <a:r>
                  <a:rPr lang="en-IN" sz="2400">
                    <a:solidFill>
                      <a:srgbClr val="111827"/>
                    </a:solidFill>
                    <a:latin typeface="Cambria Math" panose="02040503050406030204" pitchFamily="18" charset="0"/>
                  </a:rPr>
                  <a:t>$\lambda=\frac{\mu}{2}=\frac{1}{\sqrt{3}}$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a:t>
                </a:r>
                <a:r>
                  <a:rPr lang="en-IN" sz="2400">
                    <a:solidFill>
                      <a:srgbClr val="111827"/>
                    </a:solidFill>
                    <a:latin typeface="Cambria Math" panose="02040503050406030204" pitchFamily="18" charset="0"/>
                  </a:rPr>
                  <a:t>$(\lambda,\mu)=\left(\frac{1}{\sqrt{3}},\frac{2}{\sqrt{3}}\right)$</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d>
                      <m:dPr>
                        <m:begChr m:val="("/>
                        <m:sepChr m:val=""/>
                        <m:endChr m:val=")"/>
                        <m:grow/>
                        <m:ctrlPr>
                          <a:rPr lang="en-IN" sz="2800" i="1">
                            <a:solidFill>
                              <a:srgbClr val="15803D"/>
                            </a:solidFill>
                            <a:latin typeface="Cambria Math" panose="02040503050406030204" pitchFamily="18" charset="0"/>
                          </a:rPr>
                        </m:ctrlPr>
                      </m:dPr>
                      <m:e>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1</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r>
                          <m:rPr>
                            <m:sty m:val="p"/>
                          </m:rPr>
                          <a:rPr lang="en-IN" sz="2800">
                            <a:solidFill>
                              <a:srgbClr val="15803D"/>
                            </a:solidFill>
                            <a:latin typeface="Cambria Math" panose="02040503050406030204" pitchFamily="18" charset="0"/>
                          </a:rPr>
                          <m:t>,</m:t>
                        </m:r>
                        <m:f>
                          <m:fPr>
                            <m:type m:val="bar"/>
                            <m:ctrlPr>
                              <a:rPr lang="en-IN" sz="2800" i="1">
                                <a:solidFill>
                                  <a:srgbClr val="15803D"/>
                                </a:solidFill>
                                <a:latin typeface="Cambria Math" panose="02040503050406030204" pitchFamily="18" charset="0"/>
                              </a:rPr>
                            </m:ctrlPr>
                          </m:fPr>
                          <m:num>
                            <m:r>
                              <a:rPr lang="en-IN" sz="2800" i="1">
                                <a:solidFill>
                                  <a:srgbClr val="15803D"/>
                                </a:solidFill>
                                <a:latin typeface="Cambria Math" panose="02040503050406030204" pitchFamily="18" charset="0"/>
                              </a:rPr>
                              <m:t>2</m:t>
                            </m:r>
                          </m:num>
                          <m:den>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den>
                        </m:f>
                      </m:e>
                    </m: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$\left(\frac{1}{\sqrt{3}},\frac{2}{\sqrt{3}}\right)$</a:t>
                </a:r>
                <a:endParaRPr sz="2800">
                  <a:solidFill>
                    <a:srgbClr val="15803D"/>
                  </a:solidFill>
                </a:endParaRPr>
              </a:p>
            </p:txBody>
          </p:sp>
        </mc:Fallback>
      </mc:AlternateContent>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41</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plane, if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then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is parallel to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for unit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at </a:t>
                </a:r>
                <a14:m>
                  <m:oMath xmlns:m="http://schemas.openxmlformats.org/officeDocument/2006/math">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this is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(since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sign ambiguity from squaring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is resolved by the extra condition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always use the stated inequality to choose the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Dotting with a known vector is a quick way to turn a coplanar-combination problem into scalar equations.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In a plane, if </a:t>
                </a:r>
                <a:r>
                  <a:rPr lang="en-IN" sz="2400">
                    <a:solidFill>
                      <a:srgbClr val="111827"/>
                    </a:solidFill>
                    <a:latin typeface="Cambria Math" panose="02040503050406030204" pitchFamily="18" charset="0"/>
                  </a:rPr>
                  <a:t>$\vec{c}\perp\vec{a}$</a:t>
                </a:r>
                <a:r>
                  <a:rPr sz="2400" b="0">
                    <a:solidFill>
                      <a:srgbClr val="111827"/>
                    </a:solidFill>
                    <a:latin typeface="Arial"/>
                  </a:rPr>
                  <a:t>, then </a:t>
                </a:r>
                <a:r>
                  <a:rPr lang="en-IN" sz="2400">
                    <a:solidFill>
                      <a:srgbClr val="111827"/>
                    </a:solidFill>
                    <a:latin typeface="Cambria Math" panose="02040503050406030204" pitchFamily="18" charset="0"/>
                  </a:rPr>
                  <a:t>$\vec{c}$</a:t>
                </a:r>
                <a:r>
                  <a:rPr sz="2400" b="0">
                    <a:solidFill>
                      <a:srgbClr val="111827"/>
                    </a:solidFill>
                    <a:latin typeface="Arial"/>
                  </a:rPr>
                  <a:t> is parallel to </a:t>
                </a:r>
                <a:r>
                  <a:rPr lang="en-IN" sz="2400">
                    <a:solidFill>
                      <a:srgbClr val="111827"/>
                    </a:solidFill>
                    <a:latin typeface="Cambria Math" panose="02040503050406030204" pitchFamily="18" charset="0"/>
                  </a:rPr>
                  <a:t>$\vec{b}-\frac{\vec{a}\cdot\vec{b}}{|\vec{a}|^2}\vec{a}$</a:t>
                </a:r>
                <a:r>
                  <a:rPr sz="2400" b="0">
                    <a:solidFill>
                      <a:srgbClr val="111827"/>
                    </a:solidFill>
                    <a:latin typeface="Arial"/>
                  </a:rPr>
                  <a:t>; for unit </a:t>
                </a:r>
                <a:r>
                  <a:rPr lang="en-IN" sz="2400">
                    <a:solidFill>
                      <a:srgbClr val="111827"/>
                    </a:solidFill>
                    <a:latin typeface="Cambria Math" panose="02040503050406030204" pitchFamily="18" charset="0"/>
                  </a:rPr>
                  <a:t>$\vec{a},\vec{b}$</a:t>
                </a:r>
                <a:r>
                  <a:rPr sz="2400" b="0">
                    <a:solidFill>
                      <a:srgbClr val="111827"/>
                    </a:solidFill>
                    <a:latin typeface="Arial"/>
                  </a:rPr>
                  <a:t> at </a:t>
                </a:r>
                <a:r>
                  <a:rPr lang="en-IN" sz="2400">
                    <a:solidFill>
                      <a:srgbClr val="111827"/>
                    </a:solidFill>
                    <a:latin typeface="Cambria Math" panose="02040503050406030204" pitchFamily="18" charset="0"/>
                  </a:rPr>
                  <a:t>$120^\circ$</a:t>
                </a:r>
                <a:r>
                  <a:rPr sz="2400" b="0">
                    <a:solidFill>
                      <a:srgbClr val="111827"/>
                    </a:solidFill>
                    <a:latin typeface="Arial"/>
                  </a:rPr>
                  <a:t> this is </a:t>
                </a:r>
                <a:r>
                  <a:rPr lang="en-IN" sz="2400">
                    <a:solidFill>
                      <a:srgbClr val="111827"/>
                    </a:solidFill>
                    <a:latin typeface="Cambria Math" panose="02040503050406030204" pitchFamily="18" charset="0"/>
                  </a:rPr>
                  <a:t>$\vec{b}+\frac{1}{2}\vec{a}$</a:t>
                </a:r>
                <a:r>
                  <a:rPr sz="2400" b="0">
                    <a:solidFill>
                      <a:srgbClr val="111827"/>
                    </a:solidFill>
                    <a:latin typeface="Arial"/>
                  </a:rPr>
                  <a:t>, so </a:t>
                </a:r>
                <a:r>
                  <a:rPr lang="en-IN" sz="2400">
                    <a:solidFill>
                      <a:srgbClr val="111827"/>
                    </a:solidFill>
                    <a:latin typeface="Cambria Math" panose="02040503050406030204" pitchFamily="18" charset="0"/>
                  </a:rPr>
                  <a:t>$\vec{c}=\pm\frac{\vec{a}+2\vec{b}}{\sqrt{3}}$</a:t>
                </a:r>
                <a:r>
                  <a:rPr sz="2400" b="0">
                    <a:solidFill>
                      <a:srgbClr val="111827"/>
                    </a:solidFill>
                    <a:latin typeface="Arial"/>
                  </a:rPr>
                  <a:t> (since </a:t>
                </a:r>
                <a:r>
                  <a:rPr lang="en-IN" sz="2400">
                    <a:solidFill>
                      <a:srgbClr val="111827"/>
                    </a:solidFill>
                    <a:latin typeface="Cambria Math" panose="02040503050406030204" pitchFamily="18" charset="0"/>
                  </a:rPr>
                  <a:t>$|\vec{a}+2\vec{b}|^2=1+4-2=3$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sign ambiguity from squaring (</a:t>
                </a:r>
                <a:r>
                  <a:rPr lang="en-IN" sz="2400">
                    <a:solidFill>
                      <a:srgbClr val="111827"/>
                    </a:solidFill>
                    <a:latin typeface="Cambria Math" panose="02040503050406030204" pitchFamily="18" charset="0"/>
                  </a:rPr>
                  <a:t>$\lambda=\pm\frac{1}{\sqrt{3}}$</a:t>
                </a:r>
                <a:r>
                  <a:rPr sz="2400" b="0">
                    <a:solidFill>
                      <a:srgbClr val="111827"/>
                    </a:solidFill>
                    <a:latin typeface="Arial"/>
                  </a:rPr>
                  <a:t>) is resolved by the extra condition (</a:t>
                </a:r>
                <a:r>
                  <a:rPr lang="en-IN" sz="2400">
                    <a:solidFill>
                      <a:srgbClr val="111827"/>
                    </a:solidFill>
                    <a:latin typeface="Cambria Math" panose="02040503050406030204" pitchFamily="18" charset="0"/>
                  </a:rPr>
                  <a:t>$\vec{b}\cdot\vec{c}&gt;0$</a:t>
                </a:r>
                <a:r>
                  <a:rPr sz="2400" b="0">
                    <a:solidFill>
                      <a:srgbClr val="111827"/>
                    </a:solidFill>
                    <a:latin typeface="Arial"/>
                  </a:rPr>
                  <a:t>); always use the stated inequality to choose the root.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Dotting with a known vector is a quick way to turn a coplanar-combination problem into scalar equations.</a:t>
                </a:r>
                <a:endParaRPr sz="2400">
                  <a:solidFill>
                    <a:srgbClr val="111827"/>
                  </a:solidFill>
                </a:endParaRPr>
              </a:p>
            </p:txBody>
          </p:sp>
        </mc:Fallback>
      </mc:AlternateContent>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Suppose the three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on a plane satisfy the condition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is perpendicular to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For real numbers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the vector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satisfies the condition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Find the maximum value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2815335"/>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Suppose the three vectors </a:t>
                </a:r>
                <a:r>
                  <a:rPr lang="en-IN" sz="2400">
                    <a:solidFill>
                      <a:srgbClr val="111827"/>
                    </a:solidFill>
                    <a:latin typeface="Cambria Math" panose="02040503050406030204" pitchFamily="18" charset="0"/>
                  </a:rPr>
                  <a:t>$\vec{a},\vec{b},\vec{c}$</a:t>
                </a:r>
                <a:r>
                  <a:rPr sz="2400" b="0">
                    <a:solidFill>
                      <a:srgbClr val="111827"/>
                    </a:solidFill>
                    <a:latin typeface="Arial"/>
                  </a:rPr>
                  <a:t> on a plane satisfy the condition </a:t>
                </a:r>
                <a:r>
                  <a:rPr lang="en-IN" sz="2400">
                    <a:solidFill>
                      <a:srgbClr val="111827"/>
                    </a:solidFill>
                    <a:latin typeface="Cambria Math" panose="02040503050406030204" pitchFamily="18" charset="0"/>
                  </a:rPr>
                  <a:t>$|\vec{a}|=|\vec{b}|=|\vec{c}|=|\vec{a}+\vec{b}|=1$</a:t>
                </a:r>
                <a:r>
                  <a:rPr sz="2400" b="0">
                    <a:solidFill>
                      <a:srgbClr val="111827"/>
                    </a:solidFill>
                    <a:latin typeface="Arial"/>
                  </a:rPr>
                  <a:t>; </a:t>
                </a:r>
                <a:r>
                  <a:rPr lang="en-IN" sz="2400">
                    <a:solidFill>
                      <a:srgbClr val="111827"/>
                    </a:solidFill>
                    <a:latin typeface="Cambria Math" panose="02040503050406030204" pitchFamily="18" charset="0"/>
                  </a:rPr>
                  <a:t>$\vec{c}$</a:t>
                </a:r>
                <a:r>
                  <a:rPr sz="2400" b="0">
                    <a:solidFill>
                      <a:srgbClr val="111827"/>
                    </a:solidFill>
                    <a:latin typeface="Arial"/>
                  </a:rPr>
                  <a:t> is perpendicular to </a:t>
                </a:r>
                <a:r>
                  <a:rPr lang="en-IN" sz="2400">
                    <a:solidFill>
                      <a:srgbClr val="111827"/>
                    </a:solidFill>
                    <a:latin typeface="Cambria Math" panose="02040503050406030204" pitchFamily="18" charset="0"/>
                  </a:rPr>
                  <a:t>$\vec{a}$</a:t>
                </a:r>
                <a:r>
                  <a:rPr sz="2400" b="0">
                    <a:solidFill>
                      <a:srgbClr val="111827"/>
                    </a:solidFill>
                    <a:latin typeface="Arial"/>
                  </a:rPr>
                  <a:t> and </a:t>
                </a:r>
                <a:r>
                  <a:rPr lang="en-IN" sz="2400">
                    <a:solidFill>
                      <a:srgbClr val="111827"/>
                    </a:solidFill>
                    <a:latin typeface="Cambria Math" panose="02040503050406030204" pitchFamily="18" charset="0"/>
                  </a:rPr>
                  <a:t>$\vec{b}\cdot\vec{c}&gt;0$</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For real numbers </a:t>
                </a:r>
                <a:r>
                  <a:rPr lang="en-IN" sz="2400">
                    <a:solidFill>
                      <a:srgbClr val="111827"/>
                    </a:solidFill>
                    <a:latin typeface="Cambria Math" panose="02040503050406030204" pitchFamily="18" charset="0"/>
                  </a:rPr>
                  <a:t>$x,y$</a:t>
                </a:r>
                <a:r>
                  <a:rPr sz="2400" b="0">
                    <a:solidFill>
                      <a:srgbClr val="111827"/>
                    </a:solidFill>
                    <a:latin typeface="Arial"/>
                  </a:rPr>
                  <a:t> the vector </a:t>
                </a:r>
                <a:r>
                  <a:rPr lang="en-IN" sz="2400">
                    <a:solidFill>
                      <a:srgbClr val="111827"/>
                    </a:solidFill>
                    <a:latin typeface="Cambria Math" panose="02040503050406030204" pitchFamily="18" charset="0"/>
                  </a:rPr>
                  <a:t>$\vec{p}=x\vec{a}+y\vec{c}$</a:t>
                </a:r>
                <a:r>
                  <a:rPr sz="2400" b="0">
                    <a:solidFill>
                      <a:srgbClr val="111827"/>
                    </a:solidFill>
                    <a:latin typeface="Arial"/>
                  </a:rPr>
                  <a:t> satisfies the condition </a:t>
                </a:r>
                <a:r>
                  <a:rPr lang="en-IN" sz="2400">
                    <a:solidFill>
                      <a:srgbClr val="111827"/>
                    </a:solidFill>
                    <a:latin typeface="Cambria Math" panose="02040503050406030204" pitchFamily="18" charset="0"/>
                  </a:rPr>
                  <a:t>$0\le\vec{p}\cdot\vec{a}\le1$</a:t>
                </a:r>
                <a:r>
                  <a:rPr sz="2400" b="0">
                    <a:solidFill>
                      <a:srgbClr val="111827"/>
                    </a:solidFill>
                    <a:latin typeface="Arial"/>
                  </a:rPr>
                  <a:t> and </a:t>
                </a:r>
                <a:r>
                  <a:rPr lang="en-IN" sz="2400">
                    <a:solidFill>
                      <a:srgbClr val="111827"/>
                    </a:solidFill>
                    <a:latin typeface="Cambria Math" panose="02040503050406030204" pitchFamily="18" charset="0"/>
                  </a:rPr>
                  <a:t>$0\le\vec{p}\cdot\vec{b}\le1$</a:t>
                </a:r>
                <a:r>
                  <a:rPr sz="2400" b="0">
                    <a:solidFill>
                      <a:srgbClr val="111827"/>
                    </a:solidFill>
                    <a:latin typeface="Arial"/>
                  </a:rPr>
                  <a:t>. Find the maximum value of </a:t>
                </a:r>
                <a:r>
                  <a:rPr lang="en-IN" sz="2400">
                    <a:solidFill>
                      <a:srgbClr val="111827"/>
                    </a:solidFill>
                    <a:latin typeface="Cambria Math" panose="02040503050406030204" pitchFamily="18" charset="0"/>
                  </a:rPr>
                  <a:t>$\vec{p}\cdot\vec{c}$</a:t>
                </a:r>
                <a:r>
                  <a:rPr sz="2400" b="0">
                    <a:solidFill>
                      <a:srgbClr val="111827"/>
                    </a:solidFill>
                    <a:latin typeface="Arial"/>
                  </a:rPr>
                  <a:t>.</a:t>
                </a:r>
                <a:endParaRPr sz="2400">
                  <a:solidFill>
                    <a:srgbClr val="111827"/>
                  </a:solidFill>
                </a:endParaRPr>
              </a:p>
            </p:txBody>
          </p:sp>
        </mc:Fallback>
      </mc:AlternateContent>
      <p:sp>
        <p:nvSpPr>
          <p:cNvPr id="5" name="Rectangle 4"/>
          <p:cNvSpPr/>
          <p:nvPr/>
        </p:nvSpPr>
        <p:spPr>
          <a:xfrm>
            <a:off x="731520" y="4324095"/>
            <a:ext cx="10725912" cy="1975103"/>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Numerical Type (3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Linear combination of coplanar vectors and bounds on dot products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 and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num>
                      <m:den>
                        <m:r>
                          <a:rPr lang="en-IN" sz="2400" i="1">
                            <a:solidFill>
                              <a:srgbClr val="78350F"/>
                            </a:solidFill>
                            <a:latin typeface="Cambria Math" panose="02040503050406030204" pitchFamily="18" charset="0"/>
                          </a:rPr>
                          <m:t>2</m:t>
                        </m:r>
                      </m:den>
                    </m:f>
                  </m:oMath>
                </a14:m>
                <a:r>
                  <a:rPr sz="2400" b="0">
                    <a:solidFill>
                      <a:srgbClr val="78350F"/>
                    </a:solidFill>
                    <a:latin typeface="Arial"/>
                  </a:rPr>
                  <a:t> turn the conditions into inequalities in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oMath>
                </a14:m>
                <a:r>
                  <a:rPr sz="2400" b="0">
                    <a:solidFill>
                      <a:srgbClr val="78350F"/>
                    </a:solidFill>
                    <a:latin typeface="Arial"/>
                  </a:rPr>
                  <a:t>; </a:t>
                </a:r>
                <a14:m>
                  <m:oMath xmlns:m="http://schemas.openxmlformats.org/officeDocument/2006/math">
                    <m:r>
                      <a:rPr lang="en-IN" sz="2400" i="1">
                        <a:solidFill>
                          <a:srgbClr val="78350F"/>
                        </a:solidFill>
                        <a:latin typeface="Cambria Math" panose="02040503050406030204" pitchFamily="18" charset="0"/>
                      </a:rPr>
                      <m:t>𝑦</m:t>
                    </m:r>
                  </m:oMath>
                </a14:m>
                <a:r>
                  <a:rPr sz="2400" b="0">
                    <a:solidFill>
                      <a:srgbClr val="78350F"/>
                    </a:solidFill>
                    <a:latin typeface="Arial"/>
                  </a:rPr>
                  <a:t> is largest at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a:t>
                </a:r>
                <a:endParaRPr sz="2400">
                  <a:solidFill>
                    <a:srgbClr val="78350F"/>
                  </a:solidFill>
                </a:endParaRPr>
              </a:p>
            </p:txBody>
          </p:sp>
        </mc:Choice>
        <mc:Fallback>
          <p:sp>
            <p:nvSpPr>
              <p:cNvPr id="4" name="Rounded Rectangle 3"/>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lang="en-IN" sz="2400">
                    <a:solidFill>
                      <a:srgbClr val="78350F"/>
                    </a:solidFill>
                    <a:latin typeface="Cambria Math" panose="02040503050406030204" pitchFamily="18" charset="0"/>
                  </a:rPr>
                  <a:t>$\vec{p}\cdot\vec{a}=x$</a:t>
                </a:r>
                <a:r>
                  <a:rPr sz="2400" b="0">
                    <a:solidFill>
                      <a:srgbClr val="78350F"/>
                    </a:solidFill>
                    <a:latin typeface="Arial"/>
                  </a:rPr>
                  <a:t>, </a:t>
                </a:r>
                <a:r>
                  <a:rPr lang="en-IN" sz="2400">
                    <a:solidFill>
                      <a:srgbClr val="78350F"/>
                    </a:solidFill>
                    <a:latin typeface="Cambria Math" panose="02040503050406030204" pitchFamily="18" charset="0"/>
                  </a:rPr>
                  <a:t>$\vec{p}\cdot\vec{c}=y$</a:t>
                </a:r>
                <a:r>
                  <a:rPr sz="2400" b="0">
                    <a:solidFill>
                      <a:srgbClr val="78350F"/>
                    </a:solidFill>
                    <a:latin typeface="Arial"/>
                  </a:rPr>
                  <a:t> and </a:t>
                </a:r>
                <a:r>
                  <a:rPr lang="en-IN" sz="2400">
                    <a:solidFill>
                      <a:srgbClr val="78350F"/>
                    </a:solidFill>
                    <a:latin typeface="Cambria Math" panose="02040503050406030204" pitchFamily="18" charset="0"/>
                  </a:rPr>
                  <a:t>$\vec{b}\cdot\vec{c}=\frac{\sqrt{3}}{2}$</a:t>
                </a:r>
                <a:r>
                  <a:rPr sz="2400" b="0">
                    <a:solidFill>
                      <a:srgbClr val="78350F"/>
                    </a:solidFill>
                    <a:latin typeface="Arial"/>
                  </a:rPr>
                  <a:t> turn the conditions into inequalities in </a:t>
                </a:r>
                <a:r>
                  <a:rPr lang="en-IN" sz="2400">
                    <a:solidFill>
                      <a:srgbClr val="78350F"/>
                    </a:solidFill>
                    <a:latin typeface="Cambria Math" panose="02040503050406030204" pitchFamily="18" charset="0"/>
                  </a:rPr>
                  <a:t>$x,y$</a:t>
                </a:r>
                <a:r>
                  <a:rPr sz="2400" b="0">
                    <a:solidFill>
                      <a:srgbClr val="78350F"/>
                    </a:solidFill>
                    <a:latin typeface="Arial"/>
                  </a:rPr>
                  <a:t>; </a:t>
                </a:r>
                <a:r>
                  <a:rPr lang="en-IN" sz="2400">
                    <a:solidFill>
                      <a:srgbClr val="78350F"/>
                    </a:solidFill>
                    <a:latin typeface="Cambria Math" panose="02040503050406030204" pitchFamily="18" charset="0"/>
                  </a:rPr>
                  <a:t>$y$</a:t>
                </a:r>
                <a:r>
                  <a:rPr sz="2400" b="0">
                    <a:solidFill>
                      <a:srgbClr val="78350F"/>
                    </a:solidFill>
                    <a:latin typeface="Arial"/>
                  </a:rPr>
                  <a:t> is largest at </a:t>
                </a:r>
                <a:r>
                  <a:rPr lang="en-IN" sz="2400">
                    <a:solidFill>
                      <a:srgbClr val="78350F"/>
                    </a:solidFill>
                    <a:latin typeface="Cambria Math" panose="02040503050406030204" pitchFamily="18" charset="0"/>
                  </a:rPr>
                  <a:t>$x=1$</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the first condition gives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oMath>
                </a14:m>
                <a:r>
                  <a:rPr sz="2400" b="0">
                    <a:solidFill>
                      <a:srgbClr val="111827"/>
                    </a:solidFill>
                    <a:latin typeface="Arial"/>
                  </a:rPr>
                  <a:t> (since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are in one plane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is </a:t>
                </a:r>
                <a14:m>
                  <m:oMath xmlns:m="http://schemas.openxmlformats.org/officeDocument/2006/math">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$\vec{p}=x\vec{a}+y\vec{c}$</a:t>
                </a:r>
                <a:r>
                  <a:rPr sz="2400" b="0">
                    <a:solidFill>
                      <a:srgbClr val="111827"/>
                    </a:solidFill>
                    <a:latin typeface="Arial"/>
                  </a:rPr>
                  <a:t> and </a:t>
                </a:r>
                <a:r>
                  <a:rPr lang="en-IN" sz="2400">
                    <a:solidFill>
                      <a:srgbClr val="111827"/>
                    </a:solidFill>
                    <a:latin typeface="Cambria Math" panose="02040503050406030204" pitchFamily="18" charset="0"/>
                  </a:rPr>
                  <a:t>$\vec{a}\cdot\vec{c}=0$</a:t>
                </a:r>
                <a:r>
                  <a:rPr sz="2400" b="0">
                    <a:solidFill>
                      <a:srgbClr val="111827"/>
                    </a:solidFill>
                    <a:latin typeface="Arial"/>
                  </a:rPr>
                  <a:t>, so </a:t>
                </a:r>
                <a:r>
                  <a:rPr lang="en-IN" sz="2400">
                    <a:solidFill>
                      <a:srgbClr val="111827"/>
                    </a:solidFill>
                    <a:latin typeface="Cambria Math" panose="02040503050406030204" pitchFamily="18" charset="0"/>
                  </a:rPr>
                  <a:t>$\vec{p}\cdot\vec{a}=x$</a:t>
                </a:r>
                <a:r>
                  <a:rPr sz="2400" b="0">
                    <a:solidFill>
                      <a:srgbClr val="111827"/>
                    </a:solidFill>
                    <a:latin typeface="Arial"/>
                  </a:rPr>
                  <a:t>; the first condition gives </a:t>
                </a:r>
                <a:r>
                  <a:rPr lang="en-IN" sz="2400">
                    <a:solidFill>
                      <a:srgbClr val="111827"/>
                    </a:solidFill>
                    <a:latin typeface="Cambria Math" panose="02040503050406030204" pitchFamily="18" charset="0"/>
                  </a:rPr>
                  <a:t>$0\le x\le1$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$\vec{p}\cdot\vec{b}=x(\vec{a}\cdot\vec{b})+y(\vec{b}\cdot\vec{c})=-\frac{x}{2}+y(\vec{b}\cdot\vec{c})$</a:t>
                </a:r>
                <a:r>
                  <a:rPr sz="2400" b="0">
                    <a:solidFill>
                      <a:srgbClr val="111827"/>
                    </a:solidFill>
                    <a:latin typeface="Arial"/>
                  </a:rPr>
                  <a:t>, so </a:t>
                </a:r>
                <a:r>
                  <a:rPr lang="en-IN" sz="2400">
                    <a:solidFill>
                      <a:srgbClr val="111827"/>
                    </a:solidFill>
                    <a:latin typeface="Cambria Math" panose="02040503050406030204" pitchFamily="18" charset="0"/>
                  </a:rPr>
                  <a:t>$0\le-\frac{x}{2}+y(\vec{b}\cdot\vec{c})\le1$</a:t>
                </a:r>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Also </a:t>
                </a:r>
                <a:r>
                  <a:rPr lang="en-IN" sz="2400">
                    <a:solidFill>
                      <a:srgbClr val="111827"/>
                    </a:solidFill>
                    <a:latin typeface="Cambria Math" panose="02040503050406030204" pitchFamily="18" charset="0"/>
                  </a:rPr>
                  <a:t>$\vec{p}\cdot\vec{c}=y$</a:t>
                </a:r>
                <a:r>
                  <a:rPr sz="2400" b="0">
                    <a:solidFill>
                      <a:srgbClr val="111827"/>
                    </a:solidFill>
                    <a:latin typeface="Arial"/>
                  </a:rPr>
                  <a:t> (since </a:t>
                </a:r>
                <a:r>
                  <a:rPr lang="en-IN" sz="2400">
                    <a:solidFill>
                      <a:srgbClr val="111827"/>
                    </a:solidFill>
                    <a:latin typeface="Cambria Math" panose="02040503050406030204" pitchFamily="18" charset="0"/>
                  </a:rPr>
                  <a:t>$|\vec{c}|=1$</a:t>
                </a:r>
                <a:r>
                  <a:rPr sz="2400" b="0">
                    <a:solidFill>
                      <a:srgbClr val="111827"/>
                    </a:solidFill>
                    <a:latin typeface="Arial"/>
                  </a:rPr>
                  <a:t>, </a:t>
                </a:r>
                <a:r>
                  <a:rPr lang="en-IN" sz="2400">
                    <a:solidFill>
                      <a:srgbClr val="111827"/>
                    </a:solidFill>
                    <a:latin typeface="Cambria Math" panose="02040503050406030204" pitchFamily="18" charset="0"/>
                  </a:rPr>
                  <a:t>$\vec{a}\cdot\vec{c}=0$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$\vec{a},\vec{b},\vec{c}$</a:t>
                </a:r>
                <a:r>
                  <a:rPr sz="2400" b="0">
                    <a:solidFill>
                      <a:srgbClr val="111827"/>
                    </a:solidFill>
                    <a:latin typeface="Arial"/>
                  </a:rPr>
                  <a:t> are in one plane with </a:t>
                </a:r>
                <a:r>
                  <a:rPr lang="en-IN" sz="2400">
                    <a:solidFill>
                      <a:srgbClr val="111827"/>
                    </a:solidFill>
                    <a:latin typeface="Cambria Math" panose="02040503050406030204" pitchFamily="18" charset="0"/>
                  </a:rPr>
                  <a:t>$\vec{a}\cdot\vec{b}=-\frac{1}{2}$</a:t>
                </a:r>
                <a:r>
                  <a:rPr sz="2400" b="0">
                    <a:solidFill>
                      <a:srgbClr val="111827"/>
                    </a:solidFill>
                    <a:latin typeface="Arial"/>
                  </a:rPr>
                  <a:t>, so the angle between </a:t>
                </a:r>
                <a:r>
                  <a:rPr lang="en-IN" sz="2400">
                    <a:solidFill>
                      <a:srgbClr val="111827"/>
                    </a:solidFill>
                    <a:latin typeface="Cambria Math" panose="02040503050406030204" pitchFamily="18" charset="0"/>
                  </a:rPr>
                  <a:t>$\vec{a}$</a:t>
                </a:r>
                <a:r>
                  <a:rPr sz="2400" b="0">
                    <a:solidFill>
                      <a:srgbClr val="111827"/>
                    </a:solidFill>
                    <a:latin typeface="Arial"/>
                  </a:rPr>
                  <a:t> and </a:t>
                </a:r>
                <a:r>
                  <a:rPr lang="en-IN" sz="2400">
                    <a:solidFill>
                      <a:srgbClr val="111827"/>
                    </a:solidFill>
                    <a:latin typeface="Cambria Math" panose="02040503050406030204" pitchFamily="18" charset="0"/>
                  </a:rPr>
                  <a:t>$\vec{b}$</a:t>
                </a:r>
                <a:r>
                  <a:rPr sz="2400" b="0">
                    <a:solidFill>
                      <a:srgbClr val="111827"/>
                    </a:solidFill>
                    <a:latin typeface="Arial"/>
                  </a:rPr>
                  <a:t> is </a:t>
                </a:r>
                <a:r>
                  <a:rPr lang="en-IN" sz="2400">
                    <a:solidFill>
                      <a:srgbClr val="111827"/>
                    </a:solidFill>
                    <a:latin typeface="Cambria Math" panose="02040503050406030204" pitchFamily="18" charset="0"/>
                  </a:rPr>
                  <a:t>$120^\circ$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makes </a:t>
                </a:r>
                <a14:m>
                  <m:oMath xmlns:m="http://schemas.openxmlformats.org/officeDocument/2006/math">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sSup>
                      <m:e>
                        <m:r>
                          <a:rPr lang="en-IN" sz="2400" i="1">
                            <a:solidFill>
                              <a:srgbClr val="111827"/>
                            </a:solidFill>
                            <a:latin typeface="Cambria Math" panose="02040503050406030204" pitchFamily="18" charset="0"/>
                          </a:rPr>
                          <m:t>30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(i):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num>
                      <m:den>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𝑦</m:t>
                        </m:r>
                      </m:e>
                      <m:sub>
                        <m:r>
                          <m:rPr>
                            <m:sty m:val="p"/>
                          </m:rPr>
                          <a:rPr lang="en-IN" sz="2400">
                            <a:solidFill>
                              <a:srgbClr val="111827"/>
                            </a:solidFill>
                            <a:latin typeface="Cambria Math" panose="02040503050406030204" pitchFamily="18" charset="0"/>
                          </a:rPr>
                          <m:t>max</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b>
                      <m:e>
                        <m:r>
                          <a:rPr lang="en-IN" sz="2400" i="1">
                            <a:solidFill>
                              <a:srgbClr val="111827"/>
                            </a:solidFill>
                            <a:latin typeface="Cambria Math" panose="02040503050406030204" pitchFamily="18" charset="0"/>
                          </a:rPr>
                          <m:t>𝑦</m:t>
                        </m:r>
                      </m:e>
                      <m:sub>
                        <m:r>
                          <m:rPr>
                            <m:sty m:val="p"/>
                          </m:rPr>
                          <a:rPr lang="en-IN" sz="2400">
                            <a:solidFill>
                              <a:srgbClr val="111827"/>
                            </a:solidFill>
                            <a:latin typeface="Cambria Math" panose="02040503050406030204" pitchFamily="18" charset="0"/>
                          </a:rPr>
                          <m:t>max</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As </a:t>
                </a:r>
                <a:r>
                  <a:rPr lang="en-IN" sz="2400">
                    <a:solidFill>
                      <a:srgbClr val="111827"/>
                    </a:solidFill>
                    <a:latin typeface="Cambria Math" panose="02040503050406030204" pitchFamily="18" charset="0"/>
                  </a:rPr>
                  <a:t>$\vec{a}\perp\vec{c}$</a:t>
                </a:r>
                <a:r>
                  <a:rPr sz="2400" b="0">
                    <a:solidFill>
                      <a:srgbClr val="111827"/>
                    </a:solidFill>
                    <a:latin typeface="Arial"/>
                  </a:rPr>
                  <a:t> and </a:t>
                </a:r>
                <a:r>
                  <a:rPr lang="en-IN" sz="2400">
                    <a:solidFill>
                      <a:srgbClr val="111827"/>
                    </a:solidFill>
                    <a:latin typeface="Cambria Math" panose="02040503050406030204" pitchFamily="18" charset="0"/>
                  </a:rPr>
                  <a:t>$\vec{b}\cdot\vec{c}&gt;0$</a:t>
                </a:r>
                <a:r>
                  <a:rPr sz="2400" b="0">
                    <a:solidFill>
                      <a:srgbClr val="111827"/>
                    </a:solidFill>
                    <a:latin typeface="Arial"/>
                  </a:rPr>
                  <a:t>, </a:t>
                </a:r>
                <a:r>
                  <a:rPr lang="en-IN" sz="2400">
                    <a:solidFill>
                      <a:srgbClr val="111827"/>
                    </a:solidFill>
                    <a:latin typeface="Cambria Math" panose="02040503050406030204" pitchFamily="18" charset="0"/>
                  </a:rPr>
                  <a:t>$\vec{c}$</a:t>
                </a:r>
                <a:r>
                  <a:rPr sz="2400" b="0">
                    <a:solidFill>
                      <a:srgbClr val="111827"/>
                    </a:solidFill>
                    <a:latin typeface="Arial"/>
                  </a:rPr>
                  <a:t> makes </a:t>
                </a:r>
                <a:r>
                  <a:rPr lang="en-IN" sz="2400">
                    <a:solidFill>
                      <a:srgbClr val="111827"/>
                    </a:solidFill>
                    <a:latin typeface="Cambria Math" panose="02040503050406030204" pitchFamily="18" charset="0"/>
                  </a:rPr>
                  <a:t>$30^\circ$</a:t>
                </a:r>
                <a:r>
                  <a:rPr sz="2400" b="0">
                    <a:solidFill>
                      <a:srgbClr val="111827"/>
                    </a:solidFill>
                    <a:latin typeface="Arial"/>
                  </a:rPr>
                  <a:t> with </a:t>
                </a:r>
                <a:r>
                  <a:rPr lang="en-IN" sz="2400">
                    <a:solidFill>
                      <a:srgbClr val="111827"/>
                    </a:solidFill>
                    <a:latin typeface="Cambria Math" panose="02040503050406030204" pitchFamily="18" charset="0"/>
                  </a:rPr>
                  <a:t>$\vec{b}$</a:t>
                </a:r>
                <a:r>
                  <a:rPr sz="2400" b="0">
                    <a:solidFill>
                      <a:srgbClr val="111827"/>
                    </a:solidFill>
                    <a:latin typeface="Arial"/>
                  </a:rPr>
                  <a:t>, so </a:t>
                </a:r>
                <a:r>
                  <a:rPr lang="en-IN" sz="2400">
                    <a:solidFill>
                      <a:srgbClr val="111827"/>
                    </a:solidFill>
                    <a:latin typeface="Cambria Math" panose="02040503050406030204" pitchFamily="18" charset="0"/>
                  </a:rPr>
                  <a:t>$\vec{b}\cdot\vec{c}=\cos30^\circ=\frac{\sqrt{3}}{2}$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From (i): </a:t>
                </a:r>
                <a:r>
                  <a:rPr lang="en-IN" sz="2400">
                    <a:solidFill>
                      <a:srgbClr val="111827"/>
                    </a:solidFill>
                    <a:latin typeface="Cambria Math" panose="02040503050406030204" pitchFamily="18" charset="0"/>
                  </a:rPr>
                  <a:t>$y\le\frac{1+\frac{x}{2}}{\vec{b}\cdot\vec{c}}=\frac{2+x}{2(\vec{b}\cdot\vec{c})}$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$0\le x\le1$</a:t>
                </a:r>
                <a:r>
                  <a:rPr sz="2400" b="0">
                    <a:solidFill>
                      <a:srgbClr val="111827"/>
                    </a:solidFill>
                    <a:latin typeface="Arial"/>
                  </a:rPr>
                  <a:t>, </a:t>
                </a:r>
                <a:r>
                  <a:rPr lang="en-IN" sz="2400">
                    <a:solidFill>
                      <a:srgbClr val="111827"/>
                    </a:solidFill>
                    <a:latin typeface="Cambria Math" panose="02040503050406030204" pitchFamily="18" charset="0"/>
                  </a:rPr>
                  <a:t>$y_{\max}=\frac{2+1}{2(\vec{b}\cdot\vec{c})}$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$y_{\max}=\frac{3}{2\cdot\frac{\sqrt{3}}{2}}=\sqrt{3}$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14:m>
                  <m:oMath xmlns:m="http://schemas.openxmlformats.org/officeDocument/2006/math">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oMath>
                </a14:m>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t>
                </a:r>
                <a:r>
                  <a:rPr lang="en-IN" sz="2800">
                    <a:solidFill>
                      <a:srgbClr val="15803D"/>
                    </a:solidFill>
                    <a:latin typeface="Cambria Math" panose="02040503050406030204" pitchFamily="18" charset="0"/>
                  </a:rPr>
                  <a:t>$\sqrt{3}$</a:t>
                </a:r>
                <a:endParaRPr sz="2800">
                  <a:solidFill>
                    <a:srgbClr val="15803D"/>
                  </a:solidFill>
                </a:endParaRPr>
              </a:p>
            </p:txBody>
          </p:sp>
        </mc:Fallback>
      </mc:AlternateContent>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oMath>
                </a14:m>
                <a:r>
                  <a:rPr sz="2400" b="0">
                    <a:solidFill>
                      <a:srgbClr val="78350F"/>
                    </a:solidFill>
                    <a:latin typeface="Arial"/>
                  </a:rPr>
                  <a:t> as a non-negative combination of the two constrained quantities: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num>
                      <m:den>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den>
                    </m:f>
                  </m:oMath>
                </a14:m>
                <a:r>
                  <a:rPr sz="2400" b="0">
                    <a:solidFill>
                      <a:srgbClr val="78350F"/>
                    </a:solidFill>
                    <a:latin typeface="Arial"/>
                  </a:rPr>
                  <a:t> (from Q41), so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 </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𝑝</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num>
                      <m:den>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Write </a:t>
                </a:r>
                <a:r>
                  <a:rPr lang="en-IN" sz="2400">
                    <a:solidFill>
                      <a:srgbClr val="78350F"/>
                    </a:solidFill>
                    <a:latin typeface="Cambria Math" panose="02040503050406030204" pitchFamily="18" charset="0"/>
                  </a:rPr>
                  <a:t>$\vec{c}$</a:t>
                </a:r>
                <a:r>
                  <a:rPr sz="2400" b="0">
                    <a:solidFill>
                      <a:srgbClr val="78350F"/>
                    </a:solidFill>
                    <a:latin typeface="Arial"/>
                  </a:rPr>
                  <a:t> as a non-negative combination of the two constrained quantities: </a:t>
                </a:r>
                <a:r>
                  <a:rPr lang="en-IN" sz="2400">
                    <a:solidFill>
                      <a:srgbClr val="78350F"/>
                    </a:solidFill>
                    <a:latin typeface="Cambria Math" panose="02040503050406030204" pitchFamily="18" charset="0"/>
                  </a:rPr>
                  <a:t>$\vec{c}=\frac{\vec{a}+2\vec{b}}{\sqrt{3}}$</a:t>
                </a:r>
                <a:r>
                  <a:rPr sz="2400" b="0">
                    <a:solidFill>
                      <a:srgbClr val="78350F"/>
                    </a:solidFill>
                    <a:latin typeface="Arial"/>
                  </a:rPr>
                  <a:t> (from Q41), so </a:t>
                </a:r>
                <a:r>
                  <a:rPr lang="en-IN" sz="2400">
                    <a:solidFill>
                      <a:srgbClr val="78350F"/>
                    </a:solidFill>
                    <a:latin typeface="Cambria Math" panose="02040503050406030204" pitchFamily="18" charset="0"/>
                  </a:rPr>
                  <a:t>$\vec{p}\cdot\vec{c}=\frac{\vec{p}\cdot\vec{a}+2\,\vec{p}\cdot\vec{b}}{\sqrt{3}}$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Q41,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coefficients are positive, so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From Q41, </a:t>
                </a:r>
                <a:r>
                  <a:rPr lang="en-IN" sz="2400">
                    <a:solidFill>
                      <a:srgbClr val="111827"/>
                    </a:solidFill>
                    <a:latin typeface="Cambria Math" panose="02040503050406030204" pitchFamily="18" charset="0"/>
                  </a:rPr>
                  <a:t>$\vec{c}=\frac{1}{\sqrt{3}}\vec{a}+\frac{2}{\sqrt{3}}\vec{b}$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Hence </a:t>
                </a:r>
                <a:r>
                  <a:rPr lang="en-IN" sz="2400">
                    <a:solidFill>
                      <a:srgbClr val="111827"/>
                    </a:solidFill>
                    <a:latin typeface="Cambria Math" panose="02040503050406030204" pitchFamily="18" charset="0"/>
                  </a:rPr>
                  <a:t>$\vec{p}\cdot\vec{c}=\frac{\vec{p}\cdot\vec{a}+2\,\vec{p}\cdot\vec{b}}{\sqrt{3}}$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Both </a:t>
                </a:r>
                <a:r>
                  <a:rPr lang="en-IN" sz="2400">
                    <a:solidFill>
                      <a:srgbClr val="111827"/>
                    </a:solidFill>
                    <a:latin typeface="Cambria Math" panose="02040503050406030204" pitchFamily="18" charset="0"/>
                  </a:rPr>
                  <a:t>$\vec{p}\cdot\vec{a}\le1$</a:t>
                </a:r>
                <a:r>
                  <a:rPr sz="2400" b="0">
                    <a:solidFill>
                      <a:srgbClr val="111827"/>
                    </a:solidFill>
                    <a:latin typeface="Arial"/>
                  </a:rPr>
                  <a:t> and </a:t>
                </a:r>
                <a:r>
                  <a:rPr lang="en-IN" sz="2400">
                    <a:solidFill>
                      <a:srgbClr val="111827"/>
                    </a:solidFill>
                    <a:latin typeface="Cambria Math" panose="02040503050406030204" pitchFamily="18" charset="0"/>
                  </a:rPr>
                  <a:t>$\vec{p}\cdot\vec{b}\le1$</a:t>
                </a:r>
                <a:r>
                  <a:rPr sz="2400" b="0">
                    <a:solidFill>
                      <a:srgbClr val="111827"/>
                    </a:solidFill>
                    <a:latin typeface="Arial"/>
                  </a:rPr>
                  <a:t>, and the coefficients are positive, so </a:t>
                </a:r>
                <a:r>
                  <a:rPr lang="en-IN" sz="2400">
                    <a:solidFill>
                      <a:srgbClr val="111827"/>
                    </a:solidFill>
                    <a:latin typeface="Cambria Math" panose="02040503050406030204" pitchFamily="18" charset="0"/>
                  </a:rPr>
                  <a:t>$\vec{p}\cdot\vec{c}\le\frac{1+2(1)}{\sqrt{3}}=\sqrt{3}$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Equality needs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num>
                      <m:den>
                        <m:r>
                          <a:rPr lang="en-IN" sz="2400" i="1">
                            <a:solidFill>
                              <a:srgbClr val="111827"/>
                            </a:solidFill>
                            <a:latin typeface="Cambria Math" panose="02040503050406030204" pitchFamily="18" charset="0"/>
                          </a:rPr>
                          <m:t>2</m:t>
                        </m:r>
                      </m:den>
                    </m:f>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which is allowed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maximum value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is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Equality needs </a:t>
                </a:r>
                <a:r>
                  <a:rPr lang="en-IN" sz="2400">
                    <a:solidFill>
                      <a:srgbClr val="111827"/>
                    </a:solidFill>
                    <a:latin typeface="Cambria Math" panose="02040503050406030204" pitchFamily="18" charset="0"/>
                  </a:rPr>
                  <a:t>$\vec{p}\cdot\vec{a}=1$</a:t>
                </a:r>
                <a:r>
                  <a:rPr sz="2400" b="0">
                    <a:solidFill>
                      <a:srgbClr val="111827"/>
                    </a:solidFill>
                    <a:latin typeface="Arial"/>
                  </a:rPr>
                  <a:t> and </a:t>
                </a:r>
                <a:r>
                  <a:rPr lang="en-IN" sz="2400">
                    <a:solidFill>
                      <a:srgbClr val="111827"/>
                    </a:solidFill>
                    <a:latin typeface="Cambria Math" panose="02040503050406030204" pitchFamily="18" charset="0"/>
                  </a:rPr>
                  <a:t>$\vec{p}\cdot\vec{b}=1$</a:t>
                </a:r>
                <a:r>
                  <a:rPr sz="2400" b="0">
                    <a:solidFill>
                      <a:srgbClr val="111827"/>
                    </a:solidFill>
                    <a:latin typeface="Arial"/>
                  </a:rPr>
                  <a:t>: </a:t>
                </a:r>
                <a:r>
                  <a:rPr lang="en-IN" sz="2400">
                    <a:solidFill>
                      <a:srgbClr val="111827"/>
                    </a:solidFill>
                    <a:latin typeface="Cambria Math" panose="02040503050406030204" pitchFamily="18" charset="0"/>
                  </a:rPr>
                  <a:t>$x=1$</a:t>
                </a:r>
                <a:r>
                  <a:rPr sz="2400" b="0">
                    <a:solidFill>
                      <a:srgbClr val="111827"/>
                    </a:solidFill>
                    <a:latin typeface="Arial"/>
                  </a:rPr>
                  <a:t> and </a:t>
                </a:r>
                <a:r>
                  <a:rPr lang="en-IN" sz="2400">
                    <a:solidFill>
                      <a:srgbClr val="111827"/>
                    </a:solidFill>
                    <a:latin typeface="Cambria Math" panose="02040503050406030204" pitchFamily="18" charset="0"/>
                  </a:rPr>
                  <a:t>$-\frac{1}{2}+\frac{\sqrt{3}}{2}y=1$</a:t>
                </a:r>
                <a:r>
                  <a:rPr sz="2400" b="0">
                    <a:solidFill>
                      <a:srgbClr val="111827"/>
                    </a:solidFill>
                    <a:latin typeface="Arial"/>
                  </a:rPr>
                  <a:t> give </a:t>
                </a:r>
                <a:r>
                  <a:rPr lang="en-IN" sz="2400">
                    <a:solidFill>
                      <a:srgbClr val="111827"/>
                    </a:solidFill>
                    <a:latin typeface="Cambria Math" panose="02040503050406030204" pitchFamily="18" charset="0"/>
                  </a:rPr>
                  <a:t>$y=\sqrt{3}$</a:t>
                </a:r>
                <a:r>
                  <a:rPr sz="2400" b="0">
                    <a:solidFill>
                      <a:srgbClr val="111827"/>
                    </a:solidFill>
                    <a:latin typeface="Arial"/>
                  </a:rPr>
                  <a:t>, which is allowed (</a:t>
                </a:r>
                <a:r>
                  <a:rPr lang="en-IN" sz="2400">
                    <a:solidFill>
                      <a:srgbClr val="111827"/>
                    </a:solidFill>
                    <a:latin typeface="Cambria Math" panose="02040503050406030204" pitchFamily="18" charset="0"/>
                  </a:rPr>
                  <a:t>$0\le x\le1$</a:t>
                </a:r>
                <a:r>
                  <a:rPr sz="2400" b="0">
                    <a:solidFill>
                      <a:srgbClr val="111827"/>
                    </a:solidFill>
                    <a:latin typeface="Arial"/>
                  </a:rPr>
                  <a:t>, </a:t>
                </a:r>
                <a:r>
                  <a:rPr lang="en-IN" sz="2400">
                    <a:solidFill>
                      <a:srgbClr val="111827"/>
                    </a:solidFill>
                    <a:latin typeface="Cambria Math" panose="02040503050406030204" pitchFamily="18" charset="0"/>
                  </a:rPr>
                  <a:t>$0\le\vec{p}\cdot\vec{b}=1\le1$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So the maximum value of </a:t>
                </a:r>
                <a:r>
                  <a:rPr lang="en-IN" sz="2400">
                    <a:solidFill>
                      <a:srgbClr val="111827"/>
                    </a:solidFill>
                    <a:latin typeface="Cambria Math" panose="02040503050406030204" pitchFamily="18" charset="0"/>
                  </a:rPr>
                  <a:t>$\vec{p}\cdot\vec{c}$</a:t>
                </a:r>
                <a:r>
                  <a:rPr sz="2400" b="0">
                    <a:solidFill>
                      <a:srgbClr val="111827"/>
                    </a:solidFill>
                    <a:latin typeface="Arial"/>
                  </a:rPr>
                  <a:t> is </a:t>
                </a:r>
                <a:r>
                  <a:rPr lang="en-IN" sz="2400">
                    <a:solidFill>
                      <a:srgbClr val="111827"/>
                    </a:solidFill>
                    <a:latin typeface="Cambria Math" panose="02040503050406030204" pitchFamily="18" charset="0"/>
                  </a:rPr>
                  <a:t>$\sqrt{3}$</a:t>
                </a:r>
                <a:r>
                  <a:rPr sz="2400" b="0">
                    <a:solidFill>
                      <a:srgbClr val="111827"/>
                    </a:solidFill>
                    <a:latin typeface="Arial"/>
                  </a:rPr>
                  <a: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14:m>
                  <m:oMath xmlns:m="http://schemas.openxmlformats.org/officeDocument/2006/math">
                    <m:rad>
                      <m:radPr>
                        <m:degHide m:val="on"/>
                        <m:ctrlPr>
                          <a:rPr lang="en-IN" sz="2800" i="1">
                            <a:solidFill>
                              <a:srgbClr val="15803D"/>
                            </a:solidFill>
                            <a:latin typeface="Cambria Math" panose="02040503050406030204" pitchFamily="18" charset="0"/>
                          </a:rPr>
                        </m:ctrlPr>
                      </m:radPr>
                      <m:deg/>
                      <m:e>
                        <m:r>
                          <a:rPr lang="en-IN" sz="2800" i="1">
                            <a:solidFill>
                              <a:srgbClr val="15803D"/>
                            </a:solidFill>
                            <a:latin typeface="Cambria Math" panose="02040503050406030204" pitchFamily="18" charset="0"/>
                          </a:rPr>
                          <m:t>3</m:t>
                        </m:r>
                      </m:e>
                    </m:rad>
                  </m:oMath>
                </a14:m>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t>
                </a:r>
                <a:r>
                  <a:rPr lang="en-IN" sz="2800">
                    <a:solidFill>
                      <a:srgbClr val="15803D"/>
                    </a:solidFill>
                    <a:latin typeface="Cambria Math" panose="02040503050406030204" pitchFamily="18" charset="0"/>
                  </a:rPr>
                  <a:t>$\sqrt{3}$</a:t>
                </a:r>
                <a:endParaRPr sz="2800">
                  <a:solidFill>
                    <a:srgbClr val="15803D"/>
                  </a:solidFill>
                </a:endParaRPr>
              </a:p>
            </p:txBody>
          </p:sp>
        </mc:Fallback>
      </mc:AlternateContent>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42</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 maximise a linear function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under linear bounds on </a:t>
                </a:r>
                <a14:m>
                  <m:oMath xmlns:m="http://schemas.openxmlformats.org/officeDocument/2006/math">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write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1</m:t>
                        </m:r>
                      </m:sub>
                    </m:sSub>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2</m:t>
                        </m:r>
                      </m:sub>
                    </m:sSub>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with </a:t>
                </a:r>
                <a14:m>
                  <m:oMath xmlns:m="http://schemas.openxmlformats.org/officeDocument/2006/math">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𝑖</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max</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α</m:t>
                        </m:r>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max</m:t>
                    </m:r>
                    <m:sSub>
                      <m:e>
                        <m:r>
                          <a:rPr lang="en-IN" sz="2400" i="1">
                            <a:solidFill>
                              <a:srgbClr val="111827"/>
                            </a:solidFill>
                            <a:latin typeface="Cambria Math" panose="02040503050406030204" pitchFamily="18" charset="0"/>
                          </a:rPr>
                          <m:t>𝑔</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with equality if both maxima can hold together (a dual-certificate shortcut that avoids casework on vertices).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vector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oMath>
                </a14:m>
                <a:r>
                  <a:rPr sz="2400" b="0">
                    <a:solidFill>
                      <a:srgbClr val="111827"/>
                    </a:solidFill>
                    <a:latin typeface="Arial"/>
                  </a:rPr>
                  <a:t> in the plane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oMath>
                </a14:m>
                <a:r>
                  <a:rPr sz="2400" b="0">
                    <a:solidFill>
                      <a:srgbClr val="111827"/>
                    </a:solidFill>
                    <a:latin typeface="Arial"/>
                  </a:rPr>
                  <a:t> is determined by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when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are non-parallel, so constraints on these dot products describe a parallelogram of allowed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feasible region is the parallelogram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the maximum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is at its vertex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𝑝</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To maximise a linear function </a:t>
                </a:r>
                <a:r>
                  <a:rPr lang="en-IN" sz="2400">
                    <a:solidFill>
                      <a:srgbClr val="111827"/>
                    </a:solidFill>
                    <a:latin typeface="Cambria Math" panose="02040503050406030204" pitchFamily="18" charset="0"/>
                  </a:rPr>
                  <a:t>$f$</a:t>
                </a:r>
                <a:r>
                  <a:rPr sz="2400" b="0">
                    <a:solidFill>
                      <a:srgbClr val="111827"/>
                    </a:solidFill>
                    <a:latin typeface="Arial"/>
                  </a:rPr>
                  <a:t> under linear bounds on </a:t>
                </a:r>
                <a:r>
                  <a:rPr lang="en-IN" sz="2400">
                    <a:solidFill>
                      <a:srgbClr val="111827"/>
                    </a:solidFill>
                    <a:latin typeface="Cambria Math" panose="02040503050406030204" pitchFamily="18" charset="0"/>
                  </a:rPr>
                  <a:t>$g_1,g_2$</a:t>
                </a:r>
                <a:r>
                  <a:rPr sz="2400" b="0">
                    <a:solidFill>
                      <a:srgbClr val="111827"/>
                    </a:solidFill>
                    <a:latin typeface="Arial"/>
                  </a:rPr>
                  <a:t>, write </a:t>
                </a:r>
                <a:r>
                  <a:rPr lang="en-IN" sz="2400">
                    <a:solidFill>
                      <a:srgbClr val="111827"/>
                    </a:solidFill>
                    <a:latin typeface="Cambria Math" panose="02040503050406030204" pitchFamily="18" charset="0"/>
                  </a:rPr>
                  <a:t>$f=\alpha_1g_1+\alpha_2g_2$</a:t>
                </a:r>
                <a:r>
                  <a:rPr sz="2400" b="0">
                    <a:solidFill>
                      <a:srgbClr val="111827"/>
                    </a:solidFill>
                    <a:latin typeface="Arial"/>
                  </a:rPr>
                  <a:t> with </a:t>
                </a:r>
                <a:r>
                  <a:rPr lang="en-IN" sz="2400">
                    <a:solidFill>
                      <a:srgbClr val="111827"/>
                    </a:solidFill>
                    <a:latin typeface="Cambria Math" panose="02040503050406030204" pitchFamily="18" charset="0"/>
                  </a:rPr>
                  <a:t>$\alpha_i\ge0$</a:t>
                </a:r>
                <a:r>
                  <a:rPr sz="2400" b="0">
                    <a:solidFill>
                      <a:srgbClr val="111827"/>
                    </a:solidFill>
                    <a:latin typeface="Arial"/>
                  </a:rPr>
                  <a:t>; then </a:t>
                </a:r>
                <a:r>
                  <a:rPr lang="en-IN" sz="2400">
                    <a:solidFill>
                      <a:srgbClr val="111827"/>
                    </a:solidFill>
                    <a:latin typeface="Cambria Math" panose="02040503050406030204" pitchFamily="18" charset="0"/>
                  </a:rPr>
                  <a:t>$f\le\alpha_1\max g_1+\alpha_2\max g_2$</a:t>
                </a:r>
                <a:r>
                  <a:rPr sz="2400" b="0">
                    <a:solidFill>
                      <a:srgbClr val="111827"/>
                    </a:solidFill>
                    <a:latin typeface="Arial"/>
                  </a:rPr>
                  <a:t>, with equality if both maxima can hold together (a dual-certificate shortcut that avoids casework on vertices).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 vector </a:t>
                </a:r>
                <a:r>
                  <a:rPr lang="en-IN" sz="2400">
                    <a:solidFill>
                      <a:srgbClr val="111827"/>
                    </a:solidFill>
                    <a:latin typeface="Cambria Math" panose="02040503050406030204" pitchFamily="18" charset="0"/>
                  </a:rPr>
                  <a:t>$\vec{p}$</a:t>
                </a:r>
                <a:r>
                  <a:rPr sz="2400" b="0">
                    <a:solidFill>
                      <a:srgbClr val="111827"/>
                    </a:solidFill>
                    <a:latin typeface="Arial"/>
                  </a:rPr>
                  <a:t> in the plane of </a:t>
                </a:r>
                <a:r>
                  <a:rPr lang="en-IN" sz="2400">
                    <a:solidFill>
                      <a:srgbClr val="111827"/>
                    </a:solidFill>
                    <a:latin typeface="Cambria Math" panose="02040503050406030204" pitchFamily="18" charset="0"/>
                  </a:rPr>
                  <a:t>$\vec{a},\vec{b}$</a:t>
                </a:r>
                <a:r>
                  <a:rPr sz="2400" b="0">
                    <a:solidFill>
                      <a:srgbClr val="111827"/>
                    </a:solidFill>
                    <a:latin typeface="Arial"/>
                  </a:rPr>
                  <a:t>, </a:t>
                </a:r>
                <a:r>
                  <a:rPr lang="en-IN" sz="2400">
                    <a:solidFill>
                      <a:srgbClr val="111827"/>
                    </a:solidFill>
                    <a:latin typeface="Cambria Math" panose="02040503050406030204" pitchFamily="18" charset="0"/>
                  </a:rPr>
                  <a:t>$\vec{p}$</a:t>
                </a:r>
                <a:r>
                  <a:rPr sz="2400" b="0">
                    <a:solidFill>
                      <a:srgbClr val="111827"/>
                    </a:solidFill>
                    <a:latin typeface="Arial"/>
                  </a:rPr>
                  <a:t> is determined by </a:t>
                </a:r>
                <a:r>
                  <a:rPr lang="en-IN" sz="2400">
                    <a:solidFill>
                      <a:srgbClr val="111827"/>
                    </a:solidFill>
                    <a:latin typeface="Cambria Math" panose="02040503050406030204" pitchFamily="18" charset="0"/>
                  </a:rPr>
                  <a:t>$\vec{p}\cdot\vec{a}$</a:t>
                </a:r>
                <a:r>
                  <a:rPr sz="2400" b="0">
                    <a:solidFill>
                      <a:srgbClr val="111827"/>
                    </a:solidFill>
                    <a:latin typeface="Arial"/>
                  </a:rPr>
                  <a:t> and </a:t>
                </a:r>
                <a:r>
                  <a:rPr lang="en-IN" sz="2400">
                    <a:solidFill>
                      <a:srgbClr val="111827"/>
                    </a:solidFill>
                    <a:latin typeface="Cambria Math" panose="02040503050406030204" pitchFamily="18" charset="0"/>
                  </a:rPr>
                  <a:t>$\vec{p}\cdot\vec{b}$</a:t>
                </a:r>
                <a:r>
                  <a:rPr sz="2400" b="0">
                    <a:solidFill>
                      <a:srgbClr val="111827"/>
                    </a:solidFill>
                    <a:latin typeface="Arial"/>
                  </a:rPr>
                  <a:t> when </a:t>
                </a:r>
                <a:r>
                  <a:rPr lang="en-IN" sz="2400">
                    <a:solidFill>
                      <a:srgbClr val="111827"/>
                    </a:solidFill>
                    <a:latin typeface="Cambria Math" panose="02040503050406030204" pitchFamily="18" charset="0"/>
                  </a:rPr>
                  <a:t>$\vec{a},\vec{b}$</a:t>
                </a:r>
                <a:r>
                  <a:rPr sz="2400" b="0">
                    <a:solidFill>
                      <a:srgbClr val="111827"/>
                    </a:solidFill>
                    <a:latin typeface="Arial"/>
                  </a:rPr>
                  <a:t> are non-parallel, so constraints on these dot products describe a parallelogram of allowed </a:t>
                </a:r>
                <a:r>
                  <a:rPr lang="en-IN" sz="2400">
                    <a:solidFill>
                      <a:srgbClr val="111827"/>
                    </a:solidFill>
                    <a:latin typeface="Cambria Math" panose="02040503050406030204" pitchFamily="18" charset="0"/>
                  </a:rPr>
                  <a:t>$\vec{p}$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Here the feasible region is the parallelogram </a:t>
                </a:r>
                <a:r>
                  <a:rPr lang="en-IN" sz="2400">
                    <a:solidFill>
                      <a:srgbClr val="111827"/>
                    </a:solidFill>
                    <a:latin typeface="Cambria Math" panose="02040503050406030204" pitchFamily="18" charset="0"/>
                  </a:rPr>
                  <a:t>$0\le\vec{p}\cdot\vec{a}\le1$</a:t>
                </a:r>
                <a:r>
                  <a:rPr sz="2400" b="0">
                    <a:solidFill>
                      <a:srgbClr val="111827"/>
                    </a:solidFill>
                    <a:latin typeface="Arial"/>
                  </a:rPr>
                  <a:t>, </a:t>
                </a:r>
                <a:r>
                  <a:rPr lang="en-IN" sz="2400">
                    <a:solidFill>
                      <a:srgbClr val="111827"/>
                    </a:solidFill>
                    <a:latin typeface="Cambria Math" panose="02040503050406030204" pitchFamily="18" charset="0"/>
                  </a:rPr>
                  <a:t>$0\le\vec{p}\cdot\vec{b}\le1$</a:t>
                </a:r>
                <a:r>
                  <a:rPr sz="2400" b="0">
                    <a:solidFill>
                      <a:srgbClr val="111827"/>
                    </a:solidFill>
                    <a:latin typeface="Arial"/>
                  </a:rPr>
                  <a:t> and the maximum of </a:t>
                </a:r>
                <a:r>
                  <a:rPr lang="en-IN" sz="2400">
                    <a:solidFill>
                      <a:srgbClr val="111827"/>
                    </a:solidFill>
                    <a:latin typeface="Cambria Math" panose="02040503050406030204" pitchFamily="18" charset="0"/>
                  </a:rPr>
                  <a:t>$\vec{p}\cdot\vec{c}$</a:t>
                </a:r>
                <a:r>
                  <a:rPr sz="2400" b="0">
                    <a:solidFill>
                      <a:srgbClr val="111827"/>
                    </a:solidFill>
                    <a:latin typeface="Arial"/>
                  </a:rPr>
                  <a:t> is at its vertex </a:t>
                </a:r>
                <a:r>
                  <a:rPr lang="en-IN" sz="2400">
                    <a:solidFill>
                      <a:srgbClr val="111827"/>
                    </a:solidFill>
                    <a:latin typeface="Cambria Math" panose="02040503050406030204" pitchFamily="18" charset="0"/>
                  </a:rPr>
                  <a:t>$\vec{p}\cdot\vec{a}=\vec{p}\cdot\vec{b}=1$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914400" y="1463040"/>
            <a:ext cx="10362895" cy="4114800"/>
          </a:xfrm>
          <a:prstGeom prst="rect">
            <a:avLst/>
          </a:prstGeom>
          <a:noFill/>
        </p:spPr>
        <p:txBody>
          <a:bodyPr wrap="square">
            <a:spAutoFit/>
          </a:bodyPr>
          <a:lstStyle>
            <a:lvl1pPr>
              <a:defRPr sz="2800">
                <a:solidFill>
                  <a:srgbClr val="FFFFFF"/>
                </a:solidFill>
              </a:defRPr>
            </a:lvl1pPr>
          </a:lstStyle>
          <a:p>
            <a:pPr algn="ctr">
              <a:spcAft>
                <a:spcPts val="1000"/>
              </a:spcAft>
              <a:defRPr sz="2800">
                <a:solidFill>
                  <a:srgbClr val="FFFFFF"/>
                </a:solidFill>
              </a:defRPr>
            </a:pPr>
            <a:r>
              <a:rPr sz="2800" b="0">
                <a:solidFill>
                  <a:srgbClr val="93C5FD"/>
                </a:solidFill>
                <a:latin typeface="Arial"/>
              </a:rPr>
              <a:t>Section 3</a:t>
            </a:r>
            <a:endParaRPr sz="2800">
              <a:solidFill>
                <a:srgbClr val="FFFFFF"/>
              </a:solidFill>
            </a:endParaRPr>
          </a:p>
          <a:p>
            <a:pPr algn="ctr">
              <a:spcAft>
                <a:spcPts val="1000"/>
              </a:spcAft>
              <a:defRPr sz="2800">
                <a:solidFill>
                  <a:srgbClr val="FFFFFF"/>
                </a:solidFill>
              </a:defRPr>
            </a:pPr>
            <a:r>
              <a:rPr sz="4400" b="1">
                <a:solidFill>
                  <a:srgbClr val="FFFFFF"/>
                </a:solidFill>
                <a:latin typeface="Arial"/>
              </a:rPr>
              <a:t>Matching Type</a:t>
            </a:r>
            <a:endParaRPr sz="2800">
              <a:solidFill>
                <a:srgbClr val="FFFFFF"/>
              </a:solidFill>
            </a:endParaRPr>
          </a:p>
          <a:p>
            <a:pPr algn="ctr">
              <a:spcAft>
                <a:spcPts val="1000"/>
              </a:spcAft>
              <a:defRPr sz="2800">
                <a:solidFill>
                  <a:srgbClr val="FFFFFF"/>
                </a:solidFill>
              </a:defRPr>
            </a:pPr>
            <a:r>
              <a:rPr sz="3200" b="1">
                <a:solidFill>
                  <a:srgbClr val="FFFFFF"/>
                </a:solidFill>
                <a:latin typeface="Arial"/>
              </a:rPr>
              <a:t>Q43 – Q47</a:t>
            </a:r>
            <a:endParaRPr sz="2800">
              <a:solidFill>
                <a:srgbClr val="FFFFFF"/>
              </a:solidFill>
            </a:endParaRPr>
          </a:p>
          <a:p>
            <a:pPr algn="ctr">
              <a:spcAft>
                <a:spcPts val="1000"/>
              </a:spcAft>
              <a:defRPr sz="2800">
                <a:solidFill>
                  <a:srgbClr val="FFFFFF"/>
                </a:solidFill>
              </a:defRPr>
            </a:pPr>
            <a:r>
              <a:rPr sz="2800" b="0">
                <a:solidFill>
                  <a:srgbClr val="FFFFFF"/>
                </a:solidFill>
                <a:latin typeface="Arial"/>
              </a:rPr>
              <a:t>3 marks each (no marks printed - JEE Advanced default of 3 assumed)</a:t>
            </a:r>
            <a:endParaRPr sz="2800">
              <a:solidFill>
                <a:srgbClr val="FFFFFF"/>
              </a:solidFill>
            </a:endParaRP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517702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Match the statements/expressions in Column I with the values in Column II (an entry of Column I may match more than one entry of Column II).</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 (A) Root(s) of the equation </a:t>
                </a:r>
                <a14:m>
                  <m:oMath xmlns:m="http://schemas.openxmlformats.org/officeDocument/2006/math">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(B) Points of discontinuity of the function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π</m:t>
                            </m:r>
                          </m:den>
                        </m:f>
                      </m:e>
                    </m:d>
                    <m:r>
                      <m:rPr>
                        <m:sty m:val="p"/>
                      </m:rPr>
                      <a:rPr lang="en-IN" sz="2400">
                        <a:solidFill>
                          <a:srgbClr val="111827"/>
                        </a:solidFill>
                        <a:latin typeface="Cambria Math" panose="02040503050406030204" pitchFamily="18" charset="0"/>
                      </a:rPr>
                      <m:t>cos</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π</m:t>
                            </m:r>
                          </m:den>
                        </m:f>
                      </m:e>
                    </m:d>
                  </m:oMath>
                </a14:m>
                <a:r>
                  <a:rPr sz="2400" b="0">
                    <a:solidFill>
                      <a:srgbClr val="111827"/>
                    </a:solidFill>
                    <a:latin typeface="Arial"/>
                  </a:rPr>
                  <a:t>, where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is the largest integer less than or equal to </a:t>
                </a:r>
                <a14:m>
                  <m:oMath xmlns:m="http://schemas.openxmlformats.org/officeDocument/2006/math">
                    <m:r>
                      <a:rPr lang="en-IN" sz="2400" i="1">
                        <a:solidFill>
                          <a:srgbClr val="111827"/>
                        </a:solidFill>
                        <a:latin typeface="Cambria Math" panose="02040503050406030204" pitchFamily="18" charset="0"/>
                      </a:rPr>
                      <m:t>𝑦</m:t>
                    </m:r>
                  </m:oMath>
                </a14:m>
                <a:r>
                  <a:rPr sz="2400" b="0">
                    <a:solidFill>
                      <a:srgbClr val="111827"/>
                    </a:solidFill>
                    <a:latin typeface="Arial"/>
                  </a:rPr>
                  <a:t>; (C) Volume of the parallelepiped with edges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(D) Angle between the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where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are unit vectors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II: (p)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(q)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(t) </a:t>
                </a:r>
                <a14:m>
                  <m:oMath xmlns:m="http://schemas.openxmlformats.org/officeDocument/2006/math">
                    <m:r>
                      <a:rPr lang="en-IN" sz="2400" i="1">
                        <a:solidFill>
                          <a:srgbClr val="111827"/>
                        </a:solidFill>
                        <a:latin typeface="Cambria Math" panose="02040503050406030204" pitchFamily="18" charset="0"/>
                      </a:rPr>
                      <m:t>π</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5177028"/>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Match the statements/expressions in Column I with the values in Column II (an entry of Column I may match more than one entry of Column II).</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 (A) Root(s) of the equation </a:t>
                </a:r>
                <a:r>
                  <a:rPr lang="en-IN" sz="2400">
                    <a:solidFill>
                      <a:srgbClr val="111827"/>
                    </a:solidFill>
                    <a:latin typeface="Cambria Math" panose="02040503050406030204" pitchFamily="18" charset="0"/>
                  </a:rPr>
                  <a:t>$2\sin^2\theta+\sin^22\theta=2$</a:t>
                </a:r>
                <a:r>
                  <a:rPr sz="2400" b="0">
                    <a:solidFill>
                      <a:srgbClr val="111827"/>
                    </a:solidFill>
                    <a:latin typeface="Arial"/>
                  </a:rPr>
                  <a:t>; (B) Points of discontinuity of the function </a:t>
                </a:r>
                <a:r>
                  <a:rPr lang="en-IN" sz="2400">
                    <a:solidFill>
                      <a:srgbClr val="111827"/>
                    </a:solidFill>
                    <a:latin typeface="Cambria Math" panose="02040503050406030204" pitchFamily="18" charset="0"/>
                  </a:rPr>
                  <a:t>$f(x)=\left[\frac{6x}{\pi}\right]\cos\left[\frac{3x}{\pi}\right]$</a:t>
                </a:r>
                <a:r>
                  <a:rPr sz="2400" b="0">
                    <a:solidFill>
                      <a:srgbClr val="111827"/>
                    </a:solidFill>
                    <a:latin typeface="Arial"/>
                  </a:rPr>
                  <a:t>, where </a:t>
                </a:r>
                <a:r>
                  <a:rPr lang="en-IN" sz="2400">
                    <a:solidFill>
                      <a:srgbClr val="111827"/>
                    </a:solidFill>
                    <a:latin typeface="Cambria Math" panose="02040503050406030204" pitchFamily="18" charset="0"/>
                  </a:rPr>
                  <a:t>$[y]$</a:t>
                </a:r>
                <a:r>
                  <a:rPr sz="2400" b="0">
                    <a:solidFill>
                      <a:srgbClr val="111827"/>
                    </a:solidFill>
                    <a:latin typeface="Arial"/>
                  </a:rPr>
                  <a:t> is the largest integer less than or equal to </a:t>
                </a:r>
                <a:r>
                  <a:rPr lang="en-IN" sz="2400">
                    <a:solidFill>
                      <a:srgbClr val="111827"/>
                    </a:solidFill>
                    <a:latin typeface="Cambria Math" panose="02040503050406030204" pitchFamily="18" charset="0"/>
                  </a:rPr>
                  <a:t>$y$</a:t>
                </a:r>
                <a:r>
                  <a:rPr sz="2400" b="0">
                    <a:solidFill>
                      <a:srgbClr val="111827"/>
                    </a:solidFill>
                    <a:latin typeface="Arial"/>
                  </a:rPr>
                  <a:t>; (C) Volume of the parallelepiped with edges </a:t>
                </a:r>
                <a:r>
                  <a:rPr lang="en-IN" sz="2400">
                    <a:solidFill>
                      <a:srgbClr val="111827"/>
                    </a:solidFill>
                    <a:latin typeface="Cambria Math" panose="02040503050406030204" pitchFamily="18" charset="0"/>
                  </a:rPr>
                  <a:t>$\hat{i}+\hat{j}$</a:t>
                </a:r>
                <a:r>
                  <a:rPr sz="2400" b="0">
                    <a:solidFill>
                      <a:srgbClr val="111827"/>
                    </a:solidFill>
                    <a:latin typeface="Arial"/>
                  </a:rPr>
                  <a:t>, </a:t>
                </a:r>
                <a:r>
                  <a:rPr lang="en-IN" sz="2400">
                    <a:solidFill>
                      <a:srgbClr val="111827"/>
                    </a:solidFill>
                    <a:latin typeface="Cambria Math" panose="02040503050406030204" pitchFamily="18" charset="0"/>
                  </a:rPr>
                  <a:t>$\hat{i}+2\hat{j}$</a:t>
                </a:r>
                <a:r>
                  <a:rPr sz="2400" b="0">
                    <a:solidFill>
                      <a:srgbClr val="111827"/>
                    </a:solidFill>
                    <a:latin typeface="Arial"/>
                  </a:rPr>
                  <a:t> and </a:t>
                </a:r>
                <a:r>
                  <a:rPr lang="en-IN" sz="2400">
                    <a:solidFill>
                      <a:srgbClr val="111827"/>
                    </a:solidFill>
                    <a:latin typeface="Cambria Math" panose="02040503050406030204" pitchFamily="18" charset="0"/>
                  </a:rPr>
                  <a:t>$\hat{i}+\hat{j}+\pi\hat{k}$</a:t>
                </a:r>
                <a:r>
                  <a:rPr sz="2400" b="0">
                    <a:solidFill>
                      <a:srgbClr val="111827"/>
                    </a:solidFill>
                    <a:latin typeface="Arial"/>
                  </a:rPr>
                  <a:t>; (D) Angle between the vectors </a:t>
                </a:r>
                <a:r>
                  <a:rPr lang="en-IN" sz="2400">
                    <a:solidFill>
                      <a:srgbClr val="111827"/>
                    </a:solidFill>
                    <a:latin typeface="Cambria Math" panose="02040503050406030204" pitchFamily="18" charset="0"/>
                  </a:rPr>
                  <a:t>$\vec{a}$</a:t>
                </a:r>
                <a:r>
                  <a:rPr sz="2400" b="0">
                    <a:solidFill>
                      <a:srgbClr val="111827"/>
                    </a:solidFill>
                    <a:latin typeface="Arial"/>
                  </a:rPr>
                  <a:t> and </a:t>
                </a:r>
                <a:r>
                  <a:rPr lang="en-IN" sz="2400">
                    <a:solidFill>
                      <a:srgbClr val="111827"/>
                    </a:solidFill>
                    <a:latin typeface="Cambria Math" panose="02040503050406030204" pitchFamily="18" charset="0"/>
                  </a:rPr>
                  <a:t>$\vec{b}$</a:t>
                </a:r>
                <a:r>
                  <a:rPr sz="2400" b="0">
                    <a:solidFill>
                      <a:srgbClr val="111827"/>
                    </a:solidFill>
                    <a:latin typeface="Arial"/>
                  </a:rPr>
                  <a:t>, where </a:t>
                </a:r>
                <a:r>
                  <a:rPr lang="en-IN" sz="2400">
                    <a:solidFill>
                      <a:srgbClr val="111827"/>
                    </a:solidFill>
                    <a:latin typeface="Cambria Math" panose="02040503050406030204" pitchFamily="18" charset="0"/>
                  </a:rPr>
                  <a:t>$\vec{a},\vec{b},\vec{c}$</a:t>
                </a:r>
                <a:r>
                  <a:rPr sz="2400" b="0">
                    <a:solidFill>
                      <a:srgbClr val="111827"/>
                    </a:solidFill>
                    <a:latin typeface="Arial"/>
                  </a:rPr>
                  <a:t> are unit vectors with </a:t>
                </a:r>
                <a:r>
                  <a:rPr lang="en-IN" sz="2400">
                    <a:solidFill>
                      <a:srgbClr val="111827"/>
                    </a:solidFill>
                    <a:latin typeface="Cambria Math" panose="02040503050406030204" pitchFamily="18" charset="0"/>
                  </a:rPr>
                  <a:t>$\vec{a}+\vec{b}+\sqrt{3}\,\vec{c}=\vec{0}$</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II: (p) </a:t>
                </a:r>
                <a:r>
                  <a:rPr lang="en-IN" sz="2400">
                    <a:solidFill>
                      <a:srgbClr val="111827"/>
                    </a:solidFill>
                    <a:latin typeface="Cambria Math" panose="02040503050406030204" pitchFamily="18" charset="0"/>
                  </a:rPr>
                  <a:t>$\frac{\pi}{6}$</a:t>
                </a:r>
                <a:r>
                  <a:rPr sz="2400" b="0">
                    <a:solidFill>
                      <a:srgbClr val="111827"/>
                    </a:solidFill>
                    <a:latin typeface="Arial"/>
                  </a:rPr>
                  <a:t>; (q) </a:t>
                </a:r>
                <a:r>
                  <a:rPr lang="en-IN" sz="2400">
                    <a:solidFill>
                      <a:srgbClr val="111827"/>
                    </a:solidFill>
                    <a:latin typeface="Cambria Math" panose="02040503050406030204" pitchFamily="18" charset="0"/>
                  </a:rPr>
                  <a:t>$\frac{\pi}{4}$</a:t>
                </a:r>
                <a:r>
                  <a:rPr sz="2400" b="0">
                    <a:solidFill>
                      <a:srgbClr val="111827"/>
                    </a:solidFill>
                    <a:latin typeface="Arial"/>
                  </a:rPr>
                  <a:t>; (r) </a:t>
                </a:r>
                <a:r>
                  <a:rPr lang="en-IN" sz="2400">
                    <a:solidFill>
                      <a:srgbClr val="111827"/>
                    </a:solidFill>
                    <a:latin typeface="Cambria Math" panose="02040503050406030204" pitchFamily="18" charset="0"/>
                  </a:rPr>
                  <a:t>$\frac{\pi}{3}$</a:t>
                </a:r>
                <a:r>
                  <a:rPr sz="2400" b="0">
                    <a:solidFill>
                      <a:srgbClr val="111827"/>
                    </a:solidFill>
                    <a:latin typeface="Arial"/>
                  </a:rPr>
                  <a:t>; (s) </a:t>
                </a:r>
                <a:r>
                  <a:rPr lang="en-IN" sz="2400">
                    <a:solidFill>
                      <a:srgbClr val="111827"/>
                    </a:solidFill>
                    <a:latin typeface="Cambria Math" panose="02040503050406030204" pitchFamily="18" charset="0"/>
                  </a:rPr>
                  <a:t>$\frac{\pi}{2}$</a:t>
                </a:r>
                <a:r>
                  <a:rPr sz="2400" b="0">
                    <a:solidFill>
                      <a:srgbClr val="111827"/>
                    </a:solidFill>
                    <a:latin typeface="Arial"/>
                  </a:rPr>
                  <a:t>; (t) </a:t>
                </a:r>
                <a:r>
                  <a:rPr lang="en-IN" sz="2400">
                    <a:solidFill>
                      <a:srgbClr val="111827"/>
                    </a:solidFill>
                    <a:latin typeface="Cambria Math" panose="02040503050406030204" pitchFamily="18" charset="0"/>
                  </a:rPr>
                  <a:t>$\pi$</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Matching List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Vector algebra, Trigonometric equations and continuity</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Four short items: (A) factor out </a:t>
                </a:r>
                <a14:m>
                  <m:oMath xmlns:m="http://schemas.openxmlformats.org/officeDocument/2006/math">
                    <m:sSup>
                      <m:e>
                        <m:r>
                          <m:rPr>
                            <m:sty m:val="p"/>
                          </m:rPr>
                          <a:rPr lang="en-IN" sz="2400">
                            <a:solidFill>
                              <a:srgbClr val="78350F"/>
                            </a:solidFill>
                            <a:latin typeface="Cambria Math" panose="02040503050406030204" pitchFamily="18" charset="0"/>
                          </a:rPr>
                          <m:t>cos</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θ</m:t>
                    </m:r>
                  </m:oMath>
                </a14:m>
                <a:r>
                  <a:rPr sz="2400" b="0">
                    <a:solidFill>
                      <a:srgbClr val="78350F"/>
                    </a:solidFill>
                    <a:latin typeface="Arial"/>
                  </a:rPr>
                  <a:t>; (B)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6</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π</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or </a:t>
                </a:r>
                <a14:m>
                  <m:oMath xmlns:m="http://schemas.openxmlformats.org/officeDocument/2006/math">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3</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π</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must jump; (C) triple product; (D) square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Four short items: (A) factor out </a:t>
                </a:r>
                <a:r>
                  <a:rPr lang="en-IN" sz="2400">
                    <a:solidFill>
                      <a:srgbClr val="78350F"/>
                    </a:solidFill>
                    <a:latin typeface="Cambria Math" panose="02040503050406030204" pitchFamily="18" charset="0"/>
                  </a:rPr>
                  <a:t>$\cos^2\theta$</a:t>
                </a:r>
                <a:r>
                  <a:rPr sz="2400" b="0">
                    <a:solidFill>
                      <a:srgbClr val="78350F"/>
                    </a:solidFill>
                    <a:latin typeface="Arial"/>
                  </a:rPr>
                  <a:t>; (B) </a:t>
                </a:r>
                <a:r>
                  <a:rPr lang="en-IN" sz="2400">
                    <a:solidFill>
                      <a:srgbClr val="78350F"/>
                    </a:solidFill>
                    <a:latin typeface="Cambria Math" panose="02040503050406030204" pitchFamily="18" charset="0"/>
                  </a:rPr>
                  <a:t>$[6x/\pi]$</a:t>
                </a:r>
                <a:r>
                  <a:rPr sz="2400" b="0">
                    <a:solidFill>
                      <a:srgbClr val="78350F"/>
                    </a:solidFill>
                    <a:latin typeface="Arial"/>
                  </a:rPr>
                  <a:t> or </a:t>
                </a:r>
                <a:r>
                  <a:rPr lang="en-IN" sz="2400">
                    <a:solidFill>
                      <a:srgbClr val="78350F"/>
                    </a:solidFill>
                    <a:latin typeface="Cambria Math" panose="02040503050406030204" pitchFamily="18" charset="0"/>
                  </a:rPr>
                  <a:t>$[3x/\pi]$</a:t>
                </a:r>
                <a:r>
                  <a:rPr sz="2400" b="0">
                    <a:solidFill>
                      <a:srgbClr val="78350F"/>
                    </a:solidFill>
                    <a:latin typeface="Arial"/>
                  </a:rPr>
                  <a:t> must jump; (C) triple product; (D) square </a:t>
                </a:r>
                <a:r>
                  <a:rPr lang="en-IN" sz="2400">
                    <a:solidFill>
                      <a:srgbClr val="78350F"/>
                    </a:solidFill>
                    <a:latin typeface="Cambria Math" panose="02040503050406030204" pitchFamily="18" charset="0"/>
                  </a:rPr>
                  <a:t>$\vec{a}+\vec{b}=-\sqrt3\vec{c}$</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276088"/>
                <a:ext cx="10725912" cy="13990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4</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276088"/>
                <a:ext cx="10725912" cy="13990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$\sin^22\theta=2-2\sin^2\theta=2\cos^2\theta$</a:t>
                </a:r>
                <a:r>
                  <a:rPr sz="2400" b="0">
                    <a:solidFill>
                      <a:srgbClr val="111827"/>
                    </a:solidFill>
                    <a:latin typeface="Arial"/>
                  </a:rPr>
                  <a:t>, so </a:t>
                </a:r>
                <a:r>
                  <a:rPr lang="en-IN" sz="2400">
                    <a:solidFill>
                      <a:srgbClr val="111827"/>
                    </a:solidFill>
                    <a:latin typeface="Cambria Math" panose="02040503050406030204" pitchFamily="18" charset="0"/>
                  </a:rPr>
                  <a:t>$4\sin^2\theta\cos^2\theta=2\cos^2\theta$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$\cos^2\theta\left(2\sin^2\theta-1\right)=0$</a:t>
                </a:r>
                <a:r>
                  <a:rPr sz="2400" b="0">
                    <a:solidFill>
                      <a:srgbClr val="111827"/>
                    </a:solidFill>
                    <a:latin typeface="Arial"/>
                  </a:rPr>
                  <a:t>, so </a:t>
                </a:r>
                <a:r>
                  <a:rPr lang="en-IN" sz="2400">
                    <a:solidFill>
                      <a:srgbClr val="111827"/>
                    </a:solidFill>
                    <a:latin typeface="Cambria Math" panose="02040503050406030204" pitchFamily="18" charset="0"/>
                  </a:rPr>
                  <a:t>$\cos\theta=0$</a:t>
                </a:r>
                <a:r>
                  <a:rPr sz="2400" b="0">
                    <a:solidFill>
                      <a:srgbClr val="111827"/>
                    </a:solidFill>
                    <a:latin typeface="Arial"/>
                  </a:rPr>
                  <a:t> or </a:t>
                </a:r>
                <a:r>
                  <a:rPr lang="en-IN" sz="2400">
                    <a:solidFill>
                      <a:srgbClr val="111827"/>
                    </a:solidFill>
                    <a:latin typeface="Cambria Math" panose="02040503050406030204" pitchFamily="18" charset="0"/>
                  </a:rPr>
                  <a:t>$\sin^2\theta=\frac12$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 </a:t>
                </a:r>
                <a14:m>
                  <m:oMath xmlns:m="http://schemas.openxmlformats.org/officeDocument/2006/math">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(q).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fail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the left side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(A)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(q),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π</m:t>
                            </m:r>
                          </m:den>
                        </m:f>
                      </m:e>
                    </m:d>
                  </m:oMath>
                </a14:m>
                <a:r>
                  <a:rPr sz="2400" b="0">
                    <a:solidFill>
                      <a:srgbClr val="111827"/>
                    </a:solidFill>
                    <a:latin typeface="Arial"/>
                  </a:rPr>
                  <a:t> can jump only where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6</m:t>
                        </m:r>
                      </m:den>
                    </m:f>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π</m:t>
                            </m:r>
                          </m:den>
                        </m:f>
                      </m:e>
                    </m:d>
                  </m:oMath>
                </a14:m>
                <a:r>
                  <a:rPr sz="2400" b="0">
                    <a:solidFill>
                      <a:srgbClr val="111827"/>
                    </a:solidFill>
                    <a:latin typeface="Arial"/>
                  </a:rPr>
                  <a:t> only where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2</m:t>
                            </m:r>
                          </m:sub>
                        </m:sSub>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integers).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are such points;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neither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1.5</m:t>
                    </m:r>
                  </m:oMath>
                </a14:m>
                <a:r>
                  <a:rPr sz="2400" b="0">
                    <a:solidFill>
                      <a:srgbClr val="111827"/>
                    </a:solidFill>
                    <a:latin typeface="Arial"/>
                  </a:rPr>
                  <a:t> nor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0.75</m:t>
                    </m:r>
                  </m:oMath>
                </a14:m>
                <a:r>
                  <a:rPr sz="2400" b="0">
                    <a:solidFill>
                      <a:srgbClr val="111827"/>
                    </a:solidFill>
                    <a:latin typeface="Arial"/>
                  </a:rPr>
                  <a:t> is an integer, so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continuous there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is excluded.</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$\cos\theta=0$</a:t>
                </a:r>
                <a:r>
                  <a:rPr sz="2400" b="0">
                    <a:solidFill>
                      <a:srgbClr val="111827"/>
                    </a:solidFill>
                    <a:latin typeface="Arial"/>
                  </a:rPr>
                  <a:t> gives </a:t>
                </a:r>
                <a:r>
                  <a:rPr lang="en-IN" sz="2400">
                    <a:solidFill>
                      <a:srgbClr val="111827"/>
                    </a:solidFill>
                    <a:latin typeface="Cambria Math" panose="02040503050406030204" pitchFamily="18" charset="0"/>
                  </a:rPr>
                  <a:t>$\theta=\frac\pi2$</a:t>
                </a:r>
                <a:r>
                  <a:rPr sz="2400" b="0">
                    <a:solidFill>
                      <a:srgbClr val="111827"/>
                    </a:solidFill>
                    <a:latin typeface="Arial"/>
                  </a:rPr>
                  <a:t> (s); </a:t>
                </a:r>
                <a:r>
                  <a:rPr lang="en-IN" sz="2400">
                    <a:solidFill>
                      <a:srgbClr val="111827"/>
                    </a:solidFill>
                    <a:latin typeface="Cambria Math" panose="02040503050406030204" pitchFamily="18" charset="0"/>
                  </a:rPr>
                  <a:t>$\sin^2\theta=\frac12$</a:t>
                </a:r>
                <a:r>
                  <a:rPr sz="2400" b="0">
                    <a:solidFill>
                      <a:srgbClr val="111827"/>
                    </a:solidFill>
                    <a:latin typeface="Arial"/>
                  </a:rPr>
                  <a:t> gives </a:t>
                </a:r>
                <a:r>
                  <a:rPr lang="en-IN" sz="2400">
                    <a:solidFill>
                      <a:srgbClr val="111827"/>
                    </a:solidFill>
                    <a:latin typeface="Cambria Math" panose="02040503050406030204" pitchFamily="18" charset="0"/>
                  </a:rPr>
                  <a:t>$\theta=\frac\pi4$</a:t>
                </a:r>
                <a:r>
                  <a:rPr sz="2400" b="0">
                    <a:solidFill>
                      <a:srgbClr val="111827"/>
                    </a:solidFill>
                    <a:latin typeface="Arial"/>
                  </a:rPr>
                  <a:t> (q). </a:t>
                </a:r>
                <a:r>
                  <a:rPr lang="en-IN" sz="2400">
                    <a:solidFill>
                      <a:srgbClr val="111827"/>
                    </a:solidFill>
                    <a:latin typeface="Cambria Math" panose="02040503050406030204" pitchFamily="18" charset="0"/>
                  </a:rPr>
                  <a:t>$\frac\pi6,\frac\pi3,\pi$</a:t>
                </a:r>
                <a:r>
                  <a:rPr sz="2400" b="0">
                    <a:solidFill>
                      <a:srgbClr val="111827"/>
                    </a:solidFill>
                    <a:latin typeface="Arial"/>
                  </a:rPr>
                  <a:t> fail (at </a:t>
                </a:r>
                <a:r>
                  <a:rPr lang="en-IN" sz="2400">
                    <a:solidFill>
                      <a:srgbClr val="111827"/>
                    </a:solidFill>
                    <a:latin typeface="Cambria Math" panose="02040503050406030204" pitchFamily="18" charset="0"/>
                  </a:rPr>
                  <a:t>$\frac\pi6$</a:t>
                </a:r>
                <a:r>
                  <a:rPr sz="2400" b="0">
                    <a:solidFill>
                      <a:srgbClr val="111827"/>
                    </a:solidFill>
                    <a:latin typeface="Arial"/>
                  </a:rPr>
                  <a:t> the left side is </a:t>
                </a:r>
                <a:r>
                  <a:rPr lang="en-IN" sz="2400">
                    <a:solidFill>
                      <a:srgbClr val="111827"/>
                    </a:solidFill>
                    <a:latin typeface="Cambria Math" panose="02040503050406030204" pitchFamily="18" charset="0"/>
                  </a:rPr>
                  <a:t>$\frac12+\frac34\neq2$</a:t>
                </a:r>
                <a:r>
                  <a:rPr sz="2400" b="0">
                    <a:solidFill>
                      <a:srgbClr val="111827"/>
                    </a:solidFill>
                    <a:latin typeface="Arial"/>
                  </a:rPr>
                  <a:t>). So (A) </a:t>
                </a:r>
                <a:r>
                  <a:rPr lang="en-IN" sz="2400">
                    <a:solidFill>
                      <a:srgbClr val="111827"/>
                    </a:solidFill>
                    <a:latin typeface="Cambria Math" panose="02040503050406030204" pitchFamily="18" charset="0"/>
                  </a:rPr>
                  <a:t>$\to$</a:t>
                </a:r>
                <a:r>
                  <a:rPr sz="2400" b="0">
                    <a:solidFill>
                      <a:srgbClr val="111827"/>
                    </a:solidFill>
                    <a:latin typeface="Arial"/>
                  </a:rPr>
                  <a:t> (q), (s).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$\left[\frac{6x}{\pi}\right]$</a:t>
                </a:r>
                <a:r>
                  <a:rPr sz="2400" b="0">
                    <a:solidFill>
                      <a:srgbClr val="111827"/>
                    </a:solidFill>
                    <a:latin typeface="Arial"/>
                  </a:rPr>
                  <a:t> can jump only where </a:t>
                </a:r>
                <a:r>
                  <a:rPr lang="en-IN" sz="2400">
                    <a:solidFill>
                      <a:srgbClr val="111827"/>
                    </a:solidFill>
                    <a:latin typeface="Cambria Math" panose="02040503050406030204" pitchFamily="18" charset="0"/>
                  </a:rPr>
                  <a:t>$\frac{6x}{\pi}=I_1$</a:t>
                </a:r>
                <a:r>
                  <a:rPr sz="2400" b="0">
                    <a:solidFill>
                      <a:srgbClr val="111827"/>
                    </a:solidFill>
                    <a:latin typeface="Arial"/>
                  </a:rPr>
                  <a:t>, i.e. </a:t>
                </a:r>
                <a:r>
                  <a:rPr lang="en-IN" sz="2400">
                    <a:solidFill>
                      <a:srgbClr val="111827"/>
                    </a:solidFill>
                    <a:latin typeface="Cambria Math" panose="02040503050406030204" pitchFamily="18" charset="0"/>
                  </a:rPr>
                  <a:t>$x=\frac{\pi I_1}{6}$</a:t>
                </a:r>
                <a:r>
                  <a:rPr sz="2400" b="0">
                    <a:solidFill>
                      <a:srgbClr val="111827"/>
                    </a:solidFill>
                    <a:latin typeface="Arial"/>
                  </a:rPr>
                  <a:t>; </a:t>
                </a:r>
                <a:r>
                  <a:rPr lang="en-IN" sz="2400">
                    <a:solidFill>
                      <a:srgbClr val="111827"/>
                    </a:solidFill>
                    <a:latin typeface="Cambria Math" panose="02040503050406030204" pitchFamily="18" charset="0"/>
                  </a:rPr>
                  <a:t>$\left[\frac{3x}{\pi}\right]$</a:t>
                </a:r>
                <a:r>
                  <a:rPr sz="2400" b="0">
                    <a:solidFill>
                      <a:srgbClr val="111827"/>
                    </a:solidFill>
                    <a:latin typeface="Arial"/>
                  </a:rPr>
                  <a:t> only where </a:t>
                </a:r>
                <a:r>
                  <a:rPr lang="en-IN" sz="2400">
                    <a:solidFill>
                      <a:srgbClr val="111827"/>
                    </a:solidFill>
                    <a:latin typeface="Cambria Math" panose="02040503050406030204" pitchFamily="18" charset="0"/>
                  </a:rPr>
                  <a:t>$\frac{3x}{\pi}=I_2$</a:t>
                </a:r>
                <a:r>
                  <a:rPr sz="2400" b="0">
                    <a:solidFill>
                      <a:srgbClr val="111827"/>
                    </a:solidFill>
                    <a:latin typeface="Arial"/>
                  </a:rPr>
                  <a:t>, i.e. </a:t>
                </a:r>
                <a:r>
                  <a:rPr lang="en-IN" sz="2400">
                    <a:solidFill>
                      <a:srgbClr val="111827"/>
                    </a:solidFill>
                    <a:latin typeface="Cambria Math" panose="02040503050406030204" pitchFamily="18" charset="0"/>
                  </a:rPr>
                  <a:t>$x=\frac{I_2\pi}{3}$</a:t>
                </a:r>
                <a:r>
                  <a:rPr sz="2400" b="0">
                    <a:solidFill>
                      <a:srgbClr val="111827"/>
                    </a:solidFill>
                    <a:latin typeface="Arial"/>
                  </a:rPr>
                  <a:t> (</a:t>
                </a:r>
                <a:r>
                  <a:rPr lang="en-IN" sz="2400">
                    <a:solidFill>
                      <a:srgbClr val="111827"/>
                    </a:solidFill>
                    <a:latin typeface="Cambria Math" panose="02040503050406030204" pitchFamily="18" charset="0"/>
                  </a:rPr>
                  <a:t>$I_1,I_2$</a:t>
                </a:r>
                <a:r>
                  <a:rPr sz="2400" b="0">
                    <a:solidFill>
                      <a:srgbClr val="111827"/>
                    </a:solidFill>
                    <a:latin typeface="Arial"/>
                  </a:rPr>
                  <a:t> integers).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$x=\frac\pi6,\frac\pi3,\frac\pi2,\pi$</a:t>
                </a:r>
                <a:r>
                  <a:rPr sz="2400" b="0">
                    <a:solidFill>
                      <a:srgbClr val="111827"/>
                    </a:solidFill>
                    <a:latin typeface="Arial"/>
                  </a:rPr>
                  <a:t> are such points; at </a:t>
                </a:r>
                <a:r>
                  <a:rPr lang="en-IN" sz="2400">
                    <a:solidFill>
                      <a:srgbClr val="111827"/>
                    </a:solidFill>
                    <a:latin typeface="Cambria Math" panose="02040503050406030204" pitchFamily="18" charset="0"/>
                  </a:rPr>
                  <a:t>$x=\frac\pi4$</a:t>
                </a:r>
                <a:r>
                  <a:rPr sz="2400" b="0">
                    <a:solidFill>
                      <a:srgbClr val="111827"/>
                    </a:solidFill>
                    <a:latin typeface="Arial"/>
                  </a:rPr>
                  <a:t> neither </a:t>
                </a:r>
                <a:r>
                  <a:rPr lang="en-IN" sz="2400">
                    <a:solidFill>
                      <a:srgbClr val="111827"/>
                    </a:solidFill>
                    <a:latin typeface="Cambria Math" panose="02040503050406030204" pitchFamily="18" charset="0"/>
                  </a:rPr>
                  <a:t>$\frac{6x}\pi=1.5$</a:t>
                </a:r>
                <a:r>
                  <a:rPr sz="2400" b="0">
                    <a:solidFill>
                      <a:srgbClr val="111827"/>
                    </a:solidFill>
                    <a:latin typeface="Arial"/>
                  </a:rPr>
                  <a:t> nor </a:t>
                </a:r>
                <a:r>
                  <a:rPr lang="en-IN" sz="2400">
                    <a:solidFill>
                      <a:srgbClr val="111827"/>
                    </a:solidFill>
                    <a:latin typeface="Cambria Math" panose="02040503050406030204" pitchFamily="18" charset="0"/>
                  </a:rPr>
                  <a:t>$\frac{3x}\pi=0.75$</a:t>
                </a:r>
                <a:r>
                  <a:rPr sz="2400" b="0">
                    <a:solidFill>
                      <a:srgbClr val="111827"/>
                    </a:solidFill>
                    <a:latin typeface="Arial"/>
                  </a:rPr>
                  <a:t> is an integer, so </a:t>
                </a:r>
                <a:r>
                  <a:rPr lang="en-IN" sz="2400">
                    <a:solidFill>
                      <a:srgbClr val="111827"/>
                    </a:solidFill>
                    <a:latin typeface="Cambria Math" panose="02040503050406030204" pitchFamily="18" charset="0"/>
                  </a:rPr>
                  <a:t>$f$</a:t>
                </a:r>
                <a:r>
                  <a:rPr sz="2400" b="0">
                    <a:solidFill>
                      <a:srgbClr val="111827"/>
                    </a:solidFill>
                    <a:latin typeface="Arial"/>
                  </a:rPr>
                  <a:t> is continuous there and </a:t>
                </a:r>
                <a:r>
                  <a:rPr lang="en-IN" sz="2400">
                    <a:solidFill>
                      <a:srgbClr val="111827"/>
                    </a:solidFill>
                    <a:latin typeface="Cambria Math" panose="02040503050406030204" pitchFamily="18" charset="0"/>
                  </a:rPr>
                  <a:t>$\frac\pi4$</a:t>
                </a:r>
                <a:r>
                  <a:rPr sz="2400" b="0">
                    <a:solidFill>
                      <a:srgbClr val="111827"/>
                    </a:solidFill>
                    <a:latin typeface="Arial"/>
                  </a:rPr>
                  <a:t> is excluded.</a:t>
                </a:r>
                <a:endParaRPr sz="2400">
                  <a:solidFill>
                    <a:srgbClr val="111827"/>
                  </a:solidFill>
                </a:endParaRPr>
              </a:p>
            </p:txBody>
          </p:sp>
        </mc:Fallback>
      </mc:AlternateContent>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Check that the jumps are not cancelled: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the left limit is </a:t>
                </a:r>
                <a14:m>
                  <m:oMath xmlns:m="http://schemas.openxmlformats.org/officeDocument/2006/math">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but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the left limit is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the right limit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1</m:t>
                    </m:r>
                  </m:oMath>
                </a14:m>
                <a:r>
                  <a:rPr sz="2400" b="0">
                    <a:solidFill>
                      <a:srgbClr val="111827"/>
                    </a:solidFill>
                    <a:latin typeface="Arial"/>
                  </a:rPr>
                  <a:t>;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left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1</m:t>
                    </m:r>
                  </m:oMath>
                </a14:m>
                <a:r>
                  <a:rPr sz="2400" b="0">
                    <a:solidFill>
                      <a:srgbClr val="111827"/>
                    </a:solidFill>
                    <a:latin typeface="Arial"/>
                  </a:rPr>
                  <a:t>, value </a:t>
                </a:r>
                <a14:m>
                  <m:oMath xmlns:m="http://schemas.openxmlformats.org/officeDocument/2006/math">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1</m:t>
                    </m:r>
                  </m:oMath>
                </a14:m>
                <a:r>
                  <a:rPr sz="2400" b="0">
                    <a:solidFill>
                      <a:srgbClr val="111827"/>
                    </a:solidFill>
                    <a:latin typeface="Arial"/>
                  </a:rPr>
                  <a:t>; at </a:t>
                </a:r>
                <a14:m>
                  <m:oMath xmlns:m="http://schemas.openxmlformats.org/officeDocument/2006/math">
                    <m:r>
                      <a:rPr lang="en-IN" sz="2400" i="1">
                        <a:solidFill>
                          <a:srgbClr val="111827"/>
                        </a:solidFill>
                        <a:latin typeface="Cambria Math" panose="02040503050406030204" pitchFamily="18" charset="0"/>
                      </a:rPr>
                      <m:t>π</m:t>
                    </m:r>
                  </m:oMath>
                </a14:m>
                <a:r>
                  <a:rPr sz="2400" b="0">
                    <a:solidFill>
                      <a:srgbClr val="111827"/>
                    </a:solidFill>
                    <a:latin typeface="Arial"/>
                  </a:rPr>
                  <a:t> left </a:t>
                </a:r>
                <a14:m>
                  <m:oMath xmlns:m="http://schemas.openxmlformats.org/officeDocument/2006/math">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oMath>
                </a14:m>
                <a:r>
                  <a:rPr sz="2400" b="0">
                    <a:solidFill>
                      <a:srgbClr val="111827"/>
                    </a:solidFill>
                    <a:latin typeface="Arial"/>
                  </a:rPr>
                  <a:t>, value </a:t>
                </a:r>
                <a14:m>
                  <m:oMath xmlns:m="http://schemas.openxmlformats.org/officeDocument/2006/math">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3</m:t>
                    </m:r>
                  </m:oMath>
                </a14:m>
                <a:r>
                  <a:rPr sz="2400" b="0">
                    <a:solidFill>
                      <a:srgbClr val="111827"/>
                    </a:solidFill>
                    <a:latin typeface="Arial"/>
                  </a:rPr>
                  <a:t> - all unequal. So (B)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 (r), (s),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Volume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m>
                          <m:mPr>
                            <m:baseJc m:val="center"/>
                            <m:plcHide m:val="on"/>
                            <m:mcs>
                              <m:mc>
                                <m:mcPr>
                                  <m:count m:val="1"/>
                                  <m:mcJc m:val="center"/>
                                </m:mcPr>
                              </m:mc>
                              <m:mc>
                                <m:mcPr>
                                  <m:count m:val="1"/>
                                  <m:mcJc m:val="center"/>
                                </m:mcPr>
                              </m:mc>
                              <m:mc>
                                <m:mcPr>
                                  <m:count m:val="1"/>
                                  <m:mcJc m:val="center"/>
                                </m:mcPr>
                              </m:mc>
                            </m:mcs>
                            <m:ctrlPr>
                              <a:rPr lang="en-IN" sz="2400" i="1">
                                <a:solidFill>
                                  <a:srgbClr val="111827"/>
                                </a:solidFill>
                                <a:latin typeface="Cambria Math" panose="02040503050406030204" pitchFamily="18" charset="0"/>
                              </a:rPr>
                            </m:ctrlPr>
                          </m:mP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0</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2</m:t>
                              </m:r>
                            </m:e>
                            <m:e>
                              <m:r>
                                <a:rPr lang="en-IN" sz="2400" i="1">
                                  <a:solidFill>
                                    <a:srgbClr val="111827"/>
                                  </a:solidFill>
                                  <a:latin typeface="Cambria Math" panose="02040503050406030204" pitchFamily="18" charset="0"/>
                                </a:rPr>
                                <m:t>0</m:t>
                              </m:r>
                            </m:e>
                          </m:mr>
                          <m:mr>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1</m:t>
                              </m:r>
                            </m:e>
                            <m:e>
                              <m:r>
                                <a:rPr lang="en-IN" sz="2400" i="1">
                                  <a:solidFill>
                                    <a:srgbClr val="111827"/>
                                  </a:solidFill>
                                  <a:latin typeface="Cambria Math" panose="02040503050406030204" pitchFamily="18" charset="0"/>
                                </a:rPr>
                                <m:t>π</m:t>
                              </m:r>
                            </m:e>
                          </m:mr>
                        </m:m>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so (C)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squaring,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Check that the jumps are not cancelled: at </a:t>
                </a:r>
                <a:r>
                  <a:rPr lang="en-IN" sz="2400">
                    <a:solidFill>
                      <a:srgbClr val="111827"/>
                    </a:solidFill>
                    <a:latin typeface="Cambria Math" panose="02040503050406030204" pitchFamily="18" charset="0"/>
                  </a:rPr>
                  <a:t>$\frac\pi6$</a:t>
                </a:r>
                <a:r>
                  <a:rPr sz="2400" b="0">
                    <a:solidFill>
                      <a:srgbClr val="111827"/>
                    </a:solidFill>
                    <a:latin typeface="Arial"/>
                  </a:rPr>
                  <a:t> the left limit is </a:t>
                </a:r>
                <a:r>
                  <a:rPr lang="en-IN" sz="2400">
                    <a:solidFill>
                      <a:srgbClr val="111827"/>
                    </a:solidFill>
                    <a:latin typeface="Cambria Math" panose="02040503050406030204" pitchFamily="18" charset="0"/>
                  </a:rPr>
                  <a:t>$0\cdot\cos0=0$</a:t>
                </a:r>
                <a:r>
                  <a:rPr sz="2400" b="0">
                    <a:solidFill>
                      <a:srgbClr val="111827"/>
                    </a:solidFill>
                    <a:latin typeface="Arial"/>
                  </a:rPr>
                  <a:t> but </a:t>
                </a:r>
                <a:r>
                  <a:rPr lang="en-IN" sz="2400">
                    <a:solidFill>
                      <a:srgbClr val="111827"/>
                    </a:solidFill>
                    <a:latin typeface="Cambria Math" panose="02040503050406030204" pitchFamily="18" charset="0"/>
                  </a:rPr>
                  <a:t>$f=1$</a:t>
                </a:r>
                <a:r>
                  <a:rPr sz="2400" b="0">
                    <a:solidFill>
                      <a:srgbClr val="111827"/>
                    </a:solidFill>
                    <a:latin typeface="Arial"/>
                  </a:rPr>
                  <a:t>; at </a:t>
                </a:r>
                <a:r>
                  <a:rPr lang="en-IN" sz="2400">
                    <a:solidFill>
                      <a:srgbClr val="111827"/>
                    </a:solidFill>
                    <a:latin typeface="Cambria Math" panose="02040503050406030204" pitchFamily="18" charset="0"/>
                  </a:rPr>
                  <a:t>$\frac\pi3$</a:t>
                </a:r>
                <a:r>
                  <a:rPr sz="2400" b="0">
                    <a:solidFill>
                      <a:srgbClr val="111827"/>
                    </a:solidFill>
                    <a:latin typeface="Arial"/>
                  </a:rPr>
                  <a:t> the left limit is </a:t>
                </a:r>
                <a:r>
                  <a:rPr lang="en-IN" sz="2400">
                    <a:solidFill>
                      <a:srgbClr val="111827"/>
                    </a:solidFill>
                    <a:latin typeface="Cambria Math" panose="02040503050406030204" pitchFamily="18" charset="0"/>
                  </a:rPr>
                  <a:t>$1$</a:t>
                </a:r>
                <a:r>
                  <a:rPr sz="2400" b="0">
                    <a:solidFill>
                      <a:srgbClr val="111827"/>
                    </a:solidFill>
                    <a:latin typeface="Arial"/>
                  </a:rPr>
                  <a:t>, the right limit </a:t>
                </a:r>
                <a:r>
                  <a:rPr lang="en-IN" sz="2400">
                    <a:solidFill>
                      <a:srgbClr val="111827"/>
                    </a:solidFill>
                    <a:latin typeface="Cambria Math" panose="02040503050406030204" pitchFamily="18" charset="0"/>
                  </a:rPr>
                  <a:t>$2\cos1$</a:t>
                </a:r>
                <a:r>
                  <a:rPr sz="2400" b="0">
                    <a:solidFill>
                      <a:srgbClr val="111827"/>
                    </a:solidFill>
                    <a:latin typeface="Arial"/>
                  </a:rPr>
                  <a:t>; at </a:t>
                </a:r>
                <a:r>
                  <a:rPr lang="en-IN" sz="2400">
                    <a:solidFill>
                      <a:srgbClr val="111827"/>
                    </a:solidFill>
                    <a:latin typeface="Cambria Math" panose="02040503050406030204" pitchFamily="18" charset="0"/>
                  </a:rPr>
                  <a:t>$\frac\pi2$</a:t>
                </a:r>
                <a:r>
                  <a:rPr sz="2400" b="0">
                    <a:solidFill>
                      <a:srgbClr val="111827"/>
                    </a:solidFill>
                    <a:latin typeface="Arial"/>
                  </a:rPr>
                  <a:t> left </a:t>
                </a:r>
                <a:r>
                  <a:rPr lang="en-IN" sz="2400">
                    <a:solidFill>
                      <a:srgbClr val="111827"/>
                    </a:solidFill>
                    <a:latin typeface="Cambria Math" panose="02040503050406030204" pitchFamily="18" charset="0"/>
                  </a:rPr>
                  <a:t>$2\cos1$</a:t>
                </a:r>
                <a:r>
                  <a:rPr sz="2400" b="0">
                    <a:solidFill>
                      <a:srgbClr val="111827"/>
                    </a:solidFill>
                    <a:latin typeface="Arial"/>
                  </a:rPr>
                  <a:t>, value </a:t>
                </a:r>
                <a:r>
                  <a:rPr lang="en-IN" sz="2400">
                    <a:solidFill>
                      <a:srgbClr val="111827"/>
                    </a:solidFill>
                    <a:latin typeface="Cambria Math" panose="02040503050406030204" pitchFamily="18" charset="0"/>
                  </a:rPr>
                  <a:t>$3\cos1$</a:t>
                </a:r>
                <a:r>
                  <a:rPr sz="2400" b="0">
                    <a:solidFill>
                      <a:srgbClr val="111827"/>
                    </a:solidFill>
                    <a:latin typeface="Arial"/>
                  </a:rPr>
                  <a:t>; at </a:t>
                </a:r>
                <a:r>
                  <a:rPr lang="en-IN" sz="2400">
                    <a:solidFill>
                      <a:srgbClr val="111827"/>
                    </a:solidFill>
                    <a:latin typeface="Cambria Math" panose="02040503050406030204" pitchFamily="18" charset="0"/>
                  </a:rPr>
                  <a:t>$\pi$</a:t>
                </a:r>
                <a:r>
                  <a:rPr sz="2400" b="0">
                    <a:solidFill>
                      <a:srgbClr val="111827"/>
                    </a:solidFill>
                    <a:latin typeface="Arial"/>
                  </a:rPr>
                  <a:t> left </a:t>
                </a:r>
                <a:r>
                  <a:rPr lang="en-IN" sz="2400">
                    <a:solidFill>
                      <a:srgbClr val="111827"/>
                    </a:solidFill>
                    <a:latin typeface="Cambria Math" panose="02040503050406030204" pitchFamily="18" charset="0"/>
                  </a:rPr>
                  <a:t>$5\cos2$</a:t>
                </a:r>
                <a:r>
                  <a:rPr sz="2400" b="0">
                    <a:solidFill>
                      <a:srgbClr val="111827"/>
                    </a:solidFill>
                    <a:latin typeface="Arial"/>
                  </a:rPr>
                  <a:t>, value </a:t>
                </a:r>
                <a:r>
                  <a:rPr lang="en-IN" sz="2400">
                    <a:solidFill>
                      <a:srgbClr val="111827"/>
                    </a:solidFill>
                    <a:latin typeface="Cambria Math" panose="02040503050406030204" pitchFamily="18" charset="0"/>
                  </a:rPr>
                  <a:t>$6\cos3$</a:t>
                </a:r>
                <a:r>
                  <a:rPr sz="2400" b="0">
                    <a:solidFill>
                      <a:srgbClr val="111827"/>
                    </a:solidFill>
                    <a:latin typeface="Arial"/>
                  </a:rPr>
                  <a:t> - all unequal. So (B) </a:t>
                </a:r>
                <a:r>
                  <a:rPr lang="en-IN" sz="2400">
                    <a:solidFill>
                      <a:srgbClr val="111827"/>
                    </a:solidFill>
                    <a:latin typeface="Cambria Math" panose="02040503050406030204" pitchFamily="18" charset="0"/>
                  </a:rPr>
                  <a:t>$\to$</a:t>
                </a:r>
                <a:r>
                  <a:rPr sz="2400" b="0">
                    <a:solidFill>
                      <a:srgbClr val="111827"/>
                    </a:solidFill>
                    <a:latin typeface="Arial"/>
                  </a:rPr>
                  <a:t> (p), (r), (s),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Volume </a:t>
                </a:r>
                <a:r>
                  <a:rPr lang="en-IN" sz="2400">
                    <a:solidFill>
                      <a:srgbClr val="111827"/>
                    </a:solidFill>
                    <a:latin typeface="Cambria Math" panose="02040503050406030204" pitchFamily="18" charset="0"/>
                  </a:rPr>
                  <a:t>$=\left|\left[\hat{i}+\hat{j},\ \hat{i}+2\hat{j},\ \hat{i}+\hat{j}+\pi\hat{k}\right]\right|=\left|\begin{matrix}1&amp;1&amp;0\\1&amp;2&amp;0\\1&amp;1&amp;\pi\end{matrix}\right|=\pi(2-1)=\pi$</a:t>
                </a:r>
                <a:r>
                  <a:rPr sz="2400" b="0">
                    <a:solidFill>
                      <a:srgbClr val="111827"/>
                    </a:solidFill>
                    <a:latin typeface="Arial"/>
                  </a:rPr>
                  <a:t>, so (C) </a:t>
                </a:r>
                <a:r>
                  <a:rPr lang="en-IN" sz="2400">
                    <a:solidFill>
                      <a:srgbClr val="111827"/>
                    </a:solidFill>
                    <a:latin typeface="Cambria Math" panose="02040503050406030204" pitchFamily="18" charset="0"/>
                  </a:rPr>
                  <a:t>$\to$</a:t>
                </a:r>
                <a:r>
                  <a:rPr sz="2400" b="0">
                    <a:solidFill>
                      <a:srgbClr val="111827"/>
                    </a:solidFill>
                    <a:latin typeface="Arial"/>
                  </a:rPr>
                  <a:t>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$\vec{a}+\vec{b}=-\sqrt3\,\vec{c}$</a:t>
                </a:r>
                <a:r>
                  <a:rPr sz="2400" b="0">
                    <a:solidFill>
                      <a:srgbClr val="111827"/>
                    </a:solidFill>
                    <a:latin typeface="Arial"/>
                  </a:rPr>
                  <a:t>; squaring, </a:t>
                </a:r>
                <a:r>
                  <a:rPr lang="en-IN" sz="2400">
                    <a:solidFill>
                      <a:srgbClr val="111827"/>
                    </a:solidFill>
                    <a:latin typeface="Cambria Math" panose="02040503050406030204" pitchFamily="18" charset="0"/>
                  </a:rPr>
                  <a:t>$|\vec{a}|^2+|\vec{b}|^2+2\vec{a}\cdot\vec{b}=3|\vec{c}|^2$</a:t>
                </a:r>
                <a:r>
                  <a:rPr sz="2400" b="0">
                    <a:solidFill>
                      <a:srgbClr val="111827"/>
                    </a:solidFill>
                    <a:latin typeface="Arial"/>
                  </a:rPr>
                  <a:t>, i.e. </a:t>
                </a:r>
                <a:r>
                  <a:rPr lang="en-IN" sz="2400">
                    <a:solidFill>
                      <a:srgbClr val="111827"/>
                    </a:solidFill>
                    <a:latin typeface="Cambria Math" panose="02040503050406030204" pitchFamily="18" charset="0"/>
                  </a:rPr>
                  <a:t>$1+1+2\cos\theta=3$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Answer: (A)-(q),(s); (B)-(p),(r),(s),(t); (C)-(t); (D)-(r).</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$\cos\theta=\frac12$</a:t>
                </a:r>
                <a:r>
                  <a:rPr sz="2400" b="0">
                    <a:solidFill>
                      <a:srgbClr val="111827"/>
                    </a:solidFill>
                    <a:latin typeface="Arial"/>
                  </a:rPr>
                  <a:t>, so </a:t>
                </a:r>
                <a:r>
                  <a:rPr lang="en-IN" sz="2400">
                    <a:solidFill>
                      <a:srgbClr val="111827"/>
                    </a:solidFill>
                    <a:latin typeface="Cambria Math" panose="02040503050406030204" pitchFamily="18" charset="0"/>
                  </a:rPr>
                  <a:t>$\theta=\frac\pi3$</a:t>
                </a:r>
                <a:r>
                  <a:rPr sz="2400" b="0">
                    <a:solidFill>
                      <a:srgbClr val="111827"/>
                    </a:solidFill>
                    <a:latin typeface="Arial"/>
                  </a:rPr>
                  <a:t> and (D) </a:t>
                </a:r>
                <a:r>
                  <a:rPr lang="en-IN" sz="2400">
                    <a:solidFill>
                      <a:srgbClr val="111827"/>
                    </a:solidFill>
                    <a:latin typeface="Cambria Math" panose="02040503050406030204" pitchFamily="18" charset="0"/>
                  </a:rPr>
                  <a:t>$\to$</a:t>
                </a:r>
                <a:r>
                  <a:rPr sz="2400" b="0">
                    <a:solidFill>
                      <a:srgbClr val="111827"/>
                    </a:solidFill>
                    <a:latin typeface="Arial"/>
                  </a:rPr>
                  <a:t>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Answer: (A)-(q),(s); (B)-(p),(r),(s),(t); (C)-(t); (D)-(r).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(q), (s); (B)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(p), (r), (s), (t); (C)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(t); (D)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(r)</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$\to$</a:t>
                </a:r>
                <a:r>
                  <a:rPr sz="2800" b="1">
                    <a:solidFill>
                      <a:srgbClr val="15803D"/>
                    </a:solidFill>
                    <a:latin typeface="Arial"/>
                  </a:rPr>
                  <a:t> (q), (s); (B) </a:t>
                </a:r>
                <a:r>
                  <a:rPr lang="en-IN" sz="2800">
                    <a:solidFill>
                      <a:srgbClr val="15803D"/>
                    </a:solidFill>
                    <a:latin typeface="Cambria Math" panose="02040503050406030204" pitchFamily="18" charset="0"/>
                  </a:rPr>
                  <a:t>$\to$</a:t>
                </a:r>
                <a:r>
                  <a:rPr sz="2800" b="1">
                    <a:solidFill>
                      <a:srgbClr val="15803D"/>
                    </a:solidFill>
                    <a:latin typeface="Arial"/>
                  </a:rPr>
                  <a:t> (p), (r), (s), (t); (C) </a:t>
                </a:r>
                <a:r>
                  <a:rPr lang="en-IN" sz="2800">
                    <a:solidFill>
                      <a:srgbClr val="15803D"/>
                    </a:solidFill>
                    <a:latin typeface="Cambria Math" panose="02040503050406030204" pitchFamily="18" charset="0"/>
                  </a:rPr>
                  <a:t>$\to$</a:t>
                </a:r>
                <a:r>
                  <a:rPr sz="2800" b="1">
                    <a:solidFill>
                      <a:srgbClr val="15803D"/>
                    </a:solidFill>
                    <a:latin typeface="Arial"/>
                  </a:rPr>
                  <a:t> (t); (D) </a:t>
                </a:r>
                <a:r>
                  <a:rPr lang="en-IN" sz="2800">
                    <a:solidFill>
                      <a:srgbClr val="15803D"/>
                    </a:solidFill>
                    <a:latin typeface="Cambria Math" panose="02040503050406030204" pitchFamily="18" charset="0"/>
                  </a:rPr>
                  <a:t>$\to$</a:t>
                </a:r>
                <a:r>
                  <a:rPr sz="2800" b="1">
                    <a:solidFill>
                      <a:srgbClr val="15803D"/>
                    </a:solidFill>
                    <a:latin typeface="Arial"/>
                  </a:rPr>
                  <a:t> (r)</a:t>
                </a:r>
                <a:endParaRPr sz="2800">
                  <a:solidFill>
                    <a:srgbClr val="15803D"/>
                  </a:solidFill>
                </a:endParaRPr>
              </a:p>
            </p:txBody>
          </p:sp>
        </mc:Fallback>
      </mc:AlternateContent>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 quadratic in </a:t>
                </a:r>
                <a14:m>
                  <m:oMath xmlns:m="http://schemas.openxmlformats.org/officeDocument/2006/math">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θ</m:t>
                    </m:r>
                  </m:oMath>
                </a14:m>
                <a:r>
                  <a:rPr sz="2400" b="0">
                    <a:solidFill>
                      <a:srgbClr val="78350F"/>
                    </a:solidFill>
                    <a:latin typeface="Arial"/>
                  </a:rPr>
                  <a:t>; (C) cross product first; (D) the three unit vectors form a triangle with sides </a:t>
                </a:r>
                <a14:m>
                  <m:oMath xmlns:m="http://schemas.openxmlformats.org/officeDocument/2006/math">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ad>
                      <m:radPr>
                        <m:degHide m:val="on"/>
                        <m:ctrlPr>
                          <a:rPr lang="en-IN" sz="2400" i="1">
                            <a:solidFill>
                              <a:srgbClr val="78350F"/>
                            </a:solidFill>
                            <a:latin typeface="Cambria Math" panose="02040503050406030204" pitchFamily="18" charset="0"/>
                          </a:rPr>
                        </m:ctrlPr>
                      </m:radPr>
                      <m:deg/>
                      <m:e>
                        <m:r>
                          <a:rPr lang="en-IN" sz="2400" i="1">
                            <a:solidFill>
                              <a:srgbClr val="78350F"/>
                            </a:solidFill>
                            <a:latin typeface="Cambria Math" panose="02040503050406030204" pitchFamily="18" charset="0"/>
                          </a:rPr>
                          <m:t>3</m:t>
                        </m:r>
                      </m:e>
                    </m:rad>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 quadratic in </a:t>
                </a:r>
                <a:r>
                  <a:rPr lang="en-IN" sz="2400">
                    <a:solidFill>
                      <a:srgbClr val="78350F"/>
                    </a:solidFill>
                    <a:latin typeface="Cambria Math" panose="02040503050406030204" pitchFamily="18" charset="0"/>
                  </a:rPr>
                  <a:t>$\cos2\theta$</a:t>
                </a:r>
                <a:r>
                  <a:rPr sz="2400" b="0">
                    <a:solidFill>
                      <a:srgbClr val="78350F"/>
                    </a:solidFill>
                    <a:latin typeface="Arial"/>
                  </a:rPr>
                  <a:t>; (C) cross product first; (D) the three unit vectors form a triangle with sides </a:t>
                </a:r>
                <a:r>
                  <a:rPr lang="en-IN" sz="2400">
                    <a:solidFill>
                      <a:srgbClr val="78350F"/>
                    </a:solidFill>
                    <a:latin typeface="Cambria Math" panose="02040503050406030204" pitchFamily="18" charset="0"/>
                  </a:rPr>
                  <a:t>$1,1,\sqrt3$</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Put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oMath>
                </a14:m>
                <a:r>
                  <a:rPr sz="2400" b="0">
                    <a:solidFill>
                      <a:srgbClr val="111827"/>
                    </a:solidFill>
                    <a:latin typeface="Arial"/>
                  </a:rPr>
                  <a:t> and </a:t>
                </a:r>
                <a14:m>
                  <m:oMath xmlns:m="http://schemas.openxmlformats.org/officeDocument/2006/math">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so the equation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(q) among the options;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(s). Same roots as before.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so the volume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(t).</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Put </a:t>
                </a:r>
                <a:r>
                  <a:rPr lang="en-IN" sz="2400">
                    <a:solidFill>
                      <a:srgbClr val="111827"/>
                    </a:solidFill>
                    <a:latin typeface="Cambria Math" panose="02040503050406030204" pitchFamily="18" charset="0"/>
                  </a:rPr>
                  <a:t>$u=\cos2\theta$</a:t>
                </a:r>
                <a:r>
                  <a:rPr sz="2400" b="0">
                    <a:solidFill>
                      <a:srgbClr val="111827"/>
                    </a:solidFill>
                    <a:latin typeface="Arial"/>
                  </a:rPr>
                  <a:t>: </a:t>
                </a:r>
                <a:r>
                  <a:rPr lang="en-IN" sz="2400">
                    <a:solidFill>
                      <a:srgbClr val="111827"/>
                    </a:solidFill>
                    <a:latin typeface="Cambria Math" panose="02040503050406030204" pitchFamily="18" charset="0"/>
                  </a:rPr>
                  <a:t>$2\sin^2\theta=1-u$</a:t>
                </a:r>
                <a:r>
                  <a:rPr sz="2400" b="0">
                    <a:solidFill>
                      <a:srgbClr val="111827"/>
                    </a:solidFill>
                    <a:latin typeface="Arial"/>
                  </a:rPr>
                  <a:t> and </a:t>
                </a:r>
                <a:r>
                  <a:rPr lang="en-IN" sz="2400">
                    <a:solidFill>
                      <a:srgbClr val="111827"/>
                    </a:solidFill>
                    <a:latin typeface="Cambria Math" panose="02040503050406030204" pitchFamily="18" charset="0"/>
                  </a:rPr>
                  <a:t>$\sin^22\theta=1-u^2$</a:t>
                </a:r>
                <a:r>
                  <a:rPr sz="2400" b="0">
                    <a:solidFill>
                      <a:srgbClr val="111827"/>
                    </a:solidFill>
                    <a:latin typeface="Arial"/>
                  </a:rPr>
                  <a:t>, so the equation is </a:t>
                </a:r>
                <a:r>
                  <a:rPr lang="en-IN" sz="2400">
                    <a:solidFill>
                      <a:srgbClr val="111827"/>
                    </a:solidFill>
                    <a:latin typeface="Cambria Math" panose="02040503050406030204" pitchFamily="18" charset="0"/>
                  </a:rPr>
                  <a:t>$(1-u)+(1-u^2)=2$</a:t>
                </a:r>
                <a:r>
                  <a:rPr sz="2400" b="0">
                    <a:solidFill>
                      <a:srgbClr val="111827"/>
                    </a:solidFill>
                    <a:latin typeface="Arial"/>
                  </a:rPr>
                  <a:t>, i.e. </a:t>
                </a:r>
                <a:r>
                  <a:rPr lang="en-IN" sz="2400">
                    <a:solidFill>
                      <a:srgbClr val="111827"/>
                    </a:solidFill>
                    <a:latin typeface="Cambria Math" panose="02040503050406030204" pitchFamily="18" charset="0"/>
                  </a:rPr>
                  <a:t>$u(u+1)=0$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$\cos2\theta=0$</a:t>
                </a:r>
                <a:r>
                  <a:rPr sz="2400" b="0">
                    <a:solidFill>
                      <a:srgbClr val="111827"/>
                    </a:solidFill>
                    <a:latin typeface="Arial"/>
                  </a:rPr>
                  <a:t> gives </a:t>
                </a:r>
                <a:r>
                  <a:rPr lang="en-IN" sz="2400">
                    <a:solidFill>
                      <a:srgbClr val="111827"/>
                    </a:solidFill>
                    <a:latin typeface="Cambria Math" panose="02040503050406030204" pitchFamily="18" charset="0"/>
                  </a:rPr>
                  <a:t>$\theta=\frac\pi4$</a:t>
                </a:r>
                <a:r>
                  <a:rPr sz="2400" b="0">
                    <a:solidFill>
                      <a:srgbClr val="111827"/>
                    </a:solidFill>
                    <a:latin typeface="Arial"/>
                  </a:rPr>
                  <a:t> (q) among the options; </a:t>
                </a:r>
                <a:r>
                  <a:rPr lang="en-IN" sz="2400">
                    <a:solidFill>
                      <a:srgbClr val="111827"/>
                    </a:solidFill>
                    <a:latin typeface="Cambria Math" panose="02040503050406030204" pitchFamily="18" charset="0"/>
                  </a:rPr>
                  <a:t>$\cos2\theta=-1$</a:t>
                </a:r>
                <a:r>
                  <a:rPr sz="2400" b="0">
                    <a:solidFill>
                      <a:srgbClr val="111827"/>
                    </a:solidFill>
                    <a:latin typeface="Arial"/>
                  </a:rPr>
                  <a:t> gives </a:t>
                </a:r>
                <a:r>
                  <a:rPr lang="en-IN" sz="2400">
                    <a:solidFill>
                      <a:srgbClr val="111827"/>
                    </a:solidFill>
                    <a:latin typeface="Cambria Math" panose="02040503050406030204" pitchFamily="18" charset="0"/>
                  </a:rPr>
                  <a:t>$\theta=\frac\pi2$</a:t>
                </a:r>
                <a:r>
                  <a:rPr sz="2400" b="0">
                    <a:solidFill>
                      <a:srgbClr val="111827"/>
                    </a:solidFill>
                    <a:latin typeface="Arial"/>
                  </a:rPr>
                  <a:t> (s). Same roots as before.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$(\hat{i}+\hat{j})\times(\hat{i}+2\hat{j})=\hat{k}$</a:t>
                </a:r>
                <a:r>
                  <a:rPr sz="2400" b="0">
                    <a:solidFill>
                      <a:srgbClr val="111827"/>
                    </a:solidFill>
                    <a:latin typeface="Arial"/>
                  </a:rPr>
                  <a:t>, so the volume is </a:t>
                </a:r>
                <a:r>
                  <a:rPr lang="en-IN" sz="2400">
                    <a:solidFill>
                      <a:srgbClr val="111827"/>
                    </a:solidFill>
                    <a:latin typeface="Cambria Math" panose="02040503050406030204" pitchFamily="18" charset="0"/>
                  </a:rPr>
                  <a:t>$\left|\hat{k}\cdot(\hat{i}+\hat{j}+\pi\hat{k})\right|=\pi$</a:t>
                </a:r>
                <a:r>
                  <a:rPr sz="2400" b="0">
                    <a:solidFill>
                      <a:srgbClr val="111827"/>
                    </a:solidFill>
                    <a:latin typeface="Arial"/>
                  </a:rPr>
                  <a:t> (t).</a:t>
                </a:r>
                <a:endParaRPr sz="2400">
                  <a:solidFill>
                    <a:srgbClr val="111827"/>
                  </a:solidFill>
                </a:endParaRPr>
              </a:p>
            </p:txBody>
          </p:sp>
        </mc:Fallback>
      </mc:AlternateContent>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a:rPr lang="en-IN" sz="2400" i="1">
                        <a:solidFill>
                          <a:srgbClr val="111827"/>
                        </a:solidFill>
                        <a:latin typeface="Cambria Math" panose="02040503050406030204" pitchFamily="18" charset="0"/>
                      </a:rPr>
                      <m:t> </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 means vectors of lengths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placed head to tail close up into a triangle with sides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The angle opposite the side </a:t>
                </a:r>
                <a14:m>
                  <m:oMath xmlns:m="http://schemas.openxmlformats.org/officeDocument/2006/math">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has cosine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120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(tail to tail) is its supplement, </a:t>
                </a:r>
                <a14:m>
                  <m:oMath xmlns:m="http://schemas.openxmlformats.org/officeDocument/2006/math">
                    <m:sSup>
                      <m:e>
                        <m:r>
                          <a:rPr lang="en-IN" sz="2400" i="1">
                            <a:solidFill>
                              <a:srgbClr val="111827"/>
                            </a:solidFill>
                            <a:latin typeface="Cambria Math" panose="02040503050406030204" pitchFamily="18" charset="0"/>
                          </a:rPr>
                          <m:t>60</m:t>
                        </m:r>
                      </m:e>
                      <m:sup>
                        <m:r>
                          <m:rPr>
                            <m:sty m:val="p"/>
                          </m:rPr>
                          <a:rPr lang="en-IN" sz="2400">
                            <a:solidFill>
                              <a:srgbClr val="111827"/>
                            </a:solidFill>
                            <a:latin typeface="Cambria Math" panose="02040503050406030204" pitchFamily="18" charset="0"/>
                          </a:rPr>
                          <m:t>∘</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$\vec{a}+\vec{b}+\sqrt3\,\vec{c}=\vec{0}$</a:t>
                </a:r>
                <a:r>
                  <a:rPr sz="2400" b="0">
                    <a:solidFill>
                      <a:srgbClr val="111827"/>
                    </a:solidFill>
                    <a:latin typeface="Arial"/>
                  </a:rPr>
                  <a:t> means vectors of lengths </a:t>
                </a:r>
                <a:r>
                  <a:rPr lang="en-IN" sz="2400">
                    <a:solidFill>
                      <a:srgbClr val="111827"/>
                    </a:solidFill>
                    <a:latin typeface="Cambria Math" panose="02040503050406030204" pitchFamily="18" charset="0"/>
                  </a:rPr>
                  <a:t>$1,1,\sqrt3$</a:t>
                </a:r>
                <a:r>
                  <a:rPr sz="2400" b="0">
                    <a:solidFill>
                      <a:srgbClr val="111827"/>
                    </a:solidFill>
                    <a:latin typeface="Arial"/>
                  </a:rPr>
                  <a:t> placed head to tail close up into a triangle with sides </a:t>
                </a:r>
                <a:r>
                  <a:rPr lang="en-IN" sz="2400">
                    <a:solidFill>
                      <a:srgbClr val="111827"/>
                    </a:solidFill>
                    <a:latin typeface="Cambria Math" panose="02040503050406030204" pitchFamily="18" charset="0"/>
                  </a:rPr>
                  <a:t>$1,1,\sqrt3$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The angle opposite the side </a:t>
                </a:r>
                <a:r>
                  <a:rPr lang="en-IN" sz="2400">
                    <a:solidFill>
                      <a:srgbClr val="111827"/>
                    </a:solidFill>
                    <a:latin typeface="Cambria Math" panose="02040503050406030204" pitchFamily="18" charset="0"/>
                  </a:rPr>
                  <a:t>$\sqrt3$</a:t>
                </a:r>
                <a:r>
                  <a:rPr sz="2400" b="0">
                    <a:solidFill>
                      <a:srgbClr val="111827"/>
                    </a:solidFill>
                    <a:latin typeface="Arial"/>
                  </a:rPr>
                  <a:t> has cosine </a:t>
                </a:r>
                <a:r>
                  <a:rPr lang="en-IN" sz="2400">
                    <a:solidFill>
                      <a:srgbClr val="111827"/>
                    </a:solidFill>
                    <a:latin typeface="Cambria Math" panose="02040503050406030204" pitchFamily="18" charset="0"/>
                  </a:rPr>
                  <a:t>$\frac{1+1-3}{2}=-\frac12$</a:t>
                </a:r>
                <a:r>
                  <a:rPr sz="2400" b="0">
                    <a:solidFill>
                      <a:srgbClr val="111827"/>
                    </a:solidFill>
                    <a:latin typeface="Arial"/>
                  </a:rPr>
                  <a:t>, i.e. </a:t>
                </a:r>
                <a:r>
                  <a:rPr lang="en-IN" sz="2400">
                    <a:solidFill>
                      <a:srgbClr val="111827"/>
                    </a:solidFill>
                    <a:latin typeface="Cambria Math" panose="02040503050406030204" pitchFamily="18" charset="0"/>
                  </a:rPr>
                  <a:t>$120^\circ$</a:t>
                </a:r>
                <a:r>
                  <a:rPr sz="2400" b="0">
                    <a:solidFill>
                      <a:srgbClr val="111827"/>
                    </a:solidFill>
                    <a:latin typeface="Arial"/>
                  </a:rPr>
                  <a:t>. The angle between </a:t>
                </a:r>
                <a:r>
                  <a:rPr lang="en-IN" sz="2400">
                    <a:solidFill>
                      <a:srgbClr val="111827"/>
                    </a:solidFill>
                    <a:latin typeface="Cambria Math" panose="02040503050406030204" pitchFamily="18" charset="0"/>
                  </a:rPr>
                  <a:t>$\vec{a}$</a:t>
                </a:r>
                <a:r>
                  <a:rPr sz="2400" b="0">
                    <a:solidFill>
                      <a:srgbClr val="111827"/>
                    </a:solidFill>
                    <a:latin typeface="Arial"/>
                  </a:rPr>
                  <a:t> and </a:t>
                </a:r>
                <a:r>
                  <a:rPr lang="en-IN" sz="2400">
                    <a:solidFill>
                      <a:srgbClr val="111827"/>
                    </a:solidFill>
                    <a:latin typeface="Cambria Math" panose="02040503050406030204" pitchFamily="18" charset="0"/>
                  </a:rPr>
                  <a:t>$\vec{b}$</a:t>
                </a:r>
                <a:r>
                  <a:rPr sz="2400" b="0">
                    <a:solidFill>
                      <a:srgbClr val="111827"/>
                    </a:solidFill>
                    <a:latin typeface="Arial"/>
                  </a:rPr>
                  <a:t> (tail to tail) is its supplement, </a:t>
                </a:r>
                <a:r>
                  <a:rPr lang="en-IN" sz="2400">
                    <a:solidFill>
                      <a:srgbClr val="111827"/>
                    </a:solidFill>
                    <a:latin typeface="Cambria Math" panose="02040503050406030204" pitchFamily="18" charset="0"/>
                  </a:rPr>
                  <a:t>$60^\circ=\frac\pi3$</a:t>
                </a:r>
                <a:r>
                  <a:rPr sz="2400" b="0">
                    <a:solidFill>
                      <a:srgbClr val="111827"/>
                    </a:solidFill>
                    <a:latin typeface="Arial"/>
                  </a:rPr>
                  <a:t> (r).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(q), (s); (B)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(p), (r), (s), (t); (C)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(t); (D)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(r)</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$\to$</a:t>
                </a:r>
                <a:r>
                  <a:rPr sz="2800" b="1">
                    <a:solidFill>
                      <a:srgbClr val="15803D"/>
                    </a:solidFill>
                    <a:latin typeface="Arial"/>
                  </a:rPr>
                  <a:t> (q), (s); (B) </a:t>
                </a:r>
                <a:r>
                  <a:rPr lang="en-IN" sz="2800">
                    <a:solidFill>
                      <a:srgbClr val="15803D"/>
                    </a:solidFill>
                    <a:latin typeface="Cambria Math" panose="02040503050406030204" pitchFamily="18" charset="0"/>
                  </a:rPr>
                  <a:t>$\to$</a:t>
                </a:r>
                <a:r>
                  <a:rPr sz="2800" b="1">
                    <a:solidFill>
                      <a:srgbClr val="15803D"/>
                    </a:solidFill>
                    <a:latin typeface="Arial"/>
                  </a:rPr>
                  <a:t> (p), (r), (s), (t); (C) </a:t>
                </a:r>
                <a:r>
                  <a:rPr lang="en-IN" sz="2800">
                    <a:solidFill>
                      <a:srgbClr val="15803D"/>
                    </a:solidFill>
                    <a:latin typeface="Cambria Math" panose="02040503050406030204" pitchFamily="18" charset="0"/>
                  </a:rPr>
                  <a:t>$\to$</a:t>
                </a:r>
                <a:r>
                  <a:rPr sz="2800" b="1">
                    <a:solidFill>
                      <a:srgbClr val="15803D"/>
                    </a:solidFill>
                    <a:latin typeface="Arial"/>
                  </a:rPr>
                  <a:t> (t); (D) </a:t>
                </a:r>
                <a:r>
                  <a:rPr lang="en-IN" sz="2800">
                    <a:solidFill>
                      <a:srgbClr val="15803D"/>
                    </a:solidFill>
                    <a:latin typeface="Cambria Math" panose="02040503050406030204" pitchFamily="18" charset="0"/>
                  </a:rPr>
                  <a:t>$\to$</a:t>
                </a:r>
                <a:r>
                  <a:rPr sz="2800" b="1">
                    <a:solidFill>
                      <a:srgbClr val="15803D"/>
                    </a:solidFill>
                    <a:latin typeface="Arial"/>
                  </a:rPr>
                  <a:t> (r)</a:t>
                </a:r>
                <a:endParaRPr sz="2800">
                  <a:solidFill>
                    <a:srgbClr val="15803D"/>
                  </a:solidFill>
                </a:endParaRPr>
              </a:p>
            </p:txBody>
          </p:sp>
        </mc:Fallback>
      </mc:AlternateContent>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43</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r>
                      <a:rPr lang="en-IN" sz="2400" i="1">
                        <a:solidFill>
                          <a:srgbClr val="111827"/>
                        </a:solidFill>
                        <a:latin typeface="Cambria Math" panose="02040503050406030204" pitchFamily="18" charset="0"/>
                      </a:rPr>
                      <m:t>2</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oMath>
                </a14:m>
                <a:r>
                  <a:rPr sz="2400" b="0">
                    <a:solidFill>
                      <a:srgbClr val="111827"/>
                    </a:solidFill>
                    <a:latin typeface="Arial"/>
                  </a:rPr>
                  <a:t> and </a:t>
                </a:r>
                <a14:m>
                  <m:oMath xmlns:m="http://schemas.openxmlformats.org/officeDocument/2006/math">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22</m:t>
                        </m:r>
                      </m:sup>
                    </m:sSup>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22</m:t>
                        </m:r>
                      </m:sup>
                    </m:sSup>
                    <m:r>
                      <a:rPr lang="en-IN" sz="2400" i="1">
                        <a:solidFill>
                          <a:srgbClr val="111827"/>
                        </a:solidFill>
                        <a:latin typeface="Cambria Math" panose="02040503050406030204" pitchFamily="18" charset="0"/>
                      </a:rPr>
                      <m:t>θ</m:t>
                    </m:r>
                  </m:oMath>
                </a14:m>
                <a:r>
                  <a:rPr sz="2400" b="0">
                    <a:solidFill>
                      <a:srgbClr val="111827"/>
                    </a:solidFill>
                    <a:latin typeface="Arial"/>
                  </a:rPr>
                  <a:t>: equations mixing </a:t>
                </a:r>
                <a14:m>
                  <m:oMath xmlns:m="http://schemas.openxmlformats.org/officeDocument/2006/math">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θ</m:t>
                    </m:r>
                  </m:oMath>
                </a14:m>
                <a:r>
                  <a:rPr sz="2400" b="0">
                    <a:solidFill>
                      <a:srgbClr val="111827"/>
                    </a:solidFill>
                    <a:latin typeface="Arial"/>
                  </a:rPr>
                  <a:t> and </a:t>
                </a:r>
                <a14:m>
                  <m:oMath xmlns:m="http://schemas.openxmlformats.org/officeDocument/2006/math">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22</m:t>
                        </m:r>
                      </m:sup>
                    </m:sSup>
                    <m:r>
                      <a:rPr lang="en-IN" sz="2400" i="1">
                        <a:solidFill>
                          <a:srgbClr val="111827"/>
                        </a:solidFill>
                        <a:latin typeface="Cambria Math" panose="02040503050406030204" pitchFamily="18" charset="0"/>
                      </a:rPr>
                      <m:t>θ</m:t>
                    </m:r>
                  </m:oMath>
                </a14:m>
                <a:r>
                  <a:rPr sz="2400" b="0">
                    <a:solidFill>
                      <a:srgbClr val="111827"/>
                    </a:solidFill>
                    <a:latin typeface="Arial"/>
                  </a:rPr>
                  <a:t> become a quadratic in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14:m>
                  <m:oMath xmlns:m="http://schemas.openxmlformats.org/officeDocument/2006/math">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 possible discontinuity lies only where </a:t>
                </a:r>
                <a14:m>
                  <m:oMath xmlns:m="http://schemas.openxmlformats.org/officeDocument/2006/math">
                    <m:r>
                      <a:rPr lang="en-IN" sz="2400" i="1">
                        <a:solidFill>
                          <a:srgbClr val="111827"/>
                        </a:solidFill>
                        <a:latin typeface="Cambria Math" panose="02040503050406030204" pitchFamily="18" charset="0"/>
                      </a:rPr>
                      <m:t>𝑔</m:t>
                    </m:r>
                  </m:oMath>
                </a14:m>
                <a:r>
                  <a:rPr sz="2400" b="0">
                    <a:solidFill>
                      <a:srgbClr val="111827"/>
                    </a:solidFill>
                    <a:latin typeface="Arial"/>
                  </a:rPr>
                  <a:t> crosses an integer; compare one-sided limits, because the jump is hidden only if the other factor is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on both sides.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unit vectors satisfy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p>
                          <m:e>
                            <m:r>
                              <a:rPr lang="en-IN" sz="2400" i="1">
                                <a:solidFill>
                                  <a:srgbClr val="111827"/>
                                </a:solidFill>
                                <a:latin typeface="Cambria Math" panose="02040503050406030204" pitchFamily="18" charset="0"/>
                              </a:rPr>
                              <m:t>λ</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the angle between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volume of a parallelepiped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𝑢</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𝑣</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𝑤</m:t>
                                </m:r>
                              </m:e>
                            </m:acc>
                          </m:e>
                        </m:d>
                      </m:e>
                    </m:d>
                  </m:oMath>
                </a14:m>
                <a:r>
                  <a:rPr sz="2400" b="0">
                    <a:solidFill>
                      <a:srgbClr val="111827"/>
                    </a:solidFill>
                    <a:latin typeface="Arial"/>
                  </a:rPr>
                  <a:t>, the absolute value of the determinant of the three coefficient rows.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$2\sin^2\theta=1-\cos2\theta$</a:t>
                </a:r>
                <a:r>
                  <a:rPr sz="2400" b="0">
                    <a:solidFill>
                      <a:srgbClr val="111827"/>
                    </a:solidFill>
                    <a:latin typeface="Arial"/>
                  </a:rPr>
                  <a:t> and </a:t>
                </a:r>
                <a:r>
                  <a:rPr lang="en-IN" sz="2400">
                    <a:solidFill>
                      <a:srgbClr val="111827"/>
                    </a:solidFill>
                    <a:latin typeface="Cambria Math" panose="02040503050406030204" pitchFamily="18" charset="0"/>
                  </a:rPr>
                  <a:t>$\sin^22\theta=1-\cos^22\theta$</a:t>
                </a:r>
                <a:r>
                  <a:rPr sz="2400" b="0">
                    <a:solidFill>
                      <a:srgbClr val="111827"/>
                    </a:solidFill>
                    <a:latin typeface="Arial"/>
                  </a:rPr>
                  <a:t>: equations mixing </a:t>
                </a:r>
                <a:r>
                  <a:rPr lang="en-IN" sz="2400">
                    <a:solidFill>
                      <a:srgbClr val="111827"/>
                    </a:solidFill>
                    <a:latin typeface="Cambria Math" panose="02040503050406030204" pitchFamily="18" charset="0"/>
                  </a:rPr>
                  <a:t>$\sin^2\theta$</a:t>
                </a:r>
                <a:r>
                  <a:rPr sz="2400" b="0">
                    <a:solidFill>
                      <a:srgbClr val="111827"/>
                    </a:solidFill>
                    <a:latin typeface="Arial"/>
                  </a:rPr>
                  <a:t> and </a:t>
                </a:r>
                <a:r>
                  <a:rPr lang="en-IN" sz="2400">
                    <a:solidFill>
                      <a:srgbClr val="111827"/>
                    </a:solidFill>
                    <a:latin typeface="Cambria Math" panose="02040503050406030204" pitchFamily="18" charset="0"/>
                  </a:rPr>
                  <a:t>$\sin^22\theta$</a:t>
                </a:r>
                <a:r>
                  <a:rPr sz="2400" b="0">
                    <a:solidFill>
                      <a:srgbClr val="111827"/>
                    </a:solidFill>
                    <a:latin typeface="Arial"/>
                  </a:rPr>
                  <a:t> become a quadratic in </a:t>
                </a:r>
                <a:r>
                  <a:rPr lang="en-IN" sz="2400">
                    <a:solidFill>
                      <a:srgbClr val="111827"/>
                    </a:solidFill>
                    <a:latin typeface="Cambria Math" panose="02040503050406030204" pitchFamily="18" charset="0"/>
                  </a:rPr>
                  <a:t>$\cos2\theta$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For </a:t>
                </a:r>
                <a:r>
                  <a:rPr lang="en-IN" sz="2400">
                    <a:solidFill>
                      <a:srgbClr val="111827"/>
                    </a:solidFill>
                    <a:latin typeface="Cambria Math" panose="02040503050406030204" pitchFamily="18" charset="0"/>
                  </a:rPr>
                  <a:t>$f(x)=[g(x)]\,h(x)$</a:t>
                </a:r>
                <a:r>
                  <a:rPr sz="2400" b="0">
                    <a:solidFill>
                      <a:srgbClr val="111827"/>
                    </a:solidFill>
                    <a:latin typeface="Arial"/>
                  </a:rPr>
                  <a:t> a possible discontinuity lies only where </a:t>
                </a:r>
                <a:r>
                  <a:rPr lang="en-IN" sz="2400">
                    <a:solidFill>
                      <a:srgbClr val="111827"/>
                    </a:solidFill>
                    <a:latin typeface="Cambria Math" panose="02040503050406030204" pitchFamily="18" charset="0"/>
                  </a:rPr>
                  <a:t>$g$</a:t>
                </a:r>
                <a:r>
                  <a:rPr sz="2400" b="0">
                    <a:solidFill>
                      <a:srgbClr val="111827"/>
                    </a:solidFill>
                    <a:latin typeface="Arial"/>
                  </a:rPr>
                  <a:t> crosses an integer; compare one-sided limits, because the jump is hidden only if the other factor is </a:t>
                </a:r>
                <a:r>
                  <a:rPr lang="en-IN" sz="2400">
                    <a:solidFill>
                      <a:srgbClr val="111827"/>
                    </a:solidFill>
                    <a:latin typeface="Cambria Math" panose="02040503050406030204" pitchFamily="18" charset="0"/>
                  </a:rPr>
                  <a:t>$0$</a:t>
                </a:r>
                <a:r>
                  <a:rPr sz="2400" b="0">
                    <a:solidFill>
                      <a:srgbClr val="111827"/>
                    </a:solidFill>
                    <a:latin typeface="Arial"/>
                  </a:rPr>
                  <a:t> on both sides.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unit vectors satisfy </a:t>
                </a:r>
                <a:r>
                  <a:rPr lang="en-IN" sz="2400">
                    <a:solidFill>
                      <a:srgbClr val="111827"/>
                    </a:solidFill>
                    <a:latin typeface="Cambria Math" panose="02040503050406030204" pitchFamily="18" charset="0"/>
                  </a:rPr>
                  <a:t>$\vec{a}+\vec{b}+\lambda\vec{c}=\vec{0}$</a:t>
                </a:r>
                <a:r>
                  <a:rPr sz="2400" b="0">
                    <a:solidFill>
                      <a:srgbClr val="111827"/>
                    </a:solidFill>
                    <a:latin typeface="Arial"/>
                  </a:rPr>
                  <a:t> with </a:t>
                </a:r>
                <a:r>
                  <a:rPr lang="en-IN" sz="2400">
                    <a:solidFill>
                      <a:srgbClr val="111827"/>
                    </a:solidFill>
                    <a:latin typeface="Cambria Math" panose="02040503050406030204" pitchFamily="18" charset="0"/>
                  </a:rPr>
                  <a:t>$|\vec c|=1$</a:t>
                </a:r>
                <a:r>
                  <a:rPr sz="2400" b="0">
                    <a:solidFill>
                      <a:srgbClr val="111827"/>
                    </a:solidFill>
                    <a:latin typeface="Arial"/>
                  </a:rPr>
                  <a:t>, then </a:t>
                </a:r>
                <a:r>
                  <a:rPr lang="en-IN" sz="2400">
                    <a:solidFill>
                      <a:srgbClr val="111827"/>
                    </a:solidFill>
                    <a:latin typeface="Cambria Math" panose="02040503050406030204" pitchFamily="18" charset="0"/>
                  </a:rPr>
                  <a:t>$\cos\theta=\frac{\lambda^2-2}{2}$</a:t>
                </a:r>
                <a:r>
                  <a:rPr sz="2400" b="0">
                    <a:solidFill>
                      <a:srgbClr val="111827"/>
                    </a:solidFill>
                    <a:latin typeface="Arial"/>
                  </a:rPr>
                  <a:t> for the angle between </a:t>
                </a:r>
                <a:r>
                  <a:rPr lang="en-IN" sz="2400">
                    <a:solidFill>
                      <a:srgbClr val="111827"/>
                    </a:solidFill>
                    <a:latin typeface="Cambria Math" panose="02040503050406030204" pitchFamily="18" charset="0"/>
                  </a:rPr>
                  <a:t>$\vec a,\vec b$</a:t>
                </a:r>
                <a:r>
                  <a:rPr sz="2400" b="0">
                    <a:solidFill>
                      <a:srgbClr val="111827"/>
                    </a:solidFill>
                    <a:latin typeface="Arial"/>
                  </a:rPr>
                  <a:t> (here </a:t>
                </a:r>
                <a:r>
                  <a:rPr lang="en-IN" sz="2400">
                    <a:solidFill>
                      <a:srgbClr val="111827"/>
                    </a:solidFill>
                    <a:latin typeface="Cambria Math" panose="02040503050406030204" pitchFamily="18" charset="0"/>
                  </a:rPr>
                  <a:t>$\lambda=\sqrt3$</a:t>
                </a:r>
                <a:r>
                  <a:rPr sz="2400" b="0">
                    <a:solidFill>
                      <a:srgbClr val="111827"/>
                    </a:solidFill>
                    <a:latin typeface="Arial"/>
                  </a:rPr>
                  <a:t> gives </a:t>
                </a:r>
                <a:r>
                  <a:rPr lang="en-IN" sz="2400">
                    <a:solidFill>
                      <a:srgbClr val="111827"/>
                    </a:solidFill>
                    <a:latin typeface="Cambria Math" panose="02040503050406030204" pitchFamily="18" charset="0"/>
                  </a:rPr>
                  <a:t>$\frac12$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volume of a parallelepiped is </a:t>
                </a:r>
                <a:r>
                  <a:rPr lang="en-IN" sz="2400">
                    <a:solidFill>
                      <a:srgbClr val="111827"/>
                    </a:solidFill>
                    <a:latin typeface="Cambria Math" panose="02040503050406030204" pitchFamily="18" charset="0"/>
                  </a:rPr>
                  <a:t>$\left|\left[\vec{u},\vec{v},\vec{w}\right]\right|$</a:t>
                </a:r>
                <a:r>
                  <a:rPr sz="2400" b="0">
                    <a:solidFill>
                      <a:srgbClr val="111827"/>
                    </a:solidFill>
                    <a:latin typeface="Arial"/>
                  </a:rPr>
                  <a:t>, the absolute value of the determinant of the three coefficient rows.</a:t>
                </a:r>
                <a:endParaRPr sz="2400">
                  <a:solidFill>
                    <a:srgbClr val="111827"/>
                  </a:solidFill>
                </a:endParaRPr>
              </a:p>
            </p:txBody>
          </p:sp>
        </mc:Fallback>
      </mc:AlternateContent>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0614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be three unit vectors mutually inclined to each other at an angle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is also a unit vector such that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oMath>
                </a14:m>
                <a:r>
                  <a:rPr sz="2400" b="0">
                    <a:solidFill>
                      <a:srgbClr val="111827"/>
                    </a:solidFill>
                    <a:latin typeface="Arial"/>
                  </a:rPr>
                  <a:t>. Match the values of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in Column I with the corresponding values of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in Column II.</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(A)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(B)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(C)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e>
                    </m:d>
                  </m:oMath>
                </a14:m>
                <a:r>
                  <a:rPr sz="2400" b="0">
                    <a:solidFill>
                      <a:srgbClr val="111827"/>
                    </a:solidFill>
                    <a:latin typeface="Arial"/>
                  </a:rPr>
                  <a:t>; (D)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8</m:t>
                            </m:r>
                          </m:den>
                        </m:f>
                      </m:e>
                    </m:d>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II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(p)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(q)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e>
                    </m:d>
                  </m:oMath>
                </a14:m>
                <a:r>
                  <a:rPr sz="2400" b="0">
                    <a:solidFill>
                      <a:srgbClr val="111827"/>
                    </a:solidFill>
                    <a:latin typeface="Arial"/>
                  </a:rPr>
                  <a:t>; (r)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rad>
                  </m:oMath>
                </a14:m>
                <a:r>
                  <a:rPr sz="2400" b="0">
                    <a:solidFill>
                      <a:srgbClr val="111827"/>
                    </a:solidFill>
                    <a:latin typeface="Arial"/>
                  </a:rPr>
                  <a:t>; (s)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406146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Let </a:t>
                </a:r>
                <a:r>
                  <a:rPr lang="en-IN" sz="2400">
                    <a:solidFill>
                      <a:srgbClr val="111827"/>
                    </a:solidFill>
                    <a:latin typeface="Cambria Math" panose="02040503050406030204" pitchFamily="18" charset="0"/>
                  </a:rPr>
                  <a:t>$\hat{a}$</a:t>
                </a:r>
                <a:r>
                  <a:rPr sz="2400" b="0">
                    <a:solidFill>
                      <a:srgbClr val="111827"/>
                    </a:solidFill>
                    <a:latin typeface="Arial"/>
                  </a:rPr>
                  <a:t>, </a:t>
                </a:r>
                <a:r>
                  <a:rPr lang="en-IN" sz="2400">
                    <a:solidFill>
                      <a:srgbClr val="111827"/>
                    </a:solidFill>
                    <a:latin typeface="Cambria Math" panose="02040503050406030204" pitchFamily="18" charset="0"/>
                  </a:rPr>
                  <a:t>$\hat{b}$</a:t>
                </a:r>
                <a:r>
                  <a:rPr sz="2400" b="0">
                    <a:solidFill>
                      <a:srgbClr val="111827"/>
                    </a:solidFill>
                    <a:latin typeface="Arial"/>
                  </a:rPr>
                  <a:t> and </a:t>
                </a:r>
                <a:r>
                  <a:rPr lang="en-IN" sz="2400">
                    <a:solidFill>
                      <a:srgbClr val="111827"/>
                    </a:solidFill>
                    <a:latin typeface="Cambria Math" panose="02040503050406030204" pitchFamily="18" charset="0"/>
                  </a:rPr>
                  <a:t>$\hat{c}$</a:t>
                </a:r>
                <a:r>
                  <a:rPr sz="2400" b="0">
                    <a:solidFill>
                      <a:srgbClr val="111827"/>
                    </a:solidFill>
                    <a:latin typeface="Arial"/>
                  </a:rPr>
                  <a:t> be three unit vectors mutually inclined to each other at an angle </a:t>
                </a:r>
                <a:r>
                  <a:rPr lang="en-IN" sz="2400">
                    <a:solidFill>
                      <a:srgbClr val="111827"/>
                    </a:solidFill>
                    <a:latin typeface="Cambria Math" panose="02040503050406030204" pitchFamily="18" charset="0"/>
                  </a:rPr>
                  <a:t>$\theta$</a:t>
                </a:r>
                <a:r>
                  <a:rPr sz="2400" b="0">
                    <a:solidFill>
                      <a:srgbClr val="111827"/>
                    </a:solidFill>
                    <a:latin typeface="Arial"/>
                  </a:rPr>
                  <a:t>. </a:t>
                </a:r>
                <a:r>
                  <a:rPr lang="en-IN" sz="2400">
                    <a:solidFill>
                      <a:srgbClr val="111827"/>
                    </a:solidFill>
                    <a:latin typeface="Cambria Math" panose="02040503050406030204" pitchFamily="18" charset="0"/>
                  </a:rPr>
                  <a:t>$\hat{d}$</a:t>
                </a:r>
                <a:r>
                  <a:rPr sz="2400" b="0">
                    <a:solidFill>
                      <a:srgbClr val="111827"/>
                    </a:solidFill>
                    <a:latin typeface="Arial"/>
                  </a:rPr>
                  <a:t> is also a unit vector such that </a:t>
                </a:r>
                <a:r>
                  <a:rPr lang="en-IN" sz="2400">
                    <a:solidFill>
                      <a:srgbClr val="111827"/>
                    </a:solidFill>
                    <a:latin typeface="Cambria Math" panose="02040503050406030204" pitchFamily="18" charset="0"/>
                  </a:rPr>
                  <a:t>$\hat{d}\cdot\hat{a}=\hat{d}\cdot\hat{b}=\hat{d}\cdot\hat{c}=\cos\alpha$</a:t>
                </a:r>
                <a:r>
                  <a:rPr sz="2400" b="0">
                    <a:solidFill>
                      <a:srgbClr val="111827"/>
                    </a:solidFill>
                    <a:latin typeface="Arial"/>
                  </a:rPr>
                  <a:t>. Match the values of </a:t>
                </a:r>
                <a:r>
                  <a:rPr lang="en-IN" sz="2400">
                    <a:solidFill>
                      <a:srgbClr val="111827"/>
                    </a:solidFill>
                    <a:latin typeface="Cambria Math" panose="02040503050406030204" pitchFamily="18" charset="0"/>
                  </a:rPr>
                  <a:t>$\theta$</a:t>
                </a:r>
                <a:r>
                  <a:rPr sz="2400" b="0">
                    <a:solidFill>
                      <a:srgbClr val="111827"/>
                    </a:solidFill>
                    <a:latin typeface="Arial"/>
                  </a:rPr>
                  <a:t> in Column I with the corresponding values of </a:t>
                </a:r>
                <a:r>
                  <a:rPr lang="en-IN" sz="2400">
                    <a:solidFill>
                      <a:srgbClr val="111827"/>
                    </a:solidFill>
                    <a:latin typeface="Cambria Math" panose="02040503050406030204" pitchFamily="18" charset="0"/>
                  </a:rPr>
                  <a:t>$\alpha$</a:t>
                </a:r>
                <a:r>
                  <a:rPr sz="2400" b="0">
                    <a:solidFill>
                      <a:srgbClr val="111827"/>
                    </a:solidFill>
                    <a:latin typeface="Arial"/>
                  </a:rPr>
                  <a:t> in Column II.</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 (</a:t>
                </a:r>
                <a:r>
                  <a:rPr lang="en-IN" sz="2400">
                    <a:solidFill>
                      <a:srgbClr val="111827"/>
                    </a:solidFill>
                    <a:latin typeface="Cambria Math" panose="02040503050406030204" pitchFamily="18" charset="0"/>
                  </a:rPr>
                  <a:t>$\theta$</a:t>
                </a:r>
                <a:r>
                  <a:rPr sz="2400" b="0">
                    <a:solidFill>
                      <a:srgbClr val="111827"/>
                    </a:solidFill>
                    <a:latin typeface="Arial"/>
                  </a:rPr>
                  <a:t>): (A) </a:t>
                </a:r>
                <a:r>
                  <a:rPr lang="en-IN" sz="2400">
                    <a:solidFill>
                      <a:srgbClr val="111827"/>
                    </a:solidFill>
                    <a:latin typeface="Cambria Math" panose="02040503050406030204" pitchFamily="18" charset="0"/>
                  </a:rPr>
                  <a:t>$\frac{\pi}{2}$</a:t>
                </a:r>
                <a:r>
                  <a:rPr sz="2400" b="0">
                    <a:solidFill>
                      <a:srgbClr val="111827"/>
                    </a:solidFill>
                    <a:latin typeface="Arial"/>
                  </a:rPr>
                  <a:t>; (B) </a:t>
                </a:r>
                <a:r>
                  <a:rPr lang="en-IN" sz="2400">
                    <a:solidFill>
                      <a:srgbClr val="111827"/>
                    </a:solidFill>
                    <a:latin typeface="Cambria Math" panose="02040503050406030204" pitchFamily="18" charset="0"/>
                  </a:rPr>
                  <a:t>$\frac{\pi}{3}$</a:t>
                </a:r>
                <a:r>
                  <a:rPr sz="2400" b="0">
                    <a:solidFill>
                      <a:srgbClr val="111827"/>
                    </a:solidFill>
                    <a:latin typeface="Arial"/>
                  </a:rPr>
                  <a:t>; (C) </a:t>
                </a:r>
                <a:r>
                  <a:rPr lang="en-IN" sz="2400">
                    <a:solidFill>
                      <a:srgbClr val="111827"/>
                    </a:solidFill>
                    <a:latin typeface="Cambria Math" panose="02040503050406030204" pitchFamily="18" charset="0"/>
                  </a:rPr>
                  <a:t>$\cos^{-1}\left(\frac14\right)$</a:t>
                </a:r>
                <a:r>
                  <a:rPr sz="2400" b="0">
                    <a:solidFill>
                      <a:srgbClr val="111827"/>
                    </a:solidFill>
                    <a:latin typeface="Arial"/>
                  </a:rPr>
                  <a:t>; (D) </a:t>
                </a:r>
                <a:r>
                  <a:rPr lang="en-IN" sz="2400">
                    <a:solidFill>
                      <a:srgbClr val="111827"/>
                    </a:solidFill>
                    <a:latin typeface="Cambria Math" panose="02040503050406030204" pitchFamily="18" charset="0"/>
                  </a:rPr>
                  <a:t>$\cos^{-1}\left(\frac58\right)$</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II (</a:t>
                </a:r>
                <a:r>
                  <a:rPr lang="en-IN" sz="2400">
                    <a:solidFill>
                      <a:srgbClr val="111827"/>
                    </a:solidFill>
                    <a:latin typeface="Cambria Math" panose="02040503050406030204" pitchFamily="18" charset="0"/>
                  </a:rPr>
                  <a:t>$\alpha$</a:t>
                </a:r>
                <a:r>
                  <a:rPr sz="2400" b="0">
                    <a:solidFill>
                      <a:srgbClr val="111827"/>
                    </a:solidFill>
                    <a:latin typeface="Arial"/>
                  </a:rPr>
                  <a:t>): (p) </a:t>
                </a:r>
                <a:r>
                  <a:rPr lang="en-IN" sz="2400">
                    <a:solidFill>
                      <a:srgbClr val="111827"/>
                    </a:solidFill>
                    <a:latin typeface="Cambria Math" panose="02040503050406030204" pitchFamily="18" charset="0"/>
                  </a:rPr>
                  <a:t>$\frac{\pi}{4}$</a:t>
                </a:r>
                <a:r>
                  <a:rPr sz="2400" b="0">
                    <a:solidFill>
                      <a:srgbClr val="111827"/>
                    </a:solidFill>
                    <a:latin typeface="Arial"/>
                  </a:rPr>
                  <a:t>; (q) </a:t>
                </a:r>
                <a:r>
                  <a:rPr lang="en-IN" sz="2400">
                    <a:solidFill>
                      <a:srgbClr val="111827"/>
                    </a:solidFill>
                    <a:latin typeface="Cambria Math" panose="02040503050406030204" pitchFamily="18" charset="0"/>
                  </a:rPr>
                  <a:t>$\cos^{-1}\left(\frac{1}{\sqrt3}\right)$</a:t>
                </a:r>
                <a:r>
                  <a:rPr sz="2400" b="0">
                    <a:solidFill>
                      <a:srgbClr val="111827"/>
                    </a:solidFill>
                    <a:latin typeface="Arial"/>
                  </a:rPr>
                  <a:t>; (r) </a:t>
                </a:r>
                <a:r>
                  <a:rPr lang="en-IN" sz="2400">
                    <a:solidFill>
                      <a:srgbClr val="111827"/>
                    </a:solidFill>
                    <a:latin typeface="Cambria Math" panose="02040503050406030204" pitchFamily="18" charset="0"/>
                  </a:rPr>
                  <a:t>$\cos^{-1}\sqrt{\frac23}$</a:t>
                </a:r>
                <a:r>
                  <a:rPr sz="2400" b="0">
                    <a:solidFill>
                      <a:srgbClr val="111827"/>
                    </a:solidFill>
                    <a:latin typeface="Arial"/>
                  </a:rPr>
                  <a:t>; (s) </a:t>
                </a:r>
                <a:r>
                  <a:rPr lang="en-IN" sz="2400">
                    <a:solidFill>
                      <a:srgbClr val="111827"/>
                    </a:solidFill>
                    <a:latin typeface="Cambria Math" panose="02040503050406030204" pitchFamily="18" charset="0"/>
                  </a:rPr>
                  <a:t>$\frac{\pi}{6}$</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ectangle 3"/>
          <p:cNvSpPr/>
          <p:nvPr/>
        </p:nvSpPr>
        <p:spPr>
          <a:xfrm>
            <a:off x="731520" y="1280160"/>
            <a:ext cx="10725912" cy="160324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Matching List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Vector algebra</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3(Average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066288"/>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Equal dot products make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oMath>
                </a14:m>
                <a:r>
                  <a:rPr sz="2400" b="0">
                    <a:solidFill>
                      <a:srgbClr val="78350F"/>
                    </a:solidFill>
                    <a:latin typeface="Arial"/>
                  </a:rPr>
                  <a:t> symmetric,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𝑘</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r>
                      <m:rPr>
                        <m:sty m:val="p"/>
                      </m:rPr>
                      <a:rPr lang="en-IN" sz="2400">
                        <a:solidFill>
                          <a:srgbClr val="78350F"/>
                        </a:solidFill>
                        <a:latin typeface="Cambria Math" panose="02040503050406030204" pitchFamily="18" charset="0"/>
                      </a:rPr>
                      <m:t>)</m:t>
                    </m:r>
                  </m:oMath>
                </a14:m>
                <a:r>
                  <a:rPr sz="2400" b="0">
                    <a:solidFill>
                      <a:srgbClr val="78350F"/>
                    </a:solidFill>
                    <a:latin typeface="Arial"/>
                  </a:rPr>
                  <a:t>; dotting with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oMath>
                </a14:m>
                <a:r>
                  <a:rPr sz="2400" b="0">
                    <a:solidFill>
                      <a:srgbClr val="78350F"/>
                    </a:solidFill>
                    <a:latin typeface="Arial"/>
                  </a:rPr>
                  <a:t> and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oMath>
                </a14:m>
                <a:r>
                  <a:rPr sz="2400" b="0">
                    <a:solidFill>
                      <a:srgbClr val="78350F"/>
                    </a:solidFill>
                    <a:latin typeface="Arial"/>
                  </a:rPr>
                  <a:t> gives </a:t>
                </a:r>
                <a14:m>
                  <m:oMath xmlns:m="http://schemas.openxmlformats.org/officeDocument/2006/math">
                    <m:r>
                      <a:rPr lang="en-IN" sz="2400" i="1">
                        <a:solidFill>
                          <a:srgbClr val="78350F"/>
                        </a:solidFill>
                        <a:latin typeface="Cambria Math" panose="02040503050406030204" pitchFamily="18" charset="0"/>
                      </a:rPr>
                      <m:t>3</m:t>
                    </m:r>
                    <m:sSup>
                      <m:e>
                        <m:r>
                          <m:rPr>
                            <m:sty m:val="p"/>
                          </m:rPr>
                          <a:rPr lang="en-IN" sz="2400">
                            <a:solidFill>
                              <a:srgbClr val="78350F"/>
                            </a:solidFill>
                            <a:latin typeface="Cambria Math" panose="02040503050406030204" pitchFamily="18" charset="0"/>
                          </a:rPr>
                          <m:t>cos</m:t>
                        </m:r>
                      </m:e>
                      <m:sup>
                        <m:r>
                          <a:rPr lang="en-IN" sz="2400" i="1">
                            <a:solidFill>
                              <a:srgbClr val="78350F"/>
                            </a:solidFill>
                            <a:latin typeface="Cambria Math" panose="02040503050406030204" pitchFamily="18" charset="0"/>
                          </a:rPr>
                          <m:t>2</m:t>
                        </m:r>
                      </m:sup>
                    </m:sSup>
                    <m:r>
                      <a:rPr lang="en-IN" sz="2400" i="1">
                        <a:solidFill>
                          <a:srgbClr val="78350F"/>
                        </a:solidFill>
                        <a:latin typeface="Cambria Math" panose="02040503050406030204" pitchFamily="18" charset="0"/>
                      </a:rPr>
                      <m:t>α</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θ</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066288"/>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Equal dot products make </a:t>
                </a:r>
                <a:r>
                  <a:rPr lang="en-IN" sz="2400">
                    <a:solidFill>
                      <a:srgbClr val="78350F"/>
                    </a:solidFill>
                    <a:latin typeface="Cambria Math" panose="02040503050406030204" pitchFamily="18" charset="0"/>
                  </a:rPr>
                  <a:t>$\hat{d}$</a:t>
                </a:r>
                <a:r>
                  <a:rPr sz="2400" b="0">
                    <a:solidFill>
                      <a:srgbClr val="78350F"/>
                    </a:solidFill>
                    <a:latin typeface="Arial"/>
                  </a:rPr>
                  <a:t> symmetric, </a:t>
                </a:r>
                <a:r>
                  <a:rPr lang="en-IN" sz="2400">
                    <a:solidFill>
                      <a:srgbClr val="78350F"/>
                    </a:solidFill>
                    <a:latin typeface="Cambria Math" panose="02040503050406030204" pitchFamily="18" charset="0"/>
                  </a:rPr>
                  <a:t>$\hat{d}=k(\hat{a}+\hat{b}+\hat{c})$</a:t>
                </a:r>
                <a:r>
                  <a:rPr sz="2400" b="0">
                    <a:solidFill>
                      <a:srgbClr val="78350F"/>
                    </a:solidFill>
                    <a:latin typeface="Arial"/>
                  </a:rPr>
                  <a:t>; dotting with </a:t>
                </a:r>
                <a:r>
                  <a:rPr lang="en-IN" sz="2400">
                    <a:solidFill>
                      <a:srgbClr val="78350F"/>
                    </a:solidFill>
                    <a:latin typeface="Cambria Math" panose="02040503050406030204" pitchFamily="18" charset="0"/>
                  </a:rPr>
                  <a:t>$\hat{a}$</a:t>
                </a:r>
                <a:r>
                  <a:rPr sz="2400" b="0">
                    <a:solidFill>
                      <a:srgbClr val="78350F"/>
                    </a:solidFill>
                    <a:latin typeface="Arial"/>
                  </a:rPr>
                  <a:t> and </a:t>
                </a:r>
                <a:r>
                  <a:rPr lang="en-IN" sz="2400">
                    <a:solidFill>
                      <a:srgbClr val="78350F"/>
                    </a:solidFill>
                    <a:latin typeface="Cambria Math" panose="02040503050406030204" pitchFamily="18" charset="0"/>
                  </a:rPr>
                  <a:t>$\hat{d}$</a:t>
                </a:r>
                <a:r>
                  <a:rPr sz="2400" b="0">
                    <a:solidFill>
                      <a:srgbClr val="78350F"/>
                    </a:solidFill>
                    <a:latin typeface="Arial"/>
                  </a:rPr>
                  <a:t> gives </a:t>
                </a:r>
                <a:r>
                  <a:rPr lang="en-IN" sz="2400">
                    <a:solidFill>
                      <a:srgbClr val="78350F"/>
                    </a:solidFill>
                    <a:latin typeface="Cambria Math" panose="02040503050406030204" pitchFamily="18" charset="0"/>
                  </a:rPr>
                  <a:t>$3\cos^2\alpha=1+2\cos\theta$</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312920"/>
                <a:ext cx="10725912" cy="23621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is symmetric in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oMath>
                </a14:m>
                <a:r>
                  <a:rPr sz="2400" b="0">
                    <a:solidFill>
                      <a:srgbClr val="111827"/>
                    </a:solidFill>
                    <a:latin typeface="Arial"/>
                  </a:rPr>
                  <a:t> (i). (Writing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the Gram determinant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forces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(i)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(ii).</a:t>
                </a:r>
                <a:endParaRPr sz="2400">
                  <a:solidFill>
                    <a:srgbClr val="111827"/>
                  </a:solidFill>
                </a:endParaRPr>
              </a:p>
            </p:txBody>
          </p:sp>
        </mc:Choice>
        <mc:Fallback>
          <p:sp>
            <p:nvSpPr>
              <p:cNvPr id="6" name="Rectangle 5"/>
              <p:cNvSpPr/>
              <p:nvPr/>
            </p:nvSpPr>
            <p:spPr>
              <a:xfrm>
                <a:off x="731520" y="4312920"/>
                <a:ext cx="10725912" cy="23621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Since </a:t>
                </a:r>
                <a:r>
                  <a:rPr lang="en-IN" sz="2400">
                    <a:solidFill>
                      <a:srgbClr val="111827"/>
                    </a:solidFill>
                    <a:latin typeface="Cambria Math" panose="02040503050406030204" pitchFamily="18" charset="0"/>
                  </a:rPr>
                  <a:t>$\hat{d}\cdot\hat{a}=\hat{d}\cdot\hat{b}=\hat{d}\cdot\hat{c}$</a:t>
                </a:r>
                <a:r>
                  <a:rPr sz="2400" b="0">
                    <a:solidFill>
                      <a:srgbClr val="111827"/>
                    </a:solidFill>
                    <a:latin typeface="Arial"/>
                  </a:rPr>
                  <a:t>, </a:t>
                </a:r>
                <a:r>
                  <a:rPr lang="en-IN" sz="2400">
                    <a:solidFill>
                      <a:srgbClr val="111827"/>
                    </a:solidFill>
                    <a:latin typeface="Cambria Math" panose="02040503050406030204" pitchFamily="18" charset="0"/>
                  </a:rPr>
                  <a:t>$\hat{d}$</a:t>
                </a:r>
                <a:r>
                  <a:rPr sz="2400" b="0">
                    <a:solidFill>
                      <a:srgbClr val="111827"/>
                    </a:solidFill>
                    <a:latin typeface="Arial"/>
                  </a:rPr>
                  <a:t> is symmetric in </a:t>
                </a:r>
                <a:r>
                  <a:rPr lang="en-IN" sz="2400">
                    <a:solidFill>
                      <a:srgbClr val="111827"/>
                    </a:solidFill>
                    <a:latin typeface="Cambria Math" panose="02040503050406030204" pitchFamily="18" charset="0"/>
                  </a:rPr>
                  <a:t>$\hat{a},\hat{b},\hat{c}$</a:t>
                </a:r>
                <a:r>
                  <a:rPr sz="2400" b="0">
                    <a:solidFill>
                      <a:srgbClr val="111827"/>
                    </a:solidFill>
                    <a:latin typeface="Arial"/>
                  </a:rPr>
                  <a:t>: </a:t>
                </a:r>
                <a:r>
                  <a:rPr lang="en-IN" sz="2400">
                    <a:solidFill>
                      <a:srgbClr val="111827"/>
                    </a:solidFill>
                    <a:latin typeface="Cambria Math" panose="02040503050406030204" pitchFamily="18" charset="0"/>
                  </a:rPr>
                  <a:t>$\hat{d}=k\left(\hat{a}+\hat{b}+\hat{c}\right)$</a:t>
                </a:r>
                <a:r>
                  <a:rPr sz="2400" b="0">
                    <a:solidFill>
                      <a:srgbClr val="111827"/>
                    </a:solidFill>
                    <a:latin typeface="Arial"/>
                  </a:rPr>
                  <a:t> (i). (Writing </a:t>
                </a:r>
                <a:r>
                  <a:rPr lang="en-IN" sz="2400">
                    <a:solidFill>
                      <a:srgbClr val="111827"/>
                    </a:solidFill>
                    <a:latin typeface="Cambria Math" panose="02040503050406030204" pitchFamily="18" charset="0"/>
                  </a:rPr>
                  <a:t>$\hat{d}=x\hat{a}+y\hat{b}+z\hat{c}$</a:t>
                </a:r>
                <a:r>
                  <a:rPr sz="2400" b="0">
                    <a:solidFill>
                      <a:srgbClr val="111827"/>
                    </a:solidFill>
                    <a:latin typeface="Arial"/>
                  </a:rPr>
                  <a:t>, the Gram determinant </a:t>
                </a:r>
                <a:r>
                  <a:rPr lang="en-IN" sz="2400">
                    <a:solidFill>
                      <a:srgbClr val="111827"/>
                    </a:solidFill>
                    <a:latin typeface="Cambria Math" panose="02040503050406030204" pitchFamily="18" charset="0"/>
                  </a:rPr>
                  <a:t>$(1-\cos\theta)^2(1+2\cos\theta)\neq0$</a:t>
                </a:r>
                <a:r>
                  <a:rPr sz="2400" b="0">
                    <a:solidFill>
                      <a:srgbClr val="111827"/>
                    </a:solidFill>
                    <a:latin typeface="Arial"/>
                  </a:rPr>
                  <a:t> forces </a:t>
                </a:r>
                <a:r>
                  <a:rPr lang="en-IN" sz="2400">
                    <a:solidFill>
                      <a:srgbClr val="111827"/>
                    </a:solidFill>
                    <a:latin typeface="Cambria Math" panose="02040503050406030204" pitchFamily="18" charset="0"/>
                  </a:rPr>
                  <a:t>$x=y=z$</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Dot (i) with </a:t>
                </a:r>
                <a:r>
                  <a:rPr lang="en-IN" sz="2400">
                    <a:solidFill>
                      <a:srgbClr val="111827"/>
                    </a:solidFill>
                    <a:latin typeface="Cambria Math" panose="02040503050406030204" pitchFamily="18" charset="0"/>
                  </a:rPr>
                  <a:t>$\hat{a}$</a:t>
                </a:r>
                <a:r>
                  <a:rPr sz="2400" b="0">
                    <a:solidFill>
                      <a:srgbClr val="111827"/>
                    </a:solidFill>
                    <a:latin typeface="Arial"/>
                  </a:rPr>
                  <a:t>: </a:t>
                </a:r>
                <a:r>
                  <a:rPr lang="en-IN" sz="2400">
                    <a:solidFill>
                      <a:srgbClr val="111827"/>
                    </a:solidFill>
                    <a:latin typeface="Cambria Math" panose="02040503050406030204" pitchFamily="18" charset="0"/>
                  </a:rPr>
                  <a:t>$\hat{d}\cdot\hat{a}=k\left(\hat{a}\cdot\hat{a}+\hat{a}\cdot\hat{b}+\hat{a}\cdot\hat{c}\right)$</a:t>
                </a:r>
                <a:r>
                  <a:rPr sz="2400" b="0">
                    <a:solidFill>
                      <a:srgbClr val="111827"/>
                    </a:solidFill>
                    <a:latin typeface="Arial"/>
                  </a:rPr>
                  <a:t>, so </a:t>
                </a:r>
                <a:r>
                  <a:rPr lang="en-IN" sz="2400">
                    <a:solidFill>
                      <a:srgbClr val="111827"/>
                    </a:solidFill>
                    <a:latin typeface="Cambria Math" panose="02040503050406030204" pitchFamily="18" charset="0"/>
                  </a:rPr>
                  <a:t>$\cos\alpha=k(1+2\cos\theta)$</a:t>
                </a:r>
                <a:r>
                  <a:rPr sz="2400" b="0">
                    <a:solidFill>
                      <a:srgbClr val="111827"/>
                    </a:solidFill>
                    <a:latin typeface="Arial"/>
                  </a:rPr>
                  <a:t> (ii).</a:t>
                </a:r>
                <a:endParaRPr sz="2400">
                  <a:solidFill>
                    <a:srgbClr val="111827"/>
                  </a:solidFill>
                </a:endParaRPr>
              </a:p>
            </p:txBody>
          </p:sp>
        </mc:Fallback>
      </mc:AlternateContent>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Dot (i)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(iii).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Eliminate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den>
                    </m:f>
                  </m:oMath>
                </a14:m>
                <a:r>
                  <a:rPr sz="2400" b="0">
                    <a:solidFill>
                      <a:srgbClr val="111827"/>
                    </a:solidFill>
                    <a:latin typeface="Arial"/>
                  </a:rPr>
                  <a:t> from (ii): </a:t>
                </a:r>
                <a14:m>
                  <m:oMath xmlns:m="http://schemas.openxmlformats.org/officeDocument/2006/math">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so (A)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rad>
                  </m:oMath>
                </a14:m>
                <a:r>
                  <a:rPr sz="2400" b="0">
                    <a:solidFill>
                      <a:srgbClr val="111827"/>
                    </a:solidFill>
                    <a:latin typeface="Arial"/>
                  </a:rPr>
                  <a:t>, so (B)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(C)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so (D)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(s) (not (r): (r) needs </a:t>
                </a:r>
                <a14:m>
                  <m:oMath xmlns:m="http://schemas.openxmlformats.org/officeDocument/2006/math">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Dot (i) with </a:t>
                </a:r>
                <a:r>
                  <a:rPr lang="en-IN" sz="2400">
                    <a:solidFill>
                      <a:srgbClr val="111827"/>
                    </a:solidFill>
                    <a:latin typeface="Cambria Math" panose="02040503050406030204" pitchFamily="18" charset="0"/>
                  </a:rPr>
                  <a:t>$\hat{d}$</a:t>
                </a:r>
                <a:r>
                  <a:rPr sz="2400" b="0">
                    <a:solidFill>
                      <a:srgbClr val="111827"/>
                    </a:solidFill>
                    <a:latin typeface="Arial"/>
                  </a:rPr>
                  <a:t>: </a:t>
                </a:r>
                <a:r>
                  <a:rPr lang="en-IN" sz="2400">
                    <a:solidFill>
                      <a:srgbClr val="111827"/>
                    </a:solidFill>
                    <a:latin typeface="Cambria Math" panose="02040503050406030204" pitchFamily="18" charset="0"/>
                  </a:rPr>
                  <a:t>$\hat{d}\cdot\hat{d}=k\left(\hat{d}\cdot\hat{a}+\hat{d}\cdot\hat{b}+\hat{d}\cdot\hat{c}\right)$</a:t>
                </a:r>
                <a:r>
                  <a:rPr sz="2400" b="0">
                    <a:solidFill>
                      <a:srgbClr val="111827"/>
                    </a:solidFill>
                    <a:latin typeface="Arial"/>
                  </a:rPr>
                  <a:t>, so </a:t>
                </a:r>
                <a:r>
                  <a:rPr lang="en-IN" sz="2400">
                    <a:solidFill>
                      <a:srgbClr val="111827"/>
                    </a:solidFill>
                    <a:latin typeface="Cambria Math" panose="02040503050406030204" pitchFamily="18" charset="0"/>
                  </a:rPr>
                  <a:t>$1=k(3\cos\alpha)$</a:t>
                </a:r>
                <a:r>
                  <a:rPr sz="2400" b="0">
                    <a:solidFill>
                      <a:srgbClr val="111827"/>
                    </a:solidFill>
                    <a:latin typeface="Arial"/>
                  </a:rPr>
                  <a:t> (iii).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Eliminate </a:t>
                </a:r>
                <a:r>
                  <a:rPr lang="en-IN" sz="2400">
                    <a:solidFill>
                      <a:srgbClr val="111827"/>
                    </a:solidFill>
                    <a:latin typeface="Cambria Math" panose="02040503050406030204" pitchFamily="18" charset="0"/>
                  </a:rPr>
                  <a:t>$k=\frac{1}{3\cos\alpha}$</a:t>
                </a:r>
                <a:r>
                  <a:rPr sz="2400" b="0">
                    <a:solidFill>
                      <a:srgbClr val="111827"/>
                    </a:solidFill>
                    <a:latin typeface="Arial"/>
                  </a:rPr>
                  <a:t> from (ii): </a:t>
                </a:r>
                <a:r>
                  <a:rPr lang="en-IN" sz="2400">
                    <a:solidFill>
                      <a:srgbClr val="111827"/>
                    </a:solidFill>
                    <a:latin typeface="Cambria Math" panose="02040503050406030204" pitchFamily="18" charset="0"/>
                  </a:rPr>
                  <a:t>$3\cos^2\alpha=1+2\cos\theta$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$\theta=\frac\pi2$</a:t>
                </a:r>
                <a:r>
                  <a:rPr sz="2400" b="0">
                    <a:solidFill>
                      <a:srgbClr val="111827"/>
                    </a:solidFill>
                    <a:latin typeface="Arial"/>
                  </a:rPr>
                  <a:t>: </a:t>
                </a:r>
                <a:r>
                  <a:rPr lang="en-IN" sz="2400">
                    <a:solidFill>
                      <a:srgbClr val="111827"/>
                    </a:solidFill>
                    <a:latin typeface="Cambria Math" panose="02040503050406030204" pitchFamily="18" charset="0"/>
                  </a:rPr>
                  <a:t>$3\cos^2\alpha=1$</a:t>
                </a:r>
                <a:r>
                  <a:rPr sz="2400" b="0">
                    <a:solidFill>
                      <a:srgbClr val="111827"/>
                    </a:solidFill>
                    <a:latin typeface="Arial"/>
                  </a:rPr>
                  <a:t>, </a:t>
                </a:r>
                <a:r>
                  <a:rPr lang="en-IN" sz="2400">
                    <a:solidFill>
                      <a:srgbClr val="111827"/>
                    </a:solidFill>
                    <a:latin typeface="Cambria Math" panose="02040503050406030204" pitchFamily="18" charset="0"/>
                  </a:rPr>
                  <a:t>$\cos\alpha=\frac1{\sqrt3}$</a:t>
                </a:r>
                <a:r>
                  <a:rPr sz="2400" b="0">
                    <a:solidFill>
                      <a:srgbClr val="111827"/>
                    </a:solidFill>
                    <a:latin typeface="Arial"/>
                  </a:rPr>
                  <a:t>, so (A) </a:t>
                </a:r>
                <a:r>
                  <a:rPr lang="en-IN" sz="2400">
                    <a:solidFill>
                      <a:srgbClr val="111827"/>
                    </a:solidFill>
                    <a:latin typeface="Cambria Math" panose="02040503050406030204" pitchFamily="18" charset="0"/>
                  </a:rPr>
                  <a:t>$\to$</a:t>
                </a:r>
                <a:r>
                  <a:rPr sz="2400" b="0">
                    <a:solidFill>
                      <a:srgbClr val="111827"/>
                    </a:solidFill>
                    <a:latin typeface="Arial"/>
                  </a:rPr>
                  <a:t>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$\theta=\frac\pi3$</a:t>
                </a:r>
                <a:r>
                  <a:rPr sz="2400" b="0">
                    <a:solidFill>
                      <a:srgbClr val="111827"/>
                    </a:solidFill>
                    <a:latin typeface="Arial"/>
                  </a:rPr>
                  <a:t>: </a:t>
                </a:r>
                <a:r>
                  <a:rPr lang="en-IN" sz="2400">
                    <a:solidFill>
                      <a:srgbClr val="111827"/>
                    </a:solidFill>
                    <a:latin typeface="Cambria Math" panose="02040503050406030204" pitchFamily="18" charset="0"/>
                  </a:rPr>
                  <a:t>$3\cos^2\alpha=1+1=2$</a:t>
                </a:r>
                <a:r>
                  <a:rPr sz="2400" b="0">
                    <a:solidFill>
                      <a:srgbClr val="111827"/>
                    </a:solidFill>
                    <a:latin typeface="Arial"/>
                  </a:rPr>
                  <a:t>, </a:t>
                </a:r>
                <a:r>
                  <a:rPr lang="en-IN" sz="2400">
                    <a:solidFill>
                      <a:srgbClr val="111827"/>
                    </a:solidFill>
                    <a:latin typeface="Cambria Math" panose="02040503050406030204" pitchFamily="18" charset="0"/>
                  </a:rPr>
                  <a:t>$\cos\alpha=\sqrt{\frac23}$</a:t>
                </a:r>
                <a:r>
                  <a:rPr sz="2400" b="0">
                    <a:solidFill>
                      <a:srgbClr val="111827"/>
                    </a:solidFill>
                    <a:latin typeface="Arial"/>
                  </a:rPr>
                  <a:t>, so (B) </a:t>
                </a:r>
                <a:r>
                  <a:rPr lang="en-IN" sz="2400">
                    <a:solidFill>
                      <a:srgbClr val="111827"/>
                    </a:solidFill>
                    <a:latin typeface="Cambria Math" panose="02040503050406030204" pitchFamily="18" charset="0"/>
                  </a:rPr>
                  <a:t>$\to$</a:t>
                </a:r>
                <a:r>
                  <a:rPr sz="2400" b="0">
                    <a:solidFill>
                      <a:srgbClr val="111827"/>
                    </a:solidFill>
                    <a:latin typeface="Arial"/>
                  </a:rPr>
                  <a:t>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$\cos\theta=\frac14$</a:t>
                </a:r>
                <a:r>
                  <a:rPr sz="2400" b="0">
                    <a:solidFill>
                      <a:srgbClr val="111827"/>
                    </a:solidFill>
                    <a:latin typeface="Arial"/>
                  </a:rPr>
                  <a:t>: </a:t>
                </a:r>
                <a:r>
                  <a:rPr lang="en-IN" sz="2400">
                    <a:solidFill>
                      <a:srgbClr val="111827"/>
                    </a:solidFill>
                    <a:latin typeface="Cambria Math" panose="02040503050406030204" pitchFamily="18" charset="0"/>
                  </a:rPr>
                  <a:t>$3\cos^2\alpha=\frac32$</a:t>
                </a:r>
                <a:r>
                  <a:rPr sz="2400" b="0">
                    <a:solidFill>
                      <a:srgbClr val="111827"/>
                    </a:solidFill>
                    <a:latin typeface="Arial"/>
                  </a:rPr>
                  <a:t>, </a:t>
                </a:r>
                <a:r>
                  <a:rPr lang="en-IN" sz="2400">
                    <a:solidFill>
                      <a:srgbClr val="111827"/>
                    </a:solidFill>
                    <a:latin typeface="Cambria Math" panose="02040503050406030204" pitchFamily="18" charset="0"/>
                  </a:rPr>
                  <a:t>$\cos^2\alpha=\frac12$</a:t>
                </a:r>
                <a:r>
                  <a:rPr sz="2400" b="0">
                    <a:solidFill>
                      <a:srgbClr val="111827"/>
                    </a:solidFill>
                    <a:latin typeface="Arial"/>
                  </a:rPr>
                  <a:t>, </a:t>
                </a:r>
                <a:r>
                  <a:rPr lang="en-IN" sz="2400">
                    <a:solidFill>
                      <a:srgbClr val="111827"/>
                    </a:solidFill>
                    <a:latin typeface="Cambria Math" panose="02040503050406030204" pitchFamily="18" charset="0"/>
                  </a:rPr>
                  <a:t>$\alpha=\frac\pi4$</a:t>
                </a:r>
                <a:r>
                  <a:rPr sz="2400" b="0">
                    <a:solidFill>
                      <a:srgbClr val="111827"/>
                    </a:solidFill>
                    <a:latin typeface="Arial"/>
                  </a:rPr>
                  <a:t>, so (C) </a:t>
                </a:r>
                <a:r>
                  <a:rPr lang="en-IN" sz="2400">
                    <a:solidFill>
                      <a:srgbClr val="111827"/>
                    </a:solidFill>
                    <a:latin typeface="Cambria Math" panose="02040503050406030204" pitchFamily="18" charset="0"/>
                  </a:rPr>
                  <a:t>$\to$</a:t>
                </a:r>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$\cos\theta=\frac58$</a:t>
                </a:r>
                <a:r>
                  <a:rPr sz="2400" b="0">
                    <a:solidFill>
                      <a:srgbClr val="111827"/>
                    </a:solidFill>
                    <a:latin typeface="Arial"/>
                  </a:rPr>
                  <a:t>: </a:t>
                </a:r>
                <a:r>
                  <a:rPr lang="en-IN" sz="2400">
                    <a:solidFill>
                      <a:srgbClr val="111827"/>
                    </a:solidFill>
                    <a:latin typeface="Cambria Math" panose="02040503050406030204" pitchFamily="18" charset="0"/>
                  </a:rPr>
                  <a:t>$3\cos^2\alpha=1+\frac54=\frac94$</a:t>
                </a:r>
                <a:r>
                  <a:rPr sz="2400" b="0">
                    <a:solidFill>
                      <a:srgbClr val="111827"/>
                    </a:solidFill>
                    <a:latin typeface="Arial"/>
                  </a:rPr>
                  <a:t>, </a:t>
                </a:r>
                <a:r>
                  <a:rPr lang="en-IN" sz="2400">
                    <a:solidFill>
                      <a:srgbClr val="111827"/>
                    </a:solidFill>
                    <a:latin typeface="Cambria Math" panose="02040503050406030204" pitchFamily="18" charset="0"/>
                  </a:rPr>
                  <a:t>$\cos^2\alpha=\frac34$</a:t>
                </a:r>
                <a:r>
                  <a:rPr sz="2400" b="0">
                    <a:solidFill>
                      <a:srgbClr val="111827"/>
                    </a:solidFill>
                    <a:latin typeface="Arial"/>
                  </a:rPr>
                  <a:t>, </a:t>
                </a:r>
                <a:r>
                  <a:rPr lang="en-IN" sz="2400">
                    <a:solidFill>
                      <a:srgbClr val="111827"/>
                    </a:solidFill>
                    <a:latin typeface="Cambria Math" panose="02040503050406030204" pitchFamily="18" charset="0"/>
                  </a:rPr>
                  <a:t>$\alpha=\frac\pi6$</a:t>
                </a:r>
                <a:r>
                  <a:rPr sz="2400" b="0">
                    <a:solidFill>
                      <a:srgbClr val="111827"/>
                    </a:solidFill>
                    <a:latin typeface="Arial"/>
                  </a:rPr>
                  <a:t>, so (D) </a:t>
                </a:r>
                <a:r>
                  <a:rPr lang="en-IN" sz="2400">
                    <a:solidFill>
                      <a:srgbClr val="111827"/>
                    </a:solidFill>
                    <a:latin typeface="Cambria Math" panose="02040503050406030204" pitchFamily="18" charset="0"/>
                  </a:rPr>
                  <a:t>$\to$</a:t>
                </a:r>
                <a:r>
                  <a:rPr sz="2400" b="0">
                    <a:solidFill>
                      <a:srgbClr val="111827"/>
                    </a:solidFill>
                    <a:latin typeface="Arial"/>
                  </a:rPr>
                  <a:t> (s) (not (r): (r) needs </a:t>
                </a:r>
                <a:r>
                  <a:rPr lang="en-IN" sz="2400">
                    <a:solidFill>
                      <a:srgbClr val="111827"/>
                    </a:solidFill>
                    <a:latin typeface="Cambria Math" panose="02040503050406030204" pitchFamily="18" charset="0"/>
                  </a:rPr>
                  <a:t>$\cos^2\alpha=\frac23$</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Answer: (A)-(q), (B)-(r), (C)-(p), (D)-(s).</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(q); (B)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(r); (C)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(p); (D)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(s)</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$\to$</a:t>
                </a:r>
                <a:r>
                  <a:rPr sz="2800" b="1">
                    <a:solidFill>
                      <a:srgbClr val="15803D"/>
                    </a:solidFill>
                    <a:latin typeface="Arial"/>
                  </a:rPr>
                  <a:t> (q); (B) </a:t>
                </a:r>
                <a:r>
                  <a:rPr lang="en-IN" sz="2800">
                    <a:solidFill>
                      <a:srgbClr val="15803D"/>
                    </a:solidFill>
                    <a:latin typeface="Cambria Math" panose="02040503050406030204" pitchFamily="18" charset="0"/>
                  </a:rPr>
                  <a:t>$\to$</a:t>
                </a:r>
                <a:r>
                  <a:rPr sz="2800" b="1">
                    <a:solidFill>
                      <a:srgbClr val="15803D"/>
                    </a:solidFill>
                    <a:latin typeface="Arial"/>
                  </a:rPr>
                  <a:t> (r); (C) </a:t>
                </a:r>
                <a:r>
                  <a:rPr lang="en-IN" sz="2800">
                    <a:solidFill>
                      <a:srgbClr val="15803D"/>
                    </a:solidFill>
                    <a:latin typeface="Cambria Math" panose="02040503050406030204" pitchFamily="18" charset="0"/>
                  </a:rPr>
                  <a:t>$\to$</a:t>
                </a:r>
                <a:r>
                  <a:rPr sz="2800" b="1">
                    <a:solidFill>
                      <a:srgbClr val="15803D"/>
                    </a:solidFill>
                    <a:latin typeface="Arial"/>
                  </a:rPr>
                  <a:t> (p); (D) </a:t>
                </a:r>
                <a:r>
                  <a:rPr lang="en-IN" sz="2800">
                    <a:solidFill>
                      <a:srgbClr val="15803D"/>
                    </a:solidFill>
                    <a:latin typeface="Cambria Math" panose="02040503050406030204" pitchFamily="18" charset="0"/>
                  </a:rPr>
                  <a:t>$\to$</a:t>
                </a:r>
                <a:r>
                  <a:rPr sz="2800" b="1">
                    <a:solidFill>
                      <a:srgbClr val="15803D"/>
                    </a:solidFill>
                    <a:latin typeface="Arial"/>
                  </a:rPr>
                  <a:t> (s)</a:t>
                </a:r>
                <a:endParaRPr sz="2800">
                  <a:solidFill>
                    <a:srgbClr val="15803D"/>
                  </a:solidFill>
                </a:endParaRPr>
              </a:p>
            </p:txBody>
          </p:sp>
        </mc:Fallback>
      </mc:AlternateContent>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Normalise the symmetric axis: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𝑑</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f>
                      <m:fPr>
                        <m:type m:val="bar"/>
                        <m:ctrlPr>
                          <a:rPr lang="en-IN" sz="2400" i="1">
                            <a:solidFill>
                              <a:srgbClr val="78350F"/>
                            </a:solidFill>
                            <a:latin typeface="Cambria Math" panose="02040503050406030204" pitchFamily="18" charset="0"/>
                          </a:rPr>
                        </m:ctrlPr>
                      </m:fPr>
                      <m:num>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𝑠</m:t>
                            </m:r>
                          </m:e>
                        </m:acc>
                      </m:num>
                      <m:den>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𝑠</m:t>
                            </m:r>
                          </m:e>
                        </m:acc>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with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𝑠</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𝑐</m:t>
                        </m:r>
                      </m:e>
                    </m:acc>
                  </m:oMath>
                </a14:m>
                <a:r>
                  <a:rPr sz="2400" b="0">
                    <a:solidFill>
                      <a:srgbClr val="78350F"/>
                    </a:solidFill>
                    <a:latin typeface="Arial"/>
                  </a:rPr>
                  <a:t>, then read </a:t>
                </a:r>
                <a14:m>
                  <m:oMath xmlns:m="http://schemas.openxmlformats.org/officeDocument/2006/math">
                    <m:r>
                      <m:rPr>
                        <m:sty m:val="p"/>
                      </m:rPr>
                      <a:rPr lang="en-IN" sz="2400">
                        <a:solidFill>
                          <a:srgbClr val="78350F"/>
                        </a:solidFill>
                        <a:latin typeface="Cambria Math" panose="02040503050406030204" pitchFamily="18" charset="0"/>
                      </a:rPr>
                      <m:t>cos</m:t>
                    </m:r>
                    <m:r>
                      <a:rPr lang="en-IN" sz="2400" i="1">
                        <a:solidFill>
                          <a:srgbClr val="78350F"/>
                        </a:solidFill>
                        <a:latin typeface="Cambria Math" panose="02040503050406030204" pitchFamily="18" charset="0"/>
                      </a:rPr>
                      <m:t>α</m:t>
                    </m:r>
                  </m:oMath>
                </a14:m>
                <a:r>
                  <a:rPr sz="2400" b="0">
                    <a:solidFill>
                      <a:srgbClr val="78350F"/>
                    </a:solidFill>
                    <a:latin typeface="Arial"/>
                  </a:rPr>
                  <a:t> as a projection.</a:t>
                </a:r>
                <a:endParaRPr sz="2400">
                  <a:solidFill>
                    <a:srgbClr val="78350F"/>
                  </a:solidFill>
                </a:endParaRPr>
              </a:p>
            </p:txBody>
          </p:sp>
        </mc:Choice>
        <mc:Fallback>
          <p:sp>
            <p:nvSpPr>
              <p:cNvPr id="5" name="Rounded Rectangle 4"/>
              <p:cNvSpPr/>
              <p:nvPr/>
            </p:nvSpPr>
            <p:spPr>
              <a:xfrm>
                <a:off x="731520" y="1280160"/>
                <a:ext cx="10725912" cy="1219200"/>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Normalise the symmetric axis: </a:t>
                </a:r>
                <a:r>
                  <a:rPr lang="en-IN" sz="2400">
                    <a:solidFill>
                      <a:srgbClr val="78350F"/>
                    </a:solidFill>
                    <a:latin typeface="Cambria Math" panose="02040503050406030204" pitchFamily="18" charset="0"/>
                  </a:rPr>
                  <a:t>$\hat{d}=\pm\frac{\vec{s}}{|\vec{s}|}$</a:t>
                </a:r>
                <a:r>
                  <a:rPr sz="2400" b="0">
                    <a:solidFill>
                      <a:srgbClr val="78350F"/>
                    </a:solidFill>
                    <a:latin typeface="Arial"/>
                  </a:rPr>
                  <a:t> with </a:t>
                </a:r>
                <a:r>
                  <a:rPr lang="en-IN" sz="2400">
                    <a:solidFill>
                      <a:srgbClr val="78350F"/>
                    </a:solidFill>
                    <a:latin typeface="Cambria Math" panose="02040503050406030204" pitchFamily="18" charset="0"/>
                  </a:rPr>
                  <a:t>$\vec{s}=\hat{a}+\hat{b}+\hat{c}$</a:t>
                </a:r>
                <a:r>
                  <a:rPr sz="2400" b="0">
                    <a:solidFill>
                      <a:srgbClr val="78350F"/>
                    </a:solidFill>
                    <a:latin typeface="Arial"/>
                  </a:rPr>
                  <a:t>, then read </a:t>
                </a:r>
                <a:r>
                  <a:rPr lang="en-IN" sz="2400">
                    <a:solidFill>
                      <a:srgbClr val="78350F"/>
                    </a:solidFill>
                    <a:latin typeface="Cambria Math" panose="02040503050406030204" pitchFamily="18" charset="0"/>
                  </a:rPr>
                  <a:t>$\cos\alpha$</a:t>
                </a:r>
                <a:r>
                  <a:rPr sz="2400" b="0">
                    <a:solidFill>
                      <a:srgbClr val="78350F"/>
                    </a:solidFill>
                    <a:latin typeface="Arial"/>
                  </a:rPr>
                  <a:t> as a projection.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equally inclined to three non-coplanar unit vectors lies along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(equal dot products make it symmetric).</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636520"/>
                <a:ext cx="10725912" cy="4038599"/>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$\hat{d}$</a:t>
                </a:r>
                <a:r>
                  <a:rPr sz="2400" b="0">
                    <a:solidFill>
                      <a:srgbClr val="111827"/>
                    </a:solidFill>
                    <a:latin typeface="Arial"/>
                  </a:rPr>
                  <a:t> equally inclined to three non-coplanar unit vectors lies along </a:t>
                </a:r>
                <a:r>
                  <a:rPr lang="en-IN" sz="2400">
                    <a:solidFill>
                      <a:srgbClr val="111827"/>
                    </a:solidFill>
                    <a:latin typeface="Cambria Math" panose="02040503050406030204" pitchFamily="18" charset="0"/>
                  </a:rPr>
                  <a:t>$\vec{s}=\hat{a}+\hat{b}+\hat{c}$</a:t>
                </a:r>
                <a:r>
                  <a:rPr sz="2400" b="0">
                    <a:solidFill>
                      <a:srgbClr val="111827"/>
                    </a:solidFill>
                    <a:latin typeface="Arial"/>
                  </a:rPr>
                  <a:t> (equal dot products make it symmetric).</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$|\vec{s}|^2=3+6\cos\theta$</a:t>
                </a:r>
                <a:r>
                  <a:rPr sz="2400" b="0">
                    <a:solidFill>
                      <a:srgbClr val="111827"/>
                    </a:solidFill>
                    <a:latin typeface="Arial"/>
                  </a:rPr>
                  <a:t> and </a:t>
                </a:r>
                <a:r>
                  <a:rPr lang="en-IN" sz="2400">
                    <a:solidFill>
                      <a:srgbClr val="111827"/>
                    </a:solidFill>
                    <a:latin typeface="Cambria Math" panose="02040503050406030204" pitchFamily="18" charset="0"/>
                  </a:rPr>
                  <a:t>$\vec{s}\cdot\hat{a}=1+2\cos\theta$</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Taking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𝑠</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e>
                        </m:rad>
                      </m:den>
                    </m:f>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3</m:t>
                            </m:r>
                          </m:den>
                        </m:f>
                      </m:e>
                    </m:rad>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Rows: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8</m:t>
                        </m:r>
                      </m:den>
                    </m:f>
                  </m:oMath>
                </a14:m>
                <a:r>
                  <a:rPr sz="2400" b="0">
                    <a:solidFill>
                      <a:srgbClr val="111827"/>
                    </a:solidFill>
                    <a:latin typeface="Arial"/>
                  </a:rPr>
                  <a:t> give </a:t>
                </a:r>
                <a14:m>
                  <m:oMath xmlns:m="http://schemas.openxmlformats.org/officeDocument/2006/math">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a:t>
                </a:r>
                <a14:m>
                  <m:oMath xmlns:m="http://schemas.openxmlformats.org/officeDocument/2006/math">
                    <m:sSup>
                      <m:e>
                        <m:r>
                          <m:rPr>
                            <m:sty m:val="p"/>
                          </m:rPr>
                          <a:rPr lang="en-IN" sz="2400">
                            <a:solidFill>
                              <a:srgbClr val="111827"/>
                            </a:solidFill>
                            <a:latin typeface="Cambria Math" panose="02040503050406030204" pitchFamily="18" charset="0"/>
                          </a:rPr>
                          <m:t>cos</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rad>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6</m:t>
                        </m:r>
                      </m:den>
                    </m:f>
                  </m:oMath>
                </a14:m>
                <a:r>
                  <a:rPr sz="2400" b="0">
                    <a:solidFill>
                      <a:srgbClr val="111827"/>
                    </a:solidFill>
                    <a:latin typeface="Arial"/>
                  </a:rPr>
                  <a:t>: (q), (r), (p), (s). Same result.</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Taking </a:t>
                </a:r>
                <a:r>
                  <a:rPr lang="en-IN" sz="2400">
                    <a:solidFill>
                      <a:srgbClr val="111827"/>
                    </a:solidFill>
                    <a:latin typeface="Cambria Math" panose="02040503050406030204" pitchFamily="18" charset="0"/>
                  </a:rPr>
                  <a:t>$\hat{d}=\frac{\vec{s}}{|\vec{s}|}$</a:t>
                </a:r>
                <a:r>
                  <a:rPr sz="2400" b="0">
                    <a:solidFill>
                      <a:srgbClr val="111827"/>
                    </a:solidFill>
                    <a:latin typeface="Arial"/>
                  </a:rPr>
                  <a:t>: </a:t>
                </a:r>
                <a:r>
                  <a:rPr lang="en-IN" sz="2400">
                    <a:solidFill>
                      <a:srgbClr val="111827"/>
                    </a:solidFill>
                    <a:latin typeface="Cambria Math" panose="02040503050406030204" pitchFamily="18" charset="0"/>
                  </a:rPr>
                  <a:t>$\cos\alpha=\frac{1+2\cos\theta}{\sqrt{3(1+2\cos\theta)}}=\sqrt{\frac{1+2\cos\theta}{3}}$</a:t>
                </a:r>
                <a:r>
                  <a:rPr sz="2400" b="0">
                    <a:solidFill>
                      <a:srgbClr val="111827"/>
                    </a:solidFill>
                    <a:latin typeface="Arial"/>
                  </a:rPr>
                  <a:t>, so </a:t>
                </a:r>
                <a:r>
                  <a:rPr lang="en-IN" sz="2400">
                    <a:solidFill>
                      <a:srgbClr val="111827"/>
                    </a:solidFill>
                    <a:latin typeface="Cambria Math" panose="02040503050406030204" pitchFamily="18" charset="0"/>
                  </a:rPr>
                  <a:t>$3\cos^2\alpha=1+2\cos\theta$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Rows: </a:t>
                </a:r>
                <a:r>
                  <a:rPr lang="en-IN" sz="2400">
                    <a:solidFill>
                      <a:srgbClr val="111827"/>
                    </a:solidFill>
                    <a:latin typeface="Cambria Math" panose="02040503050406030204" pitchFamily="18" charset="0"/>
                  </a:rPr>
                  <a:t>$\cos\theta=0,\frac12,\frac14,\frac58$</a:t>
                </a:r>
                <a:r>
                  <a:rPr sz="2400" b="0">
                    <a:solidFill>
                      <a:srgbClr val="111827"/>
                    </a:solidFill>
                    <a:latin typeface="Arial"/>
                  </a:rPr>
                  <a:t> give </a:t>
                </a:r>
                <a:r>
                  <a:rPr lang="en-IN" sz="2400">
                    <a:solidFill>
                      <a:srgbClr val="111827"/>
                    </a:solidFill>
                    <a:latin typeface="Cambria Math" panose="02040503050406030204" pitchFamily="18" charset="0"/>
                  </a:rPr>
                  <a:t>$\cos^2\alpha=\frac13,\frac23,\frac12,\frac34$</a:t>
                </a:r>
                <a:r>
                  <a:rPr sz="2400" b="0">
                    <a:solidFill>
                      <a:srgbClr val="111827"/>
                    </a:solidFill>
                    <a:latin typeface="Arial"/>
                  </a:rPr>
                  <a:t>, i.e. </a:t>
                </a:r>
                <a:r>
                  <a:rPr lang="en-IN" sz="2400">
                    <a:solidFill>
                      <a:srgbClr val="111827"/>
                    </a:solidFill>
                    <a:latin typeface="Cambria Math" panose="02040503050406030204" pitchFamily="18" charset="0"/>
                  </a:rPr>
                  <a:t>$\alpha=\cos^{-1}\frac1{\sqrt3}$</a:t>
                </a:r>
                <a:r>
                  <a:rPr sz="2400" b="0">
                    <a:solidFill>
                      <a:srgbClr val="111827"/>
                    </a:solidFill>
                    <a:latin typeface="Arial"/>
                  </a:rPr>
                  <a:t>, </a:t>
                </a:r>
                <a:r>
                  <a:rPr lang="en-IN" sz="2400">
                    <a:solidFill>
                      <a:srgbClr val="111827"/>
                    </a:solidFill>
                    <a:latin typeface="Cambria Math" panose="02040503050406030204" pitchFamily="18" charset="0"/>
                  </a:rPr>
                  <a:t>$\cos^{-1}\sqrt{\frac23}$</a:t>
                </a:r>
                <a:r>
                  <a:rPr sz="2400" b="0">
                    <a:solidFill>
                      <a:srgbClr val="111827"/>
                    </a:solidFill>
                    <a:latin typeface="Arial"/>
                  </a:rPr>
                  <a:t>, </a:t>
                </a:r>
                <a:r>
                  <a:rPr lang="en-IN" sz="2400">
                    <a:solidFill>
                      <a:srgbClr val="111827"/>
                    </a:solidFill>
                    <a:latin typeface="Cambria Math" panose="02040503050406030204" pitchFamily="18" charset="0"/>
                  </a:rPr>
                  <a:t>$\frac\pi4$</a:t>
                </a:r>
                <a:r>
                  <a:rPr sz="2400" b="0">
                    <a:solidFill>
                      <a:srgbClr val="111827"/>
                    </a:solidFill>
                    <a:latin typeface="Arial"/>
                  </a:rPr>
                  <a:t>, </a:t>
                </a:r>
                <a:r>
                  <a:rPr lang="en-IN" sz="2400">
                    <a:solidFill>
                      <a:srgbClr val="111827"/>
                    </a:solidFill>
                    <a:latin typeface="Cambria Math" panose="02040503050406030204" pitchFamily="18" charset="0"/>
                  </a:rPr>
                  <a:t>$\frac\pi6$</a:t>
                </a:r>
                <a:r>
                  <a:rPr sz="2400" b="0">
                    <a:solidFill>
                      <a:srgbClr val="111827"/>
                    </a:solidFill>
                    <a:latin typeface="Arial"/>
                  </a:rPr>
                  <a:t>: (q), (r), (p), (s). Same result.</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(q); (B)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(r); (C)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(p); (D)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(s)</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$\to$</a:t>
                </a:r>
                <a:r>
                  <a:rPr sz="2800" b="1">
                    <a:solidFill>
                      <a:srgbClr val="15803D"/>
                    </a:solidFill>
                    <a:latin typeface="Arial"/>
                  </a:rPr>
                  <a:t> (q); (B) </a:t>
                </a:r>
                <a:r>
                  <a:rPr lang="en-IN" sz="2800">
                    <a:solidFill>
                      <a:srgbClr val="15803D"/>
                    </a:solidFill>
                    <a:latin typeface="Cambria Math" panose="02040503050406030204" pitchFamily="18" charset="0"/>
                  </a:rPr>
                  <a:t>$\to$</a:t>
                </a:r>
                <a:r>
                  <a:rPr sz="2800" b="1">
                    <a:solidFill>
                      <a:srgbClr val="15803D"/>
                    </a:solidFill>
                    <a:latin typeface="Arial"/>
                  </a:rPr>
                  <a:t> (r); (C) </a:t>
                </a:r>
                <a:r>
                  <a:rPr lang="en-IN" sz="2800">
                    <a:solidFill>
                      <a:srgbClr val="15803D"/>
                    </a:solidFill>
                    <a:latin typeface="Cambria Math" panose="02040503050406030204" pitchFamily="18" charset="0"/>
                  </a:rPr>
                  <a:t>$\to$</a:t>
                </a:r>
                <a:r>
                  <a:rPr sz="2800" b="1">
                    <a:solidFill>
                      <a:srgbClr val="15803D"/>
                    </a:solidFill>
                    <a:latin typeface="Arial"/>
                  </a:rPr>
                  <a:t> (p); (D) </a:t>
                </a:r>
                <a:r>
                  <a:rPr lang="en-IN" sz="2800">
                    <a:solidFill>
                      <a:srgbClr val="15803D"/>
                    </a:solidFill>
                    <a:latin typeface="Cambria Math" panose="02040503050406030204" pitchFamily="18" charset="0"/>
                  </a:rPr>
                  <a:t>$\to$</a:t>
                </a:r>
                <a:r>
                  <a:rPr sz="2800" b="1">
                    <a:solidFill>
                      <a:srgbClr val="15803D"/>
                    </a:solidFill>
                    <a:latin typeface="Arial"/>
                  </a:rPr>
                  <a:t> (s)</a:t>
                </a:r>
                <a:endParaRPr sz="2800">
                  <a:solidFill>
                    <a:srgbClr val="15803D"/>
                  </a:solidFill>
                </a:endParaRPr>
              </a:p>
            </p:txBody>
          </p:sp>
        </mc:Fallback>
      </mc:AlternateContent>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44</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6B26B"/>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3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unit vectors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oMath>
                </a14:m>
                <a:r>
                  <a:rPr sz="2400" b="0">
                    <a:solidFill>
                      <a:srgbClr val="111827"/>
                    </a:solidFill>
                    <a:latin typeface="Arial"/>
                  </a:rPr>
                  <a:t> with common angle </a:t>
                </a:r>
                <a14:m>
                  <m:oMath xmlns:m="http://schemas.openxmlformats.org/officeDocument/2006/math">
                    <m:r>
                      <a:rPr lang="en-IN" sz="2400" i="1">
                        <a:solidFill>
                          <a:srgbClr val="111827"/>
                        </a:solidFill>
                        <a:latin typeface="Cambria Math" panose="02040503050406030204" pitchFamily="18" charset="0"/>
                      </a:rPr>
                      <m:t>θ</m:t>
                    </m:r>
                  </m:oMath>
                </a14:m>
                <a:r>
                  <a:rPr sz="2400" b="0">
                    <a:solidFill>
                      <a:srgbClr val="111827"/>
                    </a:solidFill>
                    <a:latin typeface="Arial"/>
                  </a:rPr>
                  <a:t> (need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them to be non-coplanar), the unit vector making equal angles </a:t>
                </a:r>
                <a14:m>
                  <m:oMath xmlns:m="http://schemas.openxmlformats.org/officeDocument/2006/math">
                    <m:r>
                      <a:rPr lang="en-IN" sz="2400" i="1">
                        <a:solidFill>
                          <a:srgbClr val="111827"/>
                        </a:solidFill>
                        <a:latin typeface="Cambria Math" panose="02040503050406030204" pitchFamily="18" charset="0"/>
                      </a:rPr>
                      <m:t>α</m:t>
                    </m:r>
                  </m:oMath>
                </a14:m>
                <a:r>
                  <a:rPr sz="2400" b="0">
                    <a:solidFill>
                      <a:srgbClr val="111827"/>
                    </a:solidFill>
                    <a:latin typeface="Arial"/>
                  </a:rPr>
                  <a:t> with all three satisfies </a:t>
                </a:r>
                <a14:m>
                  <m:oMath xmlns:m="http://schemas.openxmlformats.org/officeDocument/2006/math">
                    <m:sSup>
                      <m:e>
                        <m:r>
                          <m:rPr>
                            <m:sty m:val="p"/>
                          </m:rPr>
                          <a:rPr lang="en-IN" sz="2400">
                            <a:solidFill>
                              <a:srgbClr val="111827"/>
                            </a:solidFill>
                            <a:latin typeface="Cambria Math" panose="02040503050406030204" pitchFamily="18" charset="0"/>
                          </a:rPr>
                          <m:t>cos</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three mutually perpendicular unit vectors (</a:t>
                </a:r>
                <a14:m>
                  <m:oMath xmlns:m="http://schemas.openxmlformats.org/officeDocument/2006/math">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give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oMath>
                </a14:m>
                <a:r>
                  <a:rPr sz="2400" b="0">
                    <a:solidFill>
                      <a:srgbClr val="111827"/>
                    </a:solidFill>
                    <a:latin typeface="Arial"/>
                  </a:rPr>
                  <a:t>, the angle of a cube's body diagonal with the edges.</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oMath>
                </a14:m>
                <a:r>
                  <a:rPr sz="2400" b="0">
                    <a:solidFill>
                      <a:srgbClr val="111827"/>
                    </a:solidFill>
                    <a:latin typeface="Arial"/>
                  </a:rPr>
                  <a:t>; the sum vector is the symmetry axis, so equal-dot-product conditions can be solved by writing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unit vectors </a:t>
                </a:r>
                <a:r>
                  <a:rPr lang="en-IN" sz="2400">
                    <a:solidFill>
                      <a:srgbClr val="111827"/>
                    </a:solidFill>
                    <a:latin typeface="Cambria Math" panose="02040503050406030204" pitchFamily="18" charset="0"/>
                  </a:rPr>
                  <a:t>$\hat a,\hat b,\hat c$</a:t>
                </a:r>
                <a:r>
                  <a:rPr sz="2400" b="0">
                    <a:solidFill>
                      <a:srgbClr val="111827"/>
                    </a:solidFill>
                    <a:latin typeface="Arial"/>
                  </a:rPr>
                  <a:t> with common angle </a:t>
                </a:r>
                <a:r>
                  <a:rPr lang="en-IN" sz="2400">
                    <a:solidFill>
                      <a:srgbClr val="111827"/>
                    </a:solidFill>
                    <a:latin typeface="Cambria Math" panose="02040503050406030204" pitchFamily="18" charset="0"/>
                  </a:rPr>
                  <a:t>$\theta$</a:t>
                </a:r>
                <a:r>
                  <a:rPr sz="2400" b="0">
                    <a:solidFill>
                      <a:srgbClr val="111827"/>
                    </a:solidFill>
                    <a:latin typeface="Arial"/>
                  </a:rPr>
                  <a:t> (need </a:t>
                </a:r>
                <a:r>
                  <a:rPr lang="en-IN" sz="2400">
                    <a:solidFill>
                      <a:srgbClr val="111827"/>
                    </a:solidFill>
                    <a:latin typeface="Cambria Math" panose="02040503050406030204" pitchFamily="18" charset="0"/>
                  </a:rPr>
                  <a:t>$\cos\theta&gt;-\frac12$</a:t>
                </a:r>
                <a:r>
                  <a:rPr sz="2400" b="0">
                    <a:solidFill>
                      <a:srgbClr val="111827"/>
                    </a:solidFill>
                    <a:latin typeface="Arial"/>
                  </a:rPr>
                  <a:t> for them to be non-coplanar), the unit vector making equal angles </a:t>
                </a:r>
                <a:r>
                  <a:rPr lang="en-IN" sz="2400">
                    <a:solidFill>
                      <a:srgbClr val="111827"/>
                    </a:solidFill>
                    <a:latin typeface="Cambria Math" panose="02040503050406030204" pitchFamily="18" charset="0"/>
                  </a:rPr>
                  <a:t>$\alpha$</a:t>
                </a:r>
                <a:r>
                  <a:rPr sz="2400" b="0">
                    <a:solidFill>
                      <a:srgbClr val="111827"/>
                    </a:solidFill>
                    <a:latin typeface="Arial"/>
                  </a:rPr>
                  <a:t> with all three satisfies </a:t>
                </a:r>
                <a:r>
                  <a:rPr lang="en-IN" sz="2400">
                    <a:solidFill>
                      <a:srgbClr val="111827"/>
                    </a:solidFill>
                    <a:latin typeface="Cambria Math" panose="02040503050406030204" pitchFamily="18" charset="0"/>
                  </a:rPr>
                  <a:t>$\cos^2\alpha=\frac{1+2\cos\theta}{3}$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Check: three mutually perpendicular unit vectors (</a:t>
                </a:r>
                <a:r>
                  <a:rPr lang="en-IN" sz="2400">
                    <a:solidFill>
                      <a:srgbClr val="111827"/>
                    </a:solidFill>
                    <a:latin typeface="Cambria Math" panose="02040503050406030204" pitchFamily="18" charset="0"/>
                  </a:rPr>
                  <a:t>$\theta=\frac\pi2$</a:t>
                </a:r>
                <a:r>
                  <a:rPr sz="2400" b="0">
                    <a:solidFill>
                      <a:srgbClr val="111827"/>
                    </a:solidFill>
                    <a:latin typeface="Arial"/>
                  </a:rPr>
                  <a:t>) give </a:t>
                </a:r>
                <a:r>
                  <a:rPr lang="en-IN" sz="2400">
                    <a:solidFill>
                      <a:srgbClr val="111827"/>
                    </a:solidFill>
                    <a:latin typeface="Cambria Math" panose="02040503050406030204" pitchFamily="18" charset="0"/>
                  </a:rPr>
                  <a:t>$\cos\alpha=\frac1{\sqrt3}$</a:t>
                </a:r>
                <a:r>
                  <a:rPr sz="2400" b="0">
                    <a:solidFill>
                      <a:srgbClr val="111827"/>
                    </a:solidFill>
                    <a:latin typeface="Arial"/>
                  </a:rPr>
                  <a:t>, the angle of a cube's body diagonal with the edges.</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$\left|\hat a+\hat b+\hat c\right|^2=3+6\cos\theta$</a:t>
                </a:r>
                <a:r>
                  <a:rPr sz="2400" b="0">
                    <a:solidFill>
                      <a:srgbClr val="111827"/>
                    </a:solidFill>
                    <a:latin typeface="Arial"/>
                  </a:rPr>
                  <a:t>; the sum vector is the symmetry axis, so equal-dot-product conditions can be solved by writing </a:t>
                </a:r>
                <a:r>
                  <a:rPr lang="en-IN" sz="2400">
                    <a:solidFill>
                      <a:srgbClr val="111827"/>
                    </a:solidFill>
                    <a:latin typeface="Cambria Math" panose="02040503050406030204" pitchFamily="18" charset="0"/>
                  </a:rPr>
                  <a:t>$\hat d=k(\hat a+\hat b+\hat c)$</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527507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200">
                    <a:solidFill>
                      <a:srgbClr val="111827"/>
                    </a:solidFill>
                  </a:defRPr>
                </a:lvl1pPr>
              </a:lstStyle>
              <a:p>
                <a:pPr algn="l">
                  <a:spcAft>
                    <a:spcPts val="500"/>
                  </a:spcAft>
                  <a:defRPr sz="2200">
                    <a:solidFill>
                      <a:srgbClr val="111827"/>
                    </a:solidFill>
                  </a:defRPr>
                </a:pPr>
                <a:r>
                  <a:rPr sz="2200" b="0">
                    <a:solidFill>
                      <a:srgbClr val="111827"/>
                    </a:solidFill>
                    <a:latin typeface="Arial"/>
                  </a:rPr>
                  <a:t>[IIT-JEE 2010] Match the statements in Column I with those in Column II (an entry of Column I may match more than one entry of Column II).</a:t>
                </a:r>
                <a:endParaRPr sz="2200">
                  <a:solidFill>
                    <a:srgbClr val="111827"/>
                  </a:solidFill>
                </a:endParaRPr>
              </a:p>
              <a:p>
                <a:pPr algn="l">
                  <a:spcAft>
                    <a:spcPts val="500"/>
                  </a:spcAft>
                  <a:defRPr sz="2200">
                    <a:solidFill>
                      <a:srgbClr val="111827"/>
                    </a:solidFill>
                  </a:defRPr>
                </a:pPr>
                <a:r>
                  <a:rPr sz="2200" b="0">
                    <a:solidFill>
                      <a:srgbClr val="111827"/>
                    </a:solidFill>
                    <a:latin typeface="Arial"/>
                  </a:rPr>
                  <a:t>Column I: (A) A line from the origin meets the lines </a:t>
                </a:r>
                <a14:m>
                  <m:oMath xmlns:m="http://schemas.openxmlformats.org/officeDocument/2006/math">
                    <m:f>
                      <m:fPr>
                        <m:type m:val="bar"/>
                        <m:ctrlPr>
                          <a:rPr lang="en-IN" sz="2200" i="1">
                            <a:solidFill>
                              <a:srgbClr val="111827"/>
                            </a:solidFill>
                            <a:latin typeface="Cambria Math" panose="02040503050406030204" pitchFamily="18" charset="0"/>
                          </a:rPr>
                        </m:ctrlPr>
                      </m:fPr>
                      <m:num>
                        <m:r>
                          <a:rPr lang="en-IN" sz="2200" i="1">
                            <a:solidFill>
                              <a:srgbClr val="111827"/>
                            </a:solidFill>
                            <a:latin typeface="Cambria Math" panose="02040503050406030204" pitchFamily="18" charset="0"/>
                          </a:rPr>
                          <m:t>𝑥</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2</m:t>
                        </m:r>
                      </m:num>
                      <m:den>
                        <m:r>
                          <a:rPr lang="en-IN" sz="2200" i="1">
                            <a:solidFill>
                              <a:srgbClr val="111827"/>
                            </a:solidFill>
                            <a:latin typeface="Cambria Math" panose="02040503050406030204" pitchFamily="18" charset="0"/>
                          </a:rPr>
                          <m:t>1</m:t>
                        </m:r>
                      </m:den>
                    </m:f>
                    <m:r>
                      <m:rPr>
                        <m:sty m:val="p"/>
                      </m:rPr>
                      <a:rPr lang="en-IN" sz="2200">
                        <a:solidFill>
                          <a:srgbClr val="111827"/>
                        </a:solidFill>
                        <a:latin typeface="Cambria Math" panose="02040503050406030204" pitchFamily="18" charset="0"/>
                      </a:rPr>
                      <m:t>=</m:t>
                    </m:r>
                    <m:f>
                      <m:fPr>
                        <m:type m:val="bar"/>
                        <m:ctrlPr>
                          <a:rPr lang="en-IN" sz="2200" i="1">
                            <a:solidFill>
                              <a:srgbClr val="111827"/>
                            </a:solidFill>
                            <a:latin typeface="Cambria Math" panose="02040503050406030204" pitchFamily="18" charset="0"/>
                          </a:rPr>
                        </m:ctrlPr>
                      </m:fPr>
                      <m:num>
                        <m:r>
                          <a:rPr lang="en-IN" sz="2200" i="1">
                            <a:solidFill>
                              <a:srgbClr val="111827"/>
                            </a:solidFill>
                            <a:latin typeface="Cambria Math" panose="02040503050406030204" pitchFamily="18" charset="0"/>
                          </a:rPr>
                          <m:t>𝑦</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1</m:t>
                        </m:r>
                      </m:num>
                      <m:den>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2</m:t>
                        </m:r>
                      </m:den>
                    </m:f>
                    <m:r>
                      <m:rPr>
                        <m:sty m:val="p"/>
                      </m:rPr>
                      <a:rPr lang="en-IN" sz="2200">
                        <a:solidFill>
                          <a:srgbClr val="111827"/>
                        </a:solidFill>
                        <a:latin typeface="Cambria Math" panose="02040503050406030204" pitchFamily="18" charset="0"/>
                      </a:rPr>
                      <m:t>=</m:t>
                    </m:r>
                    <m:f>
                      <m:fPr>
                        <m:type m:val="bar"/>
                        <m:ctrlPr>
                          <a:rPr lang="en-IN" sz="2200" i="1">
                            <a:solidFill>
                              <a:srgbClr val="111827"/>
                            </a:solidFill>
                            <a:latin typeface="Cambria Math" panose="02040503050406030204" pitchFamily="18" charset="0"/>
                          </a:rPr>
                        </m:ctrlPr>
                      </m:fPr>
                      <m:num>
                        <m:r>
                          <a:rPr lang="en-IN" sz="2200" i="1">
                            <a:solidFill>
                              <a:srgbClr val="111827"/>
                            </a:solidFill>
                            <a:latin typeface="Cambria Math" panose="02040503050406030204" pitchFamily="18" charset="0"/>
                          </a:rPr>
                          <m:t>𝑧</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1</m:t>
                        </m:r>
                      </m:num>
                      <m:den>
                        <m:r>
                          <a:rPr lang="en-IN" sz="2200" i="1">
                            <a:solidFill>
                              <a:srgbClr val="111827"/>
                            </a:solidFill>
                            <a:latin typeface="Cambria Math" panose="02040503050406030204" pitchFamily="18" charset="0"/>
                          </a:rPr>
                          <m:t>1</m:t>
                        </m:r>
                      </m:den>
                    </m:f>
                  </m:oMath>
                </a14:m>
                <a:r>
                  <a:rPr sz="2200" b="0">
                    <a:solidFill>
                      <a:srgbClr val="111827"/>
                    </a:solidFill>
                    <a:latin typeface="Arial"/>
                  </a:rPr>
                  <a:t> and </a:t>
                </a:r>
                <a14:m>
                  <m:oMath xmlns:m="http://schemas.openxmlformats.org/officeDocument/2006/math">
                    <m:f>
                      <m:fPr>
                        <m:type m:val="bar"/>
                        <m:ctrlPr>
                          <a:rPr lang="en-IN" sz="2200" i="1">
                            <a:solidFill>
                              <a:srgbClr val="111827"/>
                            </a:solidFill>
                            <a:latin typeface="Cambria Math" panose="02040503050406030204" pitchFamily="18" charset="0"/>
                          </a:rPr>
                        </m:ctrlPr>
                      </m:fPr>
                      <m:num>
                        <m:r>
                          <a:rPr lang="en-IN" sz="2200" i="1">
                            <a:solidFill>
                              <a:srgbClr val="111827"/>
                            </a:solidFill>
                            <a:latin typeface="Cambria Math" panose="02040503050406030204" pitchFamily="18" charset="0"/>
                          </a:rPr>
                          <m:t>𝑥</m:t>
                        </m:r>
                        <m:r>
                          <m:rPr>
                            <m:sty m:val="p"/>
                          </m:rPr>
                          <a:rPr lang="en-IN" sz="2200">
                            <a:solidFill>
                              <a:srgbClr val="111827"/>
                            </a:solidFill>
                            <a:latin typeface="Cambria Math" panose="02040503050406030204" pitchFamily="18" charset="0"/>
                          </a:rPr>
                          <m:t>−</m:t>
                        </m:r>
                        <m:f>
                          <m:fPr>
                            <m:type m:val="bar"/>
                            <m:ctrlPr>
                              <a:rPr lang="en-IN" sz="2200" i="1">
                                <a:solidFill>
                                  <a:srgbClr val="111827"/>
                                </a:solidFill>
                                <a:latin typeface="Cambria Math" panose="02040503050406030204" pitchFamily="18" charset="0"/>
                              </a:rPr>
                            </m:ctrlPr>
                          </m:fPr>
                          <m:num>
                            <m:r>
                              <a:rPr lang="en-IN" sz="2200" i="1">
                                <a:solidFill>
                                  <a:srgbClr val="111827"/>
                                </a:solidFill>
                                <a:latin typeface="Cambria Math" panose="02040503050406030204" pitchFamily="18" charset="0"/>
                              </a:rPr>
                              <m:t>8</m:t>
                            </m:r>
                          </m:num>
                          <m:den>
                            <m:r>
                              <a:rPr lang="en-IN" sz="2200" i="1">
                                <a:solidFill>
                                  <a:srgbClr val="111827"/>
                                </a:solidFill>
                                <a:latin typeface="Cambria Math" panose="02040503050406030204" pitchFamily="18" charset="0"/>
                              </a:rPr>
                              <m:t>3</m:t>
                            </m:r>
                          </m:den>
                        </m:f>
                      </m:num>
                      <m:den>
                        <m:r>
                          <a:rPr lang="en-IN" sz="2200" i="1">
                            <a:solidFill>
                              <a:srgbClr val="111827"/>
                            </a:solidFill>
                            <a:latin typeface="Cambria Math" panose="02040503050406030204" pitchFamily="18" charset="0"/>
                          </a:rPr>
                          <m:t>2</m:t>
                        </m:r>
                      </m:den>
                    </m:f>
                    <m:r>
                      <m:rPr>
                        <m:sty m:val="p"/>
                      </m:rPr>
                      <a:rPr lang="en-IN" sz="2200">
                        <a:solidFill>
                          <a:srgbClr val="111827"/>
                        </a:solidFill>
                        <a:latin typeface="Cambria Math" panose="02040503050406030204" pitchFamily="18" charset="0"/>
                      </a:rPr>
                      <m:t>=</m:t>
                    </m:r>
                    <m:f>
                      <m:fPr>
                        <m:type m:val="bar"/>
                        <m:ctrlPr>
                          <a:rPr lang="en-IN" sz="2200" i="1">
                            <a:solidFill>
                              <a:srgbClr val="111827"/>
                            </a:solidFill>
                            <a:latin typeface="Cambria Math" panose="02040503050406030204" pitchFamily="18" charset="0"/>
                          </a:rPr>
                        </m:ctrlPr>
                      </m:fPr>
                      <m:num>
                        <m:r>
                          <a:rPr lang="en-IN" sz="2200" i="1">
                            <a:solidFill>
                              <a:srgbClr val="111827"/>
                            </a:solidFill>
                            <a:latin typeface="Cambria Math" panose="02040503050406030204" pitchFamily="18" charset="0"/>
                          </a:rPr>
                          <m:t>𝑦</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3</m:t>
                        </m:r>
                      </m:num>
                      <m:den>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1</m:t>
                        </m:r>
                      </m:den>
                    </m:f>
                    <m:r>
                      <m:rPr>
                        <m:sty m:val="p"/>
                      </m:rPr>
                      <a:rPr lang="en-IN" sz="2200">
                        <a:solidFill>
                          <a:srgbClr val="111827"/>
                        </a:solidFill>
                        <a:latin typeface="Cambria Math" panose="02040503050406030204" pitchFamily="18" charset="0"/>
                      </a:rPr>
                      <m:t>=</m:t>
                    </m:r>
                    <m:f>
                      <m:fPr>
                        <m:type m:val="bar"/>
                        <m:ctrlPr>
                          <a:rPr lang="en-IN" sz="2200" i="1">
                            <a:solidFill>
                              <a:srgbClr val="111827"/>
                            </a:solidFill>
                            <a:latin typeface="Cambria Math" panose="02040503050406030204" pitchFamily="18" charset="0"/>
                          </a:rPr>
                        </m:ctrlPr>
                      </m:fPr>
                      <m:num>
                        <m:r>
                          <a:rPr lang="en-IN" sz="2200" i="1">
                            <a:solidFill>
                              <a:srgbClr val="111827"/>
                            </a:solidFill>
                            <a:latin typeface="Cambria Math" panose="02040503050406030204" pitchFamily="18" charset="0"/>
                          </a:rPr>
                          <m:t>𝑧</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1</m:t>
                        </m:r>
                      </m:num>
                      <m:den>
                        <m:r>
                          <a:rPr lang="en-IN" sz="2200" i="1">
                            <a:solidFill>
                              <a:srgbClr val="111827"/>
                            </a:solidFill>
                            <a:latin typeface="Cambria Math" panose="02040503050406030204" pitchFamily="18" charset="0"/>
                          </a:rPr>
                          <m:t>1</m:t>
                        </m:r>
                      </m:den>
                    </m:f>
                  </m:oMath>
                </a14:m>
                <a:r>
                  <a:rPr sz="2200" b="0">
                    <a:solidFill>
                      <a:srgbClr val="111827"/>
                    </a:solidFill>
                    <a:latin typeface="Arial"/>
                  </a:rPr>
                  <a:t> at </a:t>
                </a:r>
                <a14:m>
                  <m:oMath xmlns:m="http://schemas.openxmlformats.org/officeDocument/2006/math">
                    <m:r>
                      <a:rPr lang="en-IN" sz="2200" i="1">
                        <a:solidFill>
                          <a:srgbClr val="111827"/>
                        </a:solidFill>
                        <a:latin typeface="Cambria Math" panose="02040503050406030204" pitchFamily="18" charset="0"/>
                      </a:rPr>
                      <m:t>𝑃</m:t>
                    </m:r>
                  </m:oMath>
                </a14:m>
                <a:r>
                  <a:rPr sz="2200" b="0">
                    <a:solidFill>
                      <a:srgbClr val="111827"/>
                    </a:solidFill>
                    <a:latin typeface="Arial"/>
                  </a:rPr>
                  <a:t> and </a:t>
                </a:r>
                <a14:m>
                  <m:oMath xmlns:m="http://schemas.openxmlformats.org/officeDocument/2006/math">
                    <m:r>
                      <a:rPr lang="en-IN" sz="2200" i="1">
                        <a:solidFill>
                          <a:srgbClr val="111827"/>
                        </a:solidFill>
                        <a:latin typeface="Cambria Math" panose="02040503050406030204" pitchFamily="18" charset="0"/>
                      </a:rPr>
                      <m:t>𝑄</m:t>
                    </m:r>
                  </m:oMath>
                </a14:m>
                <a:r>
                  <a:rPr sz="2200" b="0">
                    <a:solidFill>
                      <a:srgbClr val="111827"/>
                    </a:solidFill>
                    <a:latin typeface="Arial"/>
                  </a:rPr>
                  <a:t> respectively. If </a:t>
                </a:r>
                <a14:m>
                  <m:oMath xmlns:m="http://schemas.openxmlformats.org/officeDocument/2006/math">
                    <m:r>
                      <a:rPr lang="en-IN" sz="2200" i="1">
                        <a:solidFill>
                          <a:srgbClr val="111827"/>
                        </a:solidFill>
                        <a:latin typeface="Cambria Math" panose="02040503050406030204" pitchFamily="18" charset="0"/>
                      </a:rPr>
                      <m:t>𝑃</m:t>
                    </m:r>
                    <m:r>
                      <a:rPr lang="en-IN" sz="2200" i="1">
                        <a:solidFill>
                          <a:srgbClr val="111827"/>
                        </a:solidFill>
                        <a:latin typeface="Cambria Math" panose="02040503050406030204" pitchFamily="18" charset="0"/>
                      </a:rPr>
                      <m:t>𝑄</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𝑑</m:t>
                    </m:r>
                  </m:oMath>
                </a14:m>
                <a:r>
                  <a:rPr sz="2200" b="0">
                    <a:solidFill>
                      <a:srgbClr val="111827"/>
                    </a:solidFill>
                    <a:latin typeface="Arial"/>
                  </a:rPr>
                  <a:t>, then </a:t>
                </a:r>
                <a14:m>
                  <m:oMath xmlns:m="http://schemas.openxmlformats.org/officeDocument/2006/math">
                    <m:sSup>
                      <m:e>
                        <m:r>
                          <a:rPr lang="en-IN" sz="2200" i="1">
                            <a:solidFill>
                              <a:srgbClr val="111827"/>
                            </a:solidFill>
                            <a:latin typeface="Cambria Math" panose="02040503050406030204" pitchFamily="18" charset="0"/>
                          </a:rPr>
                          <m:t>𝑑</m:t>
                        </m:r>
                      </m:e>
                      <m:sup>
                        <m:r>
                          <a:rPr lang="en-IN" sz="2200" i="1">
                            <a:solidFill>
                              <a:srgbClr val="111827"/>
                            </a:solidFill>
                            <a:latin typeface="Cambria Math" panose="02040503050406030204" pitchFamily="18" charset="0"/>
                          </a:rPr>
                          <m:t>2</m:t>
                        </m:r>
                      </m:sup>
                    </m:sSup>
                  </m:oMath>
                </a14:m>
                <a:r>
                  <a:rPr sz="2200" b="0">
                    <a:solidFill>
                      <a:srgbClr val="111827"/>
                    </a:solidFill>
                    <a:latin typeface="Arial"/>
                  </a:rPr>
                  <a:t> is; (B) The values of </a:t>
                </a:r>
                <a14:m>
                  <m:oMath xmlns:m="http://schemas.openxmlformats.org/officeDocument/2006/math">
                    <m:r>
                      <a:rPr lang="en-IN" sz="2200" i="1">
                        <a:solidFill>
                          <a:srgbClr val="111827"/>
                        </a:solidFill>
                        <a:latin typeface="Cambria Math" panose="02040503050406030204" pitchFamily="18" charset="0"/>
                      </a:rPr>
                      <m:t>𝑥</m:t>
                    </m:r>
                  </m:oMath>
                </a14:m>
                <a:r>
                  <a:rPr sz="2200" b="0">
                    <a:solidFill>
                      <a:srgbClr val="111827"/>
                    </a:solidFill>
                    <a:latin typeface="Arial"/>
                  </a:rPr>
                  <a:t> satisfying </a:t>
                </a:r>
                <a14:m>
                  <m:oMath xmlns:m="http://schemas.openxmlformats.org/officeDocument/2006/math">
                    <m:sSup>
                      <m:e>
                        <m:r>
                          <m:rPr>
                            <m:sty m:val="p"/>
                          </m:rPr>
                          <a:rPr lang="en-IN" sz="2200">
                            <a:solidFill>
                              <a:srgbClr val="111827"/>
                            </a:solidFill>
                            <a:latin typeface="Cambria Math" panose="02040503050406030204" pitchFamily="18" charset="0"/>
                          </a:rPr>
                          <m:t>tan</m:t>
                        </m:r>
                      </m:e>
                      <m:sup>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1</m:t>
                        </m:r>
                      </m:sup>
                    </m:sSup>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𝑥</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3</m:t>
                    </m:r>
                    <m:r>
                      <m:rPr>
                        <m:sty m:val="p"/>
                      </m:rPr>
                      <a:rPr lang="en-IN" sz="2200">
                        <a:solidFill>
                          <a:srgbClr val="111827"/>
                        </a:solidFill>
                        <a:latin typeface="Cambria Math" panose="02040503050406030204" pitchFamily="18" charset="0"/>
                      </a:rPr>
                      <m:t>)</m:t>
                    </m:r>
                    <m:r>
                      <m:rPr>
                        <m:sty m:val="p"/>
                      </m:rPr>
                      <a:rPr lang="en-IN" sz="2200">
                        <a:solidFill>
                          <a:srgbClr val="111827"/>
                        </a:solidFill>
                        <a:latin typeface="Cambria Math" panose="02040503050406030204" pitchFamily="18" charset="0"/>
                      </a:rPr>
                      <m:t>−</m:t>
                    </m:r>
                    <m:sSup>
                      <m:e>
                        <m:r>
                          <m:rPr>
                            <m:sty m:val="p"/>
                          </m:rPr>
                          <a:rPr lang="en-IN" sz="2200">
                            <a:solidFill>
                              <a:srgbClr val="111827"/>
                            </a:solidFill>
                            <a:latin typeface="Cambria Math" panose="02040503050406030204" pitchFamily="18" charset="0"/>
                          </a:rPr>
                          <m:t>tan</m:t>
                        </m:r>
                      </m:e>
                      <m:sup>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1</m:t>
                        </m:r>
                      </m:sup>
                    </m:sSup>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𝑥</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3</m:t>
                    </m:r>
                    <m:r>
                      <m:rPr>
                        <m:sty m:val="p"/>
                      </m:rPr>
                      <a:rPr lang="en-IN" sz="2200">
                        <a:solidFill>
                          <a:srgbClr val="111827"/>
                        </a:solidFill>
                        <a:latin typeface="Cambria Math" panose="02040503050406030204" pitchFamily="18" charset="0"/>
                      </a:rPr>
                      <m:t>)</m:t>
                    </m:r>
                    <m:r>
                      <m:rPr>
                        <m:sty m:val="p"/>
                      </m:rPr>
                      <a:rPr lang="en-IN" sz="2200">
                        <a:solidFill>
                          <a:srgbClr val="111827"/>
                        </a:solidFill>
                        <a:latin typeface="Cambria Math" panose="02040503050406030204" pitchFamily="18" charset="0"/>
                      </a:rPr>
                      <m:t>=</m:t>
                    </m:r>
                    <m:sSup>
                      <m:e>
                        <m:r>
                          <m:rPr>
                            <m:sty m:val="p"/>
                          </m:rPr>
                          <a:rPr lang="en-IN" sz="2200">
                            <a:solidFill>
                              <a:srgbClr val="111827"/>
                            </a:solidFill>
                            <a:latin typeface="Cambria Math" panose="02040503050406030204" pitchFamily="18" charset="0"/>
                          </a:rPr>
                          <m:t>sin</m:t>
                        </m:r>
                      </m:e>
                      <m:sup>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1</m:t>
                        </m:r>
                      </m:sup>
                    </m:sSup>
                    <m:f>
                      <m:fPr>
                        <m:type m:val="bar"/>
                        <m:ctrlPr>
                          <a:rPr lang="en-IN" sz="2200" i="1">
                            <a:solidFill>
                              <a:srgbClr val="111827"/>
                            </a:solidFill>
                            <a:latin typeface="Cambria Math" panose="02040503050406030204" pitchFamily="18" charset="0"/>
                          </a:rPr>
                        </m:ctrlPr>
                      </m:fPr>
                      <m:num>
                        <m:r>
                          <a:rPr lang="en-IN" sz="2200" i="1">
                            <a:solidFill>
                              <a:srgbClr val="111827"/>
                            </a:solidFill>
                            <a:latin typeface="Cambria Math" panose="02040503050406030204" pitchFamily="18" charset="0"/>
                          </a:rPr>
                          <m:t>3</m:t>
                        </m:r>
                      </m:num>
                      <m:den>
                        <m:r>
                          <a:rPr lang="en-IN" sz="2200" i="1">
                            <a:solidFill>
                              <a:srgbClr val="111827"/>
                            </a:solidFill>
                            <a:latin typeface="Cambria Math" panose="02040503050406030204" pitchFamily="18" charset="0"/>
                          </a:rPr>
                          <m:t>5</m:t>
                        </m:r>
                      </m:den>
                    </m:f>
                  </m:oMath>
                </a14:m>
                <a:r>
                  <a:rPr sz="2200" b="0">
                    <a:solidFill>
                      <a:srgbClr val="111827"/>
                    </a:solidFill>
                    <a:latin typeface="Arial"/>
                  </a:rPr>
                  <a:t> are; (C) Non-zero vectors </a:t>
                </a:r>
                <a14:m>
                  <m:oMath xmlns:m="http://schemas.openxmlformats.org/officeDocument/2006/math">
                    <m:acc>
                      <m:accPr>
                        <m:chr m:val="⃗"/>
                        <m:ctrlPr>
                          <a:rPr lang="en-IN" sz="2200" i="1">
                            <a:solidFill>
                              <a:srgbClr val="111827"/>
                            </a:solidFill>
                            <a:latin typeface="Cambria Math" panose="02040503050406030204" pitchFamily="18" charset="0"/>
                          </a:rPr>
                        </m:ctrlPr>
                      </m:accPr>
                      <m:e>
                        <m:r>
                          <a:rPr lang="en-IN" sz="2200" i="1">
                            <a:solidFill>
                              <a:srgbClr val="111827"/>
                            </a:solidFill>
                            <a:latin typeface="Cambria Math" panose="02040503050406030204" pitchFamily="18" charset="0"/>
                          </a:rPr>
                          <m:t>𝑎</m:t>
                        </m:r>
                      </m:e>
                    </m:acc>
                    <m:r>
                      <m:rPr>
                        <m:sty m:val="p"/>
                      </m:rPr>
                      <a:rPr lang="en-IN" sz="2200">
                        <a:solidFill>
                          <a:srgbClr val="111827"/>
                        </a:solidFill>
                        <a:latin typeface="Cambria Math" panose="02040503050406030204" pitchFamily="18" charset="0"/>
                      </a:rPr>
                      <m:t>,</m:t>
                    </m:r>
                    <m:acc>
                      <m:accPr>
                        <m:chr m:val="⃗"/>
                        <m:ctrlPr>
                          <a:rPr lang="en-IN" sz="2200" i="1">
                            <a:solidFill>
                              <a:srgbClr val="111827"/>
                            </a:solidFill>
                            <a:latin typeface="Cambria Math" panose="02040503050406030204" pitchFamily="18" charset="0"/>
                          </a:rPr>
                        </m:ctrlPr>
                      </m:accPr>
                      <m:e>
                        <m:r>
                          <a:rPr lang="en-IN" sz="2200" i="1">
                            <a:solidFill>
                              <a:srgbClr val="111827"/>
                            </a:solidFill>
                            <a:latin typeface="Cambria Math" panose="02040503050406030204" pitchFamily="18" charset="0"/>
                          </a:rPr>
                          <m:t>𝑏</m:t>
                        </m:r>
                      </m:e>
                    </m:acc>
                    <m:r>
                      <m:rPr>
                        <m:sty m:val="p"/>
                      </m:rPr>
                      <a:rPr lang="en-IN" sz="2200">
                        <a:solidFill>
                          <a:srgbClr val="111827"/>
                        </a:solidFill>
                        <a:latin typeface="Cambria Math" panose="02040503050406030204" pitchFamily="18" charset="0"/>
                      </a:rPr>
                      <m:t>,</m:t>
                    </m:r>
                    <m:acc>
                      <m:accPr>
                        <m:chr m:val="⃗"/>
                        <m:ctrlPr>
                          <a:rPr lang="en-IN" sz="2200" i="1">
                            <a:solidFill>
                              <a:srgbClr val="111827"/>
                            </a:solidFill>
                            <a:latin typeface="Cambria Math" panose="02040503050406030204" pitchFamily="18" charset="0"/>
                          </a:rPr>
                        </m:ctrlPr>
                      </m:accPr>
                      <m:e>
                        <m:r>
                          <a:rPr lang="en-IN" sz="2200" i="1">
                            <a:solidFill>
                              <a:srgbClr val="111827"/>
                            </a:solidFill>
                            <a:latin typeface="Cambria Math" panose="02040503050406030204" pitchFamily="18" charset="0"/>
                          </a:rPr>
                          <m:t>𝑐</m:t>
                        </m:r>
                      </m:e>
                    </m:acc>
                  </m:oMath>
                </a14:m>
                <a:r>
                  <a:rPr sz="2200" b="0">
                    <a:solidFill>
                      <a:srgbClr val="111827"/>
                    </a:solidFill>
                    <a:latin typeface="Arial"/>
                  </a:rPr>
                  <a:t> satisfy </a:t>
                </a:r>
                <a14:m>
                  <m:oMath xmlns:m="http://schemas.openxmlformats.org/officeDocument/2006/math">
                    <m:acc>
                      <m:accPr>
                        <m:chr m:val="⃗"/>
                        <m:ctrlPr>
                          <a:rPr lang="en-IN" sz="2200" i="1">
                            <a:solidFill>
                              <a:srgbClr val="111827"/>
                            </a:solidFill>
                            <a:latin typeface="Cambria Math" panose="02040503050406030204" pitchFamily="18" charset="0"/>
                          </a:rPr>
                        </m:ctrlPr>
                      </m:accPr>
                      <m:e>
                        <m:r>
                          <a:rPr lang="en-IN" sz="2200" i="1">
                            <a:solidFill>
                              <a:srgbClr val="111827"/>
                            </a:solidFill>
                            <a:latin typeface="Cambria Math" panose="02040503050406030204" pitchFamily="18" charset="0"/>
                          </a:rPr>
                          <m:t>𝑎</m:t>
                        </m:r>
                      </m:e>
                    </m:acc>
                    <m:r>
                      <m:rPr>
                        <m:sty m:val="p"/>
                      </m:rPr>
                      <a:rPr lang="en-IN" sz="2200">
                        <a:solidFill>
                          <a:srgbClr val="111827"/>
                        </a:solidFill>
                        <a:latin typeface="Cambria Math" panose="02040503050406030204" pitchFamily="18" charset="0"/>
                      </a:rPr>
                      <m:t>⋅</m:t>
                    </m:r>
                    <m:acc>
                      <m:accPr>
                        <m:chr m:val="⃗"/>
                        <m:ctrlPr>
                          <a:rPr lang="en-IN" sz="2200" i="1">
                            <a:solidFill>
                              <a:srgbClr val="111827"/>
                            </a:solidFill>
                            <a:latin typeface="Cambria Math" panose="02040503050406030204" pitchFamily="18" charset="0"/>
                          </a:rPr>
                        </m:ctrlPr>
                      </m:accPr>
                      <m:e>
                        <m:r>
                          <a:rPr lang="en-IN" sz="2200" i="1">
                            <a:solidFill>
                              <a:srgbClr val="111827"/>
                            </a:solidFill>
                            <a:latin typeface="Cambria Math" panose="02040503050406030204" pitchFamily="18" charset="0"/>
                          </a:rPr>
                          <m:t>𝑏</m:t>
                        </m:r>
                      </m:e>
                    </m:acc>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0</m:t>
                    </m:r>
                  </m:oMath>
                </a14:m>
                <a:r>
                  <a:rPr sz="2200" b="0">
                    <a:solidFill>
                      <a:srgbClr val="111827"/>
                    </a:solidFill>
                    <a:latin typeface="Arial"/>
                  </a:rPr>
                  <a:t>, </a:t>
                </a:r>
                <a14:m>
                  <m:oMath xmlns:m="http://schemas.openxmlformats.org/officeDocument/2006/math">
                    <m:d>
                      <m:dPr>
                        <m:begChr m:val="("/>
                        <m:sepChr m:val=""/>
                        <m:endChr m:val=")"/>
                        <m:grow/>
                        <m:ctrlPr>
                          <a:rPr lang="en-IN" sz="2200" i="1">
                            <a:solidFill>
                              <a:srgbClr val="111827"/>
                            </a:solidFill>
                            <a:latin typeface="Cambria Math" panose="02040503050406030204" pitchFamily="18" charset="0"/>
                          </a:rPr>
                        </m:ctrlPr>
                      </m:dPr>
                      <m:e>
                        <m:acc>
                          <m:accPr>
                            <m:chr m:val="⃗"/>
                            <m:ctrlPr>
                              <a:rPr lang="en-IN" sz="2200" i="1">
                                <a:solidFill>
                                  <a:srgbClr val="111827"/>
                                </a:solidFill>
                                <a:latin typeface="Cambria Math" panose="02040503050406030204" pitchFamily="18" charset="0"/>
                              </a:rPr>
                            </m:ctrlPr>
                          </m:accPr>
                          <m:e>
                            <m:r>
                              <a:rPr lang="en-IN" sz="2200" i="1">
                                <a:solidFill>
                                  <a:srgbClr val="111827"/>
                                </a:solidFill>
                                <a:latin typeface="Cambria Math" panose="02040503050406030204" pitchFamily="18" charset="0"/>
                              </a:rPr>
                              <m:t>𝑏</m:t>
                            </m:r>
                          </m:e>
                        </m:acc>
                        <m:r>
                          <m:rPr>
                            <m:sty m:val="p"/>
                          </m:rPr>
                          <a:rPr lang="en-IN" sz="2200">
                            <a:solidFill>
                              <a:srgbClr val="111827"/>
                            </a:solidFill>
                            <a:latin typeface="Cambria Math" panose="02040503050406030204" pitchFamily="18" charset="0"/>
                          </a:rPr>
                          <m:t>−</m:t>
                        </m:r>
                        <m:acc>
                          <m:accPr>
                            <m:chr m:val="⃗"/>
                            <m:ctrlPr>
                              <a:rPr lang="en-IN" sz="2200" i="1">
                                <a:solidFill>
                                  <a:srgbClr val="111827"/>
                                </a:solidFill>
                                <a:latin typeface="Cambria Math" panose="02040503050406030204" pitchFamily="18" charset="0"/>
                              </a:rPr>
                            </m:ctrlPr>
                          </m:accPr>
                          <m:e>
                            <m:r>
                              <a:rPr lang="en-IN" sz="2200" i="1">
                                <a:solidFill>
                                  <a:srgbClr val="111827"/>
                                </a:solidFill>
                                <a:latin typeface="Cambria Math" panose="02040503050406030204" pitchFamily="18" charset="0"/>
                              </a:rPr>
                              <m:t>𝑎</m:t>
                            </m:r>
                          </m:e>
                        </m:acc>
                      </m:e>
                    </m:d>
                    <m:r>
                      <m:rPr>
                        <m:sty m:val="p"/>
                      </m:rPr>
                      <a:rPr lang="en-IN" sz="2200">
                        <a:solidFill>
                          <a:srgbClr val="111827"/>
                        </a:solidFill>
                        <a:latin typeface="Cambria Math" panose="02040503050406030204" pitchFamily="18" charset="0"/>
                      </a:rPr>
                      <m:t>⋅</m:t>
                    </m:r>
                    <m:d>
                      <m:dPr>
                        <m:begChr m:val="("/>
                        <m:sepChr m:val=""/>
                        <m:endChr m:val=")"/>
                        <m:grow/>
                        <m:ctrlPr>
                          <a:rPr lang="en-IN" sz="2200" i="1">
                            <a:solidFill>
                              <a:srgbClr val="111827"/>
                            </a:solidFill>
                            <a:latin typeface="Cambria Math" panose="02040503050406030204" pitchFamily="18" charset="0"/>
                          </a:rPr>
                        </m:ctrlPr>
                      </m:dPr>
                      <m:e>
                        <m:acc>
                          <m:accPr>
                            <m:chr m:val="⃗"/>
                            <m:ctrlPr>
                              <a:rPr lang="en-IN" sz="2200" i="1">
                                <a:solidFill>
                                  <a:srgbClr val="111827"/>
                                </a:solidFill>
                                <a:latin typeface="Cambria Math" panose="02040503050406030204" pitchFamily="18" charset="0"/>
                              </a:rPr>
                            </m:ctrlPr>
                          </m:accPr>
                          <m:e>
                            <m:r>
                              <a:rPr lang="en-IN" sz="2200" i="1">
                                <a:solidFill>
                                  <a:srgbClr val="111827"/>
                                </a:solidFill>
                                <a:latin typeface="Cambria Math" panose="02040503050406030204" pitchFamily="18" charset="0"/>
                              </a:rPr>
                              <m:t>𝑏</m:t>
                            </m:r>
                          </m:e>
                        </m:acc>
                        <m:r>
                          <m:rPr>
                            <m:sty m:val="p"/>
                          </m:rPr>
                          <a:rPr lang="en-IN" sz="2200">
                            <a:solidFill>
                              <a:srgbClr val="111827"/>
                            </a:solidFill>
                            <a:latin typeface="Cambria Math" panose="02040503050406030204" pitchFamily="18" charset="0"/>
                          </a:rPr>
                          <m:t>+</m:t>
                        </m:r>
                        <m:acc>
                          <m:accPr>
                            <m:chr m:val="⃗"/>
                            <m:ctrlPr>
                              <a:rPr lang="en-IN" sz="2200" i="1">
                                <a:solidFill>
                                  <a:srgbClr val="111827"/>
                                </a:solidFill>
                                <a:latin typeface="Cambria Math" panose="02040503050406030204" pitchFamily="18" charset="0"/>
                              </a:rPr>
                            </m:ctrlPr>
                          </m:accPr>
                          <m:e>
                            <m:r>
                              <a:rPr lang="en-IN" sz="2200" i="1">
                                <a:solidFill>
                                  <a:srgbClr val="111827"/>
                                </a:solidFill>
                                <a:latin typeface="Cambria Math" panose="02040503050406030204" pitchFamily="18" charset="0"/>
                              </a:rPr>
                              <m:t>𝑐</m:t>
                            </m:r>
                          </m:e>
                        </m:acc>
                      </m:e>
                    </m:d>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0</m:t>
                    </m:r>
                  </m:oMath>
                </a14:m>
                <a:r>
                  <a:rPr sz="2200" b="0">
                    <a:solidFill>
                      <a:srgbClr val="111827"/>
                    </a:solidFill>
                    <a:latin typeface="Arial"/>
                  </a:rPr>
                  <a:t> and </a:t>
                </a:r>
                <a14:m>
                  <m:oMath xmlns:m="http://schemas.openxmlformats.org/officeDocument/2006/math">
                    <m:r>
                      <a:rPr lang="en-IN" sz="2200" i="1">
                        <a:solidFill>
                          <a:srgbClr val="111827"/>
                        </a:solidFill>
                        <a:latin typeface="Cambria Math" panose="02040503050406030204" pitchFamily="18" charset="0"/>
                      </a:rPr>
                      <m:t>2</m:t>
                    </m:r>
                    <m:d>
                      <m:dPr>
                        <m:begChr m:val="|"/>
                        <m:sepChr m:val=""/>
                        <m:endChr m:val="|"/>
                        <m:grow/>
                        <m:ctrlPr>
                          <a:rPr lang="en-IN" sz="2200" i="1">
                            <a:solidFill>
                              <a:srgbClr val="111827"/>
                            </a:solidFill>
                            <a:latin typeface="Cambria Math" panose="02040503050406030204" pitchFamily="18" charset="0"/>
                          </a:rPr>
                        </m:ctrlPr>
                      </m:dPr>
                      <m:e>
                        <m:acc>
                          <m:accPr>
                            <m:chr m:val="⃗"/>
                            <m:ctrlPr>
                              <a:rPr lang="en-IN" sz="2200" i="1">
                                <a:solidFill>
                                  <a:srgbClr val="111827"/>
                                </a:solidFill>
                                <a:latin typeface="Cambria Math" panose="02040503050406030204" pitchFamily="18" charset="0"/>
                              </a:rPr>
                            </m:ctrlPr>
                          </m:accPr>
                          <m:e>
                            <m:r>
                              <a:rPr lang="en-IN" sz="2200" i="1">
                                <a:solidFill>
                                  <a:srgbClr val="111827"/>
                                </a:solidFill>
                                <a:latin typeface="Cambria Math" panose="02040503050406030204" pitchFamily="18" charset="0"/>
                              </a:rPr>
                              <m:t>𝑏</m:t>
                            </m:r>
                          </m:e>
                        </m:acc>
                        <m:r>
                          <m:rPr>
                            <m:sty m:val="p"/>
                          </m:rPr>
                          <a:rPr lang="en-IN" sz="2200">
                            <a:solidFill>
                              <a:srgbClr val="111827"/>
                            </a:solidFill>
                            <a:latin typeface="Cambria Math" panose="02040503050406030204" pitchFamily="18" charset="0"/>
                          </a:rPr>
                          <m:t>+</m:t>
                        </m:r>
                        <m:acc>
                          <m:accPr>
                            <m:chr m:val="⃗"/>
                            <m:ctrlPr>
                              <a:rPr lang="en-IN" sz="2200" i="1">
                                <a:solidFill>
                                  <a:srgbClr val="111827"/>
                                </a:solidFill>
                                <a:latin typeface="Cambria Math" panose="02040503050406030204" pitchFamily="18" charset="0"/>
                              </a:rPr>
                            </m:ctrlPr>
                          </m:accPr>
                          <m:e>
                            <m:r>
                              <a:rPr lang="en-IN" sz="2200" i="1">
                                <a:solidFill>
                                  <a:srgbClr val="111827"/>
                                </a:solidFill>
                                <a:latin typeface="Cambria Math" panose="02040503050406030204" pitchFamily="18" charset="0"/>
                              </a:rPr>
                              <m:t>𝑐</m:t>
                            </m:r>
                          </m:e>
                        </m:acc>
                      </m:e>
                    </m:d>
                    <m:r>
                      <m:rPr>
                        <m:sty m:val="p"/>
                      </m:rPr>
                      <a:rPr lang="en-IN" sz="2200">
                        <a:solidFill>
                          <a:srgbClr val="111827"/>
                        </a:solidFill>
                        <a:latin typeface="Cambria Math" panose="02040503050406030204" pitchFamily="18" charset="0"/>
                      </a:rPr>
                      <m:t>=</m:t>
                    </m:r>
                    <m:d>
                      <m:dPr>
                        <m:begChr m:val="|"/>
                        <m:sepChr m:val=""/>
                        <m:endChr m:val="|"/>
                        <m:grow/>
                        <m:ctrlPr>
                          <a:rPr lang="en-IN" sz="2200" i="1">
                            <a:solidFill>
                              <a:srgbClr val="111827"/>
                            </a:solidFill>
                            <a:latin typeface="Cambria Math" panose="02040503050406030204" pitchFamily="18" charset="0"/>
                          </a:rPr>
                        </m:ctrlPr>
                      </m:dPr>
                      <m:e>
                        <m:acc>
                          <m:accPr>
                            <m:chr m:val="⃗"/>
                            <m:ctrlPr>
                              <a:rPr lang="en-IN" sz="2200" i="1">
                                <a:solidFill>
                                  <a:srgbClr val="111827"/>
                                </a:solidFill>
                                <a:latin typeface="Cambria Math" panose="02040503050406030204" pitchFamily="18" charset="0"/>
                              </a:rPr>
                            </m:ctrlPr>
                          </m:accPr>
                          <m:e>
                            <m:r>
                              <a:rPr lang="en-IN" sz="2200" i="1">
                                <a:solidFill>
                                  <a:srgbClr val="111827"/>
                                </a:solidFill>
                                <a:latin typeface="Cambria Math" panose="02040503050406030204" pitchFamily="18" charset="0"/>
                              </a:rPr>
                              <m:t>𝑏</m:t>
                            </m:r>
                          </m:e>
                        </m:acc>
                        <m:r>
                          <m:rPr>
                            <m:sty m:val="p"/>
                          </m:rPr>
                          <a:rPr lang="en-IN" sz="2200">
                            <a:solidFill>
                              <a:srgbClr val="111827"/>
                            </a:solidFill>
                            <a:latin typeface="Cambria Math" panose="02040503050406030204" pitchFamily="18" charset="0"/>
                          </a:rPr>
                          <m:t>−</m:t>
                        </m:r>
                        <m:acc>
                          <m:accPr>
                            <m:chr m:val="⃗"/>
                            <m:ctrlPr>
                              <a:rPr lang="en-IN" sz="2200" i="1">
                                <a:solidFill>
                                  <a:srgbClr val="111827"/>
                                </a:solidFill>
                                <a:latin typeface="Cambria Math" panose="02040503050406030204" pitchFamily="18" charset="0"/>
                              </a:rPr>
                            </m:ctrlPr>
                          </m:accPr>
                          <m:e>
                            <m:r>
                              <a:rPr lang="en-IN" sz="2200" i="1">
                                <a:solidFill>
                                  <a:srgbClr val="111827"/>
                                </a:solidFill>
                                <a:latin typeface="Cambria Math" panose="02040503050406030204" pitchFamily="18" charset="0"/>
                              </a:rPr>
                              <m:t>𝑎</m:t>
                            </m:r>
                          </m:e>
                        </m:acc>
                      </m:e>
                    </m:d>
                  </m:oMath>
                </a14:m>
                <a:r>
                  <a:rPr sz="2200" b="0">
                    <a:solidFill>
                      <a:srgbClr val="111827"/>
                    </a:solidFill>
                    <a:latin typeface="Arial"/>
                  </a:rPr>
                  <a:t>. If </a:t>
                </a:r>
                <a14:m>
                  <m:oMath xmlns:m="http://schemas.openxmlformats.org/officeDocument/2006/math">
                    <m:acc>
                      <m:accPr>
                        <m:chr m:val="⃗"/>
                        <m:ctrlPr>
                          <a:rPr lang="en-IN" sz="2200" i="1">
                            <a:solidFill>
                              <a:srgbClr val="111827"/>
                            </a:solidFill>
                            <a:latin typeface="Cambria Math" panose="02040503050406030204" pitchFamily="18" charset="0"/>
                          </a:rPr>
                        </m:ctrlPr>
                      </m:accPr>
                      <m:e>
                        <m:r>
                          <a:rPr lang="en-IN" sz="2200" i="1">
                            <a:solidFill>
                              <a:srgbClr val="111827"/>
                            </a:solidFill>
                            <a:latin typeface="Cambria Math" panose="02040503050406030204" pitchFamily="18" charset="0"/>
                          </a:rPr>
                          <m:t>𝑎</m:t>
                        </m:r>
                      </m:e>
                    </m:acc>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μ</m:t>
                    </m:r>
                    <m:acc>
                      <m:accPr>
                        <m:chr m:val="⃗"/>
                        <m:ctrlPr>
                          <a:rPr lang="en-IN" sz="2200" i="1">
                            <a:solidFill>
                              <a:srgbClr val="111827"/>
                            </a:solidFill>
                            <a:latin typeface="Cambria Math" panose="02040503050406030204" pitchFamily="18" charset="0"/>
                          </a:rPr>
                        </m:ctrlPr>
                      </m:accPr>
                      <m:e>
                        <m:r>
                          <a:rPr lang="en-IN" sz="2200" i="1">
                            <a:solidFill>
                              <a:srgbClr val="111827"/>
                            </a:solidFill>
                            <a:latin typeface="Cambria Math" panose="02040503050406030204" pitchFamily="18" charset="0"/>
                          </a:rPr>
                          <m:t>𝑏</m:t>
                        </m:r>
                      </m:e>
                    </m:acc>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4</m:t>
                    </m:r>
                    <m:acc>
                      <m:accPr>
                        <m:chr m:val="⃗"/>
                        <m:ctrlPr>
                          <a:rPr lang="en-IN" sz="2200" i="1">
                            <a:solidFill>
                              <a:srgbClr val="111827"/>
                            </a:solidFill>
                            <a:latin typeface="Cambria Math" panose="02040503050406030204" pitchFamily="18" charset="0"/>
                          </a:rPr>
                        </m:ctrlPr>
                      </m:accPr>
                      <m:e>
                        <m:r>
                          <a:rPr lang="en-IN" sz="2200" i="1">
                            <a:solidFill>
                              <a:srgbClr val="111827"/>
                            </a:solidFill>
                            <a:latin typeface="Cambria Math" panose="02040503050406030204" pitchFamily="18" charset="0"/>
                          </a:rPr>
                          <m:t>𝑐</m:t>
                        </m:r>
                      </m:e>
                    </m:acc>
                  </m:oMath>
                </a14:m>
                <a:r>
                  <a:rPr sz="2200" b="0">
                    <a:solidFill>
                      <a:srgbClr val="111827"/>
                    </a:solidFill>
                    <a:latin typeface="Arial"/>
                  </a:rPr>
                  <a:t>, then the possible value(s) of </a:t>
                </a:r>
                <a14:m>
                  <m:oMath xmlns:m="http://schemas.openxmlformats.org/officeDocument/2006/math">
                    <m:r>
                      <a:rPr lang="en-IN" sz="2200" i="1">
                        <a:solidFill>
                          <a:srgbClr val="111827"/>
                        </a:solidFill>
                        <a:latin typeface="Cambria Math" panose="02040503050406030204" pitchFamily="18" charset="0"/>
                      </a:rPr>
                      <m:t>μ</m:t>
                    </m:r>
                  </m:oMath>
                </a14:m>
                <a:r>
                  <a:rPr sz="2200" b="0">
                    <a:solidFill>
                      <a:srgbClr val="111827"/>
                    </a:solidFill>
                    <a:latin typeface="Arial"/>
                  </a:rPr>
                  <a:t> are; (D) Let </a:t>
                </a:r>
                <a14:m>
                  <m:oMath xmlns:m="http://schemas.openxmlformats.org/officeDocument/2006/math">
                    <m:r>
                      <a:rPr lang="en-IN" sz="2200" i="1">
                        <a:solidFill>
                          <a:srgbClr val="111827"/>
                        </a:solidFill>
                        <a:latin typeface="Cambria Math" panose="02040503050406030204" pitchFamily="18" charset="0"/>
                      </a:rPr>
                      <m:t>𝑓</m:t>
                    </m:r>
                  </m:oMath>
                </a14:m>
                <a:r>
                  <a:rPr sz="2200" b="0">
                    <a:solidFill>
                      <a:srgbClr val="111827"/>
                    </a:solidFill>
                    <a:latin typeface="Arial"/>
                  </a:rPr>
                  <a:t> be the function on </a:t>
                </a:r>
                <a14:m>
                  <m:oMath xmlns:m="http://schemas.openxmlformats.org/officeDocument/2006/math">
                    <m:r>
                      <m:rPr>
                        <m:sty m:val="p"/>
                      </m:rPr>
                      <a:rPr lang="en-IN" sz="2200">
                        <a:solidFill>
                          <a:srgbClr val="111827"/>
                        </a:solidFill>
                        <a:latin typeface="Cambria Math" panose="02040503050406030204" pitchFamily="18" charset="0"/>
                      </a:rPr>
                      <m:t>[</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π</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π</m:t>
                    </m:r>
                    <m:r>
                      <m:rPr>
                        <m:sty m:val="p"/>
                      </m:rPr>
                      <a:rPr lang="en-IN" sz="2200">
                        <a:solidFill>
                          <a:srgbClr val="111827"/>
                        </a:solidFill>
                        <a:latin typeface="Cambria Math" panose="02040503050406030204" pitchFamily="18" charset="0"/>
                      </a:rPr>
                      <m:t>]</m:t>
                    </m:r>
                  </m:oMath>
                </a14:m>
                <a:r>
                  <a:rPr sz="2200" b="0">
                    <a:solidFill>
                      <a:srgbClr val="111827"/>
                    </a:solidFill>
                    <a:latin typeface="Arial"/>
                  </a:rPr>
                  <a:t> given by </a:t>
                </a:r>
                <a14:m>
                  <m:oMath xmlns:m="http://schemas.openxmlformats.org/officeDocument/2006/math">
                    <m:r>
                      <a:rPr lang="en-IN" sz="2200" i="1">
                        <a:solidFill>
                          <a:srgbClr val="111827"/>
                        </a:solidFill>
                        <a:latin typeface="Cambria Math" panose="02040503050406030204" pitchFamily="18" charset="0"/>
                      </a:rPr>
                      <m:t>𝑓</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0</m:t>
                    </m:r>
                    <m:r>
                      <m:rPr>
                        <m:sty m:val="p"/>
                      </m:rPr>
                      <a:rPr lang="en-IN" sz="2200">
                        <a:solidFill>
                          <a:srgbClr val="111827"/>
                        </a:solidFill>
                        <a:latin typeface="Cambria Math" panose="02040503050406030204" pitchFamily="18" charset="0"/>
                      </a:rPr>
                      <m:t>)</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9</m:t>
                    </m:r>
                  </m:oMath>
                </a14:m>
                <a:r>
                  <a:rPr sz="2200" b="0">
                    <a:solidFill>
                      <a:srgbClr val="111827"/>
                    </a:solidFill>
                    <a:latin typeface="Arial"/>
                  </a:rPr>
                  <a:t> and </a:t>
                </a:r>
                <a14:m>
                  <m:oMath xmlns:m="http://schemas.openxmlformats.org/officeDocument/2006/math">
                    <m:r>
                      <a:rPr lang="en-IN" sz="2200" i="1">
                        <a:solidFill>
                          <a:srgbClr val="111827"/>
                        </a:solidFill>
                        <a:latin typeface="Cambria Math" panose="02040503050406030204" pitchFamily="18" charset="0"/>
                      </a:rPr>
                      <m:t>𝑓</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𝑥</m:t>
                    </m:r>
                    <m:r>
                      <m:rPr>
                        <m:sty m:val="p"/>
                      </m:rPr>
                      <a:rPr lang="en-IN" sz="2200">
                        <a:solidFill>
                          <a:srgbClr val="111827"/>
                        </a:solidFill>
                        <a:latin typeface="Cambria Math" panose="02040503050406030204" pitchFamily="18" charset="0"/>
                      </a:rPr>
                      <m:t>)</m:t>
                    </m:r>
                    <m:r>
                      <m:rPr>
                        <m:sty m:val="p"/>
                      </m:rPr>
                      <a:rPr lang="en-IN" sz="2200">
                        <a:solidFill>
                          <a:srgbClr val="111827"/>
                        </a:solidFill>
                        <a:latin typeface="Cambria Math" panose="02040503050406030204" pitchFamily="18" charset="0"/>
                      </a:rPr>
                      <m:t>=</m:t>
                    </m:r>
                    <m:f>
                      <m:fPr>
                        <m:type m:val="bar"/>
                        <m:ctrlPr>
                          <a:rPr lang="en-IN" sz="2200" i="1">
                            <a:solidFill>
                              <a:srgbClr val="111827"/>
                            </a:solidFill>
                            <a:latin typeface="Cambria Math" panose="02040503050406030204" pitchFamily="18" charset="0"/>
                          </a:rPr>
                        </m:ctrlPr>
                      </m:fPr>
                      <m:num>
                        <m:r>
                          <m:rPr>
                            <m:sty m:val="p"/>
                          </m:rPr>
                          <a:rPr lang="en-IN" sz="2200">
                            <a:solidFill>
                              <a:srgbClr val="111827"/>
                            </a:solidFill>
                            <a:latin typeface="Cambria Math" panose="02040503050406030204" pitchFamily="18" charset="0"/>
                          </a:rPr>
                          <m:t>sin</m:t>
                        </m:r>
                        <m:d>
                          <m:dPr>
                            <m:begChr m:val="("/>
                            <m:sepChr m:val=""/>
                            <m:endChr m:val=")"/>
                            <m:grow/>
                            <m:ctrlPr>
                              <a:rPr lang="en-IN" sz="2200" i="1">
                                <a:solidFill>
                                  <a:srgbClr val="111827"/>
                                </a:solidFill>
                                <a:latin typeface="Cambria Math" panose="02040503050406030204" pitchFamily="18" charset="0"/>
                              </a:rPr>
                            </m:ctrlPr>
                          </m:dPr>
                          <m:e>
                            <m:f>
                              <m:fPr>
                                <m:type m:val="bar"/>
                                <m:ctrlPr>
                                  <a:rPr lang="en-IN" sz="2200" i="1">
                                    <a:solidFill>
                                      <a:srgbClr val="111827"/>
                                    </a:solidFill>
                                    <a:latin typeface="Cambria Math" panose="02040503050406030204" pitchFamily="18" charset="0"/>
                                  </a:rPr>
                                </m:ctrlPr>
                              </m:fPr>
                              <m:num>
                                <m:r>
                                  <a:rPr lang="en-IN" sz="2200" i="1">
                                    <a:solidFill>
                                      <a:srgbClr val="111827"/>
                                    </a:solidFill>
                                    <a:latin typeface="Cambria Math" panose="02040503050406030204" pitchFamily="18" charset="0"/>
                                  </a:rPr>
                                  <m:t>9</m:t>
                                </m:r>
                                <m:r>
                                  <a:rPr lang="en-IN" sz="2200" i="1">
                                    <a:solidFill>
                                      <a:srgbClr val="111827"/>
                                    </a:solidFill>
                                    <a:latin typeface="Cambria Math" panose="02040503050406030204" pitchFamily="18" charset="0"/>
                                  </a:rPr>
                                  <m:t>𝑥</m:t>
                                </m:r>
                              </m:num>
                              <m:den>
                                <m:r>
                                  <a:rPr lang="en-IN" sz="2200" i="1">
                                    <a:solidFill>
                                      <a:srgbClr val="111827"/>
                                    </a:solidFill>
                                    <a:latin typeface="Cambria Math" panose="02040503050406030204" pitchFamily="18" charset="0"/>
                                  </a:rPr>
                                  <m:t>2</m:t>
                                </m:r>
                              </m:den>
                            </m:f>
                          </m:e>
                        </m:d>
                      </m:num>
                      <m:den>
                        <m:r>
                          <m:rPr>
                            <m:sty m:val="p"/>
                          </m:rPr>
                          <a:rPr lang="en-IN" sz="2200">
                            <a:solidFill>
                              <a:srgbClr val="111827"/>
                            </a:solidFill>
                            <a:latin typeface="Cambria Math" panose="02040503050406030204" pitchFamily="18" charset="0"/>
                          </a:rPr>
                          <m:t>sin</m:t>
                        </m:r>
                        <m:d>
                          <m:dPr>
                            <m:begChr m:val="("/>
                            <m:sepChr m:val=""/>
                            <m:endChr m:val=")"/>
                            <m:grow/>
                            <m:ctrlPr>
                              <a:rPr lang="en-IN" sz="2200" i="1">
                                <a:solidFill>
                                  <a:srgbClr val="111827"/>
                                </a:solidFill>
                                <a:latin typeface="Cambria Math" panose="02040503050406030204" pitchFamily="18" charset="0"/>
                              </a:rPr>
                            </m:ctrlPr>
                          </m:dPr>
                          <m:e>
                            <m:f>
                              <m:fPr>
                                <m:type m:val="bar"/>
                                <m:ctrlPr>
                                  <a:rPr lang="en-IN" sz="2200" i="1">
                                    <a:solidFill>
                                      <a:srgbClr val="111827"/>
                                    </a:solidFill>
                                    <a:latin typeface="Cambria Math" panose="02040503050406030204" pitchFamily="18" charset="0"/>
                                  </a:rPr>
                                </m:ctrlPr>
                              </m:fPr>
                              <m:num>
                                <m:r>
                                  <a:rPr lang="en-IN" sz="2200" i="1">
                                    <a:solidFill>
                                      <a:srgbClr val="111827"/>
                                    </a:solidFill>
                                    <a:latin typeface="Cambria Math" panose="02040503050406030204" pitchFamily="18" charset="0"/>
                                  </a:rPr>
                                  <m:t>𝑥</m:t>
                                </m:r>
                              </m:num>
                              <m:den>
                                <m:r>
                                  <a:rPr lang="en-IN" sz="2200" i="1">
                                    <a:solidFill>
                                      <a:srgbClr val="111827"/>
                                    </a:solidFill>
                                    <a:latin typeface="Cambria Math" panose="02040503050406030204" pitchFamily="18" charset="0"/>
                                  </a:rPr>
                                  <m:t>2</m:t>
                                </m:r>
                              </m:den>
                            </m:f>
                          </m:e>
                        </m:d>
                      </m:den>
                    </m:f>
                  </m:oMath>
                </a14:m>
                <a:r>
                  <a:rPr sz="2200" b="0">
                    <a:solidFill>
                      <a:srgbClr val="111827"/>
                    </a:solidFill>
                    <a:latin typeface="Arial"/>
                  </a:rPr>
                  <a:t> for </a:t>
                </a:r>
                <a14:m>
                  <m:oMath xmlns:m="http://schemas.openxmlformats.org/officeDocument/2006/math">
                    <m:r>
                      <a:rPr lang="en-IN" sz="2200" i="1">
                        <a:solidFill>
                          <a:srgbClr val="111827"/>
                        </a:solidFill>
                        <a:latin typeface="Cambria Math" panose="02040503050406030204" pitchFamily="18" charset="0"/>
                      </a:rPr>
                      <m:t>𝑥</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0</m:t>
                    </m:r>
                  </m:oMath>
                </a14:m>
                <a:r>
                  <a:rPr sz="2200" b="0">
                    <a:solidFill>
                      <a:srgbClr val="111827"/>
                    </a:solidFill>
                    <a:latin typeface="Arial"/>
                  </a:rPr>
                  <a:t>. The value of </a:t>
                </a:r>
                <a14:m>
                  <m:oMath xmlns:m="http://schemas.openxmlformats.org/officeDocument/2006/math">
                    <m:f>
                      <m:fPr>
                        <m:type m:val="bar"/>
                        <m:ctrlPr>
                          <a:rPr lang="en-IN" sz="2200" i="1">
                            <a:solidFill>
                              <a:srgbClr val="111827"/>
                            </a:solidFill>
                            <a:latin typeface="Cambria Math" panose="02040503050406030204" pitchFamily="18" charset="0"/>
                          </a:rPr>
                        </m:ctrlPr>
                      </m:fPr>
                      <m:num>
                        <m:r>
                          <a:rPr lang="en-IN" sz="2200" i="1">
                            <a:solidFill>
                              <a:srgbClr val="111827"/>
                            </a:solidFill>
                            <a:latin typeface="Cambria Math" panose="02040503050406030204" pitchFamily="18" charset="0"/>
                          </a:rPr>
                          <m:t>2</m:t>
                        </m:r>
                      </m:num>
                      <m:den>
                        <m:r>
                          <a:rPr lang="en-IN" sz="2200" i="1">
                            <a:solidFill>
                              <a:srgbClr val="111827"/>
                            </a:solidFill>
                            <a:latin typeface="Cambria Math" panose="02040503050406030204" pitchFamily="18" charset="0"/>
                          </a:rPr>
                          <m:t>π</m:t>
                        </m:r>
                      </m:den>
                    </m:f>
                    <m:nary>
                      <m:naryPr>
                        <m:chr m:val="∫"/>
                        <m:limLoc m:val="subSup"/>
                        <m:subHide m:val="off"/>
                        <m:supHide m:val="off"/>
                        <m:ctrlPr>
                          <a:rPr lang="en-IN" sz="2200" i="1">
                            <a:solidFill>
                              <a:srgbClr val="111827"/>
                            </a:solidFill>
                            <a:latin typeface="Cambria Math" panose="02040503050406030204" pitchFamily="18" charset="0"/>
                          </a:rPr>
                        </m:ctrlPr>
                      </m:naryPr>
                      <m:sub>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π</m:t>
                        </m:r>
                      </m:sub>
                      <m:sup>
                        <m:r>
                          <a:rPr lang="en-IN" sz="2200" i="1">
                            <a:solidFill>
                              <a:srgbClr val="111827"/>
                            </a:solidFill>
                            <a:latin typeface="Cambria Math" panose="02040503050406030204" pitchFamily="18" charset="0"/>
                          </a:rPr>
                          <m:t>π</m:t>
                        </m:r>
                      </m:sup>
                      <m:e>
                        <m:r>
                          <a:rPr lang="en-IN" sz="2200" i="1">
                            <a:solidFill>
                              <a:srgbClr val="111827"/>
                            </a:solidFill>
                            <a:latin typeface="Cambria Math" panose="02040503050406030204" pitchFamily="18" charset="0"/>
                          </a:rPr>
                          <m:t>𝑓</m:t>
                        </m:r>
                      </m:e>
                    </m:nary>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𝑥</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 </m:t>
                    </m:r>
                    <m:r>
                      <a:rPr lang="en-IN" sz="2200" i="1">
                        <a:solidFill>
                          <a:srgbClr val="111827"/>
                        </a:solidFill>
                        <a:latin typeface="Cambria Math" panose="02040503050406030204" pitchFamily="18" charset="0"/>
                      </a:rPr>
                      <m:t>𝑑</m:t>
                    </m:r>
                    <m:r>
                      <a:rPr lang="en-IN" sz="2200" i="1">
                        <a:solidFill>
                          <a:srgbClr val="111827"/>
                        </a:solidFill>
                        <a:latin typeface="Cambria Math" panose="02040503050406030204" pitchFamily="18" charset="0"/>
                      </a:rPr>
                      <m:t>𝑥</m:t>
                    </m:r>
                  </m:oMath>
                </a14:m>
                <a:r>
                  <a:rPr sz="2200" b="0">
                    <a:solidFill>
                      <a:srgbClr val="111827"/>
                    </a:solidFill>
                    <a:latin typeface="Arial"/>
                  </a:rPr>
                  <a:t> is.</a:t>
                </a:r>
                <a:endParaRPr sz="2200">
                  <a:solidFill>
                    <a:srgbClr val="111827"/>
                  </a:solidFill>
                </a:endParaRPr>
              </a:p>
              <a:p>
                <a:pPr algn="l">
                  <a:spcAft>
                    <a:spcPts val="500"/>
                  </a:spcAft>
                  <a:defRPr sz="2200">
                    <a:solidFill>
                      <a:srgbClr val="111827"/>
                    </a:solidFill>
                  </a:defRPr>
                </a:pPr>
                <a:r>
                  <a:rPr sz="2200" b="0">
                    <a:solidFill>
                      <a:srgbClr val="111827"/>
                    </a:solidFill>
                    <a:latin typeface="Arial"/>
                  </a:rPr>
                  <a:t>Column II: (p) </a:t>
                </a:r>
                <a14:m>
                  <m:oMath xmlns:m="http://schemas.openxmlformats.org/officeDocument/2006/math">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4</m:t>
                    </m:r>
                  </m:oMath>
                </a14:m>
                <a:r>
                  <a:rPr sz="2200" b="0">
                    <a:solidFill>
                      <a:srgbClr val="111827"/>
                    </a:solidFill>
                    <a:latin typeface="Arial"/>
                  </a:rPr>
                  <a:t>; (q) </a:t>
                </a:r>
                <a14:m>
                  <m:oMath xmlns:m="http://schemas.openxmlformats.org/officeDocument/2006/math">
                    <m:r>
                      <a:rPr lang="en-IN" sz="2200" i="1">
                        <a:solidFill>
                          <a:srgbClr val="111827"/>
                        </a:solidFill>
                        <a:latin typeface="Cambria Math" panose="02040503050406030204" pitchFamily="18" charset="0"/>
                      </a:rPr>
                      <m:t>0</m:t>
                    </m:r>
                  </m:oMath>
                </a14:m>
                <a:r>
                  <a:rPr sz="2200" b="0">
                    <a:solidFill>
                      <a:srgbClr val="111827"/>
                    </a:solidFill>
                    <a:latin typeface="Arial"/>
                  </a:rPr>
                  <a:t>; (r) </a:t>
                </a:r>
                <a14:m>
                  <m:oMath xmlns:m="http://schemas.openxmlformats.org/officeDocument/2006/math">
                    <m:r>
                      <a:rPr lang="en-IN" sz="2200" i="1">
                        <a:solidFill>
                          <a:srgbClr val="111827"/>
                        </a:solidFill>
                        <a:latin typeface="Cambria Math" panose="02040503050406030204" pitchFamily="18" charset="0"/>
                      </a:rPr>
                      <m:t>4</m:t>
                    </m:r>
                  </m:oMath>
                </a14:m>
                <a:r>
                  <a:rPr sz="2200" b="0">
                    <a:solidFill>
                      <a:srgbClr val="111827"/>
                    </a:solidFill>
                    <a:latin typeface="Arial"/>
                  </a:rPr>
                  <a:t>; (s) </a:t>
                </a:r>
                <a14:m>
                  <m:oMath xmlns:m="http://schemas.openxmlformats.org/officeDocument/2006/math">
                    <m:r>
                      <a:rPr lang="en-IN" sz="2200" i="1">
                        <a:solidFill>
                          <a:srgbClr val="111827"/>
                        </a:solidFill>
                        <a:latin typeface="Cambria Math" panose="02040503050406030204" pitchFamily="18" charset="0"/>
                      </a:rPr>
                      <m:t>5</m:t>
                    </m:r>
                  </m:oMath>
                </a14:m>
                <a:r>
                  <a:rPr sz="2200" b="0">
                    <a:solidFill>
                      <a:srgbClr val="111827"/>
                    </a:solidFill>
                    <a:latin typeface="Arial"/>
                  </a:rPr>
                  <a:t>; (t) </a:t>
                </a:r>
                <a14:m>
                  <m:oMath xmlns:m="http://schemas.openxmlformats.org/officeDocument/2006/math">
                    <m:r>
                      <a:rPr lang="en-IN" sz="2200" i="1">
                        <a:solidFill>
                          <a:srgbClr val="111827"/>
                        </a:solidFill>
                        <a:latin typeface="Cambria Math" panose="02040503050406030204" pitchFamily="18" charset="0"/>
                      </a:rPr>
                      <m:t>6</m:t>
                    </m:r>
                  </m:oMath>
                </a14:m>
                <a:r>
                  <a:rPr sz="2200" b="0">
                    <a:solidFill>
                      <a:srgbClr val="111827"/>
                    </a:solidFill>
                    <a:latin typeface="Arial"/>
                  </a:rPr>
                  <a:t>.</a:t>
                </a:r>
                <a:endParaRPr sz="2200">
                  <a:solidFill>
                    <a:srgbClr val="111827"/>
                  </a:solidFill>
                </a:endParaRPr>
              </a:p>
            </p:txBody>
          </p:sp>
        </mc:Choice>
        <mc:Fallback>
          <p:sp>
            <p:nvSpPr>
              <p:cNvPr id="4" name="Rounded Rectangle 3"/>
              <p:cNvSpPr/>
              <p:nvPr/>
            </p:nvSpPr>
            <p:spPr>
              <a:xfrm>
                <a:off x="731520" y="1280160"/>
                <a:ext cx="10725912" cy="5275071"/>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200">
                    <a:solidFill>
                      <a:srgbClr val="111827"/>
                    </a:solidFill>
                  </a:defRPr>
                </a:lvl1pPr>
              </a:lstStyle>
              <a:p>
                <a:pPr algn="l">
                  <a:spcAft>
                    <a:spcPts val="500"/>
                  </a:spcAft>
                  <a:defRPr sz="2200">
                    <a:solidFill>
                      <a:srgbClr val="111827"/>
                    </a:solidFill>
                  </a:defRPr>
                </a:pPr>
                <a:r>
                  <a:rPr sz="2200" b="0">
                    <a:solidFill>
                      <a:srgbClr val="111827"/>
                    </a:solidFill>
                    <a:latin typeface="Arial"/>
                  </a:rPr>
                  <a:t>[IIT-JEE 2010] Match the statements in Column I with those in Column II (an entry of Column I may match more than one entry of Column II).</a:t>
                </a:r>
                <a:endParaRPr sz="2200">
                  <a:solidFill>
                    <a:srgbClr val="111827"/>
                  </a:solidFill>
                </a:endParaRPr>
              </a:p>
              <a:p>
                <a:pPr algn="l">
                  <a:spcAft>
                    <a:spcPts val="500"/>
                  </a:spcAft>
                  <a:defRPr sz="2200">
                    <a:solidFill>
                      <a:srgbClr val="111827"/>
                    </a:solidFill>
                  </a:defRPr>
                </a:pPr>
                <a:r>
                  <a:rPr sz="2200" b="0">
                    <a:solidFill>
                      <a:srgbClr val="111827"/>
                    </a:solidFill>
                    <a:latin typeface="Arial"/>
                  </a:rPr>
                  <a:t>Column I: (A) A line from the origin meets the lines </a:t>
                </a:r>
                <a:r>
                  <a:rPr lang="en-IN" sz="2200">
                    <a:solidFill>
                      <a:srgbClr val="111827"/>
                    </a:solidFill>
                    <a:latin typeface="Cambria Math" panose="02040503050406030204" pitchFamily="18" charset="0"/>
                  </a:rPr>
                  <a:t>$\frac{x-2}{1}=\frac{y-1}{-2}=\frac{z+1}{1}$</a:t>
                </a:r>
                <a:r>
                  <a:rPr sz="2200" b="0">
                    <a:solidFill>
                      <a:srgbClr val="111827"/>
                    </a:solidFill>
                    <a:latin typeface="Arial"/>
                  </a:rPr>
                  <a:t> and </a:t>
                </a:r>
                <a:r>
                  <a:rPr lang="en-IN" sz="2200">
                    <a:solidFill>
                      <a:srgbClr val="111827"/>
                    </a:solidFill>
                    <a:latin typeface="Cambria Math" panose="02040503050406030204" pitchFamily="18" charset="0"/>
                  </a:rPr>
                  <a:t>$\frac{x-\frac83}{2}=\frac{y+3}{-1}=\frac{z-1}{1}$</a:t>
                </a:r>
                <a:r>
                  <a:rPr sz="2200" b="0">
                    <a:solidFill>
                      <a:srgbClr val="111827"/>
                    </a:solidFill>
                    <a:latin typeface="Arial"/>
                  </a:rPr>
                  <a:t> at </a:t>
                </a:r>
                <a:r>
                  <a:rPr lang="en-IN" sz="2200">
                    <a:solidFill>
                      <a:srgbClr val="111827"/>
                    </a:solidFill>
                    <a:latin typeface="Cambria Math" panose="02040503050406030204" pitchFamily="18" charset="0"/>
                  </a:rPr>
                  <a:t>$P$</a:t>
                </a:r>
                <a:r>
                  <a:rPr sz="2200" b="0">
                    <a:solidFill>
                      <a:srgbClr val="111827"/>
                    </a:solidFill>
                    <a:latin typeface="Arial"/>
                  </a:rPr>
                  <a:t> and </a:t>
                </a:r>
                <a:r>
                  <a:rPr lang="en-IN" sz="2200">
                    <a:solidFill>
                      <a:srgbClr val="111827"/>
                    </a:solidFill>
                    <a:latin typeface="Cambria Math" panose="02040503050406030204" pitchFamily="18" charset="0"/>
                  </a:rPr>
                  <a:t>$Q$</a:t>
                </a:r>
                <a:r>
                  <a:rPr sz="2200" b="0">
                    <a:solidFill>
                      <a:srgbClr val="111827"/>
                    </a:solidFill>
                    <a:latin typeface="Arial"/>
                  </a:rPr>
                  <a:t> respectively. If </a:t>
                </a:r>
                <a:r>
                  <a:rPr lang="en-IN" sz="2200">
                    <a:solidFill>
                      <a:srgbClr val="111827"/>
                    </a:solidFill>
                    <a:latin typeface="Cambria Math" panose="02040503050406030204" pitchFamily="18" charset="0"/>
                  </a:rPr>
                  <a:t>$PQ=d$</a:t>
                </a:r>
                <a:r>
                  <a:rPr sz="2200" b="0">
                    <a:solidFill>
                      <a:srgbClr val="111827"/>
                    </a:solidFill>
                    <a:latin typeface="Arial"/>
                  </a:rPr>
                  <a:t>, then </a:t>
                </a:r>
                <a:r>
                  <a:rPr lang="en-IN" sz="2200">
                    <a:solidFill>
                      <a:srgbClr val="111827"/>
                    </a:solidFill>
                    <a:latin typeface="Cambria Math" panose="02040503050406030204" pitchFamily="18" charset="0"/>
                  </a:rPr>
                  <a:t>$d^2$</a:t>
                </a:r>
                <a:r>
                  <a:rPr sz="2200" b="0">
                    <a:solidFill>
                      <a:srgbClr val="111827"/>
                    </a:solidFill>
                    <a:latin typeface="Arial"/>
                  </a:rPr>
                  <a:t> is; (B) The values of </a:t>
                </a:r>
                <a:r>
                  <a:rPr lang="en-IN" sz="2200">
                    <a:solidFill>
                      <a:srgbClr val="111827"/>
                    </a:solidFill>
                    <a:latin typeface="Cambria Math" panose="02040503050406030204" pitchFamily="18" charset="0"/>
                  </a:rPr>
                  <a:t>$x$</a:t>
                </a:r>
                <a:r>
                  <a:rPr sz="2200" b="0">
                    <a:solidFill>
                      <a:srgbClr val="111827"/>
                    </a:solidFill>
                    <a:latin typeface="Arial"/>
                  </a:rPr>
                  <a:t> satisfying </a:t>
                </a:r>
                <a:r>
                  <a:rPr lang="en-IN" sz="2200">
                    <a:solidFill>
                      <a:srgbClr val="111827"/>
                    </a:solidFill>
                    <a:latin typeface="Cambria Math" panose="02040503050406030204" pitchFamily="18" charset="0"/>
                  </a:rPr>
                  <a:t>$\tan^{-1}(x+3)-\tan^{-1}(x-3)=\sin^{-1}\frac35$</a:t>
                </a:r>
                <a:r>
                  <a:rPr sz="2200" b="0">
                    <a:solidFill>
                      <a:srgbClr val="111827"/>
                    </a:solidFill>
                    <a:latin typeface="Arial"/>
                  </a:rPr>
                  <a:t> are; (C) Non-zero vectors </a:t>
                </a:r>
                <a:r>
                  <a:rPr lang="en-IN" sz="2200">
                    <a:solidFill>
                      <a:srgbClr val="111827"/>
                    </a:solidFill>
                    <a:latin typeface="Cambria Math" panose="02040503050406030204" pitchFamily="18" charset="0"/>
                  </a:rPr>
                  <a:t>$\vec{a},\vec{b},\vec{c}$</a:t>
                </a:r>
                <a:r>
                  <a:rPr sz="2200" b="0">
                    <a:solidFill>
                      <a:srgbClr val="111827"/>
                    </a:solidFill>
                    <a:latin typeface="Arial"/>
                  </a:rPr>
                  <a:t> satisfy </a:t>
                </a:r>
                <a:r>
                  <a:rPr lang="en-IN" sz="2200">
                    <a:solidFill>
                      <a:srgbClr val="111827"/>
                    </a:solidFill>
                    <a:latin typeface="Cambria Math" panose="02040503050406030204" pitchFamily="18" charset="0"/>
                  </a:rPr>
                  <a:t>$\vec{a}\cdot\vec{b}=0$</a:t>
                </a:r>
                <a:r>
                  <a:rPr sz="2200" b="0">
                    <a:solidFill>
                      <a:srgbClr val="111827"/>
                    </a:solidFill>
                    <a:latin typeface="Arial"/>
                  </a:rPr>
                  <a:t>, </a:t>
                </a:r>
                <a:r>
                  <a:rPr lang="en-IN" sz="2200">
                    <a:solidFill>
                      <a:srgbClr val="111827"/>
                    </a:solidFill>
                    <a:latin typeface="Cambria Math" panose="02040503050406030204" pitchFamily="18" charset="0"/>
                  </a:rPr>
                  <a:t>$\left(\vec{b}-\vec{a}\right)\cdot\left(\vec{b}+\vec{c}\right)=0$</a:t>
                </a:r>
                <a:r>
                  <a:rPr sz="2200" b="0">
                    <a:solidFill>
                      <a:srgbClr val="111827"/>
                    </a:solidFill>
                    <a:latin typeface="Arial"/>
                  </a:rPr>
                  <a:t> and </a:t>
                </a:r>
                <a:r>
                  <a:rPr lang="en-IN" sz="2200">
                    <a:solidFill>
                      <a:srgbClr val="111827"/>
                    </a:solidFill>
                    <a:latin typeface="Cambria Math" panose="02040503050406030204" pitchFamily="18" charset="0"/>
                  </a:rPr>
                  <a:t>$2\left|\vec{b}+\vec{c}\right|=\left|\vec{b}-\vec{a}\right|$</a:t>
                </a:r>
                <a:r>
                  <a:rPr sz="2200" b="0">
                    <a:solidFill>
                      <a:srgbClr val="111827"/>
                    </a:solidFill>
                    <a:latin typeface="Arial"/>
                  </a:rPr>
                  <a:t>. If </a:t>
                </a:r>
                <a:r>
                  <a:rPr lang="en-IN" sz="2200">
                    <a:solidFill>
                      <a:srgbClr val="111827"/>
                    </a:solidFill>
                    <a:latin typeface="Cambria Math" panose="02040503050406030204" pitchFamily="18" charset="0"/>
                  </a:rPr>
                  <a:t>$\vec{a}=\mu\vec{b}+4\vec{c}$</a:t>
                </a:r>
                <a:r>
                  <a:rPr sz="2200" b="0">
                    <a:solidFill>
                      <a:srgbClr val="111827"/>
                    </a:solidFill>
                    <a:latin typeface="Arial"/>
                  </a:rPr>
                  <a:t>, then the possible value(s) of </a:t>
                </a:r>
                <a:r>
                  <a:rPr lang="en-IN" sz="2200">
                    <a:solidFill>
                      <a:srgbClr val="111827"/>
                    </a:solidFill>
                    <a:latin typeface="Cambria Math" panose="02040503050406030204" pitchFamily="18" charset="0"/>
                  </a:rPr>
                  <a:t>$\mu$</a:t>
                </a:r>
                <a:r>
                  <a:rPr sz="2200" b="0">
                    <a:solidFill>
                      <a:srgbClr val="111827"/>
                    </a:solidFill>
                    <a:latin typeface="Arial"/>
                  </a:rPr>
                  <a:t> are; (D) Let </a:t>
                </a:r>
                <a:r>
                  <a:rPr lang="en-IN" sz="2200">
                    <a:solidFill>
                      <a:srgbClr val="111827"/>
                    </a:solidFill>
                    <a:latin typeface="Cambria Math" panose="02040503050406030204" pitchFamily="18" charset="0"/>
                  </a:rPr>
                  <a:t>$f$</a:t>
                </a:r>
                <a:r>
                  <a:rPr sz="2200" b="0">
                    <a:solidFill>
                      <a:srgbClr val="111827"/>
                    </a:solidFill>
                    <a:latin typeface="Arial"/>
                  </a:rPr>
                  <a:t> be the function on </a:t>
                </a:r>
                <a:r>
                  <a:rPr lang="en-IN" sz="2200">
                    <a:solidFill>
                      <a:srgbClr val="111827"/>
                    </a:solidFill>
                    <a:latin typeface="Cambria Math" panose="02040503050406030204" pitchFamily="18" charset="0"/>
                  </a:rPr>
                  <a:t>$[-\pi,\pi]$</a:t>
                </a:r>
                <a:r>
                  <a:rPr sz="2200" b="0">
                    <a:solidFill>
                      <a:srgbClr val="111827"/>
                    </a:solidFill>
                    <a:latin typeface="Arial"/>
                  </a:rPr>
                  <a:t> given by </a:t>
                </a:r>
                <a:r>
                  <a:rPr lang="en-IN" sz="2200">
                    <a:solidFill>
                      <a:srgbClr val="111827"/>
                    </a:solidFill>
                    <a:latin typeface="Cambria Math" panose="02040503050406030204" pitchFamily="18" charset="0"/>
                  </a:rPr>
                  <a:t>$f(0)=9$</a:t>
                </a:r>
                <a:r>
                  <a:rPr sz="2200" b="0">
                    <a:solidFill>
                      <a:srgbClr val="111827"/>
                    </a:solidFill>
                    <a:latin typeface="Arial"/>
                  </a:rPr>
                  <a:t> and </a:t>
                </a:r>
                <a:r>
                  <a:rPr lang="en-IN" sz="2200">
                    <a:solidFill>
                      <a:srgbClr val="111827"/>
                    </a:solidFill>
                    <a:latin typeface="Cambria Math" panose="02040503050406030204" pitchFamily="18" charset="0"/>
                  </a:rPr>
                  <a:t>$f(x)=\frac{\sin\left(\frac{9x}{2}\right)}{\sin\left(\frac{x}{2}\right)}$</a:t>
                </a:r>
                <a:r>
                  <a:rPr sz="2200" b="0">
                    <a:solidFill>
                      <a:srgbClr val="111827"/>
                    </a:solidFill>
                    <a:latin typeface="Arial"/>
                  </a:rPr>
                  <a:t> for </a:t>
                </a:r>
                <a:r>
                  <a:rPr lang="en-IN" sz="2200">
                    <a:solidFill>
                      <a:srgbClr val="111827"/>
                    </a:solidFill>
                    <a:latin typeface="Cambria Math" panose="02040503050406030204" pitchFamily="18" charset="0"/>
                  </a:rPr>
                  <a:t>$x\neq0$</a:t>
                </a:r>
                <a:r>
                  <a:rPr sz="2200" b="0">
                    <a:solidFill>
                      <a:srgbClr val="111827"/>
                    </a:solidFill>
                    <a:latin typeface="Arial"/>
                  </a:rPr>
                  <a:t>. The value of </a:t>
                </a:r>
                <a:r>
                  <a:rPr lang="en-IN" sz="2200">
                    <a:solidFill>
                      <a:srgbClr val="111827"/>
                    </a:solidFill>
                    <a:latin typeface="Cambria Math" panose="02040503050406030204" pitchFamily="18" charset="0"/>
                  </a:rPr>
                  <a:t>$\frac2\pi\int_{-\pi}^{\pi}f(x)\,dx$</a:t>
                </a:r>
                <a:r>
                  <a:rPr sz="2200" b="0">
                    <a:solidFill>
                      <a:srgbClr val="111827"/>
                    </a:solidFill>
                    <a:latin typeface="Arial"/>
                  </a:rPr>
                  <a:t> is.</a:t>
                </a:r>
                <a:endParaRPr sz="2200">
                  <a:solidFill>
                    <a:srgbClr val="111827"/>
                  </a:solidFill>
                </a:endParaRPr>
              </a:p>
              <a:p>
                <a:pPr algn="l">
                  <a:spcAft>
                    <a:spcPts val="500"/>
                  </a:spcAft>
                  <a:defRPr sz="2200">
                    <a:solidFill>
                      <a:srgbClr val="111827"/>
                    </a:solidFill>
                  </a:defRPr>
                </a:pPr>
                <a:r>
                  <a:rPr sz="2200" b="0">
                    <a:solidFill>
                      <a:srgbClr val="111827"/>
                    </a:solidFill>
                    <a:latin typeface="Arial"/>
                  </a:rPr>
                  <a:t>Column II: (p) </a:t>
                </a:r>
                <a:r>
                  <a:rPr lang="en-IN" sz="2200">
                    <a:solidFill>
                      <a:srgbClr val="111827"/>
                    </a:solidFill>
                    <a:latin typeface="Cambria Math" panose="02040503050406030204" pitchFamily="18" charset="0"/>
                  </a:rPr>
                  <a:t>$-4$</a:t>
                </a:r>
                <a:r>
                  <a:rPr sz="2200" b="0">
                    <a:solidFill>
                      <a:srgbClr val="111827"/>
                    </a:solidFill>
                    <a:latin typeface="Arial"/>
                  </a:rPr>
                  <a:t>; (q) </a:t>
                </a:r>
                <a:r>
                  <a:rPr lang="en-IN" sz="2200">
                    <a:solidFill>
                      <a:srgbClr val="111827"/>
                    </a:solidFill>
                    <a:latin typeface="Cambria Math" panose="02040503050406030204" pitchFamily="18" charset="0"/>
                  </a:rPr>
                  <a:t>$0$</a:t>
                </a:r>
                <a:r>
                  <a:rPr sz="2200" b="0">
                    <a:solidFill>
                      <a:srgbClr val="111827"/>
                    </a:solidFill>
                    <a:latin typeface="Arial"/>
                  </a:rPr>
                  <a:t>; (r) </a:t>
                </a:r>
                <a:r>
                  <a:rPr lang="en-IN" sz="2200">
                    <a:solidFill>
                      <a:srgbClr val="111827"/>
                    </a:solidFill>
                    <a:latin typeface="Cambria Math" panose="02040503050406030204" pitchFamily="18" charset="0"/>
                  </a:rPr>
                  <a:t>$4$</a:t>
                </a:r>
                <a:r>
                  <a:rPr sz="2200" b="0">
                    <a:solidFill>
                      <a:srgbClr val="111827"/>
                    </a:solidFill>
                    <a:latin typeface="Arial"/>
                  </a:rPr>
                  <a:t>; (s) </a:t>
                </a:r>
                <a:r>
                  <a:rPr lang="en-IN" sz="2200">
                    <a:solidFill>
                      <a:srgbClr val="111827"/>
                    </a:solidFill>
                    <a:latin typeface="Cambria Math" panose="02040503050406030204" pitchFamily="18" charset="0"/>
                  </a:rPr>
                  <a:t>$5$</a:t>
                </a:r>
                <a:r>
                  <a:rPr sz="2200" b="0">
                    <a:solidFill>
                      <a:srgbClr val="111827"/>
                    </a:solidFill>
                    <a:latin typeface="Arial"/>
                  </a:rPr>
                  <a:t>; (t) </a:t>
                </a:r>
                <a:r>
                  <a:rPr lang="en-IN" sz="2200">
                    <a:solidFill>
                      <a:srgbClr val="111827"/>
                    </a:solidFill>
                    <a:latin typeface="Cambria Math" panose="02040503050406030204" pitchFamily="18" charset="0"/>
                  </a:rPr>
                  <a:t>$6$</a:t>
                </a:r>
                <a:r>
                  <a:rPr sz="2200" b="0">
                    <a:solidFill>
                      <a:srgbClr val="111827"/>
                    </a:solidFill>
                    <a:latin typeface="Arial"/>
                  </a:rPr>
                  <a:t>.</a:t>
                </a:r>
                <a:endParaRPr sz="2200">
                  <a:solidFill>
                    <a:srgbClr val="111827"/>
                  </a:solidFill>
                </a:endParaRPr>
              </a:p>
            </p:txBody>
          </p:sp>
        </mc:Fallback>
      </mc:AlternateContent>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Matching List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3D lines and vectors, Inverse trigonometric functions and definite integrals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4(A level above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Intersect with the line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λ</m:t>
                    </m:r>
                    <m:r>
                      <a:rPr lang="en-IN" sz="2400" i="1">
                        <a:solidFill>
                          <a:srgbClr val="78350F"/>
                        </a:solidFill>
                        <a:latin typeface="Cambria Math" panose="02040503050406030204" pitchFamily="18" charset="0"/>
                      </a:rPr>
                      <m:t>𝑧</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 </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μ</m:t>
                    </m:r>
                    <m:r>
                      <a:rPr lang="en-IN" sz="2400" i="1">
                        <a:solidFill>
                          <a:srgbClr val="78350F"/>
                        </a:solidFill>
                        <a:latin typeface="Cambria Math" panose="02040503050406030204" pitchFamily="18" charset="0"/>
                      </a:rPr>
                      <m:t>𝑧</m:t>
                    </m:r>
                  </m:oMath>
                </a14:m>
                <a:r>
                  <a:rPr sz="2400" b="0">
                    <a:solidFill>
                      <a:srgbClr val="78350F"/>
                    </a:solidFill>
                    <a:latin typeface="Arial"/>
                  </a:rPr>
                  <a:t>; (B) tan of both sides; (C) take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oMath>
                </a14:m>
                <a:r>
                  <a:rPr sz="2400" b="0">
                    <a:solidFill>
                      <a:srgbClr val="78350F"/>
                    </a:solidFill>
                    <a:latin typeface="Arial"/>
                  </a:rPr>
                  <a:t> as axes and reject the unreal root; (D) fold the integral with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π</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Intersect with the line </a:t>
                </a:r>
                <a:r>
                  <a:rPr lang="en-IN" sz="2400">
                    <a:solidFill>
                      <a:srgbClr val="78350F"/>
                    </a:solidFill>
                    <a:latin typeface="Cambria Math" panose="02040503050406030204" pitchFamily="18" charset="0"/>
                  </a:rPr>
                  <a:t>$x=\lambda z,\ y=\mu z$</a:t>
                </a:r>
                <a:r>
                  <a:rPr sz="2400" b="0">
                    <a:solidFill>
                      <a:srgbClr val="78350F"/>
                    </a:solidFill>
                    <a:latin typeface="Arial"/>
                  </a:rPr>
                  <a:t>; (B) tan of both sides; (C) take </a:t>
                </a:r>
                <a:r>
                  <a:rPr lang="en-IN" sz="2400">
                    <a:solidFill>
                      <a:srgbClr val="78350F"/>
                    </a:solidFill>
                    <a:latin typeface="Cambria Math" panose="02040503050406030204" pitchFamily="18" charset="0"/>
                  </a:rPr>
                  <a:t>$\vec{b}\perp\vec{a}$</a:t>
                </a:r>
                <a:r>
                  <a:rPr sz="2400" b="0">
                    <a:solidFill>
                      <a:srgbClr val="78350F"/>
                    </a:solidFill>
                    <a:latin typeface="Arial"/>
                  </a:rPr>
                  <a:t> as axes and reject the unreal root; (D) fold the integral with </a:t>
                </a:r>
                <a:r>
                  <a:rPr lang="en-IN" sz="2400">
                    <a:solidFill>
                      <a:srgbClr val="78350F"/>
                    </a:solidFill>
                    <a:latin typeface="Cambria Math" panose="02040503050406030204" pitchFamily="18" charset="0"/>
                  </a:rPr>
                  <a:t>$x\to\pi-x$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276088"/>
                <a:ext cx="10725912" cy="13990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Let the line through the origin be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λ</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num>
                      <m:den>
                        <m:r>
                          <a:rPr lang="en-IN" sz="2400" i="1">
                            <a:solidFill>
                              <a:srgbClr val="111827"/>
                            </a:solidFill>
                            <a:latin typeface="Cambria Math" panose="02040503050406030204" pitchFamily="18" charset="0"/>
                          </a:rPr>
                          <m:t>μ</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num>
                      <m:den>
                        <m:r>
                          <a:rPr lang="en-IN" sz="2400" i="1">
                            <a:solidFill>
                              <a:srgbClr val="111827"/>
                            </a:solidFill>
                            <a:latin typeface="Cambria Math" panose="02040503050406030204" pitchFamily="18" charset="0"/>
                          </a:rPr>
                          <m:t>1</m:t>
                        </m:r>
                      </m:den>
                    </m:f>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𝑧</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a:rPr lang="en-IN" sz="2400" i="1">
                        <a:solidFill>
                          <a:srgbClr val="111827"/>
                        </a:solidFill>
                        <a:latin typeface="Cambria Math" panose="02040503050406030204" pitchFamily="18" charset="0"/>
                      </a:rPr>
                      <m:t>𝑧</m:t>
                    </m:r>
                  </m:oMath>
                </a14:m>
                <a:r>
                  <a:rPr sz="2400" b="0">
                    <a:solidFill>
                      <a:srgbClr val="111827"/>
                    </a:solidFill>
                    <a:latin typeface="Arial"/>
                  </a:rPr>
                  <a:t> (1).</a:t>
                </a:r>
                <a:endParaRPr sz="2400">
                  <a:solidFill>
                    <a:srgbClr val="111827"/>
                  </a:solidFill>
                </a:endParaRPr>
              </a:p>
            </p:txBody>
          </p:sp>
        </mc:Choice>
        <mc:Fallback>
          <p:sp>
            <p:nvSpPr>
              <p:cNvPr id="6" name="Rectangle 5"/>
              <p:cNvSpPr/>
              <p:nvPr/>
            </p:nvSpPr>
            <p:spPr>
              <a:xfrm>
                <a:off x="731520" y="5276088"/>
                <a:ext cx="10725912" cy="13990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Let the line through the origin be </a:t>
                </a:r>
                <a:r>
                  <a:rPr lang="en-IN" sz="2400">
                    <a:solidFill>
                      <a:srgbClr val="111827"/>
                    </a:solidFill>
                    <a:latin typeface="Cambria Math" panose="02040503050406030204" pitchFamily="18" charset="0"/>
                  </a:rPr>
                  <a:t>$\frac{x}{\lambda}=\frac{y}{\mu}=\frac{z}{1}$</a:t>
                </a:r>
                <a:r>
                  <a:rPr sz="2400" b="0">
                    <a:solidFill>
                      <a:srgbClr val="111827"/>
                    </a:solidFill>
                    <a:latin typeface="Arial"/>
                  </a:rPr>
                  <a:t>, i.e. </a:t>
                </a:r>
                <a:r>
                  <a:rPr lang="en-IN" sz="2400">
                    <a:solidFill>
                      <a:srgbClr val="111827"/>
                    </a:solidFill>
                    <a:latin typeface="Cambria Math" panose="02040503050406030204" pitchFamily="18" charset="0"/>
                  </a:rPr>
                  <a:t>$x=\lambda z$</a:t>
                </a:r>
                <a:r>
                  <a:rPr sz="2400" b="0">
                    <a:solidFill>
                      <a:srgbClr val="111827"/>
                    </a:solidFill>
                    <a:latin typeface="Arial"/>
                  </a:rPr>
                  <a:t>, </a:t>
                </a:r>
                <a:r>
                  <a:rPr lang="en-IN" sz="2400">
                    <a:solidFill>
                      <a:srgbClr val="111827"/>
                    </a:solidFill>
                    <a:latin typeface="Cambria Math" panose="02040503050406030204" pitchFamily="18" charset="0"/>
                  </a:rPr>
                  <a:t>$y=\mu z$</a:t>
                </a:r>
                <a:r>
                  <a:rPr sz="2400" b="0">
                    <a:solidFill>
                      <a:srgbClr val="111827"/>
                    </a:solidFill>
                    <a:latin typeface="Arial"/>
                  </a:rPr>
                  <a:t> (1).</a:t>
                </a:r>
                <a:endParaRPr sz="2400">
                  <a:solidFill>
                    <a:srgbClr val="111827"/>
                  </a:solidFill>
                </a:endParaRPr>
              </a:p>
            </p:txBody>
          </p:sp>
        </mc:Fallback>
      </mc:AlternateContent>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Meeting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μ</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Meeting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den>
                    </m:f>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λ</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μ</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(5).</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Solving (3) and (5): </a:t>
                </a:r>
                <a14:m>
                  <m:oMath xmlns:m="http://schemas.openxmlformats.org/officeDocument/2006/math">
                    <m:r>
                      <a:rPr lang="en-IN" sz="2400" i="1">
                        <a:solidFill>
                          <a:srgbClr val="111827"/>
                        </a:solidFill>
                        <a:latin typeface="Cambria Math" panose="02040503050406030204" pitchFamily="18" charset="0"/>
                      </a:rPr>
                      <m:t>λ</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𝑄</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𝑃</m:t>
                    </m:r>
                    <m:sSup>
                      <m:e>
                        <m:r>
                          <a:rPr lang="en-IN" sz="2400" i="1">
                            <a:solidFill>
                              <a:srgbClr val="111827"/>
                            </a:solidFill>
                            <a:latin typeface="Cambria Math" panose="02040503050406030204" pitchFamily="18" charset="0"/>
                          </a:rPr>
                          <m:t>𝑄</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25</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so (A)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since </a:t>
                </a:r>
                <a14:m>
                  <m:oMath xmlns:m="http://schemas.openxmlformats.org/officeDocument/2006/math">
                    <m:sSup>
                      <m:e>
                        <m:r>
                          <m:rPr>
                            <m:sty m:val="p"/>
                          </m:rPr>
                          <a:rPr lang="en-IN" sz="2400">
                            <a:solidFill>
                              <a:srgbClr val="111827"/>
                            </a:solidFill>
                            <a:latin typeface="Cambria Math" panose="02040503050406030204" pitchFamily="18" charset="0"/>
                          </a:rPr>
                          <m:t>sin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5</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Meeting </a:t>
                </a:r>
                <a:r>
                  <a:rPr lang="en-IN" sz="2400">
                    <a:solidFill>
                      <a:srgbClr val="111827"/>
                    </a:solidFill>
                    <a:latin typeface="Cambria Math" panose="02040503050406030204" pitchFamily="18" charset="0"/>
                  </a:rPr>
                  <a:t>$\frac{x-2}{1}=\frac{y-1}{-2}=\frac{z+1}{1}$</a:t>
                </a:r>
                <a:r>
                  <a:rPr sz="2400" b="0">
                    <a:solidFill>
                      <a:srgbClr val="111827"/>
                    </a:solidFill>
                    <a:latin typeface="Arial"/>
                  </a:rPr>
                  <a:t>: </a:t>
                </a:r>
                <a:r>
                  <a:rPr lang="en-IN" sz="2400">
                    <a:solidFill>
                      <a:srgbClr val="111827"/>
                    </a:solidFill>
                    <a:latin typeface="Cambria Math" panose="02040503050406030204" pitchFamily="18" charset="0"/>
                  </a:rPr>
                  <a:t>$\frac{\lambda z-2}{1}=\frac{\mu z-1}{-2}=z+1$</a:t>
                </a:r>
                <a:r>
                  <a:rPr sz="2400" b="0">
                    <a:solidFill>
                      <a:srgbClr val="111827"/>
                    </a:solidFill>
                    <a:latin typeface="Arial"/>
                  </a:rPr>
                  <a:t> gives </a:t>
                </a:r>
                <a:r>
                  <a:rPr lang="en-IN" sz="2400">
                    <a:solidFill>
                      <a:srgbClr val="111827"/>
                    </a:solidFill>
                    <a:latin typeface="Cambria Math" panose="02040503050406030204" pitchFamily="18" charset="0"/>
                  </a:rPr>
                  <a:t>$z=\frac{3}{\lambda-1}=\frac{-1}{\mu+2}$</a:t>
                </a:r>
                <a:r>
                  <a:rPr sz="2400" b="0">
                    <a:solidFill>
                      <a:srgbClr val="111827"/>
                    </a:solidFill>
                    <a:latin typeface="Arial"/>
                  </a:rPr>
                  <a:t>, so </a:t>
                </a:r>
                <a:r>
                  <a:rPr lang="en-IN" sz="2400">
                    <a:solidFill>
                      <a:srgbClr val="111827"/>
                    </a:solidFill>
                    <a:latin typeface="Cambria Math" panose="02040503050406030204" pitchFamily="18" charset="0"/>
                  </a:rPr>
                  <a:t>$\lambda+3\mu+5=0$</a:t>
                </a:r>
                <a:r>
                  <a:rPr sz="2400" b="0">
                    <a:solidFill>
                      <a:srgbClr val="111827"/>
                    </a:solidFill>
                    <a:latin typeface="Arial"/>
                  </a:rPr>
                  <a:t> (3).</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Meeting </a:t>
                </a:r>
                <a:r>
                  <a:rPr lang="en-IN" sz="2400">
                    <a:solidFill>
                      <a:srgbClr val="111827"/>
                    </a:solidFill>
                    <a:latin typeface="Cambria Math" panose="02040503050406030204" pitchFamily="18" charset="0"/>
                  </a:rPr>
                  <a:t>$\frac{x-\frac83}{2}=\frac{y+3}{-1}=\frac{z-1}{1}$</a:t>
                </a:r>
                <a:r>
                  <a:rPr sz="2400" b="0">
                    <a:solidFill>
                      <a:srgbClr val="111827"/>
                    </a:solidFill>
                    <a:latin typeface="Arial"/>
                  </a:rPr>
                  <a:t>: </a:t>
                </a:r>
                <a:r>
                  <a:rPr lang="en-IN" sz="2400">
                    <a:solidFill>
                      <a:srgbClr val="111827"/>
                    </a:solidFill>
                    <a:latin typeface="Cambria Math" panose="02040503050406030204" pitchFamily="18" charset="0"/>
                  </a:rPr>
                  <a:t>$\frac{\lambda z-\frac83}{2}=\frac{\mu z+3}{-1}=z-1$</a:t>
                </a:r>
                <a:r>
                  <a:rPr sz="2400" b="0">
                    <a:solidFill>
                      <a:srgbClr val="111827"/>
                    </a:solidFill>
                    <a:latin typeface="Arial"/>
                  </a:rPr>
                  <a:t> gives </a:t>
                </a:r>
                <a:r>
                  <a:rPr lang="en-IN" sz="2400">
                    <a:solidFill>
                      <a:srgbClr val="111827"/>
                    </a:solidFill>
                    <a:latin typeface="Cambria Math" panose="02040503050406030204" pitchFamily="18" charset="0"/>
                  </a:rPr>
                  <a:t>$z=\frac{2}{3(\lambda-2)}=\frac{-2}{\mu+1}$</a:t>
                </a:r>
                <a:r>
                  <a:rPr sz="2400" b="0">
                    <a:solidFill>
                      <a:srgbClr val="111827"/>
                    </a:solidFill>
                    <a:latin typeface="Arial"/>
                  </a:rPr>
                  <a:t>, so </a:t>
                </a:r>
                <a:r>
                  <a:rPr lang="en-IN" sz="2400">
                    <a:solidFill>
                      <a:srgbClr val="111827"/>
                    </a:solidFill>
                    <a:latin typeface="Cambria Math" panose="02040503050406030204" pitchFamily="18" charset="0"/>
                  </a:rPr>
                  <a:t>$3\lambda+\mu=5$</a:t>
                </a:r>
                <a:r>
                  <a:rPr sz="2400" b="0">
                    <a:solidFill>
                      <a:srgbClr val="111827"/>
                    </a:solidFill>
                    <a:latin typeface="Arial"/>
                  </a:rPr>
                  <a:t> (5).</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Solving (3) and (5): </a:t>
                </a:r>
                <a:r>
                  <a:rPr lang="en-IN" sz="2400">
                    <a:solidFill>
                      <a:srgbClr val="111827"/>
                    </a:solidFill>
                    <a:latin typeface="Cambria Math" panose="02040503050406030204" pitchFamily="18" charset="0"/>
                  </a:rPr>
                  <a:t>$\lambda=\frac52$</a:t>
                </a:r>
                <a:r>
                  <a:rPr sz="2400" b="0">
                    <a:solidFill>
                      <a:srgbClr val="111827"/>
                    </a:solidFill>
                    <a:latin typeface="Arial"/>
                  </a:rPr>
                  <a:t>, </a:t>
                </a:r>
                <a:r>
                  <a:rPr lang="en-IN" sz="2400">
                    <a:solidFill>
                      <a:srgbClr val="111827"/>
                    </a:solidFill>
                    <a:latin typeface="Cambria Math" panose="02040503050406030204" pitchFamily="18" charset="0"/>
                  </a:rPr>
                  <a:t>$\mu=-\frac52$</a:t>
                </a:r>
                <a:r>
                  <a:rPr sz="2400" b="0">
                    <a:solidFill>
                      <a:srgbClr val="111827"/>
                    </a:solidFill>
                    <a:latin typeface="Arial"/>
                  </a:rPr>
                  <a:t>. For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$z=2$</a:t>
                </a:r>
                <a:r>
                  <a:rPr sz="2400" b="0">
                    <a:solidFill>
                      <a:srgbClr val="111827"/>
                    </a:solidFill>
                    <a:latin typeface="Arial"/>
                  </a:rPr>
                  <a:t>, </a:t>
                </a:r>
                <a:r>
                  <a:rPr lang="en-IN" sz="2400">
                    <a:solidFill>
                      <a:srgbClr val="111827"/>
                    </a:solidFill>
                    <a:latin typeface="Cambria Math" panose="02040503050406030204" pitchFamily="18" charset="0"/>
                  </a:rPr>
                  <a:t>$x=5$</a:t>
                </a:r>
                <a:r>
                  <a:rPr sz="2400" b="0">
                    <a:solidFill>
                      <a:srgbClr val="111827"/>
                    </a:solidFill>
                    <a:latin typeface="Arial"/>
                  </a:rPr>
                  <a:t>, </a:t>
                </a:r>
                <a:r>
                  <a:rPr lang="en-IN" sz="2400">
                    <a:solidFill>
                      <a:srgbClr val="111827"/>
                    </a:solidFill>
                    <a:latin typeface="Cambria Math" panose="02040503050406030204" pitchFamily="18" charset="0"/>
                  </a:rPr>
                  <a:t>$y=-5$</a:t>
                </a:r>
                <a:r>
                  <a:rPr sz="2400" b="0">
                    <a:solidFill>
                      <a:srgbClr val="111827"/>
                    </a:solidFill>
                    <a:latin typeface="Arial"/>
                  </a:rPr>
                  <a:t>; for </a:t>
                </a:r>
                <a:r>
                  <a:rPr lang="en-IN" sz="2400">
                    <a:solidFill>
                      <a:srgbClr val="111827"/>
                    </a:solidFill>
                    <a:latin typeface="Cambria Math" panose="02040503050406030204" pitchFamily="18" charset="0"/>
                  </a:rPr>
                  <a:t>$Q$</a:t>
                </a:r>
                <a:r>
                  <a:rPr sz="2400" b="0">
                    <a:solidFill>
                      <a:srgbClr val="111827"/>
                    </a:solidFill>
                    <a:latin typeface="Arial"/>
                  </a:rPr>
                  <a:t>: </a:t>
                </a:r>
                <a:r>
                  <a:rPr lang="en-IN" sz="2400">
                    <a:solidFill>
                      <a:srgbClr val="111827"/>
                    </a:solidFill>
                    <a:latin typeface="Cambria Math" panose="02040503050406030204" pitchFamily="18" charset="0"/>
                  </a:rPr>
                  <a:t>$z=\frac43$</a:t>
                </a:r>
                <a:r>
                  <a:rPr sz="2400" b="0">
                    <a:solidFill>
                      <a:srgbClr val="111827"/>
                    </a:solidFill>
                    <a:latin typeface="Arial"/>
                  </a:rPr>
                  <a:t>, </a:t>
                </a:r>
                <a:r>
                  <a:rPr lang="en-IN" sz="2400">
                    <a:solidFill>
                      <a:srgbClr val="111827"/>
                    </a:solidFill>
                    <a:latin typeface="Cambria Math" panose="02040503050406030204" pitchFamily="18" charset="0"/>
                  </a:rPr>
                  <a:t>$x=\frac{10}{3}$</a:t>
                </a:r>
                <a:r>
                  <a:rPr sz="2400" b="0">
                    <a:solidFill>
                      <a:srgbClr val="111827"/>
                    </a:solidFill>
                    <a:latin typeface="Arial"/>
                  </a:rPr>
                  <a:t>, </a:t>
                </a:r>
                <a:r>
                  <a:rPr lang="en-IN" sz="2400">
                    <a:solidFill>
                      <a:srgbClr val="111827"/>
                    </a:solidFill>
                    <a:latin typeface="Cambria Math" panose="02040503050406030204" pitchFamily="18" charset="0"/>
                  </a:rPr>
                  <a:t>$y=-\frac{10}{3}$</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$PQ^2=\left(\frac23\right)^2+\left(\frac53\right)^2+\left(\frac53\right)^2=\frac49+\frac{25}{9}+\frac{25}{9}=6$</a:t>
                </a:r>
                <a:r>
                  <a:rPr sz="2400" b="0">
                    <a:solidFill>
                      <a:srgbClr val="111827"/>
                    </a:solidFill>
                    <a:latin typeface="Arial"/>
                  </a:rPr>
                  <a:t>, so (A) </a:t>
                </a:r>
                <a:r>
                  <a:rPr lang="en-IN" sz="2400">
                    <a:solidFill>
                      <a:srgbClr val="111827"/>
                    </a:solidFill>
                    <a:latin typeface="Cambria Math" panose="02040503050406030204" pitchFamily="18" charset="0"/>
                  </a:rPr>
                  <a:t>$\to$</a:t>
                </a:r>
                <a:r>
                  <a:rPr sz="2400" b="0">
                    <a:solidFill>
                      <a:srgbClr val="111827"/>
                    </a:solidFill>
                    <a:latin typeface="Arial"/>
                  </a:rPr>
                  <a:t>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$\tan^{-1}(x+3)-\tan^{-1}(x-3)=\tan^{-1}\frac34$</a:t>
                </a:r>
                <a:r>
                  <a:rPr sz="2400" b="0">
                    <a:solidFill>
                      <a:srgbClr val="111827"/>
                    </a:solidFill>
                    <a:latin typeface="Arial"/>
                  </a:rPr>
                  <a:t> since </a:t>
                </a:r>
                <a:r>
                  <a:rPr lang="en-IN" sz="2400">
                    <a:solidFill>
                      <a:srgbClr val="111827"/>
                    </a:solidFill>
                    <a:latin typeface="Cambria Math" panose="02040503050406030204" pitchFamily="18" charset="0"/>
                  </a:rPr>
                  <a:t>$\sin^{-1}\frac35=\tan^{-1}\frac34$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Subtraction formula: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6</m:t>
                        </m:r>
                      </m:num>
                      <m:den>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(both have </a:t>
                </a:r>
                <a14:m>
                  <m:oMath xmlns:m="http://schemas.openxmlformats.org/officeDocument/2006/math">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8</m:t>
                    </m:r>
                  </m:oMath>
                </a14:m>
                <a:r>
                  <a:rPr sz="2400" b="0">
                    <a:solidFill>
                      <a:srgbClr val="111827"/>
                    </a:solidFill>
                    <a:latin typeface="Arial"/>
                  </a:rPr>
                  <a:t>, so the formula is valid; e.g.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7</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(B)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take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1</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2</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oMath>
                </a14:m>
                <a:r>
                  <a:rPr sz="2400" b="0">
                    <a:solidFill>
                      <a:srgbClr val="111827"/>
                    </a:solidFill>
                    <a:latin typeface="Arial"/>
                  </a:rPr>
                  <a:t>; then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2</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μ</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oMath>
                </a14:m>
                <a:r>
                  <a:rPr sz="2400" b="0">
                    <a:solidFill>
                      <a:srgbClr val="111827"/>
                    </a:solidFill>
                    <a:latin typeface="Arial"/>
                  </a:rPr>
                  <a:t> becomes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2</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1</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2</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Squaring: </a:t>
                </a:r>
                <a14:m>
                  <m:oMath xmlns:m="http://schemas.openxmlformats.org/officeDocument/2006/math">
                    <m:sSubSup>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bSup>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sSubSup>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3</m:t>
                    </m:r>
                    <m:sSubSup>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μ</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μ</m:t>
                        </m:r>
                      </m:e>
                    </m:d>
                    <m:sSubSup>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oMath>
                </a14:m>
                <a:r>
                  <a:rPr sz="2400" b="0">
                    <a:solidFill>
                      <a:srgbClr val="111827"/>
                    </a:solidFill>
                    <a:latin typeface="Arial"/>
                  </a:rPr>
                  <a:t> (1).</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Subtraction formula: </a:t>
                </a:r>
                <a:r>
                  <a:rPr lang="en-IN" sz="2400">
                    <a:solidFill>
                      <a:srgbClr val="111827"/>
                    </a:solidFill>
                    <a:latin typeface="Cambria Math" panose="02040503050406030204" pitchFamily="18" charset="0"/>
                  </a:rPr>
                  <a:t>$\tan^{-1}\frac{(x+3)-(x-3)}{1+x^2-9}=\tan^{-1}\frac34$</a:t>
                </a:r>
                <a:r>
                  <a:rPr sz="2400" b="0">
                    <a:solidFill>
                      <a:srgbClr val="111827"/>
                    </a:solidFill>
                    <a:latin typeface="Arial"/>
                  </a:rPr>
                  <a:t>, so </a:t>
                </a:r>
                <a:r>
                  <a:rPr lang="en-IN" sz="2400">
                    <a:solidFill>
                      <a:srgbClr val="111827"/>
                    </a:solidFill>
                    <a:latin typeface="Cambria Math" panose="02040503050406030204" pitchFamily="18" charset="0"/>
                  </a:rPr>
                  <a:t>$\frac{6}{x^2-8}=\frac34$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$x^2-8=8$</a:t>
                </a:r>
                <a:r>
                  <a:rPr sz="2400" b="0">
                    <a:solidFill>
                      <a:srgbClr val="111827"/>
                    </a:solidFill>
                    <a:latin typeface="Arial"/>
                  </a:rPr>
                  <a:t>, </a:t>
                </a:r>
                <a:r>
                  <a:rPr lang="en-IN" sz="2400">
                    <a:solidFill>
                      <a:srgbClr val="111827"/>
                    </a:solidFill>
                    <a:latin typeface="Cambria Math" panose="02040503050406030204" pitchFamily="18" charset="0"/>
                  </a:rPr>
                  <a:t>$x^2=16$</a:t>
                </a:r>
                <a:r>
                  <a:rPr sz="2400" b="0">
                    <a:solidFill>
                      <a:srgbClr val="111827"/>
                    </a:solidFill>
                    <a:latin typeface="Arial"/>
                  </a:rPr>
                  <a:t>, </a:t>
                </a:r>
                <a:r>
                  <a:rPr lang="en-IN" sz="2400">
                    <a:solidFill>
                      <a:srgbClr val="111827"/>
                    </a:solidFill>
                    <a:latin typeface="Cambria Math" panose="02040503050406030204" pitchFamily="18" charset="0"/>
                  </a:rPr>
                  <a:t>$x=\pm4$</a:t>
                </a:r>
                <a:r>
                  <a:rPr sz="2400" b="0">
                    <a:solidFill>
                      <a:srgbClr val="111827"/>
                    </a:solidFill>
                    <a:latin typeface="Arial"/>
                  </a:rPr>
                  <a:t> (both have </a:t>
                </a:r>
                <a:r>
                  <a:rPr lang="en-IN" sz="2400">
                    <a:solidFill>
                      <a:srgbClr val="111827"/>
                    </a:solidFill>
                    <a:latin typeface="Cambria Math" panose="02040503050406030204" pitchFamily="18" charset="0"/>
                  </a:rPr>
                  <a:t>$x^2&gt;8$</a:t>
                </a:r>
                <a:r>
                  <a:rPr sz="2400" b="0">
                    <a:solidFill>
                      <a:srgbClr val="111827"/>
                    </a:solidFill>
                    <a:latin typeface="Arial"/>
                  </a:rPr>
                  <a:t>, so the formula is valid; e.g. </a:t>
                </a:r>
                <a:r>
                  <a:rPr lang="en-IN" sz="2400">
                    <a:solidFill>
                      <a:srgbClr val="111827"/>
                    </a:solidFill>
                    <a:latin typeface="Cambria Math" panose="02040503050406030204" pitchFamily="18" charset="0"/>
                  </a:rPr>
                  <a:t>$\tan^{-1}7-\tan^{-1}1=\tan^{-1}\frac34$</a:t>
                </a:r>
                <a:r>
                  <a:rPr sz="2400" b="0">
                    <a:solidFill>
                      <a:srgbClr val="111827"/>
                    </a:solidFill>
                    <a:latin typeface="Arial"/>
                  </a:rPr>
                  <a:t>). So (B) </a:t>
                </a:r>
                <a:r>
                  <a:rPr lang="en-IN" sz="2400">
                    <a:solidFill>
                      <a:srgbClr val="111827"/>
                    </a:solidFill>
                    <a:latin typeface="Cambria Math" panose="02040503050406030204" pitchFamily="18" charset="0"/>
                  </a:rPr>
                  <a:t>$\to$</a:t>
                </a:r>
                <a:r>
                  <a:rPr sz="2400" b="0">
                    <a:solidFill>
                      <a:srgbClr val="111827"/>
                    </a:solidFill>
                    <a:latin typeface="Arial"/>
                  </a:rPr>
                  <a:t> (p),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As </a:t>
                </a:r>
                <a:r>
                  <a:rPr lang="en-IN" sz="2400">
                    <a:solidFill>
                      <a:srgbClr val="111827"/>
                    </a:solidFill>
                    <a:latin typeface="Cambria Math" panose="02040503050406030204" pitchFamily="18" charset="0"/>
                  </a:rPr>
                  <a:t>$\vec{a}\cdot\vec{b}=0$</a:t>
                </a:r>
                <a:r>
                  <a:rPr sz="2400" b="0">
                    <a:solidFill>
                      <a:srgbClr val="111827"/>
                    </a:solidFill>
                    <a:latin typeface="Arial"/>
                  </a:rPr>
                  <a:t>, take </a:t>
                </a:r>
                <a:r>
                  <a:rPr lang="en-IN" sz="2400">
                    <a:solidFill>
                      <a:srgbClr val="111827"/>
                    </a:solidFill>
                    <a:latin typeface="Cambria Math" panose="02040503050406030204" pitchFamily="18" charset="0"/>
                  </a:rPr>
                  <a:t>$\vec{b}=\lambda_1\hat{i}$</a:t>
                </a:r>
                <a:r>
                  <a:rPr sz="2400" b="0">
                    <a:solidFill>
                      <a:srgbClr val="111827"/>
                    </a:solidFill>
                    <a:latin typeface="Arial"/>
                  </a:rPr>
                  <a:t>, </a:t>
                </a:r>
                <a:r>
                  <a:rPr lang="en-IN" sz="2400">
                    <a:solidFill>
                      <a:srgbClr val="111827"/>
                    </a:solidFill>
                    <a:latin typeface="Cambria Math" panose="02040503050406030204" pitchFamily="18" charset="0"/>
                  </a:rPr>
                  <a:t>$\vec{a}=\lambda_2\hat{j}$</a:t>
                </a:r>
                <a:r>
                  <a:rPr sz="2400" b="0">
                    <a:solidFill>
                      <a:srgbClr val="111827"/>
                    </a:solidFill>
                    <a:latin typeface="Arial"/>
                  </a:rPr>
                  <a:t>; then </a:t>
                </a:r>
                <a:r>
                  <a:rPr lang="en-IN" sz="2400">
                    <a:solidFill>
                      <a:srgbClr val="111827"/>
                    </a:solidFill>
                    <a:latin typeface="Cambria Math" panose="02040503050406030204" pitchFamily="18" charset="0"/>
                  </a:rPr>
                  <a:t>$\vec{c}=\frac{\vec{a}-\mu\vec{b}}{4}=\frac{\lambda_2\hat{j}-\lambda_1\mu\hat{i}}{4}$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$2\left|\vec{b}+\vec{c}\right|=\left|\vec{b}-\vec{a}\right|$</a:t>
                </a:r>
                <a:r>
                  <a:rPr sz="2400" b="0">
                    <a:solidFill>
                      <a:srgbClr val="111827"/>
                    </a:solidFill>
                    <a:latin typeface="Arial"/>
                  </a:rPr>
                  <a:t> becomes </a:t>
                </a:r>
                <a:r>
                  <a:rPr lang="en-IN" sz="2400">
                    <a:solidFill>
                      <a:srgbClr val="111827"/>
                    </a:solidFill>
                    <a:latin typeface="Cambria Math" panose="02040503050406030204" pitchFamily="18" charset="0"/>
                  </a:rPr>
                  <a:t>$\left|\lambda_1(4-\mu)\hat{i}+\lambda_2\hat{j}\right|=2\left|\lambda_1\hat{i}+\lambda_2\hat{j}\right|$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Squaring: </a:t>
                </a:r>
                <a:r>
                  <a:rPr lang="en-IN" sz="2400">
                    <a:solidFill>
                      <a:srgbClr val="111827"/>
                    </a:solidFill>
                    <a:latin typeface="Cambria Math" panose="02040503050406030204" pitchFamily="18" charset="0"/>
                  </a:rPr>
                  <a:t>$\lambda_1^2(4-\mu)^2+\lambda_2^2=4\lambda_1^2+4\lambda_2^2$</a:t>
                </a:r>
                <a:r>
                  <a:rPr sz="2400" b="0">
                    <a:solidFill>
                      <a:srgbClr val="111827"/>
                    </a:solidFill>
                    <a:latin typeface="Arial"/>
                  </a:rPr>
                  <a:t>, so </a:t>
                </a:r>
                <a:r>
                  <a:rPr lang="en-IN" sz="2400">
                    <a:solidFill>
                      <a:srgbClr val="111827"/>
                    </a:solidFill>
                    <a:latin typeface="Cambria Math" panose="02040503050406030204" pitchFamily="18" charset="0"/>
                  </a:rPr>
                  <a:t>$3\lambda_2^2=\left(12+\mu^2-8\mu\right)\lambda_1^2$</a:t>
                </a:r>
                <a:r>
                  <a:rPr sz="2400" b="0">
                    <a:solidFill>
                      <a:srgbClr val="111827"/>
                    </a:solidFill>
                    <a:latin typeface="Arial"/>
                  </a:rPr>
                  <a:t> (1).</a:t>
                </a:r>
                <a:endParaRPr sz="2400">
                  <a:solidFill>
                    <a:srgbClr val="111827"/>
                  </a:solidFill>
                </a:endParaRPr>
              </a:p>
            </p:txBody>
          </p:sp>
        </mc:Fallback>
      </mc:AlternateContent>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1</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2</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1</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2</m:t>
                                </m:r>
                              </m:sub>
                            </m:sSub>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1</m:t>
                                </m:r>
                              </m:sub>
                            </m:sSub>
                            <m:r>
                              <a:rPr lang="en-IN" sz="2400" i="1">
                                <a:solidFill>
                                  <a:srgbClr val="111827"/>
                                </a:solidFill>
                                <a:latin typeface="Cambria Math" panose="02040503050406030204" pitchFamily="18" charset="0"/>
                              </a:rPr>
                              <m:t>μ</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num>
                          <m:den>
                            <m:r>
                              <a:rPr lang="en-IN" sz="2400" i="1">
                                <a:solidFill>
                                  <a:srgbClr val="111827"/>
                                </a:solidFill>
                                <a:latin typeface="Cambria Math" panose="02040503050406030204" pitchFamily="18" charset="0"/>
                              </a:rPr>
                              <m:t>4</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f>
                      <m:fPr>
                        <m:type m:val="bar"/>
                        <m:ctrlPr>
                          <a:rPr lang="en-IN" sz="2400" i="1">
                            <a:solidFill>
                              <a:srgbClr val="111827"/>
                            </a:solidFill>
                            <a:latin typeface="Cambria Math" panose="02040503050406030204" pitchFamily="18" charset="0"/>
                          </a:rPr>
                        </m:ctrlPr>
                      </m:fPr>
                      <m:num>
                        <m:sSubSup>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Hence </a:t>
                </a:r>
                <a14:m>
                  <m:oMath xmlns:m="http://schemas.openxmlformats.org/officeDocument/2006/math">
                    <m:sSubSup>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(2). From (1) and (2): </a:t>
                </a:r>
                <a14:m>
                  <m:oMath xmlns:m="http://schemas.openxmlformats.org/officeDocument/2006/math">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μ</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8</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μ</m:t>
                    </m:r>
                  </m:oMath>
                </a14:m>
                <a:r>
                  <a:rPr sz="2400" b="0">
                    <a:solidFill>
                      <a:srgbClr val="111827"/>
                    </a:solidFill>
                    <a:latin typeface="Arial"/>
                  </a:rPr>
                  <a:t>, i.e. </a:t>
                </a:r>
                <a14:m>
                  <m:oMath xmlns:m="http://schemas.openxmlformats.org/officeDocument/2006/math">
                    <m:sSup>
                      <m:e>
                        <m:r>
                          <a:rPr lang="en-IN" sz="2400" i="1">
                            <a:solidFill>
                              <a:srgbClr val="111827"/>
                            </a:solidFill>
                            <a:latin typeface="Cambria Math" panose="02040503050406030204" pitchFamily="18" charset="0"/>
                          </a:rPr>
                          <m:t>μ</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5</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(2) needs </a:t>
                </a:r>
                <a14:m>
                  <m:oMath xmlns:m="http://schemas.openxmlformats.org/officeDocument/2006/math">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would give </a:t>
                </a:r>
                <a14:m>
                  <m:oMath xmlns:m="http://schemas.openxmlformats.org/officeDocument/2006/math">
                    <m:sSubSup>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2</m:t>
                        </m:r>
                      </m:sub>
                      <m:sup>
                        <m:r>
                          <a:rPr lang="en-IN" sz="2400" i="1">
                            <a:solidFill>
                              <a:srgbClr val="111827"/>
                            </a:solidFill>
                            <a:latin typeface="Cambria Math" panose="02040503050406030204" pitchFamily="18" charset="0"/>
                          </a:rPr>
                          <m:t>2</m:t>
                        </m:r>
                      </m:sup>
                    </m:sSub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Sup>
                      <m:e>
                        <m:r>
                          <a:rPr lang="en-IN" sz="2400" i="1">
                            <a:solidFill>
                              <a:srgbClr val="111827"/>
                            </a:solidFill>
                            <a:latin typeface="Cambria Math" panose="02040503050406030204" pitchFamily="18" charset="0"/>
                          </a:rPr>
                          <m:t>λ</m:t>
                        </m:r>
                      </m:e>
                      <m:sub>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2</m:t>
                        </m:r>
                      </m:sup>
                    </m:sSubSup>
                  </m:oMath>
                </a14:m>
                <a:r>
                  <a:rPr sz="2400" b="0">
                    <a:solidFill>
                      <a:srgbClr val="111827"/>
                    </a:solidFill>
                    <a:latin typeface="Arial"/>
                  </a:rPr>
                  <a:t>, impossible for real non-zero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oMath>
                </a14:m>
                <a:r>
                  <a:rPr sz="2400" b="0">
                    <a:solidFill>
                      <a:srgbClr val="111827"/>
                    </a:solidFill>
                    <a:latin typeface="Arial"/>
                  </a:rPr>
                  <a:t> is rejected and only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remains: (C)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is even: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π</m:t>
                        </m:r>
                      </m:den>
                    </m:f>
                    <m:nary>
                      <m:naryPr>
                        <m:chr m:val="∫"/>
                        <m:limLoc m:val="subSup"/>
                        <m:subHide m:val="off"/>
                        <m:supHide m:val="off"/>
                        <m:ctrlPr>
                          <a:rPr lang="en-IN" sz="2400" i="1">
                            <a:solidFill>
                              <a:srgbClr val="111827"/>
                            </a:solidFill>
                            <a:latin typeface="Cambria Math" panose="02040503050406030204" pitchFamily="18" charset="0"/>
                          </a:rPr>
                        </m:ctrlPr>
                      </m:naryPr>
                      <m: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sub>
                      <m:sup>
                        <m:r>
                          <a:rPr lang="en-IN" sz="2400" i="1">
                            <a:solidFill>
                              <a:srgbClr val="111827"/>
                            </a:solidFill>
                            <a:latin typeface="Cambria Math" panose="02040503050406030204" pitchFamily="18" charset="0"/>
                          </a:rPr>
                          <m:t>π</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num>
                          <m:den>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den>
                        </m:f>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π</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num>
                          <m:den>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den>
                        </m:f>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π</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den>
                        </m:f>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$\left(\vec{b}-\vec{a}\right)\cdot\left(\vec{b}+\vec{c}\right)=0$</a:t>
                </a:r>
                <a:r>
                  <a:rPr sz="2400" b="0">
                    <a:solidFill>
                      <a:srgbClr val="111827"/>
                    </a:solidFill>
                    <a:latin typeface="Arial"/>
                  </a:rPr>
                  <a:t>: </a:t>
                </a:r>
                <a:r>
                  <a:rPr lang="en-IN" sz="2400">
                    <a:solidFill>
                      <a:srgbClr val="111827"/>
                    </a:solidFill>
                    <a:latin typeface="Cambria Math" panose="02040503050406030204" pitchFamily="18" charset="0"/>
                  </a:rPr>
                  <a:t>$\left(\lambda_1\hat{i}-\lambda_2\hat{j}\right)\cdot\left(\lambda_1\hat{i}+\frac{\lambda_2\hat{j}-\lambda_1\mu\hat{i}}{4}\right)=0$</a:t>
                </a:r>
                <a:r>
                  <a:rPr sz="2400" b="0">
                    <a:solidFill>
                      <a:srgbClr val="111827"/>
                    </a:solidFill>
                    <a:latin typeface="Arial"/>
                  </a:rPr>
                  <a:t>, so </a:t>
                </a:r>
                <a:r>
                  <a:rPr lang="en-IN" sz="2400">
                    <a:solidFill>
                      <a:srgbClr val="111827"/>
                    </a:solidFill>
                    <a:latin typeface="Cambria Math" panose="02040503050406030204" pitchFamily="18" charset="0"/>
                  </a:rPr>
                  <a:t>$\frac{\lambda_1^2(4-\mu)-\lambda_2^2}{4}=0$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Hence </a:t>
                </a:r>
                <a:r>
                  <a:rPr lang="en-IN" sz="2400">
                    <a:solidFill>
                      <a:srgbClr val="111827"/>
                    </a:solidFill>
                    <a:latin typeface="Cambria Math" panose="02040503050406030204" pitchFamily="18" charset="0"/>
                  </a:rPr>
                  <a:t>$\lambda_2^2=\lambda_1^2(4-\mu)$</a:t>
                </a:r>
                <a:r>
                  <a:rPr sz="2400" b="0">
                    <a:solidFill>
                      <a:srgbClr val="111827"/>
                    </a:solidFill>
                    <a:latin typeface="Arial"/>
                  </a:rPr>
                  <a:t> (2). From (1) and (2): </a:t>
                </a:r>
                <a:r>
                  <a:rPr lang="en-IN" sz="2400">
                    <a:solidFill>
                      <a:srgbClr val="111827"/>
                    </a:solidFill>
                    <a:latin typeface="Cambria Math" panose="02040503050406030204" pitchFamily="18" charset="0"/>
                  </a:rPr>
                  <a:t>$12+\mu^2-8\mu=12-3\mu$</a:t>
                </a:r>
                <a:r>
                  <a:rPr sz="2400" b="0">
                    <a:solidFill>
                      <a:srgbClr val="111827"/>
                    </a:solidFill>
                    <a:latin typeface="Arial"/>
                  </a:rPr>
                  <a:t>, i.e. </a:t>
                </a:r>
                <a:r>
                  <a:rPr lang="en-IN" sz="2400">
                    <a:solidFill>
                      <a:srgbClr val="111827"/>
                    </a:solidFill>
                    <a:latin typeface="Cambria Math" panose="02040503050406030204" pitchFamily="18" charset="0"/>
                  </a:rPr>
                  <a:t>$\mu^2-5\mu=0$</a:t>
                </a:r>
                <a:r>
                  <a:rPr sz="2400" b="0">
                    <a:solidFill>
                      <a:srgbClr val="111827"/>
                    </a:solidFill>
                    <a:latin typeface="Arial"/>
                  </a:rPr>
                  <a:t>, </a:t>
                </a:r>
                <a:r>
                  <a:rPr lang="en-IN" sz="2400">
                    <a:solidFill>
                      <a:srgbClr val="111827"/>
                    </a:solidFill>
                    <a:latin typeface="Cambria Math" panose="02040503050406030204" pitchFamily="18" charset="0"/>
                  </a:rPr>
                  <a:t>$\mu=0$</a:t>
                </a:r>
                <a:r>
                  <a:rPr sz="2400" b="0">
                    <a:solidFill>
                      <a:srgbClr val="111827"/>
                    </a:solidFill>
                    <a:latin typeface="Arial"/>
                  </a:rPr>
                  <a:t> or </a:t>
                </a:r>
                <a:r>
                  <a:rPr lang="en-IN" sz="2400">
                    <a:solidFill>
                      <a:srgbClr val="111827"/>
                    </a:solidFill>
                    <a:latin typeface="Cambria Math" panose="02040503050406030204" pitchFamily="18" charset="0"/>
                  </a:rPr>
                  <a:t>$5$</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(2) needs </a:t>
                </a:r>
                <a:r>
                  <a:rPr lang="en-IN" sz="2400">
                    <a:solidFill>
                      <a:srgbClr val="111827"/>
                    </a:solidFill>
                    <a:latin typeface="Cambria Math" panose="02040503050406030204" pitchFamily="18" charset="0"/>
                  </a:rPr>
                  <a:t>$4-\mu&gt;0$</a:t>
                </a:r>
                <a:r>
                  <a:rPr sz="2400" b="0">
                    <a:solidFill>
                      <a:srgbClr val="111827"/>
                    </a:solidFill>
                    <a:latin typeface="Arial"/>
                  </a:rPr>
                  <a:t>; </a:t>
                </a:r>
                <a:r>
                  <a:rPr lang="en-IN" sz="2400">
                    <a:solidFill>
                      <a:srgbClr val="111827"/>
                    </a:solidFill>
                    <a:latin typeface="Cambria Math" panose="02040503050406030204" pitchFamily="18" charset="0"/>
                  </a:rPr>
                  <a:t>$\mu=5$</a:t>
                </a:r>
                <a:r>
                  <a:rPr sz="2400" b="0">
                    <a:solidFill>
                      <a:srgbClr val="111827"/>
                    </a:solidFill>
                    <a:latin typeface="Arial"/>
                  </a:rPr>
                  <a:t> would give </a:t>
                </a:r>
                <a:r>
                  <a:rPr lang="en-IN" sz="2400">
                    <a:solidFill>
                      <a:srgbClr val="111827"/>
                    </a:solidFill>
                    <a:latin typeface="Cambria Math" panose="02040503050406030204" pitchFamily="18" charset="0"/>
                  </a:rPr>
                  <a:t>$\lambda_2^2=-\lambda_1^2$</a:t>
                </a:r>
                <a:r>
                  <a:rPr sz="2400" b="0">
                    <a:solidFill>
                      <a:srgbClr val="111827"/>
                    </a:solidFill>
                    <a:latin typeface="Arial"/>
                  </a:rPr>
                  <a:t>, impossible for real non-zero </a:t>
                </a:r>
                <a:r>
                  <a:rPr lang="en-IN" sz="2400">
                    <a:solidFill>
                      <a:srgbClr val="111827"/>
                    </a:solidFill>
                    <a:latin typeface="Cambria Math" panose="02040503050406030204" pitchFamily="18" charset="0"/>
                  </a:rPr>
                  <a:t>$\vec{a}$</a:t>
                </a:r>
                <a:r>
                  <a:rPr sz="2400" b="0">
                    <a:solidFill>
                      <a:srgbClr val="111827"/>
                    </a:solidFill>
                    <a:latin typeface="Arial"/>
                  </a:rPr>
                  <a:t>, so </a:t>
                </a:r>
                <a:r>
                  <a:rPr lang="en-IN" sz="2400">
                    <a:solidFill>
                      <a:srgbClr val="111827"/>
                    </a:solidFill>
                    <a:latin typeface="Cambria Math" panose="02040503050406030204" pitchFamily="18" charset="0"/>
                  </a:rPr>
                  <a:t>$\mu=5$</a:t>
                </a:r>
                <a:r>
                  <a:rPr sz="2400" b="0">
                    <a:solidFill>
                      <a:srgbClr val="111827"/>
                    </a:solidFill>
                    <a:latin typeface="Arial"/>
                  </a:rPr>
                  <a:t> is rejected and only </a:t>
                </a:r>
                <a:r>
                  <a:rPr lang="en-IN" sz="2400">
                    <a:solidFill>
                      <a:srgbClr val="111827"/>
                    </a:solidFill>
                    <a:latin typeface="Cambria Math" panose="02040503050406030204" pitchFamily="18" charset="0"/>
                  </a:rPr>
                  <a:t>$\mu=0$</a:t>
                </a:r>
                <a:r>
                  <a:rPr sz="2400" b="0">
                    <a:solidFill>
                      <a:srgbClr val="111827"/>
                    </a:solidFill>
                    <a:latin typeface="Arial"/>
                  </a:rPr>
                  <a:t> remains: (C) </a:t>
                </a:r>
                <a:r>
                  <a:rPr lang="en-IN" sz="2400">
                    <a:solidFill>
                      <a:srgbClr val="111827"/>
                    </a:solidFill>
                    <a:latin typeface="Cambria Math" panose="02040503050406030204" pitchFamily="18" charset="0"/>
                  </a:rPr>
                  <a:t>$\to$</a:t>
                </a:r>
                <a:r>
                  <a:rPr sz="2400" b="0">
                    <a:solidFill>
                      <a:srgbClr val="111827"/>
                    </a:solidFill>
                    <a:latin typeface="Arial"/>
                  </a:rPr>
                  <a:t>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a:t>
                </a:r>
                <a:r>
                  <a:rPr sz="2400" b="0">
                    <a:solidFill>
                      <a:srgbClr val="111827"/>
                    </a:solidFill>
                    <a:latin typeface="Arial"/>
                  </a:rPr>
                  <a:t> is even: </a:t>
                </a:r>
                <a:r>
                  <a:rPr lang="en-IN" sz="2400">
                    <a:solidFill>
                      <a:srgbClr val="111827"/>
                    </a:solidFill>
                    <a:latin typeface="Cambria Math" panose="02040503050406030204" pitchFamily="18" charset="0"/>
                  </a:rPr>
                  <a:t>$I=\frac2\pi\int_{-\pi}^{\pi}\frac{\sin\frac{9x}2}{\sin\frac x2}dx=\frac4\pi\int_0^\pi\frac{\sin\frac{9x}2\cos\frac x2}{\sin\frac x2\cos\frac x2}dx=\frac8\pi\int_0^\pi\frac{\sin\frac{9x}2\cos\frac x2}{\sin x}dx$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Using </a:t>
                </a:r>
                <a14:m>
                  <m:oMath xmlns:m="http://schemas.openxmlformats.org/officeDocument/2006/math">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π</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den>
                        </m:f>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Replace </a:t>
                </a:r>
                <a14:m>
                  <m:oMath xmlns:m="http://schemas.openxmlformats.org/officeDocument/2006/math">
                    <m:r>
                      <a:rPr lang="en-IN" sz="2400" i="1">
                        <a:solidFill>
                          <a:srgbClr val="111827"/>
                        </a:solidFill>
                        <a:latin typeface="Cambria Math" panose="02040503050406030204" pitchFamily="18" charset="0"/>
                      </a:rPr>
                      <m:t>𝑥</m:t>
                    </m:r>
                  </m:oMath>
                </a14:m>
                <a:r>
                  <a:rPr sz="2400" b="0">
                    <a:solidFill>
                      <a:srgbClr val="111827"/>
                    </a:solidFill>
                    <a:latin typeface="Arial"/>
                  </a:rPr>
                  <a:t> by </a:t>
                </a:r>
                <a14:m>
                  <m:oMath xmlns:m="http://schemas.openxmlformats.org/officeDocument/2006/math">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oMath>
                </a14:m>
                <a:r>
                  <a:rPr sz="2400" b="0">
                    <a:solidFill>
                      <a:srgbClr val="111827"/>
                    </a:solidFill>
                    <a:latin typeface="Arial"/>
                  </a:rPr>
                  <a:t> unchanged,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π</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den>
                        </m:f>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Adding (i) and (ii):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π</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den>
                        </m:f>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π</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den>
                        </m:f>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Let </a:t>
                </a:r>
                <a14:m>
                  <m:oMath xmlns:m="http://schemas.openxmlformats.org/officeDocument/2006/math">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π</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den>
                        </m:f>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Then </a:t>
                </a:r>
                <a14:m>
                  <m:oMath xmlns:m="http://schemas.openxmlformats.org/officeDocument/2006/math">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𝑘</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π</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den>
                        </m:f>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π</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sup>
                      <m:e>
                        <m:r>
                          <m:rPr>
                            <m:sty m:val="p"/>
                          </m:rPr>
                          <a:rPr lang="en-IN" sz="2400">
                            <a:solidFill>
                              <a:srgbClr val="111827"/>
                            </a:solidFill>
                            <a:latin typeface="Cambria Math" panose="02040503050406030204" pitchFamily="18" charset="0"/>
                          </a:rPr>
                          <m:t>cos</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So </a:t>
                </a:r>
                <a14:m>
                  <m:oMath xmlns:m="http://schemas.openxmlformats.org/officeDocument/2006/math">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5</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𝐼</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π</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sup>
                      <m:e>
                        <m:r>
                          <a:rPr lang="en-IN" sz="2400" i="1">
                            <a:solidFill>
                              <a:srgbClr val="111827"/>
                            </a:solidFill>
                            <a:latin typeface="Cambria Math" panose="02040503050406030204" pitchFamily="18" charset="0"/>
                          </a:rPr>
                          <m:t>𝑑</m:t>
                        </m:r>
                      </m:e>
                    </m:nary>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(r).</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Using </a:t>
                </a:r>
                <a:r>
                  <a:rPr lang="en-IN" sz="2400">
                    <a:solidFill>
                      <a:srgbClr val="111827"/>
                    </a:solidFill>
                    <a:latin typeface="Cambria Math" panose="02040503050406030204" pitchFamily="18" charset="0"/>
                  </a:rPr>
                  <a:t>$2\sin\frac{9x}2\cos\frac x2=\sin5x+\sin4x$</a:t>
                </a:r>
                <a:r>
                  <a:rPr sz="2400" b="0">
                    <a:solidFill>
                      <a:srgbClr val="111827"/>
                    </a:solidFill>
                    <a:latin typeface="Arial"/>
                  </a:rPr>
                  <a:t>: </a:t>
                </a:r>
                <a:r>
                  <a:rPr lang="en-IN" sz="2400">
                    <a:solidFill>
                      <a:srgbClr val="111827"/>
                    </a:solidFill>
                    <a:latin typeface="Cambria Math" panose="02040503050406030204" pitchFamily="18" charset="0"/>
                  </a:rPr>
                  <a:t>$I=\frac4\pi\int_0^\pi\frac{\sin5x+\sin4x}{\sin x}dx$</a:t>
                </a:r>
                <a:r>
                  <a:rPr sz="2400" b="0">
                    <a:solidFill>
                      <a:srgbClr val="111827"/>
                    </a:solidFill>
                    <a:latin typeface="Arial"/>
                  </a:rPr>
                  <a:t> (i).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Replace </a:t>
                </a:r>
                <a:r>
                  <a:rPr lang="en-IN" sz="2400">
                    <a:solidFill>
                      <a:srgbClr val="111827"/>
                    </a:solidFill>
                    <a:latin typeface="Cambria Math" panose="02040503050406030204" pitchFamily="18" charset="0"/>
                  </a:rPr>
                  <a:t>$x$</a:t>
                </a:r>
                <a:r>
                  <a:rPr sz="2400" b="0">
                    <a:solidFill>
                      <a:srgbClr val="111827"/>
                    </a:solidFill>
                    <a:latin typeface="Arial"/>
                  </a:rPr>
                  <a:t> by </a:t>
                </a:r>
                <a:r>
                  <a:rPr lang="en-IN" sz="2400">
                    <a:solidFill>
                      <a:srgbClr val="111827"/>
                    </a:solidFill>
                    <a:latin typeface="Cambria Math" panose="02040503050406030204" pitchFamily="18" charset="0"/>
                  </a:rPr>
                  <a:t>$\pi-x$</a:t>
                </a:r>
                <a:r>
                  <a:rPr sz="2400" b="0">
                    <a:solidFill>
                      <a:srgbClr val="111827"/>
                    </a:solidFill>
                    <a:latin typeface="Arial"/>
                  </a:rPr>
                  <a:t> (</a:t>
                </a:r>
                <a:r>
                  <a:rPr lang="en-IN" sz="2400">
                    <a:solidFill>
                      <a:srgbClr val="111827"/>
                    </a:solidFill>
                    <a:latin typeface="Cambria Math" panose="02040503050406030204" pitchFamily="18" charset="0"/>
                  </a:rPr>
                  <a:t>$\sin5x,\sin x$</a:t>
                </a:r>
                <a:r>
                  <a:rPr sz="2400" b="0">
                    <a:solidFill>
                      <a:srgbClr val="111827"/>
                    </a:solidFill>
                    <a:latin typeface="Arial"/>
                  </a:rPr>
                  <a:t> unchanged, </a:t>
                </a:r>
                <a:r>
                  <a:rPr lang="en-IN" sz="2400">
                    <a:solidFill>
                      <a:srgbClr val="111827"/>
                    </a:solidFill>
                    <a:latin typeface="Cambria Math" panose="02040503050406030204" pitchFamily="18" charset="0"/>
                  </a:rPr>
                  <a:t>$\sin4x\to-\sin4x$</a:t>
                </a:r>
                <a:r>
                  <a:rPr sz="2400" b="0">
                    <a:solidFill>
                      <a:srgbClr val="111827"/>
                    </a:solidFill>
                    <a:latin typeface="Arial"/>
                  </a:rPr>
                  <a:t>): </a:t>
                </a:r>
                <a:r>
                  <a:rPr lang="en-IN" sz="2400">
                    <a:solidFill>
                      <a:srgbClr val="111827"/>
                    </a:solidFill>
                    <a:latin typeface="Cambria Math" panose="02040503050406030204" pitchFamily="18" charset="0"/>
                  </a:rPr>
                  <a:t>$I=\frac4\pi\int_0^\pi\frac{\sin5x-\sin4x}{\sin x}dx$</a:t>
                </a:r>
                <a:r>
                  <a:rPr sz="2400" b="0">
                    <a:solidFill>
                      <a:srgbClr val="111827"/>
                    </a:solidFill>
                    <a:latin typeface="Arial"/>
                  </a:rPr>
                  <a:t> (ii).</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Adding (i) and (ii): </a:t>
                </a:r>
                <a:r>
                  <a:rPr lang="en-IN" sz="2400">
                    <a:solidFill>
                      <a:srgbClr val="111827"/>
                    </a:solidFill>
                    <a:latin typeface="Cambria Math" panose="02040503050406030204" pitchFamily="18" charset="0"/>
                  </a:rPr>
                  <a:t>$2I=\frac8\pi\int_0^\pi\frac{\sin5x}{\sin x}dx$</a:t>
                </a:r>
                <a:r>
                  <a:rPr sz="2400" b="0">
                    <a:solidFill>
                      <a:srgbClr val="111827"/>
                    </a:solidFill>
                    <a:latin typeface="Arial"/>
                  </a:rPr>
                  <a:t>, so </a:t>
                </a:r>
                <a:r>
                  <a:rPr lang="en-IN" sz="2400">
                    <a:solidFill>
                      <a:srgbClr val="111827"/>
                    </a:solidFill>
                    <a:latin typeface="Cambria Math" panose="02040503050406030204" pitchFamily="18" charset="0"/>
                  </a:rPr>
                  <a:t>$I=\frac4\pi\int_0^\pi\frac{\sin5x}{\sin x}dx$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Let </a:t>
                </a:r>
                <a:r>
                  <a:rPr lang="en-IN" sz="2400">
                    <a:solidFill>
                      <a:srgbClr val="111827"/>
                    </a:solidFill>
                    <a:latin typeface="Cambria Math" panose="02040503050406030204" pitchFamily="18" charset="0"/>
                  </a:rPr>
                  <a:t>$I_k=\frac4\pi\int_0^\pi\frac{\sin kx}{\sin x}dx$</a:t>
                </a:r>
                <a:r>
                  <a:rPr sz="2400" b="0">
                    <a:solidFill>
                      <a:srgbClr val="111827"/>
                    </a:solidFill>
                    <a:latin typeface="Arial"/>
                  </a:rPr>
                  <a:t>. Then </a:t>
                </a:r>
                <a:r>
                  <a:rPr lang="en-IN" sz="2400">
                    <a:solidFill>
                      <a:srgbClr val="111827"/>
                    </a:solidFill>
                    <a:latin typeface="Cambria Math" panose="02040503050406030204" pitchFamily="18" charset="0"/>
                  </a:rPr>
                  <a:t>$I_k-I_{k-2}=\frac4\pi\int_0^\pi\frac{\sin kx-\sin(k-2)x}{\sin x}dx=\frac8\pi\int_0^\pi\cos(k-1)x\,dx=0$</a:t>
                </a:r>
                <a:r>
                  <a:rPr sz="2400" b="0">
                    <a:solidFill>
                      <a:srgbClr val="111827"/>
                    </a:solidFill>
                    <a:latin typeface="Arial"/>
                  </a:rPr>
                  <a:t> for </a:t>
                </a:r>
                <a:r>
                  <a:rPr lang="en-IN" sz="2400">
                    <a:solidFill>
                      <a:srgbClr val="111827"/>
                    </a:solidFill>
                    <a:latin typeface="Cambria Math" panose="02040503050406030204" pitchFamily="18" charset="0"/>
                  </a:rPr>
                  <a:t>$k\ge2$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So </a:t>
                </a:r>
                <a:r>
                  <a:rPr lang="en-IN" sz="2400">
                    <a:solidFill>
                      <a:srgbClr val="111827"/>
                    </a:solidFill>
                    <a:latin typeface="Cambria Math" panose="02040503050406030204" pitchFamily="18" charset="0"/>
                  </a:rPr>
                  <a:t>$I_5=I_3=I_1=\frac4\pi\int_0^\pi dx=4$</a:t>
                </a:r>
                <a:r>
                  <a:rPr sz="2400" b="0">
                    <a:solidFill>
                      <a:srgbClr val="111827"/>
                    </a:solidFill>
                    <a:latin typeface="Arial"/>
                  </a:rPr>
                  <a:t>, and (D) </a:t>
                </a:r>
                <a:r>
                  <a:rPr lang="en-IN" sz="2400">
                    <a:solidFill>
                      <a:srgbClr val="111827"/>
                    </a:solidFill>
                    <a:latin typeface="Cambria Math" panose="02040503050406030204" pitchFamily="18" charset="0"/>
                  </a:rPr>
                  <a:t>$\to$</a:t>
                </a:r>
                <a:r>
                  <a:rPr sz="2400" b="0">
                    <a:solidFill>
                      <a:srgbClr val="111827"/>
                    </a:solidFill>
                    <a:latin typeface="Arial"/>
                  </a:rPr>
                  <a:t> (r).</a:t>
                </a:r>
                <a:endParaRPr sz="2400">
                  <a:solidFill>
                    <a:srgbClr val="111827"/>
                  </a:solidFill>
                </a:endParaRPr>
              </a:p>
            </p:txBody>
          </p:sp>
        </mc:Fallback>
      </mc:AlternateContent>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Answer: (A)-(t); (B)-(p),(r); (C)-(q); (D)-(r).</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(t); (B)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(p), (r); (C)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(q); (D)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(r)</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$\to$</a:t>
                </a:r>
                <a:r>
                  <a:rPr sz="2800" b="1">
                    <a:solidFill>
                      <a:srgbClr val="15803D"/>
                    </a:solidFill>
                    <a:latin typeface="Arial"/>
                  </a:rPr>
                  <a:t> (t); (B) </a:t>
                </a:r>
                <a:r>
                  <a:rPr lang="en-IN" sz="2800">
                    <a:solidFill>
                      <a:srgbClr val="15803D"/>
                    </a:solidFill>
                    <a:latin typeface="Cambria Math" panose="02040503050406030204" pitchFamily="18" charset="0"/>
                  </a:rPr>
                  <a:t>$\to$</a:t>
                </a:r>
                <a:r>
                  <a:rPr sz="2800" b="1">
                    <a:solidFill>
                      <a:srgbClr val="15803D"/>
                    </a:solidFill>
                    <a:latin typeface="Arial"/>
                  </a:rPr>
                  <a:t> (p), (r); (C) </a:t>
                </a:r>
                <a:r>
                  <a:rPr lang="en-IN" sz="2800">
                    <a:solidFill>
                      <a:srgbClr val="15803D"/>
                    </a:solidFill>
                    <a:latin typeface="Cambria Math" panose="02040503050406030204" pitchFamily="18" charset="0"/>
                  </a:rPr>
                  <a:t>$\to$</a:t>
                </a:r>
                <a:r>
                  <a:rPr sz="2800" b="1">
                    <a:solidFill>
                      <a:srgbClr val="15803D"/>
                    </a:solidFill>
                    <a:latin typeface="Arial"/>
                  </a:rPr>
                  <a:t> (q); (D) </a:t>
                </a:r>
                <a:r>
                  <a:rPr lang="en-IN" sz="2800">
                    <a:solidFill>
                      <a:srgbClr val="15803D"/>
                    </a:solidFill>
                    <a:latin typeface="Cambria Math" panose="02040503050406030204" pitchFamily="18" charset="0"/>
                  </a:rPr>
                  <a:t>$\to$</a:t>
                </a:r>
                <a:r>
                  <a:rPr sz="2800" b="1">
                    <a:solidFill>
                      <a:srgbClr val="15803D"/>
                    </a:solidFill>
                    <a:latin typeface="Arial"/>
                  </a:rPr>
                  <a:t> (r)</a:t>
                </a:r>
                <a:endParaRPr sz="2800">
                  <a:solidFill>
                    <a:srgbClr val="15803D"/>
                  </a:solidFill>
                </a:endParaRPr>
              </a:p>
            </p:txBody>
          </p:sp>
        </mc:Fallback>
      </mc:AlternateContent>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 1</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 Plane through </a:t>
                </a:r>
                <a14:m>
                  <m:oMath xmlns:m="http://schemas.openxmlformats.org/officeDocument/2006/math">
                    <m:r>
                      <a:rPr lang="en-IN" sz="2400" i="1">
                        <a:solidFill>
                          <a:srgbClr val="78350F"/>
                        </a:solidFill>
                        <a:latin typeface="Cambria Math" panose="02040503050406030204" pitchFamily="18" charset="0"/>
                      </a:rPr>
                      <m:t>𝑂</m:t>
                    </m:r>
                  </m:oMath>
                </a14:m>
                <a:r>
                  <a:rPr sz="2400" b="0">
                    <a:solidFill>
                      <a:srgbClr val="78350F"/>
                    </a:solidFill>
                    <a:latin typeface="Arial"/>
                  </a:rPr>
                  <a:t> and the first line cuts the second line at </a:t>
                </a:r>
                <a14:m>
                  <m:oMath xmlns:m="http://schemas.openxmlformats.org/officeDocument/2006/math">
                    <m:r>
                      <a:rPr lang="en-IN" sz="2400" i="1">
                        <a:solidFill>
                          <a:srgbClr val="78350F"/>
                        </a:solidFill>
                        <a:latin typeface="Cambria Math" panose="02040503050406030204" pitchFamily="18" charset="0"/>
                      </a:rPr>
                      <m:t>𝑄</m:t>
                    </m:r>
                  </m:oMath>
                </a14:m>
                <a:r>
                  <a:rPr sz="2400" b="0">
                    <a:solidFill>
                      <a:srgbClr val="78350F"/>
                    </a:solidFill>
                    <a:latin typeface="Arial"/>
                  </a:rPr>
                  <a:t>; (C) dot-product algebra with </a:t>
                </a:r>
                <a14:m>
                  <m:oMath xmlns:m="http://schemas.openxmlformats.org/officeDocument/2006/math">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𝑏</m:t>
                        </m:r>
                      </m:e>
                    </m:acc>
                    <m:sSup>
                      <m:e>
                        <m:r>
                          <m:rPr>
                            <m:sty m:val="p"/>
                          </m:rPr>
                          <a:rPr lang="en-IN" sz="2400">
                            <a:solidFill>
                              <a:srgbClr val="78350F"/>
                            </a:solidFill>
                            <a:latin typeface="Cambria Math" panose="02040503050406030204" pitchFamily="18" charset="0"/>
                          </a:rPr>
                          <m:t>|</m:t>
                        </m:r>
                      </m:e>
                      <m:sup>
                        <m:r>
                          <a:rPr lang="en-IN" sz="2400" i="1">
                            <a:solidFill>
                              <a:srgbClr val="78350F"/>
                            </a:solidFill>
                            <a:latin typeface="Cambria Math" panose="02040503050406030204" pitchFamily="18" charset="0"/>
                          </a:rPr>
                          <m:t>2</m:t>
                        </m:r>
                      </m:sup>
                    </m:sSup>
                  </m:oMath>
                </a14:m>
                <a:r>
                  <a:rPr sz="2400" b="0">
                    <a:solidFill>
                      <a:srgbClr val="78350F"/>
                    </a:solidFill>
                    <a:latin typeface="Arial"/>
                  </a:rPr>
                  <a:t>; (D) Dirichlet kernel.</a:t>
                </a:r>
                <a:endParaRPr sz="2400">
                  <a:solidFill>
                    <a:srgbClr val="78350F"/>
                  </a:solidFill>
                </a:endParaRPr>
              </a:p>
            </p:txBody>
          </p:sp>
        </mc:Choice>
        <mc:Fallback>
          <p:sp>
            <p:nvSpPr>
              <p:cNvPr id="5" name="Rounded Rectangle 4"/>
              <p:cNvSpPr/>
              <p:nvPr/>
            </p:nvSpPr>
            <p:spPr>
              <a:xfrm>
                <a:off x="731520" y="1280160"/>
                <a:ext cx="10725912" cy="14813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(A) Plane through </a:t>
                </a:r>
                <a:r>
                  <a:rPr lang="en-IN" sz="2400">
                    <a:solidFill>
                      <a:srgbClr val="78350F"/>
                    </a:solidFill>
                    <a:latin typeface="Cambria Math" panose="02040503050406030204" pitchFamily="18" charset="0"/>
                  </a:rPr>
                  <a:t>$O$</a:t>
                </a:r>
                <a:r>
                  <a:rPr sz="2400" b="0">
                    <a:solidFill>
                      <a:srgbClr val="78350F"/>
                    </a:solidFill>
                    <a:latin typeface="Arial"/>
                  </a:rPr>
                  <a:t> and the first line cuts the second line at </a:t>
                </a:r>
                <a:r>
                  <a:rPr lang="en-IN" sz="2400">
                    <a:solidFill>
                      <a:srgbClr val="78350F"/>
                    </a:solidFill>
                    <a:latin typeface="Cambria Math" panose="02040503050406030204" pitchFamily="18" charset="0"/>
                  </a:rPr>
                  <a:t>$Q$</a:t>
                </a:r>
                <a:r>
                  <a:rPr sz="2400" b="0">
                    <a:solidFill>
                      <a:srgbClr val="78350F"/>
                    </a:solidFill>
                    <a:latin typeface="Arial"/>
                  </a:rPr>
                  <a:t>; (C) dot-product algebra with </a:t>
                </a:r>
                <a:r>
                  <a:rPr lang="en-IN" sz="2400">
                    <a:solidFill>
                      <a:srgbClr val="78350F"/>
                    </a:solidFill>
                    <a:latin typeface="Cambria Math" panose="02040503050406030204" pitchFamily="18" charset="0"/>
                  </a:rPr>
                  <a:t>$|\vec{a}|^2,|\vec{b}|^2$</a:t>
                </a:r>
                <a:r>
                  <a:rPr sz="2400" b="0">
                    <a:solidFill>
                      <a:srgbClr val="78350F"/>
                    </a:solidFill>
                    <a:latin typeface="Arial"/>
                  </a:rPr>
                  <a:t>; (D) Dirichlet kernel.</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Plane through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and line 1 (point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direction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normal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the plane is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 2 point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𝑡</m:t>
                        </m:r>
                      </m:e>
                    </m:d>
                  </m:oMath>
                </a14:m>
                <a:r>
                  <a:rPr sz="2400" b="0">
                    <a:solidFill>
                      <a:srgbClr val="111827"/>
                    </a:solidFill>
                    <a:latin typeface="Arial"/>
                  </a:rPr>
                  <a:t> lies on it when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𝑄</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10</m:t>
                            </m:r>
                          </m:num>
                          <m:den>
                            <m:r>
                              <a:rPr lang="en-IN" sz="2400" i="1">
                                <a:solidFill>
                                  <a:srgbClr val="111827"/>
                                </a:solidFill>
                                <a:latin typeface="Cambria Math" panose="02040503050406030204" pitchFamily="18" charset="0"/>
                              </a:rPr>
                              <m:t>3</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e>
                    </m:d>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2898648"/>
                <a:ext cx="10725912" cy="3776472"/>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Plane through </a:t>
                </a:r>
                <a:r>
                  <a:rPr lang="en-IN" sz="2400">
                    <a:solidFill>
                      <a:srgbClr val="111827"/>
                    </a:solidFill>
                    <a:latin typeface="Cambria Math" panose="02040503050406030204" pitchFamily="18" charset="0"/>
                  </a:rPr>
                  <a:t>$O$</a:t>
                </a:r>
                <a:r>
                  <a:rPr sz="2400" b="0">
                    <a:solidFill>
                      <a:srgbClr val="111827"/>
                    </a:solidFill>
                    <a:latin typeface="Arial"/>
                  </a:rPr>
                  <a:t> and line 1 (point </a:t>
                </a:r>
                <a:r>
                  <a:rPr lang="en-IN" sz="2400">
                    <a:solidFill>
                      <a:srgbClr val="111827"/>
                    </a:solidFill>
                    <a:latin typeface="Cambria Math" panose="02040503050406030204" pitchFamily="18" charset="0"/>
                  </a:rPr>
                  <a:t>$A(2,1,-1)$</a:t>
                </a:r>
                <a:r>
                  <a:rPr sz="2400" b="0">
                    <a:solidFill>
                      <a:srgbClr val="111827"/>
                    </a:solidFill>
                    <a:latin typeface="Arial"/>
                  </a:rPr>
                  <a:t>, direction </a:t>
                </a:r>
                <a:r>
                  <a:rPr lang="en-IN" sz="2400">
                    <a:solidFill>
                      <a:srgbClr val="111827"/>
                    </a:solidFill>
                    <a:latin typeface="Cambria Math" panose="02040503050406030204" pitchFamily="18" charset="0"/>
                  </a:rPr>
                  <a:t>$(1,-2,1)$</a:t>
                </a:r>
                <a:r>
                  <a:rPr sz="2400" b="0">
                    <a:solidFill>
                      <a:srgbClr val="111827"/>
                    </a:solidFill>
                    <a:latin typeface="Arial"/>
                  </a:rPr>
                  <a:t>): normal </a:t>
                </a:r>
                <a:r>
                  <a:rPr lang="en-IN" sz="2400">
                    <a:solidFill>
                      <a:srgbClr val="111827"/>
                    </a:solidFill>
                    <a:latin typeface="Cambria Math" panose="02040503050406030204" pitchFamily="18" charset="0"/>
                  </a:rPr>
                  <a:t>$\overrightarrow{OA}\times(1,-2,1)=(-1,-3,-5)$</a:t>
                </a:r>
                <a:r>
                  <a:rPr sz="2400" b="0">
                    <a:solidFill>
                      <a:srgbClr val="111827"/>
                    </a:solidFill>
                    <a:latin typeface="Arial"/>
                  </a:rPr>
                  <a:t>, so the plane is </a:t>
                </a:r>
                <a:r>
                  <a:rPr lang="en-IN" sz="2400">
                    <a:solidFill>
                      <a:srgbClr val="111827"/>
                    </a:solidFill>
                    <a:latin typeface="Cambria Math" panose="02040503050406030204" pitchFamily="18" charset="0"/>
                  </a:rPr>
                  <a:t>$x+3y+5z=0$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Line 2 point </a:t>
                </a:r>
                <a:r>
                  <a:rPr lang="en-IN" sz="2400">
                    <a:solidFill>
                      <a:srgbClr val="111827"/>
                    </a:solidFill>
                    <a:latin typeface="Cambria Math" panose="02040503050406030204" pitchFamily="18" charset="0"/>
                  </a:rPr>
                  <a:t>$\left(\frac83+2t,\,-3-t,\,1+t\right)$</a:t>
                </a:r>
                <a:r>
                  <a:rPr sz="2400" b="0">
                    <a:solidFill>
                      <a:srgbClr val="111827"/>
                    </a:solidFill>
                    <a:latin typeface="Arial"/>
                  </a:rPr>
                  <a:t> lies on it when </a:t>
                </a:r>
                <a:r>
                  <a:rPr lang="en-IN" sz="2400">
                    <a:solidFill>
                      <a:srgbClr val="111827"/>
                    </a:solidFill>
                    <a:latin typeface="Cambria Math" panose="02040503050406030204" pitchFamily="18" charset="0"/>
                  </a:rPr>
                  <a:t>$\frac83+2t-9-3t+5+5t=0$</a:t>
                </a:r>
                <a:r>
                  <a:rPr sz="2400" b="0">
                    <a:solidFill>
                      <a:srgbClr val="111827"/>
                    </a:solidFill>
                    <a:latin typeface="Arial"/>
                  </a:rPr>
                  <a:t>, i.e. </a:t>
                </a:r>
                <a:r>
                  <a:rPr lang="en-IN" sz="2400">
                    <a:solidFill>
                      <a:srgbClr val="111827"/>
                    </a:solidFill>
                    <a:latin typeface="Cambria Math" panose="02040503050406030204" pitchFamily="18" charset="0"/>
                  </a:rPr>
                  <a:t>$t=\frac13$</a:t>
                </a:r>
                <a:r>
                  <a:rPr sz="2400" b="0">
                    <a:solidFill>
                      <a:srgbClr val="111827"/>
                    </a:solidFill>
                    <a:latin typeface="Arial"/>
                  </a:rPr>
                  <a:t>: </a:t>
                </a:r>
                <a:r>
                  <a:rPr lang="en-IN" sz="2400">
                    <a:solidFill>
                      <a:srgbClr val="111827"/>
                    </a:solidFill>
                    <a:latin typeface="Cambria Math" panose="02040503050406030204" pitchFamily="18" charset="0"/>
                  </a:rPr>
                  <a:t>$Q=\left(\frac{10}3,-\frac{10}3,\frac43\right)$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 1</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𝑄</m:t>
                    </m:r>
                  </m:oMath>
                </a14:m>
                <a:r>
                  <a:rPr sz="2400" b="0">
                    <a:solidFill>
                      <a:srgbClr val="111827"/>
                    </a:solidFill>
                    <a:latin typeface="Arial"/>
                  </a:rPr>
                  <a:t> has direction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line 1 needs </a:t>
                </a:r>
                <a14:m>
                  <m:oMath xmlns:m="http://schemas.openxmlformats.org/officeDocument/2006/math">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𝑃</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 other ratio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too).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𝑃</m:t>
                    </m:r>
                    <m:sSup>
                      <m:e>
                        <m:r>
                          <a:rPr lang="en-IN" sz="2400" i="1">
                            <a:solidFill>
                              <a:srgbClr val="111827"/>
                            </a:solidFill>
                            <a:latin typeface="Cambria Math" panose="02040503050406030204" pitchFamily="18" charset="0"/>
                          </a:rPr>
                          <m:t>𝑄</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6</m:t>
                    </m:r>
                  </m:oMath>
                </a14:m>
                <a:r>
                  <a:rPr sz="2400" b="0">
                    <a:solidFill>
                      <a:srgbClr val="111827"/>
                    </a:solidFill>
                    <a:latin typeface="Arial"/>
                  </a:rPr>
                  <a:t>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Let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μ</m:t>
                        </m:r>
                        <m:r>
                          <a:rPr lang="en-IN" sz="2400" i="1">
                            <a:solidFill>
                              <a:srgbClr val="111827"/>
                            </a:solidFill>
                            <a:latin typeface="Cambria Math" panose="02040503050406030204" pitchFamily="18" charset="0"/>
                          </a:rPr>
                          <m:t>𝐵</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a:rPr lang="en-IN" sz="2400" i="1">
                        <a:solidFill>
                          <a:srgbClr val="111827"/>
                        </a:solidFill>
                        <a:latin typeface="Cambria Math" panose="02040503050406030204" pitchFamily="18" charset="0"/>
                      </a:rPr>
                      <m:t>4</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e>
                        </m:d>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𝑐</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num>
                      <m:den>
                        <m:r>
                          <a:rPr lang="en-IN" sz="2400" i="1">
                            <a:solidFill>
                              <a:srgbClr val="111827"/>
                            </a:solidFill>
                            <a:latin typeface="Cambria Math" panose="02040503050406030204" pitchFamily="18" charset="0"/>
                          </a:rPr>
                          <m:t>4</m:t>
                        </m:r>
                      </m:den>
                    </m:f>
                  </m:oMath>
                </a14:m>
                <a:r>
                  <a:rPr sz="2400" b="0">
                    <a:solidFill>
                      <a:srgbClr val="111827"/>
                    </a:solidFill>
                    <a:latin typeface="Arial"/>
                  </a:rPr>
                  <a:t> gives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Put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𝐵</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𝐵</m:t>
                    </m:r>
                  </m:oMath>
                </a14:m>
                <a:r>
                  <a:rPr sz="2400" b="0">
                    <a:solidFill>
                      <a:srgbClr val="111827"/>
                    </a:solidFill>
                    <a:latin typeface="Arial"/>
                  </a:rPr>
                  <a:t>, so </a:t>
                </a:r>
                <a14:m>
                  <m:oMath xmlns:m="http://schemas.openxmlformats.org/officeDocument/2006/math">
                    <m:sSup>
                      <m:e>
                        <m:r>
                          <a:rPr lang="en-IN" sz="2400" i="1">
                            <a:solidFill>
                              <a:srgbClr val="111827"/>
                            </a:solidFill>
                            <a:latin typeface="Cambria Math" panose="02040503050406030204" pitchFamily="18" charset="0"/>
                          </a:rPr>
                          <m:t>𝑢</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forces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μ</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(q).</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$OQ$</a:t>
                </a:r>
                <a:r>
                  <a:rPr sz="2400" b="0">
                    <a:solidFill>
                      <a:srgbClr val="111827"/>
                    </a:solidFill>
                    <a:latin typeface="Arial"/>
                  </a:rPr>
                  <a:t> has direction </a:t>
                </a:r>
                <a:r>
                  <a:rPr lang="en-IN" sz="2400">
                    <a:solidFill>
                      <a:srgbClr val="111827"/>
                    </a:solidFill>
                    <a:latin typeface="Cambria Math" panose="02040503050406030204" pitchFamily="18" charset="0"/>
                  </a:rPr>
                  <a:t>$(5,-5,2)$</a:t>
                </a:r>
                <a:r>
                  <a:rPr sz="2400" b="0">
                    <a:solidFill>
                      <a:srgbClr val="111827"/>
                    </a:solidFill>
                    <a:latin typeface="Arial"/>
                  </a:rPr>
                  <a:t>; </a:t>
                </a:r>
                <a:r>
                  <a:rPr lang="en-IN" sz="2400">
                    <a:solidFill>
                      <a:srgbClr val="111827"/>
                    </a:solidFill>
                    <a:latin typeface="Cambria Math" panose="02040503050406030204" pitchFamily="18" charset="0"/>
                  </a:rPr>
                  <a:t>$P=(5k,-5k,2k)$</a:t>
                </a:r>
                <a:r>
                  <a:rPr sz="2400" b="0">
                    <a:solidFill>
                      <a:srgbClr val="111827"/>
                    </a:solidFill>
                    <a:latin typeface="Arial"/>
                  </a:rPr>
                  <a:t> on line 1 needs </a:t>
                </a:r>
                <a:r>
                  <a:rPr lang="en-IN" sz="2400">
                    <a:solidFill>
                      <a:srgbClr val="111827"/>
                    </a:solidFill>
                    <a:latin typeface="Cambria Math" panose="02040503050406030204" pitchFamily="18" charset="0"/>
                  </a:rPr>
                  <a:t>$5k-2=2k+1$</a:t>
                </a:r>
                <a:r>
                  <a:rPr sz="2400" b="0">
                    <a:solidFill>
                      <a:srgbClr val="111827"/>
                    </a:solidFill>
                    <a:latin typeface="Arial"/>
                  </a:rPr>
                  <a:t>, so </a:t>
                </a:r>
                <a:r>
                  <a:rPr lang="en-IN" sz="2400">
                    <a:solidFill>
                      <a:srgbClr val="111827"/>
                    </a:solidFill>
                    <a:latin typeface="Cambria Math" panose="02040503050406030204" pitchFamily="18" charset="0"/>
                  </a:rPr>
                  <a:t>$k=1$</a:t>
                </a:r>
                <a:r>
                  <a:rPr sz="2400" b="0">
                    <a:solidFill>
                      <a:srgbClr val="111827"/>
                    </a:solidFill>
                    <a:latin typeface="Arial"/>
                  </a:rPr>
                  <a:t> and </a:t>
                </a:r>
                <a:r>
                  <a:rPr lang="en-IN" sz="2400">
                    <a:solidFill>
                      <a:srgbClr val="111827"/>
                    </a:solidFill>
                    <a:latin typeface="Cambria Math" panose="02040503050406030204" pitchFamily="18" charset="0"/>
                  </a:rPr>
                  <a:t>$P=(5,-5,2)$</a:t>
                </a:r>
                <a:r>
                  <a:rPr sz="2400" b="0">
                    <a:solidFill>
                      <a:srgbClr val="111827"/>
                    </a:solidFill>
                    <a:latin typeface="Arial"/>
                  </a:rPr>
                  <a:t> (the other ratio gives </a:t>
                </a:r>
                <a:r>
                  <a:rPr lang="en-IN" sz="2400">
                    <a:solidFill>
                      <a:srgbClr val="111827"/>
                    </a:solidFill>
                    <a:latin typeface="Cambria Math" panose="02040503050406030204" pitchFamily="18" charset="0"/>
                  </a:rPr>
                  <a:t>$\frac{-5-1}{-2}=3$</a:t>
                </a:r>
                <a:r>
                  <a:rPr sz="2400" b="0">
                    <a:solidFill>
                      <a:srgbClr val="111827"/>
                    </a:solidFill>
                    <a:latin typeface="Arial"/>
                  </a:rPr>
                  <a:t> too).</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$PQ^2=\left(\frac53\right)^2+\left(\frac53\right)^2+\left(\frac23\right)^2=6$</a:t>
                </a:r>
                <a:r>
                  <a:rPr sz="2400" b="0">
                    <a:solidFill>
                      <a:srgbClr val="111827"/>
                    </a:solidFill>
                    <a:latin typeface="Arial"/>
                  </a:rPr>
                  <a:t> (t).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Let </a:t>
                </a:r>
                <a:r>
                  <a:rPr lang="en-IN" sz="2400">
                    <a:solidFill>
                      <a:srgbClr val="111827"/>
                    </a:solidFill>
                    <a:latin typeface="Cambria Math" panose="02040503050406030204" pitchFamily="18" charset="0"/>
                  </a:rPr>
                  <a:t>$A=|\vec{a}|^2$</a:t>
                </a:r>
                <a:r>
                  <a:rPr sz="2400" b="0">
                    <a:solidFill>
                      <a:srgbClr val="111827"/>
                    </a:solidFill>
                    <a:latin typeface="Arial"/>
                  </a:rPr>
                  <a:t>, </a:t>
                </a:r>
                <a:r>
                  <a:rPr lang="en-IN" sz="2400">
                    <a:solidFill>
                      <a:srgbClr val="111827"/>
                    </a:solidFill>
                    <a:latin typeface="Cambria Math" panose="02040503050406030204" pitchFamily="18" charset="0"/>
                  </a:rPr>
                  <a:t>$B=|\vec{b}|^2$</a:t>
                </a:r>
                <a:r>
                  <a:rPr sz="2400" b="0">
                    <a:solidFill>
                      <a:srgbClr val="111827"/>
                    </a:solidFill>
                    <a:latin typeface="Arial"/>
                  </a:rPr>
                  <a:t>, </a:t>
                </a:r>
                <a:r>
                  <a:rPr lang="en-IN" sz="2400">
                    <a:solidFill>
                      <a:srgbClr val="111827"/>
                    </a:solidFill>
                    <a:latin typeface="Cambria Math" panose="02040503050406030204" pitchFamily="18" charset="0"/>
                  </a:rPr>
                  <a:t>$\vec{c}=\frac{\vec{a}-\mu\vec{b}}{4}$</a:t>
                </a:r>
                <a:r>
                  <a:rPr sz="2400" b="0">
                    <a:solidFill>
                      <a:srgbClr val="111827"/>
                    </a:solidFill>
                    <a:latin typeface="Arial"/>
                  </a:rPr>
                  <a:t>, </a:t>
                </a:r>
                <a:r>
                  <a:rPr lang="en-IN" sz="2400">
                    <a:solidFill>
                      <a:srgbClr val="111827"/>
                    </a:solidFill>
                    <a:latin typeface="Cambria Math" panose="02040503050406030204" pitchFamily="18" charset="0"/>
                  </a:rPr>
                  <a:t>$\vec{a}\cdot\vec{b}=0$</a:t>
                </a:r>
                <a:r>
                  <a:rPr sz="2400" b="0">
                    <a:solidFill>
                      <a:srgbClr val="111827"/>
                    </a:solidFill>
                    <a:latin typeface="Arial"/>
                  </a:rPr>
                  <a:t>. Then </a:t>
                </a:r>
                <a:r>
                  <a:rPr lang="en-IN" sz="2400">
                    <a:solidFill>
                      <a:srgbClr val="111827"/>
                    </a:solidFill>
                    <a:latin typeface="Cambria Math" panose="02040503050406030204" pitchFamily="18" charset="0"/>
                  </a:rPr>
                  <a:t>$(\vec{b}-\vec{a})\cdot(\vec{b}+\vec{c})=B-\frac{\mu B}{4}-\frac{A}{4}=0$</a:t>
                </a:r>
                <a:r>
                  <a:rPr sz="2400" b="0">
                    <a:solidFill>
                      <a:srgbClr val="111827"/>
                    </a:solidFill>
                    <a:latin typeface="Arial"/>
                  </a:rPr>
                  <a:t> gives </a:t>
                </a:r>
                <a:r>
                  <a:rPr lang="en-IN" sz="2400">
                    <a:solidFill>
                      <a:srgbClr val="111827"/>
                    </a:solidFill>
                    <a:latin typeface="Cambria Math" panose="02040503050406030204" pitchFamily="18" charset="0"/>
                  </a:rPr>
                  <a:t>$A=(4-\mu)B$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$4\left|\vec{b}+\vec{c}\right|^2=\left|\vec{b}-\vec{a}\right|^2$</a:t>
                </a:r>
                <a:r>
                  <a:rPr sz="2400" b="0">
                    <a:solidFill>
                      <a:srgbClr val="111827"/>
                    </a:solidFill>
                    <a:latin typeface="Arial"/>
                  </a:rPr>
                  <a:t> with </a:t>
                </a:r>
                <a:r>
                  <a:rPr lang="en-IN" sz="2400">
                    <a:solidFill>
                      <a:srgbClr val="111827"/>
                    </a:solidFill>
                    <a:latin typeface="Cambria Math" panose="02040503050406030204" pitchFamily="18" charset="0"/>
                  </a:rPr>
                  <a:t>$\vec{b}+\vec{c}=\frac{(4-\mu)\vec{b}+\vec{a}}{4}$</a:t>
                </a:r>
                <a:r>
                  <a:rPr sz="2400" b="0">
                    <a:solidFill>
                      <a:srgbClr val="111827"/>
                    </a:solidFill>
                    <a:latin typeface="Arial"/>
                  </a:rPr>
                  <a:t> gives </a:t>
                </a:r>
                <a:r>
                  <a:rPr lang="en-IN" sz="2400">
                    <a:solidFill>
                      <a:srgbClr val="111827"/>
                    </a:solidFill>
                    <a:latin typeface="Cambria Math" panose="02040503050406030204" pitchFamily="18" charset="0"/>
                  </a:rPr>
                  <a:t>$\frac{(4-\mu)^2B+A}{4}=A+B$</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Put </a:t>
                </a:r>
                <a:r>
                  <a:rPr lang="en-IN" sz="2400">
                    <a:solidFill>
                      <a:srgbClr val="111827"/>
                    </a:solidFill>
                    <a:latin typeface="Cambria Math" panose="02040503050406030204" pitchFamily="18" charset="0"/>
                  </a:rPr>
                  <a:t>$u=4-\mu$</a:t>
                </a:r>
                <a:r>
                  <a:rPr sz="2400" b="0">
                    <a:solidFill>
                      <a:srgbClr val="111827"/>
                    </a:solidFill>
                    <a:latin typeface="Arial"/>
                  </a:rPr>
                  <a:t>, </a:t>
                </a:r>
                <a:r>
                  <a:rPr lang="en-IN" sz="2400">
                    <a:solidFill>
                      <a:srgbClr val="111827"/>
                    </a:solidFill>
                    <a:latin typeface="Cambria Math" panose="02040503050406030204" pitchFamily="18" charset="0"/>
                  </a:rPr>
                  <a:t>$A=uB$</a:t>
                </a:r>
                <a:r>
                  <a:rPr sz="2400" b="0">
                    <a:solidFill>
                      <a:srgbClr val="111827"/>
                    </a:solidFill>
                    <a:latin typeface="Arial"/>
                  </a:rPr>
                  <a:t>: </a:t>
                </a:r>
                <a:r>
                  <a:rPr lang="en-IN" sz="2400">
                    <a:solidFill>
                      <a:srgbClr val="111827"/>
                    </a:solidFill>
                    <a:latin typeface="Cambria Math" panose="02040503050406030204" pitchFamily="18" charset="0"/>
                  </a:rPr>
                  <a:t>$u^2B+uB=4uB+4B$</a:t>
                </a:r>
                <a:r>
                  <a:rPr sz="2400" b="0">
                    <a:solidFill>
                      <a:srgbClr val="111827"/>
                    </a:solidFill>
                    <a:latin typeface="Arial"/>
                  </a:rPr>
                  <a:t>, so </a:t>
                </a:r>
                <a:r>
                  <a:rPr lang="en-IN" sz="2400">
                    <a:solidFill>
                      <a:srgbClr val="111827"/>
                    </a:solidFill>
                    <a:latin typeface="Cambria Math" panose="02040503050406030204" pitchFamily="18" charset="0"/>
                  </a:rPr>
                  <a:t>$u^2-3u-4=0$</a:t>
                </a:r>
                <a:r>
                  <a:rPr sz="2400" b="0">
                    <a:solidFill>
                      <a:srgbClr val="111827"/>
                    </a:solidFill>
                    <a:latin typeface="Arial"/>
                  </a:rPr>
                  <a:t>, </a:t>
                </a:r>
                <a:r>
                  <a:rPr lang="en-IN" sz="2400">
                    <a:solidFill>
                      <a:srgbClr val="111827"/>
                    </a:solidFill>
                    <a:latin typeface="Cambria Math" panose="02040503050406030204" pitchFamily="18" charset="0"/>
                  </a:rPr>
                  <a:t>$u=4$</a:t>
                </a:r>
                <a:r>
                  <a:rPr sz="2400" b="0">
                    <a:solidFill>
                      <a:srgbClr val="111827"/>
                    </a:solidFill>
                    <a:latin typeface="Arial"/>
                  </a:rPr>
                  <a:t> or </a:t>
                </a:r>
                <a:r>
                  <a:rPr lang="en-IN" sz="2400">
                    <a:solidFill>
                      <a:srgbClr val="111827"/>
                    </a:solidFill>
                    <a:latin typeface="Cambria Math" panose="02040503050406030204" pitchFamily="18" charset="0"/>
                  </a:rPr>
                  <a:t>$-1$</a:t>
                </a:r>
                <a:r>
                  <a:rPr sz="2400" b="0">
                    <a:solidFill>
                      <a:srgbClr val="111827"/>
                    </a:solidFill>
                    <a:latin typeface="Arial"/>
                  </a:rPr>
                  <a:t>. </a:t>
                </a:r>
                <a:r>
                  <a:rPr lang="en-IN" sz="2400">
                    <a:solidFill>
                      <a:srgbClr val="111827"/>
                    </a:solidFill>
                    <a:latin typeface="Cambria Math" panose="02040503050406030204" pitchFamily="18" charset="0"/>
                  </a:rPr>
                  <a:t>$A&gt;0$</a:t>
                </a:r>
                <a:r>
                  <a:rPr sz="2400" b="0">
                    <a:solidFill>
                      <a:srgbClr val="111827"/>
                    </a:solidFill>
                    <a:latin typeface="Arial"/>
                  </a:rPr>
                  <a:t> forces </a:t>
                </a:r>
                <a:r>
                  <a:rPr lang="en-IN" sz="2400">
                    <a:solidFill>
                      <a:srgbClr val="111827"/>
                    </a:solidFill>
                    <a:latin typeface="Cambria Math" panose="02040503050406030204" pitchFamily="18" charset="0"/>
                  </a:rPr>
                  <a:t>$u&gt;0$</a:t>
                </a:r>
                <a:r>
                  <a:rPr sz="2400" b="0">
                    <a:solidFill>
                      <a:srgbClr val="111827"/>
                    </a:solidFill>
                    <a:latin typeface="Arial"/>
                  </a:rPr>
                  <a:t>, so </a:t>
                </a:r>
                <a:r>
                  <a:rPr lang="en-IN" sz="2400">
                    <a:solidFill>
                      <a:srgbClr val="111827"/>
                    </a:solidFill>
                    <a:latin typeface="Cambria Math" panose="02040503050406030204" pitchFamily="18" charset="0"/>
                  </a:rPr>
                  <a:t>$u=4$</a:t>
                </a:r>
                <a:r>
                  <a:rPr sz="2400" b="0">
                    <a:solidFill>
                      <a:srgbClr val="111827"/>
                    </a:solidFill>
                    <a:latin typeface="Arial"/>
                  </a:rPr>
                  <a:t> and </a:t>
                </a:r>
                <a:r>
                  <a:rPr lang="en-IN" sz="2400">
                    <a:solidFill>
                      <a:srgbClr val="111827"/>
                    </a:solidFill>
                    <a:latin typeface="Cambria Math" panose="02040503050406030204" pitchFamily="18" charset="0"/>
                  </a:rPr>
                  <a:t>$\mu=0$</a:t>
                </a:r>
                <a:r>
                  <a:rPr sz="2400" b="0">
                    <a:solidFill>
                      <a:srgbClr val="111827"/>
                    </a:solidFill>
                    <a:latin typeface="Arial"/>
                  </a:rPr>
                  <a:t> (q).</a:t>
                </a:r>
                <a:endParaRPr sz="2400">
                  <a:solidFill>
                    <a:srgbClr val="111827"/>
                  </a:solidFill>
                </a:endParaRPr>
              </a:p>
            </p:txBody>
          </p:sp>
        </mc:Fallback>
      </mc:AlternateContent>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 1</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num>
                      <m:den>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4</m:t>
                        </m:r>
                        <m:r>
                          <a:rPr lang="en-IN" sz="2400" i="1">
                            <a:solidFill>
                              <a:srgbClr val="111827"/>
                            </a:solidFill>
                            <a:latin typeface="Cambria Math" panose="02040503050406030204" pitchFamily="18" charset="0"/>
                          </a:rPr>
                          <m:t>𝑥</m:t>
                        </m:r>
                      </m:e>
                    </m:d>
                  </m:oMath>
                </a14:m>
                <a:r>
                  <a:rPr sz="2400" b="0">
                    <a:solidFill>
                      <a:srgbClr val="111827"/>
                    </a:solidFill>
                    <a:latin typeface="Arial"/>
                  </a:rPr>
                  <a:t> (Dirichlet kernel, also valid at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where it equals </a:t>
                </a:r>
                <a14:m>
                  <m:oMath xmlns:m="http://schemas.openxmlformats.org/officeDocument/2006/math">
                    <m:r>
                      <a:rPr lang="en-IN" sz="2400" i="1">
                        <a:solidFill>
                          <a:srgbClr val="111827"/>
                        </a:solidFill>
                        <a:latin typeface="Cambria Math" panose="02040503050406030204" pitchFamily="18" charset="0"/>
                      </a:rPr>
                      <m:t>9</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Each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integrates to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over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sub>
                      <m:sup>
                        <m:r>
                          <a:rPr lang="en-IN" sz="2400" i="1">
                            <a:solidFill>
                              <a:srgbClr val="111827"/>
                            </a:solidFill>
                            <a:latin typeface="Cambria Math" panose="02040503050406030204" pitchFamily="18" charset="0"/>
                          </a:rPr>
                          <m:t>π</m:t>
                        </m:r>
                      </m:sup>
                      <m:e>
                        <m:r>
                          <a:rPr lang="en-IN" sz="2400" i="1">
                            <a:solidFill>
                              <a:srgbClr val="111827"/>
                            </a:solidFill>
                            <a:latin typeface="Cambria Math" panose="02040503050406030204" pitchFamily="18" charset="0"/>
                          </a:rPr>
                          <m:t>𝑓</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oMath>
                </a14:m>
                <a:r>
                  <a:rPr sz="2400" b="0">
                    <a:solidFill>
                      <a:srgbClr val="111827"/>
                    </a:solidFill>
                    <a:latin typeface="Arial"/>
                  </a:rPr>
                  <a:t> and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$\frac{\sin\frac{9x}2}{\sin\frac x2}=1+2\left(\cos x+\cos2x+\cos3x+\cos4x\right)$</a:t>
                </a:r>
                <a:r>
                  <a:rPr sz="2400" b="0">
                    <a:solidFill>
                      <a:srgbClr val="111827"/>
                    </a:solidFill>
                    <a:latin typeface="Arial"/>
                  </a:rPr>
                  <a:t> (Dirichlet kernel, also valid at </a:t>
                </a:r>
                <a:r>
                  <a:rPr lang="en-IN" sz="2400">
                    <a:solidFill>
                      <a:srgbClr val="111827"/>
                    </a:solidFill>
                    <a:latin typeface="Cambria Math" panose="02040503050406030204" pitchFamily="18" charset="0"/>
                  </a:rPr>
                  <a:t>$x=0$</a:t>
                </a:r>
                <a:r>
                  <a:rPr sz="2400" b="0">
                    <a:solidFill>
                      <a:srgbClr val="111827"/>
                    </a:solidFill>
                    <a:latin typeface="Arial"/>
                  </a:rPr>
                  <a:t> where it equals </a:t>
                </a:r>
                <a:r>
                  <a:rPr lang="en-IN" sz="2400">
                    <a:solidFill>
                      <a:srgbClr val="111827"/>
                    </a:solidFill>
                    <a:latin typeface="Cambria Math" panose="02040503050406030204" pitchFamily="18" charset="0"/>
                  </a:rPr>
                  <a:t>$9$</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Each </a:t>
                </a:r>
                <a:r>
                  <a:rPr lang="en-IN" sz="2400">
                    <a:solidFill>
                      <a:srgbClr val="111827"/>
                    </a:solidFill>
                    <a:latin typeface="Cambria Math" panose="02040503050406030204" pitchFamily="18" charset="0"/>
                  </a:rPr>
                  <a:t>$\cos kx$</a:t>
                </a:r>
                <a:r>
                  <a:rPr sz="2400" b="0">
                    <a:solidFill>
                      <a:srgbClr val="111827"/>
                    </a:solidFill>
                    <a:latin typeface="Arial"/>
                  </a:rPr>
                  <a:t> (</a:t>
                </a:r>
                <a:r>
                  <a:rPr lang="en-IN" sz="2400">
                    <a:solidFill>
                      <a:srgbClr val="111827"/>
                    </a:solidFill>
                    <a:latin typeface="Cambria Math" panose="02040503050406030204" pitchFamily="18" charset="0"/>
                  </a:rPr>
                  <a:t>$k=1,\dots,4$</a:t>
                </a:r>
                <a:r>
                  <a:rPr sz="2400" b="0">
                    <a:solidFill>
                      <a:srgbClr val="111827"/>
                    </a:solidFill>
                    <a:latin typeface="Arial"/>
                  </a:rPr>
                  <a:t>) integrates to </a:t>
                </a:r>
                <a:r>
                  <a:rPr lang="en-IN" sz="2400">
                    <a:solidFill>
                      <a:srgbClr val="111827"/>
                    </a:solidFill>
                    <a:latin typeface="Cambria Math" panose="02040503050406030204" pitchFamily="18" charset="0"/>
                  </a:rPr>
                  <a:t>$0$</a:t>
                </a:r>
                <a:r>
                  <a:rPr sz="2400" b="0">
                    <a:solidFill>
                      <a:srgbClr val="111827"/>
                    </a:solidFill>
                    <a:latin typeface="Arial"/>
                  </a:rPr>
                  <a:t> over </a:t>
                </a:r>
                <a:r>
                  <a:rPr lang="en-IN" sz="2400">
                    <a:solidFill>
                      <a:srgbClr val="111827"/>
                    </a:solidFill>
                    <a:latin typeface="Cambria Math" panose="02040503050406030204" pitchFamily="18" charset="0"/>
                  </a:rPr>
                  <a:t>$[-\pi,\pi]$</a:t>
                </a:r>
                <a:r>
                  <a:rPr sz="2400" b="0">
                    <a:solidFill>
                      <a:srgbClr val="111827"/>
                    </a:solidFill>
                    <a:latin typeface="Arial"/>
                  </a:rPr>
                  <a:t>, so </a:t>
                </a:r>
                <a:r>
                  <a:rPr lang="en-IN" sz="2400">
                    <a:solidFill>
                      <a:srgbClr val="111827"/>
                    </a:solidFill>
                    <a:latin typeface="Cambria Math" panose="02040503050406030204" pitchFamily="18" charset="0"/>
                  </a:rPr>
                  <a:t>$\int_{-\pi}^{\pi}f=2\pi$</a:t>
                </a:r>
                <a:r>
                  <a:rPr sz="2400" b="0">
                    <a:solidFill>
                      <a:srgbClr val="111827"/>
                    </a:solidFill>
                    <a:latin typeface="Arial"/>
                  </a:rPr>
                  <a:t> and </a:t>
                </a:r>
                <a:r>
                  <a:rPr lang="en-IN" sz="2400">
                    <a:solidFill>
                      <a:srgbClr val="111827"/>
                    </a:solidFill>
                    <a:latin typeface="Cambria Math" panose="02040503050406030204" pitchFamily="18" charset="0"/>
                  </a:rPr>
                  <a:t>$\frac2\pi\cdot2\pi=4$</a:t>
                </a:r>
                <a:r>
                  <a:rPr sz="2400" b="0">
                    <a:solidFill>
                      <a:srgbClr val="111827"/>
                    </a:solidFill>
                    <a:latin typeface="Arial"/>
                  </a:rPr>
                  <a:t> (r).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(t); (B)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(p), (r); (C)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(q); (D)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(r)</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$\to$</a:t>
                </a:r>
                <a:r>
                  <a:rPr sz="2800" b="1">
                    <a:solidFill>
                      <a:srgbClr val="15803D"/>
                    </a:solidFill>
                    <a:latin typeface="Arial"/>
                  </a:rPr>
                  <a:t> (t); (B) </a:t>
                </a:r>
                <a:r>
                  <a:rPr lang="en-IN" sz="2800">
                    <a:solidFill>
                      <a:srgbClr val="15803D"/>
                    </a:solidFill>
                    <a:latin typeface="Cambria Math" panose="02040503050406030204" pitchFamily="18" charset="0"/>
                  </a:rPr>
                  <a:t>$\to$</a:t>
                </a:r>
                <a:r>
                  <a:rPr sz="2800" b="1">
                    <a:solidFill>
                      <a:srgbClr val="15803D"/>
                    </a:solidFill>
                    <a:latin typeface="Arial"/>
                  </a:rPr>
                  <a:t> (p), (r); (C) </a:t>
                </a:r>
                <a:r>
                  <a:rPr lang="en-IN" sz="2800">
                    <a:solidFill>
                      <a:srgbClr val="15803D"/>
                    </a:solidFill>
                    <a:latin typeface="Cambria Math" panose="02040503050406030204" pitchFamily="18" charset="0"/>
                  </a:rPr>
                  <a:t>$\to$</a:t>
                </a:r>
                <a:r>
                  <a:rPr sz="2800" b="1">
                    <a:solidFill>
                      <a:srgbClr val="15803D"/>
                    </a:solidFill>
                    <a:latin typeface="Arial"/>
                  </a:rPr>
                  <a:t> (q); (D) </a:t>
                </a:r>
                <a:r>
                  <a:rPr lang="en-IN" sz="2800">
                    <a:solidFill>
                      <a:srgbClr val="15803D"/>
                    </a:solidFill>
                    <a:latin typeface="Cambria Math" panose="02040503050406030204" pitchFamily="18" charset="0"/>
                  </a:rPr>
                  <a:t>$\to$</a:t>
                </a:r>
                <a:r>
                  <a:rPr sz="2800" b="1">
                    <a:solidFill>
                      <a:srgbClr val="15803D"/>
                    </a:solidFill>
                    <a:latin typeface="Arial"/>
                  </a:rPr>
                  <a:t> (r)</a:t>
                </a:r>
                <a:endParaRPr sz="2800">
                  <a:solidFill>
                    <a:srgbClr val="15803D"/>
                  </a:solidFill>
                </a:endParaRPr>
              </a:p>
            </p:txBody>
          </p:sp>
        </mc:Fallback>
      </mc:AlternateContent>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 2</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 The PDF's second method: reduce to </a:t>
                </a:r>
                <a14:m>
                  <m:oMath xmlns:m="http://schemas.openxmlformats.org/officeDocument/2006/math">
                    <m:nary>
                      <m:naryPr>
                        <m:chr m:val="∫"/>
                        <m:limLoc m:val="subSup"/>
                        <m:subHide m:val="off"/>
                        <m:supHide m:val="off"/>
                        <m:ctrlPr>
                          <a:rPr lang="en-IN" sz="2400" i="1">
                            <a:solidFill>
                              <a:srgbClr val="78350F"/>
                            </a:solidFill>
                            <a:latin typeface="Cambria Math" panose="02040503050406030204" pitchFamily="18" charset="0"/>
                          </a:rPr>
                        </m:ctrlPr>
                      </m:naryPr>
                      <m:sub>
                        <m:r>
                          <a:rPr lang="en-IN" sz="2400" i="1">
                            <a:solidFill>
                              <a:srgbClr val="78350F"/>
                            </a:solidFill>
                            <a:latin typeface="Cambria Math" panose="02040503050406030204" pitchFamily="18" charset="0"/>
                          </a:rPr>
                          <m:t>0</m:t>
                        </m:r>
                      </m:sub>
                      <m:sup>
                        <m:r>
                          <a:rPr lang="en-IN" sz="2400" i="1">
                            <a:solidFill>
                              <a:srgbClr val="78350F"/>
                            </a:solidFill>
                            <a:latin typeface="Cambria Math" panose="02040503050406030204" pitchFamily="18" charset="0"/>
                          </a:rPr>
                          <m:t>π</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sup>
                      <m:e>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5</m:t>
                            </m:r>
                            <m:r>
                              <a:rPr lang="en-IN" sz="2400" i="1">
                                <a:solidFill>
                                  <a:srgbClr val="78350F"/>
                                </a:solidFill>
                                <a:latin typeface="Cambria Math" panose="02040503050406030204" pitchFamily="18" charset="0"/>
                              </a:rPr>
                              <m:t>𝑥</m:t>
                            </m:r>
                          </m:num>
                          <m:den>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𝑥</m:t>
                            </m:r>
                          </m:den>
                        </m:f>
                      </m:e>
                    </m:nary>
                    <m:r>
                      <a:rPr lang="en-IN" sz="2400" i="1">
                        <a:solidFill>
                          <a:srgbClr val="78350F"/>
                        </a:solidFill>
                        <a:latin typeface="Cambria Math" panose="02040503050406030204" pitchFamily="18" charset="0"/>
                      </a:rPr>
                      <m:t>𝑑</m:t>
                    </m:r>
                    <m:r>
                      <a:rPr lang="en-IN" sz="2400" i="1">
                        <a:solidFill>
                          <a:srgbClr val="78350F"/>
                        </a:solidFill>
                        <a:latin typeface="Cambria Math" panose="02040503050406030204" pitchFamily="18" charset="0"/>
                      </a:rPr>
                      <m:t>𝑥</m:t>
                    </m:r>
                  </m:oMath>
                </a14:m>
                <a:r>
                  <a:rPr sz="2400" b="0">
                    <a:solidFill>
                      <a:srgbClr val="78350F"/>
                    </a:solidFill>
                    <a:latin typeface="Arial"/>
                  </a:rPr>
                  <a:t> with the substitution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π</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oMath>
                </a14:m>
                <a:r>
                  <a:rPr sz="2400" b="0">
                    <a:solidFill>
                      <a:srgbClr val="78350F"/>
                    </a:solidFill>
                    <a:latin typeface="Arial"/>
                  </a:rPr>
                  <a:t> on </a:t>
                </a:r>
                <a14:m>
                  <m:oMath xmlns:m="http://schemas.openxmlformats.org/officeDocument/2006/math">
                    <m:f>
                      <m:fPr>
                        <m:type m:val="bar"/>
                        <m:ctrlPr>
                          <a:rPr lang="en-IN" sz="2400" i="1">
                            <a:solidFill>
                              <a:srgbClr val="78350F"/>
                            </a:solidFill>
                            <a:latin typeface="Cambria Math" panose="02040503050406030204" pitchFamily="18" charset="0"/>
                          </a:rPr>
                        </m:ctrlPr>
                      </m:fPr>
                      <m:num>
                        <m:r>
                          <m:rPr>
                            <m:sty m:val="p"/>
                          </m:rPr>
                          <a:rPr lang="en-IN" sz="2400">
                            <a:solidFill>
                              <a:srgbClr val="78350F"/>
                            </a:solidFill>
                            <a:latin typeface="Cambria Math" panose="02040503050406030204" pitchFamily="18" charset="0"/>
                          </a:rPr>
                          <m:t>cos</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9</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num>
                      <m:den>
                        <m:r>
                          <m:rPr>
                            <m:sty m:val="p"/>
                          </m:rPr>
                          <a:rPr lang="en-IN" sz="2400">
                            <a:solidFill>
                              <a:srgbClr val="78350F"/>
                            </a:solidFill>
                            <a:latin typeface="Cambria Math" panose="02040503050406030204" pitchFamily="18" charset="0"/>
                          </a:rPr>
                          <m:t>cos</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m:rPr>
                            <m:sty m:val="p"/>
                          </m:rPr>
                          <a:rPr lang="en-IN" sz="2400">
                            <a:solidFill>
                              <a:srgbClr val="78350F"/>
                            </a:solidFill>
                            <a:latin typeface="Cambria Math" panose="02040503050406030204" pitchFamily="18" charset="0"/>
                          </a:rPr>
                          <m:t>)</m:t>
                        </m:r>
                      </m:den>
                    </m:f>
                  </m:oMath>
                </a14:m>
                <a:r>
                  <a:rPr sz="2400" b="0">
                    <a:solidFill>
                      <a:srgbClr val="78350F"/>
                    </a:solidFill>
                    <a:latin typeface="Arial"/>
                  </a:rPr>
                  <a:t> and expand </a:t>
                </a:r>
                <a14:m>
                  <m:oMath xmlns:m="http://schemas.openxmlformats.org/officeDocument/2006/math">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5</m:t>
                    </m:r>
                    <m:r>
                      <a:rPr lang="en-IN" sz="2400" i="1">
                        <a:solidFill>
                          <a:srgbClr val="78350F"/>
                        </a:solidFill>
                        <a:latin typeface="Cambria Math" panose="02040503050406030204" pitchFamily="18" charset="0"/>
                      </a:rPr>
                      <m:t>𝑥</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1280160"/>
                <a:ext cx="10725912" cy="1700784"/>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 The PDF's second method: reduce to </a:t>
                </a:r>
                <a:r>
                  <a:rPr lang="en-IN" sz="2400">
                    <a:solidFill>
                      <a:srgbClr val="78350F"/>
                    </a:solidFill>
                    <a:latin typeface="Cambria Math" panose="02040503050406030204" pitchFamily="18" charset="0"/>
                  </a:rPr>
                  <a:t>$\int_0^{\pi/2}\frac{\sin5x}{\sin x}dx$</a:t>
                </a:r>
                <a:r>
                  <a:rPr sz="2400" b="0">
                    <a:solidFill>
                      <a:srgbClr val="78350F"/>
                    </a:solidFill>
                    <a:latin typeface="Arial"/>
                  </a:rPr>
                  <a:t> with the substitution </a:t>
                </a:r>
                <a:r>
                  <a:rPr lang="en-IN" sz="2400">
                    <a:solidFill>
                      <a:srgbClr val="78350F"/>
                    </a:solidFill>
                    <a:latin typeface="Cambria Math" panose="02040503050406030204" pitchFamily="18" charset="0"/>
                  </a:rPr>
                  <a:t>$x\to\pi-x$</a:t>
                </a:r>
                <a:r>
                  <a:rPr sz="2400" b="0">
                    <a:solidFill>
                      <a:srgbClr val="78350F"/>
                    </a:solidFill>
                    <a:latin typeface="Arial"/>
                  </a:rPr>
                  <a:t> on </a:t>
                </a:r>
                <a:r>
                  <a:rPr lang="en-IN" sz="2400">
                    <a:solidFill>
                      <a:srgbClr val="78350F"/>
                    </a:solidFill>
                    <a:latin typeface="Cambria Math" panose="02040503050406030204" pitchFamily="18" charset="0"/>
                  </a:rPr>
                  <a:t>$\frac{\cos(9x/2)}{\cos(x/2)}$</a:t>
                </a:r>
                <a:r>
                  <a:rPr sz="2400" b="0">
                    <a:solidFill>
                      <a:srgbClr val="78350F"/>
                    </a:solidFill>
                    <a:latin typeface="Arial"/>
                  </a:rPr>
                  <a:t> and expand </a:t>
                </a:r>
                <a:r>
                  <a:rPr lang="en-IN" sz="2400">
                    <a:solidFill>
                      <a:srgbClr val="78350F"/>
                    </a:solidFill>
                    <a:latin typeface="Cambria Math" panose="02040503050406030204" pitchFamily="18" charset="0"/>
                  </a:rPr>
                  <a:t>$\sin5x$</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π</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num>
                          <m:den>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den>
                        </m:f>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(even </a:t>
                </a:r>
                <a14:m>
                  <m:oMath xmlns:m="http://schemas.openxmlformats.org/officeDocument/2006/math">
                    <m:r>
                      <a:rPr lang="en-IN" sz="2400" i="1">
                        <a:solidFill>
                          <a:srgbClr val="111827"/>
                        </a:solidFill>
                        <a:latin typeface="Cambria Math" panose="02040503050406030204" pitchFamily="18" charset="0"/>
                      </a:rPr>
                      <m:t>𝑓</m:t>
                    </m:r>
                  </m:oMath>
                </a14:m>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turns </a:t>
                </a:r>
                <a14:m>
                  <m:oMath xmlns:m="http://schemas.openxmlformats.org/officeDocument/2006/math">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into </a:t>
                </a:r>
                <a14:m>
                  <m:oMath xmlns:m="http://schemas.openxmlformats.org/officeDocument/2006/math">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into </a:t>
                </a:r>
                <a14:m>
                  <m:oMath xmlns:m="http://schemas.openxmlformats.org/officeDocument/2006/math">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π</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num>
                          <m:den>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den>
                        </m:f>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Adding (1) and (2):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π</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num>
                          <m:den>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cos</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den>
                        </m:f>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π</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num>
                          <m:den>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den>
                        </m:f>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π</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den>
                        </m:f>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π</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den>
                        </m:f>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3118103"/>
                <a:ext cx="10725912" cy="3557016"/>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$I=\frac4\pi\int_0^\pi\frac{\sin\frac{9x}2}{\sin\frac x2}dx$</a:t>
                </a:r>
                <a:r>
                  <a:rPr sz="2400" b="0">
                    <a:solidFill>
                      <a:srgbClr val="111827"/>
                    </a:solidFill>
                    <a:latin typeface="Arial"/>
                  </a:rPr>
                  <a:t> (even </a:t>
                </a:r>
                <a:r>
                  <a:rPr lang="en-IN" sz="2400">
                    <a:solidFill>
                      <a:srgbClr val="111827"/>
                    </a:solidFill>
                    <a:latin typeface="Cambria Math" panose="02040503050406030204" pitchFamily="18" charset="0"/>
                  </a:rPr>
                  <a:t>$f$</a:t>
                </a:r>
                <a:r>
                  <a:rPr sz="2400" b="0">
                    <a:solidFill>
                      <a:srgbClr val="111827"/>
                    </a:solidFill>
                    <a:latin typeface="Arial"/>
                  </a:rPr>
                  <a:t>) (1).</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$x\to\pi-x$</a:t>
                </a:r>
                <a:r>
                  <a:rPr sz="2400" b="0">
                    <a:solidFill>
                      <a:srgbClr val="111827"/>
                    </a:solidFill>
                    <a:latin typeface="Arial"/>
                  </a:rPr>
                  <a:t> turns </a:t>
                </a:r>
                <a:r>
                  <a:rPr lang="en-IN" sz="2400">
                    <a:solidFill>
                      <a:srgbClr val="111827"/>
                    </a:solidFill>
                    <a:latin typeface="Cambria Math" panose="02040503050406030204" pitchFamily="18" charset="0"/>
                  </a:rPr>
                  <a:t>$\sin\frac{9x}2$</a:t>
                </a:r>
                <a:r>
                  <a:rPr sz="2400" b="0">
                    <a:solidFill>
                      <a:srgbClr val="111827"/>
                    </a:solidFill>
                    <a:latin typeface="Arial"/>
                  </a:rPr>
                  <a:t> into </a:t>
                </a:r>
                <a:r>
                  <a:rPr lang="en-IN" sz="2400">
                    <a:solidFill>
                      <a:srgbClr val="111827"/>
                    </a:solidFill>
                    <a:latin typeface="Cambria Math" panose="02040503050406030204" pitchFamily="18" charset="0"/>
                  </a:rPr>
                  <a:t>$\cos\frac{9x}2$</a:t>
                </a:r>
                <a:r>
                  <a:rPr sz="2400" b="0">
                    <a:solidFill>
                      <a:srgbClr val="111827"/>
                    </a:solidFill>
                    <a:latin typeface="Arial"/>
                  </a:rPr>
                  <a:t> and </a:t>
                </a:r>
                <a:r>
                  <a:rPr lang="en-IN" sz="2400">
                    <a:solidFill>
                      <a:srgbClr val="111827"/>
                    </a:solidFill>
                    <a:latin typeface="Cambria Math" panose="02040503050406030204" pitchFamily="18" charset="0"/>
                  </a:rPr>
                  <a:t>$\sin\frac x2$</a:t>
                </a:r>
                <a:r>
                  <a:rPr sz="2400" b="0">
                    <a:solidFill>
                      <a:srgbClr val="111827"/>
                    </a:solidFill>
                    <a:latin typeface="Arial"/>
                  </a:rPr>
                  <a:t> into </a:t>
                </a:r>
                <a:r>
                  <a:rPr lang="en-IN" sz="2400">
                    <a:solidFill>
                      <a:srgbClr val="111827"/>
                    </a:solidFill>
                    <a:latin typeface="Cambria Math" panose="02040503050406030204" pitchFamily="18" charset="0"/>
                  </a:rPr>
                  <a:t>$\cos\frac x2$</a:t>
                </a:r>
                <a:r>
                  <a:rPr sz="2400" b="0">
                    <a:solidFill>
                      <a:srgbClr val="111827"/>
                    </a:solidFill>
                    <a:latin typeface="Arial"/>
                  </a:rPr>
                  <a:t>: </a:t>
                </a:r>
                <a:r>
                  <a:rPr lang="en-IN" sz="2400">
                    <a:solidFill>
                      <a:srgbClr val="111827"/>
                    </a:solidFill>
                    <a:latin typeface="Cambria Math" panose="02040503050406030204" pitchFamily="18" charset="0"/>
                  </a:rPr>
                  <a:t>$I=\frac4\pi\int_0^\pi\frac{\cos\frac{9x}2}{\cos\frac x2}dx$</a:t>
                </a:r>
                <a:r>
                  <a:rPr sz="2400" b="0">
                    <a:solidFill>
                      <a:srgbClr val="111827"/>
                    </a:solidFill>
                    <a:latin typeface="Arial"/>
                  </a:rPr>
                  <a:t> (2).</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Adding (1) and (2): </a:t>
                </a:r>
                <a:r>
                  <a:rPr lang="en-IN" sz="2400">
                    <a:solidFill>
                      <a:srgbClr val="111827"/>
                    </a:solidFill>
                    <a:latin typeface="Cambria Math" panose="02040503050406030204" pitchFamily="18" charset="0"/>
                  </a:rPr>
                  <a:t>$2I=\frac4\pi\int_0^\pi\frac{\sin\frac{9x}2\cos\frac x2+\cos\frac{9x}2\sin\frac x2}{\sin\frac x2\cos\frac x2}dx=\frac4\pi\int_0^\pi\frac{\sin5x}{\frac12\sin x}dx$</a:t>
                </a:r>
                <a:r>
                  <a:rPr sz="2400" b="0">
                    <a:solidFill>
                      <a:srgbClr val="111827"/>
                    </a:solidFill>
                    <a:latin typeface="Arial"/>
                  </a:rPr>
                  <a:t>, so </a:t>
                </a:r>
                <a:r>
                  <a:rPr lang="en-IN" sz="2400">
                    <a:solidFill>
                      <a:srgbClr val="111827"/>
                    </a:solidFill>
                    <a:latin typeface="Cambria Math" panose="02040503050406030204" pitchFamily="18" charset="0"/>
                  </a:rPr>
                  <a:t>$I=\frac4\pi\int_0^\pi\frac{\sin5x}{\sin x}dx=\frac8\pi\int_0^{\pi/2}\frac{\sin5x}{\sin x}dx$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 2</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5</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3</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π</m:t>
                        </m:r>
                      </m:den>
                    </m:f>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16</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4</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20</m:t>
                            </m:r>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e>
                        </m:d>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e>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4</m:t>
                            </m:r>
                          </m:sup>
                        </m:sSup>
                      </m:e>
                    </m:nary>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16</m:t>
                        </m:r>
                      </m:den>
                    </m:f>
                  </m:oMath>
                </a14:m>
                <a:r>
                  <a:rPr sz="2400" b="0">
                    <a:solidFill>
                      <a:srgbClr val="111827"/>
                    </a:solidFill>
                    <a:latin typeface="Arial"/>
                  </a:rPr>
                  <a:t>,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sup>
                      <m:e>
                        <m:sSup>
                          <m:e>
                            <m:r>
                              <m:rPr>
                                <m:sty m:val="p"/>
                              </m:rPr>
                              <a:rPr lang="en-IN" sz="2400">
                                <a:solidFill>
                                  <a:srgbClr val="111827"/>
                                </a:solidFill>
                                <a:latin typeface="Cambria Math" panose="02040503050406030204" pitchFamily="18" charset="0"/>
                              </a:rPr>
                              <m:t>sin</m:t>
                            </m:r>
                          </m:e>
                          <m:sup>
                            <m:r>
                              <a:rPr lang="en-IN" sz="2400" i="1">
                                <a:solidFill>
                                  <a:srgbClr val="111827"/>
                                </a:solidFill>
                                <a:latin typeface="Cambria Math" panose="02040503050406030204" pitchFamily="18" charset="0"/>
                              </a:rPr>
                              <m:t>2</m:t>
                            </m:r>
                          </m:sup>
                        </m:sSup>
                      </m:e>
                    </m:nary>
                    <m:r>
                      <a:rPr lang="en-IN" sz="2400" i="1">
                        <a:solidFill>
                          <a:srgbClr val="111827"/>
                        </a:solidFill>
                        <a:latin typeface="Cambria Math" panose="02040503050406030204" pitchFamily="18" charset="0"/>
                      </a:rPr>
                      <m:t>𝑥</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𝐼</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π</m:t>
                        </m:r>
                      </m:den>
                    </m:f>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e>
                    </m: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8</m:t>
                        </m:r>
                      </m:num>
                      <m:den>
                        <m:r>
                          <a:rPr lang="en-IN" sz="2400" i="1">
                            <a:solidFill>
                              <a:srgbClr val="111827"/>
                            </a:solidFill>
                            <a:latin typeface="Cambria Math" panose="02040503050406030204" pitchFamily="18" charset="0"/>
                          </a:rPr>
                          <m:t>π</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(r).</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$\sin5x=16\sin^5x-20\sin^3x+5\sin x$</a:t>
                </a:r>
                <a:r>
                  <a:rPr sz="2400" b="0">
                    <a:solidFill>
                      <a:srgbClr val="111827"/>
                    </a:solidFill>
                    <a:latin typeface="Arial"/>
                  </a:rPr>
                  <a:t>, so </a:t>
                </a:r>
                <a:r>
                  <a:rPr lang="en-IN" sz="2400">
                    <a:solidFill>
                      <a:srgbClr val="111827"/>
                    </a:solidFill>
                    <a:latin typeface="Cambria Math" panose="02040503050406030204" pitchFamily="18" charset="0"/>
                  </a:rPr>
                  <a:t>$I=\frac8\pi\int_0^{\pi/2}\left(16\sin^4x-20\sin^2x+5\right)dx$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$\int_0^{\pi/2}\sin^4x\,dx=\frac{3\pi}{16}$</a:t>
                </a:r>
                <a:r>
                  <a:rPr sz="2400" b="0">
                    <a:solidFill>
                      <a:srgbClr val="111827"/>
                    </a:solidFill>
                    <a:latin typeface="Arial"/>
                  </a:rPr>
                  <a:t>, </a:t>
                </a:r>
                <a:r>
                  <a:rPr lang="en-IN" sz="2400">
                    <a:solidFill>
                      <a:srgbClr val="111827"/>
                    </a:solidFill>
                    <a:latin typeface="Cambria Math" panose="02040503050406030204" pitchFamily="18" charset="0"/>
                  </a:rPr>
                  <a:t>$\int_0^{\pi/2}\sin^2x\,dx=\frac\pi4$</a:t>
                </a:r>
                <a:r>
                  <a:rPr sz="2400" b="0">
                    <a:solidFill>
                      <a:srgbClr val="111827"/>
                    </a:solidFill>
                    <a:latin typeface="Arial"/>
                  </a:rPr>
                  <a:t>: </a:t>
                </a:r>
                <a:r>
                  <a:rPr lang="en-IN" sz="2400">
                    <a:solidFill>
                      <a:srgbClr val="111827"/>
                    </a:solidFill>
                    <a:latin typeface="Cambria Math" panose="02040503050406030204" pitchFamily="18" charset="0"/>
                  </a:rPr>
                  <a:t>$I=\frac8\pi\left[3\pi-5\pi+\frac{5\pi}2\right]=\frac8\pi\cdot\frac\pi2=4$</a:t>
                </a:r>
                <a:r>
                  <a:rPr sz="2400" b="0">
                    <a:solidFill>
                      <a:srgbClr val="111827"/>
                    </a:solidFill>
                    <a:latin typeface="Arial"/>
                  </a:rPr>
                  <a:t> (r).</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(t); (B)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(p), (r); (C)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(q); (D)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(r)</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$\to$</a:t>
                </a:r>
                <a:r>
                  <a:rPr sz="2800" b="1">
                    <a:solidFill>
                      <a:srgbClr val="15803D"/>
                    </a:solidFill>
                    <a:latin typeface="Arial"/>
                  </a:rPr>
                  <a:t> (t); (B) </a:t>
                </a:r>
                <a:r>
                  <a:rPr lang="en-IN" sz="2800">
                    <a:solidFill>
                      <a:srgbClr val="15803D"/>
                    </a:solidFill>
                    <a:latin typeface="Cambria Math" panose="02040503050406030204" pitchFamily="18" charset="0"/>
                  </a:rPr>
                  <a:t>$\to$</a:t>
                </a:r>
                <a:r>
                  <a:rPr sz="2800" b="1">
                    <a:solidFill>
                      <a:srgbClr val="15803D"/>
                    </a:solidFill>
                    <a:latin typeface="Arial"/>
                  </a:rPr>
                  <a:t> (p), (r); (C) </a:t>
                </a:r>
                <a:r>
                  <a:rPr lang="en-IN" sz="2800">
                    <a:solidFill>
                      <a:srgbClr val="15803D"/>
                    </a:solidFill>
                    <a:latin typeface="Cambria Math" panose="02040503050406030204" pitchFamily="18" charset="0"/>
                  </a:rPr>
                  <a:t>$\to$</a:t>
                </a:r>
                <a:r>
                  <a:rPr sz="2800" b="1">
                    <a:solidFill>
                      <a:srgbClr val="15803D"/>
                    </a:solidFill>
                    <a:latin typeface="Arial"/>
                  </a:rPr>
                  <a:t> (q); (D) </a:t>
                </a:r>
                <a:r>
                  <a:rPr lang="en-IN" sz="2800">
                    <a:solidFill>
                      <a:srgbClr val="15803D"/>
                    </a:solidFill>
                    <a:latin typeface="Cambria Math" panose="02040503050406030204" pitchFamily="18" charset="0"/>
                  </a:rPr>
                  <a:t>$\to$</a:t>
                </a:r>
                <a:r>
                  <a:rPr sz="2800" b="1">
                    <a:solidFill>
                      <a:srgbClr val="15803D"/>
                    </a:solidFill>
                    <a:latin typeface="Arial"/>
                  </a:rPr>
                  <a:t> (r)</a:t>
                </a:r>
                <a:endParaRPr sz="2800">
                  <a:solidFill>
                    <a:srgbClr val="15803D"/>
                  </a:solidFill>
                </a:endParaRPr>
              </a:p>
            </p:txBody>
          </p:sp>
        </mc:Fallback>
      </mc:AlternateContent>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line through a point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meeting two skew lines: intersect the second line with the plane through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and the first line (normal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sub>
                        <m:r>
                          <a:rPr lang="en-IN" sz="2400" i="1">
                            <a:solidFill>
                              <a:srgbClr val="111827"/>
                            </a:solidFill>
                            <a:latin typeface="Cambria Math" panose="02040503050406030204" pitchFamily="18" charset="0"/>
                          </a:rPr>
                          <m:t>1</m:t>
                        </m:r>
                      </m:sub>
                    </m:sSub>
                  </m:oMath>
                </a14:m>
                <a:r>
                  <a:rPr sz="2400" b="0">
                    <a:solidFill>
                      <a:srgbClr val="111827"/>
                    </a:solidFill>
                    <a:latin typeface="Arial"/>
                  </a:rPr>
                  <a:t>); the join of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to that point cuts the first line at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𝑣</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𝑣</m:t>
                        </m:r>
                      </m:den>
                    </m:f>
                  </m:oMath>
                </a14:m>
                <a:r>
                  <a:rPr sz="2400" b="0">
                    <a:solidFill>
                      <a:srgbClr val="111827"/>
                    </a:solidFill>
                    <a:latin typeface="Arial"/>
                  </a:rPr>
                  <a:t> holds only for </a:t>
                </a:r>
                <a14:m>
                  <m:oMath xmlns:m="http://schemas.openxmlformats.org/officeDocument/2006/math">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(otherwise add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𝑢</m:t>
                    </m:r>
                    <m:r>
                      <a:rPr lang="en-IN" sz="2400" i="1">
                        <a:solidFill>
                          <a:srgbClr val="111827"/>
                        </a:solidFill>
                        <a:latin typeface="Cambria Math" panose="02040503050406030204" pitchFamily="18" charset="0"/>
                      </a:rPr>
                      <m:t>𝑣</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𝑥</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9</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Dirichlet kernel: </a:t>
                </a:r>
                <a14:m>
                  <m:oMath xmlns:m="http://schemas.openxmlformats.org/officeDocument/2006/math">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e>
                        </m:d>
                      </m:num>
                      <m:den>
                        <m:r>
                          <m:rPr>
                            <m:sty m:val="p"/>
                          </m:rPr>
                          <a:rPr lang="en-IN" sz="2400">
                            <a:solidFill>
                              <a:srgbClr val="111827"/>
                            </a:solidFill>
                            <a:latin typeface="Cambria Math" panose="02040503050406030204" pitchFamily="18" charset="0"/>
                          </a:rPr>
                          <m:t>sin</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𝑛</m:t>
                        </m:r>
                      </m:sup>
                      <m:e>
                        <m:r>
                          <m:rPr>
                            <m:sty m:val="p"/>
                          </m:rPr>
                          <a:rPr lang="en-IN" sz="2400">
                            <a:solidFill>
                              <a:srgbClr val="111827"/>
                            </a:solidFill>
                            <a:latin typeface="Cambria Math" panose="02040503050406030204" pitchFamily="18" charset="0"/>
                          </a:rPr>
                          <m:t>cos</m:t>
                        </m:r>
                      </m:e>
                    </m:nary>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oMath>
                </a14:m>
                <a:r>
                  <a:rPr sz="2400" b="0">
                    <a:solidFill>
                      <a:srgbClr val="111827"/>
                    </a:solidFill>
                    <a:latin typeface="Arial"/>
                  </a:rPr>
                  <a:t>, so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sub>
                      <m:sup>
                        <m:r>
                          <a:rPr lang="en-IN" sz="2400" i="1">
                            <a:solidFill>
                              <a:srgbClr val="111827"/>
                            </a:solidFill>
                            <a:latin typeface="Cambria Math" panose="02040503050406030204" pitchFamily="18" charset="0"/>
                          </a:rPr>
                          <m:t>π</m:t>
                        </m:r>
                      </m:sup>
                      <m:e>
                        <m:r>
                          <a:rPr lang="en-IN" sz="2400" i="1">
                            <a:solidFill>
                              <a:srgbClr val="111827"/>
                            </a:solidFill>
                            <a:latin typeface="Cambria Math" panose="02040503050406030204" pitchFamily="18" charset="0"/>
                          </a:rPr>
                          <m:t>​</m:t>
                        </m:r>
                      </m:e>
                    </m:nary>
                  </m:oMath>
                </a14:m>
                <a:r>
                  <a:rPr sz="2400" b="0">
                    <a:solidFill>
                      <a:srgbClr val="111827"/>
                    </a:solidFill>
                    <a:latin typeface="Arial"/>
                  </a:rPr>
                  <a:t> of it is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π</m:t>
                    </m:r>
                  </m:oMath>
                </a14:m>
                <a:r>
                  <a:rPr sz="2400" b="0">
                    <a:solidFill>
                      <a:srgbClr val="111827"/>
                    </a:solidFill>
                    <a:latin typeface="Arial"/>
                  </a:rPr>
                  <a:t> for every </a:t>
                </a:r>
                <a14:m>
                  <m:oMath xmlns:m="http://schemas.openxmlformats.org/officeDocument/2006/math">
                    <m:r>
                      <a:rPr lang="en-IN" sz="2400" i="1">
                        <a:solidFill>
                          <a:srgbClr val="111827"/>
                        </a:solidFill>
                        <a:latin typeface="Cambria Math" panose="02040503050406030204" pitchFamily="18" charset="0"/>
                      </a:rPr>
                      <m:t>𝑛</m:t>
                    </m:r>
                  </m:oMath>
                </a14:m>
                <a:r>
                  <a:rPr sz="2400" b="0">
                    <a:solidFill>
                      <a:srgbClr val="111827"/>
                    </a:solidFill>
                    <a:latin typeface="Arial"/>
                  </a:rPr>
                  <a:t> (here </a:t>
                </a:r>
                <a14:m>
                  <m:oMath xmlns:m="http://schemas.openxmlformats.org/officeDocument/2006/math">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line through a point </a:t>
                </a:r>
                <a:r>
                  <a:rPr lang="en-IN" sz="2400">
                    <a:solidFill>
                      <a:srgbClr val="111827"/>
                    </a:solidFill>
                    <a:latin typeface="Cambria Math" panose="02040503050406030204" pitchFamily="18" charset="0"/>
                  </a:rPr>
                  <a:t>$O$</a:t>
                </a:r>
                <a:r>
                  <a:rPr sz="2400" b="0">
                    <a:solidFill>
                      <a:srgbClr val="111827"/>
                    </a:solidFill>
                    <a:latin typeface="Arial"/>
                  </a:rPr>
                  <a:t> meeting two skew lines: intersect the second line with the plane through </a:t>
                </a:r>
                <a:r>
                  <a:rPr lang="en-IN" sz="2400">
                    <a:solidFill>
                      <a:srgbClr val="111827"/>
                    </a:solidFill>
                    <a:latin typeface="Cambria Math" panose="02040503050406030204" pitchFamily="18" charset="0"/>
                  </a:rPr>
                  <a:t>$O$</a:t>
                </a:r>
                <a:r>
                  <a:rPr sz="2400" b="0">
                    <a:solidFill>
                      <a:srgbClr val="111827"/>
                    </a:solidFill>
                    <a:latin typeface="Arial"/>
                  </a:rPr>
                  <a:t> and the first line (normal </a:t>
                </a:r>
                <a:r>
                  <a:rPr lang="en-IN" sz="2400">
                    <a:solidFill>
                      <a:srgbClr val="111827"/>
                    </a:solidFill>
                    <a:latin typeface="Cambria Math" panose="02040503050406030204" pitchFamily="18" charset="0"/>
                  </a:rPr>
                  <a:t>$=\overrightarrow{OA}\times\vec{d}_1$</a:t>
                </a:r>
                <a:r>
                  <a:rPr sz="2400" b="0">
                    <a:solidFill>
                      <a:srgbClr val="111827"/>
                    </a:solidFill>
                    <a:latin typeface="Arial"/>
                  </a:rPr>
                  <a:t>); the join of </a:t>
                </a:r>
                <a:r>
                  <a:rPr lang="en-IN" sz="2400">
                    <a:solidFill>
                      <a:srgbClr val="111827"/>
                    </a:solidFill>
                    <a:latin typeface="Cambria Math" panose="02040503050406030204" pitchFamily="18" charset="0"/>
                  </a:rPr>
                  <a:t>$O$</a:t>
                </a:r>
                <a:r>
                  <a:rPr sz="2400" b="0">
                    <a:solidFill>
                      <a:srgbClr val="111827"/>
                    </a:solidFill>
                    <a:latin typeface="Arial"/>
                  </a:rPr>
                  <a:t> to that point cuts the first line at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$\tan^{-1}u-\tan^{-1}v=\tan^{-1}\frac{u-v}{1+uv}$</a:t>
                </a:r>
                <a:r>
                  <a:rPr sz="2400" b="0">
                    <a:solidFill>
                      <a:srgbClr val="111827"/>
                    </a:solidFill>
                    <a:latin typeface="Arial"/>
                  </a:rPr>
                  <a:t> holds only for </a:t>
                </a:r>
                <a:r>
                  <a:rPr lang="en-IN" sz="2400">
                    <a:solidFill>
                      <a:srgbClr val="111827"/>
                    </a:solidFill>
                    <a:latin typeface="Cambria Math" panose="02040503050406030204" pitchFamily="18" charset="0"/>
                  </a:rPr>
                  <a:t>$uv&gt;-1$</a:t>
                </a:r>
                <a:r>
                  <a:rPr sz="2400" b="0">
                    <a:solidFill>
                      <a:srgbClr val="111827"/>
                    </a:solidFill>
                    <a:latin typeface="Arial"/>
                  </a:rPr>
                  <a:t> (otherwise add </a:t>
                </a:r>
                <a:r>
                  <a:rPr lang="en-IN" sz="2400">
                    <a:solidFill>
                      <a:srgbClr val="111827"/>
                    </a:solidFill>
                    <a:latin typeface="Cambria Math" panose="02040503050406030204" pitchFamily="18" charset="0"/>
                  </a:rPr>
                  <a:t>$\pm\pi$</a:t>
                </a:r>
                <a:r>
                  <a:rPr sz="2400" b="0">
                    <a:solidFill>
                      <a:srgbClr val="111827"/>
                    </a:solidFill>
                    <a:latin typeface="Arial"/>
                  </a:rPr>
                  <a:t>); here </a:t>
                </a:r>
                <a:r>
                  <a:rPr lang="en-IN" sz="2400">
                    <a:solidFill>
                      <a:srgbClr val="111827"/>
                    </a:solidFill>
                    <a:latin typeface="Cambria Math" panose="02040503050406030204" pitchFamily="18" charset="0"/>
                  </a:rPr>
                  <a:t>$uv=x^2-9&gt;-1$</a:t>
                </a:r>
                <a:r>
                  <a:rPr sz="2400" b="0">
                    <a:solidFill>
                      <a:srgbClr val="111827"/>
                    </a:solidFill>
                    <a:latin typeface="Arial"/>
                  </a:rPr>
                  <a:t> for </a:t>
                </a:r>
                <a:r>
                  <a:rPr lang="en-IN" sz="2400">
                    <a:solidFill>
                      <a:srgbClr val="111827"/>
                    </a:solidFill>
                    <a:latin typeface="Cambria Math" panose="02040503050406030204" pitchFamily="18" charset="0"/>
                  </a:rPr>
                  <a:t>$x=\pm4$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Dirichlet kernel: </a:t>
                </a:r>
                <a:r>
                  <a:rPr lang="en-IN" sz="2400">
                    <a:solidFill>
                      <a:srgbClr val="111827"/>
                    </a:solidFill>
                    <a:latin typeface="Cambria Math" panose="02040503050406030204" pitchFamily="18" charset="0"/>
                  </a:rPr>
                  <a:t>$\frac{\sin\left(\frac{(2n+1)x}{2}\right)}{\sin\frac x2}=1+2\sum_{k=1}^{n}\cos kx$</a:t>
                </a:r>
                <a:r>
                  <a:rPr sz="2400" b="0">
                    <a:solidFill>
                      <a:srgbClr val="111827"/>
                    </a:solidFill>
                    <a:latin typeface="Arial"/>
                  </a:rPr>
                  <a:t>, so </a:t>
                </a:r>
                <a:r>
                  <a:rPr lang="en-IN" sz="2400">
                    <a:solidFill>
                      <a:srgbClr val="111827"/>
                    </a:solidFill>
                    <a:latin typeface="Cambria Math" panose="02040503050406030204" pitchFamily="18" charset="0"/>
                  </a:rPr>
                  <a:t>$\int_{-\pi}^{\pi}$</a:t>
                </a:r>
                <a:r>
                  <a:rPr sz="2400" b="0">
                    <a:solidFill>
                      <a:srgbClr val="111827"/>
                    </a:solidFill>
                    <a:latin typeface="Arial"/>
                  </a:rPr>
                  <a:t> of it is </a:t>
                </a:r>
                <a:r>
                  <a:rPr lang="en-IN" sz="2400">
                    <a:solidFill>
                      <a:srgbClr val="111827"/>
                    </a:solidFill>
                    <a:latin typeface="Cambria Math" panose="02040503050406030204" pitchFamily="18" charset="0"/>
                  </a:rPr>
                  <a:t>$2\pi$</a:t>
                </a:r>
                <a:r>
                  <a:rPr sz="2400" b="0">
                    <a:solidFill>
                      <a:srgbClr val="111827"/>
                    </a:solidFill>
                    <a:latin typeface="Arial"/>
                  </a:rPr>
                  <a:t> for every </a:t>
                </a:r>
                <a:r>
                  <a:rPr lang="en-IN" sz="2400">
                    <a:solidFill>
                      <a:srgbClr val="111827"/>
                    </a:solidFill>
                    <a:latin typeface="Cambria Math" panose="02040503050406030204" pitchFamily="18" charset="0"/>
                  </a:rPr>
                  <a:t>$n$</a:t>
                </a:r>
                <a:r>
                  <a:rPr sz="2400" b="0">
                    <a:solidFill>
                      <a:srgbClr val="111827"/>
                    </a:solidFill>
                    <a:latin typeface="Arial"/>
                  </a:rPr>
                  <a:t> (here </a:t>
                </a:r>
                <a:r>
                  <a:rPr lang="en-IN" sz="2400">
                    <a:solidFill>
                      <a:srgbClr val="111827"/>
                    </a:solidFill>
                    <a:latin typeface="Cambria Math" panose="02040503050406030204" pitchFamily="18" charset="0"/>
                  </a:rPr>
                  <a:t>$n=4$</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45</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E88080"/>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4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non-zero orthogonal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oMath>
                </a14:m>
                <a:r>
                  <a:rPr sz="2400" b="0">
                    <a:solidFill>
                      <a:srgbClr val="111827"/>
                    </a:solidFill>
                    <a:latin typeface="Arial"/>
                  </a:rPr>
                  <a:t> with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μ</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work with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𝑏</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only and test the sign of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oMath>
                </a14:m>
                <a:r>
                  <a:rPr sz="2400" b="0">
                    <a:solidFill>
                      <a:srgbClr val="111827"/>
                    </a:solidFill>
                    <a:latin typeface="Arial"/>
                  </a:rPr>
                  <a:t>: a root that makes it negative is not realisable by real vectors.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num>
                      <m:den>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den>
                    </m:f>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π</m:t>
                    </m:r>
                  </m:oMath>
                </a14:m>
                <a:r>
                  <a:rPr sz="2400" b="0">
                    <a:solidFill>
                      <a:srgbClr val="111827"/>
                    </a:solidFill>
                    <a:latin typeface="Arial"/>
                  </a:rPr>
                  <a:t> for odd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0</m:t>
                    </m:r>
                  </m:oMath>
                </a14:m>
                <a:r>
                  <a:rPr sz="2400" b="0">
                    <a:solidFill>
                      <a:srgbClr val="111827"/>
                    </a:solidFill>
                    <a:latin typeface="Arial"/>
                  </a:rPr>
                  <a:t> for even </a:t>
                </a:r>
                <a14:m>
                  <m:oMath xmlns:m="http://schemas.openxmlformats.org/officeDocument/2006/math">
                    <m:r>
                      <a:rPr lang="en-IN" sz="2400" i="1">
                        <a:solidFill>
                          <a:srgbClr val="111827"/>
                        </a:solidFill>
                        <a:latin typeface="Cambria Math" panose="02040503050406030204" pitchFamily="18" charset="0"/>
                      </a:rPr>
                      <m:t>𝑘</m:t>
                    </m:r>
                  </m:oMath>
                </a14:m>
                <a:r>
                  <a:rPr sz="2400" b="0">
                    <a:solidFill>
                      <a:srgbClr val="111827"/>
                    </a:solidFill>
                    <a:latin typeface="Arial"/>
                  </a:rPr>
                  <a:t>, because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𝑘</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For non-zero orthogonal </a:t>
                </a:r>
                <a:r>
                  <a:rPr lang="en-IN" sz="2400">
                    <a:solidFill>
                      <a:srgbClr val="111827"/>
                    </a:solidFill>
                    <a:latin typeface="Cambria Math" panose="02040503050406030204" pitchFamily="18" charset="0"/>
                  </a:rPr>
                  <a:t>$\vec a,\vec b$</a:t>
                </a:r>
                <a:r>
                  <a:rPr sz="2400" b="0">
                    <a:solidFill>
                      <a:srgbClr val="111827"/>
                    </a:solidFill>
                    <a:latin typeface="Arial"/>
                  </a:rPr>
                  <a:t> with </a:t>
                </a:r>
                <a:r>
                  <a:rPr lang="en-IN" sz="2400">
                    <a:solidFill>
                      <a:srgbClr val="111827"/>
                    </a:solidFill>
                    <a:latin typeface="Cambria Math" panose="02040503050406030204" pitchFamily="18" charset="0"/>
                  </a:rPr>
                  <a:t>$\vec a=\mu\vec b+\dots$</a:t>
                </a:r>
                <a:r>
                  <a:rPr sz="2400" b="0">
                    <a:solidFill>
                      <a:srgbClr val="111827"/>
                    </a:solidFill>
                    <a:latin typeface="Arial"/>
                  </a:rPr>
                  <a:t>, work with </a:t>
                </a:r>
                <a:r>
                  <a:rPr lang="en-IN" sz="2400">
                    <a:solidFill>
                      <a:srgbClr val="111827"/>
                    </a:solidFill>
                    <a:latin typeface="Cambria Math" panose="02040503050406030204" pitchFamily="18" charset="0"/>
                  </a:rPr>
                  <a:t>$|\vec a|^2,|\vec b|^2$</a:t>
                </a:r>
                <a:r>
                  <a:rPr sz="2400" b="0">
                    <a:solidFill>
                      <a:srgbClr val="111827"/>
                    </a:solidFill>
                    <a:latin typeface="Arial"/>
                  </a:rPr>
                  <a:t> only and test the sign of </a:t>
                </a:r>
                <a:r>
                  <a:rPr lang="en-IN" sz="2400">
                    <a:solidFill>
                      <a:srgbClr val="111827"/>
                    </a:solidFill>
                    <a:latin typeface="Cambria Math" panose="02040503050406030204" pitchFamily="18" charset="0"/>
                  </a:rPr>
                  <a:t>$|\vec a|^2$</a:t>
                </a:r>
                <a:r>
                  <a:rPr sz="2400" b="0">
                    <a:solidFill>
                      <a:srgbClr val="111827"/>
                    </a:solidFill>
                    <a:latin typeface="Arial"/>
                  </a:rPr>
                  <a:t>: a root that makes it negative is not realisable by real vectors.</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On </a:t>
                </a:r>
                <a:r>
                  <a:rPr lang="en-IN" sz="2400">
                    <a:solidFill>
                      <a:srgbClr val="111827"/>
                    </a:solidFill>
                    <a:latin typeface="Cambria Math" panose="02040503050406030204" pitchFamily="18" charset="0"/>
                  </a:rPr>
                  <a:t>$[0,\pi]$</a:t>
                </a:r>
                <a:r>
                  <a:rPr sz="2400" b="0">
                    <a:solidFill>
                      <a:srgbClr val="111827"/>
                    </a:solidFill>
                    <a:latin typeface="Arial"/>
                  </a:rPr>
                  <a:t>, </a:t>
                </a:r>
                <a:r>
                  <a:rPr lang="en-IN" sz="2400">
                    <a:solidFill>
                      <a:srgbClr val="111827"/>
                    </a:solidFill>
                    <a:latin typeface="Cambria Math" panose="02040503050406030204" pitchFamily="18" charset="0"/>
                  </a:rPr>
                  <a:t>$\int\frac{\sin kx}{\sin x}dx=\pi$</a:t>
                </a:r>
                <a:r>
                  <a:rPr sz="2400" b="0">
                    <a:solidFill>
                      <a:srgbClr val="111827"/>
                    </a:solidFill>
                    <a:latin typeface="Arial"/>
                  </a:rPr>
                  <a:t> for odd </a:t>
                </a:r>
                <a:r>
                  <a:rPr lang="en-IN" sz="2400">
                    <a:solidFill>
                      <a:srgbClr val="111827"/>
                    </a:solidFill>
                    <a:latin typeface="Cambria Math" panose="02040503050406030204" pitchFamily="18" charset="0"/>
                  </a:rPr>
                  <a:t>$k$</a:t>
                </a:r>
                <a:r>
                  <a:rPr sz="2400" b="0">
                    <a:solidFill>
                      <a:srgbClr val="111827"/>
                    </a:solidFill>
                    <a:latin typeface="Arial"/>
                  </a:rPr>
                  <a:t> and </a:t>
                </a:r>
                <a:r>
                  <a:rPr lang="en-IN" sz="2400">
                    <a:solidFill>
                      <a:srgbClr val="111827"/>
                    </a:solidFill>
                    <a:latin typeface="Cambria Math" panose="02040503050406030204" pitchFamily="18" charset="0"/>
                  </a:rPr>
                  <a:t>$0$</a:t>
                </a:r>
                <a:r>
                  <a:rPr sz="2400" b="0">
                    <a:solidFill>
                      <a:srgbClr val="111827"/>
                    </a:solidFill>
                    <a:latin typeface="Arial"/>
                  </a:rPr>
                  <a:t> for even </a:t>
                </a:r>
                <a:r>
                  <a:rPr lang="en-IN" sz="2400">
                    <a:solidFill>
                      <a:srgbClr val="111827"/>
                    </a:solidFill>
                    <a:latin typeface="Cambria Math" panose="02040503050406030204" pitchFamily="18" charset="0"/>
                  </a:rPr>
                  <a:t>$k$</a:t>
                </a:r>
                <a:r>
                  <a:rPr sz="2400" b="0">
                    <a:solidFill>
                      <a:srgbClr val="111827"/>
                    </a:solidFill>
                    <a:latin typeface="Arial"/>
                  </a:rPr>
                  <a:t>, because </a:t>
                </a:r>
                <a:r>
                  <a:rPr lang="en-IN" sz="2400">
                    <a:solidFill>
                      <a:srgbClr val="111827"/>
                    </a:solidFill>
                    <a:latin typeface="Cambria Math" panose="02040503050406030204" pitchFamily="18" charset="0"/>
                  </a:rPr>
                  <a:t>$\sin kx-\sin(k-2)x=2\cos(k-1)x\sin x$</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84784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Match the following columns (an entry of Column I may match more than one entry of Column II).</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 (A)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d>
                              <m:dPr>
                                <m:begChr m:val="("/>
                                <m:sepChr m:val=""/>
                                <m:endChr m:val=")"/>
                                <m:grow/>
                                <m:ctrlPr>
                                  <a:rPr lang="en-IN" sz="2400" i="1">
                                    <a:solidFill>
                                      <a:srgbClr val="111827"/>
                                    </a:solidFill>
                                    <a:latin typeface="Cambria Math" panose="02040503050406030204" pitchFamily="18" charset="0"/>
                                  </a:rPr>
                                </m:ctrlPr>
                              </m:dPr>
                              <m:e>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e>
                            </m:d>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e>
                            </m:d>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e>
                    </m:d>
                  </m:oMath>
                </a14:m>
                <a:r>
                  <a:rPr sz="2400" b="0">
                    <a:solidFill>
                      <a:srgbClr val="111827"/>
                    </a:solidFill>
                    <a:latin typeface="Arial"/>
                  </a:rPr>
                  <a:t>; (B) A point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lies on the plane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The value of </a:t>
                </a:r>
                <a14:m>
                  <m:oMath xmlns:m="http://schemas.openxmlformats.org/officeDocument/2006/math">
                    <m:r>
                      <a:rPr lang="en-IN" sz="2400" i="1">
                        <a:solidFill>
                          <a:srgbClr val="111827"/>
                        </a:solidFill>
                        <a:latin typeface="Cambria Math" panose="02040503050406030204" pitchFamily="18" charset="0"/>
                      </a:rPr>
                      <m:t>γ</m:t>
                    </m:r>
                  </m:oMath>
                </a14:m>
                <a:r>
                  <a:rPr sz="2400" b="0">
                    <a:solidFill>
                      <a:srgbClr val="111827"/>
                    </a:solidFill>
                    <a:latin typeface="Arial"/>
                  </a:rPr>
                  <a:t> such that the vector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α</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satisfies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 (C) In a triangle </a:t>
                </a:r>
                <a14:m>
                  <m:oMath xmlns:m="http://schemas.openxmlformats.org/officeDocument/2006/math">
                    <m:r>
                      <a:rPr lang="en-IN" sz="2400" i="1">
                        <a:solidFill>
                          <a:srgbClr val="111827"/>
                        </a:solidFill>
                        <a:latin typeface="Cambria Math" panose="02040503050406030204" pitchFamily="18" charset="0"/>
                      </a:rPr>
                      <m:t>𝐴</m:t>
                    </m:r>
                    <m:r>
                      <a:rPr lang="en-IN" sz="2400" i="1">
                        <a:solidFill>
                          <a:srgbClr val="111827"/>
                        </a:solidFill>
                        <a:latin typeface="Cambria Math" panose="02040503050406030204" pitchFamily="18" charset="0"/>
                      </a:rPr>
                      <m:t>𝐵</m:t>
                    </m:r>
                    <m:r>
                      <a:rPr lang="en-IN" sz="2400" i="1">
                        <a:solidFill>
                          <a:srgbClr val="111827"/>
                        </a:solidFill>
                        <a:latin typeface="Cambria Math" panose="02040503050406030204" pitchFamily="18" charset="0"/>
                      </a:rPr>
                      <m:t>𝐶</m:t>
                    </m:r>
                  </m:oMath>
                </a14:m>
                <a:r>
                  <a:rPr sz="2400" b="0">
                    <a:solidFill>
                      <a:srgbClr val="111827"/>
                    </a:solidFill>
                    <a:latin typeface="Arial"/>
                  </a:rPr>
                  <a:t>, if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then the value of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oMath>
                </a14:m>
                <a:r>
                  <a:rPr sz="2400" b="0">
                    <a:solidFill>
                      <a:srgbClr val="111827"/>
                    </a:solidFill>
                    <a:latin typeface="Arial"/>
                  </a:rPr>
                  <a:t>; (D) The set of values of </a:t>
                </a:r>
                <a14:m>
                  <m:oMath xmlns:m="http://schemas.openxmlformats.org/officeDocument/2006/math">
                    <m:r>
                      <a:rPr lang="en-IN" sz="2400" i="1">
                        <a:solidFill>
                          <a:srgbClr val="111827"/>
                        </a:solidFill>
                        <a:latin typeface="Cambria Math" panose="02040503050406030204" pitchFamily="18" charset="0"/>
                      </a:rPr>
                      <m:t>𝑎</m:t>
                    </m:r>
                  </m:oMath>
                </a14:m>
                <a:r>
                  <a:rPr sz="2400" b="0">
                    <a:solidFill>
                      <a:srgbClr val="111827"/>
                    </a:solidFill>
                    <a:latin typeface="Arial"/>
                  </a:rPr>
                  <a:t> for which the lines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intersect in the region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is the interval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Then the value of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0</m:t>
                        </m:r>
                      </m:sub>
                    </m:sSub>
                  </m:oMath>
                </a14:m>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II: (p) </a:t>
                </a:r>
                <a14:m>
                  <m:oMath xmlns:m="http://schemas.openxmlformats.org/officeDocument/2006/math">
                    <m:r>
                      <a:rPr lang="en-IN" sz="2400" i="1">
                        <a:solidFill>
                          <a:srgbClr val="111827"/>
                        </a:solidFill>
                        <a:latin typeface="Cambria Math" panose="02040503050406030204" pitchFamily="18" charset="0"/>
                      </a:rPr>
                      <m:t>2</m:t>
                    </m:r>
                  </m:oMath>
                </a14:m>
                <a:r>
                  <a:rPr sz="2400" b="0">
                    <a:solidFill>
                      <a:srgbClr val="111827"/>
                    </a:solidFill>
                    <a:latin typeface="Arial"/>
                  </a:rPr>
                  <a:t>; (q)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nary>
                          <m:naryPr>
                            <m:chr m:val="∫"/>
                            <m:limLoc m:val="subSup"/>
                            <m:subHide m:val="off"/>
                            <m:supHide m:val="off"/>
                            <m:ctrlPr>
                              <a:rPr lang="en-IN" sz="2400" i="1">
                                <a:solidFill>
                                  <a:srgbClr val="111827"/>
                                </a:solidFill>
                                <a:latin typeface="Cambria Math" panose="02040503050406030204" pitchFamily="18" charset="0"/>
                              </a:rPr>
                            </m:ctrlPr>
                          </m:naryPr>
                          <m: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0</m:t>
                            </m:r>
                          </m:sup>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rad>
                          </m:e>
                        </m:nary>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rad>
                          </m:e>
                        </m:nary>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e>
                    </m:d>
                  </m:oMath>
                </a14:m>
                <a:r>
                  <a:rPr sz="2400" b="0">
                    <a:solidFill>
                      <a:srgbClr val="111827"/>
                    </a:solidFill>
                    <a:latin typeface="Arial"/>
                  </a:rPr>
                  <a:t>; (r)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p:txBody>
          </p:sp>
        </mc:Choice>
        <mc:Fallback>
          <p:sp>
            <p:nvSpPr>
              <p:cNvPr id="4" name="Rounded Rectangle 3"/>
              <p:cNvSpPr/>
              <p:nvPr/>
            </p:nvSpPr>
            <p:spPr>
              <a:xfrm>
                <a:off x="731520" y="1280160"/>
                <a:ext cx="10725912" cy="4847844"/>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500"/>
                  </a:spcAft>
                  <a:defRPr sz="2400">
                    <a:solidFill>
                      <a:srgbClr val="111827"/>
                    </a:solidFill>
                  </a:defRPr>
                </a:pPr>
                <a:r>
                  <a:rPr sz="2400" b="0">
                    <a:solidFill>
                      <a:srgbClr val="111827"/>
                    </a:solidFill>
                    <a:latin typeface="Arial"/>
                  </a:rPr>
                  <a:t>Match the following columns (an entry of Column I may match more than one entry of Column II).</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 (A) </a:t>
                </a:r>
                <a:r>
                  <a:rPr lang="en-IN" sz="2400">
                    <a:solidFill>
                      <a:srgbClr val="111827"/>
                    </a:solidFill>
                    <a:latin typeface="Cambria Math" panose="02040503050406030204" pitchFamily="18" charset="0"/>
                  </a:rPr>
                  <a:t>$\left|\int_0^1\left(y^2-1\right)dy\right|+\left|\int_0^1\left(1-y^2\right)dy\right|$</a:t>
                </a:r>
                <a:r>
                  <a:rPr sz="2400" b="0">
                    <a:solidFill>
                      <a:srgbClr val="111827"/>
                    </a:solidFill>
                    <a:latin typeface="Arial"/>
                  </a:rPr>
                  <a:t>; (B) A point </a:t>
                </a:r>
                <a:r>
                  <a:rPr lang="en-IN" sz="2400">
                    <a:solidFill>
                      <a:srgbClr val="111827"/>
                    </a:solidFill>
                    <a:latin typeface="Cambria Math" panose="02040503050406030204" pitchFamily="18" charset="0"/>
                  </a:rPr>
                  <a:t>$(\alpha,\beta,\gamma)$</a:t>
                </a:r>
                <a:r>
                  <a:rPr sz="2400" b="0">
                    <a:solidFill>
                      <a:srgbClr val="111827"/>
                    </a:solidFill>
                    <a:latin typeface="Arial"/>
                  </a:rPr>
                  <a:t> lies on the plane </a:t>
                </a:r>
                <a:r>
                  <a:rPr lang="en-IN" sz="2400">
                    <a:solidFill>
                      <a:srgbClr val="111827"/>
                    </a:solidFill>
                    <a:latin typeface="Cambria Math" panose="02040503050406030204" pitchFamily="18" charset="0"/>
                  </a:rPr>
                  <a:t>$x+y+z=2$</a:t>
                </a:r>
                <a:r>
                  <a:rPr sz="2400" b="0">
                    <a:solidFill>
                      <a:srgbClr val="111827"/>
                    </a:solidFill>
                    <a:latin typeface="Arial"/>
                  </a:rPr>
                  <a:t>. The value of </a:t>
                </a:r>
                <a:r>
                  <a:rPr lang="en-IN" sz="2400">
                    <a:solidFill>
                      <a:srgbClr val="111827"/>
                    </a:solidFill>
                    <a:latin typeface="Cambria Math" panose="02040503050406030204" pitchFamily="18" charset="0"/>
                  </a:rPr>
                  <a:t>$\gamma$</a:t>
                </a:r>
                <a:r>
                  <a:rPr sz="2400" b="0">
                    <a:solidFill>
                      <a:srgbClr val="111827"/>
                    </a:solidFill>
                    <a:latin typeface="Arial"/>
                  </a:rPr>
                  <a:t> such that the vector </a:t>
                </a:r>
                <a:r>
                  <a:rPr lang="en-IN" sz="2400">
                    <a:solidFill>
                      <a:srgbClr val="111827"/>
                    </a:solidFill>
                    <a:latin typeface="Cambria Math" panose="02040503050406030204" pitchFamily="18" charset="0"/>
                  </a:rPr>
                  <a:t>$\vec{a}=\alpha\hat{i}+\beta\hat{j}+\gamma\hat{k}$</a:t>
                </a:r>
                <a:r>
                  <a:rPr sz="2400" b="0">
                    <a:solidFill>
                      <a:srgbClr val="111827"/>
                    </a:solidFill>
                    <a:latin typeface="Arial"/>
                  </a:rPr>
                  <a:t> satisfies </a:t>
                </a:r>
                <a:r>
                  <a:rPr lang="en-IN" sz="2400">
                    <a:solidFill>
                      <a:srgbClr val="111827"/>
                    </a:solidFill>
                    <a:latin typeface="Cambria Math" panose="02040503050406030204" pitchFamily="18" charset="0"/>
                  </a:rPr>
                  <a:t>$\hat{k}\times\left(\hat{k}\times\vec{a}\right)=\vec{0}$</a:t>
                </a:r>
                <a:r>
                  <a:rPr sz="2400" b="0">
                    <a:solidFill>
                      <a:srgbClr val="111827"/>
                    </a:solidFill>
                    <a:latin typeface="Arial"/>
                  </a:rPr>
                  <a:t>; (C) In a triangle </a:t>
                </a:r>
                <a:r>
                  <a:rPr lang="en-IN" sz="2400">
                    <a:solidFill>
                      <a:srgbClr val="111827"/>
                    </a:solidFill>
                    <a:latin typeface="Cambria Math" panose="02040503050406030204" pitchFamily="18" charset="0"/>
                  </a:rPr>
                  <a:t>$ABC$</a:t>
                </a:r>
                <a:r>
                  <a:rPr sz="2400" b="0">
                    <a:solidFill>
                      <a:srgbClr val="111827"/>
                    </a:solidFill>
                    <a:latin typeface="Arial"/>
                  </a:rPr>
                  <a:t>, if </a:t>
                </a:r>
                <a:r>
                  <a:rPr lang="en-IN" sz="2400">
                    <a:solidFill>
                      <a:srgbClr val="111827"/>
                    </a:solidFill>
                    <a:latin typeface="Cambria Math" panose="02040503050406030204" pitchFamily="18" charset="0"/>
                  </a:rPr>
                  <a:t>$\cos A\cos B+\sin A\sin B\sin C=1$</a:t>
                </a:r>
                <a:r>
                  <a:rPr sz="2400" b="0">
                    <a:solidFill>
                      <a:srgbClr val="111827"/>
                    </a:solidFill>
                    <a:latin typeface="Arial"/>
                  </a:rPr>
                  <a:t>, then the value of </a:t>
                </a:r>
                <a:r>
                  <a:rPr lang="en-IN" sz="2400">
                    <a:solidFill>
                      <a:srgbClr val="111827"/>
                    </a:solidFill>
                    <a:latin typeface="Cambria Math" panose="02040503050406030204" pitchFamily="18" charset="0"/>
                  </a:rPr>
                  <a:t>$\sin C$</a:t>
                </a:r>
                <a:r>
                  <a:rPr sz="2400" b="0">
                    <a:solidFill>
                      <a:srgbClr val="111827"/>
                    </a:solidFill>
                    <a:latin typeface="Arial"/>
                  </a:rPr>
                  <a:t>; (D) The set of values of </a:t>
                </a:r>
                <a:r>
                  <a:rPr lang="en-IN" sz="2400">
                    <a:solidFill>
                      <a:srgbClr val="111827"/>
                    </a:solidFill>
                    <a:latin typeface="Cambria Math" panose="02040503050406030204" pitchFamily="18" charset="0"/>
                  </a:rPr>
                  <a:t>$a$</a:t>
                </a:r>
                <a:r>
                  <a:rPr sz="2400" b="0">
                    <a:solidFill>
                      <a:srgbClr val="111827"/>
                    </a:solidFill>
                    <a:latin typeface="Arial"/>
                  </a:rPr>
                  <a:t> for which the lines </a:t>
                </a:r>
                <a:r>
                  <a:rPr lang="en-IN" sz="2400">
                    <a:solidFill>
                      <a:srgbClr val="111827"/>
                    </a:solidFill>
                    <a:latin typeface="Cambria Math" panose="02040503050406030204" pitchFamily="18" charset="0"/>
                  </a:rPr>
                  <a:t>$x+y=|a|$</a:t>
                </a:r>
                <a:r>
                  <a:rPr sz="2400" b="0">
                    <a:solidFill>
                      <a:srgbClr val="111827"/>
                    </a:solidFill>
                    <a:latin typeface="Arial"/>
                  </a:rPr>
                  <a:t>, </a:t>
                </a:r>
                <a:r>
                  <a:rPr lang="en-IN" sz="2400">
                    <a:solidFill>
                      <a:srgbClr val="111827"/>
                    </a:solidFill>
                    <a:latin typeface="Cambria Math" panose="02040503050406030204" pitchFamily="18" charset="0"/>
                  </a:rPr>
                  <a:t>$ax-y=4$</a:t>
                </a:r>
                <a:r>
                  <a:rPr sz="2400" b="0">
                    <a:solidFill>
                      <a:srgbClr val="111827"/>
                    </a:solidFill>
                    <a:latin typeface="Arial"/>
                  </a:rPr>
                  <a:t> intersect in the region </a:t>
                </a:r>
                <a:r>
                  <a:rPr lang="en-IN" sz="2400">
                    <a:solidFill>
                      <a:srgbClr val="111827"/>
                    </a:solidFill>
                    <a:latin typeface="Cambria Math" panose="02040503050406030204" pitchFamily="18" charset="0"/>
                  </a:rPr>
                  <a:t>$x&gt;0,\ y&gt;0$</a:t>
                </a:r>
                <a:r>
                  <a:rPr sz="2400" b="0">
                    <a:solidFill>
                      <a:srgbClr val="111827"/>
                    </a:solidFill>
                    <a:latin typeface="Arial"/>
                  </a:rPr>
                  <a:t> is the interval </a:t>
                </a:r>
                <a:r>
                  <a:rPr lang="en-IN" sz="2400">
                    <a:solidFill>
                      <a:srgbClr val="111827"/>
                    </a:solidFill>
                    <a:latin typeface="Cambria Math" panose="02040503050406030204" pitchFamily="18" charset="0"/>
                  </a:rPr>
                  <a:t>$(a_0,\infty)$</a:t>
                </a:r>
                <a:r>
                  <a:rPr sz="2400" b="0">
                    <a:solidFill>
                      <a:srgbClr val="111827"/>
                    </a:solidFill>
                    <a:latin typeface="Arial"/>
                  </a:rPr>
                  <a:t>. Then the value of </a:t>
                </a:r>
                <a:r>
                  <a:rPr lang="en-IN" sz="2400">
                    <a:solidFill>
                      <a:srgbClr val="111827"/>
                    </a:solidFill>
                    <a:latin typeface="Cambria Math" panose="02040503050406030204" pitchFamily="18" charset="0"/>
                  </a:rPr>
                  <a:t>$a_0$</a:t>
                </a:r>
                <a:r>
                  <a:rPr sz="2400" b="0">
                    <a:solidFill>
                      <a:srgbClr val="111827"/>
                    </a:solidFill>
                    <a:latin typeface="Arial"/>
                  </a:rPr>
                  <a:t>.</a:t>
                </a:r>
                <a:endParaRPr sz="2400">
                  <a:solidFill>
                    <a:srgbClr val="111827"/>
                  </a:solidFill>
                </a:endParaRPr>
              </a:p>
              <a:p>
                <a:pPr algn="l">
                  <a:spcAft>
                    <a:spcPts val="500"/>
                  </a:spcAft>
                  <a:defRPr sz="2400">
                    <a:solidFill>
                      <a:srgbClr val="111827"/>
                    </a:solidFill>
                  </a:defRPr>
                </a:pPr>
                <a:r>
                  <a:rPr sz="2400" b="0">
                    <a:solidFill>
                      <a:srgbClr val="111827"/>
                    </a:solidFill>
                    <a:latin typeface="Arial"/>
                  </a:rPr>
                  <a:t>Column II: (p) </a:t>
                </a:r>
                <a:r>
                  <a:rPr lang="en-IN" sz="2400">
                    <a:solidFill>
                      <a:srgbClr val="111827"/>
                    </a:solidFill>
                    <a:latin typeface="Cambria Math" panose="02040503050406030204" pitchFamily="18" charset="0"/>
                  </a:rPr>
                  <a:t>$2$</a:t>
                </a:r>
                <a:r>
                  <a:rPr sz="2400" b="0">
                    <a:solidFill>
                      <a:srgbClr val="111827"/>
                    </a:solidFill>
                    <a:latin typeface="Arial"/>
                  </a:rPr>
                  <a:t>; (q) </a:t>
                </a:r>
                <a:r>
                  <a:rPr lang="en-IN" sz="2400">
                    <a:solidFill>
                      <a:srgbClr val="111827"/>
                    </a:solidFill>
                    <a:latin typeface="Cambria Math" panose="02040503050406030204" pitchFamily="18" charset="0"/>
                  </a:rPr>
                  <a:t>$\left|\int_{-1}^{0}\sqrt{1+x}\,dx\right|+\left|\int_0^1\sqrt{1-x}\,dx\right|$</a:t>
                </a:r>
                <a:r>
                  <a:rPr sz="2400" b="0">
                    <a:solidFill>
                      <a:srgbClr val="111827"/>
                    </a:solidFill>
                    <a:latin typeface="Arial"/>
                  </a:rPr>
                  <a:t>; (r) </a:t>
                </a:r>
                <a:r>
                  <a:rPr lang="en-IN" sz="2400">
                    <a:solidFill>
                      <a:srgbClr val="111827"/>
                    </a:solidFill>
                    <a:latin typeface="Cambria Math" panose="02040503050406030204" pitchFamily="18" charset="0"/>
                  </a:rPr>
                  <a:t>$\frac43$</a:t>
                </a:r>
                <a:r>
                  <a:rPr sz="2400" b="0">
                    <a:solidFill>
                      <a:srgbClr val="111827"/>
                    </a:solidFill>
                    <a:latin typeface="Arial"/>
                  </a:rPr>
                  <a:t>; (s) </a:t>
                </a:r>
                <a:r>
                  <a:rPr lang="en-IN" sz="2400">
                    <a:solidFill>
                      <a:srgbClr val="111827"/>
                    </a:solidFill>
                    <a:latin typeface="Cambria Math" panose="02040503050406030204" pitchFamily="18" charset="0"/>
                  </a:rPr>
                  <a:t>$1$</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Matching List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Vector triple product, Definite integrals, triangle trigonometry and straight lines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𝑘</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𝑘</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b>
                      <m:e>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e>
                      <m:sub>
                        <m:r>
                          <m:rPr>
                            <m:sty m:val="p"/>
                          </m:rPr>
                          <a:rPr lang="en-IN" sz="2400">
                            <a:solidFill>
                              <a:srgbClr val="78350F"/>
                            </a:solidFill>
                            <a:latin typeface="Cambria Math" panose="02040503050406030204" pitchFamily="18" charset="0"/>
                          </a:rPr>
                          <m:t>⟂</m:t>
                        </m:r>
                      </m:sub>
                    </m:sSub>
                  </m:oMath>
                </a14:m>
                <a:r>
                  <a:rPr sz="2400" b="0">
                    <a:solidFill>
                      <a:srgbClr val="78350F"/>
                    </a:solidFill>
                    <a:latin typeface="Arial"/>
                  </a:rPr>
                  <a:t> forces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𝑎</m:t>
                        </m:r>
                      </m:e>
                    </m:acc>
                    <m:r>
                      <m:rPr>
                        <m:sty m:val="p"/>
                      </m:rPr>
                      <a:rPr lang="en-IN" sz="2400">
                        <a:solidFill>
                          <a:srgbClr val="78350F"/>
                        </a:solidFill>
                        <a:latin typeface="Cambria Math" panose="02040503050406030204" pitchFamily="18" charset="0"/>
                      </a:rPr>
                      <m:t>∥</m:t>
                    </m:r>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𝑘</m:t>
                        </m:r>
                      </m:e>
                    </m:acc>
                  </m:oMath>
                </a14:m>
                <a:r>
                  <a:rPr sz="2400" b="0">
                    <a:solidFill>
                      <a:srgbClr val="78350F"/>
                    </a:solidFill>
                    <a:latin typeface="Arial"/>
                  </a:rPr>
                  <a:t>; (C) </a:t>
                </a:r>
                <a14:m>
                  <m:oMath xmlns:m="http://schemas.openxmlformats.org/officeDocument/2006/math">
                    <m:r>
                      <m:rPr>
                        <m:sty m:val="p"/>
                      </m:rPr>
                      <a:rPr lang="en-IN" sz="2400">
                        <a:solidFill>
                          <a:srgbClr val="78350F"/>
                        </a:solidFill>
                        <a:latin typeface="Cambria Math" panose="02040503050406030204" pitchFamily="18" charset="0"/>
                      </a:rPr>
                      <m:t>sin</m:t>
                    </m:r>
                    <m:r>
                      <a:rPr lang="en-IN" sz="2400" i="1">
                        <a:solidFill>
                          <a:srgbClr val="78350F"/>
                        </a:solidFill>
                        <a:latin typeface="Cambria Math" panose="02040503050406030204" pitchFamily="18" charset="0"/>
                      </a:rPr>
                      <m:t>𝐶</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gives </a:t>
                </a:r>
                <a14:m>
                  <m:oMath xmlns:m="http://schemas.openxmlformats.org/officeDocument/2006/math">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cos</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𝐴</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𝐵</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oMath>
                </a14:m>
                <a:r>
                  <a:rPr sz="2400" b="0">
                    <a:solidFill>
                      <a:srgbClr val="78350F"/>
                    </a:solidFill>
                    <a:latin typeface="Arial"/>
                  </a:rPr>
                  <a:t>; (D) solve the lines and impose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&gt;</m:t>
                    </m:r>
                    <m:r>
                      <a:rPr lang="en-IN" sz="2400" i="1">
                        <a:solidFill>
                          <a:srgbClr val="78350F"/>
                        </a:solidFill>
                        <a:latin typeface="Cambria Math" panose="02040503050406030204" pitchFamily="18" charset="0"/>
                      </a:rPr>
                      <m:t>0</m:t>
                    </m:r>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(B) </a:t>
                </a:r>
                <a:r>
                  <a:rPr lang="en-IN" sz="2400">
                    <a:solidFill>
                      <a:srgbClr val="78350F"/>
                    </a:solidFill>
                    <a:latin typeface="Cambria Math" panose="02040503050406030204" pitchFamily="18" charset="0"/>
                  </a:rPr>
                  <a:t>$\hat{k}\times(\hat{k}\times\vec{a})=-\vec{a}_{\perp}$</a:t>
                </a:r>
                <a:r>
                  <a:rPr sz="2400" b="0">
                    <a:solidFill>
                      <a:srgbClr val="78350F"/>
                    </a:solidFill>
                    <a:latin typeface="Arial"/>
                  </a:rPr>
                  <a:t> forces </a:t>
                </a:r>
                <a:r>
                  <a:rPr lang="en-IN" sz="2400">
                    <a:solidFill>
                      <a:srgbClr val="78350F"/>
                    </a:solidFill>
                    <a:latin typeface="Cambria Math" panose="02040503050406030204" pitchFamily="18" charset="0"/>
                  </a:rPr>
                  <a:t>$\vec{a}\parallel\hat{k}$</a:t>
                </a:r>
                <a:r>
                  <a:rPr sz="2400" b="0">
                    <a:solidFill>
                      <a:srgbClr val="78350F"/>
                    </a:solidFill>
                    <a:latin typeface="Arial"/>
                  </a:rPr>
                  <a:t>; (C) </a:t>
                </a:r>
                <a:r>
                  <a:rPr lang="en-IN" sz="2400">
                    <a:solidFill>
                      <a:srgbClr val="78350F"/>
                    </a:solidFill>
                    <a:latin typeface="Cambria Math" panose="02040503050406030204" pitchFamily="18" charset="0"/>
                  </a:rPr>
                  <a:t>$\sin C\le1$</a:t>
                </a:r>
                <a:r>
                  <a:rPr sz="2400" b="0">
                    <a:solidFill>
                      <a:srgbClr val="78350F"/>
                    </a:solidFill>
                    <a:latin typeface="Arial"/>
                  </a:rPr>
                  <a:t> gives </a:t>
                </a:r>
                <a:r>
                  <a:rPr lang="en-IN" sz="2400">
                    <a:solidFill>
                      <a:srgbClr val="78350F"/>
                    </a:solidFill>
                    <a:latin typeface="Cambria Math" panose="02040503050406030204" pitchFamily="18" charset="0"/>
                  </a:rPr>
                  <a:t>$\le\cos(A-B)\le1$</a:t>
                </a:r>
                <a:r>
                  <a:rPr sz="2400" b="0">
                    <a:solidFill>
                      <a:srgbClr val="78350F"/>
                    </a:solidFill>
                    <a:latin typeface="Arial"/>
                  </a:rPr>
                  <a:t>; (D) solve the lines and impose </a:t>
                </a:r>
                <a:r>
                  <a:rPr lang="en-IN" sz="2400">
                    <a:solidFill>
                      <a:srgbClr val="78350F"/>
                    </a:solidFill>
                    <a:latin typeface="Cambria Math" panose="02040503050406030204" pitchFamily="18" charset="0"/>
                  </a:rPr>
                  <a:t>$x,y&gt;0$</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e>
                        </m:d>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the expression is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𝑦</m:t>
                                </m:r>
                              </m:e>
                              <m:sup>
                                <m:r>
                                  <a:rPr lang="en-IN" sz="2400" i="1">
                                    <a:solidFill>
                                      <a:srgbClr val="111827"/>
                                    </a:solidFill>
                                    <a:latin typeface="Cambria Math" panose="02040503050406030204" pitchFamily="18" charset="0"/>
                                  </a:rPr>
                                  <m:t>2</m:t>
                                </m:r>
                              </m:sup>
                            </m:sSup>
                          </m:e>
                        </m:d>
                      </m:e>
                    </m:nary>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i.e. (r).</a:t>
                </a:r>
                <a:endParaRPr sz="2400">
                  <a:solidFill>
                    <a:srgbClr val="111827"/>
                  </a:solidFill>
                </a:endParaRPr>
              </a:p>
            </p:txBody>
          </p:sp>
        </mc:Choice>
        <mc:Fallback>
          <p:sp>
            <p:nvSpPr>
              <p:cNvPr id="6" name="Rectangle 5"/>
              <p:cNvSpPr/>
              <p:nvPr/>
            </p:nvSpPr>
            <p:spPr>
              <a:xfrm>
                <a:off x="731520" y="4904232"/>
                <a:ext cx="10725912" cy="1770887"/>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$\int_0^1\left(1-y^2\right)dy=\frac23$</a:t>
                </a:r>
                <a:r>
                  <a:rPr sz="2400" b="0">
                    <a:solidFill>
                      <a:srgbClr val="111827"/>
                    </a:solidFill>
                    <a:latin typeface="Arial"/>
                  </a:rPr>
                  <a:t>, so the expression is </a:t>
                </a:r>
                <a:r>
                  <a:rPr lang="en-IN" sz="2400">
                    <a:solidFill>
                      <a:srgbClr val="111827"/>
                    </a:solidFill>
                    <a:latin typeface="Cambria Math" panose="02040503050406030204" pitchFamily="18" charset="0"/>
                  </a:rPr>
                  <a:t>$\left|-\frac23\right|+\left|\frac23\right|=2\int_0^1\left(1-y^2\right)dy=\frac43$</a:t>
                </a:r>
                <a:r>
                  <a:rPr sz="2400" b="0">
                    <a:solidFill>
                      <a:srgbClr val="111827"/>
                    </a:solidFill>
                    <a:latin typeface="Arial"/>
                  </a:rPr>
                  <a:t>, i.e. (r).</a:t>
                </a:r>
                <a:endParaRPr sz="2400">
                  <a:solidFill>
                    <a:srgbClr val="111827"/>
                  </a:solidFill>
                </a:endParaRPr>
              </a:p>
            </p:txBody>
          </p:sp>
        </mc:Fallback>
      </mc:AlternateContent>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For (q):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0</m:t>
                        </m:r>
                      </m:sup>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rad>
                      </m:e>
                    </m:nary>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and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rad>
                      </m:e>
                    </m:nary>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(q)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rad>
                      </m:e>
                    </m:nary>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as well. Hence (A)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(q),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α</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e>
                    </m:d>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This equals </a:t>
                </a:r>
                <a14:m>
                  <m:oMath xmlns:m="http://schemas.openxmlformats.org/officeDocument/2006/math">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α</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𝑖</m:t>
                            </m:r>
                          </m:e>
                        </m:acc>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𝑗</m:t>
                            </m:r>
                          </m:e>
                        </m:acc>
                      </m:e>
                    </m:d>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0</m:t>
                        </m:r>
                      </m:e>
                    </m:acc>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Then </a:t>
                </a:r>
                <a14:m>
                  <m:oMath xmlns:m="http://schemas.openxmlformats.org/officeDocument/2006/math">
                    <m:r>
                      <a:rPr lang="en-IN" sz="2400" i="1">
                        <a:solidFill>
                          <a:srgbClr val="111827"/>
                        </a:solidFill>
                        <a:latin typeface="Cambria Math" panose="02040503050406030204" pitchFamily="18" charset="0"/>
                      </a:rPr>
                      <m:t>α</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β</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gives </a:t>
                </a:r>
                <a14:m>
                  <m:oMath xmlns:m="http://schemas.openxmlformats.org/officeDocument/2006/math">
                    <m:r>
                      <a:rPr lang="en-IN" sz="2400" i="1">
                        <a:solidFill>
                          <a:srgbClr val="111827"/>
                        </a:solidFill>
                        <a:latin typeface="Cambria Math" panose="02040503050406030204" pitchFamily="18" charset="0"/>
                      </a:rPr>
                      <m:t>γ</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so (B)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In a triangle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The value </a:t>
                </a:r>
                <a14:m>
                  <m:oMath xmlns:m="http://schemas.openxmlformats.org/officeDocument/2006/math">
                    <m:r>
                      <a:rPr lang="en-IN" sz="2400" i="1">
                        <a:solidFill>
                          <a:srgbClr val="111827"/>
                        </a:solidFill>
                        <a:latin typeface="Cambria Math" panose="02040503050406030204" pitchFamily="18" charset="0"/>
                      </a:rPr>
                      <m:t>1</m:t>
                    </m:r>
                  </m:oMath>
                </a14:m>
                <a:r>
                  <a:rPr sz="2400" b="0">
                    <a:solidFill>
                      <a:srgbClr val="111827"/>
                    </a:solidFill>
                    <a:latin typeface="Arial"/>
                  </a:rPr>
                  <a:t> is attained only if </a:t>
                </a:r>
                <a14:m>
                  <m:oMath xmlns:m="http://schemas.openxmlformats.org/officeDocument/2006/math">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Hence </a:t>
                </a:r>
                <a14:m>
                  <m:oMath xmlns:m="http://schemas.openxmlformats.org/officeDocument/2006/math">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(C)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(s).</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For (q): </a:t>
                </a:r>
                <a:r>
                  <a:rPr lang="en-IN" sz="2400">
                    <a:solidFill>
                      <a:srgbClr val="111827"/>
                    </a:solidFill>
                    <a:latin typeface="Cambria Math" panose="02040503050406030204" pitchFamily="18" charset="0"/>
                  </a:rPr>
                  <a:t>$\int_{-1}^0\sqrt{1+x}\,dx=\frac23$</a:t>
                </a:r>
                <a:r>
                  <a:rPr sz="2400" b="0">
                    <a:solidFill>
                      <a:srgbClr val="111827"/>
                    </a:solidFill>
                    <a:latin typeface="Arial"/>
                  </a:rPr>
                  <a:t> and </a:t>
                </a:r>
                <a:r>
                  <a:rPr lang="en-IN" sz="2400">
                    <a:solidFill>
                      <a:srgbClr val="111827"/>
                    </a:solidFill>
                    <a:latin typeface="Cambria Math" panose="02040503050406030204" pitchFamily="18" charset="0"/>
                  </a:rPr>
                  <a:t>$\int_0^1\sqrt{1-x}\,dx=\frac23$</a:t>
                </a:r>
                <a:r>
                  <a:rPr sz="2400" b="0">
                    <a:solidFill>
                      <a:srgbClr val="111827"/>
                    </a:solidFill>
                    <a:latin typeface="Arial"/>
                  </a:rPr>
                  <a:t>, so (q) </a:t>
                </a:r>
                <a:r>
                  <a:rPr lang="en-IN" sz="2400">
                    <a:solidFill>
                      <a:srgbClr val="111827"/>
                    </a:solidFill>
                    <a:latin typeface="Cambria Math" panose="02040503050406030204" pitchFamily="18" charset="0"/>
                  </a:rPr>
                  <a:t>$=2\int_0^1\sqrt{1-x}\,dx=\frac43$</a:t>
                </a:r>
                <a:r>
                  <a:rPr sz="2400" b="0">
                    <a:solidFill>
                      <a:srgbClr val="111827"/>
                    </a:solidFill>
                    <a:latin typeface="Arial"/>
                  </a:rPr>
                  <a:t> as well. Hence (A) </a:t>
                </a:r>
                <a:r>
                  <a:rPr lang="en-IN" sz="2400">
                    <a:solidFill>
                      <a:srgbClr val="111827"/>
                    </a:solidFill>
                    <a:latin typeface="Cambria Math" panose="02040503050406030204" pitchFamily="18" charset="0"/>
                  </a:rPr>
                  <a:t>$\to$</a:t>
                </a:r>
                <a:r>
                  <a:rPr sz="2400" b="0">
                    <a:solidFill>
                      <a:srgbClr val="111827"/>
                    </a:solidFill>
                    <a:latin typeface="Arial"/>
                  </a:rPr>
                  <a:t> (q),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$\vec{a}\cdot\hat{k}=\gamma$</a:t>
                </a:r>
                <a:r>
                  <a:rPr sz="2400" b="0">
                    <a:solidFill>
                      <a:srgbClr val="111827"/>
                    </a:solidFill>
                    <a:latin typeface="Arial"/>
                  </a:rPr>
                  <a:t> and </a:t>
                </a:r>
                <a:r>
                  <a:rPr lang="en-IN" sz="2400">
                    <a:solidFill>
                      <a:srgbClr val="111827"/>
                    </a:solidFill>
                    <a:latin typeface="Cambria Math" panose="02040503050406030204" pitchFamily="18" charset="0"/>
                  </a:rPr>
                  <a:t>$\hat{k}\times\left(\hat{k}\times\vec{a}\right)=\left(\hat{k}\cdot\vec{a}\right)\hat{k}-\left(\hat{k}\cdot\hat{k}\right)\vec{a}=\gamma\hat{k}-\left(\alpha\hat{i}+\beta\hat{j}+\gamma\hat{k}\right)$</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This equals </a:t>
                </a:r>
                <a:r>
                  <a:rPr lang="en-IN" sz="2400">
                    <a:solidFill>
                      <a:srgbClr val="111827"/>
                    </a:solidFill>
                    <a:latin typeface="Cambria Math" panose="02040503050406030204" pitchFamily="18" charset="0"/>
                  </a:rPr>
                  <a:t>$-\left(\alpha\hat{i}+\beta\hat{j}\right)=\vec{0}$</a:t>
                </a:r>
                <a:r>
                  <a:rPr sz="2400" b="0">
                    <a:solidFill>
                      <a:srgbClr val="111827"/>
                    </a:solidFill>
                    <a:latin typeface="Arial"/>
                  </a:rPr>
                  <a:t>, so </a:t>
                </a:r>
                <a:r>
                  <a:rPr lang="en-IN" sz="2400">
                    <a:solidFill>
                      <a:srgbClr val="111827"/>
                    </a:solidFill>
                    <a:latin typeface="Cambria Math" panose="02040503050406030204" pitchFamily="18" charset="0"/>
                  </a:rPr>
                  <a:t>$\alpha=\beta=0$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Then </a:t>
                </a:r>
                <a:r>
                  <a:rPr lang="en-IN" sz="2400">
                    <a:solidFill>
                      <a:srgbClr val="111827"/>
                    </a:solidFill>
                    <a:latin typeface="Cambria Math" panose="02040503050406030204" pitchFamily="18" charset="0"/>
                  </a:rPr>
                  <a:t>$\alpha+\beta+\gamma=2$</a:t>
                </a:r>
                <a:r>
                  <a:rPr sz="2400" b="0">
                    <a:solidFill>
                      <a:srgbClr val="111827"/>
                    </a:solidFill>
                    <a:latin typeface="Arial"/>
                  </a:rPr>
                  <a:t> gives </a:t>
                </a:r>
                <a:r>
                  <a:rPr lang="en-IN" sz="2400">
                    <a:solidFill>
                      <a:srgbClr val="111827"/>
                    </a:solidFill>
                    <a:latin typeface="Cambria Math" panose="02040503050406030204" pitchFamily="18" charset="0"/>
                  </a:rPr>
                  <a:t>$\gamma=2$</a:t>
                </a:r>
                <a:r>
                  <a:rPr sz="2400" b="0">
                    <a:solidFill>
                      <a:srgbClr val="111827"/>
                    </a:solidFill>
                    <a:latin typeface="Arial"/>
                  </a:rPr>
                  <a:t>, so (B) </a:t>
                </a:r>
                <a:r>
                  <a:rPr lang="en-IN" sz="2400">
                    <a:solidFill>
                      <a:srgbClr val="111827"/>
                    </a:solidFill>
                    <a:latin typeface="Cambria Math" panose="02040503050406030204" pitchFamily="18" charset="0"/>
                  </a:rPr>
                  <a:t>$\to$</a:t>
                </a:r>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In a triangle </a:t>
                </a:r>
                <a:r>
                  <a:rPr lang="en-IN" sz="2400">
                    <a:solidFill>
                      <a:srgbClr val="111827"/>
                    </a:solidFill>
                    <a:latin typeface="Cambria Math" panose="02040503050406030204" pitchFamily="18" charset="0"/>
                  </a:rPr>
                  <a:t>$\sin A\sin B&gt;0$</a:t>
                </a:r>
                <a:r>
                  <a:rPr sz="2400" b="0">
                    <a:solidFill>
                      <a:srgbClr val="111827"/>
                    </a:solidFill>
                    <a:latin typeface="Arial"/>
                  </a:rPr>
                  <a:t> and </a:t>
                </a:r>
                <a:r>
                  <a:rPr lang="en-IN" sz="2400">
                    <a:solidFill>
                      <a:srgbClr val="111827"/>
                    </a:solidFill>
                    <a:latin typeface="Cambria Math" panose="02040503050406030204" pitchFamily="18" charset="0"/>
                  </a:rPr>
                  <a:t>$\sin C\le1$</a:t>
                </a:r>
                <a:r>
                  <a:rPr sz="2400" b="0">
                    <a:solidFill>
                      <a:srgbClr val="111827"/>
                    </a:solidFill>
                    <a:latin typeface="Arial"/>
                  </a:rPr>
                  <a:t>, so </a:t>
                </a:r>
                <a:r>
                  <a:rPr lang="en-IN" sz="2400">
                    <a:solidFill>
                      <a:srgbClr val="111827"/>
                    </a:solidFill>
                    <a:latin typeface="Cambria Math" panose="02040503050406030204" pitchFamily="18" charset="0"/>
                  </a:rPr>
                  <a:t>$\cos A\cos B+\sin A\sin B\sin C\le\cos A\cos B+\sin A\sin B=\cos(A-B)\le1$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The value </a:t>
                </a:r>
                <a:r>
                  <a:rPr lang="en-IN" sz="2400">
                    <a:solidFill>
                      <a:srgbClr val="111827"/>
                    </a:solidFill>
                    <a:latin typeface="Cambria Math" panose="02040503050406030204" pitchFamily="18" charset="0"/>
                  </a:rPr>
                  <a:t>$1$</a:t>
                </a:r>
                <a:r>
                  <a:rPr sz="2400" b="0">
                    <a:solidFill>
                      <a:srgbClr val="111827"/>
                    </a:solidFill>
                    <a:latin typeface="Arial"/>
                  </a:rPr>
                  <a:t> is attained only if </a:t>
                </a:r>
                <a:r>
                  <a:rPr lang="en-IN" sz="2400">
                    <a:solidFill>
                      <a:srgbClr val="111827"/>
                    </a:solidFill>
                    <a:latin typeface="Cambria Math" panose="02040503050406030204" pitchFamily="18" charset="0"/>
                  </a:rPr>
                  <a:t>$\cos(A-B)=1$</a:t>
                </a:r>
                <a:r>
                  <a:rPr sz="2400" b="0">
                    <a:solidFill>
                      <a:srgbClr val="111827"/>
                    </a:solidFill>
                    <a:latin typeface="Arial"/>
                  </a:rPr>
                  <a:t> and </a:t>
                </a:r>
                <a:r>
                  <a:rPr lang="en-IN" sz="2400">
                    <a:solidFill>
                      <a:srgbClr val="111827"/>
                    </a:solidFill>
                    <a:latin typeface="Cambria Math" panose="02040503050406030204" pitchFamily="18" charset="0"/>
                  </a:rPr>
                  <a:t>$\sin C=1$</a:t>
                </a:r>
                <a:r>
                  <a:rPr sz="2400" b="0">
                    <a:solidFill>
                      <a:srgbClr val="111827"/>
                    </a:solidFill>
                    <a:latin typeface="Arial"/>
                  </a:rPr>
                  <a:t>. Hence </a:t>
                </a:r>
                <a:r>
                  <a:rPr lang="en-IN" sz="2400">
                    <a:solidFill>
                      <a:srgbClr val="111827"/>
                    </a:solidFill>
                    <a:latin typeface="Cambria Math" panose="02040503050406030204" pitchFamily="18" charset="0"/>
                  </a:rPr>
                  <a:t>$\sin C=1$</a:t>
                </a:r>
                <a:r>
                  <a:rPr sz="2400" b="0">
                    <a:solidFill>
                      <a:srgbClr val="111827"/>
                    </a:solidFill>
                    <a:latin typeface="Arial"/>
                  </a:rPr>
                  <a:t>, so (C) </a:t>
                </a:r>
                <a:r>
                  <a:rPr lang="en-IN" sz="2400">
                    <a:solidFill>
                      <a:srgbClr val="111827"/>
                    </a:solidFill>
                    <a:latin typeface="Cambria Math" panose="02040503050406030204" pitchFamily="18" charset="0"/>
                  </a:rPr>
                  <a:t>$\to$</a:t>
                </a:r>
                <a:r>
                  <a:rPr sz="2400" b="0">
                    <a:solidFill>
                      <a:srgbClr val="111827"/>
                    </a:solidFill>
                    <a:latin typeface="Arial"/>
                  </a:rPr>
                  <a:t> (s).</a:t>
                </a:r>
                <a:endParaRPr sz="2400">
                  <a:solidFill>
                    <a:srgbClr val="111827"/>
                  </a:solidFill>
                </a:endParaRPr>
              </a:p>
            </p:txBody>
          </p:sp>
        </mc:Fallback>
      </mc:AlternateContent>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Solve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adding,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so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with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needs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With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needs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m:t>
                    </m:r>
                  </m:oMath>
                </a14:m>
                <a:r>
                  <a:rPr sz="2400" b="0">
                    <a:solidFill>
                      <a:srgbClr val="111827"/>
                    </a:solidFill>
                    <a:latin typeface="Arial"/>
                  </a:rPr>
                  <a:t>: impossible for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(then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it means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The set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so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and (D)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Answer: (A)-(q),(r); (B)-(p); (C)-(s); (D)-(p).</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Solve </a:t>
                </a:r>
                <a:r>
                  <a:rPr lang="en-IN" sz="2400">
                    <a:solidFill>
                      <a:srgbClr val="111827"/>
                    </a:solidFill>
                    <a:latin typeface="Cambria Math" panose="02040503050406030204" pitchFamily="18" charset="0"/>
                  </a:rPr>
                  <a:t>$x+y=|a|$</a:t>
                </a:r>
                <a:r>
                  <a:rPr sz="2400" b="0">
                    <a:solidFill>
                      <a:srgbClr val="111827"/>
                    </a:solidFill>
                    <a:latin typeface="Arial"/>
                  </a:rPr>
                  <a:t> and </a:t>
                </a:r>
                <a:r>
                  <a:rPr lang="en-IN" sz="2400">
                    <a:solidFill>
                      <a:srgbClr val="111827"/>
                    </a:solidFill>
                    <a:latin typeface="Cambria Math" panose="02040503050406030204" pitchFamily="18" charset="0"/>
                  </a:rPr>
                  <a:t>$ax-y=4$</a:t>
                </a:r>
                <a:r>
                  <a:rPr sz="2400" b="0">
                    <a:solidFill>
                      <a:srgbClr val="111827"/>
                    </a:solidFill>
                    <a:latin typeface="Arial"/>
                  </a:rPr>
                  <a:t>: adding, </a:t>
                </a:r>
                <a:r>
                  <a:rPr lang="en-IN" sz="2400">
                    <a:solidFill>
                      <a:srgbClr val="111827"/>
                    </a:solidFill>
                    <a:latin typeface="Cambria Math" panose="02040503050406030204" pitchFamily="18" charset="0"/>
                  </a:rPr>
                  <a:t>$(a+1)x=|a|+4$</a:t>
                </a:r>
                <a:r>
                  <a:rPr sz="2400" b="0">
                    <a:solidFill>
                      <a:srgbClr val="111827"/>
                    </a:solidFill>
                    <a:latin typeface="Arial"/>
                  </a:rPr>
                  <a:t>, so </a:t>
                </a:r>
                <a:r>
                  <a:rPr lang="en-IN" sz="2400">
                    <a:solidFill>
                      <a:srgbClr val="111827"/>
                    </a:solidFill>
                    <a:latin typeface="Cambria Math" panose="02040503050406030204" pitchFamily="18" charset="0"/>
                  </a:rPr>
                  <a:t>$x=\frac{|a|+4}{a+1}$</a:t>
                </a:r>
                <a:r>
                  <a:rPr sz="2400" b="0">
                    <a:solidFill>
                      <a:srgbClr val="111827"/>
                    </a:solidFill>
                    <a:latin typeface="Arial"/>
                  </a:rPr>
                  <a:t> and </a:t>
                </a:r>
                <a:r>
                  <a:rPr lang="en-IN" sz="2400">
                    <a:solidFill>
                      <a:srgbClr val="111827"/>
                    </a:solidFill>
                    <a:latin typeface="Cambria Math" panose="02040503050406030204" pitchFamily="18" charset="0"/>
                  </a:rPr>
                  <a:t>$y=|a|-x=\frac{a|a|-4}{a+1}$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$x&gt;0$</a:t>
                </a:r>
                <a:r>
                  <a:rPr sz="2400" b="0">
                    <a:solidFill>
                      <a:srgbClr val="111827"/>
                    </a:solidFill>
                    <a:latin typeface="Arial"/>
                  </a:rPr>
                  <a:t> with </a:t>
                </a:r>
                <a:r>
                  <a:rPr lang="en-IN" sz="2400">
                    <a:solidFill>
                      <a:srgbClr val="111827"/>
                    </a:solidFill>
                    <a:latin typeface="Cambria Math" panose="02040503050406030204" pitchFamily="18" charset="0"/>
                  </a:rPr>
                  <a:t>$|a|+4&gt;0$</a:t>
                </a:r>
                <a:r>
                  <a:rPr sz="2400" b="0">
                    <a:solidFill>
                      <a:srgbClr val="111827"/>
                    </a:solidFill>
                    <a:latin typeface="Arial"/>
                  </a:rPr>
                  <a:t> needs </a:t>
                </a:r>
                <a:r>
                  <a:rPr lang="en-IN" sz="2400">
                    <a:solidFill>
                      <a:srgbClr val="111827"/>
                    </a:solidFill>
                    <a:latin typeface="Cambria Math" panose="02040503050406030204" pitchFamily="18" charset="0"/>
                  </a:rPr>
                  <a:t>$a+1&gt;0$</a:t>
                </a:r>
                <a:r>
                  <a:rPr sz="2400" b="0">
                    <a:solidFill>
                      <a:srgbClr val="111827"/>
                    </a:solidFill>
                    <a:latin typeface="Arial"/>
                  </a:rPr>
                  <a:t>, i.e. </a:t>
                </a:r>
                <a:r>
                  <a:rPr lang="en-IN" sz="2400">
                    <a:solidFill>
                      <a:srgbClr val="111827"/>
                    </a:solidFill>
                    <a:latin typeface="Cambria Math" panose="02040503050406030204" pitchFamily="18" charset="0"/>
                  </a:rPr>
                  <a:t>$a&gt;-1$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With </a:t>
                </a:r>
                <a:r>
                  <a:rPr lang="en-IN" sz="2400">
                    <a:solidFill>
                      <a:srgbClr val="111827"/>
                    </a:solidFill>
                    <a:latin typeface="Cambria Math" panose="02040503050406030204" pitchFamily="18" charset="0"/>
                  </a:rPr>
                  <a:t>$a+1&gt;0$</a:t>
                </a:r>
                <a:r>
                  <a:rPr sz="2400" b="0">
                    <a:solidFill>
                      <a:srgbClr val="111827"/>
                    </a:solidFill>
                    <a:latin typeface="Arial"/>
                  </a:rPr>
                  <a:t>, </a:t>
                </a:r>
                <a:r>
                  <a:rPr lang="en-IN" sz="2400">
                    <a:solidFill>
                      <a:srgbClr val="111827"/>
                    </a:solidFill>
                    <a:latin typeface="Cambria Math" panose="02040503050406030204" pitchFamily="18" charset="0"/>
                  </a:rPr>
                  <a:t>$y&gt;0$</a:t>
                </a:r>
                <a:r>
                  <a:rPr sz="2400" b="0">
                    <a:solidFill>
                      <a:srgbClr val="111827"/>
                    </a:solidFill>
                    <a:latin typeface="Arial"/>
                  </a:rPr>
                  <a:t> needs </a:t>
                </a:r>
                <a:r>
                  <a:rPr lang="en-IN" sz="2400">
                    <a:solidFill>
                      <a:srgbClr val="111827"/>
                    </a:solidFill>
                    <a:latin typeface="Cambria Math" panose="02040503050406030204" pitchFamily="18" charset="0"/>
                  </a:rPr>
                  <a:t>$a|a|&gt;4$</a:t>
                </a:r>
                <a:r>
                  <a:rPr sz="2400" b="0">
                    <a:solidFill>
                      <a:srgbClr val="111827"/>
                    </a:solidFill>
                    <a:latin typeface="Arial"/>
                  </a:rPr>
                  <a:t>: impossible for </a:t>
                </a:r>
                <a:r>
                  <a:rPr lang="en-IN" sz="2400">
                    <a:solidFill>
                      <a:srgbClr val="111827"/>
                    </a:solidFill>
                    <a:latin typeface="Cambria Math" panose="02040503050406030204" pitchFamily="18" charset="0"/>
                  </a:rPr>
                  <a:t>$-1&lt;a\le0$</a:t>
                </a:r>
                <a:r>
                  <a:rPr sz="2400" b="0">
                    <a:solidFill>
                      <a:srgbClr val="111827"/>
                    </a:solidFill>
                    <a:latin typeface="Arial"/>
                  </a:rPr>
                  <a:t> (then </a:t>
                </a:r>
                <a:r>
                  <a:rPr lang="en-IN" sz="2400">
                    <a:solidFill>
                      <a:srgbClr val="111827"/>
                    </a:solidFill>
                    <a:latin typeface="Cambria Math" panose="02040503050406030204" pitchFamily="18" charset="0"/>
                  </a:rPr>
                  <a:t>$a|a|\le0$</a:t>
                </a:r>
                <a:r>
                  <a:rPr sz="2400" b="0">
                    <a:solidFill>
                      <a:srgbClr val="111827"/>
                    </a:solidFill>
                    <a:latin typeface="Arial"/>
                  </a:rPr>
                  <a:t>); for </a:t>
                </a:r>
                <a:r>
                  <a:rPr lang="en-IN" sz="2400">
                    <a:solidFill>
                      <a:srgbClr val="111827"/>
                    </a:solidFill>
                    <a:latin typeface="Cambria Math" panose="02040503050406030204" pitchFamily="18" charset="0"/>
                  </a:rPr>
                  <a:t>$a&gt;0$</a:t>
                </a:r>
                <a:r>
                  <a:rPr sz="2400" b="0">
                    <a:solidFill>
                      <a:srgbClr val="111827"/>
                    </a:solidFill>
                    <a:latin typeface="Arial"/>
                  </a:rPr>
                  <a:t> it means </a:t>
                </a:r>
                <a:r>
                  <a:rPr lang="en-IN" sz="2400">
                    <a:solidFill>
                      <a:srgbClr val="111827"/>
                    </a:solidFill>
                    <a:latin typeface="Cambria Math" panose="02040503050406030204" pitchFamily="18" charset="0"/>
                  </a:rPr>
                  <a:t>$a^2&gt;4$</a:t>
                </a:r>
                <a:r>
                  <a:rPr sz="2400" b="0">
                    <a:solidFill>
                      <a:srgbClr val="111827"/>
                    </a:solidFill>
                    <a:latin typeface="Arial"/>
                  </a:rPr>
                  <a:t>, </a:t>
                </a:r>
                <a:r>
                  <a:rPr lang="en-IN" sz="2400">
                    <a:solidFill>
                      <a:srgbClr val="111827"/>
                    </a:solidFill>
                    <a:latin typeface="Cambria Math" panose="02040503050406030204" pitchFamily="18" charset="0"/>
                  </a:rPr>
                  <a:t>$a&gt;2$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The set is </a:t>
                </a:r>
                <a:r>
                  <a:rPr lang="en-IN" sz="2400">
                    <a:solidFill>
                      <a:srgbClr val="111827"/>
                    </a:solidFill>
                    <a:latin typeface="Cambria Math" panose="02040503050406030204" pitchFamily="18" charset="0"/>
                  </a:rPr>
                  <a:t>$(2,\infty)$</a:t>
                </a:r>
                <a:r>
                  <a:rPr sz="2400" b="0">
                    <a:solidFill>
                      <a:srgbClr val="111827"/>
                    </a:solidFill>
                    <a:latin typeface="Arial"/>
                  </a:rPr>
                  <a:t>, so </a:t>
                </a:r>
                <a:r>
                  <a:rPr lang="en-IN" sz="2400">
                    <a:solidFill>
                      <a:srgbClr val="111827"/>
                    </a:solidFill>
                    <a:latin typeface="Cambria Math" panose="02040503050406030204" pitchFamily="18" charset="0"/>
                  </a:rPr>
                  <a:t>$a_0=2$</a:t>
                </a:r>
                <a:r>
                  <a:rPr sz="2400" b="0">
                    <a:solidFill>
                      <a:srgbClr val="111827"/>
                    </a:solidFill>
                    <a:latin typeface="Arial"/>
                  </a:rPr>
                  <a:t> and (D) </a:t>
                </a:r>
                <a:r>
                  <a:rPr lang="en-IN" sz="2400">
                    <a:solidFill>
                      <a:srgbClr val="111827"/>
                    </a:solidFill>
                    <a:latin typeface="Cambria Math" panose="02040503050406030204" pitchFamily="18" charset="0"/>
                  </a:rPr>
                  <a:t>$\to$</a:t>
                </a:r>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Answer: (A)-(q),(r); (B)-(p); (C)-(s); (D)-(p).</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(q), (r); (B)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(p); (C)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(s); (D)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(p)</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$\to$</a:t>
                </a:r>
                <a:r>
                  <a:rPr sz="2800" b="1">
                    <a:solidFill>
                      <a:srgbClr val="15803D"/>
                    </a:solidFill>
                    <a:latin typeface="Arial"/>
                  </a:rPr>
                  <a:t> (q), (r); (B) </a:t>
                </a:r>
                <a:r>
                  <a:rPr lang="en-IN" sz="2800">
                    <a:solidFill>
                      <a:srgbClr val="15803D"/>
                    </a:solidFill>
                    <a:latin typeface="Cambria Math" panose="02040503050406030204" pitchFamily="18" charset="0"/>
                  </a:rPr>
                  <a:t>$\to$</a:t>
                </a:r>
                <a:r>
                  <a:rPr sz="2800" b="1">
                    <a:solidFill>
                      <a:srgbClr val="15803D"/>
                    </a:solidFill>
                    <a:latin typeface="Arial"/>
                  </a:rPr>
                  <a:t> (p); (C) </a:t>
                </a:r>
                <a:r>
                  <a:rPr lang="en-IN" sz="2800">
                    <a:solidFill>
                      <a:srgbClr val="15803D"/>
                    </a:solidFill>
                    <a:latin typeface="Cambria Math" panose="02040503050406030204" pitchFamily="18" charset="0"/>
                  </a:rPr>
                  <a:t>$\to$</a:t>
                </a:r>
                <a:r>
                  <a:rPr sz="2800" b="1">
                    <a:solidFill>
                      <a:srgbClr val="15803D"/>
                    </a:solidFill>
                    <a:latin typeface="Arial"/>
                  </a:rPr>
                  <a:t> (s); (D) </a:t>
                </a:r>
                <a:r>
                  <a:rPr lang="en-IN" sz="2800">
                    <a:solidFill>
                      <a:srgbClr val="15803D"/>
                    </a:solidFill>
                    <a:latin typeface="Cambria Math" panose="02040503050406030204" pitchFamily="18" charset="0"/>
                  </a:rPr>
                  <a:t>$\to$</a:t>
                </a:r>
                <a:r>
                  <a:rPr sz="2800" b="1">
                    <a:solidFill>
                      <a:srgbClr val="15803D"/>
                    </a:solidFill>
                    <a:latin typeface="Arial"/>
                  </a:rPr>
                  <a:t> (p)</a:t>
                </a:r>
                <a:endParaRPr sz="2800">
                  <a:solidFill>
                    <a:srgbClr val="15803D"/>
                  </a:solidFill>
                </a:endParaRPr>
              </a:p>
            </p:txBody>
          </p:sp>
        </mc:Fallback>
      </mc:AlternateContent>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 Geometry: </a:t>
                </a:r>
                <a14:m>
                  <m:oMath xmlns:m="http://schemas.openxmlformats.org/officeDocument/2006/math">
                    <m:r>
                      <a:rPr lang="en-IN" sz="2400" i="1">
                        <a:solidFill>
                          <a:srgbClr val="78350F"/>
                        </a:solidFill>
                        <a:latin typeface="Cambria Math" panose="02040503050406030204" pitchFamily="18" charset="0"/>
                      </a:rPr>
                      <m:t>𝑥</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𝑦</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meets the first quadrant in an open segment; the other line must separate its endpoints.</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(D) Geometry: </a:t>
                </a:r>
                <a:r>
                  <a:rPr lang="en-IN" sz="2400">
                    <a:solidFill>
                      <a:srgbClr val="78350F"/>
                    </a:solidFill>
                    <a:latin typeface="Cambria Math" panose="02040503050406030204" pitchFamily="18" charset="0"/>
                  </a:rPr>
                  <a:t>$x+y=|a|$</a:t>
                </a:r>
                <a:r>
                  <a:rPr sz="2400" b="0">
                    <a:solidFill>
                      <a:srgbClr val="78350F"/>
                    </a:solidFill>
                    <a:latin typeface="Arial"/>
                  </a:rPr>
                  <a:t> meets the first quadrant in an open segment; the other line must separate its endpoints.</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the line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lies in the first quadrant exactly on the open segment joining </a:t>
                </a:r>
                <a14:m>
                  <m:oMath xmlns:m="http://schemas.openxmlformats.org/officeDocument/2006/math">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it has no point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The line </a:t>
                </a:r>
                <a14:m>
                  <m:oMath xmlns:m="http://schemas.openxmlformats.org/officeDocument/2006/math">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crosses that open segment iff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oMath>
                </a14:m>
                <a:r>
                  <a:rPr sz="2400" b="0">
                    <a:solidFill>
                      <a:srgbClr val="111827"/>
                    </a:solidFill>
                    <a:latin typeface="Arial"/>
                  </a:rPr>
                  <a:t> has opposite signs at the endpoints.</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For </a:t>
                </a:r>
                <a:r>
                  <a:rPr lang="en-IN" sz="2400">
                    <a:solidFill>
                      <a:srgbClr val="111827"/>
                    </a:solidFill>
                    <a:latin typeface="Cambria Math" panose="02040503050406030204" pitchFamily="18" charset="0"/>
                  </a:rPr>
                  <a:t>$a\neq0$</a:t>
                </a:r>
                <a:r>
                  <a:rPr sz="2400" b="0">
                    <a:solidFill>
                      <a:srgbClr val="111827"/>
                    </a:solidFill>
                    <a:latin typeface="Arial"/>
                  </a:rPr>
                  <a:t> the line </a:t>
                </a:r>
                <a:r>
                  <a:rPr lang="en-IN" sz="2400">
                    <a:solidFill>
                      <a:srgbClr val="111827"/>
                    </a:solidFill>
                    <a:latin typeface="Cambria Math" panose="02040503050406030204" pitchFamily="18" charset="0"/>
                  </a:rPr>
                  <a:t>$x+y=|a|$</a:t>
                </a:r>
                <a:r>
                  <a:rPr sz="2400" b="0">
                    <a:solidFill>
                      <a:srgbClr val="111827"/>
                    </a:solidFill>
                    <a:latin typeface="Arial"/>
                  </a:rPr>
                  <a:t> lies in the first quadrant exactly on the open segment joining </a:t>
                </a:r>
                <a:r>
                  <a:rPr lang="en-IN" sz="2400">
                    <a:solidFill>
                      <a:srgbClr val="111827"/>
                    </a:solidFill>
                    <a:latin typeface="Cambria Math" panose="02040503050406030204" pitchFamily="18" charset="0"/>
                  </a:rPr>
                  <a:t>$(|a|,0)$</a:t>
                </a:r>
                <a:r>
                  <a:rPr sz="2400" b="0">
                    <a:solidFill>
                      <a:srgbClr val="111827"/>
                    </a:solidFill>
                    <a:latin typeface="Arial"/>
                  </a:rPr>
                  <a:t> and </a:t>
                </a:r>
                <a:r>
                  <a:rPr lang="en-IN" sz="2400">
                    <a:solidFill>
                      <a:srgbClr val="111827"/>
                    </a:solidFill>
                    <a:latin typeface="Cambria Math" panose="02040503050406030204" pitchFamily="18" charset="0"/>
                  </a:rPr>
                  <a:t>$(0,|a|)$</a:t>
                </a:r>
                <a:r>
                  <a:rPr sz="2400" b="0">
                    <a:solidFill>
                      <a:srgbClr val="111827"/>
                    </a:solidFill>
                    <a:latin typeface="Arial"/>
                  </a:rPr>
                  <a:t>; for </a:t>
                </a:r>
                <a:r>
                  <a:rPr lang="en-IN" sz="2400">
                    <a:solidFill>
                      <a:srgbClr val="111827"/>
                    </a:solidFill>
                    <a:latin typeface="Cambria Math" panose="02040503050406030204" pitchFamily="18" charset="0"/>
                  </a:rPr>
                  <a:t>$a=0$</a:t>
                </a:r>
                <a:r>
                  <a:rPr sz="2400" b="0">
                    <a:solidFill>
                      <a:srgbClr val="111827"/>
                    </a:solidFill>
                    <a:latin typeface="Arial"/>
                  </a:rPr>
                  <a:t> it has no point there.</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The line </a:t>
                </a:r>
                <a:r>
                  <a:rPr lang="en-IN" sz="2400">
                    <a:solidFill>
                      <a:srgbClr val="111827"/>
                    </a:solidFill>
                    <a:latin typeface="Cambria Math" panose="02040503050406030204" pitchFamily="18" charset="0"/>
                  </a:rPr>
                  <a:t>$ax-y=4$</a:t>
                </a:r>
                <a:r>
                  <a:rPr sz="2400" b="0">
                    <a:solidFill>
                      <a:srgbClr val="111827"/>
                    </a:solidFill>
                    <a:latin typeface="Arial"/>
                  </a:rPr>
                  <a:t> crosses that open segment iff </a:t>
                </a:r>
                <a:r>
                  <a:rPr lang="en-IN" sz="2400">
                    <a:solidFill>
                      <a:srgbClr val="111827"/>
                    </a:solidFill>
                    <a:latin typeface="Cambria Math" panose="02040503050406030204" pitchFamily="18" charset="0"/>
                  </a:rPr>
                  <a:t>$g(x,y)=ax-y-4$</a:t>
                </a:r>
                <a:r>
                  <a:rPr sz="2400" b="0">
                    <a:solidFill>
                      <a:srgbClr val="111827"/>
                    </a:solidFill>
                    <a:latin typeface="Arial"/>
                  </a:rPr>
                  <a:t> has opposite signs at the endpoints.</a:t>
                </a:r>
                <a:endParaRPr sz="2400">
                  <a:solidFill>
                    <a:srgbClr val="111827"/>
                  </a:solidFill>
                </a:endParaRPr>
              </a:p>
            </p:txBody>
          </p:sp>
        </mc:Fallback>
      </mc:AlternateContent>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always, so we need </a:t>
                </a:r>
                <a14:m>
                  <m:oMath xmlns:m="http://schemas.openxmlformats.org/officeDocument/2006/math">
                    <m:r>
                      <a:rPr lang="en-IN" sz="2400" i="1">
                        <a:solidFill>
                          <a:srgbClr val="111827"/>
                        </a:solidFill>
                        <a:latin typeface="Cambria Math" panose="02040503050406030204" pitchFamily="18" charset="0"/>
                      </a:rPr>
                      <m:t>𝑔</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&lt;</m:t>
                    </m:r>
                    <m:r>
                      <a:rPr lang="en-IN" sz="2400" i="1">
                        <a:solidFill>
                          <a:srgbClr val="111827"/>
                        </a:solidFill>
                        <a:latin typeface="Cambria Math" panose="02040503050406030204" pitchFamily="18" charset="0"/>
                      </a:rPr>
                      <m:t>0</m:t>
                    </m:r>
                  </m:oMath>
                </a14:m>
                <a:r>
                  <a:rPr sz="2400" b="0">
                    <a:solidFill>
                      <a:srgbClr val="111827"/>
                    </a:solidFill>
                    <a:latin typeface="Arial"/>
                  </a:rPr>
                  <a:t>; for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sSup>
                      <m:e>
                        <m:r>
                          <a:rPr lang="en-IN" sz="2400" i="1">
                            <a:solidFill>
                              <a:srgbClr val="111827"/>
                            </a:solidFill>
                            <a:latin typeface="Cambria Math" panose="02040503050406030204" pitchFamily="18" charset="0"/>
                          </a:rPr>
                          <m:t>𝑎</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4</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&gt;</m:t>
                    </m:r>
                    <m:r>
                      <a:rPr lang="en-IN" sz="2400" i="1">
                        <a:solidFill>
                          <a:srgbClr val="111827"/>
                        </a:solidFill>
                        <a:latin typeface="Cambria Math" panose="02040503050406030204" pitchFamily="18" charset="0"/>
                      </a:rPr>
                      <m:t>2</m:t>
                    </m:r>
                  </m:oMath>
                </a14:m>
                <a:r>
                  <a:rPr sz="2400" b="0">
                    <a:solidFill>
                      <a:srgbClr val="111827"/>
                    </a:solidFill>
                    <a:latin typeface="Arial"/>
                  </a:rPr>
                  <a:t>. So the interval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and </a:t>
                </a:r>
                <a14:m>
                  <m:oMath xmlns:m="http://schemas.openxmlformats.org/officeDocument/2006/math">
                    <m:sSub>
                      <m:e>
                        <m:r>
                          <a:rPr lang="en-IN" sz="2400" i="1">
                            <a:solidFill>
                              <a:srgbClr val="111827"/>
                            </a:solidFill>
                            <a:latin typeface="Cambria Math" panose="02040503050406030204" pitchFamily="18" charset="0"/>
                          </a:rPr>
                          <m:t>𝑎</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oMath>
                </a14:m>
                <a:r>
                  <a:rPr sz="2400" b="0">
                    <a:solidFill>
                      <a:srgbClr val="111827"/>
                    </a:solidFill>
                    <a:latin typeface="Arial"/>
                  </a:rPr>
                  <a:t> (p).</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$g(0,|a|)=-|a|-4&lt;0$</a:t>
                </a:r>
                <a:r>
                  <a:rPr sz="2400" b="0">
                    <a:solidFill>
                      <a:srgbClr val="111827"/>
                    </a:solidFill>
                    <a:latin typeface="Arial"/>
                  </a:rPr>
                  <a:t> always, so we need </a:t>
                </a:r>
                <a:r>
                  <a:rPr lang="en-IN" sz="2400">
                    <a:solidFill>
                      <a:srgbClr val="111827"/>
                    </a:solidFill>
                    <a:latin typeface="Cambria Math" panose="02040503050406030204" pitchFamily="18" charset="0"/>
                  </a:rPr>
                  <a:t>$g(|a|,0)=a|a|-4&gt;0$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For </a:t>
                </a:r>
                <a:r>
                  <a:rPr lang="en-IN" sz="2400">
                    <a:solidFill>
                      <a:srgbClr val="111827"/>
                    </a:solidFill>
                    <a:latin typeface="Cambria Math" panose="02040503050406030204" pitchFamily="18" charset="0"/>
                  </a:rPr>
                  <a:t>$a\le0$</a:t>
                </a:r>
                <a:r>
                  <a:rPr sz="2400" b="0">
                    <a:solidFill>
                      <a:srgbClr val="111827"/>
                    </a:solidFill>
                    <a:latin typeface="Arial"/>
                  </a:rPr>
                  <a:t>, </a:t>
                </a:r>
                <a:r>
                  <a:rPr lang="en-IN" sz="2400">
                    <a:solidFill>
                      <a:srgbClr val="111827"/>
                    </a:solidFill>
                    <a:latin typeface="Cambria Math" panose="02040503050406030204" pitchFamily="18" charset="0"/>
                  </a:rPr>
                  <a:t>$a|a|-4\le-4&lt;0$</a:t>
                </a:r>
                <a:r>
                  <a:rPr sz="2400" b="0">
                    <a:solidFill>
                      <a:srgbClr val="111827"/>
                    </a:solidFill>
                    <a:latin typeface="Arial"/>
                  </a:rPr>
                  <a:t>; for </a:t>
                </a:r>
                <a:r>
                  <a:rPr lang="en-IN" sz="2400">
                    <a:solidFill>
                      <a:srgbClr val="111827"/>
                    </a:solidFill>
                    <a:latin typeface="Cambria Math" panose="02040503050406030204" pitchFamily="18" charset="0"/>
                  </a:rPr>
                  <a:t>$a&gt;0$</a:t>
                </a:r>
                <a:r>
                  <a:rPr sz="2400" b="0">
                    <a:solidFill>
                      <a:srgbClr val="111827"/>
                    </a:solidFill>
                    <a:latin typeface="Arial"/>
                  </a:rPr>
                  <a:t>, </a:t>
                </a:r>
                <a:r>
                  <a:rPr lang="en-IN" sz="2400">
                    <a:solidFill>
                      <a:srgbClr val="111827"/>
                    </a:solidFill>
                    <a:latin typeface="Cambria Math" panose="02040503050406030204" pitchFamily="18" charset="0"/>
                  </a:rPr>
                  <a:t>$a^2&gt;4$</a:t>
                </a:r>
                <a:r>
                  <a:rPr sz="2400" b="0">
                    <a:solidFill>
                      <a:srgbClr val="111827"/>
                    </a:solidFill>
                    <a:latin typeface="Arial"/>
                  </a:rPr>
                  <a:t>, i.e. </a:t>
                </a:r>
                <a:r>
                  <a:rPr lang="en-IN" sz="2400">
                    <a:solidFill>
                      <a:srgbClr val="111827"/>
                    </a:solidFill>
                    <a:latin typeface="Cambria Math" panose="02040503050406030204" pitchFamily="18" charset="0"/>
                  </a:rPr>
                  <a:t>$a&gt;2$</a:t>
                </a:r>
                <a:r>
                  <a:rPr sz="2400" b="0">
                    <a:solidFill>
                      <a:srgbClr val="111827"/>
                    </a:solidFill>
                    <a:latin typeface="Arial"/>
                  </a:rPr>
                  <a:t>. So the interval is </a:t>
                </a:r>
                <a:r>
                  <a:rPr lang="en-IN" sz="2400">
                    <a:solidFill>
                      <a:srgbClr val="111827"/>
                    </a:solidFill>
                    <a:latin typeface="Cambria Math" panose="02040503050406030204" pitchFamily="18" charset="0"/>
                  </a:rPr>
                  <a:t>$(2,\infty)$</a:t>
                </a:r>
                <a:r>
                  <a:rPr sz="2400" b="0">
                    <a:solidFill>
                      <a:srgbClr val="111827"/>
                    </a:solidFill>
                    <a:latin typeface="Arial"/>
                  </a:rPr>
                  <a:t> and </a:t>
                </a:r>
                <a:r>
                  <a:rPr lang="en-IN" sz="2400">
                    <a:solidFill>
                      <a:srgbClr val="111827"/>
                    </a:solidFill>
                    <a:latin typeface="Cambria Math" panose="02040503050406030204" pitchFamily="18" charset="0"/>
                  </a:rPr>
                  <a:t>$a_0=2$</a:t>
                </a:r>
                <a:r>
                  <a:rPr sz="2400" b="0">
                    <a:solidFill>
                      <a:srgbClr val="111827"/>
                    </a:solidFill>
                    <a:latin typeface="Arial"/>
                  </a:rPr>
                  <a:t> (p).</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(q), (r); (B)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(p); (C)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(s); (D)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(p)</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$\to$</a:t>
                </a:r>
                <a:r>
                  <a:rPr sz="2800" b="1">
                    <a:solidFill>
                      <a:srgbClr val="15803D"/>
                    </a:solidFill>
                    <a:latin typeface="Arial"/>
                  </a:rPr>
                  <a:t> (q), (r); (B) </a:t>
                </a:r>
                <a:r>
                  <a:rPr lang="en-IN" sz="2800">
                    <a:solidFill>
                      <a:srgbClr val="15803D"/>
                    </a:solidFill>
                    <a:latin typeface="Cambria Math" panose="02040503050406030204" pitchFamily="18" charset="0"/>
                  </a:rPr>
                  <a:t>$\to$</a:t>
                </a:r>
                <a:r>
                  <a:rPr sz="2800" b="1">
                    <a:solidFill>
                      <a:srgbClr val="15803D"/>
                    </a:solidFill>
                    <a:latin typeface="Arial"/>
                  </a:rPr>
                  <a:t> (p); (C) </a:t>
                </a:r>
                <a:r>
                  <a:rPr lang="en-IN" sz="2800">
                    <a:solidFill>
                      <a:srgbClr val="15803D"/>
                    </a:solidFill>
                    <a:latin typeface="Cambria Math" panose="02040503050406030204" pitchFamily="18" charset="0"/>
                  </a:rPr>
                  <a:t>$\to$</a:t>
                </a:r>
                <a:r>
                  <a:rPr sz="2800" b="1">
                    <a:solidFill>
                      <a:srgbClr val="15803D"/>
                    </a:solidFill>
                    <a:latin typeface="Arial"/>
                  </a:rPr>
                  <a:t> (s); (D) </a:t>
                </a:r>
                <a:r>
                  <a:rPr lang="en-IN" sz="2800">
                    <a:solidFill>
                      <a:srgbClr val="15803D"/>
                    </a:solidFill>
                    <a:latin typeface="Cambria Math" panose="02040503050406030204" pitchFamily="18" charset="0"/>
                  </a:rPr>
                  <a:t>$\to$</a:t>
                </a:r>
                <a:r>
                  <a:rPr sz="2800" b="1">
                    <a:solidFill>
                      <a:srgbClr val="15803D"/>
                    </a:solidFill>
                    <a:latin typeface="Arial"/>
                  </a:rPr>
                  <a:t> (p)</a:t>
                </a:r>
                <a:endParaRPr sz="2800">
                  <a:solidFill>
                    <a:srgbClr val="15803D"/>
                  </a:solidFill>
                </a:endParaRPr>
              </a:p>
            </p:txBody>
          </p:sp>
        </mc:Fallback>
      </mc:AlternateContent>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46</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e>
                      <m:sub>
                        <m:r>
                          <m:rPr>
                            <m:sty m:val="p"/>
                          </m:rPr>
                          <a:rPr lang="en-IN" sz="2400">
                            <a:solidFill>
                              <a:srgbClr val="111827"/>
                            </a:solidFill>
                            <a:latin typeface="Cambria Math" panose="02040503050406030204" pitchFamily="18" charset="0"/>
                          </a:rPr>
                          <m:t>⟂</m:t>
                        </m:r>
                      </m:sub>
                    </m:sSub>
                  </m:oMath>
                </a14:m>
                <a:r>
                  <a:rPr sz="2400" b="0">
                    <a:solidFill>
                      <a:srgbClr val="111827"/>
                    </a:solidFill>
                    <a:latin typeface="Arial"/>
                  </a:rPr>
                  <a:t> (minus the component of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oMath>
                </a14:m>
                <a:r>
                  <a:rPr sz="2400" b="0">
                    <a:solidFill>
                      <a:srgbClr val="111827"/>
                    </a:solidFill>
                    <a:latin typeface="Arial"/>
                  </a:rPr>
                  <a:t> perpendicular to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 so it vanishes iff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𝑎</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𝑘</m:t>
                        </m:r>
                      </m:e>
                    </m:acc>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any triangle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sin</m:t>
                    </m:r>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cos</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with equality iff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𝐵</m:t>
                    </m:r>
                  </m:oMath>
                </a14:m>
                <a:r>
                  <a:rPr sz="2400" b="0">
                    <a:solidFill>
                      <a:srgbClr val="111827"/>
                    </a:solidFill>
                    <a:latin typeface="Arial"/>
                  </a:rPr>
                  <a:t> and </a:t>
                </a:r>
                <a14:m>
                  <m:oMath xmlns:m="http://schemas.openxmlformats.org/officeDocument/2006/math">
                    <m:r>
                      <a:rPr lang="en-IN" sz="2400" i="1">
                        <a:solidFill>
                          <a:srgbClr val="111827"/>
                        </a:solidFill>
                        <a:latin typeface="Cambria Math" panose="02040503050406030204" pitchFamily="18" charset="0"/>
                      </a:rPr>
                      <m:t>𝐶</m:t>
                    </m:r>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90</m:t>
                        </m:r>
                      </m:e>
                      <m:sup>
                        <m:r>
                          <m:rPr>
                            <m:sty m:val="p"/>
                          </m:rPr>
                          <a:rPr lang="en-IN" sz="2400">
                            <a:solidFill>
                              <a:srgbClr val="111827"/>
                            </a:solidFill>
                            <a:latin typeface="Cambria Math" panose="02040503050406030204" pitchFamily="18" charset="0"/>
                          </a:rPr>
                          <m:t>∘</m:t>
                        </m:r>
                      </m:sup>
                    </m:sSup>
                  </m:oMath>
                </a14:m>
                <a:r>
                  <a:rPr sz="2400" b="0">
                    <a:solidFill>
                      <a:srgbClr val="111827"/>
                    </a:solidFill>
                    <a:latin typeface="Arial"/>
                  </a:rPr>
                  <a:t> (isosceles right triangle).</a:t>
                </a:r>
                <a:endParaRPr sz="2400">
                  <a:solidFill>
                    <a:srgbClr val="111827"/>
                  </a:solidFill>
                </a:endParaRPr>
              </a:p>
              <a:p>
                <a:pPr algn="l" marL="274320" indent="-274320">
                  <a:spcAft>
                    <a:spcPts val="600"/>
                  </a:spcAft>
                  <a:buFont typeface="Arial"/>
                  <a:buChar char="•"/>
                  <a:defRPr sz="2400">
                    <a:solidFill>
                      <a:srgbClr val="111827"/>
                    </a:solidFill>
                  </a:defRPr>
                </a:pP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𝑎</m:t>
                            </m:r>
                          </m:sub>
                          <m:sup>
                            <m:r>
                              <a:rPr lang="en-IN" sz="2400" i="1">
                                <a:solidFill>
                                  <a:srgbClr val="111827"/>
                                </a:solidFill>
                                <a:latin typeface="Cambria Math" panose="02040503050406030204" pitchFamily="18" charset="0"/>
                              </a:rPr>
                              <m:t>𝑏</m:t>
                            </m:r>
                          </m:sup>
                          <m:e>
                            <m:r>
                              <a:rPr lang="en-IN" sz="2400" i="1">
                                <a:solidFill>
                                  <a:srgbClr val="111827"/>
                                </a:solidFill>
                                <a:latin typeface="Cambria Math" panose="02040503050406030204" pitchFamily="18" charset="0"/>
                              </a:rPr>
                              <m:t>𝑓</m:t>
                            </m:r>
                          </m:e>
                        </m:nary>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𝑎</m:t>
                            </m:r>
                          </m:sub>
                          <m:sup>
                            <m:r>
                              <a:rPr lang="en-IN" sz="2400" i="1">
                                <a:solidFill>
                                  <a:srgbClr val="111827"/>
                                </a:solidFill>
                                <a:latin typeface="Cambria Math" panose="02040503050406030204" pitchFamily="18" charset="0"/>
                              </a:rPr>
                              <m:t>𝑏</m:t>
                            </m:r>
                          </m:sup>
                          <m:e>
                            <m:r>
                              <m:rPr>
                                <m:sty m:val="p"/>
                              </m:rPr>
                              <a:rPr lang="en-IN" sz="2400">
                                <a:solidFill>
                                  <a:srgbClr val="111827"/>
                                </a:solidFill>
                                <a:latin typeface="Cambria Math" panose="02040503050406030204" pitchFamily="18" charset="0"/>
                              </a:rPr>
                              <m:t>(</m:t>
                            </m:r>
                          </m:e>
                        </m:nary>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𝑓</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
                      <m:dPr>
                        <m:begChr m:val="|"/>
                        <m:sepChr m:val=""/>
                        <m:endChr m:val="|"/>
                        <m:grow/>
                        <m:ctrlPr>
                          <a:rPr lang="en-IN" sz="2400" i="1">
                            <a:solidFill>
                              <a:srgbClr val="111827"/>
                            </a:solidFill>
                            <a:latin typeface="Cambria Math" panose="02040503050406030204" pitchFamily="18" charset="0"/>
                          </a:rPr>
                        </m:ctrlPr>
                      </m:dPr>
                      <m:e>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𝑎</m:t>
                            </m:r>
                          </m:sub>
                          <m:sup>
                            <m:r>
                              <a:rPr lang="en-IN" sz="2400" i="1">
                                <a:solidFill>
                                  <a:srgbClr val="111827"/>
                                </a:solidFill>
                                <a:latin typeface="Cambria Math" panose="02040503050406030204" pitchFamily="18" charset="0"/>
                              </a:rPr>
                              <m:t>𝑏</m:t>
                            </m:r>
                          </m:sup>
                          <m:e>
                            <m:r>
                              <a:rPr lang="en-IN" sz="2400" i="1">
                                <a:solidFill>
                                  <a:srgbClr val="111827"/>
                                </a:solidFill>
                                <a:latin typeface="Cambria Math" panose="02040503050406030204" pitchFamily="18" charset="0"/>
                              </a:rPr>
                              <m:t>𝑓</m:t>
                            </m:r>
                          </m:e>
                        </m:nary>
                      </m:e>
                    </m:d>
                  </m:oMath>
                </a14:m>
                <a:r>
                  <a:rPr sz="2400" b="0">
                    <a:solidFill>
                      <a:srgbClr val="111827"/>
                    </a:solidFill>
                    <a:latin typeface="Arial"/>
                  </a:rPr>
                  <a:t>; and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a:rPr lang="en-IN" sz="2400" i="1">
                            <a:solidFill>
                              <a:srgbClr val="111827"/>
                            </a:solidFill>
                            <a:latin typeface="Cambria Math" panose="02040503050406030204" pitchFamily="18" charset="0"/>
                          </a:rPr>
                          <m:t>0</m:t>
                        </m:r>
                      </m:sup>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rad>
                      </m:e>
                    </m:nary>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e>
                        </m:rad>
                      </m:e>
                    </m:nary>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(both are </a:t>
                </a:r>
                <a14:m>
                  <m:oMath xmlns:m="http://schemas.openxmlformats.org/officeDocument/2006/math">
                    <m:nary>
                      <m:naryPr>
                        <m:chr m:val="∫"/>
                        <m:limLoc m:val="subSup"/>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0</m:t>
                        </m:r>
                      </m:sub>
                      <m:sup>
                        <m:r>
                          <a:rPr lang="en-IN" sz="2400" i="1">
                            <a:solidFill>
                              <a:srgbClr val="111827"/>
                            </a:solidFill>
                            <a:latin typeface="Cambria Math" panose="02040503050406030204" pitchFamily="18" charset="0"/>
                          </a:rPr>
                          <m:t>1</m:t>
                        </m:r>
                      </m:sup>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𝑢</m:t>
                            </m:r>
                          </m:e>
                        </m:rad>
                      </m:e>
                    </m:nary>
                    <m:r>
                      <a:rPr lang="en-IN" sz="2400" i="1">
                        <a:solidFill>
                          <a:srgbClr val="111827"/>
                        </a:solidFill>
                        <a:latin typeface="Cambria Math" panose="02040503050406030204" pitchFamily="18" charset="0"/>
                      </a:rPr>
                      <m:t> </m:t>
                    </m:r>
                    <m:r>
                      <a:rPr lang="en-IN" sz="2400" i="1">
                        <a:solidFill>
                          <a:srgbClr val="111827"/>
                        </a:solidFill>
                        <a:latin typeface="Cambria Math" panose="02040503050406030204" pitchFamily="18" charset="0"/>
                      </a:rPr>
                      <m:t>𝑑</m:t>
                    </m:r>
                    <m:r>
                      <a:rPr lang="en-IN" sz="2400" i="1">
                        <a:solidFill>
                          <a:srgbClr val="111827"/>
                        </a:solidFill>
                        <a:latin typeface="Cambria Math" panose="02040503050406030204" pitchFamily="18" charset="0"/>
                      </a:rPr>
                      <m:t>𝑢</m:t>
                    </m:r>
                  </m:oMath>
                </a14:m>
                <a:r>
                  <a:rPr sz="2400" b="0">
                    <a:solidFill>
                      <a:srgbClr val="111827"/>
                    </a:solidFill>
                    <a:latin typeface="Arial"/>
                  </a:rPr>
                  <a:t> after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 or </a:t>
                </a:r>
                <a14:m>
                  <m:oMath xmlns:m="http://schemas.openxmlformats.org/officeDocument/2006/math">
                    <m:r>
                      <a:rPr lang="en-IN" sz="2400" i="1">
                        <a:solidFill>
                          <a:srgbClr val="111827"/>
                        </a:solidFill>
                        <a:latin typeface="Cambria Math" panose="02040503050406030204" pitchFamily="18" charset="0"/>
                      </a:rPr>
                      <m:t>𝑢</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test whether a line crosses a segment, compare the signs of its equation at the two endpoints.</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$\hat{k}\times\left(\hat{k}\times\vec{a}\right)=-\vec{a}_{\perp}$</a:t>
                </a:r>
                <a:r>
                  <a:rPr sz="2400" b="0">
                    <a:solidFill>
                      <a:srgbClr val="111827"/>
                    </a:solidFill>
                    <a:latin typeface="Arial"/>
                  </a:rPr>
                  <a:t> (minus the component of </a:t>
                </a:r>
                <a:r>
                  <a:rPr lang="en-IN" sz="2400">
                    <a:solidFill>
                      <a:srgbClr val="111827"/>
                    </a:solidFill>
                    <a:latin typeface="Cambria Math" panose="02040503050406030204" pitchFamily="18" charset="0"/>
                  </a:rPr>
                  <a:t>$\vec a$</a:t>
                </a:r>
                <a:r>
                  <a:rPr sz="2400" b="0">
                    <a:solidFill>
                      <a:srgbClr val="111827"/>
                    </a:solidFill>
                    <a:latin typeface="Arial"/>
                  </a:rPr>
                  <a:t> perpendicular to </a:t>
                </a:r>
                <a:r>
                  <a:rPr lang="en-IN" sz="2400">
                    <a:solidFill>
                      <a:srgbClr val="111827"/>
                    </a:solidFill>
                    <a:latin typeface="Cambria Math" panose="02040503050406030204" pitchFamily="18" charset="0"/>
                  </a:rPr>
                  <a:t>$\hat k$</a:t>
                </a:r>
                <a:r>
                  <a:rPr sz="2400" b="0">
                    <a:solidFill>
                      <a:srgbClr val="111827"/>
                    </a:solidFill>
                    <a:latin typeface="Arial"/>
                  </a:rPr>
                  <a:t>), so it vanishes iff </a:t>
                </a:r>
                <a:r>
                  <a:rPr lang="en-IN" sz="2400">
                    <a:solidFill>
                      <a:srgbClr val="111827"/>
                    </a:solidFill>
                    <a:latin typeface="Cambria Math" panose="02040503050406030204" pitchFamily="18" charset="0"/>
                  </a:rPr>
                  <a:t>$\vec{a}\parallel\hat{k}$</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In any triangle </a:t>
                </a:r>
                <a:r>
                  <a:rPr lang="en-IN" sz="2400">
                    <a:solidFill>
                      <a:srgbClr val="111827"/>
                    </a:solidFill>
                    <a:latin typeface="Cambria Math" panose="02040503050406030204" pitchFamily="18" charset="0"/>
                  </a:rPr>
                  <a:t>$\cos A\cos B+\sin A\sin B\sin C\le\cos(A-B)\le1$</a:t>
                </a:r>
                <a:r>
                  <a:rPr sz="2400" b="0">
                    <a:solidFill>
                      <a:srgbClr val="111827"/>
                    </a:solidFill>
                    <a:latin typeface="Arial"/>
                  </a:rPr>
                  <a:t>, with equality iff </a:t>
                </a:r>
                <a:r>
                  <a:rPr lang="en-IN" sz="2400">
                    <a:solidFill>
                      <a:srgbClr val="111827"/>
                    </a:solidFill>
                    <a:latin typeface="Cambria Math" panose="02040503050406030204" pitchFamily="18" charset="0"/>
                  </a:rPr>
                  <a:t>$A=B$</a:t>
                </a:r>
                <a:r>
                  <a:rPr sz="2400" b="0">
                    <a:solidFill>
                      <a:srgbClr val="111827"/>
                    </a:solidFill>
                    <a:latin typeface="Arial"/>
                  </a:rPr>
                  <a:t> and </a:t>
                </a:r>
                <a:r>
                  <a:rPr lang="en-IN" sz="2400">
                    <a:solidFill>
                      <a:srgbClr val="111827"/>
                    </a:solidFill>
                    <a:latin typeface="Cambria Math" panose="02040503050406030204" pitchFamily="18" charset="0"/>
                  </a:rPr>
                  <a:t>$C=90^\circ$</a:t>
                </a:r>
                <a:r>
                  <a:rPr sz="2400" b="0">
                    <a:solidFill>
                      <a:srgbClr val="111827"/>
                    </a:solidFill>
                    <a:latin typeface="Arial"/>
                  </a:rPr>
                  <a:t> (isosceles right triangle).</a:t>
                </a:r>
                <a:endParaRPr sz="2400">
                  <a:solidFill>
                    <a:srgbClr val="111827"/>
                  </a:solidFill>
                </a:endParaRPr>
              </a:p>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$\left|\int_a^bf\right|+\left|\int_a^b(-f)\right|=2\left|\int_a^bf\right|$</a:t>
                </a:r>
                <a:r>
                  <a:rPr sz="2400" b="0">
                    <a:solidFill>
                      <a:srgbClr val="111827"/>
                    </a:solidFill>
                    <a:latin typeface="Arial"/>
                  </a:rPr>
                  <a:t>; and </a:t>
                </a:r>
                <a:r>
                  <a:rPr lang="en-IN" sz="2400">
                    <a:solidFill>
                      <a:srgbClr val="111827"/>
                    </a:solidFill>
                    <a:latin typeface="Cambria Math" panose="02040503050406030204" pitchFamily="18" charset="0"/>
                  </a:rPr>
                  <a:t>$\int_{-1}^0\sqrt{1+x}\,dx=\int_0^1\sqrt{1-x}\,dx=\frac23$</a:t>
                </a:r>
                <a:r>
                  <a:rPr sz="2400" b="0">
                    <a:solidFill>
                      <a:srgbClr val="111827"/>
                    </a:solidFill>
                    <a:latin typeface="Arial"/>
                  </a:rPr>
                  <a:t> (both are </a:t>
                </a:r>
                <a:r>
                  <a:rPr lang="en-IN" sz="2400">
                    <a:solidFill>
                      <a:srgbClr val="111827"/>
                    </a:solidFill>
                    <a:latin typeface="Cambria Math" panose="02040503050406030204" pitchFamily="18" charset="0"/>
                  </a:rPr>
                  <a:t>$\int_0^1\sqrt{u}\,du$</a:t>
                </a:r>
                <a:r>
                  <a:rPr sz="2400" b="0">
                    <a:solidFill>
                      <a:srgbClr val="111827"/>
                    </a:solidFill>
                    <a:latin typeface="Arial"/>
                  </a:rPr>
                  <a:t> after </a:t>
                </a:r>
                <a:r>
                  <a:rPr lang="en-IN" sz="2400">
                    <a:solidFill>
                      <a:srgbClr val="111827"/>
                    </a:solidFill>
                    <a:latin typeface="Cambria Math" panose="02040503050406030204" pitchFamily="18" charset="0"/>
                  </a:rPr>
                  <a:t>$u=1+x$</a:t>
                </a:r>
                <a:r>
                  <a:rPr sz="2400" b="0">
                    <a:solidFill>
                      <a:srgbClr val="111827"/>
                    </a:solidFill>
                    <a:latin typeface="Arial"/>
                  </a:rPr>
                  <a:t> or </a:t>
                </a:r>
                <a:r>
                  <a:rPr lang="en-IN" sz="2400">
                    <a:solidFill>
                      <a:srgbClr val="111827"/>
                    </a:solidFill>
                    <a:latin typeface="Cambria Math" panose="02040503050406030204" pitchFamily="18" charset="0"/>
                  </a:rPr>
                  <a:t>$u=1-x$</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To test whether a line crosses a segment, compare the signs of its equation at the two endpoints.</a:t>
                </a:r>
                <a:endParaRPr sz="2400">
                  <a:solidFill>
                    <a:srgbClr val="111827"/>
                  </a:solidFill>
                </a:endParaRPr>
              </a:p>
            </p:txBody>
          </p:sp>
        </mc:Fallback>
      </mc:AlternateContent>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ounded Rectangle 3"/>
              <p:cNvSpPr/>
              <p:nvPr/>
            </p:nvSpPr>
            <p:spPr>
              <a:xfrm>
                <a:off x="731520" y="1280160"/>
                <a:ext cx="10725912" cy="482447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200">
                    <a:solidFill>
                      <a:srgbClr val="111827"/>
                    </a:solidFill>
                  </a:defRPr>
                </a:lvl1pPr>
              </a:lstStyle>
              <a:p>
                <a:pPr algn="l">
                  <a:spcAft>
                    <a:spcPts val="500"/>
                  </a:spcAft>
                  <a:defRPr sz="2200">
                    <a:solidFill>
                      <a:srgbClr val="111827"/>
                    </a:solidFill>
                  </a:defRPr>
                </a:pPr>
                <a:r>
                  <a:rPr sz="2200" b="0">
                    <a:solidFill>
                      <a:srgbClr val="111827"/>
                    </a:solidFill>
                    <a:latin typeface="Arial"/>
                  </a:rPr>
                  <a:t>Match the following columns.</a:t>
                </a:r>
                <a:endParaRPr sz="2200">
                  <a:solidFill>
                    <a:srgbClr val="111827"/>
                  </a:solidFill>
                </a:endParaRPr>
              </a:p>
              <a:p>
                <a:pPr algn="l">
                  <a:spcAft>
                    <a:spcPts val="500"/>
                  </a:spcAft>
                  <a:defRPr sz="2200">
                    <a:solidFill>
                      <a:srgbClr val="111827"/>
                    </a:solidFill>
                  </a:defRPr>
                </a:pPr>
                <a:r>
                  <a:rPr sz="2200" b="0">
                    <a:solidFill>
                      <a:srgbClr val="111827"/>
                    </a:solidFill>
                    <a:latin typeface="Arial"/>
                  </a:rPr>
                  <a:t>Column I: (A) Let </a:t>
                </a:r>
                <a14:m>
                  <m:oMath xmlns:m="http://schemas.openxmlformats.org/officeDocument/2006/math">
                    <m:r>
                      <a:rPr lang="en-IN" sz="2200" i="1">
                        <a:solidFill>
                          <a:srgbClr val="111827"/>
                        </a:solidFill>
                        <a:latin typeface="Cambria Math" panose="02040503050406030204" pitchFamily="18" charset="0"/>
                      </a:rPr>
                      <m:t>𝑃</m:t>
                    </m:r>
                  </m:oMath>
                </a14:m>
                <a:r>
                  <a:rPr sz="2200" b="0">
                    <a:solidFill>
                      <a:srgbClr val="111827"/>
                    </a:solidFill>
                    <a:latin typeface="Arial"/>
                  </a:rPr>
                  <a:t> be the plane passing through the point </a:t>
                </a:r>
                <a14:m>
                  <m:oMath xmlns:m="http://schemas.openxmlformats.org/officeDocument/2006/math">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2</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1</m:t>
                    </m:r>
                    <m:r>
                      <m:rPr>
                        <m:sty m:val="p"/>
                      </m:rPr>
                      <a:rPr lang="en-IN" sz="2200">
                        <a:solidFill>
                          <a:srgbClr val="111827"/>
                        </a:solidFill>
                        <a:latin typeface="Cambria Math" panose="02040503050406030204" pitchFamily="18" charset="0"/>
                      </a:rPr>
                      <m:t>,</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1</m:t>
                    </m:r>
                    <m:r>
                      <m:rPr>
                        <m:sty m:val="p"/>
                      </m:rPr>
                      <a:rPr lang="en-IN" sz="2200">
                        <a:solidFill>
                          <a:srgbClr val="111827"/>
                        </a:solidFill>
                        <a:latin typeface="Cambria Math" panose="02040503050406030204" pitchFamily="18" charset="0"/>
                      </a:rPr>
                      <m:t>)</m:t>
                    </m:r>
                  </m:oMath>
                </a14:m>
                <a:r>
                  <a:rPr sz="2200" b="0">
                    <a:solidFill>
                      <a:srgbClr val="111827"/>
                    </a:solidFill>
                    <a:latin typeface="Arial"/>
                  </a:rPr>
                  <a:t> and perpendicular to the line of intersection of the planes </a:t>
                </a:r>
                <a14:m>
                  <m:oMath xmlns:m="http://schemas.openxmlformats.org/officeDocument/2006/math">
                    <m:r>
                      <a:rPr lang="en-IN" sz="2200" i="1">
                        <a:solidFill>
                          <a:srgbClr val="111827"/>
                        </a:solidFill>
                        <a:latin typeface="Cambria Math" panose="02040503050406030204" pitchFamily="18" charset="0"/>
                      </a:rPr>
                      <m:t>2</m:t>
                    </m:r>
                    <m:r>
                      <a:rPr lang="en-IN" sz="2200" i="1">
                        <a:solidFill>
                          <a:srgbClr val="111827"/>
                        </a:solidFill>
                        <a:latin typeface="Cambria Math" panose="02040503050406030204" pitchFamily="18" charset="0"/>
                      </a:rPr>
                      <m:t>𝑥</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𝑦</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𝑧</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3</m:t>
                    </m:r>
                  </m:oMath>
                </a14:m>
                <a:r>
                  <a:rPr sz="2200" b="0">
                    <a:solidFill>
                      <a:srgbClr val="111827"/>
                    </a:solidFill>
                    <a:latin typeface="Arial"/>
                  </a:rPr>
                  <a:t> and </a:t>
                </a:r>
                <a14:m>
                  <m:oMath xmlns:m="http://schemas.openxmlformats.org/officeDocument/2006/math">
                    <m:r>
                      <a:rPr lang="en-IN" sz="2200" i="1">
                        <a:solidFill>
                          <a:srgbClr val="111827"/>
                        </a:solidFill>
                        <a:latin typeface="Cambria Math" panose="02040503050406030204" pitchFamily="18" charset="0"/>
                      </a:rPr>
                      <m:t>𝑥</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2</m:t>
                    </m:r>
                    <m:r>
                      <a:rPr lang="en-IN" sz="2200" i="1">
                        <a:solidFill>
                          <a:srgbClr val="111827"/>
                        </a:solidFill>
                        <a:latin typeface="Cambria Math" panose="02040503050406030204" pitchFamily="18" charset="0"/>
                      </a:rPr>
                      <m:t>𝑦</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𝑧</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2</m:t>
                    </m:r>
                  </m:oMath>
                </a14:m>
                <a:r>
                  <a:rPr sz="2200" b="0">
                    <a:solidFill>
                      <a:srgbClr val="111827"/>
                    </a:solidFill>
                    <a:latin typeface="Arial"/>
                  </a:rPr>
                  <a:t>. Then the distance from the point </a:t>
                </a:r>
                <a14:m>
                  <m:oMath xmlns:m="http://schemas.openxmlformats.org/officeDocument/2006/math">
                    <m:d>
                      <m:dPr>
                        <m:begChr m:val="("/>
                        <m:sepChr m:val=""/>
                        <m:endChr m:val=")"/>
                        <m:grow/>
                        <m:ctrlPr>
                          <a:rPr lang="en-IN" sz="2200" i="1">
                            <a:solidFill>
                              <a:srgbClr val="111827"/>
                            </a:solidFill>
                            <a:latin typeface="Cambria Math" panose="02040503050406030204" pitchFamily="18" charset="0"/>
                          </a:rPr>
                        </m:ctrlPr>
                      </m:dPr>
                      <m:e>
                        <m:rad>
                          <m:radPr>
                            <m:degHide m:val="on"/>
                            <m:ctrlPr>
                              <a:rPr lang="en-IN" sz="2200" i="1">
                                <a:solidFill>
                                  <a:srgbClr val="111827"/>
                                </a:solidFill>
                                <a:latin typeface="Cambria Math" panose="02040503050406030204" pitchFamily="18" charset="0"/>
                              </a:rPr>
                            </m:ctrlPr>
                          </m:radPr>
                          <m:deg/>
                          <m:e>
                            <m:r>
                              <a:rPr lang="en-IN" sz="2200" i="1">
                                <a:solidFill>
                                  <a:srgbClr val="111827"/>
                                </a:solidFill>
                                <a:latin typeface="Cambria Math" panose="02040503050406030204" pitchFamily="18" charset="0"/>
                              </a:rPr>
                              <m:t>3</m:t>
                            </m:r>
                          </m:e>
                        </m:rad>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2</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2</m:t>
                        </m:r>
                      </m:e>
                    </m:d>
                  </m:oMath>
                </a14:m>
                <a:r>
                  <a:rPr sz="2200" b="0">
                    <a:solidFill>
                      <a:srgbClr val="111827"/>
                    </a:solidFill>
                    <a:latin typeface="Arial"/>
                  </a:rPr>
                  <a:t> to the plane </a:t>
                </a:r>
                <a14:m>
                  <m:oMath xmlns:m="http://schemas.openxmlformats.org/officeDocument/2006/math">
                    <m:r>
                      <a:rPr lang="en-IN" sz="2200" i="1">
                        <a:solidFill>
                          <a:srgbClr val="111827"/>
                        </a:solidFill>
                        <a:latin typeface="Cambria Math" panose="02040503050406030204" pitchFamily="18" charset="0"/>
                      </a:rPr>
                      <m:t>𝑃</m:t>
                    </m:r>
                  </m:oMath>
                </a14:m>
                <a:r>
                  <a:rPr sz="2200" b="0">
                    <a:solidFill>
                      <a:srgbClr val="111827"/>
                    </a:solidFill>
                    <a:latin typeface="Arial"/>
                  </a:rPr>
                  <a:t> is; (B) If </a:t>
                </a:r>
                <a14:m>
                  <m:oMath xmlns:m="http://schemas.openxmlformats.org/officeDocument/2006/math">
                    <m:sSub>
                      <m:e>
                        <m:r>
                          <m:rPr>
                            <m:sty m:val="p"/>
                          </m:rPr>
                          <a:rPr lang="en-IN" sz="2200">
                            <a:solidFill>
                              <a:srgbClr val="111827"/>
                            </a:solidFill>
                            <a:latin typeface="Cambria Math" panose="02040503050406030204" pitchFamily="18" charset="0"/>
                          </a:rPr>
                          <m:t>lim</m:t>
                        </m:r>
                      </m:e>
                      <m:sub>
                        <m:r>
                          <a:rPr lang="en-IN" sz="2200" i="1">
                            <a:solidFill>
                              <a:srgbClr val="111827"/>
                            </a:solidFill>
                            <a:latin typeface="Cambria Math" panose="02040503050406030204" pitchFamily="18" charset="0"/>
                          </a:rPr>
                          <m:t>𝑛</m:t>
                        </m:r>
                        <m:r>
                          <m:rPr>
                            <m:sty m:val="p"/>
                          </m:rPr>
                          <a:rPr lang="en-IN" sz="2200">
                            <a:solidFill>
                              <a:srgbClr val="111827"/>
                            </a:solidFill>
                            <a:latin typeface="Cambria Math" panose="02040503050406030204" pitchFamily="18" charset="0"/>
                          </a:rPr>
                          <m:t>→</m:t>
                        </m:r>
                        <m:r>
                          <m:rPr>
                            <m:sty m:val="p"/>
                          </m:rPr>
                          <a:rPr lang="en-IN" sz="2200">
                            <a:solidFill>
                              <a:srgbClr val="111827"/>
                            </a:solidFill>
                            <a:latin typeface="Cambria Math" panose="02040503050406030204" pitchFamily="18" charset="0"/>
                          </a:rPr>
                          <m:t>∞</m:t>
                        </m:r>
                      </m:sub>
                    </m:sSub>
                    <m:nary>
                      <m:naryPr>
                        <m:chr m:val="∑"/>
                        <m:limLoc m:val="undOvr"/>
                        <m:subHide m:val="off"/>
                        <m:supHide m:val="off"/>
                        <m:ctrlPr>
                          <a:rPr lang="en-IN" sz="2200" i="1">
                            <a:solidFill>
                              <a:srgbClr val="111827"/>
                            </a:solidFill>
                            <a:latin typeface="Cambria Math" panose="02040503050406030204" pitchFamily="18" charset="0"/>
                          </a:rPr>
                        </m:ctrlPr>
                      </m:naryPr>
                      <m:sub>
                        <m:r>
                          <a:rPr lang="en-IN" sz="2200" i="1">
                            <a:solidFill>
                              <a:srgbClr val="111827"/>
                            </a:solidFill>
                            <a:latin typeface="Cambria Math" panose="02040503050406030204" pitchFamily="18" charset="0"/>
                          </a:rPr>
                          <m:t>𝑖</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1</m:t>
                        </m:r>
                      </m:sub>
                      <m:sup>
                        <m:r>
                          <a:rPr lang="en-IN" sz="2200" i="1">
                            <a:solidFill>
                              <a:srgbClr val="111827"/>
                            </a:solidFill>
                            <a:latin typeface="Cambria Math" panose="02040503050406030204" pitchFamily="18" charset="0"/>
                          </a:rPr>
                          <m:t>𝑛</m:t>
                        </m:r>
                      </m:sup>
                      <m:e>
                        <m:sSup>
                          <m:e>
                            <m:r>
                              <m:rPr>
                                <m:sty m:val="p"/>
                              </m:rPr>
                              <a:rPr lang="en-IN" sz="2200">
                                <a:solidFill>
                                  <a:srgbClr val="111827"/>
                                </a:solidFill>
                                <a:latin typeface="Cambria Math" panose="02040503050406030204" pitchFamily="18" charset="0"/>
                              </a:rPr>
                              <m:t>tan</m:t>
                            </m:r>
                          </m:e>
                          <m:sup>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1</m:t>
                            </m:r>
                          </m:sup>
                        </m:sSup>
                      </m:e>
                    </m:nary>
                    <m:d>
                      <m:dPr>
                        <m:begChr m:val="("/>
                        <m:sepChr m:val=""/>
                        <m:endChr m:val=")"/>
                        <m:grow/>
                        <m:ctrlPr>
                          <a:rPr lang="en-IN" sz="2200" i="1">
                            <a:solidFill>
                              <a:srgbClr val="111827"/>
                            </a:solidFill>
                            <a:latin typeface="Cambria Math" panose="02040503050406030204" pitchFamily="18" charset="0"/>
                          </a:rPr>
                        </m:ctrlPr>
                      </m:dPr>
                      <m:e>
                        <m:f>
                          <m:fPr>
                            <m:type m:val="bar"/>
                            <m:ctrlPr>
                              <a:rPr lang="en-IN" sz="2200" i="1">
                                <a:solidFill>
                                  <a:srgbClr val="111827"/>
                                </a:solidFill>
                                <a:latin typeface="Cambria Math" panose="02040503050406030204" pitchFamily="18" charset="0"/>
                              </a:rPr>
                            </m:ctrlPr>
                          </m:fPr>
                          <m:num>
                            <m:r>
                              <a:rPr lang="en-IN" sz="2200" i="1">
                                <a:solidFill>
                                  <a:srgbClr val="111827"/>
                                </a:solidFill>
                                <a:latin typeface="Cambria Math" panose="02040503050406030204" pitchFamily="18" charset="0"/>
                              </a:rPr>
                              <m:t>1</m:t>
                            </m:r>
                          </m:num>
                          <m:den>
                            <m:r>
                              <a:rPr lang="en-IN" sz="2200" i="1">
                                <a:solidFill>
                                  <a:srgbClr val="111827"/>
                                </a:solidFill>
                                <a:latin typeface="Cambria Math" panose="02040503050406030204" pitchFamily="18" charset="0"/>
                              </a:rPr>
                              <m:t>2</m:t>
                            </m:r>
                            <m:sSup>
                              <m:e>
                                <m:r>
                                  <a:rPr lang="en-IN" sz="2200" i="1">
                                    <a:solidFill>
                                      <a:srgbClr val="111827"/>
                                    </a:solidFill>
                                    <a:latin typeface="Cambria Math" panose="02040503050406030204" pitchFamily="18" charset="0"/>
                                  </a:rPr>
                                  <m:t>𝑖</m:t>
                                </m:r>
                              </m:e>
                              <m:sup>
                                <m:r>
                                  <a:rPr lang="en-IN" sz="2200" i="1">
                                    <a:solidFill>
                                      <a:srgbClr val="111827"/>
                                    </a:solidFill>
                                    <a:latin typeface="Cambria Math" panose="02040503050406030204" pitchFamily="18" charset="0"/>
                                  </a:rPr>
                                  <m:t>2</m:t>
                                </m:r>
                              </m:sup>
                            </m:sSup>
                          </m:den>
                        </m:f>
                      </m:e>
                    </m:d>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𝑡</m:t>
                    </m:r>
                  </m:oMath>
                </a14:m>
                <a:r>
                  <a:rPr sz="2200" b="0">
                    <a:solidFill>
                      <a:srgbClr val="111827"/>
                    </a:solidFill>
                    <a:latin typeface="Arial"/>
                  </a:rPr>
                  <a:t>, then </a:t>
                </a:r>
                <a14:m>
                  <m:oMath xmlns:m="http://schemas.openxmlformats.org/officeDocument/2006/math">
                    <m:r>
                      <m:rPr>
                        <m:sty m:val="p"/>
                      </m:rPr>
                      <a:rPr lang="en-IN" sz="2200">
                        <a:solidFill>
                          <a:srgbClr val="111827"/>
                        </a:solidFill>
                        <a:latin typeface="Cambria Math" panose="02040503050406030204" pitchFamily="18" charset="0"/>
                      </a:rPr>
                      <m:t>tan</m:t>
                    </m:r>
                    <m:r>
                      <a:rPr lang="en-IN" sz="2200" i="1">
                        <a:solidFill>
                          <a:srgbClr val="111827"/>
                        </a:solidFill>
                        <a:latin typeface="Cambria Math" panose="02040503050406030204" pitchFamily="18" charset="0"/>
                      </a:rPr>
                      <m:t>𝑡</m:t>
                    </m:r>
                  </m:oMath>
                </a14:m>
                <a:r>
                  <a:rPr sz="2200" b="0">
                    <a:solidFill>
                      <a:srgbClr val="111827"/>
                    </a:solidFill>
                    <a:latin typeface="Arial"/>
                  </a:rPr>
                  <a:t> is; (C) The sides </a:t>
                </a:r>
                <a14:m>
                  <m:oMath xmlns:m="http://schemas.openxmlformats.org/officeDocument/2006/math">
                    <m:r>
                      <a:rPr lang="en-IN" sz="2200" i="1">
                        <a:solidFill>
                          <a:srgbClr val="111827"/>
                        </a:solidFill>
                        <a:latin typeface="Cambria Math" panose="02040503050406030204" pitchFamily="18" charset="0"/>
                      </a:rPr>
                      <m:t>𝑎</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𝑏</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𝑐</m:t>
                    </m:r>
                  </m:oMath>
                </a14:m>
                <a:r>
                  <a:rPr sz="2200" b="0">
                    <a:solidFill>
                      <a:srgbClr val="111827"/>
                    </a:solidFill>
                    <a:latin typeface="Arial"/>
                  </a:rPr>
                  <a:t> of a triangle </a:t>
                </a:r>
                <a14:m>
                  <m:oMath xmlns:m="http://schemas.openxmlformats.org/officeDocument/2006/math">
                    <m:r>
                      <a:rPr lang="en-IN" sz="2200" i="1">
                        <a:solidFill>
                          <a:srgbClr val="111827"/>
                        </a:solidFill>
                        <a:latin typeface="Cambria Math" panose="02040503050406030204" pitchFamily="18" charset="0"/>
                      </a:rPr>
                      <m:t>𝐴</m:t>
                    </m:r>
                    <m:r>
                      <a:rPr lang="en-IN" sz="2200" i="1">
                        <a:solidFill>
                          <a:srgbClr val="111827"/>
                        </a:solidFill>
                        <a:latin typeface="Cambria Math" panose="02040503050406030204" pitchFamily="18" charset="0"/>
                      </a:rPr>
                      <m:t>𝐵</m:t>
                    </m:r>
                    <m:r>
                      <a:rPr lang="en-IN" sz="2200" i="1">
                        <a:solidFill>
                          <a:srgbClr val="111827"/>
                        </a:solidFill>
                        <a:latin typeface="Cambria Math" panose="02040503050406030204" pitchFamily="18" charset="0"/>
                      </a:rPr>
                      <m:t>𝐶</m:t>
                    </m:r>
                  </m:oMath>
                </a14:m>
                <a:r>
                  <a:rPr sz="2200" b="0">
                    <a:solidFill>
                      <a:srgbClr val="111827"/>
                    </a:solidFill>
                    <a:latin typeface="Arial"/>
                  </a:rPr>
                  <a:t> are in A.P. If </a:t>
                </a:r>
                <a14:m>
                  <m:oMath xmlns:m="http://schemas.openxmlformats.org/officeDocument/2006/math">
                    <m:r>
                      <m:rPr>
                        <m:sty m:val="p"/>
                      </m:rPr>
                      <a:rPr lang="en-IN" sz="2200">
                        <a:solidFill>
                          <a:srgbClr val="111827"/>
                        </a:solidFill>
                        <a:latin typeface="Cambria Math" panose="02040503050406030204" pitchFamily="18" charset="0"/>
                      </a:rPr>
                      <m:t>cos</m:t>
                    </m:r>
                    <m:sSub>
                      <m:e>
                        <m:r>
                          <a:rPr lang="en-IN" sz="2200" i="1">
                            <a:solidFill>
                              <a:srgbClr val="111827"/>
                            </a:solidFill>
                            <a:latin typeface="Cambria Math" panose="02040503050406030204" pitchFamily="18" charset="0"/>
                          </a:rPr>
                          <m:t>θ</m:t>
                        </m:r>
                      </m:e>
                      <m:sub>
                        <m:r>
                          <a:rPr lang="en-IN" sz="2200" i="1">
                            <a:solidFill>
                              <a:srgbClr val="111827"/>
                            </a:solidFill>
                            <a:latin typeface="Cambria Math" panose="02040503050406030204" pitchFamily="18" charset="0"/>
                          </a:rPr>
                          <m:t>1</m:t>
                        </m:r>
                      </m:sub>
                    </m:sSub>
                    <m:r>
                      <m:rPr>
                        <m:sty m:val="p"/>
                      </m:rPr>
                      <a:rPr lang="en-IN" sz="2200">
                        <a:solidFill>
                          <a:srgbClr val="111827"/>
                        </a:solidFill>
                        <a:latin typeface="Cambria Math" panose="02040503050406030204" pitchFamily="18" charset="0"/>
                      </a:rPr>
                      <m:t>=</m:t>
                    </m:r>
                    <m:f>
                      <m:fPr>
                        <m:type m:val="bar"/>
                        <m:ctrlPr>
                          <a:rPr lang="en-IN" sz="2200" i="1">
                            <a:solidFill>
                              <a:srgbClr val="111827"/>
                            </a:solidFill>
                            <a:latin typeface="Cambria Math" panose="02040503050406030204" pitchFamily="18" charset="0"/>
                          </a:rPr>
                        </m:ctrlPr>
                      </m:fPr>
                      <m:num>
                        <m:r>
                          <a:rPr lang="en-IN" sz="2200" i="1">
                            <a:solidFill>
                              <a:srgbClr val="111827"/>
                            </a:solidFill>
                            <a:latin typeface="Cambria Math" panose="02040503050406030204" pitchFamily="18" charset="0"/>
                          </a:rPr>
                          <m:t>𝑎</m:t>
                        </m:r>
                      </m:num>
                      <m:den>
                        <m:r>
                          <a:rPr lang="en-IN" sz="2200" i="1">
                            <a:solidFill>
                              <a:srgbClr val="111827"/>
                            </a:solidFill>
                            <a:latin typeface="Cambria Math" panose="02040503050406030204" pitchFamily="18" charset="0"/>
                          </a:rPr>
                          <m:t>𝑏</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𝑐</m:t>
                        </m:r>
                      </m:den>
                    </m:f>
                  </m:oMath>
                </a14:m>
                <a:r>
                  <a:rPr sz="2200" b="0">
                    <a:solidFill>
                      <a:srgbClr val="111827"/>
                    </a:solidFill>
                    <a:latin typeface="Arial"/>
                  </a:rPr>
                  <a:t>, </a:t>
                </a:r>
                <a14:m>
                  <m:oMath xmlns:m="http://schemas.openxmlformats.org/officeDocument/2006/math">
                    <m:r>
                      <m:rPr>
                        <m:sty m:val="p"/>
                      </m:rPr>
                      <a:rPr lang="en-IN" sz="2200">
                        <a:solidFill>
                          <a:srgbClr val="111827"/>
                        </a:solidFill>
                        <a:latin typeface="Cambria Math" panose="02040503050406030204" pitchFamily="18" charset="0"/>
                      </a:rPr>
                      <m:t>cos</m:t>
                    </m:r>
                    <m:sSub>
                      <m:e>
                        <m:r>
                          <a:rPr lang="en-IN" sz="2200" i="1">
                            <a:solidFill>
                              <a:srgbClr val="111827"/>
                            </a:solidFill>
                            <a:latin typeface="Cambria Math" panose="02040503050406030204" pitchFamily="18" charset="0"/>
                          </a:rPr>
                          <m:t>θ</m:t>
                        </m:r>
                      </m:e>
                      <m:sub>
                        <m:r>
                          <a:rPr lang="en-IN" sz="2200" i="1">
                            <a:solidFill>
                              <a:srgbClr val="111827"/>
                            </a:solidFill>
                            <a:latin typeface="Cambria Math" panose="02040503050406030204" pitchFamily="18" charset="0"/>
                          </a:rPr>
                          <m:t>2</m:t>
                        </m:r>
                      </m:sub>
                    </m:sSub>
                    <m:r>
                      <m:rPr>
                        <m:sty m:val="p"/>
                      </m:rPr>
                      <a:rPr lang="en-IN" sz="2200">
                        <a:solidFill>
                          <a:srgbClr val="111827"/>
                        </a:solidFill>
                        <a:latin typeface="Cambria Math" panose="02040503050406030204" pitchFamily="18" charset="0"/>
                      </a:rPr>
                      <m:t>=</m:t>
                    </m:r>
                    <m:f>
                      <m:fPr>
                        <m:type m:val="bar"/>
                        <m:ctrlPr>
                          <a:rPr lang="en-IN" sz="2200" i="1">
                            <a:solidFill>
                              <a:srgbClr val="111827"/>
                            </a:solidFill>
                            <a:latin typeface="Cambria Math" panose="02040503050406030204" pitchFamily="18" charset="0"/>
                          </a:rPr>
                        </m:ctrlPr>
                      </m:fPr>
                      <m:num>
                        <m:r>
                          <a:rPr lang="en-IN" sz="2200" i="1">
                            <a:solidFill>
                              <a:srgbClr val="111827"/>
                            </a:solidFill>
                            <a:latin typeface="Cambria Math" panose="02040503050406030204" pitchFamily="18" charset="0"/>
                          </a:rPr>
                          <m:t>𝑏</m:t>
                        </m:r>
                      </m:num>
                      <m:den>
                        <m:r>
                          <a:rPr lang="en-IN" sz="2200" i="1">
                            <a:solidFill>
                              <a:srgbClr val="111827"/>
                            </a:solidFill>
                            <a:latin typeface="Cambria Math" panose="02040503050406030204" pitchFamily="18" charset="0"/>
                          </a:rPr>
                          <m:t>𝑎</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𝑐</m:t>
                        </m:r>
                      </m:den>
                    </m:f>
                  </m:oMath>
                </a14:m>
                <a:r>
                  <a:rPr sz="2200" b="0">
                    <a:solidFill>
                      <a:srgbClr val="111827"/>
                    </a:solidFill>
                    <a:latin typeface="Arial"/>
                  </a:rPr>
                  <a:t>, </a:t>
                </a:r>
                <a14:m>
                  <m:oMath xmlns:m="http://schemas.openxmlformats.org/officeDocument/2006/math">
                    <m:r>
                      <m:rPr>
                        <m:sty m:val="p"/>
                      </m:rPr>
                      <a:rPr lang="en-IN" sz="2200">
                        <a:solidFill>
                          <a:srgbClr val="111827"/>
                        </a:solidFill>
                        <a:latin typeface="Cambria Math" panose="02040503050406030204" pitchFamily="18" charset="0"/>
                      </a:rPr>
                      <m:t>cos</m:t>
                    </m:r>
                    <m:sSub>
                      <m:e>
                        <m:r>
                          <a:rPr lang="en-IN" sz="2200" i="1">
                            <a:solidFill>
                              <a:srgbClr val="111827"/>
                            </a:solidFill>
                            <a:latin typeface="Cambria Math" panose="02040503050406030204" pitchFamily="18" charset="0"/>
                          </a:rPr>
                          <m:t>θ</m:t>
                        </m:r>
                      </m:e>
                      <m:sub>
                        <m:r>
                          <a:rPr lang="en-IN" sz="2200" i="1">
                            <a:solidFill>
                              <a:srgbClr val="111827"/>
                            </a:solidFill>
                            <a:latin typeface="Cambria Math" panose="02040503050406030204" pitchFamily="18" charset="0"/>
                          </a:rPr>
                          <m:t>3</m:t>
                        </m:r>
                      </m:sub>
                    </m:sSub>
                    <m:r>
                      <m:rPr>
                        <m:sty m:val="p"/>
                      </m:rPr>
                      <a:rPr lang="en-IN" sz="2200">
                        <a:solidFill>
                          <a:srgbClr val="111827"/>
                        </a:solidFill>
                        <a:latin typeface="Cambria Math" panose="02040503050406030204" pitchFamily="18" charset="0"/>
                      </a:rPr>
                      <m:t>=</m:t>
                    </m:r>
                    <m:f>
                      <m:fPr>
                        <m:type m:val="bar"/>
                        <m:ctrlPr>
                          <a:rPr lang="en-IN" sz="2200" i="1">
                            <a:solidFill>
                              <a:srgbClr val="111827"/>
                            </a:solidFill>
                            <a:latin typeface="Cambria Math" panose="02040503050406030204" pitchFamily="18" charset="0"/>
                          </a:rPr>
                        </m:ctrlPr>
                      </m:fPr>
                      <m:num>
                        <m:r>
                          <a:rPr lang="en-IN" sz="2200" i="1">
                            <a:solidFill>
                              <a:srgbClr val="111827"/>
                            </a:solidFill>
                            <a:latin typeface="Cambria Math" panose="02040503050406030204" pitchFamily="18" charset="0"/>
                          </a:rPr>
                          <m:t>𝑐</m:t>
                        </m:r>
                      </m:num>
                      <m:den>
                        <m:r>
                          <a:rPr lang="en-IN" sz="2200" i="1">
                            <a:solidFill>
                              <a:srgbClr val="111827"/>
                            </a:solidFill>
                            <a:latin typeface="Cambria Math" panose="02040503050406030204" pitchFamily="18" charset="0"/>
                          </a:rPr>
                          <m:t>𝑎</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𝑏</m:t>
                        </m:r>
                      </m:den>
                    </m:f>
                  </m:oMath>
                </a14:m>
                <a:r>
                  <a:rPr sz="2200" b="0">
                    <a:solidFill>
                      <a:srgbClr val="111827"/>
                    </a:solidFill>
                    <a:latin typeface="Arial"/>
                  </a:rPr>
                  <a:t>, then </a:t>
                </a:r>
                <a14:m>
                  <m:oMath xmlns:m="http://schemas.openxmlformats.org/officeDocument/2006/math">
                    <m:sSup>
                      <m:e>
                        <m:r>
                          <m:rPr>
                            <m:sty m:val="p"/>
                          </m:rPr>
                          <a:rPr lang="en-IN" sz="2200">
                            <a:solidFill>
                              <a:srgbClr val="111827"/>
                            </a:solidFill>
                            <a:latin typeface="Cambria Math" panose="02040503050406030204" pitchFamily="18" charset="0"/>
                          </a:rPr>
                          <m:t>tan</m:t>
                        </m:r>
                      </m:e>
                      <m:sup>
                        <m:r>
                          <a:rPr lang="en-IN" sz="2200" i="1">
                            <a:solidFill>
                              <a:srgbClr val="111827"/>
                            </a:solidFill>
                            <a:latin typeface="Cambria Math" panose="02040503050406030204" pitchFamily="18" charset="0"/>
                          </a:rPr>
                          <m:t>2</m:t>
                        </m:r>
                      </m:sup>
                    </m:sSup>
                    <m:f>
                      <m:fPr>
                        <m:type m:val="bar"/>
                        <m:ctrlPr>
                          <a:rPr lang="en-IN" sz="2200" i="1">
                            <a:solidFill>
                              <a:srgbClr val="111827"/>
                            </a:solidFill>
                            <a:latin typeface="Cambria Math" panose="02040503050406030204" pitchFamily="18" charset="0"/>
                          </a:rPr>
                        </m:ctrlPr>
                      </m:fPr>
                      <m:num>
                        <m:sSub>
                          <m:e>
                            <m:r>
                              <a:rPr lang="en-IN" sz="2200" i="1">
                                <a:solidFill>
                                  <a:srgbClr val="111827"/>
                                </a:solidFill>
                                <a:latin typeface="Cambria Math" panose="02040503050406030204" pitchFamily="18" charset="0"/>
                              </a:rPr>
                              <m:t>θ</m:t>
                            </m:r>
                          </m:e>
                          <m:sub>
                            <m:r>
                              <a:rPr lang="en-IN" sz="2200" i="1">
                                <a:solidFill>
                                  <a:srgbClr val="111827"/>
                                </a:solidFill>
                                <a:latin typeface="Cambria Math" panose="02040503050406030204" pitchFamily="18" charset="0"/>
                              </a:rPr>
                              <m:t>1</m:t>
                            </m:r>
                          </m:sub>
                        </m:sSub>
                      </m:num>
                      <m:den>
                        <m:r>
                          <a:rPr lang="en-IN" sz="2200" i="1">
                            <a:solidFill>
                              <a:srgbClr val="111827"/>
                            </a:solidFill>
                            <a:latin typeface="Cambria Math" panose="02040503050406030204" pitchFamily="18" charset="0"/>
                          </a:rPr>
                          <m:t>2</m:t>
                        </m:r>
                      </m:den>
                    </m:f>
                    <m:r>
                      <m:rPr>
                        <m:sty m:val="p"/>
                      </m:rPr>
                      <a:rPr lang="en-IN" sz="2200">
                        <a:solidFill>
                          <a:srgbClr val="111827"/>
                        </a:solidFill>
                        <a:latin typeface="Cambria Math" panose="02040503050406030204" pitchFamily="18" charset="0"/>
                      </a:rPr>
                      <m:t>+</m:t>
                    </m:r>
                    <m:sSup>
                      <m:e>
                        <m:r>
                          <m:rPr>
                            <m:sty m:val="p"/>
                          </m:rPr>
                          <a:rPr lang="en-IN" sz="2200">
                            <a:solidFill>
                              <a:srgbClr val="111827"/>
                            </a:solidFill>
                            <a:latin typeface="Cambria Math" panose="02040503050406030204" pitchFamily="18" charset="0"/>
                          </a:rPr>
                          <m:t>tan</m:t>
                        </m:r>
                      </m:e>
                      <m:sup>
                        <m:r>
                          <a:rPr lang="en-IN" sz="2200" i="1">
                            <a:solidFill>
                              <a:srgbClr val="111827"/>
                            </a:solidFill>
                            <a:latin typeface="Cambria Math" panose="02040503050406030204" pitchFamily="18" charset="0"/>
                          </a:rPr>
                          <m:t>2</m:t>
                        </m:r>
                      </m:sup>
                    </m:sSup>
                    <m:f>
                      <m:fPr>
                        <m:type m:val="bar"/>
                        <m:ctrlPr>
                          <a:rPr lang="en-IN" sz="2200" i="1">
                            <a:solidFill>
                              <a:srgbClr val="111827"/>
                            </a:solidFill>
                            <a:latin typeface="Cambria Math" panose="02040503050406030204" pitchFamily="18" charset="0"/>
                          </a:rPr>
                        </m:ctrlPr>
                      </m:fPr>
                      <m:num>
                        <m:sSub>
                          <m:e>
                            <m:r>
                              <a:rPr lang="en-IN" sz="2200" i="1">
                                <a:solidFill>
                                  <a:srgbClr val="111827"/>
                                </a:solidFill>
                                <a:latin typeface="Cambria Math" panose="02040503050406030204" pitchFamily="18" charset="0"/>
                              </a:rPr>
                              <m:t>θ</m:t>
                            </m:r>
                          </m:e>
                          <m:sub>
                            <m:r>
                              <a:rPr lang="en-IN" sz="2200" i="1">
                                <a:solidFill>
                                  <a:srgbClr val="111827"/>
                                </a:solidFill>
                                <a:latin typeface="Cambria Math" panose="02040503050406030204" pitchFamily="18" charset="0"/>
                              </a:rPr>
                              <m:t>3</m:t>
                            </m:r>
                          </m:sub>
                        </m:sSub>
                      </m:num>
                      <m:den>
                        <m:r>
                          <a:rPr lang="en-IN" sz="2200" i="1">
                            <a:solidFill>
                              <a:srgbClr val="111827"/>
                            </a:solidFill>
                            <a:latin typeface="Cambria Math" panose="02040503050406030204" pitchFamily="18" charset="0"/>
                          </a:rPr>
                          <m:t>2</m:t>
                        </m:r>
                      </m:den>
                    </m:f>
                    <m:r>
                      <m:rPr>
                        <m:sty m:val="p"/>
                      </m:rPr>
                      <a:rPr lang="en-IN" sz="2200">
                        <a:solidFill>
                          <a:srgbClr val="111827"/>
                        </a:solidFill>
                        <a:latin typeface="Cambria Math" panose="02040503050406030204" pitchFamily="18" charset="0"/>
                      </a:rPr>
                      <m:t>=</m:t>
                    </m:r>
                  </m:oMath>
                </a14:m>
                <a:r>
                  <a:rPr sz="2200" b="0">
                    <a:solidFill>
                      <a:srgbClr val="111827"/>
                    </a:solidFill>
                    <a:latin typeface="Arial"/>
                  </a:rPr>
                  <a:t>; (D) Let </a:t>
                </a:r>
                <a14:m>
                  <m:oMath xmlns:m="http://schemas.openxmlformats.org/officeDocument/2006/math">
                    <m:r>
                      <a:rPr lang="en-IN" sz="2200" i="1">
                        <a:solidFill>
                          <a:srgbClr val="111827"/>
                        </a:solidFill>
                        <a:latin typeface="Cambria Math" panose="02040503050406030204" pitchFamily="18" charset="0"/>
                      </a:rPr>
                      <m:t>𝐿</m:t>
                    </m:r>
                  </m:oMath>
                </a14:m>
                <a:r>
                  <a:rPr sz="2200" b="0">
                    <a:solidFill>
                      <a:srgbClr val="111827"/>
                    </a:solidFill>
                    <a:latin typeface="Arial"/>
                  </a:rPr>
                  <a:t> be the line passing through </a:t>
                </a:r>
                <a14:m>
                  <m:oMath xmlns:m="http://schemas.openxmlformats.org/officeDocument/2006/math">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0</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1</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0</m:t>
                    </m:r>
                    <m:r>
                      <m:rPr>
                        <m:sty m:val="p"/>
                      </m:rPr>
                      <a:rPr lang="en-IN" sz="2200">
                        <a:solidFill>
                          <a:srgbClr val="111827"/>
                        </a:solidFill>
                        <a:latin typeface="Cambria Math" panose="02040503050406030204" pitchFamily="18" charset="0"/>
                      </a:rPr>
                      <m:t>)</m:t>
                    </m:r>
                  </m:oMath>
                </a14:m>
                <a:r>
                  <a:rPr sz="2200" b="0">
                    <a:solidFill>
                      <a:srgbClr val="111827"/>
                    </a:solidFill>
                    <a:latin typeface="Arial"/>
                  </a:rPr>
                  <a:t> and perpendicular to the plane </a:t>
                </a:r>
                <a14:m>
                  <m:oMath xmlns:m="http://schemas.openxmlformats.org/officeDocument/2006/math">
                    <m:r>
                      <a:rPr lang="en-IN" sz="2200" i="1">
                        <a:solidFill>
                          <a:srgbClr val="111827"/>
                        </a:solidFill>
                        <a:latin typeface="Cambria Math" panose="02040503050406030204" pitchFamily="18" charset="0"/>
                      </a:rPr>
                      <m:t>𝑥</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2</m:t>
                    </m:r>
                    <m:r>
                      <a:rPr lang="en-IN" sz="2200" i="1">
                        <a:solidFill>
                          <a:srgbClr val="111827"/>
                        </a:solidFill>
                        <a:latin typeface="Cambria Math" panose="02040503050406030204" pitchFamily="18" charset="0"/>
                      </a:rPr>
                      <m:t>𝑦</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2</m:t>
                    </m:r>
                    <m:r>
                      <a:rPr lang="en-IN" sz="2200" i="1">
                        <a:solidFill>
                          <a:srgbClr val="111827"/>
                        </a:solidFill>
                        <a:latin typeface="Cambria Math" panose="02040503050406030204" pitchFamily="18" charset="0"/>
                      </a:rPr>
                      <m:t>𝑧</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0</m:t>
                    </m:r>
                  </m:oMath>
                </a14:m>
                <a:r>
                  <a:rPr sz="2200" b="0">
                    <a:solidFill>
                      <a:srgbClr val="111827"/>
                    </a:solidFill>
                    <a:latin typeface="Arial"/>
                  </a:rPr>
                  <a:t>. Then the distance from the point </a:t>
                </a:r>
                <a14:m>
                  <m:oMath xmlns:m="http://schemas.openxmlformats.org/officeDocument/2006/math">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0</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0</m:t>
                    </m:r>
                    <m:r>
                      <m:rPr>
                        <m:sty m:val="p"/>
                      </m:rPr>
                      <a:rPr lang="en-IN" sz="2200">
                        <a:solidFill>
                          <a:srgbClr val="111827"/>
                        </a:solidFill>
                        <a:latin typeface="Cambria Math" panose="02040503050406030204" pitchFamily="18" charset="0"/>
                      </a:rPr>
                      <m:t>,</m:t>
                    </m:r>
                    <m:r>
                      <a:rPr lang="en-IN" sz="2200" i="1">
                        <a:solidFill>
                          <a:srgbClr val="111827"/>
                        </a:solidFill>
                        <a:latin typeface="Cambria Math" panose="02040503050406030204" pitchFamily="18" charset="0"/>
                      </a:rPr>
                      <m:t>0</m:t>
                    </m:r>
                    <m:r>
                      <m:rPr>
                        <m:sty m:val="p"/>
                      </m:rPr>
                      <a:rPr lang="en-IN" sz="2200">
                        <a:solidFill>
                          <a:srgbClr val="111827"/>
                        </a:solidFill>
                        <a:latin typeface="Cambria Math" panose="02040503050406030204" pitchFamily="18" charset="0"/>
                      </a:rPr>
                      <m:t>)</m:t>
                    </m:r>
                  </m:oMath>
                </a14:m>
                <a:r>
                  <a:rPr sz="2200" b="0">
                    <a:solidFill>
                      <a:srgbClr val="111827"/>
                    </a:solidFill>
                    <a:latin typeface="Arial"/>
                  </a:rPr>
                  <a:t> to the line </a:t>
                </a:r>
                <a14:m>
                  <m:oMath xmlns:m="http://schemas.openxmlformats.org/officeDocument/2006/math">
                    <m:r>
                      <a:rPr lang="en-IN" sz="2200" i="1">
                        <a:solidFill>
                          <a:srgbClr val="111827"/>
                        </a:solidFill>
                        <a:latin typeface="Cambria Math" panose="02040503050406030204" pitchFamily="18" charset="0"/>
                      </a:rPr>
                      <m:t>𝐿</m:t>
                    </m:r>
                  </m:oMath>
                </a14:m>
                <a:r>
                  <a:rPr sz="2200" b="0">
                    <a:solidFill>
                      <a:srgbClr val="111827"/>
                    </a:solidFill>
                    <a:latin typeface="Arial"/>
                  </a:rPr>
                  <a:t> is.</a:t>
                </a:r>
                <a:endParaRPr sz="2200">
                  <a:solidFill>
                    <a:srgbClr val="111827"/>
                  </a:solidFill>
                </a:endParaRPr>
              </a:p>
              <a:p>
                <a:pPr algn="l">
                  <a:spcAft>
                    <a:spcPts val="500"/>
                  </a:spcAft>
                  <a:defRPr sz="2200">
                    <a:solidFill>
                      <a:srgbClr val="111827"/>
                    </a:solidFill>
                  </a:defRPr>
                </a:pPr>
                <a:r>
                  <a:rPr sz="2200" b="0">
                    <a:solidFill>
                      <a:srgbClr val="111827"/>
                    </a:solidFill>
                    <a:latin typeface="Arial"/>
                  </a:rPr>
                  <a:t>Column II: (p) </a:t>
                </a:r>
                <a14:m>
                  <m:oMath xmlns:m="http://schemas.openxmlformats.org/officeDocument/2006/math">
                    <m:f>
                      <m:fPr>
                        <m:type m:val="bar"/>
                        <m:ctrlPr>
                          <a:rPr lang="en-IN" sz="2200" i="1">
                            <a:solidFill>
                              <a:srgbClr val="111827"/>
                            </a:solidFill>
                            <a:latin typeface="Cambria Math" panose="02040503050406030204" pitchFamily="18" charset="0"/>
                          </a:rPr>
                        </m:ctrlPr>
                      </m:fPr>
                      <m:num>
                        <m:rad>
                          <m:radPr>
                            <m:degHide m:val="on"/>
                            <m:ctrlPr>
                              <a:rPr lang="en-IN" sz="2200" i="1">
                                <a:solidFill>
                                  <a:srgbClr val="111827"/>
                                </a:solidFill>
                                <a:latin typeface="Cambria Math" panose="02040503050406030204" pitchFamily="18" charset="0"/>
                              </a:rPr>
                            </m:ctrlPr>
                          </m:radPr>
                          <m:deg/>
                          <m:e>
                            <m:r>
                              <a:rPr lang="en-IN" sz="2200" i="1">
                                <a:solidFill>
                                  <a:srgbClr val="111827"/>
                                </a:solidFill>
                                <a:latin typeface="Cambria Math" panose="02040503050406030204" pitchFamily="18" charset="0"/>
                              </a:rPr>
                              <m:t>5</m:t>
                            </m:r>
                          </m:e>
                        </m:rad>
                      </m:num>
                      <m:den>
                        <m:r>
                          <a:rPr lang="en-IN" sz="2200" i="1">
                            <a:solidFill>
                              <a:srgbClr val="111827"/>
                            </a:solidFill>
                            <a:latin typeface="Cambria Math" panose="02040503050406030204" pitchFamily="18" charset="0"/>
                          </a:rPr>
                          <m:t>3</m:t>
                        </m:r>
                      </m:den>
                    </m:f>
                  </m:oMath>
                </a14:m>
                <a:r>
                  <a:rPr sz="2200" b="0">
                    <a:solidFill>
                      <a:srgbClr val="111827"/>
                    </a:solidFill>
                    <a:latin typeface="Arial"/>
                  </a:rPr>
                  <a:t>; (q) </a:t>
                </a:r>
                <a14:m>
                  <m:oMath xmlns:m="http://schemas.openxmlformats.org/officeDocument/2006/math">
                    <m:r>
                      <a:rPr lang="en-IN" sz="2200" i="1">
                        <a:solidFill>
                          <a:srgbClr val="111827"/>
                        </a:solidFill>
                        <a:latin typeface="Cambria Math" panose="02040503050406030204" pitchFamily="18" charset="0"/>
                      </a:rPr>
                      <m:t>1</m:t>
                    </m:r>
                  </m:oMath>
                </a14:m>
                <a:r>
                  <a:rPr sz="2200" b="0">
                    <a:solidFill>
                      <a:srgbClr val="111827"/>
                    </a:solidFill>
                    <a:latin typeface="Arial"/>
                  </a:rPr>
                  <a:t>; (r) </a:t>
                </a:r>
                <a14:m>
                  <m:oMath xmlns:m="http://schemas.openxmlformats.org/officeDocument/2006/math">
                    <m:f>
                      <m:fPr>
                        <m:type m:val="bar"/>
                        <m:ctrlPr>
                          <a:rPr lang="en-IN" sz="2200" i="1">
                            <a:solidFill>
                              <a:srgbClr val="111827"/>
                            </a:solidFill>
                            <a:latin typeface="Cambria Math" panose="02040503050406030204" pitchFamily="18" charset="0"/>
                          </a:rPr>
                        </m:ctrlPr>
                      </m:fPr>
                      <m:num>
                        <m:r>
                          <a:rPr lang="en-IN" sz="2200" i="1">
                            <a:solidFill>
                              <a:srgbClr val="111827"/>
                            </a:solidFill>
                            <a:latin typeface="Cambria Math" panose="02040503050406030204" pitchFamily="18" charset="0"/>
                          </a:rPr>
                          <m:t>2</m:t>
                        </m:r>
                      </m:num>
                      <m:den>
                        <m:r>
                          <a:rPr lang="en-IN" sz="2200" i="1">
                            <a:solidFill>
                              <a:srgbClr val="111827"/>
                            </a:solidFill>
                            <a:latin typeface="Cambria Math" panose="02040503050406030204" pitchFamily="18" charset="0"/>
                          </a:rPr>
                          <m:t>3</m:t>
                        </m:r>
                      </m:den>
                    </m:f>
                  </m:oMath>
                </a14:m>
                <a:r>
                  <a:rPr sz="2200" b="0">
                    <a:solidFill>
                      <a:srgbClr val="111827"/>
                    </a:solidFill>
                    <a:latin typeface="Arial"/>
                  </a:rPr>
                  <a:t>; (s) </a:t>
                </a:r>
                <a14:m>
                  <m:oMath xmlns:m="http://schemas.openxmlformats.org/officeDocument/2006/math">
                    <m:r>
                      <a:rPr lang="en-IN" sz="2200" i="1">
                        <a:solidFill>
                          <a:srgbClr val="111827"/>
                        </a:solidFill>
                        <a:latin typeface="Cambria Math" panose="02040503050406030204" pitchFamily="18" charset="0"/>
                      </a:rPr>
                      <m:t>0</m:t>
                    </m:r>
                  </m:oMath>
                </a14:m>
                <a:r>
                  <a:rPr sz="2200" b="0">
                    <a:solidFill>
                      <a:srgbClr val="111827"/>
                    </a:solidFill>
                    <a:latin typeface="Arial"/>
                  </a:rPr>
                  <a:t>.</a:t>
                </a:r>
                <a:endParaRPr sz="2200">
                  <a:solidFill>
                    <a:srgbClr val="111827"/>
                  </a:solidFill>
                </a:endParaRPr>
              </a:p>
            </p:txBody>
          </p:sp>
        </mc:Choice>
        <mc:Fallback>
          <p:sp>
            <p:nvSpPr>
              <p:cNvPr id="4" name="Rounded Rectangle 3"/>
              <p:cNvSpPr/>
              <p:nvPr/>
            </p:nvSpPr>
            <p:spPr>
              <a:xfrm>
                <a:off x="731520" y="1280160"/>
                <a:ext cx="10725912" cy="4824476"/>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200">
                    <a:solidFill>
                      <a:srgbClr val="111827"/>
                    </a:solidFill>
                  </a:defRPr>
                </a:lvl1pPr>
              </a:lstStyle>
              <a:p>
                <a:pPr algn="l">
                  <a:spcAft>
                    <a:spcPts val="500"/>
                  </a:spcAft>
                  <a:defRPr sz="2200">
                    <a:solidFill>
                      <a:srgbClr val="111827"/>
                    </a:solidFill>
                  </a:defRPr>
                </a:pPr>
                <a:r>
                  <a:rPr sz="2200" b="0">
                    <a:solidFill>
                      <a:srgbClr val="111827"/>
                    </a:solidFill>
                    <a:latin typeface="Arial"/>
                  </a:rPr>
                  <a:t>Match the following columns.</a:t>
                </a:r>
                <a:endParaRPr sz="2200">
                  <a:solidFill>
                    <a:srgbClr val="111827"/>
                  </a:solidFill>
                </a:endParaRPr>
              </a:p>
              <a:p>
                <a:pPr algn="l">
                  <a:spcAft>
                    <a:spcPts val="500"/>
                  </a:spcAft>
                  <a:defRPr sz="2200">
                    <a:solidFill>
                      <a:srgbClr val="111827"/>
                    </a:solidFill>
                  </a:defRPr>
                </a:pPr>
                <a:r>
                  <a:rPr sz="2200" b="0">
                    <a:solidFill>
                      <a:srgbClr val="111827"/>
                    </a:solidFill>
                    <a:latin typeface="Arial"/>
                  </a:rPr>
                  <a:t>Column I: (A) Let </a:t>
                </a:r>
                <a:r>
                  <a:rPr lang="en-IN" sz="2200">
                    <a:solidFill>
                      <a:srgbClr val="111827"/>
                    </a:solidFill>
                    <a:latin typeface="Cambria Math" panose="02040503050406030204" pitchFamily="18" charset="0"/>
                  </a:rPr>
                  <a:t>$P$</a:t>
                </a:r>
                <a:r>
                  <a:rPr sz="2200" b="0">
                    <a:solidFill>
                      <a:srgbClr val="111827"/>
                    </a:solidFill>
                    <a:latin typeface="Arial"/>
                  </a:rPr>
                  <a:t> be the plane passing through the point </a:t>
                </a:r>
                <a:r>
                  <a:rPr lang="en-IN" sz="2200">
                    <a:solidFill>
                      <a:srgbClr val="111827"/>
                    </a:solidFill>
                    <a:latin typeface="Cambria Math" panose="02040503050406030204" pitchFamily="18" charset="0"/>
                  </a:rPr>
                  <a:t>$(2,1,-1)$</a:t>
                </a:r>
                <a:r>
                  <a:rPr sz="2200" b="0">
                    <a:solidFill>
                      <a:srgbClr val="111827"/>
                    </a:solidFill>
                    <a:latin typeface="Arial"/>
                  </a:rPr>
                  <a:t> and perpendicular to the line of intersection of the planes </a:t>
                </a:r>
                <a:r>
                  <a:rPr lang="en-IN" sz="2200">
                    <a:solidFill>
                      <a:srgbClr val="111827"/>
                    </a:solidFill>
                    <a:latin typeface="Cambria Math" panose="02040503050406030204" pitchFamily="18" charset="0"/>
                  </a:rPr>
                  <a:t>$2x+y-z=3$</a:t>
                </a:r>
                <a:r>
                  <a:rPr sz="2200" b="0">
                    <a:solidFill>
                      <a:srgbClr val="111827"/>
                    </a:solidFill>
                    <a:latin typeface="Arial"/>
                  </a:rPr>
                  <a:t> and </a:t>
                </a:r>
                <a:r>
                  <a:rPr lang="en-IN" sz="2200">
                    <a:solidFill>
                      <a:srgbClr val="111827"/>
                    </a:solidFill>
                    <a:latin typeface="Cambria Math" panose="02040503050406030204" pitchFamily="18" charset="0"/>
                  </a:rPr>
                  <a:t>$x+2y+z=2$</a:t>
                </a:r>
                <a:r>
                  <a:rPr sz="2200" b="0">
                    <a:solidFill>
                      <a:srgbClr val="111827"/>
                    </a:solidFill>
                    <a:latin typeface="Arial"/>
                  </a:rPr>
                  <a:t>. Then the distance from the point </a:t>
                </a:r>
                <a:r>
                  <a:rPr lang="en-IN" sz="2200">
                    <a:solidFill>
                      <a:srgbClr val="111827"/>
                    </a:solidFill>
                    <a:latin typeface="Cambria Math" panose="02040503050406030204" pitchFamily="18" charset="0"/>
                  </a:rPr>
                  <a:t>$\left(\sqrt3,2,2\right)$</a:t>
                </a:r>
                <a:r>
                  <a:rPr sz="2200" b="0">
                    <a:solidFill>
                      <a:srgbClr val="111827"/>
                    </a:solidFill>
                    <a:latin typeface="Arial"/>
                  </a:rPr>
                  <a:t> to the plane </a:t>
                </a:r>
                <a:r>
                  <a:rPr lang="en-IN" sz="2200">
                    <a:solidFill>
                      <a:srgbClr val="111827"/>
                    </a:solidFill>
                    <a:latin typeface="Cambria Math" panose="02040503050406030204" pitchFamily="18" charset="0"/>
                  </a:rPr>
                  <a:t>$P$</a:t>
                </a:r>
                <a:r>
                  <a:rPr sz="2200" b="0">
                    <a:solidFill>
                      <a:srgbClr val="111827"/>
                    </a:solidFill>
                    <a:latin typeface="Arial"/>
                  </a:rPr>
                  <a:t> is; (B) If </a:t>
                </a:r>
                <a:r>
                  <a:rPr lang="en-IN" sz="2200">
                    <a:solidFill>
                      <a:srgbClr val="111827"/>
                    </a:solidFill>
                    <a:latin typeface="Cambria Math" panose="02040503050406030204" pitchFamily="18" charset="0"/>
                  </a:rPr>
                  <a:t>$\lim_{n\to\infty}\sum_{i=1}^{n}\tan^{-1}\left(\frac{1}{2i^2}\right)=t$</a:t>
                </a:r>
                <a:r>
                  <a:rPr sz="2200" b="0">
                    <a:solidFill>
                      <a:srgbClr val="111827"/>
                    </a:solidFill>
                    <a:latin typeface="Arial"/>
                  </a:rPr>
                  <a:t>, then </a:t>
                </a:r>
                <a:r>
                  <a:rPr lang="en-IN" sz="2200">
                    <a:solidFill>
                      <a:srgbClr val="111827"/>
                    </a:solidFill>
                    <a:latin typeface="Cambria Math" panose="02040503050406030204" pitchFamily="18" charset="0"/>
                  </a:rPr>
                  <a:t>$\tan t$</a:t>
                </a:r>
                <a:r>
                  <a:rPr sz="2200" b="0">
                    <a:solidFill>
                      <a:srgbClr val="111827"/>
                    </a:solidFill>
                    <a:latin typeface="Arial"/>
                  </a:rPr>
                  <a:t> is; (C) The sides </a:t>
                </a:r>
                <a:r>
                  <a:rPr lang="en-IN" sz="2200">
                    <a:solidFill>
                      <a:srgbClr val="111827"/>
                    </a:solidFill>
                    <a:latin typeface="Cambria Math" panose="02040503050406030204" pitchFamily="18" charset="0"/>
                  </a:rPr>
                  <a:t>$a,b,c$</a:t>
                </a:r>
                <a:r>
                  <a:rPr sz="2200" b="0">
                    <a:solidFill>
                      <a:srgbClr val="111827"/>
                    </a:solidFill>
                    <a:latin typeface="Arial"/>
                  </a:rPr>
                  <a:t> of a triangle </a:t>
                </a:r>
                <a:r>
                  <a:rPr lang="en-IN" sz="2200">
                    <a:solidFill>
                      <a:srgbClr val="111827"/>
                    </a:solidFill>
                    <a:latin typeface="Cambria Math" panose="02040503050406030204" pitchFamily="18" charset="0"/>
                  </a:rPr>
                  <a:t>$ABC$</a:t>
                </a:r>
                <a:r>
                  <a:rPr sz="2200" b="0">
                    <a:solidFill>
                      <a:srgbClr val="111827"/>
                    </a:solidFill>
                    <a:latin typeface="Arial"/>
                  </a:rPr>
                  <a:t> are in A.P. If </a:t>
                </a:r>
                <a:r>
                  <a:rPr lang="en-IN" sz="2200">
                    <a:solidFill>
                      <a:srgbClr val="111827"/>
                    </a:solidFill>
                    <a:latin typeface="Cambria Math" panose="02040503050406030204" pitchFamily="18" charset="0"/>
                  </a:rPr>
                  <a:t>$\cos\theta_1=\frac{a}{b+c}$</a:t>
                </a:r>
                <a:r>
                  <a:rPr sz="2200" b="0">
                    <a:solidFill>
                      <a:srgbClr val="111827"/>
                    </a:solidFill>
                    <a:latin typeface="Arial"/>
                  </a:rPr>
                  <a:t>, </a:t>
                </a:r>
                <a:r>
                  <a:rPr lang="en-IN" sz="2200">
                    <a:solidFill>
                      <a:srgbClr val="111827"/>
                    </a:solidFill>
                    <a:latin typeface="Cambria Math" panose="02040503050406030204" pitchFamily="18" charset="0"/>
                  </a:rPr>
                  <a:t>$\cos\theta_2=\frac{b}{a+c}$</a:t>
                </a:r>
                <a:r>
                  <a:rPr sz="2200" b="0">
                    <a:solidFill>
                      <a:srgbClr val="111827"/>
                    </a:solidFill>
                    <a:latin typeface="Arial"/>
                  </a:rPr>
                  <a:t>, </a:t>
                </a:r>
                <a:r>
                  <a:rPr lang="en-IN" sz="2200">
                    <a:solidFill>
                      <a:srgbClr val="111827"/>
                    </a:solidFill>
                    <a:latin typeface="Cambria Math" panose="02040503050406030204" pitchFamily="18" charset="0"/>
                  </a:rPr>
                  <a:t>$\cos\theta_3=\frac{c}{a+b}$</a:t>
                </a:r>
                <a:r>
                  <a:rPr sz="2200" b="0">
                    <a:solidFill>
                      <a:srgbClr val="111827"/>
                    </a:solidFill>
                    <a:latin typeface="Arial"/>
                  </a:rPr>
                  <a:t>, then </a:t>
                </a:r>
                <a:r>
                  <a:rPr lang="en-IN" sz="2200">
                    <a:solidFill>
                      <a:srgbClr val="111827"/>
                    </a:solidFill>
                    <a:latin typeface="Cambria Math" panose="02040503050406030204" pitchFamily="18" charset="0"/>
                  </a:rPr>
                  <a:t>$\tan^2\frac{\theta_1}{2}+\tan^2\frac{\theta_3}{2}=$</a:t>
                </a:r>
                <a:r>
                  <a:rPr sz="2200" b="0">
                    <a:solidFill>
                      <a:srgbClr val="111827"/>
                    </a:solidFill>
                    <a:latin typeface="Arial"/>
                  </a:rPr>
                  <a:t>; (D) Let </a:t>
                </a:r>
                <a:r>
                  <a:rPr lang="en-IN" sz="2200">
                    <a:solidFill>
                      <a:srgbClr val="111827"/>
                    </a:solidFill>
                    <a:latin typeface="Cambria Math" panose="02040503050406030204" pitchFamily="18" charset="0"/>
                  </a:rPr>
                  <a:t>$L$</a:t>
                </a:r>
                <a:r>
                  <a:rPr sz="2200" b="0">
                    <a:solidFill>
                      <a:srgbClr val="111827"/>
                    </a:solidFill>
                    <a:latin typeface="Arial"/>
                  </a:rPr>
                  <a:t> be the line passing through </a:t>
                </a:r>
                <a:r>
                  <a:rPr lang="en-IN" sz="2200">
                    <a:solidFill>
                      <a:srgbClr val="111827"/>
                    </a:solidFill>
                    <a:latin typeface="Cambria Math" panose="02040503050406030204" pitchFamily="18" charset="0"/>
                  </a:rPr>
                  <a:t>$(0,1,0)$</a:t>
                </a:r>
                <a:r>
                  <a:rPr sz="2200" b="0">
                    <a:solidFill>
                      <a:srgbClr val="111827"/>
                    </a:solidFill>
                    <a:latin typeface="Arial"/>
                  </a:rPr>
                  <a:t> and perpendicular to the plane </a:t>
                </a:r>
                <a:r>
                  <a:rPr lang="en-IN" sz="2200">
                    <a:solidFill>
                      <a:srgbClr val="111827"/>
                    </a:solidFill>
                    <a:latin typeface="Cambria Math" panose="02040503050406030204" pitchFamily="18" charset="0"/>
                  </a:rPr>
                  <a:t>$x+2y+2z=0$</a:t>
                </a:r>
                <a:r>
                  <a:rPr sz="2200" b="0">
                    <a:solidFill>
                      <a:srgbClr val="111827"/>
                    </a:solidFill>
                    <a:latin typeface="Arial"/>
                  </a:rPr>
                  <a:t>. Then the distance from the point </a:t>
                </a:r>
                <a:r>
                  <a:rPr lang="en-IN" sz="2200">
                    <a:solidFill>
                      <a:srgbClr val="111827"/>
                    </a:solidFill>
                    <a:latin typeface="Cambria Math" panose="02040503050406030204" pitchFamily="18" charset="0"/>
                  </a:rPr>
                  <a:t>$(0,0,0)$</a:t>
                </a:r>
                <a:r>
                  <a:rPr sz="2200" b="0">
                    <a:solidFill>
                      <a:srgbClr val="111827"/>
                    </a:solidFill>
                    <a:latin typeface="Arial"/>
                  </a:rPr>
                  <a:t> to the line </a:t>
                </a:r>
                <a:r>
                  <a:rPr lang="en-IN" sz="2200">
                    <a:solidFill>
                      <a:srgbClr val="111827"/>
                    </a:solidFill>
                    <a:latin typeface="Cambria Math" panose="02040503050406030204" pitchFamily="18" charset="0"/>
                  </a:rPr>
                  <a:t>$L$</a:t>
                </a:r>
                <a:r>
                  <a:rPr sz="2200" b="0">
                    <a:solidFill>
                      <a:srgbClr val="111827"/>
                    </a:solidFill>
                    <a:latin typeface="Arial"/>
                  </a:rPr>
                  <a:t> is.</a:t>
                </a:r>
                <a:endParaRPr sz="2200">
                  <a:solidFill>
                    <a:srgbClr val="111827"/>
                  </a:solidFill>
                </a:endParaRPr>
              </a:p>
              <a:p>
                <a:pPr algn="l">
                  <a:spcAft>
                    <a:spcPts val="500"/>
                  </a:spcAft>
                  <a:defRPr sz="2200">
                    <a:solidFill>
                      <a:srgbClr val="111827"/>
                    </a:solidFill>
                  </a:defRPr>
                </a:pPr>
                <a:r>
                  <a:rPr sz="2200" b="0">
                    <a:solidFill>
                      <a:srgbClr val="111827"/>
                    </a:solidFill>
                    <a:latin typeface="Arial"/>
                  </a:rPr>
                  <a:t>Column II: (p) </a:t>
                </a:r>
                <a:r>
                  <a:rPr lang="en-IN" sz="2200">
                    <a:solidFill>
                      <a:srgbClr val="111827"/>
                    </a:solidFill>
                    <a:latin typeface="Cambria Math" panose="02040503050406030204" pitchFamily="18" charset="0"/>
                  </a:rPr>
                  <a:t>$\frac{\sqrt5}{3}$</a:t>
                </a:r>
                <a:r>
                  <a:rPr sz="2200" b="0">
                    <a:solidFill>
                      <a:srgbClr val="111827"/>
                    </a:solidFill>
                    <a:latin typeface="Arial"/>
                  </a:rPr>
                  <a:t>; (q) </a:t>
                </a:r>
                <a:r>
                  <a:rPr lang="en-IN" sz="2200">
                    <a:solidFill>
                      <a:srgbClr val="111827"/>
                    </a:solidFill>
                    <a:latin typeface="Cambria Math" panose="02040503050406030204" pitchFamily="18" charset="0"/>
                  </a:rPr>
                  <a:t>$1$</a:t>
                </a:r>
                <a:r>
                  <a:rPr sz="2200" b="0">
                    <a:solidFill>
                      <a:srgbClr val="111827"/>
                    </a:solidFill>
                    <a:latin typeface="Arial"/>
                  </a:rPr>
                  <a:t>; (r) </a:t>
                </a:r>
                <a:r>
                  <a:rPr lang="en-IN" sz="2200">
                    <a:solidFill>
                      <a:srgbClr val="111827"/>
                    </a:solidFill>
                    <a:latin typeface="Cambria Math" panose="02040503050406030204" pitchFamily="18" charset="0"/>
                  </a:rPr>
                  <a:t>$\frac23$</a:t>
                </a:r>
                <a:r>
                  <a:rPr sz="2200" b="0">
                    <a:solidFill>
                      <a:srgbClr val="111827"/>
                    </a:solidFill>
                    <a:latin typeface="Arial"/>
                  </a:rPr>
                  <a:t>; (s) </a:t>
                </a:r>
                <a:r>
                  <a:rPr lang="en-IN" sz="2200">
                    <a:solidFill>
                      <a:srgbClr val="111827"/>
                    </a:solidFill>
                    <a:latin typeface="Cambria Math" panose="02040503050406030204" pitchFamily="18" charset="0"/>
                  </a:rPr>
                  <a:t>$0$</a:t>
                </a:r>
                <a:r>
                  <a:rPr sz="2200" b="0">
                    <a:solidFill>
                      <a:srgbClr val="111827"/>
                    </a:solidFill>
                    <a:latin typeface="Arial"/>
                  </a:rPr>
                  <a:t>.</a:t>
                </a:r>
                <a:endParaRPr sz="2200">
                  <a:solidFill>
                    <a:srgbClr val="111827"/>
                  </a:solidFill>
                </a:endParaRPr>
              </a:p>
            </p:txBody>
          </p:sp>
        </mc:Fallback>
      </mc:AlternateContent>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ectangle 3"/>
          <p:cNvSpPr/>
          <p:nvPr/>
        </p:nvSpPr>
        <p:spPr>
          <a:xfrm>
            <a:off x="731520" y="1280160"/>
            <a:ext cx="10725912" cy="219456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a:spcAft>
                <a:spcPts val="200"/>
              </a:spcAft>
              <a:defRPr sz="2400">
                <a:solidFill>
                  <a:srgbClr val="111827"/>
                </a:solidFill>
              </a:defRPr>
            </a:pPr>
            <a:r>
              <a:rPr sz="2400" b="0">
                <a:solidFill>
                  <a:srgbClr val="111827"/>
                </a:solidFill>
                <a:latin typeface="Arial"/>
              </a:rPr>
              <a:t>Matching List Type(3 Marks)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Concept(s) : 3D geometry (planes, lines, distances), Inverse trigonometric series and properties of triangles</a:t>
            </a:r>
            <a:endParaRPr sz="2400">
              <a:solidFill>
                <a:srgbClr val="111827"/>
              </a:solidFill>
            </a:endParaRPr>
          </a:p>
          <a:p>
            <a:pPr algn="l">
              <a:spcAft>
                <a:spcPts val="200"/>
              </a:spcAft>
              <a:defRPr sz="2400">
                <a:solidFill>
                  <a:srgbClr val="111827"/>
                </a:solidFill>
              </a:defRPr>
            </a:pPr>
            <a:r>
              <a:rPr sz="2400" b="0">
                <a:solidFill>
                  <a:srgbClr val="111827"/>
                </a:solidFill>
                <a:latin typeface="Arial"/>
              </a:rPr>
              <a:t>Difficulty Level: Level 2(A level below Average JEE Advanced Level)</a:t>
            </a:r>
            <a:endParaRPr sz="2400">
              <a:solidFill>
                <a:srgbClr val="111827"/>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365760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normal </a:t>
                </a:r>
                <a14:m>
                  <m:oMath xmlns:m="http://schemas.openxmlformats.org/officeDocument/2006/math">
                    <m:r>
                      <m:rPr>
                        <m:sty m:val="p"/>
                      </m:rPr>
                      <a:rPr lang="en-IN" sz="2400">
                        <a:solidFill>
                          <a:srgbClr val="78350F"/>
                        </a:solidFill>
                        <a:latin typeface="Cambria Math" panose="02040503050406030204" pitchFamily="18" charset="0"/>
                      </a:rPr>
                      <m:t>=</m:t>
                    </m:r>
                    <m:sSub>
                      <m:e>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𝑛</m:t>
                            </m:r>
                          </m:e>
                        </m:acc>
                      </m:e>
                      <m:sub>
                        <m:r>
                          <a:rPr lang="en-IN" sz="2400" i="1">
                            <a:solidFill>
                              <a:srgbClr val="78350F"/>
                            </a:solidFill>
                            <a:latin typeface="Cambria Math" panose="02040503050406030204" pitchFamily="18" charset="0"/>
                          </a:rPr>
                          <m:t>1</m:t>
                        </m:r>
                      </m:sub>
                    </m:sSub>
                    <m:r>
                      <m:rPr>
                        <m:sty m:val="p"/>
                      </m:rPr>
                      <a:rPr lang="en-IN" sz="2400">
                        <a:solidFill>
                          <a:srgbClr val="78350F"/>
                        </a:solidFill>
                        <a:latin typeface="Cambria Math" panose="02040503050406030204" pitchFamily="18" charset="0"/>
                      </a:rPr>
                      <m:t>×</m:t>
                    </m:r>
                    <m:sSub>
                      <m:e>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𝑛</m:t>
                            </m:r>
                          </m:e>
                        </m:acc>
                      </m:e>
                      <m:sub>
                        <m:r>
                          <a:rPr lang="en-IN" sz="2400" i="1">
                            <a:solidFill>
                              <a:srgbClr val="78350F"/>
                            </a:solidFill>
                            <a:latin typeface="Cambria Math" panose="02040503050406030204" pitchFamily="18" charset="0"/>
                          </a:rPr>
                          <m:t>2</m:t>
                        </m:r>
                      </m:sub>
                    </m:sSub>
                  </m:oMath>
                </a14:m>
                <a:r>
                  <a:rPr sz="2400" b="0">
                    <a:solidFill>
                      <a:srgbClr val="78350F"/>
                    </a:solidFill>
                    <a:latin typeface="Arial"/>
                  </a:rPr>
                  <a:t>; (B) </a:t>
                </a:r>
                <a14:m>
                  <m:oMath xmlns:m="http://schemas.openxmlformats.org/officeDocument/2006/math">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1</m:t>
                        </m:r>
                      </m:num>
                      <m:den>
                        <m:r>
                          <a:rPr lang="en-IN" sz="2400" i="1">
                            <a:solidFill>
                              <a:srgbClr val="78350F"/>
                            </a:solidFill>
                            <a:latin typeface="Cambria Math" panose="02040503050406030204" pitchFamily="18" charset="0"/>
                          </a:rPr>
                          <m:t>2</m:t>
                        </m:r>
                        <m:sSup>
                          <m:e>
                            <m:r>
                              <a:rPr lang="en-IN" sz="2400" i="1">
                                <a:solidFill>
                                  <a:srgbClr val="78350F"/>
                                </a:solidFill>
                                <a:latin typeface="Cambria Math" panose="02040503050406030204" pitchFamily="18" charset="0"/>
                              </a:rPr>
                              <m:t>𝑖</m:t>
                            </m:r>
                          </m:e>
                          <m:sup>
                            <m:r>
                              <a:rPr lang="en-IN" sz="2400" i="1">
                                <a:solidFill>
                                  <a:srgbClr val="78350F"/>
                                </a:solidFill>
                                <a:latin typeface="Cambria Math" panose="02040503050406030204" pitchFamily="18" charset="0"/>
                              </a:rPr>
                              <m:t>2</m:t>
                            </m:r>
                          </m:sup>
                        </m:sSup>
                      </m:den>
                    </m:f>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𝑖</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r>
                      <m:rPr>
                        <m:sty m:val="p"/>
                      </m:rPr>
                      <a:rPr lang="en-IN" sz="2400">
                        <a:solidFill>
                          <a:srgbClr val="78350F"/>
                        </a:solidFill>
                        <a:latin typeface="Cambria Math" panose="02040503050406030204" pitchFamily="18" charset="0"/>
                      </a:rPr>
                      <m:t>−</m:t>
                    </m:r>
                    <m:sSup>
                      <m:e>
                        <m:r>
                          <m:rPr>
                            <m:sty m:val="p"/>
                          </m:rPr>
                          <a:rPr lang="en-IN" sz="2400">
                            <a:solidFill>
                              <a:srgbClr val="78350F"/>
                            </a:solidFill>
                            <a:latin typeface="Cambria Math" panose="02040503050406030204" pitchFamily="18" charset="0"/>
                          </a:rPr>
                          <m:t>tan</m:t>
                        </m:r>
                      </m:e>
                      <m: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sup>
                    </m:sSup>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2</m:t>
                    </m:r>
                    <m:r>
                      <a:rPr lang="en-IN" sz="2400" i="1">
                        <a:solidFill>
                          <a:srgbClr val="78350F"/>
                        </a:solidFill>
                        <a:latin typeface="Cambria Math" panose="02040503050406030204" pitchFamily="18" charset="0"/>
                      </a:rPr>
                      <m:t>𝑖</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1</m:t>
                    </m:r>
                    <m:r>
                      <m:rPr>
                        <m:sty m:val="p"/>
                      </m:rPr>
                      <a:rPr lang="en-IN" sz="2400">
                        <a:solidFill>
                          <a:srgbClr val="78350F"/>
                        </a:solidFill>
                        <a:latin typeface="Cambria Math" panose="02040503050406030204" pitchFamily="18" charset="0"/>
                      </a:rPr>
                      <m:t>)</m:t>
                    </m:r>
                  </m:oMath>
                </a14:m>
                <a:r>
                  <a:rPr sz="2400" b="0">
                    <a:solidFill>
                      <a:srgbClr val="78350F"/>
                    </a:solidFill>
                    <a:latin typeface="Arial"/>
                  </a:rPr>
                  <a:t> telescopes; (C) half-angle formula gives </a:t>
                </a:r>
                <a14:m>
                  <m:oMath xmlns:m="http://schemas.openxmlformats.org/officeDocument/2006/math">
                    <m:f>
                      <m:fPr>
                        <m:type m:val="bar"/>
                        <m:ctrlPr>
                          <a:rPr lang="en-IN" sz="2400" i="1">
                            <a:solidFill>
                              <a:srgbClr val="78350F"/>
                            </a:solidFill>
                            <a:latin typeface="Cambria Math" panose="02040503050406030204" pitchFamily="18" charset="0"/>
                          </a:rPr>
                        </m:ctrlPr>
                      </m:fPr>
                      <m:num>
                        <m:r>
                          <a:rPr lang="en-IN" sz="2400" i="1">
                            <a:solidFill>
                              <a:srgbClr val="78350F"/>
                            </a:solidFill>
                            <a:latin typeface="Cambria Math" panose="02040503050406030204" pitchFamily="18" charset="0"/>
                          </a:rPr>
                          <m:t>𝑠</m:t>
                        </m:r>
                        <m:r>
                          <m:rPr>
                            <m:sty m:val="p"/>
                          </m:rPr>
                          <a:rPr lang="en-IN" sz="2400">
                            <a:solidFill>
                              <a:srgbClr val="78350F"/>
                            </a:solidFill>
                            <a:latin typeface="Cambria Math" panose="02040503050406030204" pitchFamily="18" charset="0"/>
                          </a:rPr>
                          <m:t>−</m:t>
                        </m:r>
                        <m:r>
                          <a:rPr lang="en-IN" sz="2400" i="1">
                            <a:solidFill>
                              <a:srgbClr val="78350F"/>
                            </a:solidFill>
                            <a:latin typeface="Cambria Math" panose="02040503050406030204" pitchFamily="18" charset="0"/>
                          </a:rPr>
                          <m:t>𝑎</m:t>
                        </m:r>
                      </m:num>
                      <m:den>
                        <m:r>
                          <a:rPr lang="en-IN" sz="2400" i="1">
                            <a:solidFill>
                              <a:srgbClr val="78350F"/>
                            </a:solidFill>
                            <a:latin typeface="Cambria Math" panose="02040503050406030204" pitchFamily="18" charset="0"/>
                          </a:rPr>
                          <m:t>𝑠</m:t>
                        </m:r>
                      </m:den>
                    </m:f>
                  </m:oMath>
                </a14:m>
                <a:r>
                  <a:rPr sz="2400" b="0">
                    <a:solidFill>
                      <a:srgbClr val="78350F"/>
                    </a:solidFill>
                    <a:latin typeface="Arial"/>
                  </a:rPr>
                  <a:t>.</a:t>
                </a:r>
                <a:endParaRPr sz="2400">
                  <a:solidFill>
                    <a:srgbClr val="78350F"/>
                  </a:solidFill>
                </a:endParaRPr>
              </a:p>
            </p:txBody>
          </p:sp>
        </mc:Choice>
        <mc:Fallback>
          <p:sp>
            <p:nvSpPr>
              <p:cNvPr id="5" name="Rounded Rectangle 4"/>
              <p:cNvSpPr/>
              <p:nvPr/>
            </p:nvSpPr>
            <p:spPr>
              <a:xfrm>
                <a:off x="731520" y="3657600"/>
                <a:ext cx="10725912" cy="1328928"/>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Key idea:  </a:t>
                </a:r>
                <a:r>
                  <a:rPr sz="2400" b="0">
                    <a:solidFill>
                      <a:srgbClr val="78350F"/>
                    </a:solidFill>
                    <a:latin typeface="Arial"/>
                  </a:rPr>
                  <a:t>(A) normal </a:t>
                </a:r>
                <a:r>
                  <a:rPr lang="en-IN" sz="2400">
                    <a:solidFill>
                      <a:srgbClr val="78350F"/>
                    </a:solidFill>
                    <a:latin typeface="Cambria Math" panose="02040503050406030204" pitchFamily="18" charset="0"/>
                  </a:rPr>
                  <a:t>$=\vec{n}_1\times\vec{n}_2$</a:t>
                </a:r>
                <a:r>
                  <a:rPr sz="2400" b="0">
                    <a:solidFill>
                      <a:srgbClr val="78350F"/>
                    </a:solidFill>
                    <a:latin typeface="Arial"/>
                  </a:rPr>
                  <a:t>; (B) </a:t>
                </a:r>
                <a:r>
                  <a:rPr lang="en-IN" sz="2400">
                    <a:solidFill>
                      <a:srgbClr val="78350F"/>
                    </a:solidFill>
                    <a:latin typeface="Cambria Math" panose="02040503050406030204" pitchFamily="18" charset="0"/>
                  </a:rPr>
                  <a:t>$\tan^{-1}\frac1{2i^2}=\tan^{-1}(2i+1)-\tan^{-1}(2i-1)$</a:t>
                </a:r>
                <a:r>
                  <a:rPr sz="2400" b="0">
                    <a:solidFill>
                      <a:srgbClr val="78350F"/>
                    </a:solidFill>
                    <a:latin typeface="Arial"/>
                  </a:rPr>
                  <a:t> telescopes; (C) half-angle formula gives </a:t>
                </a:r>
                <a:r>
                  <a:rPr lang="en-IN" sz="2400">
                    <a:solidFill>
                      <a:srgbClr val="78350F"/>
                    </a:solidFill>
                    <a:latin typeface="Cambria Math" panose="02040503050406030204" pitchFamily="18" charset="0"/>
                  </a:rPr>
                  <a:t>$\frac{s-a}{s}$</a:t>
                </a:r>
                <a:r>
                  <a:rPr sz="2400" b="0">
                    <a:solidFill>
                      <a:srgbClr val="78350F"/>
                    </a:solidFill>
                    <a:latin typeface="Arial"/>
                  </a:rPr>
                  <a:t>.</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5123688"/>
                <a:ext cx="10725912" cy="15514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Direction of the line of intersection </a:t>
                </a:r>
                <a14:m>
                  <m:oMath xmlns:m="http://schemas.openxmlformats.org/officeDocument/2006/math">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2</m:t>
                        </m:r>
                      </m:sub>
                    </m:sSub>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this is the normal of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a:t>
                </a:r>
                <a:endParaRPr sz="2400">
                  <a:solidFill>
                    <a:srgbClr val="111827"/>
                  </a:solidFill>
                </a:endParaRPr>
              </a:p>
            </p:txBody>
          </p:sp>
        </mc:Choice>
        <mc:Fallback>
          <p:sp>
            <p:nvSpPr>
              <p:cNvPr id="6" name="Rectangle 5"/>
              <p:cNvSpPr/>
              <p:nvPr/>
            </p:nvSpPr>
            <p:spPr>
              <a:xfrm>
                <a:off x="731520" y="5123688"/>
                <a:ext cx="10725912" cy="1551431"/>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Direction of the line of intersection </a:t>
                </a:r>
                <a:r>
                  <a:rPr lang="en-IN" sz="2400">
                    <a:solidFill>
                      <a:srgbClr val="111827"/>
                    </a:solidFill>
                    <a:latin typeface="Cambria Math" panose="02040503050406030204" pitchFamily="18" charset="0"/>
                  </a:rPr>
                  <a:t>$=\vec{n}_1\times\vec{n}_2=(2,1,-1)\times(1,2,1)=(3,-3,3)\parallel(1,-1,1)$</a:t>
                </a:r>
                <a:r>
                  <a:rPr sz="2400" b="0">
                    <a:solidFill>
                      <a:srgbClr val="111827"/>
                    </a:solidFill>
                    <a:latin typeface="Arial"/>
                  </a:rPr>
                  <a:t>; this is the normal of </a:t>
                </a:r>
                <a:r>
                  <a:rPr lang="en-IN" sz="2400">
                    <a:solidFill>
                      <a:srgbClr val="111827"/>
                    </a:solidFill>
                    <a:latin typeface="Cambria Math" panose="02040503050406030204" pitchFamily="18" charset="0"/>
                  </a:rPr>
                  <a:t>$P$</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through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i.e. </a:t>
                </a:r>
                <a14:m>
                  <m:oMath xmlns:m="http://schemas.openxmlformats.org/officeDocument/2006/math">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Distance of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𝑃</m:t>
                    </m:r>
                  </m:oMath>
                </a14:m>
                <a:r>
                  <a:rPr sz="2400" b="0">
                    <a:solidFill>
                      <a:srgbClr val="111827"/>
                    </a:solidFill>
                    <a:latin typeface="Arial"/>
                  </a:rPr>
                  <a:t>: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e>
                        </m:d>
                      </m:num>
                      <m:den>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3</m:t>
                            </m:r>
                          </m:e>
                        </m:rad>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so (A)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𝑖</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𝑖</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The sum telescopes: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3</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1</m:t>
                        </m:r>
                      </m:e>
                    </m:d>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5</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3</m:t>
                        </m:r>
                      </m:e>
                    </m:d>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d>
                      <m:dPr>
                        <m:begChr m:val="("/>
                        <m:sepChr m:val=""/>
                        <m:endChr m:val=")"/>
                        <m:grow/>
                        <m:ctrlPr>
                          <a:rPr lang="en-IN" sz="2400" i="1">
                            <a:solidFill>
                              <a:srgbClr val="111827"/>
                            </a:solidFill>
                            <a:latin typeface="Cambria Math" panose="02040503050406030204" pitchFamily="18" charset="0"/>
                          </a:rPr>
                        </m:ctrlPr>
                      </m:dPr>
                      <m:e>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e>
                    </m:d>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1</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r>
                      <m:rPr>
                        <m:sty m:val="p"/>
                      </m:rPr>
                      <a:rPr lang="en-IN" sz="2400">
                        <a:solidFill>
                          <a:srgbClr val="111827"/>
                        </a:solidFill>
                        <a:latin typeface="Cambria Math" panose="02040503050406030204" pitchFamily="18" charset="0"/>
                      </a:rPr>
                      <m:t>=</m:t>
                    </m:r>
                    <m:sSub>
                      <m:e>
                        <m:r>
                          <m:rPr>
                            <m:sty m:val="p"/>
                          </m:rPr>
                          <a:rPr lang="en-IN" sz="2400">
                            <a:solidFill>
                              <a:srgbClr val="111827"/>
                            </a:solidFill>
                            <a:latin typeface="Cambria Math" panose="02040503050406030204" pitchFamily="18" charset="0"/>
                          </a:rPr>
                          <m:t>lim</m:t>
                        </m:r>
                      </m:e>
                      <m:sub>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ub>
                    </m:sSub>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(B)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(q).</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(A) </a:t>
                </a:r>
                <a:r>
                  <a:rPr lang="en-IN" sz="2400">
                    <a:solidFill>
                      <a:srgbClr val="111827"/>
                    </a:solidFill>
                    <a:latin typeface="Cambria Math" panose="02040503050406030204" pitchFamily="18" charset="0"/>
                  </a:rPr>
                  <a:t>$P$</a:t>
                </a:r>
                <a:r>
                  <a:rPr sz="2400" b="0">
                    <a:solidFill>
                      <a:srgbClr val="111827"/>
                    </a:solidFill>
                    <a:latin typeface="Arial"/>
                  </a:rPr>
                  <a:t> through </a:t>
                </a:r>
                <a:r>
                  <a:rPr lang="en-IN" sz="2400">
                    <a:solidFill>
                      <a:srgbClr val="111827"/>
                    </a:solidFill>
                    <a:latin typeface="Cambria Math" panose="02040503050406030204" pitchFamily="18" charset="0"/>
                  </a:rPr>
                  <a:t>$(2,1,-1)$</a:t>
                </a:r>
                <a:r>
                  <a:rPr sz="2400" b="0">
                    <a:solidFill>
                      <a:srgbClr val="111827"/>
                    </a:solidFill>
                    <a:latin typeface="Arial"/>
                  </a:rPr>
                  <a:t>: </a:t>
                </a:r>
                <a:r>
                  <a:rPr lang="en-IN" sz="2400">
                    <a:solidFill>
                      <a:srgbClr val="111827"/>
                    </a:solidFill>
                    <a:latin typeface="Cambria Math" panose="02040503050406030204" pitchFamily="18" charset="0"/>
                  </a:rPr>
                  <a:t>$(x-2)-(y-1)+(z+1)=0$</a:t>
                </a:r>
                <a:r>
                  <a:rPr sz="2400" b="0">
                    <a:solidFill>
                      <a:srgbClr val="111827"/>
                    </a:solidFill>
                    <a:latin typeface="Arial"/>
                  </a:rPr>
                  <a:t>, i.e. </a:t>
                </a:r>
                <a:r>
                  <a:rPr lang="en-IN" sz="2400">
                    <a:solidFill>
                      <a:srgbClr val="111827"/>
                    </a:solidFill>
                    <a:latin typeface="Cambria Math" panose="02040503050406030204" pitchFamily="18" charset="0"/>
                  </a:rPr>
                  <a:t>$x-y+z=0$</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 Distance of </a:t>
                </a:r>
                <a:r>
                  <a:rPr lang="en-IN" sz="2400">
                    <a:solidFill>
                      <a:srgbClr val="111827"/>
                    </a:solidFill>
                    <a:latin typeface="Cambria Math" panose="02040503050406030204" pitchFamily="18" charset="0"/>
                  </a:rPr>
                  <a:t>$\left(\sqrt3,2,2\right)$</a:t>
                </a:r>
                <a:r>
                  <a:rPr sz="2400" b="0">
                    <a:solidFill>
                      <a:srgbClr val="111827"/>
                    </a:solidFill>
                    <a:latin typeface="Arial"/>
                  </a:rPr>
                  <a:t> from </a:t>
                </a:r>
                <a:r>
                  <a:rPr lang="en-IN" sz="2400">
                    <a:solidFill>
                      <a:srgbClr val="111827"/>
                    </a:solidFill>
                    <a:latin typeface="Cambria Math" panose="02040503050406030204" pitchFamily="18" charset="0"/>
                  </a:rPr>
                  <a:t>$P$</a:t>
                </a:r>
                <a:r>
                  <a:rPr sz="2400" b="0">
                    <a:solidFill>
                      <a:srgbClr val="111827"/>
                    </a:solidFill>
                    <a:latin typeface="Arial"/>
                  </a:rPr>
                  <a:t>: </a:t>
                </a:r>
                <a:r>
                  <a:rPr lang="en-IN" sz="2400">
                    <a:solidFill>
                      <a:srgbClr val="111827"/>
                    </a:solidFill>
                    <a:latin typeface="Cambria Math" panose="02040503050406030204" pitchFamily="18" charset="0"/>
                  </a:rPr>
                  <a:t>$\frac{\left|\sqrt3-2+2\right|}{\sqrt3}=1$</a:t>
                </a:r>
                <a:r>
                  <a:rPr sz="2400" b="0">
                    <a:solidFill>
                      <a:srgbClr val="111827"/>
                    </a:solidFill>
                    <a:latin typeface="Arial"/>
                  </a:rPr>
                  <a:t>, so (A) </a:t>
                </a:r>
                <a:r>
                  <a:rPr lang="en-IN" sz="2400">
                    <a:solidFill>
                      <a:srgbClr val="111827"/>
                    </a:solidFill>
                    <a:latin typeface="Cambria Math" panose="02040503050406030204" pitchFamily="18" charset="0"/>
                  </a:rPr>
                  <a:t>$\to$</a:t>
                </a:r>
                <a:r>
                  <a:rPr sz="2400" b="0">
                    <a:solidFill>
                      <a:srgbClr val="111827"/>
                    </a:solidFill>
                    <a:latin typeface="Arial"/>
                  </a:rPr>
                  <a:t> (q).</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$\tan^{-1}\frac{1}{2i^2}=\tan^{-1}\frac{2}{4i^2-1+1}=\tan^{-1}\frac{(2i+1)-(2i-1)}{1+(2i-1)(2i+1)}=\tan^{-1}(2i+1)-\tan^{-1}(2i-1)$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The sum telescopes: </a:t>
                </a:r>
                <a:r>
                  <a:rPr lang="en-IN" sz="2400">
                    <a:solidFill>
                      <a:srgbClr val="111827"/>
                    </a:solidFill>
                    <a:latin typeface="Cambria Math" panose="02040503050406030204" pitchFamily="18" charset="0"/>
                  </a:rPr>
                  <a:t>$\left(\tan^{-1}3-\tan^{-1}1\right)+\left(\tan^{-1}5-\tan^{-1}3\right)+\dots+\left(\tan^{-1}(2n+1)-\tan^{-1}(2n-1)\right)=\tan^{-1}(2n+1)-\tan^{-1}1$</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$t=\lim_{n\to\infty}\tan^{-1}\frac{(2n+1)-1}{1+(2n+1)}=\lim_{n\to\infty}\tan^{-1}\frac{2n}{2n+2}=\frac\pi4$</a:t>
                </a:r>
                <a:r>
                  <a:rPr sz="2400" b="0">
                    <a:solidFill>
                      <a:srgbClr val="111827"/>
                    </a:solidFill>
                    <a:latin typeface="Arial"/>
                  </a:rPr>
                  <a:t>, so </a:t>
                </a:r>
                <a:r>
                  <a:rPr lang="en-IN" sz="2400">
                    <a:solidFill>
                      <a:srgbClr val="111827"/>
                    </a:solidFill>
                    <a:latin typeface="Cambria Math" panose="02040503050406030204" pitchFamily="18" charset="0"/>
                  </a:rPr>
                  <a:t>$\tan t=1$</a:t>
                </a:r>
                <a:r>
                  <a:rPr sz="2400" b="0">
                    <a:solidFill>
                      <a:srgbClr val="111827"/>
                    </a:solidFill>
                    <a:latin typeface="Arial"/>
                  </a:rPr>
                  <a:t> and (B) </a:t>
                </a:r>
                <a:r>
                  <a:rPr lang="en-IN" sz="2400">
                    <a:solidFill>
                      <a:srgbClr val="111827"/>
                    </a:solidFill>
                    <a:latin typeface="Cambria Math" panose="02040503050406030204" pitchFamily="18" charset="0"/>
                  </a:rPr>
                  <a:t>$\to$</a:t>
                </a:r>
                <a:r>
                  <a:rPr sz="2400" b="0">
                    <a:solidFill>
                      <a:srgbClr val="111827"/>
                    </a:solidFill>
                    <a:latin typeface="Arial"/>
                  </a:rPr>
                  <a:t> (q).</a:t>
                </a:r>
                <a:endParaRPr sz="2400">
                  <a:solidFill>
                    <a:srgbClr val="111827"/>
                  </a:solidFill>
                </a:endParaRPr>
              </a:p>
            </p:txBody>
          </p:sp>
        </mc:Fallback>
      </mc:AlternateContent>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a:t>
                </a:r>
                <a14:m>
                  <m:oMath xmlns:m="http://schemas.openxmlformats.org/officeDocument/2006/math">
                    <m:r>
                      <m:rPr>
                        <m:sty m:val="p"/>
                      </m:rPr>
                      <a:rPr lang="en-IN" sz="2400">
                        <a:solidFill>
                          <a:srgbClr val="111827"/>
                        </a:solidFill>
                        <a:latin typeface="Cambria Math" panose="02040503050406030204" pitchFamily="18" charset="0"/>
                      </a:rPr>
                      <m:t>cos</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2</m:t>
                            </m:r>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2</m:t>
                            </m:r>
                          </m:den>
                        </m:f>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den>
                    </m:f>
                  </m:oMath>
                </a14:m>
                <a:r>
                  <a:rPr sz="2400" b="0">
                    <a:solidFill>
                      <a:srgbClr val="111827"/>
                    </a:solidFill>
                    <a:latin typeface="Arial"/>
                  </a:rPr>
                  <a:t>, so </a:t>
                </a:r>
                <a14:m>
                  <m:oMath xmlns:m="http://schemas.openxmlformats.org/officeDocument/2006/math">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Likewise </a:t>
                </a:r>
                <a14:m>
                  <m:oMath xmlns:m="http://schemas.openxmlformats.org/officeDocument/2006/math">
                    <m:r>
                      <m:rPr>
                        <m:sty m:val="p"/>
                      </m:rPr>
                      <a:rPr lang="en-IN" sz="2400">
                        <a:solidFill>
                          <a:srgbClr val="111827"/>
                        </a:solidFill>
                        <a:latin typeface="Cambria Math" panose="02040503050406030204" pitchFamily="18" charset="0"/>
                      </a:rPr>
                      <m:t>cos</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3</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den>
                    </m:f>
                  </m:oMath>
                </a14:m>
                <a:r>
                  <a:rPr sz="2400" b="0">
                    <a:solidFill>
                      <a:srgbClr val="111827"/>
                    </a:solidFill>
                    <a:latin typeface="Arial"/>
                  </a:rPr>
                  <a:t> gives </a:t>
                </a:r>
                <a14:m>
                  <m:oMath xmlns:m="http://schemas.openxmlformats.org/officeDocument/2006/math">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3</m:t>
                            </m:r>
                          </m:sub>
                        </m:sSub>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Sum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num>
                      <m:den>
                        <m:r>
                          <a:rPr lang="en-IN" sz="2400" i="1">
                            <a:solidFill>
                              <a:srgbClr val="111827"/>
                            </a:solidFill>
                            <a:latin typeface="Cambria Math" panose="02040503050406030204" pitchFamily="18" charset="0"/>
                          </a:rPr>
                          <m:t>3</m:t>
                        </m:r>
                        <m:r>
                          <a:rPr lang="en-IN" sz="2400" i="1">
                            <a:solidFill>
                              <a:srgbClr val="111827"/>
                            </a:solidFill>
                            <a:latin typeface="Cambria Math" panose="02040503050406030204" pitchFamily="18" charset="0"/>
                          </a:rPr>
                          <m:t>𝑏</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since </a:t>
                </a:r>
                <a14:m>
                  <m:oMath xmlns:m="http://schemas.openxmlformats.org/officeDocument/2006/math">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oMath>
                </a14:m>
                <a:r>
                  <a:rPr sz="2400" b="0">
                    <a:solidFill>
                      <a:srgbClr val="111827"/>
                    </a:solidFill>
                    <a:latin typeface="Arial"/>
                  </a:rPr>
                  <a:t>, so (C)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The line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oMath>
                </a14:m>
                <a:r>
                  <a:rPr sz="2400" b="0">
                    <a:solidFill>
                      <a:srgbClr val="111827"/>
                    </a:solidFill>
                    <a:latin typeface="Arial"/>
                  </a:rPr>
                  <a:t>; the foot of the perpendicular from the origin is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Perpendicular to the direction </a:t>
                </a:r>
                <a14:m>
                  <m:oMath xmlns:m="http://schemas.openxmlformats.org/officeDocument/2006/math">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9</m:t>
                    </m:r>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𝑟</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foot </a:t>
                </a:r>
                <a14:m>
                  <m:oMath xmlns:m="http://schemas.openxmlformats.org/officeDocument/2006/math">
                    <m:d>
                      <m:dPr>
                        <m:begChr m:val="("/>
                        <m:sepChr m:val=""/>
                        <m:endChr m:val=")"/>
                        <m:grow/>
                        <m:ctrlPr>
                          <a:rPr lang="en-IN" sz="2400" i="1">
                            <a:solidFill>
                              <a:srgbClr val="111827"/>
                            </a:solidFill>
                            <a:latin typeface="Cambria Math" panose="02040503050406030204" pitchFamily="18" charset="0"/>
                          </a:rPr>
                        </m:ctrlPr>
                      </m:dPr>
                      <m:e>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e>
                    </m:d>
                  </m:oMath>
                </a14:m>
                <a:r>
                  <a:rPr sz="2400" b="0">
                    <a:solidFill>
                      <a:srgbClr val="111827"/>
                    </a:solidFill>
                    <a:latin typeface="Arial"/>
                  </a:rPr>
                  <a:t>.</a:t>
                </a:r>
                <a:endParaRPr sz="2400">
                  <a:solidFill>
                    <a:srgbClr val="111827"/>
                  </a:solidFill>
                </a:endParaRPr>
              </a:p>
            </p:txBody>
          </p:sp>
        </mc:Choice>
        <mc:Fallback>
          <p:sp>
            <p:nvSpPr>
              <p:cNvPr id="4" name="Rectangle 3"/>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(C) </a:t>
                </a:r>
                <a:r>
                  <a:rPr lang="en-IN" sz="2400">
                    <a:solidFill>
                      <a:srgbClr val="111827"/>
                    </a:solidFill>
                    <a:latin typeface="Cambria Math" panose="02040503050406030204" pitchFamily="18" charset="0"/>
                  </a:rPr>
                  <a:t>$\cos\theta_1=\frac{1-\tan^2\frac{\theta_1}{2}}{1+\tan^2\frac{\theta_1}{2}}=\frac{a}{b+c}$</a:t>
                </a:r>
                <a:r>
                  <a:rPr sz="2400" b="0">
                    <a:solidFill>
                      <a:srgbClr val="111827"/>
                    </a:solidFill>
                    <a:latin typeface="Arial"/>
                  </a:rPr>
                  <a:t>, so </a:t>
                </a:r>
                <a:r>
                  <a:rPr lang="en-IN" sz="2400">
                    <a:solidFill>
                      <a:srgbClr val="111827"/>
                    </a:solidFill>
                    <a:latin typeface="Cambria Math" panose="02040503050406030204" pitchFamily="18" charset="0"/>
                  </a:rPr>
                  <a:t>$\tan^2\frac{\theta_1}{2}=\frac{b+c-a}{b+c+a}$</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Likewise </a:t>
                </a:r>
                <a:r>
                  <a:rPr lang="en-IN" sz="2400">
                    <a:solidFill>
                      <a:srgbClr val="111827"/>
                    </a:solidFill>
                    <a:latin typeface="Cambria Math" panose="02040503050406030204" pitchFamily="18" charset="0"/>
                  </a:rPr>
                  <a:t>$\cos\theta_3=\frac{c}{a+b}$</a:t>
                </a:r>
                <a:r>
                  <a:rPr sz="2400" b="0">
                    <a:solidFill>
                      <a:srgbClr val="111827"/>
                    </a:solidFill>
                    <a:latin typeface="Arial"/>
                  </a:rPr>
                  <a:t> gives </a:t>
                </a:r>
                <a:r>
                  <a:rPr lang="en-IN" sz="2400">
                    <a:solidFill>
                      <a:srgbClr val="111827"/>
                    </a:solidFill>
                    <a:latin typeface="Cambria Math" panose="02040503050406030204" pitchFamily="18" charset="0"/>
                  </a:rPr>
                  <a:t>$\tan^2\frac{\theta_3}{2}=\frac{a+b-c}{a+b+c}$</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(C) Sum </a:t>
                </a:r>
                <a:r>
                  <a:rPr lang="en-IN" sz="2400">
                    <a:solidFill>
                      <a:srgbClr val="111827"/>
                    </a:solidFill>
                    <a:latin typeface="Cambria Math" panose="02040503050406030204" pitchFamily="18" charset="0"/>
                  </a:rPr>
                  <a:t>$=\frac{2b}{a+b+c}=\frac{2b}{3b}=\frac23$</a:t>
                </a:r>
                <a:r>
                  <a:rPr sz="2400" b="0">
                    <a:solidFill>
                      <a:srgbClr val="111827"/>
                    </a:solidFill>
                    <a:latin typeface="Arial"/>
                  </a:rPr>
                  <a:t> since </a:t>
                </a:r>
                <a:r>
                  <a:rPr lang="en-IN" sz="2400">
                    <a:solidFill>
                      <a:srgbClr val="111827"/>
                    </a:solidFill>
                    <a:latin typeface="Cambria Math" panose="02040503050406030204" pitchFamily="18" charset="0"/>
                  </a:rPr>
                  <a:t>$2b=a+c$</a:t>
                </a:r>
                <a:r>
                  <a:rPr sz="2400" b="0">
                    <a:solidFill>
                      <a:srgbClr val="111827"/>
                    </a:solidFill>
                    <a:latin typeface="Arial"/>
                  </a:rPr>
                  <a:t>, so (C) </a:t>
                </a:r>
                <a:r>
                  <a:rPr lang="en-IN" sz="2400">
                    <a:solidFill>
                      <a:srgbClr val="111827"/>
                    </a:solidFill>
                    <a:latin typeface="Cambria Math" panose="02040503050406030204" pitchFamily="18" charset="0"/>
                  </a:rPr>
                  <a:t>$\to$</a:t>
                </a:r>
                <a:r>
                  <a:rPr sz="2400" b="0">
                    <a:solidFill>
                      <a:srgbClr val="111827"/>
                    </a:solidFill>
                    <a:latin typeface="Arial"/>
                  </a:rPr>
                  <a:t> (r).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The line is </a:t>
                </a:r>
                <a:r>
                  <a:rPr lang="en-IN" sz="2400">
                    <a:solidFill>
                      <a:srgbClr val="111827"/>
                    </a:solidFill>
                    <a:latin typeface="Cambria Math" panose="02040503050406030204" pitchFamily="18" charset="0"/>
                  </a:rPr>
                  <a:t>$\frac{x-0}{1}=\frac{y-1}{2}=\frac{z-0}{2}=r$</a:t>
                </a:r>
                <a:r>
                  <a:rPr sz="2400" b="0">
                    <a:solidFill>
                      <a:srgbClr val="111827"/>
                    </a:solidFill>
                    <a:latin typeface="Arial"/>
                  </a:rPr>
                  <a:t>; the foot of the perpendicular from the origin is </a:t>
                </a:r>
                <a:r>
                  <a:rPr lang="en-IN" sz="2400">
                    <a:solidFill>
                      <a:srgbClr val="111827"/>
                    </a:solidFill>
                    <a:latin typeface="Cambria Math" panose="02040503050406030204" pitchFamily="18" charset="0"/>
                  </a:rPr>
                  <a:t>$(r,2r+1,2r)$</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Perpendicular to the direction </a:t>
                </a:r>
                <a:r>
                  <a:rPr lang="en-IN" sz="2400">
                    <a:solidFill>
                      <a:srgbClr val="111827"/>
                    </a:solidFill>
                    <a:latin typeface="Cambria Math" panose="02040503050406030204" pitchFamily="18" charset="0"/>
                  </a:rPr>
                  <a:t>$(1,2,2)$</a:t>
                </a:r>
                <a:r>
                  <a:rPr sz="2400" b="0">
                    <a:solidFill>
                      <a:srgbClr val="111827"/>
                    </a:solidFill>
                    <a:latin typeface="Arial"/>
                  </a:rPr>
                  <a:t>: </a:t>
                </a:r>
                <a:r>
                  <a:rPr lang="en-IN" sz="2400">
                    <a:solidFill>
                      <a:srgbClr val="111827"/>
                    </a:solidFill>
                    <a:latin typeface="Cambria Math" panose="02040503050406030204" pitchFamily="18" charset="0"/>
                  </a:rPr>
                  <a:t>$r+2(2r+1)+2(2r)=0$</a:t>
                </a:r>
                <a:r>
                  <a:rPr sz="2400" b="0">
                    <a:solidFill>
                      <a:srgbClr val="111827"/>
                    </a:solidFill>
                    <a:latin typeface="Arial"/>
                  </a:rPr>
                  <a:t>, </a:t>
                </a:r>
                <a:r>
                  <a:rPr lang="en-IN" sz="2400">
                    <a:solidFill>
                      <a:srgbClr val="111827"/>
                    </a:solidFill>
                    <a:latin typeface="Cambria Math" panose="02040503050406030204" pitchFamily="18" charset="0"/>
                  </a:rPr>
                  <a:t>$9r+2=0$</a:t>
                </a:r>
                <a:r>
                  <a:rPr sz="2400" b="0">
                    <a:solidFill>
                      <a:srgbClr val="111827"/>
                    </a:solidFill>
                    <a:latin typeface="Arial"/>
                  </a:rPr>
                  <a:t>, </a:t>
                </a:r>
                <a:r>
                  <a:rPr lang="en-IN" sz="2400">
                    <a:solidFill>
                      <a:srgbClr val="111827"/>
                    </a:solidFill>
                    <a:latin typeface="Cambria Math" panose="02040503050406030204" pitchFamily="18" charset="0"/>
                  </a:rPr>
                  <a:t>$r=-\frac29$</a:t>
                </a:r>
                <a:r>
                  <a:rPr sz="2400" b="0">
                    <a:solidFill>
                      <a:srgbClr val="111827"/>
                    </a:solidFill>
                    <a:latin typeface="Arial"/>
                  </a:rPr>
                  <a:t>; foot </a:t>
                </a:r>
                <a:r>
                  <a:rPr lang="en-IN" sz="2400">
                    <a:solidFill>
                      <a:srgbClr val="111827"/>
                    </a:solidFill>
                    <a:latin typeface="Cambria Math" panose="02040503050406030204" pitchFamily="18" charset="0"/>
                  </a:rPr>
                  <a:t>$\left(-\frac29,\frac59,-\frac49\right)$</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mc:AlternateContent xmlns:mc="http://schemas.openxmlformats.org/markup-compatibility/2006" xmlns:a14="http://schemas.microsoft.com/office/drawing/2010/main">
        <mc:Choice Requires="a14">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Distance </a:t>
                </a:r>
                <a14:m>
                  <m:oMath xmlns:m="http://schemas.openxmlformats.org/officeDocument/2006/math">
                    <m:r>
                      <m:rPr>
                        <m:sty m:val="p"/>
                      </m:rPr>
                      <a:rPr lang="en-IN" sz="2400">
                        <a:solidFill>
                          <a:srgbClr val="111827"/>
                        </a:solidFill>
                        <a:latin typeface="Cambria Math" panose="02040503050406030204" pitchFamily="18" charset="0"/>
                      </a:rPr>
                      <m:t>=</m:t>
                    </m:r>
                    <m:rad>
                      <m:radPr>
                        <m:degHide m:val="on"/>
                        <m:ctrlPr>
                          <a:rPr lang="en-IN" sz="2400" i="1">
                            <a:solidFill>
                              <a:srgbClr val="111827"/>
                            </a:solidFill>
                            <a:latin typeface="Cambria Math" panose="02040503050406030204" pitchFamily="18" charset="0"/>
                          </a:rPr>
                        </m:ctrlPr>
                      </m:radPr>
                      <m:deg/>
                      <m:e>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25</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16</m:t>
                            </m:r>
                          </m:num>
                          <m:den>
                            <m:r>
                              <a:rPr lang="en-IN" sz="2400" i="1">
                                <a:solidFill>
                                  <a:srgbClr val="111827"/>
                                </a:solidFill>
                                <a:latin typeface="Cambria Math" panose="02040503050406030204" pitchFamily="18" charset="0"/>
                              </a:rPr>
                              <m:t>81</m:t>
                            </m:r>
                          </m:den>
                        </m:f>
                      </m:e>
                    </m:rad>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45</m:t>
                            </m:r>
                          </m:e>
                        </m:rad>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(D) </a:t>
                </a:r>
                <a14:m>
                  <m:oMath xmlns:m="http://schemas.openxmlformats.org/officeDocument/2006/math">
                    <m:r>
                      <m:rPr>
                        <m:sty m:val="p"/>
                      </m:rPr>
                      <a:rPr lang="en-IN" sz="2400">
                        <a:solidFill>
                          <a:srgbClr val="111827"/>
                        </a:solidFill>
                        <a:latin typeface="Cambria Math" panose="02040503050406030204" pitchFamily="18" charset="0"/>
                      </a:rPr>
                      <m:t>→</m:t>
                    </m:r>
                  </m:oMath>
                </a14:m>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Answer: (A)-(q); (B)-(q); (C)-(r); (D)-(p).</a:t>
                </a:r>
                <a:endParaRPr sz="2400">
                  <a:solidFill>
                    <a:srgbClr val="111827"/>
                  </a:solidFill>
                </a:endParaRPr>
              </a:p>
            </p:txBody>
          </p:sp>
        </mc:Choice>
        <mc:Fallback>
          <p:sp>
            <p:nvSpPr>
              <p:cNvPr id="4" name="Rectangle 3"/>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Distance </a:t>
                </a:r>
                <a:r>
                  <a:rPr lang="en-IN" sz="2400">
                    <a:solidFill>
                      <a:srgbClr val="111827"/>
                    </a:solidFill>
                    <a:latin typeface="Cambria Math" panose="02040503050406030204" pitchFamily="18" charset="0"/>
                  </a:rPr>
                  <a:t>$=\sqrt{\frac{4+25+16}{81}}=\frac{\sqrt{45}}{9}=\frac{\sqrt5}{3}$</a:t>
                </a:r>
                <a:r>
                  <a:rPr sz="2400" b="0">
                    <a:solidFill>
                      <a:srgbClr val="111827"/>
                    </a:solidFill>
                    <a:latin typeface="Arial"/>
                  </a:rPr>
                  <a:t>, so (D) </a:t>
                </a:r>
                <a:r>
                  <a:rPr lang="en-IN" sz="2400">
                    <a:solidFill>
                      <a:srgbClr val="111827"/>
                    </a:solidFill>
                    <a:latin typeface="Cambria Math" panose="02040503050406030204" pitchFamily="18" charset="0"/>
                  </a:rPr>
                  <a:t>$\to$</a:t>
                </a:r>
                <a:r>
                  <a:rPr sz="2400" b="0">
                    <a:solidFill>
                      <a:srgbClr val="111827"/>
                    </a:solidFill>
                    <a:latin typeface="Arial"/>
                  </a:rPr>
                  <a:t> (p).</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Answer: (A)-(q); (B)-(q); (C)-(r); (D)-(p).</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(q); (B)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(q); (C)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(r); (D)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(p)</a:t>
                </a:r>
                <a:endParaRPr sz="2800">
                  <a:solidFill>
                    <a:srgbClr val="15803D"/>
                  </a:solidFill>
                </a:endParaRPr>
              </a:p>
            </p:txBody>
          </p:sp>
        </mc:Choice>
        <mc:Fallback>
          <p:sp>
            <p:nvSpPr>
              <p:cNvPr id="5" name="Rounded Rectangle 4"/>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Correct Answer: (A) </a:t>
                </a:r>
                <a:r>
                  <a:rPr lang="en-IN" sz="2800">
                    <a:solidFill>
                      <a:srgbClr val="15803D"/>
                    </a:solidFill>
                    <a:latin typeface="Cambria Math" panose="02040503050406030204" pitchFamily="18" charset="0"/>
                  </a:rPr>
                  <a:t>$\to$</a:t>
                </a:r>
                <a:r>
                  <a:rPr sz="2800" b="1">
                    <a:solidFill>
                      <a:srgbClr val="15803D"/>
                    </a:solidFill>
                    <a:latin typeface="Arial"/>
                  </a:rPr>
                  <a:t> (q); (B) </a:t>
                </a:r>
                <a:r>
                  <a:rPr lang="en-IN" sz="2800">
                    <a:solidFill>
                      <a:srgbClr val="15803D"/>
                    </a:solidFill>
                    <a:latin typeface="Cambria Math" panose="02040503050406030204" pitchFamily="18" charset="0"/>
                  </a:rPr>
                  <a:t>$\to$</a:t>
                </a:r>
                <a:r>
                  <a:rPr sz="2800" b="1">
                    <a:solidFill>
                      <a:srgbClr val="15803D"/>
                    </a:solidFill>
                    <a:latin typeface="Arial"/>
                  </a:rPr>
                  <a:t> (q); (C) </a:t>
                </a:r>
                <a:r>
                  <a:rPr lang="en-IN" sz="2800">
                    <a:solidFill>
                      <a:srgbClr val="15803D"/>
                    </a:solidFill>
                    <a:latin typeface="Cambria Math" panose="02040503050406030204" pitchFamily="18" charset="0"/>
                  </a:rPr>
                  <a:t>$\to$</a:t>
                </a:r>
                <a:r>
                  <a:rPr sz="2800" b="1">
                    <a:solidFill>
                      <a:srgbClr val="15803D"/>
                    </a:solidFill>
                    <a:latin typeface="Arial"/>
                  </a:rPr>
                  <a:t> (r); (D) </a:t>
                </a:r>
                <a:r>
                  <a:rPr lang="en-IN" sz="2800">
                    <a:solidFill>
                      <a:srgbClr val="15803D"/>
                    </a:solidFill>
                    <a:latin typeface="Cambria Math" panose="02040503050406030204" pitchFamily="18" charset="0"/>
                  </a:rPr>
                  <a:t>$\to$</a:t>
                </a:r>
                <a:r>
                  <a:rPr sz="2800" b="1">
                    <a:solidFill>
                      <a:srgbClr val="15803D"/>
                    </a:solidFill>
                    <a:latin typeface="Arial"/>
                  </a:rPr>
                  <a:t> (p)</a:t>
                </a:r>
                <a:endParaRPr sz="2800">
                  <a:solidFill>
                    <a:srgbClr val="15803D"/>
                  </a:solidFill>
                </a:endParaRPr>
              </a:p>
            </p:txBody>
          </p:sp>
        </mc:Fallback>
      </mc:AlternateContent>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 split into reciprocal arctangents; (D) Pythagoras with the projection of </a:t>
                </a:r>
                <a14:m>
                  <m:oMath xmlns:m="http://schemas.openxmlformats.org/officeDocument/2006/math">
                    <m:acc>
                      <m:accPr>
                        <m:chr m:val="⃗"/>
                        <m:ctrlPr>
                          <a:rPr lang="en-IN" sz="2400" i="1">
                            <a:solidFill>
                              <a:srgbClr val="78350F"/>
                            </a:solidFill>
                            <a:latin typeface="Cambria Math" panose="02040503050406030204" pitchFamily="18" charset="0"/>
                          </a:rPr>
                        </m:ctrlPr>
                      </m:accPr>
                      <m:e>
                        <m:r>
                          <a:rPr lang="en-IN" sz="2400" i="1">
                            <a:solidFill>
                              <a:srgbClr val="78350F"/>
                            </a:solidFill>
                            <a:latin typeface="Cambria Math" panose="02040503050406030204" pitchFamily="18" charset="0"/>
                          </a:rPr>
                          <m:t>𝑂</m:t>
                        </m:r>
                        <m:r>
                          <a:rPr lang="en-IN" sz="2400" i="1">
                            <a:solidFill>
                              <a:srgbClr val="78350F"/>
                            </a:solidFill>
                            <a:latin typeface="Cambria Math" panose="02040503050406030204" pitchFamily="18" charset="0"/>
                          </a:rPr>
                          <m:t>𝐴</m:t>
                        </m:r>
                      </m:e>
                    </m:acc>
                  </m:oMath>
                </a14:m>
                <a:r>
                  <a:rPr sz="2400" b="0">
                    <a:solidFill>
                      <a:srgbClr val="78350F"/>
                    </a:solidFill>
                    <a:latin typeface="Arial"/>
                  </a:rPr>
                  <a:t> on the line's direction.</a:t>
                </a:r>
                <a:endParaRPr sz="2400">
                  <a:solidFill>
                    <a:srgbClr val="78350F"/>
                  </a:solidFill>
                </a:endParaRPr>
              </a:p>
            </p:txBody>
          </p:sp>
        </mc:Choice>
        <mc:Fallback>
          <p:sp>
            <p:nvSpPr>
              <p:cNvPr id="5" name="Rounded Rectangle 4"/>
              <p:cNvSpPr/>
              <p:nvPr/>
            </p:nvSpPr>
            <p:spPr>
              <a:xfrm>
                <a:off x="731520" y="1280160"/>
                <a:ext cx="10725912" cy="1109472"/>
              </a:xfrm>
              <a:prstGeom prst="roundRect">
                <a:avLst>
                  <a:gd name="adj" fmla="val 8000"/>
                </a:avLst>
              </a:prstGeom>
              <a:solidFill>
                <a:srgbClr val="FDE68A"/>
              </a:solidFill>
              <a:ln w="3175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54864" bIns="73152"/>
              <a:lstStyle>
                <a:lvl1pPr>
                  <a:defRPr sz="2400">
                    <a:solidFill>
                      <a:srgbClr val="78350F"/>
                    </a:solidFill>
                  </a:defRPr>
                </a:lvl1pPr>
              </a:lstStyle>
              <a:p>
                <a:pPr algn="l">
                  <a:defRPr sz="2400">
                    <a:solidFill>
                      <a:srgbClr val="78350F"/>
                    </a:solidFill>
                  </a:defRPr>
                </a:pPr>
                <a:r>
                  <a:rPr sz="2400" b="1">
                    <a:solidFill>
                      <a:srgbClr val="78350F"/>
                    </a:solidFill>
                    <a:latin typeface="Arial"/>
                  </a:rPr>
                  <a:t>Idea:  </a:t>
                </a:r>
                <a:r>
                  <a:rPr sz="2400" b="0">
                    <a:solidFill>
                      <a:srgbClr val="78350F"/>
                    </a:solidFill>
                    <a:latin typeface="Arial"/>
                  </a:rPr>
                  <a:t>(B) split into reciprocal arctangents; (D) Pythagoras with the projection of </a:t>
                </a:r>
                <a:r>
                  <a:rPr lang="en-IN" sz="2400">
                    <a:solidFill>
                      <a:srgbClr val="78350F"/>
                    </a:solidFill>
                    <a:latin typeface="Cambria Math" panose="02040503050406030204" pitchFamily="18" charset="0"/>
                  </a:rPr>
                  <a:t>$\overrightarrow{OA}$</a:t>
                </a:r>
                <a:r>
                  <a:rPr sz="2400" b="0">
                    <a:solidFill>
                      <a:srgbClr val="78350F"/>
                    </a:solidFill>
                    <a:latin typeface="Arial"/>
                  </a:rPr>
                  <a:t> on the line's direction.</a:t>
                </a:r>
                <a:endParaRPr sz="2400">
                  <a:solidFill>
                    <a:srgbClr val="78350F"/>
                  </a:solidFill>
                </a:endParaRPr>
              </a:p>
            </p:txBody>
          </p:sp>
        </mc:Fallback>
      </mc:AlternateContent>
      <mc:AlternateContent xmlns:mc="http://schemas.openxmlformats.org/markup-compatibility/2006" xmlns:a14="http://schemas.microsoft.com/office/drawing/2010/main">
        <mc:Choice Requires="a14">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num>
                      <m:den>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den>
                        </m:f>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4</m:t>
                        </m:r>
                        <m:sSup>
                          <m:e>
                            <m:r>
                              <a:rPr lang="en-IN" sz="2400" i="1">
                                <a:solidFill>
                                  <a:srgbClr val="111827"/>
                                </a:solidFill>
                                <a:latin typeface="Cambria Math" panose="02040503050406030204" pitchFamily="18" charset="0"/>
                              </a:rPr>
                              <m:t>𝑖</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𝑖</m:t>
                            </m:r>
                          </m:e>
                          <m:sup>
                            <m:r>
                              <a:rPr lang="en-IN" sz="2400" i="1">
                                <a:solidFill>
                                  <a:srgbClr val="111827"/>
                                </a:solidFill>
                                <a:latin typeface="Cambria Math" panose="02040503050406030204" pitchFamily="18" charset="0"/>
                              </a:rPr>
                              <m:t>2</m:t>
                            </m:r>
                          </m:sup>
                        </m:sSup>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The sum telescopes to </a:t>
                </a: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𝑛</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oMath>
                </a14:m>
                <a:r>
                  <a:rPr sz="2400" b="0">
                    <a:solidFill>
                      <a:srgbClr val="111827"/>
                    </a:solidFill>
                    <a:latin typeface="Arial"/>
                  </a:rPr>
                  <a:t>, so </a:t>
                </a:r>
                <a14:m>
                  <m:oMath xmlns:m="http://schemas.openxmlformats.org/officeDocument/2006/math">
                    <m:r>
                      <m:rPr>
                        <m:sty m:val="p"/>
                      </m:rPr>
                      <a:rPr lang="en-IN" sz="2400">
                        <a:solidFill>
                          <a:srgbClr val="111827"/>
                        </a:solidFill>
                        <a:latin typeface="Cambria Math" panose="02040503050406030204" pitchFamily="18" charset="0"/>
                      </a:rPr>
                      <m:t>tan</m:t>
                    </m:r>
                    <m:r>
                      <a:rPr lang="en-IN" sz="2400" i="1">
                        <a:solidFill>
                          <a:srgbClr val="111827"/>
                        </a:solidFill>
                        <a:latin typeface="Cambria Math" panose="02040503050406030204" pitchFamily="18" charset="0"/>
                      </a:rPr>
                      <m:t>𝑡</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(q).</a:t>
                </a:r>
                <a:endParaRPr sz="2400">
                  <a:solidFill>
                    <a:srgbClr val="111827"/>
                  </a:solidFill>
                </a:endParaRPr>
              </a:p>
            </p:txBody>
          </p:sp>
        </mc:Choice>
        <mc:Fallback>
          <p:sp>
            <p:nvSpPr>
              <p:cNvPr id="6" name="Rectangle 5"/>
              <p:cNvSpPr/>
              <p:nvPr/>
            </p:nvSpPr>
            <p:spPr>
              <a:xfrm>
                <a:off x="731520" y="2526792"/>
                <a:ext cx="10725912" cy="414832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(B) </a:t>
                </a:r>
                <a:r>
                  <a:rPr lang="en-IN" sz="2400">
                    <a:solidFill>
                      <a:srgbClr val="111827"/>
                    </a:solidFill>
                    <a:latin typeface="Cambria Math" panose="02040503050406030204" pitchFamily="18" charset="0"/>
                  </a:rPr>
                  <a:t>$\tan^{-1}\frac{1}{2i-1}-\tan^{-1}\frac{1}{2i+1}=\tan^{-1}\frac{\frac{1}{2i-1}-\frac{1}{2i+1}}{1+\frac{1}{(2i-1)(2i+1)}}=\tan^{-1}\frac{2}{4i^2}=\tan^{-1}\frac1{2i^2}$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(B) The sum telescopes to </a:t>
                </a:r>
                <a:r>
                  <a:rPr lang="en-IN" sz="2400">
                    <a:solidFill>
                      <a:srgbClr val="111827"/>
                    </a:solidFill>
                    <a:latin typeface="Cambria Math" panose="02040503050406030204" pitchFamily="18" charset="0"/>
                  </a:rPr>
                  <a:t>$\tan^{-1}1-\tan^{-1}\frac{1}{2n+1}\to\frac\pi4-0$</a:t>
                </a:r>
                <a:r>
                  <a:rPr sz="2400" b="0">
                    <a:solidFill>
                      <a:srgbClr val="111827"/>
                    </a:solidFill>
                    <a:latin typeface="Arial"/>
                  </a:rPr>
                  <a:t>, so </a:t>
                </a:r>
                <a:r>
                  <a:rPr lang="en-IN" sz="2400">
                    <a:solidFill>
                      <a:srgbClr val="111827"/>
                    </a:solidFill>
                    <a:latin typeface="Cambria Math" panose="02040503050406030204" pitchFamily="18" charset="0"/>
                  </a:rPr>
                  <a:t>$\tan t=1$</a:t>
                </a:r>
                <a:r>
                  <a:rPr sz="2400" b="0">
                    <a:solidFill>
                      <a:srgbClr val="111827"/>
                    </a:solidFill>
                    <a:latin typeface="Arial"/>
                  </a:rPr>
                  <a:t> (q).</a:t>
                </a:r>
                <a:endParaRPr sz="2400">
                  <a:solidFill>
                    <a:srgbClr val="111827"/>
                  </a:solidFill>
                </a:endParaRPr>
              </a:p>
            </p:txBody>
          </p:sp>
        </mc:Fallback>
      </mc:AlternateContent>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FDE68A"/>
          </a:solidFill>
          <a:ln w="25400">
            <a:solidFill>
              <a:srgbClr val="D97706"/>
            </a:solidFill>
          </a:ln>
          <a:effectLst/>
        </p:spPr>
        <p:style>
          <a:lnRef idx="1">
            <a:schemeClr val="accent1"/>
          </a:lnRef>
          <a:fillRef idx="3">
            <a:schemeClr val="accent1"/>
          </a:fillRef>
          <a:effectRef idx="2">
            <a:schemeClr val="accent1"/>
          </a:effectRef>
          <a:fontRef idx="minor">
            <a:srgbClr val="78350F"/>
          </a:fontRef>
        </p:style>
        <p:txBody>
          <a:bodyPr rtlCol="0" anchor="ctr" wrap="square" lIns="228600" rIns="228600" tIns="18288" bIns="18288"/>
          <a:lstStyle>
            <a:lvl1pPr>
              <a:defRPr sz="2200">
                <a:solidFill>
                  <a:srgbClr val="78350F"/>
                </a:solidFill>
              </a:defRPr>
            </a:lvl1pPr>
          </a:lstStyle>
          <a:p>
            <a:pPr algn="ctr">
              <a:defRPr sz="2200">
                <a:solidFill>
                  <a:srgbClr val="78350F"/>
                </a:solidFill>
              </a:defRPr>
            </a:pPr>
            <a:r>
              <a:rPr sz="2200" b="1">
                <a:solidFill>
                  <a:srgbClr val="78350F"/>
                </a:solidFill>
                <a:latin typeface="Arial"/>
              </a:rPr>
              <a:t>Alternate Solution</a:t>
            </a:r>
            <a:endParaRPr sz="2200">
              <a:solidFill>
                <a:srgbClr val="78350F"/>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Take </a:t>
                </a:r>
                <a14:m>
                  <m:oMath xmlns:m="http://schemas.openxmlformats.org/officeDocument/2006/math">
                    <m:r>
                      <a:rPr lang="en-IN" sz="2400" i="1">
                        <a:solidFill>
                          <a:srgbClr val="111827"/>
                        </a:solidFill>
                        <a:latin typeface="Cambria Math" panose="02040503050406030204" pitchFamily="18" charset="0"/>
                      </a:rPr>
                      <m:t>𝐴</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0</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on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direction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m:rPr>
                        <m:sty m:val="p"/>
                      </m:rPr>
                      <a:rPr lang="en-IN" sz="2400">
                        <a:solidFill>
                          <a:srgbClr val="111827"/>
                        </a:solidFill>
                        <a:latin typeface="Cambria Math" panose="02040503050406030204" pitchFamily="18" charset="0"/>
                      </a:rPr>
                      <m:t>)</m:t>
                    </m:r>
                  </m:oMath>
                </a14:m>
                <a:r>
                  <a:rPr sz="2400" b="0">
                    <a:solidFill>
                      <a:srgbClr val="111827"/>
                    </a:solidFill>
                    <a:latin typeface="Arial"/>
                  </a:rPr>
                  <a:t>,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3</m:t>
                    </m:r>
                  </m:oMath>
                </a14:m>
                <a:r>
                  <a:rPr sz="2400" b="0">
                    <a:solidFill>
                      <a:srgbClr val="111827"/>
                    </a:solidFill>
                    <a:latin typeface="Arial"/>
                  </a:rPr>
                  <a:t>. The distance of </a:t>
                </a:r>
                <a14:m>
                  <m:oMath xmlns:m="http://schemas.openxmlformats.org/officeDocument/2006/math">
                    <m:r>
                      <a:rPr lang="en-IN" sz="2400" i="1">
                        <a:solidFill>
                          <a:srgbClr val="111827"/>
                        </a:solidFill>
                        <a:latin typeface="Cambria Math" panose="02040503050406030204" pitchFamily="18" charset="0"/>
                      </a:rPr>
                      <m:t>𝑂</m:t>
                    </m:r>
                  </m:oMath>
                </a14:m>
                <a:r>
                  <a:rPr sz="2400" b="0">
                    <a:solidFill>
                      <a:srgbClr val="111827"/>
                    </a:solidFill>
                    <a:latin typeface="Arial"/>
                  </a:rPr>
                  <a:t> from </a:t>
                </a:r>
                <a14:m>
                  <m:oMath xmlns:m="http://schemas.openxmlformats.org/officeDocument/2006/math">
                    <m:r>
                      <a:rPr lang="en-IN" sz="2400" i="1">
                        <a:solidFill>
                          <a:srgbClr val="111827"/>
                        </a:solidFill>
                        <a:latin typeface="Cambria Math" panose="02040503050406030204" pitchFamily="18" charset="0"/>
                      </a:rPr>
                      <m:t>𝐿</m:t>
                    </m:r>
                  </m:oMath>
                </a14:m>
                <a:r>
                  <a:rPr sz="2400" b="0">
                    <a:solidFill>
                      <a:srgbClr val="111827"/>
                    </a:solidFill>
                    <a:latin typeface="Arial"/>
                  </a:rPr>
                  <a:t> satisfies </a:t>
                </a:r>
                <a14:m>
                  <m:oMath xmlns:m="http://schemas.openxmlformats.org/officeDocument/2006/math">
                    <m:sSup>
                      <m:e>
                        <m:r>
                          <m:rPr>
                            <m:nor/>
                          </m:rPr>
                          <a:rPr lang="en-IN" sz="2400" i="1">
                            <a:solidFill>
                              <a:srgbClr val="111827"/>
                            </a:solidFill>
                            <a:latin typeface="Cambria Math" panose="02040503050406030204" pitchFamily="18" charset="0"/>
                          </a:rPr>
                          <m:t>𝑑𝑖𝑠𝑡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e>
                    </m:acc>
                    <m:sSup>
                      <m:e>
                        <m:r>
                          <m:rPr>
                            <m:sty m:val="p"/>
                          </m:rPr>
                          <a:rPr lang="en-IN" sz="2400">
                            <a:solidFill>
                              <a:srgbClr val="111827"/>
                            </a:solidFill>
                            <a:latin typeface="Cambria Math" panose="02040503050406030204" pitchFamily="18" charset="0"/>
                          </a:rPr>
                          <m:t>|</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e>
                      <m:sup>
                        <m:r>
                          <a:rPr lang="en-IN" sz="2400" i="1">
                            <a:solidFill>
                              <a:srgbClr val="111827"/>
                            </a:solidFill>
                            <a:latin typeface="Cambria Math" panose="02040503050406030204" pitchFamily="18" charset="0"/>
                          </a:rPr>
                          <m:t>2</m:t>
                        </m:r>
                      </m:sup>
                    </m:sSup>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14:m>
                  <m:oMath xmlns:m="http://schemas.openxmlformats.org/officeDocument/2006/math">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oMath>
                </a14:m>
                <a:r>
                  <a:rPr sz="2400" b="0">
                    <a:solidFill>
                      <a:srgbClr val="111827"/>
                    </a:solidFill>
                    <a:latin typeface="Arial"/>
                  </a:rPr>
                  <a:t> and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2</m:t>
                        </m:r>
                      </m:num>
                      <m:den>
                        <m:r>
                          <a:rPr lang="en-IN" sz="2400" i="1">
                            <a:solidFill>
                              <a:srgbClr val="111827"/>
                            </a:solidFill>
                            <a:latin typeface="Cambria Math" panose="02040503050406030204" pitchFamily="18" charset="0"/>
                          </a:rPr>
                          <m:t>3</m:t>
                        </m:r>
                      </m:den>
                    </m:f>
                  </m:oMath>
                </a14:m>
                <a:r>
                  <a:rPr sz="2400" b="0">
                    <a:solidFill>
                      <a:srgbClr val="111827"/>
                    </a:solidFill>
                    <a:latin typeface="Arial"/>
                  </a:rPr>
                  <a:t>, so </a:t>
                </a:r>
                <a14:m>
                  <m:oMath xmlns:m="http://schemas.openxmlformats.org/officeDocument/2006/math">
                    <m:sSup>
                      <m:e>
                        <m:r>
                          <m:rPr>
                            <m:nor/>
                          </m:rPr>
                          <a:rPr lang="en-IN" sz="2400" i="1">
                            <a:solidFill>
                              <a:srgbClr val="111827"/>
                            </a:solidFill>
                            <a:latin typeface="Cambria Math" panose="02040503050406030204" pitchFamily="18" charset="0"/>
                          </a:rPr>
                          <m:t>𝑑𝑖𝑠𝑡</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4</m:t>
                        </m:r>
                      </m:num>
                      <m:den>
                        <m:r>
                          <a:rPr lang="en-IN" sz="2400" i="1">
                            <a:solidFill>
                              <a:srgbClr val="111827"/>
                            </a:solidFill>
                            <a:latin typeface="Cambria Math" panose="02040503050406030204" pitchFamily="18" charset="0"/>
                          </a:rPr>
                          <m:t>9</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5</m:t>
                        </m:r>
                      </m:num>
                      <m:den>
                        <m:r>
                          <a:rPr lang="en-IN" sz="2400" i="1">
                            <a:solidFill>
                              <a:srgbClr val="111827"/>
                            </a:solidFill>
                            <a:latin typeface="Cambria Math" panose="02040503050406030204" pitchFamily="18" charset="0"/>
                          </a:rPr>
                          <m:t>9</m:t>
                        </m:r>
                      </m:den>
                    </m:f>
                  </m:oMath>
                </a14:m>
                <a:r>
                  <a:rPr sz="2400" b="0">
                    <a:solidFill>
                      <a:srgbClr val="111827"/>
                    </a:solidFill>
                    <a:latin typeface="Arial"/>
                  </a:rPr>
                  <a:t> and dist </a:t>
                </a:r>
                <a14:m>
                  <m:oMath xmlns:m="http://schemas.openxmlformats.org/officeDocument/2006/math">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ad>
                          <m:radPr>
                            <m:degHide m:val="on"/>
                            <m:ctrlPr>
                              <a:rPr lang="en-IN" sz="2400" i="1">
                                <a:solidFill>
                                  <a:srgbClr val="111827"/>
                                </a:solidFill>
                                <a:latin typeface="Cambria Math" panose="02040503050406030204" pitchFamily="18" charset="0"/>
                              </a:rPr>
                            </m:ctrlPr>
                          </m:radPr>
                          <m:deg/>
                          <m:e>
                            <m:r>
                              <a:rPr lang="en-IN" sz="2400" i="1">
                                <a:solidFill>
                                  <a:srgbClr val="111827"/>
                                </a:solidFill>
                                <a:latin typeface="Cambria Math" panose="02040503050406030204" pitchFamily="18" charset="0"/>
                              </a:rPr>
                              <m:t>5</m:t>
                            </m:r>
                          </m:e>
                        </m:rad>
                      </m:num>
                      <m:den>
                        <m:r>
                          <a:rPr lang="en-IN" sz="2400" i="1">
                            <a:solidFill>
                              <a:srgbClr val="111827"/>
                            </a:solidFill>
                            <a:latin typeface="Cambria Math" panose="02040503050406030204" pitchFamily="18" charset="0"/>
                          </a:rPr>
                          <m:t>3</m:t>
                        </m:r>
                      </m:den>
                    </m:f>
                  </m:oMath>
                </a14:m>
                <a:r>
                  <a:rPr sz="2400" b="0">
                    <a:solidFill>
                      <a:srgbClr val="111827"/>
                    </a:solidFill>
                    <a:latin typeface="Arial"/>
                  </a:rPr>
                  <a:t> (p).</a:t>
                </a:r>
                <a:endParaRPr sz="2400">
                  <a:solidFill>
                    <a:srgbClr val="111827"/>
                  </a:solidFill>
                </a:endParaRPr>
              </a:p>
            </p:txBody>
          </p:sp>
        </mc:Choice>
        <mc:Fallback>
          <p:sp>
            <p:nvSpPr>
              <p:cNvPr id="5" name="Rectangle 4"/>
              <p:cNvSpPr/>
              <p:nvPr/>
            </p:nvSpPr>
            <p:spPr>
              <a:xfrm>
                <a:off x="731520" y="1353312"/>
                <a:ext cx="10725912" cy="4434840"/>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sz="2400" b="0">
                    <a:solidFill>
                      <a:srgbClr val="111827"/>
                    </a:solidFill>
                    <a:latin typeface="Arial"/>
                  </a:rPr>
                  <a:t>(D) Take </a:t>
                </a:r>
                <a:r>
                  <a:rPr lang="en-IN" sz="2400">
                    <a:solidFill>
                      <a:srgbClr val="111827"/>
                    </a:solidFill>
                    <a:latin typeface="Cambria Math" panose="02040503050406030204" pitchFamily="18" charset="0"/>
                  </a:rPr>
                  <a:t>$A(0,1,0)$</a:t>
                </a:r>
                <a:r>
                  <a:rPr sz="2400" b="0">
                    <a:solidFill>
                      <a:srgbClr val="111827"/>
                    </a:solidFill>
                    <a:latin typeface="Arial"/>
                  </a:rPr>
                  <a:t> on </a:t>
                </a:r>
                <a:r>
                  <a:rPr lang="en-IN" sz="2400">
                    <a:solidFill>
                      <a:srgbClr val="111827"/>
                    </a:solidFill>
                    <a:latin typeface="Cambria Math" panose="02040503050406030204" pitchFamily="18" charset="0"/>
                  </a:rPr>
                  <a:t>$L$</a:t>
                </a:r>
                <a:r>
                  <a:rPr sz="2400" b="0">
                    <a:solidFill>
                      <a:srgbClr val="111827"/>
                    </a:solidFill>
                    <a:latin typeface="Arial"/>
                  </a:rPr>
                  <a:t>, direction </a:t>
                </a:r>
                <a:r>
                  <a:rPr lang="en-IN" sz="2400">
                    <a:solidFill>
                      <a:srgbClr val="111827"/>
                    </a:solidFill>
                    <a:latin typeface="Cambria Math" panose="02040503050406030204" pitchFamily="18" charset="0"/>
                  </a:rPr>
                  <a:t>$\vec{d}=(1,2,2)$</a:t>
                </a:r>
                <a:r>
                  <a:rPr sz="2400" b="0">
                    <a:solidFill>
                      <a:srgbClr val="111827"/>
                    </a:solidFill>
                    <a:latin typeface="Arial"/>
                  </a:rPr>
                  <a:t>, </a:t>
                </a:r>
                <a:r>
                  <a:rPr lang="en-IN" sz="2400">
                    <a:solidFill>
                      <a:srgbClr val="111827"/>
                    </a:solidFill>
                    <a:latin typeface="Cambria Math" panose="02040503050406030204" pitchFamily="18" charset="0"/>
                  </a:rPr>
                  <a:t>$|\vec{d}|=3$</a:t>
                </a:r>
                <a:r>
                  <a:rPr sz="2400" b="0">
                    <a:solidFill>
                      <a:srgbClr val="111827"/>
                    </a:solidFill>
                    <a:latin typeface="Arial"/>
                  </a:rPr>
                  <a:t>. The distance of </a:t>
                </a:r>
                <a:r>
                  <a:rPr lang="en-IN" sz="2400">
                    <a:solidFill>
                      <a:srgbClr val="111827"/>
                    </a:solidFill>
                    <a:latin typeface="Cambria Math" panose="02040503050406030204" pitchFamily="18" charset="0"/>
                  </a:rPr>
                  <a:t>$O$</a:t>
                </a:r>
                <a:r>
                  <a:rPr sz="2400" b="0">
                    <a:solidFill>
                      <a:srgbClr val="111827"/>
                    </a:solidFill>
                    <a:latin typeface="Arial"/>
                  </a:rPr>
                  <a:t> from </a:t>
                </a:r>
                <a:r>
                  <a:rPr lang="en-IN" sz="2400">
                    <a:solidFill>
                      <a:srgbClr val="111827"/>
                    </a:solidFill>
                    <a:latin typeface="Cambria Math" panose="02040503050406030204" pitchFamily="18" charset="0"/>
                  </a:rPr>
                  <a:t>$L$</a:t>
                </a:r>
                <a:r>
                  <a:rPr sz="2400" b="0">
                    <a:solidFill>
                      <a:srgbClr val="111827"/>
                    </a:solidFill>
                    <a:latin typeface="Arial"/>
                  </a:rPr>
                  <a:t> satisfies </a:t>
                </a:r>
                <a:r>
                  <a:rPr lang="en-IN" sz="2400">
                    <a:solidFill>
                      <a:srgbClr val="111827"/>
                    </a:solidFill>
                    <a:latin typeface="Cambria Math" panose="02040503050406030204" pitchFamily="18" charset="0"/>
                  </a:rPr>
                  <a:t>$\text{dist}^2=|\overrightarrow{OA}|^2-\left(\overrightarrow{OA}\cdot\hat{d}\right)^2$</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 </a:t>
                </a:r>
                <a:r>
                  <a:rPr lang="en-IN" sz="2400">
                    <a:solidFill>
                      <a:srgbClr val="111827"/>
                    </a:solidFill>
                    <a:latin typeface="Cambria Math" panose="02040503050406030204" pitchFamily="18" charset="0"/>
                  </a:rPr>
                  <a:t>$|\overrightarrow{OA}|=1$</a:t>
                </a:r>
                <a:r>
                  <a:rPr sz="2400" b="0">
                    <a:solidFill>
                      <a:srgbClr val="111827"/>
                    </a:solidFill>
                    <a:latin typeface="Arial"/>
                  </a:rPr>
                  <a:t> and </a:t>
                </a:r>
                <a:r>
                  <a:rPr lang="en-IN" sz="2400">
                    <a:solidFill>
                      <a:srgbClr val="111827"/>
                    </a:solidFill>
                    <a:latin typeface="Cambria Math" panose="02040503050406030204" pitchFamily="18" charset="0"/>
                  </a:rPr>
                  <a:t>$\overrightarrow{OA}\cdot\hat{d}=\frac23$</a:t>
                </a:r>
                <a:r>
                  <a:rPr sz="2400" b="0">
                    <a:solidFill>
                      <a:srgbClr val="111827"/>
                    </a:solidFill>
                    <a:latin typeface="Arial"/>
                  </a:rPr>
                  <a:t>, so </a:t>
                </a:r>
                <a:r>
                  <a:rPr lang="en-IN" sz="2400">
                    <a:solidFill>
                      <a:srgbClr val="111827"/>
                    </a:solidFill>
                    <a:latin typeface="Cambria Math" panose="02040503050406030204" pitchFamily="18" charset="0"/>
                  </a:rPr>
                  <a:t>$\text{dist}^2=1-\frac49=\frac59$</a:t>
                </a:r>
                <a:r>
                  <a:rPr sz="2400" b="0">
                    <a:solidFill>
                      <a:srgbClr val="111827"/>
                    </a:solidFill>
                    <a:latin typeface="Arial"/>
                  </a:rPr>
                  <a:t> and dist </a:t>
                </a:r>
                <a:r>
                  <a:rPr lang="en-IN" sz="2400">
                    <a:solidFill>
                      <a:srgbClr val="111827"/>
                    </a:solidFill>
                    <a:latin typeface="Cambria Math" panose="02040503050406030204" pitchFamily="18" charset="0"/>
                  </a:rPr>
                  <a:t>$=\frac{\sqrt5}{3}$</a:t>
                </a:r>
                <a:r>
                  <a:rPr sz="2400" b="0">
                    <a:solidFill>
                      <a:srgbClr val="111827"/>
                    </a:solidFill>
                    <a:latin typeface="Arial"/>
                  </a:rPr>
                  <a:t> (p).</a:t>
                </a:r>
                <a:endParaRPr sz="2400">
                  <a:solidFill>
                    <a:srgbClr val="111827"/>
                  </a:solidFill>
                </a:endParaRPr>
              </a:p>
            </p:txBody>
          </p:sp>
        </mc:Fallback>
      </mc:AlternateContent>
      <mc:AlternateContent xmlns:mc="http://schemas.openxmlformats.org/markup-compatibility/2006" xmlns:a14="http://schemas.microsoft.com/office/drawing/2010/main">
        <mc:Choice Requires="a14">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(q); (B)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(q); (C)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(r); (D) </a:t>
                </a:r>
                <a14:m>
                  <m:oMath xmlns:m="http://schemas.openxmlformats.org/officeDocument/2006/math">
                    <m:r>
                      <m:rPr>
                        <m:sty m:val="p"/>
                      </m:rPr>
                      <a:rPr lang="en-IN" sz="2800">
                        <a:solidFill>
                          <a:srgbClr val="15803D"/>
                        </a:solidFill>
                        <a:latin typeface="Cambria Math" panose="02040503050406030204" pitchFamily="18" charset="0"/>
                      </a:rPr>
                      <m:t>→</m:t>
                    </m:r>
                  </m:oMath>
                </a14:m>
                <a:r>
                  <a:rPr sz="2800" b="1">
                    <a:solidFill>
                      <a:srgbClr val="15803D"/>
                    </a:solidFill>
                    <a:latin typeface="Arial"/>
                  </a:rPr>
                  <a:t> (p)</a:t>
                </a:r>
                <a:endParaRPr sz="2800">
                  <a:solidFill>
                    <a:srgbClr val="15803D"/>
                  </a:solidFill>
                </a:endParaRPr>
              </a:p>
            </p:txBody>
          </p:sp>
        </mc:Choice>
        <mc:Fallback>
          <p:sp>
            <p:nvSpPr>
              <p:cNvPr id="6" name="Rounded Rectangle 5"/>
              <p:cNvSpPr/>
              <p:nvPr/>
            </p:nvSpPr>
            <p:spPr>
              <a:xfrm>
                <a:off x="731520" y="5897880"/>
                <a:ext cx="10725912" cy="777240"/>
              </a:xfrm>
              <a:prstGeom prst="roundRect">
                <a:avLst>
                  <a:gd name="adj" fmla="val 8000"/>
                </a:avLst>
              </a:prstGeom>
              <a:solidFill>
                <a:srgbClr val="DCFCE7"/>
              </a:solidFill>
              <a:ln w="25400">
                <a:solidFill>
                  <a:srgbClr val="15803D"/>
                </a:solidFill>
              </a:ln>
              <a:effectLst/>
            </p:spPr>
            <p:style>
              <a:lnRef idx="1">
                <a:schemeClr val="accent1"/>
              </a:lnRef>
              <a:fillRef idx="3">
                <a:schemeClr val="accent1"/>
              </a:fillRef>
              <a:effectRef idx="2">
                <a:schemeClr val="accent1"/>
              </a:effectRef>
              <a:fontRef idx="minor">
                <a:srgbClr val="15803D"/>
              </a:fontRef>
            </p:style>
            <p:txBody>
              <a:bodyPr rtlCol="0" anchor="ctr" wrap="square" lIns="228600" rIns="228600" tIns="18288" bIns="73152"/>
              <a:lstStyle>
                <a:lvl1pPr>
                  <a:defRPr sz="2800">
                    <a:solidFill>
                      <a:srgbClr val="15803D"/>
                    </a:solidFill>
                  </a:defRPr>
                </a:lvl1pPr>
              </a:lstStyle>
              <a:p>
                <a:pPr algn="ctr">
                  <a:defRPr sz="2800">
                    <a:solidFill>
                      <a:srgbClr val="15803D"/>
                    </a:solidFill>
                  </a:defRPr>
                </a:pPr>
                <a:r>
                  <a:rPr sz="2800" b="1">
                    <a:solidFill>
                      <a:srgbClr val="15803D"/>
                    </a:solidFill>
                    <a:latin typeface="Arial"/>
                  </a:rPr>
                  <a:t>Same answer: (A) </a:t>
                </a:r>
                <a:r>
                  <a:rPr lang="en-IN" sz="2800">
                    <a:solidFill>
                      <a:srgbClr val="15803D"/>
                    </a:solidFill>
                    <a:latin typeface="Cambria Math" panose="02040503050406030204" pitchFamily="18" charset="0"/>
                  </a:rPr>
                  <a:t>$\to$</a:t>
                </a:r>
                <a:r>
                  <a:rPr sz="2800" b="1">
                    <a:solidFill>
                      <a:srgbClr val="15803D"/>
                    </a:solidFill>
                    <a:latin typeface="Arial"/>
                  </a:rPr>
                  <a:t> (q); (B) </a:t>
                </a:r>
                <a:r>
                  <a:rPr lang="en-IN" sz="2800">
                    <a:solidFill>
                      <a:srgbClr val="15803D"/>
                    </a:solidFill>
                    <a:latin typeface="Cambria Math" panose="02040503050406030204" pitchFamily="18" charset="0"/>
                  </a:rPr>
                  <a:t>$\to$</a:t>
                </a:r>
                <a:r>
                  <a:rPr sz="2800" b="1">
                    <a:solidFill>
                      <a:srgbClr val="15803D"/>
                    </a:solidFill>
                    <a:latin typeface="Arial"/>
                  </a:rPr>
                  <a:t> (q); (C) </a:t>
                </a:r>
                <a:r>
                  <a:rPr lang="en-IN" sz="2800">
                    <a:solidFill>
                      <a:srgbClr val="15803D"/>
                    </a:solidFill>
                    <a:latin typeface="Cambria Math" panose="02040503050406030204" pitchFamily="18" charset="0"/>
                  </a:rPr>
                  <a:t>$\to$</a:t>
                </a:r>
                <a:r>
                  <a:rPr sz="2800" b="1">
                    <a:solidFill>
                      <a:srgbClr val="15803D"/>
                    </a:solidFill>
                    <a:latin typeface="Arial"/>
                  </a:rPr>
                  <a:t> (r); (D) </a:t>
                </a:r>
                <a:r>
                  <a:rPr lang="en-IN" sz="2800">
                    <a:solidFill>
                      <a:srgbClr val="15803D"/>
                    </a:solidFill>
                    <a:latin typeface="Cambria Math" panose="02040503050406030204" pitchFamily="18" charset="0"/>
                  </a:rPr>
                  <a:t>$\to$</a:t>
                </a:r>
                <a:r>
                  <a:rPr sz="2800" b="1">
                    <a:solidFill>
                      <a:srgbClr val="15803D"/>
                    </a:solidFill>
                    <a:latin typeface="Arial"/>
                  </a:rPr>
                  <a:t> (p)</a:t>
                </a:r>
                <a:endParaRPr sz="2800">
                  <a:solidFill>
                    <a:srgbClr val="15803D"/>
                  </a:solidFill>
                </a:endParaRPr>
              </a:p>
            </p:txBody>
          </p:sp>
        </mc:Fallback>
      </mc:AlternateContent>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Question 47</a:t>
            </a:r>
            <a:endParaRPr sz="3200">
              <a:solidFill>
                <a:srgbClr val="FFFFFF"/>
              </a:solidFill>
            </a:endParaRPr>
          </a:p>
        </p:txBody>
      </p:sp>
      <p:sp>
        <p:nvSpPr>
          <p:cNvPr id="3" name="Rounded Rectangle 2"/>
          <p:cNvSpPr/>
          <p:nvPr/>
        </p:nvSpPr>
        <p:spPr>
          <a:xfrm>
            <a:off x="7894015" y="246887"/>
            <a:ext cx="3840480" cy="603504"/>
          </a:xfrm>
          <a:prstGeom prst="roundRect">
            <a:avLst>
              <a:gd name="adj" fmla="val 50000"/>
            </a:avLst>
          </a:prstGeom>
          <a:solidFill>
            <a:srgbClr val="FFD966"/>
          </a:solidFill>
          <a:ln w="19050">
            <a:solidFill>
              <a:srgbClr val="FFFFFF"/>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18288"/>
          <a:lstStyle>
            <a:lvl1pPr>
              <a:defRPr sz="2400">
                <a:solidFill>
                  <a:srgbClr val="111827"/>
                </a:solidFill>
              </a:defRPr>
            </a:lvl1pPr>
          </a:lstStyle>
          <a:p>
            <a:pPr algn="ctr">
              <a:defRPr sz="2400">
                <a:solidFill>
                  <a:srgbClr val="111827"/>
                </a:solidFill>
              </a:defRPr>
            </a:pPr>
            <a:r>
              <a:rPr sz="2400" b="1">
                <a:solidFill>
                  <a:srgbClr val="111827"/>
                </a:solidFill>
                <a:latin typeface="Arial"/>
              </a:rPr>
              <a:t>Level 2  ·  3 Marks</a:t>
            </a:r>
            <a:endParaRPr sz="2400">
              <a:solidFill>
                <a:srgbClr val="111827"/>
              </a:solidFill>
            </a:endParaRPr>
          </a:p>
        </p:txBody>
      </p:sp>
      <p:sp>
        <p:nvSpPr>
          <p:cNvPr id="4" name="Rounded Rectangle 3"/>
          <p:cNvSpPr/>
          <p:nvPr/>
        </p:nvSpPr>
        <p:spPr>
          <a:xfrm>
            <a:off x="3520440" y="265176"/>
            <a:ext cx="4206240" cy="566928"/>
          </a:xfrm>
          <a:prstGeom prst="roundRect">
            <a:avLst>
              <a:gd name="adj" fmla="val 50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8288" bIns="18288"/>
          <a:lstStyle>
            <a:lvl1pPr>
              <a:defRPr sz="2200">
                <a:solidFill>
                  <a:srgbClr val="0B1F3A"/>
                </a:solidFill>
              </a:defRPr>
            </a:lvl1pPr>
          </a:lstStyle>
          <a:p>
            <a:pPr algn="ctr">
              <a:defRPr sz="2200">
                <a:solidFill>
                  <a:srgbClr val="0B1F3A"/>
                </a:solidFill>
              </a:defRPr>
            </a:pPr>
            <a:r>
              <a:rPr sz="2200" b="1">
                <a:solidFill>
                  <a:srgbClr val="0B1F3A"/>
                </a:solidFill>
                <a:latin typeface="Arial"/>
              </a:rPr>
              <a:t>Useful Result / Pattern</a:t>
            </a:r>
            <a:endParaRPr sz="2200">
              <a:solidFill>
                <a:srgbClr val="0B1F3A"/>
              </a:solidFill>
            </a:endParaRPr>
          </a:p>
        </p:txBody>
      </p:sp>
      <mc:AlternateContent xmlns:mc="http://schemas.openxmlformats.org/markup-compatibility/2006" xmlns:a14="http://schemas.microsoft.com/office/drawing/2010/main">
        <mc:Choice Requires="a14">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14:m>
                  <m:oMath xmlns:m="http://schemas.openxmlformats.org/officeDocument/2006/math">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𝑖</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r>
                      <m:rPr>
                        <m:sty m:val="p"/>
                      </m:rPr>
                      <a:rPr lang="en-IN" sz="2400">
                        <a:solidFill>
                          <a:srgbClr val="111827"/>
                        </a:solidFill>
                        <a:latin typeface="Cambria Math" panose="02040503050406030204" pitchFamily="18" charset="0"/>
                      </a:rPr>
                      <m:t>)</m:t>
                    </m:r>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r>
                      <m:rPr>
                        <m:sty m:val="p"/>
                      </m:rPr>
                      <a:rPr lang="en-IN" sz="2400">
                        <a:solidFill>
                          <a:srgbClr val="111827"/>
                        </a:solidFill>
                        <a:latin typeface="Cambria Math" panose="02040503050406030204" pitchFamily="18" charset="0"/>
                      </a:rPr>
                      <m:t>−</m:t>
                    </m:r>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den>
                    </m:f>
                  </m:oMath>
                </a14:m>
                <a:r>
                  <a:rPr sz="2400" b="0">
                    <a:solidFill>
                      <a:srgbClr val="111827"/>
                    </a:solidFill>
                    <a:latin typeface="Arial"/>
                  </a:rPr>
                  <a:t>; hence </a:t>
                </a:r>
                <a14:m>
                  <m:oMath xmlns:m="http://schemas.openxmlformats.org/officeDocument/2006/math">
                    <m:nary>
                      <m:naryPr>
                        <m:chr m:val="∑"/>
                        <m:limLoc m:val="undOvr"/>
                        <m:subHide m:val="off"/>
                        <m:supHide m:val="off"/>
                        <m:ctrlPr>
                          <a:rPr lang="en-IN" sz="2400" i="1">
                            <a:solidFill>
                              <a:srgbClr val="111827"/>
                            </a:solidFill>
                            <a:latin typeface="Cambria Math" panose="02040503050406030204" pitchFamily="18" charset="0"/>
                          </a:rPr>
                        </m:ctrlPr>
                      </m:naryPr>
                      <m:sub>
                        <m:r>
                          <a:rPr lang="en-IN" sz="2400" i="1">
                            <a:solidFill>
                              <a:srgbClr val="111827"/>
                            </a:solidFill>
                            <a:latin typeface="Cambria Math" panose="02040503050406030204" pitchFamily="18" charset="0"/>
                          </a:rPr>
                          <m:t>𝑖</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b>
                      <m:sup>
                        <m:r>
                          <m:rPr>
                            <m:sty m:val="p"/>
                          </m:rPr>
                          <a:rPr lang="en-IN" sz="2400">
                            <a:solidFill>
                              <a:srgbClr val="111827"/>
                            </a:solidFill>
                            <a:latin typeface="Cambria Math" panose="02040503050406030204" pitchFamily="18" charset="0"/>
                          </a:rPr>
                          <m:t>∞</m:t>
                        </m:r>
                      </m:sup>
                      <m:e>
                        <m:sSup>
                          <m:e>
                            <m:r>
                              <m:rPr>
                                <m:sty m:val="p"/>
                              </m:rPr>
                              <a:rPr lang="en-IN" sz="2400">
                                <a:solidFill>
                                  <a:srgbClr val="111827"/>
                                </a:solidFill>
                                <a:latin typeface="Cambria Math" panose="02040503050406030204" pitchFamily="18" charset="0"/>
                              </a:rPr>
                              <m:t>tan</m:t>
                            </m:r>
                          </m:e>
                          <m:sup>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1</m:t>
                            </m:r>
                          </m:sup>
                        </m:sSup>
                      </m:e>
                    </m:nary>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1</m:t>
                        </m:r>
                      </m:num>
                      <m:den>
                        <m:r>
                          <a:rPr lang="en-IN" sz="2400" i="1">
                            <a:solidFill>
                              <a:srgbClr val="111827"/>
                            </a:solidFill>
                            <a:latin typeface="Cambria Math" panose="02040503050406030204" pitchFamily="18" charset="0"/>
                          </a:rPr>
                          <m:t>2</m:t>
                        </m:r>
                        <m:sSup>
                          <m:e>
                            <m:r>
                              <a:rPr lang="en-IN" sz="2400" i="1">
                                <a:solidFill>
                                  <a:srgbClr val="111827"/>
                                </a:solidFill>
                                <a:latin typeface="Cambria Math" panose="02040503050406030204" pitchFamily="18" charset="0"/>
                              </a:rPr>
                              <m:t>𝑖</m:t>
                            </m:r>
                          </m:e>
                          <m:sup>
                            <m:r>
                              <a:rPr lang="en-IN" sz="2400" i="1">
                                <a:solidFill>
                                  <a:srgbClr val="111827"/>
                                </a:solidFill>
                                <a:latin typeface="Cambria Math" panose="02040503050406030204" pitchFamily="18" charset="0"/>
                              </a:rPr>
                              <m:t>2</m:t>
                            </m:r>
                          </m:sup>
                        </m:sSup>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π</m:t>
                        </m:r>
                      </m:num>
                      <m:den>
                        <m:r>
                          <a:rPr lang="en-IN" sz="2400" i="1">
                            <a:solidFill>
                              <a:srgbClr val="111827"/>
                            </a:solidFill>
                            <a:latin typeface="Cambria Math" panose="02040503050406030204" pitchFamily="18" charset="0"/>
                          </a:rPr>
                          <m:t>4</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14:m>
                  <m:oMath xmlns:m="http://schemas.openxmlformats.org/officeDocument/2006/math">
                    <m:r>
                      <m:rPr>
                        <m:sty m:val="p"/>
                      </m:rPr>
                      <a:rPr lang="en-IN" sz="2400">
                        <a:solidFill>
                          <a:srgbClr val="111827"/>
                        </a:solidFill>
                        <a:latin typeface="Cambria Math" panose="02040503050406030204" pitchFamily="18" charset="0"/>
                      </a:rPr>
                      <m:t>cos</m:t>
                    </m:r>
                    <m:r>
                      <a:rPr lang="en-IN" sz="2400" i="1">
                        <a:solidFill>
                          <a:srgbClr val="111827"/>
                        </a:solidFill>
                        <a:latin typeface="Cambria Math" panose="02040503050406030204" pitchFamily="18" charset="0"/>
                      </a:rPr>
                      <m:t>θ</m:t>
                    </m:r>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den>
                    </m:f>
                  </m:oMath>
                </a14:m>
                <a:r>
                  <a:rPr sz="2400" b="0">
                    <a:solidFill>
                      <a:srgbClr val="111827"/>
                    </a:solidFill>
                    <a:latin typeface="Arial"/>
                  </a:rPr>
                  <a:t> then </a:t>
                </a:r>
                <a14:m>
                  <m:oMath xmlns:m="http://schemas.openxmlformats.org/officeDocument/2006/math">
                    <m:sSup>
                      <m:e>
                        <m:r>
                          <m:rPr>
                            <m:sty m:val="p"/>
                          </m:rPr>
                          <a:rPr lang="en-IN" sz="2400">
                            <a:solidFill>
                              <a:srgbClr val="111827"/>
                            </a:solidFill>
                            <a:latin typeface="Cambria Math" panose="02040503050406030204" pitchFamily="18" charset="0"/>
                          </a:rPr>
                          <m:t>tan</m:t>
                        </m:r>
                      </m:e>
                      <m:sup>
                        <m:r>
                          <a:rPr lang="en-IN" sz="2400" i="1">
                            <a:solidFill>
                              <a:srgbClr val="111827"/>
                            </a:solidFill>
                            <a:latin typeface="Cambria Math" panose="02040503050406030204" pitchFamily="18" charset="0"/>
                          </a:rPr>
                          <m:t>2</m:t>
                        </m:r>
                      </m:sup>
                    </m:sSup>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θ</m:t>
                        </m:r>
                      </m:num>
                      <m:den>
                        <m:r>
                          <a:rPr lang="en-IN" sz="2400" i="1">
                            <a:solidFill>
                              <a:srgbClr val="111827"/>
                            </a:solidFill>
                            <a:latin typeface="Cambria Math" panose="02040503050406030204" pitchFamily="18" charset="0"/>
                          </a:rPr>
                          <m:t>2</m:t>
                        </m:r>
                      </m:den>
                    </m:f>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num>
                      <m:den>
                        <m:r>
                          <a:rPr lang="en-IN" sz="2400" i="1">
                            <a:solidFill>
                              <a:srgbClr val="111827"/>
                            </a:solidFill>
                            <a:latin typeface="Cambria Math" panose="02040503050406030204" pitchFamily="18" charset="0"/>
                          </a:rPr>
                          <m:t>𝑞</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𝑝</m:t>
                        </m:r>
                      </m:den>
                    </m:f>
                  </m:oMath>
                </a14:m>
                <a:r>
                  <a:rPr sz="2400" b="0">
                    <a:solidFill>
                      <a:srgbClr val="111827"/>
                    </a:solidFill>
                    <a:latin typeface="Arial"/>
                  </a:rPr>
                  <a:t>; for </a:t>
                </a:r>
                <a14:m>
                  <m:oMath xmlns:m="http://schemas.openxmlformats.org/officeDocument/2006/math">
                    <m:r>
                      <m:rPr>
                        <m:sty m:val="p"/>
                      </m:rPr>
                      <a:rPr lang="en-IN" sz="2400">
                        <a:solidFill>
                          <a:srgbClr val="111827"/>
                        </a:solidFill>
                        <a:latin typeface="Cambria Math" panose="02040503050406030204" pitchFamily="18" charset="0"/>
                      </a:rPr>
                      <m:t>cos</m:t>
                    </m:r>
                    <m:sSub>
                      <m:e>
                        <m:r>
                          <a:rPr lang="en-IN" sz="2400" i="1">
                            <a:solidFill>
                              <a:srgbClr val="111827"/>
                            </a:solidFill>
                            <a:latin typeface="Cambria Math" panose="02040503050406030204" pitchFamily="18" charset="0"/>
                          </a:rPr>
                          <m:t>θ</m:t>
                        </m:r>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𝑏</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𝑐</m:t>
                        </m:r>
                      </m:den>
                    </m:f>
                  </m:oMath>
                </a14:m>
                <a:r>
                  <a:rPr sz="2400" b="0">
                    <a:solidFill>
                      <a:srgbClr val="111827"/>
                    </a:solidFill>
                    <a:latin typeface="Arial"/>
                  </a:rPr>
                  <a:t> this is </a:t>
                </a:r>
                <a14:m>
                  <m:oMath xmlns:m="http://schemas.openxmlformats.org/officeDocument/2006/math">
                    <m:f>
                      <m:fPr>
                        <m:type m:val="bar"/>
                        <m:ctrlPr>
                          <a:rPr lang="en-IN" sz="2400" i="1">
                            <a:solidFill>
                              <a:srgbClr val="111827"/>
                            </a:solidFill>
                            <a:latin typeface="Cambria Math" panose="02040503050406030204" pitchFamily="18" charset="0"/>
                          </a:rPr>
                        </m:ctrlPr>
                      </m:fPr>
                      <m:num>
                        <m:r>
                          <a:rPr lang="en-IN" sz="2400" i="1">
                            <a:solidFill>
                              <a:srgbClr val="111827"/>
                            </a:solidFill>
                            <a:latin typeface="Cambria Math" panose="02040503050406030204" pitchFamily="18" charset="0"/>
                          </a:rPr>
                          <m:t>𝑠</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𝑎</m:t>
                        </m:r>
                      </m:num>
                      <m:den>
                        <m:r>
                          <a:rPr lang="en-IN" sz="2400" i="1">
                            <a:solidFill>
                              <a:srgbClr val="111827"/>
                            </a:solidFill>
                            <a:latin typeface="Cambria Math" panose="02040503050406030204" pitchFamily="18" charset="0"/>
                          </a:rPr>
                          <m:t>𝑠</m:t>
                        </m:r>
                      </m:den>
                    </m:f>
                  </m:oMath>
                </a14:m>
                <a:r>
                  <a:rPr sz="2400" b="0">
                    <a:solidFill>
                      <a:srgbClr val="111827"/>
                    </a:solidFill>
                    <a:latin typeface="Arial"/>
                  </a:rPr>
                  <a:t> (</a:t>
                </a:r>
                <a14:m>
                  <m:oMath xmlns:m="http://schemas.openxmlformats.org/officeDocument/2006/math">
                    <m:r>
                      <a:rPr lang="en-IN" sz="2400" i="1">
                        <a:solidFill>
                          <a:srgbClr val="111827"/>
                        </a:solidFill>
                        <a:latin typeface="Cambria Math" panose="02040503050406030204" pitchFamily="18" charset="0"/>
                      </a:rPr>
                      <m:t>𝑠</m:t>
                    </m:r>
                  </m:oMath>
                </a14:m>
                <a:r>
                  <a:rPr sz="2400" b="0">
                    <a:solidFill>
                      <a:srgbClr val="111827"/>
                    </a:solidFill>
                    <a:latin typeface="Arial"/>
                  </a:rPr>
                  <a:t> the semi-perimeter).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plane perpendicular to the line of intersection of two planes has normal </a:t>
                </a:r>
                <a14:m>
                  <m:oMath xmlns:m="http://schemas.openxmlformats.org/officeDocument/2006/math">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1</m:t>
                        </m:r>
                      </m:sub>
                    </m:sSub>
                    <m:r>
                      <m:rPr>
                        <m:sty m:val="p"/>
                      </m:rPr>
                      <a:rPr lang="en-IN" sz="2400">
                        <a:solidFill>
                          <a:srgbClr val="111827"/>
                        </a:solidFill>
                        <a:latin typeface="Cambria Math" panose="02040503050406030204" pitchFamily="18" charset="0"/>
                      </a:rPr>
                      <m:t>×</m:t>
                    </m:r>
                    <m:sSub>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𝑛</m:t>
                            </m:r>
                          </m:e>
                        </m:acc>
                      </m:e>
                      <m:sub>
                        <m:r>
                          <a:rPr lang="en-IN" sz="2400" i="1">
                            <a:solidFill>
                              <a:srgbClr val="111827"/>
                            </a:solidFill>
                            <a:latin typeface="Cambria Math" panose="02040503050406030204" pitchFamily="18" charset="0"/>
                          </a:rPr>
                          <m:t>2</m:t>
                        </m:r>
                      </m:sub>
                    </m:sSub>
                  </m:oMath>
                </a14:m>
                <a:r>
                  <a:rPr sz="2400" b="0">
                    <a:solidFill>
                      <a:srgbClr val="111827"/>
                    </a:solidFill>
                    <a:latin typeface="Arial"/>
                  </a:rPr>
                  <a:t>; the distance of a point from the line through </a:t>
                </a:r>
                <a14:m>
                  <m:oMath xmlns:m="http://schemas.openxmlformats.org/officeDocument/2006/math">
                    <m:r>
                      <a:rPr lang="en-IN" sz="2400" i="1">
                        <a:solidFill>
                          <a:srgbClr val="111827"/>
                        </a:solidFill>
                        <a:latin typeface="Cambria Math" panose="02040503050406030204" pitchFamily="18" charset="0"/>
                      </a:rPr>
                      <m:t>𝐴</m:t>
                    </m:r>
                  </m:oMath>
                </a14:m>
                <a:r>
                  <a:rPr sz="2400" b="0">
                    <a:solidFill>
                      <a:srgbClr val="111827"/>
                    </a:solidFill>
                    <a:latin typeface="Arial"/>
                  </a:rPr>
                  <a:t> with direction </a:t>
                </a:r>
                <a14:m>
                  <m:oMath xmlns:m="http://schemas.openxmlformats.org/officeDocument/2006/math">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𝑂</m:t>
                                </m:r>
                                <m:r>
                                  <a:rPr lang="en-IN" sz="2400" i="1">
                                    <a:solidFill>
                                      <a:srgbClr val="111827"/>
                                    </a:solidFill>
                                    <a:latin typeface="Cambria Math" panose="02040503050406030204" pitchFamily="18" charset="0"/>
                                  </a:rPr>
                                  <m:t>𝐴</m:t>
                                </m:r>
                              </m:e>
                            </m:acc>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e>
                        </m:d>
                      </m:num>
                      <m:den>
                        <m:r>
                          <m:rPr>
                            <m:sty m:val="p"/>
                          </m:rPr>
                          <a:rPr lang="en-IN" sz="2400">
                            <a:solidFill>
                              <a:srgbClr val="111827"/>
                            </a:solidFill>
                            <a:latin typeface="Cambria Math" panose="02040503050406030204" pitchFamily="18" charset="0"/>
                          </a:rPr>
                          <m:t>|</m:t>
                        </m:r>
                        <m:acc>
                          <m:accPr>
                            <m:chr m:val="⃗"/>
                            <m:ctrlPr>
                              <a:rPr lang="en-IN" sz="2400" i="1">
                                <a:solidFill>
                                  <a:srgbClr val="111827"/>
                                </a:solidFill>
                                <a:latin typeface="Cambria Math" panose="02040503050406030204" pitchFamily="18" charset="0"/>
                              </a:rPr>
                            </m:ctrlPr>
                          </m:accPr>
                          <m:e>
                            <m:r>
                              <a:rPr lang="en-IN" sz="2400" i="1">
                                <a:solidFill>
                                  <a:srgbClr val="111827"/>
                                </a:solidFill>
                                <a:latin typeface="Cambria Math" panose="02040503050406030204" pitchFamily="18" charset="0"/>
                              </a:rPr>
                              <m:t>𝑑</m:t>
                            </m:r>
                          </m:e>
                        </m:acc>
                        <m:r>
                          <m:rPr>
                            <m:sty m:val="p"/>
                          </m:rPr>
                          <a:rPr lang="en-IN" sz="2400">
                            <a:solidFill>
                              <a:srgbClr val="111827"/>
                            </a:solidFill>
                            <a:latin typeface="Cambria Math" panose="02040503050406030204" pitchFamily="18" charset="0"/>
                          </a:rPr>
                          <m:t>|</m:t>
                        </m:r>
                      </m:den>
                    </m:f>
                  </m:oMath>
                </a14:m>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from </a:t>
                </a:r>
                <a14:m>
                  <m:oMath xmlns:m="http://schemas.openxmlformats.org/officeDocument/2006/math">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oMath>
                </a14:m>
                <a:r>
                  <a:rPr sz="2400" b="0">
                    <a:solidFill>
                      <a:srgbClr val="111827"/>
                    </a:solidFill>
                    <a:latin typeface="Arial"/>
                  </a:rPr>
                  <a:t> to the plane </a:t>
                </a:r>
                <a14:m>
                  <m:oMath xmlns:m="http://schemas.openxmlformats.org/officeDocument/2006/math">
                    <m:r>
                      <a:rPr lang="en-IN" sz="2400" i="1">
                        <a:solidFill>
                          <a:srgbClr val="111827"/>
                        </a:solidFill>
                        <a:latin typeface="Cambria Math" panose="02040503050406030204" pitchFamily="18" charset="0"/>
                      </a:rPr>
                      <m:t>𝑙</m:t>
                    </m:r>
                    <m:r>
                      <a:rPr lang="en-IN" sz="2400" i="1">
                        <a:solidFill>
                          <a:srgbClr val="111827"/>
                        </a:solidFill>
                        <a:latin typeface="Cambria Math" panose="02040503050406030204" pitchFamily="18" charset="0"/>
                      </a:rPr>
                      <m:t>𝑥</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r>
                      <a:rPr lang="en-IN" sz="2400" i="1">
                        <a:solidFill>
                          <a:srgbClr val="111827"/>
                        </a:solidFill>
                        <a:latin typeface="Cambria Math" panose="02040503050406030204" pitchFamily="18" charset="0"/>
                      </a:rPr>
                      <m:t>𝑦</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r>
                      <a:rPr lang="en-IN" sz="2400" i="1">
                        <a:solidFill>
                          <a:srgbClr val="111827"/>
                        </a:solidFill>
                        <a:latin typeface="Cambria Math" panose="02040503050406030204" pitchFamily="18" charset="0"/>
                      </a:rPr>
                      <m:t>𝑧</m:t>
                    </m:r>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oMath>
                </a14:m>
                <a:r>
                  <a:rPr sz="2400" b="0">
                    <a:solidFill>
                      <a:srgbClr val="111827"/>
                    </a:solidFill>
                    <a:latin typeface="Arial"/>
                  </a:rPr>
                  <a:t> is </a:t>
                </a:r>
                <a14:m>
                  <m:oMath xmlns:m="http://schemas.openxmlformats.org/officeDocument/2006/math">
                    <m:f>
                      <m:fPr>
                        <m:type m:val="bar"/>
                        <m:ctrlPr>
                          <a:rPr lang="en-IN" sz="2400" i="1">
                            <a:solidFill>
                              <a:srgbClr val="111827"/>
                            </a:solidFill>
                            <a:latin typeface="Cambria Math" panose="02040503050406030204" pitchFamily="18" charset="0"/>
                          </a:rPr>
                        </m:ctrlPr>
                      </m:fPr>
                      <m:num>
                        <m:d>
                          <m:dPr>
                            <m:begChr m:val="|"/>
                            <m:sepChr m:val=""/>
                            <m:endChr m:val="|"/>
                            <m:grow/>
                            <m:ctrlPr>
                              <a:rPr lang="en-IN" sz="2400" i="1">
                                <a:solidFill>
                                  <a:srgbClr val="111827"/>
                                </a:solidFill>
                                <a:latin typeface="Cambria Math" panose="02040503050406030204" pitchFamily="18" charset="0"/>
                              </a:rPr>
                            </m:ctrlPr>
                          </m:dPr>
                          <m:e>
                            <m:r>
                              <a:rPr lang="en-IN" sz="2400" i="1">
                                <a:solidFill>
                                  <a:srgbClr val="111827"/>
                                </a:solidFill>
                                <a:latin typeface="Cambria Math" panose="02040503050406030204" pitchFamily="18" charset="0"/>
                              </a:rPr>
                              <m:t>𝑙</m:t>
                            </m:r>
                            <m:sSub>
                              <m:e>
                                <m:r>
                                  <a:rPr lang="en-IN" sz="2400" i="1">
                                    <a:solidFill>
                                      <a:srgbClr val="111827"/>
                                    </a:solidFill>
                                    <a:latin typeface="Cambria Math" panose="02040503050406030204" pitchFamily="18" charset="0"/>
                                  </a:rPr>
                                  <m:t>𝑥</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𝑚</m:t>
                            </m:r>
                            <m:sSub>
                              <m:e>
                                <m:r>
                                  <a:rPr lang="en-IN" sz="2400" i="1">
                                    <a:solidFill>
                                      <a:srgbClr val="111827"/>
                                    </a:solidFill>
                                    <a:latin typeface="Cambria Math" panose="02040503050406030204" pitchFamily="18" charset="0"/>
                                  </a:rPr>
                                  <m:t>𝑦</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𝑛</m:t>
                            </m:r>
                            <m:sSub>
                              <m:e>
                                <m:r>
                                  <a:rPr lang="en-IN" sz="2400" i="1">
                                    <a:solidFill>
                                      <a:srgbClr val="111827"/>
                                    </a:solidFill>
                                    <a:latin typeface="Cambria Math" panose="02040503050406030204" pitchFamily="18" charset="0"/>
                                  </a:rPr>
                                  <m:t>𝑧</m:t>
                                </m:r>
                              </m:e>
                              <m:sub>
                                <m:r>
                                  <a:rPr lang="en-IN" sz="2400" i="1">
                                    <a:solidFill>
                                      <a:srgbClr val="111827"/>
                                    </a:solidFill>
                                    <a:latin typeface="Cambria Math" panose="02040503050406030204" pitchFamily="18" charset="0"/>
                                  </a:rPr>
                                  <m:t>0</m:t>
                                </m:r>
                              </m:sub>
                            </m:sSub>
                            <m:r>
                              <m:rPr>
                                <m:sty m:val="p"/>
                              </m:rPr>
                              <a:rPr lang="en-IN" sz="2400">
                                <a:solidFill>
                                  <a:srgbClr val="111827"/>
                                </a:solidFill>
                                <a:latin typeface="Cambria Math" panose="02040503050406030204" pitchFamily="18" charset="0"/>
                              </a:rPr>
                              <m:t>−</m:t>
                            </m:r>
                            <m:r>
                              <a:rPr lang="en-IN" sz="2400" i="1">
                                <a:solidFill>
                                  <a:srgbClr val="111827"/>
                                </a:solidFill>
                                <a:latin typeface="Cambria Math" panose="02040503050406030204" pitchFamily="18" charset="0"/>
                              </a:rPr>
                              <m:t>𝑘</m:t>
                            </m:r>
                          </m:e>
                        </m:d>
                      </m:num>
                      <m:den>
                        <m:rad>
                          <m:radPr>
                            <m:degHide m:val="on"/>
                            <m:ctrlPr>
                              <a:rPr lang="en-IN" sz="2400" i="1">
                                <a:solidFill>
                                  <a:srgbClr val="111827"/>
                                </a:solidFill>
                                <a:latin typeface="Cambria Math" panose="02040503050406030204" pitchFamily="18" charset="0"/>
                              </a:rPr>
                            </m:ctrlPr>
                          </m:radPr>
                          <m:deg/>
                          <m:e>
                            <m:sSup>
                              <m:e>
                                <m:r>
                                  <a:rPr lang="en-IN" sz="2400" i="1">
                                    <a:solidFill>
                                      <a:srgbClr val="111827"/>
                                    </a:solidFill>
                                    <a:latin typeface="Cambria Math" panose="02040503050406030204" pitchFamily="18" charset="0"/>
                                  </a:rPr>
                                  <m:t>𝑙</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𝑚</m:t>
                                </m:r>
                              </m:e>
                              <m:sup>
                                <m:r>
                                  <a:rPr lang="en-IN" sz="2400" i="1">
                                    <a:solidFill>
                                      <a:srgbClr val="111827"/>
                                    </a:solidFill>
                                    <a:latin typeface="Cambria Math" panose="02040503050406030204" pitchFamily="18" charset="0"/>
                                  </a:rPr>
                                  <m:t>2</m:t>
                                </m:r>
                              </m:sup>
                            </m:sSup>
                            <m:r>
                              <m:rPr>
                                <m:sty m:val="p"/>
                              </m:rPr>
                              <a:rPr lang="en-IN" sz="2400">
                                <a:solidFill>
                                  <a:srgbClr val="111827"/>
                                </a:solidFill>
                                <a:latin typeface="Cambria Math" panose="02040503050406030204" pitchFamily="18" charset="0"/>
                              </a:rPr>
                              <m:t>+</m:t>
                            </m:r>
                            <m:sSup>
                              <m:e>
                                <m:r>
                                  <a:rPr lang="en-IN" sz="2400" i="1">
                                    <a:solidFill>
                                      <a:srgbClr val="111827"/>
                                    </a:solidFill>
                                    <a:latin typeface="Cambria Math" panose="02040503050406030204" pitchFamily="18" charset="0"/>
                                  </a:rPr>
                                  <m:t>𝑛</m:t>
                                </m:r>
                              </m:e>
                              <m:sup>
                                <m:r>
                                  <a:rPr lang="en-IN" sz="2400" i="1">
                                    <a:solidFill>
                                      <a:srgbClr val="111827"/>
                                    </a:solidFill>
                                    <a:latin typeface="Cambria Math" panose="02040503050406030204" pitchFamily="18" charset="0"/>
                                  </a:rPr>
                                  <m:t>2</m:t>
                                </m:r>
                              </m:sup>
                            </m:sSup>
                          </m:e>
                        </m:rad>
                      </m:den>
                    </m:f>
                  </m:oMath>
                </a14:m>
                <a:r>
                  <a:rPr sz="2400" b="0">
                    <a:solidFill>
                      <a:srgbClr val="111827"/>
                    </a:solidFill>
                    <a:latin typeface="Arial"/>
                  </a:rPr>
                  <a:t>.</a:t>
                </a:r>
                <a:endParaRPr sz="2400">
                  <a:solidFill>
                    <a:srgbClr val="111827"/>
                  </a:solidFill>
                </a:endParaRPr>
              </a:p>
            </p:txBody>
          </p:sp>
        </mc:Choice>
        <mc:Fallback>
          <p:sp>
            <p:nvSpPr>
              <p:cNvPr id="5" name="Rectangle 4"/>
              <p:cNvSpPr/>
              <p:nvPr/>
            </p:nvSpPr>
            <p:spPr>
              <a:xfrm>
                <a:off x="731520" y="1353312"/>
                <a:ext cx="10725912" cy="5321808"/>
              </a:xfrm>
              <a:prstGeom prst="rect">
                <a:avLst/>
              </a:prstGeom>
              <a:solidFill>
                <a:srgbClr val="FFFFFF"/>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l" marL="274320" indent="-274320">
                  <a:spcAft>
                    <a:spcPts val="600"/>
                  </a:spcAft>
                  <a:buFont typeface="Arial"/>
                  <a:buChar char="•"/>
                  <a:defRPr sz="2400">
                    <a:solidFill>
                      <a:srgbClr val="111827"/>
                    </a:solidFill>
                  </a:defRPr>
                </a:pPr>
                <a:r>
                  <a:rPr lang="en-IN" sz="2400">
                    <a:solidFill>
                      <a:srgbClr val="111827"/>
                    </a:solidFill>
                    <a:latin typeface="Cambria Math" panose="02040503050406030204" pitchFamily="18" charset="0"/>
                  </a:rPr>
                  <a:t>$\tan^{-1}\frac{1}{2i^2}=\tan^{-1}(2i+1)-\tan^{-1}(2i-1)=\tan^{-1}\frac{1}{2i-1}-\tan^{-1}\frac{1}{2i+1}$</a:t>
                </a:r>
                <a:r>
                  <a:rPr sz="2400" b="0">
                    <a:solidFill>
                      <a:srgbClr val="111827"/>
                    </a:solidFill>
                    <a:latin typeface="Arial"/>
                  </a:rPr>
                  <a:t>; hence </a:t>
                </a:r>
                <a:r>
                  <a:rPr lang="en-IN" sz="2400">
                    <a:solidFill>
                      <a:srgbClr val="111827"/>
                    </a:solidFill>
                    <a:latin typeface="Cambria Math" panose="02040503050406030204" pitchFamily="18" charset="0"/>
                  </a:rPr>
                  <a:t>$\sum_{i=1}^{\infty}\tan^{-1}\frac1{2i^2}=\frac\pi4$</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If </a:t>
                </a:r>
                <a:r>
                  <a:rPr lang="en-IN" sz="2400">
                    <a:solidFill>
                      <a:srgbClr val="111827"/>
                    </a:solidFill>
                    <a:latin typeface="Cambria Math" panose="02040503050406030204" pitchFamily="18" charset="0"/>
                  </a:rPr>
                  <a:t>$\cos\theta=\frac{p}{q}$</a:t>
                </a:r>
                <a:r>
                  <a:rPr sz="2400" b="0">
                    <a:solidFill>
                      <a:srgbClr val="111827"/>
                    </a:solidFill>
                    <a:latin typeface="Arial"/>
                  </a:rPr>
                  <a:t> then </a:t>
                </a:r>
                <a:r>
                  <a:rPr lang="en-IN" sz="2400">
                    <a:solidFill>
                      <a:srgbClr val="111827"/>
                    </a:solidFill>
                    <a:latin typeface="Cambria Math" panose="02040503050406030204" pitchFamily="18" charset="0"/>
                  </a:rPr>
                  <a:t>$\tan^2\frac\theta2=\frac{q-p}{q+p}$</a:t>
                </a:r>
                <a:r>
                  <a:rPr sz="2400" b="0">
                    <a:solidFill>
                      <a:srgbClr val="111827"/>
                    </a:solidFill>
                    <a:latin typeface="Arial"/>
                  </a:rPr>
                  <a:t>; for </a:t>
                </a:r>
                <a:r>
                  <a:rPr lang="en-IN" sz="2400">
                    <a:solidFill>
                      <a:srgbClr val="111827"/>
                    </a:solidFill>
                    <a:latin typeface="Cambria Math" panose="02040503050406030204" pitchFamily="18" charset="0"/>
                  </a:rPr>
                  <a:t>$\cos\theta_1=\frac{a}{b+c}$</a:t>
                </a:r>
                <a:r>
                  <a:rPr sz="2400" b="0">
                    <a:solidFill>
                      <a:srgbClr val="111827"/>
                    </a:solidFill>
                    <a:latin typeface="Arial"/>
                  </a:rPr>
                  <a:t> this is </a:t>
                </a:r>
                <a:r>
                  <a:rPr lang="en-IN" sz="2400">
                    <a:solidFill>
                      <a:srgbClr val="111827"/>
                    </a:solidFill>
                    <a:latin typeface="Cambria Math" panose="02040503050406030204" pitchFamily="18" charset="0"/>
                  </a:rPr>
                  <a:t>$\frac{s-a}{s}$</a:t>
                </a:r>
                <a:r>
                  <a:rPr sz="2400" b="0">
                    <a:solidFill>
                      <a:srgbClr val="111827"/>
                    </a:solidFill>
                    <a:latin typeface="Arial"/>
                  </a:rPr>
                  <a:t> (</a:t>
                </a:r>
                <a:r>
                  <a:rPr lang="en-IN" sz="2400">
                    <a:solidFill>
                      <a:srgbClr val="111827"/>
                    </a:solidFill>
                    <a:latin typeface="Cambria Math" panose="02040503050406030204" pitchFamily="18" charset="0"/>
                  </a:rPr>
                  <a:t>$s$</a:t>
                </a:r>
                <a:r>
                  <a:rPr sz="2400" b="0">
                    <a:solidFill>
                      <a:srgbClr val="111827"/>
                    </a:solidFill>
                    <a:latin typeface="Arial"/>
                  </a:rPr>
                  <a:t> the semi-perimeter).</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The plane perpendicular to the line of intersection of two planes has normal </a:t>
                </a:r>
                <a:r>
                  <a:rPr lang="en-IN" sz="2400">
                    <a:solidFill>
                      <a:srgbClr val="111827"/>
                    </a:solidFill>
                    <a:latin typeface="Cambria Math" panose="02040503050406030204" pitchFamily="18" charset="0"/>
                  </a:rPr>
                  <a:t>$\vec{n}_1\times\vec{n}_2$</a:t>
                </a:r>
                <a:r>
                  <a:rPr sz="2400" b="0">
                    <a:solidFill>
                      <a:srgbClr val="111827"/>
                    </a:solidFill>
                    <a:latin typeface="Arial"/>
                  </a:rPr>
                  <a:t>; the distance of a point from the line through </a:t>
                </a:r>
                <a:r>
                  <a:rPr lang="en-IN" sz="2400">
                    <a:solidFill>
                      <a:srgbClr val="111827"/>
                    </a:solidFill>
                    <a:latin typeface="Cambria Math" panose="02040503050406030204" pitchFamily="18" charset="0"/>
                  </a:rPr>
                  <a:t>$A$</a:t>
                </a:r>
                <a:r>
                  <a:rPr sz="2400" b="0">
                    <a:solidFill>
                      <a:srgbClr val="111827"/>
                    </a:solidFill>
                    <a:latin typeface="Arial"/>
                  </a:rPr>
                  <a:t> with direction </a:t>
                </a:r>
                <a:r>
                  <a:rPr lang="en-IN" sz="2400">
                    <a:solidFill>
                      <a:srgbClr val="111827"/>
                    </a:solidFill>
                    <a:latin typeface="Cambria Math" panose="02040503050406030204" pitchFamily="18" charset="0"/>
                  </a:rPr>
                  <a:t>$\vec d$</a:t>
                </a:r>
                <a:r>
                  <a:rPr sz="2400" b="0">
                    <a:solidFill>
                      <a:srgbClr val="111827"/>
                    </a:solidFill>
                    <a:latin typeface="Arial"/>
                  </a:rPr>
                  <a:t> is </a:t>
                </a:r>
                <a:r>
                  <a:rPr lang="en-IN" sz="2400">
                    <a:solidFill>
                      <a:srgbClr val="111827"/>
                    </a:solidFill>
                    <a:latin typeface="Cambria Math" panose="02040503050406030204" pitchFamily="18" charset="0"/>
                  </a:rPr>
                  <a:t>$\frac{\left|\overrightarrow{OA}\times\vec{d}\right|}{|\vec{d}|}$</a:t>
                </a:r>
                <a:r>
                  <a:rPr sz="2400" b="0">
                    <a:solidFill>
                      <a:srgbClr val="111827"/>
                    </a:solidFill>
                    <a:latin typeface="Arial"/>
                  </a:rPr>
                  <a:t>.</a:t>
                </a:r>
                <a:endParaRPr sz="2400">
                  <a:solidFill>
                    <a:srgbClr val="111827"/>
                  </a:solidFill>
                </a:endParaRPr>
              </a:p>
              <a:p>
                <a:pPr algn="l" marL="274320" indent="-274320">
                  <a:spcAft>
                    <a:spcPts val="600"/>
                  </a:spcAft>
                  <a:buFont typeface="Arial"/>
                  <a:buChar char="•"/>
                  <a:defRPr sz="2400">
                    <a:solidFill>
                      <a:srgbClr val="111827"/>
                    </a:solidFill>
                  </a:defRPr>
                </a:pPr>
                <a:r>
                  <a:rPr sz="2400" b="0">
                    <a:solidFill>
                      <a:srgbClr val="111827"/>
                    </a:solidFill>
                    <a:latin typeface="Arial"/>
                  </a:rPr>
                  <a:t>Distance from </a:t>
                </a:r>
                <a:r>
                  <a:rPr lang="en-IN" sz="2400">
                    <a:solidFill>
                      <a:srgbClr val="111827"/>
                    </a:solidFill>
                    <a:latin typeface="Cambria Math" panose="02040503050406030204" pitchFamily="18" charset="0"/>
                  </a:rPr>
                  <a:t>$(x_0,y_0,z_0)$</a:t>
                </a:r>
                <a:r>
                  <a:rPr sz="2400" b="0">
                    <a:solidFill>
                      <a:srgbClr val="111827"/>
                    </a:solidFill>
                    <a:latin typeface="Arial"/>
                  </a:rPr>
                  <a:t> to the plane </a:t>
                </a:r>
                <a:r>
                  <a:rPr lang="en-IN" sz="2400">
                    <a:solidFill>
                      <a:srgbClr val="111827"/>
                    </a:solidFill>
                    <a:latin typeface="Cambria Math" panose="02040503050406030204" pitchFamily="18" charset="0"/>
                  </a:rPr>
                  <a:t>$lx+my+nz=k$</a:t>
                </a:r>
                <a:r>
                  <a:rPr sz="2400" b="0">
                    <a:solidFill>
                      <a:srgbClr val="111827"/>
                    </a:solidFill>
                    <a:latin typeface="Arial"/>
                  </a:rPr>
                  <a:t> is </a:t>
                </a:r>
                <a:r>
                  <a:rPr lang="en-IN" sz="2400">
                    <a:solidFill>
                      <a:srgbClr val="111827"/>
                    </a:solidFill>
                    <a:latin typeface="Cambria Math" panose="02040503050406030204" pitchFamily="18" charset="0"/>
                  </a:rPr>
                  <a:t>$\frac{\left|lx_0+my_0+nz_0-k\right|}{\sqrt{l^2+m^2+n^2}}$</a:t>
                </a:r>
                <a:r>
                  <a:rPr sz="2400" b="0">
                    <a:solidFill>
                      <a:srgbClr val="111827"/>
                    </a:solidFill>
                    <a:latin typeface="Arial"/>
                  </a:rPr>
                  <a:t>.</a:t>
                </a:r>
                <a:endParaRPr sz="2400">
                  <a:solidFill>
                    <a:srgbClr val="111827"/>
                  </a:solidFill>
                </a:endParaRPr>
              </a:p>
            </p:txBody>
          </p:sp>
        </mc:Fallback>
      </mc:AlternateContent>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(1/10)</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02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(2/10)</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06</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08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09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10</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bl>
          </a:graphicData>
        </a:graphic>
      </p:graphicFrame>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(3/10)</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13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15</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(4/10)</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16</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17</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18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0</a:t>
                      </a:r>
                    </a:p>
                  </a:txBody>
                  <a:tcPr anchor="ctr" marL="91440" marR="91440">
                    <a:solidFill>
                      <a:srgbClr val="93C47D"/>
                    </a:solidFill>
                  </a:tcPr>
                </a:tc>
                <a:tc>
                  <a:txBody>
                    <a:bodyPr/>
                    <a:lstStyle/>
                    <a:p>
                      <a:pPr algn="l"/>
                      <a:r>
                        <a:rPr sz="2400" b="0">
                          <a:solidFill>
                            <a:srgbClr val="111827"/>
                          </a:solidFill>
                          <a:latin typeface="Arial"/>
                        </a:rPr>
                        <a:t>Easier than JEE Main Level</a:t>
                      </a:r>
                    </a:p>
                  </a:txBody>
                  <a:tcPr anchor="ctr" marL="91440" marR="91440">
                    <a:solidFill>
                      <a:srgbClr val="93C47D"/>
                    </a:solidFill>
                  </a:tcPr>
                </a:tc>
              </a:tr>
              <a:tr h="868680">
                <a:tc>
                  <a:txBody>
                    <a:bodyPr/>
                    <a:lstStyle/>
                    <a:p>
                      <a:pPr algn="ctr"/>
                      <a:r>
                        <a:rPr sz="2400" b="1">
                          <a:solidFill>
                            <a:srgbClr val="111827"/>
                          </a:solidFill>
                          <a:latin typeface="Arial"/>
                        </a:rPr>
                        <a:t>19</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(5/10)</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1</a:t>
                      </a:r>
                    </a:p>
                  </a:txBody>
                  <a:tcPr anchor="ctr" marL="91440" marR="91440">
                    <a:solidFill>
                      <a:srgbClr val="B6D7A8"/>
                    </a:solidFill>
                  </a:tcPr>
                </a:tc>
                <a:tc>
                  <a:txBody>
                    <a:bodyPr/>
                    <a:lstStyle/>
                    <a:p>
                      <a:pPr algn="l"/>
                      <a:r>
                        <a:rPr sz="2400" b="0">
                          <a:solidFill>
                            <a:srgbClr val="111827"/>
                          </a:solidFill>
                          <a:latin typeface="Arial"/>
                        </a:rPr>
                        <a:t>JEE Main Level</a:t>
                      </a:r>
                    </a:p>
                  </a:txBody>
                  <a:tcPr anchor="ctr" marL="91440" marR="91440">
                    <a:solidFill>
                      <a:srgbClr val="B6D7A8"/>
                    </a:solidFill>
                  </a:tcPr>
                </a:tc>
              </a:tr>
              <a:tr h="868680">
                <a:tc>
                  <a:txBody>
                    <a:bodyPr/>
                    <a:lstStyle/>
                    <a:p>
                      <a:pPr algn="ctr"/>
                      <a:r>
                        <a:rPr sz="2400" b="1">
                          <a:solidFill>
                            <a:srgbClr val="111827"/>
                          </a:solidFill>
                          <a:latin typeface="Arial"/>
                        </a:rPr>
                        <a:t>24</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25</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(6/10)</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26</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r h="868680">
                <a:tc>
                  <a:txBody>
                    <a:bodyPr/>
                    <a:lstStyle/>
                    <a:p>
                      <a:pPr algn="ctr"/>
                      <a:r>
                        <a:rPr sz="2400" b="1">
                          <a:solidFill>
                            <a:srgbClr val="111827"/>
                          </a:solidFill>
                          <a:latin typeface="Arial"/>
                        </a:rPr>
                        <a:t>27</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28</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29</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30</a:t>
                      </a:r>
                    </a:p>
                  </a:txBody>
                  <a:tcPr anchor="ctr" marL="91440" marR="91440">
                    <a:solidFill>
                      <a:srgbClr val="FFFFFF"/>
                    </a:solidFill>
                  </a:tcPr>
                </a:tc>
                <a:tc>
                  <a:txBody>
                    <a:bodyPr/>
                    <a:lstStyle/>
                    <a:p>
                      <a:pPr algn="l"/>
                      <a:r>
                        <a:rPr sz="2400" b="0">
                          <a:solidFill>
                            <a:srgbClr val="111827"/>
                          </a:solidFill>
                          <a:latin typeface="Arial"/>
                        </a:rPr>
                        <a:t>Subjective</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(7/10)</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502920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31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33</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4</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34</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35</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(8/10)</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36</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r h="868680">
                <a:tc>
                  <a:txBody>
                    <a:bodyPr/>
                    <a:lstStyle/>
                    <a:p>
                      <a:pPr algn="ctr"/>
                      <a:r>
                        <a:rPr sz="2400" b="1">
                          <a:solidFill>
                            <a:srgbClr val="111827"/>
                          </a:solidFill>
                          <a:latin typeface="Arial"/>
                        </a:rPr>
                        <a:t>37</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38</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39</a:t>
                      </a:r>
                    </a:p>
                  </a:txBody>
                  <a:tcPr anchor="ctr" marL="91440" marR="91440">
                    <a:solidFill>
                      <a:srgbClr val="FFFFFF"/>
                    </a:solidFill>
                  </a:tcPr>
                </a:tc>
                <a:tc>
                  <a:txBody>
                    <a:bodyPr/>
                    <a:lstStyle/>
                    <a:p>
                      <a:pPr algn="l"/>
                      <a:r>
                        <a:rPr sz="2400" b="0">
                          <a:solidFill>
                            <a:srgbClr val="111827"/>
                          </a:solidFill>
                          <a:latin typeface="Arial"/>
                        </a:rPr>
                        <a:t>Paragraph Single Correct</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bl>
          </a:graphicData>
        </a:graphic>
      </p:graphicFrame>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(9/10)</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40</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41</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42</a:t>
                      </a:r>
                    </a:p>
                  </a:txBody>
                  <a:tcPr anchor="ctr" marL="91440" marR="91440">
                    <a:solidFill>
                      <a:srgbClr val="FFFFFF"/>
                    </a:solidFill>
                  </a:tcPr>
                </a:tc>
                <a:tc>
                  <a:txBody>
                    <a:bodyPr/>
                    <a:lstStyle/>
                    <a:p>
                      <a:pPr algn="l"/>
                      <a:r>
                        <a:rPr sz="2400" b="0">
                          <a:solidFill>
                            <a:srgbClr val="111827"/>
                          </a:solidFill>
                          <a:latin typeface="Arial"/>
                        </a:rPr>
                        <a:t>Numerical</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43</a:t>
                      </a:r>
                    </a:p>
                  </a:txBody>
                  <a:tcPr anchor="ctr" marL="91440" marR="91440">
                    <a:solidFill>
                      <a:srgbClr val="FFFFFF"/>
                    </a:solidFill>
                  </a:tcPr>
                </a:tc>
                <a:tc>
                  <a:txBody>
                    <a:bodyPr/>
                    <a:lstStyle/>
                    <a:p>
                      <a:pPr algn="l"/>
                      <a:r>
                        <a:rPr sz="2400" b="0">
                          <a:solidFill>
                            <a:srgbClr val="111827"/>
                          </a:solidFill>
                          <a:latin typeface="Arial"/>
                        </a:rPr>
                        <a:t>Matching</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 (10/10)</a:t>
            </a:r>
            <a:endParaRPr sz="3200">
              <a:solidFill>
                <a:srgbClr val="FFFFFF"/>
              </a:solidFill>
            </a:endParaRPr>
          </a:p>
        </p:txBody>
      </p:sp>
      <p:graphicFrame>
        <p:nvGraphicFramePr>
          <p:cNvPr id="3" name="Table 2"/>
          <p:cNvGraphicFramePr>
            <a:graphicFrameLocks noGrp="1"/>
          </p:cNvGraphicFramePr>
          <p:nvPr/>
        </p:nvGraphicFramePr>
        <p:xfrm>
          <a:off x="457200" y="1325880"/>
          <a:ext cx="11274552" cy="4160520"/>
        </p:xfrm>
        <a:graphic>
          <a:graphicData uri="http://schemas.openxmlformats.org/drawingml/2006/table">
            <a:tbl>
              <a:tblPr firstRow="1" bandRow="1">
                <a:tableStyleId>{5C22544A-7EE6-4342-B048-85BDC9FD1C3A}</a:tableStyleId>
              </a:tblPr>
              <a:tblGrid>
                <a:gridCol w="1005840"/>
                <a:gridCol w="2926080"/>
                <a:gridCol w="1280160"/>
                <a:gridCol w="1188720"/>
                <a:gridCol w="4873752"/>
              </a:tblGrid>
              <a:tr h="685800">
                <a:tc>
                  <a:txBody>
                    <a:bodyPr/>
                    <a:lstStyle/>
                    <a:p>
                      <a:pPr algn="ctr"/>
                      <a:r>
                        <a:rPr sz="2400" b="1">
                          <a:solidFill>
                            <a:srgbClr val="FFFFFF"/>
                          </a:solidFill>
                          <a:latin typeface="Arial"/>
                        </a:rPr>
                        <a:t>Q No</a:t>
                      </a:r>
                    </a:p>
                  </a:txBody>
                  <a:tcPr anchor="ctr" marL="91440" marR="91440">
                    <a:solidFill>
                      <a:srgbClr val="0B1F3A"/>
                    </a:solidFill>
                  </a:tcPr>
                </a:tc>
                <a:tc>
                  <a:txBody>
                    <a:bodyPr/>
                    <a:lstStyle/>
                    <a:p>
                      <a:pPr algn="ctr"/>
                      <a:r>
                        <a:rPr sz="2400" b="1">
                          <a:solidFill>
                            <a:srgbClr val="FFFFFF"/>
                          </a:solidFill>
                          <a:latin typeface="Arial"/>
                        </a:rPr>
                        <a:t>Question Type</a:t>
                      </a:r>
                    </a:p>
                  </a:txBody>
                  <a:tcPr anchor="ctr" marL="91440" marR="91440">
                    <a:solidFill>
                      <a:srgbClr val="0B1F3A"/>
                    </a:solidFill>
                  </a:tcPr>
                </a:tc>
                <a:tc>
                  <a:txBody>
                    <a:bodyPr/>
                    <a:lstStyle/>
                    <a:p>
                      <a:pPr algn="ctr"/>
                      <a:r>
                        <a:rPr sz="2400" b="1">
                          <a:solidFill>
                            <a:srgbClr val="FFFFFF"/>
                          </a:solidFill>
                          <a:latin typeface="Arial"/>
                        </a:rPr>
                        <a:t>Marks</a:t>
                      </a:r>
                    </a:p>
                  </a:txBody>
                  <a:tcPr anchor="ctr" marL="91440" marR="91440">
                    <a:solidFill>
                      <a:srgbClr val="0B1F3A"/>
                    </a:solidFill>
                  </a:tcPr>
                </a:tc>
                <a:tc>
                  <a:txBody>
                    <a:bodyPr/>
                    <a:lstStyle/>
                    <a:p>
                      <a:pPr algn="ctr"/>
                      <a:r>
                        <a:rPr sz="2400" b="1">
                          <a:solidFill>
                            <a:srgbClr val="FFFFFF"/>
                          </a:solidFill>
                          <a:latin typeface="Arial"/>
                        </a:rPr>
                        <a:t>Level</a:t>
                      </a:r>
                    </a:p>
                  </a:txBody>
                  <a:tcPr anchor="ctr" marL="91440" marR="91440">
                    <a:solidFill>
                      <a:srgbClr val="0B1F3A"/>
                    </a:solidFill>
                  </a:tcPr>
                </a:tc>
                <a:tc>
                  <a:txBody>
                    <a:bodyPr/>
                    <a:lstStyle/>
                    <a:p>
                      <a:pPr algn="ctr"/>
                      <a:r>
                        <a:rPr sz="2400" b="1">
                          <a:solidFill>
                            <a:srgbClr val="FFFFFF"/>
                          </a:solidFill>
                          <a:latin typeface="Arial"/>
                        </a:rPr>
                        <a:t>Level Description</a:t>
                      </a:r>
                    </a:p>
                  </a:txBody>
                  <a:tcPr anchor="ctr" marL="91440" marR="91440">
                    <a:solidFill>
                      <a:srgbClr val="0B1F3A"/>
                    </a:solidFill>
                  </a:tcPr>
                </a:tc>
              </a:tr>
              <a:tr h="868680">
                <a:tc>
                  <a:txBody>
                    <a:bodyPr/>
                    <a:lstStyle/>
                    <a:p>
                      <a:pPr algn="ctr"/>
                      <a:r>
                        <a:rPr sz="2400" b="1">
                          <a:solidFill>
                            <a:srgbClr val="111827"/>
                          </a:solidFill>
                          <a:latin typeface="Arial"/>
                        </a:rPr>
                        <a:t>44</a:t>
                      </a:r>
                    </a:p>
                  </a:txBody>
                  <a:tcPr anchor="ctr" marL="91440" marR="91440">
                    <a:solidFill>
                      <a:srgbClr val="FFFFFF"/>
                    </a:solidFill>
                  </a:tcPr>
                </a:tc>
                <a:tc>
                  <a:txBody>
                    <a:bodyPr/>
                    <a:lstStyle/>
                    <a:p>
                      <a:pPr algn="l"/>
                      <a:r>
                        <a:rPr sz="2400" b="0">
                          <a:solidFill>
                            <a:srgbClr val="111827"/>
                          </a:solidFill>
                          <a:latin typeface="Arial"/>
                        </a:rPr>
                        <a:t>Matching</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3</a:t>
                      </a:r>
                    </a:p>
                  </a:txBody>
                  <a:tcPr anchor="ctr" marL="91440" marR="91440">
                    <a:solidFill>
                      <a:srgbClr val="F6B26B"/>
                    </a:solidFill>
                  </a:tcPr>
                </a:tc>
                <a:tc>
                  <a:txBody>
                    <a:bodyPr/>
                    <a:lstStyle/>
                    <a:p>
                      <a:pPr algn="l"/>
                      <a:r>
                        <a:rPr sz="2400" b="0">
                          <a:solidFill>
                            <a:srgbClr val="111827"/>
                          </a:solidFill>
                          <a:latin typeface="Arial"/>
                        </a:rPr>
                        <a:t>Average JEE Advanced Level</a:t>
                      </a:r>
                    </a:p>
                  </a:txBody>
                  <a:tcPr anchor="ctr" marL="91440" marR="91440">
                    <a:solidFill>
                      <a:srgbClr val="F6B26B"/>
                    </a:solidFill>
                  </a:tcPr>
                </a:tc>
              </a:tr>
              <a:tr h="868680">
                <a:tc>
                  <a:txBody>
                    <a:bodyPr/>
                    <a:lstStyle/>
                    <a:p>
                      <a:pPr algn="ctr"/>
                      <a:r>
                        <a:rPr sz="2400" b="1">
                          <a:solidFill>
                            <a:srgbClr val="111827"/>
                          </a:solidFill>
                          <a:latin typeface="Arial"/>
                        </a:rPr>
                        <a:t>45</a:t>
                      </a:r>
                    </a:p>
                  </a:txBody>
                  <a:tcPr anchor="ctr" marL="91440" marR="91440">
                    <a:solidFill>
                      <a:srgbClr val="FFFFFF"/>
                    </a:solidFill>
                  </a:tcPr>
                </a:tc>
                <a:tc>
                  <a:txBody>
                    <a:bodyPr/>
                    <a:lstStyle/>
                    <a:p>
                      <a:pPr algn="l"/>
                      <a:r>
                        <a:rPr sz="2400" b="0">
                          <a:solidFill>
                            <a:srgbClr val="111827"/>
                          </a:solidFill>
                          <a:latin typeface="Arial"/>
                        </a:rPr>
                        <a:t>Matching</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4</a:t>
                      </a:r>
                    </a:p>
                  </a:txBody>
                  <a:tcPr anchor="ctr" marL="91440" marR="91440">
                    <a:solidFill>
                      <a:srgbClr val="E88080"/>
                    </a:solidFill>
                  </a:tcPr>
                </a:tc>
                <a:tc>
                  <a:txBody>
                    <a:bodyPr/>
                    <a:lstStyle/>
                    <a:p>
                      <a:pPr algn="l"/>
                      <a:r>
                        <a:rPr sz="2400" b="0">
                          <a:solidFill>
                            <a:srgbClr val="111827"/>
                          </a:solidFill>
                          <a:latin typeface="Arial"/>
                        </a:rPr>
                        <a:t>A level above Average JEE Advanced Level</a:t>
                      </a:r>
                    </a:p>
                  </a:txBody>
                  <a:tcPr anchor="ctr" marL="91440" marR="91440">
                    <a:solidFill>
                      <a:srgbClr val="E88080"/>
                    </a:solidFill>
                  </a:tcPr>
                </a:tc>
              </a:tr>
              <a:tr h="868680">
                <a:tc>
                  <a:txBody>
                    <a:bodyPr/>
                    <a:lstStyle/>
                    <a:p>
                      <a:pPr algn="ctr"/>
                      <a:r>
                        <a:rPr sz="2400" b="1">
                          <a:solidFill>
                            <a:srgbClr val="111827"/>
                          </a:solidFill>
                          <a:latin typeface="Arial"/>
                        </a:rPr>
                        <a:t>46</a:t>
                      </a:r>
                    </a:p>
                  </a:txBody>
                  <a:tcPr anchor="ctr" marL="91440" marR="91440">
                    <a:solidFill>
                      <a:srgbClr val="FFFFFF"/>
                    </a:solidFill>
                  </a:tcPr>
                </a:tc>
                <a:tc>
                  <a:txBody>
                    <a:bodyPr/>
                    <a:lstStyle/>
                    <a:p>
                      <a:pPr algn="l"/>
                      <a:r>
                        <a:rPr sz="2400" b="0">
                          <a:solidFill>
                            <a:srgbClr val="111827"/>
                          </a:solidFill>
                          <a:latin typeface="Arial"/>
                        </a:rPr>
                        <a:t>Matching</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r h="868680">
                <a:tc>
                  <a:txBody>
                    <a:bodyPr/>
                    <a:lstStyle/>
                    <a:p>
                      <a:pPr algn="ctr"/>
                      <a:r>
                        <a:rPr sz="2400" b="1">
                          <a:solidFill>
                            <a:srgbClr val="111827"/>
                          </a:solidFill>
                          <a:latin typeface="Arial"/>
                        </a:rPr>
                        <a:t>47</a:t>
                      </a:r>
                    </a:p>
                  </a:txBody>
                  <a:tcPr anchor="ctr" marL="91440" marR="91440">
                    <a:solidFill>
                      <a:srgbClr val="FFFFFF"/>
                    </a:solidFill>
                  </a:tcPr>
                </a:tc>
                <a:tc>
                  <a:txBody>
                    <a:bodyPr/>
                    <a:lstStyle/>
                    <a:p>
                      <a:pPr algn="l"/>
                      <a:r>
                        <a:rPr sz="2400" b="0">
                          <a:solidFill>
                            <a:srgbClr val="111827"/>
                          </a:solidFill>
                          <a:latin typeface="Arial"/>
                        </a:rPr>
                        <a:t>Matching</a:t>
                      </a:r>
                    </a:p>
                  </a:txBody>
                  <a:tcPr anchor="ctr" marL="91440" marR="91440">
                    <a:solidFill>
                      <a:srgbClr val="FFFFFF"/>
                    </a:solidFill>
                  </a:tcPr>
                </a:tc>
                <a:tc>
                  <a:txBody>
                    <a:bodyPr/>
                    <a:lstStyle/>
                    <a:p>
                      <a:pPr algn="ctr"/>
                      <a:r>
                        <a:rPr sz="2400" b="0">
                          <a:solidFill>
                            <a:srgbClr val="111827"/>
                          </a:solidFill>
                          <a:latin typeface="Arial"/>
                        </a:rPr>
                        <a:t>3</a:t>
                      </a:r>
                    </a:p>
                  </a:txBody>
                  <a:tcPr anchor="ctr" marL="91440" marR="91440">
                    <a:solidFill>
                      <a:srgbClr val="FFFFFF"/>
                    </a:solidFill>
                  </a:tcPr>
                </a:tc>
                <a:tc>
                  <a:txBody>
                    <a:bodyPr/>
                    <a:lstStyle/>
                    <a:p>
                      <a:pPr algn="ctr"/>
                      <a:r>
                        <a:rPr sz="2400" b="1">
                          <a:solidFill>
                            <a:srgbClr val="111827"/>
                          </a:solidFill>
                          <a:latin typeface="Arial"/>
                        </a:rPr>
                        <a:t>2</a:t>
                      </a:r>
                    </a:p>
                  </a:txBody>
                  <a:tcPr anchor="ctr" marL="91440" marR="91440">
                    <a:solidFill>
                      <a:srgbClr val="FFD966"/>
                    </a:solidFill>
                  </a:tcPr>
                </a:tc>
                <a:tc>
                  <a:txBody>
                    <a:bodyPr/>
                    <a:lstStyle/>
                    <a:p>
                      <a:pPr algn="l"/>
                      <a:r>
                        <a:rPr sz="2400" b="0">
                          <a:solidFill>
                            <a:srgbClr val="111827"/>
                          </a:solidFill>
                          <a:latin typeface="Arial"/>
                        </a:rPr>
                        <a:t>A level below Average JEE Advanced Level</a:t>
                      </a:r>
                    </a:p>
                  </a:txBody>
                  <a:tcPr anchor="ctr" marL="91440" marR="91440">
                    <a:solidFill>
                      <a:srgbClr val="FFD966"/>
                    </a:solidFill>
                  </a:tcPr>
                </a:tc>
              </a:tr>
            </a:tbl>
          </a:graphicData>
        </a:graphic>
      </p:graphicFrame>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Overall Difficulty Analysis</a:t>
            </a:r>
            <a:endParaRPr sz="3200">
              <a:solidFill>
                <a:srgbClr val="FFFFFF"/>
              </a:solidFill>
            </a:endParaRPr>
          </a:p>
        </p:txBody>
      </p:sp>
      <p:sp>
        <p:nvSpPr>
          <p:cNvPr id="3" name="Rounded Rectangle 2"/>
          <p:cNvSpPr/>
          <p:nvPr/>
        </p:nvSpPr>
        <p:spPr>
          <a:xfrm>
            <a:off x="731520" y="1417320"/>
            <a:ext cx="4754880" cy="3291840"/>
          </a:xfrm>
          <a:prstGeom prst="roundRect">
            <a:avLst>
              <a:gd name="adj" fmla="val 8000"/>
            </a:avLst>
          </a:prstGeom>
          <a:solidFill>
            <a:srgbClr val="E0ECFF"/>
          </a:solidFill>
          <a:ln w="25400">
            <a:solidFill>
              <a:srgbClr val="1D4ED8"/>
            </a:solidFill>
          </a:ln>
          <a:effectLst/>
        </p:spPr>
        <p:style>
          <a:lnRef idx="1">
            <a:schemeClr val="accent1"/>
          </a:lnRef>
          <a:fillRef idx="3">
            <a:schemeClr val="accent1"/>
          </a:fillRef>
          <a:effectRef idx="2">
            <a:schemeClr val="accent1"/>
          </a:effectRef>
          <a:fontRef idx="minor">
            <a:srgbClr val="0B1F3A"/>
          </a:fontRef>
        </p:style>
        <p:txBody>
          <a:bodyPr rtlCol="0" anchor="ctr" wrap="square" lIns="228600" rIns="228600" tIns="137160" bIns="73152"/>
          <a:lstStyle>
            <a:lvl1pPr>
              <a:defRPr sz="3000">
                <a:solidFill>
                  <a:srgbClr val="0B1F3A"/>
                </a:solidFill>
              </a:defRPr>
            </a:lvl1pPr>
          </a:lstStyle>
          <a:p>
            <a:pPr algn="ctr">
              <a:defRPr sz="3000">
                <a:solidFill>
                  <a:srgbClr val="0B1F3A"/>
                </a:solidFill>
              </a:defRPr>
            </a:pPr>
            <a:r>
              <a:rPr sz="3000" b="1">
                <a:solidFill>
                  <a:srgbClr val="0B1F3A"/>
                </a:solidFill>
                <a:latin typeface="Arial"/>
              </a:rPr>
              <a:t>Difficulty Index</a:t>
            </a:r>
            <a:endParaRPr sz="3000">
              <a:solidFill>
                <a:srgbClr val="0B1F3A"/>
              </a:solidFill>
            </a:endParaRPr>
          </a:p>
          <a:p>
            <a:pPr algn="ctr">
              <a:defRPr sz="3000">
                <a:solidFill>
                  <a:srgbClr val="0B1F3A"/>
                </a:solidFill>
              </a:defRPr>
            </a:pPr>
            <a:r>
              <a:rPr sz="8800" b="1">
                <a:solidFill>
                  <a:srgbClr val="0B1F3A"/>
                </a:solidFill>
                <a:latin typeface="Arial"/>
              </a:rPr>
              <a:t>2.29</a:t>
            </a:r>
            <a:endParaRPr sz="3000">
              <a:solidFill>
                <a:srgbClr val="0B1F3A"/>
              </a:solidFill>
            </a:endParaRPr>
          </a:p>
          <a:p>
            <a:pPr algn="ctr">
              <a:defRPr sz="3000">
                <a:solidFill>
                  <a:srgbClr val="0B1F3A"/>
                </a:solidFill>
              </a:defRPr>
            </a:pPr>
            <a:r>
              <a:rPr sz="2400" b="0">
                <a:solidFill>
                  <a:srgbClr val="0B1F3A"/>
                </a:solidFill>
                <a:latin typeface="Arial"/>
              </a:rPr>
              <a:t>out of 5</a:t>
            </a:r>
            <a:endParaRPr sz="3000">
              <a:solidFill>
                <a:srgbClr val="0B1F3A"/>
              </a:solidFill>
            </a:endParaRPr>
          </a:p>
        </p:txBody>
      </p:sp>
      <p:sp>
        <p:nvSpPr>
          <p:cNvPr id="4" name="Rectangle 3"/>
          <p:cNvSpPr/>
          <p:nvPr/>
        </p:nvSpPr>
        <p:spPr>
          <a:xfrm>
            <a:off x="5852160" y="1417320"/>
            <a:ext cx="5605272" cy="603504"/>
          </a:xfrm>
          <a:prstGeom prst="rect">
            <a:avLst/>
          </a:prstGeom>
          <a:solidFill>
            <a:srgbClr val="93C47D"/>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JEE Main or easier:  6 questions</a:t>
            </a:r>
            <a:endParaRPr sz="2400">
              <a:solidFill>
                <a:srgbClr val="111827"/>
              </a:solidFill>
            </a:endParaRPr>
          </a:p>
        </p:txBody>
      </p:sp>
      <p:sp>
        <p:nvSpPr>
          <p:cNvPr id="5" name="Rectangle 4"/>
          <p:cNvSpPr/>
          <p:nvPr/>
        </p:nvSpPr>
        <p:spPr>
          <a:xfrm>
            <a:off x="5852160" y="2093976"/>
            <a:ext cx="5605272" cy="603504"/>
          </a:xfrm>
          <a:prstGeom prst="rect">
            <a:avLst/>
          </a:prstGeom>
          <a:solidFill>
            <a:srgbClr val="FFD966"/>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Below average:  22 questions</a:t>
            </a:r>
            <a:endParaRPr sz="2400">
              <a:solidFill>
                <a:srgbClr val="111827"/>
              </a:solidFill>
            </a:endParaRPr>
          </a:p>
        </p:txBody>
      </p:sp>
      <p:sp>
        <p:nvSpPr>
          <p:cNvPr id="6" name="Rectangle 5"/>
          <p:cNvSpPr/>
          <p:nvPr/>
        </p:nvSpPr>
        <p:spPr>
          <a:xfrm>
            <a:off x="5852160" y="2770632"/>
            <a:ext cx="5605272" cy="603504"/>
          </a:xfrm>
          <a:prstGeom prst="rect">
            <a:avLst/>
          </a:prstGeom>
          <a:solidFill>
            <a:srgbClr val="F6B26B"/>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Average Advanced:  16 questions</a:t>
            </a:r>
            <a:endParaRPr sz="2400">
              <a:solidFill>
                <a:srgbClr val="111827"/>
              </a:solidFill>
            </a:endParaRPr>
          </a:p>
        </p:txBody>
      </p:sp>
      <p:sp>
        <p:nvSpPr>
          <p:cNvPr id="7" name="Rectangle 6"/>
          <p:cNvSpPr/>
          <p:nvPr/>
        </p:nvSpPr>
        <p:spPr>
          <a:xfrm>
            <a:off x="5852160" y="3447288"/>
            <a:ext cx="5605272" cy="603504"/>
          </a:xfrm>
          <a:prstGeom prst="rect">
            <a:avLst/>
          </a:prstGeom>
          <a:solidFill>
            <a:srgbClr val="E88080"/>
          </a:solidFill>
          <a:ln w="19050">
            <a:solidFill>
              <a:srgbClr val="6B7280"/>
            </a:solidFill>
          </a:ln>
          <a:effectLst/>
        </p:spPr>
        <p:style>
          <a:lnRef idx="1">
            <a:schemeClr val="accent1"/>
          </a:lnRef>
          <a:fillRef idx="3">
            <a:schemeClr val="accent1"/>
          </a:fillRef>
          <a:effectRef idx="2">
            <a:schemeClr val="accent1"/>
          </a:effectRef>
          <a:fontRef idx="minor">
            <a:srgbClr val="111827"/>
          </a:fontRef>
        </p:style>
        <p:txBody>
          <a:bodyPr rtlCol="0" anchor="ctr" wrap="square" lIns="228600" rIns="228600" tIns="18288" bIns="73152"/>
          <a:lstStyle>
            <a:lvl1pPr>
              <a:defRPr sz="2400">
                <a:solidFill>
                  <a:srgbClr val="111827"/>
                </a:solidFill>
              </a:defRPr>
            </a:lvl1pPr>
          </a:lstStyle>
          <a:p>
            <a:pPr algn="l">
              <a:defRPr sz="2400">
                <a:solidFill>
                  <a:srgbClr val="111827"/>
                </a:solidFill>
              </a:defRPr>
            </a:pPr>
            <a:r>
              <a:rPr sz="2400" b="1">
                <a:solidFill>
                  <a:srgbClr val="111827"/>
                </a:solidFill>
                <a:latin typeface="Arial"/>
              </a:rPr>
              <a:t>Above average:  3 questions</a:t>
            </a:r>
            <a:endParaRPr sz="2400">
              <a:solidFill>
                <a:srgbClr val="111827"/>
              </a:solidFill>
            </a:endParaRPr>
          </a:p>
        </p:txBody>
      </p:sp>
      <p:sp>
        <p:nvSpPr>
          <p:cNvPr id="8" name="Rectangle 7"/>
          <p:cNvSpPr/>
          <p:nvPr/>
        </p:nvSpPr>
        <p:spPr>
          <a:xfrm>
            <a:off x="5852160" y="4123944"/>
            <a:ext cx="5605272" cy="603504"/>
          </a:xfrm>
          <a:prstGeom prst="rect">
            <a:avLst/>
          </a:prstGeom>
          <a:solidFill>
            <a:srgbClr val="CC4125"/>
          </a:solidFill>
          <a:ln w="19050">
            <a:solidFill>
              <a:srgbClr val="6B7280"/>
            </a:solidFill>
          </a:ln>
          <a:effectLst/>
        </p:spPr>
        <p:style>
          <a:lnRef idx="1">
            <a:schemeClr val="accent1"/>
          </a:lnRef>
          <a:fillRef idx="3">
            <a:schemeClr val="accent1"/>
          </a:fillRef>
          <a:effectRef idx="2">
            <a:schemeClr val="accent1"/>
          </a:effectRef>
          <a:fontRef idx="minor">
            <a:srgbClr val="FFFFFF"/>
          </a:fontRef>
        </p:style>
        <p:txBody>
          <a:bodyPr rtlCol="0" anchor="ctr" wrap="square" lIns="228600" rIns="228600" tIns="18288" bIns="73152"/>
          <a:lstStyle>
            <a:lvl1pPr>
              <a:defRPr sz="2400">
                <a:solidFill>
                  <a:srgbClr val="FFFFFF"/>
                </a:solidFill>
              </a:defRPr>
            </a:lvl1pPr>
          </a:lstStyle>
          <a:p>
            <a:pPr algn="l">
              <a:defRPr sz="2400">
                <a:solidFill>
                  <a:srgbClr val="FFFFFF"/>
                </a:solidFill>
              </a:defRPr>
            </a:pPr>
            <a:r>
              <a:rPr sz="2400" b="1">
                <a:solidFill>
                  <a:srgbClr val="FFFFFF"/>
                </a:solidFill>
                <a:latin typeface="Arial"/>
              </a:rPr>
              <a:t>Very difficult:  0 questions</a:t>
            </a:r>
            <a:endParaRPr sz="2400">
              <a:solidFill>
                <a:srgbClr val="FFFFFF"/>
              </a:solidFill>
            </a:endParaRPr>
          </a:p>
        </p:txBody>
      </p:sp>
      <p:sp>
        <p:nvSpPr>
          <p:cNvPr id="9" name="Rectangle 8"/>
          <p:cNvSpPr/>
          <p:nvPr/>
        </p:nvSpPr>
        <p:spPr>
          <a:xfrm>
            <a:off x="731520" y="5029200"/>
            <a:ext cx="10725912" cy="1097280"/>
          </a:xfrm>
          <a:prstGeom prst="rect">
            <a:avLst/>
          </a:prstGeom>
          <a:solidFill>
            <a:srgbClr val="FFFFFF"/>
          </a:solidFill>
          <a:ln w="19050">
            <a:noFill/>
          </a:ln>
          <a:effectLst/>
        </p:spPr>
        <p:style>
          <a:lnRef idx="1">
            <a:schemeClr val="accent1"/>
          </a:lnRef>
          <a:fillRef idx="3">
            <a:schemeClr val="accent1"/>
          </a:fillRef>
          <a:effectRef idx="2">
            <a:schemeClr val="accent1"/>
          </a:effectRef>
          <a:fontRef idx="minor">
            <a:srgbClr val="111827"/>
          </a:fontRef>
        </p:style>
        <p:txBody>
          <a:bodyPr rtlCol="0" anchor="t" wrap="square" lIns="228600" rIns="228600" tIns="137160" bIns="73152"/>
          <a:lstStyle>
            <a:lvl1pPr>
              <a:defRPr sz="2400">
                <a:solidFill>
                  <a:srgbClr val="111827"/>
                </a:solidFill>
              </a:defRPr>
            </a:lvl1pPr>
          </a:lstStyle>
          <a:p>
            <a:pPr algn="ctr">
              <a:defRPr sz="2400">
                <a:solidFill>
                  <a:srgbClr val="111827"/>
                </a:solidFill>
              </a:defRPr>
            </a:pPr>
            <a:r>
              <a:rPr sz="2400" b="0">
                <a:solidFill>
                  <a:srgbClr val="111827"/>
                </a:solidFill>
                <a:latin typeface="Arial"/>
              </a:rPr>
              <a:t>Total: 47 questions, 174 marks.  Index = Σ(marks × level) ÷ Σ marks, on the 0-5 scale.</a:t>
            </a:r>
            <a:endParaRPr sz="2400">
              <a:solidFill>
                <a:srgbClr val="111827"/>
              </a:solidFill>
            </a:endParaRPr>
          </a:p>
        </p:txBody>
      </p:sp>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Difficulty Profile of the Paper</a:t>
            </a:r>
            <a:endParaRPr sz="3200">
              <a:solidFill>
                <a:srgbClr val="FFFFFF"/>
              </a:solidFill>
            </a:endParaRPr>
          </a:p>
        </p:txBody>
      </p:sp>
      <p:graphicFrame>
        <p:nvGraphicFramePr>
          <p:cNvPr id="3" name="Chart 2"/>
          <p:cNvGraphicFramePr>
            <a:graphicFrameLocks noGrp="1"/>
          </p:cNvGraphicFramePr>
          <p:nvPr/>
        </p:nvGraphicFramePr>
        <p:xfrm>
          <a:off x="457200" y="1280160"/>
          <a:ext cx="11274552" cy="5349240"/>
        </p:xfrm>
        <a:graphic>
          <a:graphicData uri="http://schemas.openxmlformats.org/drawingml/2006/chart">
            <c:chart xmlns:c="http://schemas.openxmlformats.org/drawingml/2006/chart" r:id="rId2"/>
          </a:graphicData>
        </a:graphic>
      </p:graphicFrame>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097280"/>
          </a:xfrm>
          <a:prstGeom prst="rect">
            <a:avLst/>
          </a:prstGeom>
          <a:solidFill>
            <a:srgbClr val="0B1F3A"/>
          </a:solidFill>
          <a:ln>
            <a:noFill/>
          </a:ln>
          <a:effectLst/>
        </p:spPr>
        <p:style>
          <a:lnRef idx="1">
            <a:schemeClr val="accent1"/>
          </a:lnRef>
          <a:fillRef idx="3">
            <a:schemeClr val="accent1"/>
          </a:fillRef>
          <a:effectRef idx="2">
            <a:schemeClr val="accent1"/>
          </a:effectRef>
          <a:fontRef idx="minor">
            <a:srgbClr val="FFFFFF"/>
          </a:fontRef>
        </p:style>
        <p:txBody>
          <a:bodyPr rtlCol="0" anchor="ctr" lIns="731520"/>
          <a:lstStyle>
            <a:lvl1pPr>
              <a:defRPr sz="3200">
                <a:solidFill>
                  <a:srgbClr val="FFFFFF"/>
                </a:solidFill>
              </a:defRPr>
            </a:lvl1pPr>
          </a:lstStyle>
          <a:p>
            <a:pPr algn="l">
              <a:defRPr sz="3200">
                <a:solidFill>
                  <a:srgbClr val="FFFFFF"/>
                </a:solidFill>
              </a:defRPr>
            </a:pPr>
            <a:r>
              <a:rPr sz="3200" b="1">
                <a:solidFill>
                  <a:srgbClr val="FFFFFF"/>
                </a:solidFill>
                <a:latin typeface="Arial"/>
              </a:rPr>
              <a:t>Comparison with JEE Advanced Papers</a:t>
            </a:r>
            <a:endParaRPr sz="3200">
              <a:solidFill>
                <a:srgbClr val="FFFFFF"/>
              </a:solidFill>
            </a:endParaRPr>
          </a:p>
        </p:txBody>
      </p:sp>
      <p:graphicFrame>
        <p:nvGraphicFramePr>
          <p:cNvPr id="3" name="Table 2"/>
          <p:cNvGraphicFramePr>
            <a:graphicFrameLocks noGrp="1"/>
          </p:cNvGraphicFramePr>
          <p:nvPr/>
        </p:nvGraphicFramePr>
        <p:xfrm>
          <a:off x="1661007" y="1371600"/>
          <a:ext cx="8869680" cy="4526280"/>
        </p:xfrm>
        <a:graphic>
          <a:graphicData uri="http://schemas.openxmlformats.org/drawingml/2006/table">
            <a:tbl>
              <a:tblPr firstRow="1" bandRow="1">
                <a:tableStyleId>{5C22544A-7EE6-4342-B048-85BDC9FD1C3A}</a:tableStyleId>
              </a:tblPr>
              <a:tblGrid>
                <a:gridCol w="5760720"/>
                <a:gridCol w="3108960"/>
              </a:tblGrid>
              <a:tr h="685800">
                <a:tc>
                  <a:txBody>
                    <a:bodyPr/>
                    <a:lstStyle/>
                    <a:p>
                      <a:pPr algn="ctr"/>
                      <a:r>
                        <a:rPr sz="2600" b="1">
                          <a:solidFill>
                            <a:srgbClr val="FFFFFF"/>
                          </a:solidFill>
                          <a:latin typeface="Arial"/>
                        </a:rPr>
                        <a:t>Paper</a:t>
                      </a:r>
                    </a:p>
                  </a:txBody>
                  <a:tcPr anchor="ctr" marL="137160" marR="137160">
                    <a:solidFill>
                      <a:srgbClr val="0B1F3A"/>
                    </a:solidFill>
                  </a:tcPr>
                </a:tc>
                <a:tc>
                  <a:txBody>
                    <a:bodyPr/>
                    <a:lstStyle/>
                    <a:p>
                      <a:pPr algn="ctr"/>
                      <a:r>
                        <a:rPr sz="2600" b="1">
                          <a:solidFill>
                            <a:srgbClr val="FFFFFF"/>
                          </a:solidFill>
                          <a:latin typeface="Arial"/>
                        </a:rPr>
                        <a:t>Difficulty Index</a:t>
                      </a:r>
                    </a:p>
                  </a:txBody>
                  <a:tcPr anchor="ctr" marL="137160" marR="137160">
                    <a:solidFill>
                      <a:srgbClr val="0B1F3A"/>
                    </a:solidFill>
                  </a:tcPr>
                </a:tc>
              </a:tr>
              <a:tr h="640080">
                <a:tc>
                  <a:txBody>
                    <a:bodyPr/>
                    <a:lstStyle/>
                    <a:p>
                      <a:pPr algn="l"/>
                      <a:r>
                        <a:rPr sz="2600" b="0">
                          <a:solidFill>
                            <a:srgbClr val="111827"/>
                          </a:solidFill>
                          <a:latin typeface="Arial"/>
                        </a:rPr>
                        <a:t>JEE Advanced 2021</a:t>
                      </a:r>
                    </a:p>
                  </a:txBody>
                  <a:tcPr anchor="ctr" marL="137160" marR="137160">
                    <a:solidFill>
                      <a:srgbClr val="FFFFFF"/>
                    </a:solidFill>
                  </a:tcPr>
                </a:tc>
                <a:tc>
                  <a:txBody>
                    <a:bodyPr/>
                    <a:lstStyle/>
                    <a:p>
                      <a:pPr algn="ctr"/>
                      <a:r>
                        <a:rPr sz="2600" b="1">
                          <a:solidFill>
                            <a:srgbClr val="111827"/>
                          </a:solidFill>
                          <a:latin typeface="Arial"/>
                        </a:rPr>
                        <a:t>2.76</a:t>
                      </a:r>
                    </a:p>
                  </a:txBody>
                  <a:tcPr anchor="ctr" marL="137160" marR="137160">
                    <a:solidFill>
                      <a:srgbClr val="FFFFFF"/>
                    </a:solidFill>
                  </a:tcPr>
                </a:tc>
              </a:tr>
              <a:tr h="640080">
                <a:tc>
                  <a:txBody>
                    <a:bodyPr/>
                    <a:lstStyle/>
                    <a:p>
                      <a:pPr algn="l"/>
                      <a:r>
                        <a:rPr sz="2600" b="0">
                          <a:solidFill>
                            <a:srgbClr val="111827"/>
                          </a:solidFill>
                          <a:latin typeface="Arial"/>
                        </a:rPr>
                        <a:t>JEE Advanced 2023</a:t>
                      </a:r>
                    </a:p>
                  </a:txBody>
                  <a:tcPr anchor="ctr" marL="137160" marR="137160">
                    <a:solidFill>
                      <a:srgbClr val="FFFFFF"/>
                    </a:solidFill>
                  </a:tcPr>
                </a:tc>
                <a:tc>
                  <a:txBody>
                    <a:bodyPr/>
                    <a:lstStyle/>
                    <a:p>
                      <a:pPr algn="ctr"/>
                      <a:r>
                        <a:rPr sz="2600" b="1">
                          <a:solidFill>
                            <a:srgbClr val="111827"/>
                          </a:solidFill>
                          <a:latin typeface="Arial"/>
                        </a:rPr>
                        <a:t>3.19</a:t>
                      </a:r>
                    </a:p>
                  </a:txBody>
                  <a:tcPr anchor="ctr" marL="137160" marR="137160">
                    <a:solidFill>
                      <a:srgbClr val="FFFFFF"/>
                    </a:solidFill>
                  </a:tcPr>
                </a:tc>
              </a:tr>
              <a:tr h="640080">
                <a:tc>
                  <a:txBody>
                    <a:bodyPr/>
                    <a:lstStyle/>
                    <a:p>
                      <a:pPr algn="l"/>
                      <a:r>
                        <a:rPr sz="2600" b="0">
                          <a:solidFill>
                            <a:srgbClr val="111827"/>
                          </a:solidFill>
                          <a:latin typeface="Arial"/>
                        </a:rPr>
                        <a:t>JEE Advanced 2024</a:t>
                      </a:r>
                    </a:p>
                  </a:txBody>
                  <a:tcPr anchor="ctr" marL="137160" marR="137160">
                    <a:solidFill>
                      <a:srgbClr val="FFFFFF"/>
                    </a:solidFill>
                  </a:tcPr>
                </a:tc>
                <a:tc>
                  <a:txBody>
                    <a:bodyPr/>
                    <a:lstStyle/>
                    <a:p>
                      <a:pPr algn="ctr"/>
                      <a:r>
                        <a:rPr sz="2600" b="1">
                          <a:solidFill>
                            <a:srgbClr val="111827"/>
                          </a:solidFill>
                          <a:latin typeface="Arial"/>
                        </a:rPr>
                        <a:t>2.59</a:t>
                      </a:r>
                    </a:p>
                  </a:txBody>
                  <a:tcPr anchor="ctr" marL="137160" marR="137160">
                    <a:solidFill>
                      <a:srgbClr val="FFFFFF"/>
                    </a:solidFill>
                  </a:tcPr>
                </a:tc>
              </a:tr>
              <a:tr h="640080">
                <a:tc>
                  <a:txBody>
                    <a:bodyPr/>
                    <a:lstStyle/>
                    <a:p>
                      <a:pPr algn="l"/>
                      <a:r>
                        <a:rPr sz="2600" b="0">
                          <a:solidFill>
                            <a:srgbClr val="111827"/>
                          </a:solidFill>
                          <a:latin typeface="Arial"/>
                        </a:rPr>
                        <a:t>JEE Advanced 2025</a:t>
                      </a:r>
                    </a:p>
                  </a:txBody>
                  <a:tcPr anchor="ctr" marL="137160" marR="137160">
                    <a:solidFill>
                      <a:srgbClr val="FFFFFF"/>
                    </a:solidFill>
                  </a:tcPr>
                </a:tc>
                <a:tc>
                  <a:txBody>
                    <a:bodyPr/>
                    <a:lstStyle/>
                    <a:p>
                      <a:pPr algn="ctr"/>
                      <a:r>
                        <a:rPr sz="2600" b="1">
                          <a:solidFill>
                            <a:srgbClr val="111827"/>
                          </a:solidFill>
                          <a:latin typeface="Arial"/>
                        </a:rPr>
                        <a:t>3.21</a:t>
                      </a:r>
                    </a:p>
                  </a:txBody>
                  <a:tcPr anchor="ctr" marL="137160" marR="137160">
                    <a:solidFill>
                      <a:srgbClr val="FFFFFF"/>
                    </a:solidFill>
                  </a:tcPr>
                </a:tc>
              </a:tr>
              <a:tr h="640080">
                <a:tc>
                  <a:txBody>
                    <a:bodyPr/>
                    <a:lstStyle/>
                    <a:p>
                      <a:pPr algn="l"/>
                      <a:r>
                        <a:rPr sz="2600" b="0">
                          <a:solidFill>
                            <a:srgbClr val="111827"/>
                          </a:solidFill>
                          <a:latin typeface="Arial"/>
                        </a:rPr>
                        <a:t>JEE Advanced 2026</a:t>
                      </a:r>
                    </a:p>
                  </a:txBody>
                  <a:tcPr anchor="ctr" marL="137160" marR="137160">
                    <a:solidFill>
                      <a:srgbClr val="FFFFFF"/>
                    </a:solidFill>
                  </a:tcPr>
                </a:tc>
                <a:tc>
                  <a:txBody>
                    <a:bodyPr/>
                    <a:lstStyle/>
                    <a:p>
                      <a:pPr algn="ctr"/>
                      <a:r>
                        <a:rPr sz="2600" b="1">
                          <a:solidFill>
                            <a:srgbClr val="111827"/>
                          </a:solidFill>
                          <a:latin typeface="Arial"/>
                        </a:rPr>
                        <a:t>3.02</a:t>
                      </a:r>
                    </a:p>
                  </a:txBody>
                  <a:tcPr anchor="ctr" marL="137160" marR="137160">
                    <a:solidFill>
                      <a:srgbClr val="FFFFFF"/>
                    </a:solidFill>
                  </a:tcPr>
                </a:tc>
              </a:tr>
              <a:tr h="640080">
                <a:tc>
                  <a:txBody>
                    <a:bodyPr/>
                    <a:lstStyle/>
                    <a:p>
                      <a:pPr algn="l"/>
                      <a:r>
                        <a:rPr sz="2600" b="1">
                          <a:solidFill>
                            <a:srgbClr val="0B1F3A"/>
                          </a:solidFill>
                          <a:latin typeface="Arial"/>
                        </a:rPr>
                        <a:t>Vector &amp; 3D Geometry (Exercise C-II) Sheet Vector 3D · Exercise C-II · detailed solutions</a:t>
                      </a:r>
                    </a:p>
                  </a:txBody>
                  <a:tcPr anchor="ctr" marL="137160" marR="137160">
                    <a:solidFill>
                      <a:srgbClr val="E0ECFF"/>
                    </a:solidFill>
                  </a:tcPr>
                </a:tc>
                <a:tc>
                  <a:txBody>
                    <a:bodyPr/>
                    <a:lstStyle/>
                    <a:p>
                      <a:pPr algn="ctr"/>
                      <a:r>
                        <a:rPr sz="2600" b="1">
                          <a:solidFill>
                            <a:srgbClr val="0B1F3A"/>
                          </a:solidFill>
                          <a:latin typeface="Arial"/>
                        </a:rPr>
                        <a:t>2.29</a:t>
                      </a:r>
                    </a:p>
                  </a:txBody>
                  <a:tcPr anchor="ctr" marL="137160" marR="137160">
                    <a:solidFill>
                      <a:srgbClr val="E0ECFF"/>
                    </a:solidFill>
                  </a:tcPr>
                </a:tc>
              </a:tr>
            </a:tbl>
          </a:graphicData>
        </a:graphic>
      </p:graphicFrame>
      <p:sp>
        <p:nvSpPr>
          <p:cNvPr id="4" name="TextBox 3"/>
          <p:cNvSpPr txBox="1"/>
          <p:nvPr/>
        </p:nvSpPr>
        <p:spPr>
          <a:xfrm>
            <a:off x="731520" y="6080759"/>
            <a:ext cx="10725912" cy="457200"/>
          </a:xfrm>
          <a:prstGeom prst="rect">
            <a:avLst/>
          </a:prstGeom>
          <a:noFill/>
        </p:spPr>
        <p:txBody>
          <a:bodyPr wrap="none">
            <a:spAutoFit/>
          </a:bodyPr>
          <a:lstStyle>
            <a:lvl1pPr>
              <a:defRPr sz="2000">
                <a:solidFill>
                  <a:srgbClr val="111827"/>
                </a:solidFill>
              </a:defRPr>
            </a:lvl1pPr>
          </a:lstStyle>
          <a:p>
            <a:pPr algn="ctr">
              <a:defRPr sz="2000">
                <a:solidFill>
                  <a:srgbClr val="111827"/>
                </a:solidFill>
              </a:defRPr>
            </a:pPr>
            <a:r>
              <a:rPr sz="2000" b="0">
                <a:solidFill>
                  <a:srgbClr val="111827"/>
                </a:solidFill>
                <a:latin typeface="Arial"/>
              </a:rPr>
              <a:t>Marks-weighted difficulty index on the 0-5 scale</a:t>
            </a:r>
            <a:endParaRPr sz="2000">
              <a:solidFill>
                <a:srgbClr val="111827"/>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