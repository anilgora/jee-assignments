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F6B26B"/>
              </a:solidFill>
              <a:ln w="9525">
                <a:solidFill>
                  <a:srgbClr val="111827"/>
                </a:solidFill>
              </a:ln>
            </c:spPr>
          </c:dPt>
          <c:dPt>
            <c:idx val="2"/>
            <c:spPr>
              <a:solidFill>
                <a:srgbClr val="F6B26B"/>
              </a:solidFill>
              <a:ln w="9525">
                <a:solidFill>
                  <a:srgbClr val="111827"/>
                </a:solidFill>
              </a:ln>
            </c:spPr>
          </c:dPt>
          <c:dPt>
            <c:idx val="3"/>
            <c:spPr>
              <a:solidFill>
                <a:srgbClr val="FFD966"/>
              </a:solidFill>
              <a:ln w="9525">
                <a:solidFill>
                  <a:srgbClr val="111827"/>
                </a:solidFill>
              </a:ln>
            </c:spPr>
          </c:dPt>
          <c:dPt>
            <c:idx val="4"/>
            <c:spPr>
              <a:solidFill>
                <a:srgbClr val="FFD966"/>
              </a:solidFill>
              <a:ln w="9525">
                <a:solidFill>
                  <a:srgbClr val="111827"/>
                </a:solidFill>
              </a:ln>
            </c:spPr>
          </c:dPt>
          <c:dPt>
            <c:idx val="5"/>
            <c:spPr>
              <a:solidFill>
                <a:srgbClr val="FFD966"/>
              </a:solidFill>
              <a:ln w="9525">
                <a:solidFill>
                  <a:srgbClr val="111827"/>
                </a:solidFill>
              </a:ln>
            </c:spPr>
          </c:dPt>
          <c:dPt>
            <c:idx val="6"/>
            <c:spPr>
              <a:solidFill>
                <a:srgbClr val="F6B26B"/>
              </a:solidFill>
              <a:ln w="9525">
                <a:solidFill>
                  <a:srgbClr val="111827"/>
                </a:solidFill>
              </a:ln>
            </c:spPr>
          </c:dPt>
          <c:dPt>
            <c:idx val="7"/>
            <c:spPr>
              <a:solidFill>
                <a:srgbClr val="FFD966"/>
              </a:solidFill>
              <a:ln w="9525">
                <a:solidFill>
                  <a:srgbClr val="111827"/>
                </a:solidFill>
              </a:ln>
            </c:spPr>
          </c:dPt>
          <c:dPt>
            <c:idx val="8"/>
            <c:spPr>
              <a:solidFill>
                <a:srgbClr val="F6B26B"/>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F6B26B"/>
              </a:solidFill>
              <a:ln w="9525">
                <a:solidFill>
                  <a:srgbClr val="111827"/>
                </a:solidFill>
              </a:ln>
            </c:spPr>
          </c:dPt>
          <c:dPt>
            <c:idx val="12"/>
            <c:spPr>
              <a:solidFill>
                <a:srgbClr val="F6B26B"/>
              </a:solidFill>
              <a:ln w="9525">
                <a:solidFill>
                  <a:srgbClr val="111827"/>
                </a:solidFill>
              </a:ln>
            </c:spPr>
          </c:dPt>
          <c:dPt>
            <c:idx val="13"/>
            <c:spPr>
              <a:solidFill>
                <a:srgbClr val="FFD966"/>
              </a:solidFill>
              <a:ln w="9525">
                <a:solidFill>
                  <a:srgbClr val="111827"/>
                </a:solidFill>
              </a:ln>
            </c:spPr>
          </c:dPt>
          <c:dPt>
            <c:idx val="14"/>
            <c:spPr>
              <a:solidFill>
                <a:srgbClr val="E88080"/>
              </a:solidFill>
              <a:ln w="9525">
                <a:solidFill>
                  <a:srgbClr val="111827"/>
                </a:solidFill>
              </a:ln>
            </c:spPr>
          </c:dPt>
          <c:dPt>
            <c:idx val="15"/>
            <c:spPr>
              <a:solidFill>
                <a:srgbClr val="E88080"/>
              </a:solidFill>
              <a:ln w="9525">
                <a:solidFill>
                  <a:srgbClr val="111827"/>
                </a:solidFill>
              </a:ln>
            </c:spPr>
          </c:dPt>
          <c:cat>
            <c:strRef>
              <c:f>Sheet1!$A$2:$A$17</c:f>
              <c:strCache>
                <c:ptCount val="16"/>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strCache>
            </c:strRef>
          </c:cat>
          <c:val>
            <c:numRef>
              <c:f>Sheet1!$B$2:$B$17</c:f>
              <c:numCache>
                <c:formatCode>General</c:formatCode>
                <c:ptCount val="16"/>
                <c:pt idx="0">
                  <c:v>1.0</c:v>
                </c:pt>
                <c:pt idx="1">
                  <c:v>3.0</c:v>
                </c:pt>
                <c:pt idx="2">
                  <c:v>3.0</c:v>
                </c:pt>
                <c:pt idx="3">
                  <c:v>2.0</c:v>
                </c:pt>
                <c:pt idx="4">
                  <c:v>2.0</c:v>
                </c:pt>
                <c:pt idx="5">
                  <c:v>2.0</c:v>
                </c:pt>
                <c:pt idx="6">
                  <c:v>3.0</c:v>
                </c:pt>
                <c:pt idx="7">
                  <c:v>2.0</c:v>
                </c:pt>
                <c:pt idx="8">
                  <c:v>3.0</c:v>
                </c:pt>
                <c:pt idx="9">
                  <c:v>2.0</c:v>
                </c:pt>
                <c:pt idx="10">
                  <c:v>2.0</c:v>
                </c:pt>
                <c:pt idx="11">
                  <c:v>3.0</c:v>
                </c:pt>
                <c:pt idx="12">
                  <c:v>3.0</c:v>
                </c:pt>
                <c:pt idx="13">
                  <c:v>2.0</c:v>
                </c:pt>
                <c:pt idx="14">
                  <c:v>4.0</c:v>
                </c:pt>
                <c:pt idx="15">
                  <c:v>4.0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says $a_2,\ldots,a_{50}$ are 'arithmetic means between $a_1$ and $a_{50}$' (should be $a_{51}$) and states $a_k&gt;b_k$ 'by A.M.&gt;G.M.' without saying why the A.P. terms are weighted A.M.s of $b_1,b_{51}$ and $b_k$ the weighted G.M. I fixed the typo and added that step. The answer (B)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Sequence &amp; Progression Sheet (Exercise J - A) — Paper Analysis</a:t>
            </a:r>
            <a:endParaRPr sz="4000">
              <a:solidFill>
                <a:srgbClr val="FFFFFF"/>
              </a:solidFill>
            </a:endParaRPr>
          </a:p>
          <a:p>
            <a:pPr algn="ctr"/>
            <a:r>
              <a:rPr sz="2200">
                <a:solidFill>
                  <a:srgbClr val="FFFFFF"/>
                </a:solidFill>
                <a:latin typeface="Arial"/>
              </a:rPr>
              <a:t>SHEET SEQUENCE &amp; PROGRESSION · FCopy JA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3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in harmonic progression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The least positive integer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for which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25</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$a_1,a_2,a_3,\ldots$</a:t>
                </a:r>
                <a:r>
                  <a:rPr sz="2400" b="0">
                    <a:solidFill>
                      <a:srgbClr val="111827"/>
                    </a:solidFill>
                    <a:latin typeface="Arial"/>
                  </a:rPr>
                  <a:t> be in harmonic progression with </a:t>
                </a:r>
                <a:r>
                  <a:rPr lang="en-IN" sz="2400">
                    <a:solidFill>
                      <a:srgbClr val="111827"/>
                    </a:solidFill>
                    <a:latin typeface="Cambria Math" panose="02040503050406030204" pitchFamily="18" charset="0"/>
                  </a:rPr>
                  <a:t>$a_1=5$</a:t>
                </a:r>
                <a:r>
                  <a:rPr sz="2400" b="0">
                    <a:solidFill>
                      <a:srgbClr val="111827"/>
                    </a:solidFill>
                    <a:latin typeface="Arial"/>
                  </a:rPr>
                  <a:t> and </a:t>
                </a:r>
                <a:r>
                  <a:rPr lang="en-IN" sz="2400">
                    <a:solidFill>
                      <a:srgbClr val="111827"/>
                    </a:solidFill>
                    <a:latin typeface="Cambria Math" panose="02040503050406030204" pitchFamily="18" charset="0"/>
                  </a:rPr>
                  <a:t>$a_{20}=25$</a:t>
                </a:r>
                <a:r>
                  <a:rPr sz="2400" b="0">
                    <a:solidFill>
                      <a:srgbClr val="111827"/>
                    </a:solidFill>
                    <a:latin typeface="Arial"/>
                  </a:rPr>
                  <a:t>. The least positive integer </a:t>
                </a:r>
                <a:r>
                  <a:rPr lang="en-IN" sz="2400">
                    <a:solidFill>
                      <a:srgbClr val="111827"/>
                    </a:solidFill>
                    <a:latin typeface="Cambria Math" panose="02040503050406030204" pitchFamily="18" charset="0"/>
                  </a:rPr>
                  <a:t>$n$</a:t>
                </a:r>
                <a:r>
                  <a:rPr sz="2400" b="0">
                    <a:solidFill>
                      <a:srgbClr val="111827"/>
                    </a:solidFill>
                    <a:latin typeface="Arial"/>
                  </a:rPr>
                  <a:t> for which </a:t>
                </a:r>
                <a:r>
                  <a:rPr lang="en-IN" sz="2400">
                    <a:solidFill>
                      <a:srgbClr val="111827"/>
                    </a:solidFill>
                    <a:latin typeface="Cambria Math" panose="02040503050406030204" pitchFamily="18" charset="0"/>
                  </a:rPr>
                  <a:t>$a_n&lt;0$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$22$</a:t>
                </a:r>
                <a:r>
                  <a:rPr sz="2400" b="0">
                    <a:solidFill>
                      <a:srgbClr val="111827"/>
                    </a:solidFill>
                    <a:latin typeface="Arial"/>
                  </a:rPr>
                  <a:t>   (B) </a:t>
                </a:r>
                <a:r>
                  <a:rPr lang="en-IN" sz="2400">
                    <a:solidFill>
                      <a:srgbClr val="111827"/>
                    </a:solidFill>
                    <a:latin typeface="Cambria Math" panose="02040503050406030204" pitchFamily="18" charset="0"/>
                  </a:rPr>
                  <a:t>$23$</a:t>
                </a:r>
                <a:r>
                  <a:rPr sz="2400" b="0">
                    <a:solidFill>
                      <a:srgbClr val="111827"/>
                    </a:solidFill>
                    <a:latin typeface="Arial"/>
                  </a:rPr>
                  <a:t>   (C) </a:t>
                </a:r>
                <a:r>
                  <a:rPr lang="en-IN" sz="2400">
                    <a:solidFill>
                      <a:srgbClr val="111827"/>
                    </a:solidFill>
                    <a:latin typeface="Cambria Math" panose="02040503050406030204" pitchFamily="18" charset="0"/>
                  </a:rPr>
                  <a:t>$24$</a:t>
                </a:r>
                <a:r>
                  <a:rPr sz="2400" b="0">
                    <a:solidFill>
                      <a:srgbClr val="111827"/>
                    </a:solidFill>
                    <a:latin typeface="Arial"/>
                  </a:rPr>
                  <a:t>   (D) </a:t>
                </a:r>
                <a:r>
                  <a:rPr lang="en-IN" sz="2400">
                    <a:solidFill>
                      <a:srgbClr val="111827"/>
                    </a:solidFill>
                    <a:latin typeface="Cambria Math" panose="02040503050406030204" pitchFamily="18" charset="0"/>
                  </a:rPr>
                  <a:t>$25$</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Harmonic progression and its reciprocal A.P.</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Reciprocals of an H.P. form an A.P., so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0</m:t>
                    </m:r>
                  </m:oMath>
                </a14:m>
                <a:r>
                  <a:rPr sz="2400" b="0">
                    <a:solidFill>
                      <a:srgbClr val="78350F"/>
                    </a:solidFill>
                    <a:latin typeface="Arial"/>
                  </a:rPr>
                  <a:t> exactly when the corresponding A.P. term is negative.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Reciprocals of an H.P. form an A.P., so </a:t>
                </a:r>
                <a:r>
                  <a:rPr lang="en-IN" sz="2400">
                    <a:solidFill>
                      <a:srgbClr val="78350F"/>
                    </a:solidFill>
                    <a:latin typeface="Cambria Math" panose="02040503050406030204" pitchFamily="18" charset="0"/>
                  </a:rPr>
                  <a:t>$a_n&lt;0$</a:t>
                </a:r>
                <a:r>
                  <a:rPr sz="2400" b="0">
                    <a:solidFill>
                      <a:srgbClr val="78350F"/>
                    </a:solidFill>
                    <a:latin typeface="Arial"/>
                  </a:rPr>
                  <a:t> exactly when the corresponding A.P. term is negative.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corresponding A.P. of reciprocals: its first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its 20th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19</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corresponding A.P. of reciprocals: its first term is </a:t>
                </a:r>
                <a:r>
                  <a:rPr lang="en-IN" sz="2400">
                    <a:solidFill>
                      <a:srgbClr val="111827"/>
                    </a:solidFill>
                    <a:latin typeface="Cambria Math" panose="02040503050406030204" pitchFamily="18" charset="0"/>
                  </a:rPr>
                  <a:t>$\frac1{a_1}=\frac15$</a:t>
                </a:r>
                <a:r>
                  <a:rPr sz="2400" b="0">
                    <a:solidFill>
                      <a:srgbClr val="111827"/>
                    </a:solidFill>
                    <a:latin typeface="Arial"/>
                  </a:rPr>
                  <a:t> and its 20th term is </a:t>
                </a:r>
                <a:r>
                  <a:rPr lang="en-IN" sz="2400">
                    <a:solidFill>
                      <a:srgbClr val="111827"/>
                    </a:solidFill>
                    <a:latin typeface="Cambria Math" panose="02040503050406030204" pitchFamily="18" charset="0"/>
                  </a:rPr>
                  <a:t>$\frac1{a_{20}}=\frac1{25}$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$T_{20}=T_1+19d$</a:t>
                </a:r>
                <a:r>
                  <a:rPr sz="2400" b="0">
                    <a:solidFill>
                      <a:srgbClr val="111827"/>
                    </a:solidFill>
                    <a:latin typeface="Arial"/>
                  </a:rPr>
                  <a:t>: </a:t>
                </a:r>
                <a:r>
                  <a:rPr lang="en-IN" sz="2400">
                    <a:solidFill>
                      <a:srgbClr val="111827"/>
                    </a:solidFill>
                    <a:latin typeface="Cambria Math" panose="02040503050406030204" pitchFamily="18" charset="0"/>
                  </a:rPr>
                  <a:t>$\frac1{25}=\frac15+19d$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$d=\frac1{19}\left(\frac1{25}-\frac15\right)=\frac1{19}\cdot\frac{-4}{25}=-\frac4{19\cdot25}$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$a_n&lt;0$</a:t>
                </a:r>
                <a:r>
                  <a:rPr sz="2400" b="0">
                    <a:solidFill>
                      <a:srgbClr val="111827"/>
                    </a:solidFill>
                    <a:latin typeface="Arial"/>
                  </a:rPr>
                  <a:t> means </a:t>
                </a:r>
                <a:r>
                  <a:rPr lang="en-IN" sz="2400">
                    <a:solidFill>
                      <a:srgbClr val="111827"/>
                    </a:solidFill>
                    <a:latin typeface="Cambria Math" panose="02040503050406030204" pitchFamily="18" charset="0"/>
                  </a:rPr>
                  <a:t>$\frac1{a_n}&lt;0$</a:t>
                </a:r>
                <a:r>
                  <a:rPr sz="2400" b="0">
                    <a:solidFill>
                      <a:srgbClr val="111827"/>
                    </a:solidFill>
                    <a:latin typeface="Arial"/>
                  </a:rPr>
                  <a:t>, i.e. </a:t>
                </a:r>
                <a:r>
                  <a:rPr lang="en-IN" sz="2400">
                    <a:solidFill>
                      <a:srgbClr val="111827"/>
                    </a:solidFill>
                    <a:latin typeface="Cambria Math" panose="02040503050406030204" pitchFamily="18" charset="0"/>
                  </a:rPr>
                  <a:t>$\frac15+(n-1)d&lt;0$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23.75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24.75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least positive integer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$\frac15-\frac4{19\cdot25}(n-1)&lt;0\Rightarrow\frac{19\cdot5}4&lt;n-1$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$n-1&gt;23.75$</a:t>
                </a:r>
                <a:r>
                  <a:rPr sz="2400" b="0">
                    <a:solidFill>
                      <a:srgbClr val="111827"/>
                    </a:solidFill>
                    <a:latin typeface="Arial"/>
                  </a:rPr>
                  <a:t>, i.e. </a:t>
                </a:r>
                <a:r>
                  <a:rPr lang="en-IN" sz="2400">
                    <a:solidFill>
                      <a:srgbClr val="111827"/>
                    </a:solidFill>
                    <a:latin typeface="Cambria Math" panose="02040503050406030204" pitchFamily="18" charset="0"/>
                  </a:rPr>
                  <a:t>$n&gt;24.75$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least positive integer </a:t>
                </a:r>
                <a:r>
                  <a:rPr lang="en-IN" sz="2400">
                    <a:solidFill>
                      <a:srgbClr val="111827"/>
                    </a:solidFill>
                    <a:latin typeface="Cambria Math" panose="02040503050406030204" pitchFamily="18" charset="0"/>
                  </a:rPr>
                  <a:t>$n$</a:t>
                </a:r>
                <a:r>
                  <a:rPr sz="2400" b="0">
                    <a:solidFill>
                      <a:srgbClr val="111827"/>
                    </a:solidFill>
                    <a:latin typeface="Arial"/>
                  </a:rPr>
                  <a:t> is </a:t>
                </a:r>
                <a:r>
                  <a:rPr lang="en-IN" sz="2400">
                    <a:solidFill>
                      <a:srgbClr val="111827"/>
                    </a:solidFill>
                    <a:latin typeface="Cambria Math" panose="02040503050406030204" pitchFamily="18" charset="0"/>
                  </a:rPr>
                  <a:t>$25$</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25</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in H.P. if and only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in A.P.; an H.P. term is never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but its sign changes when the A.P. term crosses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𝑝</m:t>
                            </m:r>
                          </m:sub>
                        </m:sSub>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𝑞</m:t>
                            </m:r>
                          </m:sub>
                        </m:sSub>
                      </m:den>
                    </m:f>
                  </m:oMath>
                </a14:m>
                <a:r>
                  <a:rPr sz="2400" b="0">
                    <a:solidFill>
                      <a:srgbClr val="111827"/>
                    </a:solidFill>
                    <a:latin typeface="Arial"/>
                  </a:rPr>
                  <a:t> are known,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𝑞</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𝑝</m:t>
                            </m:r>
                          </m:sub>
                        </m:sSub>
                      </m:num>
                      <m:den>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den>
                    </m:f>
                  </m:oMath>
                </a14:m>
                <a:r>
                  <a:rPr sz="2400" b="0">
                    <a:solidFill>
                      <a:srgbClr val="111827"/>
                    </a:solidFill>
                    <a:latin typeface="Arial"/>
                  </a:rPr>
                  <a:t> and the A.P. vanishes at position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𝑝</m:t>
                            </m:r>
                          </m:sub>
                        </m:sSub>
                      </m:num>
                      <m:den>
                        <m:r>
                          <a:rPr lang="en-IN" sz="2400" i="1">
                            <a:solidFill>
                              <a:srgbClr val="111827"/>
                            </a:solidFill>
                            <a:latin typeface="Cambria Math" panose="02040503050406030204" pitchFamily="18" charset="0"/>
                          </a:rPr>
                          <m:t>𝑑</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24.75</m:t>
                    </m:r>
                  </m:oMath>
                </a14:m>
                <a:r>
                  <a:rPr sz="2400" b="0">
                    <a:solidFill>
                      <a:srgbClr val="111827"/>
                    </a:solidFill>
                    <a:latin typeface="Arial"/>
                  </a:rPr>
                  <a:t>); the first sign change is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an integer, that H.P. term does not 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two positive numbers, </a:t>
                </a:r>
                <a14:m>
                  <m:oMath xmlns:m="http://schemas.openxmlformats.org/officeDocument/2006/math">
                    <m:sSup>
                      <m:e>
                        <m:r>
                          <a:rPr lang="en-IN" sz="2400" i="1">
                            <a:solidFill>
                              <a:srgbClr val="111827"/>
                            </a:solidFill>
                            <a:latin typeface="Cambria Math" panose="02040503050406030204" pitchFamily="18" charset="0"/>
                          </a:rPr>
                          <m:t>𝐺</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$a_1,a_2,\ldots$</a:t>
                </a:r>
                <a:r>
                  <a:rPr sz="2400" b="0">
                    <a:solidFill>
                      <a:srgbClr val="111827"/>
                    </a:solidFill>
                    <a:latin typeface="Arial"/>
                  </a:rPr>
                  <a:t> are in H.P. if and only if </a:t>
                </a:r>
                <a:r>
                  <a:rPr lang="en-IN" sz="2400">
                    <a:solidFill>
                      <a:srgbClr val="111827"/>
                    </a:solidFill>
                    <a:latin typeface="Cambria Math" panose="02040503050406030204" pitchFamily="18" charset="0"/>
                  </a:rPr>
                  <a:t>$\frac1{a_1},\frac1{a_2},\ldots$</a:t>
                </a:r>
                <a:r>
                  <a:rPr sz="2400" b="0">
                    <a:solidFill>
                      <a:srgbClr val="111827"/>
                    </a:solidFill>
                    <a:latin typeface="Arial"/>
                  </a:rPr>
                  <a:t> are in A.P.; an H.P. term is never </a:t>
                </a:r>
                <a:r>
                  <a:rPr lang="en-IN" sz="2400">
                    <a:solidFill>
                      <a:srgbClr val="111827"/>
                    </a:solidFill>
                    <a:latin typeface="Cambria Math" panose="02040503050406030204" pitchFamily="18" charset="0"/>
                  </a:rPr>
                  <a:t>$0$</a:t>
                </a:r>
                <a:r>
                  <a:rPr sz="2400" b="0">
                    <a:solidFill>
                      <a:srgbClr val="111827"/>
                    </a:solidFill>
                    <a:latin typeface="Arial"/>
                  </a:rPr>
                  <a:t>, but its sign changes when the A.P. term crosses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$\frac1{a_p}$</a:t>
                </a:r>
                <a:r>
                  <a:rPr sz="2400" b="0">
                    <a:solidFill>
                      <a:srgbClr val="111827"/>
                    </a:solidFill>
                    <a:latin typeface="Arial"/>
                  </a:rPr>
                  <a:t> and </a:t>
                </a:r>
                <a:r>
                  <a:rPr lang="en-IN" sz="2400">
                    <a:solidFill>
                      <a:srgbClr val="111827"/>
                    </a:solidFill>
                    <a:latin typeface="Cambria Math" panose="02040503050406030204" pitchFamily="18" charset="0"/>
                  </a:rPr>
                  <a:t>$\frac1{a_q}$</a:t>
                </a:r>
                <a:r>
                  <a:rPr sz="2400" b="0">
                    <a:solidFill>
                      <a:srgbClr val="111827"/>
                    </a:solidFill>
                    <a:latin typeface="Arial"/>
                  </a:rPr>
                  <a:t> are known, </a:t>
                </a:r>
                <a:r>
                  <a:rPr lang="en-IN" sz="2400">
                    <a:solidFill>
                      <a:srgbClr val="111827"/>
                    </a:solidFill>
                    <a:latin typeface="Cambria Math" panose="02040503050406030204" pitchFamily="18" charset="0"/>
                  </a:rPr>
                  <a:t>$d=\frac{1/a_q-1/a_p}{q-p}$</a:t>
                </a:r>
                <a:r>
                  <a:rPr sz="2400" b="0">
                    <a:solidFill>
                      <a:srgbClr val="111827"/>
                    </a:solidFill>
                    <a:latin typeface="Arial"/>
                  </a:rPr>
                  <a:t> and the A.P. vanishes at position </a:t>
                </a:r>
                <a:r>
                  <a:rPr lang="en-IN" sz="2400">
                    <a:solidFill>
                      <a:srgbClr val="111827"/>
                    </a:solidFill>
                    <a:latin typeface="Cambria Math" panose="02040503050406030204" pitchFamily="18" charset="0"/>
                  </a:rPr>
                  <a:t>$n_0=p-\frac{1/a_p}d$</a:t>
                </a:r>
                <a:r>
                  <a:rPr sz="2400" b="0">
                    <a:solidFill>
                      <a:srgbClr val="111827"/>
                    </a:solidFill>
                    <a:latin typeface="Arial"/>
                  </a:rPr>
                  <a:t> (here </a:t>
                </a:r>
                <a:r>
                  <a:rPr lang="en-IN" sz="2400">
                    <a:solidFill>
                      <a:srgbClr val="111827"/>
                    </a:solidFill>
                    <a:latin typeface="Cambria Math" panose="02040503050406030204" pitchFamily="18" charset="0"/>
                  </a:rPr>
                  <a:t>$24.75$</a:t>
                </a:r>
                <a:r>
                  <a:rPr sz="2400" b="0">
                    <a:solidFill>
                      <a:srgbClr val="111827"/>
                    </a:solidFill>
                    <a:latin typeface="Arial"/>
                  </a:rPr>
                  <a:t>); the first sign change is at </a:t>
                </a:r>
                <a:r>
                  <a:rPr lang="en-IN" sz="2400">
                    <a:solidFill>
                      <a:srgbClr val="111827"/>
                    </a:solidFill>
                    <a:latin typeface="Cambria Math" panose="02040503050406030204" pitchFamily="18" charset="0"/>
                  </a:rPr>
                  <a:t>$n=\lfloor n_0\rfloor+1$</a:t>
                </a:r>
                <a:r>
                  <a:rPr sz="2400" b="0">
                    <a:solidFill>
                      <a:srgbClr val="111827"/>
                    </a:solidFill>
                    <a:latin typeface="Arial"/>
                  </a:rPr>
                  <a:t>. If </a:t>
                </a:r>
                <a:r>
                  <a:rPr lang="en-IN" sz="2400">
                    <a:solidFill>
                      <a:srgbClr val="111827"/>
                    </a:solidFill>
                    <a:latin typeface="Cambria Math" panose="02040503050406030204" pitchFamily="18" charset="0"/>
                  </a:rPr>
                  <a:t>$n_0$</a:t>
                </a:r>
                <a:r>
                  <a:rPr sz="2400" b="0">
                    <a:solidFill>
                      <a:srgbClr val="111827"/>
                    </a:solidFill>
                    <a:latin typeface="Arial"/>
                  </a:rPr>
                  <a:t> is an integer, that H.P. term does not 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two positive numbers, </a:t>
                </a:r>
                <a:r>
                  <a:rPr lang="en-IN" sz="2400">
                    <a:solidFill>
                      <a:srgbClr val="111827"/>
                    </a:solidFill>
                    <a:latin typeface="Cambria Math" panose="02040503050406030204" pitchFamily="18" charset="0"/>
                  </a:rPr>
                  <a:t>$G^2=A\cdot H$</a:t>
                </a:r>
                <a:r>
                  <a:rPr sz="2400" b="0">
                    <a:solidFill>
                      <a:srgbClr val="111827"/>
                    </a:solidFill>
                    <a:latin typeface="Arial"/>
                  </a:rPr>
                  <a:t> with </a:t>
                </a:r>
                <a:r>
                  <a:rPr lang="en-IN" sz="2400">
                    <a:solidFill>
                      <a:srgbClr val="111827"/>
                    </a:solidFill>
                    <a:latin typeface="Cambria Math" panose="02040503050406030204" pitchFamily="18" charset="0"/>
                  </a:rPr>
                  <a:t>$H=\frac{2ab}{a+b}$</a:t>
                </a:r>
                <a:r>
                  <a:rPr sz="2400" b="0">
                    <a:solidFill>
                      <a:srgbClr val="111827"/>
                    </a:solidFill>
                    <a:latin typeface="Arial"/>
                  </a:rPr>
                  <a:t> (check </a:t>
                </a:r>
                <a:r>
                  <a:rPr lang="en-IN" sz="2400">
                    <a:solidFill>
                      <a:srgbClr val="111827"/>
                    </a:solidFill>
                    <a:latin typeface="Cambria Math" panose="02040503050406030204" pitchFamily="18" charset="0"/>
                  </a:rPr>
                  <a:t>$a=1,b=4$</a:t>
                </a:r>
                <a:r>
                  <a:rPr sz="2400" b="0">
                    <a:solidFill>
                      <a:srgbClr val="111827"/>
                    </a:solidFill>
                    <a:latin typeface="Arial"/>
                  </a:rPr>
                  <a:t>: </a:t>
                </a:r>
                <a:r>
                  <a:rPr lang="en-IN" sz="2400">
                    <a:solidFill>
                      <a:srgbClr val="111827"/>
                    </a:solidFill>
                    <a:latin typeface="Cambria Math" panose="02040503050406030204" pitchFamily="18" charset="0"/>
                  </a:rPr>
                  <a:t>$G=2$</a:t>
                </a:r>
                <a:r>
                  <a:rPr sz="2400" b="0">
                    <a:solidFill>
                      <a:srgbClr val="111827"/>
                    </a:solidFill>
                    <a:latin typeface="Arial"/>
                  </a:rPr>
                  <a:t>, </a:t>
                </a:r>
                <a:r>
                  <a:rPr lang="en-IN" sz="2400">
                    <a:solidFill>
                      <a:srgbClr val="111827"/>
                    </a:solidFill>
                    <a:latin typeface="Cambria Math" panose="02040503050406030204" pitchFamily="18" charset="0"/>
                  </a:rPr>
                  <a:t>$A=2.5$</a:t>
                </a:r>
                <a:r>
                  <a:rPr sz="2400" b="0">
                    <a:solidFill>
                      <a:srgbClr val="111827"/>
                    </a:solidFill>
                    <a:latin typeface="Arial"/>
                  </a:rPr>
                  <a:t>, </a:t>
                </a:r>
                <a:r>
                  <a:rPr lang="en-IN" sz="2400">
                    <a:solidFill>
                      <a:srgbClr val="111827"/>
                    </a:solidFill>
                    <a:latin typeface="Cambria Math" panose="02040503050406030204" pitchFamily="18" charset="0"/>
                  </a:rPr>
                  <a:t>$H=1.6$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Integer Type(0 to 9)</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Answer is a single digit 0 to 9</a:t>
            </a:r>
            <a:endParaRPr sz="2800">
              <a:solidFill>
                <a:srgbClr val="FFFFFF"/>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pack contains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cards numbered from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Two consecutive numbered cards are removed from the pack and the sum of the numbers on the remaining cards is </a:t>
                </a:r>
                <a14:m>
                  <m:oMath xmlns:m="http://schemas.openxmlformats.org/officeDocument/2006/math">
                    <m:r>
                      <a:rPr lang="en-IN" sz="2400" i="1">
                        <a:solidFill>
                          <a:srgbClr val="111827"/>
                        </a:solidFill>
                        <a:latin typeface="Cambria Math" panose="02040503050406030204" pitchFamily="18" charset="0"/>
                      </a:rPr>
                      <m:t>1224</m:t>
                    </m:r>
                  </m:oMath>
                </a14:m>
                <a:r>
                  <a:rPr sz="2400" b="0">
                    <a:solidFill>
                      <a:srgbClr val="111827"/>
                    </a:solidFill>
                    <a:latin typeface="Arial"/>
                  </a:rPr>
                  <a:t>. If the smaller of the numbers on the removed cards is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pack contains </a:t>
                </a:r>
                <a:r>
                  <a:rPr lang="en-IN" sz="2400">
                    <a:solidFill>
                      <a:srgbClr val="111827"/>
                    </a:solidFill>
                    <a:latin typeface="Cambria Math" panose="02040503050406030204" pitchFamily="18" charset="0"/>
                  </a:rPr>
                  <a:t>$n$</a:t>
                </a:r>
                <a:r>
                  <a:rPr sz="2400" b="0">
                    <a:solidFill>
                      <a:srgbClr val="111827"/>
                    </a:solidFill>
                    <a:latin typeface="Arial"/>
                  </a:rPr>
                  <a:t> cards numbered from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$n$</a:t>
                </a:r>
                <a:r>
                  <a:rPr sz="2400" b="0">
                    <a:solidFill>
                      <a:srgbClr val="111827"/>
                    </a:solidFill>
                    <a:latin typeface="Arial"/>
                  </a:rPr>
                  <a:t>. Two consecutive numbered cards are removed from the pack and the sum of the numbers on the remaining cards is </a:t>
                </a:r>
                <a:r>
                  <a:rPr lang="en-IN" sz="2400">
                    <a:solidFill>
                      <a:srgbClr val="111827"/>
                    </a:solidFill>
                    <a:latin typeface="Cambria Math" panose="02040503050406030204" pitchFamily="18" charset="0"/>
                  </a:rPr>
                  <a:t>$1224$</a:t>
                </a:r>
                <a:r>
                  <a:rPr sz="2400" b="0">
                    <a:solidFill>
                      <a:srgbClr val="111827"/>
                    </a:solidFill>
                    <a:latin typeface="Arial"/>
                  </a:rPr>
                  <a:t>. If the smaller of the numbers on the removed cards is </a:t>
                </a:r>
                <a:r>
                  <a:rPr lang="en-IN" sz="2400">
                    <a:solidFill>
                      <a:srgbClr val="111827"/>
                    </a:solidFill>
                    <a:latin typeface="Cambria Math" panose="02040503050406030204" pitchFamily="18" charset="0"/>
                  </a:rPr>
                  <a:t>$k$</a:t>
                </a:r>
                <a:r>
                  <a:rPr sz="2400" b="0">
                    <a:solidFill>
                      <a:srgbClr val="111827"/>
                    </a:solidFill>
                    <a:latin typeface="Arial"/>
                  </a:rPr>
                  <a:t>, then </a:t>
                </a:r>
                <a:r>
                  <a:rPr lang="en-IN" sz="2400">
                    <a:solidFill>
                      <a:srgbClr val="111827"/>
                    </a:solidFill>
                    <a:latin typeface="Cambria Math" panose="02040503050406030204" pitchFamily="18" charset="0"/>
                  </a:rPr>
                  <a:t>$k-20=$</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first n natural numbers with two removed consecutive terms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removed numbers as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factorise </a:t>
                </a:r>
                <a14:m>
                  <m:oMath xmlns:m="http://schemas.openxmlformats.org/officeDocument/2006/math">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2450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𝑘</m:t>
                    </m:r>
                  </m:oMath>
                </a14:m>
                <a:r>
                  <a:rPr sz="2400" b="0">
                    <a:solidFill>
                      <a:srgbClr val="78350F"/>
                    </a:solidFill>
                    <a:latin typeface="Arial"/>
                  </a:rPr>
                  <a:t> as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49</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𝑘</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removed numbers as </a:t>
                </a:r>
                <a:r>
                  <a:rPr lang="en-IN" sz="2400">
                    <a:solidFill>
                      <a:srgbClr val="78350F"/>
                    </a:solidFill>
                    <a:latin typeface="Cambria Math" panose="02040503050406030204" pitchFamily="18" charset="0"/>
                  </a:rPr>
                  <a:t>$k,k+1$</a:t>
                </a:r>
                <a:r>
                  <a:rPr sz="2400" b="0">
                    <a:solidFill>
                      <a:srgbClr val="78350F"/>
                    </a:solidFill>
                    <a:latin typeface="Arial"/>
                  </a:rPr>
                  <a:t> and factorise </a:t>
                </a:r>
                <a:r>
                  <a:rPr lang="en-IN" sz="2400">
                    <a:solidFill>
                      <a:srgbClr val="78350F"/>
                    </a:solidFill>
                    <a:latin typeface="Cambria Math" panose="02040503050406030204" pitchFamily="18" charset="0"/>
                  </a:rPr>
                  <a:t>$n^2+n-2450=4k$</a:t>
                </a:r>
                <a:r>
                  <a:rPr sz="2400" b="0">
                    <a:solidFill>
                      <a:srgbClr val="78350F"/>
                    </a:solidFill>
                    <a:latin typeface="Arial"/>
                  </a:rPr>
                  <a:t> as </a:t>
                </a:r>
                <a:r>
                  <a:rPr lang="en-IN" sz="2400">
                    <a:solidFill>
                      <a:srgbClr val="78350F"/>
                    </a:solidFill>
                    <a:latin typeface="Cambria Math" panose="02040503050406030204" pitchFamily="18" charset="0"/>
                  </a:rPr>
                  <a:t>$(n+50)(n-49)=4k$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removed cards carry the numbers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remaining cards: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removed cards carry the numbers </a:t>
                </a:r>
                <a:r>
                  <a:rPr lang="en-IN" sz="2400">
                    <a:solidFill>
                      <a:srgbClr val="111827"/>
                    </a:solidFill>
                    <a:latin typeface="Cambria Math" panose="02040503050406030204" pitchFamily="18" charset="0"/>
                  </a:rPr>
                  <a:t>$k$</a:t>
                </a:r>
                <a:r>
                  <a:rPr sz="2400" b="0">
                    <a:solidFill>
                      <a:srgbClr val="111827"/>
                    </a:solidFill>
                    <a:latin typeface="Arial"/>
                  </a:rPr>
                  <a:t> and </a:t>
                </a:r>
                <a:r>
                  <a:rPr lang="en-IN" sz="2400">
                    <a:solidFill>
                      <a:srgbClr val="111827"/>
                    </a:solidFill>
                    <a:latin typeface="Cambria Math" panose="02040503050406030204" pitchFamily="18" charset="0"/>
                  </a:rPr>
                  <a:t>$k+1$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remaining cards: </a:t>
                </a:r>
                <a:r>
                  <a:rPr lang="en-IN" sz="2400">
                    <a:solidFill>
                      <a:srgbClr val="111827"/>
                    </a:solidFill>
                    <a:latin typeface="Cambria Math" panose="02040503050406030204" pitchFamily="18" charset="0"/>
                  </a:rPr>
                  <a:t>$\frac{n(n+1)}2-k-(k+1)=1224$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$n^2+n-4k=2450$</a:t>
                </a:r>
                <a:r>
                  <a:rPr sz="2400" b="0">
                    <a:solidFill>
                      <a:srgbClr val="111827"/>
                    </a:solidFill>
                    <a:latin typeface="Arial"/>
                  </a:rPr>
                  <a:t>, i.e. </a:t>
                </a:r>
                <a:r>
                  <a:rPr lang="en-IN" sz="2400">
                    <a:solidFill>
                      <a:srgbClr val="111827"/>
                    </a:solidFill>
                    <a:latin typeface="Cambria Math" panose="02040503050406030204" pitchFamily="18" charset="0"/>
                  </a:rPr>
                  <a:t>$n^2+n-2450=4k$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Factorising: </a:t>
                </a:r>
                <a:r>
                  <a:rPr lang="en-IN" sz="2400">
                    <a:solidFill>
                      <a:srgbClr val="111827"/>
                    </a:solidFill>
                    <a:latin typeface="Cambria Math" panose="02040503050406030204" pitchFamily="18" charset="0"/>
                  </a:rPr>
                  <a:t>$(n+50)(n-49)=4k$</a:t>
                </a:r>
                <a:r>
                  <a:rPr sz="2400" b="0">
                    <a:solidFill>
                      <a:srgbClr val="111827"/>
                    </a:solidFill>
                    <a:latin typeface="Arial"/>
                  </a:rPr>
                  <a:t>. Since </a:t>
                </a:r>
                <a:r>
                  <a:rPr lang="en-IN" sz="2400">
                    <a:solidFill>
                      <a:srgbClr val="111827"/>
                    </a:solidFill>
                    <a:latin typeface="Cambria Math" panose="02040503050406030204" pitchFamily="18" charset="0"/>
                  </a:rPr>
                  <a:t>$k&gt;0$</a:t>
                </a:r>
                <a:r>
                  <a:rPr sz="2400" b="0">
                    <a:solidFill>
                      <a:srgbClr val="111827"/>
                    </a:solidFill>
                    <a:latin typeface="Arial"/>
                  </a:rPr>
                  <a:t>, </a:t>
                </a:r>
                <a:r>
                  <a:rPr lang="en-IN" sz="2400">
                    <a:solidFill>
                      <a:srgbClr val="111827"/>
                    </a:solidFill>
                    <a:latin typeface="Cambria Math" panose="02040503050406030204" pitchFamily="18" charset="0"/>
                  </a:rPr>
                  <a:t>$n&gt;49$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product to be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must have the form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one factor is odd and the other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The smallest allowed value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1275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1224</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Next allowed value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𝑛</m:t>
                    </m:r>
                  </m:oMath>
                </a14:m>
                <a:r>
                  <a:rPr sz="2400" b="0">
                    <a:solidFill>
                      <a:srgbClr val="111827"/>
                    </a:solidFill>
                    <a:latin typeface="Arial"/>
                  </a:rPr>
                  <a:t> — impossible. For any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product to be divisible by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must have the form </a:t>
                </a:r>
                <a:r>
                  <a:rPr lang="en-IN" sz="2400">
                    <a:solidFill>
                      <a:srgbClr val="111827"/>
                    </a:solidFill>
                    <a:latin typeface="Cambria Math" panose="02040503050406030204" pitchFamily="18" charset="0"/>
                  </a:rPr>
                  <a:t>$4p+1$</a:t>
                </a:r>
                <a:r>
                  <a:rPr sz="2400" b="0">
                    <a:solidFill>
                      <a:srgbClr val="111827"/>
                    </a:solidFill>
                    <a:latin typeface="Arial"/>
                  </a:rPr>
                  <a:t> or </a:t>
                </a:r>
                <a:r>
                  <a:rPr lang="en-IN" sz="2400">
                    <a:solidFill>
                      <a:srgbClr val="111827"/>
                    </a:solidFill>
                    <a:latin typeface="Cambria Math" panose="02040503050406030204" pitchFamily="18" charset="0"/>
                  </a:rPr>
                  <a:t>$4p+2$</a:t>
                </a:r>
                <a:r>
                  <a:rPr sz="2400" b="0">
                    <a:solidFill>
                      <a:srgbClr val="111827"/>
                    </a:solidFill>
                    <a:latin typeface="Arial"/>
                  </a:rPr>
                  <a:t> (for </a:t>
                </a:r>
                <a:r>
                  <a:rPr lang="en-IN" sz="2400">
                    <a:solidFill>
                      <a:srgbClr val="111827"/>
                    </a:solidFill>
                    <a:latin typeface="Cambria Math" panose="02040503050406030204" pitchFamily="18" charset="0"/>
                  </a:rPr>
                  <a:t>$n=4p$</a:t>
                </a:r>
                <a:r>
                  <a:rPr sz="2400" b="0">
                    <a:solidFill>
                      <a:srgbClr val="111827"/>
                    </a:solidFill>
                    <a:latin typeface="Arial"/>
                  </a:rPr>
                  <a:t> or </a:t>
                </a:r>
                <a:r>
                  <a:rPr lang="en-IN" sz="2400">
                    <a:solidFill>
                      <a:srgbClr val="111827"/>
                    </a:solidFill>
                    <a:latin typeface="Cambria Math" panose="02040503050406030204" pitchFamily="18" charset="0"/>
                  </a:rPr>
                  <a:t>$4p+3$</a:t>
                </a:r>
                <a:r>
                  <a:rPr sz="2400" b="0">
                    <a:solidFill>
                      <a:srgbClr val="111827"/>
                    </a:solidFill>
                    <a:latin typeface="Arial"/>
                  </a:rPr>
                  <a:t> one factor is odd and the other is </a:t>
                </a:r>
                <a:r>
                  <a:rPr lang="en-IN" sz="2400">
                    <a:solidFill>
                      <a:srgbClr val="111827"/>
                    </a:solidFill>
                    <a:latin typeface="Cambria Math" panose="02040503050406030204" pitchFamily="18" charset="0"/>
                  </a:rPr>
                  <a:t>$2$</a:t>
                </a:r>
                <a:r>
                  <a:rPr sz="2400" b="0">
                    <a:solidFill>
                      <a:srgbClr val="111827"/>
                    </a:solidFill>
                    <a:latin typeface="Arial"/>
                  </a:rPr>
                  <a:t> mod </a:t>
                </a:r>
                <a:r>
                  <a:rPr lang="en-IN" sz="2400">
                    <a:solidFill>
                      <a:srgbClr val="111827"/>
                    </a:solidFill>
                    <a:latin typeface="Cambria Math" panose="02040503050406030204" pitchFamily="18" charset="0"/>
                  </a:rPr>
                  <a:t>$4$</a:t>
                </a:r>
                <a:r>
                  <a:rPr sz="2400" b="0">
                    <a:solidFill>
                      <a:srgbClr val="111827"/>
                    </a:solidFill>
                    <a:latin typeface="Arial"/>
                  </a:rPr>
                  <a:t>). The smallest allowed value is </a:t>
                </a:r>
                <a:r>
                  <a:rPr lang="en-IN" sz="2400">
                    <a:solidFill>
                      <a:srgbClr val="111827"/>
                    </a:solidFill>
                    <a:latin typeface="Cambria Math" panose="02040503050406030204" pitchFamily="18" charset="0"/>
                  </a:rPr>
                  <a:t>$n=50$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$n=50$</a:t>
                </a:r>
                <a:r>
                  <a:rPr sz="2400" b="0">
                    <a:solidFill>
                      <a:srgbClr val="111827"/>
                    </a:solidFill>
                    <a:latin typeface="Arial"/>
                  </a:rPr>
                  <a:t>: </a:t>
                </a:r>
                <a:r>
                  <a:rPr lang="en-IN" sz="2400">
                    <a:solidFill>
                      <a:srgbClr val="111827"/>
                    </a:solidFill>
                    <a:latin typeface="Cambria Math" panose="02040503050406030204" pitchFamily="18" charset="0"/>
                  </a:rPr>
                  <a:t>$4k=100\times1=100$</a:t>
                </a:r>
                <a:r>
                  <a:rPr sz="2400" b="0">
                    <a:solidFill>
                      <a:srgbClr val="111827"/>
                    </a:solidFill>
                    <a:latin typeface="Arial"/>
                  </a:rPr>
                  <a:t>, so </a:t>
                </a:r>
                <a:r>
                  <a:rPr lang="en-IN" sz="2400">
                    <a:solidFill>
                      <a:srgbClr val="111827"/>
                    </a:solidFill>
                    <a:latin typeface="Cambria Math" panose="02040503050406030204" pitchFamily="18" charset="0"/>
                  </a:rPr>
                  <a:t>$k=25$</a:t>
                </a:r>
                <a:r>
                  <a:rPr sz="2400" b="0">
                    <a:solidFill>
                      <a:srgbClr val="111827"/>
                    </a:solidFill>
                    <a:latin typeface="Arial"/>
                  </a:rPr>
                  <a:t>. Check: </a:t>
                </a:r>
                <a:r>
                  <a:rPr lang="en-IN" sz="2400">
                    <a:solidFill>
                      <a:srgbClr val="111827"/>
                    </a:solidFill>
                    <a:latin typeface="Cambria Math" panose="02040503050406030204" pitchFamily="18" charset="0"/>
                  </a:rPr>
                  <a:t>$1275-25-26=1224$</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Next allowed value </a:t>
                </a:r>
                <a:r>
                  <a:rPr lang="en-IN" sz="2400">
                    <a:solidFill>
                      <a:srgbClr val="111827"/>
                    </a:solidFill>
                    <a:latin typeface="Cambria Math" panose="02040503050406030204" pitchFamily="18" charset="0"/>
                  </a:rPr>
                  <a:t>$n=53$</a:t>
                </a:r>
                <a:r>
                  <a:rPr sz="2400" b="0">
                    <a:solidFill>
                      <a:srgbClr val="111827"/>
                    </a:solidFill>
                    <a:latin typeface="Arial"/>
                  </a:rPr>
                  <a:t>: </a:t>
                </a:r>
                <a:r>
                  <a:rPr lang="en-IN" sz="2400">
                    <a:solidFill>
                      <a:srgbClr val="111827"/>
                    </a:solidFill>
                    <a:latin typeface="Cambria Math" panose="02040503050406030204" pitchFamily="18" charset="0"/>
                  </a:rPr>
                  <a:t>$4k=103\times4$</a:t>
                </a:r>
                <a:r>
                  <a:rPr sz="2400" b="0">
                    <a:solidFill>
                      <a:srgbClr val="111827"/>
                    </a:solidFill>
                    <a:latin typeface="Arial"/>
                  </a:rPr>
                  <a:t>, so </a:t>
                </a:r>
                <a:r>
                  <a:rPr lang="en-IN" sz="2400">
                    <a:solidFill>
                      <a:srgbClr val="111827"/>
                    </a:solidFill>
                    <a:latin typeface="Cambria Math" panose="02040503050406030204" pitchFamily="18" charset="0"/>
                  </a:rPr>
                  <a:t>$k=103&gt;n$</a:t>
                </a:r>
                <a:r>
                  <a:rPr sz="2400" b="0">
                    <a:solidFill>
                      <a:srgbClr val="111827"/>
                    </a:solidFill>
                    <a:latin typeface="Arial"/>
                  </a:rPr>
                  <a:t> — impossible. For any </a:t>
                </a:r>
                <a:r>
                  <a:rPr lang="en-IN" sz="2400">
                    <a:solidFill>
                      <a:srgbClr val="111827"/>
                    </a:solidFill>
                    <a:latin typeface="Cambria Math" panose="02040503050406030204" pitchFamily="18" charset="0"/>
                  </a:rPr>
                  <a:t>$n\ge53$</a:t>
                </a:r>
                <a:r>
                  <a:rPr sz="2400" b="0">
                    <a:solidFill>
                      <a:srgbClr val="111827"/>
                    </a:solidFill>
                    <a:latin typeface="Arial"/>
                  </a:rPr>
                  <a:t>, </a:t>
                </a:r>
                <a:r>
                  <a:rPr lang="en-IN" sz="2400">
                    <a:solidFill>
                      <a:srgbClr val="111827"/>
                    </a:solidFill>
                    <a:latin typeface="Cambria Math" panose="02040503050406030204" pitchFamily="18" charset="0"/>
                  </a:rPr>
                  <a:t>$(n+50)(n-49)\ge4(n+50)&gt;4(n-1)$</a:t>
                </a:r>
                <a:r>
                  <a:rPr sz="2400" b="0">
                    <a:solidFill>
                      <a:srgbClr val="111827"/>
                    </a:solidFill>
                    <a:latin typeface="Arial"/>
                  </a:rPr>
                  <a:t>, so </a:t>
                </a:r>
                <a:r>
                  <a:rPr lang="en-IN" sz="2400">
                    <a:solidFill>
                      <a:srgbClr val="111827"/>
                    </a:solidFill>
                    <a:latin typeface="Cambria Math" panose="02040503050406030204" pitchFamily="18" charset="0"/>
                  </a:rPr>
                  <a:t>$k&gt;n-1$</a:t>
                </a:r>
                <a:r>
                  <a:rPr sz="2400" b="0">
                    <a:solidFill>
                      <a:srgbClr val="111827"/>
                    </a:solidFill>
                    <a:latin typeface="Arial"/>
                  </a:rPr>
                  <a:t>: not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$k=25$</a:t>
                </a:r>
                <a:r>
                  <a:rPr sz="2400" b="0">
                    <a:solidFill>
                      <a:srgbClr val="111827"/>
                    </a:solidFill>
                    <a:latin typeface="Arial"/>
                  </a:rPr>
                  <a:t> and </a:t>
                </a:r>
                <a:r>
                  <a:rPr lang="en-IN" sz="2400">
                    <a:solidFill>
                      <a:srgbClr val="111827"/>
                    </a:solidFill>
                    <a:latin typeface="Cambria Math" panose="02040503050406030204" pitchFamily="18" charset="0"/>
                  </a:rPr>
                  <a:t>$k-20=5$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two removed cards add up to between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this squeezes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into a single value.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two removed cards add up to between </a:t>
                </a:r>
                <a:r>
                  <a:rPr lang="en-IN" sz="2400">
                    <a:solidFill>
                      <a:srgbClr val="78350F"/>
                    </a:solidFill>
                    <a:latin typeface="Cambria Math" panose="02040503050406030204" pitchFamily="18" charset="0"/>
                  </a:rPr>
                  <a:t>$3$</a:t>
                </a:r>
                <a:r>
                  <a:rPr sz="2400" b="0">
                    <a:solidFill>
                      <a:srgbClr val="78350F"/>
                    </a:solidFill>
                    <a:latin typeface="Arial"/>
                  </a:rPr>
                  <a:t> and </a:t>
                </a:r>
                <a:r>
                  <a:rPr lang="en-IN" sz="2400">
                    <a:solidFill>
                      <a:srgbClr val="78350F"/>
                    </a:solidFill>
                    <a:latin typeface="Cambria Math" panose="02040503050406030204" pitchFamily="18" charset="0"/>
                  </a:rPr>
                  <a:t>$2n-1$</a:t>
                </a:r>
                <a:r>
                  <a:rPr sz="2400" b="0">
                    <a:solidFill>
                      <a:srgbClr val="78350F"/>
                    </a:solidFill>
                    <a:latin typeface="Arial"/>
                  </a:rPr>
                  <a:t>; this squeezes </a:t>
                </a:r>
                <a:r>
                  <a:rPr lang="en-IN" sz="2400">
                    <a:solidFill>
                      <a:srgbClr val="78350F"/>
                    </a:solidFill>
                    <a:latin typeface="Cambria Math" panose="02040503050406030204" pitchFamily="18" charset="0"/>
                  </a:rPr>
                  <a:t>$n$</a:t>
                </a:r>
                <a:r>
                  <a:rPr sz="2400" b="0">
                    <a:solidFill>
                      <a:srgbClr val="78350F"/>
                    </a:solidFill>
                    <a:latin typeface="Arial"/>
                  </a:rPr>
                  <a:t> into a single value.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removed cards add up to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different numbers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add to at least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most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2454</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2454</m:t>
                    </m:r>
                  </m:oMath>
                </a14:m>
                <a:r>
                  <a:rPr sz="2400" b="0">
                    <a:solidFill>
                      <a:srgbClr val="111827"/>
                    </a:solidFill>
                    <a:latin typeface="Arial"/>
                  </a:rPr>
                  <a:t>, we need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removed cards add up to </a:t>
                </a:r>
                <a:r>
                  <a:rPr lang="en-IN" sz="2400">
                    <a:solidFill>
                      <a:srgbClr val="111827"/>
                    </a:solidFill>
                    <a:latin typeface="Cambria Math" panose="02040503050406030204" pitchFamily="18" charset="0"/>
                  </a:rPr>
                  <a:t>$r=2k+1$</a:t>
                </a:r>
                <a:r>
                  <a:rPr sz="2400" b="0">
                    <a:solidFill>
                      <a:srgbClr val="111827"/>
                    </a:solidFill>
                    <a:latin typeface="Arial"/>
                  </a:rPr>
                  <a:t>. Then </a:t>
                </a:r>
                <a:r>
                  <a:rPr lang="en-IN" sz="2400">
                    <a:solidFill>
                      <a:srgbClr val="111827"/>
                    </a:solidFill>
                    <a:latin typeface="Cambria Math" panose="02040503050406030204" pitchFamily="18" charset="0"/>
                  </a:rPr>
                  <a:t>$r=\frac{n(n+1)}2-1224$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different numbers from </a:t>
                </a:r>
                <a:r>
                  <a:rPr lang="en-IN" sz="2400">
                    <a:solidFill>
                      <a:srgbClr val="111827"/>
                    </a:solidFill>
                    <a:latin typeface="Cambria Math" panose="02040503050406030204" pitchFamily="18" charset="0"/>
                  </a:rPr>
                  <a:t>$1,\ldots,n$</a:t>
                </a:r>
                <a:r>
                  <a:rPr sz="2400" b="0">
                    <a:solidFill>
                      <a:srgbClr val="111827"/>
                    </a:solidFill>
                    <a:latin typeface="Arial"/>
                  </a:rPr>
                  <a:t> add to at least </a:t>
                </a:r>
                <a:r>
                  <a:rPr lang="en-IN" sz="2400">
                    <a:solidFill>
                      <a:srgbClr val="111827"/>
                    </a:solidFill>
                    <a:latin typeface="Cambria Math" panose="02040503050406030204" pitchFamily="18" charset="0"/>
                  </a:rPr>
                  <a:t>$1+2=3$</a:t>
                </a:r>
                <a:r>
                  <a:rPr sz="2400" b="0">
                    <a:solidFill>
                      <a:srgbClr val="111827"/>
                    </a:solidFill>
                    <a:latin typeface="Arial"/>
                  </a:rPr>
                  <a:t> and at most </a:t>
                </a:r>
                <a:r>
                  <a:rPr lang="en-IN" sz="2400">
                    <a:solidFill>
                      <a:srgbClr val="111827"/>
                    </a:solidFill>
                    <a:latin typeface="Cambria Math" panose="02040503050406030204" pitchFamily="18" charset="0"/>
                  </a:rPr>
                  <a:t>$(n-1)+n=2n-1$</a:t>
                </a:r>
                <a:r>
                  <a:rPr sz="2400" b="0">
                    <a:solidFill>
                      <a:srgbClr val="111827"/>
                    </a:solidFill>
                    <a:latin typeface="Arial"/>
                  </a:rPr>
                  <a:t>: </a:t>
                </a:r>
                <a:r>
                  <a:rPr lang="en-IN" sz="2400">
                    <a:solidFill>
                      <a:srgbClr val="111827"/>
                    </a:solidFill>
                    <a:latin typeface="Cambria Math" panose="02040503050406030204" pitchFamily="18" charset="0"/>
                  </a:rPr>
                  <a:t>$3\le r\le2n-1$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$r\ge3$</a:t>
                </a:r>
                <a:r>
                  <a:rPr sz="2400" b="0">
                    <a:solidFill>
                      <a:srgbClr val="111827"/>
                    </a:solidFill>
                    <a:latin typeface="Arial"/>
                  </a:rPr>
                  <a:t> gives </a:t>
                </a:r>
                <a:r>
                  <a:rPr lang="en-IN" sz="2400">
                    <a:solidFill>
                      <a:srgbClr val="111827"/>
                    </a:solidFill>
                    <a:latin typeface="Cambria Math" panose="02040503050406030204" pitchFamily="18" charset="0"/>
                  </a:rPr>
                  <a:t>$n(n+1)\ge2454$</a:t>
                </a:r>
                <a:r>
                  <a:rPr sz="2400" b="0">
                    <a:solidFill>
                      <a:srgbClr val="111827"/>
                    </a:solidFill>
                    <a:latin typeface="Arial"/>
                  </a:rPr>
                  <a:t>. Since </a:t>
                </a:r>
                <a:r>
                  <a:rPr lang="en-IN" sz="2400">
                    <a:solidFill>
                      <a:srgbClr val="111827"/>
                    </a:solidFill>
                    <a:latin typeface="Cambria Math" panose="02040503050406030204" pitchFamily="18" charset="0"/>
                  </a:rPr>
                  <a:t>$49\cdot50=2450&lt;2454$</a:t>
                </a:r>
                <a:r>
                  <a:rPr sz="2400" b="0">
                    <a:solidFill>
                      <a:srgbClr val="111827"/>
                    </a:solidFill>
                    <a:latin typeface="Arial"/>
                  </a:rPr>
                  <a:t>, we need </a:t>
                </a:r>
                <a:r>
                  <a:rPr lang="en-IN" sz="2400">
                    <a:solidFill>
                      <a:srgbClr val="111827"/>
                    </a:solidFill>
                    <a:latin typeface="Cambria Math" panose="02040503050406030204" pitchFamily="18" charset="0"/>
                  </a:rPr>
                  <a:t>$n\ge50$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2446</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2350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2446</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2448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2446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exactly. The removed sum is </a:t>
                </a:r>
                <a14:m>
                  <m:oMath xmlns:m="http://schemas.openxmlformats.org/officeDocument/2006/math">
                    <m:r>
                      <a:rPr lang="en-IN" sz="2400" i="1">
                        <a:solidFill>
                          <a:srgbClr val="111827"/>
                        </a:solidFill>
                        <a:latin typeface="Cambria Math" panose="02040503050406030204" pitchFamily="18" charset="0"/>
                      </a:rPr>
                      <m:t>1275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$r\le2n-1$</a:t>
                </a:r>
                <a:r>
                  <a:rPr sz="2400" b="0">
                    <a:solidFill>
                      <a:srgbClr val="111827"/>
                    </a:solidFill>
                    <a:latin typeface="Arial"/>
                  </a:rPr>
                  <a:t> gives </a:t>
                </a:r>
                <a:r>
                  <a:rPr lang="en-IN" sz="2400">
                    <a:solidFill>
                      <a:srgbClr val="111827"/>
                    </a:solidFill>
                    <a:latin typeface="Cambria Math" panose="02040503050406030204" pitchFamily="18" charset="0"/>
                  </a:rPr>
                  <a:t>$\frac{n(n+1)}2-1224\le2n-1$</a:t>
                </a:r>
                <a:r>
                  <a:rPr sz="2400" b="0">
                    <a:solidFill>
                      <a:srgbClr val="111827"/>
                    </a:solidFill>
                    <a:latin typeface="Arial"/>
                  </a:rPr>
                  <a:t>, i.e. </a:t>
                </a:r>
                <a:r>
                  <a:rPr lang="en-IN" sz="2400">
                    <a:solidFill>
                      <a:srgbClr val="111827"/>
                    </a:solidFill>
                    <a:latin typeface="Cambria Math" panose="02040503050406030204" pitchFamily="18" charset="0"/>
                  </a:rPr>
                  <a:t>$n^2-3n\le2446$</a:t>
                </a:r>
                <a:r>
                  <a:rPr sz="2400" b="0">
                    <a:solidFill>
                      <a:srgbClr val="111827"/>
                    </a:solidFill>
                    <a:latin typeface="Arial"/>
                  </a:rPr>
                  <a:t>. For </a:t>
                </a:r>
                <a:r>
                  <a:rPr lang="en-IN" sz="2400">
                    <a:solidFill>
                      <a:srgbClr val="111827"/>
                    </a:solidFill>
                    <a:latin typeface="Cambria Math" panose="02040503050406030204" pitchFamily="18" charset="0"/>
                  </a:rPr>
                  <a:t>$n=50$</a:t>
                </a:r>
                <a:r>
                  <a:rPr sz="2400" b="0">
                    <a:solidFill>
                      <a:srgbClr val="111827"/>
                    </a:solidFill>
                    <a:latin typeface="Arial"/>
                  </a:rPr>
                  <a:t>: </a:t>
                </a:r>
                <a:r>
                  <a:rPr lang="en-IN" sz="2400">
                    <a:solidFill>
                      <a:srgbClr val="111827"/>
                    </a:solidFill>
                    <a:latin typeface="Cambria Math" panose="02040503050406030204" pitchFamily="18" charset="0"/>
                  </a:rPr>
                  <a:t>$2350\le2446$</a:t>
                </a:r>
                <a:r>
                  <a:rPr sz="2400" b="0">
                    <a:solidFill>
                      <a:srgbClr val="111827"/>
                    </a:solidFill>
                    <a:latin typeface="Arial"/>
                  </a:rPr>
                  <a:t>; for </a:t>
                </a:r>
                <a:r>
                  <a:rPr lang="en-IN" sz="2400">
                    <a:solidFill>
                      <a:srgbClr val="111827"/>
                    </a:solidFill>
                    <a:latin typeface="Cambria Math" panose="02040503050406030204" pitchFamily="18" charset="0"/>
                  </a:rPr>
                  <a:t>$n=51$</a:t>
                </a:r>
                <a:r>
                  <a:rPr sz="2400" b="0">
                    <a:solidFill>
                      <a:srgbClr val="111827"/>
                    </a:solidFill>
                    <a:latin typeface="Arial"/>
                  </a:rPr>
                  <a:t>: </a:t>
                </a:r>
                <a:r>
                  <a:rPr lang="en-IN" sz="2400">
                    <a:solidFill>
                      <a:srgbClr val="111827"/>
                    </a:solidFill>
                    <a:latin typeface="Cambria Math" panose="02040503050406030204" pitchFamily="18" charset="0"/>
                  </a:rPr>
                  <a:t>$2448&gt;2446$</a:t>
                </a:r>
                <a:r>
                  <a:rPr sz="2400" b="0">
                    <a:solidFill>
                      <a:srgbClr val="111827"/>
                    </a:solidFill>
                    <a:latin typeface="Arial"/>
                  </a:rPr>
                  <a:t>. So </a:t>
                </a:r>
                <a:r>
                  <a:rPr lang="en-IN" sz="2400">
                    <a:solidFill>
                      <a:srgbClr val="111827"/>
                    </a:solidFill>
                    <a:latin typeface="Cambria Math" panose="02040503050406030204" pitchFamily="18" charset="0"/>
                  </a:rPr>
                  <a:t>$n\le50$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$n=50$</a:t>
                </a:r>
                <a:r>
                  <a:rPr sz="2400" b="0">
                    <a:solidFill>
                      <a:srgbClr val="111827"/>
                    </a:solidFill>
                    <a:latin typeface="Arial"/>
                  </a:rPr>
                  <a:t> exactly. The removed sum is </a:t>
                </a:r>
                <a:r>
                  <a:rPr lang="en-IN" sz="2400">
                    <a:solidFill>
                      <a:srgbClr val="111827"/>
                    </a:solidFill>
                    <a:latin typeface="Cambria Math" panose="02040503050406030204" pitchFamily="18" charset="0"/>
                  </a:rPr>
                  <a:t>$1275-1224=51=2k+1$</a:t>
                </a:r>
                <a:r>
                  <a:rPr sz="2400" b="0">
                    <a:solidFill>
                      <a:srgbClr val="111827"/>
                    </a:solidFill>
                    <a:latin typeface="Arial"/>
                  </a:rPr>
                  <a:t>, so </a:t>
                </a:r>
                <a:r>
                  <a:rPr lang="en-IN" sz="2400">
                    <a:solidFill>
                      <a:srgbClr val="111827"/>
                    </a:solidFill>
                    <a:latin typeface="Cambria Math" panose="02040503050406030204" pitchFamily="18" charset="0"/>
                  </a:rPr>
                  <a:t>$k=25$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$k-20=5$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removed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the rest sum to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2450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distinct removed cards sum to a value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Together with the known total this traps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between two consecutive values: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1227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1275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such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only for particular residues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use residues to prune cases.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$k,k+1$</a:t>
                </a:r>
                <a:r>
                  <a:rPr sz="2400" b="0">
                    <a:solidFill>
                      <a:srgbClr val="111827"/>
                    </a:solidFill>
                    <a:latin typeface="Arial"/>
                  </a:rPr>
                  <a:t> are removed from </a:t>
                </a:r>
                <a:r>
                  <a:rPr lang="en-IN" sz="2400">
                    <a:solidFill>
                      <a:srgbClr val="111827"/>
                    </a:solidFill>
                    <a:latin typeface="Cambria Math" panose="02040503050406030204" pitchFamily="18" charset="0"/>
                  </a:rPr>
                  <a:t>$1,\ldots,n$</a:t>
                </a:r>
                <a:r>
                  <a:rPr sz="2400" b="0">
                    <a:solidFill>
                      <a:srgbClr val="111827"/>
                    </a:solidFill>
                    <a:latin typeface="Arial"/>
                  </a:rPr>
                  <a:t> and the rest sum to </a:t>
                </a:r>
                <a:r>
                  <a:rPr lang="en-IN" sz="2400">
                    <a:solidFill>
                      <a:srgbClr val="111827"/>
                    </a:solidFill>
                    <a:latin typeface="Cambria Math" panose="02040503050406030204" pitchFamily="18" charset="0"/>
                  </a:rPr>
                  <a:t>$S$</a:t>
                </a:r>
                <a:r>
                  <a:rPr sz="2400" b="0">
                    <a:solidFill>
                      <a:srgbClr val="111827"/>
                    </a:solidFill>
                    <a:latin typeface="Arial"/>
                  </a:rPr>
                  <a:t>, then </a:t>
                </a:r>
                <a:r>
                  <a:rPr lang="en-IN" sz="2400">
                    <a:solidFill>
                      <a:srgbClr val="111827"/>
                    </a:solidFill>
                    <a:latin typeface="Cambria Math" panose="02040503050406030204" pitchFamily="18" charset="0"/>
                  </a:rPr>
                  <a:t>$n^2+n-4k=2S+2$</a:t>
                </a:r>
                <a:r>
                  <a:rPr sz="2400" b="0">
                    <a:solidFill>
                      <a:srgbClr val="111827"/>
                    </a:solidFill>
                    <a:latin typeface="Arial"/>
                  </a:rPr>
                  <a:t>; here </a:t>
                </a:r>
                <a:r>
                  <a:rPr lang="en-IN" sz="2400">
                    <a:solidFill>
                      <a:srgbClr val="111827"/>
                    </a:solidFill>
                    <a:latin typeface="Cambria Math" panose="02040503050406030204" pitchFamily="18" charset="0"/>
                  </a:rPr>
                  <a:t>$S=1224$</a:t>
                </a:r>
                <a:r>
                  <a:rPr sz="2400" b="0">
                    <a:solidFill>
                      <a:srgbClr val="111827"/>
                    </a:solidFill>
                    <a:latin typeface="Arial"/>
                  </a:rPr>
                  <a:t> gives </a:t>
                </a:r>
                <a:r>
                  <a:rPr lang="en-IN" sz="2400">
                    <a:solidFill>
                      <a:srgbClr val="111827"/>
                    </a:solidFill>
                    <a:latin typeface="Cambria Math" panose="02040503050406030204" pitchFamily="18" charset="0"/>
                  </a:rPr>
                  <a:t>$2450$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distinct removed cards sum to a value in </a:t>
                </a:r>
                <a:r>
                  <a:rPr lang="en-IN" sz="2400">
                    <a:solidFill>
                      <a:srgbClr val="111827"/>
                    </a:solidFill>
                    <a:latin typeface="Cambria Math" panose="02040503050406030204" pitchFamily="18" charset="0"/>
                  </a:rPr>
                  <a:t>$[3,2n-1]$</a:t>
                </a:r>
                <a:r>
                  <a:rPr sz="2400" b="0">
                    <a:solidFill>
                      <a:srgbClr val="111827"/>
                    </a:solidFill>
                    <a:latin typeface="Arial"/>
                  </a:rPr>
                  <a:t>. Together with the known total this traps </a:t>
                </a:r>
                <a:r>
                  <a:rPr lang="en-IN" sz="2400">
                    <a:solidFill>
                      <a:srgbClr val="111827"/>
                    </a:solidFill>
                    <a:latin typeface="Cambria Math" panose="02040503050406030204" pitchFamily="18" charset="0"/>
                  </a:rPr>
                  <a:t>$n$</a:t>
                </a:r>
                <a:r>
                  <a:rPr sz="2400" b="0">
                    <a:solidFill>
                      <a:srgbClr val="111827"/>
                    </a:solidFill>
                    <a:latin typeface="Arial"/>
                  </a:rPr>
                  <a:t> between two consecutive values: </a:t>
                </a:r>
                <a:r>
                  <a:rPr lang="en-IN" sz="2400">
                    <a:solidFill>
                      <a:srgbClr val="111827"/>
                    </a:solidFill>
                    <a:latin typeface="Cambria Math" panose="02040503050406030204" pitchFamily="18" charset="0"/>
                  </a:rPr>
                  <a:t>$\frac{49\cdot50}2=1225&lt;1227$</a:t>
                </a:r>
                <a:r>
                  <a:rPr sz="2400" b="0">
                    <a:solidFill>
                      <a:srgbClr val="111827"/>
                    </a:solidFill>
                    <a:latin typeface="Arial"/>
                  </a:rPr>
                  <a:t> and </a:t>
                </a:r>
                <a:r>
                  <a:rPr lang="en-IN" sz="2400">
                    <a:solidFill>
                      <a:srgbClr val="111827"/>
                    </a:solidFill>
                    <a:latin typeface="Cambria Math" panose="02040503050406030204" pitchFamily="18" charset="0"/>
                  </a:rPr>
                  <a:t>$n=50$</a:t>
                </a:r>
                <a:r>
                  <a:rPr sz="2400" b="0">
                    <a:solidFill>
                      <a:srgbClr val="111827"/>
                    </a:solidFill>
                    <a:latin typeface="Arial"/>
                  </a:rPr>
                  <a:t> gives </a:t>
                </a:r>
                <a:r>
                  <a:rPr lang="en-IN" sz="2400">
                    <a:solidFill>
                      <a:srgbClr val="111827"/>
                    </a:solidFill>
                    <a:latin typeface="Cambria Math" panose="02040503050406030204" pitchFamily="18" charset="0"/>
                  </a:rPr>
                  <a:t>$1275$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such as </a:t>
                </a:r>
                <a:r>
                  <a:rPr lang="en-IN" sz="2400">
                    <a:solidFill>
                      <a:srgbClr val="111827"/>
                    </a:solidFill>
                    <a:latin typeface="Cambria Math" panose="02040503050406030204" pitchFamily="18" charset="0"/>
                  </a:rPr>
                  <a:t>$(n+50)(n-49)$</a:t>
                </a:r>
                <a:r>
                  <a:rPr sz="2400" b="0">
                    <a:solidFill>
                      <a:srgbClr val="111827"/>
                    </a:solidFill>
                    <a:latin typeface="Arial"/>
                  </a:rPr>
                  <a:t> is divisible by </a:t>
                </a:r>
                <a:r>
                  <a:rPr lang="en-IN" sz="2400">
                    <a:solidFill>
                      <a:srgbClr val="111827"/>
                    </a:solidFill>
                    <a:latin typeface="Cambria Math" panose="02040503050406030204" pitchFamily="18" charset="0"/>
                  </a:rPr>
                  <a:t>$4$</a:t>
                </a:r>
                <a:r>
                  <a:rPr sz="2400" b="0">
                    <a:solidFill>
                      <a:srgbClr val="111827"/>
                    </a:solidFill>
                    <a:latin typeface="Arial"/>
                  </a:rPr>
                  <a:t> only for particular residues of </a:t>
                </a:r>
                <a:r>
                  <a:rPr lang="en-IN" sz="2400">
                    <a:solidFill>
                      <a:srgbClr val="111827"/>
                    </a:solidFill>
                    <a:latin typeface="Cambria Math" panose="02040503050406030204" pitchFamily="18" charset="0"/>
                  </a:rPr>
                  <a:t>$n$</a:t>
                </a:r>
                <a:r>
                  <a:rPr sz="2400" b="0">
                    <a:solidFill>
                      <a:srgbClr val="111827"/>
                    </a:solidFill>
                    <a:latin typeface="Arial"/>
                  </a:rPr>
                  <a:t> mod </a:t>
                </a:r>
                <a:r>
                  <a:rPr lang="en-IN" sz="2400">
                    <a:solidFill>
                      <a:srgbClr val="111827"/>
                    </a:solidFill>
                    <a:latin typeface="Cambria Math" panose="02040503050406030204" pitchFamily="18" charset="0"/>
                  </a:rPr>
                  <a:t>$4$</a:t>
                </a:r>
                <a:r>
                  <a:rPr sz="2400" b="0">
                    <a:solidFill>
                      <a:srgbClr val="111827"/>
                    </a:solidFill>
                    <a:latin typeface="Arial"/>
                  </a:rPr>
                  <a:t>; use residues to prune cases.</a:t>
                </a:r>
                <a:endParaRPr sz="2400">
                  <a:solidFill>
                    <a:srgbClr val="111827"/>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One or more than one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or more options may be correct</a:t>
            </a:r>
            <a:endParaRPr sz="2800">
              <a:solidFill>
                <a:srgbClr val="FFFFFF"/>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sup>
                    </m:sSup>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can take value(s):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1056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1088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1120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1332</m:t>
                    </m:r>
                  </m:oMath>
                </a14:m>
                <a:endParaRPr sz="2400">
                  <a:solidFill>
                    <a:srgbClr val="111827"/>
                  </a:solidFill>
                </a:endParaRPr>
              </a:p>
            </p:txBody>
          </p:sp>
        </mc:Choice>
        <mc:Fallback>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$S_n=\sum_{k=1}^{4n}(-1)^{\frac{k(k+1)}2}k^2$</a:t>
                </a:r>
                <a:r>
                  <a:rPr sz="2400" b="0">
                    <a:solidFill>
                      <a:srgbClr val="111827"/>
                    </a:solidFill>
                    <a:latin typeface="Arial"/>
                  </a:rPr>
                  <a:t>. Then </a:t>
                </a:r>
                <a:r>
                  <a:rPr lang="en-IN" sz="2400">
                    <a:solidFill>
                      <a:srgbClr val="111827"/>
                    </a:solidFill>
                    <a:latin typeface="Cambria Math" panose="02040503050406030204" pitchFamily="18" charset="0"/>
                  </a:rPr>
                  <a:t>$S_n$</a:t>
                </a:r>
                <a:r>
                  <a:rPr sz="2400" b="0">
                    <a:solidFill>
                      <a:srgbClr val="111827"/>
                    </a:solidFill>
                    <a:latin typeface="Arial"/>
                  </a:rPr>
                  <a:t> can take value(s):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$1056$</a:t>
                </a:r>
                <a:r>
                  <a:rPr sz="2400" b="0">
                    <a:solidFill>
                      <a:srgbClr val="111827"/>
                    </a:solidFill>
                    <a:latin typeface="Arial"/>
                  </a:rPr>
                  <a:t>   (B) </a:t>
                </a:r>
                <a:r>
                  <a:rPr lang="en-IN" sz="2400">
                    <a:solidFill>
                      <a:srgbClr val="111827"/>
                    </a:solidFill>
                    <a:latin typeface="Cambria Math" panose="02040503050406030204" pitchFamily="18" charset="0"/>
                  </a:rPr>
                  <a:t>$1088$</a:t>
                </a:r>
                <a:r>
                  <a:rPr sz="2400" b="0">
                    <a:solidFill>
                      <a:srgbClr val="111827"/>
                    </a:solidFill>
                    <a:latin typeface="Arial"/>
                  </a:rPr>
                  <a:t>   (C) </a:t>
                </a:r>
                <a:r>
                  <a:rPr lang="en-IN" sz="2400">
                    <a:solidFill>
                      <a:srgbClr val="111827"/>
                    </a:solidFill>
                    <a:latin typeface="Cambria Math" panose="02040503050406030204" pitchFamily="18" charset="0"/>
                  </a:rPr>
                  <a:t>$1120$</a:t>
                </a:r>
                <a:r>
                  <a:rPr sz="2400" b="0">
                    <a:solidFill>
                      <a:srgbClr val="111827"/>
                    </a:solidFill>
                    <a:latin typeface="Arial"/>
                  </a:rPr>
                  <a:t>   (D) </a:t>
                </a:r>
                <a:r>
                  <a:rPr lang="en-IN" sz="2400">
                    <a:solidFill>
                      <a:srgbClr val="111827"/>
                    </a:solidFill>
                    <a:latin typeface="Cambria Math" panose="02040503050406030204" pitchFamily="18" charset="0"/>
                  </a:rPr>
                  <a:t>$1332$</a:t>
                </a:r>
                <a:endParaRPr sz="2400">
                  <a:solidFill>
                    <a:srgbClr val="111827"/>
                  </a:solidFill>
                </a:endParaRPr>
              </a:p>
            </p:txBody>
          </p:sp>
        </mc:Fallback>
      </mc:AlternateContent>
      <p:sp>
        <p:nvSpPr>
          <p:cNvPr id="5" name="Rectangle 4"/>
          <p:cNvSpPr/>
          <p:nvPr/>
        </p:nvSpPr>
        <p:spPr>
          <a:xfrm>
            <a:off x="731520" y="33182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series with alternating sign pattern using A.P. sums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sign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oMath>
                </a14:m>
                <a:r>
                  <a:rPr sz="2400" b="0">
                    <a:solidFill>
                      <a:srgbClr val="78350F"/>
                    </a:solidFill>
                    <a:latin typeface="Arial"/>
                  </a:rPr>
                  <a:t> repeats as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group four terms at a time and use differences of squares.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sign </a:t>
                </a:r>
                <a:r>
                  <a:rPr lang="en-IN" sz="2400">
                    <a:solidFill>
                      <a:srgbClr val="78350F"/>
                    </a:solidFill>
                    <a:latin typeface="Cambria Math" panose="02040503050406030204" pitchFamily="18" charset="0"/>
                  </a:rPr>
                  <a:t>$(-1)^{k(k+1)/2}$</a:t>
                </a:r>
                <a:r>
                  <a:rPr sz="2400" b="0">
                    <a:solidFill>
                      <a:srgbClr val="78350F"/>
                    </a:solidFill>
                    <a:latin typeface="Arial"/>
                  </a:rPr>
                  <a:t> repeats as </a:t>
                </a:r>
                <a:r>
                  <a:rPr lang="en-IN" sz="2400">
                    <a:solidFill>
                      <a:srgbClr val="78350F"/>
                    </a:solidFill>
                    <a:latin typeface="Cambria Math" panose="02040503050406030204" pitchFamily="18" charset="0"/>
                  </a:rPr>
                  <a:t>$-,-,+,+$</a:t>
                </a:r>
                <a:r>
                  <a:rPr sz="2400" b="0">
                    <a:solidFill>
                      <a:srgbClr val="78350F"/>
                    </a:solidFill>
                    <a:latin typeface="Arial"/>
                  </a:rPr>
                  <a:t>, so group four terms at a time and use differences of squares.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exponents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so the signs are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Regroup: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bracket is a difference of squares: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terms inside.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into two A.P.s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each, both with common difference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exponents </a:t>
                </a:r>
                <a:r>
                  <a:rPr lang="en-IN" sz="2400">
                    <a:solidFill>
                      <a:srgbClr val="111827"/>
                    </a:solidFill>
                    <a:latin typeface="Cambria Math" panose="02040503050406030204" pitchFamily="18" charset="0"/>
                  </a:rPr>
                  <a:t>$\frac{k(k+1)}2$</a:t>
                </a:r>
                <a:r>
                  <a:rPr sz="2400" b="0">
                    <a:solidFill>
                      <a:srgbClr val="111827"/>
                    </a:solidFill>
                    <a:latin typeface="Arial"/>
                  </a:rPr>
                  <a:t> for </a:t>
                </a:r>
                <a:r>
                  <a:rPr lang="en-IN" sz="2400">
                    <a:solidFill>
                      <a:srgbClr val="111827"/>
                    </a:solidFill>
                    <a:latin typeface="Cambria Math" panose="02040503050406030204" pitchFamily="18" charset="0"/>
                  </a:rPr>
                  <a:t>$k=1,\ldots,8$</a:t>
                </a:r>
                <a:r>
                  <a:rPr sz="2400" b="0">
                    <a:solidFill>
                      <a:srgbClr val="111827"/>
                    </a:solidFill>
                    <a:latin typeface="Arial"/>
                  </a:rPr>
                  <a:t> are </a:t>
                </a:r>
                <a:r>
                  <a:rPr lang="en-IN" sz="2400">
                    <a:solidFill>
                      <a:srgbClr val="111827"/>
                    </a:solidFill>
                    <a:latin typeface="Cambria Math" panose="02040503050406030204" pitchFamily="18" charset="0"/>
                  </a:rPr>
                  <a:t>$1,3,6,10,15,21,28,36$</a:t>
                </a:r>
                <a:r>
                  <a:rPr sz="2400" b="0">
                    <a:solidFill>
                      <a:srgbClr val="111827"/>
                    </a:solidFill>
                    <a:latin typeface="Arial"/>
                  </a:rPr>
                  <a:t>, so the signs are </a:t>
                </a:r>
                <a:r>
                  <a:rPr lang="en-IN" sz="2400">
                    <a:solidFill>
                      <a:srgbClr val="111827"/>
                    </a:solidFill>
                    <a:latin typeface="Cambria Math" panose="02040503050406030204" pitchFamily="18" charset="0"/>
                  </a:rPr>
                  <a: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$S_n=-1^2-2^2+3^2+4^2-5^2-6^2+7^2+8^2+\cdots$</a:t>
                </a:r>
                <a:r>
                  <a:rPr sz="2400" b="0">
                    <a:solidFill>
                      <a:srgbClr val="111827"/>
                    </a:solidFill>
                    <a:latin typeface="Arial"/>
                  </a:rPr>
                  <a:t> (up to </a:t>
                </a:r>
                <a:r>
                  <a:rPr lang="en-IN" sz="2400">
                    <a:solidFill>
                      <a:srgbClr val="111827"/>
                    </a:solidFill>
                    <a:latin typeface="Cambria Math" panose="02040503050406030204" pitchFamily="18" charset="0"/>
                  </a:rPr>
                  <a:t>$k=4n$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Regroup: </a:t>
                </a:r>
                <a:r>
                  <a:rPr lang="en-IN" sz="2400">
                    <a:solidFill>
                      <a:srgbClr val="111827"/>
                    </a:solidFill>
                    <a:latin typeface="Cambria Math" panose="02040503050406030204" pitchFamily="18" charset="0"/>
                  </a:rPr>
                  <a:t>$S_n=(3^2-1^2)+(4^2-2^2)+(7^2-5^2)+(8^2-6^2)+\cdots$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bracket is a difference of squares: </a:t>
                </a:r>
                <a:r>
                  <a:rPr lang="en-IN" sz="2400">
                    <a:solidFill>
                      <a:srgbClr val="111827"/>
                    </a:solidFill>
                    <a:latin typeface="Cambria Math" panose="02040503050406030204" pitchFamily="18" charset="0"/>
                  </a:rPr>
                  <a:t>$S_n=2\,[4+6+12+14+20+22+\cdots]$</a:t>
                </a:r>
                <a:r>
                  <a:rPr sz="2400" b="0">
                    <a:solidFill>
                      <a:srgbClr val="111827"/>
                    </a:solidFill>
                    <a:latin typeface="Arial"/>
                  </a:rPr>
                  <a:t> with </a:t>
                </a:r>
                <a:r>
                  <a:rPr lang="en-IN" sz="2400">
                    <a:solidFill>
                      <a:srgbClr val="111827"/>
                    </a:solidFill>
                    <a:latin typeface="Cambria Math" panose="02040503050406030204" pitchFamily="18" charset="0"/>
                  </a:rPr>
                  <a:t>$2n$</a:t>
                </a:r>
                <a:r>
                  <a:rPr sz="2400" b="0">
                    <a:solidFill>
                      <a:srgbClr val="111827"/>
                    </a:solidFill>
                    <a:latin typeface="Arial"/>
                  </a:rPr>
                  <a:t> terms inside.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into two A.P.s of </a:t>
                </a:r>
                <a:r>
                  <a:rPr lang="en-IN" sz="2400">
                    <a:solidFill>
                      <a:srgbClr val="111827"/>
                    </a:solidFill>
                    <a:latin typeface="Cambria Math" panose="02040503050406030204" pitchFamily="18" charset="0"/>
                  </a:rPr>
                  <a:t>$n$</a:t>
                </a:r>
                <a:r>
                  <a:rPr sz="2400" b="0">
                    <a:solidFill>
                      <a:srgbClr val="111827"/>
                    </a:solidFill>
                    <a:latin typeface="Arial"/>
                  </a:rPr>
                  <a:t> terms each, both with common difference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$S_n=2\left[(4+12+20+\cdots)+(6+14+22+\cdots)\right]$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1088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and (C) </a:t>
                </a:r>
                <a14:m>
                  <m:oMath xmlns:m="http://schemas.openxmlformats.org/officeDocument/2006/math">
                    <m:r>
                      <a:rPr lang="en-IN" sz="2400" i="1">
                        <a:solidFill>
                          <a:srgbClr val="111827"/>
                        </a:solidFill>
                        <a:latin typeface="Cambria Math" panose="02040503050406030204" pitchFamily="18" charset="0"/>
                      </a:rPr>
                      <m:t>1120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consecutive integers, but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are not products of consecutive integers: not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1332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possible. Answer: (A,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$S_n=2\left[\frac n2\{2\cdot4+(n-1)8\}+\frac n2\{2\cdot6+(n-1)8\}\right]=2\left[n(4+4n-4)+n(6+4n-4)\right]$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$S_n=2\left[4n^2+(4n+2)n\right]=2(8n^2+2n)=4n(4n+1)$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$1056=32\times33=4n(4n+1)$</a:t>
                </a:r>
                <a:r>
                  <a:rPr sz="2400" b="0">
                    <a:solidFill>
                      <a:srgbClr val="111827"/>
                    </a:solidFill>
                    <a:latin typeface="Arial"/>
                  </a:rPr>
                  <a:t> with </a:t>
                </a:r>
                <a:r>
                  <a:rPr lang="en-IN" sz="2400">
                    <a:solidFill>
                      <a:srgbClr val="111827"/>
                    </a:solidFill>
                    <a:latin typeface="Cambria Math" panose="02040503050406030204" pitchFamily="18" charset="0"/>
                  </a:rPr>
                  <a:t>$n=8$</a:t>
                </a:r>
                <a:r>
                  <a:rPr sz="2400" b="0">
                    <a:solidFill>
                      <a:srgbClr val="111827"/>
                    </a:solidFill>
                    <a:latin typeface="Arial"/>
                  </a:rPr>
                  <a: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$1088=32\times34$</a:t>
                </a:r>
                <a:r>
                  <a:rPr sz="2400" b="0">
                    <a:solidFill>
                      <a:srgbClr val="111827"/>
                    </a:solidFill>
                    <a:latin typeface="Arial"/>
                  </a:rPr>
                  <a:t> and (C) </a:t>
                </a:r>
                <a:r>
                  <a:rPr lang="en-IN" sz="2400">
                    <a:solidFill>
                      <a:srgbClr val="111827"/>
                    </a:solidFill>
                    <a:latin typeface="Cambria Math" panose="02040503050406030204" pitchFamily="18" charset="0"/>
                  </a:rPr>
                  <a:t>$1120=32\times35$</a:t>
                </a:r>
                <a:r>
                  <a:rPr sz="2400" b="0">
                    <a:solidFill>
                      <a:srgbClr val="111827"/>
                    </a:solidFill>
                    <a:latin typeface="Arial"/>
                  </a:rPr>
                  <a:t>: </a:t>
                </a:r>
                <a:r>
                  <a:rPr lang="en-IN" sz="2400">
                    <a:solidFill>
                      <a:srgbClr val="111827"/>
                    </a:solidFill>
                    <a:latin typeface="Cambria Math" panose="02040503050406030204" pitchFamily="18" charset="0"/>
                  </a:rPr>
                  <a:t>$4n$</a:t>
                </a:r>
                <a:r>
                  <a:rPr sz="2400" b="0">
                    <a:solidFill>
                      <a:srgbClr val="111827"/>
                    </a:solidFill>
                    <a:latin typeface="Arial"/>
                  </a:rPr>
                  <a:t> and </a:t>
                </a:r>
                <a:r>
                  <a:rPr lang="en-IN" sz="2400">
                    <a:solidFill>
                      <a:srgbClr val="111827"/>
                    </a:solidFill>
                    <a:latin typeface="Cambria Math" panose="02040503050406030204" pitchFamily="18" charset="0"/>
                  </a:rPr>
                  <a:t>$4n+1$</a:t>
                </a:r>
                <a:r>
                  <a:rPr sz="2400" b="0">
                    <a:solidFill>
                      <a:srgbClr val="111827"/>
                    </a:solidFill>
                    <a:latin typeface="Arial"/>
                  </a:rPr>
                  <a:t> are consecutive integers, but </a:t>
                </a:r>
                <a:r>
                  <a:rPr lang="en-IN" sz="2400">
                    <a:solidFill>
                      <a:srgbClr val="111827"/>
                    </a:solidFill>
                    <a:latin typeface="Cambria Math" panose="02040503050406030204" pitchFamily="18" charset="0"/>
                  </a:rPr>
                  <a:t>$32\times34$</a:t>
                </a:r>
                <a:r>
                  <a:rPr sz="2400" b="0">
                    <a:solidFill>
                      <a:srgbClr val="111827"/>
                    </a:solidFill>
                    <a:latin typeface="Arial"/>
                  </a:rPr>
                  <a:t> and </a:t>
                </a:r>
                <a:r>
                  <a:rPr lang="en-IN" sz="2400">
                    <a:solidFill>
                      <a:srgbClr val="111827"/>
                    </a:solidFill>
                    <a:latin typeface="Cambria Math" panose="02040503050406030204" pitchFamily="18" charset="0"/>
                  </a:rPr>
                  <a:t>$32\times35$</a:t>
                </a:r>
                <a:r>
                  <a:rPr sz="2400" b="0">
                    <a:solidFill>
                      <a:srgbClr val="111827"/>
                    </a:solidFill>
                    <a:latin typeface="Arial"/>
                  </a:rPr>
                  <a:t> are not products of consecutive integers: not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$1332=36\times37$</a:t>
                </a:r>
                <a:r>
                  <a:rPr sz="2400" b="0">
                    <a:solidFill>
                      <a:srgbClr val="111827"/>
                    </a:solidFill>
                    <a:latin typeface="Arial"/>
                  </a:rPr>
                  <a:t> with </a:t>
                </a:r>
                <a:r>
                  <a:rPr lang="en-IN" sz="2400">
                    <a:solidFill>
                      <a:srgbClr val="111827"/>
                    </a:solidFill>
                    <a:latin typeface="Cambria Math" panose="02040503050406030204" pitchFamily="18" charset="0"/>
                  </a:rPr>
                  <a:t>$4n=36$</a:t>
                </a:r>
                <a:r>
                  <a:rPr sz="2400" b="0">
                    <a:solidFill>
                      <a:srgbClr val="111827"/>
                    </a:solidFill>
                    <a:latin typeface="Arial"/>
                  </a:rPr>
                  <a:t>, </a:t>
                </a:r>
                <a:r>
                  <a:rPr lang="en-IN" sz="2400">
                    <a:solidFill>
                      <a:srgbClr val="111827"/>
                    </a:solidFill>
                    <a:latin typeface="Cambria Math" panose="02040503050406030204" pitchFamily="18" charset="0"/>
                  </a:rPr>
                  <a:t>$n=9$</a:t>
                </a:r>
                <a:r>
                  <a:rPr sz="2400" b="0">
                    <a:solidFill>
                      <a:srgbClr val="111827"/>
                    </a:solidFill>
                    <a:latin typeface="Arial"/>
                  </a:rPr>
                  <a:t>: possible. Answer: (A,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D)</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sum of each block of four terms is linear in the block number, so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𝑛</m:t>
                        </m:r>
                      </m:sub>
                    </m:sSub>
                  </m:oMath>
                </a14:m>
                <a:r>
                  <a:rPr sz="2400" b="0">
                    <a:solidFill>
                      <a:srgbClr val="78350F"/>
                    </a:solidFill>
                    <a:latin typeface="Arial"/>
                  </a:rPr>
                  <a:t> is a quadratic in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fit it with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sum of each block of four terms is linear in the block number, so </a:t>
                </a:r>
                <a:r>
                  <a:rPr lang="en-IN" sz="2400">
                    <a:solidFill>
                      <a:srgbClr val="78350F"/>
                    </a:solidFill>
                    <a:latin typeface="Cambria Math" panose="02040503050406030204" pitchFamily="18" charset="0"/>
                  </a:rPr>
                  <a:t>$S_n$</a:t>
                </a:r>
                <a:r>
                  <a:rPr sz="2400" b="0">
                    <a:solidFill>
                      <a:srgbClr val="78350F"/>
                    </a:solidFill>
                    <a:latin typeface="Arial"/>
                  </a:rPr>
                  <a:t> is a quadratic in </a:t>
                </a:r>
                <a:r>
                  <a:rPr lang="en-IN" sz="2400">
                    <a:solidFill>
                      <a:srgbClr val="78350F"/>
                    </a:solidFill>
                    <a:latin typeface="Cambria Math" panose="02040503050406030204" pitchFamily="18" charset="0"/>
                  </a:rPr>
                  <a:t>$n$</a:t>
                </a:r>
                <a:r>
                  <a:rPr sz="2400" b="0">
                    <a:solidFill>
                      <a:srgbClr val="78350F"/>
                    </a:solidFill>
                    <a:latin typeface="Arial"/>
                  </a:rPr>
                  <a:t>; fit it with </a:t>
                </a:r>
                <a:r>
                  <a:rPr lang="en-IN" sz="2400">
                    <a:solidFill>
                      <a:srgbClr val="78350F"/>
                    </a:solidFill>
                    <a:latin typeface="Cambria Math" panose="02040503050406030204" pitchFamily="18" charset="0"/>
                  </a:rPr>
                  <a:t>$S_1$</a:t>
                </a:r>
                <a:r>
                  <a:rPr sz="2400" b="0">
                    <a:solidFill>
                      <a:srgbClr val="78350F"/>
                    </a:solidFill>
                    <a:latin typeface="Arial"/>
                  </a:rPr>
                  <a:t> and </a:t>
                </a:r>
                <a:r>
                  <a:rPr lang="en-IN" sz="2400">
                    <a:solidFill>
                      <a:srgbClr val="78350F"/>
                    </a:solidFill>
                    <a:latin typeface="Cambria Math" panose="02040503050406030204" pitchFamily="18" charset="0"/>
                  </a:rPr>
                  <a:t>$S_2$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block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𝑗</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𝑗</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linear in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a quadratic polynomial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write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 computation: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block </a:t>
                </a:r>
                <a:r>
                  <a:rPr lang="en-IN" sz="2400">
                    <a:solidFill>
                      <a:srgbClr val="111827"/>
                    </a:solidFill>
                    <a:latin typeface="Cambria Math" panose="02040503050406030204" pitchFamily="18" charset="0"/>
                  </a:rPr>
                  <a:t>$k=4j-3,\ldots,4j$</a:t>
                </a:r>
                <a:r>
                  <a:rPr sz="2400" b="0">
                    <a:solidFill>
                      <a:srgbClr val="111827"/>
                    </a:solidFill>
                    <a:latin typeface="Arial"/>
                  </a:rPr>
                  <a:t>: </a:t>
                </a:r>
                <a:r>
                  <a:rPr lang="en-IN" sz="2400">
                    <a:solidFill>
                      <a:srgbClr val="111827"/>
                    </a:solidFill>
                    <a:latin typeface="Cambria Math" panose="02040503050406030204" pitchFamily="18" charset="0"/>
                  </a:rPr>
                  <a:t>$B_j=-(4j-3)^2-(4j-2)^2+(4j-1)^2+(4j)^2=(16j-8)+(16j-4)=32j-12$</a:t>
                </a:r>
                <a:r>
                  <a:rPr sz="2400" b="0">
                    <a:solidFill>
                      <a:srgbClr val="111827"/>
                    </a:solidFill>
                    <a:latin typeface="Arial"/>
                  </a:rPr>
                  <a:t>, linear in </a:t>
                </a:r>
                <a:r>
                  <a:rPr lang="en-IN" sz="2400">
                    <a:solidFill>
                      <a:srgbClr val="111827"/>
                    </a:solidFill>
                    <a:latin typeface="Cambria Math" panose="02040503050406030204" pitchFamily="18" charset="0"/>
                  </a:rPr>
                  <a:t>$j$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$S_n=B_1+\cdots+B_n$</a:t>
                </a:r>
                <a:r>
                  <a:rPr sz="2400" b="0">
                    <a:solidFill>
                      <a:srgbClr val="111827"/>
                    </a:solidFill>
                    <a:latin typeface="Arial"/>
                  </a:rPr>
                  <a:t> is a quadratic polynomial in </a:t>
                </a:r>
                <a:r>
                  <a:rPr lang="en-IN" sz="2400">
                    <a:solidFill>
                      <a:srgbClr val="111827"/>
                    </a:solidFill>
                    <a:latin typeface="Cambria Math" panose="02040503050406030204" pitchFamily="18" charset="0"/>
                  </a:rPr>
                  <a:t>$n$</a:t>
                </a:r>
                <a:r>
                  <a:rPr sz="2400" b="0">
                    <a:solidFill>
                      <a:srgbClr val="111827"/>
                    </a:solidFill>
                    <a:latin typeface="Arial"/>
                  </a:rPr>
                  <a:t> with </a:t>
                </a:r>
                <a:r>
                  <a:rPr lang="en-IN" sz="2400">
                    <a:solidFill>
                      <a:srgbClr val="111827"/>
                    </a:solidFill>
                    <a:latin typeface="Cambria Math" panose="02040503050406030204" pitchFamily="18" charset="0"/>
                  </a:rPr>
                  <a:t>$S_0=0$</a:t>
                </a:r>
                <a:r>
                  <a:rPr sz="2400" b="0">
                    <a:solidFill>
                      <a:srgbClr val="111827"/>
                    </a:solidFill>
                    <a:latin typeface="Arial"/>
                  </a:rPr>
                  <a:t>: write </a:t>
                </a:r>
                <a:r>
                  <a:rPr lang="en-IN" sz="2400">
                    <a:solidFill>
                      <a:srgbClr val="111827"/>
                    </a:solidFill>
                    <a:latin typeface="Cambria Math" panose="02040503050406030204" pitchFamily="18" charset="0"/>
                  </a:rPr>
                  <a:t>$S_n=pn^2+qn$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 computation: </a:t>
                </a:r>
                <a:r>
                  <a:rPr lang="en-IN" sz="2400">
                    <a:solidFill>
                      <a:srgbClr val="111827"/>
                    </a:solidFill>
                    <a:latin typeface="Cambria Math" panose="02040503050406030204" pitchFamily="18" charset="0"/>
                  </a:rPr>
                  <a:t>$S_1=-1-4+9+16=20$</a:t>
                </a:r>
                <a:r>
                  <a:rPr sz="2400" b="0">
                    <a:solidFill>
                      <a:srgbClr val="111827"/>
                    </a:solidFill>
                    <a:latin typeface="Arial"/>
                  </a:rPr>
                  <a:t> and </a:t>
                </a:r>
                <a:r>
                  <a:rPr lang="en-IN" sz="2400">
                    <a:solidFill>
                      <a:srgbClr val="111827"/>
                    </a:solidFill>
                    <a:latin typeface="Cambria Math" panose="02040503050406030204" pitchFamily="18" charset="0"/>
                  </a:rPr>
                  <a:t>$S_2=20+(-25-36+49+64)=72$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$p+q=20$</a:t>
                </a:r>
                <a:r>
                  <a:rPr sz="2400" b="0">
                    <a:solidFill>
                      <a:srgbClr val="111827"/>
                    </a:solidFill>
                    <a:latin typeface="Arial"/>
                  </a:rPr>
                  <a:t> and </a:t>
                </a:r>
                <a:r>
                  <a:rPr lang="en-IN" sz="2400">
                    <a:solidFill>
                      <a:srgbClr val="111827"/>
                    </a:solidFill>
                    <a:latin typeface="Cambria Math" panose="02040503050406030204" pitchFamily="18" charset="0"/>
                  </a:rPr>
                  <a:t>$4p+2q=72$</a:t>
                </a:r>
                <a:r>
                  <a:rPr sz="2400" b="0">
                    <a:solidFill>
                      <a:srgbClr val="111827"/>
                    </a:solidFill>
                    <a:latin typeface="Arial"/>
                  </a:rPr>
                  <a:t> give </a:t>
                </a:r>
                <a:r>
                  <a:rPr lang="en-IN" sz="2400">
                    <a:solidFill>
                      <a:srgbClr val="111827"/>
                    </a:solidFill>
                    <a:latin typeface="Cambria Math" panose="02040503050406030204" pitchFamily="18" charset="0"/>
                  </a:rPr>
                  <a:t>$p=16$</a:t>
                </a:r>
                <a:r>
                  <a:rPr sz="2400" b="0">
                    <a:solidFill>
                      <a:srgbClr val="111827"/>
                    </a:solidFill>
                    <a:latin typeface="Arial"/>
                  </a:rPr>
                  <a:t>, </a:t>
                </a:r>
                <a:r>
                  <a:rPr lang="en-IN" sz="2400">
                    <a:solidFill>
                      <a:srgbClr val="111827"/>
                    </a:solidFill>
                    <a:latin typeface="Cambria Math" panose="02040503050406030204" pitchFamily="18" charset="0"/>
                  </a:rPr>
                  <a:t>$q=4$</a:t>
                </a:r>
                <a:r>
                  <a:rPr sz="2400" b="0">
                    <a:solidFill>
                      <a:srgbClr val="111827"/>
                    </a:solidFill>
                    <a:latin typeface="Arial"/>
                  </a:rPr>
                  <a:t>: </a:t>
                </a:r>
                <a:r>
                  <a:rPr lang="en-IN" sz="2400">
                    <a:solidFill>
                      <a:srgbClr val="111827"/>
                    </a:solidFill>
                    <a:latin typeface="Cambria Math" panose="02040503050406030204" pitchFamily="18" charset="0"/>
                  </a:rPr>
                  <a:t>$S_n=16n^2+4n=4n(4n+1)$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Solve </a:t>
                </a:r>
                <a14:m>
                  <m:oMath xmlns:m="http://schemas.openxmlformats.org/officeDocument/2006/math">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1024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Solve </a:t>
                </a:r>
                <a14:m>
                  <m:oMath xmlns:m="http://schemas.openxmlformats.org/officeDocument/2006/math">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1332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oMath>
                </a14:m>
                <a:r>
                  <a:rPr sz="2400" b="0">
                    <a:solidFill>
                      <a:srgbClr val="111827"/>
                    </a:solidFill>
                    <a:latin typeface="Arial"/>
                  </a:rPr>
                  <a:t> is increasing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takes the values </a:t>
                </a:r>
                <a14:m>
                  <m:oMath xmlns:m="http://schemas.openxmlformats.org/officeDocument/2006/math">
                    <m:r>
                      <a:rPr lang="en-IN" sz="2400" i="1">
                        <a:solidFill>
                          <a:srgbClr val="111827"/>
                        </a:solidFill>
                        <a:latin typeface="Cambria Math" panose="02040503050406030204" pitchFamily="18" charset="0"/>
                      </a:rPr>
                      <m:t>1056</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1332</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1088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1120</m:t>
                    </m:r>
                  </m:oMath>
                </a14:m>
                <a:r>
                  <a:rPr sz="2400" b="0">
                    <a:solidFill>
                      <a:srgbClr val="111827"/>
                    </a:solidFill>
                    <a:latin typeface="Arial"/>
                  </a:rPr>
                  <a:t> (which lie between) are never attained.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possible values are (A) </a:t>
                </a:r>
                <a14:m>
                  <m:oMath xmlns:m="http://schemas.openxmlformats.org/officeDocument/2006/math">
                    <m:r>
                      <a:rPr lang="en-IN" sz="2400" i="1">
                        <a:solidFill>
                          <a:srgbClr val="111827"/>
                        </a:solidFill>
                        <a:latin typeface="Cambria Math" panose="02040503050406030204" pitchFamily="18" charset="0"/>
                      </a:rPr>
                      <m:t>1056</m:t>
                    </m:r>
                  </m:oMath>
                </a14:m>
                <a:r>
                  <a:rPr sz="2400" b="0">
                    <a:solidFill>
                      <a:srgbClr val="111827"/>
                    </a:solidFill>
                    <a:latin typeface="Arial"/>
                  </a:rPr>
                  <a:t> and (D) </a:t>
                </a:r>
                <a14:m>
                  <m:oMath xmlns:m="http://schemas.openxmlformats.org/officeDocument/2006/math">
                    <m:r>
                      <a:rPr lang="en-IN" sz="2400" i="1">
                        <a:solidFill>
                          <a:srgbClr val="111827"/>
                        </a:solidFill>
                        <a:latin typeface="Cambria Math" panose="02040503050406030204" pitchFamily="18" charset="0"/>
                      </a:rPr>
                      <m:t>1332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Solve </a:t>
                </a:r>
                <a:r>
                  <a:rPr lang="en-IN" sz="2400">
                    <a:solidFill>
                      <a:srgbClr val="111827"/>
                    </a:solidFill>
                    <a:latin typeface="Cambria Math" panose="02040503050406030204" pitchFamily="18" charset="0"/>
                  </a:rPr>
                  <a:t>$16n^2+4n=1056$</a:t>
                </a:r>
                <a:r>
                  <a:rPr sz="2400" b="0">
                    <a:solidFill>
                      <a:srgbClr val="111827"/>
                    </a:solidFill>
                    <a:latin typeface="Arial"/>
                  </a:rPr>
                  <a:t>: </a:t>
                </a:r>
                <a:r>
                  <a:rPr lang="en-IN" sz="2400">
                    <a:solidFill>
                      <a:srgbClr val="111827"/>
                    </a:solidFill>
                    <a:latin typeface="Cambria Math" panose="02040503050406030204" pitchFamily="18" charset="0"/>
                  </a:rPr>
                  <a:t>$n=8$</a:t>
                </a:r>
                <a:r>
                  <a:rPr sz="2400" b="0">
                    <a:solidFill>
                      <a:srgbClr val="111827"/>
                    </a:solidFill>
                    <a:latin typeface="Arial"/>
                  </a:rPr>
                  <a:t> ✓ (</a:t>
                </a:r>
                <a:r>
                  <a:rPr lang="en-IN" sz="2400">
                    <a:solidFill>
                      <a:srgbClr val="111827"/>
                    </a:solidFill>
                    <a:latin typeface="Cambria Math" panose="02040503050406030204" pitchFamily="18" charset="0"/>
                  </a:rPr>
                  <a:t>$1024+32$</a:t>
                </a:r>
                <a:r>
                  <a:rPr sz="2400" b="0">
                    <a:solidFill>
                      <a:srgbClr val="111827"/>
                    </a:solidFill>
                    <a:latin typeface="Arial"/>
                  </a:rPr>
                  <a:t>). Solve </a:t>
                </a:r>
                <a:r>
                  <a:rPr lang="en-IN" sz="2400">
                    <a:solidFill>
                      <a:srgbClr val="111827"/>
                    </a:solidFill>
                    <a:latin typeface="Cambria Math" panose="02040503050406030204" pitchFamily="18" charset="0"/>
                  </a:rPr>
                  <a:t>$16n^2+4n=1332$</a:t>
                </a:r>
                <a:r>
                  <a:rPr sz="2400" b="0">
                    <a:solidFill>
                      <a:srgbClr val="111827"/>
                    </a:solidFill>
                    <a:latin typeface="Arial"/>
                  </a:rPr>
                  <a:t>: </a:t>
                </a:r>
                <a:r>
                  <a:rPr lang="en-IN" sz="2400">
                    <a:solidFill>
                      <a:srgbClr val="111827"/>
                    </a:solidFill>
                    <a:latin typeface="Cambria Math" panose="02040503050406030204" pitchFamily="18" charset="0"/>
                  </a:rPr>
                  <a:t>$n=9$</a:t>
                </a:r>
                <a:r>
                  <a:rPr sz="2400" b="0">
                    <a:solidFill>
                      <a:srgbClr val="111827"/>
                    </a:solidFill>
                    <a:latin typeface="Arial"/>
                  </a:rPr>
                  <a:t> ✓ (</a:t>
                </a:r>
                <a:r>
                  <a:rPr lang="en-IN" sz="2400">
                    <a:solidFill>
                      <a:srgbClr val="111827"/>
                    </a:solidFill>
                    <a:latin typeface="Cambria Math" panose="02040503050406030204" pitchFamily="18" charset="0"/>
                  </a:rPr>
                  <a:t>$1296+36$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$16n^2+4n$</a:t>
                </a:r>
                <a:r>
                  <a:rPr sz="2400" b="0">
                    <a:solidFill>
                      <a:srgbClr val="111827"/>
                    </a:solidFill>
                    <a:latin typeface="Arial"/>
                  </a:rPr>
                  <a:t> is increasing for </a:t>
                </a:r>
                <a:r>
                  <a:rPr lang="en-IN" sz="2400">
                    <a:solidFill>
                      <a:srgbClr val="111827"/>
                    </a:solidFill>
                    <a:latin typeface="Cambria Math" panose="02040503050406030204" pitchFamily="18" charset="0"/>
                  </a:rPr>
                  <a:t>$n\ge1$</a:t>
                </a:r>
                <a:r>
                  <a:rPr sz="2400" b="0">
                    <a:solidFill>
                      <a:srgbClr val="111827"/>
                    </a:solidFill>
                    <a:latin typeface="Arial"/>
                  </a:rPr>
                  <a:t> and takes the values </a:t>
                </a:r>
                <a:r>
                  <a:rPr lang="en-IN" sz="2400">
                    <a:solidFill>
                      <a:srgbClr val="111827"/>
                    </a:solidFill>
                    <a:latin typeface="Cambria Math" panose="02040503050406030204" pitchFamily="18" charset="0"/>
                  </a:rPr>
                  <a:t>$1056$</a:t>
                </a:r>
                <a:r>
                  <a:rPr sz="2400" b="0">
                    <a:solidFill>
                      <a:srgbClr val="111827"/>
                    </a:solidFill>
                    <a:latin typeface="Arial"/>
                  </a:rPr>
                  <a:t> at </a:t>
                </a:r>
                <a:r>
                  <a:rPr lang="en-IN" sz="2400">
                    <a:solidFill>
                      <a:srgbClr val="111827"/>
                    </a:solidFill>
                    <a:latin typeface="Cambria Math" panose="02040503050406030204" pitchFamily="18" charset="0"/>
                  </a:rPr>
                  <a:t>$n=8$</a:t>
                </a:r>
                <a:r>
                  <a:rPr sz="2400" b="0">
                    <a:solidFill>
                      <a:srgbClr val="111827"/>
                    </a:solidFill>
                    <a:latin typeface="Arial"/>
                  </a:rPr>
                  <a:t> and </a:t>
                </a:r>
                <a:r>
                  <a:rPr lang="en-IN" sz="2400">
                    <a:solidFill>
                      <a:srgbClr val="111827"/>
                    </a:solidFill>
                    <a:latin typeface="Cambria Math" panose="02040503050406030204" pitchFamily="18" charset="0"/>
                  </a:rPr>
                  <a:t>$1332$</a:t>
                </a:r>
                <a:r>
                  <a:rPr sz="2400" b="0">
                    <a:solidFill>
                      <a:srgbClr val="111827"/>
                    </a:solidFill>
                    <a:latin typeface="Arial"/>
                  </a:rPr>
                  <a:t> at </a:t>
                </a:r>
                <a:r>
                  <a:rPr lang="en-IN" sz="2400">
                    <a:solidFill>
                      <a:srgbClr val="111827"/>
                    </a:solidFill>
                    <a:latin typeface="Cambria Math" panose="02040503050406030204" pitchFamily="18" charset="0"/>
                  </a:rPr>
                  <a:t>$n=9$</a:t>
                </a:r>
                <a:r>
                  <a:rPr sz="2400" b="0">
                    <a:solidFill>
                      <a:srgbClr val="111827"/>
                    </a:solidFill>
                    <a:latin typeface="Arial"/>
                  </a:rPr>
                  <a:t>, so </a:t>
                </a:r>
                <a:r>
                  <a:rPr lang="en-IN" sz="2400">
                    <a:solidFill>
                      <a:srgbClr val="111827"/>
                    </a:solidFill>
                    <a:latin typeface="Cambria Math" panose="02040503050406030204" pitchFamily="18" charset="0"/>
                  </a:rPr>
                  <a:t>$1088$</a:t>
                </a:r>
                <a:r>
                  <a:rPr sz="2400" b="0">
                    <a:solidFill>
                      <a:srgbClr val="111827"/>
                    </a:solidFill>
                    <a:latin typeface="Arial"/>
                  </a:rPr>
                  <a:t> and </a:t>
                </a:r>
                <a:r>
                  <a:rPr lang="en-IN" sz="2400">
                    <a:solidFill>
                      <a:srgbClr val="111827"/>
                    </a:solidFill>
                    <a:latin typeface="Cambria Math" panose="02040503050406030204" pitchFamily="18" charset="0"/>
                  </a:rPr>
                  <a:t>$1120$</a:t>
                </a:r>
                <a:r>
                  <a:rPr sz="2400" b="0">
                    <a:solidFill>
                      <a:srgbClr val="111827"/>
                    </a:solidFill>
                    <a:latin typeface="Arial"/>
                  </a:rPr>
                  <a:t> (which lie between) are never attained.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possible values are (A) </a:t>
                </a:r>
                <a:r>
                  <a:rPr lang="en-IN" sz="2400">
                    <a:solidFill>
                      <a:srgbClr val="111827"/>
                    </a:solidFill>
                    <a:latin typeface="Cambria Math" panose="02040503050406030204" pitchFamily="18" charset="0"/>
                  </a:rPr>
                  <a:t>$1056$</a:t>
                </a:r>
                <a:r>
                  <a:rPr sz="2400" b="0">
                    <a:solidFill>
                      <a:srgbClr val="111827"/>
                    </a:solidFill>
                    <a:latin typeface="Arial"/>
                  </a:rPr>
                  <a:t> and (D) </a:t>
                </a:r>
                <a:r>
                  <a:rPr lang="en-IN" sz="2400">
                    <a:solidFill>
                      <a:srgbClr val="111827"/>
                    </a:solidFill>
                    <a:latin typeface="Cambria Math" panose="02040503050406030204" pitchFamily="18" charset="0"/>
                  </a:rPr>
                  <a:t>$1332$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D)</a:t>
            </a:r>
            <a:endParaRPr sz="2800">
              <a:solidFill>
                <a:srgbClr val="15803D"/>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 sign pattern with period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therefore turns into an A.P. of block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every block sum is linear in the block number, the partial sum over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blocks is a quadratic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two computed values determine it.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$-m^2-(m+1)^2+(m+2)^2+(m+3)^2=8m+12$</a:t>
                </a:r>
                <a:r>
                  <a:rPr sz="2400" b="0">
                    <a:solidFill>
                      <a:srgbClr val="111827"/>
                    </a:solidFill>
                    <a:latin typeface="Arial"/>
                  </a:rPr>
                  <a:t>. A sign pattern with period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therefore turns into an A.P. of block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every block sum is linear in the block number, the partial sum over </a:t>
                </a:r>
                <a:r>
                  <a:rPr lang="en-IN" sz="2400">
                    <a:solidFill>
                      <a:srgbClr val="111827"/>
                    </a:solidFill>
                    <a:latin typeface="Cambria Math" panose="02040503050406030204" pitchFamily="18" charset="0"/>
                  </a:rPr>
                  <a:t>$n$</a:t>
                </a:r>
                <a:r>
                  <a:rPr sz="2400" b="0">
                    <a:solidFill>
                      <a:srgbClr val="111827"/>
                    </a:solidFill>
                    <a:latin typeface="Arial"/>
                  </a:rPr>
                  <a:t> blocks is a quadratic in </a:t>
                </a:r>
                <a:r>
                  <a:rPr lang="en-IN" sz="2400">
                    <a:solidFill>
                      <a:srgbClr val="111827"/>
                    </a:solidFill>
                    <a:latin typeface="Cambria Math" panose="02040503050406030204" pitchFamily="18" charset="0"/>
                  </a:rPr>
                  <a:t>$n$</a:t>
                </a:r>
                <a:r>
                  <a:rPr sz="2400" b="0">
                    <a:solidFill>
                      <a:srgbClr val="111827"/>
                    </a:solidFill>
                    <a:latin typeface="Arial"/>
                  </a:rPr>
                  <a:t> with </a:t>
                </a:r>
                <a:r>
                  <a:rPr lang="en-IN" sz="2400">
                    <a:solidFill>
                      <a:srgbClr val="111827"/>
                    </a:solidFill>
                    <a:latin typeface="Cambria Math" panose="02040503050406030204" pitchFamily="18" charset="0"/>
                  </a:rPr>
                  <a:t>$S_0=0$</a:t>
                </a:r>
                <a:r>
                  <a:rPr sz="2400" b="0">
                    <a:solidFill>
                      <a:srgbClr val="111827"/>
                    </a:solidFill>
                    <a:latin typeface="Arial"/>
                  </a:rPr>
                  <a:t>, so two computed values determine it.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$\sum_{k=1}^{4n}(-1)^{k(k+1)/2}k^2=4n(4n+1)$</a:t>
                </a:r>
                <a:r>
                  <a:rPr sz="2400" b="0">
                    <a:solidFill>
                      <a:srgbClr val="111827"/>
                    </a:solidFill>
                    <a:latin typeface="Arial"/>
                  </a:rPr>
                  <a:t> (check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$20=4\cdot5$</a:t>
                </a:r>
                <a:r>
                  <a:rPr sz="2400" b="0">
                    <a:solidFill>
                      <a:srgbClr val="111827"/>
                    </a:solidFill>
                    <a:latin typeface="Arial"/>
                  </a:rPr>
                  <a:t> ✓;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$72=8\cdot9$</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Integer Type(0 to 9)</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Q04 – Q05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Answer is a single digit 0 to 9</a:t>
            </a:r>
            <a:endParaRPr sz="2800">
              <a:solidFill>
                <a:srgbClr val="FFFFFF"/>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be positive integers such that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is an integer.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in geometric progression and the arithmetic mean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is.</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a:t>
                </a:r>
                <a:r>
                  <a:rPr sz="2400" b="0">
                    <a:solidFill>
                      <a:srgbClr val="111827"/>
                    </a:solidFill>
                    <a:latin typeface="Arial"/>
                  </a:rPr>
                  <a:t> be positive integers such that </a:t>
                </a:r>
                <a:r>
                  <a:rPr lang="en-IN" sz="2400">
                    <a:solidFill>
                      <a:srgbClr val="111827"/>
                    </a:solidFill>
                    <a:latin typeface="Cambria Math" panose="02040503050406030204" pitchFamily="18" charset="0"/>
                  </a:rPr>
                  <a:t>$\frac ba$</a:t>
                </a:r>
                <a:r>
                  <a:rPr sz="2400" b="0">
                    <a:solidFill>
                      <a:srgbClr val="111827"/>
                    </a:solidFill>
                    <a:latin typeface="Arial"/>
                  </a:rPr>
                  <a:t> is an integer. If </a:t>
                </a:r>
                <a:r>
                  <a:rPr lang="en-IN" sz="2400">
                    <a:solidFill>
                      <a:srgbClr val="111827"/>
                    </a:solidFill>
                    <a:latin typeface="Cambria Math" panose="02040503050406030204" pitchFamily="18" charset="0"/>
                  </a:rPr>
                  <a:t>$a,b,c$</a:t>
                </a:r>
                <a:r>
                  <a:rPr sz="2400" b="0">
                    <a:solidFill>
                      <a:srgbClr val="111827"/>
                    </a:solidFill>
                    <a:latin typeface="Arial"/>
                  </a:rPr>
                  <a:t> are in geometric progression and the arithmetic mean of </a:t>
                </a:r>
                <a:r>
                  <a:rPr lang="en-IN" sz="2400">
                    <a:solidFill>
                      <a:srgbClr val="111827"/>
                    </a:solidFill>
                    <a:latin typeface="Cambria Math" panose="02040503050406030204" pitchFamily="18" charset="0"/>
                  </a:rPr>
                  <a:t>$a,b,c$</a:t>
                </a:r>
                <a:r>
                  <a:rPr sz="2400" b="0">
                    <a:solidFill>
                      <a:srgbClr val="111827"/>
                    </a:solidFill>
                    <a:latin typeface="Arial"/>
                  </a:rPr>
                  <a:t> is </a:t>
                </a:r>
                <a:r>
                  <a:rPr lang="en-IN" sz="2400">
                    <a:solidFill>
                      <a:srgbClr val="111827"/>
                    </a:solidFill>
                    <a:latin typeface="Cambria Math" panose="02040503050406030204" pitchFamily="18" charset="0"/>
                  </a:rPr>
                  <a:t>$b+2$</a:t>
                </a:r>
                <a:r>
                  <a:rPr sz="2400" b="0">
                    <a:solidFill>
                      <a:srgbClr val="111827"/>
                    </a:solidFill>
                    <a:latin typeface="Arial"/>
                  </a:rPr>
                  <a:t>, then the value of </a:t>
                </a:r>
                <a:r>
                  <a:rPr lang="en-IN" sz="2400">
                    <a:solidFill>
                      <a:srgbClr val="111827"/>
                    </a:solidFill>
                    <a:latin typeface="Cambria Math" panose="02040503050406030204" pitchFamily="18" charset="0"/>
                  </a:rPr>
                  <a:t>$\frac{a^2+a-14}{a+1}$</a:t>
                </a:r>
                <a:r>
                  <a:rPr sz="2400" b="0">
                    <a:solidFill>
                      <a:srgbClr val="111827"/>
                    </a:solidFill>
                    <a:latin typeface="Arial"/>
                  </a:rPr>
                  <a:t> is.</a:t>
                </a:r>
                <a:endParaRPr sz="2400">
                  <a:solidFill>
                    <a:srgbClr val="111827"/>
                  </a:solidFill>
                </a:endParaRPr>
              </a:p>
            </p:txBody>
          </p:sp>
        </mc:Fallback>
      </mc:AlternateContent>
      <p:sp>
        <p:nvSpPr>
          <p:cNvPr id="5" name="Rectangle 4"/>
          <p:cNvSpPr/>
          <p:nvPr/>
        </p:nvSpPr>
        <p:spPr>
          <a:xfrm>
            <a:off x="731520" y="37363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 progression and arithmetic mean with integer constraint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G.P. as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with integer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the A.M. condition collapses to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G.P. as </a:t>
                </a:r>
                <a:r>
                  <a:rPr lang="en-IN" sz="2400">
                    <a:solidFill>
                      <a:srgbClr val="78350F"/>
                    </a:solidFill>
                    <a:latin typeface="Cambria Math" panose="02040503050406030204" pitchFamily="18" charset="0"/>
                  </a:rPr>
                  <a:t>$a,ar,ar^2$</a:t>
                </a:r>
                <a:r>
                  <a:rPr sz="2400" b="0">
                    <a:solidFill>
                      <a:srgbClr val="78350F"/>
                    </a:solidFill>
                    <a:latin typeface="Arial"/>
                  </a:rPr>
                  <a:t> with integer </a:t>
                </a:r>
                <a:r>
                  <a:rPr lang="en-IN" sz="2400">
                    <a:solidFill>
                      <a:srgbClr val="78350F"/>
                    </a:solidFill>
                    <a:latin typeface="Cambria Math" panose="02040503050406030204" pitchFamily="18" charset="0"/>
                  </a:rPr>
                  <a:t>$r$</a:t>
                </a:r>
                <a:r>
                  <a:rPr sz="2400" b="0">
                    <a:solidFill>
                      <a:srgbClr val="78350F"/>
                    </a:solidFill>
                    <a:latin typeface="Arial"/>
                  </a:rPr>
                  <a:t>; the A.M. condition collapses to </a:t>
                </a:r>
                <a:r>
                  <a:rPr lang="en-IN" sz="2400">
                    <a:solidFill>
                      <a:srgbClr val="78350F"/>
                    </a:solidFill>
                    <a:latin typeface="Cambria Math" panose="02040503050406030204" pitchFamily="18" charset="0"/>
                  </a:rPr>
                  <a:t>$a(r-1)^2=6$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is an integer,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is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condition: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$b=ar$</a:t>
                </a:r>
                <a:r>
                  <a:rPr sz="2400" b="0">
                    <a:solidFill>
                      <a:srgbClr val="111827"/>
                    </a:solidFill>
                    <a:latin typeface="Arial"/>
                  </a:rPr>
                  <a:t> and </a:t>
                </a:r>
                <a:r>
                  <a:rPr lang="en-IN" sz="2400">
                    <a:solidFill>
                      <a:srgbClr val="111827"/>
                    </a:solidFill>
                    <a:latin typeface="Cambria Math" panose="02040503050406030204" pitchFamily="18" charset="0"/>
                  </a:rPr>
                  <a:t>$c=ar^2$</a:t>
                </a:r>
                <a:r>
                  <a:rPr sz="2400" b="0">
                    <a:solidFill>
                      <a:srgbClr val="111827"/>
                    </a:solidFill>
                    <a:latin typeface="Arial"/>
                  </a:rPr>
                  <a:t>. Since </a:t>
                </a:r>
                <a:r>
                  <a:rPr lang="en-IN" sz="2400">
                    <a:solidFill>
                      <a:srgbClr val="111827"/>
                    </a:solidFill>
                    <a:latin typeface="Cambria Math" panose="02040503050406030204" pitchFamily="18" charset="0"/>
                  </a:rPr>
                  <a:t>$\frac ba=r$</a:t>
                </a:r>
                <a:r>
                  <a:rPr sz="2400" b="0">
                    <a:solidFill>
                      <a:srgbClr val="111827"/>
                    </a:solidFill>
                    <a:latin typeface="Arial"/>
                  </a:rPr>
                  <a:t> is an integer, </a:t>
                </a:r>
                <a:r>
                  <a:rPr lang="en-IN" sz="2400">
                    <a:solidFill>
                      <a:srgbClr val="111827"/>
                    </a:solidFill>
                    <a:latin typeface="Cambria Math" panose="02040503050406030204" pitchFamily="18" charset="0"/>
                  </a:rPr>
                  <a:t>$r$</a:t>
                </a:r>
                <a:r>
                  <a:rPr sz="2400" b="0">
                    <a:solidFill>
                      <a:srgbClr val="111827"/>
                    </a:solidFill>
                    <a:latin typeface="Arial"/>
                  </a:rPr>
                  <a:t> is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condition: </a:t>
                </a:r>
                <a:r>
                  <a:rPr lang="en-IN" sz="2400">
                    <a:solidFill>
                      <a:srgbClr val="111827"/>
                    </a:solidFill>
                    <a:latin typeface="Cambria Math" panose="02040503050406030204" pitchFamily="18" charset="0"/>
                  </a:rPr>
                  <a:t>$\frac{a+ar+ar^2}3=ar+2$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$a+ar+ar^2=3ar+6$</a:t>
                </a:r>
                <a:r>
                  <a:rPr sz="2400" b="0">
                    <a:solidFill>
                      <a:srgbClr val="111827"/>
                    </a:solidFill>
                    <a:latin typeface="Arial"/>
                  </a:rPr>
                  <a:t>, i.e. </a:t>
                </a:r>
                <a:r>
                  <a:rPr lang="en-IN" sz="2400">
                    <a:solidFill>
                      <a:srgbClr val="111827"/>
                    </a:solidFill>
                    <a:latin typeface="Cambria Math" panose="02040503050406030204" pitchFamily="18" charset="0"/>
                  </a:rPr>
                  <a:t>$a+ar^2=2ar+6$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$a(r^2-2r+1)=6$</a:t>
                </a:r>
                <a:r>
                  <a:rPr sz="2400" b="0">
                    <a:solidFill>
                      <a:srgbClr val="111827"/>
                    </a:solidFill>
                    <a:latin typeface="Arial"/>
                  </a:rPr>
                  <a:t>, i.e. </a:t>
                </a:r>
                <a:r>
                  <a:rPr lang="en-IN" sz="2400">
                    <a:solidFill>
                      <a:srgbClr val="111827"/>
                    </a:solidFill>
                    <a:latin typeface="Cambria Math" panose="02040503050406030204" pitchFamily="18" charset="0"/>
                  </a:rPr>
                  <a:t>$a(r-1)^2=6$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 perfect square dividing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with A.M.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$(r-1)^2$</a:t>
                </a:r>
                <a:r>
                  <a:rPr sz="2400" b="0">
                    <a:solidFill>
                      <a:srgbClr val="111827"/>
                    </a:solidFill>
                    <a:latin typeface="Arial"/>
                  </a:rPr>
                  <a:t> is a perfect square dividing </a:t>
                </a:r>
                <a:r>
                  <a:rPr lang="en-IN" sz="2400">
                    <a:solidFill>
                      <a:srgbClr val="111827"/>
                    </a:solidFill>
                    <a:latin typeface="Cambria Math" panose="02040503050406030204" pitchFamily="18" charset="0"/>
                  </a:rPr>
                  <a:t>$6$</a:t>
                </a:r>
                <a:r>
                  <a:rPr sz="2400" b="0">
                    <a:solidFill>
                      <a:srgbClr val="111827"/>
                    </a:solidFill>
                    <a:latin typeface="Arial"/>
                  </a:rPr>
                  <a:t>, so </a:t>
                </a:r>
                <a:r>
                  <a:rPr lang="en-IN" sz="2400">
                    <a:solidFill>
                      <a:srgbClr val="111827"/>
                    </a:solidFill>
                    <a:latin typeface="Cambria Math" panose="02040503050406030204" pitchFamily="18" charset="0"/>
                  </a:rPr>
                  <a:t>$(r-1)^2=1$</a:t>
                </a:r>
                <a:r>
                  <a:rPr sz="2400" b="0">
                    <a:solidFill>
                      <a:srgbClr val="111827"/>
                    </a:solidFill>
                    <a:latin typeface="Arial"/>
                  </a:rPr>
                  <a:t>. Since </a:t>
                </a:r>
                <a:r>
                  <a:rPr lang="en-IN" sz="2400">
                    <a:solidFill>
                      <a:srgbClr val="111827"/>
                    </a:solidFill>
                    <a:latin typeface="Cambria Math" panose="02040503050406030204" pitchFamily="18" charset="0"/>
                  </a:rPr>
                  <a:t>$b=ar&gt;0$</a:t>
                </a:r>
                <a:r>
                  <a:rPr sz="2400" b="0">
                    <a:solidFill>
                      <a:srgbClr val="111827"/>
                    </a:solidFill>
                    <a:latin typeface="Arial"/>
                  </a:rPr>
                  <a:t>, </a:t>
                </a:r>
                <a:r>
                  <a:rPr lang="en-IN" sz="2400">
                    <a:solidFill>
                      <a:srgbClr val="111827"/>
                    </a:solidFill>
                    <a:latin typeface="Cambria Math" panose="02040503050406030204" pitchFamily="18" charset="0"/>
                  </a:rPr>
                  <a:t>$r\ne0$</a:t>
                </a:r>
                <a:r>
                  <a:rPr sz="2400" b="0">
                    <a:solidFill>
                      <a:srgbClr val="111827"/>
                    </a:solidFill>
                    <a:latin typeface="Arial"/>
                  </a:rPr>
                  <a:t>; hence </a:t>
                </a:r>
                <a:r>
                  <a:rPr lang="en-IN" sz="2400">
                    <a:solidFill>
                      <a:srgbClr val="111827"/>
                    </a:solidFill>
                    <a:latin typeface="Cambria Math" panose="02040503050406030204" pitchFamily="18" charset="0"/>
                  </a:rPr>
                  <a:t>$r=2$</a:t>
                </a:r>
                <a:r>
                  <a:rPr sz="2400" b="0">
                    <a:solidFill>
                      <a:srgbClr val="111827"/>
                    </a:solidFill>
                    <a:latin typeface="Arial"/>
                  </a:rPr>
                  <a:t> and </a:t>
                </a:r>
                <a:r>
                  <a:rPr lang="en-IN" sz="2400">
                    <a:solidFill>
                      <a:srgbClr val="111827"/>
                    </a:solidFill>
                    <a:latin typeface="Cambria Math" panose="02040503050406030204" pitchFamily="18" charset="0"/>
                  </a:rPr>
                  <a:t>$a=6$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$a,b,c=6,12,24$</a:t>
                </a:r>
                <a:r>
                  <a:rPr sz="2400" b="0">
                    <a:solidFill>
                      <a:srgbClr val="111827"/>
                    </a:solidFill>
                    <a:latin typeface="Arial"/>
                  </a:rPr>
                  <a:t> with A.M. </a:t>
                </a:r>
                <a:r>
                  <a:rPr lang="en-IN" sz="2400">
                    <a:solidFill>
                      <a:srgbClr val="111827"/>
                    </a:solidFill>
                    <a:latin typeface="Cambria Math" panose="02040503050406030204" pitchFamily="18" charset="0"/>
                  </a:rPr>
                  <a:t>$=14=b+2$</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$\frac{a^2+a-14}{a+1}=\frac{36+6-14}7=\frac{28}7=4$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e>
                    </m:rad>
                  </m:oMath>
                </a14:m>
                <a:r>
                  <a:rPr sz="2400" b="0">
                    <a:solidFill>
                      <a:srgbClr val="78350F"/>
                    </a:solidFill>
                    <a:latin typeface="Arial"/>
                  </a:rPr>
                  <a:t>, the A.M. condition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is a perfect square: </a:t>
                </a:r>
                <a14:m>
                  <m:oMath xmlns:m="http://schemas.openxmlformats.org/officeDocument/2006/math">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𝑐</m:t>
                        </m:r>
                      </m:e>
                    </m:rad>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𝑎</m:t>
                        </m:r>
                      </m:e>
                    </m:rad>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r>
                  <a:rPr lang="en-IN" sz="2400">
                    <a:solidFill>
                      <a:srgbClr val="78350F"/>
                    </a:solidFill>
                    <a:latin typeface="Cambria Math" panose="02040503050406030204" pitchFamily="18" charset="0"/>
                  </a:rPr>
                  <a:t>$b=\sqrt{ac}$</a:t>
                </a:r>
                <a:r>
                  <a:rPr sz="2400" b="0">
                    <a:solidFill>
                      <a:srgbClr val="78350F"/>
                    </a:solidFill>
                    <a:latin typeface="Arial"/>
                  </a:rPr>
                  <a:t>, the A.M. condition </a:t>
                </a:r>
                <a:r>
                  <a:rPr lang="en-IN" sz="2400">
                    <a:solidFill>
                      <a:srgbClr val="78350F"/>
                    </a:solidFill>
                    <a:latin typeface="Cambria Math" panose="02040503050406030204" pitchFamily="18" charset="0"/>
                  </a:rPr>
                  <a:t>$a+c-2b=6$</a:t>
                </a:r>
                <a:r>
                  <a:rPr sz="2400" b="0">
                    <a:solidFill>
                      <a:srgbClr val="78350F"/>
                    </a:solidFill>
                    <a:latin typeface="Arial"/>
                  </a:rPr>
                  <a:t> is a perfect square: </a:t>
                </a:r>
                <a:r>
                  <a:rPr lang="en-IN" sz="2400">
                    <a:solidFill>
                      <a:srgbClr val="78350F"/>
                    </a:solidFill>
                    <a:latin typeface="Cambria Math" panose="02040503050406030204" pitchFamily="18" charset="0"/>
                  </a:rPr>
                  <a:t>$(\sqrt c-\sqrt a)^2=6$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G.P. gives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rad>
                  </m:oMath>
                </a14:m>
                <a:r>
                  <a:rPr sz="2400" b="0">
                    <a:solidFill>
                      <a:srgbClr val="111827"/>
                    </a:solidFill>
                    <a:latin typeface="Arial"/>
                  </a:rPr>
                  <a:t> (all terms positive).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𝑐</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G.P. gives </a:t>
                </a:r>
                <a:r>
                  <a:rPr lang="en-IN" sz="2400">
                    <a:solidFill>
                      <a:srgbClr val="111827"/>
                    </a:solidFill>
                    <a:latin typeface="Cambria Math" panose="02040503050406030204" pitchFamily="18" charset="0"/>
                  </a:rPr>
                  <a:t>$b^2=ac$</a:t>
                </a:r>
                <a:r>
                  <a:rPr sz="2400" b="0">
                    <a:solidFill>
                      <a:srgbClr val="111827"/>
                    </a:solidFill>
                    <a:latin typeface="Arial"/>
                  </a:rPr>
                  <a:t>, so </a:t>
                </a:r>
                <a:r>
                  <a:rPr lang="en-IN" sz="2400">
                    <a:solidFill>
                      <a:srgbClr val="111827"/>
                    </a:solidFill>
                    <a:latin typeface="Cambria Math" panose="02040503050406030204" pitchFamily="18" charset="0"/>
                  </a:rPr>
                  <a:t>$b=\sqrt{ac}$</a:t>
                </a:r>
                <a:r>
                  <a:rPr sz="2400" b="0">
                    <a:solidFill>
                      <a:srgbClr val="111827"/>
                    </a:solidFill>
                    <a:latin typeface="Arial"/>
                  </a:rPr>
                  <a:t> (all terms positive).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a:t>
                </a:r>
                <a:r>
                  <a:rPr lang="en-IN" sz="2400">
                    <a:solidFill>
                      <a:srgbClr val="111827"/>
                    </a:solidFill>
                    <a:latin typeface="Cambria Math" panose="02040503050406030204" pitchFamily="18" charset="0"/>
                  </a:rPr>
                  <a:t>$=b+2$</a:t>
                </a:r>
                <a:r>
                  <a:rPr sz="2400" b="0">
                    <a:solidFill>
                      <a:srgbClr val="111827"/>
                    </a:solidFill>
                    <a:latin typeface="Arial"/>
                  </a:rPr>
                  <a:t> gives </a:t>
                </a:r>
                <a:r>
                  <a:rPr lang="en-IN" sz="2400">
                    <a:solidFill>
                      <a:srgbClr val="111827"/>
                    </a:solidFill>
                    <a:latin typeface="Cambria Math" panose="02040503050406030204" pitchFamily="18" charset="0"/>
                  </a:rPr>
                  <a:t>$a+b+c=3b+6$</a:t>
                </a:r>
                <a:r>
                  <a:rPr sz="2400" b="0">
                    <a:solidFill>
                      <a:srgbClr val="111827"/>
                    </a:solidFill>
                    <a:latin typeface="Arial"/>
                  </a:rPr>
                  <a:t>, so </a:t>
                </a:r>
                <a:r>
                  <a:rPr lang="en-IN" sz="2400">
                    <a:solidFill>
                      <a:srgbClr val="111827"/>
                    </a:solidFill>
                    <a:latin typeface="Cambria Math" panose="02040503050406030204" pitchFamily="18" charset="0"/>
                  </a:rPr>
                  <a:t>$a+c-2b=6$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r>
                  <a:rPr lang="en-IN" sz="2400">
                    <a:solidFill>
                      <a:srgbClr val="111827"/>
                    </a:solidFill>
                    <a:latin typeface="Cambria Math" panose="02040503050406030204" pitchFamily="18" charset="0"/>
                  </a:rPr>
                  <a:t>$2b$</a:t>
                </a:r>
                <a:r>
                  <a:rPr sz="2400" b="0">
                    <a:solidFill>
                      <a:srgbClr val="111827"/>
                    </a:solidFill>
                    <a:latin typeface="Arial"/>
                  </a:rPr>
                  <a:t> by </a:t>
                </a:r>
                <a:r>
                  <a:rPr lang="en-IN" sz="2400">
                    <a:solidFill>
                      <a:srgbClr val="111827"/>
                    </a:solidFill>
                    <a:latin typeface="Cambria Math" panose="02040503050406030204" pitchFamily="18" charset="0"/>
                  </a:rPr>
                  <a:t>$2\sqrt{ac}$</a:t>
                </a:r>
                <a:r>
                  <a:rPr sz="2400" b="0">
                    <a:solidFill>
                      <a:srgbClr val="111827"/>
                    </a:solidFill>
                    <a:latin typeface="Arial"/>
                  </a:rPr>
                  <a:t>: </a:t>
                </a:r>
                <a:r>
                  <a:rPr lang="en-IN" sz="2400">
                    <a:solidFill>
                      <a:srgbClr val="111827"/>
                    </a:solidFill>
                    <a:latin typeface="Cambria Math" panose="02040503050406030204" pitchFamily="18" charset="0"/>
                  </a:rPr>
                  <a:t>$a+c-2\sqrt{ac}=(\sqrt c-\sqrt a)^2=6$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(an integer),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𝑐</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oMath>
                </a14:m>
                <a:r>
                  <a:rPr sz="2400" b="0">
                    <a:solidFill>
                      <a:srgbClr val="111827"/>
                    </a:solidFill>
                    <a:latin typeface="Arial"/>
                  </a:rPr>
                  <a:t> and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perfect square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only when it equals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excluded since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$b^2=ac$</a:t>
                </a:r>
                <a:r>
                  <a:rPr sz="2400" b="0">
                    <a:solidFill>
                      <a:srgbClr val="111827"/>
                    </a:solidFill>
                    <a:latin typeface="Arial"/>
                  </a:rPr>
                  <a:t>: </a:t>
                </a:r>
                <a:r>
                  <a:rPr lang="en-IN" sz="2400">
                    <a:solidFill>
                      <a:srgbClr val="111827"/>
                    </a:solidFill>
                    <a:latin typeface="Cambria Math" panose="02040503050406030204" pitchFamily="18" charset="0"/>
                  </a:rPr>
                  <a:t>$\frac ba=\sqrt{\frac ca}=r$</a:t>
                </a:r>
                <a:r>
                  <a:rPr sz="2400" b="0">
                    <a:solidFill>
                      <a:srgbClr val="111827"/>
                    </a:solidFill>
                    <a:latin typeface="Arial"/>
                  </a:rPr>
                  <a:t> (an integer), so </a:t>
                </a:r>
                <a:r>
                  <a:rPr lang="en-IN" sz="2400">
                    <a:solidFill>
                      <a:srgbClr val="111827"/>
                    </a:solidFill>
                    <a:latin typeface="Cambria Math" panose="02040503050406030204" pitchFamily="18" charset="0"/>
                  </a:rPr>
                  <a:t>$\sqrt c=r\sqrt a$</a:t>
                </a:r>
                <a:r>
                  <a:rPr sz="2400" b="0">
                    <a:solidFill>
                      <a:srgbClr val="111827"/>
                    </a:solidFill>
                    <a:latin typeface="Arial"/>
                  </a:rPr>
                  <a:t> and </a:t>
                </a:r>
                <a:r>
                  <a:rPr lang="en-IN" sz="2400">
                    <a:solidFill>
                      <a:srgbClr val="111827"/>
                    </a:solidFill>
                    <a:latin typeface="Cambria Math" panose="02040503050406030204" pitchFamily="18" charset="0"/>
                  </a:rPr>
                  <a:t>$\sqrt a\,(r-1)=\sqrt6$</a:t>
                </a:r>
                <a:r>
                  <a:rPr sz="2400" b="0">
                    <a:solidFill>
                      <a:srgbClr val="111827"/>
                    </a:solidFill>
                    <a:latin typeface="Arial"/>
                  </a:rPr>
                  <a:t>, i.e. </a:t>
                </a:r>
                <a:r>
                  <a:rPr lang="en-IN" sz="2400">
                    <a:solidFill>
                      <a:srgbClr val="111827"/>
                    </a:solidFill>
                    <a:latin typeface="Cambria Math" panose="02040503050406030204" pitchFamily="18" charset="0"/>
                  </a:rPr>
                  <a:t>$a(r-1)^2=6$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perfect square </a:t>
                </a:r>
                <a:r>
                  <a:rPr lang="en-IN" sz="2400">
                    <a:solidFill>
                      <a:srgbClr val="111827"/>
                    </a:solidFill>
                    <a:latin typeface="Cambria Math" panose="02040503050406030204" pitchFamily="18" charset="0"/>
                  </a:rPr>
                  <a:t>$(r-1)^2$</a:t>
                </a:r>
                <a:r>
                  <a:rPr sz="2400" b="0">
                    <a:solidFill>
                      <a:srgbClr val="111827"/>
                    </a:solidFill>
                    <a:latin typeface="Arial"/>
                  </a:rPr>
                  <a:t> divides </a:t>
                </a:r>
                <a:r>
                  <a:rPr lang="en-IN" sz="2400">
                    <a:solidFill>
                      <a:srgbClr val="111827"/>
                    </a:solidFill>
                    <a:latin typeface="Cambria Math" panose="02040503050406030204" pitchFamily="18" charset="0"/>
                  </a:rPr>
                  <a:t>$6$</a:t>
                </a:r>
                <a:r>
                  <a:rPr sz="2400" b="0">
                    <a:solidFill>
                      <a:srgbClr val="111827"/>
                    </a:solidFill>
                    <a:latin typeface="Arial"/>
                  </a:rPr>
                  <a:t> only when it equals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$r=2$</a:t>
                </a:r>
                <a:r>
                  <a:rPr sz="2400" b="0">
                    <a:solidFill>
                      <a:srgbClr val="111827"/>
                    </a:solidFill>
                    <a:latin typeface="Arial"/>
                  </a:rPr>
                  <a:t> (</a:t>
                </a:r>
                <a:r>
                  <a:rPr lang="en-IN" sz="2400">
                    <a:solidFill>
                      <a:srgbClr val="111827"/>
                    </a:solidFill>
                    <a:latin typeface="Cambria Math" panose="02040503050406030204" pitchFamily="18" charset="0"/>
                  </a:rPr>
                  <a:t>$r=0$</a:t>
                </a:r>
                <a:r>
                  <a:rPr sz="2400" b="0">
                    <a:solidFill>
                      <a:srgbClr val="111827"/>
                    </a:solidFill>
                    <a:latin typeface="Arial"/>
                  </a:rPr>
                  <a:t> is excluded since </a:t>
                </a:r>
                <a:r>
                  <a:rPr lang="en-IN" sz="2400">
                    <a:solidFill>
                      <a:srgbClr val="111827"/>
                    </a:solidFill>
                    <a:latin typeface="Cambria Math" panose="02040503050406030204" pitchFamily="18" charset="0"/>
                  </a:rPr>
                  <a:t>$b&gt;0$</a:t>
                </a:r>
                <a:r>
                  <a:rPr sz="2400" b="0">
                    <a:solidFill>
                      <a:srgbClr val="111827"/>
                    </a:solidFill>
                    <a:latin typeface="Arial"/>
                  </a:rPr>
                  <a:t>), </a:t>
                </a:r>
                <a:r>
                  <a:rPr lang="en-IN" sz="2400">
                    <a:solidFill>
                      <a:srgbClr val="111827"/>
                    </a:solidFill>
                    <a:latin typeface="Cambria Math" panose="02040503050406030204" pitchFamily="18" charset="0"/>
                  </a:rPr>
                  <a:t>$a=6$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$\frac{a^2+a-14}{a+1}=a-\frac{14}{a+1}=6-2=4$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a:t>
            </a:r>
            <a:endParaRPr sz="2800">
              <a:solidFill>
                <a:srgbClr val="15803D"/>
              </a:solidFil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positive terms in G.P., </a:t>
                </a:r>
                <a14:m>
                  <m:oMath xmlns:m="http://schemas.openxmlformats.org/officeDocument/2006/math">
                    <m:r>
                      <m:rPr>
                        <m:nor/>
                      </m:rPr>
                      <a:rPr lang="en-IN" sz="2400" i="1">
                        <a:solidFill>
                          <a:srgbClr val="111827"/>
                        </a:solidFill>
                        <a:latin typeface="Cambria Math" panose="02040503050406030204" pitchFamily="18" charset="0"/>
                      </a:rPr>
                      <m:t>𝐴.𝑀.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𝑐</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A.M.–G.M. gap of the outer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G.P. of integers whose second-to-first ratio is an integer can be written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Polynomial division: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positive terms in G.P., </a:t>
                </a:r>
                <a:r>
                  <a:rPr lang="en-IN" sz="2400">
                    <a:solidFill>
                      <a:srgbClr val="111827"/>
                    </a:solidFill>
                    <a:latin typeface="Cambria Math" panose="02040503050406030204" pitchFamily="18" charset="0"/>
                  </a:rPr>
                  <a:t>$\text{A.M.}(a,b,c)-b=\frac{(\sqrt a-\sqrt c)^2}3\ge0$</a:t>
                </a:r>
                <a:r>
                  <a:rPr sz="2400" b="0">
                    <a:solidFill>
                      <a:srgbClr val="111827"/>
                    </a:solidFill>
                    <a:latin typeface="Arial"/>
                  </a:rPr>
                  <a:t>: the A.M.–G.M. gap of the outer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G.P. of integers whose second-to-first ratio is an integer can be written </a:t>
                </a:r>
                <a:r>
                  <a:rPr lang="en-IN" sz="2400">
                    <a:solidFill>
                      <a:srgbClr val="111827"/>
                    </a:solidFill>
                    <a:latin typeface="Cambria Math" panose="02040503050406030204" pitchFamily="18" charset="0"/>
                  </a:rPr>
                  <a:t>$a,ar,ar^2$</a:t>
                </a:r>
                <a:r>
                  <a:rPr sz="2400" b="0">
                    <a:solidFill>
                      <a:srgbClr val="111827"/>
                    </a:solidFill>
                    <a:latin typeface="Arial"/>
                  </a:rPr>
                  <a:t> with </a:t>
                </a:r>
                <a:r>
                  <a:rPr lang="en-IN" sz="2400">
                    <a:solidFill>
                      <a:srgbClr val="111827"/>
                    </a:solidFill>
                    <a:latin typeface="Cambria Math" panose="02040503050406030204" pitchFamily="18" charset="0"/>
                  </a:rPr>
                  <a:t>$r\in\mathbb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Polynomial division: </a:t>
                </a:r>
                <a:r>
                  <a:rPr lang="en-IN" sz="2400">
                    <a:solidFill>
                      <a:srgbClr val="111827"/>
                    </a:solidFill>
                    <a:latin typeface="Cambria Math" panose="02040503050406030204" pitchFamily="18" charset="0"/>
                  </a:rPr>
                  <a:t>$\frac{a^2+a-14}{a+1}=a-\frac{14}{a+1}$</a:t>
                </a:r>
                <a:r>
                  <a:rPr sz="2400" b="0">
                    <a:solidFill>
                      <a:srgbClr val="111827"/>
                    </a:solidFill>
                    <a:latin typeface="Arial"/>
                  </a:rPr>
                  <a:t>; here </a:t>
                </a:r>
                <a:r>
                  <a:rPr lang="en-IN" sz="2400">
                    <a:solidFill>
                      <a:srgbClr val="111827"/>
                    </a:solidFill>
                    <a:latin typeface="Cambria Math" panose="02040503050406030204" pitchFamily="18" charset="0"/>
                  </a:rPr>
                  <a:t>$a+1=7$</a:t>
                </a:r>
                <a:r>
                  <a:rPr sz="2400" b="0">
                    <a:solidFill>
                      <a:srgbClr val="111827"/>
                    </a:solidFill>
                    <a:latin typeface="Arial"/>
                  </a:rPr>
                  <a:t> divides </a:t>
                </a:r>
                <a:r>
                  <a:rPr lang="en-IN" sz="2400">
                    <a:solidFill>
                      <a:srgbClr val="111827"/>
                    </a:solidFill>
                    <a:latin typeface="Cambria Math" panose="02040503050406030204" pitchFamily="18" charset="0"/>
                  </a:rPr>
                  <a:t>$14$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that all the terms of an arithmetic progression (A.P.) are positive integers. If the ratio of the sum of the first seven terms to the sum of the first eleven terms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and the seventh term lies in between </a:t>
                </a:r>
                <a14:m>
                  <m:oMath xmlns:m="http://schemas.openxmlformats.org/officeDocument/2006/math">
                    <m:r>
                      <a:rPr lang="en-IN" sz="2400" i="1">
                        <a:solidFill>
                          <a:srgbClr val="111827"/>
                        </a:solidFill>
                        <a:latin typeface="Cambria Math" panose="02040503050406030204" pitchFamily="18" charset="0"/>
                      </a:rPr>
                      <m:t>130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140</m:t>
                    </m:r>
                  </m:oMath>
                </a14:m>
                <a:r>
                  <a:rPr sz="2400" b="0">
                    <a:solidFill>
                      <a:srgbClr val="111827"/>
                    </a:solidFill>
                    <a:latin typeface="Arial"/>
                  </a:rPr>
                  <a:t>, then the common difference of this A.P. is.</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that all the terms of an arithmetic progression (A.P.) are positive integers. If the ratio of the sum of the first seven terms to the sum of the first eleven terms is </a:t>
                </a:r>
                <a:r>
                  <a:rPr lang="en-IN" sz="2400">
                    <a:solidFill>
                      <a:srgbClr val="111827"/>
                    </a:solidFill>
                    <a:latin typeface="Cambria Math" panose="02040503050406030204" pitchFamily="18" charset="0"/>
                  </a:rPr>
                  <a:t>$6:11$</a:t>
                </a:r>
                <a:r>
                  <a:rPr sz="2400" b="0">
                    <a:solidFill>
                      <a:srgbClr val="111827"/>
                    </a:solidFill>
                    <a:latin typeface="Arial"/>
                  </a:rPr>
                  <a:t> and the seventh term lies in between </a:t>
                </a:r>
                <a:r>
                  <a:rPr lang="en-IN" sz="2400">
                    <a:solidFill>
                      <a:srgbClr val="111827"/>
                    </a:solidFill>
                    <a:latin typeface="Cambria Math" panose="02040503050406030204" pitchFamily="18" charset="0"/>
                  </a:rPr>
                  <a:t>$130$</a:t>
                </a:r>
                <a:r>
                  <a:rPr sz="2400" b="0">
                    <a:solidFill>
                      <a:srgbClr val="111827"/>
                    </a:solidFill>
                    <a:latin typeface="Arial"/>
                  </a:rPr>
                  <a:t> and </a:t>
                </a:r>
                <a:r>
                  <a:rPr lang="en-IN" sz="2400">
                    <a:solidFill>
                      <a:srgbClr val="111827"/>
                    </a:solidFill>
                    <a:latin typeface="Cambria Math" panose="02040503050406030204" pitchFamily="18" charset="0"/>
                  </a:rPr>
                  <a:t>$140$</a:t>
                </a:r>
                <a:r>
                  <a:rPr sz="2400" b="0">
                    <a:solidFill>
                      <a:srgbClr val="111827"/>
                    </a:solidFill>
                    <a:latin typeface="Arial"/>
                  </a:rPr>
                  <a:t>, then the common difference of this A.P. is.</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n terms of an A.P. and bounds on a term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7</m:t>
                            </m:r>
                          </m:sub>
                        </m:sSub>
                      </m:num>
                      <m:den>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11</m:t>
                            </m:r>
                          </m:sub>
                        </m:sSub>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num>
                      <m:den>
                        <m:r>
                          <a:rPr lang="en-IN" sz="2400" i="1">
                            <a:solidFill>
                              <a:srgbClr val="78350F"/>
                            </a:solidFill>
                            <a:latin typeface="Cambria Math" panose="02040503050406030204" pitchFamily="18" charset="0"/>
                          </a:rPr>
                          <m:t>11</m:t>
                        </m:r>
                      </m:den>
                    </m:f>
                  </m:oMath>
                </a14:m>
                <a:r>
                  <a:rPr sz="2400" b="0">
                    <a:solidFill>
                      <a:srgbClr val="78350F"/>
                    </a:solidFill>
                    <a:latin typeface="Arial"/>
                  </a:rPr>
                  <a:t> forces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𝑑</m:t>
                    </m:r>
                  </m:oMath>
                </a14:m>
                <a:r>
                  <a:rPr sz="2400" b="0">
                    <a:solidFill>
                      <a:srgbClr val="78350F"/>
                    </a:solidFill>
                    <a:latin typeface="Arial"/>
                  </a:rPr>
                  <a:t>, so the seventh term is </a:t>
                </a:r>
                <a14:m>
                  <m:oMath xmlns:m="http://schemas.openxmlformats.org/officeDocument/2006/math">
                    <m:r>
                      <a:rPr lang="en-IN" sz="2400" i="1">
                        <a:solidFill>
                          <a:srgbClr val="78350F"/>
                        </a:solidFill>
                        <a:latin typeface="Cambria Math" panose="02040503050406030204" pitchFamily="18" charset="0"/>
                      </a:rPr>
                      <m:t>15</m:t>
                    </m:r>
                    <m:r>
                      <a:rPr lang="en-IN" sz="2400" i="1">
                        <a:solidFill>
                          <a:srgbClr val="78350F"/>
                        </a:solidFill>
                        <a:latin typeface="Cambria Math" panose="02040503050406030204" pitchFamily="18" charset="0"/>
                      </a:rPr>
                      <m:t>𝑑</m:t>
                    </m:r>
                  </m:oMath>
                </a14:m>
                <a:r>
                  <a:rPr sz="2400" b="0">
                    <a:solidFill>
                      <a:srgbClr val="78350F"/>
                    </a:solidFill>
                    <a:latin typeface="Arial"/>
                  </a:rPr>
                  <a:t> and must lie between </a:t>
                </a:r>
                <a14:m>
                  <m:oMath xmlns:m="http://schemas.openxmlformats.org/officeDocument/2006/math">
                    <m:r>
                      <a:rPr lang="en-IN" sz="2400" i="1">
                        <a:solidFill>
                          <a:srgbClr val="78350F"/>
                        </a:solidFill>
                        <a:latin typeface="Cambria Math" panose="02040503050406030204" pitchFamily="18" charset="0"/>
                      </a:rPr>
                      <m:t>130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140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$\frac{S_7}{S_{11}}=\frac6{11}$</a:t>
                </a:r>
                <a:r>
                  <a:rPr sz="2400" b="0">
                    <a:solidFill>
                      <a:srgbClr val="78350F"/>
                    </a:solidFill>
                    <a:latin typeface="Arial"/>
                  </a:rPr>
                  <a:t> forces </a:t>
                </a:r>
                <a:r>
                  <a:rPr lang="en-IN" sz="2400">
                    <a:solidFill>
                      <a:srgbClr val="78350F"/>
                    </a:solidFill>
                    <a:latin typeface="Cambria Math" panose="02040503050406030204" pitchFamily="18" charset="0"/>
                  </a:rPr>
                  <a:t>$a=9d$</a:t>
                </a:r>
                <a:r>
                  <a:rPr sz="2400" b="0">
                    <a:solidFill>
                      <a:srgbClr val="78350F"/>
                    </a:solidFill>
                    <a:latin typeface="Arial"/>
                  </a:rPr>
                  <a:t>, so the seventh term is </a:t>
                </a:r>
                <a:r>
                  <a:rPr lang="en-IN" sz="2400">
                    <a:solidFill>
                      <a:srgbClr val="78350F"/>
                    </a:solidFill>
                    <a:latin typeface="Cambria Math" panose="02040503050406030204" pitchFamily="18" charset="0"/>
                  </a:rPr>
                  <a:t>$15d$</a:t>
                </a:r>
                <a:r>
                  <a:rPr sz="2400" b="0">
                    <a:solidFill>
                      <a:srgbClr val="78350F"/>
                    </a:solidFill>
                    <a:latin typeface="Arial"/>
                  </a:rPr>
                  <a:t> and must lie between </a:t>
                </a:r>
                <a:r>
                  <a:rPr lang="en-IN" sz="2400">
                    <a:solidFill>
                      <a:srgbClr val="78350F"/>
                    </a:solidFill>
                    <a:latin typeface="Cambria Math" panose="02040503050406030204" pitchFamily="18" charset="0"/>
                  </a:rPr>
                  <a:t>$130$</a:t>
                </a:r>
                <a:r>
                  <a:rPr sz="2400" b="0">
                    <a:solidFill>
                      <a:srgbClr val="78350F"/>
                    </a:solidFill>
                    <a:latin typeface="Arial"/>
                  </a:rPr>
                  <a:t> and </a:t>
                </a:r>
                <a:r>
                  <a:rPr lang="en-IN" sz="2400">
                    <a:solidFill>
                      <a:srgbClr val="78350F"/>
                    </a:solidFill>
                    <a:latin typeface="Cambria Math" panose="02040503050406030204" pitchFamily="18" charset="0"/>
                  </a:rPr>
                  <a:t>$140$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A.P. have first term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positive integers. Given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7</m:t>
                            </m:r>
                          </m:sub>
                        </m:sSub>
                      </m:num>
                      <m:den>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11</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A.P. have first term </a:t>
                </a:r>
                <a:r>
                  <a:rPr lang="en-IN" sz="2400">
                    <a:solidFill>
                      <a:srgbClr val="111827"/>
                    </a:solidFill>
                    <a:latin typeface="Cambria Math" panose="02040503050406030204" pitchFamily="18" charset="0"/>
                  </a:rPr>
                  <a:t>$a$</a:t>
                </a:r>
                <a:r>
                  <a:rPr sz="2400" b="0">
                    <a:solidFill>
                      <a:srgbClr val="111827"/>
                    </a:solidFill>
                    <a:latin typeface="Arial"/>
                  </a:rPr>
                  <a:t> and common difference </a:t>
                </a:r>
                <a:r>
                  <a:rPr lang="en-IN" sz="2400">
                    <a:solidFill>
                      <a:srgbClr val="111827"/>
                    </a:solidFill>
                    <a:latin typeface="Cambria Math" panose="02040503050406030204" pitchFamily="18" charset="0"/>
                  </a:rPr>
                  <a:t>$d$</a:t>
                </a:r>
                <a:r>
                  <a:rPr sz="2400" b="0">
                    <a:solidFill>
                      <a:srgbClr val="111827"/>
                    </a:solidFill>
                    <a:latin typeface="Arial"/>
                  </a:rPr>
                  <a:t>, with </a:t>
                </a:r>
                <a:r>
                  <a:rPr lang="en-IN" sz="2400">
                    <a:solidFill>
                      <a:srgbClr val="111827"/>
                    </a:solidFill>
                    <a:latin typeface="Cambria Math" panose="02040503050406030204" pitchFamily="18" charset="0"/>
                  </a:rPr>
                  <a:t>$a,d$</a:t>
                </a:r>
                <a:r>
                  <a:rPr sz="2400" b="0">
                    <a:solidFill>
                      <a:srgbClr val="111827"/>
                    </a:solidFill>
                    <a:latin typeface="Arial"/>
                  </a:rPr>
                  <a:t> positive integers. Given </a:t>
                </a:r>
                <a:r>
                  <a:rPr lang="en-IN" sz="2400">
                    <a:solidFill>
                      <a:srgbClr val="111827"/>
                    </a:solidFill>
                    <a:latin typeface="Cambria Math" panose="02040503050406030204" pitchFamily="18" charset="0"/>
                  </a:rPr>
                  <a:t>$\frac{S_7}{S_{11}}=\frac6{11}$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$S_7=\frac72[2a+6d]=7(a+3d)$</a:t>
                </a:r>
                <a:r>
                  <a:rPr sz="2400" b="0">
                    <a:solidFill>
                      <a:srgbClr val="111827"/>
                    </a:solidFill>
                    <a:latin typeface="Arial"/>
                  </a:rPr>
                  <a:t> and </a:t>
                </a:r>
                <a:r>
                  <a:rPr lang="en-IN" sz="2400">
                    <a:solidFill>
                      <a:srgbClr val="111827"/>
                    </a:solidFill>
                    <a:latin typeface="Cambria Math" panose="02040503050406030204" pitchFamily="18" charset="0"/>
                  </a:rPr>
                  <a:t>$S_{11}=\frac{11}2[2a+10d]=11(a+5d)$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$\frac{7(a+3d)}{11(a+5d)}=\frac6{11}$</a:t>
                </a:r>
                <a:r>
                  <a:rPr sz="2400" b="0">
                    <a:solidFill>
                      <a:srgbClr val="111827"/>
                    </a:solidFill>
                    <a:latin typeface="Arial"/>
                  </a:rPr>
                  <a:t>, i.e. </a:t>
                </a:r>
                <a:r>
                  <a:rPr lang="en-IN" sz="2400">
                    <a:solidFill>
                      <a:srgbClr val="111827"/>
                    </a:solidFill>
                    <a:latin typeface="Cambria Math" panose="02040503050406030204" pitchFamily="18" charset="0"/>
                  </a:rPr>
                  <a:t>$7a+21d=6a+30d$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$a=9d$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seventh term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8.67</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9.33</m:t>
                    </m:r>
                  </m:oMath>
                </a14:m>
                <a:r>
                  <a:rPr sz="2400" b="0">
                    <a:solidFill>
                      <a:srgbClr val="111827"/>
                    </a:solidFill>
                    <a:latin typeface="Arial"/>
                  </a:rPr>
                  <a:t>; the only integer is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1386</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756</m:t>
                        </m:r>
                      </m:num>
                      <m:den>
                        <m:r>
                          <a:rPr lang="en-IN" sz="2400" i="1">
                            <a:solidFill>
                              <a:srgbClr val="111827"/>
                            </a:solidFill>
                            <a:latin typeface="Cambria Math" panose="02040503050406030204" pitchFamily="18" charset="0"/>
                          </a:rPr>
                          <m:t>1386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11</m:t>
                        </m:r>
                      </m:den>
                    </m:f>
                  </m:oMath>
                </a14:m>
                <a:r>
                  <a:rPr sz="2400" b="0">
                    <a:solidFill>
                      <a:srgbClr val="111827"/>
                    </a:solidFill>
                    <a:latin typeface="Arial"/>
                  </a:rPr>
                  <a:t> ✓. The common difference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seventh term is </a:t>
                </a:r>
                <a:r>
                  <a:rPr lang="en-IN" sz="2400">
                    <a:solidFill>
                      <a:srgbClr val="111827"/>
                    </a:solidFill>
                    <a:latin typeface="Cambria Math" panose="02040503050406030204" pitchFamily="18" charset="0"/>
                  </a:rPr>
                  <a:t>$a+6d=9d+6d=15d$</a:t>
                </a:r>
                <a:r>
                  <a:rPr sz="2400" b="0">
                    <a:solidFill>
                      <a:srgbClr val="111827"/>
                    </a:solidFill>
                    <a:latin typeface="Arial"/>
                  </a:rPr>
                  <a:t>, and </a:t>
                </a:r>
                <a:r>
                  <a:rPr lang="en-IN" sz="2400">
                    <a:solidFill>
                      <a:srgbClr val="111827"/>
                    </a:solidFill>
                    <a:latin typeface="Cambria Math" panose="02040503050406030204" pitchFamily="18" charset="0"/>
                  </a:rPr>
                  <a:t>$130&lt;15d&lt;140$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$8.67&lt;d&lt;9.33$</a:t>
                </a:r>
                <a:r>
                  <a:rPr sz="2400" b="0">
                    <a:solidFill>
                      <a:srgbClr val="111827"/>
                    </a:solidFill>
                    <a:latin typeface="Arial"/>
                  </a:rPr>
                  <a:t>; the only integer is </a:t>
                </a:r>
                <a:r>
                  <a:rPr lang="en-IN" sz="2400">
                    <a:solidFill>
                      <a:srgbClr val="111827"/>
                    </a:solidFill>
                    <a:latin typeface="Cambria Math" panose="02040503050406030204" pitchFamily="18" charset="0"/>
                  </a:rPr>
                  <a:t>$d=9$</a:t>
                </a:r>
                <a:r>
                  <a:rPr sz="2400" b="0">
                    <a:solidFill>
                      <a:srgbClr val="111827"/>
                    </a:solidFill>
                    <a:latin typeface="Arial"/>
                  </a:rPr>
                  <a:t> (and then </a:t>
                </a:r>
                <a:r>
                  <a:rPr lang="en-IN" sz="2400">
                    <a:solidFill>
                      <a:srgbClr val="111827"/>
                    </a:solidFill>
                    <a:latin typeface="Cambria Math" panose="02040503050406030204" pitchFamily="18" charset="0"/>
                  </a:rPr>
                  <a:t>$a=81$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$S_7=7(81+27)=756$</a:t>
                </a:r>
                <a:r>
                  <a:rPr sz="2400" b="0">
                    <a:solidFill>
                      <a:srgbClr val="111827"/>
                    </a:solidFill>
                    <a:latin typeface="Arial"/>
                  </a:rPr>
                  <a:t>, </a:t>
                </a:r>
                <a:r>
                  <a:rPr lang="en-IN" sz="2400">
                    <a:solidFill>
                      <a:srgbClr val="111827"/>
                    </a:solidFill>
                    <a:latin typeface="Cambria Math" panose="02040503050406030204" pitchFamily="18" charset="0"/>
                  </a:rPr>
                  <a:t>$S_{11}=11(81+45)=1386$</a:t>
                </a:r>
                <a:r>
                  <a:rPr sz="2400" b="0">
                    <a:solidFill>
                      <a:srgbClr val="111827"/>
                    </a:solidFill>
                    <a:latin typeface="Arial"/>
                  </a:rPr>
                  <a:t> and </a:t>
                </a:r>
                <a:r>
                  <a:rPr lang="en-IN" sz="2400">
                    <a:solidFill>
                      <a:srgbClr val="111827"/>
                    </a:solidFill>
                    <a:latin typeface="Cambria Math" panose="02040503050406030204" pitchFamily="18" charset="0"/>
                  </a:rPr>
                  <a:t>$\frac{756}{1386}=\frac6{11}$</a:t>
                </a:r>
                <a:r>
                  <a:rPr sz="2400" b="0">
                    <a:solidFill>
                      <a:srgbClr val="111827"/>
                    </a:solidFill>
                    <a:latin typeface="Arial"/>
                  </a:rPr>
                  <a:t> ✓. The common difference is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an odd number of terms, the sum is (number of terms)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(middle term):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7</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4</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11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6</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an odd number of terms, the sum is (number of terms) </a:t>
                </a:r>
                <a:r>
                  <a:rPr lang="en-IN" sz="2400">
                    <a:solidFill>
                      <a:srgbClr val="78350F"/>
                    </a:solidFill>
                    <a:latin typeface="Cambria Math" panose="02040503050406030204" pitchFamily="18" charset="0"/>
                  </a:rPr>
                  <a:t>$\times$</a:t>
                </a:r>
                <a:r>
                  <a:rPr sz="2400" b="0">
                    <a:solidFill>
                      <a:srgbClr val="78350F"/>
                    </a:solidFill>
                    <a:latin typeface="Arial"/>
                  </a:rPr>
                  <a:t> (middle term): </a:t>
                </a:r>
                <a:r>
                  <a:rPr lang="en-IN" sz="2400">
                    <a:solidFill>
                      <a:srgbClr val="78350F"/>
                    </a:solidFill>
                    <a:latin typeface="Cambria Math" panose="02040503050406030204" pitchFamily="18" charset="0"/>
                  </a:rPr>
                  <a:t>$S_7=7a_4$</a:t>
                </a:r>
                <a:r>
                  <a:rPr sz="2400" b="0">
                    <a:solidFill>
                      <a:srgbClr val="78350F"/>
                    </a:solidFill>
                    <a:latin typeface="Arial"/>
                  </a:rPr>
                  <a:t> and </a:t>
                </a:r>
                <a:r>
                  <a:rPr lang="en-IN" sz="2400">
                    <a:solidFill>
                      <a:srgbClr val="78350F"/>
                    </a:solidFill>
                    <a:latin typeface="Cambria Math" panose="02040503050406030204" pitchFamily="18" charset="0"/>
                  </a:rPr>
                  <a:t>$S_{11}=11a_6$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an odd number of terms,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(middle term):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7</m:t>
                            </m:r>
                          </m:sub>
                        </m:sSub>
                      </m:num>
                      <m:den>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num>
                      <m:den>
                        <m:r>
                          <a:rPr lang="en-IN" sz="2400" i="1">
                            <a:solidFill>
                              <a:srgbClr val="111827"/>
                            </a:solidFill>
                            <a:latin typeface="Cambria Math" panose="02040503050406030204" pitchFamily="18" charset="0"/>
                          </a:rPr>
                          <m:t>11</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11</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an odd number of terms, </a:t>
                </a:r>
                <a:r>
                  <a:rPr lang="en-IN" sz="2400">
                    <a:solidFill>
                      <a:srgbClr val="111827"/>
                    </a:solidFill>
                    <a:latin typeface="Cambria Math" panose="02040503050406030204" pitchFamily="18" charset="0"/>
                  </a:rPr>
                  <a:t>$S_n=n\times$</a:t>
                </a:r>
                <a:r>
                  <a:rPr sz="2400" b="0">
                    <a:solidFill>
                      <a:srgbClr val="111827"/>
                    </a:solidFill>
                    <a:latin typeface="Arial"/>
                  </a:rPr>
                  <a:t> (middle term): </a:t>
                </a:r>
                <a:r>
                  <a:rPr lang="en-IN" sz="2400">
                    <a:solidFill>
                      <a:srgbClr val="111827"/>
                    </a:solidFill>
                    <a:latin typeface="Cambria Math" panose="02040503050406030204" pitchFamily="18" charset="0"/>
                  </a:rPr>
                  <a:t>$S_7=7a_4$</a:t>
                </a:r>
                <a:r>
                  <a:rPr sz="2400" b="0">
                    <a:solidFill>
                      <a:srgbClr val="111827"/>
                    </a:solidFill>
                    <a:latin typeface="Arial"/>
                  </a:rPr>
                  <a:t> and </a:t>
                </a:r>
                <a:r>
                  <a:rPr lang="en-IN" sz="2400">
                    <a:solidFill>
                      <a:srgbClr val="111827"/>
                    </a:solidFill>
                    <a:latin typeface="Cambria Math" panose="02040503050406030204" pitchFamily="18" charset="0"/>
                  </a:rPr>
                  <a:t>$S_{11}=11a_6$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$\frac{S_7}{S_{11}}=\frac{7a_4}{11a_6}=\frac6{11}$</a:t>
                </a:r>
                <a:r>
                  <a:rPr sz="2400" b="0">
                    <a:solidFill>
                      <a:srgbClr val="111827"/>
                    </a:solidFill>
                    <a:latin typeface="Arial"/>
                  </a:rPr>
                  <a:t> gives </a:t>
                </a:r>
                <a:r>
                  <a:rPr lang="en-IN" sz="2400">
                    <a:solidFill>
                      <a:srgbClr val="111827"/>
                    </a:solidFill>
                    <a:latin typeface="Cambria Math" panose="02040503050406030204" pitchFamily="18" charset="0"/>
                  </a:rPr>
                  <a:t>$7a_4=6a_6$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$a_4=a_6-2d$</a:t>
                </a:r>
                <a:r>
                  <a:rPr sz="2400" b="0">
                    <a:solidFill>
                      <a:srgbClr val="111827"/>
                    </a:solidFill>
                    <a:latin typeface="Arial"/>
                  </a:rPr>
                  <a:t>: </a:t>
                </a:r>
                <a:r>
                  <a:rPr lang="en-IN" sz="2400">
                    <a:solidFill>
                      <a:srgbClr val="111827"/>
                    </a:solidFill>
                    <a:latin typeface="Cambria Math" panose="02040503050406030204" pitchFamily="18" charset="0"/>
                  </a:rPr>
                  <a:t>$7(a_6-2d)=6a_6$</a:t>
                </a:r>
                <a:r>
                  <a:rPr sz="2400" b="0">
                    <a:solidFill>
                      <a:srgbClr val="111827"/>
                    </a:solidFill>
                    <a:latin typeface="Arial"/>
                  </a:rPr>
                  <a:t>, so </a:t>
                </a:r>
                <a:r>
                  <a:rPr lang="en-IN" sz="2400">
                    <a:solidFill>
                      <a:srgbClr val="111827"/>
                    </a:solidFill>
                    <a:latin typeface="Cambria Math" panose="02040503050406030204" pitchFamily="18" charset="0"/>
                  </a:rPr>
                  <a:t>$a_6=14d$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oMath>
                </a14:m>
                <a:r>
                  <a:rPr sz="2400" b="0">
                    <a:solidFill>
                      <a:srgbClr val="111827"/>
                    </a:solidFill>
                    <a:latin typeface="Arial"/>
                  </a:rPr>
                  <a:t> directly.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140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an integer gives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 a positive integer ✓.</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$a_7=a_6+d=15d$</a:t>
                </a:r>
                <a:r>
                  <a:rPr sz="2400" b="0">
                    <a:solidFill>
                      <a:srgbClr val="111827"/>
                    </a:solidFill>
                    <a:latin typeface="Arial"/>
                  </a:rPr>
                  <a:t> directly.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$130&lt;15d&lt;140$</a:t>
                </a:r>
                <a:r>
                  <a:rPr sz="2400" b="0">
                    <a:solidFill>
                      <a:srgbClr val="111827"/>
                    </a:solidFill>
                    <a:latin typeface="Arial"/>
                  </a:rPr>
                  <a:t> with </a:t>
                </a:r>
                <a:r>
                  <a:rPr lang="en-IN" sz="2400">
                    <a:solidFill>
                      <a:srgbClr val="111827"/>
                    </a:solidFill>
                    <a:latin typeface="Cambria Math" panose="02040503050406030204" pitchFamily="18" charset="0"/>
                  </a:rPr>
                  <a:t>$d$</a:t>
                </a:r>
                <a:r>
                  <a:rPr sz="2400" b="0">
                    <a:solidFill>
                      <a:srgbClr val="111827"/>
                    </a:solidFill>
                    <a:latin typeface="Arial"/>
                  </a:rPr>
                  <a:t> an integer gives </a:t>
                </a:r>
                <a:r>
                  <a:rPr lang="en-IN" sz="2400">
                    <a:solidFill>
                      <a:srgbClr val="111827"/>
                    </a:solidFill>
                    <a:latin typeface="Cambria Math" panose="02040503050406030204" pitchFamily="18" charset="0"/>
                  </a:rPr>
                  <a:t>$d=9$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a:t>
                </a:r>
                <a:r>
                  <a:rPr lang="en-IN" sz="2400">
                    <a:solidFill>
                      <a:srgbClr val="111827"/>
                    </a:solidFill>
                    <a:latin typeface="Cambria Math" panose="02040503050406030204" pitchFamily="18" charset="0"/>
                  </a:rPr>
                  <a:t>$a=a_6-5d=9d=81$</a:t>
                </a:r>
                <a:r>
                  <a:rPr sz="2400" b="0">
                    <a:solidFill>
                      <a:srgbClr val="111827"/>
                    </a:solidFill>
                    <a:latin typeface="Arial"/>
                  </a:rPr>
                  <a:t>, a positive integer ✓.</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terms,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(the middle term); this replaces the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formula.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ratio of two partial sums gives one linear relation between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𝑑</m:t>
                    </m:r>
                  </m:oMath>
                </a14:m>
                <a:r>
                  <a:rPr sz="2400" b="0">
                    <a:solidFill>
                      <a:srgbClr val="111827"/>
                    </a:solidFill>
                    <a:latin typeface="Arial"/>
                  </a:rPr>
                  <a:t>), so the progression is fixed up to the scale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 range condition on one term then fixes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𝑑</m:t>
                    </m:r>
                  </m:oMath>
                </a14:m>
                <a:r>
                  <a:rPr sz="2400" b="0">
                    <a:solidFill>
                      <a:srgbClr val="111827"/>
                    </a:solidFill>
                    <a:latin typeface="Arial"/>
                  </a:rPr>
                  <a:t> the general term is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t>
                </a:r>
                <a:r>
                  <a:rPr lang="en-IN" sz="2400">
                    <a:solidFill>
                      <a:srgbClr val="111827"/>
                    </a:solidFill>
                    <a:latin typeface="Cambria Math" panose="02040503050406030204" pitchFamily="18" charset="0"/>
                  </a:rPr>
                  <a:t>$2m+1$</a:t>
                </a:r>
                <a:r>
                  <a:rPr sz="2400" b="0">
                    <a:solidFill>
                      <a:srgbClr val="111827"/>
                    </a:solidFill>
                    <a:latin typeface="Arial"/>
                  </a:rPr>
                  <a:t> terms, </a:t>
                </a:r>
                <a:r>
                  <a:rPr lang="en-IN" sz="2400">
                    <a:solidFill>
                      <a:srgbClr val="111827"/>
                    </a:solidFill>
                    <a:latin typeface="Cambria Math" panose="02040503050406030204" pitchFamily="18" charset="0"/>
                  </a:rPr>
                  <a:t>$S_{2m+1}=(2m+1)\,a_{m+1}$</a:t>
                </a:r>
                <a:r>
                  <a:rPr sz="2400" b="0">
                    <a:solidFill>
                      <a:srgbClr val="111827"/>
                    </a:solidFill>
                    <a:latin typeface="Arial"/>
                  </a:rPr>
                  <a:t> (the middle term); this replaces the </a:t>
                </a:r>
                <a:r>
                  <a:rPr lang="en-IN" sz="2400">
                    <a:solidFill>
                      <a:srgbClr val="111827"/>
                    </a:solidFill>
                    <a:latin typeface="Cambria Math" panose="02040503050406030204" pitchFamily="18" charset="0"/>
                  </a:rPr>
                  <a:t>$\frac n2[2a+(n-1)d]$</a:t>
                </a:r>
                <a:r>
                  <a:rPr sz="2400" b="0">
                    <a:solidFill>
                      <a:srgbClr val="111827"/>
                    </a:solidFill>
                    <a:latin typeface="Arial"/>
                  </a:rPr>
                  <a:t> formula.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ratio of two partial sums gives one linear relation between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$d$</a:t>
                </a:r>
                <a:r>
                  <a:rPr sz="2400" b="0">
                    <a:solidFill>
                      <a:srgbClr val="111827"/>
                    </a:solidFill>
                    <a:latin typeface="Arial"/>
                  </a:rPr>
                  <a:t> (here </a:t>
                </a:r>
                <a:r>
                  <a:rPr lang="en-IN" sz="2400">
                    <a:solidFill>
                      <a:srgbClr val="111827"/>
                    </a:solidFill>
                    <a:latin typeface="Cambria Math" panose="02040503050406030204" pitchFamily="18" charset="0"/>
                  </a:rPr>
                  <a:t>$a=9d$</a:t>
                </a:r>
                <a:r>
                  <a:rPr sz="2400" b="0">
                    <a:solidFill>
                      <a:srgbClr val="111827"/>
                    </a:solidFill>
                    <a:latin typeface="Arial"/>
                  </a:rPr>
                  <a:t>), so the progression is fixed up to the scale </a:t>
                </a:r>
                <a:r>
                  <a:rPr lang="en-IN" sz="2400">
                    <a:solidFill>
                      <a:srgbClr val="111827"/>
                    </a:solidFill>
                    <a:latin typeface="Cambria Math" panose="02040503050406030204" pitchFamily="18" charset="0"/>
                  </a:rPr>
                  <a:t>$d$</a:t>
                </a:r>
                <a:r>
                  <a:rPr sz="2400" b="0">
                    <a:solidFill>
                      <a:srgbClr val="111827"/>
                    </a:solidFill>
                    <a:latin typeface="Arial"/>
                  </a:rPr>
                  <a:t>; a range condition on one term then fixes </a:t>
                </a:r>
                <a:r>
                  <a:rPr lang="en-IN" sz="2400">
                    <a:solidFill>
                      <a:srgbClr val="111827"/>
                    </a:solidFill>
                    <a:latin typeface="Cambria Math" panose="02040503050406030204" pitchFamily="18" charset="0"/>
                  </a:rPr>
                  <a:t>$d$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$a=9d$</a:t>
                </a:r>
                <a:r>
                  <a:rPr sz="2400" b="0">
                    <a:solidFill>
                      <a:srgbClr val="111827"/>
                    </a:solidFill>
                    <a:latin typeface="Arial"/>
                  </a:rPr>
                  <a:t> the general term is </a:t>
                </a:r>
                <a:r>
                  <a:rPr lang="en-IN" sz="2400">
                    <a:solidFill>
                      <a:srgbClr val="111827"/>
                    </a:solidFill>
                    <a:latin typeface="Cambria Math" panose="02040503050406030204" pitchFamily="18" charset="0"/>
                  </a:rPr>
                  <a:t>$a_k=(k+8)d$</a:t>
                </a:r>
                <a:r>
                  <a:rPr sz="2400" b="0">
                    <a:solidFill>
                      <a:srgbClr val="111827"/>
                    </a:solidFill>
                    <a:latin typeface="Arial"/>
                  </a:rPr>
                  <a:t> (so </a:t>
                </a:r>
                <a:r>
                  <a:rPr lang="en-IN" sz="2400">
                    <a:solidFill>
                      <a:srgbClr val="111827"/>
                    </a:solidFill>
                    <a:latin typeface="Cambria Math" panose="02040503050406030204" pitchFamily="18" charset="0"/>
                  </a:rPr>
                  <a:t>$a_7=15d$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Q06 – Q07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3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least value of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for which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least value of </a:t>
                </a:r>
                <a:r>
                  <a:rPr lang="en-IN" sz="2400">
                    <a:solidFill>
                      <a:srgbClr val="111827"/>
                    </a:solidFill>
                    <a:latin typeface="Cambria Math" panose="02040503050406030204" pitchFamily="18" charset="0"/>
                  </a:rPr>
                  <a:t>$\alpha$</a:t>
                </a:r>
                <a:r>
                  <a:rPr sz="2400" b="0">
                    <a:solidFill>
                      <a:srgbClr val="111827"/>
                    </a:solidFill>
                    <a:latin typeface="Arial"/>
                  </a:rPr>
                  <a:t> for which </a:t>
                </a:r>
                <a:r>
                  <a:rPr lang="en-IN" sz="2400">
                    <a:solidFill>
                      <a:srgbClr val="111827"/>
                    </a:solidFill>
                    <a:latin typeface="Cambria Math" panose="02040503050406030204" pitchFamily="18" charset="0"/>
                  </a:rPr>
                  <a:t>$4\alpha x^2+\frac1x\ge1$</a:t>
                </a:r>
                <a:r>
                  <a:rPr sz="2400" b="0">
                    <a:solidFill>
                      <a:srgbClr val="111827"/>
                    </a:solidFill>
                    <a:latin typeface="Arial"/>
                  </a:rPr>
                  <a:t>, for all </a:t>
                </a:r>
                <a:r>
                  <a:rPr lang="en-IN" sz="2400">
                    <a:solidFill>
                      <a:srgbClr val="111827"/>
                    </a:solidFill>
                    <a:latin typeface="Cambria Math" panose="02040503050406030204" pitchFamily="18" charset="0"/>
                  </a:rPr>
                  <a:t>$x&gt;0$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$\frac1{64}$</a:t>
                </a:r>
                <a:r>
                  <a:rPr sz="2400" b="0">
                    <a:solidFill>
                      <a:srgbClr val="111827"/>
                    </a:solidFill>
                    <a:latin typeface="Arial"/>
                  </a:rPr>
                  <a:t>   (B) </a:t>
                </a:r>
                <a:r>
                  <a:rPr lang="en-IN" sz="2400">
                    <a:solidFill>
                      <a:srgbClr val="111827"/>
                    </a:solidFill>
                    <a:latin typeface="Cambria Math" panose="02040503050406030204" pitchFamily="18" charset="0"/>
                  </a:rPr>
                  <a:t>$\frac1{32}$</a:t>
                </a:r>
                <a:r>
                  <a:rPr sz="2400" b="0">
                    <a:solidFill>
                      <a:srgbClr val="111827"/>
                    </a:solidFill>
                    <a:latin typeface="Arial"/>
                  </a:rPr>
                  <a:t>   (C) </a:t>
                </a:r>
                <a:r>
                  <a:rPr lang="en-IN" sz="2400">
                    <a:solidFill>
                      <a:srgbClr val="111827"/>
                    </a:solidFill>
                    <a:latin typeface="Cambria Math" panose="02040503050406030204" pitchFamily="18" charset="0"/>
                  </a:rPr>
                  <a:t>$\frac1{27}$</a:t>
                </a:r>
                <a:r>
                  <a:rPr sz="2400" b="0">
                    <a:solidFill>
                      <a:srgbClr val="111827"/>
                    </a:solidFill>
                    <a:latin typeface="Arial"/>
                  </a:rPr>
                  <a:t>   (D) </a:t>
                </a:r>
                <a:r>
                  <a:rPr lang="en-IN" sz="2400">
                    <a:solidFill>
                      <a:srgbClr val="111827"/>
                    </a:solidFill>
                    <a:latin typeface="Cambria Math" panose="02040503050406030204" pitchFamily="18" charset="0"/>
                  </a:rPr>
                  <a:t>$\frac1{25}$</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A.M.-G.M. inequality for least value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as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oMath>
                </a14:m>
                <a:r>
                  <a:rPr sz="2400" b="0">
                    <a:solidFill>
                      <a:srgbClr val="78350F"/>
                    </a:solidFill>
                    <a:latin typeface="Arial"/>
                  </a:rPr>
                  <a:t> so that A.M.–G.M. on three terms removes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r>
                  <a:rPr lang="en-IN" sz="2400">
                    <a:solidFill>
                      <a:srgbClr val="78350F"/>
                    </a:solidFill>
                    <a:latin typeface="Cambria Math" panose="02040503050406030204" pitchFamily="18" charset="0"/>
                  </a:rPr>
                  <a:t>$\frac1x$</a:t>
                </a:r>
                <a:r>
                  <a:rPr sz="2400" b="0">
                    <a:solidFill>
                      <a:srgbClr val="78350F"/>
                    </a:solidFill>
                    <a:latin typeface="Arial"/>
                  </a:rPr>
                  <a:t> as </a:t>
                </a:r>
                <a:r>
                  <a:rPr lang="en-IN" sz="2400">
                    <a:solidFill>
                      <a:srgbClr val="78350F"/>
                    </a:solidFill>
                    <a:latin typeface="Cambria Math" panose="02040503050406030204" pitchFamily="18" charset="0"/>
                  </a:rPr>
                  <a:t>$\frac1{2x}+\frac1{2x}$</a:t>
                </a:r>
                <a:r>
                  <a:rPr sz="2400" b="0">
                    <a:solidFill>
                      <a:srgbClr val="78350F"/>
                    </a:solidFill>
                    <a:latin typeface="Arial"/>
                  </a:rPr>
                  <a:t> so that A.M.–G.M. on three terms removes </a:t>
                </a:r>
                <a:r>
                  <a:rPr lang="en-IN" sz="2400">
                    <a:solidFill>
                      <a:srgbClr val="78350F"/>
                    </a:solidFill>
                    <a:latin typeface="Cambria Math" panose="02040503050406030204" pitchFamily="18" charset="0"/>
                  </a:rPr>
                  <a:t>$x$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left side is at most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and fails the inequality for large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oMath>
                </a14:m>
                <a:r>
                  <a:rPr sz="2400" b="0">
                    <a:solidFill>
                      <a:srgbClr val="111827"/>
                    </a:solidFill>
                    <a:latin typeface="Arial"/>
                  </a:rPr>
                  <a:t>: three positive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G.M.: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$\alpha\le0$</a:t>
                </a:r>
                <a:r>
                  <a:rPr sz="2400" b="0">
                    <a:solidFill>
                      <a:srgbClr val="111827"/>
                    </a:solidFill>
                    <a:latin typeface="Arial"/>
                  </a:rPr>
                  <a:t> the left side is at most </a:t>
                </a:r>
                <a:r>
                  <a:rPr lang="en-IN" sz="2400">
                    <a:solidFill>
                      <a:srgbClr val="111827"/>
                    </a:solidFill>
                    <a:latin typeface="Cambria Math" panose="02040503050406030204" pitchFamily="18" charset="0"/>
                  </a:rPr>
                  <a:t>$\frac1x$</a:t>
                </a:r>
                <a:r>
                  <a:rPr sz="2400" b="0">
                    <a:solidFill>
                      <a:srgbClr val="111827"/>
                    </a:solidFill>
                    <a:latin typeface="Arial"/>
                  </a:rPr>
                  <a:t> and fails the inequality for large </a:t>
                </a:r>
                <a:r>
                  <a:rPr lang="en-IN" sz="2400">
                    <a:solidFill>
                      <a:srgbClr val="111827"/>
                    </a:solidFill>
                    <a:latin typeface="Cambria Math" panose="02040503050406030204" pitchFamily="18" charset="0"/>
                  </a:rPr>
                  <a:t>$x$</a:t>
                </a:r>
                <a:r>
                  <a:rPr sz="2400" b="0">
                    <a:solidFill>
                      <a:srgbClr val="111827"/>
                    </a:solidFill>
                    <a:latin typeface="Arial"/>
                  </a:rPr>
                  <a:t> (e.g. </a:t>
                </a:r>
                <a:r>
                  <a:rPr lang="en-IN" sz="2400">
                    <a:solidFill>
                      <a:srgbClr val="111827"/>
                    </a:solidFill>
                    <a:latin typeface="Cambria Math" panose="02040503050406030204" pitchFamily="18" charset="0"/>
                  </a:rPr>
                  <a:t>$x=2$</a:t>
                </a:r>
                <a:r>
                  <a:rPr sz="2400" b="0">
                    <a:solidFill>
                      <a:srgbClr val="111827"/>
                    </a:solidFill>
                    <a:latin typeface="Arial"/>
                  </a:rPr>
                  <a:t> gives </a:t>
                </a:r>
                <a:r>
                  <a:rPr lang="en-IN" sz="2400">
                    <a:solidFill>
                      <a:srgbClr val="111827"/>
                    </a:solidFill>
                    <a:latin typeface="Cambria Math" panose="02040503050406030204" pitchFamily="18" charset="0"/>
                  </a:rPr>
                  <a:t>$\le\frac12$</a:t>
                </a:r>
                <a:r>
                  <a:rPr sz="2400" b="0">
                    <a:solidFill>
                      <a:srgbClr val="111827"/>
                    </a:solidFill>
                    <a:latin typeface="Arial"/>
                  </a:rPr>
                  <a:t>), so </a:t>
                </a:r>
                <a:r>
                  <a:rPr lang="en-IN" sz="2400">
                    <a:solidFill>
                      <a:srgbClr val="111827"/>
                    </a:solidFill>
                    <a:latin typeface="Cambria Math" panose="02040503050406030204" pitchFamily="18" charset="0"/>
                  </a:rPr>
                  <a:t>$\alpha&gt;0$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$4\alpha x^2+\frac1x=4\alpha x^2+\frac1{2x}+\frac1{2x}$</a:t>
                </a:r>
                <a:r>
                  <a:rPr sz="2400" b="0">
                    <a:solidFill>
                      <a:srgbClr val="111827"/>
                    </a:solidFill>
                    <a:latin typeface="Arial"/>
                  </a:rPr>
                  <a:t>: three positive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 </a:t>
                </a:r>
                <a:r>
                  <a:rPr lang="en-IN" sz="2400">
                    <a:solidFill>
                      <a:srgbClr val="111827"/>
                    </a:solidFill>
                    <a:latin typeface="Cambria Math" panose="02040503050406030204" pitchFamily="18" charset="0"/>
                  </a:rPr>
                  <a:t>$\ge$</a:t>
                </a:r>
                <a:r>
                  <a:rPr sz="2400" b="0">
                    <a:solidFill>
                      <a:srgbClr val="111827"/>
                    </a:solidFill>
                    <a:latin typeface="Arial"/>
                  </a:rPr>
                  <a:t> G.M.: </a:t>
                </a:r>
                <a:r>
                  <a:rPr lang="en-IN" sz="2400">
                    <a:solidFill>
                      <a:srgbClr val="111827"/>
                    </a:solidFill>
                    <a:latin typeface="Cambria Math" panose="02040503050406030204" pitchFamily="18" charset="0"/>
                  </a:rPr>
                  <a:t>$\frac{4\alpha x^2+\frac1{2x}+\frac1{2x}}3\ge\left(4\alpha x^2\cdot\frac1{2x}\cdot\frac1{2x}\right)^{1/3}$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is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free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is attainable (when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oMath>
                </a14:m>
                <a:r>
                  <a:rPr sz="2400" b="0">
                    <a:solidFill>
                      <a:srgbClr val="111827"/>
                    </a:solidFill>
                    <a:latin typeface="Arial"/>
                  </a:rPr>
                  <a:t>), so the minimum of the left side over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exactly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therefore needs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the least value is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is </a:t>
                </a:r>
                <a:r>
                  <a:rPr lang="en-IN" sz="2400">
                    <a:solidFill>
                      <a:srgbClr val="111827"/>
                    </a:solidFill>
                    <a:latin typeface="Cambria Math" panose="02040503050406030204" pitchFamily="18" charset="0"/>
                  </a:rPr>
                  <a:t>$4\alpha x^2\cdot\frac1{4x^2}=\alpha$</a:t>
                </a:r>
                <a:r>
                  <a:rPr sz="2400" b="0">
                    <a:solidFill>
                      <a:srgbClr val="111827"/>
                    </a:solidFill>
                    <a:latin typeface="Arial"/>
                  </a:rPr>
                  <a:t>, so </a:t>
                </a:r>
                <a:r>
                  <a:rPr lang="en-IN" sz="2400">
                    <a:solidFill>
                      <a:srgbClr val="111827"/>
                    </a:solidFill>
                    <a:latin typeface="Cambria Math" panose="02040503050406030204" pitchFamily="18" charset="0"/>
                  </a:rPr>
                  <a:t>$4\alpha x^2+\frac1x\ge3\alpha^{1/3}$</a:t>
                </a:r>
                <a:r>
                  <a:rPr sz="2400" b="0">
                    <a:solidFill>
                      <a:srgbClr val="111827"/>
                    </a:solidFill>
                    <a:latin typeface="Arial"/>
                  </a:rPr>
                  <a:t>, free of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is attainable (when </a:t>
                </a:r>
                <a:r>
                  <a:rPr lang="en-IN" sz="2400">
                    <a:solidFill>
                      <a:srgbClr val="111827"/>
                    </a:solidFill>
                    <a:latin typeface="Cambria Math" panose="02040503050406030204" pitchFamily="18" charset="0"/>
                  </a:rPr>
                  <a:t>$4\alpha x^2=\frac1{2x}$</a:t>
                </a:r>
                <a:r>
                  <a:rPr sz="2400" b="0">
                    <a:solidFill>
                      <a:srgbClr val="111827"/>
                    </a:solidFill>
                    <a:latin typeface="Arial"/>
                  </a:rPr>
                  <a:t>), so the minimum of the left side over </a:t>
                </a:r>
                <a:r>
                  <a:rPr lang="en-IN" sz="2400">
                    <a:solidFill>
                      <a:srgbClr val="111827"/>
                    </a:solidFill>
                    <a:latin typeface="Cambria Math" panose="02040503050406030204" pitchFamily="18" charset="0"/>
                  </a:rPr>
                  <a:t>$x&gt;0$</a:t>
                </a:r>
                <a:r>
                  <a:rPr sz="2400" b="0">
                    <a:solidFill>
                      <a:srgbClr val="111827"/>
                    </a:solidFill>
                    <a:latin typeface="Arial"/>
                  </a:rPr>
                  <a:t> is exactly </a:t>
                </a:r>
                <a:r>
                  <a:rPr lang="en-IN" sz="2400">
                    <a:solidFill>
                      <a:srgbClr val="111827"/>
                    </a:solidFill>
                    <a:latin typeface="Cambria Math" panose="02040503050406030204" pitchFamily="18" charset="0"/>
                  </a:rPr>
                  <a:t>$3\alpha^{1/3}$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r>
                  <a:rPr lang="en-IN" sz="2400">
                    <a:solidFill>
                      <a:srgbClr val="111827"/>
                    </a:solidFill>
                    <a:latin typeface="Cambria Math" panose="02040503050406030204" pitchFamily="18" charset="0"/>
                  </a:rPr>
                  <a:t>$4\alpha x^2+\frac1x\ge1$</a:t>
                </a:r>
                <a:r>
                  <a:rPr sz="2400" b="0">
                    <a:solidFill>
                      <a:srgbClr val="111827"/>
                    </a:solidFill>
                    <a:latin typeface="Arial"/>
                  </a:rPr>
                  <a:t> for all </a:t>
                </a:r>
                <a:r>
                  <a:rPr lang="en-IN" sz="2400">
                    <a:solidFill>
                      <a:srgbClr val="111827"/>
                    </a:solidFill>
                    <a:latin typeface="Cambria Math" panose="02040503050406030204" pitchFamily="18" charset="0"/>
                  </a:rPr>
                  <a:t>$x&gt;0$</a:t>
                </a:r>
                <a:r>
                  <a:rPr sz="2400" b="0">
                    <a:solidFill>
                      <a:srgbClr val="111827"/>
                    </a:solidFill>
                    <a:latin typeface="Arial"/>
                  </a:rPr>
                  <a:t> therefore needs </a:t>
                </a:r>
                <a:r>
                  <a:rPr lang="en-IN" sz="2400">
                    <a:solidFill>
                      <a:srgbClr val="111827"/>
                    </a:solidFill>
                    <a:latin typeface="Cambria Math" panose="02040503050406030204" pitchFamily="18" charset="0"/>
                  </a:rPr>
                  <a:t>$3\alpha^{1/3}\ge1$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$\alpha^{1/3}\ge\frac13\Rightarrow\alpha\ge\frac1{27}$</a:t>
                </a:r>
                <a:r>
                  <a:rPr sz="2400" b="0">
                    <a:solidFill>
                      <a:srgbClr val="111827"/>
                    </a:solidFill>
                    <a:latin typeface="Arial"/>
                  </a:rPr>
                  <a:t>; the least value is </a:t>
                </a:r>
                <a:r>
                  <a:rPr lang="en-IN" sz="2400">
                    <a:solidFill>
                      <a:srgbClr val="111827"/>
                    </a:solidFill>
                    <a:latin typeface="Cambria Math" panose="02040503050406030204" pitchFamily="18" charset="0"/>
                  </a:rPr>
                  <a:t>$\alpha=\frac1{27}$</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1/27</a:t>
            </a:r>
            <a:endParaRPr sz="2800">
              <a:solidFill>
                <a:srgbClr val="15803D"/>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Minimise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α</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by calculus and demand </a:t>
                </a:r>
                <a14:m>
                  <m:oMath xmlns:m="http://schemas.openxmlformats.org/officeDocument/2006/math">
                    <m:sSub>
                      <m:e>
                        <m:r>
                          <a:rPr lang="en-IN" sz="2400" i="1">
                            <a:solidFill>
                              <a:srgbClr val="78350F"/>
                            </a:solidFill>
                            <a:latin typeface="Cambria Math" panose="02040503050406030204" pitchFamily="18" charset="0"/>
                          </a:rPr>
                          <m:t>𝑓</m:t>
                        </m:r>
                      </m:e>
                      <m:sub>
                        <m:r>
                          <m:rPr>
                            <m:sty m:val="p"/>
                          </m:rPr>
                          <a:rPr lang="en-IN" sz="2400">
                            <a:solidFill>
                              <a:srgbClr val="78350F"/>
                            </a:solidFill>
                            <a:latin typeface="Cambria Math" panose="02040503050406030204" pitchFamily="18" charset="0"/>
                          </a:rPr>
                          <m:t>min</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Minimise </a:t>
                </a:r>
                <a:r>
                  <a:rPr lang="en-IN" sz="2400">
                    <a:solidFill>
                      <a:srgbClr val="78350F"/>
                    </a:solidFill>
                    <a:latin typeface="Cambria Math" panose="02040503050406030204" pitchFamily="18" charset="0"/>
                  </a:rPr>
                  <a:t>$f(x)=4\alpha x^2+\frac1x$</a:t>
                </a:r>
                <a:r>
                  <a:rPr sz="2400" b="0">
                    <a:solidFill>
                      <a:srgbClr val="78350F"/>
                    </a:solidFill>
                    <a:latin typeface="Arial"/>
                  </a:rPr>
                  <a:t> by calculus and demand </a:t>
                </a:r>
                <a:r>
                  <a:rPr lang="en-IN" sz="2400">
                    <a:solidFill>
                      <a:srgbClr val="78350F"/>
                    </a:solidFill>
                    <a:latin typeface="Cambria Math" panose="02040503050406030204" pitchFamily="18" charset="0"/>
                  </a:rPr>
                  <a:t>$f_{\min}\ge1$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den>
                    </m:f>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before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after, 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the global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$\alpha&gt;0$</a:t>
                </a:r>
                <a:r>
                  <a:rPr sz="2400" b="0">
                    <a:solidFill>
                      <a:srgbClr val="111827"/>
                    </a:solidFill>
                    <a:latin typeface="Arial"/>
                  </a:rPr>
                  <a:t> let </a:t>
                </a:r>
                <a:r>
                  <a:rPr lang="en-IN" sz="2400">
                    <a:solidFill>
                      <a:srgbClr val="111827"/>
                    </a:solidFill>
                    <a:latin typeface="Cambria Math" panose="02040503050406030204" pitchFamily="18" charset="0"/>
                  </a:rPr>
                  <a:t>$f(x)=4\alpha x^2+\frac1x$</a:t>
                </a:r>
                <a:r>
                  <a:rPr sz="2400" b="0">
                    <a:solidFill>
                      <a:srgbClr val="111827"/>
                    </a:solidFill>
                    <a:latin typeface="Arial"/>
                  </a:rPr>
                  <a:t> on </a:t>
                </a:r>
                <a:r>
                  <a:rPr lang="en-IN" sz="2400">
                    <a:solidFill>
                      <a:srgbClr val="111827"/>
                    </a:solidFill>
                    <a:latin typeface="Cambria Math" panose="02040503050406030204" pitchFamily="18" charset="0"/>
                  </a:rPr>
                  <a:t>$x&gt;0$</a:t>
                </a:r>
                <a:r>
                  <a:rPr sz="2400" b="0">
                    <a:solidFill>
                      <a:srgbClr val="111827"/>
                    </a:solidFill>
                    <a:latin typeface="Arial"/>
                  </a:rPr>
                  <a:t>. Then </a:t>
                </a:r>
                <a:r>
                  <a:rPr lang="en-IN" sz="2400">
                    <a:solidFill>
                      <a:srgbClr val="111827"/>
                    </a:solidFill>
                    <a:latin typeface="Cambria Math" panose="02040503050406030204" pitchFamily="18" charset="0"/>
                  </a:rPr>
                  <a:t>$f'(x)=8\alpha x-\frac1{x^2}$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$f'(x)=0\Rightarrow x^3=\frac1{8\alpha}$</a:t>
                </a:r>
                <a:r>
                  <a:rPr sz="2400" b="0">
                    <a:solidFill>
                      <a:srgbClr val="111827"/>
                    </a:solidFill>
                    <a:latin typeface="Arial"/>
                  </a:rPr>
                  <a:t>, so </a:t>
                </a:r>
                <a:r>
                  <a:rPr lang="en-IN" sz="2400">
                    <a:solidFill>
                      <a:srgbClr val="111827"/>
                    </a:solidFill>
                    <a:latin typeface="Cambria Math" panose="02040503050406030204" pitchFamily="18" charset="0"/>
                  </a:rPr>
                  <a:t>$x_0=\frac1{2\alpha^{1/3}}$</a:t>
                </a:r>
                <a:r>
                  <a:rPr sz="2400" b="0">
                    <a:solidFill>
                      <a:srgbClr val="111827"/>
                    </a:solidFill>
                    <a:latin typeface="Arial"/>
                  </a:rPr>
                  <a:t>. </a:t>
                </a:r>
                <a:r>
                  <a:rPr lang="en-IN" sz="2400">
                    <a:solidFill>
                      <a:srgbClr val="111827"/>
                    </a:solidFill>
                    <a:latin typeface="Cambria Math" panose="02040503050406030204" pitchFamily="18" charset="0"/>
                  </a:rPr>
                  <a:t>$f'&lt;0$</a:t>
                </a:r>
                <a:r>
                  <a:rPr sz="2400" b="0">
                    <a:solidFill>
                      <a:srgbClr val="111827"/>
                    </a:solidFill>
                    <a:latin typeface="Arial"/>
                  </a:rPr>
                  <a:t> before </a:t>
                </a:r>
                <a:r>
                  <a:rPr lang="en-IN" sz="2400">
                    <a:solidFill>
                      <a:srgbClr val="111827"/>
                    </a:solidFill>
                    <a:latin typeface="Cambria Math" panose="02040503050406030204" pitchFamily="18" charset="0"/>
                  </a:rPr>
                  <a:t>$x_0$</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after, so </a:t>
                </a:r>
                <a:r>
                  <a:rPr lang="en-IN" sz="2400">
                    <a:solidFill>
                      <a:srgbClr val="111827"/>
                    </a:solidFill>
                    <a:latin typeface="Cambria Math" panose="02040503050406030204" pitchFamily="18" charset="0"/>
                  </a:rPr>
                  <a:t>$x_0$</a:t>
                </a:r>
                <a:r>
                  <a:rPr sz="2400" b="0">
                    <a:solidFill>
                      <a:srgbClr val="111827"/>
                    </a:solidFill>
                    <a:latin typeface="Arial"/>
                  </a:rPr>
                  <a:t> is the global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$x_0$</a:t>
                </a:r>
                <a:r>
                  <a:rPr sz="2400" b="0">
                    <a:solidFill>
                      <a:srgbClr val="111827"/>
                    </a:solidFill>
                    <a:latin typeface="Arial"/>
                  </a:rPr>
                  <a:t>: </a:t>
                </a:r>
                <a:r>
                  <a:rPr lang="en-IN" sz="2400">
                    <a:solidFill>
                      <a:srgbClr val="111827"/>
                    </a:solidFill>
                    <a:latin typeface="Cambria Math" panose="02040503050406030204" pitchFamily="18" charset="0"/>
                  </a:rPr>
                  <a:t>$4\alpha x_0^2=4\alpha\cdot\frac1{4\alpha^{2/3}}=\alpha^{1/3}$</a:t>
                </a:r>
                <a:r>
                  <a:rPr sz="2400" b="0">
                    <a:solidFill>
                      <a:srgbClr val="111827"/>
                    </a:solidFill>
                    <a:latin typeface="Arial"/>
                  </a:rPr>
                  <a:t> and </a:t>
                </a:r>
                <a:r>
                  <a:rPr lang="en-IN" sz="2400">
                    <a:solidFill>
                      <a:srgbClr val="111827"/>
                    </a:solidFill>
                    <a:latin typeface="Cambria Math" panose="02040503050406030204" pitchFamily="18" charset="0"/>
                  </a:rPr>
                  <a:t>$\frac1{x_0}=2\alpha^{1/3}$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The least value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$f_{\min}=3\alpha^{1/3}$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$f_{\min}\ge1\Rightarrow\alpha\ge\frac1{27}$</a:t>
                </a:r>
                <a:r>
                  <a:rPr sz="2400" b="0">
                    <a:solidFill>
                      <a:srgbClr val="111827"/>
                    </a:solidFill>
                    <a:latin typeface="Arial"/>
                  </a:rPr>
                  <a:t>. The least value is </a:t>
                </a:r>
                <a:r>
                  <a:rPr lang="en-IN" sz="2400">
                    <a:solidFill>
                      <a:srgbClr val="111827"/>
                    </a:solidFill>
                    <a:latin typeface="Cambria Math" panose="02040503050406030204" pitchFamily="18" charset="0"/>
                  </a:rPr>
                  <a:t>$\frac1{27}$</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1/27</a:t>
            </a:r>
            <a:endParaRPr sz="2800">
              <a:solidFill>
                <a:srgbClr val="15803D"/>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minimise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split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 parts and </a:t>
                </a: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equal parts so the powers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cancel in the product. 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statement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means </a:t>
                </a:r>
                <a14:m>
                  <m:oMath xmlns:m="http://schemas.openxmlformats.org/officeDocument/2006/math">
                    <m:r>
                      <m:rPr>
                        <m:sty m:val="p"/>
                      </m:rPr>
                      <a:rPr lang="en-IN" sz="2400">
                        <a:solidFill>
                          <a:srgbClr val="111827"/>
                        </a:solidFill>
                        <a:latin typeface="Cambria Math" panose="02040503050406030204" pitchFamily="18" charset="0"/>
                      </a:rPr>
                      <m:t>min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A.M.–G.M. gives the true minimum only if its equality case is attainable (the parts must be able to be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minimise </a:t>
                </a:r>
                <a:r>
                  <a:rPr lang="en-IN" sz="2400">
                    <a:solidFill>
                      <a:srgbClr val="111827"/>
                    </a:solidFill>
                    <a:latin typeface="Cambria Math" panose="02040503050406030204" pitchFamily="18" charset="0"/>
                  </a:rPr>
                  <a:t>$Ax^m+Bx^{-n}$</a:t>
                </a:r>
                <a:r>
                  <a:rPr sz="2400" b="0">
                    <a:solidFill>
                      <a:srgbClr val="111827"/>
                    </a:solidFill>
                    <a:latin typeface="Arial"/>
                  </a:rPr>
                  <a:t> (</a:t>
                </a:r>
                <a:r>
                  <a:rPr lang="en-IN" sz="2400">
                    <a:solidFill>
                      <a:srgbClr val="111827"/>
                    </a:solidFill>
                    <a:latin typeface="Cambria Math" panose="02040503050406030204" pitchFamily="18" charset="0"/>
                  </a:rPr>
                  <a:t>$A,B,x&gt;0$</a:t>
                </a:r>
                <a:r>
                  <a:rPr sz="2400" b="0">
                    <a:solidFill>
                      <a:srgbClr val="111827"/>
                    </a:solidFill>
                    <a:latin typeface="Arial"/>
                  </a:rPr>
                  <a:t>) split </a:t>
                </a:r>
                <a:r>
                  <a:rPr lang="en-IN" sz="2400">
                    <a:solidFill>
                      <a:srgbClr val="111827"/>
                    </a:solidFill>
                    <a:latin typeface="Cambria Math" panose="02040503050406030204" pitchFamily="18" charset="0"/>
                  </a:rPr>
                  <a:t>$Ax^m$</a:t>
                </a:r>
                <a:r>
                  <a:rPr sz="2400" b="0">
                    <a:solidFill>
                      <a:srgbClr val="111827"/>
                    </a:solidFill>
                    <a:latin typeface="Arial"/>
                  </a:rPr>
                  <a:t> into </a:t>
                </a:r>
                <a:r>
                  <a:rPr lang="en-IN" sz="2400">
                    <a:solidFill>
                      <a:srgbClr val="111827"/>
                    </a:solidFill>
                    <a:latin typeface="Cambria Math" panose="02040503050406030204" pitchFamily="18" charset="0"/>
                  </a:rPr>
                  <a:t>$n$</a:t>
                </a:r>
                <a:r>
                  <a:rPr sz="2400" b="0">
                    <a:solidFill>
                      <a:srgbClr val="111827"/>
                    </a:solidFill>
                    <a:latin typeface="Arial"/>
                  </a:rPr>
                  <a:t> equal parts and </a:t>
                </a:r>
                <a:r>
                  <a:rPr lang="en-IN" sz="2400">
                    <a:solidFill>
                      <a:srgbClr val="111827"/>
                    </a:solidFill>
                    <a:latin typeface="Cambria Math" panose="02040503050406030204" pitchFamily="18" charset="0"/>
                  </a:rPr>
                  <a:t>$Bx^{-n}$</a:t>
                </a:r>
                <a:r>
                  <a:rPr sz="2400" b="0">
                    <a:solidFill>
                      <a:srgbClr val="111827"/>
                    </a:solidFill>
                    <a:latin typeface="Arial"/>
                  </a:rPr>
                  <a:t> into </a:t>
                </a:r>
                <a:r>
                  <a:rPr lang="en-IN" sz="2400">
                    <a:solidFill>
                      <a:srgbClr val="111827"/>
                    </a:solidFill>
                    <a:latin typeface="Cambria Math" panose="02040503050406030204" pitchFamily="18" charset="0"/>
                  </a:rPr>
                  <a:t>$m$</a:t>
                </a:r>
                <a:r>
                  <a:rPr sz="2400" b="0">
                    <a:solidFill>
                      <a:srgbClr val="111827"/>
                    </a:solidFill>
                    <a:latin typeface="Arial"/>
                  </a:rPr>
                  <a:t> equal parts so the powers of </a:t>
                </a:r>
                <a:r>
                  <a:rPr lang="en-IN" sz="2400">
                    <a:solidFill>
                      <a:srgbClr val="111827"/>
                    </a:solidFill>
                    <a:latin typeface="Cambria Math" panose="02040503050406030204" pitchFamily="18" charset="0"/>
                  </a:rPr>
                  <a:t>$x$</a:t>
                </a:r>
                <a:r>
                  <a:rPr sz="2400" b="0">
                    <a:solidFill>
                      <a:srgbClr val="111827"/>
                    </a:solidFill>
                    <a:latin typeface="Arial"/>
                  </a:rPr>
                  <a:t> cancel in the product. Here </a:t>
                </a:r>
                <a:r>
                  <a:rPr lang="en-IN" sz="2400">
                    <a:solidFill>
                      <a:srgbClr val="111827"/>
                    </a:solidFill>
                    <a:latin typeface="Cambria Math" panose="02040503050406030204" pitchFamily="18" charset="0"/>
                  </a:rPr>
                  <a:t>$m=2,n=1$</a:t>
                </a:r>
                <a:r>
                  <a:rPr sz="2400" b="0">
                    <a:solidFill>
                      <a:srgbClr val="111827"/>
                    </a:solidFill>
                    <a:latin typeface="Arial"/>
                  </a:rPr>
                  <a:t>: </a:t>
                </a:r>
                <a:r>
                  <a:rPr lang="en-IN" sz="2400">
                    <a:solidFill>
                      <a:srgbClr val="111827"/>
                    </a:solidFill>
                    <a:latin typeface="Cambria Math" panose="02040503050406030204" pitchFamily="18" charset="0"/>
                  </a:rPr>
                  <a:t>$px^2+\frac q{2x}+\frac q{2x}\ge3\left(\frac{pq^2}4\right)^{1/3}$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statement '</a:t>
                </a:r>
                <a:r>
                  <a:rPr lang="en-IN" sz="2400">
                    <a:solidFill>
                      <a:srgbClr val="111827"/>
                    </a:solidFill>
                    <a:latin typeface="Cambria Math" panose="02040503050406030204" pitchFamily="18" charset="0"/>
                  </a:rPr>
                  <a:t>$f(x)\ge c$</a:t>
                </a:r>
                <a:r>
                  <a:rPr sz="2400" b="0">
                    <a:solidFill>
                      <a:srgbClr val="111827"/>
                    </a:solidFill>
                    <a:latin typeface="Arial"/>
                  </a:rPr>
                  <a:t> for all </a:t>
                </a:r>
                <a:r>
                  <a:rPr lang="en-IN" sz="2400">
                    <a:solidFill>
                      <a:srgbClr val="111827"/>
                    </a:solidFill>
                    <a:latin typeface="Cambria Math" panose="02040503050406030204" pitchFamily="18" charset="0"/>
                  </a:rPr>
                  <a:t>$x&gt;0$</a:t>
                </a:r>
                <a:r>
                  <a:rPr sz="2400" b="0">
                    <a:solidFill>
                      <a:srgbClr val="111827"/>
                    </a:solidFill>
                    <a:latin typeface="Arial"/>
                  </a:rPr>
                  <a:t>' means </a:t>
                </a:r>
                <a:r>
                  <a:rPr lang="en-IN" sz="2400">
                    <a:solidFill>
                      <a:srgbClr val="111827"/>
                    </a:solidFill>
                    <a:latin typeface="Cambria Math" panose="02040503050406030204" pitchFamily="18" charset="0"/>
                  </a:rPr>
                  <a:t>$\min f\ge c$</a:t>
                </a:r>
                <a:r>
                  <a:rPr sz="2400" b="0">
                    <a:solidFill>
                      <a:srgbClr val="111827"/>
                    </a:solidFill>
                    <a:latin typeface="Arial"/>
                  </a:rPr>
                  <a:t>; A.M.–G.M. gives the true minimum only if its equality case is attainable (the parts must be able to be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$\alpha=\frac1{27}$</a:t>
                </a:r>
                <a:r>
                  <a:rPr sz="2400" b="0">
                    <a:solidFill>
                      <a:srgbClr val="111827"/>
                    </a:solidFill>
                    <a:latin typeface="Arial"/>
                  </a:rPr>
                  <a:t>: </a:t>
                </a:r>
                <a:r>
                  <a:rPr lang="en-IN" sz="2400">
                    <a:solidFill>
                      <a:srgbClr val="111827"/>
                    </a:solidFill>
                    <a:latin typeface="Cambria Math" panose="02040503050406030204" pitchFamily="18" charset="0"/>
                  </a:rPr>
                  <a:t>$x_0=\frac1{2\alpha^{1/3}}=\frac32$</a:t>
                </a:r>
                <a:r>
                  <a:rPr sz="2400" b="0">
                    <a:solidFill>
                      <a:srgbClr val="111827"/>
                    </a:solidFill>
                    <a:latin typeface="Arial"/>
                  </a:rPr>
                  <a:t> and </a:t>
                </a:r>
                <a:r>
                  <a:rPr lang="en-IN" sz="2400">
                    <a:solidFill>
                      <a:srgbClr val="111827"/>
                    </a:solidFill>
                    <a:latin typeface="Cambria Math" panose="02040503050406030204" pitchFamily="18" charset="0"/>
                  </a:rPr>
                  <a:t>$f(x_0)=\frac4{27}\cdot\frac94+\frac23=\frac13+\frac23=1$</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 Suppose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are in Arithmetic Progression (A.P.) with the common difference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oMath>
                </a14:m>
                <a:r>
                  <a:rPr sz="2400" b="0">
                    <a:solidFill>
                      <a:srgbClr val="111827"/>
                    </a:solidFill>
                    <a:latin typeface="Arial"/>
                  </a:rPr>
                  <a:t>. Suppose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are in A.P. such that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&gt;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&gt;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$b_i&gt;1$</a:t>
                </a:r>
                <a:r>
                  <a:rPr sz="2400" b="0">
                    <a:solidFill>
                      <a:srgbClr val="111827"/>
                    </a:solidFill>
                    <a:latin typeface="Arial"/>
                  </a:rPr>
                  <a:t> for </a:t>
                </a:r>
                <a:r>
                  <a:rPr lang="en-IN" sz="2400">
                    <a:solidFill>
                      <a:srgbClr val="111827"/>
                    </a:solidFill>
                    <a:latin typeface="Cambria Math" panose="02040503050406030204" pitchFamily="18" charset="0"/>
                  </a:rPr>
                  <a:t>$i=1,2,\ldots,101$</a:t>
                </a:r>
                <a:r>
                  <a:rPr sz="2400" b="0">
                    <a:solidFill>
                      <a:srgbClr val="111827"/>
                    </a:solidFill>
                    <a:latin typeface="Arial"/>
                  </a:rPr>
                  <a:t>. Suppose </a:t>
                </a:r>
                <a:r>
                  <a:rPr lang="en-IN" sz="2400">
                    <a:solidFill>
                      <a:srgbClr val="111827"/>
                    </a:solidFill>
                    <a:latin typeface="Cambria Math" panose="02040503050406030204" pitchFamily="18" charset="0"/>
                  </a:rPr>
                  <a:t>$\log_eb_1,\log_eb_2,\ldots,\log_eb_{101}$</a:t>
                </a:r>
                <a:r>
                  <a:rPr sz="2400" b="0">
                    <a:solidFill>
                      <a:srgbClr val="111827"/>
                    </a:solidFill>
                    <a:latin typeface="Arial"/>
                  </a:rPr>
                  <a:t> are in Arithmetic Progression (A.P.) with the common difference </a:t>
                </a:r>
                <a:r>
                  <a:rPr lang="en-IN" sz="2400">
                    <a:solidFill>
                      <a:srgbClr val="111827"/>
                    </a:solidFill>
                    <a:latin typeface="Cambria Math" panose="02040503050406030204" pitchFamily="18" charset="0"/>
                  </a:rPr>
                  <a:t>$\log_e2$</a:t>
                </a:r>
                <a:r>
                  <a:rPr sz="2400" b="0">
                    <a:solidFill>
                      <a:srgbClr val="111827"/>
                    </a:solidFill>
                    <a:latin typeface="Arial"/>
                  </a:rPr>
                  <a:t>. Suppose </a:t>
                </a:r>
                <a:r>
                  <a:rPr lang="en-IN" sz="2400">
                    <a:solidFill>
                      <a:srgbClr val="111827"/>
                    </a:solidFill>
                    <a:latin typeface="Cambria Math" panose="02040503050406030204" pitchFamily="18" charset="0"/>
                  </a:rPr>
                  <a:t>$a_1,a_2,\ldots,a_{101}$</a:t>
                </a:r>
                <a:r>
                  <a:rPr sz="2400" b="0">
                    <a:solidFill>
                      <a:srgbClr val="111827"/>
                    </a:solidFill>
                    <a:latin typeface="Arial"/>
                  </a:rPr>
                  <a:t> are in A.P. such that </a:t>
                </a:r>
                <a:r>
                  <a:rPr lang="en-IN" sz="2400">
                    <a:solidFill>
                      <a:srgbClr val="111827"/>
                    </a:solidFill>
                    <a:latin typeface="Cambria Math" panose="02040503050406030204" pitchFamily="18" charset="0"/>
                  </a:rPr>
                  <a:t>$a_1=b_1$</a:t>
                </a:r>
                <a:r>
                  <a:rPr sz="2400" b="0">
                    <a:solidFill>
                      <a:srgbClr val="111827"/>
                    </a:solidFill>
                    <a:latin typeface="Arial"/>
                  </a:rPr>
                  <a:t> and </a:t>
                </a:r>
                <a:r>
                  <a:rPr lang="en-IN" sz="2400">
                    <a:solidFill>
                      <a:srgbClr val="111827"/>
                    </a:solidFill>
                    <a:latin typeface="Cambria Math" panose="02040503050406030204" pitchFamily="18" charset="0"/>
                  </a:rPr>
                  <a:t>$a_{51}=b_{51}$</a:t>
                </a:r>
                <a:r>
                  <a:rPr sz="2400" b="0">
                    <a:solidFill>
                      <a:srgbClr val="111827"/>
                    </a:solidFill>
                    <a:latin typeface="Arial"/>
                  </a:rPr>
                  <a:t>. If </a:t>
                </a:r>
                <a:r>
                  <a:rPr lang="en-IN" sz="2400">
                    <a:solidFill>
                      <a:srgbClr val="111827"/>
                    </a:solidFill>
                    <a:latin typeface="Cambria Math" panose="02040503050406030204" pitchFamily="18" charset="0"/>
                  </a:rPr>
                  <a:t>$t=b_1+b_2+\cdots+b_{51}$</a:t>
                </a:r>
                <a:r>
                  <a:rPr sz="2400" b="0">
                    <a:solidFill>
                      <a:srgbClr val="111827"/>
                    </a:solidFill>
                    <a:latin typeface="Arial"/>
                  </a:rPr>
                  <a:t> and </a:t>
                </a:r>
                <a:r>
                  <a:rPr lang="en-IN" sz="2400">
                    <a:solidFill>
                      <a:srgbClr val="111827"/>
                    </a:solidFill>
                    <a:latin typeface="Cambria Math" panose="02040503050406030204" pitchFamily="18" charset="0"/>
                  </a:rPr>
                  <a:t>$s=a_1+a_2+\cdots+a_{51}$</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$s&gt;t$</a:t>
                </a:r>
                <a:r>
                  <a:rPr sz="2400" b="0">
                    <a:solidFill>
                      <a:srgbClr val="111827"/>
                    </a:solidFill>
                    <a:latin typeface="Arial"/>
                  </a:rPr>
                  <a:t> and </a:t>
                </a:r>
                <a:r>
                  <a:rPr lang="en-IN" sz="2400">
                    <a:solidFill>
                      <a:srgbClr val="111827"/>
                    </a:solidFill>
                    <a:latin typeface="Cambria Math" panose="02040503050406030204" pitchFamily="18" charset="0"/>
                  </a:rPr>
                  <a:t>$a_{101}&gt;b_{101}$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$s&gt;t$</a:t>
                </a:r>
                <a:r>
                  <a:rPr sz="2400" b="0">
                    <a:solidFill>
                      <a:srgbClr val="111827"/>
                    </a:solidFill>
                    <a:latin typeface="Arial"/>
                  </a:rPr>
                  <a:t> and </a:t>
                </a:r>
                <a:r>
                  <a:rPr lang="en-IN" sz="2400">
                    <a:solidFill>
                      <a:srgbClr val="111827"/>
                    </a:solidFill>
                    <a:latin typeface="Cambria Math" panose="02040503050406030204" pitchFamily="18" charset="0"/>
                  </a:rPr>
                  <a:t>$a_{101}&lt;b_{101}$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$s&lt;t$</a:t>
                </a:r>
                <a:r>
                  <a:rPr sz="2400" b="0">
                    <a:solidFill>
                      <a:srgbClr val="111827"/>
                    </a:solidFill>
                    <a:latin typeface="Arial"/>
                  </a:rPr>
                  <a:t> and </a:t>
                </a:r>
                <a:r>
                  <a:rPr lang="en-IN" sz="2400">
                    <a:solidFill>
                      <a:srgbClr val="111827"/>
                    </a:solidFill>
                    <a:latin typeface="Cambria Math" panose="02040503050406030204" pitchFamily="18" charset="0"/>
                  </a:rPr>
                  <a:t>$a_{101}&gt;b_{101}$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$s&lt;t$</a:t>
                </a:r>
                <a:r>
                  <a:rPr sz="2400" b="0">
                    <a:solidFill>
                      <a:srgbClr val="111827"/>
                    </a:solidFill>
                    <a:latin typeface="Arial"/>
                  </a:rPr>
                  <a:t> and </a:t>
                </a:r>
                <a:r>
                  <a:rPr lang="en-IN" sz="2400">
                    <a:solidFill>
                      <a:srgbClr val="111827"/>
                    </a:solidFill>
                    <a:latin typeface="Cambria Math" panose="02040503050406030204" pitchFamily="18" charset="0"/>
                  </a:rPr>
                  <a:t>$a_{101}&lt;b_{101}$</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A.P., G.P. and A.M.-G.M. comparison of terms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is a G.P. (ratio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while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is an A.P. through the same two points; use A.M.</a:t>
                </a:r>
                <a14:m>
                  <m:oMath xmlns:m="http://schemas.openxmlformats.org/officeDocument/2006/math">
                    <m:r>
                      <m:rPr>
                        <m:sty m:val="p"/>
                      </m:rPr>
                      <a:rPr lang="en-IN" sz="2400">
                        <a:solidFill>
                          <a:srgbClr val="78350F"/>
                        </a:solidFill>
                        <a:latin typeface="Cambria Math" panose="02040503050406030204" pitchFamily="18" charset="0"/>
                      </a:rPr>
                      <m:t>&gt;</m:t>
                    </m:r>
                  </m:oMath>
                </a14:m>
                <a:r>
                  <a:rPr sz="2400" b="0">
                    <a:solidFill>
                      <a:srgbClr val="78350F"/>
                    </a:solidFill>
                    <a:latin typeface="Arial"/>
                  </a:rPr>
                  <a:t>G.M. between the ends and extrapolation beyond.</a:t>
                </a:r>
                <a:endParaRPr sz="2400">
                  <a:solidFill>
                    <a:srgbClr val="78350F"/>
                  </a:solidFill>
                </a:endParaRPr>
              </a:p>
            </p:txBody>
          </p:sp>
        </mc:Choice>
        <mc:Fallback>
          <p:sp>
            <p:nvSpPr>
              <p:cNvPr id="5" name="Rounded Rectangle 4"/>
              <p:cNvSpPr/>
              <p:nvPr/>
            </p:nvSpPr>
            <p:spPr>
              <a:xfrm>
                <a:off x="731520" y="3066288"/>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$b_i$</a:t>
                </a:r>
                <a:r>
                  <a:rPr sz="2400" b="0">
                    <a:solidFill>
                      <a:srgbClr val="78350F"/>
                    </a:solidFill>
                    <a:latin typeface="Arial"/>
                  </a:rPr>
                  <a:t> is a G.P. (ratio </a:t>
                </a:r>
                <a:r>
                  <a:rPr lang="en-IN" sz="2400">
                    <a:solidFill>
                      <a:srgbClr val="78350F"/>
                    </a:solidFill>
                    <a:latin typeface="Cambria Math" panose="02040503050406030204" pitchFamily="18" charset="0"/>
                  </a:rPr>
                  <a:t>$2$</a:t>
                </a:r>
                <a:r>
                  <a:rPr sz="2400" b="0">
                    <a:solidFill>
                      <a:srgbClr val="78350F"/>
                    </a:solidFill>
                    <a:latin typeface="Arial"/>
                  </a:rPr>
                  <a:t>) while </a:t>
                </a:r>
                <a:r>
                  <a:rPr lang="en-IN" sz="2400">
                    <a:solidFill>
                      <a:srgbClr val="78350F"/>
                    </a:solidFill>
                    <a:latin typeface="Cambria Math" panose="02040503050406030204" pitchFamily="18" charset="0"/>
                  </a:rPr>
                  <a:t>$a_i$</a:t>
                </a:r>
                <a:r>
                  <a:rPr sz="2400" b="0">
                    <a:solidFill>
                      <a:srgbClr val="78350F"/>
                    </a:solidFill>
                    <a:latin typeface="Arial"/>
                  </a:rPr>
                  <a:t> is an A.P. through the same two points; use A.M.</a:t>
                </a:r>
                <a:r>
                  <a:rPr lang="en-IN" sz="2400">
                    <a:solidFill>
                      <a:srgbClr val="78350F"/>
                    </a:solidFill>
                    <a:latin typeface="Cambria Math" panose="02040503050406030204" pitchFamily="18" charset="0"/>
                  </a:rPr>
                  <a:t>$&gt;$</a:t>
                </a:r>
                <a:r>
                  <a:rPr sz="2400" b="0">
                    <a:solidFill>
                      <a:srgbClr val="78350F"/>
                    </a:solidFill>
                    <a:latin typeface="Arial"/>
                  </a:rPr>
                  <a:t>G.M. between the ends and extrapolation beyond.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are in A.P. with difference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are in G.P.</a:t>
                </a:r>
                <a:endParaRPr sz="2400">
                  <a:solidFill>
                    <a:srgbClr val="111827"/>
                  </a:solidFill>
                </a:endParaRPr>
              </a:p>
            </p:txBody>
          </p:sp>
        </mc:Choice>
        <mc:Fallback>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$\log_eb_i$</a:t>
                </a:r>
                <a:r>
                  <a:rPr sz="2400" b="0">
                    <a:solidFill>
                      <a:srgbClr val="111827"/>
                    </a:solidFill>
                    <a:latin typeface="Arial"/>
                  </a:rPr>
                  <a:t> are in A.P. with difference </a:t>
                </a:r>
                <a:r>
                  <a:rPr lang="en-IN" sz="2400">
                    <a:solidFill>
                      <a:srgbClr val="111827"/>
                    </a:solidFill>
                    <a:latin typeface="Cambria Math" panose="02040503050406030204" pitchFamily="18" charset="0"/>
                  </a:rPr>
                  <a:t>$\log_e2$</a:t>
                </a:r>
                <a:r>
                  <a:rPr sz="2400" b="0">
                    <a:solidFill>
                      <a:srgbClr val="111827"/>
                    </a:solidFill>
                    <a:latin typeface="Arial"/>
                  </a:rPr>
                  <a:t>, so </a:t>
                </a:r>
                <a:r>
                  <a:rPr lang="en-IN" sz="2400">
                    <a:solidFill>
                      <a:srgbClr val="111827"/>
                    </a:solidFill>
                    <a:latin typeface="Cambria Math" panose="02040503050406030204" pitchFamily="18" charset="0"/>
                  </a:rPr>
                  <a:t>$\frac{b_{i+1}}{b_i}=2$</a:t>
                </a:r>
                <a:r>
                  <a:rPr sz="2400" b="0">
                    <a:solidFill>
                      <a:srgbClr val="111827"/>
                    </a:solidFill>
                    <a:latin typeface="Arial"/>
                  </a:rPr>
                  <a:t>: </a:t>
                </a:r>
                <a:r>
                  <a:rPr lang="en-IN" sz="2400">
                    <a:solidFill>
                      <a:srgbClr val="111827"/>
                    </a:solidFill>
                    <a:latin typeface="Cambria Math" panose="02040503050406030204" pitchFamily="18" charset="0"/>
                  </a:rPr>
                  <a:t>$b_1,b_2,\ldots,b_{101}$</a:t>
                </a:r>
                <a:r>
                  <a:rPr sz="2400" b="0">
                    <a:solidFill>
                      <a:srgbClr val="111827"/>
                    </a:solidFill>
                    <a:latin typeface="Arial"/>
                  </a:rPr>
                  <a:t> are in G.P.</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are in A.P.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50</m:t>
                        </m:r>
                      </m:sub>
                    </m:sSub>
                  </m:oMath>
                </a14:m>
                <a:r>
                  <a:rPr sz="2400" b="0">
                    <a:solidFill>
                      <a:srgbClr val="111827"/>
                    </a:solidFill>
                    <a:latin typeface="Arial"/>
                  </a:rPr>
                  <a:t> are the arithmetic means inserted between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51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is a weighted A.M. of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while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50</m:t>
                            </m:r>
                          </m:den>
                        </m:f>
                      </m:sup>
                    </m:sSubSup>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50</m:t>
                            </m:r>
                          </m:den>
                        </m:f>
                      </m:sup>
                    </m:sSubSup>
                  </m:oMath>
                </a14:m>
                <a:r>
                  <a:rPr sz="2400" b="0">
                    <a:solidFill>
                      <a:srgbClr val="111827"/>
                    </a:solidFill>
                    <a:latin typeface="Arial"/>
                  </a:rPr>
                  <a:t> is the same weighted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 </a:t>
                </a:r>
                <a14:m>
                  <m:oMath xmlns:m="http://schemas.openxmlformats.org/officeDocument/2006/math">
                    <m:r>
                      <m:rPr>
                        <m:sty m:val="p"/>
                      </m:rPr>
                      <a:rPr lang="en-IN" sz="2400">
                        <a:solidFill>
                          <a:srgbClr val="111827"/>
                        </a:solidFill>
                        <a:latin typeface="Cambria Math" panose="02040503050406030204" pitchFamily="18" charset="0"/>
                      </a:rPr>
                      <m:t>&gt;</m:t>
                    </m:r>
                  </m:oMath>
                </a14:m>
                <a:r>
                  <a:rPr sz="2400" b="0">
                    <a:solidFill>
                      <a:srgbClr val="111827"/>
                    </a:solidFill>
                    <a:latin typeface="Arial"/>
                  </a:rPr>
                  <a:t> G.M. (the two numbers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are unequal):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&gt;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&gt;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&gt;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50</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these, together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are in A.P.,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are in G.P. (ratio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 with the same first two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up>
                            <m:r>
                              <a:rPr lang="en-IN" sz="2400" i="1">
                                <a:solidFill>
                                  <a:srgbClr val="111827"/>
                                </a:solidFill>
                                <a:latin typeface="Cambria Math" panose="02040503050406030204" pitchFamily="18" charset="0"/>
                              </a:rPr>
                              <m:t>2</m:t>
                            </m:r>
                          </m:sup>
                        </m:sSubSup>
                      </m:num>
                      <m:den>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$a_1,a_2,\ldots,a_{51}$</a:t>
                </a:r>
                <a:r>
                  <a:rPr sz="2400" b="0">
                    <a:solidFill>
                      <a:srgbClr val="111827"/>
                    </a:solidFill>
                    <a:latin typeface="Arial"/>
                  </a:rPr>
                  <a:t> are in A.P. with </a:t>
                </a:r>
                <a:r>
                  <a:rPr lang="en-IN" sz="2400">
                    <a:solidFill>
                      <a:srgbClr val="111827"/>
                    </a:solidFill>
                    <a:latin typeface="Cambria Math" panose="02040503050406030204" pitchFamily="18" charset="0"/>
                  </a:rPr>
                  <a:t>$a_1=b_1$</a:t>
                </a:r>
                <a:r>
                  <a:rPr sz="2400" b="0">
                    <a:solidFill>
                      <a:srgbClr val="111827"/>
                    </a:solidFill>
                    <a:latin typeface="Arial"/>
                  </a:rPr>
                  <a:t> and </a:t>
                </a:r>
                <a:r>
                  <a:rPr lang="en-IN" sz="2400">
                    <a:solidFill>
                      <a:srgbClr val="111827"/>
                    </a:solidFill>
                    <a:latin typeface="Cambria Math" panose="02040503050406030204" pitchFamily="18" charset="0"/>
                  </a:rPr>
                  <a:t>$a_{51}=b_{51}$</a:t>
                </a:r>
                <a:r>
                  <a:rPr sz="2400" b="0">
                    <a:solidFill>
                      <a:srgbClr val="111827"/>
                    </a:solidFill>
                    <a:latin typeface="Arial"/>
                  </a:rPr>
                  <a:t>; so </a:t>
                </a:r>
                <a:r>
                  <a:rPr lang="en-IN" sz="2400">
                    <a:solidFill>
                      <a:srgbClr val="111827"/>
                    </a:solidFill>
                    <a:latin typeface="Cambria Math" panose="02040503050406030204" pitchFamily="18" charset="0"/>
                  </a:rPr>
                  <a:t>$a_2,\ldots,a_{50}$</a:t>
                </a:r>
                <a:r>
                  <a:rPr sz="2400" b="0">
                    <a:solidFill>
                      <a:srgbClr val="111827"/>
                    </a:solidFill>
                    <a:latin typeface="Arial"/>
                  </a:rPr>
                  <a:t> are the arithmetic means inserted between </a:t>
                </a:r>
                <a:r>
                  <a:rPr lang="en-IN" sz="2400">
                    <a:solidFill>
                      <a:srgbClr val="111827"/>
                    </a:solidFill>
                    <a:latin typeface="Cambria Math" panose="02040503050406030204" pitchFamily="18" charset="0"/>
                  </a:rPr>
                  <a:t>$a_1$</a:t>
                </a:r>
                <a:r>
                  <a:rPr sz="2400" b="0">
                    <a:solidFill>
                      <a:srgbClr val="111827"/>
                    </a:solidFill>
                    <a:latin typeface="Arial"/>
                  </a:rPr>
                  <a:t> and </a:t>
                </a:r>
                <a:r>
                  <a:rPr lang="en-IN" sz="2400">
                    <a:solidFill>
                      <a:srgbClr val="111827"/>
                    </a:solidFill>
                    <a:latin typeface="Cambria Math" panose="02040503050406030204" pitchFamily="18" charset="0"/>
                  </a:rPr>
                  <a:t>$a_{51}$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$1&lt;k&lt;51$</a:t>
                </a:r>
                <a:r>
                  <a:rPr sz="2400" b="0">
                    <a:solidFill>
                      <a:srgbClr val="111827"/>
                    </a:solidFill>
                    <a:latin typeface="Arial"/>
                  </a:rPr>
                  <a:t>: </a:t>
                </a:r>
                <a:r>
                  <a:rPr lang="en-IN" sz="2400">
                    <a:solidFill>
                      <a:srgbClr val="111827"/>
                    </a:solidFill>
                    <a:latin typeface="Cambria Math" panose="02040503050406030204" pitchFamily="18" charset="0"/>
                  </a:rPr>
                  <a:t>$a_k=\frac{(51-k)b_1+(k-1)b_{51}}{50}$</a:t>
                </a:r>
                <a:r>
                  <a:rPr sz="2400" b="0">
                    <a:solidFill>
                      <a:srgbClr val="111827"/>
                    </a:solidFill>
                    <a:latin typeface="Arial"/>
                  </a:rPr>
                  <a:t> is a weighted A.M. of </a:t>
                </a:r>
                <a:r>
                  <a:rPr lang="en-IN" sz="2400">
                    <a:solidFill>
                      <a:srgbClr val="111827"/>
                    </a:solidFill>
                    <a:latin typeface="Cambria Math" panose="02040503050406030204" pitchFamily="18" charset="0"/>
                  </a:rPr>
                  <a:t>$b_1,b_{51}$</a:t>
                </a:r>
                <a:r>
                  <a:rPr sz="2400" b="0">
                    <a:solidFill>
                      <a:srgbClr val="111827"/>
                    </a:solidFill>
                    <a:latin typeface="Arial"/>
                  </a:rPr>
                  <a:t>, while </a:t>
                </a:r>
                <a:r>
                  <a:rPr lang="en-IN" sz="2400">
                    <a:solidFill>
                      <a:srgbClr val="111827"/>
                    </a:solidFill>
                    <a:latin typeface="Cambria Math" panose="02040503050406030204" pitchFamily="18" charset="0"/>
                  </a:rPr>
                  <a:t>$b_k=b_1\,2^{k-1}=b_1^{\frac{51-k}{50}}b_{51}^{\frac{k-1}{50}}$</a:t>
                </a:r>
                <a:r>
                  <a:rPr sz="2400" b="0">
                    <a:solidFill>
                      <a:srgbClr val="111827"/>
                    </a:solidFill>
                    <a:latin typeface="Arial"/>
                  </a:rPr>
                  <a:t> is the same weighted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 </a:t>
                </a:r>
                <a:r>
                  <a:rPr lang="en-IN" sz="2400">
                    <a:solidFill>
                      <a:srgbClr val="111827"/>
                    </a:solidFill>
                    <a:latin typeface="Cambria Math" panose="02040503050406030204" pitchFamily="18" charset="0"/>
                  </a:rPr>
                  <a:t>$&gt;$</a:t>
                </a:r>
                <a:r>
                  <a:rPr sz="2400" b="0">
                    <a:solidFill>
                      <a:srgbClr val="111827"/>
                    </a:solidFill>
                    <a:latin typeface="Arial"/>
                  </a:rPr>
                  <a:t> G.M. (the two numbers </a:t>
                </a:r>
                <a:r>
                  <a:rPr lang="en-IN" sz="2400">
                    <a:solidFill>
                      <a:srgbClr val="111827"/>
                    </a:solidFill>
                    <a:latin typeface="Cambria Math" panose="02040503050406030204" pitchFamily="18" charset="0"/>
                  </a:rPr>
                  <a:t>$b_1\ne b_{51}$</a:t>
                </a:r>
                <a:r>
                  <a:rPr sz="2400" b="0">
                    <a:solidFill>
                      <a:srgbClr val="111827"/>
                    </a:solidFill>
                    <a:latin typeface="Arial"/>
                  </a:rPr>
                  <a:t> are unequal): </a:t>
                </a:r>
                <a:r>
                  <a:rPr lang="en-IN" sz="2400">
                    <a:solidFill>
                      <a:srgbClr val="111827"/>
                    </a:solidFill>
                    <a:latin typeface="Cambria Math" panose="02040503050406030204" pitchFamily="18" charset="0"/>
                  </a:rPr>
                  <a:t>$a_2&gt;b_2,\ a_3&gt;b_3,\ \ldots,\ a_{50}&gt;b_{50}$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these, together with </a:t>
                </a:r>
                <a:r>
                  <a:rPr lang="en-IN" sz="2400">
                    <a:solidFill>
                      <a:srgbClr val="111827"/>
                    </a:solidFill>
                    <a:latin typeface="Cambria Math" panose="02040503050406030204" pitchFamily="18" charset="0"/>
                  </a:rPr>
                  <a:t>$a_1=b_1$</a:t>
                </a:r>
                <a:r>
                  <a:rPr sz="2400" b="0">
                    <a:solidFill>
                      <a:srgbClr val="111827"/>
                    </a:solidFill>
                    <a:latin typeface="Arial"/>
                  </a:rPr>
                  <a:t> and </a:t>
                </a:r>
                <a:r>
                  <a:rPr lang="en-IN" sz="2400">
                    <a:solidFill>
                      <a:srgbClr val="111827"/>
                    </a:solidFill>
                    <a:latin typeface="Cambria Math" panose="02040503050406030204" pitchFamily="18" charset="0"/>
                  </a:rPr>
                  <a:t>$a_{51}=b_{51}$</a:t>
                </a:r>
                <a:r>
                  <a:rPr sz="2400" b="0">
                    <a:solidFill>
                      <a:srgbClr val="111827"/>
                    </a:solidFill>
                    <a:latin typeface="Arial"/>
                  </a:rPr>
                  <a:t>: </a:t>
                </a:r>
                <a:r>
                  <a:rPr lang="en-IN" sz="2400">
                    <a:solidFill>
                      <a:srgbClr val="111827"/>
                    </a:solidFill>
                    <a:latin typeface="Cambria Math" panose="02040503050406030204" pitchFamily="18" charset="0"/>
                  </a:rPr>
                  <a:t>$s&gt;t$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$a_1,a_{51},a_{101}$</a:t>
                </a:r>
                <a:r>
                  <a:rPr sz="2400" b="0">
                    <a:solidFill>
                      <a:srgbClr val="111827"/>
                    </a:solidFill>
                    <a:latin typeface="Arial"/>
                  </a:rPr>
                  <a:t> are in A.P., and </a:t>
                </a:r>
                <a:r>
                  <a:rPr lang="en-IN" sz="2400">
                    <a:solidFill>
                      <a:srgbClr val="111827"/>
                    </a:solidFill>
                    <a:latin typeface="Cambria Math" panose="02040503050406030204" pitchFamily="18" charset="0"/>
                  </a:rPr>
                  <a:t>$b_1,b_{51},b_{101}$</a:t>
                </a:r>
                <a:r>
                  <a:rPr sz="2400" b="0">
                    <a:solidFill>
                      <a:srgbClr val="111827"/>
                    </a:solidFill>
                    <a:latin typeface="Arial"/>
                  </a:rPr>
                  <a:t> are in G.P. (ratio </a:t>
                </a:r>
                <a:r>
                  <a:rPr lang="en-IN" sz="2400">
                    <a:solidFill>
                      <a:srgbClr val="111827"/>
                    </a:solidFill>
                    <a:latin typeface="Cambria Math" panose="02040503050406030204" pitchFamily="18" charset="0"/>
                  </a:rPr>
                  <a:t>$2^{50}$</a:t>
                </a:r>
                <a:r>
                  <a:rPr sz="2400" b="0">
                    <a:solidFill>
                      <a:srgbClr val="111827"/>
                    </a:solidFill>
                    <a:latin typeface="Arial"/>
                  </a:rPr>
                  <a:t>), with the same first two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$a_{101}=2a_{51}-a_1=2b_{51}-b_1$</a:t>
                </a:r>
                <a:r>
                  <a:rPr sz="2400" b="0">
                    <a:solidFill>
                      <a:srgbClr val="111827"/>
                    </a:solidFill>
                    <a:latin typeface="Arial"/>
                  </a:rPr>
                  <a:t> and </a:t>
                </a:r>
                <a:r>
                  <a:rPr lang="en-IN" sz="2400">
                    <a:solidFill>
                      <a:srgbClr val="111827"/>
                    </a:solidFill>
                    <a:latin typeface="Cambria Math" panose="02040503050406030204" pitchFamily="18" charset="0"/>
                  </a:rPr>
                  <a:t>$b_{101}=\frac{b_{51}^2}{b_1}$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$b_{101}-a_{101}=\frac{b_{51}^2-2b_1b_{51}+b_1^2}{b_1}=\frac{(b_{51}-b_1)^2}{b_1}&gt;0$</a:t>
                </a:r>
                <a:r>
                  <a:rPr sz="2400" b="0">
                    <a:solidFill>
                      <a:srgbClr val="111827"/>
                    </a:solidFill>
                    <a:latin typeface="Arial"/>
                  </a:rPr>
                  <a:t>, so </a:t>
                </a:r>
                <a:r>
                  <a:rPr lang="en-IN" sz="2400">
                    <a:solidFill>
                      <a:srgbClr val="111827"/>
                    </a:solidFill>
                    <a:latin typeface="Cambria Math" panose="02040503050406030204" pitchFamily="18" charset="0"/>
                  </a:rPr>
                  <a:t>$a_{101}&lt;b_{101}$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$s&gt;t$</a:t>
                </a:r>
                <a:r>
                  <a:rPr sz="2400" b="0">
                    <a:solidFill>
                      <a:srgbClr val="111827"/>
                    </a:solidFill>
                    <a:latin typeface="Arial"/>
                  </a:rPr>
                  <a:t> and </a:t>
                </a:r>
                <a:r>
                  <a:rPr lang="en-IN" sz="2400">
                    <a:solidFill>
                      <a:srgbClr val="111827"/>
                    </a:solidFill>
                    <a:latin typeface="Cambria Math" panose="02040503050406030204" pitchFamily="18" charset="0"/>
                  </a:rPr>
                  <a:t>$a_{101}&lt;b_{101}$</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a:t>
            </a:r>
            <a:endParaRPr sz="2800">
              <a:solidFill>
                <a:srgbClr val="15803D"/>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sub>
                    </m:sSub>
                  </m:oMath>
                </a14:m>
                <a:r>
                  <a:rPr sz="2400" b="0">
                    <a:solidFill>
                      <a:srgbClr val="78350F"/>
                    </a:solidFill>
                    <a:latin typeface="Arial"/>
                  </a:rPr>
                  <a:t> is convex in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(exponential minus linear) with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0</m:t>
                    </m:r>
                  </m:oMath>
                </a14:m>
                <a:r>
                  <a:rPr sz="2400" b="0">
                    <a:solidFill>
                      <a:srgbClr val="78350F"/>
                    </a:solidFill>
                    <a:latin typeface="Arial"/>
                  </a:rPr>
                  <a:t> between and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beyond.</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$g(k)=b_k-a_k$</a:t>
                </a:r>
                <a:r>
                  <a:rPr sz="2400" b="0">
                    <a:solidFill>
                      <a:srgbClr val="78350F"/>
                    </a:solidFill>
                    <a:latin typeface="Arial"/>
                  </a:rPr>
                  <a:t> is convex in </a:t>
                </a:r>
                <a:r>
                  <a:rPr lang="en-IN" sz="2400">
                    <a:solidFill>
                      <a:srgbClr val="78350F"/>
                    </a:solidFill>
                    <a:latin typeface="Cambria Math" panose="02040503050406030204" pitchFamily="18" charset="0"/>
                  </a:rPr>
                  <a:t>$k$</a:t>
                </a:r>
                <a:r>
                  <a:rPr sz="2400" b="0">
                    <a:solidFill>
                      <a:srgbClr val="78350F"/>
                    </a:solidFill>
                    <a:latin typeface="Arial"/>
                  </a:rPr>
                  <a:t> (exponential minus linear) with </a:t>
                </a:r>
                <a:r>
                  <a:rPr lang="en-IN" sz="2400">
                    <a:solidFill>
                      <a:srgbClr val="78350F"/>
                    </a:solidFill>
                    <a:latin typeface="Cambria Math" panose="02040503050406030204" pitchFamily="18" charset="0"/>
                  </a:rPr>
                  <a:t>$g(1)=g(51)=0$</a:t>
                </a:r>
                <a:r>
                  <a:rPr sz="2400" b="0">
                    <a:solidFill>
                      <a:srgbClr val="78350F"/>
                    </a:solidFill>
                    <a:latin typeface="Arial"/>
                  </a:rPr>
                  <a:t>, so </a:t>
                </a:r>
                <a:r>
                  <a:rPr lang="en-IN" sz="2400">
                    <a:solidFill>
                      <a:srgbClr val="78350F"/>
                    </a:solidFill>
                    <a:latin typeface="Cambria Math" panose="02040503050406030204" pitchFamily="18" charset="0"/>
                  </a:rPr>
                  <a:t>$g&lt;0$</a:t>
                </a:r>
                <a:r>
                  <a:rPr sz="2400" b="0">
                    <a:solidFill>
                      <a:srgbClr val="78350F"/>
                    </a:solidFill>
                    <a:latin typeface="Arial"/>
                  </a:rPr>
                  <a:t> between and </a:t>
                </a:r>
                <a:r>
                  <a:rPr lang="en-IN" sz="2400">
                    <a:solidFill>
                      <a:srgbClr val="78350F"/>
                    </a:solidFill>
                    <a:latin typeface="Cambria Math" panose="02040503050406030204" pitchFamily="18" charset="0"/>
                  </a:rPr>
                  <a:t>$g&gt;0$</a:t>
                </a:r>
                <a:r>
                  <a:rPr sz="2400" b="0">
                    <a:solidFill>
                      <a:srgbClr val="78350F"/>
                    </a:solidFill>
                    <a:latin typeface="Arial"/>
                  </a:rPr>
                  <a:t> beyond.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50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12</m:t>
                        </m:r>
                      </m:sub>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strictly convex in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and the remaining part is linear,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strictly convex.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strictly convex function with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negative strictly between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51</m:t>
                    </m:r>
                  </m:oMath>
                </a14:m>
                <a:r>
                  <a:rPr sz="2400" b="0">
                    <a:solidFill>
                      <a:srgbClr val="111827"/>
                    </a:solidFill>
                    <a:latin typeface="Arial"/>
                  </a:rPr>
                  <a:t> and positive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$b_k=b_1\,2^{k-1}$</a:t>
                </a:r>
                <a:r>
                  <a:rPr sz="2400" b="0">
                    <a:solidFill>
                      <a:srgbClr val="111827"/>
                    </a:solidFill>
                    <a:latin typeface="Arial"/>
                  </a:rPr>
                  <a:t> and </a:t>
                </a:r>
                <a:r>
                  <a:rPr lang="en-IN" sz="2400">
                    <a:solidFill>
                      <a:srgbClr val="111827"/>
                    </a:solidFill>
                    <a:latin typeface="Cambria Math" panose="02040503050406030204" pitchFamily="18" charset="0"/>
                  </a:rPr>
                  <a:t>$a_k=a_1+(k-1)\delta$</a:t>
                </a:r>
                <a:r>
                  <a:rPr sz="2400" b="0">
                    <a:solidFill>
                      <a:srgbClr val="111827"/>
                    </a:solidFill>
                    <a:latin typeface="Arial"/>
                  </a:rPr>
                  <a:t> with </a:t>
                </a:r>
                <a:r>
                  <a:rPr lang="en-IN" sz="2400">
                    <a:solidFill>
                      <a:srgbClr val="111827"/>
                    </a:solidFill>
                    <a:latin typeface="Cambria Math" panose="02040503050406030204" pitchFamily="18" charset="0"/>
                  </a:rPr>
                  <a:t>$\delta=\frac{b_{51}-b_1}{50}$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$g(k)=b_k-a_k=b_12^{k-1}-b_1-(k-1)\delta$</a:t>
                </a:r>
                <a:r>
                  <a:rPr sz="2400" b="0">
                    <a:solidFill>
                      <a:srgbClr val="111827"/>
                    </a:solidFill>
                    <a:latin typeface="Arial"/>
                  </a:rPr>
                  <a:t>. Since </a:t>
                </a:r>
                <a:r>
                  <a:rPr lang="en-IN" sz="2400">
                    <a:solidFill>
                      <a:srgbClr val="111827"/>
                    </a:solidFill>
                    <a:latin typeface="Cambria Math" panose="02040503050406030204" pitchFamily="18" charset="0"/>
                  </a:rPr>
                  <a:t>$2^{k-1}$</a:t>
                </a:r>
                <a:r>
                  <a:rPr sz="2400" b="0">
                    <a:solidFill>
                      <a:srgbClr val="111827"/>
                    </a:solidFill>
                    <a:latin typeface="Arial"/>
                  </a:rPr>
                  <a:t> is strictly convex in </a:t>
                </a:r>
                <a:r>
                  <a:rPr lang="en-IN" sz="2400">
                    <a:solidFill>
                      <a:srgbClr val="111827"/>
                    </a:solidFill>
                    <a:latin typeface="Cambria Math" panose="02040503050406030204" pitchFamily="18" charset="0"/>
                  </a:rPr>
                  <a:t>$k$</a:t>
                </a:r>
                <a:r>
                  <a:rPr sz="2400" b="0">
                    <a:solidFill>
                      <a:srgbClr val="111827"/>
                    </a:solidFill>
                    <a:latin typeface="Arial"/>
                  </a:rPr>
                  <a:t> and the remaining part is linear, </a:t>
                </a:r>
                <a:r>
                  <a:rPr lang="en-IN" sz="2400">
                    <a:solidFill>
                      <a:srgbClr val="111827"/>
                    </a:solidFill>
                    <a:latin typeface="Cambria Math" panose="02040503050406030204" pitchFamily="18" charset="0"/>
                  </a:rPr>
                  <a:t>$g$</a:t>
                </a:r>
                <a:r>
                  <a:rPr sz="2400" b="0">
                    <a:solidFill>
                      <a:srgbClr val="111827"/>
                    </a:solidFill>
                    <a:latin typeface="Arial"/>
                  </a:rPr>
                  <a:t> is strictly convex.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strictly convex function with </a:t>
                </a:r>
                <a:r>
                  <a:rPr lang="en-IN" sz="2400">
                    <a:solidFill>
                      <a:srgbClr val="111827"/>
                    </a:solidFill>
                    <a:latin typeface="Cambria Math" panose="02040503050406030204" pitchFamily="18" charset="0"/>
                  </a:rPr>
                  <a:t>$g(1)=g(51)=0$</a:t>
                </a:r>
                <a:r>
                  <a:rPr sz="2400" b="0">
                    <a:solidFill>
                      <a:srgbClr val="111827"/>
                    </a:solidFill>
                    <a:latin typeface="Arial"/>
                  </a:rPr>
                  <a:t> is negative strictly between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$51$</a:t>
                </a:r>
                <a:r>
                  <a:rPr sz="2400" b="0">
                    <a:solidFill>
                      <a:srgbClr val="111827"/>
                    </a:solidFill>
                    <a:latin typeface="Arial"/>
                  </a:rPr>
                  <a:t> and positive for </a:t>
                </a:r>
                <a:r>
                  <a:rPr lang="en-IN" sz="2400">
                    <a:solidFill>
                      <a:srgbClr val="111827"/>
                    </a:solidFill>
                    <a:latin typeface="Cambria Math" panose="02040503050406030204" pitchFamily="18" charset="0"/>
                  </a:rPr>
                  <a:t>$k&gt;51$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each of the </a:t>
                </a:r>
                <a14:m>
                  <m:oMath xmlns:m="http://schemas.openxmlformats.org/officeDocument/2006/math">
                    <m:r>
                      <a:rPr lang="en-IN" sz="2400" i="1">
                        <a:solidFill>
                          <a:srgbClr val="111827"/>
                        </a:solidFill>
                        <a:latin typeface="Cambria Math" panose="02040503050406030204" pitchFamily="18" charset="0"/>
                      </a:rPr>
                      <m:t>49</m:t>
                    </m:r>
                  </m:oMath>
                </a14:m>
                <a:r>
                  <a:rPr sz="2400" b="0">
                    <a:solidFill>
                      <a:srgbClr val="111827"/>
                    </a:solidFill>
                    <a:latin typeface="Arial"/>
                  </a:rPr>
                  <a:t> middle terms of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is smaller than the matching term of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&gt;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$b_k&lt;a_k$</a:t>
                </a:r>
                <a:r>
                  <a:rPr sz="2400" b="0">
                    <a:solidFill>
                      <a:srgbClr val="111827"/>
                    </a:solidFill>
                    <a:latin typeface="Arial"/>
                  </a:rPr>
                  <a:t> for </a:t>
                </a:r>
                <a:r>
                  <a:rPr lang="en-IN" sz="2400">
                    <a:solidFill>
                      <a:srgbClr val="111827"/>
                    </a:solidFill>
                    <a:latin typeface="Cambria Math" panose="02040503050406030204" pitchFamily="18" charset="0"/>
                  </a:rPr>
                  <a:t>$2\le k\le50$</a:t>
                </a:r>
                <a:r>
                  <a:rPr sz="2400" b="0">
                    <a:solidFill>
                      <a:srgbClr val="111827"/>
                    </a:solidFill>
                    <a:latin typeface="Arial"/>
                  </a:rPr>
                  <a:t>: each of the </a:t>
                </a:r>
                <a:r>
                  <a:rPr lang="en-IN" sz="2400">
                    <a:solidFill>
                      <a:srgbClr val="111827"/>
                    </a:solidFill>
                    <a:latin typeface="Cambria Math" panose="02040503050406030204" pitchFamily="18" charset="0"/>
                  </a:rPr>
                  <a:t>$49$</a:t>
                </a:r>
                <a:r>
                  <a:rPr sz="2400" b="0">
                    <a:solidFill>
                      <a:srgbClr val="111827"/>
                    </a:solidFill>
                    <a:latin typeface="Arial"/>
                  </a:rPr>
                  <a:t> middle terms of </a:t>
                </a:r>
                <a:r>
                  <a:rPr lang="en-IN" sz="2400">
                    <a:solidFill>
                      <a:srgbClr val="111827"/>
                    </a:solidFill>
                    <a:latin typeface="Cambria Math" panose="02040503050406030204" pitchFamily="18" charset="0"/>
                  </a:rPr>
                  <a:t>$t$</a:t>
                </a:r>
                <a:r>
                  <a:rPr sz="2400" b="0">
                    <a:solidFill>
                      <a:srgbClr val="111827"/>
                    </a:solidFill>
                    <a:latin typeface="Arial"/>
                  </a:rPr>
                  <a:t> is smaller than the matching term of </a:t>
                </a:r>
                <a:r>
                  <a:rPr lang="en-IN" sz="2400">
                    <a:solidFill>
                      <a:srgbClr val="111827"/>
                    </a:solidFill>
                    <a:latin typeface="Cambria Math" panose="02040503050406030204" pitchFamily="18" charset="0"/>
                  </a:rPr>
                  <a:t>$s$</a:t>
                </a:r>
                <a:r>
                  <a:rPr sz="2400" b="0">
                    <a:solidFill>
                      <a:srgbClr val="111827"/>
                    </a:solidFill>
                    <a:latin typeface="Arial"/>
                  </a:rPr>
                  <a:t>, hence </a:t>
                </a:r>
                <a:r>
                  <a:rPr lang="en-IN" sz="2400">
                    <a:solidFill>
                      <a:srgbClr val="111827"/>
                    </a:solidFill>
                    <a:latin typeface="Cambria Math" panose="02040503050406030204" pitchFamily="18" charset="0"/>
                  </a:rPr>
                  <a:t>$s&gt;t$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$k=101&gt;51$</a:t>
                </a:r>
                <a:r>
                  <a:rPr sz="2400" b="0">
                    <a:solidFill>
                      <a:srgbClr val="111827"/>
                    </a:solidFill>
                    <a:latin typeface="Arial"/>
                  </a:rPr>
                  <a:t>: </a:t>
                </a:r>
                <a:r>
                  <a:rPr lang="en-IN" sz="2400">
                    <a:solidFill>
                      <a:srgbClr val="111827"/>
                    </a:solidFill>
                    <a:latin typeface="Cambria Math" panose="02040503050406030204" pitchFamily="18" charset="0"/>
                  </a:rPr>
                  <a:t>$g(101)&gt;0$</a:t>
                </a:r>
                <a:r>
                  <a:rPr sz="2400" b="0">
                    <a:solidFill>
                      <a:srgbClr val="111827"/>
                    </a:solidFill>
                    <a:latin typeface="Arial"/>
                  </a:rPr>
                  <a:t>, i.e. </a:t>
                </a:r>
                <a:r>
                  <a:rPr lang="en-IN" sz="2400">
                    <a:solidFill>
                      <a:srgbClr val="111827"/>
                    </a:solidFill>
                    <a:latin typeface="Cambria Math" panose="02040503050406030204" pitchFamily="18" charset="0"/>
                  </a:rPr>
                  <a:t>$b_{101}&gt;a_{101}$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$s&gt;t$</a:t>
                </a:r>
                <a:r>
                  <a:rPr sz="2400" b="0">
                    <a:solidFill>
                      <a:srgbClr val="111827"/>
                    </a:solidFill>
                    <a:latin typeface="Arial"/>
                  </a:rPr>
                  <a:t> and </a:t>
                </a:r>
                <a:r>
                  <a:rPr lang="en-IN" sz="2400">
                    <a:solidFill>
                      <a:srgbClr val="111827"/>
                    </a:solidFill>
                    <a:latin typeface="Cambria Math" panose="02040503050406030204" pitchFamily="18" charset="0"/>
                  </a:rPr>
                  <a:t>$a_{101}&lt;b_{101}$</a:t>
                </a:r>
                <a:r>
                  <a:rPr sz="2400" b="0">
                    <a:solidFill>
                      <a:srgbClr val="111827"/>
                    </a:solidFill>
                    <a:latin typeface="Arial"/>
                  </a:rPr>
                  <a:t>: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a:t>
            </a:r>
            <a:endParaRPr sz="2800">
              <a:solidFill>
                <a:srgbClr val="15803D"/>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Exponential (G.P.) versus linear (A.P.) through two common points: the G.P. lies below the A.P. between the points and above it outside them. 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𝑞</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&gt;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𝑝</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for positive G.P. and A.P. agreeing at the ends,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(A.P.) </a:t>
                </a:r>
                <a14:m>
                  <m:oMath xmlns:m="http://schemas.openxmlformats.org/officeDocument/2006/math">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(G.P.) between the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the second part: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e>
                    </m:rad>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51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 (strict as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101</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Exponential (G.P.) versus linear (A.P.) through two common points: the G.P. lies below the A.P. between the points and above it outside them. So </a:t>
                </a:r>
                <a:r>
                  <a:rPr lang="en-IN" sz="2400">
                    <a:solidFill>
                      <a:srgbClr val="111827"/>
                    </a:solidFill>
                    <a:latin typeface="Cambria Math" panose="02040503050406030204" pitchFamily="18" charset="0"/>
                  </a:rPr>
                  <a:t>$b_k&lt;a_k$</a:t>
                </a:r>
                <a:r>
                  <a:rPr sz="2400" b="0">
                    <a:solidFill>
                      <a:srgbClr val="111827"/>
                    </a:solidFill>
                    <a:latin typeface="Arial"/>
                  </a:rPr>
                  <a:t> for </a:t>
                </a:r>
                <a:r>
                  <a:rPr lang="en-IN" sz="2400">
                    <a:solidFill>
                      <a:srgbClr val="111827"/>
                    </a:solidFill>
                    <a:latin typeface="Cambria Math" panose="02040503050406030204" pitchFamily="18" charset="0"/>
                  </a:rPr>
                  <a:t>$p&lt;k&lt;q$</a:t>
                </a:r>
                <a:r>
                  <a:rPr sz="2400" b="0">
                    <a:solidFill>
                      <a:srgbClr val="111827"/>
                    </a:solidFill>
                    <a:latin typeface="Arial"/>
                  </a:rPr>
                  <a:t> and </a:t>
                </a:r>
                <a:r>
                  <a:rPr lang="en-IN" sz="2400">
                    <a:solidFill>
                      <a:srgbClr val="111827"/>
                    </a:solidFill>
                    <a:latin typeface="Cambria Math" panose="02040503050406030204" pitchFamily="18" charset="0"/>
                  </a:rPr>
                  <a:t>$b_k&gt;a_k$</a:t>
                </a:r>
                <a:r>
                  <a:rPr sz="2400" b="0">
                    <a:solidFill>
                      <a:srgbClr val="111827"/>
                    </a:solidFill>
                    <a:latin typeface="Arial"/>
                  </a:rPr>
                  <a:t> for </a:t>
                </a:r>
                <a:r>
                  <a:rPr lang="en-IN" sz="2400">
                    <a:solidFill>
                      <a:srgbClr val="111827"/>
                    </a:solidFill>
                    <a:latin typeface="Cambria Math" panose="02040503050406030204" pitchFamily="18" charset="0"/>
                  </a:rPr>
                  <a:t>$k&lt;p$</a:t>
                </a:r>
                <a:r>
                  <a:rPr sz="2400" b="0">
                    <a:solidFill>
                      <a:srgbClr val="111827"/>
                    </a:solidFill>
                    <a:latin typeface="Arial"/>
                  </a:rPr>
                  <a:t> or </a:t>
                </a:r>
                <a:r>
                  <a:rPr lang="en-IN" sz="2400">
                    <a:solidFill>
                      <a:srgbClr val="111827"/>
                    </a:solidFill>
                    <a:latin typeface="Cambria Math" panose="02040503050406030204" pitchFamily="18" charset="0"/>
                  </a:rPr>
                  <a:t>$k&gt;q$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for positive G.P. and A.P. agreeing at the ends, </a:t>
                </a:r>
                <a:r>
                  <a:rPr lang="en-IN" sz="2400">
                    <a:solidFill>
                      <a:srgbClr val="111827"/>
                    </a:solidFill>
                    <a:latin typeface="Cambria Math" panose="02040503050406030204" pitchFamily="18" charset="0"/>
                  </a:rPr>
                  <a:t>$\sum$</a:t>
                </a:r>
                <a:r>
                  <a:rPr sz="2400" b="0">
                    <a:solidFill>
                      <a:srgbClr val="111827"/>
                    </a:solidFill>
                    <a:latin typeface="Arial"/>
                  </a:rPr>
                  <a:t>(A.P.) </a:t>
                </a:r>
                <a:r>
                  <a:rPr lang="en-IN" sz="2400">
                    <a:solidFill>
                      <a:srgbClr val="111827"/>
                    </a:solidFill>
                    <a:latin typeface="Cambria Math" panose="02040503050406030204" pitchFamily="18" charset="0"/>
                  </a:rPr>
                  <a:t>$&gt;\sum$</a:t>
                </a:r>
                <a:r>
                  <a:rPr sz="2400" b="0">
                    <a:solidFill>
                      <a:srgbClr val="111827"/>
                    </a:solidFill>
                    <a:latin typeface="Arial"/>
                  </a:rPr>
                  <a:t>(G.P.) between the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the second part: </a:t>
                </a:r>
                <a:r>
                  <a:rPr lang="en-IN" sz="2400">
                    <a:solidFill>
                      <a:srgbClr val="111827"/>
                    </a:solidFill>
                    <a:latin typeface="Cambria Math" panose="02040503050406030204" pitchFamily="18" charset="0"/>
                  </a:rPr>
                  <a:t>$a_{51}=\frac{a_1+a_{101}}2$</a:t>
                </a:r>
                <a:r>
                  <a:rPr sz="2400" b="0">
                    <a:solidFill>
                      <a:srgbClr val="111827"/>
                    </a:solidFill>
                    <a:latin typeface="Arial"/>
                  </a:rPr>
                  <a:t> and </a:t>
                </a:r>
                <a:r>
                  <a:rPr lang="en-IN" sz="2400">
                    <a:solidFill>
                      <a:srgbClr val="111827"/>
                    </a:solidFill>
                    <a:latin typeface="Cambria Math" panose="02040503050406030204" pitchFamily="18" charset="0"/>
                  </a:rPr>
                  <a:t>$b_{51}=\sqrt{b_1b_{101}}$</a:t>
                </a:r>
                <a:r>
                  <a:rPr sz="2400" b="0">
                    <a:solidFill>
                      <a:srgbClr val="111827"/>
                    </a:solidFill>
                    <a:latin typeface="Arial"/>
                  </a:rPr>
                  <a:t>, with </a:t>
                </a:r>
                <a:r>
                  <a:rPr lang="en-IN" sz="2400">
                    <a:solidFill>
                      <a:srgbClr val="111827"/>
                    </a:solidFill>
                    <a:latin typeface="Cambria Math" panose="02040503050406030204" pitchFamily="18" charset="0"/>
                  </a:rPr>
                  <a:t>$a_{51}=b_{51}$</a:t>
                </a:r>
                <a:r>
                  <a:rPr sz="2400" b="0">
                    <a:solidFill>
                      <a:srgbClr val="111827"/>
                    </a:solidFill>
                    <a:latin typeface="Arial"/>
                  </a:rPr>
                  <a:t> and </a:t>
                </a:r>
                <a:r>
                  <a:rPr lang="en-IN" sz="2400">
                    <a:solidFill>
                      <a:srgbClr val="111827"/>
                    </a:solidFill>
                    <a:latin typeface="Cambria Math" panose="02040503050406030204" pitchFamily="18" charset="0"/>
                  </a:rPr>
                  <a:t>$a_1=b_1$</a:t>
                </a:r>
                <a:r>
                  <a:rPr sz="2400" b="0">
                    <a:solidFill>
                      <a:srgbClr val="111827"/>
                    </a:solidFill>
                    <a:latin typeface="Arial"/>
                  </a:rPr>
                  <a:t>: </a:t>
                </a:r>
                <a:r>
                  <a:rPr lang="en-IN" sz="2400">
                    <a:solidFill>
                      <a:srgbClr val="111827"/>
                    </a:solidFill>
                    <a:latin typeface="Cambria Math" panose="02040503050406030204" pitchFamily="18" charset="0"/>
                  </a:rPr>
                  <a:t>$\frac{b_1+a_{101}}2=\sqrt{b_1b_{101}}\le\frac{b_1+b_{101}}2$</a:t>
                </a:r>
                <a:r>
                  <a:rPr sz="2400" b="0">
                    <a:solidFill>
                      <a:srgbClr val="111827"/>
                    </a:solidFill>
                    <a:latin typeface="Arial"/>
                  </a:rPr>
                  <a:t> gives </a:t>
                </a:r>
                <a:r>
                  <a:rPr lang="en-IN" sz="2400">
                    <a:solidFill>
                      <a:srgbClr val="111827"/>
                    </a:solidFill>
                    <a:latin typeface="Cambria Math" panose="02040503050406030204" pitchFamily="18" charset="0"/>
                  </a:rPr>
                  <a:t>$a_{101}\le b_{101}$</a:t>
                </a:r>
                <a:r>
                  <a:rPr sz="2400" b="0">
                    <a:solidFill>
                      <a:srgbClr val="111827"/>
                    </a:solidFill>
                    <a:latin typeface="Arial"/>
                  </a:rPr>
                  <a:t> (strict as </a:t>
                </a:r>
                <a:r>
                  <a:rPr lang="en-IN" sz="2400">
                    <a:solidFill>
                      <a:srgbClr val="111827"/>
                    </a:solidFill>
                    <a:latin typeface="Cambria Math" panose="02040503050406030204" pitchFamily="18" charset="0"/>
                  </a:rPr>
                  <a:t>$b_1\ne b_{101}$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be the set consisting of the first </a:t>
                </a:r>
                <a14:m>
                  <m:oMath xmlns:m="http://schemas.openxmlformats.org/officeDocument/2006/math">
                    <m:r>
                      <a:rPr lang="en-IN" sz="2400" i="1">
                        <a:solidFill>
                          <a:srgbClr val="111827"/>
                        </a:solidFill>
                        <a:latin typeface="Cambria Math" panose="02040503050406030204" pitchFamily="18" charset="0"/>
                      </a:rPr>
                      <m:t>2018</m:t>
                    </m:r>
                  </m:oMath>
                </a14:m>
                <a:r>
                  <a:rPr sz="2400" b="0">
                    <a:solidFill>
                      <a:srgbClr val="111827"/>
                    </a:solidFill>
                    <a:latin typeface="Arial"/>
                  </a:rPr>
                  <a:t> terms of the arithmetic progression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be the set consisting of the first </a:t>
                </a:r>
                <a14:m>
                  <m:oMath xmlns:m="http://schemas.openxmlformats.org/officeDocument/2006/math">
                    <m:r>
                      <a:rPr lang="en-IN" sz="2400" i="1">
                        <a:solidFill>
                          <a:srgbClr val="111827"/>
                        </a:solidFill>
                        <a:latin typeface="Cambria Math" panose="02040503050406030204" pitchFamily="18" charset="0"/>
                      </a:rPr>
                      <m:t>2018</m:t>
                    </m:r>
                  </m:oMath>
                </a14:m>
                <a:r>
                  <a:rPr sz="2400" b="0">
                    <a:solidFill>
                      <a:srgbClr val="111827"/>
                    </a:solidFill>
                    <a:latin typeface="Arial"/>
                  </a:rPr>
                  <a:t> terms of the arithmetic progression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the set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is 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be the set consisting of the first </a:t>
                </a:r>
                <a:r>
                  <a:rPr lang="en-IN" sz="2400">
                    <a:solidFill>
                      <a:srgbClr val="111827"/>
                    </a:solidFill>
                    <a:latin typeface="Cambria Math" panose="02040503050406030204" pitchFamily="18" charset="0"/>
                  </a:rPr>
                  <a:t>$2018$</a:t>
                </a:r>
                <a:r>
                  <a:rPr sz="2400" b="0">
                    <a:solidFill>
                      <a:srgbClr val="111827"/>
                    </a:solidFill>
                    <a:latin typeface="Arial"/>
                  </a:rPr>
                  <a:t> terms of the arithmetic progression </a:t>
                </a:r>
                <a:r>
                  <a:rPr lang="en-IN" sz="2400">
                    <a:solidFill>
                      <a:srgbClr val="111827"/>
                    </a:solidFill>
                    <a:latin typeface="Cambria Math" panose="02040503050406030204" pitchFamily="18" charset="0"/>
                  </a:rPr>
                  <a:t>$1,6,11,\ldots$</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be the set consisting of the first </a:t>
                </a:r>
                <a:r>
                  <a:rPr lang="en-IN" sz="2400">
                    <a:solidFill>
                      <a:srgbClr val="111827"/>
                    </a:solidFill>
                    <a:latin typeface="Cambria Math" panose="02040503050406030204" pitchFamily="18" charset="0"/>
                  </a:rPr>
                  <a:t>$2018$</a:t>
                </a:r>
                <a:r>
                  <a:rPr sz="2400" b="0">
                    <a:solidFill>
                      <a:srgbClr val="111827"/>
                    </a:solidFill>
                    <a:latin typeface="Arial"/>
                  </a:rPr>
                  <a:t> terms of the arithmetic progression </a:t>
                </a:r>
                <a:r>
                  <a:rPr lang="en-IN" sz="2400">
                    <a:solidFill>
                      <a:srgbClr val="111827"/>
                    </a:solidFill>
                    <a:latin typeface="Cambria Math" panose="02040503050406030204" pitchFamily="18" charset="0"/>
                  </a:rPr>
                  <a:t>$9,16,23,\ldots$</a:t>
                </a:r>
                <a:r>
                  <a:rPr sz="2400" b="0">
                    <a:solidFill>
                      <a:srgbClr val="111827"/>
                    </a:solidFill>
                    <a:latin typeface="Arial"/>
                  </a:rPr>
                  <a:t>. Then, the number of elements in the set </a:t>
                </a:r>
                <a:r>
                  <a:rPr lang="en-IN" sz="2400">
                    <a:solidFill>
                      <a:srgbClr val="111827"/>
                    </a:solidFill>
                    <a:latin typeface="Cambria Math" panose="02040503050406030204" pitchFamily="18" charset="0"/>
                  </a:rPr>
                  <a:t>$X\cup Y$</a:t>
                </a:r>
                <a:r>
                  <a:rPr sz="2400" b="0">
                    <a:solidFill>
                      <a:srgbClr val="111827"/>
                    </a:solidFill>
                    <a:latin typeface="Arial"/>
                  </a:rPr>
                  <a:t> is _____.</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Common terms of two arithmetic progressions, Number of elements in the union of two finite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Common terms form an A.P. with difference </a:t>
                </a:r>
                <a14:m>
                  <m:oMath xmlns:m="http://schemas.openxmlformats.org/officeDocument/2006/math">
                    <m:r>
                      <m:rPr>
                        <m:sty m:val="p"/>
                      </m:rPr>
                      <a:rPr lang="en-IN" sz="2400">
                        <a:solidFill>
                          <a:srgbClr val="78350F"/>
                        </a:solidFill>
                        <a:latin typeface="Cambria Math" panose="02040503050406030204" pitchFamily="18" charset="0"/>
                      </a:rPr>
                      <m:t>l</m:t>
                    </m:r>
                    <m:r>
                      <m:rPr>
                        <m:sty m:val="p"/>
                      </m:rPr>
                      <a:rPr lang="en-IN" sz="2400">
                        <a:solidFill>
                          <a:srgbClr val="78350F"/>
                        </a:solidFill>
                        <a:latin typeface="Cambria Math" panose="02040503050406030204" pitchFamily="18" charset="0"/>
                      </a:rPr>
                      <m:t>c</m:t>
                    </m:r>
                    <m:r>
                      <m:rPr>
                        <m:sty m:val="p"/>
                      </m:rPr>
                      <a:rPr lang="en-IN" sz="2400">
                        <a:solidFill>
                          <a:srgbClr val="78350F"/>
                        </a:solidFill>
                        <a:latin typeface="Cambria Math" panose="02040503050406030204" pitchFamily="18" charset="0"/>
                      </a:rPr>
                      <m:t>m</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35</m:t>
                    </m:r>
                  </m:oMath>
                </a14:m>
                <a:r>
                  <a:rPr sz="2400" b="0">
                    <a:solidFill>
                      <a:srgbClr val="78350F"/>
                    </a:solidFill>
                    <a:latin typeface="Arial"/>
                  </a:rPr>
                  <a:t>; count those up to the last term of </a:t>
                </a:r>
                <a14:m>
                  <m:oMath xmlns:m="http://schemas.openxmlformats.org/officeDocument/2006/math">
                    <m:r>
                      <a:rPr lang="en-IN" sz="2400" i="1">
                        <a:solidFill>
                          <a:srgbClr val="78350F"/>
                        </a:solidFill>
                        <a:latin typeface="Cambria Math" panose="02040503050406030204" pitchFamily="18" charset="0"/>
                      </a:rPr>
                      <m:t>𝑋</m:t>
                    </m:r>
                  </m:oMath>
                </a14:m>
                <a:r>
                  <a:rPr sz="2400" b="0">
                    <a:solidFill>
                      <a:srgbClr val="78350F"/>
                    </a:solidFill>
                    <a:latin typeface="Arial"/>
                  </a:rPr>
                  <a:t> and use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Common terms form an A.P. with difference </a:t>
                </a:r>
                <a:r>
                  <a:rPr lang="en-IN" sz="2400">
                    <a:solidFill>
                      <a:srgbClr val="78350F"/>
                    </a:solidFill>
                    <a:latin typeface="Cambria Math" panose="02040503050406030204" pitchFamily="18" charset="0"/>
                  </a:rPr>
                  <a:t>$\mathrm{lcm}(5,7)=35$</a:t>
                </a:r>
                <a:r>
                  <a:rPr sz="2400" b="0">
                    <a:solidFill>
                      <a:srgbClr val="78350F"/>
                    </a:solidFill>
                    <a:latin typeface="Arial"/>
                  </a:rPr>
                  <a:t>; count those up to the last term of </a:t>
                </a:r>
                <a:r>
                  <a:rPr lang="en-IN" sz="2400">
                    <a:solidFill>
                      <a:srgbClr val="78350F"/>
                    </a:solidFill>
                    <a:latin typeface="Cambria Math" panose="02040503050406030204" pitchFamily="18" charset="0"/>
                  </a:rPr>
                  <a:t>$X$</a:t>
                </a:r>
                <a:r>
                  <a:rPr sz="2400" b="0">
                    <a:solidFill>
                      <a:srgbClr val="78350F"/>
                    </a:solidFill>
                    <a:latin typeface="Arial"/>
                  </a:rPr>
                  <a:t> and use </a:t>
                </a:r>
                <a:r>
                  <a:rPr lang="en-IN" sz="2400">
                    <a:solidFill>
                      <a:srgbClr val="78350F"/>
                    </a:solidFill>
                    <a:latin typeface="Cambria Math" panose="02040503050406030204" pitchFamily="18" charset="0"/>
                  </a:rPr>
                  <a:t>$n(X\cup Y)=n(X)+n(Y)-n(X\cap 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(difference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(difference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each with </a:t>
                </a:r>
                <a14:m>
                  <m:oMath xmlns:m="http://schemas.openxmlformats.org/officeDocument/2006/math">
                    <m:r>
                      <a:rPr lang="en-IN" sz="2400" i="1">
                        <a:solidFill>
                          <a:srgbClr val="111827"/>
                        </a:solidFill>
                        <a:latin typeface="Cambria Math" panose="02040503050406030204" pitchFamily="18" charset="0"/>
                      </a:rPr>
                      <m:t>2018</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common term is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common terms are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common difference </a:t>
                </a:r>
                <a14:m>
                  <m:oMath xmlns:m="http://schemas.openxmlformats.org/officeDocument/2006/math">
                    <m:r>
                      <m:rPr>
                        <m:sty m:val="p"/>
                      </m:rPr>
                      <a:rPr lang="en-IN" sz="2400">
                        <a:solidFill>
                          <a:srgbClr val="111827"/>
                        </a:solidFill>
                        <a:latin typeface="Cambria Math" panose="02040503050406030204" pitchFamily="18" charset="0"/>
                      </a:rPr>
                      <m:t>l</m:t>
                    </m:r>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-th common term is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term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10086</m:t>
                    </m:r>
                  </m:oMath>
                </a14:m>
                <a:r>
                  <a:rPr sz="2400" b="0">
                    <a:solidFill>
                      <a:srgbClr val="111827"/>
                    </a:solidFill>
                    <a:latin typeface="Arial"/>
                  </a:rPr>
                  <a:t> (last term of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14128</m:t>
                    </m:r>
                  </m:oMath>
                </a14:m>
                <a:r>
                  <a:rPr sz="2400" b="0">
                    <a:solidFill>
                      <a:srgbClr val="111827"/>
                    </a:solidFill>
                    <a:latin typeface="Arial"/>
                  </a:rPr>
                  <a:t>). A common term must belong to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10086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$X=\{1,6,11,\ldots\}$</a:t>
                </a:r>
                <a:r>
                  <a:rPr sz="2400" b="0">
                    <a:solidFill>
                      <a:srgbClr val="111827"/>
                    </a:solidFill>
                    <a:latin typeface="Arial"/>
                  </a:rPr>
                  <a:t> (difference </a:t>
                </a:r>
                <a:r>
                  <a:rPr lang="en-IN" sz="2400">
                    <a:solidFill>
                      <a:srgbClr val="111827"/>
                    </a:solidFill>
                    <a:latin typeface="Cambria Math" panose="02040503050406030204" pitchFamily="18" charset="0"/>
                  </a:rPr>
                  <a:t>$5$</a:t>
                </a:r>
                <a:r>
                  <a:rPr sz="2400" b="0">
                    <a:solidFill>
                      <a:srgbClr val="111827"/>
                    </a:solidFill>
                    <a:latin typeface="Arial"/>
                  </a:rPr>
                  <a:t>) and </a:t>
                </a:r>
                <a:r>
                  <a:rPr lang="en-IN" sz="2400">
                    <a:solidFill>
                      <a:srgbClr val="111827"/>
                    </a:solidFill>
                    <a:latin typeface="Cambria Math" panose="02040503050406030204" pitchFamily="18" charset="0"/>
                  </a:rPr>
                  <a:t>$Y=\{9,16,23,\ldots\}$</a:t>
                </a:r>
                <a:r>
                  <a:rPr sz="2400" b="0">
                    <a:solidFill>
                      <a:srgbClr val="111827"/>
                    </a:solidFill>
                    <a:latin typeface="Arial"/>
                  </a:rPr>
                  <a:t> (difference </a:t>
                </a:r>
                <a:r>
                  <a:rPr lang="en-IN" sz="2400">
                    <a:solidFill>
                      <a:srgbClr val="111827"/>
                    </a:solidFill>
                    <a:latin typeface="Cambria Math" panose="02040503050406030204" pitchFamily="18" charset="0"/>
                  </a:rPr>
                  <a:t>$7$</a:t>
                </a:r>
                <a:r>
                  <a:rPr sz="2400" b="0">
                    <a:solidFill>
                      <a:srgbClr val="111827"/>
                    </a:solidFill>
                    <a:latin typeface="Arial"/>
                  </a:rPr>
                  <a:t>), each with </a:t>
                </a:r>
                <a:r>
                  <a:rPr lang="en-IN" sz="2400">
                    <a:solidFill>
                      <a:srgbClr val="111827"/>
                    </a:solidFill>
                    <a:latin typeface="Cambria Math" panose="02040503050406030204" pitchFamily="18" charset="0"/>
                  </a:rPr>
                  <a:t>$2018$</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common term is </a:t>
                </a:r>
                <a:r>
                  <a:rPr lang="en-IN" sz="2400">
                    <a:solidFill>
                      <a:srgbClr val="111827"/>
                    </a:solidFill>
                    <a:latin typeface="Cambria Math" panose="02040503050406030204" pitchFamily="18" charset="0"/>
                  </a:rPr>
                  <a:t>$16$</a:t>
                </a:r>
                <a:r>
                  <a:rPr sz="2400" b="0">
                    <a:solidFill>
                      <a:srgbClr val="111827"/>
                    </a:solidFill>
                    <a:latin typeface="Arial"/>
                  </a:rPr>
                  <a:t> (</a:t>
                </a:r>
                <a:r>
                  <a:rPr lang="en-IN" sz="2400">
                    <a:solidFill>
                      <a:srgbClr val="111827"/>
                    </a:solidFill>
                    <a:latin typeface="Cambria Math" panose="02040503050406030204" pitchFamily="18" charset="0"/>
                  </a:rPr>
                  <a:t>$16=1+3\cdot5=9+1\cdot7$</a:t>
                </a:r>
                <a:r>
                  <a:rPr sz="2400" b="0">
                    <a:solidFill>
                      <a:srgbClr val="111827"/>
                    </a:solidFill>
                    <a:latin typeface="Arial"/>
                  </a:rPr>
                  <a:t>); the common terms are </a:t>
                </a:r>
                <a:r>
                  <a:rPr lang="en-IN" sz="2400">
                    <a:solidFill>
                      <a:srgbClr val="111827"/>
                    </a:solidFill>
                    <a:latin typeface="Cambria Math" panose="02040503050406030204" pitchFamily="18" charset="0"/>
                  </a:rPr>
                  <a:t>$16,51,86,\ldots$</a:t>
                </a:r>
                <a:r>
                  <a:rPr sz="2400" b="0">
                    <a:solidFill>
                      <a:srgbClr val="111827"/>
                    </a:solidFill>
                    <a:latin typeface="Arial"/>
                  </a:rPr>
                  <a:t> with common difference </a:t>
                </a:r>
                <a:r>
                  <a:rPr lang="en-IN" sz="2400">
                    <a:solidFill>
                      <a:srgbClr val="111827"/>
                    </a:solidFill>
                    <a:latin typeface="Cambria Math" panose="02040503050406030204" pitchFamily="18" charset="0"/>
                  </a:rPr>
                  <a:t>$\mathrm{lcm}(5,7)=35$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$p$</a:t>
                </a:r>
                <a:r>
                  <a:rPr sz="2400" b="0">
                    <a:solidFill>
                      <a:srgbClr val="111827"/>
                    </a:solidFill>
                    <a:latin typeface="Arial"/>
                  </a:rPr>
                  <a:t>-th common term is </a:t>
                </a:r>
                <a:r>
                  <a:rPr lang="en-IN" sz="2400">
                    <a:solidFill>
                      <a:srgbClr val="111827"/>
                    </a:solidFill>
                    <a:latin typeface="Cambria Math" panose="02040503050406030204" pitchFamily="18" charset="0"/>
                  </a:rPr>
                  <a:t>$t_p=16+(p-1)35=35p-19$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term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$1+2017\cdot5=10086$</a:t>
                </a:r>
                <a:r>
                  <a:rPr sz="2400" b="0">
                    <a:solidFill>
                      <a:srgbClr val="111827"/>
                    </a:solidFill>
                    <a:latin typeface="Arial"/>
                  </a:rPr>
                  <a:t> (last term of </a:t>
                </a:r>
                <a:r>
                  <a:rPr lang="en-IN" sz="2400">
                    <a:solidFill>
                      <a:srgbClr val="111827"/>
                    </a:solidFill>
                    <a:latin typeface="Cambria Math" panose="02040503050406030204" pitchFamily="18" charset="0"/>
                  </a:rPr>
                  <a:t>$Y$</a:t>
                </a:r>
                <a:r>
                  <a:rPr sz="2400" b="0">
                    <a:solidFill>
                      <a:srgbClr val="111827"/>
                    </a:solidFill>
                    <a:latin typeface="Arial"/>
                  </a:rPr>
                  <a:t> is </a:t>
                </a:r>
                <a:r>
                  <a:rPr lang="en-IN" sz="2400">
                    <a:solidFill>
                      <a:srgbClr val="111827"/>
                    </a:solidFill>
                    <a:latin typeface="Cambria Math" panose="02040503050406030204" pitchFamily="18" charset="0"/>
                  </a:rPr>
                  <a:t>$9+2017\cdot7=14128$</a:t>
                </a:r>
                <a:r>
                  <a:rPr sz="2400" b="0">
                    <a:solidFill>
                      <a:srgbClr val="111827"/>
                    </a:solidFill>
                    <a:latin typeface="Arial"/>
                  </a:rPr>
                  <a:t>). A common term must belong to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$t_p\le10086$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3748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$35p-19\le10086\Rightarrow p\le288.7$</a:t>
                </a:r>
                <a:r>
                  <a:rPr sz="2400" b="0">
                    <a:solidFill>
                      <a:srgbClr val="111827"/>
                    </a:solidFill>
                    <a:latin typeface="Arial"/>
                  </a:rPr>
                  <a:t>, so </a:t>
                </a:r>
                <a:r>
                  <a:rPr lang="en-IN" sz="2400">
                    <a:solidFill>
                      <a:srgbClr val="111827"/>
                    </a:solidFill>
                    <a:latin typeface="Cambria Math" panose="02040503050406030204" pitchFamily="18" charset="0"/>
                  </a:rPr>
                  <a:t>$n(X\cap Y)=288$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$n(X\cup Y)=n(X)+n(Y)-n(X\cap Y)=2018+2018-288$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$n(X\cup Y)=3748$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3748</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Describe the two sets by remainders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combine them with the Chinese remainder theorem.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Describe the two sets by remainders (</a:t>
                </a:r>
                <a:r>
                  <a:rPr lang="en-IN" sz="2400">
                    <a:solidFill>
                      <a:srgbClr val="78350F"/>
                    </a:solidFill>
                    <a:latin typeface="Cambria Math" panose="02040503050406030204" pitchFamily="18" charset="0"/>
                  </a:rPr>
                  <a:t>$x\equiv1\pmod5$</a:t>
                </a:r>
                <a:r>
                  <a:rPr sz="2400" b="0">
                    <a:solidFill>
                      <a:srgbClr val="78350F"/>
                    </a:solidFill>
                    <a:latin typeface="Arial"/>
                  </a:rPr>
                  <a:t>, </a:t>
                </a:r>
                <a:r>
                  <a:rPr lang="en-IN" sz="2400">
                    <a:solidFill>
                      <a:srgbClr val="78350F"/>
                    </a:solidFill>
                    <a:latin typeface="Cambria Math" panose="02040503050406030204" pitchFamily="18" charset="0"/>
                  </a:rPr>
                  <a:t>$y\equiv2\pmod7$</a:t>
                </a:r>
                <a:r>
                  <a:rPr sz="2400" b="0">
                    <a:solidFill>
                      <a:srgbClr val="78350F"/>
                    </a:solidFill>
                    <a:latin typeface="Arial"/>
                  </a:rPr>
                  <a:t>) and combine them with the Chinese remainder theorem.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 the set of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10086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is the set of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14128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common number satisfies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CRT this is a single class mod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𝑗</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is the set of numbers </a:t>
                </a:r>
                <a:r>
                  <a:rPr lang="en-IN" sz="2400">
                    <a:solidFill>
                      <a:srgbClr val="111827"/>
                    </a:solidFill>
                    <a:latin typeface="Cambria Math" panose="02040503050406030204" pitchFamily="18" charset="0"/>
                  </a:rPr>
                  <a:t>$\equiv1\pmod5$</a:t>
                </a:r>
                <a:r>
                  <a:rPr sz="2400" b="0">
                    <a:solidFill>
                      <a:srgbClr val="111827"/>
                    </a:solidFill>
                    <a:latin typeface="Arial"/>
                  </a:rPr>
                  <a:t> from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$10086$</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is the set of numbers </a:t>
                </a:r>
                <a:r>
                  <a:rPr lang="en-IN" sz="2400">
                    <a:solidFill>
                      <a:srgbClr val="111827"/>
                    </a:solidFill>
                    <a:latin typeface="Cambria Math" panose="02040503050406030204" pitchFamily="18" charset="0"/>
                  </a:rPr>
                  <a:t>$\equiv9\equiv2\pmod7$</a:t>
                </a:r>
                <a:r>
                  <a:rPr sz="2400" b="0">
                    <a:solidFill>
                      <a:srgbClr val="111827"/>
                    </a:solidFill>
                    <a:latin typeface="Arial"/>
                  </a:rPr>
                  <a:t> from </a:t>
                </a:r>
                <a:r>
                  <a:rPr lang="en-IN" sz="2400">
                    <a:solidFill>
                      <a:srgbClr val="111827"/>
                    </a:solidFill>
                    <a:latin typeface="Cambria Math" panose="02040503050406030204" pitchFamily="18" charset="0"/>
                  </a:rPr>
                  <a:t>$9$</a:t>
                </a:r>
                <a:r>
                  <a:rPr sz="2400" b="0">
                    <a:solidFill>
                      <a:srgbClr val="111827"/>
                    </a:solidFill>
                    <a:latin typeface="Arial"/>
                  </a:rPr>
                  <a:t> to </a:t>
                </a:r>
                <a:r>
                  <a:rPr lang="en-IN" sz="2400">
                    <a:solidFill>
                      <a:srgbClr val="111827"/>
                    </a:solidFill>
                    <a:latin typeface="Cambria Math" panose="02040503050406030204" pitchFamily="18" charset="0"/>
                  </a:rPr>
                  <a:t>$14128$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common number satisfies </a:t>
                </a:r>
                <a:r>
                  <a:rPr lang="en-IN" sz="2400">
                    <a:solidFill>
                      <a:srgbClr val="111827"/>
                    </a:solidFill>
                    <a:latin typeface="Cambria Math" panose="02040503050406030204" pitchFamily="18" charset="0"/>
                  </a:rPr>
                  <a:t>$N\equiv1\pmod5$</a:t>
                </a:r>
                <a:r>
                  <a:rPr sz="2400" b="0">
                    <a:solidFill>
                      <a:srgbClr val="111827"/>
                    </a:solidFill>
                    <a:latin typeface="Arial"/>
                  </a:rPr>
                  <a:t> and </a:t>
                </a:r>
                <a:r>
                  <a:rPr lang="en-IN" sz="2400">
                    <a:solidFill>
                      <a:srgbClr val="111827"/>
                    </a:solidFill>
                    <a:latin typeface="Cambria Math" panose="02040503050406030204" pitchFamily="18" charset="0"/>
                  </a:rPr>
                  <a:t>$N\equiv2\pmod7$</a:t>
                </a:r>
                <a:r>
                  <a:rPr sz="2400" b="0">
                    <a:solidFill>
                      <a:srgbClr val="111827"/>
                    </a:solidFill>
                    <a:latin typeface="Arial"/>
                  </a:rPr>
                  <a:t>: by CRT this is a single class mod </a:t>
                </a:r>
                <a:r>
                  <a:rPr lang="en-IN" sz="2400">
                    <a:solidFill>
                      <a:srgbClr val="111827"/>
                    </a:solidFill>
                    <a:latin typeface="Cambria Math" panose="02040503050406030204" pitchFamily="18" charset="0"/>
                  </a:rPr>
                  <a:t>$35$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$N=2+7j$</a:t>
                </a:r>
                <a:r>
                  <a:rPr sz="2400" b="0">
                    <a:solidFill>
                      <a:srgbClr val="111827"/>
                    </a:solidFill>
                    <a:latin typeface="Arial"/>
                  </a:rPr>
                  <a:t>: </a:t>
                </a:r>
                <a:r>
                  <a:rPr lang="en-IN" sz="2400">
                    <a:solidFill>
                      <a:srgbClr val="111827"/>
                    </a:solidFill>
                    <a:latin typeface="Cambria Math" panose="02040503050406030204" pitchFamily="18" charset="0"/>
                  </a:rPr>
                  <a:t>$2+2j\equiv1\pmod5\Rightarrow j\equiv2\pmod5$</a:t>
                </a:r>
                <a:r>
                  <a:rPr sz="2400" b="0">
                    <a:solidFill>
                      <a:srgbClr val="111827"/>
                    </a:solidFill>
                    <a:latin typeface="Arial"/>
                  </a:rPr>
                  <a:t>, so </a:t>
                </a:r>
                <a:r>
                  <a:rPr lang="en-IN" sz="2400">
                    <a:solidFill>
                      <a:srgbClr val="111827"/>
                    </a:solidFill>
                    <a:latin typeface="Cambria Math" panose="02040503050406030204" pitchFamily="18" charset="0"/>
                  </a:rPr>
                  <a:t>$N=16$</a:t>
                </a:r>
                <a:r>
                  <a:rPr sz="2400" b="0">
                    <a:solidFill>
                      <a:srgbClr val="111827"/>
                    </a:solidFill>
                    <a:latin typeface="Arial"/>
                  </a:rPr>
                  <a:t>. Hence </a:t>
                </a:r>
                <a:r>
                  <a:rPr lang="en-IN" sz="2400">
                    <a:solidFill>
                      <a:srgbClr val="111827"/>
                    </a:solidFill>
                    <a:latin typeface="Cambria Math" panose="02040503050406030204" pitchFamily="18" charset="0"/>
                  </a:rPr>
                  <a:t>$N\equiv16\pmod{35}$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sets contain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and everything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onwards up to </a:t>
                </a:r>
                <a14:m>
                  <m:oMath xmlns:m="http://schemas.openxmlformats.org/officeDocument/2006/math">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14128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10086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287.7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3748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sets contain </a:t>
                </a:r>
                <a:r>
                  <a:rPr lang="en-IN" sz="2400">
                    <a:solidFill>
                      <a:srgbClr val="111827"/>
                    </a:solidFill>
                    <a:latin typeface="Cambria Math" panose="02040503050406030204" pitchFamily="18" charset="0"/>
                  </a:rPr>
                  <a:t>$16$</a:t>
                </a:r>
                <a:r>
                  <a:rPr sz="2400" b="0">
                    <a:solidFill>
                      <a:srgbClr val="111827"/>
                    </a:solidFill>
                    <a:latin typeface="Arial"/>
                  </a:rPr>
                  <a:t> and everything </a:t>
                </a:r>
                <a:r>
                  <a:rPr lang="en-IN" sz="2400">
                    <a:solidFill>
                      <a:srgbClr val="111827"/>
                    </a:solidFill>
                    <a:latin typeface="Cambria Math" panose="02040503050406030204" pitchFamily="18" charset="0"/>
                  </a:rPr>
                  <a:t>$\equiv16\pmod{35}$</a:t>
                </a:r>
                <a:r>
                  <a:rPr sz="2400" b="0">
                    <a:solidFill>
                      <a:srgbClr val="111827"/>
                    </a:solidFill>
                    <a:latin typeface="Arial"/>
                  </a:rPr>
                  <a:t> from </a:t>
                </a:r>
                <a:r>
                  <a:rPr lang="en-IN" sz="2400">
                    <a:solidFill>
                      <a:srgbClr val="111827"/>
                    </a:solidFill>
                    <a:latin typeface="Cambria Math" panose="02040503050406030204" pitchFamily="18" charset="0"/>
                  </a:rPr>
                  <a:t>$16$</a:t>
                </a:r>
                <a:r>
                  <a:rPr sz="2400" b="0">
                    <a:solidFill>
                      <a:srgbClr val="111827"/>
                    </a:solidFill>
                    <a:latin typeface="Arial"/>
                  </a:rPr>
                  <a:t> onwards up to </a:t>
                </a:r>
                <a:r>
                  <a:rPr lang="en-IN" sz="2400">
                    <a:solidFill>
                      <a:srgbClr val="111827"/>
                    </a:solidFill>
                    <a:latin typeface="Cambria Math" panose="02040503050406030204" pitchFamily="18" charset="0"/>
                  </a:rPr>
                  <a:t>$\min(10086,14128)=10086$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$\left\lfloor\frac{10086-16}{35}\right\rfloor+1=\lfloor287.7\rfloor+1=288$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$n(X\cup Y)=2018+2018-288=3748$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3748</a:t>
            </a:r>
            <a:endParaRPr sz="2800">
              <a:solidFill>
                <a:srgbClr val="15803D"/>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Common terms of two A.P.s (when they exist) form an A.P. with common difference </a:t>
                </a:r>
                <a14:m>
                  <m:oMath xmlns:m="http://schemas.openxmlformats.org/officeDocument/2006/math">
                    <m:r>
                      <m:rPr>
                        <m:sty m:val="p"/>
                      </m:rPr>
                      <a:rPr lang="en-IN" sz="2400">
                        <a:solidFill>
                          <a:srgbClr val="111827"/>
                        </a:solidFill>
                        <a:latin typeface="Cambria Math" panose="02040503050406030204" pitchFamily="18" charset="0"/>
                      </a:rPr>
                      <m:t>l</m:t>
                    </m:r>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find the first one by a short search or by CRT.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in a bounded range: if the common A.P. is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and the limit is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(the smaller of the two last terms), then there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𝐷</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common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the intersection is capped by the shorter set's last term.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Common terms of two A.P.s (when they exist) form an A.P. with common difference </a:t>
                </a:r>
                <a:r>
                  <a:rPr lang="en-IN" sz="2400">
                    <a:solidFill>
                      <a:srgbClr val="111827"/>
                    </a:solidFill>
                    <a:latin typeface="Cambria Math" panose="02040503050406030204" pitchFamily="18" charset="0"/>
                  </a:rPr>
                  <a:t>$\mathrm{lcm}(d_1,d_2)$</a:t>
                </a:r>
                <a:r>
                  <a:rPr sz="2400" b="0">
                    <a:solidFill>
                      <a:srgbClr val="111827"/>
                    </a:solidFill>
                    <a:latin typeface="Arial"/>
                  </a:rPr>
                  <a:t>; find the first one by a short search or by CRT.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in a bounded range: if the common A.P. is </a:t>
                </a:r>
                <a:r>
                  <a:rPr lang="en-IN" sz="2400">
                    <a:solidFill>
                      <a:srgbClr val="111827"/>
                    </a:solidFill>
                    <a:latin typeface="Cambria Math" panose="02040503050406030204" pitchFamily="18" charset="0"/>
                  </a:rPr>
                  <a:t>$t_1+(p-1)D$</a:t>
                </a:r>
                <a:r>
                  <a:rPr sz="2400" b="0">
                    <a:solidFill>
                      <a:srgbClr val="111827"/>
                    </a:solidFill>
                    <a:latin typeface="Arial"/>
                  </a:rPr>
                  <a:t> and the limit is </a:t>
                </a:r>
                <a:r>
                  <a:rPr lang="en-IN" sz="2400">
                    <a:solidFill>
                      <a:srgbClr val="111827"/>
                    </a:solidFill>
                    <a:latin typeface="Cambria Math" panose="02040503050406030204" pitchFamily="18" charset="0"/>
                  </a:rPr>
                  <a:t>$L$</a:t>
                </a:r>
                <a:r>
                  <a:rPr sz="2400" b="0">
                    <a:solidFill>
                      <a:srgbClr val="111827"/>
                    </a:solidFill>
                    <a:latin typeface="Arial"/>
                  </a:rPr>
                  <a:t> (the smaller of the two last terms), then there are </a:t>
                </a:r>
                <a:r>
                  <a:rPr lang="en-IN" sz="2400">
                    <a:solidFill>
                      <a:srgbClr val="111827"/>
                    </a:solidFill>
                    <a:latin typeface="Cambria Math" panose="02040503050406030204" pitchFamily="18" charset="0"/>
                  </a:rPr>
                  <a:t>$\left\lfloor\frac{L-t_1}D\right\rfloor+1$</a:t>
                </a:r>
                <a:r>
                  <a:rPr sz="2400" b="0">
                    <a:solidFill>
                      <a:srgbClr val="111827"/>
                    </a:solidFill>
                    <a:latin typeface="Arial"/>
                  </a:rPr>
                  <a:t> common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r>
                  <a:rPr lang="en-IN" sz="2400">
                    <a:solidFill>
                      <a:srgbClr val="111827"/>
                    </a:solidFill>
                    <a:latin typeface="Cambria Math" panose="02040503050406030204" pitchFamily="18" charset="0"/>
                  </a:rPr>
                  <a:t>$n(X\cup Y)=n(X)+n(Y)-n(X\cap Y)$</a:t>
                </a:r>
                <a:r>
                  <a:rPr sz="2400" b="0">
                    <a:solidFill>
                      <a:srgbClr val="111827"/>
                    </a:solidFill>
                    <a:latin typeface="Arial"/>
                  </a:rPr>
                  <a:t>; here the intersection is capped by the shorter set's last term.</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One or more than one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or more options may be correct</a:t>
            </a:r>
            <a:endParaRPr sz="2800">
              <a:solidFill>
                <a:srgbClr val="FFFFFF"/>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0787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be the roots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β</m:t>
                    </m:r>
                  </m:oMath>
                </a14:m>
                <a:r>
                  <a:rPr sz="2400" b="0">
                    <a:solidFill>
                      <a:srgbClr val="111827"/>
                    </a:solidFill>
                    <a:latin typeface="Arial"/>
                  </a:rPr>
                  <a:t>. For all positive integers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define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which of the following options is/are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89</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89</m:t>
                        </m:r>
                      </m:den>
                    </m:f>
                  </m:oMath>
                </a14:m>
                <a:endParaRPr sz="2400">
                  <a:solidFill>
                    <a:srgbClr val="111827"/>
                  </a:solidFill>
                </a:endParaRPr>
              </a:p>
            </p:txBody>
          </p:sp>
        </mc:Choice>
        <mc:Fallback>
          <p:sp>
            <p:nvSpPr>
              <p:cNvPr id="4" name="Rounded Rectangle 3"/>
              <p:cNvSpPr/>
              <p:nvPr/>
            </p:nvSpPr>
            <p:spPr>
              <a:xfrm>
                <a:off x="731520" y="1280160"/>
                <a:ext cx="10725912" cy="40787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be the roots of </a:t>
                </a:r>
                <a:r>
                  <a:rPr lang="en-IN" sz="2400">
                    <a:solidFill>
                      <a:srgbClr val="111827"/>
                    </a:solidFill>
                    <a:latin typeface="Cambria Math" panose="02040503050406030204" pitchFamily="18" charset="0"/>
                  </a:rPr>
                  <a:t>$x^2-x-1=0$</a:t>
                </a:r>
                <a:r>
                  <a:rPr sz="2400" b="0">
                    <a:solidFill>
                      <a:srgbClr val="111827"/>
                    </a:solidFill>
                    <a:latin typeface="Arial"/>
                  </a:rPr>
                  <a:t>, with </a:t>
                </a:r>
                <a:r>
                  <a:rPr lang="en-IN" sz="2400">
                    <a:solidFill>
                      <a:srgbClr val="111827"/>
                    </a:solidFill>
                    <a:latin typeface="Cambria Math" panose="02040503050406030204" pitchFamily="18" charset="0"/>
                  </a:rPr>
                  <a:t>$\alpha&gt;\beta$</a:t>
                </a:r>
                <a:r>
                  <a:rPr sz="2400" b="0">
                    <a:solidFill>
                      <a:srgbClr val="111827"/>
                    </a:solidFill>
                    <a:latin typeface="Arial"/>
                  </a:rPr>
                  <a:t>. For all positive integers </a:t>
                </a:r>
                <a:r>
                  <a:rPr lang="en-IN" sz="2400">
                    <a:solidFill>
                      <a:srgbClr val="111827"/>
                    </a:solidFill>
                    <a:latin typeface="Cambria Math" panose="02040503050406030204" pitchFamily="18" charset="0"/>
                  </a:rPr>
                  <a:t>$n$</a:t>
                </a:r>
                <a:r>
                  <a:rPr sz="2400" b="0">
                    <a:solidFill>
                      <a:srgbClr val="111827"/>
                    </a:solidFill>
                    <a:latin typeface="Arial"/>
                  </a:rPr>
                  <a:t>, define </a:t>
                </a:r>
                <a:r>
                  <a:rPr lang="en-IN" sz="2400">
                    <a:solidFill>
                      <a:srgbClr val="111827"/>
                    </a:solidFill>
                    <a:latin typeface="Cambria Math" panose="02040503050406030204" pitchFamily="18" charset="0"/>
                  </a:rPr>
                  <a:t>$a_n=\frac{\alpha^n-\beta^n}{\alpha-\beta},\ n\ge1$</a:t>
                </a:r>
                <a:r>
                  <a:rPr sz="2400" b="0">
                    <a:solidFill>
                      <a:srgbClr val="111827"/>
                    </a:solidFill>
                    <a:latin typeface="Arial"/>
                  </a:rPr>
                  <a:t>, </a:t>
                </a:r>
                <a:r>
                  <a:rPr lang="en-IN" sz="2400">
                    <a:solidFill>
                      <a:srgbClr val="111827"/>
                    </a:solidFill>
                    <a:latin typeface="Cambria Math" panose="02040503050406030204" pitchFamily="18" charset="0"/>
                  </a:rPr>
                  <a:t>$b_1=1$</a:t>
                </a:r>
                <a:r>
                  <a:rPr sz="2400" b="0">
                    <a:solidFill>
                      <a:srgbClr val="111827"/>
                    </a:solidFill>
                    <a:latin typeface="Arial"/>
                  </a:rPr>
                  <a:t> and </a:t>
                </a:r>
                <a:r>
                  <a:rPr lang="en-IN" sz="2400">
                    <a:solidFill>
                      <a:srgbClr val="111827"/>
                    </a:solidFill>
                    <a:latin typeface="Cambria Math" panose="02040503050406030204" pitchFamily="18" charset="0"/>
                  </a:rPr>
                  <a:t>$b_n=a_{n-1}+a_{n+1},\ n\ge2$</a:t>
                </a:r>
                <a:r>
                  <a:rPr sz="2400" b="0">
                    <a:solidFill>
                      <a:srgbClr val="111827"/>
                    </a:solidFill>
                    <a:latin typeface="Arial"/>
                  </a:rPr>
                  <a:t>. Then which of the following options is/are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$b_n=\alpha^n+\beta^n$</a:t>
                </a:r>
                <a:r>
                  <a:rPr sz="2400" b="0">
                    <a:solidFill>
                      <a:srgbClr val="111827"/>
                    </a:solidFill>
                    <a:latin typeface="Arial"/>
                  </a:rPr>
                  <a:t> for all </a:t>
                </a:r>
                <a:r>
                  <a:rPr lang="en-IN" sz="2400">
                    <a:solidFill>
                      <a:srgbClr val="111827"/>
                    </a:solidFill>
                    <a:latin typeface="Cambria Math" panose="02040503050406030204" pitchFamily="18" charset="0"/>
                  </a:rPr>
                  <a:t>$n\ge1$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$a_1+a_2+a_3+\cdots+a_n=a_{n+2}-1$</a:t>
                </a:r>
                <a:r>
                  <a:rPr sz="2400" b="0">
                    <a:solidFill>
                      <a:srgbClr val="111827"/>
                    </a:solidFill>
                    <a:latin typeface="Arial"/>
                  </a:rPr>
                  <a:t> for all </a:t>
                </a:r>
                <a:r>
                  <a:rPr lang="en-IN" sz="2400">
                    <a:solidFill>
                      <a:srgbClr val="111827"/>
                    </a:solidFill>
                    <a:latin typeface="Cambria Math" panose="02040503050406030204" pitchFamily="18" charset="0"/>
                  </a:rPr>
                  <a:t>$n\ge1$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$\sum_{n=1}^{\infty}\frac{a_n}{10^n}=\frac{10}{89}$</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$\sum_{n=1}^{\infty}\frac{b_n}{10^n}=\frac8{89}$</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Fibonacci-type recurrence from the roots of a quadratic, Sum of an infinite series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β</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infinite sums are geometric series in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α</m:t>
                        </m:r>
                      </m:num>
                      <m:den>
                        <m:r>
                          <a:rPr lang="en-IN" sz="2400" i="1">
                            <a:solidFill>
                              <a:srgbClr val="78350F"/>
                            </a:solidFill>
                            <a:latin typeface="Cambria Math" panose="02040503050406030204" pitchFamily="18" charset="0"/>
                          </a:rPr>
                          <m:t>10</m:t>
                        </m:r>
                      </m:den>
                    </m:f>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β</m:t>
                        </m:r>
                      </m:num>
                      <m:den>
                        <m:r>
                          <a:rPr lang="en-IN" sz="2400" i="1">
                            <a:solidFill>
                              <a:srgbClr val="78350F"/>
                            </a:solidFill>
                            <a:latin typeface="Cambria Math" panose="02040503050406030204" pitchFamily="18" charset="0"/>
                          </a:rPr>
                          <m:t>10</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$\alpha^2=\alpha+1$</a:t>
                </a:r>
                <a:r>
                  <a:rPr sz="2400" b="0">
                    <a:solidFill>
                      <a:srgbClr val="78350F"/>
                    </a:solidFill>
                    <a:latin typeface="Arial"/>
                  </a:rPr>
                  <a:t>, </a:t>
                </a:r>
                <a:r>
                  <a:rPr lang="en-IN" sz="2400">
                    <a:solidFill>
                      <a:srgbClr val="78350F"/>
                    </a:solidFill>
                    <a:latin typeface="Cambria Math" panose="02040503050406030204" pitchFamily="18" charset="0"/>
                  </a:rPr>
                  <a:t>$\beta^2=\beta+1$</a:t>
                </a:r>
                <a:r>
                  <a:rPr sz="2400" b="0">
                    <a:solidFill>
                      <a:srgbClr val="78350F"/>
                    </a:solidFill>
                    <a:latin typeface="Arial"/>
                  </a:rPr>
                  <a:t>, </a:t>
                </a:r>
                <a:r>
                  <a:rPr lang="en-IN" sz="2400">
                    <a:solidFill>
                      <a:srgbClr val="78350F"/>
                    </a:solidFill>
                    <a:latin typeface="Cambria Math" panose="02040503050406030204" pitchFamily="18" charset="0"/>
                  </a:rPr>
                  <a:t>$\alpha+\beta=1$</a:t>
                </a:r>
                <a:r>
                  <a:rPr sz="2400" b="0">
                    <a:solidFill>
                      <a:srgbClr val="78350F"/>
                    </a:solidFill>
                    <a:latin typeface="Arial"/>
                  </a:rPr>
                  <a:t>, </a:t>
                </a:r>
                <a:r>
                  <a:rPr lang="en-IN" sz="2400">
                    <a:solidFill>
                      <a:srgbClr val="78350F"/>
                    </a:solidFill>
                    <a:latin typeface="Cambria Math" panose="02040503050406030204" pitchFamily="18" charset="0"/>
                  </a:rPr>
                  <a:t>$\alpha\beta=-1$</a:t>
                </a:r>
                <a:r>
                  <a:rPr sz="2400" b="0">
                    <a:solidFill>
                      <a:srgbClr val="78350F"/>
                    </a:solidFill>
                    <a:latin typeface="Arial"/>
                  </a:rPr>
                  <a:t>; the infinite sums are geometric series in </a:t>
                </a:r>
                <a:r>
                  <a:rPr lang="en-IN" sz="2400">
                    <a:solidFill>
                      <a:srgbClr val="78350F"/>
                    </a:solidFill>
                    <a:latin typeface="Cambria Math" panose="02040503050406030204" pitchFamily="18" charset="0"/>
                  </a:rPr>
                  <a:t>$\frac\alpha{10}$</a:t>
                </a:r>
                <a:r>
                  <a:rPr sz="2400" b="0">
                    <a:solidFill>
                      <a:srgbClr val="78350F"/>
                    </a:solidFill>
                    <a:latin typeface="Arial"/>
                  </a:rPr>
                  <a:t> and </a:t>
                </a:r>
                <a:r>
                  <a:rPr lang="en-IN" sz="2400">
                    <a:solidFill>
                      <a:srgbClr val="78350F"/>
                    </a:solidFill>
                    <a:latin typeface="Cambria Math" panose="02040503050406030204" pitchFamily="18" charset="0"/>
                  </a:rPr>
                  <a:t>$\frac\beta{10}$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roots are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roots are </a:t>
                </a:r>
                <a:r>
                  <a:rPr lang="en-IN" sz="2400">
                    <a:solidFill>
                      <a:srgbClr val="111827"/>
                    </a:solidFill>
                    <a:latin typeface="Cambria Math" panose="02040503050406030204" pitchFamily="18" charset="0"/>
                  </a:rPr>
                  <a:t>$\alpha=\frac{1+\sqrt5}2$</a:t>
                </a:r>
                <a:r>
                  <a:rPr sz="2400" b="0">
                    <a:solidFill>
                      <a:srgbClr val="111827"/>
                    </a:solidFill>
                    <a:latin typeface="Arial"/>
                  </a:rPr>
                  <a:t>, </a:t>
                </a:r>
                <a:r>
                  <a:rPr lang="en-IN" sz="2400">
                    <a:solidFill>
                      <a:srgbClr val="111827"/>
                    </a:solidFill>
                    <a:latin typeface="Cambria Math" panose="02040503050406030204" pitchFamily="18" charset="0"/>
                  </a:rPr>
                  <a:t>$\beta=\frac{1-\sqrt5}2$</a:t>
                </a:r>
                <a:r>
                  <a:rPr sz="2400" b="0">
                    <a:solidFill>
                      <a:srgbClr val="111827"/>
                    </a:solidFill>
                    <a:latin typeface="Arial"/>
                  </a:rPr>
                  <a:t> with </a:t>
                </a:r>
                <a:r>
                  <a:rPr lang="en-IN" sz="2400">
                    <a:solidFill>
                      <a:srgbClr val="111827"/>
                    </a:solidFill>
                    <a:latin typeface="Cambria Math" panose="02040503050406030204" pitchFamily="18" charset="0"/>
                  </a:rPr>
                  <a:t>$\alpha^2=\alpha+1$</a:t>
                </a:r>
                <a:r>
                  <a:rPr sz="2400" b="0">
                    <a:solidFill>
                      <a:srgbClr val="111827"/>
                    </a:solidFill>
                    <a:latin typeface="Arial"/>
                  </a:rPr>
                  <a:t> and </a:t>
                </a:r>
                <a:r>
                  <a:rPr lang="en-IN" sz="2400">
                    <a:solidFill>
                      <a:srgbClr val="111827"/>
                    </a:solidFill>
                    <a:latin typeface="Cambria Math" panose="02040503050406030204" pitchFamily="18" charset="0"/>
                  </a:rPr>
                  <a:t>$\beta^2=\beta+1$</a:t>
                </a:r>
                <a:r>
                  <a:rPr sz="2400" b="0">
                    <a:solidFill>
                      <a:srgbClr val="111827"/>
                    </a:solidFill>
                    <a:latin typeface="Arial"/>
                  </a:rPr>
                  <a:t>; also </a:t>
                </a:r>
                <a:r>
                  <a:rPr lang="en-IN" sz="2400">
                    <a:solidFill>
                      <a:srgbClr val="111827"/>
                    </a:solidFill>
                    <a:latin typeface="Cambria Math" panose="02040503050406030204" pitchFamily="18" charset="0"/>
                  </a:rPr>
                  <a:t>$\alpha+\beta=1$</a:t>
                </a:r>
                <a:r>
                  <a:rPr sz="2400" b="0">
                    <a:solidFill>
                      <a:srgbClr val="111827"/>
                    </a:solidFill>
                    <a:latin typeface="Arial"/>
                  </a:rPr>
                  <a:t>, </a:t>
                </a:r>
                <a:r>
                  <a:rPr lang="en-IN" sz="2400">
                    <a:solidFill>
                      <a:srgbClr val="111827"/>
                    </a:solidFill>
                    <a:latin typeface="Cambria Math" panose="02040503050406030204" pitchFamily="18" charset="0"/>
                  </a:rPr>
                  <a:t>$\alpha\beta=-1$</a:t>
                </a:r>
                <a:r>
                  <a:rPr sz="2400" b="0">
                    <a:solidFill>
                      <a:srgbClr val="111827"/>
                    </a:solidFill>
                    <a:latin typeface="Arial"/>
                  </a:rPr>
                  <a:t>, </a:t>
                </a:r>
                <a:r>
                  <a:rPr lang="en-IN" sz="2400">
                    <a:solidFill>
                      <a:srgbClr val="111827"/>
                    </a:solidFill>
                    <a:latin typeface="Cambria Math" panose="02040503050406030204" pitchFamily="18" charset="0"/>
                  </a:rPr>
                  <a:t>$\alpha-\beta=\sqrt5$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 (A):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(B):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(same for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adding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telescopes: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 is true.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 (A): for </a:t>
                </a:r>
                <a:r>
                  <a:rPr lang="en-IN" sz="2400">
                    <a:solidFill>
                      <a:srgbClr val="111827"/>
                    </a:solidFill>
                    <a:latin typeface="Cambria Math" panose="02040503050406030204" pitchFamily="18" charset="0"/>
                  </a:rPr>
                  <a:t>$n\ge2$</a:t>
                </a:r>
                <a:r>
                  <a:rPr sz="2400" b="0">
                    <a:solidFill>
                      <a:srgbClr val="111827"/>
                    </a:solidFill>
                    <a:latin typeface="Arial"/>
                  </a:rPr>
                  <a:t>, </a:t>
                </a:r>
                <a:r>
                  <a:rPr lang="en-IN" sz="2400">
                    <a:solidFill>
                      <a:srgbClr val="111827"/>
                    </a:solidFill>
                    <a:latin typeface="Cambria Math" panose="02040503050406030204" pitchFamily="18" charset="0"/>
                  </a:rPr>
                  <a:t>$b_n=a_{n-1}+a_{n+1}=\frac{\alpha^{n-1}(1+\alpha^2)-\beta^{n-1}(1+\beta^2)}{\alpha-\beta}$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$1+\alpha^2=\alpha+2=\frac{5+\sqrt5}2=\sqrt5\,\alpha$</a:t>
                </a:r>
                <a:r>
                  <a:rPr sz="2400" b="0">
                    <a:solidFill>
                      <a:srgbClr val="111827"/>
                    </a:solidFill>
                    <a:latin typeface="Arial"/>
                  </a:rPr>
                  <a:t> and </a:t>
                </a:r>
                <a:r>
                  <a:rPr lang="en-IN" sz="2400">
                    <a:solidFill>
                      <a:srgbClr val="111827"/>
                    </a:solidFill>
                    <a:latin typeface="Cambria Math" panose="02040503050406030204" pitchFamily="18" charset="0"/>
                  </a:rPr>
                  <a:t>$1+\beta^2=\beta+2=\frac{5-\sqrt5}2=-\sqrt5\,\beta$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$b_n=\frac{\sqrt5\,\alpha^{n}+\sqrt5\,\beta^{n}}{\sqrt5}=\alpha^n+\beta^n$</a:t>
                </a:r>
                <a:r>
                  <a:rPr sz="2400" b="0">
                    <a:solidFill>
                      <a:srgbClr val="111827"/>
                    </a:solidFill>
                    <a:latin typeface="Arial"/>
                  </a:rPr>
                  <a:t>. For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$b_1=1=\alpha+\beta$</a:t>
                </a:r>
                <a:r>
                  <a:rPr sz="2400" b="0">
                    <a:solidFill>
                      <a:srgbClr val="111827"/>
                    </a:solidFill>
                    <a:latin typeface="Arial"/>
                  </a:rPr>
                  <a:t>. (A)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(B): </a:t>
                </a:r>
                <a:r>
                  <a:rPr lang="en-IN" sz="2400">
                    <a:solidFill>
                      <a:srgbClr val="111827"/>
                    </a:solidFill>
                    <a:latin typeface="Cambria Math" panose="02040503050406030204" pitchFamily="18" charset="0"/>
                  </a:rPr>
                  <a:t>$a_{n+2}=\frac{\alpha^{n+2}-\beta^{n+2}}{\alpha-\beta}$</a:t>
                </a:r>
                <a:r>
                  <a:rPr sz="2400" b="0">
                    <a:solidFill>
                      <a:srgbClr val="111827"/>
                    </a:solidFill>
                    <a:latin typeface="Arial"/>
                  </a:rPr>
                  <a:t> and </a:t>
                </a:r>
                <a:r>
                  <a:rPr lang="en-IN" sz="2400">
                    <a:solidFill>
                      <a:srgbClr val="111827"/>
                    </a:solidFill>
                    <a:latin typeface="Cambria Math" panose="02040503050406030204" pitchFamily="18" charset="0"/>
                  </a:rPr>
                  <a:t>$\alpha^{n+2}=\alpha^{n+1}+\alpha^n$</a:t>
                </a:r>
                <a:r>
                  <a:rPr sz="2400" b="0">
                    <a:solidFill>
                      <a:srgbClr val="111827"/>
                    </a:solidFill>
                    <a:latin typeface="Arial"/>
                  </a:rPr>
                  <a:t> (same for </a:t>
                </a:r>
                <a:r>
                  <a:rPr lang="en-IN" sz="2400">
                    <a:solidFill>
                      <a:srgbClr val="111827"/>
                    </a:solidFill>
                    <a:latin typeface="Cambria Math" panose="02040503050406030204" pitchFamily="18" charset="0"/>
                  </a:rPr>
                  <a:t>$\beta$</a:t>
                </a:r>
                <a:r>
                  <a:rPr sz="2400" b="0">
                    <a:solidFill>
                      <a:srgbClr val="111827"/>
                    </a:solidFill>
                    <a:latin typeface="Arial"/>
                  </a:rPr>
                  <a:t>), so </a:t>
                </a:r>
                <a:r>
                  <a:rPr lang="en-IN" sz="2400">
                    <a:solidFill>
                      <a:srgbClr val="111827"/>
                    </a:solidFill>
                    <a:latin typeface="Cambria Math" panose="02040503050406030204" pitchFamily="18" charset="0"/>
                  </a:rPr>
                  <a:t>$a_{n+2}=a_{n+1}+a_n$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$a_k=a_{k+2}-a_{k+1}$</a:t>
                </a:r>
                <a:r>
                  <a:rPr sz="2400" b="0">
                    <a:solidFill>
                      <a:srgbClr val="111827"/>
                    </a:solidFill>
                    <a:latin typeface="Arial"/>
                  </a:rPr>
                  <a:t>; adding for </a:t>
                </a:r>
                <a:r>
                  <a:rPr lang="en-IN" sz="2400">
                    <a:solidFill>
                      <a:srgbClr val="111827"/>
                    </a:solidFill>
                    <a:latin typeface="Cambria Math" panose="02040503050406030204" pitchFamily="18" charset="0"/>
                  </a:rPr>
                  <a:t>$k=1,\ldots,n$</a:t>
                </a:r>
                <a:r>
                  <a:rPr sz="2400" b="0">
                    <a:solidFill>
                      <a:srgbClr val="111827"/>
                    </a:solidFill>
                    <a:latin typeface="Arial"/>
                  </a:rPr>
                  <a:t> telescopes: </a:t>
                </a:r>
                <a:r>
                  <a:rPr lang="en-IN" sz="2400">
                    <a:solidFill>
                      <a:srgbClr val="111827"/>
                    </a:solidFill>
                    <a:latin typeface="Cambria Math" panose="02040503050406030204" pitchFamily="18" charset="0"/>
                  </a:rPr>
                  <a:t>$a_1+\cdots+a_n=a_{n+2}-a_2=a_{n+2}-1$</a:t>
                </a:r>
                <a:r>
                  <a:rPr sz="2400" b="0">
                    <a:solidFill>
                      <a:srgbClr val="111827"/>
                    </a:solidFill>
                    <a:latin typeface="Arial"/>
                  </a:rPr>
                  <a:t> since </a:t>
                </a:r>
                <a:r>
                  <a:rPr lang="en-IN" sz="2400">
                    <a:solidFill>
                      <a:srgbClr val="111827"/>
                    </a:solidFill>
                    <a:latin typeface="Cambria Math" panose="02040503050406030204" pitchFamily="18" charset="0"/>
                  </a:rPr>
                  <a:t>$a_2=1$</a:t>
                </a:r>
                <a:r>
                  <a:rPr sz="2400" b="0">
                    <a:solidFill>
                      <a:srgbClr val="111827"/>
                    </a:solidFill>
                    <a:latin typeface="Arial"/>
                  </a:rPr>
                  <a:t>. (B) is true.</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 (C):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so 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89</m:t>
                        </m:r>
                      </m:den>
                    </m:f>
                  </m:oMath>
                </a14:m>
                <a:r>
                  <a:rPr sz="2400" b="0">
                    <a:solidFill>
                      <a:srgbClr val="111827"/>
                    </a:solidFill>
                    <a:latin typeface="Arial"/>
                  </a:rPr>
                  <a:t>. (C)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89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89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89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89</m:t>
                        </m:r>
                      </m:den>
                    </m:f>
                  </m:oMath>
                </a14:m>
                <a:r>
                  <a:rPr sz="2400" b="0">
                    <a:solidFill>
                      <a:srgbClr val="111827"/>
                    </a:solidFill>
                    <a:latin typeface="Arial"/>
                  </a:rPr>
                  <a:t>.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 B,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 (C): </a:t>
                </a:r>
                <a:r>
                  <a:rPr lang="en-IN" sz="2400">
                    <a:solidFill>
                      <a:srgbClr val="111827"/>
                    </a:solidFill>
                    <a:latin typeface="Cambria Math" panose="02040503050406030204" pitchFamily="18" charset="0"/>
                  </a:rPr>
                  <a:t>$\sum_{n\ge1}\frac{a_n}{10^n}=\frac1{\alpha-\beta}\left[\frac{\alpha}{10-\alpha}-\frac\beta{10-\beta}\right]=\frac1{\alpha-\beta}\cdot\frac{10(\alpha-\beta)}{(10-\alpha)(10-\beta)}$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$(10-\alpha)(10-\beta)=100-10(\alpha+\beta)+\alpha\beta=100-10-1=89$</a:t>
                </a:r>
                <a:r>
                  <a:rPr sz="2400" b="0">
                    <a:solidFill>
                      <a:srgbClr val="111827"/>
                    </a:solidFill>
                    <a:latin typeface="Arial"/>
                  </a:rPr>
                  <a:t>, so the sum is </a:t>
                </a:r>
                <a:r>
                  <a:rPr lang="en-IN" sz="2400">
                    <a:solidFill>
                      <a:srgbClr val="111827"/>
                    </a:solidFill>
                    <a:latin typeface="Cambria Math" panose="02040503050406030204" pitchFamily="18" charset="0"/>
                  </a:rPr>
                  <a:t>$\frac{10}{89}$</a:t>
                </a:r>
                <a:r>
                  <a:rPr sz="2400" b="0">
                    <a:solidFill>
                      <a:srgbClr val="111827"/>
                    </a:solidFill>
                    <a:latin typeface="Arial"/>
                  </a:rPr>
                  <a:t>. (C)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(D): </a:t>
                </a:r>
                <a:r>
                  <a:rPr lang="en-IN" sz="2400">
                    <a:solidFill>
                      <a:srgbClr val="111827"/>
                    </a:solidFill>
                    <a:latin typeface="Cambria Math" panose="02040503050406030204" pitchFamily="18" charset="0"/>
                  </a:rPr>
                  <a:t>$\sum_{n\ge1}\frac{b_n}{10^n}=\frac\alpha{10-\alpha}+\frac\beta{10-\beta}=\frac{10(\alpha+\beta)-2\alpha\beta}{89}=\frac{10+2}{89}=\frac{12}{89}\neq\frac8{89}$</a:t>
                </a:r>
                <a:r>
                  <a:rPr sz="2400" b="0">
                    <a:solidFill>
                      <a:srgbClr val="111827"/>
                    </a:solidFill>
                    <a:latin typeface="Arial"/>
                  </a:rPr>
                  <a:t>.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 B,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 C)</a:t>
            </a:r>
            <a:endParaRPr sz="2800">
              <a:solidFill>
                <a:srgbClr val="15803D"/>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sub>
                    </m:sSub>
                  </m:oMath>
                </a14:m>
                <a:r>
                  <a:rPr sz="2400" b="0">
                    <a:solidFill>
                      <a:srgbClr val="78350F"/>
                    </a:solidFill>
                    <a:latin typeface="Arial"/>
                  </a:rPr>
                  <a:t> as the Fibonacci numbers and </a:t>
                </a:r>
                <a14:m>
                  <m:oMath xmlns:m="http://schemas.openxmlformats.org/officeDocument/2006/math">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𝑛</m:t>
                        </m:r>
                      </m:sub>
                    </m:sSub>
                  </m:oMath>
                </a14:m>
                <a:r>
                  <a:rPr sz="2400" b="0">
                    <a:solidFill>
                      <a:srgbClr val="78350F"/>
                    </a:solidFill>
                    <a:latin typeface="Arial"/>
                  </a:rPr>
                  <a:t> as the Lucas numbers; work with the recurrence and shift the index in the infinite sums.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r>
                  <a:rPr lang="en-IN" sz="2400">
                    <a:solidFill>
                      <a:srgbClr val="78350F"/>
                    </a:solidFill>
                    <a:latin typeface="Cambria Math" panose="02040503050406030204" pitchFamily="18" charset="0"/>
                  </a:rPr>
                  <a:t>$a_n$</a:t>
                </a:r>
                <a:r>
                  <a:rPr sz="2400" b="0">
                    <a:solidFill>
                      <a:srgbClr val="78350F"/>
                    </a:solidFill>
                    <a:latin typeface="Arial"/>
                  </a:rPr>
                  <a:t> as the Fibonacci numbers and </a:t>
                </a:r>
                <a:r>
                  <a:rPr lang="en-IN" sz="2400">
                    <a:solidFill>
                      <a:srgbClr val="78350F"/>
                    </a:solidFill>
                    <a:latin typeface="Cambria Math" panose="02040503050406030204" pitchFamily="18" charset="0"/>
                  </a:rPr>
                  <a:t>$b_n$</a:t>
                </a:r>
                <a:r>
                  <a:rPr sz="2400" b="0">
                    <a:solidFill>
                      <a:srgbClr val="78350F"/>
                    </a:solidFill>
                    <a:latin typeface="Arial"/>
                  </a:rPr>
                  <a:t> as the Lucas numbers; work with the recurrence and shift the index in the infinite sums.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because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telescopes,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(add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Also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obeys the same recurrence. Both start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True.</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$a_1=a_2=1$</a:t>
                </a:r>
                <a:r>
                  <a:rPr sz="2400" b="0">
                    <a:solidFill>
                      <a:srgbClr val="111827"/>
                    </a:solidFill>
                    <a:latin typeface="Arial"/>
                  </a:rPr>
                  <a:t> and </a:t>
                </a:r>
                <a:r>
                  <a:rPr lang="en-IN" sz="2400">
                    <a:solidFill>
                      <a:srgbClr val="111827"/>
                    </a:solidFill>
                    <a:latin typeface="Cambria Math" panose="02040503050406030204" pitchFamily="18" charset="0"/>
                  </a:rPr>
                  <a:t>$a_{n+2}=a_{n+1}+a_n$</a:t>
                </a:r>
                <a:r>
                  <a:rPr sz="2400" b="0">
                    <a:solidFill>
                      <a:srgbClr val="111827"/>
                    </a:solidFill>
                    <a:latin typeface="Arial"/>
                  </a:rPr>
                  <a:t>, because </a:t>
                </a:r>
                <a:r>
                  <a:rPr lang="en-IN" sz="2400">
                    <a:solidFill>
                      <a:srgbClr val="111827"/>
                    </a:solidFill>
                    <a:latin typeface="Cambria Math" panose="02040503050406030204" pitchFamily="18" charset="0"/>
                  </a:rPr>
                  <a:t>$\alpha^2=\alpha+1$</a:t>
                </a:r>
                <a:r>
                  <a:rPr sz="2400" b="0">
                    <a:solidFill>
                      <a:srgbClr val="111827"/>
                    </a:solidFill>
                    <a:latin typeface="Arial"/>
                  </a:rPr>
                  <a:t> and </a:t>
                </a:r>
                <a:r>
                  <a:rPr lang="en-IN" sz="2400">
                    <a:solidFill>
                      <a:srgbClr val="111827"/>
                    </a:solidFill>
                    <a:latin typeface="Cambria Math" panose="02040503050406030204" pitchFamily="18" charset="0"/>
                  </a:rPr>
                  <a:t>$\beta^2=\beta+1$</a:t>
                </a:r>
                <a:r>
                  <a:rPr sz="2400" b="0">
                    <a:solidFill>
                      <a:srgbClr val="111827"/>
                    </a:solidFill>
                    <a:latin typeface="Arial"/>
                  </a:rPr>
                  <a:t>: </a:t>
                </a:r>
                <a:r>
                  <a:rPr lang="en-IN" sz="2400">
                    <a:solidFill>
                      <a:srgbClr val="111827"/>
                    </a:solidFill>
                    <a:latin typeface="Cambria Math" panose="02040503050406030204" pitchFamily="18" charset="0"/>
                  </a:rPr>
                  <a:t>$a_n$</a:t>
                </a:r>
                <a:r>
                  <a:rPr sz="2400" b="0">
                    <a:solidFill>
                      <a:srgbClr val="111827"/>
                    </a:solidFill>
                    <a:latin typeface="Arial"/>
                  </a:rPr>
                  <a:t> is </a:t>
                </a:r>
                <a:r>
                  <a:rPr lang="en-IN" sz="2400">
                    <a:solidFill>
                      <a:srgbClr val="111827"/>
                    </a:solidFill>
                    <a:latin typeface="Cambria Math" panose="02040503050406030204" pitchFamily="18" charset="0"/>
                  </a:rPr>
                  <a:t>$1,1,2,3,5,8,\ldots$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$a_k=a_{k+2}-a_{k+1}$</a:t>
                </a:r>
                <a:r>
                  <a:rPr sz="2400" b="0">
                    <a:solidFill>
                      <a:srgbClr val="111827"/>
                    </a:solidFill>
                    <a:latin typeface="Arial"/>
                  </a:rPr>
                  <a:t> telescopes, so </a:t>
                </a:r>
                <a:r>
                  <a:rPr lang="en-IN" sz="2400">
                    <a:solidFill>
                      <a:srgbClr val="111827"/>
                    </a:solidFill>
                    <a:latin typeface="Cambria Math" panose="02040503050406030204" pitchFamily="18" charset="0"/>
                  </a:rPr>
                  <a:t>$a_1+\cdots+a_n=a_{n+2}-a_2=a_{n+2}-1$</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$b_{n+2}=b_{n+1}+b_n$</a:t>
                </a:r>
                <a:r>
                  <a:rPr sz="2400" b="0">
                    <a:solidFill>
                      <a:srgbClr val="111827"/>
                    </a:solidFill>
                    <a:latin typeface="Arial"/>
                  </a:rPr>
                  <a:t> for </a:t>
                </a:r>
                <a:r>
                  <a:rPr lang="en-IN" sz="2400">
                    <a:solidFill>
                      <a:srgbClr val="111827"/>
                    </a:solidFill>
                    <a:latin typeface="Cambria Math" panose="02040503050406030204" pitchFamily="18" charset="0"/>
                  </a:rPr>
                  <a:t>$n\ge1$</a:t>
                </a:r>
                <a:r>
                  <a:rPr sz="2400" b="0">
                    <a:solidFill>
                      <a:srgbClr val="111827"/>
                    </a:solidFill>
                    <a:latin typeface="Arial"/>
                  </a:rPr>
                  <a:t> (add </a:t>
                </a:r>
                <a:r>
                  <a:rPr lang="en-IN" sz="2400">
                    <a:solidFill>
                      <a:srgbClr val="111827"/>
                    </a:solidFill>
                    <a:latin typeface="Cambria Math" panose="02040503050406030204" pitchFamily="18" charset="0"/>
                  </a:rPr>
                  <a:t>$b_n=a_{n-1}+a_{n+1}$</a:t>
                </a:r>
                <a:r>
                  <a:rPr sz="2400" b="0">
                    <a:solidFill>
                      <a:srgbClr val="111827"/>
                    </a:solidFill>
                    <a:latin typeface="Arial"/>
                  </a:rPr>
                  <a:t> and </a:t>
                </a:r>
                <a:r>
                  <a:rPr lang="en-IN" sz="2400">
                    <a:solidFill>
                      <a:srgbClr val="111827"/>
                    </a:solidFill>
                    <a:latin typeface="Cambria Math" panose="02040503050406030204" pitchFamily="18" charset="0"/>
                  </a:rPr>
                  <a:t>$b_{n+1}=a_n+a_{n+2}$</a:t>
                </a:r>
                <a:r>
                  <a:rPr sz="2400" b="0">
                    <a:solidFill>
                      <a:srgbClr val="111827"/>
                    </a:solidFill>
                    <a:latin typeface="Arial"/>
                  </a:rPr>
                  <a:t>). Also </a:t>
                </a:r>
                <a:r>
                  <a:rPr lang="en-IN" sz="2400">
                    <a:solidFill>
                      <a:srgbClr val="111827"/>
                    </a:solidFill>
                    <a:latin typeface="Cambria Math" panose="02040503050406030204" pitchFamily="18" charset="0"/>
                  </a:rPr>
                  <a:t>$\alpha^n+\beta^n$</a:t>
                </a:r>
                <a:r>
                  <a:rPr sz="2400" b="0">
                    <a:solidFill>
                      <a:srgbClr val="111827"/>
                    </a:solidFill>
                    <a:latin typeface="Arial"/>
                  </a:rPr>
                  <a:t> obeys the same recurrence. Both start </a:t>
                </a:r>
                <a:r>
                  <a:rPr lang="en-IN" sz="2400">
                    <a:solidFill>
                      <a:srgbClr val="111827"/>
                    </a:solidFill>
                    <a:latin typeface="Cambria Math" panose="02040503050406030204" pitchFamily="18" charset="0"/>
                  </a:rPr>
                  <a:t>$1,3$</a:t>
                </a:r>
                <a:r>
                  <a:rPr sz="2400" b="0">
                    <a:solidFill>
                      <a:srgbClr val="111827"/>
                    </a:solidFill>
                    <a:latin typeface="Arial"/>
                  </a:rPr>
                  <a:t> (</a:t>
                </a:r>
                <a:r>
                  <a:rPr lang="en-IN" sz="2400">
                    <a:solidFill>
                      <a:srgbClr val="111827"/>
                    </a:solidFill>
                    <a:latin typeface="Cambria Math" panose="02040503050406030204" pitchFamily="18" charset="0"/>
                  </a:rPr>
                  <a:t>$b_1=1$</a:t>
                </a:r>
                <a:r>
                  <a:rPr sz="2400" b="0">
                    <a:solidFill>
                      <a:srgbClr val="111827"/>
                    </a:solidFill>
                    <a:latin typeface="Arial"/>
                  </a:rPr>
                  <a:t>, </a:t>
                </a:r>
                <a:r>
                  <a:rPr lang="en-IN" sz="2400">
                    <a:solidFill>
                      <a:srgbClr val="111827"/>
                    </a:solidFill>
                    <a:latin typeface="Cambria Math" panose="02040503050406030204" pitchFamily="18" charset="0"/>
                  </a:rPr>
                  <a:t>$b_2=a_1+a_3=3$</a:t>
                </a:r>
                <a:r>
                  <a:rPr sz="2400" b="0">
                    <a:solidFill>
                      <a:srgbClr val="111827"/>
                    </a:solidFill>
                    <a:latin typeface="Arial"/>
                  </a:rPr>
                  <a:t>; </a:t>
                </a:r>
                <a:r>
                  <a:rPr lang="en-IN" sz="2400">
                    <a:solidFill>
                      <a:srgbClr val="111827"/>
                    </a:solidFill>
                    <a:latin typeface="Cambria Math" panose="02040503050406030204" pitchFamily="18" charset="0"/>
                  </a:rPr>
                  <a:t>$\alpha+\beta=1$</a:t>
                </a:r>
                <a:r>
                  <a:rPr sz="2400" b="0">
                    <a:solidFill>
                      <a:srgbClr val="111827"/>
                    </a:solidFill>
                    <a:latin typeface="Arial"/>
                  </a:rPr>
                  <a:t>, </a:t>
                </a:r>
                <a:r>
                  <a:rPr lang="en-IN" sz="2400">
                    <a:solidFill>
                      <a:srgbClr val="111827"/>
                    </a:solidFill>
                    <a:latin typeface="Cambria Math" panose="02040503050406030204" pitchFamily="18" charset="0"/>
                  </a:rPr>
                  <a:t>$\alpha^2+\beta^2=1+2=3$</a:t>
                </a:r>
                <a:r>
                  <a:rPr sz="2400" b="0">
                    <a:solidFill>
                      <a:srgbClr val="111827"/>
                    </a:solidFill>
                    <a:latin typeface="Arial"/>
                  </a:rPr>
                  <a:t>), so </a:t>
                </a:r>
                <a:r>
                  <a:rPr lang="en-IN" sz="2400">
                    <a:solidFill>
                      <a:srgbClr val="111827"/>
                    </a:solidFill>
                    <a:latin typeface="Cambria Math" panose="02040503050406030204" pitchFamily="18" charset="0"/>
                  </a:rPr>
                  <a:t>$b_n=\alpha^n+\beta^n$</a:t>
                </a:r>
                <a:r>
                  <a:rPr sz="2400" b="0">
                    <a:solidFill>
                      <a:srgbClr val="111827"/>
                    </a:solidFill>
                    <a:latin typeface="Arial"/>
                  </a:rPr>
                  <a:t>. True.</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let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oMath>
                </a14:m>
                <a:r>
                  <a:rPr sz="2400" b="0">
                    <a:solidFill>
                      <a:srgbClr val="111827"/>
                    </a:solidFill>
                    <a:latin typeface="Arial"/>
                  </a:rPr>
                  <a:t>. From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Left 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100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first sum on the right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10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89</m:t>
                        </m:r>
                      </m:den>
                    </m:f>
                  </m:oMath>
                </a14:m>
                <a:r>
                  <a:rPr sz="2400" b="0">
                    <a:solidFill>
                      <a:srgbClr val="111827"/>
                    </a:solidFill>
                    <a:latin typeface="Arial"/>
                  </a:rPr>
                  <a:t>. True.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let </a:t>
                </a:r>
                <a:r>
                  <a:rPr lang="en-IN" sz="2400">
                    <a:solidFill>
                      <a:srgbClr val="111827"/>
                    </a:solidFill>
                    <a:latin typeface="Cambria Math" panose="02040503050406030204" pitchFamily="18" charset="0"/>
                  </a:rPr>
                  <a:t>$G=\sum_{n\ge1}\frac{a_n}{10^n}$</a:t>
                </a:r>
                <a:r>
                  <a:rPr sz="2400" b="0">
                    <a:solidFill>
                      <a:srgbClr val="111827"/>
                    </a:solidFill>
                    <a:latin typeface="Arial"/>
                  </a:rPr>
                  <a:t>. From </a:t>
                </a:r>
                <a:r>
                  <a:rPr lang="en-IN" sz="2400">
                    <a:solidFill>
                      <a:srgbClr val="111827"/>
                    </a:solidFill>
                    <a:latin typeface="Cambria Math" panose="02040503050406030204" pitchFamily="18" charset="0"/>
                  </a:rPr>
                  <a:t>$a_{n+2}=a_{n+1}+a_n$</a:t>
                </a:r>
                <a:r>
                  <a:rPr sz="2400" b="0">
                    <a:solidFill>
                      <a:srgbClr val="111827"/>
                    </a:solidFill>
                    <a:latin typeface="Arial"/>
                  </a:rPr>
                  <a:t>: </a:t>
                </a:r>
                <a:r>
                  <a:rPr lang="en-IN" sz="2400">
                    <a:solidFill>
                      <a:srgbClr val="111827"/>
                    </a:solidFill>
                    <a:latin typeface="Cambria Math" panose="02040503050406030204" pitchFamily="18" charset="0"/>
                  </a:rPr>
                  <a:t>$\sum_{n\ge1}\frac{a_{n+2}}{10^n}=\sum_{n\ge1}\frac{a_{n+1}}{10^n}+G$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Left side </a:t>
                </a:r>
                <a:r>
                  <a:rPr lang="en-IN" sz="2400">
                    <a:solidFill>
                      <a:srgbClr val="111827"/>
                    </a:solidFill>
                    <a:latin typeface="Cambria Math" panose="02040503050406030204" pitchFamily="18" charset="0"/>
                  </a:rPr>
                  <a:t>$=100\left(G-\frac{a_1}{10}-\frac{a_2}{100}\right)=100G-11$</a:t>
                </a:r>
                <a:r>
                  <a:rPr sz="2400" b="0">
                    <a:solidFill>
                      <a:srgbClr val="111827"/>
                    </a:solidFill>
                    <a:latin typeface="Arial"/>
                  </a:rPr>
                  <a:t>; first sum on the right </a:t>
                </a:r>
                <a:r>
                  <a:rPr lang="en-IN" sz="2400">
                    <a:solidFill>
                      <a:srgbClr val="111827"/>
                    </a:solidFill>
                    <a:latin typeface="Cambria Math" panose="02040503050406030204" pitchFamily="18" charset="0"/>
                  </a:rPr>
                  <a:t>$=10\left(G-\frac{a_1}{10}\right)=10G-1$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$100G-11=10G-1+G\Rightarrow89G=10$</a:t>
                </a:r>
                <a:r>
                  <a:rPr sz="2400" b="0">
                    <a:solidFill>
                      <a:srgbClr val="111827"/>
                    </a:solidFill>
                    <a:latin typeface="Arial"/>
                  </a:rPr>
                  <a:t>, so </a:t>
                </a:r>
                <a:r>
                  <a:rPr lang="en-IN" sz="2400">
                    <a:solidFill>
                      <a:srgbClr val="111827"/>
                    </a:solidFill>
                    <a:latin typeface="Cambria Math" panose="02040503050406030204" pitchFamily="18" charset="0"/>
                  </a:rPr>
                  <a:t>$G=\frac{10}{89}$</a:t>
                </a:r>
                <a:r>
                  <a:rPr sz="2400" b="0">
                    <a:solidFill>
                      <a:srgbClr val="111827"/>
                    </a:solidFill>
                    <a:latin typeface="Arial"/>
                  </a:rPr>
                  <a:t>. True.</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𝑚</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𝑚</m:t>
                                </m:r>
                              </m:sup>
                            </m:sSup>
                          </m:den>
                        </m:f>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𝐺</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89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89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89</m:t>
                        </m:r>
                      </m:den>
                    </m:f>
                  </m:oMath>
                </a14:m>
                <a:r>
                  <a:rPr sz="2400" b="0">
                    <a:solidFill>
                      <a:srgbClr val="111827"/>
                    </a:solidFill>
                    <a:latin typeface="Arial"/>
                  </a:rPr>
                  <a:t>. False. Answer: (A, B,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$b_n=a_{n-1}+a_{n+1}$</a:t>
                </a:r>
                <a:r>
                  <a:rPr sz="2400" b="0">
                    <a:solidFill>
                      <a:srgbClr val="111827"/>
                    </a:solidFill>
                    <a:latin typeface="Arial"/>
                  </a:rPr>
                  <a:t> for all </a:t>
                </a:r>
                <a:r>
                  <a:rPr lang="en-IN" sz="2400">
                    <a:solidFill>
                      <a:srgbClr val="111827"/>
                    </a:solidFill>
                    <a:latin typeface="Cambria Math" panose="02040503050406030204" pitchFamily="18" charset="0"/>
                  </a:rPr>
                  <a:t>$n\ge1$</a:t>
                </a:r>
                <a:r>
                  <a:rPr sz="2400" b="0">
                    <a:solidFill>
                      <a:srgbClr val="111827"/>
                    </a:solidFill>
                    <a:latin typeface="Arial"/>
                  </a:rPr>
                  <a:t> (with </a:t>
                </a:r>
                <a:r>
                  <a:rPr lang="en-IN" sz="2400">
                    <a:solidFill>
                      <a:srgbClr val="111827"/>
                    </a:solidFill>
                    <a:latin typeface="Cambria Math" panose="02040503050406030204" pitchFamily="18" charset="0"/>
                  </a:rPr>
                  <a:t>$a_0=0$</a:t>
                </a:r>
                <a:r>
                  <a:rPr sz="2400" b="0">
                    <a:solidFill>
                      <a:srgbClr val="111827"/>
                    </a:solidFill>
                    <a:latin typeface="Arial"/>
                  </a:rPr>
                  <a:t>, </a:t>
                </a:r>
                <a:r>
                  <a:rPr lang="en-IN" sz="2400">
                    <a:solidFill>
                      <a:srgbClr val="111827"/>
                    </a:solidFill>
                    <a:latin typeface="Cambria Math" panose="02040503050406030204" pitchFamily="18" charset="0"/>
                  </a:rPr>
                  <a:t>$b_1=a_0+a_2=1$</a:t>
                </a:r>
                <a:r>
                  <a:rPr sz="2400" b="0">
                    <a:solidFill>
                      <a:srgbClr val="111827"/>
                    </a:solidFill>
                    <a:latin typeface="Arial"/>
                  </a:rPr>
                  <a:t>). So </a:t>
                </a:r>
                <a:r>
                  <a:rPr lang="en-IN" sz="2400">
                    <a:solidFill>
                      <a:srgbClr val="111827"/>
                    </a:solidFill>
                    <a:latin typeface="Cambria Math" panose="02040503050406030204" pitchFamily="18" charset="0"/>
                  </a:rPr>
                  <a:t>$\sum\frac{b_n}{10^n}=\frac1{10}\sum_{m\ge0}\frac{a_m}{10^m}+\sum_{n\ge1}\frac{a_{n+1}}{10^n}=\frac G{10}+(10G-1)$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$=\frac1{89}+\frac{100}{89}-1=\frac{12}{89}\ne\frac8{89}$</a:t>
                </a:r>
                <a:r>
                  <a:rPr sz="2400" b="0">
                    <a:solidFill>
                      <a:srgbClr val="111827"/>
                    </a:solidFill>
                    <a:latin typeface="Arial"/>
                  </a:rPr>
                  <a:t>. False. Answer: (A, B,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 C)</a:t>
            </a:r>
            <a:endParaRPr sz="2800">
              <a:solidFill>
                <a:srgbClr val="15803D"/>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oMath>
                </a14:m>
                <a:r>
                  <a:rPr sz="2400" b="0">
                    <a:solidFill>
                      <a:srgbClr val="111827"/>
                    </a:solidFill>
                    <a:latin typeface="Arial"/>
                  </a:rPr>
                  <a:t> for the roots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the Fibonacci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are the Lucas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equal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generating functions: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sub>
                        </m:sSub>
                      </m:e>
                    </m:nary>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0.1</m:t>
                        </m:r>
                      </m:num>
                      <m:den>
                        <m:r>
                          <a:rPr lang="en-IN" sz="2400" i="1">
                            <a:solidFill>
                              <a:srgbClr val="111827"/>
                            </a:solidFill>
                            <a:latin typeface="Cambria Math" panose="02040503050406030204" pitchFamily="18" charset="0"/>
                          </a:rPr>
                          <m:t>0.89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89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Lucas: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𝑛</m:t>
                            </m:r>
                          </m:sub>
                        </m:sSub>
                      </m:e>
                    </m:nary>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0.12</m:t>
                        </m:r>
                      </m:num>
                      <m:den>
                        <m:r>
                          <a:rPr lang="en-IN" sz="2400" i="1">
                            <a:solidFill>
                              <a:srgbClr val="111827"/>
                            </a:solidFill>
                            <a:latin typeface="Cambria Math" panose="02040503050406030204" pitchFamily="18" charset="0"/>
                          </a:rPr>
                          <m:t>0.89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89</m:t>
                        </m:r>
                      </m:den>
                    </m:f>
                  </m:oMath>
                </a14:m>
                <a:r>
                  <a:rPr sz="2400" b="0">
                    <a:solidFill>
                      <a:srgbClr val="111827"/>
                    </a:solidFill>
                    <a:latin typeface="Arial"/>
                  </a:rPr>
                  <a:t> (not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89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and a ratio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shifting the index in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𝑛</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gives a linear equation for the sum.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$\frac{\alpha^n-\beta^n}{\alpha-\beta}$</a:t>
                </a:r>
                <a:r>
                  <a:rPr sz="2400" b="0">
                    <a:solidFill>
                      <a:srgbClr val="111827"/>
                    </a:solidFill>
                    <a:latin typeface="Arial"/>
                  </a:rPr>
                  <a:t> for the roots of </a:t>
                </a:r>
                <a:r>
                  <a:rPr lang="en-IN" sz="2400">
                    <a:solidFill>
                      <a:srgbClr val="111827"/>
                    </a:solidFill>
                    <a:latin typeface="Cambria Math" panose="02040503050406030204" pitchFamily="18" charset="0"/>
                  </a:rPr>
                  <a:t>$x^2=x+1$</a:t>
                </a:r>
                <a:r>
                  <a:rPr sz="2400" b="0">
                    <a:solidFill>
                      <a:srgbClr val="111827"/>
                    </a:solidFill>
                    <a:latin typeface="Arial"/>
                  </a:rPr>
                  <a:t> are the Fibonacci numbers </a:t>
                </a:r>
                <a:r>
                  <a:rPr lang="en-IN" sz="2400">
                    <a:solidFill>
                      <a:srgbClr val="111827"/>
                    </a:solidFill>
                    <a:latin typeface="Cambria Math" panose="02040503050406030204" pitchFamily="18" charset="0"/>
                  </a:rPr>
                  <a:t>$1,1,2,3,5,\ldots$</a:t>
                </a:r>
                <a:r>
                  <a:rPr sz="2400" b="0">
                    <a:solidFill>
                      <a:srgbClr val="111827"/>
                    </a:solidFill>
                    <a:latin typeface="Arial"/>
                  </a:rPr>
                  <a:t>; </a:t>
                </a:r>
                <a:r>
                  <a:rPr lang="en-IN" sz="2400">
                    <a:solidFill>
                      <a:srgbClr val="111827"/>
                    </a:solidFill>
                    <a:latin typeface="Cambria Math" panose="02040503050406030204" pitchFamily="18" charset="0"/>
                  </a:rPr>
                  <a:t>$\alpha^n+\beta^n$</a:t>
                </a:r>
                <a:r>
                  <a:rPr sz="2400" b="0">
                    <a:solidFill>
                      <a:srgbClr val="111827"/>
                    </a:solidFill>
                    <a:latin typeface="Arial"/>
                  </a:rPr>
                  <a:t> are the Lucas numbers </a:t>
                </a:r>
                <a:r>
                  <a:rPr lang="en-IN" sz="2400">
                    <a:solidFill>
                      <a:srgbClr val="111827"/>
                    </a:solidFill>
                    <a:latin typeface="Cambria Math" panose="02040503050406030204" pitchFamily="18" charset="0"/>
                  </a:rPr>
                  <a:t>$1,3,4,7,11,\ldots$</a:t>
                </a:r>
                <a:r>
                  <a:rPr sz="2400" b="0">
                    <a:solidFill>
                      <a:srgbClr val="111827"/>
                    </a:solidFill>
                    <a:latin typeface="Arial"/>
                  </a:rPr>
                  <a:t> and equal </a:t>
                </a:r>
                <a:r>
                  <a:rPr lang="en-IN" sz="2400">
                    <a:solidFill>
                      <a:srgbClr val="111827"/>
                    </a:solidFill>
                    <a:latin typeface="Cambria Math" panose="02040503050406030204" pitchFamily="18" charset="0"/>
                  </a:rPr>
                  <a:t>$a_{n-1}+a_{n+1}$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$\sum_{k=1}^nF_k=F_{n+2}-1$</a:t>
                </a:r>
                <a:r>
                  <a:rPr sz="2400" b="0">
                    <a:solidFill>
                      <a:srgbClr val="111827"/>
                    </a:solidFill>
                    <a:latin typeface="Arial"/>
                  </a:rPr>
                  <a:t>; generating functions: </a:t>
                </a:r>
                <a:r>
                  <a:rPr lang="en-IN" sz="2400">
                    <a:solidFill>
                      <a:srgbClr val="111827"/>
                    </a:solidFill>
                    <a:latin typeface="Cambria Math" panose="02040503050406030204" pitchFamily="18" charset="0"/>
                  </a:rPr>
                  <a:t>$\sum_{n\ge1}F_nx^n=\frac x{1-x-x^2}$</a:t>
                </a:r>
                <a:r>
                  <a:rPr sz="2400" b="0">
                    <a:solidFill>
                      <a:srgbClr val="111827"/>
                    </a:solidFill>
                    <a:latin typeface="Arial"/>
                  </a:rPr>
                  <a:t>, and at </a:t>
                </a:r>
                <a:r>
                  <a:rPr lang="en-IN" sz="2400">
                    <a:solidFill>
                      <a:srgbClr val="111827"/>
                    </a:solidFill>
                    <a:latin typeface="Cambria Math" panose="02040503050406030204" pitchFamily="18" charset="0"/>
                  </a:rPr>
                  <a:t>$x=\frac1{10}$</a:t>
                </a:r>
                <a:r>
                  <a:rPr sz="2400" b="0">
                    <a:solidFill>
                      <a:srgbClr val="111827"/>
                    </a:solidFill>
                    <a:latin typeface="Arial"/>
                  </a:rPr>
                  <a:t> it is </a:t>
                </a:r>
                <a:r>
                  <a:rPr lang="en-IN" sz="2400">
                    <a:solidFill>
                      <a:srgbClr val="111827"/>
                    </a:solidFill>
                    <a:latin typeface="Cambria Math" panose="02040503050406030204" pitchFamily="18" charset="0"/>
                  </a:rPr>
                  <a:t>$\frac{0.1}{0.89}=\frac{10}{89}$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Lucas: </a:t>
                </a:r>
                <a:r>
                  <a:rPr lang="en-IN" sz="2400">
                    <a:solidFill>
                      <a:srgbClr val="111827"/>
                    </a:solidFill>
                    <a:latin typeface="Cambria Math" panose="02040503050406030204" pitchFamily="18" charset="0"/>
                  </a:rPr>
                  <a:t>$\sum_{n\ge1}L_nx^n=\frac{x(1+2x)}{1-x-x^2}$</a:t>
                </a:r>
                <a:r>
                  <a:rPr sz="2400" b="0">
                    <a:solidFill>
                      <a:srgbClr val="111827"/>
                    </a:solidFill>
                    <a:latin typeface="Arial"/>
                  </a:rPr>
                  <a:t>; at </a:t>
                </a:r>
                <a:r>
                  <a:rPr lang="en-IN" sz="2400">
                    <a:solidFill>
                      <a:srgbClr val="111827"/>
                    </a:solidFill>
                    <a:latin typeface="Cambria Math" panose="02040503050406030204" pitchFamily="18" charset="0"/>
                  </a:rPr>
                  <a:t>$x=\frac1{10}$</a:t>
                </a:r>
                <a:r>
                  <a:rPr sz="2400" b="0">
                    <a:solidFill>
                      <a:srgbClr val="111827"/>
                    </a:solidFill>
                    <a:latin typeface="Arial"/>
                  </a:rPr>
                  <a:t>: </a:t>
                </a:r>
                <a:r>
                  <a:rPr lang="en-IN" sz="2400">
                    <a:solidFill>
                      <a:srgbClr val="111827"/>
                    </a:solidFill>
                    <a:latin typeface="Cambria Math" panose="02040503050406030204" pitchFamily="18" charset="0"/>
                  </a:rPr>
                  <a:t>$\frac{0.12}{0.89}=\frac{12}{89}$</a:t>
                </a:r>
                <a:r>
                  <a:rPr sz="2400" b="0">
                    <a:solidFill>
                      <a:srgbClr val="111827"/>
                    </a:solidFill>
                    <a:latin typeface="Arial"/>
                  </a:rPr>
                  <a:t> (not </a:t>
                </a:r>
                <a:r>
                  <a:rPr lang="en-IN" sz="2400">
                    <a:solidFill>
                      <a:srgbClr val="111827"/>
                    </a:solidFill>
                    <a:latin typeface="Cambria Math" panose="02040503050406030204" pitchFamily="18" charset="0"/>
                  </a:rPr>
                  <a:t>$\frac8{89}$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$u_{n+2}=u_{n+1}+u_n$</a:t>
                </a:r>
                <a:r>
                  <a:rPr sz="2400" b="0">
                    <a:solidFill>
                      <a:srgbClr val="111827"/>
                    </a:solidFill>
                    <a:latin typeface="Arial"/>
                  </a:rPr>
                  <a:t> and a ratio </a:t>
                </a:r>
                <a:r>
                  <a:rPr lang="en-IN" sz="2400">
                    <a:solidFill>
                      <a:srgbClr val="111827"/>
                    </a:solidFill>
                    <a:latin typeface="Cambria Math" panose="02040503050406030204" pitchFamily="18" charset="0"/>
                  </a:rPr>
                  <a:t>$x$</a:t>
                </a:r>
                <a:r>
                  <a:rPr sz="2400" b="0">
                    <a:solidFill>
                      <a:srgbClr val="111827"/>
                    </a:solidFill>
                    <a:latin typeface="Arial"/>
                  </a:rPr>
                  <a:t> with </a:t>
                </a:r>
                <a:r>
                  <a:rPr lang="en-IN" sz="2400">
                    <a:solidFill>
                      <a:srgbClr val="111827"/>
                    </a:solidFill>
                    <a:latin typeface="Cambria Math" panose="02040503050406030204" pitchFamily="18" charset="0"/>
                  </a:rPr>
                  <a:t>$|x|&lt;\frac{\sqrt5-1}2$</a:t>
                </a:r>
                <a:r>
                  <a:rPr sz="2400" b="0">
                    <a:solidFill>
                      <a:srgbClr val="111827"/>
                    </a:solidFill>
                    <a:latin typeface="Arial"/>
                  </a:rPr>
                  <a:t>, shifting the index in </a:t>
                </a:r>
                <a:r>
                  <a:rPr lang="en-IN" sz="2400">
                    <a:solidFill>
                      <a:srgbClr val="111827"/>
                    </a:solidFill>
                    <a:latin typeface="Cambria Math" panose="02040503050406030204" pitchFamily="18" charset="0"/>
                  </a:rPr>
                  <a:t>$\sum u_nx^n$</a:t>
                </a:r>
                <a:r>
                  <a:rPr sz="2400" b="0">
                    <a:solidFill>
                      <a:srgbClr val="111827"/>
                    </a:solidFill>
                    <a:latin typeface="Arial"/>
                  </a:rPr>
                  <a:t> gives a linear equation for the sum.</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 the set of all the terms of an infinite arithmetic progression with first term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common difference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equals.</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$AP(a;d)$</a:t>
                </a:r>
                <a:r>
                  <a:rPr sz="2400" b="0">
                    <a:solidFill>
                      <a:srgbClr val="111827"/>
                    </a:solidFill>
                    <a:latin typeface="Arial"/>
                  </a:rPr>
                  <a:t> denote the set of all the terms of an infinite arithmetic progression with first term </a:t>
                </a:r>
                <a:r>
                  <a:rPr lang="en-IN" sz="2400">
                    <a:solidFill>
                      <a:srgbClr val="111827"/>
                    </a:solidFill>
                    <a:latin typeface="Cambria Math" panose="02040503050406030204" pitchFamily="18" charset="0"/>
                  </a:rPr>
                  <a:t>$a$</a:t>
                </a:r>
                <a:r>
                  <a:rPr sz="2400" b="0">
                    <a:solidFill>
                      <a:srgbClr val="111827"/>
                    </a:solidFill>
                    <a:latin typeface="Arial"/>
                  </a:rPr>
                  <a:t> and common difference </a:t>
                </a:r>
                <a:r>
                  <a:rPr lang="en-IN" sz="2400">
                    <a:solidFill>
                      <a:srgbClr val="111827"/>
                    </a:solidFill>
                    <a:latin typeface="Cambria Math" panose="02040503050406030204" pitchFamily="18" charset="0"/>
                  </a:rPr>
                  <a:t>$d&gt;0$</a:t>
                </a:r>
                <a:r>
                  <a:rPr sz="2400" b="0">
                    <a:solidFill>
                      <a:srgbClr val="111827"/>
                    </a:solidFill>
                    <a:latin typeface="Arial"/>
                  </a:rPr>
                  <a:t>. If </a:t>
                </a:r>
                <a:r>
                  <a:rPr lang="en-IN" sz="2400">
                    <a:solidFill>
                      <a:srgbClr val="111827"/>
                    </a:solidFill>
                    <a:latin typeface="Cambria Math" panose="02040503050406030204" pitchFamily="18" charset="0"/>
                  </a:rPr>
                  <a:t>$AP(1;3)\cap AP(2;5)\cap AP(3;7)=AP(a;d)$</a:t>
                </a:r>
                <a:r>
                  <a:rPr sz="2400" b="0">
                    <a:solidFill>
                      <a:srgbClr val="111827"/>
                    </a:solidFill>
                    <a:latin typeface="Arial"/>
                  </a:rPr>
                  <a:t>, then </a:t>
                </a:r>
                <a:r>
                  <a:rPr lang="en-IN" sz="2400">
                    <a:solidFill>
                      <a:srgbClr val="111827"/>
                    </a:solidFill>
                    <a:latin typeface="Cambria Math" panose="02040503050406030204" pitchFamily="18" charset="0"/>
                  </a:rPr>
                  <a:t>$a+d$</a:t>
                </a:r>
                <a:r>
                  <a:rPr sz="2400" b="0">
                    <a:solidFill>
                      <a:srgbClr val="111827"/>
                    </a:solidFill>
                    <a:latin typeface="Arial"/>
                  </a:rPr>
                  <a:t> equals.</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Intersection of arithmetic progressions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intersection is an A.P. whose difference is </a:t>
                </a:r>
                <a14:m>
                  <m:oMath xmlns:m="http://schemas.openxmlformats.org/officeDocument/2006/math">
                    <m:r>
                      <m:rPr>
                        <m:sty m:val="p"/>
                      </m:rPr>
                      <a:rPr lang="en-IN" sz="2400">
                        <a:solidFill>
                          <a:srgbClr val="78350F"/>
                        </a:solidFill>
                        <a:latin typeface="Cambria Math" panose="02040503050406030204" pitchFamily="18" charset="0"/>
                      </a:rPr>
                      <m:t>l</m:t>
                    </m:r>
                    <m:r>
                      <m:rPr>
                        <m:sty m:val="p"/>
                      </m:rPr>
                      <a:rPr lang="en-IN" sz="2400">
                        <a:solidFill>
                          <a:srgbClr val="78350F"/>
                        </a:solidFill>
                        <a:latin typeface="Cambria Math" panose="02040503050406030204" pitchFamily="18" charset="0"/>
                      </a:rPr>
                      <m:t>c</m:t>
                    </m:r>
                    <m:r>
                      <m:rPr>
                        <m:sty m:val="p"/>
                      </m:rPr>
                      <a:rPr lang="en-IN" sz="2400">
                        <a:solidFill>
                          <a:srgbClr val="78350F"/>
                        </a:solidFill>
                        <a:latin typeface="Cambria Math" panose="02040503050406030204" pitchFamily="18" charset="0"/>
                      </a:rPr>
                      <m:t>m</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105</m:t>
                    </m:r>
                  </m:oMath>
                </a14:m>
                <a:r>
                  <a:rPr sz="2400" b="0">
                    <a:solidFill>
                      <a:srgbClr val="78350F"/>
                    </a:solidFill>
                    <a:latin typeface="Arial"/>
                  </a:rPr>
                  <a:t> and whose first term is the first number common to all three lists.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intersection is an A.P. whose difference is </a:t>
                </a:r>
                <a:r>
                  <a:rPr lang="en-IN" sz="2400">
                    <a:solidFill>
                      <a:srgbClr val="78350F"/>
                    </a:solidFill>
                    <a:latin typeface="Cambria Math" panose="02040503050406030204" pitchFamily="18" charset="0"/>
                  </a:rPr>
                  <a:t>$\mathrm{lcm}(3,5,7)=105$</a:t>
                </a:r>
                <a:r>
                  <a:rPr sz="2400" b="0">
                    <a:solidFill>
                      <a:srgbClr val="78350F"/>
                    </a:solidFill>
                    <a:latin typeface="Arial"/>
                  </a:rPr>
                  <a:t> and whose first term is the first number common to all three lists.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in all three lists repeats every </a:t>
                </a:r>
                <a14:m>
                  <m:oMath xmlns:m="http://schemas.openxmlformats.org/officeDocument/2006/math">
                    <m:r>
                      <m:rPr>
                        <m:sty m:val="p"/>
                      </m:rPr>
                      <a:rPr lang="en-IN" sz="2400">
                        <a:solidFill>
                          <a:srgbClr val="111827"/>
                        </a:solidFill>
                        <a:latin typeface="Cambria Math" panose="02040503050406030204" pitchFamily="18" charset="0"/>
                      </a:rPr>
                      <m:t>l</m:t>
                    </m:r>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number present in all three lists is </a:t>
                </a:r>
                <a14:m>
                  <m:oMath xmlns:m="http://schemas.openxmlformats.org/officeDocument/2006/math">
                    <m:r>
                      <a:rPr lang="en-IN" sz="2400" i="1">
                        <a:solidFill>
                          <a:srgbClr val="111827"/>
                        </a:solidFill>
                        <a:latin typeface="Cambria Math" panose="02040503050406030204" pitchFamily="18" charset="0"/>
                      </a:rPr>
                      <m:t>52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$AP(1;3)=1,4,7,10,\ldots$</a:t>
                </a:r>
                <a:r>
                  <a:rPr sz="2400" b="0">
                    <a:solidFill>
                      <a:srgbClr val="111827"/>
                    </a:solidFill>
                    <a:latin typeface="Arial"/>
                  </a:rPr>
                  <a:t>; </a:t>
                </a:r>
                <a:r>
                  <a:rPr lang="en-IN" sz="2400">
                    <a:solidFill>
                      <a:srgbClr val="111827"/>
                    </a:solidFill>
                    <a:latin typeface="Cambria Math" panose="02040503050406030204" pitchFamily="18" charset="0"/>
                  </a:rPr>
                  <a:t>$AP(2;5)=2,7,12,17,\ldots$</a:t>
                </a:r>
                <a:r>
                  <a:rPr sz="2400" b="0">
                    <a:solidFill>
                      <a:srgbClr val="111827"/>
                    </a:solidFill>
                    <a:latin typeface="Arial"/>
                  </a:rPr>
                  <a:t>; </a:t>
                </a:r>
                <a:r>
                  <a:rPr lang="en-IN" sz="2400">
                    <a:solidFill>
                      <a:srgbClr val="111827"/>
                    </a:solidFill>
                    <a:latin typeface="Cambria Math" panose="02040503050406030204" pitchFamily="18" charset="0"/>
                  </a:rPr>
                  <a:t>$AP(3;7)=3,10,17,24,\ldots$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in all three lists repeats every </a:t>
                </a:r>
                <a:r>
                  <a:rPr lang="en-IN" sz="2400">
                    <a:solidFill>
                      <a:srgbClr val="111827"/>
                    </a:solidFill>
                    <a:latin typeface="Cambria Math" panose="02040503050406030204" pitchFamily="18" charset="0"/>
                  </a:rPr>
                  <a:t>$\mathrm{lcm}(3,5,7)=105$</a:t>
                </a:r>
                <a:r>
                  <a:rPr sz="2400" b="0">
                    <a:solidFill>
                      <a:srgbClr val="111827"/>
                    </a:solidFill>
                    <a:latin typeface="Arial"/>
                  </a:rPr>
                  <a:t>, so </a:t>
                </a:r>
                <a:r>
                  <a:rPr lang="en-IN" sz="2400">
                    <a:solidFill>
                      <a:srgbClr val="111827"/>
                    </a:solidFill>
                    <a:latin typeface="Cambria Math" panose="02040503050406030204" pitchFamily="18" charset="0"/>
                  </a:rPr>
                  <a:t>$d=105$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number present in all three lists is </a:t>
                </a:r>
                <a:r>
                  <a:rPr lang="en-IN" sz="2400">
                    <a:solidFill>
                      <a:srgbClr val="111827"/>
                    </a:solidFill>
                    <a:latin typeface="Cambria Math" panose="02040503050406030204" pitchFamily="18" charset="0"/>
                  </a:rPr>
                  <a:t>$52$</a:t>
                </a:r>
                <a:r>
                  <a:rPr sz="2400" b="0">
                    <a:solidFill>
                      <a:srgbClr val="111827"/>
                    </a:solidFill>
                    <a:latin typeface="Arial"/>
                  </a:rPr>
                  <a:t>: </a:t>
                </a:r>
                <a:r>
                  <a:rPr lang="en-IN" sz="2400">
                    <a:solidFill>
                      <a:srgbClr val="111827"/>
                    </a:solidFill>
                    <a:latin typeface="Cambria Math" panose="02040503050406030204" pitchFamily="18" charset="0"/>
                  </a:rPr>
                  <a:t>$52=1+17\cdot3=2+10\cdot5=3+7\cdot7$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intersection is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intersection is </a:t>
                </a:r>
                <a:r>
                  <a:rPr lang="en-IN" sz="2400">
                    <a:solidFill>
                      <a:srgbClr val="111827"/>
                    </a:solidFill>
                    <a:latin typeface="Cambria Math" panose="02040503050406030204" pitchFamily="18" charset="0"/>
                  </a:rPr>
                  <a:t>$AP(52;105)$</a:t>
                </a:r>
                <a:r>
                  <a:rPr sz="2400" b="0">
                    <a:solidFill>
                      <a:srgbClr val="111827"/>
                    </a:solidFill>
                    <a:latin typeface="Arial"/>
                  </a:rPr>
                  <a:t>: </a:t>
                </a:r>
                <a:r>
                  <a:rPr lang="en-IN" sz="2400">
                    <a:solidFill>
                      <a:srgbClr val="111827"/>
                    </a:solidFill>
                    <a:latin typeface="Cambria Math" panose="02040503050406030204" pitchFamily="18" charset="0"/>
                  </a:rPr>
                  <a:t>$a=52$</a:t>
                </a:r>
                <a:r>
                  <a:rPr sz="2400" b="0">
                    <a:solidFill>
                      <a:srgbClr val="111827"/>
                    </a:solidFill>
                    <a:latin typeface="Arial"/>
                  </a:rPr>
                  <a:t>, </a:t>
                </a:r>
                <a:r>
                  <a:rPr lang="en-IN" sz="2400">
                    <a:solidFill>
                      <a:srgbClr val="111827"/>
                    </a:solidFill>
                    <a:latin typeface="Cambria Math" panose="02040503050406030204" pitchFamily="18" charset="0"/>
                  </a:rPr>
                  <a:t>$d=105$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$a+d=52+105=157$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157</a:t>
            </a:r>
            <a:endParaRPr sz="2800">
              <a:solidFill>
                <a:srgbClr val="15803D"/>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Translate the three lists into congruences and solve them step by step (Chinese remainder theorem).</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is at least the start of each list).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last two: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$N\in AP(1;3)\iff N\equiv1\pmod3$</a:t>
                </a:r>
                <a:r>
                  <a:rPr sz="2400" b="0">
                    <a:solidFill>
                      <a:srgbClr val="111827"/>
                    </a:solidFill>
                    <a:latin typeface="Arial"/>
                  </a:rPr>
                  <a:t>; </a:t>
                </a:r>
                <a:r>
                  <a:rPr lang="en-IN" sz="2400">
                    <a:solidFill>
                      <a:srgbClr val="111827"/>
                    </a:solidFill>
                    <a:latin typeface="Cambria Math" panose="02040503050406030204" pitchFamily="18" charset="0"/>
                  </a:rPr>
                  <a:t>$N\in AP(2;5)\iff N\equiv2\pmod5$</a:t>
                </a:r>
                <a:r>
                  <a:rPr sz="2400" b="0">
                    <a:solidFill>
                      <a:srgbClr val="111827"/>
                    </a:solidFill>
                    <a:latin typeface="Arial"/>
                  </a:rPr>
                  <a:t>; </a:t>
                </a:r>
                <a:r>
                  <a:rPr lang="en-IN" sz="2400">
                    <a:solidFill>
                      <a:srgbClr val="111827"/>
                    </a:solidFill>
                    <a:latin typeface="Cambria Math" panose="02040503050406030204" pitchFamily="18" charset="0"/>
                  </a:rPr>
                  <a:t>$N\in AP(3;7)\iff N\equiv3\pmod7$</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is at least the start of each list).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last two: </a:t>
                </a:r>
                <a:r>
                  <a:rPr lang="en-IN" sz="2400">
                    <a:solidFill>
                      <a:srgbClr val="111827"/>
                    </a:solidFill>
                    <a:latin typeface="Cambria Math" panose="02040503050406030204" pitchFamily="18" charset="0"/>
                  </a:rPr>
                  <a:t>$N=3+7j\equiv2\pmod5\Rightarrow3+2j\equiv2\Rightarrow j\equiv2\pmod5$</a:t>
                </a:r>
                <a:r>
                  <a:rPr sz="2400" b="0">
                    <a:solidFill>
                      <a:srgbClr val="111827"/>
                    </a:solidFill>
                    <a:latin typeface="Arial"/>
                  </a:rPr>
                  <a:t>, so </a:t>
                </a:r>
                <a:r>
                  <a:rPr lang="en-IN" sz="2400">
                    <a:solidFill>
                      <a:srgbClr val="111827"/>
                    </a:solidFill>
                    <a:latin typeface="Cambria Math" panose="02040503050406030204" pitchFamily="18" charset="0"/>
                  </a:rPr>
                  <a:t>$N\equiv17\pmod{35}$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$N=17+35m\equiv1\pmod3$</a:t>
                </a:r>
                <a:r>
                  <a:rPr sz="2400" b="0">
                    <a:solidFill>
                      <a:srgbClr val="111827"/>
                    </a:solidFill>
                    <a:latin typeface="Arial"/>
                  </a:rPr>
                  <a:t>: </a:t>
                </a:r>
                <a:r>
                  <a:rPr lang="en-IN" sz="2400">
                    <a:solidFill>
                      <a:srgbClr val="111827"/>
                    </a:solidFill>
                    <a:latin typeface="Cambria Math" panose="02040503050406030204" pitchFamily="18" charset="0"/>
                  </a:rPr>
                  <a:t>$17\equiv2$</a:t>
                </a:r>
                <a:r>
                  <a:rPr sz="2400" b="0">
                    <a:solidFill>
                      <a:srgbClr val="111827"/>
                    </a:solidFill>
                    <a:latin typeface="Arial"/>
                  </a:rPr>
                  <a:t> and </a:t>
                </a:r>
                <a:r>
                  <a:rPr lang="en-IN" sz="2400">
                    <a:solidFill>
                      <a:srgbClr val="111827"/>
                    </a:solidFill>
                    <a:latin typeface="Cambria Math" panose="02040503050406030204" pitchFamily="18" charset="0"/>
                  </a:rPr>
                  <a:t>$35\equiv2$</a:t>
                </a:r>
                <a:r>
                  <a:rPr sz="2400" b="0">
                    <a:solidFill>
                      <a:srgbClr val="111827"/>
                    </a:solidFill>
                    <a:latin typeface="Arial"/>
                  </a:rPr>
                  <a:t>, so </a:t>
                </a:r>
                <a:r>
                  <a:rPr lang="en-IN" sz="2400">
                    <a:solidFill>
                      <a:srgbClr val="111827"/>
                    </a:solidFill>
                    <a:latin typeface="Cambria Math" panose="02040503050406030204" pitchFamily="18" charset="0"/>
                  </a:rPr>
                  <a:t>$2+2m\equiv1\Rightarrow m\equiv1\pmod3$</a:t>
                </a:r>
                <a:r>
                  <a:rPr sz="2400" b="0">
                    <a:solidFill>
                      <a:srgbClr val="111827"/>
                    </a:solidFill>
                    <a:latin typeface="Arial"/>
                  </a:rPr>
                  <a:t>, giving </a:t>
                </a:r>
                <a:r>
                  <a:rPr lang="en-IN" sz="2400">
                    <a:solidFill>
                      <a:srgbClr val="111827"/>
                    </a:solidFill>
                    <a:latin typeface="Cambria Math" panose="02040503050406030204" pitchFamily="18" charset="0"/>
                  </a:rPr>
                  <a:t>$N=52$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 common numbers are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52</m:t>
                    </m:r>
                  </m:oMath>
                </a14:m>
                <a:r>
                  <a:rPr sz="2400" b="0">
                    <a:solidFill>
                      <a:srgbClr val="111827"/>
                    </a:solidFill>
                    <a:latin typeface="Arial"/>
                  </a:rPr>
                  <a:t> exceeds every starting term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 common numbers are </a:t>
                </a:r>
                <a:r>
                  <a:rPr lang="en-IN" sz="2400">
                    <a:solidFill>
                      <a:srgbClr val="111827"/>
                    </a:solidFill>
                    <a:latin typeface="Cambria Math" panose="02040503050406030204" pitchFamily="18" charset="0"/>
                  </a:rPr>
                  <a:t>$N\equiv52\pmod{105}$</a:t>
                </a:r>
                <a:r>
                  <a:rPr sz="2400" b="0">
                    <a:solidFill>
                      <a:srgbClr val="111827"/>
                    </a:solidFill>
                    <a:latin typeface="Arial"/>
                  </a:rPr>
                  <a:t>; </a:t>
                </a:r>
                <a:r>
                  <a:rPr lang="en-IN" sz="2400">
                    <a:solidFill>
                      <a:srgbClr val="111827"/>
                    </a:solidFill>
                    <a:latin typeface="Cambria Math" panose="02040503050406030204" pitchFamily="18" charset="0"/>
                  </a:rPr>
                  <a:t>$52$</a:t>
                </a:r>
                <a:r>
                  <a:rPr sz="2400" b="0">
                    <a:solidFill>
                      <a:srgbClr val="111827"/>
                    </a:solidFill>
                    <a:latin typeface="Arial"/>
                  </a:rPr>
                  <a:t> exceeds every starting term (</a:t>
                </a:r>
                <a:r>
                  <a:rPr lang="en-IN" sz="2400">
                    <a:solidFill>
                      <a:srgbClr val="111827"/>
                    </a:solidFill>
                    <a:latin typeface="Cambria Math" panose="02040503050406030204" pitchFamily="18" charset="0"/>
                  </a:rPr>
                  <a:t>$1,2,3$</a:t>
                </a:r>
                <a:r>
                  <a:rPr sz="2400" b="0">
                    <a:solidFill>
                      <a:srgbClr val="111827"/>
                    </a:solidFill>
                    <a:latin typeface="Arial"/>
                  </a:rPr>
                  <a:t>), so </a:t>
                </a:r>
                <a:r>
                  <a:rPr lang="en-IN" sz="2400">
                    <a:solidFill>
                      <a:srgbClr val="111827"/>
                    </a:solidFill>
                    <a:latin typeface="Cambria Math" panose="02040503050406030204" pitchFamily="18" charset="0"/>
                  </a:rPr>
                  <a:t>$a=52$</a:t>
                </a:r>
                <a:r>
                  <a:rPr sz="2400" b="0">
                    <a:solidFill>
                      <a:srgbClr val="111827"/>
                    </a:solidFill>
                    <a:latin typeface="Arial"/>
                  </a:rPr>
                  <a:t> and </a:t>
                </a:r>
                <a:r>
                  <a:rPr lang="en-IN" sz="2400">
                    <a:solidFill>
                      <a:srgbClr val="111827"/>
                    </a:solidFill>
                    <a:latin typeface="Cambria Math" panose="02040503050406030204" pitchFamily="18" charset="0"/>
                  </a:rPr>
                  <a:t>$d=105$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$a+d=157$</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157</a:t>
            </a:r>
            <a:endParaRPr sz="2800">
              <a:solidFill>
                <a:srgbClr val="15803D"/>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either empty or an A.P. with difference </a:t>
                </a:r>
                <a14:m>
                  <m:oMath xmlns:m="http://schemas.openxmlformats.org/officeDocument/2006/math">
                    <m:r>
                      <m:rPr>
                        <m:sty m:val="p"/>
                      </m:rPr>
                      <a:rPr lang="en-IN" sz="2400">
                        <a:solidFill>
                          <a:srgbClr val="111827"/>
                        </a:solidFill>
                        <a:latin typeface="Cambria Math" panose="02040503050406030204" pitchFamily="18" charset="0"/>
                      </a:rPr>
                      <m:t>l</m:t>
                    </m:r>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non-empty iff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divides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pairwise coprime differences (here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intersection is always non-empty (CRT) and has difference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term of the intersection must be at least </a:t>
                </a:r>
                <a14:m>
                  <m:oMath xmlns:m="http://schemas.openxmlformats.org/officeDocument/2006/math">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CRT residue is smaller, add multiples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fine).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$AP(a_1;d_1)\cap AP(a_2;d_2)$</a:t>
                </a:r>
                <a:r>
                  <a:rPr sz="2400" b="0">
                    <a:solidFill>
                      <a:srgbClr val="111827"/>
                    </a:solidFill>
                    <a:latin typeface="Arial"/>
                  </a:rPr>
                  <a:t> is either empty or an A.P. with difference </a:t>
                </a:r>
                <a:r>
                  <a:rPr lang="en-IN" sz="2400">
                    <a:solidFill>
                      <a:srgbClr val="111827"/>
                    </a:solidFill>
                    <a:latin typeface="Cambria Math" panose="02040503050406030204" pitchFamily="18" charset="0"/>
                  </a:rPr>
                  <a:t>$\mathrm{lcm}(d_1,d_2)$</a:t>
                </a:r>
                <a:r>
                  <a:rPr sz="2400" b="0">
                    <a:solidFill>
                      <a:srgbClr val="111827"/>
                    </a:solidFill>
                    <a:latin typeface="Arial"/>
                  </a:rPr>
                  <a:t>; it is non-empty iff </a:t>
                </a:r>
                <a:r>
                  <a:rPr lang="en-IN" sz="2400">
                    <a:solidFill>
                      <a:srgbClr val="111827"/>
                    </a:solidFill>
                    <a:latin typeface="Cambria Math" panose="02040503050406030204" pitchFamily="18" charset="0"/>
                  </a:rPr>
                  <a:t>$\gcd(d_1,d_2)$</a:t>
                </a:r>
                <a:r>
                  <a:rPr sz="2400" b="0">
                    <a:solidFill>
                      <a:srgbClr val="111827"/>
                    </a:solidFill>
                    <a:latin typeface="Arial"/>
                  </a:rPr>
                  <a:t> divides </a:t>
                </a:r>
                <a:r>
                  <a:rPr lang="en-IN" sz="2400">
                    <a:solidFill>
                      <a:srgbClr val="111827"/>
                    </a:solidFill>
                    <a:latin typeface="Cambria Math" panose="02040503050406030204" pitchFamily="18" charset="0"/>
                  </a:rPr>
                  <a:t>$a_2-a_1$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pairwise coprime differences (here </a:t>
                </a:r>
                <a:r>
                  <a:rPr lang="en-IN" sz="2400">
                    <a:solidFill>
                      <a:srgbClr val="111827"/>
                    </a:solidFill>
                    <a:latin typeface="Cambria Math" panose="02040503050406030204" pitchFamily="18" charset="0"/>
                  </a:rPr>
                  <a:t>$3,5,7$</a:t>
                </a:r>
                <a:r>
                  <a:rPr sz="2400" b="0">
                    <a:solidFill>
                      <a:srgbClr val="111827"/>
                    </a:solidFill>
                    <a:latin typeface="Arial"/>
                  </a:rPr>
                  <a:t>) the intersection is always non-empty (CRT) and has difference </a:t>
                </a:r>
                <a:r>
                  <a:rPr lang="en-IN" sz="2400">
                    <a:solidFill>
                      <a:srgbClr val="111827"/>
                    </a:solidFill>
                    <a:latin typeface="Cambria Math" panose="02040503050406030204" pitchFamily="18" charset="0"/>
                  </a:rPr>
                  <a:t>$d_1d_2d_3=105$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term of the intersection must be at least </a:t>
                </a:r>
                <a:r>
                  <a:rPr lang="en-IN" sz="2400">
                    <a:solidFill>
                      <a:srgbClr val="111827"/>
                    </a:solidFill>
                    <a:latin typeface="Cambria Math" panose="02040503050406030204" pitchFamily="18" charset="0"/>
                  </a:rPr>
                  <a:t>$\max(a_1,a_2,a_3)$</a:t>
                </a:r>
                <a:r>
                  <a:rPr sz="2400" b="0">
                    <a:solidFill>
                      <a:srgbClr val="111827"/>
                    </a:solidFill>
                    <a:latin typeface="Arial"/>
                  </a:rPr>
                  <a:t>; if the CRT residue is smaller, add multiples of </a:t>
                </a:r>
                <a:r>
                  <a:rPr lang="en-IN" sz="2400">
                    <a:solidFill>
                      <a:srgbClr val="111827"/>
                    </a:solidFill>
                    <a:latin typeface="Cambria Math" panose="02040503050406030204" pitchFamily="18" charset="0"/>
                  </a:rPr>
                  <a:t>$d$</a:t>
                </a:r>
                <a:r>
                  <a:rPr sz="2400" b="0">
                    <a:solidFill>
                      <a:srgbClr val="111827"/>
                    </a:solidFill>
                    <a:latin typeface="Arial"/>
                  </a:rPr>
                  <a:t> (here </a:t>
                </a:r>
                <a:r>
                  <a:rPr lang="en-IN" sz="2400">
                    <a:solidFill>
                      <a:srgbClr val="111827"/>
                    </a:solidFill>
                    <a:latin typeface="Cambria Math" panose="02040503050406030204" pitchFamily="18" charset="0"/>
                  </a:rPr>
                  <a:t>$52\ge3$</a:t>
                </a:r>
                <a:r>
                  <a:rPr sz="2400" b="0">
                    <a:solidFill>
                      <a:srgbClr val="111827"/>
                    </a:solidFill>
                    <a:latin typeface="Arial"/>
                  </a:rPr>
                  <a:t> is fine).</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9</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Integer Type(0 to 9)</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Q11 – Q12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Answer is a single digit 0 to 9</a:t>
            </a:r>
            <a:endParaRPr sz="2800">
              <a:solidFill>
                <a:srgbClr val="FFFFFF"/>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be the minimum possible value of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sup>
                        </m:sSup>
                      </m:e>
                    </m:d>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are real numbers for which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be the maximum possible value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e>
                    </m:d>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are positive real numbers for which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Then the value of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3</m:t>
                            </m:r>
                          </m:sup>
                        </m:sSup>
                      </m:e>
                    </m:d>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 is 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
                </a:r>
                <a:r>
                  <a:rPr sz="2400" b="0">
                    <a:solidFill>
                      <a:srgbClr val="111827"/>
                    </a:solidFill>
                    <a:latin typeface="Arial"/>
                  </a:rPr>
                  <a:t> be the minimum possible value of </a:t>
                </a:r>
                <a:r>
                  <a:rPr lang="en-IN" sz="2400">
                    <a:solidFill>
                      <a:srgbClr val="111827"/>
                    </a:solidFill>
                    <a:latin typeface="Cambria Math" panose="02040503050406030204" pitchFamily="18" charset="0"/>
                  </a:rPr>
                  <a:t>$\log_3\left(3^{y_1}+3^{y_2}+3^{y_3}\right)$</a:t>
                </a:r>
                <a:r>
                  <a:rPr sz="2400" b="0">
                    <a:solidFill>
                      <a:srgbClr val="111827"/>
                    </a:solidFill>
                    <a:latin typeface="Arial"/>
                  </a:rPr>
                  <a:t>, where </a:t>
                </a:r>
                <a:r>
                  <a:rPr lang="en-IN" sz="2400">
                    <a:solidFill>
                      <a:srgbClr val="111827"/>
                    </a:solidFill>
                    <a:latin typeface="Cambria Math" panose="02040503050406030204" pitchFamily="18" charset="0"/>
                  </a:rPr>
                  <a:t>$y_1,y_2,y_3$</a:t>
                </a:r>
                <a:r>
                  <a:rPr sz="2400" b="0">
                    <a:solidFill>
                      <a:srgbClr val="111827"/>
                    </a:solidFill>
                    <a:latin typeface="Arial"/>
                  </a:rPr>
                  <a:t> are real numbers for which </a:t>
                </a:r>
                <a:r>
                  <a:rPr lang="en-IN" sz="2400">
                    <a:solidFill>
                      <a:srgbClr val="111827"/>
                    </a:solidFill>
                    <a:latin typeface="Cambria Math" panose="02040503050406030204" pitchFamily="18" charset="0"/>
                  </a:rPr>
                  <a:t>$y_1+y_2+y_3=9$</a:t>
                </a:r>
                <a:r>
                  <a:rPr sz="2400" b="0">
                    <a:solidFill>
                      <a:srgbClr val="111827"/>
                    </a:solidFill>
                    <a:latin typeface="Arial"/>
                  </a:rPr>
                  <a:t>. Let </a:t>
                </a:r>
                <a:r>
                  <a:rPr lang="en-IN" sz="2400">
                    <a:solidFill>
                      <a:srgbClr val="111827"/>
                    </a:solidFill>
                    <a:latin typeface="Cambria Math" panose="02040503050406030204" pitchFamily="18" charset="0"/>
                  </a:rPr>
                  <a:t>$M$</a:t>
                </a:r>
                <a:r>
                  <a:rPr sz="2400" b="0">
                    <a:solidFill>
                      <a:srgbClr val="111827"/>
                    </a:solidFill>
                    <a:latin typeface="Arial"/>
                  </a:rPr>
                  <a:t> be the maximum possible value of </a:t>
                </a:r>
                <a:r>
                  <a:rPr lang="en-IN" sz="2400">
                    <a:solidFill>
                      <a:srgbClr val="111827"/>
                    </a:solidFill>
                    <a:latin typeface="Cambria Math" panose="02040503050406030204" pitchFamily="18" charset="0"/>
                  </a:rPr>
                  <a:t>$\left(\log_3x_1+\log_3x_2+\log_3x_3\right)$</a:t>
                </a:r>
                <a:r>
                  <a:rPr sz="2400" b="0">
                    <a:solidFill>
                      <a:srgbClr val="111827"/>
                    </a:solidFill>
                    <a:latin typeface="Arial"/>
                  </a:rPr>
                  <a:t>, where </a:t>
                </a:r>
                <a:r>
                  <a:rPr lang="en-IN" sz="2400">
                    <a:solidFill>
                      <a:srgbClr val="111827"/>
                    </a:solidFill>
                    <a:latin typeface="Cambria Math" panose="02040503050406030204" pitchFamily="18" charset="0"/>
                  </a:rPr>
                  <a:t>$x_1,x_2,x_3$</a:t>
                </a:r>
                <a:r>
                  <a:rPr sz="2400" b="0">
                    <a:solidFill>
                      <a:srgbClr val="111827"/>
                    </a:solidFill>
                    <a:latin typeface="Arial"/>
                  </a:rPr>
                  <a:t> are positive real numbers for which </a:t>
                </a:r>
                <a:r>
                  <a:rPr lang="en-IN" sz="2400">
                    <a:solidFill>
                      <a:srgbClr val="111827"/>
                    </a:solidFill>
                    <a:latin typeface="Cambria Math" panose="02040503050406030204" pitchFamily="18" charset="0"/>
                  </a:rPr>
                  <a:t>$x_1+x_2+x_3=9$</a:t>
                </a:r>
                <a:r>
                  <a:rPr sz="2400" b="0">
                    <a:solidFill>
                      <a:srgbClr val="111827"/>
                    </a:solidFill>
                    <a:latin typeface="Arial"/>
                  </a:rPr>
                  <a:t>. Then the value of </a:t>
                </a:r>
                <a:r>
                  <a:rPr lang="en-IN" sz="2400">
                    <a:solidFill>
                      <a:srgbClr val="111827"/>
                    </a:solidFill>
                    <a:latin typeface="Cambria Math" panose="02040503050406030204" pitchFamily="18" charset="0"/>
                  </a:rPr>
                  <a:t>$\log_2\left(m^3\right)+\log_3\left(M^2\right)$</a:t>
                </a:r>
                <a:r>
                  <a:rPr sz="2400" b="0">
                    <a:solidFill>
                      <a:srgbClr val="111827"/>
                    </a:solidFill>
                    <a:latin typeface="Arial"/>
                  </a:rPr>
                  <a:t> is _____.</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A.M.-G.M. inequality (minimum and maximum values), Properties of logarithms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A.M.–G.M. turns a fixed sum of exponents (or of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into a bound on the sum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sup>
                    </m:sSup>
                  </m:oMath>
                </a14:m>
                <a:r>
                  <a:rPr sz="2400" b="0">
                    <a:solidFill>
                      <a:srgbClr val="78350F"/>
                    </a:solidFill>
                    <a:latin typeface="Arial"/>
                  </a:rPr>
                  <a:t> (or on the product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2</m:t>
                        </m:r>
                      </m:sub>
                    </m:sSub>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A.M.–G.M. turns a fixed sum of exponents (or of </a:t>
                </a:r>
                <a:r>
                  <a:rPr lang="en-IN" sz="2400">
                    <a:solidFill>
                      <a:srgbClr val="78350F"/>
                    </a:solidFill>
                    <a:latin typeface="Cambria Math" panose="02040503050406030204" pitchFamily="18" charset="0"/>
                  </a:rPr>
                  <a:t>$x_i$</a:t>
                </a:r>
                <a:r>
                  <a:rPr sz="2400" b="0">
                    <a:solidFill>
                      <a:srgbClr val="78350F"/>
                    </a:solidFill>
                    <a:latin typeface="Arial"/>
                  </a:rPr>
                  <a:t>) into a bound on the sum </a:t>
                </a:r>
                <a:r>
                  <a:rPr lang="en-IN" sz="2400">
                    <a:solidFill>
                      <a:srgbClr val="78350F"/>
                    </a:solidFill>
                    <a:latin typeface="Cambria Math" panose="02040503050406030204" pitchFamily="18" charset="0"/>
                  </a:rPr>
                  <a:t>$\sum3^{y_i}$</a:t>
                </a:r>
                <a:r>
                  <a:rPr sz="2400" b="0">
                    <a:solidFill>
                      <a:srgbClr val="78350F"/>
                    </a:solidFill>
                    <a:latin typeface="Arial"/>
                  </a:rPr>
                  <a:t> (or on the product </a:t>
                </a:r>
                <a:r>
                  <a:rPr lang="en-IN" sz="2400">
                    <a:solidFill>
                      <a:srgbClr val="78350F"/>
                    </a:solidFill>
                    <a:latin typeface="Cambria Math" panose="02040503050406030204" pitchFamily="18" charset="0"/>
                  </a:rPr>
                  <a:t>$x_1x_2x_3$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G.M.: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sup>
                            </m:sSup>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is </a:t>
                </a:r>
                <a14:m>
                  <m:oMath xmlns:m="http://schemas.openxmlformats.org/officeDocument/2006/math">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so the right side is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with equality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 </a:t>
                </a:r>
                <a:r>
                  <a:rPr lang="en-IN" sz="2400">
                    <a:solidFill>
                      <a:srgbClr val="111827"/>
                    </a:solidFill>
                    <a:latin typeface="Cambria Math" panose="02040503050406030204" pitchFamily="18" charset="0"/>
                  </a:rPr>
                  <a:t>$\ge$</a:t>
                </a:r>
                <a:r>
                  <a:rPr sz="2400" b="0">
                    <a:solidFill>
                      <a:srgbClr val="111827"/>
                    </a:solidFill>
                    <a:latin typeface="Arial"/>
                  </a:rPr>
                  <a:t> G.M.: </a:t>
                </a:r>
                <a:r>
                  <a:rPr lang="en-IN" sz="2400">
                    <a:solidFill>
                      <a:srgbClr val="111827"/>
                    </a:solidFill>
                    <a:latin typeface="Cambria Math" panose="02040503050406030204" pitchFamily="18" charset="0"/>
                  </a:rPr>
                  <a:t>$\frac{3^{y_1}+3^{y_2}+3^{y_3}}3\ge\left(3^{y_1}\cdot3^{y_2}\cdot3^{y_3}\right)^{1/3}$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is </a:t>
                </a:r>
                <a:r>
                  <a:rPr lang="en-IN" sz="2400">
                    <a:solidFill>
                      <a:srgbClr val="111827"/>
                    </a:solidFill>
                    <a:latin typeface="Cambria Math" panose="02040503050406030204" pitchFamily="18" charset="0"/>
                  </a:rPr>
                  <a:t>$3^{y_1+y_2+y_3}=3^9$</a:t>
                </a:r>
                <a:r>
                  <a:rPr sz="2400" b="0">
                    <a:solidFill>
                      <a:srgbClr val="111827"/>
                    </a:solidFill>
                    <a:latin typeface="Arial"/>
                  </a:rPr>
                  <a:t>, so the right side is </a:t>
                </a:r>
                <a:r>
                  <a:rPr lang="en-IN" sz="2400">
                    <a:solidFill>
                      <a:srgbClr val="111827"/>
                    </a:solidFill>
                    <a:latin typeface="Cambria Math" panose="02040503050406030204" pitchFamily="18" charset="0"/>
                  </a:rPr>
                  <a:t>$3^3$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$3^{y_1}+3^{y_2}+3^{y_3}\ge3\cdot3^3=3^4$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$\log_3\left(3^{y_1}+3^{y_2}+3^{y_3}\right)\ge4$</a:t>
                </a:r>
                <a:r>
                  <a:rPr sz="2400" b="0">
                    <a:solidFill>
                      <a:srgbClr val="111827"/>
                    </a:solidFill>
                    <a:latin typeface="Arial"/>
                  </a:rPr>
                  <a:t>, with equality at </a:t>
                </a:r>
                <a:r>
                  <a:rPr lang="en-IN" sz="2400">
                    <a:solidFill>
                      <a:srgbClr val="111827"/>
                    </a:solidFill>
                    <a:latin typeface="Cambria Math" panose="02040503050406030204" pitchFamily="18" charset="0"/>
                  </a:rPr>
                  <a:t>$y_1=y_2=y_3=3$</a:t>
                </a:r>
                <a:r>
                  <a:rPr sz="2400" b="0">
                    <a:solidFill>
                      <a:srgbClr val="111827"/>
                    </a:solidFill>
                    <a:latin typeface="Arial"/>
                  </a:rPr>
                  <a:t>: </a:t>
                </a:r>
                <a:r>
                  <a:rPr lang="en-IN" sz="2400">
                    <a:solidFill>
                      <a:srgbClr val="111827"/>
                    </a:solidFill>
                    <a:latin typeface="Cambria Math" panose="02040503050406030204" pitchFamily="18" charset="0"/>
                  </a:rPr>
                  <a:t>$m=4$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G.M. again: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and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327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equality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3</m:t>
                            </m:r>
                          </m:sup>
                        </m:sSup>
                      </m:e>
                    </m:d>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264</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 </a:t>
                </a:r>
                <a:r>
                  <a:rPr lang="en-IN" sz="2400">
                    <a:solidFill>
                      <a:srgbClr val="111827"/>
                    </a:solidFill>
                    <a:latin typeface="Cambria Math" panose="02040503050406030204" pitchFamily="18" charset="0"/>
                  </a:rPr>
                  <a:t>$\ge$</a:t>
                </a:r>
                <a:r>
                  <a:rPr sz="2400" b="0">
                    <a:solidFill>
                      <a:srgbClr val="111827"/>
                    </a:solidFill>
                    <a:latin typeface="Arial"/>
                  </a:rPr>
                  <a:t> G.M. again: </a:t>
                </a:r>
                <a:r>
                  <a:rPr lang="en-IN" sz="2400">
                    <a:solidFill>
                      <a:srgbClr val="111827"/>
                    </a:solidFill>
                    <a:latin typeface="Cambria Math" panose="02040503050406030204" pitchFamily="18" charset="0"/>
                  </a:rPr>
                  <a:t>$\frac{x_1+x_2+x_3}3\ge(x_1x_2x_3)^{1/3}$</a:t>
                </a:r>
                <a:r>
                  <a:rPr sz="2400" b="0">
                    <a:solidFill>
                      <a:srgbClr val="111827"/>
                    </a:solidFill>
                    <a:latin typeface="Arial"/>
                  </a:rPr>
                  <a:t>, i.e. </a:t>
                </a:r>
                <a:r>
                  <a:rPr lang="en-IN" sz="2400">
                    <a:solidFill>
                      <a:srgbClr val="111827"/>
                    </a:solidFill>
                    <a:latin typeface="Cambria Math" panose="02040503050406030204" pitchFamily="18" charset="0"/>
                  </a:rPr>
                  <a:t>$3\ge(x_1x_2x_3)^{1/3}$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$x_1x_2x_3\le27$</a:t>
                </a:r>
                <a:r>
                  <a:rPr sz="2400" b="0">
                    <a:solidFill>
                      <a:srgbClr val="111827"/>
                    </a:solidFill>
                    <a:latin typeface="Arial"/>
                  </a:rPr>
                  <a:t> and </a:t>
                </a:r>
                <a:r>
                  <a:rPr lang="en-IN" sz="2400">
                    <a:solidFill>
                      <a:srgbClr val="111827"/>
                    </a:solidFill>
                    <a:latin typeface="Cambria Math" panose="02040503050406030204" pitchFamily="18" charset="0"/>
                  </a:rPr>
                  <a:t>$\log_3x_1+\log_3x_2+\log_3x_3=\log_3(x_1x_2x_3)\le\log_327=3$</a:t>
                </a:r>
                <a:r>
                  <a:rPr sz="2400" b="0">
                    <a:solidFill>
                      <a:srgbClr val="111827"/>
                    </a:solidFill>
                    <a:latin typeface="Arial"/>
                  </a:rPr>
                  <a:t>, with equality at </a:t>
                </a:r>
                <a:r>
                  <a:rPr lang="en-IN" sz="2400">
                    <a:solidFill>
                      <a:srgbClr val="111827"/>
                    </a:solidFill>
                    <a:latin typeface="Cambria Math" panose="02040503050406030204" pitchFamily="18" charset="0"/>
                  </a:rPr>
                  <a:t>$x_i=3$</a:t>
                </a:r>
                <a:r>
                  <a:rPr sz="2400" b="0">
                    <a:solidFill>
                      <a:srgbClr val="111827"/>
                    </a:solidFill>
                    <a:latin typeface="Arial"/>
                  </a:rPr>
                  <a:t>: </a:t>
                </a:r>
                <a:r>
                  <a:rPr lang="en-IN" sz="2400">
                    <a:solidFill>
                      <a:srgbClr val="111827"/>
                    </a:solidFill>
                    <a:latin typeface="Cambria Math" panose="02040503050406030204" pitchFamily="18" charset="0"/>
                  </a:rPr>
                  <a:t>$M=3$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$\log_2\left(m^3\right)+\log_3\left(M^2\right)=\log_264+\log_39=6+2=8$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a:t>
            </a:r>
            <a:endParaRPr sz="2800">
              <a:solidFill>
                <a:srgbClr val="15803D"/>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convexity: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𝑦</m:t>
                        </m:r>
                      </m:sup>
                    </m:sSup>
                  </m:oMath>
                </a14:m>
                <a:r>
                  <a:rPr sz="2400" b="0">
                    <a:solidFill>
                      <a:srgbClr val="78350F"/>
                    </a:solidFill>
                    <a:latin typeface="Arial"/>
                  </a:rPr>
                  <a:t> is convex and </a:t>
                </a:r>
                <a14:m>
                  <m:oMath xmlns:m="http://schemas.openxmlformats.org/officeDocument/2006/math">
                    <m:sSub>
                      <m:e>
                        <m:r>
                          <m:rPr>
                            <m:sty m:val="p"/>
                          </m:rPr>
                          <a:rPr lang="en-IN" sz="2400">
                            <a:solidFill>
                              <a:srgbClr val="78350F"/>
                            </a:solidFill>
                            <a:latin typeface="Cambria Math" panose="02040503050406030204" pitchFamily="18" charset="0"/>
                          </a:rPr>
                          <m:t>log</m:t>
                        </m:r>
                      </m:e>
                      <m:sub>
                        <m:r>
                          <a:rPr lang="en-IN" sz="2400" i="1">
                            <a:solidFill>
                              <a:srgbClr val="78350F"/>
                            </a:solidFill>
                            <a:latin typeface="Cambria Math" panose="02040503050406030204" pitchFamily="18" charset="0"/>
                          </a:rPr>
                          <m:t>3</m:t>
                        </m:r>
                      </m:sub>
                    </m:sSub>
                    <m:r>
                      <a:rPr lang="en-IN" sz="2400" i="1">
                        <a:solidFill>
                          <a:srgbClr val="78350F"/>
                        </a:solidFill>
                        <a:latin typeface="Cambria Math" panose="02040503050406030204" pitchFamily="18" charset="0"/>
                      </a:rPr>
                      <m:t>𝑥</m:t>
                    </m:r>
                  </m:oMath>
                </a14:m>
                <a:r>
                  <a:rPr sz="2400" b="0">
                    <a:solidFill>
                      <a:srgbClr val="78350F"/>
                    </a:solidFill>
                    <a:latin typeface="Arial"/>
                  </a:rPr>
                  <a:t> is concave, so Jensen's inequality puts both extremes at equal values.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convexity: </a:t>
                </a:r>
                <a:r>
                  <a:rPr lang="en-IN" sz="2400">
                    <a:solidFill>
                      <a:srgbClr val="78350F"/>
                    </a:solidFill>
                    <a:latin typeface="Cambria Math" panose="02040503050406030204" pitchFamily="18" charset="0"/>
                  </a:rPr>
                  <a:t>$3^y$</a:t>
                </a:r>
                <a:r>
                  <a:rPr sz="2400" b="0">
                    <a:solidFill>
                      <a:srgbClr val="78350F"/>
                    </a:solidFill>
                    <a:latin typeface="Arial"/>
                  </a:rPr>
                  <a:t> is convex and </a:t>
                </a:r>
                <a:r>
                  <a:rPr lang="en-IN" sz="2400">
                    <a:solidFill>
                      <a:srgbClr val="78350F"/>
                    </a:solidFill>
                    <a:latin typeface="Cambria Math" panose="02040503050406030204" pitchFamily="18" charset="0"/>
                  </a:rPr>
                  <a:t>$\log_3x$</a:t>
                </a:r>
                <a:r>
                  <a:rPr sz="2400" b="0">
                    <a:solidFill>
                      <a:srgbClr val="78350F"/>
                    </a:solidFill>
                    <a:latin typeface="Arial"/>
                  </a:rPr>
                  <a:t> is concave, so Jensen's inequality puts both extremes at equal values.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𝑦</m:t>
                        </m:r>
                      </m:sup>
                    </m:sSup>
                  </m:oMath>
                </a14:m>
                <a:r>
                  <a:rPr sz="2400" b="0">
                    <a:solidFill>
                      <a:srgbClr val="111827"/>
                    </a:solidFill>
                    <a:latin typeface="Arial"/>
                  </a:rPr>
                  <a:t> is convex, so by Jensen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3</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 with equality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381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𝑥</m:t>
                    </m:r>
                  </m:oMath>
                </a14:m>
                <a:r>
                  <a:rPr sz="2400" b="0">
                    <a:solidFill>
                      <a:srgbClr val="111827"/>
                    </a:solidFill>
                    <a:latin typeface="Arial"/>
                  </a:rPr>
                  <a:t> is concave,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a:rPr lang="en-IN" sz="2400" i="1">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$f(y)=3^y$</a:t>
                </a:r>
                <a:r>
                  <a:rPr sz="2400" b="0">
                    <a:solidFill>
                      <a:srgbClr val="111827"/>
                    </a:solidFill>
                    <a:latin typeface="Arial"/>
                  </a:rPr>
                  <a:t> is convex, so by Jensen </a:t>
                </a:r>
                <a:r>
                  <a:rPr lang="en-IN" sz="2400">
                    <a:solidFill>
                      <a:srgbClr val="111827"/>
                    </a:solidFill>
                    <a:latin typeface="Cambria Math" panose="02040503050406030204" pitchFamily="18" charset="0"/>
                  </a:rPr>
                  <a:t>$\frac{f(y_1)+f(y_2)+f(y_3)}3\ge f\!\left(\frac{y_1+y_2+y_3}3\right)=f(3)=27$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$3^{y_1}+3^{y_2}+3^{y_3}\ge81$</a:t>
                </a:r>
                <a:r>
                  <a:rPr sz="2400" b="0">
                    <a:solidFill>
                      <a:srgbClr val="111827"/>
                    </a:solidFill>
                    <a:latin typeface="Arial"/>
                  </a:rPr>
                  <a:t>, with equality at </a:t>
                </a:r>
                <a:r>
                  <a:rPr lang="en-IN" sz="2400">
                    <a:solidFill>
                      <a:srgbClr val="111827"/>
                    </a:solidFill>
                    <a:latin typeface="Cambria Math" panose="02040503050406030204" pitchFamily="18" charset="0"/>
                  </a:rPr>
                  <a:t>$y_i=3$</a:t>
                </a:r>
                <a:r>
                  <a:rPr sz="2400" b="0">
                    <a:solidFill>
                      <a:srgbClr val="111827"/>
                    </a:solidFill>
                    <a:latin typeface="Arial"/>
                  </a:rPr>
                  <a:t>: </a:t>
                </a:r>
                <a:r>
                  <a:rPr lang="en-IN" sz="2400">
                    <a:solidFill>
                      <a:srgbClr val="111827"/>
                    </a:solidFill>
                    <a:latin typeface="Cambria Math" panose="02040503050406030204" pitchFamily="18" charset="0"/>
                  </a:rPr>
                  <a:t>$m=\log_381=4$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$g(x)=\log_3x$</a:t>
                </a:r>
                <a:r>
                  <a:rPr sz="2400" b="0">
                    <a:solidFill>
                      <a:srgbClr val="111827"/>
                    </a:solidFill>
                    <a:latin typeface="Arial"/>
                  </a:rPr>
                  <a:t> is concave, so </a:t>
                </a:r>
                <a:r>
                  <a:rPr lang="en-IN" sz="2400">
                    <a:solidFill>
                      <a:srgbClr val="111827"/>
                    </a:solidFill>
                    <a:latin typeface="Cambria Math" panose="02040503050406030204" pitchFamily="18" charset="0"/>
                  </a:rPr>
                  <a:t>$\frac{g(x_1)+g(x_2)+g(x_3)}3\le g\!\left(\frac{x_1+x_2+x_3}3\right)=g(3)=1$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equality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3</m:t>
                            </m:r>
                          </m:sup>
                        </m:sSup>
                      </m:e>
                    </m:d>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3</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$\log_3x_1+\log_3x_2+\log_3x_3\le3$</a:t>
                </a:r>
                <a:r>
                  <a:rPr sz="2400" b="0">
                    <a:solidFill>
                      <a:srgbClr val="111827"/>
                    </a:solidFill>
                    <a:latin typeface="Arial"/>
                  </a:rPr>
                  <a:t>, with equality at </a:t>
                </a:r>
                <a:r>
                  <a:rPr lang="en-IN" sz="2400">
                    <a:solidFill>
                      <a:srgbClr val="111827"/>
                    </a:solidFill>
                    <a:latin typeface="Cambria Math" panose="02040503050406030204" pitchFamily="18" charset="0"/>
                  </a:rPr>
                  <a:t>$x_i=3$</a:t>
                </a:r>
                <a:r>
                  <a:rPr sz="2400" b="0">
                    <a:solidFill>
                      <a:srgbClr val="111827"/>
                    </a:solidFill>
                    <a:latin typeface="Arial"/>
                  </a:rPr>
                  <a:t>: </a:t>
                </a:r>
                <a:r>
                  <a:rPr lang="en-IN" sz="2400">
                    <a:solidFill>
                      <a:srgbClr val="111827"/>
                    </a:solidFill>
                    <a:latin typeface="Cambria Math" panose="02040503050406030204" pitchFamily="18" charset="0"/>
                  </a:rPr>
                  <a:t>$M=3$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$\log_2\left(4^3\right)+\log_3\left(3^2\right)=6+2=8$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a:t>
            </a:r>
            <a:endParaRPr sz="2800">
              <a:solidFill>
                <a:srgbClr val="15803D"/>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sup>
                    </m:sSup>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fixed: A.M.–G.M. on </a:t>
                </a:r>
                <a14:m>
                  <m:oMath xmlns:m="http://schemas.openxmlformats.org/officeDocument/2006/math">
                    <m:sSup>
                      <m:e>
                        <m:r>
                          <a:rPr lang="en-IN" sz="2400" i="1">
                            <a:solidFill>
                              <a:srgbClr val="111827"/>
                            </a:solidFill>
                            <a:latin typeface="Cambria Math" panose="02040503050406030204" pitchFamily="18" charset="0"/>
                          </a:rPr>
                          <m:t>3</m:t>
                        </m:r>
                      </m:e>
                      <m:sup>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sup>
                    </m:sSup>
                  </m:oMath>
                </a14:m>
                <a:r>
                  <a:rPr sz="2400" b="0">
                    <a:solidFill>
                      <a:srgbClr val="111827"/>
                    </a:solidFill>
                    <a:latin typeface="Arial"/>
                  </a:rPr>
                  <a:t> turns the fixed sum of exponents into a fixed product, so the minimum occurs at equal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fixed sum, a product is largest when the numbers are equal: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log</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Jensen: for convex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𝑡</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concave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the inequality reverses. One statement handles exponentials and logarithms.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$\sum3^{y_i}$</a:t>
                </a:r>
                <a:r>
                  <a:rPr sz="2400" b="0">
                    <a:solidFill>
                      <a:srgbClr val="111827"/>
                    </a:solidFill>
                    <a:latin typeface="Arial"/>
                  </a:rPr>
                  <a:t> with </a:t>
                </a:r>
                <a:r>
                  <a:rPr lang="en-IN" sz="2400">
                    <a:solidFill>
                      <a:srgbClr val="111827"/>
                    </a:solidFill>
                    <a:latin typeface="Cambria Math" panose="02040503050406030204" pitchFamily="18" charset="0"/>
                  </a:rPr>
                  <a:t>$\sum y_i$</a:t>
                </a:r>
                <a:r>
                  <a:rPr sz="2400" b="0">
                    <a:solidFill>
                      <a:srgbClr val="111827"/>
                    </a:solidFill>
                    <a:latin typeface="Arial"/>
                  </a:rPr>
                  <a:t> fixed: A.M.–G.M. on </a:t>
                </a:r>
                <a:r>
                  <a:rPr lang="en-IN" sz="2400">
                    <a:solidFill>
                      <a:srgbClr val="111827"/>
                    </a:solidFill>
                    <a:latin typeface="Cambria Math" panose="02040503050406030204" pitchFamily="18" charset="0"/>
                  </a:rPr>
                  <a:t>$3^{y_i}$</a:t>
                </a:r>
                <a:r>
                  <a:rPr sz="2400" b="0">
                    <a:solidFill>
                      <a:srgbClr val="111827"/>
                    </a:solidFill>
                    <a:latin typeface="Arial"/>
                  </a:rPr>
                  <a:t> turns the fixed sum of exponents into a fixed product, so the minimum occurs at equal </a:t>
                </a:r>
                <a:r>
                  <a:rPr lang="en-IN" sz="2400">
                    <a:solidFill>
                      <a:srgbClr val="111827"/>
                    </a:solidFill>
                    <a:latin typeface="Cambria Math" panose="02040503050406030204" pitchFamily="18" charset="0"/>
                  </a:rPr>
                  <a:t>$y_i$</a:t>
                </a:r>
                <a:r>
                  <a:rPr sz="2400" b="0">
                    <a:solidFill>
                      <a:srgbClr val="111827"/>
                    </a:solidFill>
                    <a:latin typeface="Arial"/>
                  </a:rPr>
                  <a:t> (here </a:t>
                </a:r>
                <a:r>
                  <a:rPr lang="en-IN" sz="2400">
                    <a:solidFill>
                      <a:srgbClr val="111827"/>
                    </a:solidFill>
                    <a:latin typeface="Cambria Math" panose="02040503050406030204" pitchFamily="18" charset="0"/>
                  </a:rPr>
                  <a:t>$3\cdot3^3=81$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fixed sum, a product is largest when the numbers are equal: </a:t>
                </a:r>
                <a:r>
                  <a:rPr lang="en-IN" sz="2400">
                    <a:solidFill>
                      <a:srgbClr val="111827"/>
                    </a:solidFill>
                    <a:latin typeface="Cambria Math" panose="02040503050406030204" pitchFamily="18" charset="0"/>
                  </a:rPr>
                  <a:t>$x_1x_2x_3\le\left(\frac S3\right)^3$</a:t>
                </a:r>
                <a:r>
                  <a:rPr sz="2400" b="0">
                    <a:solidFill>
                      <a:srgbClr val="111827"/>
                    </a:solidFill>
                    <a:latin typeface="Arial"/>
                  </a:rPr>
                  <a:t>, so </a:t>
                </a:r>
                <a:r>
                  <a:rPr lang="en-IN" sz="2400">
                    <a:solidFill>
                      <a:srgbClr val="111827"/>
                    </a:solidFill>
                    <a:latin typeface="Cambria Math" panose="02040503050406030204" pitchFamily="18" charset="0"/>
                  </a:rPr>
                  <a:t>$\sum\log x_i\le3\log\frac S3$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Jensen: for convex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$\frac1n\sum f(t_i)\ge f(\bar t)$</a:t>
                </a:r>
                <a:r>
                  <a:rPr sz="2400" b="0">
                    <a:solidFill>
                      <a:srgbClr val="111827"/>
                    </a:solidFill>
                    <a:latin typeface="Arial"/>
                  </a:rPr>
                  <a:t>; for concave </a:t>
                </a:r>
                <a:r>
                  <a:rPr lang="en-IN" sz="2400">
                    <a:solidFill>
                      <a:srgbClr val="111827"/>
                    </a:solidFill>
                    <a:latin typeface="Cambria Math" panose="02040503050406030204" pitchFamily="18" charset="0"/>
                  </a:rPr>
                  <a:t>$f$</a:t>
                </a:r>
                <a:r>
                  <a:rPr sz="2400" b="0">
                    <a:solidFill>
                      <a:srgbClr val="111827"/>
                    </a:solidFill>
                    <a:latin typeface="Arial"/>
                  </a:rPr>
                  <a:t> the inequality reverses. One statement handles exponentials and logarithms.</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sequence of positive integers in arithmetic progression with common difference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Also, let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sequence of positive integers in geometric progression with common ratio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then the number of all possible values of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for which the equality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e>
                    </m:d>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holds for some positive integer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_____.</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$a_1,a_2,a_3,\ldots$</a:t>
                </a:r>
                <a:r>
                  <a:rPr sz="2400" b="0">
                    <a:solidFill>
                      <a:srgbClr val="111827"/>
                    </a:solidFill>
                    <a:latin typeface="Arial"/>
                  </a:rPr>
                  <a:t> be a sequence of positive integers in arithmetic progression with common difference </a:t>
                </a:r>
                <a:r>
                  <a:rPr lang="en-IN" sz="2400">
                    <a:solidFill>
                      <a:srgbClr val="111827"/>
                    </a:solidFill>
                    <a:latin typeface="Cambria Math" panose="02040503050406030204" pitchFamily="18" charset="0"/>
                  </a:rPr>
                  <a:t>$2$</a:t>
                </a:r>
                <a:r>
                  <a:rPr sz="2400" b="0">
                    <a:solidFill>
                      <a:srgbClr val="111827"/>
                    </a:solidFill>
                    <a:latin typeface="Arial"/>
                  </a:rPr>
                  <a:t>. Also, let </a:t>
                </a:r>
                <a:r>
                  <a:rPr lang="en-IN" sz="2400">
                    <a:solidFill>
                      <a:srgbClr val="111827"/>
                    </a:solidFill>
                    <a:latin typeface="Cambria Math" panose="02040503050406030204" pitchFamily="18" charset="0"/>
                  </a:rPr>
                  <a:t>$b_1,b_2,b_3,\ldots$</a:t>
                </a:r>
                <a:r>
                  <a:rPr sz="2400" b="0">
                    <a:solidFill>
                      <a:srgbClr val="111827"/>
                    </a:solidFill>
                    <a:latin typeface="Arial"/>
                  </a:rPr>
                  <a:t> be a sequence of positive integers in geometric progression with common ratio </a:t>
                </a:r>
                <a:r>
                  <a:rPr lang="en-IN" sz="2400">
                    <a:solidFill>
                      <a:srgbClr val="111827"/>
                    </a:solidFill>
                    <a:latin typeface="Cambria Math" panose="02040503050406030204" pitchFamily="18" charset="0"/>
                  </a:rPr>
                  <a:t>$2$</a:t>
                </a:r>
                <a:r>
                  <a:rPr sz="2400" b="0">
                    <a:solidFill>
                      <a:srgbClr val="111827"/>
                    </a:solidFill>
                    <a:latin typeface="Arial"/>
                  </a:rPr>
                  <a:t>. If </a:t>
                </a:r>
                <a:r>
                  <a:rPr lang="en-IN" sz="2400">
                    <a:solidFill>
                      <a:srgbClr val="111827"/>
                    </a:solidFill>
                    <a:latin typeface="Cambria Math" panose="02040503050406030204" pitchFamily="18" charset="0"/>
                  </a:rPr>
                  <a:t>$a_1=b_1=c$</a:t>
                </a:r>
                <a:r>
                  <a:rPr sz="2400" b="0">
                    <a:solidFill>
                      <a:srgbClr val="111827"/>
                    </a:solidFill>
                    <a:latin typeface="Arial"/>
                  </a:rPr>
                  <a:t>, then the number of all possible values of </a:t>
                </a:r>
                <a:r>
                  <a:rPr lang="en-IN" sz="2400">
                    <a:solidFill>
                      <a:srgbClr val="111827"/>
                    </a:solidFill>
                    <a:latin typeface="Cambria Math" panose="02040503050406030204" pitchFamily="18" charset="0"/>
                  </a:rPr>
                  <a:t>$c$</a:t>
                </a:r>
                <a:r>
                  <a:rPr sz="2400" b="0">
                    <a:solidFill>
                      <a:srgbClr val="111827"/>
                    </a:solidFill>
                    <a:latin typeface="Arial"/>
                  </a:rPr>
                  <a:t>, for which the equality </a:t>
                </a:r>
                <a:r>
                  <a:rPr lang="en-IN" sz="2400">
                    <a:solidFill>
                      <a:srgbClr val="111827"/>
                    </a:solidFill>
                    <a:latin typeface="Cambria Math" panose="02040503050406030204" pitchFamily="18" charset="0"/>
                  </a:rPr>
                  <a:t>$2\left(a_1+a_2+\cdots+a_n\right)=b_1+b_2+\cdots+b_n$</a:t>
                </a:r>
                <a:r>
                  <a:rPr sz="2400" b="0">
                    <a:solidFill>
                      <a:srgbClr val="111827"/>
                    </a:solidFill>
                    <a:latin typeface="Arial"/>
                  </a:rPr>
                  <a:t> holds for some positive integer </a:t>
                </a:r>
                <a:r>
                  <a:rPr lang="en-IN" sz="2400">
                    <a:solidFill>
                      <a:srgbClr val="111827"/>
                    </a:solidFill>
                    <a:latin typeface="Cambria Math" panose="02040503050406030204" pitchFamily="18" charset="0"/>
                  </a:rPr>
                  <a:t>$n$</a:t>
                </a:r>
                <a:r>
                  <a:rPr sz="2400" b="0">
                    <a:solidFill>
                      <a:srgbClr val="111827"/>
                    </a:solidFill>
                    <a:latin typeface="Arial"/>
                  </a:rPr>
                  <a:t>, is _____.</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n terms of an A.P. and of a G.P. with an integer parameter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equality gives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since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only small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can work, so test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equality gives </a:t>
                </a:r>
                <a:r>
                  <a:rPr lang="en-IN" sz="2400">
                    <a:solidFill>
                      <a:srgbClr val="78350F"/>
                    </a:solidFill>
                    <a:latin typeface="Cambria Math" panose="02040503050406030204" pitchFamily="18" charset="0"/>
                  </a:rPr>
                  <a:t>$c=\frac{2n(n-1)}{2^n-2n-1}$</a:t>
                </a:r>
                <a:r>
                  <a:rPr sz="2400" b="0">
                    <a:solidFill>
                      <a:srgbClr val="78350F"/>
                    </a:solidFill>
                    <a:latin typeface="Arial"/>
                  </a:rPr>
                  <a:t>; since </a:t>
                </a:r>
                <a:r>
                  <a:rPr lang="en-IN" sz="2400">
                    <a:solidFill>
                      <a:srgbClr val="78350F"/>
                    </a:solidFill>
                    <a:latin typeface="Cambria Math" panose="02040503050406030204" pitchFamily="18" charset="0"/>
                  </a:rPr>
                  <a:t>$c\ge1$</a:t>
                </a:r>
                <a:r>
                  <a:rPr sz="2400" b="0">
                    <a:solidFill>
                      <a:srgbClr val="78350F"/>
                    </a:solidFill>
                    <a:latin typeface="Arial"/>
                  </a:rPr>
                  <a:t>, only small </a:t>
                </a:r>
                <a:r>
                  <a:rPr lang="en-IN" sz="2400">
                    <a:solidFill>
                      <a:srgbClr val="78350F"/>
                    </a:solidFill>
                    <a:latin typeface="Cambria Math" panose="02040503050406030204" pitchFamily="18" charset="0"/>
                  </a:rPr>
                  <a:t>$n$</a:t>
                </a:r>
                <a:r>
                  <a:rPr sz="2400" b="0">
                    <a:solidFill>
                      <a:srgbClr val="78350F"/>
                    </a:solidFill>
                    <a:latin typeface="Arial"/>
                  </a:rPr>
                  <a:t> can work, so test </a:t>
                </a:r>
                <a:r>
                  <a:rPr lang="en-IN" sz="2400">
                    <a:solidFill>
                      <a:srgbClr val="78350F"/>
                    </a:solidFill>
                    <a:latin typeface="Cambria Math" panose="02040503050406030204" pitchFamily="18" charset="0"/>
                  </a:rPr>
                  <a:t>$n=1,\ldots,6$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condition says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the A.P.)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the G.P.).</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𝑐</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must be a positive integer (both sequences consist of positive integers).</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condition says </a:t>
                </a:r>
                <a:r>
                  <a:rPr lang="en-IN" sz="2400">
                    <a:solidFill>
                      <a:srgbClr val="111827"/>
                    </a:solidFill>
                    <a:latin typeface="Cambria Math" panose="02040503050406030204" pitchFamily="18" charset="0"/>
                  </a:rPr>
                  <a:t>$2\times$</a:t>
                </a:r>
                <a:r>
                  <a:rPr sz="2400" b="0">
                    <a:solidFill>
                      <a:srgbClr val="111827"/>
                    </a:solidFill>
                    <a:latin typeface="Arial"/>
                  </a:rPr>
                  <a:t>(sum of </a:t>
                </a:r>
                <a:r>
                  <a:rPr lang="en-IN" sz="2400">
                    <a:solidFill>
                      <a:srgbClr val="111827"/>
                    </a:solidFill>
                    <a:latin typeface="Cambria Math" panose="02040503050406030204" pitchFamily="18" charset="0"/>
                  </a:rPr>
                  <a:t>$n$</a:t>
                </a:r>
                <a:r>
                  <a:rPr sz="2400" b="0">
                    <a:solidFill>
                      <a:srgbClr val="111827"/>
                    </a:solidFill>
                    <a:latin typeface="Arial"/>
                  </a:rPr>
                  <a:t> terms of the A.P.) </a:t>
                </a:r>
                <a:r>
                  <a:rPr lang="en-IN" sz="2400">
                    <a:solidFill>
                      <a:srgbClr val="111827"/>
                    </a:solidFill>
                    <a:latin typeface="Cambria Math" panose="02040503050406030204" pitchFamily="18" charset="0"/>
                  </a:rPr>
                  <a:t>$=$</a:t>
                </a:r>
                <a:r>
                  <a:rPr sz="2400" b="0">
                    <a:solidFill>
                      <a:srgbClr val="111827"/>
                    </a:solidFill>
                    <a:latin typeface="Arial"/>
                  </a:rPr>
                  <a:t> (sum of </a:t>
                </a:r>
                <a:r>
                  <a:rPr lang="en-IN" sz="2400">
                    <a:solidFill>
                      <a:srgbClr val="111827"/>
                    </a:solidFill>
                    <a:latin typeface="Cambria Math" panose="02040503050406030204" pitchFamily="18" charset="0"/>
                  </a:rPr>
                  <a:t>$n$</a:t>
                </a:r>
                <a:r>
                  <a:rPr sz="2400" b="0">
                    <a:solidFill>
                      <a:srgbClr val="111827"/>
                    </a:solidFill>
                    <a:latin typeface="Arial"/>
                  </a:rPr>
                  <a:t> terms of the G.P.).</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$2\cdot\frac n2\left[2c+(n-1)2\right]=c\,\frac{2^n-1}{2-1}$</a:t>
                </a:r>
                <a:r>
                  <a:rPr sz="2400" b="0">
                    <a:solidFill>
                      <a:srgbClr val="111827"/>
                    </a:solidFill>
                    <a:latin typeface="Arial"/>
                  </a:rPr>
                  <a:t>, i.e. </a:t>
                </a:r>
                <a:r>
                  <a:rPr lang="en-IN" sz="2400">
                    <a:solidFill>
                      <a:srgbClr val="111827"/>
                    </a:solidFill>
                    <a:latin typeface="Cambria Math" panose="02040503050406030204" pitchFamily="18" charset="0"/>
                  </a:rPr>
                  <a:t>$2nc+2n^2-2n=c\,2^n-c$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$c\left(2^n-2n-1\right)=2n^2-2n$</a:t>
                </a:r>
                <a:r>
                  <a:rPr sz="2400" b="0">
                    <a:solidFill>
                      <a:srgbClr val="111827"/>
                    </a:solidFill>
                    <a:latin typeface="Arial"/>
                  </a:rPr>
                  <a:t>, giving </a:t>
                </a:r>
                <a:r>
                  <a:rPr lang="en-IN" sz="2400">
                    <a:solidFill>
                      <a:srgbClr val="111827"/>
                    </a:solidFill>
                    <a:latin typeface="Cambria Math" panose="02040503050406030204" pitchFamily="18" charset="0"/>
                  </a:rPr>
                  <a:t>$c=\frac{2n^2-2n}{2^n-2n-1}$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must be a positive integer (both sequences consist of positive integers).</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rejected.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 rejected.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 a positive integer.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51</m:t>
                        </m:r>
                      </m:den>
                    </m:f>
                  </m:oMath>
                </a14:m>
                <a:r>
                  <a:rPr sz="2400" b="0">
                    <a:solidFill>
                      <a:srgbClr val="111827"/>
                    </a:solidFill>
                    <a:latin typeface="Arial"/>
                  </a:rPr>
                  <a:t> — none is an integer.</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$c=0$</a:t>
                </a:r>
                <a:r>
                  <a:rPr sz="2400" b="0">
                    <a:solidFill>
                      <a:srgbClr val="111827"/>
                    </a:solidFill>
                    <a:latin typeface="Arial"/>
                  </a:rPr>
                  <a:t> — rejected.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$c=\frac4{-1}=-4$</a:t>
                </a:r>
                <a:r>
                  <a:rPr sz="2400" b="0">
                    <a:solidFill>
                      <a:srgbClr val="111827"/>
                    </a:solidFill>
                    <a:latin typeface="Arial"/>
                  </a:rPr>
                  <a:t> — rejected.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$c=\frac{12}1=12$</a:t>
                </a:r>
                <a:r>
                  <a:rPr sz="2400" b="0">
                    <a:solidFill>
                      <a:srgbClr val="111827"/>
                    </a:solidFill>
                    <a:latin typeface="Arial"/>
                  </a:rPr>
                  <a:t> — a positive integer.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$c=\frac{24}7$</a:t>
                </a:r>
                <a:r>
                  <a:rPr sz="2400" b="0">
                    <a:solidFill>
                      <a:srgbClr val="111827"/>
                    </a:solidFill>
                    <a:latin typeface="Arial"/>
                  </a:rPr>
                  <a:t>; </a:t>
                </a:r>
                <a:r>
                  <a:rPr lang="en-IN" sz="2400">
                    <a:solidFill>
                      <a:srgbClr val="111827"/>
                    </a:solidFill>
                    <a:latin typeface="Cambria Math" panose="02040503050406030204" pitchFamily="18" charset="0"/>
                  </a:rPr>
                  <a:t>$n=5$</a:t>
                </a:r>
                <a:r>
                  <a:rPr sz="2400" b="0">
                    <a:solidFill>
                      <a:srgbClr val="111827"/>
                    </a:solidFill>
                    <a:latin typeface="Arial"/>
                  </a:rPr>
                  <a:t>: </a:t>
                </a:r>
                <a:r>
                  <a:rPr lang="en-IN" sz="2400">
                    <a:solidFill>
                      <a:srgbClr val="111827"/>
                    </a:solidFill>
                    <a:latin typeface="Cambria Math" panose="02040503050406030204" pitchFamily="18" charset="0"/>
                  </a:rPr>
                  <a:t>$c=\frac{40}{21}$</a:t>
                </a:r>
                <a:r>
                  <a:rPr sz="2400" b="0">
                    <a:solidFill>
                      <a:srgbClr val="111827"/>
                    </a:solidFill>
                    <a:latin typeface="Arial"/>
                  </a:rPr>
                  <a:t>; </a:t>
                </a:r>
                <a:r>
                  <a:rPr lang="en-IN" sz="2400">
                    <a:solidFill>
                      <a:srgbClr val="111827"/>
                    </a:solidFill>
                    <a:latin typeface="Cambria Math" panose="02040503050406030204" pitchFamily="18" charset="0"/>
                  </a:rPr>
                  <a:t>$n=6$</a:t>
                </a:r>
                <a:r>
                  <a:rPr sz="2400" b="0">
                    <a:solidFill>
                      <a:srgbClr val="111827"/>
                    </a:solidFill>
                    <a:latin typeface="Arial"/>
                  </a:rPr>
                  <a:t>: </a:t>
                </a:r>
                <a:r>
                  <a:rPr lang="en-IN" sz="2400">
                    <a:solidFill>
                      <a:srgbClr val="111827"/>
                    </a:solidFill>
                    <a:latin typeface="Cambria Math" panose="02040503050406030204" pitchFamily="18" charset="0"/>
                  </a:rPr>
                  <a:t>$c=\frac{60}{51}$</a:t>
                </a:r>
                <a:r>
                  <a:rPr sz="2400" b="0">
                    <a:solidFill>
                      <a:srgbClr val="111827"/>
                    </a:solidFill>
                    <a:latin typeface="Arial"/>
                  </a:rPr>
                  <a:t> — none is an integer.</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84</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then outgrows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 no integer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is possible, so the number of possible values of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$n\ge7$</a:t>
                </a:r>
                <a:r>
                  <a:rPr sz="2400" b="0">
                    <a:solidFill>
                      <a:srgbClr val="111827"/>
                    </a:solidFill>
                    <a:latin typeface="Arial"/>
                  </a:rPr>
                  <a:t>: </a:t>
                </a:r>
                <a:r>
                  <a:rPr lang="en-IN" sz="2400">
                    <a:solidFill>
                      <a:srgbClr val="111827"/>
                    </a:solidFill>
                    <a:latin typeface="Cambria Math" panose="02040503050406030204" pitchFamily="18" charset="0"/>
                  </a:rPr>
                  <a:t>$2^n-2n-1&gt;2n^2-2n$</a:t>
                </a:r>
                <a:r>
                  <a:rPr sz="2400" b="0">
                    <a:solidFill>
                      <a:srgbClr val="111827"/>
                    </a:solidFill>
                    <a:latin typeface="Arial"/>
                  </a:rPr>
                  <a:t> (for </a:t>
                </a:r>
                <a:r>
                  <a:rPr lang="en-IN" sz="2400">
                    <a:solidFill>
                      <a:srgbClr val="111827"/>
                    </a:solidFill>
                    <a:latin typeface="Cambria Math" panose="02040503050406030204" pitchFamily="18" charset="0"/>
                  </a:rPr>
                  <a:t>$n=7$</a:t>
                </a:r>
                <a:r>
                  <a:rPr sz="2400" b="0">
                    <a:solidFill>
                      <a:srgbClr val="111827"/>
                    </a:solidFill>
                    <a:latin typeface="Arial"/>
                  </a:rPr>
                  <a:t>: </a:t>
                </a:r>
                <a:r>
                  <a:rPr lang="en-IN" sz="2400">
                    <a:solidFill>
                      <a:srgbClr val="111827"/>
                    </a:solidFill>
                    <a:latin typeface="Cambria Math" panose="02040503050406030204" pitchFamily="18" charset="0"/>
                  </a:rPr>
                  <a:t>$113&gt;84$</a:t>
                </a:r>
                <a:r>
                  <a:rPr sz="2400" b="0">
                    <a:solidFill>
                      <a:srgbClr val="111827"/>
                    </a:solidFill>
                    <a:latin typeface="Arial"/>
                  </a:rPr>
                  <a:t>, and </a:t>
                </a:r>
                <a:r>
                  <a:rPr lang="en-IN" sz="2400">
                    <a:solidFill>
                      <a:srgbClr val="111827"/>
                    </a:solidFill>
                    <a:latin typeface="Cambria Math" panose="02040503050406030204" pitchFamily="18" charset="0"/>
                  </a:rPr>
                  <a:t>$2^n$</a:t>
                </a:r>
                <a:r>
                  <a:rPr sz="2400" b="0">
                    <a:solidFill>
                      <a:srgbClr val="111827"/>
                    </a:solidFill>
                    <a:latin typeface="Arial"/>
                  </a:rPr>
                  <a:t> then outgrows </a:t>
                </a:r>
                <a:r>
                  <a:rPr lang="en-IN" sz="2400">
                    <a:solidFill>
                      <a:srgbClr val="111827"/>
                    </a:solidFill>
                    <a:latin typeface="Cambria Math" panose="02040503050406030204" pitchFamily="18" charset="0"/>
                  </a:rPr>
                  <a:t>$2n^2$</a:t>
                </a:r>
                <a:r>
                  <a:rPr sz="2400" b="0">
                    <a:solidFill>
                      <a:srgbClr val="111827"/>
                    </a:solidFill>
                    <a:latin typeface="Arial"/>
                  </a:rPr>
                  <a:t>), so </a:t>
                </a:r>
                <a:r>
                  <a:rPr lang="en-IN" sz="2400">
                    <a:solidFill>
                      <a:srgbClr val="111827"/>
                    </a:solidFill>
                    <a:latin typeface="Cambria Math" panose="02040503050406030204" pitchFamily="18" charset="0"/>
                  </a:rPr>
                  <a:t>$0&lt;c&lt;1$</a:t>
                </a:r>
                <a:r>
                  <a:rPr sz="2400" b="0">
                    <a:solidFill>
                      <a:srgbClr val="111827"/>
                    </a:solidFill>
                    <a:latin typeface="Arial"/>
                  </a:rPr>
                  <a:t> — no integer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$c=12$</a:t>
                </a:r>
                <a:r>
                  <a:rPr sz="2400" b="0">
                    <a:solidFill>
                      <a:srgbClr val="111827"/>
                    </a:solidFill>
                    <a:latin typeface="Arial"/>
                  </a:rPr>
                  <a:t>,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$2(12+14+16)=84=12+24+48$</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$c=12$</a:t>
                </a:r>
                <a:r>
                  <a:rPr sz="2400" b="0">
                    <a:solidFill>
                      <a:srgbClr val="111827"/>
                    </a:solidFill>
                    <a:latin typeface="Arial"/>
                  </a:rPr>
                  <a:t> is possible, so the number of possible values of </a:t>
                </a:r>
                <a:r>
                  <a:rPr lang="en-IN" sz="2400">
                    <a:solidFill>
                      <a:srgbClr val="111827"/>
                    </a:solidFill>
                    <a:latin typeface="Cambria Math" panose="02040503050406030204" pitchFamily="18" charset="0"/>
                  </a:rPr>
                  <a:t>$c$</a:t>
                </a:r>
                <a:r>
                  <a:rPr sz="2400" b="0">
                    <a:solidFill>
                      <a:srgbClr val="111827"/>
                    </a:solidFill>
                    <a:latin typeface="Arial"/>
                  </a:rPr>
                  <a:t>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A.P.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G.P.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which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equation that is linear in the unknown first term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is solved for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𝑝𝑜𝑙𝑦𝑛𝑜𝑚𝑖𝑎𝑙 𝑖𝑛 </m:t>
                        </m:r>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the exponential denominator bounds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(but not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73</m:t>
                    </m:r>
                  </m:oMath>
                </a14:m>
                <a:r>
                  <a:rPr sz="2400" b="0">
                    <a:solidFill>
                      <a:srgbClr val="111827"/>
                    </a:solidFill>
                    <a:latin typeface="Arial"/>
                  </a:rPr>
                  <a:t>), so only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need be tested.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'number of possible values' questions, once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bounded, test each remaining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for a positive-integer value of the parameter and count the distinct values.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t>
                </a:r>
                <a:r>
                  <a:rPr lang="en-IN" sz="2400">
                    <a:solidFill>
                      <a:srgbClr val="111827"/>
                    </a:solidFill>
                    <a:latin typeface="Cambria Math" panose="02040503050406030204" pitchFamily="18" charset="0"/>
                  </a:rPr>
                  <a:t>$n$</a:t>
                </a:r>
                <a:r>
                  <a:rPr sz="2400" b="0">
                    <a:solidFill>
                      <a:srgbClr val="111827"/>
                    </a:solidFill>
                    <a:latin typeface="Arial"/>
                  </a:rPr>
                  <a:t> terms: A.P. </a:t>
                </a:r>
                <a:r>
                  <a:rPr lang="en-IN" sz="2400">
                    <a:solidFill>
                      <a:srgbClr val="111827"/>
                    </a:solidFill>
                    <a:latin typeface="Cambria Math" panose="02040503050406030204" pitchFamily="18" charset="0"/>
                  </a:rPr>
                  <a:t>$\frac n2[2a+(n-1)d]$</a:t>
                </a:r>
                <a:r>
                  <a:rPr sz="2400" b="0">
                    <a:solidFill>
                      <a:srgbClr val="111827"/>
                    </a:solidFill>
                    <a:latin typeface="Arial"/>
                  </a:rPr>
                  <a:t>; G.P. </a:t>
                </a:r>
                <a:r>
                  <a:rPr lang="en-IN" sz="2400">
                    <a:solidFill>
                      <a:srgbClr val="111827"/>
                    </a:solidFill>
                    <a:latin typeface="Cambria Math" panose="02040503050406030204" pitchFamily="18" charset="0"/>
                  </a:rPr>
                  <a:t>$a\,\frac{r^n-1}{r-1}$</a:t>
                </a:r>
                <a:r>
                  <a:rPr sz="2400" b="0">
                    <a:solidFill>
                      <a:srgbClr val="111827"/>
                    </a:solidFill>
                    <a:latin typeface="Arial"/>
                  </a:rPr>
                  <a:t>, which for </a:t>
                </a:r>
                <a:r>
                  <a:rPr lang="en-IN" sz="2400">
                    <a:solidFill>
                      <a:srgbClr val="111827"/>
                    </a:solidFill>
                    <a:latin typeface="Cambria Math" panose="02040503050406030204" pitchFamily="18" charset="0"/>
                  </a:rPr>
                  <a:t>$r=2$</a:t>
                </a:r>
                <a:r>
                  <a:rPr sz="2400" b="0">
                    <a:solidFill>
                      <a:srgbClr val="111827"/>
                    </a:solidFill>
                    <a:latin typeface="Arial"/>
                  </a:rPr>
                  <a:t> is </a:t>
                </a:r>
                <a:r>
                  <a:rPr lang="en-IN" sz="2400">
                    <a:solidFill>
                      <a:srgbClr val="111827"/>
                    </a:solidFill>
                    <a:latin typeface="Cambria Math" panose="02040503050406030204" pitchFamily="18" charset="0"/>
                  </a:rPr>
                  <a:t>$c\,(2^n-1)$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equation that is linear in the unknown first term </a:t>
                </a:r>
                <a:r>
                  <a:rPr lang="en-IN" sz="2400">
                    <a:solidFill>
                      <a:srgbClr val="111827"/>
                    </a:solidFill>
                    <a:latin typeface="Cambria Math" panose="02040503050406030204" pitchFamily="18" charset="0"/>
                  </a:rPr>
                  <a:t>$c$</a:t>
                </a:r>
                <a:r>
                  <a:rPr sz="2400" b="0">
                    <a:solidFill>
                      <a:srgbClr val="111827"/>
                    </a:solidFill>
                    <a:latin typeface="Arial"/>
                  </a:rPr>
                  <a:t> is solved for </a:t>
                </a:r>
                <a:r>
                  <a:rPr lang="en-IN" sz="2400">
                    <a:solidFill>
                      <a:srgbClr val="111827"/>
                    </a:solidFill>
                    <a:latin typeface="Cambria Math" panose="02040503050406030204" pitchFamily="18" charset="0"/>
                  </a:rPr>
                  <a:t>$c=\frac{\text{polynomial in }n}{2^n-2n-1}$</a:t>
                </a:r>
                <a:r>
                  <a:rPr sz="2400" b="0">
                    <a:solidFill>
                      <a:srgbClr val="111827"/>
                    </a:solidFill>
                    <a:latin typeface="Arial"/>
                  </a:rPr>
                  <a:t>; the exponential denominator bounds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$2^n&gt;2n^2+1$</a:t>
                </a:r>
                <a:r>
                  <a:rPr sz="2400" b="0">
                    <a:solidFill>
                      <a:srgbClr val="111827"/>
                    </a:solidFill>
                    <a:latin typeface="Arial"/>
                  </a:rPr>
                  <a:t> for all </a:t>
                </a:r>
                <a:r>
                  <a:rPr lang="en-IN" sz="2400">
                    <a:solidFill>
                      <a:srgbClr val="111827"/>
                    </a:solidFill>
                    <a:latin typeface="Cambria Math" panose="02040503050406030204" pitchFamily="18" charset="0"/>
                  </a:rPr>
                  <a:t>$n\ge7$</a:t>
                </a:r>
                <a:r>
                  <a:rPr sz="2400" b="0">
                    <a:solidFill>
                      <a:srgbClr val="111827"/>
                    </a:solidFill>
                    <a:latin typeface="Arial"/>
                  </a:rPr>
                  <a:t> (but not for </a:t>
                </a:r>
                <a:r>
                  <a:rPr lang="en-IN" sz="2400">
                    <a:solidFill>
                      <a:srgbClr val="111827"/>
                    </a:solidFill>
                    <a:latin typeface="Cambria Math" panose="02040503050406030204" pitchFamily="18" charset="0"/>
                  </a:rPr>
                  <a:t>$n=6$</a:t>
                </a:r>
                <a:r>
                  <a:rPr sz="2400" b="0">
                    <a:solidFill>
                      <a:srgbClr val="111827"/>
                    </a:solidFill>
                    <a:latin typeface="Arial"/>
                  </a:rPr>
                  <a:t>: </a:t>
                </a:r>
                <a:r>
                  <a:rPr lang="en-IN" sz="2400">
                    <a:solidFill>
                      <a:srgbClr val="111827"/>
                    </a:solidFill>
                    <a:latin typeface="Cambria Math" panose="02040503050406030204" pitchFamily="18" charset="0"/>
                  </a:rPr>
                  <a:t>$64&lt;73$</a:t>
                </a:r>
                <a:r>
                  <a:rPr sz="2400" b="0">
                    <a:solidFill>
                      <a:srgbClr val="111827"/>
                    </a:solidFill>
                    <a:latin typeface="Arial"/>
                  </a:rPr>
                  <a:t>), so only </a:t>
                </a:r>
                <a:r>
                  <a:rPr lang="en-IN" sz="2400">
                    <a:solidFill>
                      <a:srgbClr val="111827"/>
                    </a:solidFill>
                    <a:latin typeface="Cambria Math" panose="02040503050406030204" pitchFamily="18" charset="0"/>
                  </a:rPr>
                  <a:t>$n\le6$</a:t>
                </a:r>
                <a:r>
                  <a:rPr sz="2400" b="0">
                    <a:solidFill>
                      <a:srgbClr val="111827"/>
                    </a:solidFill>
                    <a:latin typeface="Arial"/>
                  </a:rPr>
                  <a:t> need be tested.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'number of possible values' questions, once </a:t>
                </a:r>
                <a:r>
                  <a:rPr lang="en-IN" sz="2400">
                    <a:solidFill>
                      <a:srgbClr val="111827"/>
                    </a:solidFill>
                    <a:latin typeface="Cambria Math" panose="02040503050406030204" pitchFamily="18" charset="0"/>
                  </a:rPr>
                  <a:t>$n$</a:t>
                </a:r>
                <a:r>
                  <a:rPr sz="2400" b="0">
                    <a:solidFill>
                      <a:srgbClr val="111827"/>
                    </a:solidFill>
                    <a:latin typeface="Arial"/>
                  </a:rPr>
                  <a:t> is bounded, test each remaining </a:t>
                </a:r>
                <a:r>
                  <a:rPr lang="en-IN" sz="2400">
                    <a:solidFill>
                      <a:srgbClr val="111827"/>
                    </a:solidFill>
                    <a:latin typeface="Cambria Math" panose="02040503050406030204" pitchFamily="18" charset="0"/>
                  </a:rPr>
                  <a:t>$n$</a:t>
                </a:r>
                <a:r>
                  <a:rPr sz="2400" b="0">
                    <a:solidFill>
                      <a:srgbClr val="111827"/>
                    </a:solidFill>
                    <a:latin typeface="Arial"/>
                  </a:rPr>
                  <a:t> for a positive-integer value of the parameter and count the distinct values.</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10</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100</m:t>
                        </m:r>
                      </m:sub>
                    </m:sSub>
                  </m:oMath>
                </a14:m>
                <a:r>
                  <a:rPr sz="2400" b="0">
                    <a:solidFill>
                      <a:srgbClr val="111827"/>
                    </a:solidFill>
                    <a:latin typeface="Arial"/>
                  </a:rPr>
                  <a:t> be consecutive terms of an arithmetic progression with common difference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let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100</m:t>
                        </m:r>
                      </m:sub>
                    </m:sSub>
                  </m:oMath>
                </a14:m>
                <a:r>
                  <a:rPr sz="2400" b="0">
                    <a:solidFill>
                      <a:srgbClr val="111827"/>
                    </a:solidFill>
                    <a:latin typeface="Arial"/>
                  </a:rPr>
                  <a:t> be consecutive terms of another arithmetic progression with common difference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be a rectangle with length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width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and area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then the value of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100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90</m:t>
                        </m:r>
                      </m:sub>
                    </m:sSub>
                  </m:oMath>
                </a14:m>
                <a:r>
                  <a:rPr sz="2400" b="0">
                    <a:solidFill>
                      <a:srgbClr val="111827"/>
                    </a:solidFill>
                    <a:latin typeface="Arial"/>
                  </a:rPr>
                  <a:t> is ____________.</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$l_1,l_2,\ldots,l_{100}$</a:t>
                </a:r>
                <a:r>
                  <a:rPr sz="2400" b="0">
                    <a:solidFill>
                      <a:srgbClr val="111827"/>
                    </a:solidFill>
                    <a:latin typeface="Arial"/>
                  </a:rPr>
                  <a:t> be consecutive terms of an arithmetic progression with common difference </a:t>
                </a:r>
                <a:r>
                  <a:rPr lang="en-IN" sz="2400">
                    <a:solidFill>
                      <a:srgbClr val="111827"/>
                    </a:solidFill>
                    <a:latin typeface="Cambria Math" panose="02040503050406030204" pitchFamily="18" charset="0"/>
                  </a:rPr>
                  <a:t>$d_1$</a:t>
                </a:r>
                <a:r>
                  <a:rPr sz="2400" b="0">
                    <a:solidFill>
                      <a:srgbClr val="111827"/>
                    </a:solidFill>
                    <a:latin typeface="Arial"/>
                  </a:rPr>
                  <a:t>, and let </a:t>
                </a:r>
                <a:r>
                  <a:rPr lang="en-IN" sz="2400">
                    <a:solidFill>
                      <a:srgbClr val="111827"/>
                    </a:solidFill>
                    <a:latin typeface="Cambria Math" panose="02040503050406030204" pitchFamily="18" charset="0"/>
                  </a:rPr>
                  <a:t>$w_1,w_2,\ldots,w_{100}$</a:t>
                </a:r>
                <a:r>
                  <a:rPr sz="2400" b="0">
                    <a:solidFill>
                      <a:srgbClr val="111827"/>
                    </a:solidFill>
                    <a:latin typeface="Arial"/>
                  </a:rPr>
                  <a:t> be consecutive terms of another arithmetic progression with common difference </a:t>
                </a:r>
                <a:r>
                  <a:rPr lang="en-IN" sz="2400">
                    <a:solidFill>
                      <a:srgbClr val="111827"/>
                    </a:solidFill>
                    <a:latin typeface="Cambria Math" panose="02040503050406030204" pitchFamily="18" charset="0"/>
                  </a:rPr>
                  <a:t>$d_2$</a:t>
                </a:r>
                <a:r>
                  <a:rPr sz="2400" b="0">
                    <a:solidFill>
                      <a:srgbClr val="111827"/>
                    </a:solidFill>
                    <a:latin typeface="Arial"/>
                  </a:rPr>
                  <a:t>, where </a:t>
                </a:r>
                <a:r>
                  <a:rPr lang="en-IN" sz="2400">
                    <a:solidFill>
                      <a:srgbClr val="111827"/>
                    </a:solidFill>
                    <a:latin typeface="Cambria Math" panose="02040503050406030204" pitchFamily="18" charset="0"/>
                  </a:rPr>
                  <a:t>$d_1d_2=10$</a:t>
                </a:r>
                <a:r>
                  <a:rPr sz="2400" b="0">
                    <a:solidFill>
                      <a:srgbClr val="111827"/>
                    </a:solidFill>
                    <a:latin typeface="Arial"/>
                  </a:rPr>
                  <a:t>. For each </a:t>
                </a:r>
                <a:r>
                  <a:rPr lang="en-IN" sz="2400">
                    <a:solidFill>
                      <a:srgbClr val="111827"/>
                    </a:solidFill>
                    <a:latin typeface="Cambria Math" panose="02040503050406030204" pitchFamily="18" charset="0"/>
                  </a:rPr>
                  <a:t>$i=1,2,\ldots,100$</a:t>
                </a:r>
                <a:r>
                  <a:rPr sz="2400" b="0">
                    <a:solidFill>
                      <a:srgbClr val="111827"/>
                    </a:solidFill>
                    <a:latin typeface="Arial"/>
                  </a:rPr>
                  <a:t>, let </a:t>
                </a:r>
                <a:r>
                  <a:rPr lang="en-IN" sz="2400">
                    <a:solidFill>
                      <a:srgbClr val="111827"/>
                    </a:solidFill>
                    <a:latin typeface="Cambria Math" panose="02040503050406030204" pitchFamily="18" charset="0"/>
                  </a:rPr>
                  <a:t>$R_i$</a:t>
                </a:r>
                <a:r>
                  <a:rPr sz="2400" b="0">
                    <a:solidFill>
                      <a:srgbClr val="111827"/>
                    </a:solidFill>
                    <a:latin typeface="Arial"/>
                  </a:rPr>
                  <a:t> be a rectangle with length </a:t>
                </a:r>
                <a:r>
                  <a:rPr lang="en-IN" sz="2400">
                    <a:solidFill>
                      <a:srgbClr val="111827"/>
                    </a:solidFill>
                    <a:latin typeface="Cambria Math" panose="02040503050406030204" pitchFamily="18" charset="0"/>
                  </a:rPr>
                  <a:t>$l_i$</a:t>
                </a:r>
                <a:r>
                  <a:rPr sz="2400" b="0">
                    <a:solidFill>
                      <a:srgbClr val="111827"/>
                    </a:solidFill>
                    <a:latin typeface="Arial"/>
                  </a:rPr>
                  <a:t>, width </a:t>
                </a:r>
                <a:r>
                  <a:rPr lang="en-IN" sz="2400">
                    <a:solidFill>
                      <a:srgbClr val="111827"/>
                    </a:solidFill>
                    <a:latin typeface="Cambria Math" panose="02040503050406030204" pitchFamily="18" charset="0"/>
                  </a:rPr>
                  <a:t>$w_i$</a:t>
                </a:r>
                <a:r>
                  <a:rPr sz="2400" b="0">
                    <a:solidFill>
                      <a:srgbClr val="111827"/>
                    </a:solidFill>
                    <a:latin typeface="Arial"/>
                  </a:rPr>
                  <a:t> and area </a:t>
                </a:r>
                <a:r>
                  <a:rPr lang="en-IN" sz="2400">
                    <a:solidFill>
                      <a:srgbClr val="111827"/>
                    </a:solidFill>
                    <a:latin typeface="Cambria Math" panose="02040503050406030204" pitchFamily="18" charset="0"/>
                  </a:rPr>
                  <a:t>$A_i$</a:t>
                </a:r>
                <a:r>
                  <a:rPr sz="2400" b="0">
                    <a:solidFill>
                      <a:srgbClr val="111827"/>
                    </a:solidFill>
                    <a:latin typeface="Arial"/>
                  </a:rPr>
                  <a:t>. If </a:t>
                </a:r>
                <a:r>
                  <a:rPr lang="en-IN" sz="2400">
                    <a:solidFill>
                      <a:srgbClr val="111827"/>
                    </a:solidFill>
                    <a:latin typeface="Cambria Math" panose="02040503050406030204" pitchFamily="18" charset="0"/>
                  </a:rPr>
                  <a:t>$A_{51}-A_{50}=1000$</a:t>
                </a:r>
                <a:r>
                  <a:rPr sz="2400" b="0">
                    <a:solidFill>
                      <a:srgbClr val="111827"/>
                    </a:solidFill>
                    <a:latin typeface="Arial"/>
                  </a:rPr>
                  <a:t>, then the value of </a:t>
                </a:r>
                <a:r>
                  <a:rPr lang="en-IN" sz="2400">
                    <a:solidFill>
                      <a:srgbClr val="111827"/>
                    </a:solidFill>
                    <a:latin typeface="Cambria Math" panose="02040503050406030204" pitchFamily="18" charset="0"/>
                  </a:rPr>
                  <a:t>$A_{100}-A_{90}$</a:t>
                </a:r>
                <a:r>
                  <a:rPr sz="2400" b="0">
                    <a:solidFill>
                      <a:srgbClr val="111827"/>
                    </a:solidFill>
                    <a:latin typeface="Arial"/>
                  </a:rPr>
                  <a:t> is ____________.</a:t>
                </a:r>
                <a:endParaRPr sz="2400">
                  <a:solidFill>
                    <a:srgbClr val="111827"/>
                  </a:solidFill>
                </a:endParaRPr>
              </a:p>
            </p:txBody>
          </p:sp>
        </mc:Fallback>
      </mc:AlternateContent>
      <p:sp>
        <p:nvSpPr>
          <p:cNvPr id="5" name="Rectangle 4"/>
          <p:cNvSpPr/>
          <p:nvPr/>
        </p:nvSpPr>
        <p:spPr>
          <a:xfrm>
            <a:off x="731520" y="4632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Differences of products of terms of two A.P.s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both differences: each equals a multiple of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𝑙</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𝑑</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𝑤</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𝑑</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plus a multiple of </a:t>
                </a:r>
                <a14:m>
                  <m:oMath xmlns:m="http://schemas.openxmlformats.org/officeDocument/2006/math">
                    <m:sSub>
                      <m:e>
                        <m:r>
                          <a:rPr lang="en-IN" sz="2400" i="1">
                            <a:solidFill>
                              <a:srgbClr val="78350F"/>
                            </a:solidFill>
                            <a:latin typeface="Cambria Math" panose="02040503050406030204" pitchFamily="18" charset="0"/>
                          </a:rPr>
                          <m:t>𝑑</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𝑑</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both differences: each equals a multiple of </a:t>
                </a:r>
                <a:r>
                  <a:rPr lang="en-IN" sz="2400">
                    <a:solidFill>
                      <a:srgbClr val="78350F"/>
                    </a:solidFill>
                    <a:latin typeface="Cambria Math" panose="02040503050406030204" pitchFamily="18" charset="0"/>
                  </a:rPr>
                  <a:t>$(l_1d_2+w_1d_1)$</a:t>
                </a:r>
                <a:r>
                  <a:rPr sz="2400" b="0">
                    <a:solidFill>
                      <a:srgbClr val="78350F"/>
                    </a:solidFill>
                    <a:latin typeface="Arial"/>
                  </a:rPr>
                  <a:t> plus a multiple of </a:t>
                </a:r>
                <a:r>
                  <a:rPr lang="en-IN" sz="2400">
                    <a:solidFill>
                      <a:srgbClr val="78350F"/>
                    </a:solidFill>
                    <a:latin typeface="Cambria Math" panose="02040503050406030204" pitchFamily="18" charset="0"/>
                  </a:rPr>
                  <a:t>$d_1d_2$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14:m>
                  <m:oMath xmlns:m="http://schemas.openxmlformats.org/officeDocument/2006/math">
                    <m:r>
                      <a:rPr lang="en-IN" sz="2400" i="1">
                        <a:solidFill>
                          <a:srgbClr val="111827"/>
                        </a:solidFill>
                        <a:latin typeface="Cambria Math" panose="02040503050406030204" pitchFamily="18" charset="0"/>
                      </a:rPr>
                      <m:t>1000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$A_i=l_iw_i$</a:t>
                </a:r>
                <a:r>
                  <a:rPr sz="2400" b="0">
                    <a:solidFill>
                      <a:srgbClr val="111827"/>
                    </a:solidFill>
                    <a:latin typeface="Arial"/>
                  </a:rPr>
                  <a:t> with </a:t>
                </a:r>
                <a:r>
                  <a:rPr lang="en-IN" sz="2400">
                    <a:solidFill>
                      <a:srgbClr val="111827"/>
                    </a:solidFill>
                    <a:latin typeface="Cambria Math" panose="02040503050406030204" pitchFamily="18" charset="0"/>
                  </a:rPr>
                  <a:t>$l_i=l_1+(i-1)d_1$</a:t>
                </a:r>
                <a:r>
                  <a:rPr sz="2400" b="0">
                    <a:solidFill>
                      <a:srgbClr val="111827"/>
                    </a:solidFill>
                    <a:latin typeface="Arial"/>
                  </a:rPr>
                  <a:t> and </a:t>
                </a:r>
                <a:r>
                  <a:rPr lang="en-IN" sz="2400">
                    <a:solidFill>
                      <a:srgbClr val="111827"/>
                    </a:solidFill>
                    <a:latin typeface="Cambria Math" panose="02040503050406030204" pitchFamily="18" charset="0"/>
                  </a:rPr>
                  <a:t>$w_i=w_1+(i-1)d_2$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$A_{51}-A_{50}=(l_1+50d_1)(w_1+50d_2)-(l_1+49d_1)(w_1+49d_2)$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$(50-49)\,l_1d_2+(50-49)\,w_1d_1+(50^2-49^2)\,d_1d_2=l_1d_2+w_1d_1+99\,d_1d_2$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r>
                  <a:rPr lang="en-IN" sz="2400">
                    <a:solidFill>
                      <a:srgbClr val="111827"/>
                    </a:solidFill>
                    <a:latin typeface="Cambria Math" panose="02040503050406030204" pitchFamily="18" charset="0"/>
                  </a:rPr>
                  <a:t>$1000$</a:t>
                </a:r>
                <a:r>
                  <a:rPr sz="2400" b="0">
                    <a:solidFill>
                      <a:srgbClr val="111827"/>
                    </a:solidFill>
                    <a:latin typeface="Arial"/>
                  </a:rPr>
                  <a:t> and </a:t>
                </a:r>
                <a:r>
                  <a:rPr lang="en-IN" sz="2400">
                    <a:solidFill>
                      <a:srgbClr val="111827"/>
                    </a:solidFill>
                    <a:latin typeface="Cambria Math" panose="02040503050406030204" pitchFamily="18" charset="0"/>
                  </a:rPr>
                  <a:t>$d_1d_2=10$</a:t>
                </a:r>
                <a:r>
                  <a:rPr sz="2400" b="0">
                    <a:solidFill>
                      <a:srgbClr val="111827"/>
                    </a:solidFill>
                    <a:latin typeface="Arial"/>
                  </a:rPr>
                  <a:t>: </a:t>
                </a:r>
                <a:r>
                  <a:rPr lang="en-IN" sz="2400">
                    <a:solidFill>
                      <a:srgbClr val="111827"/>
                    </a:solidFill>
                    <a:latin typeface="Cambria Math" panose="02040503050406030204" pitchFamily="18" charset="0"/>
                  </a:rPr>
                  <a:t>$l_1d_2+w_1d_1+990=1000$</a:t>
                </a:r>
                <a:r>
                  <a:rPr sz="2400" b="0">
                    <a:solidFill>
                      <a:srgbClr val="111827"/>
                    </a:solidFill>
                    <a:latin typeface="Arial"/>
                  </a:rPr>
                  <a:t>, so </a:t>
                </a:r>
                <a:r>
                  <a:rPr lang="en-IN" sz="2400">
                    <a:solidFill>
                      <a:srgbClr val="111827"/>
                    </a:solidFill>
                    <a:latin typeface="Cambria Math" panose="02040503050406030204" pitchFamily="18" charset="0"/>
                  </a:rPr>
                  <a:t>$l_1d_2+w_1d_1=10$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100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90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1880</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99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18900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$A_{100}-A_{90}=(l_1+99d_1)(w_1+99d_2)-(l_1+89d_1)(w_1+89d_2)$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$(99-89)\,l_1d_2+(99-89)\,w_1d_1+(99^2-89^2)\,d_1d_2=10\,(l_1d_2+w_1d_1)+1880\,d_1d_2$</a:t>
                </a:r>
                <a:r>
                  <a:rPr sz="2400" b="0">
                    <a:solidFill>
                      <a:srgbClr val="111827"/>
                    </a:solidFill>
                    <a:latin typeface="Arial"/>
                  </a:rPr>
                  <a:t>, since </a:t>
                </a:r>
                <a:r>
                  <a:rPr lang="en-IN" sz="2400">
                    <a:solidFill>
                      <a:srgbClr val="111827"/>
                    </a:solidFill>
                    <a:latin typeface="Cambria Math" panose="02040503050406030204" pitchFamily="18" charset="0"/>
                  </a:rPr>
                  <a:t>$99^2-89^2=10\times188=1880$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$10\times10+1880\times10=100+18800=18900$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18900</a:t>
            </a:r>
            <a:endParaRPr sz="2800">
              <a:solidFill>
                <a:srgbClr val="15803D"/>
              </a:solidFil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is a product of two linear functions of </a:t>
                </a:r>
                <a14:m>
                  <m:oMath xmlns:m="http://schemas.openxmlformats.org/officeDocument/2006/math">
                    <m:r>
                      <a:rPr lang="en-IN" sz="2400" i="1">
                        <a:solidFill>
                          <a:srgbClr val="78350F"/>
                        </a:solidFill>
                        <a:latin typeface="Cambria Math" panose="02040503050406030204" pitchFamily="18" charset="0"/>
                      </a:rPr>
                      <m:t>𝑖</m:t>
                    </m:r>
                  </m:oMath>
                </a14:m>
                <a:r>
                  <a:rPr sz="2400" b="0">
                    <a:solidFill>
                      <a:srgbClr val="78350F"/>
                    </a:solidFill>
                    <a:latin typeface="Arial"/>
                  </a:rPr>
                  <a:t>, hence a quadratic in </a:t>
                </a:r>
                <a14:m>
                  <m:oMath xmlns:m="http://schemas.openxmlformats.org/officeDocument/2006/math">
                    <m:r>
                      <a:rPr lang="en-IN" sz="2400" i="1">
                        <a:solidFill>
                          <a:srgbClr val="78350F"/>
                        </a:solidFill>
                        <a:latin typeface="Cambria Math" panose="02040503050406030204" pitchFamily="18" charset="0"/>
                      </a:rPr>
                      <m:t>𝑖</m:t>
                    </m:r>
                  </m:oMath>
                </a14:m>
                <a:r>
                  <a:rPr sz="2400" b="0">
                    <a:solidFill>
                      <a:srgbClr val="78350F"/>
                    </a:solidFill>
                    <a:latin typeface="Arial"/>
                  </a:rPr>
                  <a:t> with leading coefficient </a:t>
                </a:r>
                <a14:m>
                  <m:oMath xmlns:m="http://schemas.openxmlformats.org/officeDocument/2006/math">
                    <m:sSub>
                      <m:e>
                        <m:r>
                          <a:rPr lang="en-IN" sz="2400" i="1">
                            <a:solidFill>
                              <a:srgbClr val="78350F"/>
                            </a:solidFill>
                            <a:latin typeface="Cambria Math" panose="02040503050406030204" pitchFamily="18" charset="0"/>
                          </a:rPr>
                          <m:t>𝑑</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𝑑</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use differences of a quadratic.</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$A_i$</a:t>
                </a:r>
                <a:r>
                  <a:rPr sz="2400" b="0">
                    <a:solidFill>
                      <a:srgbClr val="78350F"/>
                    </a:solidFill>
                    <a:latin typeface="Arial"/>
                  </a:rPr>
                  <a:t> is a product of two linear functions of </a:t>
                </a:r>
                <a:r>
                  <a:rPr lang="en-IN" sz="2400">
                    <a:solidFill>
                      <a:srgbClr val="78350F"/>
                    </a:solidFill>
                    <a:latin typeface="Cambria Math" panose="02040503050406030204" pitchFamily="18" charset="0"/>
                  </a:rPr>
                  <a:t>$i$</a:t>
                </a:r>
                <a:r>
                  <a:rPr sz="2400" b="0">
                    <a:solidFill>
                      <a:srgbClr val="78350F"/>
                    </a:solidFill>
                    <a:latin typeface="Arial"/>
                  </a:rPr>
                  <a:t>, hence a quadratic in </a:t>
                </a:r>
                <a:r>
                  <a:rPr lang="en-IN" sz="2400">
                    <a:solidFill>
                      <a:srgbClr val="78350F"/>
                    </a:solidFill>
                    <a:latin typeface="Cambria Math" panose="02040503050406030204" pitchFamily="18" charset="0"/>
                  </a:rPr>
                  <a:t>$i$</a:t>
                </a:r>
                <a:r>
                  <a:rPr sz="2400" b="0">
                    <a:solidFill>
                      <a:srgbClr val="78350F"/>
                    </a:solidFill>
                    <a:latin typeface="Arial"/>
                  </a:rPr>
                  <a:t> with leading coefficient </a:t>
                </a:r>
                <a:r>
                  <a:rPr lang="en-IN" sz="2400">
                    <a:solidFill>
                      <a:srgbClr val="78350F"/>
                    </a:solidFill>
                    <a:latin typeface="Cambria Math" panose="02040503050406030204" pitchFamily="18" charset="0"/>
                  </a:rPr>
                  <a:t>$d_1d_2$</a:t>
                </a:r>
                <a:r>
                  <a:rPr sz="2400" b="0">
                    <a:solidFill>
                      <a:srgbClr val="78350F"/>
                    </a:solidFill>
                    <a:latin typeface="Arial"/>
                  </a:rPr>
                  <a:t>; use differences of a quadratic.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a product of two linear functions of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101</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100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90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100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18900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$A_i=l_iw_i$</a:t>
                </a:r>
                <a:r>
                  <a:rPr sz="2400" b="0">
                    <a:solidFill>
                      <a:srgbClr val="111827"/>
                    </a:solidFill>
                    <a:latin typeface="Arial"/>
                  </a:rPr>
                  <a:t> is a product of two linear functions of </a:t>
                </a:r>
                <a:r>
                  <a:rPr lang="en-IN" sz="2400">
                    <a:solidFill>
                      <a:srgbClr val="111827"/>
                    </a:solidFill>
                    <a:latin typeface="Cambria Math" panose="02040503050406030204" pitchFamily="18" charset="0"/>
                  </a:rPr>
                  <a:t>$i$</a:t>
                </a:r>
                <a:r>
                  <a:rPr sz="2400" b="0">
                    <a:solidFill>
                      <a:srgbClr val="111827"/>
                    </a:solidFill>
                    <a:latin typeface="Arial"/>
                  </a:rPr>
                  <a:t>, so </a:t>
                </a:r>
                <a:r>
                  <a:rPr lang="en-IN" sz="2400">
                    <a:solidFill>
                      <a:srgbClr val="111827"/>
                    </a:solidFill>
                    <a:latin typeface="Cambria Math" panose="02040503050406030204" pitchFamily="18" charset="0"/>
                  </a:rPr>
                  <a:t>$A_i=pi^2+qi+r$</a:t>
                </a:r>
                <a:r>
                  <a:rPr sz="2400" b="0">
                    <a:solidFill>
                      <a:srgbClr val="111827"/>
                    </a:solidFill>
                    <a:latin typeface="Arial"/>
                  </a:rPr>
                  <a:t> with </a:t>
                </a:r>
                <a:r>
                  <a:rPr lang="en-IN" sz="2400">
                    <a:solidFill>
                      <a:srgbClr val="111827"/>
                    </a:solidFill>
                    <a:latin typeface="Cambria Math" panose="02040503050406030204" pitchFamily="18" charset="0"/>
                  </a:rPr>
                  <a:t>$p=d_1d_2=10$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$A_{i+1}-A_i=p(2i+1)+q$</a:t>
                </a:r>
                <a:r>
                  <a:rPr sz="2400" b="0">
                    <a:solidFill>
                      <a:srgbClr val="111827"/>
                    </a:solidFill>
                    <a:latin typeface="Arial"/>
                  </a:rPr>
                  <a:t>. At </a:t>
                </a:r>
                <a:r>
                  <a:rPr lang="en-IN" sz="2400">
                    <a:solidFill>
                      <a:srgbClr val="111827"/>
                    </a:solidFill>
                    <a:latin typeface="Cambria Math" panose="02040503050406030204" pitchFamily="18" charset="0"/>
                  </a:rPr>
                  <a:t>$i=50$</a:t>
                </a:r>
                <a:r>
                  <a:rPr sz="2400" b="0">
                    <a:solidFill>
                      <a:srgbClr val="111827"/>
                    </a:solidFill>
                    <a:latin typeface="Arial"/>
                  </a:rPr>
                  <a:t>: </a:t>
                </a:r>
                <a:r>
                  <a:rPr lang="en-IN" sz="2400">
                    <a:solidFill>
                      <a:srgbClr val="111827"/>
                    </a:solidFill>
                    <a:latin typeface="Cambria Math" panose="02040503050406030204" pitchFamily="18" charset="0"/>
                  </a:rPr>
                  <a:t>$101p+q=1000\Rightarrow1010+q=1000\Rightarrow q=-10$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$A_{100}-A_{90}=p\left(100^2-90^2\right)+q(100-90)=10\times1900+(-10)\times10$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$=19000-100=18900$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18900</a:t>
            </a:r>
            <a:endParaRPr sz="2800">
              <a:solidFill>
                <a:srgbClr val="15803D"/>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product of two A.P.s,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quadratic in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with leading coefficient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(second difference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e>
                    </m:d>
                  </m:oMath>
                </a14:m>
                <a:r>
                  <a:rPr sz="2400" b="0">
                    <a:solidFill>
                      <a:srgbClr val="111827"/>
                    </a:solidFill>
                    <a:latin typeface="Arial"/>
                  </a:rPr>
                  <a:t>. Here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51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100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90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Knowing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one difference fixes every other difference; there is no need to find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separately.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product of two A.P.s, </a:t>
                </a:r>
                <a:r>
                  <a:rPr lang="en-IN" sz="2400">
                    <a:solidFill>
                      <a:srgbClr val="111827"/>
                    </a:solidFill>
                    <a:latin typeface="Cambria Math" panose="02040503050406030204" pitchFamily="18" charset="0"/>
                  </a:rPr>
                  <a:t>$A_i=(l_1+(i-1)d_1)(w_1+(i-1)d_2)$</a:t>
                </a:r>
                <a:r>
                  <a:rPr sz="2400" b="0">
                    <a:solidFill>
                      <a:srgbClr val="111827"/>
                    </a:solidFill>
                    <a:latin typeface="Arial"/>
                  </a:rPr>
                  <a:t>, is a quadratic in </a:t>
                </a:r>
                <a:r>
                  <a:rPr lang="en-IN" sz="2400">
                    <a:solidFill>
                      <a:srgbClr val="111827"/>
                    </a:solidFill>
                    <a:latin typeface="Cambria Math" panose="02040503050406030204" pitchFamily="18" charset="0"/>
                  </a:rPr>
                  <a:t>$i$</a:t>
                </a:r>
                <a:r>
                  <a:rPr sz="2400" b="0">
                    <a:solidFill>
                      <a:srgbClr val="111827"/>
                    </a:solidFill>
                    <a:latin typeface="Arial"/>
                  </a:rPr>
                  <a:t> with leading coefficient </a:t>
                </a:r>
                <a:r>
                  <a:rPr lang="en-IN" sz="2400">
                    <a:solidFill>
                      <a:srgbClr val="111827"/>
                    </a:solidFill>
                    <a:latin typeface="Cambria Math" panose="02040503050406030204" pitchFamily="18" charset="0"/>
                  </a:rPr>
                  <a:t>$d_1d_2$</a:t>
                </a:r>
                <a:r>
                  <a:rPr sz="2400" b="0">
                    <a:solidFill>
                      <a:srgbClr val="111827"/>
                    </a:solidFill>
                    <a:latin typeface="Arial"/>
                  </a:rPr>
                  <a:t> (second difference </a:t>
                </a:r>
                <a:r>
                  <a:rPr lang="en-IN" sz="2400">
                    <a:solidFill>
                      <a:srgbClr val="111827"/>
                    </a:solidFill>
                    <a:latin typeface="Cambria Math" panose="02040503050406030204" pitchFamily="18" charset="0"/>
                  </a:rPr>
                  <a:t>$2d_1d_2$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$f(i)=pi^2+qi+r$</a:t>
                </a:r>
                <a:r>
                  <a:rPr sz="2400" b="0">
                    <a:solidFill>
                      <a:srgbClr val="111827"/>
                    </a:solidFill>
                    <a:latin typeface="Arial"/>
                  </a:rPr>
                  <a:t>: </a:t>
                </a:r>
                <a:r>
                  <a:rPr lang="en-IN" sz="2400">
                    <a:solidFill>
                      <a:srgbClr val="111827"/>
                    </a:solidFill>
                    <a:latin typeface="Cambria Math" panose="02040503050406030204" pitchFamily="18" charset="0"/>
                  </a:rPr>
                  <a:t>$f(m)-f(n)=(m-n)\left[p(m+n)+q\right]$</a:t>
                </a:r>
                <a:r>
                  <a:rPr sz="2400" b="0">
                    <a:solidFill>
                      <a:srgbClr val="111827"/>
                    </a:solidFill>
                    <a:latin typeface="Arial"/>
                  </a:rPr>
                  <a:t>. Here </a:t>
                </a:r>
                <a:r>
                  <a:rPr lang="en-IN" sz="2400">
                    <a:solidFill>
                      <a:srgbClr val="111827"/>
                    </a:solidFill>
                    <a:latin typeface="Cambria Math" panose="02040503050406030204" pitchFamily="18" charset="0"/>
                  </a:rPr>
                  <a:t>$A_{51}-A_{50}=101p+q$</a:t>
                </a:r>
                <a:r>
                  <a:rPr sz="2400" b="0">
                    <a:solidFill>
                      <a:srgbClr val="111827"/>
                    </a:solidFill>
                    <a:latin typeface="Arial"/>
                  </a:rPr>
                  <a:t> and </a:t>
                </a:r>
                <a:r>
                  <a:rPr lang="en-IN" sz="2400">
                    <a:solidFill>
                      <a:srgbClr val="111827"/>
                    </a:solidFill>
                    <a:latin typeface="Cambria Math" panose="02040503050406030204" pitchFamily="18" charset="0"/>
                  </a:rPr>
                  <a:t>$A_{100}-A_{90}=10(190p+q)$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Knowing </a:t>
                </a:r>
                <a:r>
                  <a:rPr lang="en-IN" sz="2400">
                    <a:solidFill>
                      <a:srgbClr val="111827"/>
                    </a:solidFill>
                    <a:latin typeface="Cambria Math" panose="02040503050406030204" pitchFamily="18" charset="0"/>
                  </a:rPr>
                  <a:t>$p$</a:t>
                </a:r>
                <a:r>
                  <a:rPr sz="2400" b="0">
                    <a:solidFill>
                      <a:srgbClr val="111827"/>
                    </a:solidFill>
                    <a:latin typeface="Arial"/>
                  </a:rPr>
                  <a:t> and one difference fixes every other difference; there is no need to find </a:t>
                </a:r>
                <a:r>
                  <a:rPr lang="en-IN" sz="2400">
                    <a:solidFill>
                      <a:srgbClr val="111827"/>
                    </a:solidFill>
                    <a:latin typeface="Cambria Math" panose="02040503050406030204" pitchFamily="18" charset="0"/>
                  </a:rPr>
                  <a:t>$l_1$</a:t>
                </a:r>
                <a:r>
                  <a:rPr sz="2400" b="0">
                    <a:solidFill>
                      <a:srgbClr val="111827"/>
                    </a:solidFill>
                    <a:latin typeface="Arial"/>
                  </a:rPr>
                  <a:t>, </a:t>
                </a:r>
                <a:r>
                  <a:rPr lang="en-IN" sz="2400">
                    <a:solidFill>
                      <a:srgbClr val="111827"/>
                    </a:solidFill>
                    <a:latin typeface="Cambria Math" panose="02040503050406030204" pitchFamily="18" charset="0"/>
                  </a:rPr>
                  <a:t>$w_1$</a:t>
                </a:r>
                <a:r>
                  <a:rPr sz="2400" b="0">
                    <a:solidFill>
                      <a:srgbClr val="111827"/>
                    </a:solidFill>
                    <a:latin typeface="Arial"/>
                  </a:rPr>
                  <a:t> separately.</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One or more than one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or more options may be correct</a:t>
            </a:r>
            <a:endParaRPr sz="2800">
              <a:solidFill>
                <a:srgbClr val="FFFFFF"/>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an arithmetic progression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common difference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such that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which of the following is/are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1604</m:t>
                    </m:r>
                  </m:oMath>
                </a14:m>
                <a:r>
                  <a:rPr sz="2400" b="0">
                    <a:solidFill>
                      <a:srgbClr val="111827"/>
                    </a:solidFill>
                    <a:latin typeface="Arial"/>
                  </a:rPr>
                  <a:t>   (B)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10510</m:t>
                    </m:r>
                  </m:oMath>
                </a14:m>
                <a:r>
                  <a:rPr sz="2400" b="0">
                    <a:solidFill>
                      <a:srgbClr val="111827"/>
                    </a:solidFill>
                    <a:latin typeface="Arial"/>
                  </a:rPr>
                  <a:t>   (C)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3454</m:t>
                    </m:r>
                  </m:oMath>
                </a14:m>
                <a:r>
                  <a:rPr sz="2400" b="0">
                    <a:solidFill>
                      <a:srgbClr val="111827"/>
                    </a:solidFill>
                    <a:latin typeface="Arial"/>
                  </a:rPr>
                  <a:t>   (D)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30</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35610</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$a_1,a_2,a_3,\ldots$</a:t>
                </a:r>
                <a:r>
                  <a:rPr sz="2400" b="0">
                    <a:solidFill>
                      <a:srgbClr val="111827"/>
                    </a:solidFill>
                    <a:latin typeface="Arial"/>
                  </a:rPr>
                  <a:t> be an arithmetic progression with </a:t>
                </a:r>
                <a:r>
                  <a:rPr lang="en-IN" sz="2400">
                    <a:solidFill>
                      <a:srgbClr val="111827"/>
                    </a:solidFill>
                    <a:latin typeface="Cambria Math" panose="02040503050406030204" pitchFamily="18" charset="0"/>
                  </a:rPr>
                  <a:t>$a_1=7$</a:t>
                </a:r>
                <a:r>
                  <a:rPr sz="2400" b="0">
                    <a:solidFill>
                      <a:srgbClr val="111827"/>
                    </a:solidFill>
                    <a:latin typeface="Arial"/>
                  </a:rPr>
                  <a:t> and common difference </a:t>
                </a:r>
                <a:r>
                  <a:rPr lang="en-IN" sz="2400">
                    <a:solidFill>
                      <a:srgbClr val="111827"/>
                    </a:solidFill>
                    <a:latin typeface="Cambria Math" panose="02040503050406030204" pitchFamily="18" charset="0"/>
                  </a:rPr>
                  <a:t>$8$</a:t>
                </a:r>
                <a:r>
                  <a:rPr sz="2400" b="0">
                    <a:solidFill>
                      <a:srgbClr val="111827"/>
                    </a:solidFill>
                    <a:latin typeface="Arial"/>
                  </a:rPr>
                  <a:t>. Let </a:t>
                </a:r>
                <a:r>
                  <a:rPr lang="en-IN" sz="2400">
                    <a:solidFill>
                      <a:srgbClr val="111827"/>
                    </a:solidFill>
                    <a:latin typeface="Cambria Math" panose="02040503050406030204" pitchFamily="18" charset="0"/>
                  </a:rPr>
                  <a:t>$T_1,T_2,T_3,\ldots$</a:t>
                </a:r>
                <a:r>
                  <a:rPr sz="2400" b="0">
                    <a:solidFill>
                      <a:srgbClr val="111827"/>
                    </a:solidFill>
                    <a:latin typeface="Arial"/>
                  </a:rPr>
                  <a:t> be such that </a:t>
                </a:r>
                <a:r>
                  <a:rPr lang="en-IN" sz="2400">
                    <a:solidFill>
                      <a:srgbClr val="111827"/>
                    </a:solidFill>
                    <a:latin typeface="Cambria Math" panose="02040503050406030204" pitchFamily="18" charset="0"/>
                  </a:rPr>
                  <a:t>$T_1=3$</a:t>
                </a:r>
                <a:r>
                  <a:rPr sz="2400" b="0">
                    <a:solidFill>
                      <a:srgbClr val="111827"/>
                    </a:solidFill>
                    <a:latin typeface="Arial"/>
                  </a:rPr>
                  <a:t> and </a:t>
                </a:r>
                <a:r>
                  <a:rPr lang="en-IN" sz="2400">
                    <a:solidFill>
                      <a:srgbClr val="111827"/>
                    </a:solidFill>
                    <a:latin typeface="Cambria Math" panose="02040503050406030204" pitchFamily="18" charset="0"/>
                  </a:rPr>
                  <a:t>$T_{n+1}-T_n=a_n$</a:t>
                </a:r>
                <a:r>
                  <a:rPr sz="2400" b="0">
                    <a:solidFill>
                      <a:srgbClr val="111827"/>
                    </a:solidFill>
                    <a:latin typeface="Arial"/>
                  </a:rPr>
                  <a:t> for </a:t>
                </a:r>
                <a:r>
                  <a:rPr lang="en-IN" sz="2400">
                    <a:solidFill>
                      <a:srgbClr val="111827"/>
                    </a:solidFill>
                    <a:latin typeface="Cambria Math" panose="02040503050406030204" pitchFamily="18" charset="0"/>
                  </a:rPr>
                  <a:t>$n\ge1$</a:t>
                </a:r>
                <a:r>
                  <a:rPr sz="2400" b="0">
                    <a:solidFill>
                      <a:srgbClr val="111827"/>
                    </a:solidFill>
                    <a:latin typeface="Arial"/>
                  </a:rPr>
                  <a:t>. Then, which of the following is/are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$T_{20}=1604$</a:t>
                </a:r>
                <a:r>
                  <a:rPr sz="2400" b="0">
                    <a:solidFill>
                      <a:srgbClr val="111827"/>
                    </a:solidFill>
                    <a:latin typeface="Arial"/>
                  </a:rPr>
                  <a:t>   (B) </a:t>
                </a:r>
                <a:r>
                  <a:rPr lang="en-IN" sz="2400">
                    <a:solidFill>
                      <a:srgbClr val="111827"/>
                    </a:solidFill>
                    <a:latin typeface="Cambria Math" panose="02040503050406030204" pitchFamily="18" charset="0"/>
                  </a:rPr>
                  <a:t>$\sum_{k=1}^{20}T_k=10510$</a:t>
                </a:r>
                <a:r>
                  <a:rPr sz="2400" b="0">
                    <a:solidFill>
                      <a:srgbClr val="111827"/>
                    </a:solidFill>
                    <a:latin typeface="Arial"/>
                  </a:rPr>
                  <a:t>   (C) </a:t>
                </a:r>
                <a:r>
                  <a:rPr lang="en-IN" sz="2400">
                    <a:solidFill>
                      <a:srgbClr val="111827"/>
                    </a:solidFill>
                    <a:latin typeface="Cambria Math" panose="02040503050406030204" pitchFamily="18" charset="0"/>
                  </a:rPr>
                  <a:t>$T_{30}=3454$</a:t>
                </a:r>
                <a:r>
                  <a:rPr sz="2400" b="0">
                    <a:solidFill>
                      <a:srgbClr val="111827"/>
                    </a:solidFill>
                    <a:latin typeface="Arial"/>
                  </a:rPr>
                  <a:t>   (D) </a:t>
                </a:r>
                <a:r>
                  <a:rPr lang="en-IN" sz="2400">
                    <a:solidFill>
                      <a:srgbClr val="111827"/>
                    </a:solidFill>
                    <a:latin typeface="Cambria Math" panose="02040503050406030204" pitchFamily="18" charset="0"/>
                  </a:rPr>
                  <a:t>$\sum_{k=1}^{30}T_k=35610$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Recurrence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and summation of series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Recurrence </a:t>
                </a:r>
                <a:r>
                  <a:rPr lang="en-IN" sz="2400">
                    <a:solidFill>
                      <a:srgbClr val="111827"/>
                    </a:solidFill>
                    <a:latin typeface="Cambria Math" panose="02040503050406030204" pitchFamily="18" charset="0"/>
                  </a:rPr>
                  <a:t>$T_{n+1}-T_n=a_n$</a:t>
                </a:r>
                <a:r>
                  <a:rPr sz="2400" b="0">
                    <a:solidFill>
                      <a:srgbClr val="111827"/>
                    </a:solidFill>
                    <a:latin typeface="Arial"/>
                  </a:rPr>
                  <a:t> and summation of series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Adding the differences gives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oMath>
                </a14:m>
                <a:r>
                  <a:rPr sz="2400" b="0">
                    <a:solidFill>
                      <a:srgbClr val="78350F"/>
                    </a:solidFill>
                    <a:latin typeface="Arial"/>
                  </a:rPr>
                  <a:t>, a quadratic in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whose sums follow from standard formulas.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Adding the differences gives </a:t>
                </a:r>
                <a:r>
                  <a:rPr lang="en-IN" sz="2400">
                    <a:solidFill>
                      <a:srgbClr val="78350F"/>
                    </a:solidFill>
                    <a:latin typeface="Cambria Math" panose="02040503050406030204" pitchFamily="18" charset="0"/>
                  </a:rPr>
                  <a:t>$T_n=T_1+a_1+\cdots+a_{n-1}$</a:t>
                </a:r>
                <a:r>
                  <a:rPr sz="2400" b="0">
                    <a:solidFill>
                      <a:srgbClr val="78350F"/>
                    </a:solidFill>
                    <a:latin typeface="Arial"/>
                  </a:rPr>
                  <a:t>, a quadratic in </a:t>
                </a:r>
                <a:r>
                  <a:rPr lang="en-IN" sz="2400">
                    <a:solidFill>
                      <a:srgbClr val="78350F"/>
                    </a:solidFill>
                    <a:latin typeface="Cambria Math" panose="02040503050406030204" pitchFamily="18" charset="0"/>
                  </a:rPr>
                  <a:t>$n$</a:t>
                </a:r>
                <a:r>
                  <a:rPr sz="2400" b="0">
                    <a:solidFill>
                      <a:srgbClr val="78350F"/>
                    </a:solidFill>
                    <a:latin typeface="Arial"/>
                  </a:rPr>
                  <a:t> whose sums follow from standard formulas.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(the PDF obtains this by subtracting two copies of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1604</m:t>
                    </m:r>
                  </m:oMath>
                </a14:m>
                <a:r>
                  <a:rPr sz="2400" b="0">
                    <a:solidFill>
                      <a:srgbClr val="111827"/>
                    </a:solidFill>
                    <a:latin typeface="Arial"/>
                  </a:rPr>
                  <a:t>: false.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$a_n=7+8(n-1)=8n-1$</a:t>
                </a:r>
                <a:r>
                  <a:rPr sz="2400" b="0">
                    <a:solidFill>
                      <a:srgbClr val="111827"/>
                    </a:solidFill>
                    <a:latin typeface="Arial"/>
                  </a:rPr>
                  <a:t>, and </a:t>
                </a:r>
                <a:r>
                  <a:rPr lang="en-IN" sz="2400">
                    <a:solidFill>
                      <a:srgbClr val="111827"/>
                    </a:solidFill>
                    <a:latin typeface="Cambria Math" panose="02040503050406030204" pitchFamily="18" charset="0"/>
                  </a:rPr>
                  <a:t>$T_{n+1}-T_n=a_n$</a:t>
                </a:r>
                <a:r>
                  <a:rPr sz="2400" b="0">
                    <a:solidFill>
                      <a:srgbClr val="111827"/>
                    </a:solidFill>
                    <a:latin typeface="Arial"/>
                  </a:rPr>
                  <a:t> for all </a:t>
                </a:r>
                <a:r>
                  <a:rPr lang="en-IN" sz="2400">
                    <a:solidFill>
                      <a:srgbClr val="111827"/>
                    </a:solidFill>
                    <a:latin typeface="Cambria Math" panose="02040503050406030204" pitchFamily="18" charset="0"/>
                  </a:rPr>
                  <a:t>$n\ge1$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t>
                </a:r>
                <a:r>
                  <a:rPr lang="en-IN" sz="2400">
                    <a:solidFill>
                      <a:srgbClr val="111827"/>
                    </a:solidFill>
                    <a:latin typeface="Cambria Math" panose="02040503050406030204" pitchFamily="18" charset="0"/>
                  </a:rPr>
                  <a:t>$T_2-T_1=a_1,\ T_3-T_2=a_2,\ \ldots,\ T_n-T_{n-1}=a_{n-1}$</a:t>
                </a:r>
                <a:r>
                  <a:rPr sz="2400" b="0">
                    <a:solidFill>
                      <a:srgbClr val="111827"/>
                    </a:solidFill>
                    <a:latin typeface="Arial"/>
                  </a:rPr>
                  <a:t> (the PDF obtains this by subtracting two copies of </a:t>
                </a:r>
                <a:r>
                  <a:rPr lang="en-IN" sz="2400">
                    <a:solidFill>
                      <a:srgbClr val="111827"/>
                    </a:solidFill>
                    <a:latin typeface="Cambria Math" panose="02040503050406030204" pitchFamily="18" charset="0"/>
                  </a:rPr>
                  <a:t>$S_n$</a:t>
                </a:r>
                <a:r>
                  <a:rPr sz="2400" b="0">
                    <a:solidFill>
                      <a:srgbClr val="111827"/>
                    </a:solidFill>
                    <a:latin typeface="Arial"/>
                  </a:rPr>
                  <a:t>): </a:t>
                </a:r>
                <a:r>
                  <a:rPr lang="en-IN" sz="2400">
                    <a:solidFill>
                      <a:srgbClr val="111827"/>
                    </a:solidFill>
                    <a:latin typeface="Cambria Math" panose="02040503050406030204" pitchFamily="18" charset="0"/>
                  </a:rPr>
                  <a:t>$T_n=T_1+a_1+a_2+\cdots+a_{n-1}$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$a_1+\cdots+a_{n-1}=\frac{n-1}2\left[2\cdot7+(n-2)8\right]=(n-1)(4n-1)$</a:t>
                </a:r>
                <a:r>
                  <a:rPr sz="2400" b="0">
                    <a:solidFill>
                      <a:srgbClr val="111827"/>
                    </a:solidFill>
                    <a:latin typeface="Arial"/>
                  </a:rPr>
                  <a:t>, so </a:t>
                </a:r>
                <a:r>
                  <a:rPr lang="en-IN" sz="2400">
                    <a:solidFill>
                      <a:srgbClr val="111827"/>
                    </a:solidFill>
                    <a:latin typeface="Cambria Math" panose="02040503050406030204" pitchFamily="18" charset="0"/>
                  </a:rPr>
                  <a:t>$T_n=3+(n-1)(4n-1)$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$T_n=4n^2-5n+4$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$T_{20}=4\cdot400-100+4=1504\neq1604$</a:t>
                </a:r>
                <a:r>
                  <a:rPr sz="2400" b="0">
                    <a:solidFill>
                      <a:srgbClr val="111827"/>
                    </a:solidFill>
                    <a:latin typeface="Arial"/>
                  </a:rPr>
                  <a:t>: false.</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3454</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10510</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9455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37820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35615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35610</m:t>
                    </m:r>
                  </m:oMath>
                </a14:m>
                <a:r>
                  <a:rPr sz="2400" b="0">
                    <a:solidFill>
                      <a:srgbClr val="111827"/>
                    </a:solidFill>
                    <a:latin typeface="Arial"/>
                  </a:rPr>
                  <a:t>: false. Answer: (B,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$T_{30}=4\cdot900-150+4=3454$</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$\sum_{k=1}^nT_k=4\sum k^2-5\sum k+4n$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$n=20$</a:t>
                </a:r>
                <a:r>
                  <a:rPr sz="2400" b="0">
                    <a:solidFill>
                      <a:srgbClr val="111827"/>
                    </a:solidFill>
                    <a:latin typeface="Arial"/>
                  </a:rPr>
                  <a:t>: </a:t>
                </a:r>
                <a:r>
                  <a:rPr lang="en-IN" sz="2400">
                    <a:solidFill>
                      <a:srgbClr val="111827"/>
                    </a:solidFill>
                    <a:latin typeface="Cambria Math" panose="02040503050406030204" pitchFamily="18" charset="0"/>
                  </a:rPr>
                  <a:t>$4\cdot2870-5\cdot210+80=11480-1050+80=10510$</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$n=30$</a:t>
                </a:r>
                <a:r>
                  <a:rPr sz="2400" b="0">
                    <a:solidFill>
                      <a:srgbClr val="111827"/>
                    </a:solidFill>
                    <a:latin typeface="Arial"/>
                  </a:rPr>
                  <a:t>: </a:t>
                </a:r>
                <a:r>
                  <a:rPr lang="en-IN" sz="2400">
                    <a:solidFill>
                      <a:srgbClr val="111827"/>
                    </a:solidFill>
                    <a:latin typeface="Cambria Math" panose="02040503050406030204" pitchFamily="18" charset="0"/>
                  </a:rPr>
                  <a:t>$4\cdot9455-5\cdot465+120=37820-2325+120=35615\neq35610$</a:t>
                </a:r>
                <a:r>
                  <a:rPr sz="2400" b="0">
                    <a:solidFill>
                      <a:srgbClr val="111827"/>
                    </a:solidFill>
                    <a:latin typeface="Arial"/>
                  </a:rPr>
                  <a:t>: false. Answer: (B,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C)</a:t>
            </a:r>
            <a:endParaRPr sz="2800">
              <a:solidFill>
                <a:srgbClr val="15803D"/>
              </a:solidFil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Newton's forward-difference form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m:rPr>
                            <m:sty m:val="p"/>
                          </m:rPr>
                          <a:rPr lang="en-IN" sz="2400">
                            <a:solidFill>
                              <a:srgbClr val="78350F"/>
                            </a:solidFill>
                            <a:latin typeface="Cambria Math" panose="02040503050406030204" pitchFamily="18" charset="0"/>
                          </a:rPr>
                          <m:t>Δ</m:t>
                        </m:r>
                      </m:e>
                      <m:sub>
                        <m:r>
                          <a:rPr lang="en-IN" sz="2400" i="1">
                            <a:solidFill>
                              <a:srgbClr val="78350F"/>
                            </a:solidFill>
                            <a:latin typeface="Cambria Math" panose="02040503050406030204" pitchFamily="18" charset="0"/>
                          </a:rPr>
                          <m:t>1</m:t>
                        </m:r>
                      </m:sub>
                    </m:sSub>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m:t>
                            </m:r>
                          </m:den>
                        </m:f>
                      </m:e>
                    </m:d>
                    <m:r>
                      <m:rPr>
                        <m:sty m:val="p"/>
                      </m:rPr>
                      <a:rPr lang="en-IN" sz="2400">
                        <a:solidFill>
                          <a:srgbClr val="78350F"/>
                        </a:solidFill>
                        <a:latin typeface="Cambria Math" panose="02040503050406030204" pitchFamily="18" charset="0"/>
                      </a:rPr>
                      <m:t>+</m:t>
                    </m:r>
                    <m:sSub>
                      <m:e>
                        <m:r>
                          <m:rPr>
                            <m:sty m:val="p"/>
                          </m:rPr>
                          <a:rPr lang="en-IN" sz="2400">
                            <a:solidFill>
                              <a:srgbClr val="78350F"/>
                            </a:solidFill>
                            <a:latin typeface="Cambria Math" panose="02040503050406030204" pitchFamily="18" charset="0"/>
                          </a:rPr>
                          <m:t>Δ</m:t>
                        </m:r>
                      </m:e>
                      <m:sub>
                        <m:r>
                          <a:rPr lang="en-IN" sz="2400" i="1">
                            <a:solidFill>
                              <a:srgbClr val="78350F"/>
                            </a:solidFill>
                            <a:latin typeface="Cambria Math" panose="02040503050406030204" pitchFamily="18" charset="0"/>
                          </a:rPr>
                          <m:t>2</m:t>
                        </m:r>
                      </m:sub>
                    </m:sSub>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e>
                    </m:d>
                  </m:oMath>
                </a14:m>
                <a:r>
                  <a:rPr sz="2400" b="0">
                    <a:solidFill>
                      <a:srgbClr val="78350F"/>
                    </a:solidFill>
                    <a:latin typeface="Arial"/>
                  </a:rPr>
                  <a:t> and sum it with the hockey-stick identity.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Newton's forward-difference form </a:t>
                </a:r>
                <a:r>
                  <a:rPr lang="en-IN" sz="2400">
                    <a:solidFill>
                      <a:srgbClr val="78350F"/>
                    </a:solidFill>
                    <a:latin typeface="Cambria Math" panose="02040503050406030204" pitchFamily="18" charset="0"/>
                  </a:rPr>
                  <a:t>$T_n=T_1+\Delta_1\binom{n-1}1+\Delta_2\binom{n-1}2$</a:t>
                </a:r>
                <a:r>
                  <a:rPr sz="2400" b="0">
                    <a:solidFill>
                      <a:srgbClr val="78350F"/>
                    </a:solidFill>
                    <a:latin typeface="Arial"/>
                  </a:rPr>
                  <a:t> and sum it with the hockey-stick identity.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Differences: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second difference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constant. So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a quadratic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Newton form: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3454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Hockey-stick: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𝑗</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so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Differences: </a:t>
                </a:r>
                <a:r>
                  <a:rPr lang="en-IN" sz="2400">
                    <a:solidFill>
                      <a:srgbClr val="111827"/>
                    </a:solidFill>
                    <a:latin typeface="Cambria Math" panose="02040503050406030204" pitchFamily="18" charset="0"/>
                  </a:rPr>
                  <a:t>$T_1=3$</a:t>
                </a:r>
                <a:r>
                  <a:rPr sz="2400" b="0">
                    <a:solidFill>
                      <a:srgbClr val="111827"/>
                    </a:solidFill>
                    <a:latin typeface="Arial"/>
                  </a:rPr>
                  <a:t>; </a:t>
                </a:r>
                <a:r>
                  <a:rPr lang="en-IN" sz="2400">
                    <a:solidFill>
                      <a:srgbClr val="111827"/>
                    </a:solidFill>
                    <a:latin typeface="Cambria Math" panose="02040503050406030204" pitchFamily="18" charset="0"/>
                  </a:rPr>
                  <a:t>$T_2-T_1=a_1=7$</a:t>
                </a:r>
                <a:r>
                  <a:rPr sz="2400" b="0">
                    <a:solidFill>
                      <a:srgbClr val="111827"/>
                    </a:solidFill>
                    <a:latin typeface="Arial"/>
                  </a:rPr>
                  <a:t>; </a:t>
                </a:r>
                <a:r>
                  <a:rPr lang="en-IN" sz="2400">
                    <a:solidFill>
                      <a:srgbClr val="111827"/>
                    </a:solidFill>
                    <a:latin typeface="Cambria Math" panose="02040503050406030204" pitchFamily="18" charset="0"/>
                  </a:rPr>
                  <a:t>$T_3-T_2=a_2=15$</a:t>
                </a:r>
                <a:r>
                  <a:rPr sz="2400" b="0">
                    <a:solidFill>
                      <a:srgbClr val="111827"/>
                    </a:solidFill>
                    <a:latin typeface="Arial"/>
                  </a:rPr>
                  <a:t>; second difference </a:t>
                </a:r>
                <a:r>
                  <a:rPr lang="en-IN" sz="2400">
                    <a:solidFill>
                      <a:srgbClr val="111827"/>
                    </a:solidFill>
                    <a:latin typeface="Cambria Math" panose="02040503050406030204" pitchFamily="18" charset="0"/>
                  </a:rPr>
                  <a:t>$=8$</a:t>
                </a:r>
                <a:r>
                  <a:rPr sz="2400" b="0">
                    <a:solidFill>
                      <a:srgbClr val="111827"/>
                    </a:solidFill>
                    <a:latin typeface="Arial"/>
                  </a:rPr>
                  <a:t>, constant. So </a:t>
                </a:r>
                <a:r>
                  <a:rPr lang="en-IN" sz="2400">
                    <a:solidFill>
                      <a:srgbClr val="111827"/>
                    </a:solidFill>
                    <a:latin typeface="Cambria Math" panose="02040503050406030204" pitchFamily="18" charset="0"/>
                  </a:rPr>
                  <a:t>$T_n$</a:t>
                </a:r>
                <a:r>
                  <a:rPr sz="2400" b="0">
                    <a:solidFill>
                      <a:srgbClr val="111827"/>
                    </a:solidFill>
                    <a:latin typeface="Arial"/>
                  </a:rPr>
                  <a:t> is a quadratic in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Newton form: </a:t>
                </a:r>
                <a:r>
                  <a:rPr lang="en-IN" sz="2400">
                    <a:solidFill>
                      <a:srgbClr val="111827"/>
                    </a:solidFill>
                    <a:latin typeface="Cambria Math" panose="02040503050406030204" pitchFamily="18" charset="0"/>
                  </a:rPr>
                  <a:t>$T_n=3+7\binom{n-1}1+8\binom{n-1}2$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$T_{20}=3+7\cdot19+8\cdot171=1504$</a:t>
                </a:r>
                <a:r>
                  <a:rPr sz="2400" b="0">
                    <a:solidFill>
                      <a:srgbClr val="111827"/>
                    </a:solidFill>
                    <a:latin typeface="Arial"/>
                  </a:rPr>
                  <a:t> and </a:t>
                </a:r>
                <a:r>
                  <a:rPr lang="en-IN" sz="2400">
                    <a:solidFill>
                      <a:srgbClr val="111827"/>
                    </a:solidFill>
                    <a:latin typeface="Cambria Math" panose="02040503050406030204" pitchFamily="18" charset="0"/>
                  </a:rPr>
                  <a:t>$T_{30}=3+7\cdot29+8\cdot406=3454$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Hockey-stick: </a:t>
                </a:r>
                <a:r>
                  <a:rPr lang="en-IN" sz="2400">
                    <a:solidFill>
                      <a:srgbClr val="111827"/>
                    </a:solidFill>
                    <a:latin typeface="Cambria Math" panose="02040503050406030204" pitchFamily="18" charset="0"/>
                  </a:rPr>
                  <a:t>$\sum_{k=1}^n\binom{k-1}j=\binom n{j+1}$</a:t>
                </a:r>
                <a:r>
                  <a:rPr sz="2400" b="0">
                    <a:solidFill>
                      <a:srgbClr val="111827"/>
                    </a:solidFill>
                    <a:latin typeface="Arial"/>
                  </a:rPr>
                  <a:t>, so </a:t>
                </a:r>
                <a:r>
                  <a:rPr lang="en-IN" sz="2400">
                    <a:solidFill>
                      <a:srgbClr val="111827"/>
                    </a:solidFill>
                    <a:latin typeface="Cambria Math" panose="02040503050406030204" pitchFamily="18" charset="0"/>
                  </a:rPr>
                  <a:t>$\sum_{k=1}^nT_k=3\binom n1+7\binom n2+8\binom n3$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35615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 and (D) are false; (B) and (C) are true. Answer: (B,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$n=20$</a:t>
                </a:r>
                <a:r>
                  <a:rPr sz="2400" b="0">
                    <a:solidFill>
                      <a:srgbClr val="111827"/>
                    </a:solidFill>
                    <a:latin typeface="Arial"/>
                  </a:rPr>
                  <a:t>: </a:t>
                </a:r>
                <a:r>
                  <a:rPr lang="en-IN" sz="2400">
                    <a:solidFill>
                      <a:srgbClr val="111827"/>
                    </a:solidFill>
                    <a:latin typeface="Cambria Math" panose="02040503050406030204" pitchFamily="18" charset="0"/>
                  </a:rPr>
                  <a:t>$60+7\cdot190+8\cdot1140=60+1330+9120=10510$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$n=30$</a:t>
                </a:r>
                <a:r>
                  <a:rPr sz="2400" b="0">
                    <a:solidFill>
                      <a:srgbClr val="111827"/>
                    </a:solidFill>
                    <a:latin typeface="Arial"/>
                  </a:rPr>
                  <a:t>: </a:t>
                </a:r>
                <a:r>
                  <a:rPr lang="en-IN" sz="2400">
                    <a:solidFill>
                      <a:srgbClr val="111827"/>
                    </a:solidFill>
                    <a:latin typeface="Cambria Math" panose="02040503050406030204" pitchFamily="18" charset="0"/>
                  </a:rPr>
                  <a:t>$90+7\cdot435+8\cdot4060=90+3045+32480=35615$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 and (D) are false; (B) and (C) are true. Answer: (B,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C)</a:t>
            </a:r>
            <a:endParaRPr sz="2800">
              <a:solidFill>
                <a:srgbClr val="15803D"/>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an A.P. of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a quadratic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leading coefficient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 quadratic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would give a cubic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Newton's form: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𝑗</m:t>
                            </m:r>
                          </m:sup>
                        </m:sSup>
                      </m:e>
                    </m:nary>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(hockey-stick). This avoids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formulas.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of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it gives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matching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$T_{n+1}-T_n=a_n$</a:t>
                </a:r>
                <a:r>
                  <a:rPr sz="2400" b="0">
                    <a:solidFill>
                      <a:srgbClr val="111827"/>
                    </a:solidFill>
                    <a:latin typeface="Arial"/>
                  </a:rPr>
                  <a:t> with </a:t>
                </a:r>
                <a:r>
                  <a:rPr lang="en-IN" sz="2400">
                    <a:solidFill>
                      <a:srgbClr val="111827"/>
                    </a:solidFill>
                    <a:latin typeface="Cambria Math" panose="02040503050406030204" pitchFamily="18" charset="0"/>
                  </a:rPr>
                  <a:t>$a_n$</a:t>
                </a:r>
                <a:r>
                  <a:rPr sz="2400" b="0">
                    <a:solidFill>
                      <a:srgbClr val="111827"/>
                    </a:solidFill>
                    <a:latin typeface="Arial"/>
                  </a:rPr>
                  <a:t> an A.P. of difference </a:t>
                </a:r>
                <a:r>
                  <a:rPr lang="en-IN" sz="2400">
                    <a:solidFill>
                      <a:srgbClr val="111827"/>
                    </a:solidFill>
                    <a:latin typeface="Cambria Math" panose="02040503050406030204" pitchFamily="18" charset="0"/>
                  </a:rPr>
                  <a:t>$d$</a:t>
                </a:r>
                <a:r>
                  <a:rPr sz="2400" b="0">
                    <a:solidFill>
                      <a:srgbClr val="111827"/>
                    </a:solidFill>
                    <a:latin typeface="Arial"/>
                  </a:rPr>
                  <a:t>, then </a:t>
                </a:r>
                <a:r>
                  <a:rPr lang="en-IN" sz="2400">
                    <a:solidFill>
                      <a:srgbClr val="111827"/>
                    </a:solidFill>
                    <a:latin typeface="Cambria Math" panose="02040503050406030204" pitchFamily="18" charset="0"/>
                  </a:rPr>
                  <a:t>$T_n$</a:t>
                </a:r>
                <a:r>
                  <a:rPr sz="2400" b="0">
                    <a:solidFill>
                      <a:srgbClr val="111827"/>
                    </a:solidFill>
                    <a:latin typeface="Arial"/>
                  </a:rPr>
                  <a:t> is a quadratic in </a:t>
                </a:r>
                <a:r>
                  <a:rPr lang="en-IN" sz="2400">
                    <a:solidFill>
                      <a:srgbClr val="111827"/>
                    </a:solidFill>
                    <a:latin typeface="Cambria Math" panose="02040503050406030204" pitchFamily="18" charset="0"/>
                  </a:rPr>
                  <a:t>$n$</a:t>
                </a:r>
                <a:r>
                  <a:rPr sz="2400" b="0">
                    <a:solidFill>
                      <a:srgbClr val="111827"/>
                    </a:solidFill>
                    <a:latin typeface="Arial"/>
                  </a:rPr>
                  <a:t> with leading coefficient </a:t>
                </a:r>
                <a:r>
                  <a:rPr lang="en-IN" sz="2400">
                    <a:solidFill>
                      <a:srgbClr val="111827"/>
                    </a:solidFill>
                    <a:latin typeface="Cambria Math" panose="02040503050406030204" pitchFamily="18" charset="0"/>
                  </a:rPr>
                  <a:t>$\frac d2$</a:t>
                </a:r>
                <a:r>
                  <a:rPr sz="2400" b="0">
                    <a:solidFill>
                      <a:srgbClr val="111827"/>
                    </a:solidFill>
                    <a:latin typeface="Arial"/>
                  </a:rPr>
                  <a:t> (here </a:t>
                </a:r>
                <a:r>
                  <a:rPr lang="en-IN" sz="2400">
                    <a:solidFill>
                      <a:srgbClr val="111827"/>
                    </a:solidFill>
                    <a:latin typeface="Cambria Math" panose="02040503050406030204" pitchFamily="18" charset="0"/>
                  </a:rPr>
                  <a:t>$4$</a:t>
                </a:r>
                <a:r>
                  <a:rPr sz="2400" b="0">
                    <a:solidFill>
                      <a:srgbClr val="111827"/>
                    </a:solidFill>
                    <a:latin typeface="Arial"/>
                  </a:rPr>
                  <a:t>); a quadratic </a:t>
                </a:r>
                <a:r>
                  <a:rPr lang="en-IN" sz="2400">
                    <a:solidFill>
                      <a:srgbClr val="111827"/>
                    </a:solidFill>
                    <a:latin typeface="Cambria Math" panose="02040503050406030204" pitchFamily="18" charset="0"/>
                  </a:rPr>
                  <a:t>$a_n$</a:t>
                </a:r>
                <a:r>
                  <a:rPr sz="2400" b="0">
                    <a:solidFill>
                      <a:srgbClr val="111827"/>
                    </a:solidFill>
                    <a:latin typeface="Arial"/>
                  </a:rPr>
                  <a:t> would give a cubic </a:t>
                </a:r>
                <a:r>
                  <a:rPr lang="en-IN" sz="2400">
                    <a:solidFill>
                      <a:srgbClr val="111827"/>
                    </a:solidFill>
                    <a:latin typeface="Cambria Math" panose="02040503050406030204" pitchFamily="18" charset="0"/>
                  </a:rPr>
                  <a:t>$T_n$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Newton's form: </a:t>
                </a:r>
                <a:r>
                  <a:rPr lang="en-IN" sz="2400">
                    <a:solidFill>
                      <a:srgbClr val="111827"/>
                    </a:solidFill>
                    <a:latin typeface="Cambria Math" panose="02040503050406030204" pitchFamily="18" charset="0"/>
                  </a:rPr>
                  <a:t>$T_n=T_1+\Delta T_1\binom{n-1}1+\Delta^2T_1\binom{n-1}2+\cdots$</a:t>
                </a:r>
                <a:r>
                  <a:rPr sz="2400" b="0">
                    <a:solidFill>
                      <a:srgbClr val="111827"/>
                    </a:solidFill>
                    <a:latin typeface="Arial"/>
                  </a:rPr>
                  <a:t> and </a:t>
                </a:r>
                <a:r>
                  <a:rPr lang="en-IN" sz="2400">
                    <a:solidFill>
                      <a:srgbClr val="111827"/>
                    </a:solidFill>
                    <a:latin typeface="Cambria Math" panose="02040503050406030204" pitchFamily="18" charset="0"/>
                  </a:rPr>
                  <a:t>$\sum_{k\le n}T_k=\sum_j\Delta^jT_1\binom n{j+1}$</a:t>
                </a:r>
                <a:r>
                  <a:rPr sz="2400" b="0">
                    <a:solidFill>
                      <a:srgbClr val="111827"/>
                    </a:solidFill>
                    <a:latin typeface="Arial"/>
                  </a:rPr>
                  <a:t> (hockey-stick). This avoids </a:t>
                </a:r>
                <a:r>
                  <a:rPr lang="en-IN" sz="2400">
                    <a:solidFill>
                      <a:srgbClr val="111827"/>
                    </a:solidFill>
                    <a:latin typeface="Cambria Math" panose="02040503050406030204" pitchFamily="18" charset="0"/>
                  </a:rPr>
                  <a:t>$\sum k^2$</a:t>
                </a:r>
                <a:r>
                  <a:rPr sz="2400" b="0">
                    <a:solidFill>
                      <a:srgbClr val="111827"/>
                    </a:solidFill>
                    <a:latin typeface="Arial"/>
                  </a:rPr>
                  <a:t> formulas.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of </a:t>
                </a:r>
                <a:r>
                  <a:rPr lang="en-IN" sz="2400">
                    <a:solidFill>
                      <a:srgbClr val="111827"/>
                    </a:solidFill>
                    <a:latin typeface="Cambria Math" panose="02040503050406030204" pitchFamily="18" charset="0"/>
                  </a:rPr>
                  <a:t>$T_n=4n^2-5n+4$</a:t>
                </a:r>
                <a:r>
                  <a:rPr sz="2400" b="0">
                    <a:solidFill>
                      <a:srgbClr val="111827"/>
                    </a:solidFill>
                    <a:latin typeface="Arial"/>
                  </a:rPr>
                  <a:t>: it gives </a:t>
                </a:r>
                <a:r>
                  <a:rPr lang="en-IN" sz="2400">
                    <a:solidFill>
                      <a:srgbClr val="111827"/>
                    </a:solidFill>
                    <a:latin typeface="Cambria Math" panose="02040503050406030204" pitchFamily="18" charset="0"/>
                  </a:rPr>
                  <a:t>$T_1=3$</a:t>
                </a:r>
                <a:r>
                  <a:rPr sz="2400" b="0">
                    <a:solidFill>
                      <a:srgbClr val="111827"/>
                    </a:solidFill>
                    <a:latin typeface="Arial"/>
                  </a:rPr>
                  <a:t>, </a:t>
                </a:r>
                <a:r>
                  <a:rPr lang="en-IN" sz="2400">
                    <a:solidFill>
                      <a:srgbClr val="111827"/>
                    </a:solidFill>
                    <a:latin typeface="Cambria Math" panose="02040503050406030204" pitchFamily="18" charset="0"/>
                  </a:rPr>
                  <a:t>$T_2=10$</a:t>
                </a:r>
                <a:r>
                  <a:rPr sz="2400" b="0">
                    <a:solidFill>
                      <a:srgbClr val="111827"/>
                    </a:solidFill>
                    <a:latin typeface="Arial"/>
                  </a:rPr>
                  <a:t>, </a:t>
                </a:r>
                <a:r>
                  <a:rPr lang="en-IN" sz="2400">
                    <a:solidFill>
                      <a:srgbClr val="111827"/>
                    </a:solidFill>
                    <a:latin typeface="Cambria Math" panose="02040503050406030204" pitchFamily="18" charset="0"/>
                  </a:rPr>
                  <a:t>$T_3=25$</a:t>
                </a:r>
                <a:r>
                  <a:rPr sz="2400" b="0">
                    <a:solidFill>
                      <a:srgbClr val="111827"/>
                    </a:solidFill>
                    <a:latin typeface="Arial"/>
                  </a:rPr>
                  <a:t>, matching </a:t>
                </a:r>
                <a:r>
                  <a:rPr lang="en-IN" sz="2400">
                    <a:solidFill>
                      <a:srgbClr val="111827"/>
                    </a:solidFill>
                    <a:latin typeface="Cambria Math" panose="02040503050406030204" pitchFamily="18" charset="0"/>
                  </a:rPr>
                  <a:t>$3,\,3+7,\,10+15$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denote the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-digit number whose first and last digits are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and whose remaining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digits are all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7557</m:t>
                    </m:r>
                  </m:oMath>
                </a14:m>
                <a:r>
                  <a:rPr sz="2400" b="0">
                    <a:solidFill>
                      <a:srgbClr val="111827"/>
                    </a:solidFill>
                    <a:latin typeface="Arial"/>
                  </a:rPr>
                  <a:t>). Consider the sum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7557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98</m:t>
                        </m:r>
                      </m:sub>
                    </m:sSub>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are natural numbers less than </a:t>
                </a:r>
                <a14:m>
                  <m:oMath xmlns:m="http://schemas.openxmlformats.org/officeDocument/2006/math">
                    <m:r>
                      <a:rPr lang="en-IN" sz="2400" i="1">
                        <a:solidFill>
                          <a:srgbClr val="111827"/>
                        </a:solidFill>
                        <a:latin typeface="Cambria Math" panose="02040503050406030204" pitchFamily="18" charset="0"/>
                      </a:rPr>
                      <m:t>3000</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__________.</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$N_r$</a:t>
                </a:r>
                <a:r>
                  <a:rPr sz="2400" b="0">
                    <a:solidFill>
                      <a:srgbClr val="111827"/>
                    </a:solidFill>
                    <a:latin typeface="Arial"/>
                  </a:rPr>
                  <a:t> denote the </a:t>
                </a:r>
                <a:r>
                  <a:rPr lang="en-IN" sz="2400">
                    <a:solidFill>
                      <a:srgbClr val="111827"/>
                    </a:solidFill>
                    <a:latin typeface="Cambria Math" panose="02040503050406030204" pitchFamily="18" charset="0"/>
                  </a:rPr>
                  <a:t>$(r+2)$</a:t>
                </a:r>
                <a:r>
                  <a:rPr sz="2400" b="0">
                    <a:solidFill>
                      <a:srgbClr val="111827"/>
                    </a:solidFill>
                    <a:latin typeface="Arial"/>
                  </a:rPr>
                  <a:t>-digit number whose first and last digits are </a:t>
                </a:r>
                <a:r>
                  <a:rPr lang="en-IN" sz="2400">
                    <a:solidFill>
                      <a:srgbClr val="111827"/>
                    </a:solidFill>
                    <a:latin typeface="Cambria Math" panose="02040503050406030204" pitchFamily="18" charset="0"/>
                  </a:rPr>
                  <a:t>$7$</a:t>
                </a:r>
                <a:r>
                  <a:rPr sz="2400" b="0">
                    <a:solidFill>
                      <a:srgbClr val="111827"/>
                    </a:solidFill>
                    <a:latin typeface="Arial"/>
                  </a:rPr>
                  <a:t> and whose remaining </a:t>
                </a:r>
                <a:r>
                  <a:rPr lang="en-IN" sz="2400">
                    <a:solidFill>
                      <a:srgbClr val="111827"/>
                    </a:solidFill>
                    <a:latin typeface="Cambria Math" panose="02040503050406030204" pitchFamily="18" charset="0"/>
                  </a:rPr>
                  <a:t>$r$</a:t>
                </a:r>
                <a:r>
                  <a:rPr sz="2400" b="0">
                    <a:solidFill>
                      <a:srgbClr val="111827"/>
                    </a:solidFill>
                    <a:latin typeface="Arial"/>
                  </a:rPr>
                  <a:t> digits are all </a:t>
                </a:r>
                <a:r>
                  <a:rPr lang="en-IN" sz="2400">
                    <a:solidFill>
                      <a:srgbClr val="111827"/>
                    </a:solidFill>
                    <a:latin typeface="Cambria Math" panose="02040503050406030204" pitchFamily="18" charset="0"/>
                  </a:rPr>
                  <a:t>$5$</a:t>
                </a:r>
                <a:r>
                  <a:rPr sz="2400" b="0">
                    <a:solidFill>
                      <a:srgbClr val="111827"/>
                    </a:solidFill>
                    <a:latin typeface="Arial"/>
                  </a:rPr>
                  <a:t> (so </a:t>
                </a:r>
                <a:r>
                  <a:rPr lang="en-IN" sz="2400">
                    <a:solidFill>
                      <a:srgbClr val="111827"/>
                    </a:solidFill>
                    <a:latin typeface="Cambria Math" panose="02040503050406030204" pitchFamily="18" charset="0"/>
                  </a:rPr>
                  <a:t>$N_0=77$</a:t>
                </a:r>
                <a:r>
                  <a:rPr sz="2400" b="0">
                    <a:solidFill>
                      <a:srgbClr val="111827"/>
                    </a:solidFill>
                    <a:latin typeface="Arial"/>
                  </a:rPr>
                  <a:t>, </a:t>
                </a:r>
                <a:r>
                  <a:rPr lang="en-IN" sz="2400">
                    <a:solidFill>
                      <a:srgbClr val="111827"/>
                    </a:solidFill>
                    <a:latin typeface="Cambria Math" panose="02040503050406030204" pitchFamily="18" charset="0"/>
                  </a:rPr>
                  <a:t>$N_1=757$</a:t>
                </a:r>
                <a:r>
                  <a:rPr sz="2400" b="0">
                    <a:solidFill>
                      <a:srgbClr val="111827"/>
                    </a:solidFill>
                    <a:latin typeface="Arial"/>
                  </a:rPr>
                  <a:t>, </a:t>
                </a:r>
                <a:r>
                  <a:rPr lang="en-IN" sz="2400">
                    <a:solidFill>
                      <a:srgbClr val="111827"/>
                    </a:solidFill>
                    <a:latin typeface="Cambria Math" panose="02040503050406030204" pitchFamily="18" charset="0"/>
                  </a:rPr>
                  <a:t>$N_2=7557$</a:t>
                </a:r>
                <a:r>
                  <a:rPr sz="2400" b="0">
                    <a:solidFill>
                      <a:srgbClr val="111827"/>
                    </a:solidFill>
                    <a:latin typeface="Arial"/>
                  </a:rPr>
                  <a:t>). Consider the sum </a:t>
                </a:r>
                <a:r>
                  <a:rPr lang="en-IN" sz="2400">
                    <a:solidFill>
                      <a:srgbClr val="111827"/>
                    </a:solidFill>
                    <a:latin typeface="Cambria Math" panose="02040503050406030204" pitchFamily="18" charset="0"/>
                  </a:rPr>
                  <a:t>$S=77+757+7557+\cdots+N_{98}$</a:t>
                </a:r>
                <a:r>
                  <a:rPr sz="2400" b="0">
                    <a:solidFill>
                      <a:srgbClr val="111827"/>
                    </a:solidFill>
                    <a:latin typeface="Arial"/>
                  </a:rPr>
                  <a:t>. If </a:t>
                </a:r>
                <a:r>
                  <a:rPr lang="en-IN" sz="2400">
                    <a:solidFill>
                      <a:srgbClr val="111827"/>
                    </a:solidFill>
                    <a:latin typeface="Cambria Math" panose="02040503050406030204" pitchFamily="18" charset="0"/>
                  </a:rPr>
                  <a:t>$S=\frac{N_{99}+m}n$</a:t>
                </a:r>
                <a:r>
                  <a:rPr sz="2400" b="0">
                    <a:solidFill>
                      <a:srgbClr val="111827"/>
                    </a:solidFill>
                    <a:latin typeface="Arial"/>
                  </a:rPr>
                  <a:t>, where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are natural numbers less than </a:t>
                </a:r>
                <a:r>
                  <a:rPr lang="en-IN" sz="2400">
                    <a:solidFill>
                      <a:srgbClr val="111827"/>
                    </a:solidFill>
                    <a:latin typeface="Cambria Math" panose="02040503050406030204" pitchFamily="18" charset="0"/>
                  </a:rPr>
                  <a:t>$3000$</a:t>
                </a:r>
                <a:r>
                  <a:rPr sz="2400" b="0">
                    <a:solidFill>
                      <a:srgbClr val="111827"/>
                    </a:solidFill>
                    <a:latin typeface="Arial"/>
                  </a:rPr>
                  <a:t>, then the value of </a:t>
                </a:r>
                <a:r>
                  <a:rPr lang="en-IN" sz="2400">
                    <a:solidFill>
                      <a:srgbClr val="111827"/>
                    </a:solidFill>
                    <a:latin typeface="Cambria Math" panose="02040503050406030204" pitchFamily="18" charset="0"/>
                  </a:rPr>
                  <a:t>$m+n$</a:t>
                </a:r>
                <a:r>
                  <a:rPr sz="2400" b="0">
                    <a:solidFill>
                      <a:srgbClr val="111827"/>
                    </a:solidFill>
                    <a:latin typeface="Arial"/>
                  </a:rPr>
                  <a:t> is __________.</a:t>
                </a:r>
                <a:endParaRPr sz="2400">
                  <a:solidFill>
                    <a:srgbClr val="111827"/>
                  </a:solidFill>
                </a:endParaRPr>
              </a:p>
            </p:txBody>
          </p:sp>
        </mc:Fallback>
      </mc:AlternateContent>
      <p:sp>
        <p:nvSpPr>
          <p:cNvPr id="5" name="Rectangle 4"/>
          <p:cNvSpPr/>
          <p:nvPr/>
        </p:nvSpPr>
        <p:spPr>
          <a:xfrm>
            <a:off x="731520" y="43703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series of repeated-digit numbers using a G.P.</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each term as </a:t>
                </a:r>
                <a14:m>
                  <m:oMath xmlns:m="http://schemas.openxmlformats.org/officeDocument/2006/math">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10</m:t>
                        </m:r>
                      </m:e>
                      <m:sup>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𝑟</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𝑟</m:t>
                        </m:r>
                      </m:sub>
                    </m:sSub>
                  </m:oMath>
                </a14:m>
                <a:r>
                  <a:rPr sz="2400" b="0">
                    <a:solidFill>
                      <a:srgbClr val="78350F"/>
                    </a:solidFill>
                    <a:latin typeface="Arial"/>
                  </a:rPr>
                  <a:t> = repunit) and sum the two geometric-type series.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each term as </a:t>
                </a:r>
                <a:r>
                  <a:rPr lang="en-IN" sz="2400">
                    <a:solidFill>
                      <a:srgbClr val="78350F"/>
                    </a:solidFill>
                    <a:latin typeface="Cambria Math" panose="02040503050406030204" pitchFamily="18" charset="0"/>
                  </a:rPr>
                  <a:t>$7\cdot10^{r+1}+50R_r+7$</a:t>
                </a:r>
                <a:r>
                  <a:rPr sz="2400" b="0">
                    <a:solidFill>
                      <a:srgbClr val="78350F"/>
                    </a:solidFill>
                    <a:latin typeface="Arial"/>
                  </a:rPr>
                  <a:t> (</a:t>
                </a:r>
                <a:r>
                  <a:rPr lang="en-IN" sz="2400">
                    <a:solidFill>
                      <a:srgbClr val="78350F"/>
                    </a:solidFill>
                    <a:latin typeface="Cambria Math" panose="02040503050406030204" pitchFamily="18" charset="0"/>
                  </a:rPr>
                  <a:t>$R_r$</a:t>
                </a:r>
                <a:r>
                  <a:rPr sz="2400" b="0">
                    <a:solidFill>
                      <a:srgbClr val="78350F"/>
                    </a:solidFill>
                    <a:latin typeface="Arial"/>
                  </a:rPr>
                  <a:t> = repunit) and sum the two geometric-type series.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ones,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98</m:t>
                        </m:r>
                      </m:sup>
                      <m:e>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𝑟</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99</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98</m:t>
                            </m:r>
                          </m:sub>
                        </m:sSub>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99</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98</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$R_r=11\ldots1$</a:t>
                </a:r>
                <a:r>
                  <a:rPr sz="2400" b="0">
                    <a:solidFill>
                      <a:srgbClr val="111827"/>
                    </a:solidFill>
                    <a:latin typeface="Arial"/>
                  </a:rPr>
                  <a:t> (</a:t>
                </a:r>
                <a:r>
                  <a:rPr lang="en-IN" sz="2400">
                    <a:solidFill>
                      <a:srgbClr val="111827"/>
                    </a:solidFill>
                    <a:latin typeface="Cambria Math" panose="02040503050406030204" pitchFamily="18" charset="0"/>
                  </a:rPr>
                  <a:t>$r$</a:t>
                </a:r>
                <a:r>
                  <a:rPr sz="2400" b="0">
                    <a:solidFill>
                      <a:srgbClr val="111827"/>
                    </a:solidFill>
                    <a:latin typeface="Arial"/>
                  </a:rPr>
                  <a:t> ones, </a:t>
                </a:r>
                <a:r>
                  <a:rPr lang="en-IN" sz="2400">
                    <a:solidFill>
                      <a:srgbClr val="111827"/>
                    </a:solidFill>
                    <a:latin typeface="Cambria Math" panose="02040503050406030204" pitchFamily="18" charset="0"/>
                  </a:rPr>
                  <a:t>$R_0=0$</a:t>
                </a:r>
                <a:r>
                  <a:rPr sz="2400" b="0">
                    <a:solidFill>
                      <a:srgbClr val="111827"/>
                    </a:solidFill>
                    <a:latin typeface="Arial"/>
                  </a:rPr>
                  <a:t>). Then </a:t>
                </a:r>
                <a:r>
                  <a:rPr lang="en-IN" sz="2400">
                    <a:solidFill>
                      <a:srgbClr val="111827"/>
                    </a:solidFill>
                    <a:latin typeface="Cambria Math" panose="02040503050406030204" pitchFamily="18" charset="0"/>
                  </a:rPr>
                  <a:t>$N_r=7\cdot10^{r+1}+5\left(10^r+\cdots+10\right)+7=7\cdot10^{r+1}+50R_r+7$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$S=\sum_{r=0}^{98}N_r=7\left(10+10^2+\cdots+10^{99}\right)+50\left(1+11+\cdots+R_{98}\right)+7\times99$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$7\left(10+\cdots+10^{99}\right)=70\cdot\frac{10^{99}-1}9$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$1+11+\cdots+R_{98}=\frac19\left[(10-1)+(10^2-1)+\cdots+(10^{98}-1)\right]=\frac19\left[10\cdot\frac{10^{98}-1}9-98\right]$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bracket is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num>
                      <m:den>
                        <m:r>
                          <a:rPr lang="en-IN" sz="2400" i="1">
                            <a:solidFill>
                              <a:srgbClr val="111827"/>
                            </a:solidFill>
                            <a:latin typeface="Cambria Math" panose="02040503050406030204" pitchFamily="18" charset="0"/>
                          </a:rPr>
                          <m:t>9</m:t>
                        </m:r>
                      </m:den>
                    </m:f>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99</m:t>
                            </m:r>
                          </m:sub>
                        </m:sSub>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50</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(99 fives then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143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$10\cdot\frac{10^{98}-1}9=\frac{10^{99}-1}9-1=R_{99}-1$</a:t>
                </a:r>
                <a:r>
                  <a:rPr sz="2400" b="0">
                    <a:solidFill>
                      <a:srgbClr val="111827"/>
                    </a:solidFill>
                    <a:latin typeface="Arial"/>
                  </a:rPr>
                  <a:t>, so the bracket is </a:t>
                </a:r>
                <a:r>
                  <a:rPr lang="en-IN" sz="2400">
                    <a:solidFill>
                      <a:srgbClr val="111827"/>
                    </a:solidFill>
                    <a:latin typeface="Cambria Math" panose="02040503050406030204" pitchFamily="18" charset="0"/>
                  </a:rPr>
                  <a:t>$R_{99}-99$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$S=\frac{7\cdot10^{100}-70}9+\frac{50}9\left(R_{99}-99\right)+7\times99=\frac{7\cdot10^{100}-70+50R_{99}}9-550+693$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$50R_{99}=55\ldots50$</a:t>
                </a:r>
                <a:r>
                  <a:rPr sz="2400" b="0">
                    <a:solidFill>
                      <a:srgbClr val="111827"/>
                    </a:solidFill>
                    <a:latin typeface="Arial"/>
                  </a:rPr>
                  <a:t> (99 fives then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$S=\frac{7\cdot10^{100}+50R_{99}-70+143\cdot9}9$</a:t>
                </a:r>
                <a:r>
                  <a:rPr sz="2400" b="0">
                    <a:solidFill>
                      <a:srgbClr val="111827"/>
                    </a:solidFill>
                    <a:latin typeface="Arial"/>
                  </a:rPr>
                  <a:t>, with </a:t>
                </a:r>
                <a:r>
                  <a:rPr lang="en-IN" sz="2400">
                    <a:solidFill>
                      <a:srgbClr val="111827"/>
                    </a:solidFill>
                    <a:latin typeface="Cambria Math" panose="02040503050406030204" pitchFamily="18" charset="0"/>
                  </a:rPr>
                  <a:t>$143\cdot9=1287$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oMath>
                </a14:m>
                <a:r>
                  <a:rPr sz="2400" b="0">
                    <a:solidFill>
                      <a:srgbClr val="111827"/>
                    </a:solidFill>
                    <a:latin typeface="Arial"/>
                  </a:rPr>
                  <a:t> (99 fives then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Adding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 turns the last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the numerator is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 the numerator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oMath>
                </a14:m>
                <a:r>
                  <a:rPr sz="2400" b="0">
                    <a:solidFill>
                      <a:srgbClr val="111827"/>
                    </a:solidFill>
                    <a:latin typeface="Arial"/>
                  </a:rPr>
                  <a:t> would be hugely negative and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9</m:t>
                    </m:r>
                  </m:oMath>
                </a14:m>
                <a:r>
                  <a:rPr sz="2400" b="0">
                    <a:solidFill>
                      <a:srgbClr val="111827"/>
                    </a:solidFill>
                    <a:latin typeface="Arial"/>
                  </a:rPr>
                  <a:t> hugely positive,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is forced.)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$7\cdot10^{100}+50R_{99}=7\,55\ldots5\,0$</a:t>
                </a:r>
                <a:r>
                  <a:rPr sz="2400" b="0">
                    <a:solidFill>
                      <a:srgbClr val="111827"/>
                    </a:solidFill>
                    <a:latin typeface="Arial"/>
                  </a:rPr>
                  <a:t> (99 fives then </a:t>
                </a:r>
                <a:r>
                  <a:rPr lang="en-IN" sz="2400">
                    <a:solidFill>
                      <a:srgbClr val="111827"/>
                    </a:solidFill>
                    <a:latin typeface="Cambria Math" panose="02040503050406030204" pitchFamily="18" charset="0"/>
                  </a:rPr>
                  <a:t>$0$</a:t>
                </a:r>
                <a:r>
                  <a:rPr sz="2400" b="0">
                    <a:solidFill>
                      <a:srgbClr val="111827"/>
                    </a:solidFill>
                    <a:latin typeface="Arial"/>
                  </a:rPr>
                  <a:t>). Adding </a:t>
                </a:r>
                <a:r>
                  <a:rPr lang="en-IN" sz="2400">
                    <a:solidFill>
                      <a:srgbClr val="111827"/>
                    </a:solidFill>
                    <a:latin typeface="Cambria Math" panose="02040503050406030204" pitchFamily="18" charset="0"/>
                  </a:rPr>
                  <a:t>$-70+1287=1217=7+1210$</a:t>
                </a:r>
                <a:r>
                  <a:rPr sz="2400" b="0">
                    <a:solidFill>
                      <a:srgbClr val="111827"/>
                    </a:solidFill>
                    <a:latin typeface="Arial"/>
                  </a:rPr>
                  <a:t> turns the last digit </a:t>
                </a:r>
                <a:r>
                  <a:rPr lang="en-IN" sz="2400">
                    <a:solidFill>
                      <a:srgbClr val="111827"/>
                    </a:solidFill>
                    <a:latin typeface="Cambria Math" panose="02040503050406030204" pitchFamily="18" charset="0"/>
                  </a:rPr>
                  <a:t>$0$</a:t>
                </a:r>
                <a:r>
                  <a:rPr sz="2400" b="0">
                    <a:solidFill>
                      <a:srgbClr val="111827"/>
                    </a:solidFill>
                    <a:latin typeface="Arial"/>
                  </a:rPr>
                  <a:t> into </a:t>
                </a:r>
                <a:r>
                  <a:rPr lang="en-IN" sz="2400">
                    <a:solidFill>
                      <a:srgbClr val="111827"/>
                    </a:solidFill>
                    <a:latin typeface="Cambria Math" panose="02040503050406030204" pitchFamily="18" charset="0"/>
                  </a:rPr>
                  <a:t>$7$</a:t>
                </a:r>
                <a:r>
                  <a:rPr sz="2400" b="0">
                    <a:solidFill>
                      <a:srgbClr val="111827"/>
                    </a:solidFill>
                    <a:latin typeface="Arial"/>
                  </a:rPr>
                  <a:t>: the numerator is </a:t>
                </a:r>
                <a:r>
                  <a:rPr lang="en-IN" sz="2400">
                    <a:solidFill>
                      <a:srgbClr val="111827"/>
                    </a:solidFill>
                    <a:latin typeface="Cambria Math" panose="02040503050406030204" pitchFamily="18" charset="0"/>
                  </a:rPr>
                  <a:t>$N_{99}+1210$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$S=\frac{N_{99}+1210}9$</a:t>
                </a:r>
                <a:r>
                  <a:rPr sz="2400" b="0">
                    <a:solidFill>
                      <a:srgbClr val="111827"/>
                    </a:solidFill>
                    <a:latin typeface="Arial"/>
                  </a:rPr>
                  <a:t>: </a:t>
                </a:r>
                <a:r>
                  <a:rPr lang="en-IN" sz="2400">
                    <a:solidFill>
                      <a:srgbClr val="111827"/>
                    </a:solidFill>
                    <a:latin typeface="Cambria Math" panose="02040503050406030204" pitchFamily="18" charset="0"/>
                  </a:rPr>
                  <a:t>$m=1210$</a:t>
                </a:r>
                <a:r>
                  <a:rPr sz="2400" b="0">
                    <a:solidFill>
                      <a:srgbClr val="111827"/>
                    </a:solidFill>
                    <a:latin typeface="Arial"/>
                  </a:rPr>
                  <a:t>, </a:t>
                </a:r>
                <a:r>
                  <a:rPr lang="en-IN" sz="2400">
                    <a:solidFill>
                      <a:srgbClr val="111827"/>
                    </a:solidFill>
                    <a:latin typeface="Cambria Math" panose="02040503050406030204" pitchFamily="18" charset="0"/>
                  </a:rPr>
                  <a:t>$n=9$</a:t>
                </a:r>
                <a:r>
                  <a:rPr sz="2400" b="0">
                    <a:solidFill>
                      <a:srgbClr val="111827"/>
                    </a:solidFill>
                    <a:latin typeface="Arial"/>
                  </a:rPr>
                  <a:t>. (For </a:t>
                </a:r>
                <a:r>
                  <a:rPr lang="en-IN" sz="2400">
                    <a:solidFill>
                      <a:srgbClr val="111827"/>
                    </a:solidFill>
                    <a:latin typeface="Cambria Math" panose="02040503050406030204" pitchFamily="18" charset="0"/>
                  </a:rPr>
                  <a:t>$n&lt;9$</a:t>
                </a:r>
                <a:r>
                  <a:rPr sz="2400" b="0">
                    <a:solidFill>
                      <a:srgbClr val="111827"/>
                    </a:solidFill>
                    <a:latin typeface="Arial"/>
                  </a:rPr>
                  <a:t> the numerator </a:t>
                </a:r>
                <a:r>
                  <a:rPr lang="en-IN" sz="2400">
                    <a:solidFill>
                      <a:srgbClr val="111827"/>
                    </a:solidFill>
                    <a:latin typeface="Cambria Math" panose="02040503050406030204" pitchFamily="18" charset="0"/>
                  </a:rPr>
                  <a:t>$nS-N_{99}$</a:t>
                </a:r>
                <a:r>
                  <a:rPr sz="2400" b="0">
                    <a:solidFill>
                      <a:srgbClr val="111827"/>
                    </a:solidFill>
                    <a:latin typeface="Arial"/>
                  </a:rPr>
                  <a:t> would be hugely negative and for </a:t>
                </a:r>
                <a:r>
                  <a:rPr lang="en-IN" sz="2400">
                    <a:solidFill>
                      <a:srgbClr val="111827"/>
                    </a:solidFill>
                    <a:latin typeface="Cambria Math" panose="02040503050406030204" pitchFamily="18" charset="0"/>
                  </a:rPr>
                  <a:t>$n&gt;9$</a:t>
                </a:r>
                <a:r>
                  <a:rPr sz="2400" b="0">
                    <a:solidFill>
                      <a:srgbClr val="111827"/>
                    </a:solidFill>
                    <a:latin typeface="Arial"/>
                  </a:rPr>
                  <a:t> hugely positive, so </a:t>
                </a:r>
                <a:r>
                  <a:rPr lang="en-IN" sz="2400">
                    <a:solidFill>
                      <a:srgbClr val="111827"/>
                    </a:solidFill>
                    <a:latin typeface="Cambria Math" panose="02040503050406030204" pitchFamily="18" charset="0"/>
                  </a:rPr>
                  <a:t>$n=9$</a:t>
                </a:r>
                <a:r>
                  <a:rPr sz="2400" b="0">
                    <a:solidFill>
                      <a:srgbClr val="111827"/>
                    </a:solidFill>
                    <a:latin typeface="Arial"/>
                  </a:rPr>
                  <a:t> is forced.)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$m+n=1210+9=1219$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1219</a:t>
            </a:r>
            <a:endParaRPr sz="2800">
              <a:solidFill>
                <a:srgbClr val="15803D"/>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 closed form for a single term, </a:t>
                </a:r>
                <a14:m>
                  <m:oMath xmlns:m="http://schemas.openxmlformats.org/officeDocument/2006/math">
                    <m:r>
                      <a:rPr lang="en-IN" sz="2400" i="1">
                        <a:solidFill>
                          <a:srgbClr val="78350F"/>
                        </a:solidFill>
                        <a:latin typeface="Cambria Math" panose="02040503050406030204" pitchFamily="18" charset="0"/>
                      </a:rPr>
                      <m:t>9</m:t>
                    </m:r>
                    <m:sSub>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𝑟</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68</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10</m:t>
                        </m:r>
                      </m:e>
                      <m:sup>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oMath>
                </a14:m>
                <a:r>
                  <a:rPr sz="2400" b="0">
                    <a:solidFill>
                      <a:srgbClr val="78350F"/>
                    </a:solidFill>
                    <a:latin typeface="Arial"/>
                  </a:rPr>
                  <a:t>, so the whole sum is one geometric series.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 closed form for a single term, </a:t>
                </a:r>
                <a:r>
                  <a:rPr lang="en-IN" sz="2400">
                    <a:solidFill>
                      <a:srgbClr val="78350F"/>
                    </a:solidFill>
                    <a:latin typeface="Cambria Math" panose="02040503050406030204" pitchFamily="18" charset="0"/>
                  </a:rPr>
                  <a:t>$9N_r=68\cdot10^{r+1}+13$</a:t>
                </a:r>
                <a:r>
                  <a:rPr sz="2400" b="0">
                    <a:solidFill>
                      <a:srgbClr val="78350F"/>
                    </a:solidFill>
                    <a:latin typeface="Arial"/>
                  </a:rPr>
                  <a:t>, so the whole sum is one geometric series.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e>
                        </m:d>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9</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757</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over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99</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$N_r=7\cdot10^{r+1}+7+\frac{5\left(10^{r+1}-10\right)}9$</a:t>
                </a:r>
                <a:r>
                  <a:rPr sz="2400" b="0">
                    <a:solidFill>
                      <a:srgbClr val="111827"/>
                    </a:solidFill>
                    <a:latin typeface="Arial"/>
                  </a:rPr>
                  <a:t>, so </a:t>
                </a:r>
                <a:r>
                  <a:rPr lang="en-IN" sz="2400">
                    <a:solidFill>
                      <a:srgbClr val="111827"/>
                    </a:solidFill>
                    <a:latin typeface="Cambria Math" panose="02040503050406030204" pitchFamily="18" charset="0"/>
                  </a:rPr>
                  <a:t>$9N_r=63\cdot10^{r+1}+63+5\cdot10^{r+1}-50=68\cdot10^{r+1}+13$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$r=0$</a:t>
                </a:r>
                <a:r>
                  <a:rPr sz="2400" b="0">
                    <a:solidFill>
                      <a:srgbClr val="111827"/>
                    </a:solidFill>
                    <a:latin typeface="Arial"/>
                  </a:rPr>
                  <a:t>: </a:t>
                </a:r>
                <a:r>
                  <a:rPr lang="en-IN" sz="2400">
                    <a:solidFill>
                      <a:srgbClr val="111827"/>
                    </a:solidFill>
                    <a:latin typeface="Cambria Math" panose="02040503050406030204" pitchFamily="18" charset="0"/>
                  </a:rPr>
                  <a:t>$680+13=693=9\times77$</a:t>
                </a:r>
                <a:r>
                  <a:rPr sz="2400" b="0">
                    <a:solidFill>
                      <a:srgbClr val="111827"/>
                    </a:solidFill>
                    <a:latin typeface="Arial"/>
                  </a:rPr>
                  <a:t> ✓; </a:t>
                </a:r>
                <a:r>
                  <a:rPr lang="en-IN" sz="2400">
                    <a:solidFill>
                      <a:srgbClr val="111827"/>
                    </a:solidFill>
                    <a:latin typeface="Cambria Math" panose="02040503050406030204" pitchFamily="18" charset="0"/>
                  </a:rPr>
                  <a:t>$r=1$</a:t>
                </a:r>
                <a:r>
                  <a:rPr sz="2400" b="0">
                    <a:solidFill>
                      <a:srgbClr val="111827"/>
                    </a:solidFill>
                    <a:latin typeface="Arial"/>
                  </a:rPr>
                  <a:t>: </a:t>
                </a:r>
                <a:r>
                  <a:rPr lang="en-IN" sz="2400">
                    <a:solidFill>
                      <a:srgbClr val="111827"/>
                    </a:solidFill>
                    <a:latin typeface="Cambria Math" panose="02040503050406030204" pitchFamily="18" charset="0"/>
                  </a:rPr>
                  <a:t>$6800+13=6813=9\times757$</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over </a:t>
                </a:r>
                <a:r>
                  <a:rPr lang="en-IN" sz="2400">
                    <a:solidFill>
                      <a:srgbClr val="111827"/>
                    </a:solidFill>
                    <a:latin typeface="Cambria Math" panose="02040503050406030204" pitchFamily="18" charset="0"/>
                  </a:rPr>
                  <a:t>$r=0,\ldots,98$</a:t>
                </a:r>
                <a:r>
                  <a:rPr sz="2400" b="0">
                    <a:solidFill>
                      <a:srgbClr val="111827"/>
                    </a:solidFill>
                    <a:latin typeface="Arial"/>
                  </a:rPr>
                  <a:t>: </a:t>
                </a:r>
                <a:r>
                  <a:rPr lang="en-IN" sz="2400">
                    <a:solidFill>
                      <a:srgbClr val="111827"/>
                    </a:solidFill>
                    <a:latin typeface="Cambria Math" panose="02040503050406030204" pitchFamily="18" charset="0"/>
                  </a:rPr>
                  <a:t>$9S=68\left(10+10^2+\cdots+10^{99}\right)+13\times99=68\cdot\frac{10^{100}-10}9+1287$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last term gives </a:t>
                </a:r>
                <a14:m>
                  <m:oMath xmlns:m="http://schemas.openxmlformats.org/officeDocument/2006/math">
                    <m:r>
                      <a:rPr lang="en-IN" sz="2400" i="1">
                        <a:solidFill>
                          <a:srgbClr val="111827"/>
                        </a:solidFill>
                        <a:latin typeface="Cambria Math" panose="02040503050406030204" pitchFamily="18" charset="0"/>
                      </a:rPr>
                      <m:t>9</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81</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11583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10890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99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last term gives </a:t>
                </a:r>
                <a:r>
                  <a:rPr lang="en-IN" sz="2400">
                    <a:solidFill>
                      <a:srgbClr val="111827"/>
                    </a:solidFill>
                    <a:latin typeface="Cambria Math" panose="02040503050406030204" pitchFamily="18" charset="0"/>
                  </a:rPr>
                  <a:t>$9N_{99}=68\cdot10^{100}+13$</a:t>
                </a:r>
                <a:r>
                  <a:rPr sz="2400" b="0">
                    <a:solidFill>
                      <a:srgbClr val="111827"/>
                    </a:solidFill>
                    <a:latin typeface="Arial"/>
                  </a:rPr>
                  <a:t>, i.e. </a:t>
                </a:r>
                <a:r>
                  <a:rPr lang="en-IN" sz="2400">
                    <a:solidFill>
                      <a:srgbClr val="111827"/>
                    </a:solidFill>
                    <a:latin typeface="Cambria Math" panose="02040503050406030204" pitchFamily="18" charset="0"/>
                  </a:rPr>
                  <a:t>$68\cdot10^{100}=9N_{99}-13$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$81S=68\cdot10^{100}-680+11583=(9N_{99}-13)+10903=9N_{99}+10890$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$9S=N_{99}+1210$</a:t>
                </a:r>
                <a:r>
                  <a:rPr sz="2400" b="0">
                    <a:solidFill>
                      <a:srgbClr val="111827"/>
                    </a:solidFill>
                    <a:latin typeface="Arial"/>
                  </a:rPr>
                  <a:t>, so </a:t>
                </a:r>
                <a:r>
                  <a:rPr lang="en-IN" sz="2400">
                    <a:solidFill>
                      <a:srgbClr val="111827"/>
                    </a:solidFill>
                    <a:latin typeface="Cambria Math" panose="02040503050406030204" pitchFamily="18" charset="0"/>
                  </a:rPr>
                  <a:t>$S=\frac{N_{99}+1210}9$</a:t>
                </a:r>
                <a:r>
                  <a:rPr sz="2400" b="0">
                    <a:solidFill>
                      <a:srgbClr val="111827"/>
                    </a:solidFill>
                    <a:latin typeface="Arial"/>
                  </a:rPr>
                  <a:t> with </a:t>
                </a:r>
                <a:r>
                  <a:rPr lang="en-IN" sz="2400">
                    <a:solidFill>
                      <a:srgbClr val="111827"/>
                    </a:solidFill>
                    <a:latin typeface="Cambria Math" panose="02040503050406030204" pitchFamily="18" charset="0"/>
                  </a:rPr>
                  <a:t>$m=1210$</a:t>
                </a:r>
                <a:r>
                  <a:rPr sz="2400" b="0">
                    <a:solidFill>
                      <a:srgbClr val="111827"/>
                    </a:solidFill>
                    <a:latin typeface="Arial"/>
                  </a:rPr>
                  <a:t>, </a:t>
                </a:r>
                <a:r>
                  <a:rPr lang="en-IN" sz="2400">
                    <a:solidFill>
                      <a:srgbClr val="111827"/>
                    </a:solidFill>
                    <a:latin typeface="Cambria Math" panose="02040503050406030204" pitchFamily="18" charset="0"/>
                  </a:rPr>
                  <a:t>$n=9$</a:t>
                </a:r>
                <a:r>
                  <a:rPr sz="2400" b="0">
                    <a:solidFill>
                      <a:srgbClr val="111827"/>
                    </a:solidFill>
                    <a:latin typeface="Arial"/>
                  </a:rPr>
                  <a:t>, and </a:t>
                </a:r>
                <a:r>
                  <a:rPr lang="en-IN" sz="2400">
                    <a:solidFill>
                      <a:srgbClr val="111827"/>
                    </a:solidFill>
                    <a:latin typeface="Cambria Math" panose="02040503050406030204" pitchFamily="18" charset="0"/>
                  </a:rPr>
                  <a:t>$m+n=1219$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1219</a:t>
            </a:r>
            <a:endParaRPr sz="2800">
              <a:solidFill>
                <a:srgbClr val="15803D"/>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with digits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nor/>
                      </m:rPr>
                      <a:rPr lang="en-IN" sz="2400" i="1">
                        <a:solidFill>
                          <a:srgbClr val="111827"/>
                        </a:solidFill>
                        <a:latin typeface="Cambria Math" panose="02040503050406030204" pitchFamily="18" charset="0"/>
                      </a:rPr>
                      <m:t> 𝑡𝑖𝑚𝑒𝑠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convert to powers of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and sum geometric series. For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𝑟</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oMath>
                </a14:m>
                <a:r>
                  <a:rPr sz="2400" b="0">
                    <a:solidFill>
                      <a:srgbClr val="111827"/>
                    </a:solidFill>
                    <a:latin typeface="Arial"/>
                  </a:rPr>
                  <a:t> this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Repunits: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81</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972</m:t>
                        </m:r>
                      </m:num>
                      <m:den>
                        <m:r>
                          <a:rPr lang="en-IN" sz="2400" i="1">
                            <a:solidFill>
                              <a:srgbClr val="111827"/>
                            </a:solidFill>
                            <a:latin typeface="Cambria Math" panose="02040503050406030204" pitchFamily="18" charset="0"/>
                          </a:rPr>
                          <m:t>81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formula: </a:t>
                </a:r>
                <a14:m>
                  <m:oMath xmlns:m="http://schemas.openxmlformats.org/officeDocument/2006/math">
                    <m:r>
                      <a:rPr lang="en-IN" sz="2400" i="1">
                        <a:solidFill>
                          <a:srgbClr val="111827"/>
                        </a:solidFill>
                        <a:latin typeface="Cambria Math" panose="02040503050406030204" pitchFamily="18" charset="0"/>
                      </a:rPr>
                      <m:t>9</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𝑟</m:t>
                            </m:r>
                          </m:sub>
                        </m:sSub>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𝐾</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7557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oMath>
                </a14:m>
                <a:r>
                  <a:rPr sz="2400" b="0">
                    <a:solidFill>
                      <a:srgbClr val="111827"/>
                    </a:solidFill>
                    <a:latin typeface="Arial"/>
                  </a:rPr>
                  <a:t> gives the extra </a:t>
                </a:r>
                <a14:m>
                  <m:oMath xmlns:m="http://schemas.openxmlformats.org/officeDocument/2006/math">
                    <m:r>
                      <a:rPr lang="en-IN" sz="2400" i="1">
                        <a:solidFill>
                          <a:srgbClr val="111827"/>
                        </a:solidFill>
                        <a:latin typeface="Cambria Math" panose="02040503050406030204" pitchFamily="18" charset="0"/>
                      </a:rPr>
                      <m:t>1287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with digits </a:t>
                </a:r>
                <a:r>
                  <a:rPr lang="en-IN" sz="2400">
                    <a:solidFill>
                      <a:srgbClr val="111827"/>
                    </a:solidFill>
                    <a:latin typeface="Cambria Math" panose="02040503050406030204" pitchFamily="18" charset="0"/>
                  </a:rPr>
                  <a:t>$x,\,y\ldots y\ (r\text{ times}),\,z$</a:t>
                </a:r>
                <a:r>
                  <a:rPr sz="2400" b="0">
                    <a:solidFill>
                      <a:srgbClr val="111827"/>
                    </a:solidFill>
                    <a:latin typeface="Arial"/>
                  </a:rPr>
                  <a:t> equals </a:t>
                </a:r>
                <a:r>
                  <a:rPr lang="en-IN" sz="2400">
                    <a:solidFill>
                      <a:srgbClr val="111827"/>
                    </a:solidFill>
                    <a:latin typeface="Cambria Math" panose="02040503050406030204" pitchFamily="18" charset="0"/>
                  </a:rPr>
                  <a:t>$x\cdot10^{r+1}+y\cdot\frac{10^{r+1}-10}9+z$</a:t>
                </a:r>
                <a:r>
                  <a:rPr sz="2400" b="0">
                    <a:solidFill>
                      <a:srgbClr val="111827"/>
                    </a:solidFill>
                    <a:latin typeface="Arial"/>
                  </a:rPr>
                  <a:t>; convert to powers of </a:t>
                </a:r>
                <a:r>
                  <a:rPr lang="en-IN" sz="2400">
                    <a:solidFill>
                      <a:srgbClr val="111827"/>
                    </a:solidFill>
                    <a:latin typeface="Cambria Math" panose="02040503050406030204" pitchFamily="18" charset="0"/>
                  </a:rPr>
                  <a:t>$10$</a:t>
                </a:r>
                <a:r>
                  <a:rPr sz="2400" b="0">
                    <a:solidFill>
                      <a:srgbClr val="111827"/>
                    </a:solidFill>
                    <a:latin typeface="Arial"/>
                  </a:rPr>
                  <a:t> and sum geometric series. For </a:t>
                </a:r>
                <a:r>
                  <a:rPr lang="en-IN" sz="2400">
                    <a:solidFill>
                      <a:srgbClr val="111827"/>
                    </a:solidFill>
                    <a:latin typeface="Cambria Math" panose="02040503050406030204" pitchFamily="18" charset="0"/>
                  </a:rPr>
                  <a:t>$7\,5^r\,7$</a:t>
                </a:r>
                <a:r>
                  <a:rPr sz="2400" b="0">
                    <a:solidFill>
                      <a:srgbClr val="111827"/>
                    </a:solidFill>
                    <a:latin typeface="Arial"/>
                  </a:rPr>
                  <a:t> this is </a:t>
                </a:r>
                <a:r>
                  <a:rPr lang="en-IN" sz="2400">
                    <a:solidFill>
                      <a:srgbClr val="111827"/>
                    </a:solidFill>
                    <a:latin typeface="Cambria Math" panose="02040503050406030204" pitchFamily="18" charset="0"/>
                  </a:rPr>
                  <a:t>$\frac{68\cdot10^{r+1}+13}9$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Repunits: </a:t>
                </a:r>
                <a:r>
                  <a:rPr lang="en-IN" sz="2400">
                    <a:solidFill>
                      <a:srgbClr val="111827"/>
                    </a:solidFill>
                    <a:latin typeface="Cambria Math" panose="02040503050406030204" pitchFamily="18" charset="0"/>
                  </a:rPr>
                  <a:t>$R_k=\frac{10^k-1}9$</a:t>
                </a:r>
                <a:r>
                  <a:rPr sz="2400" b="0">
                    <a:solidFill>
                      <a:srgbClr val="111827"/>
                    </a:solidFill>
                    <a:latin typeface="Arial"/>
                  </a:rPr>
                  <a:t> and </a:t>
                </a:r>
                <a:r>
                  <a:rPr lang="en-IN" sz="2400">
                    <a:solidFill>
                      <a:srgbClr val="111827"/>
                    </a:solidFill>
                    <a:latin typeface="Cambria Math" panose="02040503050406030204" pitchFamily="18" charset="0"/>
                  </a:rPr>
                  <a:t>$\sum_{k=1}^nR_k=\frac{10^{n+1}-10-9n}{81}$</a:t>
                </a:r>
                <a:r>
                  <a:rPr sz="2400" b="0">
                    <a:solidFill>
                      <a:srgbClr val="111827"/>
                    </a:solidFill>
                    <a:latin typeface="Arial"/>
                  </a:rPr>
                  <a:t> (check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$1+11=12=\frac{972}{81}$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formula: </a:t>
                </a:r>
                <a:r>
                  <a:rPr lang="en-IN" sz="2400">
                    <a:solidFill>
                      <a:srgbClr val="111827"/>
                    </a:solidFill>
                    <a:latin typeface="Cambria Math" panose="02040503050406030204" pitchFamily="18" charset="0"/>
                  </a:rPr>
                  <a:t>$9\sum_{r=0}^{K-1}N_r=N_K+13K-77$</a:t>
                </a:r>
                <a:r>
                  <a:rPr sz="2400" b="0">
                    <a:solidFill>
                      <a:srgbClr val="111827"/>
                    </a:solidFill>
                    <a:latin typeface="Arial"/>
                  </a:rPr>
                  <a:t>. Check </a:t>
                </a: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$9(77+757)=7506=7557+26-77$</a:t>
                </a:r>
                <a:r>
                  <a:rPr sz="2400" b="0">
                    <a:solidFill>
                      <a:srgbClr val="111827"/>
                    </a:solidFill>
                    <a:latin typeface="Arial"/>
                  </a:rPr>
                  <a:t> ✓; </a:t>
                </a:r>
                <a:r>
                  <a:rPr lang="en-IN" sz="2400">
                    <a:solidFill>
                      <a:srgbClr val="111827"/>
                    </a:solidFill>
                    <a:latin typeface="Cambria Math" panose="02040503050406030204" pitchFamily="18" charset="0"/>
                  </a:rPr>
                  <a:t>$K=99$</a:t>
                </a:r>
                <a:r>
                  <a:rPr sz="2400" b="0">
                    <a:solidFill>
                      <a:srgbClr val="111827"/>
                    </a:solidFill>
                    <a:latin typeface="Arial"/>
                  </a:rPr>
                  <a:t> gives the extra </a:t>
                </a:r>
                <a:r>
                  <a:rPr lang="en-IN" sz="2400">
                    <a:solidFill>
                      <a:srgbClr val="111827"/>
                    </a:solidFill>
                    <a:latin typeface="Cambria Math" panose="02040503050406030204" pitchFamily="18" charset="0"/>
                  </a:rPr>
                  <a:t>$1287-77=1210$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One or more than one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Q16</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or more options may be correct</a:t>
            </a:r>
            <a:endParaRPr sz="2800">
              <a:solidFill>
                <a:srgbClr val="FFFFFF"/>
              </a:solidFill>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be positive integers in arithmetic progression such that the equation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only integer solutions. Then which of the following statements is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an integer multiple of </a:t>
                </a:r>
                <a14:m>
                  <m:oMath xmlns:m="http://schemas.openxmlformats.org/officeDocument/2006/math">
                    <m:r>
                      <a:rPr lang="en-IN" sz="2400" i="1">
                        <a:solidFill>
                          <a:srgbClr val="111827"/>
                        </a:solidFill>
                        <a:latin typeface="Cambria Math" panose="02040503050406030204" pitchFamily="18" charset="0"/>
                      </a:rPr>
                      <m:t>𝑎</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the roots of the equation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odd integers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If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If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 root of the equation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a:t>
                </a:r>
                <a:r>
                  <a:rPr sz="2400" b="0">
                    <a:solidFill>
                      <a:srgbClr val="111827"/>
                    </a:solidFill>
                    <a:latin typeface="Arial"/>
                  </a:rPr>
                  <a:t> be positive integers in arithmetic progression such that the equation </a:t>
                </a:r>
                <a:r>
                  <a:rPr lang="en-IN" sz="2400">
                    <a:solidFill>
                      <a:srgbClr val="111827"/>
                    </a:solidFill>
                    <a:latin typeface="Cambria Math" panose="02040503050406030204" pitchFamily="18" charset="0"/>
                  </a:rPr>
                  <a:t>$ax^2+bx+c=0$</a:t>
                </a:r>
                <a:r>
                  <a:rPr sz="2400" b="0">
                    <a:solidFill>
                      <a:srgbClr val="111827"/>
                    </a:solidFill>
                    <a:latin typeface="Arial"/>
                  </a:rPr>
                  <a:t> has only integer solutions. Then which of the following statements is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$c-b$</a:t>
                </a:r>
                <a:r>
                  <a:rPr sz="2400" b="0">
                    <a:solidFill>
                      <a:srgbClr val="111827"/>
                    </a:solidFill>
                    <a:latin typeface="Arial"/>
                  </a:rPr>
                  <a:t> is an integer multiple of </a:t>
                </a:r>
                <a:r>
                  <a:rPr lang="en-IN" sz="2400">
                    <a:solidFill>
                      <a:srgbClr val="111827"/>
                    </a:solidFill>
                    <a:latin typeface="Cambria Math" panose="02040503050406030204" pitchFamily="18" charset="0"/>
                  </a:rPr>
                  <a:t>$a$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the roots of the equation </a:t>
                </a:r>
                <a:r>
                  <a:rPr lang="en-IN" sz="2400">
                    <a:solidFill>
                      <a:srgbClr val="111827"/>
                    </a:solidFill>
                    <a:latin typeface="Cambria Math" panose="02040503050406030204" pitchFamily="18" charset="0"/>
                  </a:rPr>
                  <a:t>$ax^2+bx+c=0$</a:t>
                </a:r>
                <a:r>
                  <a:rPr sz="2400" b="0">
                    <a:solidFill>
                      <a:srgbClr val="111827"/>
                    </a:solidFill>
                    <a:latin typeface="Arial"/>
                  </a:rPr>
                  <a:t> are odd integers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If </a:t>
                </a:r>
                <a:r>
                  <a:rPr lang="en-IN" sz="2400">
                    <a:solidFill>
                      <a:srgbClr val="111827"/>
                    </a:solidFill>
                    <a:latin typeface="Cambria Math" panose="02040503050406030204" pitchFamily="18" charset="0"/>
                  </a:rPr>
                  <a:t>$c=15$</a:t>
                </a:r>
                <a:r>
                  <a:rPr sz="2400" b="0">
                    <a:solidFill>
                      <a:srgbClr val="111827"/>
                    </a:solidFill>
                    <a:latin typeface="Arial"/>
                  </a:rPr>
                  <a:t>, then </a:t>
                </a:r>
                <a:r>
                  <a:rPr lang="en-IN" sz="2400">
                    <a:solidFill>
                      <a:srgbClr val="111827"/>
                    </a:solidFill>
                    <a:latin typeface="Cambria Math" panose="02040503050406030204" pitchFamily="18" charset="0"/>
                  </a:rPr>
                  <a:t>$ab=8$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If </a:t>
                </a:r>
                <a:r>
                  <a:rPr lang="en-IN" sz="2400">
                    <a:solidFill>
                      <a:srgbClr val="111827"/>
                    </a:solidFill>
                    <a:latin typeface="Cambria Math" panose="02040503050406030204" pitchFamily="18" charset="0"/>
                  </a:rPr>
                  <a:t>$b=8$</a:t>
                </a:r>
                <a:r>
                  <a:rPr sz="2400" b="0">
                    <a:solidFill>
                      <a:srgbClr val="111827"/>
                    </a:solidFill>
                    <a:latin typeface="Arial"/>
                  </a:rPr>
                  <a:t>, then </a:t>
                </a:r>
                <a:r>
                  <a:rPr lang="en-IN" sz="2400">
                    <a:solidFill>
                      <a:srgbClr val="111827"/>
                    </a:solidFill>
                    <a:latin typeface="Cambria Math" panose="02040503050406030204" pitchFamily="18" charset="0"/>
                  </a:rPr>
                  <a:t>$x=3$</a:t>
                </a:r>
                <a:r>
                  <a:rPr sz="2400" b="0">
                    <a:solidFill>
                      <a:srgbClr val="111827"/>
                    </a:solidFill>
                    <a:latin typeface="Arial"/>
                  </a:rPr>
                  <a:t> is a root of the equation </a:t>
                </a:r>
                <a:r>
                  <a:rPr lang="en-IN" sz="2400">
                    <a:solidFill>
                      <a:srgbClr val="111827"/>
                    </a:solidFill>
                    <a:latin typeface="Cambria Math" panose="02040503050406030204" pitchFamily="18" charset="0"/>
                  </a:rPr>
                  <a:t>$ax^2+bx+c=0$</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Arithmetic progression of coefficients, Integer roots of a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Substituting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using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which forces the roots to be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Substituting </a:t>
                </a:r>
                <a:r>
                  <a:rPr lang="en-IN" sz="2400">
                    <a:solidFill>
                      <a:srgbClr val="78350F"/>
                    </a:solidFill>
                    <a:latin typeface="Cambria Math" panose="02040503050406030204" pitchFamily="18" charset="0"/>
                  </a:rPr>
                  <a:t>$x=-2$</a:t>
                </a:r>
                <a:r>
                  <a:rPr sz="2400" b="0">
                    <a:solidFill>
                      <a:srgbClr val="78350F"/>
                    </a:solidFill>
                    <a:latin typeface="Arial"/>
                  </a:rPr>
                  <a:t> and using </a:t>
                </a:r>
                <a:r>
                  <a:rPr lang="en-IN" sz="2400">
                    <a:solidFill>
                      <a:srgbClr val="78350F"/>
                    </a:solidFill>
                    <a:latin typeface="Cambria Math" panose="02040503050406030204" pitchFamily="18" charset="0"/>
                  </a:rPr>
                  <a:t>$2b=a+c$</a:t>
                </a:r>
                <a:r>
                  <a:rPr sz="2400" b="0">
                    <a:solidFill>
                      <a:srgbClr val="78350F"/>
                    </a:solidFill>
                    <a:latin typeface="Arial"/>
                  </a:rPr>
                  <a:t> gives </a:t>
                </a:r>
                <a:r>
                  <a:rPr lang="en-IN" sz="2400">
                    <a:solidFill>
                      <a:srgbClr val="78350F"/>
                    </a:solidFill>
                    <a:latin typeface="Cambria Math" panose="02040503050406030204" pitchFamily="18" charset="0"/>
                  </a:rPr>
                  <a:t>$(\alpha+2)(\beta+2)=3$</a:t>
                </a:r>
                <a:r>
                  <a:rPr sz="2400" b="0">
                    <a:solidFill>
                      <a:srgbClr val="78350F"/>
                    </a:solidFill>
                    <a:latin typeface="Arial"/>
                  </a:rPr>
                  <a:t>, which forces the roots to be </a:t>
                </a:r>
                <a:r>
                  <a:rPr lang="en-IN" sz="2400">
                    <a:solidFill>
                      <a:srgbClr val="78350F"/>
                    </a:solidFill>
                    <a:latin typeface="Cambria Math" panose="02040503050406030204" pitchFamily="18" charset="0"/>
                  </a:rPr>
                  <a:t>$-3$</a:t>
                </a:r>
                <a:r>
                  <a:rPr sz="2400" b="0">
                    <a:solidFill>
                      <a:srgbClr val="78350F"/>
                    </a:solidFill>
                    <a:latin typeface="Arial"/>
                  </a:rPr>
                  <a:t> and </a:t>
                </a:r>
                <a:r>
                  <a:rPr lang="en-IN" sz="2400">
                    <a:solidFill>
                      <a:srgbClr val="78350F"/>
                    </a:solidFill>
                    <a:latin typeface="Cambria Math" panose="02040503050406030204" pitchFamily="18" charset="0"/>
                  </a:rPr>
                  <a:t>$-5$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in A.P.,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integer roots be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a:t>
                </a:r>
                <a:r>
                  <a:rPr sz="2400" b="0">
                    <a:solidFill>
                      <a:srgbClr val="111827"/>
                    </a:solidFill>
                    <a:latin typeface="Arial"/>
                  </a:rPr>
                  <a:t> are in A.P., so </a:t>
                </a:r>
                <a:r>
                  <a:rPr lang="en-IN" sz="2400">
                    <a:solidFill>
                      <a:srgbClr val="111827"/>
                    </a:solidFill>
                    <a:latin typeface="Cambria Math" panose="02040503050406030204" pitchFamily="18" charset="0"/>
                  </a:rPr>
                  <a:t>$2b=a+c$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integer roots be </a:t>
                </a:r>
                <a:r>
                  <a:rPr lang="en-IN" sz="2400">
                    <a:solidFill>
                      <a:srgbClr val="111827"/>
                    </a:solidFill>
                    <a:latin typeface="Cambria Math" panose="02040503050406030204" pitchFamily="18" charset="0"/>
                  </a:rPr>
                  <a:t>$\alpha,\beta$</a:t>
                </a:r>
                <a:r>
                  <a:rPr sz="2400" b="0">
                    <a:solidFill>
                      <a:srgbClr val="111827"/>
                    </a:solidFill>
                    <a:latin typeface="Arial"/>
                  </a:rPr>
                  <a:t>: </a:t>
                </a:r>
                <a:r>
                  <a:rPr lang="en-IN" sz="2400">
                    <a:solidFill>
                      <a:srgbClr val="111827"/>
                    </a:solidFill>
                    <a:latin typeface="Cambria Math" panose="02040503050406030204" pitchFamily="18" charset="0"/>
                  </a:rPr>
                  <a:t>$ax^2+bx+c=a(x-\alpha)(x-\beta)$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$4a-2b+c=a(-2-\alpha)(-2-\beta)=a(\alpha+2)(\beta+2)$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real roots are negative: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integers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are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 factor pairs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with both factors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would give a positive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roots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oMath>
                </a14:m>
                <a:r>
                  <a:rPr sz="2400" b="0">
                    <a:solidFill>
                      <a:srgbClr val="111827"/>
                    </a:solidFill>
                    <a:latin typeface="Arial"/>
                  </a:rPr>
                  <a:t>; product of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oMath>
                </a14:m>
                <a:r>
                  <a:rPr sz="2400" b="0">
                    <a:solidFill>
                      <a:srgbClr val="111827"/>
                    </a:solidFill>
                    <a:latin typeface="Arial"/>
                  </a:rPr>
                  <a:t>, an integer multiple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true. (B) The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are both odd integers: true.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$2b=a+c$</a:t>
                </a:r>
                <a:r>
                  <a:rPr sz="2400" b="0">
                    <a:solidFill>
                      <a:srgbClr val="111827"/>
                    </a:solidFill>
                    <a:latin typeface="Arial"/>
                  </a:rPr>
                  <a:t>: </a:t>
                </a:r>
                <a:r>
                  <a:rPr lang="en-IN" sz="2400">
                    <a:solidFill>
                      <a:srgbClr val="111827"/>
                    </a:solidFill>
                    <a:latin typeface="Cambria Math" panose="02040503050406030204" pitchFamily="18" charset="0"/>
                  </a:rPr>
                  <a:t>$4a-(a+c)+c=3a$</a:t>
                </a:r>
                <a:r>
                  <a:rPr sz="2400" b="0">
                    <a:solidFill>
                      <a:srgbClr val="111827"/>
                    </a:solidFill>
                    <a:latin typeface="Arial"/>
                  </a:rPr>
                  <a:t>, so </a:t>
                </a:r>
                <a:r>
                  <a:rPr lang="en-IN" sz="2400">
                    <a:solidFill>
                      <a:srgbClr val="111827"/>
                    </a:solidFill>
                    <a:latin typeface="Cambria Math" panose="02040503050406030204" pitchFamily="18" charset="0"/>
                  </a:rPr>
                  <a:t>$a(\alpha+2)(\beta+2)=3a$</a:t>
                </a:r>
                <a:r>
                  <a:rPr sz="2400" b="0">
                    <a:solidFill>
                      <a:srgbClr val="111827"/>
                    </a:solidFill>
                    <a:latin typeface="Arial"/>
                  </a:rPr>
                  <a:t> and </a:t>
                </a:r>
                <a:r>
                  <a:rPr lang="en-IN" sz="2400">
                    <a:solidFill>
                      <a:srgbClr val="111827"/>
                    </a:solidFill>
                    <a:latin typeface="Cambria Math" panose="02040503050406030204" pitchFamily="18" charset="0"/>
                  </a:rPr>
                  <a:t>$(\alpha+2)(\beta+2)=3$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$a,b,c&gt;0$</a:t>
                </a:r>
                <a:r>
                  <a:rPr sz="2400" b="0">
                    <a:solidFill>
                      <a:srgbClr val="111827"/>
                    </a:solidFill>
                    <a:latin typeface="Arial"/>
                  </a:rPr>
                  <a:t>, the real roots are negative: </a:t>
                </a:r>
                <a:r>
                  <a:rPr lang="en-IN" sz="2400">
                    <a:solidFill>
                      <a:srgbClr val="111827"/>
                    </a:solidFill>
                    <a:latin typeface="Cambria Math" panose="02040503050406030204" pitchFamily="18" charset="0"/>
                  </a:rPr>
                  <a:t>$\alpha,\beta\le-1$</a:t>
                </a:r>
                <a:r>
                  <a:rPr sz="2400" b="0">
                    <a:solidFill>
                      <a:srgbClr val="111827"/>
                    </a:solidFill>
                    <a:latin typeface="Arial"/>
                  </a:rPr>
                  <a:t>, so the integers </a:t>
                </a:r>
                <a:r>
                  <a:rPr lang="en-IN" sz="2400">
                    <a:solidFill>
                      <a:srgbClr val="111827"/>
                    </a:solidFill>
                    <a:latin typeface="Cambria Math" panose="02040503050406030204" pitchFamily="18" charset="0"/>
                  </a:rPr>
                  <a:t>$\alpha+2,\beta+2$</a:t>
                </a:r>
                <a:r>
                  <a:rPr sz="2400" b="0">
                    <a:solidFill>
                      <a:srgbClr val="111827"/>
                    </a:solidFill>
                    <a:latin typeface="Arial"/>
                  </a:rPr>
                  <a:t> are each </a:t>
                </a:r>
                <a:r>
                  <a:rPr lang="en-IN" sz="2400">
                    <a:solidFill>
                      <a:srgbClr val="111827"/>
                    </a:solidFill>
                    <a:latin typeface="Cambria Math" panose="02040503050406030204" pitchFamily="18" charset="0"/>
                  </a:rPr>
                  <a:t>$\le1$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 factor pairs of </a:t>
                </a:r>
                <a:r>
                  <a:rPr lang="en-IN" sz="2400">
                    <a:solidFill>
                      <a:srgbClr val="111827"/>
                    </a:solidFill>
                    <a:latin typeface="Cambria Math" panose="02040503050406030204" pitchFamily="18" charset="0"/>
                  </a:rPr>
                  <a:t>$3$</a:t>
                </a:r>
                <a:r>
                  <a:rPr sz="2400" b="0">
                    <a:solidFill>
                      <a:srgbClr val="111827"/>
                    </a:solidFill>
                    <a:latin typeface="Arial"/>
                  </a:rPr>
                  <a:t> with both factors </a:t>
                </a:r>
                <a:r>
                  <a:rPr lang="en-IN" sz="2400">
                    <a:solidFill>
                      <a:srgbClr val="111827"/>
                    </a:solidFill>
                    <a:latin typeface="Cambria Math" panose="02040503050406030204" pitchFamily="18" charset="0"/>
                  </a:rPr>
                  <a:t>$\le1$</a:t>
                </a:r>
                <a:r>
                  <a:rPr sz="2400" b="0">
                    <a:solidFill>
                      <a:srgbClr val="111827"/>
                    </a:solidFill>
                    <a:latin typeface="Arial"/>
                  </a:rPr>
                  <a:t>: </a:t>
                </a:r>
                <a:r>
                  <a:rPr lang="en-IN" sz="2400">
                    <a:solidFill>
                      <a:srgbClr val="111827"/>
                    </a:solidFill>
                    <a:latin typeface="Cambria Math" panose="02040503050406030204" pitchFamily="18" charset="0"/>
                  </a:rPr>
                  <a:t>$(-1,-3)$</a:t>
                </a:r>
                <a:r>
                  <a:rPr sz="2400" b="0">
                    <a:solidFill>
                      <a:srgbClr val="111827"/>
                    </a:solidFill>
                    <a:latin typeface="Arial"/>
                  </a:rPr>
                  <a:t> and </a:t>
                </a:r>
                <a:r>
                  <a:rPr lang="en-IN" sz="2400">
                    <a:solidFill>
                      <a:srgbClr val="111827"/>
                    </a:solidFill>
                    <a:latin typeface="Cambria Math" panose="02040503050406030204" pitchFamily="18" charset="0"/>
                  </a:rPr>
                  <a:t>$(-3,-1)$</a:t>
                </a:r>
                <a:r>
                  <a:rPr sz="2400" b="0">
                    <a:solidFill>
                      <a:srgbClr val="111827"/>
                    </a:solidFill>
                    <a:latin typeface="Arial"/>
                  </a:rPr>
                  <a:t>. The pairs </a:t>
                </a:r>
                <a:r>
                  <a:rPr lang="en-IN" sz="2400">
                    <a:solidFill>
                      <a:srgbClr val="111827"/>
                    </a:solidFill>
                    <a:latin typeface="Cambria Math" panose="02040503050406030204" pitchFamily="18" charset="0"/>
                  </a:rPr>
                  <a:t>$(1,3),(3,1)$</a:t>
                </a:r>
                <a:r>
                  <a:rPr sz="2400" b="0">
                    <a:solidFill>
                      <a:srgbClr val="111827"/>
                    </a:solidFill>
                    <a:latin typeface="Arial"/>
                  </a:rPr>
                  <a:t> would give a positive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$(\alpha,\beta)=(-3,-5)$</a:t>
                </a:r>
                <a:r>
                  <a:rPr sz="2400" b="0">
                    <a:solidFill>
                      <a:srgbClr val="111827"/>
                    </a:solidFill>
                    <a:latin typeface="Arial"/>
                  </a:rPr>
                  <a:t> or </a:t>
                </a:r>
                <a:r>
                  <a:rPr lang="en-IN" sz="2400">
                    <a:solidFill>
                      <a:srgbClr val="111827"/>
                    </a:solidFill>
                    <a:latin typeface="Cambria Math" panose="02040503050406030204" pitchFamily="18" charset="0"/>
                  </a:rPr>
                  <a:t>$(-5,-3)$</a:t>
                </a:r>
                <a:r>
                  <a:rPr sz="2400" b="0">
                    <a:solidFill>
                      <a:srgbClr val="111827"/>
                    </a:solidFill>
                    <a:latin typeface="Arial"/>
                  </a:rPr>
                  <a:t>: the roots are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$=-8=-\frac ba\Rightarrow b=8a$</a:t>
                </a:r>
                <a:r>
                  <a:rPr sz="2400" b="0">
                    <a:solidFill>
                      <a:srgbClr val="111827"/>
                    </a:solidFill>
                    <a:latin typeface="Arial"/>
                  </a:rPr>
                  <a:t>; product of roots </a:t>
                </a:r>
                <a:r>
                  <a:rPr lang="en-IN" sz="2400">
                    <a:solidFill>
                      <a:srgbClr val="111827"/>
                    </a:solidFill>
                    <a:latin typeface="Cambria Math" panose="02040503050406030204" pitchFamily="18" charset="0"/>
                  </a:rPr>
                  <a:t>$=15=\frac ca\Rightarrow c=15a$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$c-b=7a$</a:t>
                </a:r>
                <a:r>
                  <a:rPr sz="2400" b="0">
                    <a:solidFill>
                      <a:srgbClr val="111827"/>
                    </a:solidFill>
                    <a:latin typeface="Arial"/>
                  </a:rPr>
                  <a:t>, an integer multiple of </a:t>
                </a:r>
                <a:r>
                  <a:rPr lang="en-IN" sz="2400">
                    <a:solidFill>
                      <a:srgbClr val="111827"/>
                    </a:solidFill>
                    <a:latin typeface="Cambria Math" panose="02040503050406030204" pitchFamily="18" charset="0"/>
                  </a:rPr>
                  <a:t>$a$</a:t>
                </a:r>
                <a:r>
                  <a:rPr sz="2400" b="0">
                    <a:solidFill>
                      <a:srgbClr val="111827"/>
                    </a:solidFill>
                    <a:latin typeface="Arial"/>
                  </a:rPr>
                  <a:t>: true. (B) The roots </a:t>
                </a:r>
                <a:r>
                  <a:rPr lang="en-IN" sz="2400">
                    <a:solidFill>
                      <a:srgbClr val="111827"/>
                    </a:solidFill>
                    <a:latin typeface="Cambria Math" panose="02040503050406030204" pitchFamily="18" charset="0"/>
                  </a:rPr>
                  <a:t>$-3,-5$</a:t>
                </a:r>
                <a:r>
                  <a:rPr sz="2400" b="0">
                    <a:solidFill>
                      <a:srgbClr val="111827"/>
                    </a:solidFill>
                    <a:latin typeface="Arial"/>
                  </a:rPr>
                  <a:t> are both odd integers: true.</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it equals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false. Answer: (A, B,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$c=15\Rightarrow a=1$</a:t>
                </a:r>
                <a:r>
                  <a:rPr sz="2400" b="0">
                    <a:solidFill>
                      <a:srgbClr val="111827"/>
                    </a:solidFill>
                    <a:latin typeface="Arial"/>
                  </a:rPr>
                  <a:t>, </a:t>
                </a:r>
                <a:r>
                  <a:rPr lang="en-IN" sz="2400">
                    <a:solidFill>
                      <a:srgbClr val="111827"/>
                    </a:solidFill>
                    <a:latin typeface="Cambria Math" panose="02040503050406030204" pitchFamily="18" charset="0"/>
                  </a:rPr>
                  <a:t>$b=8$</a:t>
                </a:r>
                <a:r>
                  <a:rPr sz="2400" b="0">
                    <a:solidFill>
                      <a:srgbClr val="111827"/>
                    </a:solidFill>
                    <a:latin typeface="Arial"/>
                  </a:rPr>
                  <a:t>, so </a:t>
                </a:r>
                <a:r>
                  <a:rPr lang="en-IN" sz="2400">
                    <a:solidFill>
                      <a:srgbClr val="111827"/>
                    </a:solidFill>
                    <a:latin typeface="Cambria Math" panose="02040503050406030204" pitchFamily="18" charset="0"/>
                  </a:rPr>
                  <a:t>$ab=8$</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$b=8\Rightarrow a=1$</a:t>
                </a:r>
                <a:r>
                  <a:rPr sz="2400" b="0">
                    <a:solidFill>
                      <a:srgbClr val="111827"/>
                    </a:solidFill>
                    <a:latin typeface="Arial"/>
                  </a:rPr>
                  <a:t>, </a:t>
                </a:r>
                <a:r>
                  <a:rPr lang="en-IN" sz="2400">
                    <a:solidFill>
                      <a:srgbClr val="111827"/>
                    </a:solidFill>
                    <a:latin typeface="Cambria Math" panose="02040503050406030204" pitchFamily="18" charset="0"/>
                  </a:rPr>
                  <a:t>$c=15$</a:t>
                </a:r>
                <a:r>
                  <a:rPr sz="2400" b="0">
                    <a:solidFill>
                      <a:srgbClr val="111827"/>
                    </a:solidFill>
                    <a:latin typeface="Arial"/>
                  </a:rPr>
                  <a:t>: </a:t>
                </a:r>
                <a:r>
                  <a:rPr lang="en-IN" sz="2400">
                    <a:solidFill>
                      <a:srgbClr val="111827"/>
                    </a:solidFill>
                    <a:latin typeface="Cambria Math" panose="02040503050406030204" pitchFamily="18" charset="0"/>
                  </a:rPr>
                  <a:t>$x^2+8x+15=0$</a:t>
                </a:r>
                <a:r>
                  <a:rPr sz="2400" b="0">
                    <a:solidFill>
                      <a:srgbClr val="111827"/>
                    </a:solidFill>
                    <a:latin typeface="Arial"/>
                  </a:rPr>
                  <a:t> has roots </a:t>
                </a:r>
                <a:r>
                  <a:rPr lang="en-IN" sz="2400">
                    <a:solidFill>
                      <a:srgbClr val="111827"/>
                    </a:solidFill>
                    <a:latin typeface="Cambria Math" panose="02040503050406030204" pitchFamily="18" charset="0"/>
                  </a:rPr>
                  <a:t>$-3,-5$</a:t>
                </a:r>
                <a:r>
                  <a:rPr sz="2400" b="0">
                    <a:solidFill>
                      <a:srgbClr val="111827"/>
                    </a:solidFill>
                    <a:latin typeface="Arial"/>
                  </a:rPr>
                  <a:t>; at </a:t>
                </a:r>
                <a:r>
                  <a:rPr lang="en-IN" sz="2400">
                    <a:solidFill>
                      <a:srgbClr val="111827"/>
                    </a:solidFill>
                    <a:latin typeface="Cambria Math" panose="02040503050406030204" pitchFamily="18" charset="0"/>
                  </a:rPr>
                  <a:t>$x=3$</a:t>
                </a:r>
                <a:r>
                  <a:rPr sz="2400" b="0">
                    <a:solidFill>
                      <a:srgbClr val="111827"/>
                    </a:solidFill>
                    <a:latin typeface="Arial"/>
                  </a:rPr>
                  <a:t> it equals </a:t>
                </a:r>
                <a:r>
                  <a:rPr lang="en-IN" sz="2400">
                    <a:solidFill>
                      <a:srgbClr val="111827"/>
                    </a:solidFill>
                    <a:latin typeface="Cambria Math" panose="02040503050406030204" pitchFamily="18" charset="0"/>
                  </a:rPr>
                  <a:t>$9+24+15=48\neq0$</a:t>
                </a:r>
                <a:r>
                  <a:rPr sz="2400" b="0">
                    <a:solidFill>
                      <a:srgbClr val="111827"/>
                    </a:solidFill>
                    <a:latin typeface="Arial"/>
                  </a:rPr>
                  <a:t>: false. Answer: (A, B,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 C)</a:t>
            </a:r>
            <a:endParaRPr sz="2800">
              <a:solidFill>
                <a:srgbClr val="15803D"/>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Vieta's formulas with roots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oMath>
                </a14:m>
                <a:r>
                  <a:rPr sz="2400" b="0">
                    <a:solidFill>
                      <a:srgbClr val="78350F"/>
                    </a:solidFill>
                    <a:latin typeface="Arial"/>
                  </a:rPr>
                  <a:t> positive integers); the A.P. condition becomes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Vieta's formulas with roots </a:t>
                </a:r>
                <a:r>
                  <a:rPr lang="en-IN" sz="2400">
                    <a:solidFill>
                      <a:srgbClr val="78350F"/>
                    </a:solidFill>
                    <a:latin typeface="Cambria Math" panose="02040503050406030204" pitchFamily="18" charset="0"/>
                  </a:rPr>
                  <a:t>$-p,-q$</a:t>
                </a:r>
                <a:r>
                  <a:rPr sz="2400" b="0">
                    <a:solidFill>
                      <a:srgbClr val="78350F"/>
                    </a:solidFill>
                    <a:latin typeface="Arial"/>
                  </a:rPr>
                  <a:t> (</a:t>
                </a:r>
                <a:r>
                  <a:rPr lang="en-IN" sz="2400">
                    <a:solidFill>
                      <a:srgbClr val="78350F"/>
                    </a:solidFill>
                    <a:latin typeface="Cambria Math" panose="02040503050406030204" pitchFamily="18" charset="0"/>
                  </a:rPr>
                  <a:t>$p,q$</a:t>
                </a:r>
                <a:r>
                  <a:rPr sz="2400" b="0">
                    <a:solidFill>
                      <a:srgbClr val="78350F"/>
                    </a:solidFill>
                    <a:latin typeface="Arial"/>
                  </a:rPr>
                  <a:t> positive integers); the A.P. condition becomes </a:t>
                </a:r>
                <a:r>
                  <a:rPr lang="en-IN" sz="2400">
                    <a:solidFill>
                      <a:srgbClr val="78350F"/>
                    </a:solidFill>
                    <a:latin typeface="Cambria Math" panose="02040503050406030204" pitchFamily="18" charset="0"/>
                  </a:rPr>
                  <a:t>$(p-2)(q-2)=3$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roots are negative integers: write them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Vieta: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$a,b,c&gt;0$</a:t>
                </a:r>
                <a:r>
                  <a:rPr sz="2400" b="0">
                    <a:solidFill>
                      <a:srgbClr val="111827"/>
                    </a:solidFill>
                    <a:latin typeface="Arial"/>
                  </a:rPr>
                  <a:t>, the roots are negative integers: write them as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with </a:t>
                </a:r>
                <a:r>
                  <a:rPr lang="en-IN" sz="2400">
                    <a:solidFill>
                      <a:srgbClr val="111827"/>
                    </a:solidFill>
                    <a:latin typeface="Cambria Math" panose="02040503050406030204" pitchFamily="18" charset="0"/>
                  </a:rPr>
                  <a:t>$p,q\ge1$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Vieta: </a:t>
                </a:r>
                <a:r>
                  <a:rPr lang="en-IN" sz="2400">
                    <a:solidFill>
                      <a:srgbClr val="111827"/>
                    </a:solidFill>
                    <a:latin typeface="Cambria Math" panose="02040503050406030204" pitchFamily="18" charset="0"/>
                  </a:rPr>
                  <a:t>$\frac ba=p+q$</a:t>
                </a:r>
                <a:r>
                  <a:rPr sz="2400" b="0">
                    <a:solidFill>
                      <a:srgbClr val="111827"/>
                    </a:solidFill>
                    <a:latin typeface="Arial"/>
                  </a:rPr>
                  <a:t> and </a:t>
                </a:r>
                <a:r>
                  <a:rPr lang="en-IN" sz="2400">
                    <a:solidFill>
                      <a:srgbClr val="111827"/>
                    </a:solidFill>
                    <a:latin typeface="Cambria Math" panose="02040503050406030204" pitchFamily="18" charset="0"/>
                  </a:rPr>
                  <a:t>$\frac ca=pq$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a:t>
                </a:r>
                <a:r>
                  <a:rPr lang="en-IN" sz="2400">
                    <a:solidFill>
                      <a:srgbClr val="111827"/>
                    </a:solidFill>
                    <a:latin typeface="Cambria Math" panose="02040503050406030204" pitchFamily="18" charset="0"/>
                  </a:rPr>
                  <a:t>$2b=a+c$</a:t>
                </a:r>
                <a:r>
                  <a:rPr sz="2400" b="0">
                    <a:solidFill>
                      <a:srgbClr val="111827"/>
                    </a:solidFill>
                    <a:latin typeface="Arial"/>
                  </a:rPr>
                  <a:t> by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$2(p+q)=1+pq$</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Rearranging: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each factor is at least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integer factorisations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with both factors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oMath>
                </a14:m>
                <a:r>
                  <a:rPr sz="2400" b="0">
                    <a:solidFill>
                      <a:srgbClr val="111827"/>
                    </a:solidFill>
                    <a:latin typeface="Arial"/>
                  </a:rPr>
                  <a:t>; as before (A), (B), (C) are true and (D) is false.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Rearranging: </a:t>
                </a:r>
                <a:r>
                  <a:rPr lang="en-IN" sz="2400">
                    <a:solidFill>
                      <a:srgbClr val="111827"/>
                    </a:solidFill>
                    <a:latin typeface="Cambria Math" panose="02040503050406030204" pitchFamily="18" charset="0"/>
                  </a:rPr>
                  <a:t>$pq-2p-2q+1=0\Rightarrow(p-2)(q-2)=3$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$p,q\ge1$</a:t>
                </a:r>
                <a:r>
                  <a:rPr sz="2400" b="0">
                    <a:solidFill>
                      <a:srgbClr val="111827"/>
                    </a:solidFill>
                    <a:latin typeface="Arial"/>
                  </a:rPr>
                  <a:t>, each factor is at least </a:t>
                </a:r>
                <a:r>
                  <a:rPr lang="en-IN" sz="2400">
                    <a:solidFill>
                      <a:srgbClr val="111827"/>
                    </a:solidFill>
                    <a:latin typeface="Cambria Math" panose="02040503050406030204" pitchFamily="18" charset="0"/>
                  </a:rPr>
                  <a:t>$-1$</a:t>
                </a:r>
                <a:r>
                  <a:rPr sz="2400" b="0">
                    <a:solidFill>
                      <a:srgbClr val="111827"/>
                    </a:solidFill>
                    <a:latin typeface="Arial"/>
                  </a:rPr>
                  <a:t>; the integer factorisations of </a:t>
                </a:r>
                <a:r>
                  <a:rPr lang="en-IN" sz="2400">
                    <a:solidFill>
                      <a:srgbClr val="111827"/>
                    </a:solidFill>
                    <a:latin typeface="Cambria Math" panose="02040503050406030204" pitchFamily="18" charset="0"/>
                  </a:rPr>
                  <a:t>$3$</a:t>
                </a:r>
                <a:r>
                  <a:rPr sz="2400" b="0">
                    <a:solidFill>
                      <a:srgbClr val="111827"/>
                    </a:solidFill>
                    <a:latin typeface="Arial"/>
                  </a:rPr>
                  <a:t> with both factors </a:t>
                </a:r>
                <a:r>
                  <a:rPr lang="en-IN" sz="2400">
                    <a:solidFill>
                      <a:srgbClr val="111827"/>
                    </a:solidFill>
                    <a:latin typeface="Cambria Math" panose="02040503050406030204" pitchFamily="18" charset="0"/>
                  </a:rPr>
                  <a:t>$\ge-1$</a:t>
                </a:r>
                <a:r>
                  <a:rPr sz="2400" b="0">
                    <a:solidFill>
                      <a:srgbClr val="111827"/>
                    </a:solidFill>
                    <a:latin typeface="Arial"/>
                  </a:rPr>
                  <a:t> are </a:t>
                </a:r>
                <a:r>
                  <a:rPr lang="en-IN" sz="2400">
                    <a:solidFill>
                      <a:srgbClr val="111827"/>
                    </a:solidFill>
                    <a:latin typeface="Cambria Math" panose="02040503050406030204" pitchFamily="18" charset="0"/>
                  </a:rPr>
                  <a:t>$1\cdot3$</a:t>
                </a:r>
                <a:r>
                  <a:rPr sz="2400" b="0">
                    <a:solidFill>
                      <a:srgbClr val="111827"/>
                    </a:solidFill>
                    <a:latin typeface="Arial"/>
                  </a:rPr>
                  <a:t> and </a:t>
                </a:r>
                <a:r>
                  <a:rPr lang="en-IN" sz="2400">
                    <a:solidFill>
                      <a:srgbClr val="111827"/>
                    </a:solidFill>
                    <a:latin typeface="Cambria Math" panose="02040503050406030204" pitchFamily="18" charset="0"/>
                  </a:rPr>
                  <a:t>$3\cdot1$</a:t>
                </a:r>
                <a:r>
                  <a:rPr sz="2400" b="0">
                    <a:solidFill>
                      <a:srgbClr val="111827"/>
                    </a:solidFill>
                    <a:latin typeface="Arial"/>
                  </a:rPr>
                  <a:t>, so </a:t>
                </a:r>
                <a:r>
                  <a:rPr lang="en-IN" sz="2400">
                    <a:solidFill>
                      <a:srgbClr val="111827"/>
                    </a:solidFill>
                    <a:latin typeface="Cambria Math" panose="02040503050406030204" pitchFamily="18" charset="0"/>
                  </a:rPr>
                  <a:t>$\{p,q\}=\{3,5\}$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are </a:t>
                </a:r>
                <a:r>
                  <a:rPr lang="en-IN" sz="2400">
                    <a:solidFill>
                      <a:srgbClr val="111827"/>
                    </a:solidFill>
                    <a:latin typeface="Cambria Math" panose="02040503050406030204" pitchFamily="18" charset="0"/>
                  </a:rPr>
                  <a:t>$-3,-5$</a:t>
                </a:r>
                <a:r>
                  <a:rPr sz="2400" b="0">
                    <a:solidFill>
                      <a:srgbClr val="111827"/>
                    </a:solidFill>
                    <a:latin typeface="Arial"/>
                  </a:rPr>
                  <a:t>, so </a:t>
                </a:r>
                <a:r>
                  <a:rPr lang="en-IN" sz="2400">
                    <a:solidFill>
                      <a:srgbClr val="111827"/>
                    </a:solidFill>
                    <a:latin typeface="Cambria Math" panose="02040503050406030204" pitchFamily="18" charset="0"/>
                  </a:rPr>
                  <a:t>$b=8a$</a:t>
                </a:r>
                <a:r>
                  <a:rPr sz="2400" b="0">
                    <a:solidFill>
                      <a:srgbClr val="111827"/>
                    </a:solidFill>
                    <a:latin typeface="Arial"/>
                  </a:rPr>
                  <a:t> and </a:t>
                </a:r>
                <a:r>
                  <a:rPr lang="en-IN" sz="2400">
                    <a:solidFill>
                      <a:srgbClr val="111827"/>
                    </a:solidFill>
                    <a:latin typeface="Cambria Math" panose="02040503050406030204" pitchFamily="18" charset="0"/>
                  </a:rPr>
                  <a:t>$c=15a$</a:t>
                </a:r>
                <a:r>
                  <a:rPr sz="2400" b="0">
                    <a:solidFill>
                      <a:srgbClr val="111827"/>
                    </a:solidFill>
                    <a:latin typeface="Arial"/>
                  </a:rPr>
                  <a:t>; as before (A), (B), (C) are true and (D) is false.</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 C)</a:t>
            </a:r>
            <a:endParaRPr sz="2800">
              <a:solidFill>
                <a:srgbClr val="15803D"/>
              </a:solidFil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 A.P.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oMath>
                </a14:m>
                <a:r>
                  <a:rPr sz="2400" b="0">
                    <a:solidFill>
                      <a:srgbClr val="111827"/>
                    </a:solidFill>
                    <a:latin typeface="Arial"/>
                  </a:rPr>
                  <a:t> when they are in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roots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are integers,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any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evaluating at a convenient integer turns the problem into a divisor problem.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Positive coefficients make every real root negative. Here the only possibility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$f(x)=ax^2+bx+c$</a:t>
                </a:r>
                <a:r>
                  <a:rPr sz="2400" b="0">
                    <a:solidFill>
                      <a:srgbClr val="111827"/>
                    </a:solidFill>
                    <a:latin typeface="Arial"/>
                  </a:rPr>
                  <a:t>: </a:t>
                </a:r>
                <a:r>
                  <a:rPr lang="en-IN" sz="2400">
                    <a:solidFill>
                      <a:srgbClr val="111827"/>
                    </a:solidFill>
                    <a:latin typeface="Cambria Math" panose="02040503050406030204" pitchFamily="18" charset="0"/>
                  </a:rPr>
                  <a:t>$f(-2)=3a+(a+c-2b)$</a:t>
                </a:r>
                <a:r>
                  <a:rPr sz="2400" b="0">
                    <a:solidFill>
                      <a:srgbClr val="111827"/>
                    </a:solidFill>
                    <a:latin typeface="Arial"/>
                  </a:rPr>
                  <a:t>, so </a:t>
                </a:r>
                <a:r>
                  <a:rPr lang="en-IN" sz="2400">
                    <a:solidFill>
                      <a:srgbClr val="111827"/>
                    </a:solidFill>
                    <a:latin typeface="Cambria Math" panose="02040503050406030204" pitchFamily="18" charset="0"/>
                  </a:rPr>
                  <a:t>$a,b,c$</a:t>
                </a:r>
                <a:r>
                  <a:rPr sz="2400" b="0">
                    <a:solidFill>
                      <a:srgbClr val="111827"/>
                    </a:solidFill>
                    <a:latin typeface="Arial"/>
                  </a:rPr>
                  <a:t> in A.P. </a:t>
                </a:r>
                <a:r>
                  <a:rPr lang="en-IN" sz="2400">
                    <a:solidFill>
                      <a:srgbClr val="111827"/>
                    </a:solidFill>
                    <a:latin typeface="Cambria Math" panose="02040503050406030204" pitchFamily="18" charset="0"/>
                  </a:rPr>
                  <a:t>$\iff f(-2)=3a$</a:t>
                </a:r>
                <a:r>
                  <a:rPr sz="2400" b="0">
                    <a:solidFill>
                      <a:srgbClr val="111827"/>
                    </a:solidFill>
                    <a:latin typeface="Arial"/>
                  </a:rPr>
                  <a:t>; also </a:t>
                </a:r>
                <a:r>
                  <a:rPr lang="en-IN" sz="2400">
                    <a:solidFill>
                      <a:srgbClr val="111827"/>
                    </a:solidFill>
                    <a:latin typeface="Cambria Math" panose="02040503050406030204" pitchFamily="18" charset="0"/>
                  </a:rPr>
                  <a:t>$f(1)=a+b+c=3b$</a:t>
                </a:r>
                <a:r>
                  <a:rPr sz="2400" b="0">
                    <a:solidFill>
                      <a:srgbClr val="111827"/>
                    </a:solidFill>
                    <a:latin typeface="Arial"/>
                  </a:rPr>
                  <a:t> when they are in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roots </a:t>
                </a:r>
                <a:r>
                  <a:rPr lang="en-IN" sz="2400">
                    <a:solidFill>
                      <a:srgbClr val="111827"/>
                    </a:solidFill>
                    <a:latin typeface="Cambria Math" panose="02040503050406030204" pitchFamily="18" charset="0"/>
                  </a:rPr>
                  <a:t>$\alpha,\beta$</a:t>
                </a:r>
                <a:r>
                  <a:rPr sz="2400" b="0">
                    <a:solidFill>
                      <a:srgbClr val="111827"/>
                    </a:solidFill>
                    <a:latin typeface="Arial"/>
                  </a:rPr>
                  <a:t> are integers, then </a:t>
                </a:r>
                <a:r>
                  <a:rPr lang="en-IN" sz="2400">
                    <a:solidFill>
                      <a:srgbClr val="111827"/>
                    </a:solidFill>
                    <a:latin typeface="Cambria Math" panose="02040503050406030204" pitchFamily="18" charset="0"/>
                  </a:rPr>
                  <a:t>$f(-k)=a(\alpha+k)(\beta+k)$</a:t>
                </a:r>
                <a:r>
                  <a:rPr sz="2400" b="0">
                    <a:solidFill>
                      <a:srgbClr val="111827"/>
                    </a:solidFill>
                    <a:latin typeface="Arial"/>
                  </a:rPr>
                  <a:t> for any integer </a:t>
                </a:r>
                <a:r>
                  <a:rPr lang="en-IN" sz="2400">
                    <a:solidFill>
                      <a:srgbClr val="111827"/>
                    </a:solidFill>
                    <a:latin typeface="Cambria Math" panose="02040503050406030204" pitchFamily="18" charset="0"/>
                  </a:rPr>
                  <a:t>$k$</a:t>
                </a:r>
                <a:r>
                  <a:rPr sz="2400" b="0">
                    <a:solidFill>
                      <a:srgbClr val="111827"/>
                    </a:solidFill>
                    <a:latin typeface="Arial"/>
                  </a:rPr>
                  <a:t>; evaluating at a convenient integer turns the problem into a divisor problem.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Positive coefficients make every real root negative. Here the only possibility is </a:t>
                </a:r>
                <a:r>
                  <a:rPr lang="en-IN" sz="2400">
                    <a:solidFill>
                      <a:srgbClr val="111827"/>
                    </a:solidFill>
                    <a:latin typeface="Cambria Math" panose="02040503050406030204" pitchFamily="18" charset="0"/>
                  </a:rPr>
                  <a:t>$(a,b,c)=(a,8a,15a)$</a:t>
                </a:r>
                <a:r>
                  <a:rPr sz="2400" b="0">
                    <a:solidFill>
                      <a:srgbClr val="111827"/>
                    </a:solidFill>
                    <a:latin typeface="Arial"/>
                  </a:rPr>
                  <a:t>, e.g. </a:t>
                </a:r>
                <a:r>
                  <a:rPr lang="en-IN" sz="2400">
                    <a:solidFill>
                      <a:srgbClr val="111827"/>
                    </a:solidFill>
                    <a:latin typeface="Cambria Math" panose="02040503050406030204" pitchFamily="18" charset="0"/>
                  </a:rPr>
                  <a:t>$1,8,15$</a:t>
                </a:r>
                <a:r>
                  <a:rPr sz="2400" b="0">
                    <a:solidFill>
                      <a:srgbClr val="111827"/>
                    </a:solidFill>
                    <a:latin typeface="Arial"/>
                  </a:rPr>
                  <a:t> with </a:t>
                </a:r>
                <a:r>
                  <a:rPr lang="en-IN" sz="2400">
                    <a:solidFill>
                      <a:srgbClr val="111827"/>
                    </a:solidFill>
                    <a:latin typeface="Cambria Math" panose="02040503050406030204" pitchFamily="18" charset="0"/>
                  </a:rPr>
                  <a:t>$x^2+8x+15=(x+3)(x+5)$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2.59</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1 question</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7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6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2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16 questions, 61 marks.  Index = Σ(marks × level) ÷ Σ marks, on the 0-5 scale.</a:t>
            </a:r>
            <a:endParaRPr sz="2400">
              <a:solidFill>
                <a:srgbClr val="111827"/>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Sequence &amp; Progression Sheet FCopy JA</a:t>
                      </a:r>
                    </a:p>
                  </a:txBody>
                  <a:tcPr anchor="ctr" marL="137160" marR="137160">
                    <a:solidFill>
                      <a:srgbClr val="E0ECFF"/>
                    </a:solidFill>
                  </a:tcPr>
                </a:tc>
                <a:tc>
                  <a:txBody>
                    <a:bodyPr/>
                    <a:lstStyle/>
                    <a:p>
                      <a:pPr algn="ctr"/>
                      <a:r>
                        <a:rPr sz="2600" b="1">
                          <a:solidFill>
                            <a:srgbClr val="0B1F3A"/>
                          </a:solidFill>
                          <a:latin typeface="Arial"/>
                        </a:rPr>
                        <a:t>2.59</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